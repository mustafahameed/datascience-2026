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.svg" ContentType="image/svg+xml"/>
  <Override PartName="/ppt/media/image80.svg" ContentType="image/svg+xml"/>
  <Override PartName="/ppt/media/image81.svg" ContentType="image/svg+xml"/>
  <Override PartName="/ppt/media/image82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0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6.svg" ContentType="image/svg+xml"/>
  <Override PartName="/ppt/media/image97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ECBEC29-74E6-4726-B155-A386B83C68EF}">
          <p14:sldIdLst>
            <p14:sldId id="256"/>
            <p14:sldId id="257"/>
            <p14:sldId id="258"/>
            <p14:sldId id="259"/>
            <p14:sldId id="260"/>
          </p14:sldIdLst>
        </p14:section>
        <p14:section name="4.1 Concept Learning as a Task" id="{F0E6DAA7-8B59-46D1-8D02-67E42E0506A1}">
          <p14:sldIdLst>
            <p14:sldId id="261"/>
            <p14:sldId id="262"/>
            <p14:sldId id="263"/>
            <p14:sldId id="264"/>
            <p14:sldId id="265"/>
          </p14:sldIdLst>
        </p14:section>
        <p14:section name="4.2 The Inductive Learning Hypothesis" id="{9BD6FFBD-D1A5-4A3B-8F23-51391F08D613}">
          <p14:sldIdLst>
            <p14:sldId id="266"/>
          </p14:sldIdLst>
        </p14:section>
        <p14:section name="4.3 The General-to-Specific Ordering" id="{5AA134FE-F7EA-4B1B-A333-804EA58D50DE}">
          <p14:sldIdLst>
            <p14:sldId id="267"/>
            <p14:sldId id="268"/>
            <p14:sldId id="269"/>
          </p14:sldIdLst>
        </p14:section>
        <p14:section name="4.4 Find-S: The Most Specific Consistent Hypothesis" id="{75DFC5F7-B15C-4F6E-9738-FC8B29DC5C80}">
          <p14:sldIdLst>
            <p14:sldId id="270"/>
            <p14:sldId id="271"/>
            <p14:sldId id="272"/>
            <p14:sldId id="273"/>
          </p14:sldIdLst>
        </p14:section>
        <p14:section name="4.5 Version Spaces" id="{E0C7D657-2525-4DCE-9C8A-FA730BD33618}">
          <p14:sldIdLst>
            <p14:sldId id="274"/>
          </p14:sldIdLst>
        </p14:section>
        <p14:section name="4.6 The Candidate-Elimination Algorithm" id="{FEE4E05D-B51D-4A2F-9AE6-692E19BDF633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.7 Using a Partially Learned Concept" id="{2DAD0A74-3FC4-4011-941F-EC72CD6BDA22}">
          <p14:sldIdLst>
            <p14:sldId id="282"/>
          </p14:sldIdLst>
        </p14:section>
        <p14:section name="4.8 Inductive Bias" id="{B12D7FF3-9023-43E3-B41C-86DAF7F9E471}">
          <p14:sldIdLst>
            <p14:sldId id="283"/>
            <p14:sldId id="284"/>
            <p14:sldId id="285"/>
            <p14:sldId id="286"/>
          </p14:sldIdLst>
        </p14:section>
        <p14:section name="Pitfalls" id="{E459B131-16EA-49A8-9353-216A2C98D924}">
          <p14:sldIdLst>
            <p14:sldId id="287"/>
          </p14:sldIdLst>
        </p14:section>
        <p14:section name="Four lenses" id="{2566458A-982C-4901-BD7A-E5BA700F2DD6}">
          <p14:sldIdLst>
            <p14:sldId id="288"/>
            <p14:sldId id="289"/>
            <p14:sldId id="290"/>
            <p14:sldId id="291"/>
            <p14:sldId id="292"/>
          </p14:sldIdLst>
        </p14:section>
        <p14:section name="Lab" id="{023F31BC-3189-4FF0-8D74-6F2E3836E617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heckpoint" id="{EF12AAC0-8EE7-423F-8691-B546C89C732F}">
          <p14:sldIdLst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Wrap-up" id="{057F6D17-2876-4071-A864-BFD7A11333B3}">
          <p14:sldIdLst>
            <p14:sldId id="306"/>
            <p14:sldId id="307"/>
            <p14:sldId id="308"/>
            <p14:sldId id="309"/>
            <p14:sldId id="310"/>
            <p14:sldId id="31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4: Concept Learning and the Version Space. Part 1 — Foundations. Week 3: Concept learning and the version space. Handout pages 27–37.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the chapter. Before you start: Chapter 1 (hypotheses, hypothesis spaces and inductive bias, introduced informally in Figure 1.3). This chapter makes those ideas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out: they are the chapter's contract with the room. Each click adds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now; they arrive one at a time. This slide is for the students' notes. Terms: concept learning; instance space; target concept; attribute constraint; consistent hypothesis; more-general-than-or-equal-to; Find-S; version space; List-Then-Eliminate; general boundary G; specific boundary S; Candidate-Elimination; query; unbiased learner; inductive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route through the chapter. Each row is a link: click it to jump to that section in the slide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Much of learning is learning a category: which e-mails are phishing, which days are good for a match, which students need help. Each such category is a concept, and it can be described as a yes/no function over the things being classified.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running example of this chapter is Mitchell’s EnjoySport: on which days does a friend enjoy their favourite water sport? Each day is described by six attributes, and four days have been observed.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learner sees only the training examples. The best it can guarantee is a hypothesis that fits them. Everything rests on an assumption, which Mitchell names explicitly: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Hypotheses are not an unordered heap. Some are strictly more permissive than others, and that structure is what makes efficient search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4.1 (handout p. 29): The more-general-than ordering. A more general hypothesis covers a superset of the instances; hypotheses whose covered sets merely overlap, like h1 and h3, are not comparable.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simplest algorithm that uses the ordering starts at the most specific hypothesis and generalises only as far as each positive example forces 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obvious way to find it is List-Then-Eliminate: write down every hypothesis in H, and for each training example cross out the ones it contradicts. What remains is the version space. For EnjoySport’s 973 hypotheses this is feasible; for any realistic hypothesis space it is not. The trick of the next section is that the version space never needs to be listed — two boundaries are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4.2 (handout p. 30): The version space is everything between the two boundaries. Each example moves one boundary towards the other; if they meet, the concept has been learned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4.3 (handout p. 31): The final version space for EnjoySport: two maximally general hypotheses, one maximally specific one, and the three between them. A line joins each pair related by ≥g.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examples have not pinned the concept down: six hypotheses survive. They can still classify new days, by voting.</a:t>
            </a:r>
          </a:p>
          <a:p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stop at conjunctions? Why not use a hypothesis space that can express every one of the 296 possible concepts, so that the target is certainly in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Learners can be ranked by the strength of their bias. A rote learner, which stores examples and classifies only exact matches, has no bias and never generalises. Candidate-Elimination assumes the target is in H, and classifies a new instance only when the whole version space agrees. Find-S assumes that as well, and in addition that every instance is negative unless the evidence forces it to be positive — a stronger bias, so it classifies everything. Every algorithm in the rest of this course has a bias, and its chapter names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each pitfall, ask who has seen it happen. One real story beats five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method, four domains. Each of the next four slides opens one lens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Analytics. A conjunctive concept is an early-warning rule an adviser can read: ⟨attendance low, quiz missing, ?, …⟩. The version space tells the adviser something a single model cannot — which students the evidence is split on, and so which cases deserve a human look rather than an automatic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Management. With a dozen past projects, the S and G boundaries are an honest summary of what is known: “every late project had an external dependency” (S) against “no project without a new technology was late” (G). Where they disagree, the data has not decided — and with twelve projects, that is most of the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Internet of Things. Alarm conditions on a device are often exactly conjunctions: ⟨temperature high, vibration high, ?, load normal⟩. The general boundary is the broadest rule that has not yet fired on a healthy machine, which is useful to know before widening a rule that currently misses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Cybersecurity. Signature generation is Find-S: from several samples of one malware family, keep the byte patterns they share and generalise the rest. The most specific signature misses the next variant; the most general one that still excludes every benign file in the corpus catches more but will eventually flag a legitimate program. Real signature engines choose between those two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of this chapter, run: Find-S, the boundary trace of the worked example, and a brute-force check of the version space by listing every hypothesis.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Set-up.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2: Set-up (continued).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3: Find-S.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4: Candidate-Elimination.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5: Brute force: list every hypothesis, keep the consistent ones.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Yes: any day satisfying ⟨Sunny, Warm, ?, Strong, ?, ?⟩ also satisfies ⟨Sunny, ?, ?, Strong, ?, ?⟩. The reverse is false: a sunny, cold, windy day satisfies the first but not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⟨Sunny, Warm, ?, Strong, Warm, Same⟩ — the hypothesis after Day 2, since Day 3 is negative and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For each concept in its version space that labels the unseen instance positive, there is another, identical except for that instance, labelling it negative; both are consistent with the training data. The votes are always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to say each takeaway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these for independent study. Model answers are not printed in the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NEXT: Chapter 5 — Linear Regression. READ: Handout Chapter 4, pages 27–37. THIS WEEK'S LAB: Candidate elimination in forty lines. ASSESSMENT: Quiz 1 (Ch 1–3).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000" kern="1200" b="0">
          <a:solidFill>
            <a:srgbClr val="1A5276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notesSlide" Target="../notesSlides/notesSlide5.xml"/><Relationship Id="rId5" Type="http://schemas.openxmlformats.org/officeDocument/2006/relationships/slide" Target="slide6.xml"/><Relationship Id="rId6" Type="http://schemas.openxmlformats.org/officeDocument/2006/relationships/slide" Target="slide11.xml"/><Relationship Id="rId7" Type="http://schemas.openxmlformats.org/officeDocument/2006/relationships/slide" Target="slide12.xml"/><Relationship Id="rId8" Type="http://schemas.openxmlformats.org/officeDocument/2006/relationships/slide" Target="slide15.xml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7.xml"/><Relationship Id="rId12" Type="http://schemas.openxmlformats.org/officeDocument/2006/relationships/slide" Target="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5.sv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Relationship Id="rId3" Type="http://schemas.openxmlformats.org/officeDocument/2006/relationships/image" Target="../media/image17.sv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20.sv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23.sv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Relationship Id="rId3" Type="http://schemas.openxmlformats.org/officeDocument/2006/relationships/image" Target="../media/image24.sv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26.sv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27.sv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28.sv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29.sv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Relationship Id="rId3" Type="http://schemas.openxmlformats.org/officeDocument/2006/relationships/image" Target="../media/image32.sv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Relationship Id="rId3" Type="http://schemas.openxmlformats.org/officeDocument/2006/relationships/image" Target="../media/image33.sv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Relationship Id="rId3" Type="http://schemas.openxmlformats.org/officeDocument/2006/relationships/image" Target="../media/image35.sv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Relationship Id="rId3" Type="http://schemas.openxmlformats.org/officeDocument/2006/relationships/image" Target="../media/image36.sv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Relationship Id="rId3" Type="http://schemas.openxmlformats.org/officeDocument/2006/relationships/image" Target="../media/image37.sv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38.sv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39.sv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0.png"/><Relationship Id="rId3" Type="http://schemas.openxmlformats.org/officeDocument/2006/relationships/image" Target="../media/image41.sv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2.png"/><Relationship Id="rId3" Type="http://schemas.openxmlformats.org/officeDocument/2006/relationships/image" Target="../media/image43.svg"/><Relationship Id="rId4" Type="http://schemas.openxmlformats.org/officeDocument/2006/relationships/image" Target="../media/image44.png"/><Relationship Id="rId5" Type="http://schemas.openxmlformats.org/officeDocument/2006/relationships/image" Target="../media/image45.svg"/><Relationship Id="rId6" Type="http://schemas.openxmlformats.org/officeDocument/2006/relationships/image" Target="../media/image46.png"/><Relationship Id="rId7" Type="http://schemas.openxmlformats.org/officeDocument/2006/relationships/image" Target="../media/image47.svg"/><Relationship Id="rId8" Type="http://schemas.openxmlformats.org/officeDocument/2006/relationships/image" Target="../media/image48.png"/><Relationship Id="rId9" Type="http://schemas.openxmlformats.org/officeDocument/2006/relationships/image" Target="../media/image49.svg"/><Relationship Id="rId10" Type="http://schemas.openxmlformats.org/officeDocument/2006/relationships/image" Target="../media/image50.png"/><Relationship Id="rId11" Type="http://schemas.openxmlformats.org/officeDocument/2006/relationships/image" Target="../media/image51.svg"/><Relationship Id="rId1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Relationship Id="rId4" Type="http://schemas.openxmlformats.org/officeDocument/2006/relationships/image" Target="../media/image44.png"/><Relationship Id="rId5" Type="http://schemas.openxmlformats.org/officeDocument/2006/relationships/image" Target="../media/image54.svg"/><Relationship Id="rId6" Type="http://schemas.openxmlformats.org/officeDocument/2006/relationships/image" Target="../media/image46.png"/><Relationship Id="rId7" Type="http://schemas.openxmlformats.org/officeDocument/2006/relationships/image" Target="../media/image55.svg"/><Relationship Id="rId8" Type="http://schemas.openxmlformats.org/officeDocument/2006/relationships/image" Target="../media/image48.png"/><Relationship Id="rId9" Type="http://schemas.openxmlformats.org/officeDocument/2006/relationships/image" Target="../media/image56.svg"/><Relationship Id="rId10" Type="http://schemas.openxmlformats.org/officeDocument/2006/relationships/image" Target="../media/image50.png"/><Relationship Id="rId11" Type="http://schemas.openxmlformats.org/officeDocument/2006/relationships/image" Target="../media/image57.svg"/><Relationship Id="rId1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46.png"/><Relationship Id="rId5" Type="http://schemas.openxmlformats.org/officeDocument/2006/relationships/image" Target="../media/image60.svg"/><Relationship Id="rId6" Type="http://schemas.openxmlformats.org/officeDocument/2006/relationships/image" Target="../media/image44.png"/><Relationship Id="rId7" Type="http://schemas.openxmlformats.org/officeDocument/2006/relationships/image" Target="../media/image61.svg"/><Relationship Id="rId8" Type="http://schemas.openxmlformats.org/officeDocument/2006/relationships/image" Target="../media/image48.png"/><Relationship Id="rId9" Type="http://schemas.openxmlformats.org/officeDocument/2006/relationships/image" Target="../media/image62.svg"/><Relationship Id="rId10" Type="http://schemas.openxmlformats.org/officeDocument/2006/relationships/image" Target="../media/image50.png"/><Relationship Id="rId11" Type="http://schemas.openxmlformats.org/officeDocument/2006/relationships/image" Target="../media/image63.svg"/><Relationship Id="rId1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4.png"/><Relationship Id="rId3" Type="http://schemas.openxmlformats.org/officeDocument/2006/relationships/image" Target="../media/image65.svg"/><Relationship Id="rId4" Type="http://schemas.openxmlformats.org/officeDocument/2006/relationships/image" Target="../media/image48.png"/><Relationship Id="rId5" Type="http://schemas.openxmlformats.org/officeDocument/2006/relationships/image" Target="../media/image66.svg"/><Relationship Id="rId6" Type="http://schemas.openxmlformats.org/officeDocument/2006/relationships/image" Target="../media/image44.png"/><Relationship Id="rId7" Type="http://schemas.openxmlformats.org/officeDocument/2006/relationships/image" Target="../media/image67.svg"/><Relationship Id="rId8" Type="http://schemas.openxmlformats.org/officeDocument/2006/relationships/image" Target="../media/image46.png"/><Relationship Id="rId9" Type="http://schemas.openxmlformats.org/officeDocument/2006/relationships/image" Target="../media/image68.svg"/><Relationship Id="rId10" Type="http://schemas.openxmlformats.org/officeDocument/2006/relationships/image" Target="../media/image50.png"/><Relationship Id="rId11" Type="http://schemas.openxmlformats.org/officeDocument/2006/relationships/image" Target="../media/image69.svg"/><Relationship Id="rId1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1.svg"/><Relationship Id="rId4" Type="http://schemas.openxmlformats.org/officeDocument/2006/relationships/image" Target="../media/image50.png"/><Relationship Id="rId5" Type="http://schemas.openxmlformats.org/officeDocument/2006/relationships/image" Target="../media/image72.svg"/><Relationship Id="rId6" Type="http://schemas.openxmlformats.org/officeDocument/2006/relationships/image" Target="../media/image44.png"/><Relationship Id="rId7" Type="http://schemas.openxmlformats.org/officeDocument/2006/relationships/image" Target="../media/image73.svg"/><Relationship Id="rId8" Type="http://schemas.openxmlformats.org/officeDocument/2006/relationships/image" Target="../media/image46.png"/><Relationship Id="rId9" Type="http://schemas.openxmlformats.org/officeDocument/2006/relationships/image" Target="../media/image74.svg"/><Relationship Id="rId10" Type="http://schemas.openxmlformats.org/officeDocument/2006/relationships/image" Target="../media/image48.png"/><Relationship Id="rId11" Type="http://schemas.openxmlformats.org/officeDocument/2006/relationships/image" Target="../media/image75.svg"/><Relationship Id="rId1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Relationship Id="rId3" Type="http://schemas.openxmlformats.org/officeDocument/2006/relationships/image" Target="../media/image77.sv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Relationship Id="rId3" Type="http://schemas.openxmlformats.org/officeDocument/2006/relationships/image" Target="../media/image78.sv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Relationship Id="rId3" Type="http://schemas.openxmlformats.org/officeDocument/2006/relationships/image" Target="../media/image79.sv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Relationship Id="rId3" Type="http://schemas.openxmlformats.org/officeDocument/2006/relationships/image" Target="../media/image80.sv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Relationship Id="rId3" Type="http://schemas.openxmlformats.org/officeDocument/2006/relationships/image" Target="../media/image81.sv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Relationship Id="rId3" Type="http://schemas.openxmlformats.org/officeDocument/2006/relationships/image" Target="../media/image82.sv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Relationship Id="rId3" Type="http://schemas.openxmlformats.org/officeDocument/2006/relationships/image" Target="../media/image83.sv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4.png"/><Relationship Id="rId3" Type="http://schemas.openxmlformats.org/officeDocument/2006/relationships/image" Target="../media/image85.sv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6.png"/><Relationship Id="rId3" Type="http://schemas.openxmlformats.org/officeDocument/2006/relationships/image" Target="../media/image87.sv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4.png"/><Relationship Id="rId3" Type="http://schemas.openxmlformats.org/officeDocument/2006/relationships/image" Target="../media/image88.sv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6.png"/><Relationship Id="rId3" Type="http://schemas.openxmlformats.org/officeDocument/2006/relationships/image" Target="../media/image89.sv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4.png"/><Relationship Id="rId3" Type="http://schemas.openxmlformats.org/officeDocument/2006/relationships/image" Target="../media/image90.sv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6.png"/><Relationship Id="rId3" Type="http://schemas.openxmlformats.org/officeDocument/2006/relationships/image" Target="../media/image91.sv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2.png"/><Relationship Id="rId3" Type="http://schemas.openxmlformats.org/officeDocument/2006/relationships/image" Target="../media/image93.sv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4.png"/><Relationship Id="rId3" Type="http://schemas.openxmlformats.org/officeDocument/2006/relationships/image" Target="../media/image95.sv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4.png"/><Relationship Id="rId3" Type="http://schemas.openxmlformats.org/officeDocument/2006/relationships/image" Target="../media/image96.sv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4.png"/><Relationship Id="rId3" Type="http://schemas.openxmlformats.org/officeDocument/2006/relationships/image" Target="../media/image97.sv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4.png"/><Relationship Id="rId3" Type="http://schemas.openxmlformats.org/officeDocument/2006/relationships/image" Target="../media/image98.sv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316384"/>
                </a:solidFill>
                <a:latin typeface="Segoe UI Black"/>
              </a:rPr>
              <a:t>04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2304288"/>
            <a:ext cx="8503920" cy="192024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Segoe UI Semibold"/>
              </a:rPr>
              <a:t>Concept Learning and the Version Space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29844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tpart"/>
          <p:cNvSpPr txBox="1"/>
          <p:nvPr/>
        </p:nvSpPr>
        <p:spPr>
          <a:xfrm>
            <a:off x="658368" y="151790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FCFD9"/>
                </a:solidFill>
                <a:latin typeface="Segoe UI"/>
              </a:rPr>
              <a:t>PART I  ·  FOUNDATIONS</a:t>
            </a:r>
          </a:p>
        </p:txBody>
      </p:sp>
      <p:sp>
        <p:nvSpPr>
          <p:cNvPr id="6" name="!!tch"/>
          <p:cNvSpPr txBox="1"/>
          <p:nvPr/>
        </p:nvSpPr>
        <p:spPr>
          <a:xfrm>
            <a:off x="658368" y="186537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FCFD9"/>
                </a:solidFill>
                <a:latin typeface="Segoe UI"/>
              </a:rPr>
              <a:t>CHAPTER 4  ·  WEEK 3</a:t>
            </a:r>
          </a:p>
        </p:txBody>
      </p:sp>
      <p:sp>
        <p:nvSpPr>
          <p:cNvPr id="7" name="!!tsub"/>
          <p:cNvSpPr txBox="1"/>
          <p:nvPr/>
        </p:nvSpPr>
        <p:spPr>
          <a:xfrm>
            <a:off x="658368" y="4315968"/>
            <a:ext cx="85039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1DCE4"/>
                </a:solidFill>
                <a:latin typeface="Segoe UI"/>
              </a:rPr>
              <a:t>Machine Learning — From Hypotheses to Decisions</a:t>
            </a:r>
          </a:p>
        </p:txBody>
      </p:sp>
      <p:sp>
        <p:nvSpPr>
          <p:cNvPr id="8" name="!!ba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285232"/>
            <a:ext cx="12191695" cy="1572767"/>
          </a:xfrm>
          <a:prstGeom prst="rect">
            <a:avLst/>
          </a:prstGeom>
          <a:solidFill>
            <a:srgbClr val="133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ab"/>
          <p:cNvSpPr txBox="1"/>
          <p:nvPr/>
        </p:nvSpPr>
        <p:spPr>
          <a:xfrm>
            <a:off x="658368" y="554126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A5B5BE"/>
                </a:solidFill>
                <a:latin typeface="Segoe UI"/>
              </a:rPr>
              <a:t>LECTURER</a:t>
            </a:r>
          </a:p>
        </p:txBody>
      </p:sp>
      <p:sp>
        <p:nvSpPr>
          <p:cNvPr id="10" name="!!author"/>
          <p:cNvSpPr txBox="1"/>
          <p:nvPr/>
        </p:nvSpPr>
        <p:spPr>
          <a:xfrm>
            <a:off x="658368" y="57790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Dr. Mustafa Hameed</a:t>
            </a:r>
          </a:p>
        </p:txBody>
      </p:sp>
      <p:sp>
        <p:nvSpPr>
          <p:cNvPr id="11" name="!!dept"/>
          <p:cNvSpPr txBox="1"/>
          <p:nvPr/>
        </p:nvSpPr>
        <p:spPr>
          <a:xfrm>
            <a:off x="658368" y="618134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DC8CF"/>
                </a:solidFill>
                <a:latin typeface="Segoe UI"/>
              </a:rPr>
              <a:t>Department of Information Technology  ·  BSIT · Fall 2026</a:t>
            </a:r>
          </a:p>
        </p:txBody>
      </p:sp>
      <p:sp>
        <p:nvSpPr>
          <p:cNvPr id="12" name="!!uni"/>
          <p:cNvSpPr txBox="1"/>
          <p:nvPr/>
        </p:nvSpPr>
        <p:spPr>
          <a:xfrm>
            <a:off x="5205818" y="568756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6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3" name="!!uni2"/>
          <p:cNvSpPr txBox="1"/>
          <p:nvPr/>
        </p:nvSpPr>
        <p:spPr>
          <a:xfrm>
            <a:off x="5205818" y="596188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5BE"/>
                </a:solidFill>
                <a:latin typeface="Segoe UI"/>
              </a:rPr>
              <a:t>Bahawalpur, Pakistan</a:t>
            </a:r>
          </a:p>
        </p:txBody>
      </p:sp>
      <p:pic>
        <p:nvPicPr>
          <p:cNvPr id="14" name="!!logo-iub-logo-white" descr="The Islamia University of Bahawalpu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3498" y="5486400"/>
            <a:ext cx="904084" cy="896112"/>
          </a:xfrm>
          <a:prstGeom prst="rect">
            <a:avLst/>
          </a:prstGeom>
        </p:spPr>
      </p:pic>
      <p:pic>
        <p:nvPicPr>
          <p:cNvPr id="15" name="!!logo-dit-logo" descr="Department of Information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614" y="5486400"/>
            <a:ext cx="869712" cy="8961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Where this chapter sits</a:t>
            </a:r>
          </a:p>
        </p:txBody>
      </p:sp>
      <p:pic>
        <p:nvPicPr>
          <p:cNvPr id="3" name="!!kicker-icon" descr="map-signs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 COURSE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27     </a:t>
            </a:r>
            <a:fld id="{0F287DF5-F980-498E-AAFA-59767336D149}" type="slidenum">
              <a:rPr lang="en-GB" sz="1000">
                <a:solidFill>
                  <a:srgbClr val="8795A1"/>
                </a:solidFill>
                <a:latin typeface="Segoe UI"/>
              </a:rPr>
              <a:t>2</a:t>
            </a:fld>
          </a:p>
        </p:txBody>
      </p:sp>
      <p:sp>
        <p:nvSpPr>
          <p:cNvPr id="7" name="!!rp1"/>
          <p:cNvSpPr txBox="1"/>
          <p:nvPr/>
        </p:nvSpPr>
        <p:spPr>
          <a:xfrm>
            <a:off x="777239" y="1755648"/>
            <a:ext cx="173869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A5276"/>
                </a:solidFill>
                <a:latin typeface="Segoe UI"/>
              </a:rPr>
              <a:t>PART I</a:t>
            </a:r>
          </a:p>
        </p:txBody>
      </p:sp>
      <p:sp>
        <p:nvSpPr>
          <p:cNvPr id="8" name="!!rp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39" y="2029967"/>
            <a:ext cx="1738690" cy="4572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rp2"/>
          <p:cNvSpPr txBox="1"/>
          <p:nvPr/>
        </p:nvSpPr>
        <p:spPr>
          <a:xfrm>
            <a:off x="3000562" y="1755648"/>
            <a:ext cx="1583242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</a:t>
            </a:r>
          </a:p>
        </p:txBody>
      </p:sp>
      <p:sp>
        <p:nvSpPr>
          <p:cNvPr id="10" name="!!rp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00562" y="2029967"/>
            <a:ext cx="1583242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p3"/>
          <p:cNvSpPr txBox="1"/>
          <p:nvPr/>
        </p:nvSpPr>
        <p:spPr>
          <a:xfrm>
            <a:off x="4912988" y="1755648"/>
            <a:ext cx="240229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III</a:t>
            </a:r>
          </a:p>
        </p:txBody>
      </p:sp>
      <p:sp>
        <p:nvSpPr>
          <p:cNvPr id="12" name="!!rp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12988" y="2029967"/>
            <a:ext cx="240229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rp4"/>
          <p:cNvSpPr txBox="1"/>
          <p:nvPr/>
        </p:nvSpPr>
        <p:spPr>
          <a:xfrm>
            <a:off x="7644467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IV</a:t>
            </a:r>
          </a:p>
        </p:txBody>
      </p:sp>
      <p:sp>
        <p:nvSpPr>
          <p:cNvPr id="14" name="!!rpl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4467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rp5"/>
          <p:cNvSpPr txBox="1"/>
          <p:nvPr/>
        </p:nvSpPr>
        <p:spPr>
          <a:xfrm>
            <a:off x="9147366" y="1755648"/>
            <a:ext cx="1173715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</a:t>
            </a:r>
          </a:p>
        </p:txBody>
      </p:sp>
      <p:sp>
        <p:nvSpPr>
          <p:cNvPr id="16" name="!!rpl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7366" y="2029967"/>
            <a:ext cx="1173715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p6"/>
          <p:cNvSpPr txBox="1"/>
          <p:nvPr/>
        </p:nvSpPr>
        <p:spPr>
          <a:xfrm>
            <a:off x="10650266" y="1755648"/>
            <a:ext cx="76418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VI</a:t>
            </a:r>
          </a:p>
        </p:txBody>
      </p:sp>
      <p:sp>
        <p:nvSpPr>
          <p:cNvPr id="18" name="!!rpl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50266" y="2029967"/>
            <a:ext cx="764189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411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dotn1"/>
          <p:cNvSpPr txBox="1"/>
          <p:nvPr/>
        </p:nvSpPr>
        <p:spPr>
          <a:xfrm>
            <a:off x="72597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!!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6937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dotn2"/>
          <p:cNvSpPr txBox="1"/>
          <p:nvPr/>
        </p:nvSpPr>
        <p:spPr>
          <a:xfrm>
            <a:off x="11354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3" name="!!do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464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dotn3"/>
          <p:cNvSpPr txBox="1"/>
          <p:nvPr/>
        </p:nvSpPr>
        <p:spPr>
          <a:xfrm>
            <a:off x="15450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!!do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5134" y="2112264"/>
            <a:ext cx="566928" cy="566928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dotn4"/>
          <p:cNvSpPr txBox="1"/>
          <p:nvPr/>
        </p:nvSpPr>
        <p:spPr>
          <a:xfrm>
            <a:off x="2055134" y="2240280"/>
            <a:ext cx="56692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7" name="!!dot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073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dotn5"/>
          <p:cNvSpPr txBox="1"/>
          <p:nvPr/>
        </p:nvSpPr>
        <p:spPr>
          <a:xfrm>
            <a:off x="294929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5</a:t>
            </a:r>
          </a:p>
        </p:txBody>
      </p:sp>
      <p:sp>
        <p:nvSpPr>
          <p:cNvPr id="29" name="!!dot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0259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dotn6"/>
          <p:cNvSpPr txBox="1"/>
          <p:nvPr/>
        </p:nvSpPr>
        <p:spPr>
          <a:xfrm>
            <a:off x="335881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6</a:t>
            </a:r>
          </a:p>
        </p:txBody>
      </p:sp>
      <p:sp>
        <p:nvSpPr>
          <p:cNvPr id="31" name="!!dot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59786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dotn7"/>
          <p:cNvSpPr txBox="1"/>
          <p:nvPr/>
        </p:nvSpPr>
        <p:spPr>
          <a:xfrm>
            <a:off x="376834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7</a:t>
            </a:r>
          </a:p>
        </p:txBody>
      </p:sp>
      <p:sp>
        <p:nvSpPr>
          <p:cNvPr id="33" name="!!dot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69312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dotn8"/>
          <p:cNvSpPr txBox="1"/>
          <p:nvPr/>
        </p:nvSpPr>
        <p:spPr>
          <a:xfrm>
            <a:off x="417787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8</a:t>
            </a:r>
          </a:p>
        </p:txBody>
      </p:sp>
      <p:sp>
        <p:nvSpPr>
          <p:cNvPr id="35" name="!!dot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53159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dotn9"/>
          <p:cNvSpPr txBox="1"/>
          <p:nvPr/>
        </p:nvSpPr>
        <p:spPr>
          <a:xfrm>
            <a:off x="486171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9</a:t>
            </a:r>
          </a:p>
        </p:txBody>
      </p:sp>
      <p:sp>
        <p:nvSpPr>
          <p:cNvPr id="37" name="!!dot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62685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dotn10"/>
          <p:cNvSpPr txBox="1"/>
          <p:nvPr/>
        </p:nvSpPr>
        <p:spPr>
          <a:xfrm>
            <a:off x="527124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10</a:t>
            </a:r>
          </a:p>
        </p:txBody>
      </p:sp>
      <p:sp>
        <p:nvSpPr>
          <p:cNvPr id="39" name="!!dot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72212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!!dotn11"/>
          <p:cNvSpPr txBox="1"/>
          <p:nvPr/>
        </p:nvSpPr>
        <p:spPr>
          <a:xfrm>
            <a:off x="568077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11</a:t>
            </a:r>
          </a:p>
        </p:txBody>
      </p:sp>
      <p:sp>
        <p:nvSpPr>
          <p:cNvPr id="41" name="!!dot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81738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dotn12"/>
          <p:cNvSpPr txBox="1"/>
          <p:nvPr/>
        </p:nvSpPr>
        <p:spPr>
          <a:xfrm>
            <a:off x="609029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12</a:t>
            </a:r>
          </a:p>
        </p:txBody>
      </p:sp>
      <p:sp>
        <p:nvSpPr>
          <p:cNvPr id="43" name="!!dot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91265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dotn13"/>
          <p:cNvSpPr txBox="1"/>
          <p:nvPr/>
        </p:nvSpPr>
        <p:spPr>
          <a:xfrm>
            <a:off x="649982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13</a:t>
            </a:r>
          </a:p>
        </p:txBody>
      </p:sp>
      <p:sp>
        <p:nvSpPr>
          <p:cNvPr id="45" name="!!dot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0079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!!dotn14"/>
          <p:cNvSpPr txBox="1"/>
          <p:nvPr/>
        </p:nvSpPr>
        <p:spPr>
          <a:xfrm>
            <a:off x="690935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14</a:t>
            </a:r>
          </a:p>
        </p:txBody>
      </p:sp>
      <p:sp>
        <p:nvSpPr>
          <p:cNvPr id="47" name="!!dot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4638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dotn15"/>
          <p:cNvSpPr txBox="1"/>
          <p:nvPr/>
        </p:nvSpPr>
        <p:spPr>
          <a:xfrm>
            <a:off x="759319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15</a:t>
            </a:r>
          </a:p>
        </p:txBody>
      </p:sp>
      <p:sp>
        <p:nvSpPr>
          <p:cNvPr id="49" name="!!dot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416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dotn16"/>
          <p:cNvSpPr txBox="1"/>
          <p:nvPr/>
        </p:nvSpPr>
        <p:spPr>
          <a:xfrm>
            <a:off x="80027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16</a:t>
            </a:r>
          </a:p>
        </p:txBody>
      </p:sp>
      <p:sp>
        <p:nvSpPr>
          <p:cNvPr id="51" name="!!dot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0369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!!dotn17"/>
          <p:cNvSpPr txBox="1"/>
          <p:nvPr/>
        </p:nvSpPr>
        <p:spPr>
          <a:xfrm>
            <a:off x="841225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17</a:t>
            </a:r>
          </a:p>
        </p:txBody>
      </p:sp>
      <p:sp>
        <p:nvSpPr>
          <p:cNvPr id="53" name="!!dot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8753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dotn18"/>
          <p:cNvSpPr txBox="1"/>
          <p:nvPr/>
        </p:nvSpPr>
        <p:spPr>
          <a:xfrm>
            <a:off x="90960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18</a:t>
            </a:r>
          </a:p>
        </p:txBody>
      </p:sp>
      <p:sp>
        <p:nvSpPr>
          <p:cNvPr id="55" name="!!dot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9706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!!dotn19"/>
          <p:cNvSpPr txBox="1"/>
          <p:nvPr/>
        </p:nvSpPr>
        <p:spPr>
          <a:xfrm>
            <a:off x="950562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19</a:t>
            </a:r>
          </a:p>
        </p:txBody>
      </p:sp>
      <p:sp>
        <p:nvSpPr>
          <p:cNvPr id="57" name="!!dot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006590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!!dotn20"/>
          <p:cNvSpPr txBox="1"/>
          <p:nvPr/>
        </p:nvSpPr>
        <p:spPr>
          <a:xfrm>
            <a:off x="991515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20</a:t>
            </a:r>
          </a:p>
        </p:txBody>
      </p:sp>
      <p:sp>
        <p:nvSpPr>
          <p:cNvPr id="59" name="!!dot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9043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dotn21"/>
          <p:cNvSpPr txBox="1"/>
          <p:nvPr/>
        </p:nvSpPr>
        <p:spPr>
          <a:xfrm>
            <a:off x="105989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21</a:t>
            </a:r>
          </a:p>
        </p:txBody>
      </p:sp>
      <p:sp>
        <p:nvSpPr>
          <p:cNvPr id="61" name="!!dot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09996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!!dotn22"/>
          <p:cNvSpPr txBox="1"/>
          <p:nvPr/>
        </p:nvSpPr>
        <p:spPr>
          <a:xfrm>
            <a:off x="1100852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22</a:t>
            </a:r>
          </a:p>
        </p:txBody>
      </p:sp>
      <p:sp>
        <p:nvSpPr>
          <p:cNvPr id="63" name="!!dotlabel"/>
          <p:cNvSpPr txBox="1"/>
          <p:nvPr/>
        </p:nvSpPr>
        <p:spPr>
          <a:xfrm>
            <a:off x="658368" y="2798064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5276"/>
                </a:solidFill>
                <a:latin typeface="Segoe UI"/>
              </a:rPr>
              <a:t>Concept Learning and the Version Space</a:t>
            </a:r>
          </a:p>
        </p:txBody>
      </p:sp>
      <p:sp>
        <p:nvSpPr>
          <p:cNvPr id="64" name="!!dep-BUILD"/>
          <p:cNvSpPr txBox="1"/>
          <p:nvPr/>
        </p:nvSpPr>
        <p:spPr>
          <a:xfrm>
            <a:off x="658368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BUILDS ON</a:t>
            </a:r>
          </a:p>
        </p:txBody>
      </p:sp>
      <p:sp>
        <p:nvSpPr>
          <p:cNvPr id="65" name="!!chipBU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!!chipbBU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64008" cy="42062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!!chiptBU1"/>
          <p:cNvSpPr txBox="1"/>
          <p:nvPr/>
        </p:nvSpPr>
        <p:spPr>
          <a:xfrm>
            <a:off x="859536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5276"/>
                </a:solidFill>
                <a:latin typeface="Segoe UI"/>
              </a:rPr>
              <a:t>Ch 1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What Machine Learning Is</a:t>
            </a:r>
          </a:p>
        </p:txBody>
      </p:sp>
      <p:sp>
        <p:nvSpPr>
          <p:cNvPr id="68" name="!!dep-USED "/>
          <p:cNvSpPr txBox="1"/>
          <p:nvPr/>
        </p:nvSpPr>
        <p:spPr>
          <a:xfrm>
            <a:off x="6324447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USED LATER IN</a:t>
            </a:r>
          </a:p>
        </p:txBody>
      </p:sp>
      <p:sp>
        <p:nvSpPr>
          <p:cNvPr id="69" name="!!chipUS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!!chipbUS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64008" cy="4206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chiptUS9"/>
          <p:cNvSpPr txBox="1"/>
          <p:nvPr/>
        </p:nvSpPr>
        <p:spPr>
          <a:xfrm>
            <a:off x="6525615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7A43"/>
                </a:solidFill>
                <a:latin typeface="Segoe UI"/>
              </a:rPr>
              <a:t>Ch 9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Decision Tree Learning</a:t>
            </a:r>
          </a:p>
        </p:txBody>
      </p:sp>
      <p:sp>
        <p:nvSpPr>
          <p:cNvPr id="7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3541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you will be able to do</a:t>
            </a:r>
          </a:p>
        </p:txBody>
      </p:sp>
      <p:pic>
        <p:nvPicPr>
          <p:cNvPr id="3" name="!!kicker-icon" descr="bullsey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LEARNING OUTCOMES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27     </a:t>
            </a:r>
            <a:fld id="{01062151-1A1B-4B5F-9CE2-973072A7349E}" type="slidenum">
              <a:rPr lang="en-GB" sz="1000">
                <a:solidFill>
                  <a:srgbClr val="8795A1"/>
                </a:solidFill>
                <a:latin typeface="Segoe UI"/>
              </a:rPr>
              <a:t>3</a:t>
            </a:fld>
          </a:p>
        </p:txBody>
      </p:sp>
      <p:sp>
        <p:nvSpPr>
          <p:cNvPr id="7" name="!!olead"/>
          <p:cNvSpPr txBox="1"/>
          <p:nvPr/>
        </p:nvSpPr>
        <p:spPr>
          <a:xfrm>
            <a:off x="658368" y="173736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6F7B"/>
                </a:solidFill>
                <a:latin typeface="Segoe UI"/>
              </a:rPr>
              <a:t>By the end of this chapter you will be able to:</a:t>
            </a:r>
          </a:p>
        </p:txBody>
      </p:sp>
      <p:sp>
        <p:nvSpPr>
          <p:cNvPr id="8" name="!!o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21991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obn0"/>
          <p:cNvSpPr txBox="1"/>
          <p:nvPr/>
        </p:nvSpPr>
        <p:spPr>
          <a:xfrm>
            <a:off x="658368" y="228142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!!ot0"/>
          <p:cNvSpPr txBox="1"/>
          <p:nvPr/>
        </p:nvSpPr>
        <p:spPr>
          <a:xfrm>
            <a:off x="1316736" y="2212848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Represent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concept as a conjunction of attribute constraints,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order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hypotheses from specific to general.</a:t>
            </a:r>
          </a:p>
        </p:txBody>
      </p:sp>
      <p:sp>
        <p:nvSpPr>
          <p:cNvPr id="11" name="!!o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70555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obn1"/>
          <p:cNvSpPr txBox="1"/>
          <p:nvPr/>
        </p:nvSpPr>
        <p:spPr>
          <a:xfrm>
            <a:off x="658368" y="3129991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!!ot1"/>
          <p:cNvSpPr txBox="1"/>
          <p:nvPr/>
        </p:nvSpPr>
        <p:spPr>
          <a:xfrm>
            <a:off x="1316736" y="3111703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Trace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Find-S algorithm on a set of training examples,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state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its limitations.</a:t>
            </a:r>
          </a:p>
        </p:txBody>
      </p:sp>
      <p:sp>
        <p:nvSpPr>
          <p:cNvPr id="14" name="!!o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74059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obn2"/>
          <p:cNvSpPr txBox="1"/>
          <p:nvPr/>
        </p:nvSpPr>
        <p:spPr>
          <a:xfrm>
            <a:off x="658368" y="3733495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!!ot2"/>
          <p:cNvSpPr txBox="1"/>
          <p:nvPr/>
        </p:nvSpPr>
        <p:spPr>
          <a:xfrm>
            <a:off x="1316736" y="3664915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Define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version space,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trace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Candidate-Elimination algorithm through the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boundaries by hand.</a:t>
            </a:r>
          </a:p>
        </p:txBody>
      </p:sp>
      <p:sp>
        <p:nvSpPr>
          <p:cNvPr id="17" name="!!o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522622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obn3"/>
          <p:cNvSpPr txBox="1"/>
          <p:nvPr/>
        </p:nvSpPr>
        <p:spPr>
          <a:xfrm>
            <a:off x="658368" y="458205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9" name="!!ot3"/>
          <p:cNvSpPr txBox="1"/>
          <p:nvPr/>
        </p:nvSpPr>
        <p:spPr>
          <a:xfrm>
            <a:off x="1316736" y="4513478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Classify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new instance with a partially learned concept,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choose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most informative query.</a:t>
            </a:r>
          </a:p>
        </p:txBody>
      </p:sp>
      <p:sp>
        <p:nvSpPr>
          <p:cNvPr id="20" name="!!o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371185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obn4"/>
          <p:cNvSpPr txBox="1"/>
          <p:nvPr/>
        </p:nvSpPr>
        <p:spPr>
          <a:xfrm>
            <a:off x="658368" y="5430621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2" name="!!ot4"/>
          <p:cNvSpPr txBox="1"/>
          <p:nvPr/>
        </p:nvSpPr>
        <p:spPr>
          <a:xfrm>
            <a:off x="1316736" y="5362041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Explain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why an unbiased learner cannot generalise,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state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inductive bias of Candidate-Elimination.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5312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Vocabulary for this chapter</a:t>
            </a:r>
          </a:p>
        </p:txBody>
      </p:sp>
      <p:pic>
        <p:nvPicPr>
          <p:cNvPr id="3" name="!!kicker-icon" descr="tags-8E44AD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7256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8E44AD"/>
                </a:solidFill>
                <a:latin typeface="Segoe UI"/>
              </a:rPr>
              <a:t>KEY TERMS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27     </a:t>
            </a:r>
            <a:fld id="{B09230EF-2629-4E2E-AB81-4DF6585E6FC6}" type="slidenum">
              <a:rPr lang="en-GB" sz="1000">
                <a:solidFill>
                  <a:srgbClr val="8795A1"/>
                </a:solidFill>
                <a:latin typeface="Segoe UI"/>
              </a:rPr>
              <a:t>4</a:t>
            </a:fld>
          </a:p>
        </p:txBody>
      </p:sp>
      <p:sp>
        <p:nvSpPr>
          <p:cNvPr id="7" name="!!term-concept learn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847088"/>
            <a:ext cx="1969550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ermd-concept learn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termt-concept learni"/>
          <p:cNvSpPr txBox="1"/>
          <p:nvPr/>
        </p:nvSpPr>
        <p:spPr>
          <a:xfrm>
            <a:off x="950976" y="1962911"/>
            <a:ext cx="178667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concept learning</a:t>
            </a:r>
          </a:p>
        </p:txBody>
      </p:sp>
      <p:sp>
        <p:nvSpPr>
          <p:cNvPr id="10" name="!!term-instance spa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74222" y="1847088"/>
            <a:ext cx="176763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termd-instance spa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02238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termt-instance space"/>
          <p:cNvSpPr txBox="1"/>
          <p:nvPr/>
        </p:nvSpPr>
        <p:spPr>
          <a:xfrm>
            <a:off x="3066830" y="1962911"/>
            <a:ext cx="158475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instance space</a:t>
            </a:r>
          </a:p>
        </p:txBody>
      </p:sp>
      <p:sp>
        <p:nvSpPr>
          <p:cNvPr id="13" name="!!term-target concep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88165" y="1847088"/>
            <a:ext cx="1775100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termd-target concep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16181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termt-target concept"/>
          <p:cNvSpPr txBox="1"/>
          <p:nvPr/>
        </p:nvSpPr>
        <p:spPr>
          <a:xfrm>
            <a:off x="4980773" y="1962911"/>
            <a:ext cx="159222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target concept</a:t>
            </a:r>
          </a:p>
        </p:txBody>
      </p:sp>
      <p:sp>
        <p:nvSpPr>
          <p:cNvPr id="16" name="!!term-attribute con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09570" y="1847088"/>
            <a:ext cx="2189852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termd-attribute con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37586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termt-attribute cons"/>
          <p:cNvSpPr txBox="1"/>
          <p:nvPr/>
        </p:nvSpPr>
        <p:spPr>
          <a:xfrm>
            <a:off x="6902178" y="1962911"/>
            <a:ext cx="2006972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attribute constraint</a:t>
            </a:r>
          </a:p>
        </p:txBody>
      </p:sp>
      <p:sp>
        <p:nvSpPr>
          <p:cNvPr id="19" name="!!term-consistent hy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45726" y="1847088"/>
            <a:ext cx="240519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termd-consistent hy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3742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termt-consistent hyp"/>
          <p:cNvSpPr txBox="1"/>
          <p:nvPr/>
        </p:nvSpPr>
        <p:spPr>
          <a:xfrm>
            <a:off x="9238334" y="1962911"/>
            <a:ext cx="222231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consistent hypothesis</a:t>
            </a:r>
          </a:p>
        </p:txBody>
      </p:sp>
      <p:sp>
        <p:nvSpPr>
          <p:cNvPr id="22" name="!!term-more-general-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68880"/>
            <a:ext cx="331670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termd-more-general-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termt-more-general-t"/>
          <p:cNvSpPr txBox="1"/>
          <p:nvPr/>
        </p:nvSpPr>
        <p:spPr>
          <a:xfrm>
            <a:off x="950976" y="2584704"/>
            <a:ext cx="313382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more-general-than-or-equal-to</a:t>
            </a:r>
          </a:p>
        </p:txBody>
      </p:sp>
      <p:sp>
        <p:nvSpPr>
          <p:cNvPr id="25" name="!!term-Find-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21379" y="2468880"/>
            <a:ext cx="102256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termd-Find-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49395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termt-Find-S"/>
          <p:cNvSpPr txBox="1"/>
          <p:nvPr/>
        </p:nvSpPr>
        <p:spPr>
          <a:xfrm>
            <a:off x="4413987" y="2584704"/>
            <a:ext cx="83968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Find-S</a:t>
            </a:r>
          </a:p>
        </p:txBody>
      </p:sp>
      <p:sp>
        <p:nvSpPr>
          <p:cNvPr id="28" name="!!term-version spa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90251" y="2468880"/>
            <a:ext cx="167167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termd-version spa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8267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termt-version space"/>
          <p:cNvSpPr txBox="1"/>
          <p:nvPr/>
        </p:nvSpPr>
        <p:spPr>
          <a:xfrm>
            <a:off x="5582859" y="2584704"/>
            <a:ext cx="148879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version space</a:t>
            </a:r>
          </a:p>
        </p:txBody>
      </p:sp>
      <p:sp>
        <p:nvSpPr>
          <p:cNvPr id="31" name="!!term-List-Then-Eli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08234" y="2468880"/>
            <a:ext cx="219734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termd-List-Then-Eli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36250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termt-List-Then-Elim"/>
          <p:cNvSpPr txBox="1"/>
          <p:nvPr/>
        </p:nvSpPr>
        <p:spPr>
          <a:xfrm>
            <a:off x="7400842" y="2584704"/>
            <a:ext cx="201446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List-Then-Eliminate</a:t>
            </a:r>
          </a:p>
        </p:txBody>
      </p:sp>
      <p:sp>
        <p:nvSpPr>
          <p:cNvPr id="34" name="!!term-general bound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90672"/>
            <a:ext cx="225674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!!termd-general bound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termt-general bounda"/>
          <p:cNvSpPr txBox="1"/>
          <p:nvPr/>
        </p:nvSpPr>
        <p:spPr>
          <a:xfrm>
            <a:off x="950976" y="3206496"/>
            <a:ext cx="207386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general boundary G</a:t>
            </a:r>
          </a:p>
        </p:txBody>
      </p:sp>
      <p:sp>
        <p:nvSpPr>
          <p:cNvPr id="37" name="!!term-specific bou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61418" y="3090672"/>
            <a:ext cx="221550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termd-specific bou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89434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termt-specific bound"/>
          <p:cNvSpPr txBox="1"/>
          <p:nvPr/>
        </p:nvSpPr>
        <p:spPr>
          <a:xfrm>
            <a:off x="3354026" y="3206496"/>
            <a:ext cx="203262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specific boundary S</a:t>
            </a:r>
          </a:p>
        </p:txBody>
      </p:sp>
      <p:sp>
        <p:nvSpPr>
          <p:cNvPr id="40" name="!!term-Candidate-Eli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23224" y="3090672"/>
            <a:ext cx="246717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!!termd-Candidate-Eli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51240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termt-Candidate-Elim"/>
          <p:cNvSpPr txBox="1"/>
          <p:nvPr/>
        </p:nvSpPr>
        <p:spPr>
          <a:xfrm>
            <a:off x="5715832" y="3206496"/>
            <a:ext cx="228429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Candidate-Elimination</a:t>
            </a:r>
          </a:p>
        </p:txBody>
      </p:sp>
      <p:sp>
        <p:nvSpPr>
          <p:cNvPr id="43" name="!!term-quer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36699" y="3090672"/>
            <a:ext cx="95927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termd-quer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64715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!!termt-query"/>
          <p:cNvSpPr txBox="1"/>
          <p:nvPr/>
        </p:nvSpPr>
        <p:spPr>
          <a:xfrm>
            <a:off x="8329307" y="3206496"/>
            <a:ext cx="77639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query</a:t>
            </a:r>
          </a:p>
        </p:txBody>
      </p:sp>
      <p:sp>
        <p:nvSpPr>
          <p:cNvPr id="46" name="!!term-unbiased lear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2277" y="3090672"/>
            <a:ext cx="196022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!!termd-unbiased lear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70293" y="3282696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termt-unbiased learn"/>
          <p:cNvSpPr txBox="1"/>
          <p:nvPr/>
        </p:nvSpPr>
        <p:spPr>
          <a:xfrm>
            <a:off x="9434885" y="3206496"/>
            <a:ext cx="177734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unbiased learner</a:t>
            </a:r>
          </a:p>
        </p:txBody>
      </p:sp>
      <p:sp>
        <p:nvSpPr>
          <p:cNvPr id="49" name="!!term-inductive bia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12464"/>
            <a:ext cx="1691803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termd-inductive bia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3904488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!!termt-inductive bias"/>
          <p:cNvSpPr txBox="1"/>
          <p:nvPr/>
        </p:nvSpPr>
        <p:spPr>
          <a:xfrm>
            <a:off x="950976" y="3828288"/>
            <a:ext cx="1508923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inductive bias</a:t>
            </a:r>
          </a:p>
        </p:txBody>
      </p:sp>
      <p:sp>
        <p:nvSpPr>
          <p:cNvPr id="52" name="!!termnote"/>
          <p:cNvSpPr txBox="1"/>
          <p:nvPr/>
        </p:nvSpPr>
        <p:spPr>
          <a:xfrm>
            <a:off x="658368" y="45354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F6F7B"/>
                </a:solidFill>
                <a:latin typeface="Segoe UI"/>
              </a:rPr>
              <a:t>Each term is defined where it first matters — not here.</a:t>
            </a:r>
          </a:p>
        </p:txBody>
      </p:sp>
      <p:sp>
        <p:nvSpPr>
          <p:cNvPr id="53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7083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 this chapter</a:t>
            </a:r>
          </a:p>
        </p:txBody>
      </p:sp>
      <p:pic>
        <p:nvPicPr>
          <p:cNvPr id="3" name="!!kicker-icon" descr="list-ul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6883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IN THIS CHAPTER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pp. 27–37     </a:t>
            </a:r>
            <a:fld id="{6D82FEA2-C04F-4661-8933-D160C9A0BEFC}" type="slidenum">
              <a:rPr lang="en-GB" sz="1000">
                <a:solidFill>
                  <a:srgbClr val="8795A1"/>
                </a:solidFill>
                <a:latin typeface="Segoe UI"/>
              </a:rPr>
              <a:t>5</a:t>
            </a:fld>
          </a:p>
        </p:txBody>
      </p:sp>
      <p:sp>
        <p:nvSpPr>
          <p:cNvPr id="7" name="!!ag0" descr="Go to section 4.1 Concept Learning as a Task">
            <a:hlinkClick action="ppaction://hlinksldjump" r:id="rId5"/>
          </p:cNvPr>
          <p:cNvSpPr/>
          <p:nvPr/>
        </p:nvSpPr>
        <p:spPr>
          <a:xfrm>
            <a:off x="658368" y="1773936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ag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73936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agn0"/>
          <p:cNvSpPr txBox="1"/>
          <p:nvPr/>
        </p:nvSpPr>
        <p:spPr>
          <a:xfrm>
            <a:off x="932688" y="1895474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4.1</a:t>
            </a:r>
          </a:p>
        </p:txBody>
      </p:sp>
      <p:sp>
        <p:nvSpPr>
          <p:cNvPr id="10" name="!!agt0"/>
          <p:cNvSpPr txBox="1"/>
          <p:nvPr/>
        </p:nvSpPr>
        <p:spPr>
          <a:xfrm>
            <a:off x="1847088" y="1895474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Concept Learning as a Task</a:t>
            </a:r>
          </a:p>
        </p:txBody>
      </p:sp>
      <p:sp>
        <p:nvSpPr>
          <p:cNvPr id="11" name="!!agp0"/>
          <p:cNvSpPr txBox="1"/>
          <p:nvPr/>
        </p:nvSpPr>
        <p:spPr>
          <a:xfrm>
            <a:off x="9795967" y="1922906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27  ›</a:t>
            </a:r>
          </a:p>
        </p:txBody>
      </p:sp>
      <p:sp>
        <p:nvSpPr>
          <p:cNvPr id="12" name="!!ag1" descr="Go to section 4.2 The Inductive Learning Hypothesis">
            <a:hlinkClick action="ppaction://hlinksldjump" r:id="rId6"/>
          </p:cNvPr>
          <p:cNvSpPr/>
          <p:nvPr/>
        </p:nvSpPr>
        <p:spPr>
          <a:xfrm>
            <a:off x="658368" y="2334006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ag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334006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agn1"/>
          <p:cNvSpPr txBox="1"/>
          <p:nvPr/>
        </p:nvSpPr>
        <p:spPr>
          <a:xfrm>
            <a:off x="932688" y="2455545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4.2</a:t>
            </a:r>
          </a:p>
        </p:txBody>
      </p:sp>
      <p:sp>
        <p:nvSpPr>
          <p:cNvPr id="15" name="!!agt1"/>
          <p:cNvSpPr txBox="1"/>
          <p:nvPr/>
        </p:nvSpPr>
        <p:spPr>
          <a:xfrm>
            <a:off x="1847088" y="2455545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The Inductive Learning Hypothesis</a:t>
            </a:r>
          </a:p>
        </p:txBody>
      </p:sp>
      <p:sp>
        <p:nvSpPr>
          <p:cNvPr id="16" name="!!agp1"/>
          <p:cNvSpPr txBox="1"/>
          <p:nvPr/>
        </p:nvSpPr>
        <p:spPr>
          <a:xfrm>
            <a:off x="9795967" y="2482977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28  ›</a:t>
            </a:r>
          </a:p>
        </p:txBody>
      </p:sp>
      <p:sp>
        <p:nvSpPr>
          <p:cNvPr id="17" name="!!ag2" descr="Go to section 4.3 The General-to-Specific Ordering">
            <a:hlinkClick action="ppaction://hlinksldjump" r:id="rId7"/>
          </p:cNvPr>
          <p:cNvSpPr/>
          <p:nvPr/>
        </p:nvSpPr>
        <p:spPr>
          <a:xfrm>
            <a:off x="658368" y="2894076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ag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894076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agn2"/>
          <p:cNvSpPr txBox="1"/>
          <p:nvPr/>
        </p:nvSpPr>
        <p:spPr>
          <a:xfrm>
            <a:off x="932688" y="3015615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4.3</a:t>
            </a:r>
          </a:p>
        </p:txBody>
      </p:sp>
      <p:sp>
        <p:nvSpPr>
          <p:cNvPr id="20" name="!!agt2"/>
          <p:cNvSpPr txBox="1"/>
          <p:nvPr/>
        </p:nvSpPr>
        <p:spPr>
          <a:xfrm>
            <a:off x="1847088" y="3015615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The General-to-Specific Ordering</a:t>
            </a:r>
          </a:p>
        </p:txBody>
      </p:sp>
      <p:sp>
        <p:nvSpPr>
          <p:cNvPr id="21" name="!!agp2"/>
          <p:cNvSpPr txBox="1"/>
          <p:nvPr/>
        </p:nvSpPr>
        <p:spPr>
          <a:xfrm>
            <a:off x="9795967" y="3043047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28  ›</a:t>
            </a:r>
          </a:p>
        </p:txBody>
      </p:sp>
      <p:sp>
        <p:nvSpPr>
          <p:cNvPr id="22" name="!!ag3" descr="Go to section 4.4 Find-S: The Most Specific Consistent Hypothesis">
            <a:hlinkClick action="ppaction://hlinksldjump" r:id="rId8"/>
          </p:cNvPr>
          <p:cNvSpPr/>
          <p:nvPr/>
        </p:nvSpPr>
        <p:spPr>
          <a:xfrm>
            <a:off x="658368" y="3454146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ag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454146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agn3"/>
          <p:cNvSpPr txBox="1"/>
          <p:nvPr/>
        </p:nvSpPr>
        <p:spPr>
          <a:xfrm>
            <a:off x="932688" y="3575685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4.4</a:t>
            </a:r>
          </a:p>
        </p:txBody>
      </p:sp>
      <p:sp>
        <p:nvSpPr>
          <p:cNvPr id="25" name="!!agt3"/>
          <p:cNvSpPr txBox="1"/>
          <p:nvPr/>
        </p:nvSpPr>
        <p:spPr>
          <a:xfrm>
            <a:off x="1847088" y="3575685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Find-S: The Most Specific Consistent Hypothesis</a:t>
            </a:r>
          </a:p>
        </p:txBody>
      </p:sp>
      <p:sp>
        <p:nvSpPr>
          <p:cNvPr id="26" name="!!agp3"/>
          <p:cNvSpPr txBox="1"/>
          <p:nvPr/>
        </p:nvSpPr>
        <p:spPr>
          <a:xfrm>
            <a:off x="9795967" y="3603116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29  ›</a:t>
            </a:r>
          </a:p>
        </p:txBody>
      </p:sp>
      <p:sp>
        <p:nvSpPr>
          <p:cNvPr id="27" name="!!ag4" descr="Go to section 4.5 Version Spaces">
            <a:hlinkClick action="ppaction://hlinksldjump" r:id="rId9"/>
          </p:cNvPr>
          <p:cNvSpPr/>
          <p:nvPr/>
        </p:nvSpPr>
        <p:spPr>
          <a:xfrm>
            <a:off x="658368" y="4014215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ag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014215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agn4"/>
          <p:cNvSpPr txBox="1"/>
          <p:nvPr/>
        </p:nvSpPr>
        <p:spPr>
          <a:xfrm>
            <a:off x="932688" y="4135754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4.5</a:t>
            </a:r>
          </a:p>
        </p:txBody>
      </p:sp>
      <p:sp>
        <p:nvSpPr>
          <p:cNvPr id="30" name="!!agt4"/>
          <p:cNvSpPr txBox="1"/>
          <p:nvPr/>
        </p:nvSpPr>
        <p:spPr>
          <a:xfrm>
            <a:off x="1847088" y="4135754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Version Spaces</a:t>
            </a:r>
          </a:p>
        </p:txBody>
      </p:sp>
      <p:sp>
        <p:nvSpPr>
          <p:cNvPr id="31" name="!!agp4"/>
          <p:cNvSpPr txBox="1"/>
          <p:nvPr/>
        </p:nvSpPr>
        <p:spPr>
          <a:xfrm>
            <a:off x="9795967" y="4163187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30  ›</a:t>
            </a:r>
          </a:p>
        </p:txBody>
      </p:sp>
      <p:sp>
        <p:nvSpPr>
          <p:cNvPr id="32" name="!!ag5" descr="Go to section 4.6 The Candidate-Elimination Algorithm">
            <a:hlinkClick action="ppaction://hlinksldjump" r:id="rId10"/>
          </p:cNvPr>
          <p:cNvSpPr/>
          <p:nvPr/>
        </p:nvSpPr>
        <p:spPr>
          <a:xfrm>
            <a:off x="658368" y="4574286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agb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574286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agn5"/>
          <p:cNvSpPr txBox="1"/>
          <p:nvPr/>
        </p:nvSpPr>
        <p:spPr>
          <a:xfrm>
            <a:off x="932688" y="4695824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4.6</a:t>
            </a:r>
          </a:p>
        </p:txBody>
      </p:sp>
      <p:sp>
        <p:nvSpPr>
          <p:cNvPr id="35" name="!!agt5"/>
          <p:cNvSpPr txBox="1"/>
          <p:nvPr/>
        </p:nvSpPr>
        <p:spPr>
          <a:xfrm>
            <a:off x="1847088" y="4695824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The Candidate-Elimination Algorithm</a:t>
            </a:r>
          </a:p>
        </p:txBody>
      </p:sp>
      <p:sp>
        <p:nvSpPr>
          <p:cNvPr id="36" name="!!agp5"/>
          <p:cNvSpPr txBox="1"/>
          <p:nvPr/>
        </p:nvSpPr>
        <p:spPr>
          <a:xfrm>
            <a:off x="9795967" y="4723257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30  ›</a:t>
            </a:r>
          </a:p>
        </p:txBody>
      </p:sp>
      <p:sp>
        <p:nvSpPr>
          <p:cNvPr id="37" name="!!ag6" descr="Go to section 4.7 Using a Partially Learned Concept">
            <a:hlinkClick action="ppaction://hlinksldjump" r:id="rId11"/>
          </p:cNvPr>
          <p:cNvSpPr/>
          <p:nvPr/>
        </p:nvSpPr>
        <p:spPr>
          <a:xfrm>
            <a:off x="658368" y="5134355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agb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134355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agn6"/>
          <p:cNvSpPr txBox="1"/>
          <p:nvPr/>
        </p:nvSpPr>
        <p:spPr>
          <a:xfrm>
            <a:off x="932688" y="5255894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4.7</a:t>
            </a:r>
          </a:p>
        </p:txBody>
      </p:sp>
      <p:sp>
        <p:nvSpPr>
          <p:cNvPr id="40" name="!!agt6"/>
          <p:cNvSpPr txBox="1"/>
          <p:nvPr/>
        </p:nvSpPr>
        <p:spPr>
          <a:xfrm>
            <a:off x="1847088" y="5255894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Using a Partially Learned Concept</a:t>
            </a:r>
          </a:p>
        </p:txBody>
      </p:sp>
      <p:sp>
        <p:nvSpPr>
          <p:cNvPr id="41" name="!!agp6"/>
          <p:cNvSpPr txBox="1"/>
          <p:nvPr/>
        </p:nvSpPr>
        <p:spPr>
          <a:xfrm>
            <a:off x="9795967" y="5283326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31  ›</a:t>
            </a:r>
          </a:p>
        </p:txBody>
      </p:sp>
      <p:sp>
        <p:nvSpPr>
          <p:cNvPr id="42" name="!!ag7" descr="Go to section 4.8 Inductive Bias">
            <a:hlinkClick action="ppaction://hlinksldjump" r:id="rId12"/>
          </p:cNvPr>
          <p:cNvSpPr/>
          <p:nvPr/>
        </p:nvSpPr>
        <p:spPr>
          <a:xfrm>
            <a:off x="658368" y="5694425"/>
            <a:ext cx="10874959" cy="486918"/>
          </a:xfrm>
          <a:prstGeom prst="roundRect">
            <a:avLst>
              <a:gd name="adj" fmla="val 1126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!!agb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694425"/>
            <a:ext cx="64008" cy="48691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agn7"/>
          <p:cNvSpPr txBox="1"/>
          <p:nvPr/>
        </p:nvSpPr>
        <p:spPr>
          <a:xfrm>
            <a:off x="932688" y="5815964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5276"/>
                </a:solidFill>
                <a:latin typeface="Segoe UI Semibold"/>
              </a:rPr>
              <a:t>4.8</a:t>
            </a:r>
          </a:p>
        </p:txBody>
      </p:sp>
      <p:sp>
        <p:nvSpPr>
          <p:cNvPr id="45" name="!!agt7"/>
          <p:cNvSpPr txBox="1"/>
          <p:nvPr/>
        </p:nvSpPr>
        <p:spPr>
          <a:xfrm>
            <a:off x="1847088" y="5815964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Inductive Bias</a:t>
            </a:r>
          </a:p>
        </p:txBody>
      </p:sp>
      <p:sp>
        <p:nvSpPr>
          <p:cNvPr id="46" name="!!agp7"/>
          <p:cNvSpPr txBox="1"/>
          <p:nvPr/>
        </p:nvSpPr>
        <p:spPr>
          <a:xfrm>
            <a:off x="9795967" y="5843396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6F7B"/>
                </a:solidFill>
                <a:latin typeface="Segoe UI"/>
              </a:rPr>
              <a:t>p. 32  ›</a:t>
            </a:r>
          </a:p>
        </p:txBody>
      </p:sp>
      <p:sp>
        <p:nvSpPr>
          <p:cNvPr id="47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8854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Concept Learning as a Task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1 OF 8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4.1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4.1   Concept Learning as a Task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4.2   The Inductive Learning Hypothesis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4.3   The General-to-Specific Ordering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4.4   Find-S: The Most Specific Consistent Hypothesis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4.5   Version Spaces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4.6   The Candidate-Elimination Algorithm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4.7   Using a Partially Learned Concept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4.8   Inductive Bias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§4.1     </a:t>
            </a:r>
            <a:fld id="{5384DA8E-6D66-49EA-829A-641606370C08}" type="slidenum">
              <a:rPr lang="en-GB" sz="1000">
                <a:solidFill>
                  <a:srgbClr val="8795A1"/>
                </a:solidFill>
                <a:latin typeface="Segoe UI"/>
              </a:rPr>
              <a:t>6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30625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Concept Learning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§4.1  ·  Handout p. 27     </a:t>
            </a:r>
            <a:fld id="{7E1059A4-A76A-4639-91DD-D79BE498BBDE}" type="slidenum">
              <a:rPr lang="en-GB" sz="1000">
                <a:solidFill>
                  <a:srgbClr val="8795A1"/>
                </a:solidFill>
                <a:latin typeface="Segoe UI"/>
              </a:rPr>
              <a:t>7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640937"/>
          </a:xfrm>
          <a:prstGeom prst="roundRect">
            <a:avLst>
              <a:gd name="adj" fmla="val 2511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640937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A5276"/>
                </a:solidFill>
                <a:latin typeface="Segoe UI"/>
              </a:rPr>
              <a:t>Concept learning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inferring a boolean-valued function from training examples of its input and output. Formally: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2937992"/>
            <a:ext cx="10161727" cy="2175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instance space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set of all things that could be classified;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target concept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an unknown function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: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→ {0, 1}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;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the training examples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are pairs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⟨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)⟩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;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the learner searches a hypothesis space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for an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with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for every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∈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52396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8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Concept Learning as a Task</a:t>
            </a:r>
          </a:p>
        </p:txBody>
      </p:sp>
      <p:pic>
        <p:nvPicPr>
          <p:cNvPr id="3" name="!!kicker-icon" descr="tabl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5007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AT A GLANCE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§4.1  ·  Handout p. 27     </a:t>
            </a:r>
            <a:fld id="{9E2E796F-1A93-40FF-831C-A43535B8565C}" type="slidenum">
              <a:rPr lang="en-GB" sz="1000">
                <a:solidFill>
                  <a:srgbClr val="8795A1"/>
                </a:solidFill>
                <a:latin typeface="Segoe UI"/>
              </a:rPr>
              <a:t>8</a:t>
            </a:fld>
          </a:p>
        </p:txBody>
      </p:sp>
      <p:graphicFrame>
        <p:nvGraphicFramePr>
          <p:cNvPr id="7" name="!!table"/>
          <p:cNvGraphicFramePr>
            <a:graphicFrameLocks noGrp="1"/>
          </p:cNvGraphicFramePr>
          <p:nvPr/>
        </p:nvGraphicFramePr>
        <p:xfrm>
          <a:off x="658368" y="1737360"/>
          <a:ext cx="8510404" cy="20269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655287"/>
                <a:gridCol w="977363"/>
                <a:gridCol w="1147164"/>
                <a:gridCol w="1225211"/>
                <a:gridCol w="977363"/>
                <a:gridCol w="977363"/>
                <a:gridCol w="1160619"/>
                <a:gridCol w="1390034"/>
              </a:tblGrid>
              <a:tr h="405384"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Day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Sky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AirTemp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Humidity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Wind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Water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Forecast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 i="0">
                          <a:solidFill>
                            <a:srgbClr val="1A5276"/>
                          </a:solidFill>
                          <a:latin typeface="Segoe UI"/>
                        </a:rPr>
                        <a:t>EnjoySport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1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Sunny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Warm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Normal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Strong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Warm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Same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Yes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2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Sunny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Warm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High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Strong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Warm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Same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Yes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3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Rainy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Cold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High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Strong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Warm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Change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No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4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Sunny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Warm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High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Strong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Cool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Change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 i="0">
                          <a:solidFill>
                            <a:srgbClr val="1C252B"/>
                          </a:solidFill>
                          <a:latin typeface="Segoe UI"/>
                        </a:rPr>
                        <a:t>Yes</a:t>
                      </a:r>
                      <a:endParaRPr sz="17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74167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Hypotheses as Conjunctions of Constraints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§4.1  ·  Handout p. 27     </a:t>
            </a:r>
            <a:fld id="{7C35F928-C5B3-4F40-8177-1ADD00C4177B}" type="slidenum">
              <a:rPr lang="en-GB" sz="1000">
                <a:solidFill>
                  <a:srgbClr val="8795A1"/>
                </a:solidFill>
                <a:latin typeface="Segoe UI"/>
              </a:rPr>
              <a:t>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28439"/>
          </a:xfrm>
          <a:prstGeom prst="roundRect">
            <a:avLst>
              <a:gd name="adj" fmla="val 2064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28439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Each hypothesis is a vector of six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constraints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one per attribute. Each constraint is one of: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2937992"/>
            <a:ext cx="10161727" cy="13438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a specific value, such as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Warm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only that value is acceptable;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“?” — any value is acceptable;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“” — no value is acceptable.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60704" y="4396740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A hypothesis classifies an instance as positive if the instance satisfies every constraint. So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Sunny, ?, ?, Strong, ?, ?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means “sunny and windy, whatever else”;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?, ?, ?, ?, ?, ?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says every day is positive; and a hypothesis containing  says no day is.</a:t>
            </a:r>
          </a:p>
        </p:txBody>
      </p:sp>
      <p:sp>
        <p:nvSpPr>
          <p:cNvPr id="1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95937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8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How Big Are These Spaces?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§4.1  ·  Handout p. 27     </a:t>
            </a:r>
            <a:fld id="{25023577-CA7F-4AB8-904E-7DDC3E4F3F75}" type="slidenum">
              <a:rPr lang="en-GB" sz="1000">
                <a:solidFill>
                  <a:srgbClr val="8795A1"/>
                </a:solidFill>
                <a:latin typeface="Segoe UI"/>
              </a:rPr>
              <a:t>10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50460"/>
          </a:xfrm>
          <a:prstGeom prst="roundRect">
            <a:avLst>
              <a:gd name="adj" fmla="val 2054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5046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37856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Sky has 3 values and the other five attributes have 2 each.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2491206"/>
            <a:ext cx="10234879" cy="23228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34813" indent="-234813">
              <a:lnSpc>
                <a:spcPct val="104000"/>
              </a:lnSpc>
              <a:spcBef>
                <a:spcPts val="0"/>
              </a:spcBef>
              <a:spcAft>
                <a:spcPts val="735"/>
              </a:spcAft>
            </a:pPr>
            <a:r>
              <a:rPr sz="2100" b="1">
                <a:solidFill>
                  <a:srgbClr val="7D6608"/>
                </a:solidFill>
                <a:latin typeface="Segoe UI"/>
              </a:rPr>
              <a:t>•	</a:t>
            </a:r>
            <a:r>
              <a:rPr sz="2100" b="1" i="0">
                <a:solidFill>
                  <a:srgbClr val="7D6608"/>
                </a:solidFill>
                <a:latin typeface="Segoe UI"/>
              </a:rPr>
              <a:t>Instances: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3 × 2</a:t>
            </a:r>
            <a:r>
              <a:rPr sz="2100" b="0" i="0" baseline="30000">
                <a:solidFill>
                  <a:srgbClr val="1C252B"/>
                </a:solidFill>
                <a:latin typeface="Cambria"/>
              </a:rPr>
              <a:t>5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96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possible days.</a:t>
            </a:r>
          </a:p>
          <a:p>
            <a:pPr algn="l" marL="234813" indent="-234813">
              <a:lnSpc>
                <a:spcPct val="104000"/>
              </a:lnSpc>
              <a:spcBef>
                <a:spcPts val="0"/>
              </a:spcBef>
              <a:spcAft>
                <a:spcPts val="735"/>
              </a:spcAft>
            </a:pPr>
            <a:r>
              <a:rPr sz="2100" b="1">
                <a:solidFill>
                  <a:srgbClr val="7D6608"/>
                </a:solidFill>
                <a:latin typeface="Segoe UI"/>
              </a:rPr>
              <a:t>•	</a:t>
            </a:r>
            <a:r>
              <a:rPr sz="2100" b="1" i="0">
                <a:solidFill>
                  <a:srgbClr val="7D6608"/>
                </a:solidFill>
                <a:latin typeface="Segoe UI"/>
              </a:rPr>
              <a:t>Hypotheses, as written: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each constraint can also be “?” or “”, so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5 × 4</a:t>
            </a:r>
            <a:r>
              <a:rPr sz="2100" b="0" i="0" baseline="30000">
                <a:solidFill>
                  <a:srgbClr val="1C252B"/>
                </a:solidFill>
                <a:latin typeface="Cambria"/>
              </a:rPr>
              <a:t>5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5120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 marL="234813" indent="-234813">
              <a:lnSpc>
                <a:spcPct val="104000"/>
              </a:lnSpc>
              <a:spcBef>
                <a:spcPts val="0"/>
              </a:spcBef>
              <a:spcAft>
                <a:spcPts val="735"/>
              </a:spcAft>
            </a:pPr>
            <a:r>
              <a:rPr sz="2100" b="1">
                <a:solidFill>
                  <a:srgbClr val="7D6608"/>
                </a:solidFill>
                <a:latin typeface="Segoe UI"/>
              </a:rPr>
              <a:t>•	</a:t>
            </a:r>
            <a:r>
              <a:rPr sz="2100" b="1" i="0">
                <a:solidFill>
                  <a:srgbClr val="7D6608"/>
                </a:solidFill>
                <a:latin typeface="Segoe UI"/>
              </a:rPr>
              <a:t>Hypotheses, by meaning: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every hypothesis containing a  classifies every day as negative, so they all mean the same thing. Counting that as one: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1 + 4 × 3</a:t>
            </a:r>
            <a:r>
              <a:rPr sz="2100" b="0" i="0" baseline="30000">
                <a:solidFill>
                  <a:srgbClr val="1C252B"/>
                </a:solidFill>
                <a:latin typeface="Cambria"/>
              </a:rPr>
              <a:t>5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973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 marL="234813" indent="-234813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7D6608"/>
                </a:solidFill>
                <a:latin typeface="Segoe UI"/>
              </a:rPr>
              <a:t>•	</a:t>
            </a:r>
            <a:r>
              <a:rPr sz="2100" b="1" i="0">
                <a:solidFill>
                  <a:srgbClr val="7D6608"/>
                </a:solidFill>
                <a:latin typeface="Segoe UI"/>
              </a:rPr>
              <a:t>All possible concepts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over 96 days: every subset of the days is a concept, so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0" baseline="30000">
                <a:solidFill>
                  <a:srgbClr val="1C252B"/>
                </a:solidFill>
                <a:latin typeface="Cambria"/>
              </a:rPr>
              <a:t>96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≈ 7.9 × 10</a:t>
            </a:r>
            <a:r>
              <a:rPr sz="2100" b="0" i="0" baseline="30000">
                <a:solidFill>
                  <a:srgbClr val="1C252B"/>
                </a:solidFill>
                <a:latin typeface="Cambria"/>
              </a:rPr>
              <a:t>28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42416" y="4914976"/>
            <a:ext cx="10234879" cy="10442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D6608"/>
                </a:solidFill>
                <a:latin typeface="Segoe UI"/>
              </a:rPr>
              <a:t>The conjunctive language can express 973 of the 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7.9 × 10</a:t>
            </a:r>
            <a:r>
              <a:rPr sz="2100" b="1" i="0" baseline="30000">
                <a:solidFill>
                  <a:srgbClr val="1C252B"/>
                </a:solidFill>
                <a:latin typeface="Cambria"/>
              </a:rPr>
              <a:t>28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 possible concepts.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That restriction looks like a weakness. By the end of the chapter it will turn out to be the only reason learning is possible at all.</a:t>
            </a:r>
          </a:p>
        </p:txBody>
      </p:sp>
      <p:sp>
        <p:nvSpPr>
          <p:cNvPr id="12" name="body-2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4933264"/>
            <a:ext cx="54864" cy="980236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17708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Inductive Learning Hypothesis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§4.2  ·  Handout p. 28     </a:t>
            </a:r>
            <a:fld id="{7D91DA4B-59FB-441D-885F-009B807CBCEE}" type="slidenum">
              <a:rPr lang="en-GB" sz="1000">
                <a:solidFill>
                  <a:srgbClr val="8795A1"/>
                </a:solidFill>
                <a:latin typeface="Segoe UI"/>
              </a:rPr>
              <a:t>11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969691"/>
          </a:xfrm>
          <a:prstGeom prst="roundRect">
            <a:avLst>
              <a:gd name="adj" fmla="val 3079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969691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Any hypothesis found to approximate the target function well over a sufficiently large set of training examples will also approximate the target function well over other unobserved examples.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3302533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This is an assumption, not a theorem. It fails whenever the future does not resemble the training data — which is why Chapter 7 and Chapter 8 measure performance on held-out data rather than trusting it.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39479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The General-to-Specific Ordering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3 OF 8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4.3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4.1   Concept Learning as a Task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4.2   The Inductive Learning Hypothesis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4.3   The General-to-Specific Ordering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4.4   Find-S: The Most Specific Consistent Hypothesis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4.5   Version Spaces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4.6   The Candidate-Elimination Algorithm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4.7   Using a Partially Learned Concept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4.8   Inductive Bias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§4.3     </a:t>
            </a:r>
            <a:fld id="{5EFA4D12-D5F7-4137-A6E7-B701DD66D3D6}" type="slidenum">
              <a:rPr lang="en-GB" sz="1000">
                <a:solidFill>
                  <a:srgbClr val="8795A1"/>
                </a:solidFill>
                <a:latin typeface="Segoe UI"/>
              </a:rPr>
              <a:t>12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61250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More-General-Than-or-Equal-To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§4.3  ·  Handout p. 28     </a:t>
            </a:r>
            <a:fld id="{C2788818-4A5A-4212-BEBB-5A072F0B9844}" type="slidenum">
              <a:rPr lang="en-GB" sz="1000">
                <a:solidFill>
                  <a:srgbClr val="8795A1"/>
                </a:solidFill>
                <a:latin typeface="Segoe UI"/>
              </a:rPr>
              <a:t>13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079955"/>
          </a:xfrm>
          <a:prstGeom prst="roundRect">
            <a:avLst>
              <a:gd name="adj" fmla="val 4396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079955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Hypothesis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j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more general than or equal to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written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j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≥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if every instance that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classifies as positive,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j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also classifies as positive.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j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strictly more general 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j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&gt;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) if, in addition,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k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̸≥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j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The relation is a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partial order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: some pairs of hypotheses are not comparable at all.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83021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more-general-than ordering</a:t>
            </a:r>
          </a:p>
        </p:txBody>
      </p:sp>
      <p:sp>
        <p:nvSpPr>
          <p:cNvPr id="3" name="!!kicker"/>
          <p:cNvSpPr txBox="1"/>
          <p:nvPr/>
        </p:nvSpPr>
        <p:spPr>
          <a:xfrm>
            <a:off x="658368" y="402336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FIGURE 4.1</a:t>
            </a:r>
          </a:p>
        </p:txBody>
      </p:sp>
      <p:sp>
        <p:nvSpPr>
          <p:cNvPr id="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§4.3  ·  Handout p. 28     </a:t>
            </a:r>
            <a:fld id="{272EFB08-654B-40FD-BC9A-8A57F85AB10B}" type="slidenum">
              <a:rPr lang="en-GB" sz="1000">
                <a:solidFill>
                  <a:srgbClr val="8795A1"/>
                </a:solidFill>
                <a:latin typeface="Segoe UI"/>
              </a:rPr>
              <a:t>14</a:t>
            </a:fld>
          </a:p>
        </p:txBody>
      </p:sp>
      <p:pic>
        <p:nvPicPr>
          <p:cNvPr id="6" name="!!figure" descr="Figure 4.1. The more-general-than ordering. A more general hypothesis covers a superset of the instances; hypotheses whose covered sets merely overlap, like h1 and h3, are not comparable.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782950"/>
            <a:ext cx="10874959" cy="3479986"/>
          </a:xfrm>
          <a:prstGeom prst="rect">
            <a:avLst/>
          </a:prstGeom>
        </p:spPr>
      </p:pic>
      <p:sp>
        <p:nvSpPr>
          <p:cNvPr id="7" name="!!take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660745"/>
            <a:ext cx="54864" cy="575462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ake"/>
          <p:cNvSpPr txBox="1"/>
          <p:nvPr/>
        </p:nvSpPr>
        <p:spPr>
          <a:xfrm>
            <a:off x="877824" y="5642457"/>
            <a:ext cx="10600639" cy="758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E4C57"/>
                </a:solidFill>
                <a:latin typeface="Segoe UI"/>
              </a:rPr>
              <a:t>A more general hypothesis covers a superset of the instances; hypotheses whose covered sets merely overlap, like h1 and h3, are not comparable.</a:t>
            </a:r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04792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Find-S: The Most Specific Consistent Hypothesis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4 OF 8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4.4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4.1   Concept Learning as a Task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4.2   The Inductive Learning Hypothesis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4.3   The General-to-Specific Ordering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4.4   Find-S: The Most Specific Consistent Hypothesis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4.5   Version Spaces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4.6   The Candidate-Elimination Algorithm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4.7   Using a Partially Learned Concept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4.8   Inductive Bias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§4.4     </a:t>
            </a:r>
            <a:fld id="{663E3086-7441-4CD6-99AC-238582683974}" type="slidenum">
              <a:rPr lang="en-GB" sz="1000">
                <a:solidFill>
                  <a:srgbClr val="8795A1"/>
                </a:solidFill>
                <a:latin typeface="Segoe UI"/>
              </a:rPr>
              <a:t>15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26563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Find-S Algorithm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§4.4  ·  Handout p. 29     </a:t>
            </a:r>
            <a:fld id="{72A193F7-2F6A-4AE0-9FC5-1BFD0132CFD3}" type="slidenum">
              <a:rPr lang="en-GB" sz="1000">
                <a:solidFill>
                  <a:srgbClr val="8795A1"/>
                </a:solidFill>
                <a:latin typeface="Segoe UI"/>
              </a:rPr>
              <a:t>16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648966"/>
          </a:xfrm>
          <a:prstGeom prst="roundRect">
            <a:avLst>
              <a:gd name="adj" fmla="val 3451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648966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2072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554820" indent="-554820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1.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Initialise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to the most specific hypothesis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⟨, , , , , ⟩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 marL="554820" indent="-554820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2.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For each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positive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training example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: for each constraint in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that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does not satisfy, replace it by the next more general constraint that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does satisfy (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→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the value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; a different value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→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“?”).</a:t>
            </a:r>
          </a:p>
          <a:p>
            <a:pPr algn="l" marL="554820" indent="-55482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3.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Ignore negative examples. Output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48334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8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Find-S on EnjoySport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§4.4  ·  Handout p. 29     </a:t>
            </a:r>
            <a:fld id="{26DBF023-521F-4D21-95C7-C7F350DEB538}" type="slidenum">
              <a:rPr lang="en-GB" sz="1000">
                <a:solidFill>
                  <a:srgbClr val="8795A1"/>
                </a:solidFill>
                <a:latin typeface="Segoe UI"/>
              </a:rPr>
              <a:t>17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223639"/>
          </a:xfrm>
          <a:prstGeom prst="roundRect">
            <a:avLst>
              <a:gd name="adj" fmla="val 2164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223639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Start: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⟨, , , , , 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2445537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1 (+):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nothing is satisfied, so copy the example: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Normal, Strong,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42416" y="3180537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2 (+):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Humidity is High, not Normal, so generalise that constraint: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?, Strong,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2" name="body-3"/>
          <p:cNvSpPr txBox="1"/>
          <p:nvPr/>
        </p:nvSpPr>
        <p:spPr>
          <a:xfrm>
            <a:off x="1042416" y="3915537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3 (</a:t>
            </a:r>
            <a:r>
              <a:rPr sz="1900" b="1" i="0">
                <a:solidFill>
                  <a:srgbClr val="1C252B"/>
                </a:solidFill>
                <a:latin typeface="Cambria"/>
              </a:rPr>
              <a:t>−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):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ignored. (It is correctly classified as negative anyway — Sky is Rainy.)</a:t>
            </a:r>
          </a:p>
        </p:txBody>
      </p:sp>
      <p:sp>
        <p:nvSpPr>
          <p:cNvPr id="13" name="body-4"/>
          <p:cNvSpPr txBox="1"/>
          <p:nvPr/>
        </p:nvSpPr>
        <p:spPr>
          <a:xfrm>
            <a:off x="1042416" y="4349394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4 (+):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Water and Forecast differ, so generalise both: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4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?, Strong, ?, ?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4" name="body-5"/>
          <p:cNvSpPr txBox="1"/>
          <p:nvPr/>
        </p:nvSpPr>
        <p:spPr>
          <a:xfrm>
            <a:off x="1042416" y="4783251"/>
            <a:ext cx="10234879" cy="9491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Output: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“sunny, warm and windy”. Why is it safe to ignore negatives? If the target concept is in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it is at least as general as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(which only ever generalised as far as positives forced). A negative example is excluded by the target, so it is excluded by the more specific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as well.</a:t>
            </a:r>
          </a:p>
        </p:txBody>
      </p:sp>
      <p:sp>
        <p:nvSpPr>
          <p:cNvPr id="2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70105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Find-S Cannot Tell You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§4.4  ·  Handout p. 29     </a:t>
            </a:r>
            <a:fld id="{59389587-5C2F-4512-B86F-FFBFD2343B3C}" type="slidenum">
              <a:rPr lang="en-GB" sz="1000">
                <a:solidFill>
                  <a:srgbClr val="8795A1"/>
                </a:solidFill>
                <a:latin typeface="Segoe UI"/>
              </a:rPr>
              <a:t>18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444496"/>
          </a:xfrm>
          <a:prstGeom prst="roundRect">
            <a:avLst>
              <a:gd name="adj" fmla="val 3740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444496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8684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Find-S returns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a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consistent hypothesis, but not whether it is the only one; it cannot say whether it has converged; it cannot detect noisy or inconsistent data, because it never looks at negatives; and it always prefers the most specific answer, for no reason other than that it started there. The version space fixes the first three.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91875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Consistent Hypothesis and Version Space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§4.5  ·  Handout p. 30     </a:t>
            </a:r>
            <a:fld id="{6B2D309A-8AE7-438C-B2D2-0E58783F5CE5}" type="slidenum">
              <a:rPr lang="en-GB" sz="1000">
                <a:solidFill>
                  <a:srgbClr val="8795A1"/>
                </a:solidFill>
                <a:latin typeface="Segoe UI"/>
              </a:rPr>
              <a:t>19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715414"/>
          </a:xfrm>
          <a:prstGeom prst="roundRect">
            <a:avLst>
              <a:gd name="adj" fmla="val 5330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715414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A hypothesis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consistent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with training examples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for every example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⟨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)⟩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version space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VS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 baseline="-25000">
                <a:solidFill>
                  <a:srgbClr val="1C252B"/>
                </a:solidFill>
                <a:latin typeface="Cambria"/>
              </a:rPr>
              <a:t>,</a:t>
            </a:r>
            <a:r>
              <a:rPr sz="2300" b="0" i="1" baseline="-25000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set of all hypotheses in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consistent with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every hypothesis the data has not yet ruled out.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3646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The Candidate-Elimination Algorithm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6 OF 8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4.6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4.1   Concept Learning as a Task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4.2   The Inductive Learning Hypothesis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4.3   The General-to-Specific Ordering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4.4   Find-S: The Most Specific Consistent Hypothesis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4.5   Version Spaces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4.6   The Candidate-Elimination Algorithm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4.7   Using a Partially Learned Concept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4.8   Inductive Bias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§4.6     </a:t>
            </a:r>
            <a:fld id="{CC9895C9-EF42-4F35-85F5-DD6D562249F7}" type="slidenum">
              <a:rPr lang="en-GB" sz="1000">
                <a:solidFill>
                  <a:srgbClr val="8795A1"/>
                </a:solidFill>
                <a:latin typeface="Segoe UI"/>
              </a:rPr>
              <a:t>20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35417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General and Specific Boundaries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§4.6  ·  Handout p. 30     </a:t>
            </a:r>
            <a:fld id="{6F236919-4E28-42CE-A6A9-9A36E2E3A5A2}" type="slidenum">
              <a:rPr lang="en-GB" sz="1000">
                <a:solidFill>
                  <a:srgbClr val="8795A1"/>
                </a:solidFill>
                <a:latin typeface="Segoe UI"/>
              </a:rPr>
              <a:t>21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444496"/>
          </a:xfrm>
          <a:prstGeom prst="roundRect">
            <a:avLst>
              <a:gd name="adj" fmla="val 3740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444496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8684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general boundary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set of maximally general hypotheses in the version space; 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specific boundary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set of maximally specific ones. Every hypothesis in the version space lies between them: it is more general than or equal to some member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more specific than or equal to some member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57188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Candidate-Elimination Algorithm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§4.6  ·  Handout p. 30     </a:t>
            </a:r>
            <a:fld id="{3D4D5F04-D757-4A49-B756-AE4BD926D116}" type="slidenum">
              <a:rPr lang="en-GB" sz="1000">
                <a:solidFill>
                  <a:srgbClr val="8795A1"/>
                </a:solidFill>
                <a:latin typeface="Segoe UI"/>
              </a:rPr>
              <a:t>22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801008"/>
          </a:xfrm>
          <a:prstGeom prst="roundRect">
            <a:avLst>
              <a:gd name="adj" fmla="val 2405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801008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Initialise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{⟨ ?, ?, ?, ?, ?, ?⟩}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{⟨, , , , , ⟩}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For each training example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: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2573451"/>
            <a:ext cx="10161727" cy="2699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1" i="0">
                <a:solidFill>
                  <a:srgbClr val="8A4500"/>
                </a:solidFill>
                <a:latin typeface="Segoe UI"/>
              </a:rPr>
              <a:t>If </a:t>
            </a:r>
            <a:r>
              <a:rPr sz="2300" b="1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1" i="0">
                <a:solidFill>
                  <a:srgbClr val="1C252B"/>
                </a:solidFill>
                <a:latin typeface="Segoe UI"/>
              </a:rPr>
              <a:t> is positive: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remove from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every hypothesis that does not cover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Replace each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∈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that does not cover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by its minimal generalisations that do, keeping only those that are more specific than some member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8A4500"/>
                </a:solidFill>
                <a:latin typeface="Segoe UI"/>
              </a:rPr>
              <a:t>•	</a:t>
            </a:r>
            <a:r>
              <a:rPr sz="2300" b="1" i="0">
                <a:solidFill>
                  <a:srgbClr val="8A4500"/>
                </a:solidFill>
                <a:latin typeface="Segoe UI"/>
              </a:rPr>
              <a:t>If </a:t>
            </a:r>
            <a:r>
              <a:rPr sz="2300" b="1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1" i="0">
                <a:solidFill>
                  <a:srgbClr val="1C252B"/>
                </a:solidFill>
                <a:latin typeface="Segoe UI"/>
              </a:rPr>
              <a:t> is negative: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remove from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every hypothesis that covers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Replace each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∈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that covers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by its minimal specialisations that do not, keeping only those that are more general than some member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and then drop any that is less general than another member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78959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8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version space is everything between the two boundaries</a:t>
            </a:r>
          </a:p>
        </p:txBody>
      </p:sp>
      <p:sp>
        <p:nvSpPr>
          <p:cNvPr id="3" name="!!kicker"/>
          <p:cNvSpPr txBox="1"/>
          <p:nvPr/>
        </p:nvSpPr>
        <p:spPr>
          <a:xfrm>
            <a:off x="658368" y="402336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FIGURE 4.2</a:t>
            </a:r>
          </a:p>
        </p:txBody>
      </p:sp>
      <p:sp>
        <p:nvSpPr>
          <p:cNvPr id="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§4.6  ·  Handout p. 30     </a:t>
            </a:r>
            <a:fld id="{ABAFD20F-D5E3-4939-9548-8F65B36738CC}" type="slidenum">
              <a:rPr lang="en-GB" sz="1000">
                <a:solidFill>
                  <a:srgbClr val="8795A1"/>
                </a:solidFill>
                <a:latin typeface="Segoe UI"/>
              </a:rPr>
              <a:t>23</a:t>
            </a:fld>
          </a:p>
        </p:txBody>
      </p:sp>
      <p:pic>
        <p:nvPicPr>
          <p:cNvPr id="6" name="!!figure" descr="Figure 4.2. The version space is everything between the two boundaries. Each example moves one boundary towards the other; if they meet, the concept has been learned exactly.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916808"/>
            <a:ext cx="10874959" cy="2984529"/>
          </a:xfrm>
          <a:prstGeom prst="rect">
            <a:avLst/>
          </a:prstGeom>
        </p:spPr>
      </p:pic>
      <p:sp>
        <p:nvSpPr>
          <p:cNvPr id="7" name="!!take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930188"/>
            <a:ext cx="54864" cy="306019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ake"/>
          <p:cNvSpPr txBox="1"/>
          <p:nvPr/>
        </p:nvSpPr>
        <p:spPr>
          <a:xfrm>
            <a:off x="877824" y="5911900"/>
            <a:ext cx="10600639" cy="4888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E4C57"/>
                </a:solidFill>
                <a:latin typeface="Segoe UI"/>
              </a:rPr>
              <a:t>Each example moves one boundary towards the other; if they meet, the concept has been learned exactly.</a:t>
            </a:r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0730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Candidate-Elimination on EnjoySport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§4.6  ·  Handout p. 30     </a:t>
            </a:r>
            <a:fld id="{CBE4D428-761B-48F3-9485-D10C4C345584}" type="slidenum">
              <a:rPr lang="en-GB" sz="1000">
                <a:solidFill>
                  <a:srgbClr val="8795A1"/>
                </a:solidFill>
                <a:latin typeface="Segoe UI"/>
              </a:rPr>
              <a:t>24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40809"/>
          </a:xfrm>
          <a:prstGeom prst="roundRect">
            <a:avLst>
              <a:gd name="adj" fmla="val 2059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40809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Start.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{⟨, , , , , ⟩}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{⟨ ?, ?, ?, ?, ?, ?⟩}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2445537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1 (+)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Normal, Strong,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covers it: keep.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does not: generalise minimally.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42416" y="3180537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{⟨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Normal, Strong,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⟩}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2" name="body-3"/>
          <p:cNvSpPr txBox="1"/>
          <p:nvPr/>
        </p:nvSpPr>
        <p:spPr>
          <a:xfrm>
            <a:off x="1042416" y="3614394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2 (+)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High, Strong,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Humidity differs, so it becomes “?”.</a:t>
            </a:r>
          </a:p>
        </p:txBody>
      </p:sp>
      <p:sp>
        <p:nvSpPr>
          <p:cNvPr id="13" name="body-4"/>
          <p:cNvSpPr txBox="1"/>
          <p:nvPr/>
        </p:nvSpPr>
        <p:spPr>
          <a:xfrm>
            <a:off x="1042416" y="4048252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{⟨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?, Strong,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⟩}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4" name="body-5"/>
          <p:cNvSpPr txBox="1"/>
          <p:nvPr/>
        </p:nvSpPr>
        <p:spPr>
          <a:xfrm>
            <a:off x="1042416" y="4482109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3 (</a:t>
            </a:r>
            <a:r>
              <a:rPr sz="1900" b="1" i="0">
                <a:solidFill>
                  <a:srgbClr val="1C252B"/>
                </a:solidFill>
                <a:latin typeface="Cambria"/>
              </a:rPr>
              <a:t>−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Rainy, Cold, High, Strong, Warm, Change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already excludes it.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covers it, so specialise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 ?, ?, ?, ?, ?, ?⟩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one attribute at a time to a value the negative example does not have:</a:t>
            </a:r>
          </a:p>
        </p:txBody>
      </p:sp>
      <p:sp>
        <p:nvSpPr>
          <p:cNvPr id="15" name="body-6"/>
          <p:cNvSpPr txBox="1"/>
          <p:nvPr/>
        </p:nvSpPr>
        <p:spPr>
          <a:xfrm>
            <a:off x="1042416" y="5217109"/>
            <a:ext cx="10234879" cy="732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Sky: Sunny or Cloudy. Only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Sunny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still more general than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AirTemp: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Warm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Kept.</a:t>
            </a:r>
          </a:p>
        </p:txBody>
      </p:sp>
      <p:sp>
        <p:nvSpPr>
          <p:cNvPr id="3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2501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Candidate-Elimination on EnjoySport (continued)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§4.6  ·  Handout p. 30     </a:t>
            </a:r>
            <a:fld id="{E9424B7B-2F95-421D-9565-30CF2318F889}" type="slidenum">
              <a:rPr lang="en-GB" sz="1000">
                <a:solidFill>
                  <a:srgbClr val="8795A1"/>
                </a:solidFill>
                <a:latin typeface="Segoe UI"/>
              </a:rPr>
              <a:t>25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344289"/>
          </a:xfrm>
          <a:prstGeom prst="roundRect">
            <a:avLst>
              <a:gd name="adj" fmla="val 2104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344289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150365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Humidity: Normal — but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has “?” there, so this is not more general than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Dropped.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Wind: Weak — contradicts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’s Strong. Dropped.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Water: Cool — contradicts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’s Warm. Dropped.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Forecast: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Same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Kept.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3602329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3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3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{⟨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?, ?, ?, ?, ?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?, Warm, ?, ?, ?, ?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?, ?, ?, ?, ?,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⟩}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42416" y="4036186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Day 4 (+)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High, Strong, Cool, Change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?, ?, ?, ?, ?,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does not cover it: removed from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generalises Water and Forecast.</a:t>
            </a:r>
          </a:p>
        </p:txBody>
      </p:sp>
      <p:sp>
        <p:nvSpPr>
          <p:cNvPr id="12" name="body-2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4054474"/>
            <a:ext cx="54864" cy="583996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body-3"/>
          <p:cNvSpPr txBox="1"/>
          <p:nvPr/>
        </p:nvSpPr>
        <p:spPr>
          <a:xfrm>
            <a:off x="1042416" y="4771186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4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{⟨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?, Strong, ?, ?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⟩}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4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{⟨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?, ?, ?, ?, ?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?, Warm, ?, ?, ?, ?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⟩}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4" name="body-4"/>
          <p:cNvSpPr txBox="1"/>
          <p:nvPr/>
        </p:nvSpPr>
        <p:spPr>
          <a:xfrm>
            <a:off x="1042416" y="5205044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Check.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4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exactly what Find-S returned. The difference is that Candidate-Elimination also knows the other end: the version space holds six hypotheses, drawn in Figure 4.3.</a:t>
            </a:r>
          </a:p>
        </p:txBody>
      </p:sp>
      <p:sp>
        <p:nvSpPr>
          <p:cNvPr id="15" name="body-4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5223332"/>
            <a:ext cx="54864" cy="583996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44272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Candidate-Elimination Algorithm</a:t>
            </a:r>
          </a:p>
        </p:txBody>
      </p:sp>
      <p:sp>
        <p:nvSpPr>
          <p:cNvPr id="3" name="!!kicker"/>
          <p:cNvSpPr txBox="1"/>
          <p:nvPr/>
        </p:nvSpPr>
        <p:spPr>
          <a:xfrm>
            <a:off x="658368" y="402336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FIGURE 4.3</a:t>
            </a:r>
          </a:p>
        </p:txBody>
      </p:sp>
      <p:sp>
        <p:nvSpPr>
          <p:cNvPr id="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§4.6  ·  Handout p. 30     </a:t>
            </a:r>
            <a:fld id="{6ADDBBBB-986B-4A17-9242-7B3C56E6F7C7}" type="slidenum">
              <a:rPr lang="en-GB" sz="1000">
                <a:solidFill>
                  <a:srgbClr val="8795A1"/>
                </a:solidFill>
                <a:latin typeface="Segoe UI"/>
              </a:rPr>
              <a:t>26</a:t>
            </a:fld>
          </a:p>
        </p:txBody>
      </p:sp>
      <p:pic>
        <p:nvPicPr>
          <p:cNvPr id="6" name="!!figure" descr="Figure 4.3. The final version space for EnjoySport: two maximally general hypotheses, one maximally specific one, and the three between them. A line joins each pair related by ≥g.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868888"/>
            <a:ext cx="10874959" cy="2988915"/>
          </a:xfrm>
          <a:prstGeom prst="rect">
            <a:avLst/>
          </a:prstGeom>
        </p:spPr>
      </p:pic>
      <p:sp>
        <p:nvSpPr>
          <p:cNvPr id="7" name="!!take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660745"/>
            <a:ext cx="54864" cy="575462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ake"/>
          <p:cNvSpPr txBox="1"/>
          <p:nvPr/>
        </p:nvSpPr>
        <p:spPr>
          <a:xfrm>
            <a:off x="877824" y="5642457"/>
            <a:ext cx="10600639" cy="758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E4C57"/>
                </a:solidFill>
                <a:latin typeface="Segoe UI"/>
              </a:rPr>
              <a:t>The final version space for EnjoySport: two maximally general hypotheses, one maximally specific one, and the three between them. A line joins each pair related by ≥g.</a:t>
            </a:r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66042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Classifying by Vote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§4.7  ·  Handout p. 31     </a:t>
            </a:r>
            <a:fld id="{F687F6CF-25BD-40A2-B837-606D2EC9DEFC}" type="slidenum">
              <a:rPr lang="en-GB" sz="1000">
                <a:solidFill>
                  <a:srgbClr val="8795A1"/>
                </a:solidFill>
                <a:latin typeface="Segoe UI"/>
              </a:rPr>
              <a:t>27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548428"/>
          </a:xfrm>
          <a:prstGeom prst="roundRect">
            <a:avLst>
              <a:gd name="adj" fmla="val 2010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548428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24070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Normal, Strong, Cool, Change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satisfies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4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so every hypothesis above it.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6 yes, 0 no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classified positive with the same confidence as if the concept were fully learned.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Rainy, Cold, Normal, Weak,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satisfies neither member of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4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so no hypothesis.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0 yes, 6 no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Warm, Normal, Weak,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3 yes, 3 no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data genuinely cannot decide.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Sunny, Cold, Normal, Strong, Warm, Same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2 yes, 4 no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a majority, but not a certainty.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4505756"/>
            <a:ext cx="10234879" cy="15514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Two tests are enough for the unanimous cases: an instance satisfying every member of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positive for the whole version space; one satisfying no member of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negative for all of it. And if the learner may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ask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for a label, the best question is the third day: whatever the answer, it eliminates half the version space. Repeating that halves it each time, so the concept is found in about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log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|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VS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|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queries — here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log</a:t>
            </a:r>
            <a:r>
              <a:rPr sz="19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6 ≈ 2.6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so three.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87813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Inductive Bias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8 OF 8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4.8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4.1   Concept Learning as a Task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4.2   The Inductive Learning Hypothesis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4.3   The General-to-Specific Ordering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4.4   Find-S: The Most Specific Consistent Hypothesis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4.5   Version Spaces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4.6   The Candidate-Elimination Algorithm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4.7   Using a Partially Learned Concept</a:t>
            </a:r>
          </a:p>
        </p:txBody>
      </p:sp>
      <p:sp>
        <p:nvSpPr>
          <p:cNvPr id="13" name="!!dl7"/>
          <p:cNvSpPr txBox="1"/>
          <p:nvPr/>
        </p:nvSpPr>
        <p:spPr>
          <a:xfrm>
            <a:off x="4846320" y="60807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4.8   Inductive Bias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§4.8     </a:t>
            </a:r>
            <a:fld id="{B7FF19E1-CEEB-4B07-9A69-6CB22DEA6B2C}" type="slidenum">
              <a:rPr lang="en-GB" sz="1000">
                <a:solidFill>
                  <a:srgbClr val="8795A1"/>
                </a:solidFill>
                <a:latin typeface="Segoe UI"/>
              </a:rPr>
              <a:t>28</a:t>
            </a:fld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09584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Futility of an Unbiased Learner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246D799B-5A8A-4930-8879-7787581D2F29}" type="slidenum">
              <a:rPr lang="en-GB" sz="1000">
                <a:solidFill>
                  <a:srgbClr val="8795A1"/>
                </a:solidFill>
                <a:latin typeface="Segoe UI"/>
              </a:rPr>
              <a:t>29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173577"/>
          </a:xfrm>
          <a:prstGeom prst="roundRect">
            <a:avLst>
              <a:gd name="adj" fmla="val 2881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173577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25975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Give Candidate-Elimination a hypothesis space containing every subset of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After any training set,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the disjunction of the positive examples seen — “day 1 or day 2 or day 4” —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“anything except day 3”. The version space contains every concept between them. For any day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not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in the training data, exactly half of those concepts call it positive and half negative: the vote is always a tie. The unbiased learner can classify the examples it has seen and nothing else. It has memorised; it has not learned.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31355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Inductive Bias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8301376B-A905-4854-95F8-D7CAA973B2DA}" type="slidenum">
              <a:rPr lang="en-GB" sz="1000">
                <a:solidFill>
                  <a:srgbClr val="8795A1"/>
                </a:solidFill>
                <a:latin typeface="Segoe UI"/>
              </a:rPr>
              <a:t>30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079955"/>
          </a:xfrm>
          <a:prstGeom prst="roundRect">
            <a:avLst>
              <a:gd name="adj" fmla="val 4396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079955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300" b="1" i="0">
                <a:solidFill>
                  <a:srgbClr val="1A5276"/>
                </a:solidFill>
                <a:latin typeface="Segoe UI"/>
              </a:rPr>
              <a:t>inductive bias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of a learner is the set of assumptions that, added to the training data, make its classification of new instances follow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deductively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The inductive bias of Candidate-Elimination is: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the target concept is contained in the hypothesis space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here, it is a conjunction of attribute constraints.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53126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Weakness Every Later Chapter Fixes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643C5279-A0D6-464D-A169-EC0823B312B7}" type="slidenum">
              <a:rPr lang="en-GB" sz="1000">
                <a:solidFill>
                  <a:srgbClr val="8795A1"/>
                </a:solidFill>
                <a:latin typeface="Segoe UI"/>
              </a:rPr>
              <a:t>31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173577"/>
          </a:xfrm>
          <a:prstGeom prst="roundRect">
            <a:avLst>
              <a:gd name="adj" fmla="val 2881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173577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25975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Candidate-Elimination assumes the data is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noise-free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Label one positive day as negative by mistake and the true concept is eliminated; with enough errors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cross, and the version space is empty. Real data always contains errors. The algorithms of Part III therefore replace “consistent with every example” by “makes few errors” and accept a hypothesis that is probably approximately right. Concept learning is where the vocabulary comes from; it is not how practical systems are built.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74897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Common pitfalls</a:t>
            </a:r>
          </a:p>
        </p:txBody>
      </p:sp>
      <p:pic>
        <p:nvPicPr>
          <p:cNvPr id="3" name="!!kicker-icon" descr="exclamation-circ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2672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COMMON PITFALLS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E7C0CFB9-491C-4C34-91BE-000D0E256EED}" type="slidenum">
              <a:rPr lang="en-GB" sz="1000">
                <a:solidFill>
                  <a:srgbClr val="8795A1"/>
                </a:solidFill>
                <a:latin typeface="Segoe UI"/>
              </a:rPr>
              <a:t>32</a:t>
            </a:fld>
          </a:p>
        </p:txBody>
      </p:sp>
      <p:sp>
        <p:nvSpPr>
          <p:cNvPr id="7" name="!!p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px0"/>
          <p:cNvSpPr txBox="1"/>
          <p:nvPr/>
        </p:nvSpPr>
        <p:spPr>
          <a:xfrm>
            <a:off x="658368" y="177850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9" name="!!pt0"/>
          <p:cNvSpPr txBox="1"/>
          <p:nvPr/>
        </p:nvSpPr>
        <p:spPr>
          <a:xfrm>
            <a:off x="1261872" y="1737360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Specialising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 to values that contradict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S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Every new member of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must still be more general than a member of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; check each candidate against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before keeping it.</a:t>
            </a:r>
          </a:p>
        </p:txBody>
      </p:sp>
      <p:sp>
        <p:nvSpPr>
          <p:cNvPr id="10" name="!!p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622499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x1"/>
          <p:cNvSpPr txBox="1"/>
          <p:nvPr/>
        </p:nvSpPr>
        <p:spPr>
          <a:xfrm>
            <a:off x="658368" y="264535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2" name="!!pt1"/>
          <p:cNvSpPr txBox="1"/>
          <p:nvPr/>
        </p:nvSpPr>
        <p:spPr>
          <a:xfrm>
            <a:off x="1261872" y="2604211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Forgetting to prune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 on a positive example.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Members of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that do not cover a positive example are removed, as on Day 4.</a:t>
            </a:r>
          </a:p>
        </p:txBody>
      </p:sp>
      <p:sp>
        <p:nvSpPr>
          <p:cNvPr id="13" name="!!p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489350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x2"/>
          <p:cNvSpPr txBox="1"/>
          <p:nvPr/>
        </p:nvSpPr>
        <p:spPr>
          <a:xfrm>
            <a:off x="658368" y="351221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5" name="!!pt2"/>
          <p:cNvSpPr txBox="1"/>
          <p:nvPr/>
        </p:nvSpPr>
        <p:spPr>
          <a:xfrm>
            <a:off x="1261872" y="3471062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Believing Find-S’s answer is unique.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It is one of the six hypotheses in the version space — the most specific.</a:t>
            </a:r>
          </a:p>
        </p:txBody>
      </p:sp>
      <p:sp>
        <p:nvSpPr>
          <p:cNvPr id="16" name="!!p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356201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x3"/>
          <p:cNvSpPr txBox="1"/>
          <p:nvPr/>
        </p:nvSpPr>
        <p:spPr>
          <a:xfrm>
            <a:off x="658368" y="437906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8" name="!!pt3"/>
          <p:cNvSpPr txBox="1"/>
          <p:nvPr/>
        </p:nvSpPr>
        <p:spPr>
          <a:xfrm>
            <a:off x="1261872" y="4337913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Reading “unbiased” as “better”.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 learner with no bias cannot generalise at all.</a:t>
            </a:r>
          </a:p>
        </p:txBody>
      </p:sp>
      <p:sp>
        <p:nvSpPr>
          <p:cNvPr id="19" name="!!p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923129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px4"/>
          <p:cNvSpPr txBox="1"/>
          <p:nvPr/>
        </p:nvSpPr>
        <p:spPr>
          <a:xfrm>
            <a:off x="658368" y="494598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21" name="!!pt4"/>
          <p:cNvSpPr txBox="1"/>
          <p:nvPr/>
        </p:nvSpPr>
        <p:spPr>
          <a:xfrm>
            <a:off x="1261872" y="4904841"/>
            <a:ext cx="10271455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93226"/>
                </a:solidFill>
                <a:latin typeface="Segoe UI"/>
              </a:rPr>
              <a:t>Running Candidate-Elimination on noisy data.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One mislabelled example can empty the version space.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96668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Four lenses: Hypothesis Spaces</a:t>
            </a:r>
          </a:p>
        </p:txBody>
      </p:sp>
      <p:pic>
        <p:nvPicPr>
          <p:cNvPr id="3" name="!!kicker-icon" descr="compass-123953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23953"/>
                </a:solidFill>
                <a:latin typeface="Segoe UI"/>
              </a:rPr>
              <a:t>FOUR LENSES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552E9B28-51C0-4CEC-B277-CC8754AFB231}" type="slidenum">
              <a:rPr lang="en-GB" sz="1000">
                <a:solidFill>
                  <a:srgbClr val="8795A1"/>
                </a:solidFill>
                <a:latin typeface="Segoe UI"/>
              </a:rPr>
              <a:t>33</a:t>
            </a:fld>
          </a:p>
        </p:txBody>
      </p:sp>
      <p:sp>
        <p:nvSpPr>
          <p:cNvPr id="7" name="!!lens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5318607" cy="2176272"/>
          </a:xfrm>
          <a:prstGeom prst="roundRect">
            <a:avLst>
              <a:gd name="adj" fmla="val 4201"/>
            </a:avLst>
          </a:prstGeom>
          <a:solidFill>
            <a:srgbClr val="F6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lensh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5318607" cy="493776"/>
          </a:xfrm>
          <a:prstGeom prst="roundRect">
            <a:avLst>
              <a:gd name="adj" fmla="val 18518"/>
            </a:avLst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ensh2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121408"/>
            <a:ext cx="5318607" cy="10972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lensi-LA" descr="graduation-ca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536" y="1856231"/>
            <a:ext cx="419498" cy="256032"/>
          </a:xfrm>
          <a:prstGeom prst="rect">
            <a:avLst/>
          </a:prstGeom>
        </p:spPr>
      </p:pic>
      <p:sp>
        <p:nvSpPr>
          <p:cNvPr id="11" name="!!lensn-LA"/>
          <p:cNvSpPr txBox="1"/>
          <p:nvPr/>
        </p:nvSpPr>
        <p:spPr>
          <a:xfrm>
            <a:off x="1425337" y="1837943"/>
            <a:ext cx="4460197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LEARNING ANALYTICS</a:t>
            </a:r>
          </a:p>
        </p:txBody>
      </p:sp>
      <p:sp>
        <p:nvSpPr>
          <p:cNvPr id="12" name="!!lensb-LA-0"/>
          <p:cNvSpPr txBox="1"/>
          <p:nvPr/>
        </p:nvSpPr>
        <p:spPr>
          <a:xfrm>
            <a:off x="896112" y="2414016"/>
            <a:ext cx="4861407" cy="14081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A conjunctive concept is an early-warning rule an adviser can read: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attendance low, quiz missing, ?, …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3" name="!!lens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1737360"/>
            <a:ext cx="5318607" cy="2176272"/>
          </a:xfrm>
          <a:prstGeom prst="roundRect">
            <a:avLst>
              <a:gd name="adj" fmla="val 4201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lensh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1737360"/>
            <a:ext cx="5318607" cy="493776"/>
          </a:xfrm>
          <a:prstGeom prst="roundRect">
            <a:avLst>
              <a:gd name="adj" fmla="val 18518"/>
            </a:avLst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lensh2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121408"/>
            <a:ext cx="5318607" cy="1097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!!lensi-PM" descr="tasks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15887" y="1856231"/>
            <a:ext cx="301783" cy="256032"/>
          </a:xfrm>
          <a:prstGeom prst="rect">
            <a:avLst/>
          </a:prstGeom>
        </p:spPr>
      </p:pic>
      <p:sp>
        <p:nvSpPr>
          <p:cNvPr id="17" name="!!lensn-PM"/>
          <p:cNvSpPr txBox="1"/>
          <p:nvPr/>
        </p:nvSpPr>
        <p:spPr>
          <a:xfrm>
            <a:off x="6863974" y="1837943"/>
            <a:ext cx="4577912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PROJECT MANAGEMENT</a:t>
            </a:r>
          </a:p>
        </p:txBody>
      </p:sp>
      <p:sp>
        <p:nvSpPr>
          <p:cNvPr id="18" name="!!lensb-PM-0"/>
          <p:cNvSpPr txBox="1"/>
          <p:nvPr/>
        </p:nvSpPr>
        <p:spPr>
          <a:xfrm>
            <a:off x="6452463" y="2414016"/>
            <a:ext cx="4861407" cy="14081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With a dozen past projects, the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boundaries are an honest summary of what is known: “every late project had an external dependency” (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) against “no project without a new technology was late” (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).</a:t>
            </a:r>
          </a:p>
        </p:txBody>
      </p:sp>
      <p:sp>
        <p:nvSpPr>
          <p:cNvPr id="19" name="!!lens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133087"/>
            <a:ext cx="5318607" cy="2176272"/>
          </a:xfrm>
          <a:prstGeom prst="roundRect">
            <a:avLst>
              <a:gd name="adj" fmla="val 4201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lensh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133087"/>
            <a:ext cx="5318607" cy="493776"/>
          </a:xfrm>
          <a:prstGeom prst="roundRect">
            <a:avLst>
              <a:gd name="adj" fmla="val 18518"/>
            </a:avLst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lensh2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517136"/>
            <a:ext cx="5318607" cy="10972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2" name="!!lensi-IOT" descr="microchi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9536" y="4251959"/>
            <a:ext cx="256032" cy="256032"/>
          </a:xfrm>
          <a:prstGeom prst="rect">
            <a:avLst/>
          </a:prstGeom>
        </p:spPr>
      </p:pic>
      <p:sp>
        <p:nvSpPr>
          <p:cNvPr id="23" name="!!lensn-IOT"/>
          <p:cNvSpPr txBox="1"/>
          <p:nvPr/>
        </p:nvSpPr>
        <p:spPr>
          <a:xfrm>
            <a:off x="1261872" y="4233672"/>
            <a:ext cx="4623663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INTERNET OF THINGS</a:t>
            </a:r>
          </a:p>
        </p:txBody>
      </p:sp>
      <p:sp>
        <p:nvSpPr>
          <p:cNvPr id="24" name="!!lensb-IOT-0"/>
          <p:cNvSpPr txBox="1"/>
          <p:nvPr/>
        </p:nvSpPr>
        <p:spPr>
          <a:xfrm>
            <a:off x="896112" y="4809744"/>
            <a:ext cx="4861407" cy="14081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Alarm conditions on a device are often exactly conjunctions: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temperature high, vibration high, ?, load normal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25" name="!!lens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4133087"/>
            <a:ext cx="5318607" cy="2176272"/>
          </a:xfrm>
          <a:prstGeom prst="roundRect">
            <a:avLst>
              <a:gd name="adj" fmla="val 4201"/>
            </a:avLst>
          </a:prstGeom>
          <a:solidFill>
            <a:srgbClr val="F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lensh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4133087"/>
            <a:ext cx="5318607" cy="493776"/>
          </a:xfrm>
          <a:prstGeom prst="roundRect">
            <a:avLst>
              <a:gd name="adj" fmla="val 18518"/>
            </a:avLst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lensh2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4517136"/>
            <a:ext cx="5318607" cy="109728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!!lensi-SEC" descr="shield-alt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5887" y="4251959"/>
            <a:ext cx="256032" cy="256032"/>
          </a:xfrm>
          <a:prstGeom prst="rect">
            <a:avLst/>
          </a:prstGeom>
        </p:spPr>
      </p:pic>
      <p:sp>
        <p:nvSpPr>
          <p:cNvPr id="29" name="!!lensn-SEC"/>
          <p:cNvSpPr txBox="1"/>
          <p:nvPr/>
        </p:nvSpPr>
        <p:spPr>
          <a:xfrm>
            <a:off x="6818223" y="4233672"/>
            <a:ext cx="4623663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CYBERSECURITY</a:t>
            </a:r>
          </a:p>
        </p:txBody>
      </p:sp>
      <p:sp>
        <p:nvSpPr>
          <p:cNvPr id="30" name="!!lensb-SEC-0"/>
          <p:cNvSpPr txBox="1"/>
          <p:nvPr/>
        </p:nvSpPr>
        <p:spPr>
          <a:xfrm>
            <a:off x="6452463" y="4809744"/>
            <a:ext cx="4861407" cy="14081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Signature generation is Find-S: from several samples of one malware family, keep the byte patterns they share and generalise the rest.</a:t>
            </a:r>
          </a:p>
        </p:txBody>
      </p:sp>
      <p:sp>
        <p:nvSpPr>
          <p:cNvPr id="3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18439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Learning Analytics: Hypothesis Spaces</a:t>
            </a:r>
          </a:p>
        </p:txBody>
      </p:sp>
      <p:pic>
        <p:nvPicPr>
          <p:cNvPr id="3" name="!!kicker-icon" descr="compass-6C3483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6C3483"/>
                </a:solidFill>
                <a:latin typeface="Segoe UI"/>
              </a:rPr>
              <a:t>FOUR LENSES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A36A4C6B-2FD8-4DD8-B25A-C0B52C3EE376}" type="slidenum">
              <a:rPr lang="en-GB" sz="1000">
                <a:solidFill>
                  <a:srgbClr val="8795A1"/>
                </a:solidFill>
                <a:latin typeface="Segoe UI"/>
              </a:rPr>
              <a:t>34</a:t>
            </a:fld>
          </a:p>
        </p:txBody>
      </p:sp>
      <p:sp>
        <p:nvSpPr>
          <p:cNvPr id="7" name="!!lens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572000"/>
          </a:xfrm>
          <a:prstGeom prst="roundRect">
            <a:avLst>
              <a:gd name="adj" fmla="val 2000"/>
            </a:avLst>
          </a:prstGeom>
          <a:solidFill>
            <a:srgbClr val="F6F3F8"/>
          </a:solidFill>
          <a:ln>
            <a:noFill/>
          </a:ln>
          <a:effectLst>
            <a:outerShdw blurRad="177800" dist="38100" dir="5400000" algn="t" rotWithShape="0">
              <a:srgbClr val="1C252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lensh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93776"/>
          </a:xfrm>
          <a:prstGeom prst="roundRect">
            <a:avLst>
              <a:gd name="adj" fmla="val 18518"/>
            </a:avLst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ensh2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121408"/>
            <a:ext cx="8040319" cy="10972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lensi-LA" descr="graduation-ca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536" y="1856231"/>
            <a:ext cx="419498" cy="256032"/>
          </a:xfrm>
          <a:prstGeom prst="rect">
            <a:avLst/>
          </a:prstGeom>
        </p:spPr>
      </p:pic>
      <p:sp>
        <p:nvSpPr>
          <p:cNvPr id="11" name="!!lensn-LA"/>
          <p:cNvSpPr txBox="1"/>
          <p:nvPr/>
        </p:nvSpPr>
        <p:spPr>
          <a:xfrm>
            <a:off x="1425337" y="1837943"/>
            <a:ext cx="7181909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LEARNING ANALYTICS</a:t>
            </a:r>
          </a:p>
        </p:txBody>
      </p:sp>
      <p:sp>
        <p:nvSpPr>
          <p:cNvPr id="12" name="!!lensb-LA-0"/>
          <p:cNvSpPr txBox="1"/>
          <p:nvPr/>
        </p:nvSpPr>
        <p:spPr>
          <a:xfrm>
            <a:off x="896112" y="2432304"/>
            <a:ext cx="7583119" cy="1789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A conjunctive concept is an early-warning rule an adviser can read: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attendance low, quiz missing, ?, …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The version space tells the adviser something a single model cannot — which students the evidence is split on, and so which cases deserve a human look rather than an automatic flag.</a:t>
            </a:r>
          </a:p>
        </p:txBody>
      </p:sp>
      <p:sp>
        <p:nvSpPr>
          <p:cNvPr id="13" name="!!lens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lensh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lensh2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121408"/>
            <a:ext cx="2596896" cy="1097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!!lensi-PM" descr="tasks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37599" y="1856231"/>
            <a:ext cx="301783" cy="256032"/>
          </a:xfrm>
          <a:prstGeom prst="rect">
            <a:avLst/>
          </a:prstGeom>
        </p:spPr>
      </p:pic>
      <p:sp>
        <p:nvSpPr>
          <p:cNvPr id="17" name="!!lensn-PM"/>
          <p:cNvSpPr txBox="1"/>
          <p:nvPr/>
        </p:nvSpPr>
        <p:spPr>
          <a:xfrm>
            <a:off x="9585686" y="1837943"/>
            <a:ext cx="185620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Project Management</a:t>
            </a:r>
          </a:p>
        </p:txBody>
      </p:sp>
      <p:sp>
        <p:nvSpPr>
          <p:cNvPr id="18" name="!!lens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lensh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lensh2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779776"/>
            <a:ext cx="2596896" cy="10972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!!lensi-IOT" descr="microchi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37599" y="2514600"/>
            <a:ext cx="256032" cy="256032"/>
          </a:xfrm>
          <a:prstGeom prst="rect">
            <a:avLst/>
          </a:prstGeom>
        </p:spPr>
      </p:pic>
      <p:sp>
        <p:nvSpPr>
          <p:cNvPr id="22" name="!!lensn-IOT"/>
          <p:cNvSpPr txBox="1"/>
          <p:nvPr/>
        </p:nvSpPr>
        <p:spPr>
          <a:xfrm>
            <a:off x="9539935" y="2496312"/>
            <a:ext cx="1901951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Internet of Things</a:t>
            </a:r>
          </a:p>
        </p:txBody>
      </p:sp>
      <p:sp>
        <p:nvSpPr>
          <p:cNvPr id="23" name="!!lens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lensh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lensh2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438144"/>
            <a:ext cx="2596896" cy="109728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!!lensi-SEC" descr="shield-alt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37599" y="3172968"/>
            <a:ext cx="256032" cy="256032"/>
          </a:xfrm>
          <a:prstGeom prst="rect">
            <a:avLst/>
          </a:prstGeom>
        </p:spPr>
      </p:pic>
      <p:sp>
        <p:nvSpPr>
          <p:cNvPr id="27" name="!!lensn-SEC"/>
          <p:cNvSpPr txBox="1"/>
          <p:nvPr/>
        </p:nvSpPr>
        <p:spPr>
          <a:xfrm>
            <a:off x="9539935" y="3154679"/>
            <a:ext cx="1901951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Cybersecurity</a:t>
            </a:r>
          </a:p>
        </p:txBody>
      </p:sp>
      <p:sp>
        <p:nvSpPr>
          <p:cNvPr id="2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40210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Project Management: Hypothesis Spaces</a:t>
            </a:r>
          </a:p>
        </p:txBody>
      </p:sp>
      <p:pic>
        <p:nvPicPr>
          <p:cNvPr id="3" name="!!kicker-icon" descr="compass-1F618D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F618D"/>
                </a:solidFill>
                <a:latin typeface="Segoe UI"/>
              </a:rPr>
              <a:t>FOUR LENSES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9163CB12-A95B-4A64-9B2C-D1AF4460211B}" type="slidenum">
              <a:rPr lang="en-GB" sz="1000">
                <a:solidFill>
                  <a:srgbClr val="8795A1"/>
                </a:solidFill>
                <a:latin typeface="Segoe UI"/>
              </a:rPr>
              <a:t>35</a:t>
            </a:fld>
          </a:p>
        </p:txBody>
      </p:sp>
      <p:sp>
        <p:nvSpPr>
          <p:cNvPr id="7" name="!!lens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572000"/>
          </a:xfrm>
          <a:prstGeom prst="roundRect">
            <a:avLst>
              <a:gd name="adj" fmla="val 2000"/>
            </a:avLst>
          </a:prstGeom>
          <a:solidFill>
            <a:srgbClr val="F2F6F8"/>
          </a:solidFill>
          <a:ln>
            <a:noFill/>
          </a:ln>
          <a:effectLst>
            <a:outerShdw blurRad="177800" dist="38100" dir="5400000" algn="t" rotWithShape="0">
              <a:srgbClr val="1C252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lensh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93776"/>
          </a:xfrm>
          <a:prstGeom prst="roundRect">
            <a:avLst>
              <a:gd name="adj" fmla="val 18518"/>
            </a:avLst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ensh2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121408"/>
            <a:ext cx="8040319" cy="1097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lensi-PM" descr="tasks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536" y="1856231"/>
            <a:ext cx="301783" cy="256032"/>
          </a:xfrm>
          <a:prstGeom prst="rect">
            <a:avLst/>
          </a:prstGeom>
        </p:spPr>
      </p:pic>
      <p:sp>
        <p:nvSpPr>
          <p:cNvPr id="11" name="!!lensn-PM"/>
          <p:cNvSpPr txBox="1"/>
          <p:nvPr/>
        </p:nvSpPr>
        <p:spPr>
          <a:xfrm>
            <a:off x="1307622" y="1837943"/>
            <a:ext cx="7299624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PROJECT MANAGEMENT</a:t>
            </a:r>
          </a:p>
        </p:txBody>
      </p:sp>
      <p:sp>
        <p:nvSpPr>
          <p:cNvPr id="12" name="!!lensb-PM-0"/>
          <p:cNvSpPr txBox="1"/>
          <p:nvPr/>
        </p:nvSpPr>
        <p:spPr>
          <a:xfrm>
            <a:off x="896112" y="2432304"/>
            <a:ext cx="7583119" cy="213786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With a dozen past projects, the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boundaries are an honest summary of what is known: “every late project had an external dependency” 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) against “no project without a new technology was late” 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). Where they disagree, the data has not decided — and with twelve projects, that is most of the space.</a:t>
            </a:r>
          </a:p>
        </p:txBody>
      </p:sp>
      <p:sp>
        <p:nvSpPr>
          <p:cNvPr id="13" name="!!lens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6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lensh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lensh2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121408"/>
            <a:ext cx="2596896" cy="10972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!!lensi-LA" descr="graduation-ca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37599" y="1856231"/>
            <a:ext cx="419498" cy="256032"/>
          </a:xfrm>
          <a:prstGeom prst="rect">
            <a:avLst/>
          </a:prstGeom>
        </p:spPr>
      </p:pic>
      <p:sp>
        <p:nvSpPr>
          <p:cNvPr id="17" name="!!lensn-LA"/>
          <p:cNvSpPr txBox="1"/>
          <p:nvPr/>
        </p:nvSpPr>
        <p:spPr>
          <a:xfrm>
            <a:off x="9703401" y="1837943"/>
            <a:ext cx="1738485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Learning Analytics</a:t>
            </a:r>
          </a:p>
        </p:txBody>
      </p:sp>
      <p:sp>
        <p:nvSpPr>
          <p:cNvPr id="18" name="!!lens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lensh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lensh2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779776"/>
            <a:ext cx="2596896" cy="10972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!!lensi-IOT" descr="microchi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37599" y="2514600"/>
            <a:ext cx="256032" cy="256032"/>
          </a:xfrm>
          <a:prstGeom prst="rect">
            <a:avLst/>
          </a:prstGeom>
        </p:spPr>
      </p:pic>
      <p:sp>
        <p:nvSpPr>
          <p:cNvPr id="22" name="!!lensn-IOT"/>
          <p:cNvSpPr txBox="1"/>
          <p:nvPr/>
        </p:nvSpPr>
        <p:spPr>
          <a:xfrm>
            <a:off x="9539935" y="2496312"/>
            <a:ext cx="1901951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Internet of Things</a:t>
            </a:r>
          </a:p>
        </p:txBody>
      </p:sp>
      <p:sp>
        <p:nvSpPr>
          <p:cNvPr id="23" name="!!lens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lensh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lensh2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438144"/>
            <a:ext cx="2596896" cy="109728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!!lensi-SEC" descr="shield-alt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37599" y="3172968"/>
            <a:ext cx="256032" cy="256032"/>
          </a:xfrm>
          <a:prstGeom prst="rect">
            <a:avLst/>
          </a:prstGeom>
        </p:spPr>
      </p:pic>
      <p:sp>
        <p:nvSpPr>
          <p:cNvPr id="27" name="!!lensn-SEC"/>
          <p:cNvSpPr txBox="1"/>
          <p:nvPr/>
        </p:nvSpPr>
        <p:spPr>
          <a:xfrm>
            <a:off x="9539935" y="3154679"/>
            <a:ext cx="1901951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Cybersecurity</a:t>
            </a:r>
          </a:p>
        </p:txBody>
      </p:sp>
      <p:sp>
        <p:nvSpPr>
          <p:cNvPr id="2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61980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Internet of Things: Hypothesis Spaces</a:t>
            </a:r>
          </a:p>
        </p:txBody>
      </p:sp>
      <p:pic>
        <p:nvPicPr>
          <p:cNvPr id="3" name="!!kicker-icon" descr="compass-117864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864"/>
                </a:solidFill>
                <a:latin typeface="Segoe UI"/>
              </a:rPr>
              <a:t>FOUR LENSES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A30EA29C-CA01-42B6-AFF9-618FA093DE53}" type="slidenum">
              <a:rPr lang="en-GB" sz="1000">
                <a:solidFill>
                  <a:srgbClr val="8795A1"/>
                </a:solidFill>
                <a:latin typeface="Segoe UI"/>
              </a:rPr>
              <a:t>36</a:t>
            </a:fld>
          </a:p>
        </p:txBody>
      </p:sp>
      <p:sp>
        <p:nvSpPr>
          <p:cNvPr id="7" name="!!lens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572000"/>
          </a:xfrm>
          <a:prstGeom prst="roundRect">
            <a:avLst>
              <a:gd name="adj" fmla="val 2000"/>
            </a:avLst>
          </a:prstGeom>
          <a:solidFill>
            <a:srgbClr val="F1F7F6"/>
          </a:solidFill>
          <a:ln>
            <a:noFill/>
          </a:ln>
          <a:effectLst>
            <a:outerShdw blurRad="177800" dist="38100" dir="5400000" algn="t" rotWithShape="0">
              <a:srgbClr val="1C252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lensh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93776"/>
          </a:xfrm>
          <a:prstGeom prst="roundRect">
            <a:avLst>
              <a:gd name="adj" fmla="val 18518"/>
            </a:avLst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ensh2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121408"/>
            <a:ext cx="8040319" cy="10972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lensi-IOT" descr="microchi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536" y="1856231"/>
            <a:ext cx="256032" cy="256032"/>
          </a:xfrm>
          <a:prstGeom prst="rect">
            <a:avLst/>
          </a:prstGeom>
        </p:spPr>
      </p:pic>
      <p:sp>
        <p:nvSpPr>
          <p:cNvPr id="11" name="!!lensn-IOT"/>
          <p:cNvSpPr txBox="1"/>
          <p:nvPr/>
        </p:nvSpPr>
        <p:spPr>
          <a:xfrm>
            <a:off x="1261872" y="1837943"/>
            <a:ext cx="7345375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INTERNET OF THINGS</a:t>
            </a:r>
          </a:p>
        </p:txBody>
      </p:sp>
      <p:sp>
        <p:nvSpPr>
          <p:cNvPr id="12" name="!!lensb-IOT-0"/>
          <p:cNvSpPr txBox="1"/>
          <p:nvPr/>
        </p:nvSpPr>
        <p:spPr>
          <a:xfrm>
            <a:off x="896112" y="2432304"/>
            <a:ext cx="7583119" cy="17891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Alarm conditions on a device are often exactly conjunctions: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temperature high, vibration high, ?, load normal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The general boundary is the broadest rule that has not yet fired on a healthy machine, which is useful to know before widening a rule that currently misses failures.</a:t>
            </a:r>
          </a:p>
        </p:txBody>
      </p:sp>
      <p:sp>
        <p:nvSpPr>
          <p:cNvPr id="13" name="!!lens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6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lensh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lensh2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121408"/>
            <a:ext cx="2596896" cy="10972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!!lensi-LA" descr="graduation-ca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37599" y="1856231"/>
            <a:ext cx="419498" cy="256032"/>
          </a:xfrm>
          <a:prstGeom prst="rect">
            <a:avLst/>
          </a:prstGeom>
        </p:spPr>
      </p:pic>
      <p:sp>
        <p:nvSpPr>
          <p:cNvPr id="17" name="!!lensn-LA"/>
          <p:cNvSpPr txBox="1"/>
          <p:nvPr/>
        </p:nvSpPr>
        <p:spPr>
          <a:xfrm>
            <a:off x="9703401" y="1837943"/>
            <a:ext cx="1738485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Learning Analytics</a:t>
            </a:r>
          </a:p>
        </p:txBody>
      </p:sp>
      <p:sp>
        <p:nvSpPr>
          <p:cNvPr id="18" name="!!lens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lensh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lensh2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779776"/>
            <a:ext cx="2596896" cy="1097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!!lensi-PM" descr="tasks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37599" y="2514600"/>
            <a:ext cx="301783" cy="256032"/>
          </a:xfrm>
          <a:prstGeom prst="rect">
            <a:avLst/>
          </a:prstGeom>
        </p:spPr>
      </p:pic>
      <p:sp>
        <p:nvSpPr>
          <p:cNvPr id="22" name="!!lensn-PM"/>
          <p:cNvSpPr txBox="1"/>
          <p:nvPr/>
        </p:nvSpPr>
        <p:spPr>
          <a:xfrm>
            <a:off x="9585686" y="2496312"/>
            <a:ext cx="185620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Project Management</a:t>
            </a:r>
          </a:p>
        </p:txBody>
      </p:sp>
      <p:sp>
        <p:nvSpPr>
          <p:cNvPr id="23" name="!!lens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lensh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lensh2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438144"/>
            <a:ext cx="2596896" cy="109728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!!lensi-SEC" descr="shield-alt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37599" y="3172968"/>
            <a:ext cx="256032" cy="256032"/>
          </a:xfrm>
          <a:prstGeom prst="rect">
            <a:avLst/>
          </a:prstGeom>
        </p:spPr>
      </p:pic>
      <p:sp>
        <p:nvSpPr>
          <p:cNvPr id="27" name="!!lensn-SEC"/>
          <p:cNvSpPr txBox="1"/>
          <p:nvPr/>
        </p:nvSpPr>
        <p:spPr>
          <a:xfrm>
            <a:off x="9539935" y="3154679"/>
            <a:ext cx="1901951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Cybersecurity</a:t>
            </a:r>
          </a:p>
        </p:txBody>
      </p:sp>
      <p:sp>
        <p:nvSpPr>
          <p:cNvPr id="2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83751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Cybersecurity: Hypothesis Spaces</a:t>
            </a:r>
          </a:p>
        </p:txBody>
      </p:sp>
      <p:pic>
        <p:nvPicPr>
          <p:cNvPr id="3" name="!!kicker-icon" descr="compass-922B2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922B21"/>
                </a:solidFill>
                <a:latin typeface="Segoe UI"/>
              </a:rPr>
              <a:t>FOUR LENSES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8D9D7DC0-FB6A-4F3E-ADEC-8F0DD9A441E7}" type="slidenum">
              <a:rPr lang="en-GB" sz="1000">
                <a:solidFill>
                  <a:srgbClr val="8795A1"/>
                </a:solidFill>
                <a:latin typeface="Segoe UI"/>
              </a:rPr>
              <a:t>37</a:t>
            </a:fld>
          </a:p>
        </p:txBody>
      </p:sp>
      <p:sp>
        <p:nvSpPr>
          <p:cNvPr id="7" name="!!lens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572000"/>
          </a:xfrm>
          <a:prstGeom prst="roundRect">
            <a:avLst>
              <a:gd name="adj" fmla="val 2000"/>
            </a:avLst>
          </a:prstGeom>
          <a:solidFill>
            <a:srgbClr val="F8F2F2"/>
          </a:solidFill>
          <a:ln>
            <a:noFill/>
          </a:ln>
          <a:effectLst>
            <a:outerShdw blurRad="177800" dist="38100" dir="5400000" algn="t" rotWithShape="0">
              <a:srgbClr val="1C252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lensh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040319" cy="493776"/>
          </a:xfrm>
          <a:prstGeom prst="roundRect">
            <a:avLst>
              <a:gd name="adj" fmla="val 18518"/>
            </a:avLst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ensh2-S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121408"/>
            <a:ext cx="8040319" cy="109728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lensi-SEC" descr="shield-alt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536" y="1856231"/>
            <a:ext cx="256032" cy="256032"/>
          </a:xfrm>
          <a:prstGeom prst="rect">
            <a:avLst/>
          </a:prstGeom>
        </p:spPr>
      </p:pic>
      <p:sp>
        <p:nvSpPr>
          <p:cNvPr id="11" name="!!lensn-SEC"/>
          <p:cNvSpPr txBox="1"/>
          <p:nvPr/>
        </p:nvSpPr>
        <p:spPr>
          <a:xfrm>
            <a:off x="1261872" y="1837943"/>
            <a:ext cx="7345375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00">
                <a:solidFill>
                  <a:srgbClr val="FFFFFF"/>
                </a:solidFill>
                <a:latin typeface="Segoe UI"/>
              </a:rPr>
              <a:t>CYBERSECURITY</a:t>
            </a:r>
          </a:p>
        </p:txBody>
      </p:sp>
      <p:sp>
        <p:nvSpPr>
          <p:cNvPr id="12" name="!!lensb-SEC-0"/>
          <p:cNvSpPr txBox="1"/>
          <p:nvPr/>
        </p:nvSpPr>
        <p:spPr>
          <a:xfrm>
            <a:off x="896112" y="2432304"/>
            <a:ext cx="7583119" cy="248655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Signature generation is Find-S: from several samples of one malware family, keep the byte patterns they share and generalise the rest. The most specific signature misses the next variant; the most general one that still excludes every benign file in the corpus catches more but will eventually flag a legitimate program. Real signature engines choose between those two ends.</a:t>
            </a:r>
          </a:p>
        </p:txBody>
      </p:sp>
      <p:sp>
        <p:nvSpPr>
          <p:cNvPr id="13" name="!!lens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6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lensh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1737360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lensh2-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121408"/>
            <a:ext cx="2596896" cy="10972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6" name="!!lensi-LA" descr="graduation-ca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37599" y="1856231"/>
            <a:ext cx="419498" cy="256032"/>
          </a:xfrm>
          <a:prstGeom prst="rect">
            <a:avLst/>
          </a:prstGeom>
        </p:spPr>
      </p:pic>
      <p:sp>
        <p:nvSpPr>
          <p:cNvPr id="17" name="!!lensn-LA"/>
          <p:cNvSpPr txBox="1"/>
          <p:nvPr/>
        </p:nvSpPr>
        <p:spPr>
          <a:xfrm>
            <a:off x="9703401" y="1837943"/>
            <a:ext cx="1738485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Learning Analytics</a:t>
            </a:r>
          </a:p>
        </p:txBody>
      </p:sp>
      <p:sp>
        <p:nvSpPr>
          <p:cNvPr id="18" name="!!lens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lensh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395728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lensh2-P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2779776"/>
            <a:ext cx="2596896" cy="109728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!!lensi-PM" descr="tasks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37599" y="2514600"/>
            <a:ext cx="301783" cy="256032"/>
          </a:xfrm>
          <a:prstGeom prst="rect">
            <a:avLst/>
          </a:prstGeom>
        </p:spPr>
      </p:pic>
      <p:sp>
        <p:nvSpPr>
          <p:cNvPr id="22" name="!!lensn-PM"/>
          <p:cNvSpPr txBox="1"/>
          <p:nvPr/>
        </p:nvSpPr>
        <p:spPr>
          <a:xfrm>
            <a:off x="9585686" y="2496312"/>
            <a:ext cx="1856200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Project Management</a:t>
            </a:r>
          </a:p>
        </p:txBody>
      </p:sp>
      <p:sp>
        <p:nvSpPr>
          <p:cNvPr id="23" name="!!lens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lensh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054096"/>
            <a:ext cx="2596896" cy="493776"/>
          </a:xfrm>
          <a:prstGeom prst="roundRect">
            <a:avLst>
              <a:gd name="adj" fmla="val 18518"/>
            </a:avLst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lensh2-IO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431" y="3438144"/>
            <a:ext cx="2596896" cy="10972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!!lensi-IOT" descr="microchip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37599" y="3172968"/>
            <a:ext cx="256032" cy="256032"/>
          </a:xfrm>
          <a:prstGeom prst="rect">
            <a:avLst/>
          </a:prstGeom>
        </p:spPr>
      </p:pic>
      <p:sp>
        <p:nvSpPr>
          <p:cNvPr id="27" name="!!lensn-IOT"/>
          <p:cNvSpPr txBox="1"/>
          <p:nvPr/>
        </p:nvSpPr>
        <p:spPr>
          <a:xfrm>
            <a:off x="9539935" y="3154679"/>
            <a:ext cx="1901951" cy="29260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Internet of Things</a:t>
            </a:r>
          </a:p>
        </p:txBody>
      </p:sp>
      <p:sp>
        <p:nvSpPr>
          <p:cNvPr id="2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05522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Try it yourself: Candidate Elimination in Forty Lines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TRY IT YOURSELF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3EE78561-198A-4CD9-95E2-49FBE64741C4}" type="slidenum">
              <a:rPr lang="en-GB" sz="1000">
                <a:solidFill>
                  <a:srgbClr val="8795A1"/>
                </a:solidFill>
                <a:latin typeface="Segoe UI"/>
              </a:rPr>
              <a:t>38</a:t>
            </a:fld>
          </a:p>
        </p:txBody>
      </p:sp>
      <p:sp>
        <p:nvSpPr>
          <p:cNvPr id="7" name="body-0"/>
          <p:cNvSpPr txBox="1"/>
          <p:nvPr/>
        </p:nvSpPr>
        <p:spPr>
          <a:xfrm>
            <a:off x="658368" y="1737360"/>
            <a:ext cx="10874959" cy="6797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whole of this chapter, run: Find-S, the boundary trace of the worked example, and a brute-force check of the version space by listing every hypothesis.</a:t>
            </a:r>
          </a:p>
        </p:txBody>
      </p:sp>
      <p:sp>
        <p:nvSpPr>
          <p:cNvPr id="8" name="!!labsteps-h"/>
          <p:cNvSpPr txBox="1"/>
          <p:nvPr/>
        </p:nvSpPr>
        <p:spPr>
          <a:xfrm>
            <a:off x="658368" y="268224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0E6655"/>
                </a:solidFill>
                <a:latin typeface="Segoe UI"/>
              </a:rPr>
              <a:t>WHAT YOU WILL DO</a:t>
            </a:r>
          </a:p>
        </p:txBody>
      </p:sp>
      <p:sp>
        <p:nvSpPr>
          <p:cNvPr id="9" name="!!labsteps"/>
          <p:cNvSpPr txBox="1"/>
          <p:nvPr/>
        </p:nvSpPr>
        <p:spPr>
          <a:xfrm>
            <a:off x="658368" y="3066288"/>
            <a:ext cx="10874959" cy="1104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1.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Find-S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2.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Candidate-Elimination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3.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Brute force: list every hypothesis, keep the consistent ones</a:t>
            </a:r>
          </a:p>
        </p:txBody>
      </p:sp>
      <p:sp>
        <p:nvSpPr>
          <p:cNvPr id="19" name="!!lfTHI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lfbTHI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lflTHIS"/>
          <p:cNvSpPr txBox="1"/>
          <p:nvPr/>
        </p:nvSpPr>
        <p:spPr>
          <a:xfrm>
            <a:off x="932688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THIS WEEK'S LAB</a:t>
            </a:r>
          </a:p>
        </p:txBody>
      </p:sp>
      <p:sp>
        <p:nvSpPr>
          <p:cNvPr id="22" name="!!lfvTHIS"/>
          <p:cNvSpPr txBox="1"/>
          <p:nvPr/>
        </p:nvSpPr>
        <p:spPr>
          <a:xfrm>
            <a:off x="932688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Week 3: Candidate elimination in forty lines</a:t>
            </a:r>
          </a:p>
        </p:txBody>
      </p:sp>
      <p:sp>
        <p:nvSpPr>
          <p:cNvPr id="23" name="!!lfWHA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4794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lfbWHA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4794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lflWHAT"/>
          <p:cNvSpPr txBox="1"/>
          <p:nvPr/>
        </p:nvSpPr>
        <p:spPr>
          <a:xfrm>
            <a:off x="4649114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WHAT YOU WILL RUN</a:t>
            </a:r>
          </a:p>
        </p:txBody>
      </p:sp>
      <p:sp>
        <p:nvSpPr>
          <p:cNvPr id="26" name="!!lfvWHAT"/>
          <p:cNvSpPr txBox="1"/>
          <p:nvPr/>
        </p:nvSpPr>
        <p:spPr>
          <a:xfrm>
            <a:off x="4649114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1 listing, 62 lines of Python</a:t>
            </a:r>
          </a:p>
        </p:txBody>
      </p:sp>
      <p:sp>
        <p:nvSpPr>
          <p:cNvPr id="27" name="!!lfRUN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1220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lfbRUN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1220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lflRUNN"/>
          <p:cNvSpPr txBox="1"/>
          <p:nvPr/>
        </p:nvSpPr>
        <p:spPr>
          <a:xfrm>
            <a:off x="8365540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RUNNABLE COPY</a:t>
            </a:r>
          </a:p>
        </p:txBody>
      </p:sp>
      <p:sp>
        <p:nvSpPr>
          <p:cNvPr id="30" name="!!lfvRUNN"/>
          <p:cNvSpPr txBox="1"/>
          <p:nvPr/>
        </p:nvSpPr>
        <p:spPr>
          <a:xfrm>
            <a:off x="8365540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Consolas"/>
              </a:rPr>
              <a:t>code/ch04_candidate_elimination.py</a:t>
            </a:r>
          </a:p>
        </p:txBody>
      </p:sp>
      <p:sp>
        <p:nvSpPr>
          <p:cNvPr id="3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27293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Candidate Elimination in Forty Lines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1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F6373132-9F48-4603-B289-A4222AE2D5C5}" type="slidenum">
              <a:rPr lang="en-GB" sz="1000">
                <a:solidFill>
                  <a:srgbClr val="8795A1"/>
                </a:solidFill>
                <a:latin typeface="Segoe UI"/>
              </a:rPr>
              <a:t>39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Set-up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4017264"/>
          </a:xfrm>
          <a:prstGeom prst="roundRect">
            <a:avLst>
              <a:gd name="adj" fmla="val 2276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code/ch04_candidate_elimination.py</a:t>
            </a:r>
          </a:p>
        </p:txBody>
      </p:sp>
      <p:sp>
        <p:nvSpPr>
          <p:cNvPr id="14" name="!!code-text" descr="from itertools import product # EnjoySport. &quot;?&quot; = any value, &quot;0&quot; = no value (the empty constraint) VALUES = [(&quot;Sunny&quot;, &quot;Cloudy&quot;, &quot;Rainy&quot;), (&quot;Warm&quot;, &quot;Cold&quot;), (&quot;Normal&quot;, &quot;High&quot;), (&quot;Strong&quot;, &quot;Weak&quot;), (&quot;Warm&quot;, &quot;Cool&quot;), (&quot;Same&quot;, &quot;Change&quot;)] D = [((&quot;Sunny&quot;, &quot;Warm&quot;, &quot;Normal&quot;, &quot;Strong&quot;, &quot;Warm&quot;, &quot;Same&quot;), True), ((&quot;Sunny&quot;, &quot;Warm&quot;, &quot;High&quot;, &quot;Strong&quot;, &quot;Warm&quot;, &quot;Same&quot;), True), ((&quot;Rainy&quot;, &quot;Cold&quot;, &quot;High&quot;, &quot;Strong&quot;, &quot;Warm&quot;, &quot;Change&quot;), False), ((&quot;Sunny&quot;, &quot;Warm&quot;, &quot;High&quot;, &quot;Strong&quot;, &quot;Cool&quot;, &quot;Change&quot;), True)] show = lambda hs: &quot; &quot;.join(&quot;&lt;&quot; + &quot;, &quot;.join(h) + &quot;&gt;&quot; for h in sorted(hs)) def covers(h, x): # does h classify x as positive? return all(c == &quot;?&quot; or c == v for c, v in zip(h, x))"/>
          <p:cNvSpPr txBox="1"/>
          <p:nvPr/>
        </p:nvSpPr>
        <p:spPr>
          <a:xfrm>
            <a:off x="1362456" y="2523744"/>
            <a:ext cx="9987991" cy="35234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5DADE2"/>
                </a:solidFill>
                <a:latin typeface="Consolas"/>
              </a:rPr>
              <a:t>from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6D7C4"/>
                </a:solidFill>
                <a:latin typeface="Consolas"/>
              </a:rPr>
              <a:t>itertools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import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product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8795A1"/>
                </a:solidFill>
                <a:latin typeface="Consolas"/>
              </a:rPr>
              <a:t># EnjoySport. "?" = any value, "0" = no value (the empty constraint)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VALUES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[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Sunny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Cloudy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Rainy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Cold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Normal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High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     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Strong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Weak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Cool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Same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Change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D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[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Sunny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Normal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Strong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Same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True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Sunny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High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Strong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Same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True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Rainy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Cold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High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Strong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Change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False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Sunny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Warm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High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Strong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Cool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Change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True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show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lambda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hs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 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join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&lt;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+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,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join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h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+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&gt;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for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h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in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C39BD3"/>
                </a:solidFill>
                <a:latin typeface="Consolas"/>
              </a:rPr>
              <a:t>sorted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hs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5DADE2"/>
                </a:solidFill>
                <a:latin typeface="Consolas"/>
              </a:rPr>
              <a:t>def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C39BD3"/>
                </a:solidFill>
                <a:latin typeface="Consolas"/>
              </a:rPr>
              <a:t>covers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h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x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E8EDF2"/>
                </a:solidFill>
                <a:latin typeface="Consolas"/>
              </a:rPr>
              <a:t>             </a:t>
            </a:r>
            <a:r>
              <a:rPr sz="1600" i="1">
                <a:solidFill>
                  <a:srgbClr val="8795A1"/>
                </a:solidFill>
                <a:latin typeface="Consolas"/>
              </a:rPr>
              <a:t># does h classify x as positive?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5DADE2"/>
                </a:solidFill>
                <a:latin typeface="Consolas"/>
              </a:rPr>
              <a:t>return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C39BD3"/>
                </a:solidFill>
                <a:latin typeface="Consolas"/>
              </a:rPr>
              <a:t>all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c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7DCEA0"/>
                </a:solidFill>
                <a:latin typeface="Consolas"/>
              </a:rPr>
              <a:t>?</a:t>
            </a:r>
            <a:r>
              <a:rPr sz="1600" i="0">
                <a:solidFill>
                  <a:srgbClr val="7DCEA0"/>
                </a:solidFill>
                <a:latin typeface="Consolas"/>
              </a:rPr>
              <a:t>"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or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c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v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5DADE2"/>
                </a:solidFill>
                <a:latin typeface="Consolas"/>
              </a:rPr>
              <a:t>for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c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v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in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C39BD3"/>
                </a:solidFill>
                <a:latin typeface="Consolas"/>
              </a:rPr>
              <a:t>zip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h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x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5234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2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3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5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6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7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8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9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10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11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12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13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14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15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9064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Candidate Elimination in Forty Lines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2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CDD281F5-3C10-46E9-B7B6-33F5345E3317}" type="slidenum">
              <a:rPr lang="en-GB" sz="1000">
                <a:solidFill>
                  <a:srgbClr val="8795A1"/>
                </a:solidFill>
                <a:latin typeface="Segoe UI"/>
              </a:rPr>
              <a:t>40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Set-up (continued)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3895344"/>
          </a:xfrm>
          <a:prstGeom prst="roundRect">
            <a:avLst>
              <a:gd name="adj" fmla="val 2347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code/ch04_candidate_elimination.py</a:t>
            </a:r>
          </a:p>
        </p:txBody>
      </p:sp>
      <p:sp>
        <p:nvSpPr>
          <p:cNvPr id="14" name="!!code-text" descr="def more_general(h1, h2): # h1 &gt;=g h2 return &quot;0&quot; in h2 or all(a == &quot;?&quot; or a == b for a, b in zip(h1, h2)) def generalize(s, x): # minimal generalisation of s covering x return tuple(v if c == &quot;0&quot; else (c if c == v else &quot;?&quot;) for c, v in zip(s, x)) def specializations(g, x): # minimal specialisations of g excluding x return [g[:i] + (v,) + g[i + 1:] for i, c in enumerate(g) if c == &quot;?&quot; for v in VALUES[i] if v != x[i]]"/>
          <p:cNvSpPr txBox="1"/>
          <p:nvPr/>
        </p:nvSpPr>
        <p:spPr>
          <a:xfrm>
            <a:off x="1362456" y="2523744"/>
            <a:ext cx="9987991" cy="34015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5DADE2"/>
                </a:solidFill>
                <a:latin typeface="Consolas"/>
              </a:rPr>
              <a:t>def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more_general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h1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h2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h1 &gt;=g h2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return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0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h2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all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a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?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a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b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a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b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zip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h1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h2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5DADE2"/>
                </a:solidFill>
                <a:latin typeface="Consolas"/>
              </a:rPr>
              <a:t>def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generalize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s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 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minimal generalisation of s covering x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return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tuple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if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c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0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else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c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if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c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else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?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         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c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zip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s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5DADE2"/>
                </a:solidFill>
                <a:latin typeface="Consolas"/>
              </a:rPr>
              <a:t>def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specializations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g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1">
                <a:solidFill>
                  <a:srgbClr val="8795A1"/>
                </a:solidFill>
                <a:latin typeface="Consolas"/>
              </a:rPr>
              <a:t># minimal specialisations of g excluding x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return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g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  <a:r>
              <a:rPr sz="1800" i="0">
                <a:solidFill>
                  <a:srgbClr val="E8EDF2"/>
                </a:solidFill>
                <a:latin typeface="Consolas"/>
              </a:rPr>
              <a:t>i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+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+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g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i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+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1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i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c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enumerate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g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if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c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?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    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VALUES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i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if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!=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i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40156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18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19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20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21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22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23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24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25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26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27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28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29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70835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Candidate Elimination in Forty Lines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3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BCE68884-AE62-4EEB-8D72-B4C2CBD1661F}" type="slidenum">
              <a:rPr lang="en-GB" sz="1000">
                <a:solidFill>
                  <a:srgbClr val="8795A1"/>
                </a:solidFill>
                <a:latin typeface="Segoe UI"/>
              </a:rPr>
              <a:t>41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Find-S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2249424"/>
          </a:xfrm>
          <a:prstGeom prst="roundRect">
            <a:avLst>
              <a:gd name="adj" fmla="val 4065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code/ch04_candidate_elimination.py</a:t>
            </a:r>
          </a:p>
        </p:txBody>
      </p:sp>
      <p:sp>
        <p:nvSpPr>
          <p:cNvPr id="14" name="!!code-text" descr="# --- Find-S -------------------------------------------------------------- h = (&quot;0&quot;,) * 6 for x, positive in D: if positive: h = generalize(h, x) print(&quot;Find-S:&quot;, show([h]))"/>
          <p:cNvSpPr txBox="1"/>
          <p:nvPr/>
        </p:nvSpPr>
        <p:spPr>
          <a:xfrm>
            <a:off x="1362456" y="2523744"/>
            <a:ext cx="9987991" cy="17556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1">
                <a:solidFill>
                  <a:srgbClr val="8795A1"/>
                </a:solidFill>
                <a:latin typeface="Consolas"/>
              </a:rPr>
              <a:t># --- Find-S --------------------------------------------------------------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0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*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F7DC6F"/>
                </a:solidFill>
                <a:latin typeface="Consolas"/>
              </a:rPr>
              <a:t>6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positive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D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</a:t>
            </a:r>
            <a:r>
              <a:rPr sz="1800" i="0">
                <a:solidFill>
                  <a:srgbClr val="5DADE2"/>
                </a:solidFill>
                <a:latin typeface="Consolas"/>
              </a:rPr>
              <a:t>if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positive</a:t>
            </a:r>
            <a:r>
              <a:rPr sz="18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generalize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Find-S: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show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175564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32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33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34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35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36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37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92606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Candidate Elimination in Forty Lines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4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854B3337-BCDE-47FC-B684-EC2636A457A0}" type="slidenum">
              <a:rPr lang="en-GB" sz="1000">
                <a:solidFill>
                  <a:srgbClr val="8795A1"/>
                </a:solidFill>
                <a:latin typeface="Segoe UI"/>
              </a:rPr>
              <a:t>42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Candidate-Elimination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4017264"/>
          </a:xfrm>
          <a:prstGeom prst="roundRect">
            <a:avLst>
              <a:gd name="adj" fmla="val 2276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code/ch04_candidate_elimination.py</a:t>
            </a:r>
          </a:p>
        </p:txBody>
      </p:sp>
      <p:sp>
        <p:nvSpPr>
          <p:cNvPr id="14" name="!!code-text" descr="# --- Candidate-Elimination ----------------------------------------------- S, G = {(&quot;0&quot;,) * 6}, {(&quot;?&quot;,) * 6} for k, (x, positive) in enumerate(D, 1): if positive: G = {g for g in G if covers(g, x)} S = {generalize(s, x) for s in S} S = {s for s in S if any(more_general(g, s) for g in G)} else: S = {s for s in S if not covers(s, x)} new = {g for g in G if not covers(g, x)} for g in G - new: new |= {h for h in specializations(g, x) if any(more_general(h, s) for s in S)} G = {g for g in new if not any(o != g and more_general(o, g) for o in new)} print(f&quot;day {k} S: {show(S)}\n G: {show(G)}&quot;)"/>
          <p:cNvSpPr txBox="1"/>
          <p:nvPr/>
        </p:nvSpPr>
        <p:spPr>
          <a:xfrm>
            <a:off x="1362456" y="2523744"/>
            <a:ext cx="9987991" cy="35234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8795A1"/>
                </a:solidFill>
                <a:latin typeface="Consolas"/>
              </a:rPr>
              <a:t># --- Candidate-Elimination -----------------------------------------------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7DCEA0"/>
                </a:solidFill>
                <a:latin typeface="Consolas"/>
              </a:rPr>
              <a:t>"</a:t>
            </a:r>
            <a:r>
              <a:rPr sz="1400" i="0">
                <a:solidFill>
                  <a:srgbClr val="7DCEA0"/>
                </a:solidFill>
                <a:latin typeface="Consolas"/>
              </a:rPr>
              <a:t>0</a:t>
            </a:r>
            <a:r>
              <a:rPr sz="1400" i="0">
                <a:solidFill>
                  <a:srgbClr val="7DCEA0"/>
                </a:solidFill>
                <a:latin typeface="Consolas"/>
              </a:rPr>
              <a:t>"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*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F7DC6F"/>
                </a:solidFill>
                <a:latin typeface="Consolas"/>
              </a:rPr>
              <a:t>6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7DCEA0"/>
                </a:solidFill>
                <a:latin typeface="Consolas"/>
              </a:rPr>
              <a:t>"</a:t>
            </a:r>
            <a:r>
              <a:rPr sz="1400" i="0">
                <a:solidFill>
                  <a:srgbClr val="7DCEA0"/>
                </a:solidFill>
                <a:latin typeface="Consolas"/>
              </a:rPr>
              <a:t>?</a:t>
            </a:r>
            <a:r>
              <a:rPr sz="1400" i="0">
                <a:solidFill>
                  <a:srgbClr val="7DCEA0"/>
                </a:solidFill>
                <a:latin typeface="Consolas"/>
              </a:rPr>
              <a:t>"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*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F7DC6F"/>
                </a:solidFill>
                <a:latin typeface="Consolas"/>
              </a:rPr>
              <a:t>6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k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x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positive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C39BD3"/>
                </a:solidFill>
                <a:latin typeface="Consolas"/>
              </a:rPr>
              <a:t>enumerate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D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F7DC6F"/>
                </a:solidFill>
                <a:latin typeface="Consolas"/>
              </a:rPr>
              <a:t>1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</a:t>
            </a:r>
            <a:r>
              <a:rPr sz="1400" i="0">
                <a:solidFill>
                  <a:srgbClr val="5DADE2"/>
                </a:solidFill>
                <a:latin typeface="Consolas"/>
              </a:rPr>
              <a:t>if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positive</a:t>
            </a:r>
            <a:r>
              <a:rPr sz="14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if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covers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x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generalize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x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if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C39BD3"/>
                </a:solidFill>
                <a:latin typeface="Consolas"/>
              </a:rPr>
              <a:t>any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more_general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</a:t>
            </a:r>
            <a:r>
              <a:rPr sz="1400" i="0">
                <a:solidFill>
                  <a:srgbClr val="5DADE2"/>
                </a:solidFill>
                <a:latin typeface="Consolas"/>
              </a:rPr>
              <a:t>else</a:t>
            </a:r>
            <a:r>
              <a:rPr sz="14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if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not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covers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x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400" i="0">
                <a:solidFill>
                  <a:srgbClr val="E8EDF2"/>
                </a:solidFill>
                <a:latin typeface="Consolas"/>
              </a:rPr>
              <a:t>new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if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not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covers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x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-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new</a:t>
            </a:r>
            <a:r>
              <a:rPr sz="1400" i="0">
                <a:solidFill>
                  <a:srgbClr val="AEB6BF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    </a:t>
            </a:r>
            <a:r>
              <a:rPr sz="1400" i="0">
                <a:solidFill>
                  <a:srgbClr val="E8EDF2"/>
                </a:solidFill>
                <a:latin typeface="Consolas"/>
              </a:rPr>
              <a:t>new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|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h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h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specializations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x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            </a:t>
            </a:r>
            <a:r>
              <a:rPr sz="1400" i="0">
                <a:solidFill>
                  <a:srgbClr val="5DADE2"/>
                </a:solidFill>
                <a:latin typeface="Consolas"/>
              </a:rPr>
              <a:t>if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C39BD3"/>
                </a:solidFill>
                <a:latin typeface="Consolas"/>
              </a:rPr>
              <a:t>any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more_general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h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new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         </a:t>
            </a:r>
            <a:r>
              <a:rPr sz="1400" i="0">
                <a:solidFill>
                  <a:srgbClr val="5DADE2"/>
                </a:solidFill>
                <a:latin typeface="Consolas"/>
              </a:rPr>
              <a:t>if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not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C39BD3"/>
                </a:solidFill>
                <a:latin typeface="Consolas"/>
              </a:rPr>
              <a:t>any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o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!=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and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more_general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o</a:t>
            </a:r>
            <a:r>
              <a:rPr sz="1400" i="0">
                <a:solidFill>
                  <a:srgbClr val="AEB6BF"/>
                </a:solidFill>
                <a:latin typeface="Consolas"/>
              </a:rPr>
              <a:t>,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5DADE2"/>
                </a:solidFill>
                <a:latin typeface="Consolas"/>
              </a:rPr>
              <a:t>for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o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AEB6BF"/>
                </a:solidFill>
                <a:latin typeface="Consolas"/>
              </a:rPr>
              <a:t>in</a:t>
            </a:r>
            <a:r>
              <a:rPr sz="1400" i="0">
                <a:solidFill>
                  <a:srgbClr val="E8EDF2"/>
                </a:solidFill>
                <a:latin typeface="Consolas"/>
              </a:rPr>
              <a:t> </a:t>
            </a:r>
            <a:r>
              <a:rPr sz="1400" i="0">
                <a:solidFill>
                  <a:srgbClr val="E8EDF2"/>
                </a:solidFill>
                <a:latin typeface="Consolas"/>
              </a:rPr>
              <a:t>new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0">
                <a:solidFill>
                  <a:srgbClr val="E8EDF2"/>
                </a:solidFill>
                <a:latin typeface="Consolas"/>
              </a:rPr>
              <a:t>    </a:t>
            </a:r>
            <a:r>
              <a:rPr sz="14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7DCEA0"/>
                </a:solidFill>
                <a:latin typeface="Consolas"/>
              </a:rPr>
              <a:t>f</a:t>
            </a:r>
            <a:r>
              <a:rPr sz="1400" i="0">
                <a:solidFill>
                  <a:srgbClr val="7DCEA0"/>
                </a:solidFill>
                <a:latin typeface="Consolas"/>
              </a:rPr>
              <a:t>"</a:t>
            </a:r>
            <a:r>
              <a:rPr sz="1400" i="0">
                <a:solidFill>
                  <a:srgbClr val="7DCEA0"/>
                </a:solidFill>
                <a:latin typeface="Consolas"/>
              </a:rPr>
              <a:t>day </a:t>
            </a:r>
            <a:r>
              <a:rPr sz="1400" i="0">
                <a:solidFill>
                  <a:srgbClr val="7DCEA0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k</a:t>
            </a:r>
            <a:r>
              <a:rPr sz="1400" i="0">
                <a:solidFill>
                  <a:srgbClr val="7DCEA0"/>
                </a:solidFill>
                <a:latin typeface="Consolas"/>
              </a:rPr>
              <a:t>}</a:t>
            </a:r>
            <a:r>
              <a:rPr sz="1400" i="0">
                <a:solidFill>
                  <a:srgbClr val="7DCEA0"/>
                </a:solidFill>
                <a:latin typeface="Consolas"/>
              </a:rPr>
              <a:t>  S: </a:t>
            </a:r>
            <a:r>
              <a:rPr sz="1400" i="0">
                <a:solidFill>
                  <a:srgbClr val="7DCEA0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show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S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7DCEA0"/>
                </a:solidFill>
                <a:latin typeface="Consolas"/>
              </a:rPr>
              <a:t>}</a:t>
            </a:r>
            <a:r>
              <a:rPr sz="1400" i="0">
                <a:solidFill>
                  <a:srgbClr val="7DCEA0"/>
                </a:solidFill>
                <a:latin typeface="Consolas"/>
              </a:rPr>
              <a:t>\n</a:t>
            </a:r>
            <a:r>
              <a:rPr sz="1400" i="0">
                <a:solidFill>
                  <a:srgbClr val="7DCEA0"/>
                </a:solidFill>
                <a:latin typeface="Consolas"/>
              </a:rPr>
              <a:t>       G: </a:t>
            </a:r>
            <a:r>
              <a:rPr sz="1400" i="0">
                <a:solidFill>
                  <a:srgbClr val="7DCEA0"/>
                </a:solidFill>
                <a:latin typeface="Consolas"/>
              </a:rPr>
              <a:t>{</a:t>
            </a:r>
            <a:r>
              <a:rPr sz="1400" i="0">
                <a:solidFill>
                  <a:srgbClr val="E8EDF2"/>
                </a:solidFill>
                <a:latin typeface="Consolas"/>
              </a:rPr>
              <a:t>show</a:t>
            </a:r>
            <a:r>
              <a:rPr sz="1400" i="0">
                <a:solidFill>
                  <a:srgbClr val="AEB6BF"/>
                </a:solidFill>
                <a:latin typeface="Consolas"/>
              </a:rPr>
              <a:t>(</a:t>
            </a:r>
            <a:r>
              <a:rPr sz="1400" i="0">
                <a:solidFill>
                  <a:srgbClr val="E8EDF2"/>
                </a:solidFill>
                <a:latin typeface="Consolas"/>
              </a:rPr>
              <a:t>G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  <a:r>
              <a:rPr sz="1400" i="0">
                <a:solidFill>
                  <a:srgbClr val="7DCEA0"/>
                </a:solidFill>
                <a:latin typeface="Consolas"/>
              </a:rPr>
              <a:t>}</a:t>
            </a:r>
            <a:r>
              <a:rPr sz="1400" i="0">
                <a:solidFill>
                  <a:srgbClr val="7DCEA0"/>
                </a:solidFill>
                <a:latin typeface="Consolas"/>
              </a:rPr>
              <a:t>"</a:t>
            </a:r>
            <a:r>
              <a:rPr sz="1400" i="0">
                <a:solidFill>
                  <a:srgbClr val="AEB6BF"/>
                </a:solidFill>
                <a:latin typeface="Consolas"/>
              </a:rPr>
              <a:t>)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5234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39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40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41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42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43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44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45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46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47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48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49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50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51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52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53</a:t>
            </a:r>
          </a:p>
          <a:p>
            <a:pPr algn="r">
              <a:lnSpc>
                <a:spcPct val="100000"/>
              </a:lnSpc>
            </a:pPr>
            <a:r>
              <a:rPr sz="1400">
                <a:solidFill>
                  <a:srgbClr val="4F5D6A"/>
                </a:solidFill>
                <a:latin typeface="Consolas"/>
              </a:rPr>
              <a:t>54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77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Candidate Elimination in Forty Lines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5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08592580-3074-412A-985F-2F6983813547}" type="slidenum">
              <a:rPr lang="en-GB" sz="1000">
                <a:solidFill>
                  <a:srgbClr val="8795A1"/>
                </a:solidFill>
                <a:latin typeface="Segoe UI"/>
              </a:rPr>
              <a:t>43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Brute force: list every hypothesis, keep the consistent ones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2798063"/>
          </a:xfrm>
          <a:prstGeom prst="roundRect">
            <a:avLst>
              <a:gd name="adj" fmla="val 3267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Python  ·  code/ch04_candidate_elimination.py</a:t>
            </a:r>
          </a:p>
        </p:txBody>
      </p:sp>
      <p:sp>
        <p:nvSpPr>
          <p:cNvPr id="14" name="!!code-text" descr="# --- brute force: list every hypothesis, keep the consistent ones --------- H = list(product(*[v + (&quot;?&quot;,) for v in VALUES])) VS = [h for h in H if all(covers(h, x) == p for x, p in D)] print(len(VS), &quot;hypotheses in the version space:&quot;) print(show(VS)) day = (&quot;Sunny&quot;, &quot;Warm&quot;, &quot;Normal&quot;, &quot;Weak&quot;, &quot;Warm&quot;, &quot;Same&quot;) yes = sum(covers(h, day) for h in VS) print(f&quot;vote on {day}: {yes} yes, {len(VS) - yes} no&quot;)"/>
          <p:cNvSpPr txBox="1"/>
          <p:nvPr/>
        </p:nvSpPr>
        <p:spPr>
          <a:xfrm>
            <a:off x="1362456" y="2523744"/>
            <a:ext cx="9987991" cy="23042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1">
                <a:solidFill>
                  <a:srgbClr val="8795A1"/>
                </a:solidFill>
                <a:latin typeface="Consolas"/>
              </a:rPr>
              <a:t># --- brute force: list every hypothesis, keep the consistent ones 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list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product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AEB6BF"/>
                </a:solidFill>
                <a:latin typeface="Consolas"/>
              </a:rPr>
              <a:t>*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+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?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VALUES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VS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[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if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all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covers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x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p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D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C39BD3"/>
                </a:solidFill>
                <a:latin typeface="Consolas"/>
              </a:rPr>
              <a:t>len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VS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hypotheses in the version space: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show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VS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day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Sunny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Warm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Normal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Weak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Warm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Same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E8EDF2"/>
                </a:solidFill>
                <a:latin typeface="Consolas"/>
              </a:rPr>
              <a:t>yes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=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C39BD3"/>
                </a:solidFill>
                <a:latin typeface="Consolas"/>
              </a:rPr>
              <a:t>sum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covers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AEB6BF"/>
                </a:solidFill>
                <a:latin typeface="Consolas"/>
              </a:rPr>
              <a:t>,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day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5DADE2"/>
                </a:solidFill>
                <a:latin typeface="Consolas"/>
              </a:rPr>
              <a:t>for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h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in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VS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i="0">
                <a:solidFill>
                  <a:srgbClr val="C39BD3"/>
                </a:solidFill>
                <a:latin typeface="Consolas"/>
              </a:rPr>
              <a:t>print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7DCEA0"/>
                </a:solidFill>
                <a:latin typeface="Consolas"/>
              </a:rPr>
              <a:t>f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7DCEA0"/>
                </a:solidFill>
                <a:latin typeface="Consolas"/>
              </a:rPr>
              <a:t>vote on </a:t>
            </a:r>
            <a:r>
              <a:rPr sz="1800" i="0">
                <a:solidFill>
                  <a:srgbClr val="7DCEA0"/>
                </a:solidFill>
                <a:latin typeface="Consolas"/>
              </a:rPr>
              <a:t>{</a:t>
            </a:r>
            <a:r>
              <a:rPr sz="1800" i="0">
                <a:solidFill>
                  <a:srgbClr val="E8EDF2"/>
                </a:solidFill>
                <a:latin typeface="Consolas"/>
              </a:rPr>
              <a:t>day</a:t>
            </a:r>
            <a:r>
              <a:rPr sz="1800" i="0">
                <a:solidFill>
                  <a:srgbClr val="7DCEA0"/>
                </a:solidFill>
                <a:latin typeface="Consolas"/>
              </a:rPr>
              <a:t>}</a:t>
            </a:r>
            <a:r>
              <a:rPr sz="1800" i="0">
                <a:solidFill>
                  <a:srgbClr val="7DCEA0"/>
                </a:solidFill>
                <a:latin typeface="Consolas"/>
              </a:rPr>
              <a:t>: </a:t>
            </a:r>
            <a:r>
              <a:rPr sz="1800" i="0">
                <a:solidFill>
                  <a:srgbClr val="7DCEA0"/>
                </a:solidFill>
                <a:latin typeface="Consolas"/>
              </a:rPr>
              <a:t>{</a:t>
            </a:r>
            <a:r>
              <a:rPr sz="1800" i="0">
                <a:solidFill>
                  <a:srgbClr val="E8EDF2"/>
                </a:solidFill>
                <a:latin typeface="Consolas"/>
              </a:rPr>
              <a:t>yes</a:t>
            </a:r>
            <a:r>
              <a:rPr sz="1800" i="0">
                <a:solidFill>
                  <a:srgbClr val="7DCEA0"/>
                </a:solidFill>
                <a:latin typeface="Consolas"/>
              </a:rPr>
              <a:t>}</a:t>
            </a:r>
            <a:r>
              <a:rPr sz="1800" i="0">
                <a:solidFill>
                  <a:srgbClr val="7DCEA0"/>
                </a:solidFill>
                <a:latin typeface="Consolas"/>
              </a:rPr>
              <a:t> yes, </a:t>
            </a:r>
            <a:r>
              <a:rPr sz="1800" i="0">
                <a:solidFill>
                  <a:srgbClr val="7DCEA0"/>
                </a:solidFill>
                <a:latin typeface="Consolas"/>
              </a:rPr>
              <a:t>{</a:t>
            </a:r>
            <a:r>
              <a:rPr sz="1800" i="0">
                <a:solidFill>
                  <a:srgbClr val="C39BD3"/>
                </a:solidFill>
                <a:latin typeface="Consolas"/>
              </a:rPr>
              <a:t>len</a:t>
            </a:r>
            <a:r>
              <a:rPr sz="1800" i="0">
                <a:solidFill>
                  <a:srgbClr val="AEB6BF"/>
                </a:solidFill>
                <a:latin typeface="Consolas"/>
              </a:rPr>
              <a:t>(</a:t>
            </a:r>
            <a:r>
              <a:rPr sz="1800" i="0">
                <a:solidFill>
                  <a:srgbClr val="E8EDF2"/>
                </a:solidFill>
                <a:latin typeface="Consolas"/>
              </a:rPr>
              <a:t>VS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AEB6BF"/>
                </a:solidFill>
                <a:latin typeface="Consolas"/>
              </a:rPr>
              <a:t>-</a:t>
            </a:r>
            <a:r>
              <a:rPr sz="1800" i="0">
                <a:solidFill>
                  <a:srgbClr val="E8EDF2"/>
                </a:solidFill>
                <a:latin typeface="Consolas"/>
              </a:rPr>
              <a:t> </a:t>
            </a:r>
            <a:r>
              <a:rPr sz="1800" i="0">
                <a:solidFill>
                  <a:srgbClr val="E8EDF2"/>
                </a:solidFill>
                <a:latin typeface="Consolas"/>
              </a:rPr>
              <a:t>yes</a:t>
            </a:r>
            <a:r>
              <a:rPr sz="1800" i="0">
                <a:solidFill>
                  <a:srgbClr val="7DCEA0"/>
                </a:solidFill>
                <a:latin typeface="Consolas"/>
              </a:rPr>
              <a:t>}</a:t>
            </a:r>
            <a:r>
              <a:rPr sz="1800" i="0">
                <a:solidFill>
                  <a:srgbClr val="7DCEA0"/>
                </a:solidFill>
                <a:latin typeface="Consolas"/>
              </a:rPr>
              <a:t> no</a:t>
            </a:r>
            <a:r>
              <a:rPr sz="1800" i="0">
                <a:solidFill>
                  <a:srgbClr val="7DCEA0"/>
                </a:solidFill>
                <a:latin typeface="Consolas"/>
              </a:rPr>
              <a:t>"</a:t>
            </a:r>
            <a:r>
              <a:rPr sz="1800" i="0">
                <a:solidFill>
                  <a:srgbClr val="AEB6BF"/>
                </a:solidFill>
                <a:latin typeface="Consolas"/>
              </a:rPr>
              <a:t>)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23042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56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57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58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59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60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61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62</a:t>
            </a:r>
          </a:p>
          <a:p>
            <a:pPr algn="r">
              <a:lnSpc>
                <a:spcPct val="100000"/>
              </a:lnSpc>
            </a:pPr>
            <a:r>
              <a:rPr sz="1800">
                <a:solidFill>
                  <a:srgbClr val="4F5D6A"/>
                </a:solidFill>
                <a:latin typeface="Consolas"/>
              </a:rPr>
              <a:t>63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36148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the lab shows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TRY IT YOURSELF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§4.8  ·  Handout p. 32     </a:t>
            </a:r>
            <a:fld id="{5F45BFD3-2C8B-436D-9D6C-F559CCB97E66}" type="slidenum">
              <a:rPr lang="en-GB" sz="1000">
                <a:solidFill>
                  <a:srgbClr val="8795A1"/>
                </a:solidFill>
                <a:latin typeface="Segoe UI"/>
              </a:rPr>
              <a:t>44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350873"/>
          </a:xfrm>
          <a:prstGeom prst="roundRect">
            <a:avLst>
              <a:gd name="adj" fmla="val 6768"/>
            </a:avLst>
          </a:prstGeom>
          <a:solidFill>
            <a:srgbClr val="EEF6F4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350873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Now add a fifth example, a copy of Day 1 labelled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No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a labelling mistake — and run the trace again. What happens to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the version space?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57918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Is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⟨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Sunny, ?, ?, Strong, ?, ?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⟩ ≥</a:t>
            </a:r>
            <a:r>
              <a:rPr sz="3400" b="0" i="1" baseline="-25000">
                <a:solidFill>
                  <a:srgbClr val="FFFFFF"/>
                </a:solidFill>
                <a:latin typeface="Cambria"/>
              </a:rPr>
              <a:t>g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 ⟨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Sunny, Warm, ?, Strong, ?, ?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⟩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? Is the reverse true?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1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37  ·  answers in Appendix D     </a:t>
            </a:r>
            <a:fld id="{12E699D4-73EF-44BD-8D36-96340592A660}" type="slidenum">
              <a:rPr lang="en-GB" sz="1000">
                <a:solidFill>
                  <a:srgbClr val="D5DEE5"/>
                </a:solidFill>
                <a:latin typeface="Segoe UI"/>
              </a:rPr>
              <a:t>45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747979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Is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⟨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Sunny, ?, ?, Strong, ?, ?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⟩ ≥</a:t>
            </a:r>
            <a:r>
              <a:rPr sz="2400" b="0" i="1" baseline="-25000">
                <a:solidFill>
                  <a:srgbClr val="1A5276"/>
                </a:solidFill>
                <a:latin typeface="Cambria"/>
              </a:rPr>
              <a:t>g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 ⟨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Sunny, Warm, ?, Strong, ?, ?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⟩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? Is the reverse true?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1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62963"/>
            <a:ext cx="64008" cy="1046073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762963"/>
            <a:ext cx="10509199" cy="10917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Yes: any day satisfying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Sunny, Warm, ?, Strong, ?, ?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also satisfies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Sunny, ?, ?, Strong, ?, ?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The reverse is false: a sunny, cold, windy day satisfies the first but not the second.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·  answers in Appendix D     </a:t>
            </a:r>
            <a:fld id="{F4BEBB90-34F0-44E9-A057-D52754BB624C}" type="slidenum">
              <a:rPr lang="en-GB" sz="1000">
                <a:solidFill>
                  <a:srgbClr val="8795A1"/>
                </a:solidFill>
                <a:latin typeface="Segoe UI"/>
              </a:rPr>
              <a:t>46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01460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Run Find-S on the EnjoySport data with Day 4 removed. What does it return?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2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37  ·  answers in Appendix D     </a:t>
            </a:r>
            <a:fld id="{A504E867-7B34-4AF8-A8F6-CB576EDE1B0F}" type="slidenum">
              <a:rPr lang="en-GB" sz="1000">
                <a:solidFill>
                  <a:srgbClr val="D5DEE5"/>
                </a:solidFill>
                <a:latin typeface="Segoe UI"/>
              </a:rPr>
              <a:t>47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45720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Run Find-S on the EnjoySport data with Day 4 removed. What does it return?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2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11833"/>
            <a:ext cx="64008" cy="697382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411833"/>
            <a:ext cx="10509199" cy="74310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Cambria"/>
              </a:rPr>
              <a:t>⟨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Sunny, Warm, ?, Strong, Warm, Same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⟩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— the hypothesis after Day 2, since Day 3 is negative and ignored.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·  answers in Appendix D     </a:t>
            </a:r>
            <a:fld id="{235D75E6-BDCE-4460-80F3-9EE7ABFBBB33}" type="slidenum">
              <a:rPr lang="en-GB" sz="1000">
                <a:solidFill>
                  <a:srgbClr val="8795A1"/>
                </a:solidFill>
                <a:latin typeface="Segoe UI"/>
              </a:rPr>
              <a:t>48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45002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Why does an unbiased learner’s vote on an unseen instance always end in a tie?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3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37  ·  answers in Appendix D     </a:t>
            </a:r>
            <a:fld id="{F66BC1BD-2186-44E3-9232-39B1D1B08D96}" type="slidenum">
              <a:rPr lang="en-GB" sz="1000">
                <a:solidFill>
                  <a:srgbClr val="D5DEE5"/>
                </a:solidFill>
                <a:latin typeface="Segoe UI"/>
              </a:rPr>
              <a:t>49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747979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Why does an unbiased learner’s vote on an unseen instance always end in a tie?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3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62963"/>
            <a:ext cx="64008" cy="1046073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762963"/>
            <a:ext cx="10509199" cy="10917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For each concept in its version space that labels the unseen instance positive, there is another, identical except for that instance, labelling it negative; both are consistent with the training data. The votes are always equal.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·  answers in Appendix D     </a:t>
            </a:r>
            <a:fld id="{59354D20-91AE-47DF-9390-B95E0C305668}" type="slidenum">
              <a:rPr lang="en-GB" sz="1000">
                <a:solidFill>
                  <a:srgbClr val="8795A1"/>
                </a:solidFill>
                <a:latin typeface="Segoe UI"/>
              </a:rPr>
              <a:t>50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88544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to take away</a:t>
            </a:r>
          </a:p>
        </p:txBody>
      </p:sp>
      <p:pic>
        <p:nvPicPr>
          <p:cNvPr id="3" name="!!kicker-icon" descr="clipboard-check-15425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5425E"/>
                </a:solidFill>
                <a:latin typeface="Segoe UI"/>
              </a:rPr>
              <a:t>CHAPTER SUMMARY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1D6B3E48-E250-4326-9335-F3DB8FA84805}" type="slidenum">
              <a:rPr lang="en-GB" sz="1000">
                <a:solidFill>
                  <a:srgbClr val="8795A1"/>
                </a:solidFill>
                <a:latin typeface="Segoe UI"/>
              </a:rPr>
              <a:t>51</a:t>
            </a:fld>
          </a:p>
        </p:txBody>
      </p:sp>
      <p:sp>
        <p:nvSpPr>
          <p:cNvPr id="7" name="!!s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sbn0"/>
          <p:cNvSpPr txBox="1"/>
          <p:nvPr/>
        </p:nvSpPr>
        <p:spPr>
          <a:xfrm>
            <a:off x="658368" y="180136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!!st0"/>
          <p:cNvSpPr txBox="1"/>
          <p:nvPr/>
        </p:nvSpPr>
        <p:spPr>
          <a:xfrm>
            <a:off x="1298448" y="1737360"/>
            <a:ext cx="10234879" cy="5705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Concept learning infers a yes/no function from examples by searching a hypothesis space — here, conjunctions of attribute constraints.</a:t>
            </a:r>
          </a:p>
        </p:txBody>
      </p:sp>
      <p:sp>
        <p:nvSpPr>
          <p:cNvPr id="10" name="!!s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99969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sbn1"/>
          <p:cNvSpPr txBox="1"/>
          <p:nvPr/>
        </p:nvSpPr>
        <p:spPr>
          <a:xfrm>
            <a:off x="658368" y="2554833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!!st1"/>
          <p:cNvSpPr txBox="1"/>
          <p:nvPr/>
        </p:nvSpPr>
        <p:spPr>
          <a:xfrm>
            <a:off x="1298448" y="2490825"/>
            <a:ext cx="10234879" cy="5705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Hypotheses are partially ordered from specific to general; the ordering lets a learner search without listing every hypothesis.</a:t>
            </a:r>
          </a:p>
        </p:txBody>
      </p:sp>
      <p:sp>
        <p:nvSpPr>
          <p:cNvPr id="13" name="!!s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25343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sbn2"/>
          <p:cNvSpPr txBox="1"/>
          <p:nvPr/>
        </p:nvSpPr>
        <p:spPr>
          <a:xfrm>
            <a:off x="658368" y="3308299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5" name="!!st2"/>
          <p:cNvSpPr txBox="1"/>
          <p:nvPr/>
        </p:nvSpPr>
        <p:spPr>
          <a:xfrm>
            <a:off x="1298448" y="3244291"/>
            <a:ext cx="10234879" cy="5705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Find-S returns the most specific hypothesis consistent with the positive examples, but cannot say whether it is the only one.</a:t>
            </a:r>
          </a:p>
        </p:txBody>
      </p:sp>
      <p:sp>
        <p:nvSpPr>
          <p:cNvPr id="16" name="!!s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00690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sbn3"/>
          <p:cNvSpPr txBox="1"/>
          <p:nvPr/>
        </p:nvSpPr>
        <p:spPr>
          <a:xfrm>
            <a:off x="658368" y="4061764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8" name="!!st3"/>
          <p:cNvSpPr txBox="1"/>
          <p:nvPr/>
        </p:nvSpPr>
        <p:spPr>
          <a:xfrm>
            <a:off x="1298448" y="3997756"/>
            <a:ext cx="10234879" cy="5705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The version space is every hypothesis consistent with the data; Candidate-Elimination represents it by its boundaries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, which positive and negative examples move towards each other.</a:t>
            </a:r>
          </a:p>
        </p:txBody>
      </p:sp>
      <p:sp>
        <p:nvSpPr>
          <p:cNvPr id="19" name="!!s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76036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sbn4"/>
          <p:cNvSpPr txBox="1"/>
          <p:nvPr/>
        </p:nvSpPr>
        <p:spPr>
          <a:xfrm>
            <a:off x="658368" y="481523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1" name="!!st4"/>
          <p:cNvSpPr txBox="1"/>
          <p:nvPr/>
        </p:nvSpPr>
        <p:spPr>
          <a:xfrm>
            <a:off x="1298448" y="4751222"/>
            <a:ext cx="10234879" cy="5705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A partially learned concept classifies by vote; the most informative query splits the version space in half.</a:t>
            </a:r>
          </a:p>
        </p:txBody>
      </p:sp>
      <p:sp>
        <p:nvSpPr>
          <p:cNvPr id="22" name="!!sb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513831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sbn5"/>
          <p:cNvSpPr txBox="1"/>
          <p:nvPr/>
        </p:nvSpPr>
        <p:spPr>
          <a:xfrm>
            <a:off x="658368" y="5568696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4" name="!!st5"/>
          <p:cNvSpPr txBox="1"/>
          <p:nvPr/>
        </p:nvSpPr>
        <p:spPr>
          <a:xfrm>
            <a:off x="1298448" y="5504688"/>
            <a:ext cx="10234879" cy="5705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Without an inductive bias there is no generalisation. The bias of Candidate-Elimination is that the target is in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— and it assumes noise-free data, which later chapters drop.</a:t>
            </a:r>
          </a:p>
        </p:txBody>
      </p:sp>
      <p:sp>
        <p:nvSpPr>
          <p:cNvPr id="7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10315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63" dur="2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1 of 3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8A3F35D9-57B7-4CBD-87CA-F946D8646DF1}" type="slidenum">
              <a:rPr lang="en-GB" sz="1000">
                <a:solidFill>
                  <a:srgbClr val="8795A1"/>
                </a:solidFill>
                <a:latin typeface="Segoe UI"/>
              </a:rPr>
              <a:t>52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4578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252B"/>
                </a:solidFill>
                <a:latin typeface="Segoe UI"/>
              </a:rPr>
              <a:t>Find-S ignores: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positive examples</a:t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negative examples</a:t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first example</a:t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nothing</a:t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32085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2 of 3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7779F334-09BB-401E-B831-23BAD263FAE2}" type="slidenum">
              <a:rPr lang="en-GB" sz="1000">
                <a:solidFill>
                  <a:srgbClr val="8795A1"/>
                </a:solidFill>
                <a:latin typeface="Segoe UI"/>
              </a:rPr>
              <a:t>53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4578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252B"/>
                </a:solidFill>
                <a:latin typeface="Segoe UI"/>
              </a:rPr>
              <a:t>A negative example can change: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C252B"/>
                </a:solidFill>
                <a:latin typeface="Cambria"/>
              </a:rPr>
              <a:t>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only</a:t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27133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only, though it may also remove members of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S</a:t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neither</a:t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hypothesis space</a:t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53856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3 of 3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293ACE08-114A-4D14-965A-6930472C268F}" type="slidenum">
              <a:rPr lang="en-GB" sz="1000">
                <a:solidFill>
                  <a:srgbClr val="8795A1"/>
                </a:solidFill>
                <a:latin typeface="Segoe UI"/>
              </a:rPr>
              <a:t>54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8698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252B"/>
                </a:solidFill>
                <a:latin typeface="Segoe UI"/>
              </a:rPr>
              <a:t>With 3 attributes of 3 values each, the number of semantically distinct conjunctive hypotheses is: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92729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2016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328391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327781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27</a:t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92729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2016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328391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327781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64</a:t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11601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439033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47263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46653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65</a:t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411601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439033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47263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46653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Cambria"/>
              </a:rPr>
              <a:t>2</a:t>
            </a:r>
            <a:r>
              <a:rPr sz="2000" b="0" i="0" baseline="30000">
                <a:solidFill>
                  <a:srgbClr val="1C252B"/>
                </a:solidFill>
                <a:latin typeface="Cambria"/>
              </a:rPr>
              <a:t>27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75627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For your notebook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QUESTIONS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37     </a:t>
            </a:r>
            <a:fld id="{6E883BEA-4C12-4C6D-8D50-1627E4A632C8}" type="slidenum">
              <a:rPr lang="en-GB" sz="1000">
                <a:solidFill>
                  <a:srgbClr val="8795A1"/>
                </a:solidFill>
                <a:latin typeface="Segoe UI"/>
              </a:rPr>
              <a:t>55</a:t>
            </a:fld>
          </a:p>
        </p:txBody>
      </p:sp>
      <p:sp>
        <p:nvSpPr>
          <p:cNvPr id="7" name="!!r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rtt0"/>
          <p:cNvSpPr txBox="1"/>
          <p:nvPr/>
        </p:nvSpPr>
        <p:spPr>
          <a:xfrm>
            <a:off x="658368" y="179679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9" name="!!rq0"/>
          <p:cNvSpPr txBox="1"/>
          <p:nvPr/>
        </p:nvSpPr>
        <p:spPr>
          <a:xfrm>
            <a:off x="1892807" y="1737360"/>
            <a:ext cx="95490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Define the version space, and explain why Candidate-Elimination does not need to list it.</a:t>
            </a:r>
          </a:p>
        </p:txBody>
      </p:sp>
      <p:sp>
        <p:nvSpPr>
          <p:cNvPr id="10" name="!!r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7738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tt1"/>
          <p:cNvSpPr txBox="1"/>
          <p:nvPr/>
        </p:nvSpPr>
        <p:spPr>
          <a:xfrm>
            <a:off x="658368" y="2618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12" name="!!rq1"/>
          <p:cNvSpPr txBox="1"/>
          <p:nvPr/>
        </p:nvSpPr>
        <p:spPr>
          <a:xfrm>
            <a:off x="1892807" y="2559100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State the inductive learning hypothesis. Why is it an assumption rather than a theorem?</a:t>
            </a:r>
          </a:p>
        </p:txBody>
      </p:sp>
      <p:sp>
        <p:nvSpPr>
          <p:cNvPr id="13" name="!!r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97987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rtt2"/>
          <p:cNvSpPr txBox="1"/>
          <p:nvPr/>
        </p:nvSpPr>
        <p:spPr>
          <a:xfrm>
            <a:off x="658368" y="313913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15" name="!!rq2"/>
          <p:cNvSpPr txBox="1"/>
          <p:nvPr/>
        </p:nvSpPr>
        <p:spPr>
          <a:xfrm>
            <a:off x="1892807" y="3079699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Explain how a single mislabelled training example affects Candidate-Elimination.</a:t>
            </a:r>
          </a:p>
        </p:txBody>
      </p:sp>
      <p:sp>
        <p:nvSpPr>
          <p:cNvPr id="16" name="!!r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18585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tt3"/>
          <p:cNvSpPr txBox="1"/>
          <p:nvPr/>
        </p:nvSpPr>
        <p:spPr>
          <a:xfrm>
            <a:off x="658368" y="365973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18" name="!!rq3"/>
          <p:cNvSpPr txBox="1"/>
          <p:nvPr/>
        </p:nvSpPr>
        <p:spPr>
          <a:xfrm>
            <a:off x="1892807" y="3600297"/>
            <a:ext cx="9549079" cy="90342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Trace Candidate-Elimination on the EnjoySport data presented in the order Day 3, Day 1, Day 2, Day 4. Is the final version space the same? Is any intermediate boundary different?</a:t>
            </a:r>
          </a:p>
        </p:txBody>
      </p:sp>
      <p:sp>
        <p:nvSpPr>
          <p:cNvPr id="19" name="!!r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74146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rtt4"/>
          <p:cNvSpPr txBox="1"/>
          <p:nvPr/>
        </p:nvSpPr>
        <p:spPr>
          <a:xfrm>
            <a:off x="658368" y="47826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21" name="!!rq4"/>
          <p:cNvSpPr txBox="1"/>
          <p:nvPr/>
        </p:nvSpPr>
        <p:spPr>
          <a:xfrm>
            <a:off x="1892807" y="4723180"/>
            <a:ext cx="9549079" cy="90342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For the final version space of this chapter, find an instance that splits the vote 2 to 4 other than the one in the worked example, and one that splits it 3 to 3. Explain why the second is the better query.</a:t>
            </a:r>
          </a:p>
        </p:txBody>
      </p:sp>
      <p:sp>
        <p:nvSpPr>
          <p:cNvPr id="2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97398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2C6081"/>
                </a:solidFill>
                <a:latin typeface="Segoe UI Black"/>
              </a:rPr>
              <a:t>04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1243584"/>
            <a:ext cx="8229600" cy="82296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000" b="0">
                <a:solidFill>
                  <a:srgbClr val="FFFFFF"/>
                </a:solidFill>
                <a:latin typeface="Segoe UI Semibold"/>
              </a:rPr>
              <a:t>End of Chapter 4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02412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c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cll0"/>
          <p:cNvSpPr txBox="1"/>
          <p:nvPr/>
        </p:nvSpPr>
        <p:spPr>
          <a:xfrm>
            <a:off x="932688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NEXT</a:t>
            </a:r>
          </a:p>
        </p:txBody>
      </p:sp>
      <p:sp>
        <p:nvSpPr>
          <p:cNvPr id="7" name="!!clv0"/>
          <p:cNvSpPr txBox="1"/>
          <p:nvPr/>
        </p:nvSpPr>
        <p:spPr>
          <a:xfrm>
            <a:off x="932688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Chapter 5 — Linear Regression</a:t>
            </a:r>
          </a:p>
        </p:txBody>
      </p:sp>
      <p:sp>
        <p:nvSpPr>
          <p:cNvPr id="8" name="!!c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ll1"/>
          <p:cNvSpPr txBox="1"/>
          <p:nvPr/>
        </p:nvSpPr>
        <p:spPr>
          <a:xfrm>
            <a:off x="6507327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READ</a:t>
            </a:r>
          </a:p>
        </p:txBody>
      </p:sp>
      <p:sp>
        <p:nvSpPr>
          <p:cNvPr id="10" name="!!clv1"/>
          <p:cNvSpPr txBox="1"/>
          <p:nvPr/>
        </p:nvSpPr>
        <p:spPr>
          <a:xfrm>
            <a:off x="6507327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Handout Chapter 4, pages 27–37</a:t>
            </a:r>
          </a:p>
        </p:txBody>
      </p:sp>
      <p:sp>
        <p:nvSpPr>
          <p:cNvPr id="11" name="!!c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ll2"/>
          <p:cNvSpPr txBox="1"/>
          <p:nvPr/>
        </p:nvSpPr>
        <p:spPr>
          <a:xfrm>
            <a:off x="932688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THIS WEEK'S LAB</a:t>
            </a:r>
          </a:p>
        </p:txBody>
      </p:sp>
      <p:sp>
        <p:nvSpPr>
          <p:cNvPr id="13" name="!!clv2"/>
          <p:cNvSpPr txBox="1"/>
          <p:nvPr/>
        </p:nvSpPr>
        <p:spPr>
          <a:xfrm>
            <a:off x="932688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Candidate elimination in forty lines</a:t>
            </a:r>
          </a:p>
        </p:txBody>
      </p:sp>
      <p:sp>
        <p:nvSpPr>
          <p:cNvPr id="14" name="!!c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cll3"/>
          <p:cNvSpPr txBox="1"/>
          <p:nvPr/>
        </p:nvSpPr>
        <p:spPr>
          <a:xfrm>
            <a:off x="6507327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ASSESSMENT</a:t>
            </a:r>
          </a:p>
        </p:txBody>
      </p:sp>
      <p:sp>
        <p:nvSpPr>
          <p:cNvPr id="16" name="!!clv3"/>
          <p:cNvSpPr txBox="1"/>
          <p:nvPr/>
        </p:nvSpPr>
        <p:spPr>
          <a:xfrm>
            <a:off x="6507327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Quiz 1 (Ch 1–3)</a:t>
            </a:r>
          </a:p>
        </p:txBody>
      </p:sp>
      <p:sp>
        <p:nvSpPr>
          <p:cNvPr id="1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Machine Learning  ·  Chapter 4  ·  Concept Learning and the Version Space</a:t>
            </a:r>
          </a:p>
        </p:txBody>
      </p:sp>
      <p:sp>
        <p:nvSpPr>
          <p:cNvPr id="1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fld id="{B406316A-16AE-457B-A70A-24BE0366B9EF}" type="slidenum">
              <a:rPr lang="en-GB" sz="1000">
                <a:solidFill>
                  <a:srgbClr val="D5DEE5"/>
                </a:solidFill>
                <a:latin typeface="Segoe UI"/>
              </a:rPr>
              <a:t>56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chine Learning Fall 2026">
  <a:themeElements>
    <a:clrScheme name="Machine Learning Fall 2026">
      <a:dk1>
        <a:srgbClr val="1C252B"/>
      </a:dk1>
      <a:lt1>
        <a:srgbClr val="FFFFFF"/>
      </a:lt1>
      <a:dk2>
        <a:srgbClr val="1A5276"/>
      </a:dk2>
      <a:lt2>
        <a:srgbClr val="EBF5FB"/>
      </a:lt2>
      <a:accent1>
        <a:srgbClr val="1A5276"/>
      </a:accent1>
      <a:accent2>
        <a:srgbClr val="2E86C1"/>
      </a:accent2>
      <a:accent3>
        <a:srgbClr val="E74C3C"/>
      </a:accent3>
      <a:accent4>
        <a:srgbClr val="27AE60"/>
      </a:accent4>
      <a:accent5>
        <a:srgbClr val="8E44AD"/>
      </a:accent5>
      <a:accent6>
        <a:srgbClr val="B7950B"/>
      </a:accent6>
      <a:hlink>
        <a:srgbClr val="2E86C1"/>
      </a:hlink>
      <a:folHlink>
        <a:srgbClr val="8E44AD"/>
      </a:folHlink>
    </a:clrScheme>
    <a:fontScheme name="Machine Learning Fall 2026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4: Concept Learning and the Version Space</dc:title>
  <dc:subject>Machine Learning — From Hypotheses to Decisions · BSIT · Fall 2026</dc:subject>
  <dc:creator>Dr. Mustafa Hameed</dc:creator>
  <cp:keywords>machine learning; lecture slides; BSIT; HEC; Fall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Lecture slides</cp:category>
</cp:coreProperties>
</file>