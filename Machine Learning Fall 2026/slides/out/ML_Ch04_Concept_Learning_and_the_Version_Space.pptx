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4A485C-A3C3-4280-9F90-8A95A0645718}">
          <p14:sldIdLst>
            <p14:sldId id="256"/>
            <p14:sldId id="257"/>
            <p14:sldId id="258"/>
            <p14:sldId id="259"/>
            <p14:sldId id="260"/>
          </p14:sldIdLst>
        </p14:section>
        <p14:section name="4.1 Concept Learning as a Task" id="{E8C5A0AD-F770-4B38-94B4-5310E8D54A69}">
          <p14:sldIdLst>
            <p14:sldId id="261"/>
            <p14:sldId id="262"/>
            <p14:sldId id="263"/>
            <p14:sldId id="264"/>
            <p14:sldId id="265"/>
          </p14:sldIdLst>
        </p14:section>
        <p14:section name="4.2 The Inductive Learning Hypothesis" id="{22F9DC32-B4EC-43EA-B13B-7556D4B81419}">
          <p14:sldIdLst>
            <p14:sldId id="266"/>
          </p14:sldIdLst>
        </p14:section>
        <p14:section name="4.3 The General-to-Specific Ordering" id="{F6D570F3-08DA-44C5-9CED-036A328EC191}">
          <p14:sldIdLst>
            <p14:sldId id="267"/>
            <p14:sldId id="268"/>
            <p14:sldId id="269"/>
          </p14:sldIdLst>
        </p14:section>
        <p14:section name="4.4 Find-S: The Most Specific Consistent Hypothesis" id="{7FAAB703-E46A-4B89-8227-7D10DF90550F}">
          <p14:sldIdLst>
            <p14:sldId id="270"/>
            <p14:sldId id="271"/>
            <p14:sldId id="272"/>
            <p14:sldId id="273"/>
          </p14:sldIdLst>
        </p14:section>
        <p14:section name="4.5 Version Spaces" id="{766E6361-133F-45CE-8ADF-E7713CB7E1CF}">
          <p14:sldIdLst>
            <p14:sldId id="274"/>
          </p14:sldIdLst>
        </p14:section>
        <p14:section name="4.6 The Candidate-Elimination Algorithm" id="{C27A6383-087B-4C72-84BF-DE2E67D81848}">
          <p14:sldIdLst>
            <p14:sldId id="275"/>
            <p14:sldId id="276"/>
            <p14:sldId id="277"/>
            <p14:sldId id="278"/>
            <p14:sldId id="279"/>
            <p14:sldId id="280"/>
            <p14:sldId id="281"/>
            <p14:sldId id="282"/>
          </p14:sldIdLst>
        </p14:section>
        <p14:section name="4.7 Using a Partially Learned Concept" id="{E537DF48-204C-4F0B-BEB0-97A6FDE3D90D}">
          <p14:sldIdLst>
            <p14:sldId id="283"/>
          </p14:sldIdLst>
        </p14:section>
        <p14:section name="4.8 Inductive Bias" id="{1090FAC5-57CB-4153-8FD7-7843E9FF0399}">
          <p14:sldIdLst>
            <p14:sldId id="284"/>
            <p14:sldId id="285"/>
            <p14:sldId id="286"/>
            <p14:sldId id="287"/>
          </p14:sldIdLst>
        </p14:section>
        <p14:section name="Pitfalls" id="{413E6667-7043-4ED9-B203-57F75EE9BD9F}">
          <p14:sldIdLst>
            <p14:sldId id="288"/>
          </p14:sldIdLst>
        </p14:section>
        <p14:section name="Lab" id="{58608FB2-51D2-4FC3-90E1-BFB25BBA512D}">
          <p14:sldIdLst>
            <p14:sldId id="289"/>
            <p14:sldId id="290"/>
            <p14:sldId id="291"/>
            <p14:sldId id="292"/>
            <p14:sldId id="293"/>
            <p14:sldId id="294"/>
            <p14:sldId id="295"/>
          </p14:sldIdLst>
        </p14:section>
        <p14:section name="Checkpoint" id="{FFD7456B-A8AD-4B6F-B99B-C93971A03C56}">
          <p14:sldIdLst>
            <p14:sldId id="296"/>
            <p14:sldId id="297"/>
            <p14:sldId id="298"/>
            <p14:sldId id="299"/>
            <p14:sldId id="300"/>
            <p14:sldId id="301"/>
          </p14:sldIdLst>
        </p14:section>
        <p14:section name="Wrap-up" id="{AB1E15B3-54A4-44C7-9700-03C41FE2E67E}">
          <p14:sldIdLst>
            <p14:sldId id="302"/>
            <p14:sldId id="303"/>
            <p14:sldId id="304"/>
            <p14:sldId id="305"/>
            <p14:sldId id="306"/>
            <p14:sldId id="30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Concept Learning and the Version Space. Part 1 — Foundations. Week 3: Concept learning and the version space. Handout pages 26–36.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(hypotheses, hypothesis spaces and inductive bias, introduced informally in Figure 1.3). This chapter makes those ideas exact.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concept learning; instance space; target concept; attribute constraint; consistent hypothesis; more-general-than-or-equal-to; Find-S; version space; List-Then-Eliminate; general boundary G; specific boundary S; Candidate-Elimination; query; unbiased learner; inductive bias.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 of learning is learning a category: which releases are ready to ship, which tasks will slip, which tickets are urgent. Each such category is a concept, and it can be described as a yes/no function over the things being classified.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running example of this chapter is a change advisory board, which decides whether each software release may go to production. Each release is described by six attributes, and four of the board’s decisions have been observed. (The table is Mitchell’s EnjoySport example with its attributes renamed, so every number in this chapter can be checked against the set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 is Pass, Flaky or Fail; Review is Done or Pending; Docs is Complete or Partial; Rollback (a tested plan to undo the release) is Ready or None; Traffic, the load expected at release time, is Quiet or Peak; and Scope records whether the scope has Changed since the last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learner sees only the training examples. The best it can guarantee is a hypothesis that fits them. Everything rests on an assumption, which Mitchell names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Hypotheses are not an unordered heap. Some are strictly more permissive than others, and that structure is what makes efficient search possible.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4.1 (handout p. 28): The more-general-than ordering. A more general hypothesis covers a superset of the instances; hypotheses whose covered sets merely overlap, like h1 and h3, are not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algorithm that uses the ordering starts at the most specific hypothesis and generalises only as far as each positive example forces it 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way to find it is List-Then-Eliminate: write down every hypothesis in H, and for each training example cross out the ones it contradicts. What remains is the version space. For this example’s 973 hypotheses this is feasible; for any realistic hypothesis space it is not. The trick of the next section is that the version space never needs to be listed — two boundaries are enough.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4.2 (handout p. 30): The version space is everything between the two boundaries. Each example moves one boundary towards the other; if they meet, the concept has been learned exactly.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4.3 (handout p. 30): The final version space for the release decisions: two maximally general hypotheses, one maximally specific one, and the three between them. A line joins each pair related by ≥g.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examples have not pinned the concept down: six hypotheses survive. They can still classify new releases, by voting.</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stop at conjunctions? Why not use a hypothesis space that can express every one of the 296 possible concepts, so that the target is certainly in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can be ranked by the strength of their bias. A rote learner, which stores examples and classifies only exact matches, has no bias and never generalises. Candidate-Elimination assumes the target is in H, and classifies a new instance only when the whole version space agrees. Find-S assumes that as well, and in addition that every instance is negative unless the evidence forces it to be positive — a stronger bias, so it classifies everything. Every algorithm in the rest of this course has a bias, and its chapter names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of this chapter, run: Find-S, the boundary trace of the worked example, and a brute-force check of the version space by listing every hypothesis.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Find-S.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Candidate-Elimination.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Brute force: list every hypothesis, keep the consistent ones.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Yes: any release satisfying ⟨Pass, Done, ?, Ready, ?, ?⟩ also satisfies ⟨Pass, ?, ?, Ready, ?, ?⟩. The reverse is false: a release whose tests pass and whose rollback is ready, but whose review is still pending, satisfies the first but not the second.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⟨Pass, Done, ?, Ready, Quiet, Same⟩ — the hypothesis after Release 2, since Release 3 is negative and ignored.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For each concept in its version space that labels the unseen instance positive, there is another, identical except for that instance, labelling it negative; both are consistent with the training data. The votes are always equal.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5 — Linear Regression. READ: Handout Chapter 4, pages 26–36. THIS WEEK'S LAB: Candidate elimination in forty lines. ASSESSMENT: Quiz 1 (Ch 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9.xml"/><Relationship Id="rId10" Type="http://schemas.openxmlformats.org/officeDocument/2006/relationships/slide" Target="slide20.xml"/><Relationship Id="rId11" Type="http://schemas.openxmlformats.org/officeDocument/2006/relationships/slide" Target="slide28.xml"/><Relationship Id="rId12" Type="http://schemas.openxmlformats.org/officeDocument/2006/relationships/slide" Target="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3.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3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33.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3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3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38.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9.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40.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6.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7.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8.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3.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4.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5.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Concept Learning and the Version Space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4  ·  WEEK 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26     </a:t>
            </a:r>
            <a:fld id="{BB142476-2676-48B8-AF22-6497F3908245}" type="slidenum">
              <a:rPr lang="en-GB" sz="1000">
                <a:solidFill>
                  <a:srgbClr val="8795A1"/>
                </a:solidFill>
                <a:latin typeface="Segoe UI"/>
              </a:rPr>
              <a:t>2</a:t>
            </a:fld>
          </a:p>
        </p:txBody>
      </p:sp>
      <p:sp>
        <p:nvSpPr>
          <p:cNvPr id="7" name="!!rp1"/>
          <p:cNvSpPr txBox="1"/>
          <p:nvPr/>
        </p:nvSpPr>
        <p:spPr>
          <a:xfrm>
            <a:off x="777239" y="1755648"/>
            <a:ext cx="173869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738690"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00562"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00562"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55134"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05513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5978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68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6931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778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Concept Learning and the Version Space</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Machine Learning Is</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chipUS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bUS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tUS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Decision Tree Learning</a:t>
            </a:r>
          </a:p>
        </p:txBody>
      </p:sp>
      <p:sp>
        <p:nvSpPr>
          <p:cNvPr id="7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pfill">
            <a:extLst>
              <a:ext uri="{C183D7F6-B498-43B3-948B-1728B52AA6E4}">
                <adec:decorative xmlns:adec="http://schemas.microsoft.com/office/drawing/2017/decorative" val="1"/>
              </a:ext>
            </a:extLst>
          </p:cNvPr>
          <p:cNvSpPr/>
          <p:nvPr/>
        </p:nvSpPr>
        <p:spPr>
          <a:xfrm>
            <a:off x="0" y="0"/>
            <a:ext cx="4689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26     </a:t>
            </a:r>
            <a:fld id="{1387C463-ADEF-4CCD-A6B3-C5C52A792217}"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Represent</a:t>
            </a:r>
            <a:r>
              <a:rPr sz="2100" b="0" i="0">
                <a:solidFill>
                  <a:srgbClr val="1C252B"/>
                </a:solidFill>
                <a:latin typeface="Segoe UI"/>
              </a:rPr>
              <a:t> a concept as a conjunction of attribute constraints, and </a:t>
            </a:r>
            <a:r>
              <a:rPr sz="2100" b="1" i="0">
                <a:solidFill>
                  <a:srgbClr val="1C252B"/>
                </a:solidFill>
                <a:latin typeface="Segoe UI"/>
              </a:rPr>
              <a:t>order</a:t>
            </a:r>
            <a:r>
              <a:rPr sz="2100" b="0" i="0">
                <a:solidFill>
                  <a:srgbClr val="1C252B"/>
                </a:solidFill>
                <a:latin typeface="Segoe UI"/>
              </a:rPr>
              <a:t> hypotheses from specific to general.</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Trace</a:t>
            </a:r>
            <a:r>
              <a:rPr sz="2100" b="0" i="0">
                <a:solidFill>
                  <a:srgbClr val="1C252B"/>
                </a:solidFill>
                <a:latin typeface="Segoe UI"/>
              </a:rPr>
              <a:t> the Find-S algorithm on a set of training examples, and </a:t>
            </a:r>
            <a:r>
              <a:rPr sz="2100" b="1" i="0">
                <a:solidFill>
                  <a:srgbClr val="1C252B"/>
                </a:solidFill>
                <a:latin typeface="Segoe UI"/>
              </a:rPr>
              <a:t>state</a:t>
            </a:r>
            <a:r>
              <a:rPr sz="2100" b="0" i="0">
                <a:solidFill>
                  <a:srgbClr val="1C252B"/>
                </a:solidFill>
                <a:latin typeface="Segoe UI"/>
              </a:rPr>
              <a:t> its limitations.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Define</a:t>
            </a:r>
            <a:r>
              <a:rPr sz="2100" b="0" i="0">
                <a:solidFill>
                  <a:srgbClr val="1C252B"/>
                </a:solidFill>
                <a:latin typeface="Segoe UI"/>
              </a:rPr>
              <a:t> the version space, and </a:t>
            </a:r>
            <a:r>
              <a:rPr sz="2100" b="1" i="0">
                <a:solidFill>
                  <a:srgbClr val="1C252B"/>
                </a:solidFill>
                <a:latin typeface="Segoe UI"/>
              </a:rPr>
              <a:t>trace</a:t>
            </a:r>
            <a:r>
              <a:rPr sz="2100" b="0" i="0">
                <a:solidFill>
                  <a:srgbClr val="1C252B"/>
                </a:solidFill>
                <a:latin typeface="Segoe UI"/>
              </a:rPr>
              <a:t> the Candidate-Elimination algorithm through the </a:t>
            </a:r>
            <a:r>
              <a:rPr sz="2100" b="0" i="1">
                <a:solidFill>
                  <a:srgbClr val="1C252B"/>
                </a:solidFill>
                <a:latin typeface="Cambria"/>
              </a:rPr>
              <a:t>S</a:t>
            </a:r>
            <a:r>
              <a:rPr sz="2100" b="0" i="0">
                <a:solidFill>
                  <a:srgbClr val="1C252B"/>
                </a:solidFill>
                <a:latin typeface="Segoe UI"/>
              </a:rPr>
              <a:t> and </a:t>
            </a:r>
            <a:r>
              <a:rPr sz="2100" b="0" i="1">
                <a:solidFill>
                  <a:srgbClr val="1C252B"/>
                </a:solidFill>
                <a:latin typeface="Cambria"/>
              </a:rPr>
              <a:t>G</a:t>
            </a:r>
            <a:r>
              <a:rPr sz="2100" b="0" i="0">
                <a:solidFill>
                  <a:srgbClr val="1C252B"/>
                </a:solidFill>
                <a:latin typeface="Segoe UI"/>
              </a:rPr>
              <a:t> boundaries by hand.</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Classify</a:t>
            </a:r>
            <a:r>
              <a:rPr sz="2100" b="0" i="0">
                <a:solidFill>
                  <a:srgbClr val="1C252B"/>
                </a:solidFill>
                <a:latin typeface="Segoe UI"/>
              </a:rPr>
              <a:t> a new instance with a partially learned concept, and </a:t>
            </a:r>
            <a:r>
              <a:rPr sz="2100" b="1" i="0">
                <a:solidFill>
                  <a:srgbClr val="1C252B"/>
                </a:solidFill>
                <a:latin typeface="Segoe UI"/>
              </a:rPr>
              <a:t>choose</a:t>
            </a:r>
            <a:r>
              <a:rPr sz="2100" b="0" i="0">
                <a:solidFill>
                  <a:srgbClr val="1C252B"/>
                </a:solidFill>
                <a:latin typeface="Segoe UI"/>
              </a:rPr>
              <a:t> the most informative query.</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an unbiased learner cannot generalise, and </a:t>
            </a:r>
            <a:r>
              <a:rPr sz="2100" b="1" i="0">
                <a:solidFill>
                  <a:srgbClr val="1C252B"/>
                </a:solidFill>
                <a:latin typeface="Segoe UI"/>
              </a:rPr>
              <a:t>state</a:t>
            </a:r>
            <a:r>
              <a:rPr sz="2100" b="0" i="0">
                <a:solidFill>
                  <a:srgbClr val="1C252B"/>
                </a:solidFill>
                <a:latin typeface="Segoe UI"/>
              </a:rPr>
              <a:t> the inductive bias of Candidate-Elimination.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033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26     </a:t>
            </a:r>
            <a:fld id="{2FC22AD9-0AD7-4408-B461-184D4971BAE0}" type="slidenum">
              <a:rPr lang="en-GB" sz="1000">
                <a:solidFill>
                  <a:srgbClr val="8795A1"/>
                </a:solidFill>
                <a:latin typeface="Segoe UI"/>
              </a:rPr>
              <a:t>4</a:t>
            </a:fld>
          </a:p>
        </p:txBody>
      </p:sp>
      <p:sp>
        <p:nvSpPr>
          <p:cNvPr id="7" name="!!term-concept learni">
            <a:extLst>
              <a:ext uri="{C183D7F6-B498-43B3-948B-1728B52AA6E4}">
                <adec:decorative xmlns:adec="http://schemas.microsoft.com/office/drawing/2017/decorative" val="1"/>
              </a:ext>
            </a:extLst>
          </p:cNvPr>
          <p:cNvSpPr/>
          <p:nvPr/>
        </p:nvSpPr>
        <p:spPr>
          <a:xfrm>
            <a:off x="658368" y="1847088"/>
            <a:ext cx="19695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ncept learn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ncept learni"/>
          <p:cNvSpPr txBox="1"/>
          <p:nvPr/>
        </p:nvSpPr>
        <p:spPr>
          <a:xfrm>
            <a:off x="950976" y="1962911"/>
            <a:ext cx="178667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concept learning</a:t>
            </a:r>
          </a:p>
        </p:txBody>
      </p:sp>
      <p:sp>
        <p:nvSpPr>
          <p:cNvPr id="10" name="!!term-instance space">
            <a:extLst>
              <a:ext uri="{C183D7F6-B498-43B3-948B-1728B52AA6E4}">
                <adec:decorative xmlns:adec="http://schemas.microsoft.com/office/drawing/2017/decorative" val="1"/>
              </a:ext>
            </a:extLst>
          </p:cNvPr>
          <p:cNvSpPr/>
          <p:nvPr/>
        </p:nvSpPr>
        <p:spPr>
          <a:xfrm>
            <a:off x="2774222" y="1847088"/>
            <a:ext cx="17676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instance space">
            <a:extLst>
              <a:ext uri="{C183D7F6-B498-43B3-948B-1728B52AA6E4}">
                <adec:decorative xmlns:adec="http://schemas.microsoft.com/office/drawing/2017/decorative" val="1"/>
              </a:ext>
            </a:extLst>
          </p:cNvPr>
          <p:cNvSpPr/>
          <p:nvPr/>
        </p:nvSpPr>
        <p:spPr>
          <a:xfrm>
            <a:off x="290223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instance space"/>
          <p:cNvSpPr txBox="1"/>
          <p:nvPr/>
        </p:nvSpPr>
        <p:spPr>
          <a:xfrm>
            <a:off x="3066830" y="1962911"/>
            <a:ext cx="158475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instance space</a:t>
            </a:r>
          </a:p>
        </p:txBody>
      </p:sp>
      <p:sp>
        <p:nvSpPr>
          <p:cNvPr id="13" name="!!term-target concept">
            <a:extLst>
              <a:ext uri="{C183D7F6-B498-43B3-948B-1728B52AA6E4}">
                <adec:decorative xmlns:adec="http://schemas.microsoft.com/office/drawing/2017/decorative" val="1"/>
              </a:ext>
            </a:extLst>
          </p:cNvPr>
          <p:cNvSpPr/>
          <p:nvPr/>
        </p:nvSpPr>
        <p:spPr>
          <a:xfrm>
            <a:off x="4688165" y="1847088"/>
            <a:ext cx="17751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arget concept">
            <a:extLst>
              <a:ext uri="{C183D7F6-B498-43B3-948B-1728B52AA6E4}">
                <adec:decorative xmlns:adec="http://schemas.microsoft.com/office/drawing/2017/decorative" val="1"/>
              </a:ext>
            </a:extLst>
          </p:cNvPr>
          <p:cNvSpPr/>
          <p:nvPr/>
        </p:nvSpPr>
        <p:spPr>
          <a:xfrm>
            <a:off x="481618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arget concept"/>
          <p:cNvSpPr txBox="1"/>
          <p:nvPr/>
        </p:nvSpPr>
        <p:spPr>
          <a:xfrm>
            <a:off x="4980773" y="1962911"/>
            <a:ext cx="15922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target concept</a:t>
            </a:r>
          </a:p>
        </p:txBody>
      </p:sp>
      <p:sp>
        <p:nvSpPr>
          <p:cNvPr id="16" name="!!term-attribute cons">
            <a:extLst>
              <a:ext uri="{C183D7F6-B498-43B3-948B-1728B52AA6E4}">
                <adec:decorative xmlns:adec="http://schemas.microsoft.com/office/drawing/2017/decorative" val="1"/>
              </a:ext>
            </a:extLst>
          </p:cNvPr>
          <p:cNvSpPr/>
          <p:nvPr/>
        </p:nvSpPr>
        <p:spPr>
          <a:xfrm>
            <a:off x="6609570" y="1847088"/>
            <a:ext cx="21898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attribute cons">
            <a:extLst>
              <a:ext uri="{C183D7F6-B498-43B3-948B-1728B52AA6E4}">
                <adec:decorative xmlns:adec="http://schemas.microsoft.com/office/drawing/2017/decorative" val="1"/>
              </a:ext>
            </a:extLst>
          </p:cNvPr>
          <p:cNvSpPr/>
          <p:nvPr/>
        </p:nvSpPr>
        <p:spPr>
          <a:xfrm>
            <a:off x="673758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attribute cons"/>
          <p:cNvSpPr txBox="1"/>
          <p:nvPr/>
        </p:nvSpPr>
        <p:spPr>
          <a:xfrm>
            <a:off x="6902178" y="1962911"/>
            <a:ext cx="200697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attribute constraint</a:t>
            </a:r>
          </a:p>
        </p:txBody>
      </p:sp>
      <p:sp>
        <p:nvSpPr>
          <p:cNvPr id="19" name="!!term-consistent hyp">
            <a:extLst>
              <a:ext uri="{C183D7F6-B498-43B3-948B-1728B52AA6E4}">
                <adec:decorative xmlns:adec="http://schemas.microsoft.com/office/drawing/2017/decorative" val="1"/>
              </a:ext>
            </a:extLst>
          </p:cNvPr>
          <p:cNvSpPr/>
          <p:nvPr/>
        </p:nvSpPr>
        <p:spPr>
          <a:xfrm>
            <a:off x="8945726" y="1847088"/>
            <a:ext cx="24051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consistent hyp">
            <a:extLst>
              <a:ext uri="{C183D7F6-B498-43B3-948B-1728B52AA6E4}">
                <adec:decorative xmlns:adec="http://schemas.microsoft.com/office/drawing/2017/decorative" val="1"/>
              </a:ext>
            </a:extLst>
          </p:cNvPr>
          <p:cNvSpPr/>
          <p:nvPr/>
        </p:nvSpPr>
        <p:spPr>
          <a:xfrm>
            <a:off x="90737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consistent hyp"/>
          <p:cNvSpPr txBox="1"/>
          <p:nvPr/>
        </p:nvSpPr>
        <p:spPr>
          <a:xfrm>
            <a:off x="9238334" y="1962911"/>
            <a:ext cx="222231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consistent hypothesis</a:t>
            </a:r>
          </a:p>
        </p:txBody>
      </p:sp>
      <p:sp>
        <p:nvSpPr>
          <p:cNvPr id="22" name="!!term-more-general-t">
            <a:extLst>
              <a:ext uri="{C183D7F6-B498-43B3-948B-1728B52AA6E4}">
                <adec:decorative xmlns:adec="http://schemas.microsoft.com/office/drawing/2017/decorative" val="1"/>
              </a:ext>
            </a:extLst>
          </p:cNvPr>
          <p:cNvSpPr/>
          <p:nvPr/>
        </p:nvSpPr>
        <p:spPr>
          <a:xfrm>
            <a:off x="658368" y="2468880"/>
            <a:ext cx="33167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ore-general-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ore-general-t"/>
          <p:cNvSpPr txBox="1"/>
          <p:nvPr/>
        </p:nvSpPr>
        <p:spPr>
          <a:xfrm>
            <a:off x="950976" y="2584704"/>
            <a:ext cx="313382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more-general-than-or-equal-to</a:t>
            </a:r>
          </a:p>
        </p:txBody>
      </p:sp>
      <p:sp>
        <p:nvSpPr>
          <p:cNvPr id="25" name="!!term-Find-S">
            <a:extLst>
              <a:ext uri="{C183D7F6-B498-43B3-948B-1728B52AA6E4}">
                <adec:decorative xmlns:adec="http://schemas.microsoft.com/office/drawing/2017/decorative" val="1"/>
              </a:ext>
            </a:extLst>
          </p:cNvPr>
          <p:cNvSpPr/>
          <p:nvPr/>
        </p:nvSpPr>
        <p:spPr>
          <a:xfrm>
            <a:off x="4121379" y="2468880"/>
            <a:ext cx="10225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Find-S">
            <a:extLst>
              <a:ext uri="{C183D7F6-B498-43B3-948B-1728B52AA6E4}">
                <adec:decorative xmlns:adec="http://schemas.microsoft.com/office/drawing/2017/decorative" val="1"/>
              </a:ext>
            </a:extLst>
          </p:cNvPr>
          <p:cNvSpPr/>
          <p:nvPr/>
        </p:nvSpPr>
        <p:spPr>
          <a:xfrm>
            <a:off x="42493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Find-S"/>
          <p:cNvSpPr txBox="1"/>
          <p:nvPr/>
        </p:nvSpPr>
        <p:spPr>
          <a:xfrm>
            <a:off x="4413987" y="2584704"/>
            <a:ext cx="83968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Find-S</a:t>
            </a:r>
          </a:p>
        </p:txBody>
      </p:sp>
      <p:sp>
        <p:nvSpPr>
          <p:cNvPr id="28" name="!!term-version space">
            <a:extLst>
              <a:ext uri="{C183D7F6-B498-43B3-948B-1728B52AA6E4}">
                <adec:decorative xmlns:adec="http://schemas.microsoft.com/office/drawing/2017/decorative" val="1"/>
              </a:ext>
            </a:extLst>
          </p:cNvPr>
          <p:cNvSpPr/>
          <p:nvPr/>
        </p:nvSpPr>
        <p:spPr>
          <a:xfrm>
            <a:off x="5290251" y="2468880"/>
            <a:ext cx="16716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version space">
            <a:extLst>
              <a:ext uri="{C183D7F6-B498-43B3-948B-1728B52AA6E4}">
                <adec:decorative xmlns:adec="http://schemas.microsoft.com/office/drawing/2017/decorative" val="1"/>
              </a:ext>
            </a:extLst>
          </p:cNvPr>
          <p:cNvSpPr/>
          <p:nvPr/>
        </p:nvSpPr>
        <p:spPr>
          <a:xfrm>
            <a:off x="541826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version space"/>
          <p:cNvSpPr txBox="1"/>
          <p:nvPr/>
        </p:nvSpPr>
        <p:spPr>
          <a:xfrm>
            <a:off x="5582859" y="2584704"/>
            <a:ext cx="148879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version space</a:t>
            </a:r>
          </a:p>
        </p:txBody>
      </p:sp>
      <p:sp>
        <p:nvSpPr>
          <p:cNvPr id="31" name="!!term-List-Then-Elim">
            <a:extLst>
              <a:ext uri="{C183D7F6-B498-43B3-948B-1728B52AA6E4}">
                <adec:decorative xmlns:adec="http://schemas.microsoft.com/office/drawing/2017/decorative" val="1"/>
              </a:ext>
            </a:extLst>
          </p:cNvPr>
          <p:cNvSpPr/>
          <p:nvPr/>
        </p:nvSpPr>
        <p:spPr>
          <a:xfrm>
            <a:off x="7108234" y="2468880"/>
            <a:ext cx="21973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List-Then-Elim">
            <a:extLst>
              <a:ext uri="{C183D7F6-B498-43B3-948B-1728B52AA6E4}">
                <adec:decorative xmlns:adec="http://schemas.microsoft.com/office/drawing/2017/decorative" val="1"/>
              </a:ext>
            </a:extLst>
          </p:cNvPr>
          <p:cNvSpPr/>
          <p:nvPr/>
        </p:nvSpPr>
        <p:spPr>
          <a:xfrm>
            <a:off x="72362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List-Then-Elim"/>
          <p:cNvSpPr txBox="1"/>
          <p:nvPr/>
        </p:nvSpPr>
        <p:spPr>
          <a:xfrm>
            <a:off x="7400842" y="2584704"/>
            <a:ext cx="20144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List-Then-Eliminate</a:t>
            </a:r>
          </a:p>
        </p:txBody>
      </p:sp>
      <p:sp>
        <p:nvSpPr>
          <p:cNvPr id="34" name="!!term-general bounda">
            <a:extLst>
              <a:ext uri="{C183D7F6-B498-43B3-948B-1728B52AA6E4}">
                <adec:decorative xmlns:adec="http://schemas.microsoft.com/office/drawing/2017/decorative" val="1"/>
              </a:ext>
            </a:extLst>
          </p:cNvPr>
          <p:cNvSpPr/>
          <p:nvPr/>
        </p:nvSpPr>
        <p:spPr>
          <a:xfrm>
            <a:off x="658368" y="3090672"/>
            <a:ext cx="22567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general bounda">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general bounda"/>
          <p:cNvSpPr txBox="1"/>
          <p:nvPr/>
        </p:nvSpPr>
        <p:spPr>
          <a:xfrm>
            <a:off x="950976" y="3206496"/>
            <a:ext cx="20738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general boundary G</a:t>
            </a:r>
          </a:p>
        </p:txBody>
      </p:sp>
      <p:sp>
        <p:nvSpPr>
          <p:cNvPr id="37" name="!!term-specific bound">
            <a:extLst>
              <a:ext uri="{C183D7F6-B498-43B3-948B-1728B52AA6E4}">
                <adec:decorative xmlns:adec="http://schemas.microsoft.com/office/drawing/2017/decorative" val="1"/>
              </a:ext>
            </a:extLst>
          </p:cNvPr>
          <p:cNvSpPr/>
          <p:nvPr/>
        </p:nvSpPr>
        <p:spPr>
          <a:xfrm>
            <a:off x="3061418" y="3090672"/>
            <a:ext cx="22155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pecific bound">
            <a:extLst>
              <a:ext uri="{C183D7F6-B498-43B3-948B-1728B52AA6E4}">
                <adec:decorative xmlns:adec="http://schemas.microsoft.com/office/drawing/2017/decorative" val="1"/>
              </a:ext>
            </a:extLst>
          </p:cNvPr>
          <p:cNvSpPr/>
          <p:nvPr/>
        </p:nvSpPr>
        <p:spPr>
          <a:xfrm>
            <a:off x="318943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pecific bound"/>
          <p:cNvSpPr txBox="1"/>
          <p:nvPr/>
        </p:nvSpPr>
        <p:spPr>
          <a:xfrm>
            <a:off x="3354026" y="3206496"/>
            <a:ext cx="203262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specific boundary S</a:t>
            </a:r>
          </a:p>
        </p:txBody>
      </p:sp>
      <p:sp>
        <p:nvSpPr>
          <p:cNvPr id="40" name="!!term-Candidate-Elim">
            <a:extLst>
              <a:ext uri="{C183D7F6-B498-43B3-948B-1728B52AA6E4}">
                <adec:decorative xmlns:adec="http://schemas.microsoft.com/office/drawing/2017/decorative" val="1"/>
              </a:ext>
            </a:extLst>
          </p:cNvPr>
          <p:cNvSpPr/>
          <p:nvPr/>
        </p:nvSpPr>
        <p:spPr>
          <a:xfrm>
            <a:off x="5423224" y="3090672"/>
            <a:ext cx="24671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andidate-Elim">
            <a:extLst>
              <a:ext uri="{C183D7F6-B498-43B3-948B-1728B52AA6E4}">
                <adec:decorative xmlns:adec="http://schemas.microsoft.com/office/drawing/2017/decorative" val="1"/>
              </a:ext>
            </a:extLst>
          </p:cNvPr>
          <p:cNvSpPr/>
          <p:nvPr/>
        </p:nvSpPr>
        <p:spPr>
          <a:xfrm>
            <a:off x="555124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andidate-Elim"/>
          <p:cNvSpPr txBox="1"/>
          <p:nvPr/>
        </p:nvSpPr>
        <p:spPr>
          <a:xfrm>
            <a:off x="5715832" y="3206496"/>
            <a:ext cx="22842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Candidate-Elimination</a:t>
            </a:r>
          </a:p>
        </p:txBody>
      </p:sp>
      <p:sp>
        <p:nvSpPr>
          <p:cNvPr id="43" name="!!term-query">
            <a:extLst>
              <a:ext uri="{C183D7F6-B498-43B3-948B-1728B52AA6E4}">
                <adec:decorative xmlns:adec="http://schemas.microsoft.com/office/drawing/2017/decorative" val="1"/>
              </a:ext>
            </a:extLst>
          </p:cNvPr>
          <p:cNvSpPr/>
          <p:nvPr/>
        </p:nvSpPr>
        <p:spPr>
          <a:xfrm>
            <a:off x="8036699" y="3090672"/>
            <a:ext cx="9592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query">
            <a:extLst>
              <a:ext uri="{C183D7F6-B498-43B3-948B-1728B52AA6E4}">
                <adec:decorative xmlns:adec="http://schemas.microsoft.com/office/drawing/2017/decorative" val="1"/>
              </a:ext>
            </a:extLst>
          </p:cNvPr>
          <p:cNvSpPr/>
          <p:nvPr/>
        </p:nvSpPr>
        <p:spPr>
          <a:xfrm>
            <a:off x="816471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query"/>
          <p:cNvSpPr txBox="1"/>
          <p:nvPr/>
        </p:nvSpPr>
        <p:spPr>
          <a:xfrm>
            <a:off x="8329307" y="3206496"/>
            <a:ext cx="7763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query</a:t>
            </a:r>
          </a:p>
        </p:txBody>
      </p:sp>
      <p:sp>
        <p:nvSpPr>
          <p:cNvPr id="46" name="!!term-unbiased learn">
            <a:extLst>
              <a:ext uri="{C183D7F6-B498-43B3-948B-1728B52AA6E4}">
                <adec:decorative xmlns:adec="http://schemas.microsoft.com/office/drawing/2017/decorative" val="1"/>
              </a:ext>
            </a:extLst>
          </p:cNvPr>
          <p:cNvSpPr/>
          <p:nvPr/>
        </p:nvSpPr>
        <p:spPr>
          <a:xfrm>
            <a:off x="9142277" y="3090672"/>
            <a:ext cx="19602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unbiased learn">
            <a:extLst>
              <a:ext uri="{C183D7F6-B498-43B3-948B-1728B52AA6E4}">
                <adec:decorative xmlns:adec="http://schemas.microsoft.com/office/drawing/2017/decorative" val="1"/>
              </a:ext>
            </a:extLst>
          </p:cNvPr>
          <p:cNvSpPr/>
          <p:nvPr/>
        </p:nvSpPr>
        <p:spPr>
          <a:xfrm>
            <a:off x="927029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unbiased learn"/>
          <p:cNvSpPr txBox="1"/>
          <p:nvPr/>
        </p:nvSpPr>
        <p:spPr>
          <a:xfrm>
            <a:off x="9434885" y="3206496"/>
            <a:ext cx="177734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unbiased learner</a:t>
            </a:r>
          </a:p>
        </p:txBody>
      </p:sp>
      <p:sp>
        <p:nvSpPr>
          <p:cNvPr id="49" name="!!term-inductive bias">
            <a:extLst>
              <a:ext uri="{C183D7F6-B498-43B3-948B-1728B52AA6E4}">
                <adec:decorative xmlns:adec="http://schemas.microsoft.com/office/drawing/2017/decorative" val="1"/>
              </a:ext>
            </a:extLst>
          </p:cNvPr>
          <p:cNvSpPr/>
          <p:nvPr/>
        </p:nvSpPr>
        <p:spPr>
          <a:xfrm>
            <a:off x="658368" y="3712464"/>
            <a:ext cx="16918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inductive bias">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inductive bias"/>
          <p:cNvSpPr txBox="1"/>
          <p:nvPr/>
        </p:nvSpPr>
        <p:spPr>
          <a:xfrm>
            <a:off x="950976" y="3828288"/>
            <a:ext cx="150892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inductive bias</a:t>
            </a:r>
          </a:p>
        </p:txBody>
      </p:sp>
      <p:sp>
        <p:nvSpPr>
          <p:cNvPr id="52"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9378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26–36     </a:t>
            </a:r>
            <a:fld id="{B9790F0C-38A1-4B0A-B481-F8BD87E0A0F6}" type="slidenum">
              <a:rPr lang="en-GB" sz="1000">
                <a:solidFill>
                  <a:srgbClr val="8795A1"/>
                </a:solidFill>
                <a:latin typeface="Segoe UI"/>
              </a:rPr>
              <a:t>5</a:t>
            </a:fld>
          </a:p>
        </p:txBody>
      </p:sp>
      <p:sp>
        <p:nvSpPr>
          <p:cNvPr id="7" name="!!ag0" descr="Go to section 4.1 Concept Learning as a Task">
            <a:hlinkClick action="ppaction://hlinksldjump" r:id="rId5"/>
          </p:cNvPr>
          <p:cNvSpPr/>
          <p:nvPr/>
        </p:nvSpPr>
        <p:spPr>
          <a:xfrm>
            <a:off x="658368" y="177393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89547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4.1</a:t>
            </a:r>
          </a:p>
        </p:txBody>
      </p:sp>
      <p:sp>
        <p:nvSpPr>
          <p:cNvPr id="10" name="!!agt0"/>
          <p:cNvSpPr txBox="1"/>
          <p:nvPr/>
        </p:nvSpPr>
        <p:spPr>
          <a:xfrm>
            <a:off x="1847088" y="189547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Concept Learning as a Task</a:t>
            </a:r>
          </a:p>
        </p:txBody>
      </p:sp>
      <p:sp>
        <p:nvSpPr>
          <p:cNvPr id="11" name="!!agp0"/>
          <p:cNvSpPr txBox="1"/>
          <p:nvPr/>
        </p:nvSpPr>
        <p:spPr>
          <a:xfrm>
            <a:off x="9795967" y="192290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26  ›</a:t>
            </a:r>
          </a:p>
        </p:txBody>
      </p:sp>
      <p:sp>
        <p:nvSpPr>
          <p:cNvPr id="12" name="!!ag1" descr="Go to section 4.2 The Inductive Learning Hypothesis">
            <a:hlinkClick action="ppaction://hlinksldjump" r:id="rId6"/>
          </p:cNvPr>
          <p:cNvSpPr/>
          <p:nvPr/>
        </p:nvSpPr>
        <p:spPr>
          <a:xfrm>
            <a:off x="658368" y="233400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334006"/>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45554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4.2</a:t>
            </a:r>
          </a:p>
        </p:txBody>
      </p:sp>
      <p:sp>
        <p:nvSpPr>
          <p:cNvPr id="15" name="!!agt1"/>
          <p:cNvSpPr txBox="1"/>
          <p:nvPr/>
        </p:nvSpPr>
        <p:spPr>
          <a:xfrm>
            <a:off x="1847088" y="245554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The Inductive Learning Hypothesis</a:t>
            </a:r>
          </a:p>
        </p:txBody>
      </p:sp>
      <p:sp>
        <p:nvSpPr>
          <p:cNvPr id="16" name="!!agp1"/>
          <p:cNvSpPr txBox="1"/>
          <p:nvPr/>
        </p:nvSpPr>
        <p:spPr>
          <a:xfrm>
            <a:off x="9795967" y="248297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27  ›</a:t>
            </a:r>
          </a:p>
        </p:txBody>
      </p:sp>
      <p:sp>
        <p:nvSpPr>
          <p:cNvPr id="17" name="!!ag2" descr="Go to section 4.3 The General-to-Specific Ordering">
            <a:hlinkClick action="ppaction://hlinksldjump" r:id="rId7"/>
          </p:cNvPr>
          <p:cNvSpPr/>
          <p:nvPr/>
        </p:nvSpPr>
        <p:spPr>
          <a:xfrm>
            <a:off x="658368" y="289407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2894076"/>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01561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4.3</a:t>
            </a:r>
          </a:p>
        </p:txBody>
      </p:sp>
      <p:sp>
        <p:nvSpPr>
          <p:cNvPr id="20" name="!!agt2"/>
          <p:cNvSpPr txBox="1"/>
          <p:nvPr/>
        </p:nvSpPr>
        <p:spPr>
          <a:xfrm>
            <a:off x="1847088" y="301561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The General-to-Specific Ordering</a:t>
            </a:r>
          </a:p>
        </p:txBody>
      </p:sp>
      <p:sp>
        <p:nvSpPr>
          <p:cNvPr id="21" name="!!agp2"/>
          <p:cNvSpPr txBox="1"/>
          <p:nvPr/>
        </p:nvSpPr>
        <p:spPr>
          <a:xfrm>
            <a:off x="9795967" y="304304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28  ›</a:t>
            </a:r>
          </a:p>
        </p:txBody>
      </p:sp>
      <p:sp>
        <p:nvSpPr>
          <p:cNvPr id="22" name="!!ag3" descr="Go to section 4.4 Find-S: The Most Specific Consistent Hypothesis">
            <a:hlinkClick action="ppaction://hlinksldjump" r:id="rId8"/>
          </p:cNvPr>
          <p:cNvSpPr/>
          <p:nvPr/>
        </p:nvSpPr>
        <p:spPr>
          <a:xfrm>
            <a:off x="658368" y="345414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454146"/>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57568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4.4</a:t>
            </a:r>
          </a:p>
        </p:txBody>
      </p:sp>
      <p:sp>
        <p:nvSpPr>
          <p:cNvPr id="25" name="!!agt3"/>
          <p:cNvSpPr txBox="1"/>
          <p:nvPr/>
        </p:nvSpPr>
        <p:spPr>
          <a:xfrm>
            <a:off x="1847088" y="357568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Find-S: The Most Specific Consistent Hypothesis</a:t>
            </a:r>
          </a:p>
        </p:txBody>
      </p:sp>
      <p:sp>
        <p:nvSpPr>
          <p:cNvPr id="26" name="!!agp3"/>
          <p:cNvSpPr txBox="1"/>
          <p:nvPr/>
        </p:nvSpPr>
        <p:spPr>
          <a:xfrm>
            <a:off x="9795967" y="360311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28  ›</a:t>
            </a:r>
          </a:p>
        </p:txBody>
      </p:sp>
      <p:sp>
        <p:nvSpPr>
          <p:cNvPr id="27" name="!!ag4" descr="Go to section 4.5 Version Spaces">
            <a:hlinkClick action="ppaction://hlinksldjump" r:id="rId9"/>
          </p:cNvPr>
          <p:cNvSpPr/>
          <p:nvPr/>
        </p:nvSpPr>
        <p:spPr>
          <a:xfrm>
            <a:off x="658368" y="401421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014215"/>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13575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4.5</a:t>
            </a:r>
          </a:p>
        </p:txBody>
      </p:sp>
      <p:sp>
        <p:nvSpPr>
          <p:cNvPr id="30" name="!!agt4"/>
          <p:cNvSpPr txBox="1"/>
          <p:nvPr/>
        </p:nvSpPr>
        <p:spPr>
          <a:xfrm>
            <a:off x="1847088" y="413575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Version Spaces</a:t>
            </a:r>
          </a:p>
        </p:txBody>
      </p:sp>
      <p:sp>
        <p:nvSpPr>
          <p:cNvPr id="31" name="!!agp4"/>
          <p:cNvSpPr txBox="1"/>
          <p:nvPr/>
        </p:nvSpPr>
        <p:spPr>
          <a:xfrm>
            <a:off x="9795967" y="416318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29  ›</a:t>
            </a:r>
          </a:p>
        </p:txBody>
      </p:sp>
      <p:sp>
        <p:nvSpPr>
          <p:cNvPr id="32" name="!!ag5" descr="Go to section 4.6 The Candidate-Elimination Algorithm">
            <a:hlinkClick action="ppaction://hlinksldjump" r:id="rId10"/>
          </p:cNvPr>
          <p:cNvSpPr/>
          <p:nvPr/>
        </p:nvSpPr>
        <p:spPr>
          <a:xfrm>
            <a:off x="658368" y="457428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574286"/>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469582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4.6</a:t>
            </a:r>
          </a:p>
        </p:txBody>
      </p:sp>
      <p:sp>
        <p:nvSpPr>
          <p:cNvPr id="35" name="!!agt5"/>
          <p:cNvSpPr txBox="1"/>
          <p:nvPr/>
        </p:nvSpPr>
        <p:spPr>
          <a:xfrm>
            <a:off x="1847088" y="469582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The Candidate-Elimination Algorithm</a:t>
            </a:r>
          </a:p>
        </p:txBody>
      </p:sp>
      <p:sp>
        <p:nvSpPr>
          <p:cNvPr id="36" name="!!agp5"/>
          <p:cNvSpPr txBox="1"/>
          <p:nvPr/>
        </p:nvSpPr>
        <p:spPr>
          <a:xfrm>
            <a:off x="9795967" y="472325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29  ›</a:t>
            </a:r>
          </a:p>
        </p:txBody>
      </p:sp>
      <p:sp>
        <p:nvSpPr>
          <p:cNvPr id="37" name="!!ag6" descr="Go to section 4.7 Using a Partially Learned Concept">
            <a:hlinkClick action="ppaction://hlinksldjump" r:id="rId11"/>
          </p:cNvPr>
          <p:cNvSpPr/>
          <p:nvPr/>
        </p:nvSpPr>
        <p:spPr>
          <a:xfrm>
            <a:off x="658368" y="513435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134355"/>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25589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4.7</a:t>
            </a:r>
          </a:p>
        </p:txBody>
      </p:sp>
      <p:sp>
        <p:nvSpPr>
          <p:cNvPr id="40" name="!!agt6"/>
          <p:cNvSpPr txBox="1"/>
          <p:nvPr/>
        </p:nvSpPr>
        <p:spPr>
          <a:xfrm>
            <a:off x="1847088" y="525589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Using a Partially Learned Concept</a:t>
            </a:r>
          </a:p>
        </p:txBody>
      </p:sp>
      <p:sp>
        <p:nvSpPr>
          <p:cNvPr id="41" name="!!agp6"/>
          <p:cNvSpPr txBox="1"/>
          <p:nvPr/>
        </p:nvSpPr>
        <p:spPr>
          <a:xfrm>
            <a:off x="9795967" y="528332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30  ›</a:t>
            </a:r>
          </a:p>
        </p:txBody>
      </p:sp>
      <p:sp>
        <p:nvSpPr>
          <p:cNvPr id="42" name="!!ag7" descr="Go to section 4.8 Inductive Bias">
            <a:hlinkClick action="ppaction://hlinksldjump" r:id="rId12"/>
          </p:cNvPr>
          <p:cNvSpPr/>
          <p:nvPr/>
        </p:nvSpPr>
        <p:spPr>
          <a:xfrm>
            <a:off x="658368" y="569442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agb7">
            <a:extLst>
              <a:ext uri="{C183D7F6-B498-43B3-948B-1728B52AA6E4}">
                <adec:decorative xmlns:adec="http://schemas.microsoft.com/office/drawing/2017/decorative" val="1"/>
              </a:ext>
            </a:extLst>
          </p:cNvPr>
          <p:cNvSpPr/>
          <p:nvPr/>
        </p:nvSpPr>
        <p:spPr>
          <a:xfrm>
            <a:off x="658368" y="5694425"/>
            <a:ext cx="64008" cy="48691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agn7"/>
          <p:cNvSpPr txBox="1"/>
          <p:nvPr/>
        </p:nvSpPr>
        <p:spPr>
          <a:xfrm>
            <a:off x="932688" y="581596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4.8</a:t>
            </a:r>
          </a:p>
        </p:txBody>
      </p:sp>
      <p:sp>
        <p:nvSpPr>
          <p:cNvPr id="45" name="!!agt7"/>
          <p:cNvSpPr txBox="1"/>
          <p:nvPr/>
        </p:nvSpPr>
        <p:spPr>
          <a:xfrm>
            <a:off x="1847088" y="581596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Inductive Bias</a:t>
            </a:r>
          </a:p>
        </p:txBody>
      </p:sp>
      <p:sp>
        <p:nvSpPr>
          <p:cNvPr id="46" name="!!agp7"/>
          <p:cNvSpPr txBox="1"/>
          <p:nvPr/>
        </p:nvSpPr>
        <p:spPr>
          <a:xfrm>
            <a:off x="9795967" y="584339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31  ›</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1722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Concept Learning as a Task</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4.1   Concept Learning as a Task</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Inductive Learning Hypothesis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The General-to-Specific Ordering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Find-S: The Most Specific Consistent Hypothesis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Version Spaces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The Candidate-Elimination Algorithm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4.7   Using a Partially Learned Concept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4.8   Inductive Bias</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§4.1     </a:t>
            </a:r>
            <a:fld id="{D2D55EFD-9C49-487C-AB7A-8EB2CCDF8AE7}" type="slidenum">
              <a:rPr lang="en-GB" sz="1000">
                <a:solidFill>
                  <a:srgbClr val="8795A1"/>
                </a:solidFill>
                <a:latin typeface="Segoe UI"/>
              </a:rPr>
              <a:t>6</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14067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Concept Learning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26     </a:t>
            </a:r>
            <a:fld id="{32FA75B2-E477-4B84-AC74-EC70DB33E20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40937"/>
          </a:xfrm>
          <a:prstGeom prst="roundRect">
            <a:avLst>
              <a:gd name="adj" fmla="val 251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4093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Concept learning</a:t>
            </a:r>
            <a:r>
              <a:rPr sz="2300" b="0" i="0">
                <a:solidFill>
                  <a:srgbClr val="1C252B"/>
                </a:solidFill>
                <a:latin typeface="Segoe UI"/>
              </a:rPr>
              <a:t> is inferring a boolean-valued function from training examples of its input and output. Formally:</a:t>
            </a:r>
          </a:p>
        </p:txBody>
      </p:sp>
      <p:sp>
        <p:nvSpPr>
          <p:cNvPr id="10" name="body-1"/>
          <p:cNvSpPr txBox="1"/>
          <p:nvPr/>
        </p:nvSpPr>
        <p:spPr>
          <a:xfrm>
            <a:off x="1060704" y="2937992"/>
            <a:ext cx="10161727" cy="217512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the </a:t>
            </a:r>
            <a:r>
              <a:rPr sz="2300" b="1" i="0">
                <a:solidFill>
                  <a:srgbClr val="1A5276"/>
                </a:solidFill>
                <a:latin typeface="Segoe UI"/>
              </a:rPr>
              <a:t>instance space</a:t>
            </a:r>
            <a:r>
              <a:rPr sz="2300" b="0" i="0">
                <a:solidFill>
                  <a:srgbClr val="1C252B"/>
                </a:solidFill>
                <a:latin typeface="Segoe UI"/>
              </a:rPr>
              <a:t> </a:t>
            </a:r>
            <a:r>
              <a:rPr sz="2300" b="0" i="1">
                <a:solidFill>
                  <a:srgbClr val="1C252B"/>
                </a:solidFill>
                <a:latin typeface="Cambria"/>
              </a:rPr>
              <a:t>X</a:t>
            </a:r>
            <a:r>
              <a:rPr sz="2300" b="0" i="0">
                <a:solidFill>
                  <a:srgbClr val="1C252B"/>
                </a:solidFill>
                <a:latin typeface="Segoe UI"/>
              </a:rPr>
              <a:t> is the set of all things that could be classified;</a:t>
            </a:r>
          </a:p>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the </a:t>
            </a:r>
            <a:r>
              <a:rPr sz="2300" b="1" i="0">
                <a:solidFill>
                  <a:srgbClr val="1A5276"/>
                </a:solidFill>
                <a:latin typeface="Segoe UI"/>
              </a:rPr>
              <a:t>target concept</a:t>
            </a:r>
            <a:r>
              <a:rPr sz="2300" b="0" i="0">
                <a:solidFill>
                  <a:srgbClr val="1C252B"/>
                </a:solidFill>
                <a:latin typeface="Segoe UI"/>
              </a:rPr>
              <a:t> is an unknown function </a:t>
            </a:r>
            <a:r>
              <a:rPr sz="2300" b="0" i="1">
                <a:solidFill>
                  <a:srgbClr val="1C252B"/>
                </a:solidFill>
                <a:latin typeface="Cambria"/>
              </a:rPr>
              <a:t>c</a:t>
            </a:r>
            <a:r>
              <a:rPr sz="2300" b="0" i="0">
                <a:solidFill>
                  <a:srgbClr val="1C252B"/>
                </a:solidFill>
                <a:latin typeface="Cambria"/>
              </a:rPr>
              <a:t>: </a:t>
            </a:r>
            <a:r>
              <a:rPr sz="2300" b="0" i="1">
                <a:solidFill>
                  <a:srgbClr val="1C252B"/>
                </a:solidFill>
                <a:latin typeface="Cambria"/>
              </a:rPr>
              <a:t>X</a:t>
            </a:r>
            <a:r>
              <a:rPr sz="2300" b="0" i="0">
                <a:solidFill>
                  <a:srgbClr val="1C252B"/>
                </a:solidFill>
                <a:latin typeface="Cambria"/>
              </a:rPr>
              <a:t> → {0, 1}</a:t>
            </a:r>
            <a:r>
              <a:rPr sz="2300" b="0" i="0">
                <a:solidFill>
                  <a:srgbClr val="1C252B"/>
                </a:solidFill>
                <a:latin typeface="Segoe UI"/>
              </a:rPr>
              <a:t>;</a:t>
            </a:r>
          </a:p>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the training examples </a:t>
            </a:r>
            <a:r>
              <a:rPr sz="2300" b="0" i="1">
                <a:solidFill>
                  <a:srgbClr val="1C252B"/>
                </a:solidFill>
                <a:latin typeface="Cambria"/>
              </a:rPr>
              <a:t>D</a:t>
            </a:r>
            <a:r>
              <a:rPr sz="2300" b="0" i="0">
                <a:solidFill>
                  <a:srgbClr val="1C252B"/>
                </a:solidFill>
                <a:latin typeface="Segoe UI"/>
              </a:rPr>
              <a:t> are pairs </a:t>
            </a:r>
            <a:r>
              <a:rPr sz="2300" b="0" i="0">
                <a:solidFill>
                  <a:srgbClr val="1C252B"/>
                </a:solidFill>
                <a:latin typeface="Cambria"/>
              </a:rPr>
              <a:t>⟨ </a:t>
            </a:r>
            <a:r>
              <a:rPr sz="2300" b="0" i="1">
                <a:solidFill>
                  <a:srgbClr val="1C252B"/>
                </a:solidFill>
                <a:latin typeface="Cambria"/>
              </a:rPr>
              <a:t>x</a:t>
            </a:r>
            <a:r>
              <a:rPr sz="2300" b="0" i="0">
                <a:solidFill>
                  <a:srgbClr val="1C252B"/>
                </a:solidFill>
                <a:latin typeface="Cambria"/>
              </a:rPr>
              <a:t>, </a:t>
            </a:r>
            <a:r>
              <a:rPr sz="2300" b="0" i="1">
                <a:solidFill>
                  <a:srgbClr val="1C252B"/>
                </a:solidFill>
                <a:latin typeface="Cambria"/>
              </a:rPr>
              <a:t>c</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a:t>
            </a:r>
            <a:r>
              <a:rPr sz="2300" b="0" i="0">
                <a:solidFill>
                  <a:srgbClr val="1C252B"/>
                </a:solidFill>
                <a:latin typeface="Segoe UI"/>
              </a:rPr>
              <a:t>;</a:t>
            </a:r>
          </a:p>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Segoe UI"/>
              </a:rPr>
              <a:t>the learner searches a hypothesis space </a:t>
            </a:r>
            <a:r>
              <a:rPr sz="2300" b="0" i="1">
                <a:solidFill>
                  <a:srgbClr val="1C252B"/>
                </a:solidFill>
                <a:latin typeface="Cambria"/>
              </a:rPr>
              <a:t>H</a:t>
            </a:r>
            <a:r>
              <a:rPr sz="2300" b="0" i="0">
                <a:solidFill>
                  <a:srgbClr val="1C252B"/>
                </a:solidFill>
                <a:latin typeface="Segoe UI"/>
              </a:rPr>
              <a:t> for an </a:t>
            </a:r>
            <a:r>
              <a:rPr sz="2300" b="0" i="1">
                <a:solidFill>
                  <a:srgbClr val="1C252B"/>
                </a:solidFill>
                <a:latin typeface="Cambria"/>
              </a:rPr>
              <a:t>h</a:t>
            </a:r>
            <a:r>
              <a:rPr sz="2300" b="0" i="0">
                <a:solidFill>
                  <a:srgbClr val="1C252B"/>
                </a:solidFill>
                <a:latin typeface="Segoe UI"/>
              </a:rPr>
              <a:t> with </a:t>
            </a:r>
            <a:r>
              <a:rPr sz="2300" b="0" i="1">
                <a:solidFill>
                  <a:srgbClr val="1C252B"/>
                </a:solidFill>
                <a:latin typeface="Cambria"/>
              </a:rPr>
              <a:t>h</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 = </a:t>
            </a:r>
            <a:r>
              <a:rPr sz="2300" b="0" i="1">
                <a:solidFill>
                  <a:srgbClr val="1C252B"/>
                </a:solidFill>
                <a:latin typeface="Cambria"/>
              </a:rPr>
              <a:t>c</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a:t>
            </a:r>
            <a:r>
              <a:rPr sz="2300" b="0" i="0">
                <a:solidFill>
                  <a:srgbClr val="1C252B"/>
                </a:solidFill>
                <a:latin typeface="Segoe UI"/>
              </a:rPr>
              <a:t> for every </a:t>
            </a:r>
            <a:r>
              <a:rPr sz="2300" b="0" i="1">
                <a:solidFill>
                  <a:srgbClr val="1C252B"/>
                </a:solidFill>
                <a:latin typeface="Cambria"/>
              </a:rPr>
              <a:t>x</a:t>
            </a:r>
            <a:r>
              <a:rPr sz="2300" b="0" i="0">
                <a:solidFill>
                  <a:srgbClr val="1C252B"/>
                </a:solidFill>
                <a:latin typeface="Cambria"/>
              </a:rPr>
              <a:t> ∈ </a:t>
            </a:r>
            <a:r>
              <a:rPr sz="2300" b="0" i="1">
                <a:solidFill>
                  <a:srgbClr val="1C252B"/>
                </a:solidFill>
                <a:latin typeface="Cambria"/>
              </a:rPr>
              <a:t>X</a:t>
            </a:r>
            <a:r>
              <a:rPr sz="2300" b="0" i="0">
                <a:solidFill>
                  <a:srgbClr val="1C252B"/>
                </a:solidFill>
                <a:latin typeface="Segoe UI"/>
              </a:rPr>
              <a: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6411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Concept Learning as a Task</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26     </a:t>
            </a:r>
            <a:fld id="{6F341ADF-3125-4301-94EE-03E6DE0DD757}"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8681539" cy="2026920"/>
        </p:xfrm>
        <a:graphic>
          <a:graphicData uri="http://schemas.openxmlformats.org/drawingml/2006/table">
            <a:tbl>
              <a:tblPr firstRow="0" bandRow="0" firstCol="0" lastRow="0" lastCol="0" bandCol="0">
                <a:tableStyleId>{2D5ABB26-0587-4C30-8999-92F81FD0307C}</a:tableStyleId>
              </a:tblPr>
              <a:tblGrid>
                <a:gridCol w="1035077"/>
                <a:gridCol w="835326"/>
                <a:gridCol w="1056397"/>
                <a:gridCol w="1220862"/>
                <a:gridCol w="1156606"/>
                <a:gridCol w="1028094"/>
                <a:gridCol w="1128315"/>
                <a:gridCol w="1220862"/>
              </a:tblGrid>
              <a:tr h="405384">
                <a:tc>
                  <a:txBody>
                    <a:bodyPr wrap="square"/>
                    <a:lstStyle/>
                    <a:p>
                      <a:pPr algn="l"/>
                      <a:r>
                        <a:rPr sz="1700" b="1" i="0">
                          <a:solidFill>
                            <a:srgbClr val="1A5276"/>
                          </a:solidFill>
                          <a:latin typeface="Segoe UI"/>
                        </a:rPr>
                        <a:t>Release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Tests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Review</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Docs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Rollback</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Traffic</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Scope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Approve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1</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Pass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Done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Complete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Ready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Quiet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Same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2</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Pass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Done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Partial</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Ready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Quiet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Same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3</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Fail</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Pending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Partial</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Ready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Quiet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Changed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4</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Pass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Done</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Partial</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Ready</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Peak</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Changed</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8756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Hypotheses as Conjunctions of Constraints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26     </a:t>
            </a:r>
            <a:fld id="{FD7FA90E-2AF7-406A-80F7-C0679F032368}"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8439"/>
          </a:xfrm>
          <a:prstGeom prst="roundRect">
            <a:avLst>
              <a:gd name="adj" fmla="val 206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843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hypothesis is a vector of six </a:t>
            </a:r>
            <a:r>
              <a:rPr sz="2300" b="1" i="0">
                <a:solidFill>
                  <a:srgbClr val="1A5276"/>
                </a:solidFill>
                <a:latin typeface="Segoe UI"/>
              </a:rPr>
              <a:t>constraints</a:t>
            </a:r>
            <a:r>
              <a:rPr sz="2300" b="0" i="0">
                <a:solidFill>
                  <a:srgbClr val="1C252B"/>
                </a:solidFill>
                <a:latin typeface="Segoe UI"/>
              </a:rPr>
              <a:t>, one per attribute. Each constraint is one of:</a:t>
            </a:r>
          </a:p>
        </p:txBody>
      </p:sp>
      <p:sp>
        <p:nvSpPr>
          <p:cNvPr id="10" name="body-1"/>
          <p:cNvSpPr txBox="1"/>
          <p:nvPr/>
        </p:nvSpPr>
        <p:spPr>
          <a:xfrm>
            <a:off x="1060704" y="2937992"/>
            <a:ext cx="10161727" cy="1343812"/>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a specific value, such as </a:t>
            </a:r>
            <a:r>
              <a:rPr sz="2300" b="0" i="1">
                <a:solidFill>
                  <a:srgbClr val="1C252B"/>
                </a:solidFill>
                <a:latin typeface="Segoe UI"/>
              </a:rPr>
              <a:t>Done</a:t>
            </a:r>
            <a:r>
              <a:rPr sz="2300" b="0" i="0">
                <a:solidFill>
                  <a:srgbClr val="1C252B"/>
                </a:solidFill>
                <a:latin typeface="Segoe UI"/>
              </a:rPr>
              <a:t> — only that value is acceptable;</a:t>
            </a:r>
          </a:p>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 — any value is acceptable;</a:t>
            </a:r>
          </a:p>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Segoe UI"/>
              </a:rPr>
              <a:t>“</a:t>
            </a:r>
            <a:r>
              <a:rPr sz="2300" b="0" i="0">
                <a:solidFill>
                  <a:srgbClr val="1C252B"/>
                </a:solidFill>
                <a:latin typeface="Cambria"/>
              </a:rPr>
              <a:t>∅</a:t>
            </a:r>
            <a:r>
              <a:rPr sz="2300" b="0" i="0">
                <a:solidFill>
                  <a:srgbClr val="1C252B"/>
                </a:solidFill>
                <a:latin typeface="Segoe UI"/>
              </a:rPr>
              <a:t>” — no value is acceptable.</a:t>
            </a:r>
          </a:p>
        </p:txBody>
      </p:sp>
      <p:sp>
        <p:nvSpPr>
          <p:cNvPr id="11" name="body-2"/>
          <p:cNvSpPr txBox="1"/>
          <p:nvPr/>
        </p:nvSpPr>
        <p:spPr>
          <a:xfrm>
            <a:off x="1060704" y="4396740"/>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hypothesis classifies an instance as positive if the instance satisfies every constraint. So </a:t>
            </a:r>
            <a:r>
              <a:rPr sz="2300" b="0" i="0">
                <a:solidFill>
                  <a:srgbClr val="1C252B"/>
                </a:solidFill>
                <a:latin typeface="Cambria"/>
              </a:rPr>
              <a:t>⟨</a:t>
            </a:r>
            <a:r>
              <a:rPr sz="2300" b="0" i="0">
                <a:solidFill>
                  <a:srgbClr val="1C252B"/>
                </a:solidFill>
                <a:latin typeface="Segoe UI"/>
              </a:rPr>
              <a:t>Pass, ?, ?, Ready, ?, ?</a:t>
            </a:r>
            <a:r>
              <a:rPr sz="2300" b="0" i="0">
                <a:solidFill>
                  <a:srgbClr val="1C252B"/>
                </a:solidFill>
                <a:latin typeface="Cambria"/>
              </a:rPr>
              <a:t>⟩</a:t>
            </a:r>
            <a:r>
              <a:rPr sz="2300" b="0" i="0">
                <a:solidFill>
                  <a:srgbClr val="1C252B"/>
                </a:solidFill>
                <a:latin typeface="Segoe UI"/>
              </a:rPr>
              <a:t> means “tests pass and a rollback is ready, whatever else”; </a:t>
            </a:r>
            <a:r>
              <a:rPr sz="2300" b="0" i="0">
                <a:solidFill>
                  <a:srgbClr val="1C252B"/>
                </a:solidFill>
                <a:latin typeface="Cambria"/>
              </a:rPr>
              <a:t>⟨</a:t>
            </a:r>
            <a:r>
              <a:rPr sz="2300" b="0" i="0">
                <a:solidFill>
                  <a:srgbClr val="1C252B"/>
                </a:solidFill>
                <a:latin typeface="Segoe UI"/>
              </a:rPr>
              <a:t>?, ?, ?, ?, ?, ?</a:t>
            </a:r>
            <a:r>
              <a:rPr sz="2300" b="0" i="0">
                <a:solidFill>
                  <a:srgbClr val="1C252B"/>
                </a:solidFill>
                <a:latin typeface="Cambria"/>
              </a:rPr>
              <a:t>⟩</a:t>
            </a:r>
            <a:r>
              <a:rPr sz="2300" b="0" i="0">
                <a:solidFill>
                  <a:srgbClr val="1C252B"/>
                </a:solidFill>
                <a:latin typeface="Segoe UI"/>
              </a:rPr>
              <a:t> approves every release; and a hypothesis containing </a:t>
            </a:r>
            <a:r>
              <a:rPr sz="2300" b="0" i="0">
                <a:solidFill>
                  <a:srgbClr val="1C252B"/>
                </a:solidFill>
                <a:latin typeface="Cambria"/>
              </a:rPr>
              <a:t>∅</a:t>
            </a:r>
            <a:r>
              <a:rPr sz="2300" b="0" i="0">
                <a:solidFill>
                  <a:srgbClr val="1C252B"/>
                </a:solidFill>
                <a:latin typeface="Segoe UI"/>
              </a:rPr>
              <a:t> approves none.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1101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Big Are These Spaces?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26     </a:t>
            </a:r>
            <a:fld id="{E56C4F0C-7A3A-4C4C-A2BC-45DEE29CC179}"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4660"/>
          </a:xfrm>
          <a:prstGeom prst="roundRect">
            <a:avLst>
              <a:gd name="adj" fmla="val 21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466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Tests has 3 values and the other five attributes have 2 each.</a:t>
            </a:r>
          </a:p>
        </p:txBody>
      </p:sp>
      <p:sp>
        <p:nvSpPr>
          <p:cNvPr id="10" name="body-1"/>
          <p:cNvSpPr txBox="1"/>
          <p:nvPr/>
        </p:nvSpPr>
        <p:spPr>
          <a:xfrm>
            <a:off x="1042416" y="2468371"/>
            <a:ext cx="10234879" cy="2214372"/>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7D6608"/>
                </a:solidFill>
                <a:latin typeface="Segoe UI"/>
              </a:rPr>
              <a:t>•	</a:t>
            </a:r>
            <a:r>
              <a:rPr sz="2000" b="1" i="0">
                <a:solidFill>
                  <a:srgbClr val="7D6608"/>
                </a:solidFill>
                <a:latin typeface="Segoe UI"/>
              </a:rPr>
              <a:t>Instances:</a:t>
            </a:r>
            <a:r>
              <a:rPr sz="2000" b="0" i="0">
                <a:solidFill>
                  <a:srgbClr val="1C252B"/>
                </a:solidFill>
                <a:latin typeface="Segoe UI"/>
              </a:rPr>
              <a:t> </a:t>
            </a:r>
            <a:r>
              <a:rPr sz="2000" b="0" i="0">
                <a:solidFill>
                  <a:srgbClr val="1C252B"/>
                </a:solidFill>
                <a:latin typeface="Cambria"/>
              </a:rPr>
              <a:t>3 × 2</a:t>
            </a:r>
            <a:r>
              <a:rPr sz="2000" b="0" i="0" baseline="30000">
                <a:solidFill>
                  <a:srgbClr val="1C252B"/>
                </a:solidFill>
                <a:latin typeface="Cambria"/>
              </a:rPr>
              <a:t>5</a:t>
            </a:r>
            <a:r>
              <a:rPr sz="2000" b="0" i="0">
                <a:solidFill>
                  <a:srgbClr val="1C252B"/>
                </a:solidFill>
                <a:latin typeface="Cambria"/>
              </a:rPr>
              <a:t> = </a:t>
            </a:r>
            <a:r>
              <a:rPr sz="2000" b="1" i="0">
                <a:solidFill>
                  <a:srgbClr val="1C252B"/>
                </a:solidFill>
                <a:latin typeface="Cambria"/>
              </a:rPr>
              <a:t>96</a:t>
            </a:r>
            <a:r>
              <a:rPr sz="2000" b="0" i="0">
                <a:solidFill>
                  <a:srgbClr val="1C252B"/>
                </a:solidFill>
                <a:latin typeface="Segoe UI"/>
              </a:rPr>
              <a:t> possible releases.</a:t>
            </a:r>
          </a:p>
          <a:p>
            <a:pPr algn="l" marL="223631" indent="-223631">
              <a:lnSpc>
                <a:spcPct val="104000"/>
              </a:lnSpc>
              <a:spcBef>
                <a:spcPts val="0"/>
              </a:spcBef>
              <a:spcAft>
                <a:spcPts val="700"/>
              </a:spcAft>
            </a:pPr>
            <a:r>
              <a:rPr sz="2000" b="1">
                <a:solidFill>
                  <a:srgbClr val="7D6608"/>
                </a:solidFill>
                <a:latin typeface="Segoe UI"/>
              </a:rPr>
              <a:t>•	</a:t>
            </a:r>
            <a:r>
              <a:rPr sz="2000" b="1" i="0">
                <a:solidFill>
                  <a:srgbClr val="7D6608"/>
                </a:solidFill>
                <a:latin typeface="Segoe UI"/>
              </a:rPr>
              <a:t>Hypotheses, as written:</a:t>
            </a:r>
            <a:r>
              <a:rPr sz="2000" b="0" i="0">
                <a:solidFill>
                  <a:srgbClr val="1C252B"/>
                </a:solidFill>
                <a:latin typeface="Segoe UI"/>
              </a:rPr>
              <a:t> each constraint can also be “?” or “</a:t>
            </a:r>
            <a:r>
              <a:rPr sz="2000" b="0" i="0">
                <a:solidFill>
                  <a:srgbClr val="1C252B"/>
                </a:solidFill>
                <a:latin typeface="Cambria"/>
              </a:rPr>
              <a:t>∅</a:t>
            </a:r>
            <a:r>
              <a:rPr sz="2000" b="0" i="0">
                <a:solidFill>
                  <a:srgbClr val="1C252B"/>
                </a:solidFill>
                <a:latin typeface="Segoe UI"/>
              </a:rPr>
              <a:t>”, so </a:t>
            </a:r>
            <a:r>
              <a:rPr sz="2000" b="0" i="0">
                <a:solidFill>
                  <a:srgbClr val="1C252B"/>
                </a:solidFill>
                <a:latin typeface="Cambria"/>
              </a:rPr>
              <a:t>5 × 4</a:t>
            </a:r>
            <a:r>
              <a:rPr sz="2000" b="0" i="0" baseline="30000">
                <a:solidFill>
                  <a:srgbClr val="1C252B"/>
                </a:solidFill>
                <a:latin typeface="Cambria"/>
              </a:rPr>
              <a:t>5</a:t>
            </a:r>
            <a:r>
              <a:rPr sz="2000" b="0" i="0">
                <a:solidFill>
                  <a:srgbClr val="1C252B"/>
                </a:solidFill>
                <a:latin typeface="Cambria"/>
              </a:rPr>
              <a:t> = 5120</a:t>
            </a:r>
            <a:r>
              <a:rPr sz="2000" b="0" i="0">
                <a:solidFill>
                  <a:srgbClr val="1C252B"/>
                </a:solidFill>
                <a:latin typeface="Segoe UI"/>
              </a:rPr>
              <a:t>.</a:t>
            </a:r>
          </a:p>
          <a:p>
            <a:pPr algn="l" marL="223631" indent="-223631">
              <a:lnSpc>
                <a:spcPct val="104000"/>
              </a:lnSpc>
              <a:spcBef>
                <a:spcPts val="0"/>
              </a:spcBef>
              <a:spcAft>
                <a:spcPts val="700"/>
              </a:spcAft>
            </a:pPr>
            <a:r>
              <a:rPr sz="2000" b="1">
                <a:solidFill>
                  <a:srgbClr val="7D6608"/>
                </a:solidFill>
                <a:latin typeface="Segoe UI"/>
              </a:rPr>
              <a:t>•	</a:t>
            </a:r>
            <a:r>
              <a:rPr sz="2000" b="1" i="0">
                <a:solidFill>
                  <a:srgbClr val="7D6608"/>
                </a:solidFill>
                <a:latin typeface="Segoe UI"/>
              </a:rPr>
              <a:t>Hypotheses, by meaning:</a:t>
            </a:r>
            <a:r>
              <a:rPr sz="2000" b="0" i="0">
                <a:solidFill>
                  <a:srgbClr val="1C252B"/>
                </a:solidFill>
                <a:latin typeface="Segoe UI"/>
              </a:rPr>
              <a:t> every hypothesis containing a </a:t>
            </a:r>
            <a:r>
              <a:rPr sz="2000" b="0" i="0">
                <a:solidFill>
                  <a:srgbClr val="1C252B"/>
                </a:solidFill>
                <a:latin typeface="Cambria"/>
              </a:rPr>
              <a:t>∅</a:t>
            </a:r>
            <a:r>
              <a:rPr sz="2000" b="0" i="0">
                <a:solidFill>
                  <a:srgbClr val="1C252B"/>
                </a:solidFill>
                <a:latin typeface="Segoe UI"/>
              </a:rPr>
              <a:t> classifies every release as negative, so they all mean the same thing. Counting that as one: </a:t>
            </a:r>
            <a:r>
              <a:rPr sz="2000" b="0" i="0">
                <a:solidFill>
                  <a:srgbClr val="1C252B"/>
                </a:solidFill>
                <a:latin typeface="Cambria"/>
              </a:rPr>
              <a:t>1 + 4 × 3</a:t>
            </a:r>
            <a:r>
              <a:rPr sz="2000" b="0" i="0" baseline="30000">
                <a:solidFill>
                  <a:srgbClr val="1C252B"/>
                </a:solidFill>
                <a:latin typeface="Cambria"/>
              </a:rPr>
              <a:t>5</a:t>
            </a:r>
            <a:r>
              <a:rPr sz="2000" b="0" i="0">
                <a:solidFill>
                  <a:srgbClr val="1C252B"/>
                </a:solidFill>
                <a:latin typeface="Cambria"/>
              </a:rPr>
              <a:t> = </a:t>
            </a:r>
            <a:r>
              <a:rPr sz="2000" b="1" i="0">
                <a:solidFill>
                  <a:srgbClr val="1C252B"/>
                </a:solidFill>
                <a:latin typeface="Cambria"/>
              </a:rPr>
              <a:t>973</a:t>
            </a:r>
            <a:r>
              <a:rPr sz="2000" b="0" i="0">
                <a:solidFill>
                  <a:srgbClr val="1C252B"/>
                </a:solidFill>
                <a:latin typeface="Segoe UI"/>
              </a:rPr>
              <a:t>.</a:t>
            </a:r>
          </a:p>
          <a:p>
            <a:pPr algn="l" marL="223631" indent="-223631">
              <a:lnSpc>
                <a:spcPct val="104000"/>
              </a:lnSpc>
              <a:spcBef>
                <a:spcPts val="0"/>
              </a:spcBef>
              <a:spcAft>
                <a:spcPts val="0"/>
              </a:spcAft>
            </a:pPr>
            <a:r>
              <a:rPr sz="2000" b="1">
                <a:solidFill>
                  <a:srgbClr val="7D6608"/>
                </a:solidFill>
                <a:latin typeface="Segoe UI"/>
              </a:rPr>
              <a:t>•	</a:t>
            </a:r>
            <a:r>
              <a:rPr sz="2000" b="1" i="0">
                <a:solidFill>
                  <a:srgbClr val="7D6608"/>
                </a:solidFill>
                <a:latin typeface="Segoe UI"/>
              </a:rPr>
              <a:t>All possible concepts</a:t>
            </a:r>
            <a:r>
              <a:rPr sz="2000" b="0" i="0">
                <a:solidFill>
                  <a:srgbClr val="1C252B"/>
                </a:solidFill>
                <a:latin typeface="Segoe UI"/>
              </a:rPr>
              <a:t> over 96 releases: every subset of the releases is a concept, so </a:t>
            </a:r>
            <a:r>
              <a:rPr sz="2000" b="0" i="0">
                <a:solidFill>
                  <a:srgbClr val="1C252B"/>
                </a:solidFill>
                <a:latin typeface="Cambria"/>
              </a:rPr>
              <a:t>2</a:t>
            </a:r>
            <a:r>
              <a:rPr sz="2000" b="0" i="0" baseline="30000">
                <a:solidFill>
                  <a:srgbClr val="1C252B"/>
                </a:solidFill>
                <a:latin typeface="Cambria"/>
              </a:rPr>
              <a:t>96</a:t>
            </a:r>
            <a:r>
              <a:rPr sz="2000" b="0" i="0">
                <a:solidFill>
                  <a:srgbClr val="1C252B"/>
                </a:solidFill>
                <a:latin typeface="Cambria"/>
              </a:rPr>
              <a:t> ≈ 7.9 × 10</a:t>
            </a:r>
            <a:r>
              <a:rPr sz="2000" b="0" i="0" baseline="30000">
                <a:solidFill>
                  <a:srgbClr val="1C252B"/>
                </a:solidFill>
                <a:latin typeface="Cambria"/>
              </a:rPr>
              <a:t>28</a:t>
            </a:r>
            <a:r>
              <a:rPr sz="2000" b="0" i="0">
                <a:solidFill>
                  <a:srgbClr val="1C252B"/>
                </a:solidFill>
                <a:latin typeface="Segoe UI"/>
              </a:rPr>
              <a:t>.</a:t>
            </a:r>
          </a:p>
        </p:txBody>
      </p:sp>
      <p:sp>
        <p:nvSpPr>
          <p:cNvPr id="11" name="body-2"/>
          <p:cNvSpPr txBox="1"/>
          <p:nvPr/>
        </p:nvSpPr>
        <p:spPr>
          <a:xfrm>
            <a:off x="1042416" y="4776723"/>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The conjunctive language can express 973 of the </a:t>
            </a:r>
            <a:r>
              <a:rPr sz="2000" b="1" i="0">
                <a:solidFill>
                  <a:srgbClr val="1C252B"/>
                </a:solidFill>
                <a:latin typeface="Cambria"/>
              </a:rPr>
              <a:t>7.9 × 10</a:t>
            </a:r>
            <a:r>
              <a:rPr sz="2000" b="1" i="0" baseline="30000">
                <a:solidFill>
                  <a:srgbClr val="1C252B"/>
                </a:solidFill>
                <a:latin typeface="Cambria"/>
              </a:rPr>
              <a:t>28</a:t>
            </a:r>
            <a:r>
              <a:rPr sz="2000" b="1" i="0">
                <a:solidFill>
                  <a:srgbClr val="1C252B"/>
                </a:solidFill>
                <a:latin typeface="Segoe UI"/>
              </a:rPr>
              <a:t> possible concepts.</a:t>
            </a:r>
            <a:r>
              <a:rPr sz="2000" b="0" i="0">
                <a:solidFill>
                  <a:srgbClr val="1C252B"/>
                </a:solidFill>
                <a:latin typeface="Segoe UI"/>
              </a:rPr>
              <a:t> That restriction looks like a weakness. By the end of the chapter it will turn out to be the only reason learning is possible at all.</a:t>
            </a:r>
          </a:p>
        </p:txBody>
      </p:sp>
      <p:sp>
        <p:nvSpPr>
          <p:cNvPr id="12" name="body-2bar">
            <a:extLst>
              <a:ext uri="{C183D7F6-B498-43B3-948B-1728B52AA6E4}">
                <adec:decorative xmlns:adec="http://schemas.microsoft.com/office/drawing/2017/decorative" val="1"/>
              </a:ext>
            </a:extLst>
          </p:cNvPr>
          <p:cNvSpPr/>
          <p:nvPr/>
        </p:nvSpPr>
        <p:spPr>
          <a:xfrm>
            <a:off x="841248" y="4795011"/>
            <a:ext cx="54864" cy="9326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34455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wipe(right)">
                                      <p:cBhvr>
                                        <p:cTn id="8" dur="42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Inductive Learning Hypothesis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27     </a:t>
            </a:r>
            <a:fld id="{94E3E2E7-D1DF-4EB0-B57A-7770551F9F00}"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Any hypothesis found to approximate the target function well over a sufficiently large set of training examples will also approximate the target function well over other unobserved examples.</a:t>
            </a:r>
          </a:p>
        </p:txBody>
      </p:sp>
      <p:sp>
        <p:nvSpPr>
          <p:cNvPr id="10" name="body-1"/>
          <p:cNvSpPr txBox="1"/>
          <p:nvPr/>
        </p:nvSpPr>
        <p:spPr>
          <a:xfrm>
            <a:off x="1060704" y="3302533"/>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is an assumption, not a theorem. It fails whenever the future does not resemble the training data — which is why Chapter 7 and Chapter 8 measure performance on held-out data rather than trusting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5790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General-to-Specific Ordering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Concept Learning as a Task</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Inductive Learning Hypothesis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4.3   The General-to-Specific Ordering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Find-S: The Most Specific Consistent Hypothesis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Version Spaces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The Candidate-Elimination Algorithm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4.7   Using a Partially Learned Concept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4.8   Inductive Bias</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§4.3     </a:t>
            </a:r>
            <a:fld id="{618FC46E-9AE0-4009-84C7-02CE6E2D9488}" type="slidenum">
              <a:rPr lang="en-GB" sz="1000">
                <a:solidFill>
                  <a:srgbClr val="8795A1"/>
                </a:solidFill>
                <a:latin typeface="Segoe UI"/>
              </a:rPr>
              <a:t>12</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28134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More-General-Than-or-Equal-To</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28     </a:t>
            </a:r>
            <a:fld id="{AF8ACF7D-9C25-489E-BC1F-8F08AF1FE19B}"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Hypothesis </a:t>
            </a:r>
            <a:r>
              <a:rPr sz="2300" b="0" i="1">
                <a:solidFill>
                  <a:srgbClr val="1C252B"/>
                </a:solidFill>
                <a:latin typeface="Cambria"/>
              </a:rPr>
              <a:t>h</a:t>
            </a:r>
            <a:r>
              <a:rPr sz="2300" b="0" i="1" baseline="-25000">
                <a:solidFill>
                  <a:srgbClr val="1C252B"/>
                </a:solidFill>
                <a:latin typeface="Cambria"/>
              </a:rPr>
              <a:t>j</a:t>
            </a:r>
            <a:r>
              <a:rPr sz="2300" b="0" i="0">
                <a:solidFill>
                  <a:srgbClr val="1C252B"/>
                </a:solidFill>
                <a:latin typeface="Segoe UI"/>
              </a:rPr>
              <a:t> is </a:t>
            </a:r>
            <a:r>
              <a:rPr sz="2300" b="1" i="0">
                <a:solidFill>
                  <a:srgbClr val="1A5276"/>
                </a:solidFill>
                <a:latin typeface="Segoe UI"/>
              </a:rPr>
              <a:t>more general than or equal to</a:t>
            </a:r>
            <a:r>
              <a:rPr sz="2300" b="0" i="0">
                <a:solidFill>
                  <a:srgbClr val="1C252B"/>
                </a:solidFill>
                <a:latin typeface="Segoe UI"/>
              </a:rPr>
              <a:t> </a:t>
            </a:r>
            <a:r>
              <a:rPr sz="2300" b="0" i="1">
                <a:solidFill>
                  <a:srgbClr val="1C252B"/>
                </a:solidFill>
                <a:latin typeface="Cambria"/>
              </a:rPr>
              <a:t>h</a:t>
            </a:r>
            <a:r>
              <a:rPr sz="2300" b="0" i="1" baseline="-25000">
                <a:solidFill>
                  <a:srgbClr val="1C252B"/>
                </a:solidFill>
                <a:latin typeface="Cambria"/>
              </a:rPr>
              <a:t>k</a:t>
            </a:r>
            <a:r>
              <a:rPr sz="2300" b="0" i="0">
                <a:solidFill>
                  <a:srgbClr val="1C252B"/>
                </a:solidFill>
                <a:latin typeface="Segoe UI"/>
              </a:rPr>
              <a:t>, written </a:t>
            </a:r>
            <a:r>
              <a:rPr sz="2300" b="0" i="1">
                <a:solidFill>
                  <a:srgbClr val="1C252B"/>
                </a:solidFill>
                <a:latin typeface="Cambria"/>
              </a:rPr>
              <a:t>h</a:t>
            </a:r>
            <a:r>
              <a:rPr sz="2300" b="0" i="1" baseline="-25000">
                <a:solidFill>
                  <a:srgbClr val="1C252B"/>
                </a:solidFill>
                <a:latin typeface="Cambria"/>
              </a:rPr>
              <a:t>j</a:t>
            </a:r>
            <a:r>
              <a:rPr sz="2300" b="0" i="0">
                <a:solidFill>
                  <a:srgbClr val="1C252B"/>
                </a:solidFill>
                <a:latin typeface="Cambria"/>
              </a:rPr>
              <a:t> ≥</a:t>
            </a:r>
            <a:r>
              <a:rPr sz="2300" b="0" i="1" baseline="-25000">
                <a:solidFill>
                  <a:srgbClr val="1C252B"/>
                </a:solidFill>
                <a:latin typeface="Cambria"/>
              </a:rPr>
              <a:t>g</a:t>
            </a:r>
            <a:r>
              <a:rPr sz="2300" b="0" i="0">
                <a:solidFill>
                  <a:srgbClr val="1C252B"/>
                </a:solidFill>
                <a:latin typeface="Cambria"/>
              </a:rPr>
              <a:t> </a:t>
            </a:r>
            <a:r>
              <a:rPr sz="2300" b="0" i="1">
                <a:solidFill>
                  <a:srgbClr val="1C252B"/>
                </a:solidFill>
                <a:latin typeface="Cambria"/>
              </a:rPr>
              <a:t>h</a:t>
            </a:r>
            <a:r>
              <a:rPr sz="2300" b="0" i="1" baseline="-25000">
                <a:solidFill>
                  <a:srgbClr val="1C252B"/>
                </a:solidFill>
                <a:latin typeface="Cambria"/>
              </a:rPr>
              <a:t>k</a:t>
            </a:r>
            <a:r>
              <a:rPr sz="2300" b="0" i="0">
                <a:solidFill>
                  <a:srgbClr val="1C252B"/>
                </a:solidFill>
                <a:latin typeface="Segoe UI"/>
              </a:rPr>
              <a:t>, if every instance that </a:t>
            </a:r>
            <a:r>
              <a:rPr sz="2300" b="0" i="1">
                <a:solidFill>
                  <a:srgbClr val="1C252B"/>
                </a:solidFill>
                <a:latin typeface="Cambria"/>
              </a:rPr>
              <a:t>h</a:t>
            </a:r>
            <a:r>
              <a:rPr sz="2300" b="0" i="1" baseline="-25000">
                <a:solidFill>
                  <a:srgbClr val="1C252B"/>
                </a:solidFill>
                <a:latin typeface="Cambria"/>
              </a:rPr>
              <a:t>k</a:t>
            </a:r>
            <a:r>
              <a:rPr sz="2300" b="0" i="0">
                <a:solidFill>
                  <a:srgbClr val="1C252B"/>
                </a:solidFill>
                <a:latin typeface="Segoe UI"/>
              </a:rPr>
              <a:t> classifies as positive, </a:t>
            </a:r>
            <a:r>
              <a:rPr sz="2300" b="0" i="1">
                <a:solidFill>
                  <a:srgbClr val="1C252B"/>
                </a:solidFill>
                <a:latin typeface="Cambria"/>
              </a:rPr>
              <a:t>h</a:t>
            </a:r>
            <a:r>
              <a:rPr sz="2300" b="0" i="1" baseline="-25000">
                <a:solidFill>
                  <a:srgbClr val="1C252B"/>
                </a:solidFill>
                <a:latin typeface="Cambria"/>
              </a:rPr>
              <a:t>j</a:t>
            </a:r>
            <a:r>
              <a:rPr sz="2300" b="0" i="0">
                <a:solidFill>
                  <a:srgbClr val="1C252B"/>
                </a:solidFill>
                <a:latin typeface="Segoe UI"/>
              </a:rPr>
              <a:t> also classifies as positive. </a:t>
            </a:r>
            <a:r>
              <a:rPr sz="2300" b="0" i="1">
                <a:solidFill>
                  <a:srgbClr val="1C252B"/>
                </a:solidFill>
                <a:latin typeface="Cambria"/>
              </a:rPr>
              <a:t>h</a:t>
            </a:r>
            <a:r>
              <a:rPr sz="2300" b="0" i="1" baseline="-25000">
                <a:solidFill>
                  <a:srgbClr val="1C252B"/>
                </a:solidFill>
                <a:latin typeface="Cambria"/>
              </a:rPr>
              <a:t>j</a:t>
            </a:r>
            <a:r>
              <a:rPr sz="2300" b="0" i="0">
                <a:solidFill>
                  <a:srgbClr val="1C252B"/>
                </a:solidFill>
                <a:latin typeface="Segoe UI"/>
              </a:rPr>
              <a:t> is strictly more general (</a:t>
            </a:r>
            <a:r>
              <a:rPr sz="2300" b="0" i="1">
                <a:solidFill>
                  <a:srgbClr val="1C252B"/>
                </a:solidFill>
                <a:latin typeface="Cambria"/>
              </a:rPr>
              <a:t>h</a:t>
            </a:r>
            <a:r>
              <a:rPr sz="2300" b="0" i="1" baseline="-25000">
                <a:solidFill>
                  <a:srgbClr val="1C252B"/>
                </a:solidFill>
                <a:latin typeface="Cambria"/>
              </a:rPr>
              <a:t>j</a:t>
            </a:r>
            <a:r>
              <a:rPr sz="2300" b="0" i="0">
                <a:solidFill>
                  <a:srgbClr val="1C252B"/>
                </a:solidFill>
                <a:latin typeface="Cambria"/>
              </a:rPr>
              <a:t> &gt;</a:t>
            </a:r>
            <a:r>
              <a:rPr sz="2300" b="0" i="1" baseline="-25000">
                <a:solidFill>
                  <a:srgbClr val="1C252B"/>
                </a:solidFill>
                <a:latin typeface="Cambria"/>
              </a:rPr>
              <a:t>g</a:t>
            </a:r>
            <a:r>
              <a:rPr sz="2300" b="0" i="0">
                <a:solidFill>
                  <a:srgbClr val="1C252B"/>
                </a:solidFill>
                <a:latin typeface="Cambria"/>
              </a:rPr>
              <a:t> </a:t>
            </a:r>
            <a:r>
              <a:rPr sz="2300" b="0" i="1">
                <a:solidFill>
                  <a:srgbClr val="1C252B"/>
                </a:solidFill>
                <a:latin typeface="Cambria"/>
              </a:rPr>
              <a:t>h</a:t>
            </a:r>
            <a:r>
              <a:rPr sz="2300" b="0" i="1" baseline="-25000">
                <a:solidFill>
                  <a:srgbClr val="1C252B"/>
                </a:solidFill>
                <a:latin typeface="Cambria"/>
              </a:rPr>
              <a:t>k</a:t>
            </a:r>
            <a:r>
              <a:rPr sz="2300" b="0" i="0">
                <a:solidFill>
                  <a:srgbClr val="1C252B"/>
                </a:solidFill>
                <a:latin typeface="Segoe UI"/>
              </a:rPr>
              <a:t>) if, in addition, </a:t>
            </a:r>
            <a:r>
              <a:rPr sz="2300" b="0" i="1">
                <a:solidFill>
                  <a:srgbClr val="1C252B"/>
                </a:solidFill>
                <a:latin typeface="Cambria"/>
              </a:rPr>
              <a:t>h</a:t>
            </a:r>
            <a:r>
              <a:rPr sz="2300" b="0" i="1" baseline="-25000">
                <a:solidFill>
                  <a:srgbClr val="1C252B"/>
                </a:solidFill>
                <a:latin typeface="Cambria"/>
              </a:rPr>
              <a:t>k</a:t>
            </a:r>
            <a:r>
              <a:rPr sz="2300" b="0" i="0">
                <a:solidFill>
                  <a:srgbClr val="1C252B"/>
                </a:solidFill>
                <a:latin typeface="Cambria"/>
              </a:rPr>
              <a:t> ̸≥</a:t>
            </a:r>
            <a:r>
              <a:rPr sz="2300" b="0" i="1" baseline="-25000">
                <a:solidFill>
                  <a:srgbClr val="1C252B"/>
                </a:solidFill>
                <a:latin typeface="Cambria"/>
              </a:rPr>
              <a:t>g</a:t>
            </a:r>
            <a:r>
              <a:rPr sz="2300" b="0" i="0">
                <a:solidFill>
                  <a:srgbClr val="1C252B"/>
                </a:solidFill>
                <a:latin typeface="Cambria"/>
              </a:rPr>
              <a:t> </a:t>
            </a:r>
            <a:r>
              <a:rPr sz="2300" b="0" i="1">
                <a:solidFill>
                  <a:srgbClr val="1C252B"/>
                </a:solidFill>
                <a:latin typeface="Cambria"/>
              </a:rPr>
              <a:t>h</a:t>
            </a:r>
            <a:r>
              <a:rPr sz="2300" b="0" i="1" baseline="-25000">
                <a:solidFill>
                  <a:srgbClr val="1C252B"/>
                </a:solidFill>
                <a:latin typeface="Cambria"/>
              </a:rPr>
              <a:t>j</a:t>
            </a:r>
            <a:r>
              <a:rPr sz="2300" b="0" i="0">
                <a:solidFill>
                  <a:srgbClr val="1C252B"/>
                </a:solidFill>
                <a:latin typeface="Segoe UI"/>
              </a:rPr>
              <a:t>. The relation is a </a:t>
            </a:r>
            <a:r>
              <a:rPr sz="2300" b="1" i="0">
                <a:solidFill>
                  <a:srgbClr val="1A5276"/>
                </a:solidFill>
                <a:latin typeface="Segoe UI"/>
              </a:rPr>
              <a:t>partial order</a:t>
            </a:r>
            <a:r>
              <a:rPr sz="2300" b="0" i="0">
                <a:solidFill>
                  <a:srgbClr val="1C252B"/>
                </a:solidFill>
                <a:latin typeface="Segoe UI"/>
              </a:rPr>
              <a:t>: some pairs of hypotheses are not comparable at all.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more-general-than ordering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28     </a:t>
            </a:r>
            <a:fld id="{4424892A-E9DF-4505-B682-9C8BBE0107D8}" type="slidenum">
              <a:rPr lang="en-GB" sz="1000">
                <a:solidFill>
                  <a:srgbClr val="8795A1"/>
                </a:solidFill>
                <a:latin typeface="Segoe UI"/>
              </a:rPr>
              <a:t>14</a:t>
            </a:fld>
          </a:p>
        </p:txBody>
      </p:sp>
      <p:pic>
        <p:nvPicPr>
          <p:cNvPr id="6" name="!!figure" descr="Figure 4.1. The more-general-than ordering. A more general hypothesis covers a superset of the instances; hypotheses whose covered sets merely overlap, like h1 and h3, are not comparab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82950"/>
            <a:ext cx="10874959" cy="347998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 more general hypothesis covers a superset of the instances; hypotheses whose covered sets merely overlap, like h1 and h3, are not comparable.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2823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Find-S: The Most Specific Consistent Hypothesis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Concept Learning as a Task</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Inductive Learning Hypothesis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The General-to-Specific Ordering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4.4   Find-S: The Most Specific Consistent Hypothesis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Version Spaces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The Candidate-Elimination Algorithm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4.7   Using a Partially Learned Concept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4.8   Inductive Bias</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§4.4     </a:t>
            </a:r>
            <a:fld id="{541C4A13-2FB8-4B5F-996F-F048B336214A}" type="slidenum">
              <a:rPr lang="en-GB" sz="1000">
                <a:solidFill>
                  <a:srgbClr val="8795A1"/>
                </a:solidFill>
                <a:latin typeface="Segoe UI"/>
              </a:rPr>
              <a:t>15</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35168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Find-S Algorithm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28     </a:t>
            </a:r>
            <a:fld id="{B3023700-8A4A-466F-9634-F509A4F18EA0}"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48966"/>
          </a:xfrm>
          <a:prstGeom prst="roundRect">
            <a:avLst>
              <a:gd name="adj" fmla="val 345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4896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072893"/>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8A4500"/>
                </a:solidFill>
                <a:latin typeface="Segoe UI"/>
              </a:rPr>
              <a:t>1.	</a:t>
            </a:r>
            <a:r>
              <a:rPr sz="2300" b="0" i="0">
                <a:solidFill>
                  <a:srgbClr val="1C252B"/>
                </a:solidFill>
                <a:latin typeface="Segoe UI"/>
              </a:rPr>
              <a:t>Initialise </a:t>
            </a:r>
            <a:r>
              <a:rPr sz="2300" b="0" i="1">
                <a:solidFill>
                  <a:srgbClr val="1C252B"/>
                </a:solidFill>
                <a:latin typeface="Cambria"/>
              </a:rPr>
              <a:t>h</a:t>
            </a:r>
            <a:r>
              <a:rPr sz="2300" b="0" i="0">
                <a:solidFill>
                  <a:srgbClr val="1C252B"/>
                </a:solidFill>
                <a:latin typeface="Segoe UI"/>
              </a:rPr>
              <a:t> to the most specific hypothesis </a:t>
            </a:r>
            <a:r>
              <a:rPr sz="2300" b="0" i="0">
                <a:solidFill>
                  <a:srgbClr val="1C252B"/>
                </a:solidFill>
                <a:latin typeface="Cambria"/>
              </a:rPr>
              <a:t>⟨∅, ∅, ∅, ∅, ∅, ∅⟩</a:t>
            </a:r>
            <a:r>
              <a:rPr sz="2300" b="0" i="0">
                <a:solidFill>
                  <a:srgbClr val="1C252B"/>
                </a:solidFill>
                <a:latin typeface="Segoe UI"/>
              </a:rPr>
              <a:t>.</a:t>
            </a:r>
          </a:p>
          <a:p>
            <a:pPr algn="l" marL="554820" indent="-554820">
              <a:lnSpc>
                <a:spcPct val="104000"/>
              </a:lnSpc>
              <a:spcBef>
                <a:spcPts val="0"/>
              </a:spcBef>
              <a:spcAft>
                <a:spcPts val="804"/>
              </a:spcAft>
            </a:pPr>
            <a:r>
              <a:rPr sz="2300" b="1">
                <a:solidFill>
                  <a:srgbClr val="8A4500"/>
                </a:solidFill>
                <a:latin typeface="Segoe UI"/>
              </a:rPr>
              <a:t>2.	</a:t>
            </a:r>
            <a:r>
              <a:rPr sz="2300" b="0" i="0">
                <a:solidFill>
                  <a:srgbClr val="1C252B"/>
                </a:solidFill>
                <a:latin typeface="Segoe UI"/>
              </a:rPr>
              <a:t>For each </a:t>
            </a:r>
            <a:r>
              <a:rPr sz="2300" b="0" i="1">
                <a:solidFill>
                  <a:srgbClr val="1C252B"/>
                </a:solidFill>
                <a:latin typeface="Segoe UI"/>
              </a:rPr>
              <a:t>positive</a:t>
            </a:r>
            <a:r>
              <a:rPr sz="2300" b="0" i="0">
                <a:solidFill>
                  <a:srgbClr val="1C252B"/>
                </a:solidFill>
                <a:latin typeface="Segoe UI"/>
              </a:rPr>
              <a:t> training example </a:t>
            </a:r>
            <a:r>
              <a:rPr sz="2300" b="0" i="1">
                <a:solidFill>
                  <a:srgbClr val="1C252B"/>
                </a:solidFill>
                <a:latin typeface="Cambria"/>
              </a:rPr>
              <a:t>x</a:t>
            </a:r>
            <a:r>
              <a:rPr sz="2300" b="0" i="0">
                <a:solidFill>
                  <a:srgbClr val="1C252B"/>
                </a:solidFill>
                <a:latin typeface="Segoe UI"/>
              </a:rPr>
              <a:t>: for each constraint in </a:t>
            </a:r>
            <a:r>
              <a:rPr sz="2300" b="0" i="1">
                <a:solidFill>
                  <a:srgbClr val="1C252B"/>
                </a:solidFill>
                <a:latin typeface="Cambria"/>
              </a:rPr>
              <a:t>h</a:t>
            </a:r>
            <a:r>
              <a:rPr sz="2300" b="0" i="0">
                <a:solidFill>
                  <a:srgbClr val="1C252B"/>
                </a:solidFill>
                <a:latin typeface="Segoe UI"/>
              </a:rPr>
              <a:t> that </a:t>
            </a:r>
            <a:r>
              <a:rPr sz="2300" b="0" i="1">
                <a:solidFill>
                  <a:srgbClr val="1C252B"/>
                </a:solidFill>
                <a:latin typeface="Cambria"/>
              </a:rPr>
              <a:t>x</a:t>
            </a:r>
            <a:r>
              <a:rPr sz="2300" b="0" i="0">
                <a:solidFill>
                  <a:srgbClr val="1C252B"/>
                </a:solidFill>
                <a:latin typeface="Segoe UI"/>
              </a:rPr>
              <a:t> does not satisfy, replace it by the next more general constraint that </a:t>
            </a:r>
            <a:r>
              <a:rPr sz="2300" b="0" i="1">
                <a:solidFill>
                  <a:srgbClr val="1C252B"/>
                </a:solidFill>
                <a:latin typeface="Cambria"/>
              </a:rPr>
              <a:t>x</a:t>
            </a:r>
            <a:r>
              <a:rPr sz="2300" b="0" i="0">
                <a:solidFill>
                  <a:srgbClr val="1C252B"/>
                </a:solidFill>
                <a:latin typeface="Segoe UI"/>
              </a:rPr>
              <a:t> does satisfy (</a:t>
            </a:r>
            <a:r>
              <a:rPr sz="2300" b="0" i="0">
                <a:solidFill>
                  <a:srgbClr val="1C252B"/>
                </a:solidFill>
                <a:latin typeface="Cambria"/>
              </a:rPr>
              <a:t>∅ →</a:t>
            </a:r>
            <a:r>
              <a:rPr sz="2300" b="0" i="0">
                <a:solidFill>
                  <a:srgbClr val="1C252B"/>
                </a:solidFill>
                <a:latin typeface="Segoe UI"/>
              </a:rPr>
              <a:t> the value of </a:t>
            </a:r>
            <a:r>
              <a:rPr sz="2300" b="0" i="1">
                <a:solidFill>
                  <a:srgbClr val="1C252B"/>
                </a:solidFill>
                <a:latin typeface="Cambria"/>
              </a:rPr>
              <a:t>x</a:t>
            </a:r>
            <a:r>
              <a:rPr sz="2300" b="0" i="0">
                <a:solidFill>
                  <a:srgbClr val="1C252B"/>
                </a:solidFill>
                <a:latin typeface="Segoe UI"/>
              </a:rPr>
              <a:t>; a different value </a:t>
            </a:r>
            <a:r>
              <a:rPr sz="2300" b="0" i="0">
                <a:solidFill>
                  <a:srgbClr val="1C252B"/>
                </a:solidFill>
                <a:latin typeface="Cambria"/>
              </a:rPr>
              <a:t>→</a:t>
            </a:r>
            <a:r>
              <a:rPr sz="2300" b="0" i="0">
                <a:solidFill>
                  <a:srgbClr val="1C252B"/>
                </a:solidFill>
                <a:latin typeface="Segoe UI"/>
              </a:rPr>
              <a:t> “?”).</a:t>
            </a:r>
          </a:p>
          <a:p>
            <a:pPr algn="l" marL="554820" indent="-554820">
              <a:lnSpc>
                <a:spcPct val="104000"/>
              </a:lnSpc>
              <a:spcBef>
                <a:spcPts val="0"/>
              </a:spcBef>
              <a:spcAft>
                <a:spcPts val="0"/>
              </a:spcAft>
            </a:pPr>
            <a:r>
              <a:rPr sz="2300" b="1">
                <a:solidFill>
                  <a:srgbClr val="8A4500"/>
                </a:solidFill>
                <a:latin typeface="Segoe UI"/>
              </a:rPr>
              <a:t>3.	</a:t>
            </a:r>
            <a:r>
              <a:rPr sz="2300" b="0" i="0">
                <a:solidFill>
                  <a:srgbClr val="1C252B"/>
                </a:solidFill>
                <a:latin typeface="Segoe UI"/>
              </a:rPr>
              <a:t>Ignore negative examples. Output </a:t>
            </a:r>
            <a:r>
              <a:rPr sz="2300" b="0" i="1">
                <a:solidFill>
                  <a:srgbClr val="1C252B"/>
                </a:solidFill>
                <a:latin typeface="Cambria"/>
              </a:rPr>
              <a:t>h</a:t>
            </a:r>
            <a:r>
              <a:rPr sz="2300" b="0" i="0">
                <a:solidFill>
                  <a:srgbClr val="1C252B"/>
                </a:solidFill>
                <a:latin typeface="Segoe UI"/>
              </a:rPr>
              <a: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7512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Find-S on the Release Decisions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28     </a:t>
            </a:r>
            <a:fld id="{6C7E1A75-3F72-42C3-8EDF-9D0F3284E6CB}"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24781"/>
          </a:xfrm>
          <a:prstGeom prst="roundRect">
            <a:avLst>
              <a:gd name="adj" fmla="val 202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247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Start:</a:t>
            </a:r>
            <a:r>
              <a:rPr sz="1900" b="0" i="0">
                <a:solidFill>
                  <a:srgbClr val="1C252B"/>
                </a:solidFill>
                <a:latin typeface="Segoe UI"/>
              </a:rPr>
              <a:t> </a:t>
            </a:r>
            <a:r>
              <a:rPr sz="1900" b="0" i="1">
                <a:solidFill>
                  <a:srgbClr val="1C252B"/>
                </a:solidFill>
                <a:latin typeface="Cambria"/>
              </a:rPr>
              <a:t>h</a:t>
            </a:r>
            <a:r>
              <a:rPr sz="1900" b="0" i="0" baseline="-25000">
                <a:solidFill>
                  <a:srgbClr val="1C252B"/>
                </a:solidFill>
                <a:latin typeface="Cambria"/>
              </a:rPr>
              <a:t>0</a:t>
            </a:r>
            <a:r>
              <a:rPr sz="1900" b="0" i="0">
                <a:solidFill>
                  <a:srgbClr val="1C252B"/>
                </a:solidFill>
                <a:latin typeface="Cambria"/>
              </a:rPr>
              <a:t> = ⟨∅, ∅, ∅, ∅, ∅, ∅⟩</a:t>
            </a:r>
            <a:r>
              <a:rPr sz="1900" b="0" i="0">
                <a:solidFill>
                  <a:srgbClr val="1C252B"/>
                </a:solidFill>
                <a:latin typeface="Segoe UI"/>
              </a:rPr>
              <a:t>.</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1 (+):</a:t>
            </a:r>
            <a:r>
              <a:rPr sz="1900" b="0" i="0">
                <a:solidFill>
                  <a:srgbClr val="1C252B"/>
                </a:solidFill>
                <a:latin typeface="Segoe UI"/>
              </a:rPr>
              <a:t> nothing is satisfied, so copy the example: </a:t>
            </a:r>
            <a:r>
              <a:rPr sz="1900" b="0" i="1">
                <a:solidFill>
                  <a:srgbClr val="1C252B"/>
                </a:solidFill>
                <a:latin typeface="Cambria"/>
              </a:rPr>
              <a:t>h</a:t>
            </a:r>
            <a:r>
              <a:rPr sz="1900" b="0" i="0" baseline="-25000">
                <a:solidFill>
                  <a:srgbClr val="1C252B"/>
                </a:solidFill>
                <a:latin typeface="Cambria"/>
              </a:rPr>
              <a:t>1</a:t>
            </a:r>
            <a:r>
              <a:rPr sz="1900" b="0" i="0">
                <a:solidFill>
                  <a:srgbClr val="1C252B"/>
                </a:solidFill>
                <a:latin typeface="Cambria"/>
              </a:rPr>
              <a:t> = ⟨</a:t>
            </a:r>
            <a:r>
              <a:rPr sz="1900" b="0" i="0">
                <a:solidFill>
                  <a:srgbClr val="1C252B"/>
                </a:solidFill>
                <a:latin typeface="Segoe UI"/>
              </a:rPr>
              <a:t>Pass, Done, Complete, Ready, Quiet, Same</a:t>
            </a:r>
            <a:r>
              <a:rPr sz="1900" b="0" i="0">
                <a:solidFill>
                  <a:srgbClr val="1C252B"/>
                </a:solidFill>
                <a:latin typeface="Cambria"/>
              </a:rPr>
              <a:t>⟩</a:t>
            </a:r>
            <a:r>
              <a:rPr sz="1900" b="0" i="0">
                <a:solidFill>
                  <a:srgbClr val="1C252B"/>
                </a:solidFill>
                <a:latin typeface="Segoe UI"/>
              </a:rPr>
              <a:t>.</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2 (+):</a:t>
            </a:r>
            <a:r>
              <a:rPr sz="1900" b="0" i="0">
                <a:solidFill>
                  <a:srgbClr val="1C252B"/>
                </a:solidFill>
                <a:latin typeface="Segoe UI"/>
              </a:rPr>
              <a:t> Docs is Partial, not Complete, so generalise that constraint: </a:t>
            </a:r>
            <a:r>
              <a:rPr sz="1900" b="0" i="1">
                <a:solidFill>
                  <a:srgbClr val="1C252B"/>
                </a:solidFill>
                <a:latin typeface="Cambria"/>
              </a:rPr>
              <a:t>h</a:t>
            </a:r>
            <a:r>
              <a:rPr sz="1900" b="0" i="0" baseline="-25000">
                <a:solidFill>
                  <a:srgbClr val="1C252B"/>
                </a:solidFill>
                <a:latin typeface="Cambria"/>
              </a:rPr>
              <a:t>2</a:t>
            </a:r>
            <a:r>
              <a:rPr sz="1900" b="0" i="0">
                <a:solidFill>
                  <a:srgbClr val="1C252B"/>
                </a:solidFill>
                <a:latin typeface="Cambria"/>
              </a:rPr>
              <a:t> = ⟨</a:t>
            </a:r>
            <a:r>
              <a:rPr sz="1900" b="0" i="0">
                <a:solidFill>
                  <a:srgbClr val="1C252B"/>
                </a:solidFill>
                <a:latin typeface="Segoe UI"/>
              </a:rPr>
              <a:t>Pass, Done, ?, Ready, Quiet, Same</a:t>
            </a:r>
            <a:r>
              <a:rPr sz="1900" b="0" i="0">
                <a:solidFill>
                  <a:srgbClr val="1C252B"/>
                </a:solidFill>
                <a:latin typeface="Cambria"/>
              </a:rPr>
              <a:t>⟩</a:t>
            </a:r>
            <a:r>
              <a:rPr sz="1900" b="0" i="0">
                <a:solidFill>
                  <a:srgbClr val="1C252B"/>
                </a:solidFill>
                <a:latin typeface="Segoe UI"/>
              </a:rPr>
              <a:t>.</a:t>
            </a:r>
          </a:p>
        </p:txBody>
      </p:sp>
      <p:sp>
        <p:nvSpPr>
          <p:cNvPr id="12" name="body-3"/>
          <p:cNvSpPr txBox="1"/>
          <p:nvPr/>
        </p:nvSpPr>
        <p:spPr>
          <a:xfrm>
            <a:off x="1042416" y="391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3 (</a:t>
            </a:r>
            <a:r>
              <a:rPr sz="1900" b="1" i="0">
                <a:solidFill>
                  <a:srgbClr val="1C252B"/>
                </a:solidFill>
                <a:latin typeface="Cambria"/>
              </a:rPr>
              <a:t>−</a:t>
            </a:r>
            <a:r>
              <a:rPr sz="1900" b="1" i="0">
                <a:solidFill>
                  <a:srgbClr val="1C252B"/>
                </a:solidFill>
                <a:latin typeface="Segoe UI"/>
              </a:rPr>
              <a:t>):</a:t>
            </a:r>
            <a:r>
              <a:rPr sz="1900" b="0" i="0">
                <a:solidFill>
                  <a:srgbClr val="1C252B"/>
                </a:solidFill>
                <a:latin typeface="Segoe UI"/>
              </a:rPr>
              <a:t> ignored. (It is correctly classified as negative anyway — its tests failed.)</a:t>
            </a:r>
          </a:p>
        </p:txBody>
      </p:sp>
      <p:sp>
        <p:nvSpPr>
          <p:cNvPr id="13" name="body-4"/>
          <p:cNvSpPr txBox="1"/>
          <p:nvPr/>
        </p:nvSpPr>
        <p:spPr>
          <a:xfrm>
            <a:off x="1042416" y="434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4 (+):</a:t>
            </a:r>
            <a:r>
              <a:rPr sz="1900" b="0" i="0">
                <a:solidFill>
                  <a:srgbClr val="1C252B"/>
                </a:solidFill>
                <a:latin typeface="Segoe UI"/>
              </a:rPr>
              <a:t> Traffic and Scope differ, so generalise both: </a:t>
            </a:r>
            <a:r>
              <a:rPr sz="1900" b="0" i="1">
                <a:solidFill>
                  <a:srgbClr val="1C252B"/>
                </a:solidFill>
                <a:latin typeface="Cambria"/>
              </a:rPr>
              <a:t>h</a:t>
            </a:r>
            <a:r>
              <a:rPr sz="1900" b="0" i="0" baseline="-25000">
                <a:solidFill>
                  <a:srgbClr val="1C252B"/>
                </a:solidFill>
                <a:latin typeface="Cambria"/>
              </a:rPr>
              <a:t>4</a:t>
            </a:r>
            <a:r>
              <a:rPr sz="1900" b="0" i="0">
                <a:solidFill>
                  <a:srgbClr val="1C252B"/>
                </a:solidFill>
                <a:latin typeface="Cambria"/>
              </a:rPr>
              <a:t> = ⟨</a:t>
            </a:r>
            <a:r>
              <a:rPr sz="1900" b="0" i="0">
                <a:solidFill>
                  <a:srgbClr val="1C252B"/>
                </a:solidFill>
                <a:latin typeface="Segoe UI"/>
              </a:rPr>
              <a:t>Pass, Done, ?, Ready, ?, ?</a:t>
            </a:r>
            <a:r>
              <a:rPr sz="1900" b="0" i="0">
                <a:solidFill>
                  <a:srgbClr val="1C252B"/>
                </a:solidFill>
                <a:latin typeface="Cambria"/>
              </a:rPr>
              <a:t>⟩</a:t>
            </a:r>
            <a:r>
              <a:rPr sz="1900" b="0" i="0">
                <a:solidFill>
                  <a:srgbClr val="1C252B"/>
                </a:solidFill>
                <a:latin typeface="Segoe UI"/>
              </a:rPr>
              <a:t>.</a:t>
            </a:r>
          </a:p>
        </p:txBody>
      </p:sp>
      <p:sp>
        <p:nvSpPr>
          <p:cNvPr id="14" name="body-5"/>
          <p:cNvSpPr txBox="1"/>
          <p:nvPr/>
        </p:nvSpPr>
        <p:spPr>
          <a:xfrm>
            <a:off x="1042416" y="4783251"/>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Output:</a:t>
            </a:r>
            <a:r>
              <a:rPr sz="1900" b="0" i="0">
                <a:solidFill>
                  <a:srgbClr val="1C252B"/>
                </a:solidFill>
                <a:latin typeface="Segoe UI"/>
              </a:rPr>
              <a:t> “tests pass, review done and a rollback ready”. Why is it safe to ignore negatives? If the target concept is in </a:t>
            </a:r>
            <a:r>
              <a:rPr sz="1900" b="0" i="1">
                <a:solidFill>
                  <a:srgbClr val="1C252B"/>
                </a:solidFill>
                <a:latin typeface="Cambria"/>
              </a:rPr>
              <a:t>H</a:t>
            </a:r>
            <a:r>
              <a:rPr sz="1900" b="0" i="0">
                <a:solidFill>
                  <a:srgbClr val="1C252B"/>
                </a:solidFill>
                <a:latin typeface="Segoe UI"/>
              </a:rPr>
              <a:t>, it is at least as general as </a:t>
            </a:r>
            <a:r>
              <a:rPr sz="1900" b="0" i="1">
                <a:solidFill>
                  <a:srgbClr val="1C252B"/>
                </a:solidFill>
                <a:latin typeface="Cambria"/>
              </a:rPr>
              <a:t>h</a:t>
            </a:r>
            <a:r>
              <a:rPr sz="1900" b="0" i="0">
                <a:solidFill>
                  <a:srgbClr val="1C252B"/>
                </a:solidFill>
                <a:latin typeface="Segoe UI"/>
              </a:rPr>
              <a:t> (which only ever generalised as far as positives forced). A negative example is excluded by the target, so it is excluded by the more specific </a:t>
            </a:r>
            <a:r>
              <a:rPr sz="1900" b="0" i="1">
                <a:solidFill>
                  <a:srgbClr val="1C252B"/>
                </a:solidFill>
                <a:latin typeface="Cambria"/>
              </a:rPr>
              <a:t>h</a:t>
            </a:r>
            <a:r>
              <a:rPr sz="1900" b="0" i="0">
                <a:solidFill>
                  <a:srgbClr val="1C252B"/>
                </a:solidFill>
                <a:latin typeface="Segoe UI"/>
              </a:rPr>
              <a:t> as well.</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98574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Find-S Cannot Tell You</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28     </a:t>
            </a:r>
            <a:fld id="{6867A2CF-1706-4B70-8094-C8F4A48B0133}"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Find-S returns </a:t>
            </a:r>
            <a:r>
              <a:rPr sz="2300" b="0" i="1">
                <a:solidFill>
                  <a:srgbClr val="1C252B"/>
                </a:solidFill>
                <a:latin typeface="Segoe UI"/>
              </a:rPr>
              <a:t>a</a:t>
            </a:r>
            <a:r>
              <a:rPr sz="2300" b="0" i="0">
                <a:solidFill>
                  <a:srgbClr val="1C252B"/>
                </a:solidFill>
                <a:latin typeface="Segoe UI"/>
              </a:rPr>
              <a:t> consistent hypothesis, but not whether it is the only one; it cannot say whether it has converged; it cannot detect noisy or inconsistent data, because it never looks at negatives; and it always prefers the most specific answer, for no reason other than that it started there. The version space fixes the first three.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202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Consistent Hypothesis and Version Space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§4.5  ·  Handout p. 29     </a:t>
            </a:r>
            <a:fld id="{30ED85CF-3F35-4DF7-9A5C-744FC66210DA}"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hypothesis </a:t>
            </a:r>
            <a:r>
              <a:rPr sz="2300" b="0" i="1">
                <a:solidFill>
                  <a:srgbClr val="1C252B"/>
                </a:solidFill>
                <a:latin typeface="Cambria"/>
              </a:rPr>
              <a:t>h</a:t>
            </a:r>
            <a:r>
              <a:rPr sz="2300" b="0" i="0">
                <a:solidFill>
                  <a:srgbClr val="1C252B"/>
                </a:solidFill>
                <a:latin typeface="Segoe UI"/>
              </a:rPr>
              <a:t> is </a:t>
            </a:r>
            <a:r>
              <a:rPr sz="2300" b="1" i="0">
                <a:solidFill>
                  <a:srgbClr val="1A5276"/>
                </a:solidFill>
                <a:latin typeface="Segoe UI"/>
              </a:rPr>
              <a:t>consistent</a:t>
            </a:r>
            <a:r>
              <a:rPr sz="2300" b="0" i="0">
                <a:solidFill>
                  <a:srgbClr val="1C252B"/>
                </a:solidFill>
                <a:latin typeface="Segoe UI"/>
              </a:rPr>
              <a:t> with training examples </a:t>
            </a:r>
            <a:r>
              <a:rPr sz="2300" b="0" i="1">
                <a:solidFill>
                  <a:srgbClr val="1C252B"/>
                </a:solidFill>
                <a:latin typeface="Cambria"/>
              </a:rPr>
              <a:t>D</a:t>
            </a:r>
            <a:r>
              <a:rPr sz="2300" b="0" i="0">
                <a:solidFill>
                  <a:srgbClr val="1C252B"/>
                </a:solidFill>
                <a:latin typeface="Segoe UI"/>
              </a:rPr>
              <a:t> if </a:t>
            </a:r>
            <a:r>
              <a:rPr sz="2300" b="0" i="1">
                <a:solidFill>
                  <a:srgbClr val="1C252B"/>
                </a:solidFill>
                <a:latin typeface="Cambria"/>
              </a:rPr>
              <a:t>h</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 = </a:t>
            </a:r>
            <a:r>
              <a:rPr sz="2300" b="0" i="1">
                <a:solidFill>
                  <a:srgbClr val="1C252B"/>
                </a:solidFill>
                <a:latin typeface="Cambria"/>
              </a:rPr>
              <a:t>c</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a:t>
            </a:r>
            <a:r>
              <a:rPr sz="2300" b="0" i="0">
                <a:solidFill>
                  <a:srgbClr val="1C252B"/>
                </a:solidFill>
                <a:latin typeface="Segoe UI"/>
              </a:rPr>
              <a:t> for every example </a:t>
            </a:r>
            <a:r>
              <a:rPr sz="2300" b="0" i="0">
                <a:solidFill>
                  <a:srgbClr val="1C252B"/>
                </a:solidFill>
                <a:latin typeface="Cambria"/>
              </a:rPr>
              <a:t>⟨ </a:t>
            </a:r>
            <a:r>
              <a:rPr sz="2300" b="0" i="1">
                <a:solidFill>
                  <a:srgbClr val="1C252B"/>
                </a:solidFill>
                <a:latin typeface="Cambria"/>
              </a:rPr>
              <a:t>x</a:t>
            </a:r>
            <a:r>
              <a:rPr sz="2300" b="0" i="0">
                <a:solidFill>
                  <a:srgbClr val="1C252B"/>
                </a:solidFill>
                <a:latin typeface="Cambria"/>
              </a:rPr>
              <a:t>, </a:t>
            </a:r>
            <a:r>
              <a:rPr sz="2300" b="0" i="1">
                <a:solidFill>
                  <a:srgbClr val="1C252B"/>
                </a:solidFill>
                <a:latin typeface="Cambria"/>
              </a:rPr>
              <a:t>c</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a:t>
            </a:r>
            <a:r>
              <a:rPr sz="2300" b="0" i="0">
                <a:solidFill>
                  <a:srgbClr val="1C252B"/>
                </a:solidFill>
                <a:latin typeface="Segoe UI"/>
              </a:rPr>
              <a:t> in </a:t>
            </a:r>
            <a:r>
              <a:rPr sz="2300" b="0" i="1">
                <a:solidFill>
                  <a:srgbClr val="1C252B"/>
                </a:solidFill>
                <a:latin typeface="Cambria"/>
              </a:rPr>
              <a:t>D</a:t>
            </a:r>
            <a:r>
              <a:rPr sz="2300" b="0" i="0">
                <a:solidFill>
                  <a:srgbClr val="1C252B"/>
                </a:solidFill>
                <a:latin typeface="Segoe UI"/>
              </a:rPr>
              <a:t>. The </a:t>
            </a:r>
            <a:r>
              <a:rPr sz="2300" b="1" i="0">
                <a:solidFill>
                  <a:srgbClr val="1A5276"/>
                </a:solidFill>
                <a:latin typeface="Segoe UI"/>
              </a:rPr>
              <a:t>version space</a:t>
            </a:r>
            <a:r>
              <a:rPr sz="2300" b="0" i="0">
                <a:solidFill>
                  <a:srgbClr val="1C252B"/>
                </a:solidFill>
                <a:latin typeface="Segoe UI"/>
              </a:rPr>
              <a:t> </a:t>
            </a:r>
            <a:r>
              <a:rPr sz="2300" b="0" i="1">
                <a:solidFill>
                  <a:srgbClr val="1C252B"/>
                </a:solidFill>
                <a:latin typeface="Cambria"/>
              </a:rPr>
              <a:t>VS</a:t>
            </a:r>
            <a:r>
              <a:rPr sz="2300" b="0" i="1" baseline="-25000">
                <a:solidFill>
                  <a:srgbClr val="1C252B"/>
                </a:solidFill>
                <a:latin typeface="Cambria"/>
              </a:rPr>
              <a:t>H</a:t>
            </a:r>
            <a:r>
              <a:rPr sz="2300" b="0" i="0" baseline="-25000">
                <a:solidFill>
                  <a:srgbClr val="1C252B"/>
                </a:solidFill>
                <a:latin typeface="Cambria"/>
              </a:rPr>
              <a:t>,</a:t>
            </a:r>
            <a:r>
              <a:rPr sz="2300" b="0" i="1" baseline="-25000">
                <a:solidFill>
                  <a:srgbClr val="1C252B"/>
                </a:solidFill>
                <a:latin typeface="Cambria"/>
              </a:rPr>
              <a:t>D</a:t>
            </a:r>
            <a:r>
              <a:rPr sz="2300" b="0" i="0">
                <a:solidFill>
                  <a:srgbClr val="1C252B"/>
                </a:solidFill>
                <a:latin typeface="Segoe UI"/>
              </a:rPr>
              <a:t> is the set of all hypotheses in </a:t>
            </a:r>
            <a:r>
              <a:rPr sz="2300" b="0" i="1">
                <a:solidFill>
                  <a:srgbClr val="1C252B"/>
                </a:solidFill>
                <a:latin typeface="Cambria"/>
              </a:rPr>
              <a:t>H</a:t>
            </a:r>
            <a:r>
              <a:rPr sz="2300" b="0" i="0">
                <a:solidFill>
                  <a:srgbClr val="1C252B"/>
                </a:solidFill>
                <a:latin typeface="Segoe UI"/>
              </a:rPr>
              <a:t> consistent with </a:t>
            </a:r>
            <a:r>
              <a:rPr sz="2300" b="0" i="1">
                <a:solidFill>
                  <a:srgbClr val="1C252B"/>
                </a:solidFill>
                <a:latin typeface="Cambria"/>
              </a:rPr>
              <a:t>D</a:t>
            </a:r>
            <a:r>
              <a:rPr sz="2300" b="0" i="0">
                <a:solidFill>
                  <a:srgbClr val="1C252B"/>
                </a:solidFill>
                <a:latin typeface="Segoe UI"/>
              </a:rPr>
              <a:t> — every hypothesis the data has not yet ruled out.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546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Candidate-Elimination Algorithm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6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Concept Learning as a Task</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Inductive Learning Hypothesis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The General-to-Specific Ordering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Find-S: The Most Specific Consistent Hypothesis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Version Spaces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4.6   The Candidate-Elimination Algorithm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4.7   Using a Partially Learned Concept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4.8   Inductive Bias</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§4.6     </a:t>
            </a:r>
            <a:fld id="{DC20B053-5D83-49F7-B8EB-FE545DC1D26A}" type="slidenum">
              <a:rPr lang="en-GB" sz="1000">
                <a:solidFill>
                  <a:srgbClr val="8795A1"/>
                </a:solidFill>
                <a:latin typeface="Segoe UI"/>
              </a:rPr>
              <a:t>20</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4689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General and Specific Boundaries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29     </a:t>
            </a:r>
            <a:fld id="{A981B1EE-F6B3-4610-84E7-ABACC9FFF1CC}"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general boundary</a:t>
            </a:r>
            <a:r>
              <a:rPr sz="2300" b="0" i="0">
                <a:solidFill>
                  <a:srgbClr val="1C252B"/>
                </a:solidFill>
                <a:latin typeface="Segoe UI"/>
              </a:rPr>
              <a:t> </a:t>
            </a:r>
            <a:r>
              <a:rPr sz="2300" b="0" i="1">
                <a:solidFill>
                  <a:srgbClr val="1C252B"/>
                </a:solidFill>
                <a:latin typeface="Cambria"/>
              </a:rPr>
              <a:t>G</a:t>
            </a:r>
            <a:r>
              <a:rPr sz="2300" b="0" i="0">
                <a:solidFill>
                  <a:srgbClr val="1C252B"/>
                </a:solidFill>
                <a:latin typeface="Segoe UI"/>
              </a:rPr>
              <a:t> is the set of maximally general hypotheses in the version space; the </a:t>
            </a:r>
            <a:r>
              <a:rPr sz="2300" b="1" i="0">
                <a:solidFill>
                  <a:srgbClr val="1A5276"/>
                </a:solidFill>
                <a:latin typeface="Segoe UI"/>
              </a:rPr>
              <a:t>specific boundary</a:t>
            </a:r>
            <a:r>
              <a:rPr sz="2300" b="0" i="0">
                <a:solidFill>
                  <a:srgbClr val="1C252B"/>
                </a:solidFill>
                <a:latin typeface="Segoe UI"/>
              </a:rPr>
              <a:t> </a:t>
            </a:r>
            <a:r>
              <a:rPr sz="2300" b="0" i="1">
                <a:solidFill>
                  <a:srgbClr val="1C252B"/>
                </a:solidFill>
                <a:latin typeface="Cambria"/>
              </a:rPr>
              <a:t>S</a:t>
            </a:r>
            <a:r>
              <a:rPr sz="2300" b="0" i="0">
                <a:solidFill>
                  <a:srgbClr val="1C252B"/>
                </a:solidFill>
                <a:latin typeface="Segoe UI"/>
              </a:rPr>
              <a:t> is the set of maximally specific ones. Every hypothesis in the version space lies between them: it is more general than or equal to some member of </a:t>
            </a:r>
            <a:r>
              <a:rPr sz="2300" b="0" i="1">
                <a:solidFill>
                  <a:srgbClr val="1C252B"/>
                </a:solidFill>
                <a:latin typeface="Cambria"/>
              </a:rPr>
              <a:t>S</a:t>
            </a:r>
            <a:r>
              <a:rPr sz="2300" b="0" i="0">
                <a:solidFill>
                  <a:srgbClr val="1C252B"/>
                </a:solidFill>
                <a:latin typeface="Segoe UI"/>
              </a:rPr>
              <a:t> and more specific than or equal to some member of </a:t>
            </a:r>
            <a:r>
              <a:rPr sz="2300" b="0" i="1">
                <a:solidFill>
                  <a:srgbClr val="1C252B"/>
                </a:solidFill>
                <a:latin typeface="Cambria"/>
              </a:rPr>
              <a:t>G</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92356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Candidate-Elimination Algorithm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29     </a:t>
            </a:r>
            <a:fld id="{5579F3E6-8647-4331-8699-A9BDA5EA30FB}"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65549"/>
          </a:xfrm>
          <a:prstGeom prst="roundRect">
            <a:avLst>
              <a:gd name="adj" fmla="val 219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6554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Initialise </a:t>
            </a:r>
            <a:r>
              <a:rPr sz="2300" b="0" i="1">
                <a:solidFill>
                  <a:srgbClr val="1C252B"/>
                </a:solidFill>
                <a:latin typeface="Cambria"/>
              </a:rPr>
              <a:t>G</a:t>
            </a:r>
            <a:r>
              <a:rPr sz="2300" b="0" i="0">
                <a:solidFill>
                  <a:srgbClr val="1C252B"/>
                </a:solidFill>
                <a:latin typeface="Segoe UI"/>
              </a:rPr>
              <a:t> to </a:t>
            </a:r>
            <a:r>
              <a:rPr sz="2300" b="0" i="0">
                <a:solidFill>
                  <a:srgbClr val="1C252B"/>
                </a:solidFill>
                <a:latin typeface="Cambria"/>
              </a:rPr>
              <a:t>{⟨ ?, ?, ?, ?, ?, ?⟩}</a:t>
            </a:r>
            <a:r>
              <a:rPr sz="2300" b="0" i="0">
                <a:solidFill>
                  <a:srgbClr val="1C252B"/>
                </a:solidFill>
                <a:latin typeface="Segoe UI"/>
              </a:rPr>
              <a:t> and </a:t>
            </a:r>
            <a:r>
              <a:rPr sz="2300" b="0" i="1">
                <a:solidFill>
                  <a:srgbClr val="1C252B"/>
                </a:solidFill>
                <a:latin typeface="Cambria"/>
              </a:rPr>
              <a:t>S</a:t>
            </a:r>
            <a:r>
              <a:rPr sz="2300" b="0" i="0">
                <a:solidFill>
                  <a:srgbClr val="1C252B"/>
                </a:solidFill>
                <a:latin typeface="Segoe UI"/>
              </a:rPr>
              <a:t> to </a:t>
            </a:r>
            <a:r>
              <a:rPr sz="2300" b="0" i="0">
                <a:solidFill>
                  <a:srgbClr val="1C252B"/>
                </a:solidFill>
                <a:latin typeface="Cambria"/>
              </a:rPr>
              <a:t>{⟨∅, ∅, ∅, ∅, ∅, ∅⟩}</a:t>
            </a:r>
            <a:r>
              <a:rPr sz="2300" b="0" i="0">
                <a:solidFill>
                  <a:srgbClr val="1C252B"/>
                </a:solidFill>
                <a:latin typeface="Segoe UI"/>
              </a:rPr>
              <a:t>. For each training example </a:t>
            </a:r>
            <a:r>
              <a:rPr sz="2300" b="0" i="1">
                <a:solidFill>
                  <a:srgbClr val="1C252B"/>
                </a:solidFill>
                <a:latin typeface="Cambria"/>
              </a:rPr>
              <a:t>d</a:t>
            </a:r>
            <a:r>
              <a:rPr sz="2300" b="0" i="0">
                <a:solidFill>
                  <a:srgbClr val="1C252B"/>
                </a:solidFill>
                <a:latin typeface="Segoe UI"/>
              </a:rPr>
              <a:t>:</a:t>
            </a:r>
          </a:p>
        </p:txBody>
      </p:sp>
      <p:sp>
        <p:nvSpPr>
          <p:cNvPr id="10" name="body-1"/>
          <p:cNvSpPr txBox="1"/>
          <p:nvPr/>
        </p:nvSpPr>
        <p:spPr>
          <a:xfrm>
            <a:off x="1060704" y="2937992"/>
            <a:ext cx="10161727" cy="2699740"/>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If </a:t>
            </a:r>
            <a:r>
              <a:rPr sz="2300" b="1" i="1">
                <a:solidFill>
                  <a:srgbClr val="1C252B"/>
                </a:solidFill>
                <a:latin typeface="Cambria"/>
              </a:rPr>
              <a:t>d</a:t>
            </a:r>
            <a:r>
              <a:rPr sz="2300" b="1" i="0">
                <a:solidFill>
                  <a:srgbClr val="1C252B"/>
                </a:solidFill>
                <a:latin typeface="Segoe UI"/>
              </a:rPr>
              <a:t> is positive:</a:t>
            </a:r>
            <a:r>
              <a:rPr sz="2300" b="0" i="0">
                <a:solidFill>
                  <a:srgbClr val="1C252B"/>
                </a:solidFill>
                <a:latin typeface="Segoe UI"/>
              </a:rPr>
              <a:t> remove from </a:t>
            </a:r>
            <a:r>
              <a:rPr sz="2300" b="0" i="1">
                <a:solidFill>
                  <a:srgbClr val="1C252B"/>
                </a:solidFill>
                <a:latin typeface="Cambria"/>
              </a:rPr>
              <a:t>G</a:t>
            </a:r>
            <a:r>
              <a:rPr sz="2300" b="0" i="0">
                <a:solidFill>
                  <a:srgbClr val="1C252B"/>
                </a:solidFill>
                <a:latin typeface="Segoe UI"/>
              </a:rPr>
              <a:t> every hypothesis that does not cover </a:t>
            </a:r>
            <a:r>
              <a:rPr sz="2300" b="0" i="1">
                <a:solidFill>
                  <a:srgbClr val="1C252B"/>
                </a:solidFill>
                <a:latin typeface="Cambria"/>
              </a:rPr>
              <a:t>d</a:t>
            </a:r>
            <a:r>
              <a:rPr sz="2300" b="0" i="0">
                <a:solidFill>
                  <a:srgbClr val="1C252B"/>
                </a:solidFill>
                <a:latin typeface="Segoe UI"/>
              </a:rPr>
              <a:t>. Replace each </a:t>
            </a:r>
            <a:r>
              <a:rPr sz="2300" b="0" i="1">
                <a:solidFill>
                  <a:srgbClr val="1C252B"/>
                </a:solidFill>
                <a:latin typeface="Cambria"/>
              </a:rPr>
              <a:t>s</a:t>
            </a:r>
            <a:r>
              <a:rPr sz="2300" b="0" i="0">
                <a:solidFill>
                  <a:srgbClr val="1C252B"/>
                </a:solidFill>
                <a:latin typeface="Cambria"/>
              </a:rPr>
              <a:t> ∈ </a:t>
            </a:r>
            <a:r>
              <a:rPr sz="2300" b="0" i="1">
                <a:solidFill>
                  <a:srgbClr val="1C252B"/>
                </a:solidFill>
                <a:latin typeface="Cambria"/>
              </a:rPr>
              <a:t>S</a:t>
            </a:r>
            <a:r>
              <a:rPr sz="2300" b="0" i="0">
                <a:solidFill>
                  <a:srgbClr val="1C252B"/>
                </a:solidFill>
                <a:latin typeface="Segoe UI"/>
              </a:rPr>
              <a:t> that does not cover </a:t>
            </a:r>
            <a:r>
              <a:rPr sz="2300" b="0" i="1">
                <a:solidFill>
                  <a:srgbClr val="1C252B"/>
                </a:solidFill>
                <a:latin typeface="Cambria"/>
              </a:rPr>
              <a:t>d</a:t>
            </a:r>
            <a:r>
              <a:rPr sz="2300" b="0" i="0">
                <a:solidFill>
                  <a:srgbClr val="1C252B"/>
                </a:solidFill>
                <a:latin typeface="Segoe UI"/>
              </a:rPr>
              <a:t> by its minimal generalisations that do, keeping only those that are more specific than some member of </a:t>
            </a:r>
            <a:r>
              <a:rPr sz="2300" b="0" i="1">
                <a:solidFill>
                  <a:srgbClr val="1C252B"/>
                </a:solidFill>
                <a:latin typeface="Cambria"/>
              </a:rPr>
              <a:t>G</a:t>
            </a:r>
            <a:r>
              <a:rPr sz="2300" b="0" i="0">
                <a:solidFill>
                  <a:srgbClr val="1C252B"/>
                </a:solidFill>
                <a:latin typeface="Segoe UI"/>
              </a:rPr>
              <a:t>.</a:t>
            </a:r>
          </a:p>
          <a:p>
            <a:pPr algn="l" marL="257176" indent="-257176">
              <a:lnSpc>
                <a:spcPct val="104000"/>
              </a:lnSpc>
              <a:spcBef>
                <a:spcPts val="0"/>
              </a:spcBef>
              <a:spcAft>
                <a:spcPts val="0"/>
              </a:spcAft>
            </a:pPr>
            <a:r>
              <a:rPr sz="2300" b="1">
                <a:solidFill>
                  <a:srgbClr val="8A4500"/>
                </a:solidFill>
                <a:latin typeface="Segoe UI"/>
              </a:rPr>
              <a:t>•	</a:t>
            </a:r>
            <a:r>
              <a:rPr sz="2300" b="1" i="0">
                <a:solidFill>
                  <a:srgbClr val="8A4500"/>
                </a:solidFill>
                <a:latin typeface="Segoe UI"/>
              </a:rPr>
              <a:t>If </a:t>
            </a:r>
            <a:r>
              <a:rPr sz="2300" b="1" i="1">
                <a:solidFill>
                  <a:srgbClr val="1C252B"/>
                </a:solidFill>
                <a:latin typeface="Cambria"/>
              </a:rPr>
              <a:t>d</a:t>
            </a:r>
            <a:r>
              <a:rPr sz="2300" b="1" i="0">
                <a:solidFill>
                  <a:srgbClr val="1C252B"/>
                </a:solidFill>
                <a:latin typeface="Segoe UI"/>
              </a:rPr>
              <a:t> is negative:</a:t>
            </a:r>
            <a:r>
              <a:rPr sz="2300" b="0" i="0">
                <a:solidFill>
                  <a:srgbClr val="1C252B"/>
                </a:solidFill>
                <a:latin typeface="Segoe UI"/>
              </a:rPr>
              <a:t> remove from </a:t>
            </a:r>
            <a:r>
              <a:rPr sz="2300" b="0" i="1">
                <a:solidFill>
                  <a:srgbClr val="1C252B"/>
                </a:solidFill>
                <a:latin typeface="Cambria"/>
              </a:rPr>
              <a:t>S</a:t>
            </a:r>
            <a:r>
              <a:rPr sz="2300" b="0" i="0">
                <a:solidFill>
                  <a:srgbClr val="1C252B"/>
                </a:solidFill>
                <a:latin typeface="Segoe UI"/>
              </a:rPr>
              <a:t> every hypothesis that covers </a:t>
            </a:r>
            <a:r>
              <a:rPr sz="2300" b="0" i="1">
                <a:solidFill>
                  <a:srgbClr val="1C252B"/>
                </a:solidFill>
                <a:latin typeface="Cambria"/>
              </a:rPr>
              <a:t>d</a:t>
            </a:r>
            <a:r>
              <a:rPr sz="2300" b="0" i="0">
                <a:solidFill>
                  <a:srgbClr val="1C252B"/>
                </a:solidFill>
                <a:latin typeface="Segoe UI"/>
              </a:rPr>
              <a:t>. Replace each </a:t>
            </a:r>
            <a:r>
              <a:rPr sz="2300" b="0" i="1">
                <a:solidFill>
                  <a:srgbClr val="1C252B"/>
                </a:solidFill>
                <a:latin typeface="Cambria"/>
              </a:rPr>
              <a:t>g</a:t>
            </a:r>
            <a:r>
              <a:rPr sz="2300" b="0" i="0">
                <a:solidFill>
                  <a:srgbClr val="1C252B"/>
                </a:solidFill>
                <a:latin typeface="Cambria"/>
              </a:rPr>
              <a:t> ∈ </a:t>
            </a:r>
            <a:r>
              <a:rPr sz="2300" b="0" i="1">
                <a:solidFill>
                  <a:srgbClr val="1C252B"/>
                </a:solidFill>
                <a:latin typeface="Cambria"/>
              </a:rPr>
              <a:t>G</a:t>
            </a:r>
            <a:r>
              <a:rPr sz="2300" b="0" i="0">
                <a:solidFill>
                  <a:srgbClr val="1C252B"/>
                </a:solidFill>
                <a:latin typeface="Segoe UI"/>
              </a:rPr>
              <a:t> that covers </a:t>
            </a:r>
            <a:r>
              <a:rPr sz="2300" b="0" i="1">
                <a:solidFill>
                  <a:srgbClr val="1C252B"/>
                </a:solidFill>
                <a:latin typeface="Cambria"/>
              </a:rPr>
              <a:t>d</a:t>
            </a:r>
            <a:r>
              <a:rPr sz="2300" b="0" i="0">
                <a:solidFill>
                  <a:srgbClr val="1C252B"/>
                </a:solidFill>
                <a:latin typeface="Segoe UI"/>
              </a:rPr>
              <a:t> by its minimal specialisations that do not, keeping only those that are more general than some member of </a:t>
            </a:r>
            <a:r>
              <a:rPr sz="2300" b="0" i="1">
                <a:solidFill>
                  <a:srgbClr val="1C252B"/>
                </a:solidFill>
                <a:latin typeface="Cambria"/>
              </a:rPr>
              <a:t>S</a:t>
            </a:r>
            <a:r>
              <a:rPr sz="2300" b="0" i="0">
                <a:solidFill>
                  <a:srgbClr val="1C252B"/>
                </a:solidFill>
                <a:latin typeface="Segoe UI"/>
              </a:rPr>
              <a:t>, and then drop any that is less general than another member of </a:t>
            </a:r>
            <a:r>
              <a:rPr sz="2300" b="0" i="1">
                <a:solidFill>
                  <a:srgbClr val="1C252B"/>
                </a:solidFill>
                <a:latin typeface="Cambria"/>
              </a:rPr>
              <a:t>G</a:t>
            </a:r>
            <a:r>
              <a:rPr sz="2300" b="0" i="0">
                <a:solidFill>
                  <a:srgbClr val="1C252B"/>
                </a:solidFill>
                <a:latin typeface="Segoe UI"/>
              </a:rPr>
              <a: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15802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version space is everything between the two boundaries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29     </a:t>
            </a:r>
            <a:fld id="{FB460796-8CB4-4821-8481-C978065866AB}" type="slidenum">
              <a:rPr lang="en-GB" sz="1000">
                <a:solidFill>
                  <a:srgbClr val="8795A1"/>
                </a:solidFill>
                <a:latin typeface="Segoe UI"/>
              </a:rPr>
              <a:t>23</a:t>
            </a:fld>
          </a:p>
        </p:txBody>
      </p:sp>
      <p:pic>
        <p:nvPicPr>
          <p:cNvPr id="6" name="!!figure" descr="Figure 4.2. The version space is everything between the two boundaries. Each example moves one boundary towards the other; if they meet, the concept has been learned exactl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16808"/>
            <a:ext cx="10874959" cy="298452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example moves one boundary towards the other; if they meet, the concept has been learned exactly.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39248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Candidate-Elimination on the Release Decisions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29     </a:t>
            </a:r>
            <a:fld id="{0DE5AF96-24F0-4468-98D8-8D988DB63320}"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56354"/>
          </a:xfrm>
          <a:prstGeom prst="roundRect">
            <a:avLst>
              <a:gd name="adj" fmla="val 209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563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Start.</a:t>
            </a:r>
            <a:r>
              <a:rPr sz="1900" b="0" i="0">
                <a:solidFill>
                  <a:srgbClr val="1C252B"/>
                </a:solidFill>
                <a:latin typeface="Segoe UI"/>
              </a:rPr>
              <a:t> </a:t>
            </a:r>
            <a:r>
              <a:rPr sz="1900" b="0" i="1">
                <a:solidFill>
                  <a:srgbClr val="1C252B"/>
                </a:solidFill>
                <a:latin typeface="Cambria"/>
              </a:rPr>
              <a:t>S</a:t>
            </a:r>
            <a:r>
              <a:rPr sz="1900" b="0" i="0" baseline="-25000">
                <a:solidFill>
                  <a:srgbClr val="1C252B"/>
                </a:solidFill>
                <a:latin typeface="Cambria"/>
              </a:rPr>
              <a:t>0</a:t>
            </a:r>
            <a:r>
              <a:rPr sz="1900" b="0" i="0">
                <a:solidFill>
                  <a:srgbClr val="1C252B"/>
                </a:solidFill>
                <a:latin typeface="Cambria"/>
              </a:rPr>
              <a:t> = {⟨∅, ∅, ∅, ∅, ∅, ∅⟩}</a:t>
            </a:r>
            <a:r>
              <a:rPr sz="1900" b="0" i="0">
                <a:solidFill>
                  <a:srgbClr val="1C252B"/>
                </a:solidFill>
                <a:latin typeface="Segoe UI"/>
              </a:rPr>
              <a:t>, </a:t>
            </a:r>
            <a:r>
              <a:rPr sz="1900" b="0" i="1">
                <a:solidFill>
                  <a:srgbClr val="1C252B"/>
                </a:solidFill>
                <a:latin typeface="Cambria"/>
              </a:rPr>
              <a:t>G</a:t>
            </a:r>
            <a:r>
              <a:rPr sz="1900" b="0" i="0" baseline="-25000">
                <a:solidFill>
                  <a:srgbClr val="1C252B"/>
                </a:solidFill>
                <a:latin typeface="Cambria"/>
              </a:rPr>
              <a:t>0</a:t>
            </a:r>
            <a:r>
              <a:rPr sz="1900" b="0" i="0">
                <a:solidFill>
                  <a:srgbClr val="1C252B"/>
                </a:solidFill>
                <a:latin typeface="Cambria"/>
              </a:rPr>
              <a:t> = {⟨ ?, ?, ?, ?, ?, ?⟩}</a:t>
            </a:r>
            <a:r>
              <a:rPr sz="1900" b="0" i="0">
                <a:solidFill>
                  <a:srgbClr val="1C252B"/>
                </a:solidFill>
                <a:latin typeface="Segoe UI"/>
              </a:rPr>
              <a:t>.</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1 (+)</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Pass, Done, Complete, Ready, Quiet, Same</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G</a:t>
            </a:r>
            <a:r>
              <a:rPr sz="1900" b="0" i="0" baseline="-25000">
                <a:solidFill>
                  <a:srgbClr val="1C252B"/>
                </a:solidFill>
                <a:latin typeface="Cambria"/>
              </a:rPr>
              <a:t>0</a:t>
            </a:r>
            <a:r>
              <a:rPr sz="1900" b="0" i="0">
                <a:solidFill>
                  <a:srgbClr val="1C252B"/>
                </a:solidFill>
                <a:latin typeface="Segoe UI"/>
              </a:rPr>
              <a:t> covers it: keep. </a:t>
            </a:r>
            <a:r>
              <a:rPr sz="1900" b="0" i="1">
                <a:solidFill>
                  <a:srgbClr val="1C252B"/>
                </a:solidFill>
                <a:latin typeface="Cambria"/>
              </a:rPr>
              <a:t>S</a:t>
            </a:r>
            <a:r>
              <a:rPr sz="1900" b="0" i="0" baseline="-25000">
                <a:solidFill>
                  <a:srgbClr val="1C252B"/>
                </a:solidFill>
                <a:latin typeface="Cambria"/>
              </a:rPr>
              <a:t>0</a:t>
            </a:r>
            <a:r>
              <a:rPr sz="1900" b="0" i="0">
                <a:solidFill>
                  <a:srgbClr val="1C252B"/>
                </a:solidFill>
                <a:latin typeface="Segoe UI"/>
              </a:rPr>
              <a:t> does not: generalise minimally.</a:t>
            </a:r>
          </a:p>
        </p:txBody>
      </p:sp>
      <p:sp>
        <p:nvSpPr>
          <p:cNvPr id="11" name="body-2"/>
          <p:cNvSpPr txBox="1"/>
          <p:nvPr/>
        </p:nvSpPr>
        <p:spPr>
          <a:xfrm>
            <a:off x="1042416" y="3180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S</a:t>
            </a:r>
            <a:r>
              <a:rPr sz="1900" b="0" i="0" baseline="-25000">
                <a:solidFill>
                  <a:srgbClr val="1C252B"/>
                </a:solidFill>
                <a:latin typeface="Cambria"/>
              </a:rPr>
              <a:t>1</a:t>
            </a:r>
            <a:r>
              <a:rPr sz="1900" b="0" i="0">
                <a:solidFill>
                  <a:srgbClr val="1C252B"/>
                </a:solidFill>
                <a:latin typeface="Cambria"/>
              </a:rPr>
              <a:t> = {⟨</a:t>
            </a:r>
            <a:r>
              <a:rPr sz="1900" b="0" i="0">
                <a:solidFill>
                  <a:srgbClr val="1C252B"/>
                </a:solidFill>
                <a:latin typeface="Segoe UI"/>
              </a:rPr>
              <a:t>Pass, Done, Complete, Ready, Quiet, Same</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G</a:t>
            </a:r>
            <a:r>
              <a:rPr sz="1900" b="0" i="0" baseline="-25000">
                <a:solidFill>
                  <a:srgbClr val="1C252B"/>
                </a:solidFill>
                <a:latin typeface="Cambria"/>
              </a:rPr>
              <a:t>1</a:t>
            </a:r>
            <a:r>
              <a:rPr sz="1900" b="0" i="0">
                <a:solidFill>
                  <a:srgbClr val="1C252B"/>
                </a:solidFill>
                <a:latin typeface="Cambria"/>
              </a:rPr>
              <a:t> = </a:t>
            </a:r>
            <a:r>
              <a:rPr sz="1900" b="0" i="1">
                <a:solidFill>
                  <a:srgbClr val="1C252B"/>
                </a:solidFill>
                <a:latin typeface="Cambria"/>
              </a:rPr>
              <a:t>G</a:t>
            </a:r>
            <a:r>
              <a:rPr sz="1900" b="0" i="0" baseline="-25000">
                <a:solidFill>
                  <a:srgbClr val="1C252B"/>
                </a:solidFill>
                <a:latin typeface="Cambria"/>
              </a:rPr>
              <a:t>0</a:t>
            </a:r>
            <a:r>
              <a:rPr sz="1900" b="0" i="0">
                <a:solidFill>
                  <a:srgbClr val="1C252B"/>
                </a:solidFill>
                <a:latin typeface="Segoe UI"/>
              </a:rPr>
              <a:t>.</a:t>
            </a:r>
          </a:p>
        </p:txBody>
      </p:sp>
      <p:sp>
        <p:nvSpPr>
          <p:cNvPr id="12" name="body-3"/>
          <p:cNvSpPr txBox="1"/>
          <p:nvPr/>
        </p:nvSpPr>
        <p:spPr>
          <a:xfrm>
            <a:off x="1042416" y="3614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2 (+)</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Pass, Done, Partial, Ready, Quiet, Same</a:t>
            </a:r>
            <a:r>
              <a:rPr sz="1900" b="0" i="0">
                <a:solidFill>
                  <a:srgbClr val="1C252B"/>
                </a:solidFill>
                <a:latin typeface="Cambria"/>
              </a:rPr>
              <a:t>⟩</a:t>
            </a:r>
            <a:r>
              <a:rPr sz="1900" b="0" i="0">
                <a:solidFill>
                  <a:srgbClr val="1C252B"/>
                </a:solidFill>
                <a:latin typeface="Segoe UI"/>
              </a:rPr>
              <a:t>. Docs differs, so it becomes “?”.</a:t>
            </a:r>
          </a:p>
        </p:txBody>
      </p:sp>
      <p:sp>
        <p:nvSpPr>
          <p:cNvPr id="13" name="body-4"/>
          <p:cNvSpPr txBox="1"/>
          <p:nvPr/>
        </p:nvSpPr>
        <p:spPr>
          <a:xfrm>
            <a:off x="1042416" y="404825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Cambria"/>
              </a:rPr>
              <a:t> = {⟨</a:t>
            </a:r>
            <a:r>
              <a:rPr sz="1900" b="0" i="0">
                <a:solidFill>
                  <a:srgbClr val="1C252B"/>
                </a:solidFill>
                <a:latin typeface="Segoe UI"/>
              </a:rPr>
              <a:t>Pass, Done, ?, Ready, Quiet, Same</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G</a:t>
            </a:r>
            <a:r>
              <a:rPr sz="1900" b="0" i="0" baseline="-25000">
                <a:solidFill>
                  <a:srgbClr val="1C252B"/>
                </a:solidFill>
                <a:latin typeface="Cambria"/>
              </a:rPr>
              <a:t>2</a:t>
            </a:r>
            <a:r>
              <a:rPr sz="1900" b="0" i="0">
                <a:solidFill>
                  <a:srgbClr val="1C252B"/>
                </a:solidFill>
                <a:latin typeface="Cambria"/>
              </a:rPr>
              <a:t> = </a:t>
            </a:r>
            <a:r>
              <a:rPr sz="1900" b="0" i="1">
                <a:solidFill>
                  <a:srgbClr val="1C252B"/>
                </a:solidFill>
                <a:latin typeface="Cambria"/>
              </a:rPr>
              <a:t>G</a:t>
            </a:r>
            <a:r>
              <a:rPr sz="1900" b="0" i="0" baseline="-25000">
                <a:solidFill>
                  <a:srgbClr val="1C252B"/>
                </a:solidFill>
                <a:latin typeface="Cambria"/>
              </a:rPr>
              <a:t>0</a:t>
            </a:r>
            <a:r>
              <a:rPr sz="1900" b="0" i="0">
                <a:solidFill>
                  <a:srgbClr val="1C252B"/>
                </a:solidFill>
                <a:latin typeface="Segoe UI"/>
              </a:rPr>
              <a:t>.</a:t>
            </a:r>
          </a:p>
        </p:txBody>
      </p:sp>
      <p:sp>
        <p:nvSpPr>
          <p:cNvPr id="14" name="body-5"/>
          <p:cNvSpPr txBox="1"/>
          <p:nvPr/>
        </p:nvSpPr>
        <p:spPr>
          <a:xfrm>
            <a:off x="1042416" y="448210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3 (</a:t>
            </a:r>
            <a:r>
              <a:rPr sz="1900" b="1" i="0">
                <a:solidFill>
                  <a:srgbClr val="1C252B"/>
                </a:solidFill>
                <a:latin typeface="Cambria"/>
              </a:rPr>
              <a:t>−</a:t>
            </a:r>
            <a:r>
              <a:rPr sz="1900" b="1" i="0">
                <a:solidFill>
                  <a:srgbClr val="1C252B"/>
                </a:solidFill>
                <a:latin typeface="Segoe UI"/>
              </a:rPr>
              <a:t>)</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Fail, Pending, Partial, Ready, Quiet, Changed</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Segoe UI"/>
              </a:rPr>
              <a:t> already excludes it. </a:t>
            </a:r>
            <a:r>
              <a:rPr sz="1900" b="0" i="1">
                <a:solidFill>
                  <a:srgbClr val="1C252B"/>
                </a:solidFill>
                <a:latin typeface="Cambria"/>
              </a:rPr>
              <a:t>G</a:t>
            </a:r>
            <a:r>
              <a:rPr sz="1900" b="0" i="0" baseline="-25000">
                <a:solidFill>
                  <a:srgbClr val="1C252B"/>
                </a:solidFill>
                <a:latin typeface="Cambria"/>
              </a:rPr>
              <a:t>2</a:t>
            </a:r>
            <a:r>
              <a:rPr sz="1900" b="0" i="0">
                <a:solidFill>
                  <a:srgbClr val="1C252B"/>
                </a:solidFill>
                <a:latin typeface="Segoe UI"/>
              </a:rPr>
              <a:t> covers it, so specialise </a:t>
            </a:r>
            <a:r>
              <a:rPr sz="1900" b="0" i="0">
                <a:solidFill>
                  <a:srgbClr val="1C252B"/>
                </a:solidFill>
                <a:latin typeface="Cambria"/>
              </a:rPr>
              <a:t>⟨ ?, ?, ?, ?, ?, ?⟩</a:t>
            </a:r>
            <a:r>
              <a:rPr sz="1900" b="0" i="0">
                <a:solidFill>
                  <a:srgbClr val="1C252B"/>
                </a:solidFill>
                <a:latin typeface="Segoe UI"/>
              </a:rPr>
              <a:t> one attribute at a time to a value the negative example does not have:</a:t>
            </a:r>
          </a:p>
        </p:txBody>
      </p:sp>
      <p:sp>
        <p:nvSpPr>
          <p:cNvPr id="15" name="body-6"/>
          <p:cNvSpPr txBox="1"/>
          <p:nvPr/>
        </p:nvSpPr>
        <p:spPr>
          <a:xfrm>
            <a:off x="1042416" y="5518251"/>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Tests: Pass or Flaky. Only </a:t>
            </a:r>
            <a:r>
              <a:rPr sz="1900" b="0" i="1">
                <a:solidFill>
                  <a:srgbClr val="1C252B"/>
                </a:solidFill>
                <a:latin typeface="Segoe UI"/>
              </a:rPr>
              <a:t>Pass</a:t>
            </a:r>
            <a:r>
              <a:rPr sz="1900" b="0" i="0">
                <a:solidFill>
                  <a:srgbClr val="1C252B"/>
                </a:solidFill>
                <a:latin typeface="Segoe UI"/>
              </a:rPr>
              <a:t> is still more general than </a:t>
            </a: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Segoe UI"/>
              </a:rPr>
              <a:t>.</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56269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Candidate-Elimination on the Release Decisions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29     </a:t>
            </a:r>
            <a:fld id="{CE37AA72-DE85-472C-899F-3AD0CE636EA2}"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94886"/>
          </a:xfrm>
          <a:prstGeom prst="roundRect">
            <a:avLst>
              <a:gd name="adj" fmla="val 228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9488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889251"/>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Review: </a:t>
            </a:r>
            <a:r>
              <a:rPr sz="1900" b="0" i="1">
                <a:solidFill>
                  <a:srgbClr val="1C252B"/>
                </a:solidFill>
                <a:latin typeface="Segoe UI"/>
              </a:rPr>
              <a:t>Done</a:t>
            </a:r>
            <a:r>
              <a:rPr sz="1900" b="0" i="0">
                <a:solidFill>
                  <a:srgbClr val="1C252B"/>
                </a:solidFill>
                <a:latin typeface="Segoe UI"/>
              </a:rPr>
              <a:t>. Kept.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Docs: Complete — but </a:t>
            </a: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Segoe UI"/>
              </a:rPr>
              <a:t> has “?” there, so this is not more general than </a:t>
            </a: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Segoe UI"/>
              </a:rPr>
              <a:t>. Dropped.</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Rollback: None — contradicts </a:t>
            </a: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Segoe UI"/>
              </a:rPr>
              <a:t>’s Ready. Dropped.</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Traffic: Peak — contradicts </a:t>
            </a: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Segoe UI"/>
              </a:rPr>
              <a:t>’s Quiet. Dropped.</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Scope: </a:t>
            </a:r>
            <a:r>
              <a:rPr sz="1900" b="0" i="1">
                <a:solidFill>
                  <a:srgbClr val="1C252B"/>
                </a:solidFill>
                <a:latin typeface="Segoe UI"/>
              </a:rPr>
              <a:t>Same</a:t>
            </a:r>
            <a:r>
              <a:rPr sz="1900" b="0" i="0">
                <a:solidFill>
                  <a:srgbClr val="1C252B"/>
                </a:solidFill>
                <a:latin typeface="Segoe UI"/>
              </a:rPr>
              <a:t>. Kept.</a:t>
            </a:r>
          </a:p>
        </p:txBody>
      </p:sp>
      <p:sp>
        <p:nvSpPr>
          <p:cNvPr id="10" name="body-1"/>
          <p:cNvSpPr txBox="1"/>
          <p:nvPr/>
        </p:nvSpPr>
        <p:spPr>
          <a:xfrm>
            <a:off x="1042416" y="398792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S</a:t>
            </a:r>
            <a:r>
              <a:rPr sz="1900" b="0" i="0" baseline="-25000">
                <a:solidFill>
                  <a:srgbClr val="1C252B"/>
                </a:solidFill>
                <a:latin typeface="Cambria"/>
              </a:rPr>
              <a:t>3</a:t>
            </a:r>
            <a:r>
              <a:rPr sz="1900" b="0" i="0">
                <a:solidFill>
                  <a:srgbClr val="1C252B"/>
                </a:solidFill>
                <a:latin typeface="Cambria"/>
              </a:rPr>
              <a:t> = </a:t>
            </a:r>
            <a:r>
              <a:rPr sz="1900" b="0" i="1">
                <a:solidFill>
                  <a:srgbClr val="1C252B"/>
                </a:solidFill>
                <a:latin typeface="Cambria"/>
              </a:rPr>
              <a:t>S</a:t>
            </a:r>
            <a:r>
              <a:rPr sz="1900" b="0" i="0" baseline="-25000">
                <a:solidFill>
                  <a:srgbClr val="1C252B"/>
                </a:solidFill>
                <a:latin typeface="Cambria"/>
              </a:rPr>
              <a:t>2</a:t>
            </a:r>
            <a:r>
              <a:rPr sz="1900" b="0" i="0">
                <a:solidFill>
                  <a:srgbClr val="1C252B"/>
                </a:solidFill>
                <a:latin typeface="Segoe UI"/>
              </a:rPr>
              <a:t>, </a:t>
            </a:r>
            <a:r>
              <a:rPr sz="1900" b="0" i="1">
                <a:solidFill>
                  <a:srgbClr val="1C252B"/>
                </a:solidFill>
                <a:latin typeface="Cambria"/>
              </a:rPr>
              <a:t>G</a:t>
            </a:r>
            <a:r>
              <a:rPr sz="1900" b="0" i="0" baseline="-25000">
                <a:solidFill>
                  <a:srgbClr val="1C252B"/>
                </a:solidFill>
                <a:latin typeface="Cambria"/>
              </a:rPr>
              <a:t>3</a:t>
            </a:r>
            <a:r>
              <a:rPr sz="1900" b="0" i="0">
                <a:solidFill>
                  <a:srgbClr val="1C252B"/>
                </a:solidFill>
                <a:latin typeface="Cambria"/>
              </a:rPr>
              <a:t> = {⟨</a:t>
            </a:r>
            <a:r>
              <a:rPr sz="1900" b="0" i="0">
                <a:solidFill>
                  <a:srgbClr val="1C252B"/>
                </a:solidFill>
                <a:latin typeface="Segoe UI"/>
              </a:rPr>
              <a:t>Pass, ?, ?, ?, ?, ?</a:t>
            </a:r>
            <a:r>
              <a:rPr sz="1900" b="0" i="0">
                <a:solidFill>
                  <a:srgbClr val="1C252B"/>
                </a:solidFill>
                <a:latin typeface="Cambria"/>
              </a:rPr>
              <a:t>⟩</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Done, ?, ?, ?, ?</a:t>
            </a:r>
            <a:r>
              <a:rPr sz="1900" b="0" i="0">
                <a:solidFill>
                  <a:srgbClr val="1C252B"/>
                </a:solidFill>
                <a:latin typeface="Cambria"/>
              </a:rPr>
              <a:t>⟩</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 ?, ?, ?, Same</a:t>
            </a:r>
            <a:r>
              <a:rPr sz="1900" b="0" i="0">
                <a:solidFill>
                  <a:srgbClr val="1C252B"/>
                </a:solidFill>
                <a:latin typeface="Cambria"/>
              </a:rPr>
              <a:t>⟩}</a:t>
            </a:r>
            <a:r>
              <a:rPr sz="1900" b="0" i="0">
                <a:solidFill>
                  <a:srgbClr val="1C252B"/>
                </a:solidFill>
                <a:latin typeface="Segoe UI"/>
              </a:rPr>
              <a:t>.</a:t>
            </a:r>
          </a:p>
        </p:txBody>
      </p:sp>
      <p:sp>
        <p:nvSpPr>
          <p:cNvPr id="11" name="body-2"/>
          <p:cNvSpPr txBox="1"/>
          <p:nvPr/>
        </p:nvSpPr>
        <p:spPr>
          <a:xfrm>
            <a:off x="1042416" y="442178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Release 4 (+)</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Pass, Done, Partial, Ready, Peak, Changed</a:t>
            </a:r>
            <a:r>
              <a:rPr sz="1900" b="0" i="0">
                <a:solidFill>
                  <a:srgbClr val="1C252B"/>
                </a:solidFill>
                <a:latin typeface="Cambria"/>
              </a:rPr>
              <a:t>⟩</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 ?, ?, ?, Same</a:t>
            </a:r>
            <a:r>
              <a:rPr sz="1900" b="0" i="0">
                <a:solidFill>
                  <a:srgbClr val="1C252B"/>
                </a:solidFill>
                <a:latin typeface="Cambria"/>
              </a:rPr>
              <a:t>⟩</a:t>
            </a:r>
            <a:r>
              <a:rPr sz="1900" b="0" i="0">
                <a:solidFill>
                  <a:srgbClr val="1C252B"/>
                </a:solidFill>
                <a:latin typeface="Segoe UI"/>
              </a:rPr>
              <a:t> does not cover it: removed from </a:t>
            </a:r>
            <a:r>
              <a:rPr sz="1900" b="0" i="1">
                <a:solidFill>
                  <a:srgbClr val="1C252B"/>
                </a:solidFill>
                <a:latin typeface="Cambria"/>
              </a:rPr>
              <a:t>G</a:t>
            </a:r>
            <a:r>
              <a:rPr sz="1900" b="0" i="0">
                <a:solidFill>
                  <a:srgbClr val="1C252B"/>
                </a:solidFill>
                <a:latin typeface="Segoe UI"/>
              </a:rPr>
              <a:t>. </a:t>
            </a:r>
            <a:r>
              <a:rPr sz="1900" b="0" i="1">
                <a:solidFill>
                  <a:srgbClr val="1C252B"/>
                </a:solidFill>
                <a:latin typeface="Cambria"/>
              </a:rPr>
              <a:t>S</a:t>
            </a:r>
            <a:r>
              <a:rPr sz="1900" b="0" i="0">
                <a:solidFill>
                  <a:srgbClr val="1C252B"/>
                </a:solidFill>
                <a:latin typeface="Segoe UI"/>
              </a:rPr>
              <a:t> generalises Traffic and Scope.</a:t>
            </a:r>
          </a:p>
        </p:txBody>
      </p:sp>
      <p:sp>
        <p:nvSpPr>
          <p:cNvPr id="12" name="body-2bar">
            <a:extLst>
              <a:ext uri="{C183D7F6-B498-43B3-948B-1728B52AA6E4}">
                <adec:decorative xmlns:adec="http://schemas.microsoft.com/office/drawing/2017/decorative" val="1"/>
              </a:ext>
            </a:extLst>
          </p:cNvPr>
          <p:cNvSpPr/>
          <p:nvPr/>
        </p:nvSpPr>
        <p:spPr>
          <a:xfrm>
            <a:off x="841248" y="444007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515678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S</a:t>
            </a:r>
            <a:r>
              <a:rPr sz="1900" b="0" i="0" baseline="-25000">
                <a:solidFill>
                  <a:srgbClr val="1C252B"/>
                </a:solidFill>
                <a:latin typeface="Cambria"/>
              </a:rPr>
              <a:t>4</a:t>
            </a:r>
            <a:r>
              <a:rPr sz="1900" b="0" i="0">
                <a:solidFill>
                  <a:srgbClr val="1C252B"/>
                </a:solidFill>
                <a:latin typeface="Cambria"/>
              </a:rPr>
              <a:t> = {⟨</a:t>
            </a:r>
            <a:r>
              <a:rPr sz="1900" b="0" i="0">
                <a:solidFill>
                  <a:srgbClr val="1C252B"/>
                </a:solidFill>
                <a:latin typeface="Segoe UI"/>
              </a:rPr>
              <a:t>Pass, Done, ?, Ready, ?,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G</a:t>
            </a:r>
            <a:r>
              <a:rPr sz="1900" b="0" i="0" baseline="-25000">
                <a:solidFill>
                  <a:srgbClr val="1C252B"/>
                </a:solidFill>
                <a:latin typeface="Cambria"/>
              </a:rPr>
              <a:t>4</a:t>
            </a:r>
            <a:r>
              <a:rPr sz="1900" b="0" i="0">
                <a:solidFill>
                  <a:srgbClr val="1C252B"/>
                </a:solidFill>
                <a:latin typeface="Cambria"/>
              </a:rPr>
              <a:t> = {⟨</a:t>
            </a:r>
            <a:r>
              <a:rPr sz="1900" b="0" i="0">
                <a:solidFill>
                  <a:srgbClr val="1C252B"/>
                </a:solidFill>
                <a:latin typeface="Segoe UI"/>
              </a:rPr>
              <a:t>Pass, ?, ?, ?, ?, ?</a:t>
            </a:r>
            <a:r>
              <a:rPr sz="1900" b="0" i="0">
                <a:solidFill>
                  <a:srgbClr val="1C252B"/>
                </a:solidFill>
                <a:latin typeface="Cambria"/>
              </a:rPr>
              <a:t>⟩</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Done, ?, ?, ?, ?</a:t>
            </a:r>
            <a:r>
              <a:rPr sz="1900" b="0" i="0">
                <a:solidFill>
                  <a:srgbClr val="1C252B"/>
                </a:solidFill>
                <a:latin typeface="Cambria"/>
              </a:rPr>
              <a:t>⟩}</a:t>
            </a:r>
            <a:r>
              <a:rPr sz="1900" b="0" i="0">
                <a:solidFill>
                  <a:srgbClr val="1C252B"/>
                </a:solidFill>
                <a:latin typeface="Segoe UI"/>
              </a:rPr>
              <a:t>.</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586139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5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5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5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right)">
                                      <p:cBhvr>
                                        <p:cTn id="33" dur="42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42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right)">
                                      <p:cBhvr>
                                        <p:cTn id="46"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Candidate-Elimination on the Release Decisions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29     </a:t>
            </a:r>
            <a:fld id="{691FBA3F-644C-490E-8C07-D36111D27DE5}"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150924"/>
          </a:xfrm>
          <a:prstGeom prst="roundRect">
            <a:avLst>
              <a:gd name="adj" fmla="val 79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15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Check.</a:t>
            </a:r>
            <a:r>
              <a:rPr sz="1900" b="0" i="0">
                <a:solidFill>
                  <a:srgbClr val="1C252B"/>
                </a:solidFill>
                <a:latin typeface="Segoe UI"/>
              </a:rPr>
              <a:t> </a:t>
            </a:r>
            <a:r>
              <a:rPr sz="1900" b="0" i="1">
                <a:solidFill>
                  <a:srgbClr val="1C252B"/>
                </a:solidFill>
                <a:latin typeface="Cambria"/>
              </a:rPr>
              <a:t>S</a:t>
            </a:r>
            <a:r>
              <a:rPr sz="1900" b="0" i="0" baseline="-25000">
                <a:solidFill>
                  <a:srgbClr val="1C252B"/>
                </a:solidFill>
                <a:latin typeface="Cambria"/>
              </a:rPr>
              <a:t>4</a:t>
            </a:r>
            <a:r>
              <a:rPr sz="1900" b="0" i="0">
                <a:solidFill>
                  <a:srgbClr val="1C252B"/>
                </a:solidFill>
                <a:latin typeface="Segoe UI"/>
              </a:rPr>
              <a:t> is exactly what Find-S returned. The difference is that Candidate-Elimination also knows the other end: the version space holds six hypotheses, drawn in Figure 4.3.</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Candidate-Elimination Algorithm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4.3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29     </a:t>
            </a:r>
            <a:fld id="{37A6ABF2-92F9-46A0-B899-09FC035C72E4}" type="slidenum">
              <a:rPr lang="en-GB" sz="1000">
                <a:solidFill>
                  <a:srgbClr val="8795A1"/>
                </a:solidFill>
                <a:latin typeface="Segoe UI"/>
              </a:rPr>
              <a:t>27</a:t>
            </a:fld>
          </a:p>
        </p:txBody>
      </p:sp>
      <p:pic>
        <p:nvPicPr>
          <p:cNvPr id="6" name="!!figure" descr="Figure 4.3. The final version space for the release decisions: two maximally general hypotheses, one maximally specific one, and the three between them. A line joins each pair related by ≥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65901"/>
            <a:ext cx="10874959" cy="300598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final version space for the release decisions: two maximally general hypotheses, one maximally specific one, and the three between them. A line joins each pair related by ≥g.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3303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Classifying by Vote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30     </a:t>
            </a:r>
            <a:fld id="{D4865D30-04F4-435C-8312-7F465775DCEF}"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48428"/>
          </a:xfrm>
          <a:prstGeom prst="roundRect">
            <a:avLst>
              <a:gd name="adj" fmla="val 201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484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407081"/>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Cambria"/>
              </a:rPr>
              <a:t>⟨</a:t>
            </a:r>
            <a:r>
              <a:rPr sz="1900" b="0" i="0">
                <a:solidFill>
                  <a:srgbClr val="1C252B"/>
                </a:solidFill>
                <a:latin typeface="Segoe UI"/>
              </a:rPr>
              <a:t>Pass, Done, Complete, Ready, Peak, Changed</a:t>
            </a:r>
            <a:r>
              <a:rPr sz="1900" b="0" i="0">
                <a:solidFill>
                  <a:srgbClr val="1C252B"/>
                </a:solidFill>
                <a:latin typeface="Cambria"/>
              </a:rPr>
              <a:t>⟩</a:t>
            </a:r>
            <a:r>
              <a:rPr sz="1900" b="0" i="0">
                <a:solidFill>
                  <a:srgbClr val="1C252B"/>
                </a:solidFill>
                <a:latin typeface="Segoe UI"/>
              </a:rPr>
              <a:t>: satisfies </a:t>
            </a:r>
            <a:r>
              <a:rPr sz="1900" b="0" i="1">
                <a:solidFill>
                  <a:srgbClr val="1C252B"/>
                </a:solidFill>
                <a:latin typeface="Cambria"/>
              </a:rPr>
              <a:t>S</a:t>
            </a:r>
            <a:r>
              <a:rPr sz="1900" b="0" i="0" baseline="-25000">
                <a:solidFill>
                  <a:srgbClr val="1C252B"/>
                </a:solidFill>
                <a:latin typeface="Cambria"/>
              </a:rPr>
              <a:t>4</a:t>
            </a:r>
            <a:r>
              <a:rPr sz="1900" b="0" i="0">
                <a:solidFill>
                  <a:srgbClr val="1C252B"/>
                </a:solidFill>
                <a:latin typeface="Segoe UI"/>
              </a:rPr>
              <a:t>, and so every hypothesis above it. </a:t>
            </a:r>
            <a:r>
              <a:rPr sz="1900" b="1" i="0">
                <a:solidFill>
                  <a:srgbClr val="1C252B"/>
                </a:solidFill>
                <a:latin typeface="Segoe UI"/>
              </a:rPr>
              <a:t>6 yes, 0 no</a:t>
            </a:r>
            <a:r>
              <a:rPr sz="1900" b="0" i="0">
                <a:solidFill>
                  <a:srgbClr val="1C252B"/>
                </a:solidFill>
                <a:latin typeface="Segoe UI"/>
              </a:rPr>
              <a:t> — approved with the same confidence as if the concept were fully learned.</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Cambria"/>
              </a:rPr>
              <a:t>⟨</a:t>
            </a:r>
            <a:r>
              <a:rPr sz="1900" b="0" i="0">
                <a:solidFill>
                  <a:srgbClr val="1C252B"/>
                </a:solidFill>
                <a:latin typeface="Segoe UI"/>
              </a:rPr>
              <a:t>Fail, Pending, Complete, None, Quiet, Same</a:t>
            </a:r>
            <a:r>
              <a:rPr sz="1900" b="0" i="0">
                <a:solidFill>
                  <a:srgbClr val="1C252B"/>
                </a:solidFill>
                <a:latin typeface="Cambria"/>
              </a:rPr>
              <a:t>⟩</a:t>
            </a:r>
            <a:r>
              <a:rPr sz="1900" b="0" i="0">
                <a:solidFill>
                  <a:srgbClr val="1C252B"/>
                </a:solidFill>
                <a:latin typeface="Segoe UI"/>
              </a:rPr>
              <a:t>: satisfies neither member of </a:t>
            </a:r>
            <a:r>
              <a:rPr sz="1900" b="0" i="1">
                <a:solidFill>
                  <a:srgbClr val="1C252B"/>
                </a:solidFill>
                <a:latin typeface="Cambria"/>
              </a:rPr>
              <a:t>G</a:t>
            </a:r>
            <a:r>
              <a:rPr sz="1900" b="0" i="0" baseline="-25000">
                <a:solidFill>
                  <a:srgbClr val="1C252B"/>
                </a:solidFill>
                <a:latin typeface="Cambria"/>
              </a:rPr>
              <a:t>4</a:t>
            </a:r>
            <a:r>
              <a:rPr sz="1900" b="0" i="0">
                <a:solidFill>
                  <a:srgbClr val="1C252B"/>
                </a:solidFill>
                <a:latin typeface="Segoe UI"/>
              </a:rPr>
              <a:t>, so no hypothesis. </a:t>
            </a:r>
            <a:r>
              <a:rPr sz="1900" b="1" i="0">
                <a:solidFill>
                  <a:srgbClr val="1C252B"/>
                </a:solidFill>
                <a:latin typeface="Segoe UI"/>
              </a:rPr>
              <a:t>0 yes, 6 no</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Cambria"/>
              </a:rPr>
              <a:t>⟨</a:t>
            </a:r>
            <a:r>
              <a:rPr sz="1900" b="0" i="0">
                <a:solidFill>
                  <a:srgbClr val="1C252B"/>
                </a:solidFill>
                <a:latin typeface="Segoe UI"/>
              </a:rPr>
              <a:t>Pass, Done, Complete, None, Quiet, Same</a:t>
            </a:r>
            <a:r>
              <a:rPr sz="1900" b="0" i="0">
                <a:solidFill>
                  <a:srgbClr val="1C252B"/>
                </a:solidFill>
                <a:latin typeface="Cambria"/>
              </a:rPr>
              <a:t>⟩</a:t>
            </a:r>
            <a:r>
              <a:rPr sz="1900" b="0" i="0">
                <a:solidFill>
                  <a:srgbClr val="1C252B"/>
                </a:solidFill>
                <a:latin typeface="Segoe UI"/>
              </a:rPr>
              <a:t>: </a:t>
            </a:r>
            <a:r>
              <a:rPr sz="1900" b="1" i="0">
                <a:solidFill>
                  <a:srgbClr val="1C252B"/>
                </a:solidFill>
                <a:latin typeface="Segoe UI"/>
              </a:rPr>
              <a:t>3 yes, 3 no</a:t>
            </a:r>
            <a:r>
              <a:rPr sz="1900" b="0" i="0">
                <a:solidFill>
                  <a:srgbClr val="1C252B"/>
                </a:solidFill>
                <a:latin typeface="Segoe UI"/>
              </a:rPr>
              <a:t>. The data genuinely cannot decide.</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Cambria"/>
              </a:rPr>
              <a:t>⟨</a:t>
            </a:r>
            <a:r>
              <a:rPr sz="1900" b="0" i="0">
                <a:solidFill>
                  <a:srgbClr val="1C252B"/>
                </a:solidFill>
                <a:latin typeface="Segoe UI"/>
              </a:rPr>
              <a:t>Pass, Pending, Complete, Ready, Quiet, Same</a:t>
            </a:r>
            <a:r>
              <a:rPr sz="1900" b="0" i="0">
                <a:solidFill>
                  <a:srgbClr val="1C252B"/>
                </a:solidFill>
                <a:latin typeface="Cambria"/>
              </a:rPr>
              <a:t>⟩</a:t>
            </a:r>
            <a:r>
              <a:rPr sz="1900" b="0" i="0">
                <a:solidFill>
                  <a:srgbClr val="1C252B"/>
                </a:solidFill>
                <a:latin typeface="Segoe UI"/>
              </a:rPr>
              <a:t>: </a:t>
            </a:r>
            <a:r>
              <a:rPr sz="1900" b="1" i="0">
                <a:solidFill>
                  <a:srgbClr val="1C252B"/>
                </a:solidFill>
                <a:latin typeface="Segoe UI"/>
              </a:rPr>
              <a:t>2 yes, 4 no</a:t>
            </a:r>
            <a:r>
              <a:rPr sz="1900" b="0" i="0">
                <a:solidFill>
                  <a:srgbClr val="1C252B"/>
                </a:solidFill>
                <a:latin typeface="Segoe UI"/>
              </a:rPr>
              <a:t> — a majority, but not a certainty.</a:t>
            </a:r>
          </a:p>
        </p:txBody>
      </p:sp>
      <p:sp>
        <p:nvSpPr>
          <p:cNvPr id="10" name="body-1"/>
          <p:cNvSpPr txBox="1"/>
          <p:nvPr/>
        </p:nvSpPr>
        <p:spPr>
          <a:xfrm>
            <a:off x="1042416" y="4505756"/>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Two tests are enough for the unanimous cases: an instance satisfying every member of </a:t>
            </a:r>
            <a:r>
              <a:rPr sz="1900" b="0" i="1">
                <a:solidFill>
                  <a:srgbClr val="1C252B"/>
                </a:solidFill>
                <a:latin typeface="Cambria"/>
              </a:rPr>
              <a:t>S</a:t>
            </a:r>
            <a:r>
              <a:rPr sz="1900" b="0" i="0">
                <a:solidFill>
                  <a:srgbClr val="1C252B"/>
                </a:solidFill>
                <a:latin typeface="Segoe UI"/>
              </a:rPr>
              <a:t> is positive for the whole version space; one satisfying no member of </a:t>
            </a:r>
            <a:r>
              <a:rPr sz="1900" b="0" i="1">
                <a:solidFill>
                  <a:srgbClr val="1C252B"/>
                </a:solidFill>
                <a:latin typeface="Cambria"/>
              </a:rPr>
              <a:t>G</a:t>
            </a:r>
            <a:r>
              <a:rPr sz="1900" b="0" i="0">
                <a:solidFill>
                  <a:srgbClr val="1C252B"/>
                </a:solidFill>
                <a:latin typeface="Segoe UI"/>
              </a:rPr>
              <a:t> is negative for all of it. And if the learner may </a:t>
            </a:r>
            <a:r>
              <a:rPr sz="1900" b="0" i="1">
                <a:solidFill>
                  <a:srgbClr val="1C252B"/>
                </a:solidFill>
                <a:latin typeface="Segoe UI"/>
              </a:rPr>
              <a:t>ask</a:t>
            </a:r>
            <a:r>
              <a:rPr sz="1900" b="0" i="0">
                <a:solidFill>
                  <a:srgbClr val="1C252B"/>
                </a:solidFill>
                <a:latin typeface="Segoe UI"/>
              </a:rPr>
              <a:t> the board for a decision, the best question is the third release: whatever the answer, it eliminates half the version space. Repeating that halves it each time, so the concept is found in about </a:t>
            </a:r>
            <a:r>
              <a:rPr sz="1900" b="0" i="0">
                <a:solidFill>
                  <a:srgbClr val="1C252B"/>
                </a:solidFill>
                <a:latin typeface="Cambria"/>
              </a:rPr>
              <a:t>log</a:t>
            </a:r>
            <a:r>
              <a:rPr sz="1900" b="0" i="0" baseline="-25000">
                <a:solidFill>
                  <a:srgbClr val="1C252B"/>
                </a:solidFill>
                <a:latin typeface="Cambria"/>
              </a:rPr>
              <a:t>2</a:t>
            </a:r>
            <a:r>
              <a:rPr sz="1900" b="0" i="0">
                <a:solidFill>
                  <a:srgbClr val="1C252B"/>
                </a:solidFill>
                <a:latin typeface="Cambria"/>
              </a:rPr>
              <a:t> |</a:t>
            </a:r>
            <a:r>
              <a:rPr sz="1900" b="0" i="1">
                <a:solidFill>
                  <a:srgbClr val="1C252B"/>
                </a:solidFill>
                <a:latin typeface="Cambria"/>
              </a:rPr>
              <a:t>VS</a:t>
            </a:r>
            <a:r>
              <a:rPr sz="1900" b="0" i="0">
                <a:solidFill>
                  <a:srgbClr val="1C252B"/>
                </a:solidFill>
                <a:latin typeface="Cambria"/>
              </a:rPr>
              <a:t>|</a:t>
            </a:r>
            <a:r>
              <a:rPr sz="1900" b="0" i="0">
                <a:solidFill>
                  <a:srgbClr val="1C252B"/>
                </a:solidFill>
                <a:latin typeface="Segoe UI"/>
              </a:rPr>
              <a:t> queries — here </a:t>
            </a:r>
            <a:r>
              <a:rPr sz="1900" b="0" i="0">
                <a:solidFill>
                  <a:srgbClr val="1C252B"/>
                </a:solidFill>
                <a:latin typeface="Cambria"/>
              </a:rPr>
              <a:t>log</a:t>
            </a:r>
            <a:r>
              <a:rPr sz="1900" b="0" i="0" baseline="-25000">
                <a:solidFill>
                  <a:srgbClr val="1C252B"/>
                </a:solidFill>
                <a:latin typeface="Cambria"/>
              </a:rPr>
              <a:t>2</a:t>
            </a:r>
            <a:r>
              <a:rPr sz="1900" b="0" i="0">
                <a:solidFill>
                  <a:srgbClr val="1C252B"/>
                </a:solidFill>
                <a:latin typeface="Cambria"/>
              </a:rPr>
              <a:t> 6 ≈ 2.6</a:t>
            </a:r>
            <a:r>
              <a:rPr sz="1900" b="0" i="0">
                <a:solidFill>
                  <a:srgbClr val="1C252B"/>
                </a:solidFill>
                <a:latin typeface="Segoe UI"/>
              </a:rPr>
              <a:t>, so three.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5647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Inductive Bias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8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4.8</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Concept Learning as a Task</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Inductive Learning Hypothesis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The General-to-Specific Ordering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Find-S: The Most Specific Consistent Hypothesis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Version Spaces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The Candidate-Elimination Algorithm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4.7   Using a Partially Learned Concept</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4.8   Inductive Bias</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§4.8     </a:t>
            </a:r>
            <a:fld id="{4DF2B65D-5514-4E0A-9647-1FCD8BA43E81}" type="slidenum">
              <a:rPr lang="en-GB" sz="1000">
                <a:solidFill>
                  <a:srgbClr val="8795A1"/>
                </a:solidFill>
                <a:latin typeface="Segoe UI"/>
              </a:rPr>
              <a:t>29</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9921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Futility of an Unbiased Learner</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42869983-B135-484C-85CD-B47288C1C538}"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 Candidate-Elimination a hypothesis space containing every subset of </a:t>
            </a:r>
            <a:r>
              <a:rPr sz="2300" b="0" i="1">
                <a:solidFill>
                  <a:srgbClr val="1C252B"/>
                </a:solidFill>
                <a:latin typeface="Cambria"/>
              </a:rPr>
              <a:t>X</a:t>
            </a:r>
            <a:r>
              <a:rPr sz="2300" b="0" i="0">
                <a:solidFill>
                  <a:srgbClr val="1C252B"/>
                </a:solidFill>
                <a:latin typeface="Segoe UI"/>
              </a:rPr>
              <a:t>. After any training set, </a:t>
            </a:r>
            <a:r>
              <a:rPr sz="2300" b="0" i="1">
                <a:solidFill>
                  <a:srgbClr val="1C252B"/>
                </a:solidFill>
                <a:latin typeface="Cambria"/>
              </a:rPr>
              <a:t>S</a:t>
            </a:r>
            <a:r>
              <a:rPr sz="2300" b="0" i="0">
                <a:solidFill>
                  <a:srgbClr val="1C252B"/>
                </a:solidFill>
                <a:latin typeface="Segoe UI"/>
              </a:rPr>
              <a:t> is the disjunction of the positive examples seen — “release 1 or release 2 or release 4” — and </a:t>
            </a:r>
            <a:r>
              <a:rPr sz="2300" b="0" i="1">
                <a:solidFill>
                  <a:srgbClr val="1C252B"/>
                </a:solidFill>
                <a:latin typeface="Cambria"/>
              </a:rPr>
              <a:t>G</a:t>
            </a:r>
            <a:r>
              <a:rPr sz="2300" b="0" i="0">
                <a:solidFill>
                  <a:srgbClr val="1C252B"/>
                </a:solidFill>
                <a:latin typeface="Segoe UI"/>
              </a:rPr>
              <a:t> is “anything except release 3”. The version space contains every concept between them. For any release </a:t>
            </a:r>
            <a:r>
              <a:rPr sz="2300" b="0" i="1">
                <a:solidFill>
                  <a:srgbClr val="1C252B"/>
                </a:solidFill>
                <a:latin typeface="Segoe UI"/>
              </a:rPr>
              <a:t>not</a:t>
            </a:r>
            <a:r>
              <a:rPr sz="2300" b="0" i="0">
                <a:solidFill>
                  <a:srgbClr val="1C252B"/>
                </a:solidFill>
                <a:latin typeface="Segoe UI"/>
              </a:rPr>
              <a:t> in the training data, exactly half of those concepts call it positive and half negative: the vote is always a tie. The unbiased learner can classify the examples it has seen and nothing else. It has memorised; it has not learned.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70336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Inductive Bias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7A7AD06A-649A-4EF5-9C27-55ACC966923F}"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inductive bias</a:t>
            </a:r>
            <a:r>
              <a:rPr sz="2300" b="0" i="0">
                <a:solidFill>
                  <a:srgbClr val="1C252B"/>
                </a:solidFill>
                <a:latin typeface="Segoe UI"/>
              </a:rPr>
              <a:t> of a learner is the set of assumptions that, added to the training data, make its classification of new instances follow </a:t>
            </a:r>
            <a:r>
              <a:rPr sz="2300" b="0" i="1">
                <a:solidFill>
                  <a:srgbClr val="1C252B"/>
                </a:solidFill>
                <a:latin typeface="Segoe UI"/>
              </a:rPr>
              <a:t>deductively</a:t>
            </a:r>
            <a:r>
              <a:rPr sz="2300" b="0" i="0">
                <a:solidFill>
                  <a:srgbClr val="1C252B"/>
                </a:solidFill>
                <a:latin typeface="Segoe UI"/>
              </a:rPr>
              <a:t>. The inductive bias of Candidate-Elimination is: </a:t>
            </a:r>
            <a:r>
              <a:rPr sz="2300" b="0" i="1">
                <a:solidFill>
                  <a:srgbClr val="1C252B"/>
                </a:solidFill>
                <a:latin typeface="Segoe UI"/>
              </a:rPr>
              <a:t>the target concept is contained in the hypothesis space </a:t>
            </a:r>
            <a:r>
              <a:rPr sz="2300" b="0" i="1">
                <a:solidFill>
                  <a:srgbClr val="1C252B"/>
                </a:solidFill>
                <a:latin typeface="Cambria"/>
              </a:rPr>
              <a:t>H</a:t>
            </a:r>
            <a:r>
              <a:rPr sz="2300" b="0" i="0">
                <a:solidFill>
                  <a:srgbClr val="1C252B"/>
                </a:solidFill>
                <a:latin typeface="Segoe UI"/>
              </a:rPr>
              <a:t> — here, it is a conjunction of attribute constraints.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726812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Weakness Every Later Chapter Fixes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DAB47621-1242-4C58-ABF9-36389B108CB8}"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Candidate-Elimination assumes the data is </a:t>
            </a:r>
            <a:r>
              <a:rPr sz="2300" b="0" i="1">
                <a:solidFill>
                  <a:srgbClr val="1C252B"/>
                </a:solidFill>
                <a:latin typeface="Segoe UI"/>
              </a:rPr>
              <a:t>noise-free</a:t>
            </a:r>
            <a:r>
              <a:rPr sz="2300" b="0" i="0">
                <a:solidFill>
                  <a:srgbClr val="1C252B"/>
                </a:solidFill>
                <a:latin typeface="Segoe UI"/>
              </a:rPr>
              <a:t>. Record one approved release as rejected by mistake and the true concept is eliminated; with enough errors </a:t>
            </a:r>
            <a:r>
              <a:rPr sz="2300" b="0" i="1">
                <a:solidFill>
                  <a:srgbClr val="1C252B"/>
                </a:solidFill>
                <a:latin typeface="Cambria"/>
              </a:rPr>
              <a:t>S</a:t>
            </a:r>
            <a:r>
              <a:rPr sz="2300" b="0" i="0">
                <a:solidFill>
                  <a:srgbClr val="1C252B"/>
                </a:solidFill>
                <a:latin typeface="Segoe UI"/>
              </a:rPr>
              <a:t> and </a:t>
            </a:r>
            <a:r>
              <a:rPr sz="2300" b="0" i="1">
                <a:solidFill>
                  <a:srgbClr val="1C252B"/>
                </a:solidFill>
                <a:latin typeface="Cambria"/>
              </a:rPr>
              <a:t>G</a:t>
            </a:r>
            <a:r>
              <a:rPr sz="2300" b="0" i="0">
                <a:solidFill>
                  <a:srgbClr val="1C252B"/>
                </a:solidFill>
                <a:latin typeface="Segoe UI"/>
              </a:rPr>
              <a:t> cross, and the version space is empty. Real data always contains errors. The algorithms of Part III therefore replace “consistent with every example” by “makes few errors” and accept a hypothesis that is probably approximately right. Concept learning is where the vocabulary comes from; it is not how practical systems are built.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7502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36EE2827-9C66-4ACB-8A61-2E32A51CAD0E}" type="slidenum">
              <a:rPr lang="en-GB" sz="1000">
                <a:solidFill>
                  <a:srgbClr val="8795A1"/>
                </a:solidFill>
                <a:latin typeface="Segoe UI"/>
              </a:rPr>
              <a:t>33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Specialising </a:t>
            </a:r>
            <a:r>
              <a:rPr sz="2100" b="1" i="1">
                <a:solidFill>
                  <a:srgbClr val="1C252B"/>
                </a:solidFill>
                <a:latin typeface="Cambria"/>
              </a:rPr>
              <a:t>G</a:t>
            </a:r>
            <a:r>
              <a:rPr sz="2100" b="1" i="0">
                <a:solidFill>
                  <a:srgbClr val="1C252B"/>
                </a:solidFill>
                <a:latin typeface="Segoe UI"/>
              </a:rPr>
              <a:t> to values that contradict </a:t>
            </a:r>
            <a:r>
              <a:rPr sz="2100" b="1" i="1">
                <a:solidFill>
                  <a:srgbClr val="1C252B"/>
                </a:solidFill>
                <a:latin typeface="Cambria"/>
              </a:rPr>
              <a:t>S</a:t>
            </a:r>
            <a:r>
              <a:rPr sz="2100" b="1" i="0">
                <a:solidFill>
                  <a:srgbClr val="1C252B"/>
                </a:solidFill>
                <a:latin typeface="Segoe UI"/>
              </a:rPr>
              <a:t>.</a:t>
            </a:r>
            <a:r>
              <a:rPr sz="2100" b="0" i="0">
                <a:solidFill>
                  <a:srgbClr val="1C252B"/>
                </a:solidFill>
                <a:latin typeface="Segoe UI"/>
              </a:rPr>
              <a:t> Every new member of </a:t>
            </a:r>
            <a:r>
              <a:rPr sz="2100" b="0" i="1">
                <a:solidFill>
                  <a:srgbClr val="1C252B"/>
                </a:solidFill>
                <a:latin typeface="Cambria"/>
              </a:rPr>
              <a:t>G</a:t>
            </a:r>
            <a:r>
              <a:rPr sz="2100" b="0" i="0">
                <a:solidFill>
                  <a:srgbClr val="1C252B"/>
                </a:solidFill>
                <a:latin typeface="Segoe UI"/>
              </a:rPr>
              <a:t> must still be more general than a member of </a:t>
            </a:r>
            <a:r>
              <a:rPr sz="2100" b="0" i="1">
                <a:solidFill>
                  <a:srgbClr val="1C252B"/>
                </a:solidFill>
                <a:latin typeface="Cambria"/>
              </a:rPr>
              <a:t>S</a:t>
            </a:r>
            <a:r>
              <a:rPr sz="2100" b="0" i="0">
                <a:solidFill>
                  <a:srgbClr val="1C252B"/>
                </a:solidFill>
                <a:latin typeface="Segoe UI"/>
              </a:rPr>
              <a:t>; check each candidate against </a:t>
            </a:r>
            <a:r>
              <a:rPr sz="2100" b="0" i="1">
                <a:solidFill>
                  <a:srgbClr val="1C252B"/>
                </a:solidFill>
                <a:latin typeface="Cambria"/>
              </a:rPr>
              <a:t>S</a:t>
            </a:r>
            <a:r>
              <a:rPr sz="2100" b="0" i="0">
                <a:solidFill>
                  <a:srgbClr val="1C252B"/>
                </a:solidFill>
                <a:latin typeface="Segoe UI"/>
              </a:rPr>
              <a:t> before keeping it.</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Forgetting to prune </a:t>
            </a:r>
            <a:r>
              <a:rPr sz="2100" b="1" i="1">
                <a:solidFill>
                  <a:srgbClr val="1C252B"/>
                </a:solidFill>
                <a:latin typeface="Cambria"/>
              </a:rPr>
              <a:t>G</a:t>
            </a:r>
            <a:r>
              <a:rPr sz="2100" b="1" i="0">
                <a:solidFill>
                  <a:srgbClr val="1C252B"/>
                </a:solidFill>
                <a:latin typeface="Segoe UI"/>
              </a:rPr>
              <a:t> on a positive example.</a:t>
            </a:r>
            <a:r>
              <a:rPr sz="2100" b="0" i="0">
                <a:solidFill>
                  <a:srgbClr val="1C252B"/>
                </a:solidFill>
                <a:latin typeface="Segoe UI"/>
              </a:rPr>
              <a:t> Members of </a:t>
            </a:r>
            <a:r>
              <a:rPr sz="2100" b="0" i="1">
                <a:solidFill>
                  <a:srgbClr val="1C252B"/>
                </a:solidFill>
                <a:latin typeface="Cambria"/>
              </a:rPr>
              <a:t>G</a:t>
            </a:r>
            <a:r>
              <a:rPr sz="2100" b="0" i="0">
                <a:solidFill>
                  <a:srgbClr val="1C252B"/>
                </a:solidFill>
                <a:latin typeface="Segoe UI"/>
              </a:rPr>
              <a:t> that do not cover a positive example are removed, as at Release 4.</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Believing Find-S’s answer is unique.</a:t>
            </a:r>
            <a:r>
              <a:rPr sz="2100" b="0" i="0">
                <a:solidFill>
                  <a:srgbClr val="1C252B"/>
                </a:solidFill>
                <a:latin typeface="Segoe UI"/>
              </a:rPr>
              <a:t> It is one of the six hypotheses in the version space — the most specific.</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Reading “unbiased” as “better”.</a:t>
            </a:r>
            <a:r>
              <a:rPr sz="2100" b="0" i="0">
                <a:solidFill>
                  <a:srgbClr val="1C252B"/>
                </a:solidFill>
                <a:latin typeface="Segoe UI"/>
              </a:rPr>
              <a:t> A learner with no bias cannot generalise at all.</a:t>
            </a:r>
          </a:p>
        </p:txBody>
      </p:sp>
      <p:sp>
        <p:nvSpPr>
          <p:cNvPr id="19" name="!!pb4">
            <a:extLst>
              <a:ext uri="{C183D7F6-B498-43B3-948B-1728B52AA6E4}">
                <adec:decorative xmlns:adec="http://schemas.microsoft.com/office/drawing/2017/decorative" val="1"/>
              </a:ext>
            </a:extLst>
          </p:cNvPr>
          <p:cNvSpPr/>
          <p:nvPr/>
        </p:nvSpPr>
        <p:spPr>
          <a:xfrm>
            <a:off x="658368" y="492312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94598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0484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Running Candidate-Elimination on noisy data.</a:t>
            </a:r>
            <a:r>
              <a:rPr sz="2100" b="0" i="0">
                <a:solidFill>
                  <a:srgbClr val="1C252B"/>
                </a:solidFill>
                <a:latin typeface="Segoe UI"/>
              </a:rPr>
              <a:t> One mislabelled example can empty the version space.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370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Candidate Elimination in Forty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6E2953AF-5F6E-4CD8-8095-10270625D79C}" type="slidenum">
              <a:rPr lang="en-GB" sz="1000">
                <a:solidFill>
                  <a:srgbClr val="8795A1"/>
                </a:solidFill>
                <a:latin typeface="Segoe UI"/>
              </a:rPr>
              <a:t>34</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whole of this chapter, run: Find-S, the boundary trace of the worked example, and a brute-force check of the version space by listing every hypothesis.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Find-S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Candidate-Elimination</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Brute force: list every hypothesis, keep the consistent ones</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3: Candidate elimination in forty lines</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63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code/ch04_candidate_elimination.py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9714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Candidate Elimination in Forty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FD9F987F-02D0-48AC-A91E-F5D4892E7B66}"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code/ch04_candidate_elimination.py</a:t>
            </a:r>
          </a:p>
        </p:txBody>
      </p:sp>
      <p:sp>
        <p:nvSpPr>
          <p:cNvPr id="14" name="!!code-text" descr="from itertools import product # Release decisions. &quot;?&quot; = any value, &quot;0&quot; = no value (empty constraint) VALUES = [(&quot;Pass&quot;, &quot;Flaky&quot;, &quot;Fail&quot;), (&quot;Done&quot;, &quot;Pending&quot;), (&quot;Complete&quot;, &quot;Partial&quot;), (&quot;Ready&quot;, &quot;None&quot;), (&quot;Quiet&quot;, &quot;Peak&quot;), (&quot;Same&quot;, &quot;Changed&quot;)] D = [((&quot;Pass&quot;, &quot;Done&quot;, &quot;Complete&quot;, &quot;Ready&quot;, &quot;Quiet&quot;, &quot;Same&quot;), True), ((&quot;Pass&quot;, &quot;Done&quot;, &quot;Partial&quot;, &quot;Ready&quot;, &quot;Quiet&quot;, &quot;Same&quot;), True), ((&quot;Fail&quot;, &quot;Pending&quot;, &quot;Partial&quot;, &quot;Ready&quot;, &quot;Quiet&quot;, &quot;Changed&quot;), False), ((&quot;Pass&quot;, &quot;Done&quot;, &quot;Partial&quot;, &quot;Ready&quot;, &quot;Peak&quot;, &quot;Changed&quot;), True)] show = lambda hs: &quot; &quot;.join(&quot;&lt;&quot; + &quot;, &quot;.join(h) + &quot;&gt;&quot; for h in sorted(hs)) def covers(h, x): # does h classify x as positive? return all(c == &quot;?&quot; or c == v for c, v in zip(h, x))"/>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itertools</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product</a:t>
            </a:r>
          </a:p>
          <a:p>
            <a:pPr>
              <a:lnSpc>
                <a:spcPct val="100000"/>
              </a:lnSpc>
              <a:spcAft>
                <a:spcPts val="0"/>
              </a:spcAft>
            </a:pPr>
            <a:r>
              <a:rPr sz="1500">
                <a:latin typeface="Consolas"/>
              </a:rPr>
              <a:t> </a:t>
            </a:r>
          </a:p>
          <a:p>
            <a:pPr>
              <a:lnSpc>
                <a:spcPct val="100000"/>
              </a:lnSpc>
              <a:spcAft>
                <a:spcPts val="0"/>
              </a:spcAft>
            </a:pPr>
            <a:r>
              <a:rPr sz="1500" i="1">
                <a:solidFill>
                  <a:srgbClr val="8795A1"/>
                </a:solidFill>
                <a:latin typeface="Consolas"/>
              </a:rPr>
              <a:t># Release decisions. "?" = any value, "0" = no value (empty constraint)</a:t>
            </a:r>
          </a:p>
          <a:p>
            <a:pPr>
              <a:lnSpc>
                <a:spcPct val="100000"/>
              </a:lnSpc>
              <a:spcAft>
                <a:spcPts val="0"/>
              </a:spcAft>
            </a:pPr>
            <a:r>
              <a:rPr sz="1500" i="0">
                <a:solidFill>
                  <a:srgbClr val="E8EDF2"/>
                </a:solidFill>
                <a:latin typeface="Consolas"/>
              </a:rPr>
              <a:t>VALUES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Pass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Flaky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Fail</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Done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Pending</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Complete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Partial</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Ready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None</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Quiet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Peak</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Same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Changed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Pass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Done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Complete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Ready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Quiet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Same</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True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Pass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Done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Partial</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Ready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Quiet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Same</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True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Fail</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Pending</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Partial</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Ready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Quiet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Changed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False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Pass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Done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Partial</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Ready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Peak</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Changed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True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show</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hs</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join</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join</a:t>
            </a:r>
            <a:r>
              <a:rPr sz="1500" i="0">
                <a:solidFill>
                  <a:srgbClr val="AEB6BF"/>
                </a:solidFill>
                <a:latin typeface="Consolas"/>
              </a:rPr>
              <a:t>(</a:t>
            </a:r>
            <a:r>
              <a:rPr sz="1500" i="0">
                <a:solidFill>
                  <a:srgbClr val="E8EDF2"/>
                </a:solidFill>
                <a:latin typeface="Consolas"/>
              </a:rPr>
              <a:t>h</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&gt;</a:t>
            </a:r>
            <a:r>
              <a:rPr sz="1500" i="0">
                <a:solidFill>
                  <a:srgbClr val="7DCEA0"/>
                </a:solidFill>
                <a:latin typeface="Consolas"/>
              </a:rPr>
              <a:t>"</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h</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C39BD3"/>
                </a:solidFill>
                <a:latin typeface="Consolas"/>
              </a:rPr>
              <a:t>sorted</a:t>
            </a:r>
            <a:r>
              <a:rPr sz="1500" i="0">
                <a:solidFill>
                  <a:srgbClr val="AEB6BF"/>
                </a:solidFill>
                <a:latin typeface="Consolas"/>
              </a:rPr>
              <a:t>(</a:t>
            </a:r>
            <a:r>
              <a:rPr sz="1500" i="0">
                <a:solidFill>
                  <a:srgbClr val="E8EDF2"/>
                </a:solidFill>
                <a:latin typeface="Consolas"/>
              </a:rPr>
              <a:t>hs</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a:latin typeface="Consolas"/>
              </a:rPr>
              <a:t>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covers</a:t>
            </a:r>
            <a:r>
              <a:rPr sz="1500" i="0">
                <a:solidFill>
                  <a:srgbClr val="AEB6BF"/>
                </a:solidFill>
                <a:latin typeface="Consolas"/>
              </a:rPr>
              <a:t>(</a:t>
            </a:r>
            <a:r>
              <a:rPr sz="1500" i="0">
                <a:solidFill>
                  <a:srgbClr val="E8EDF2"/>
                </a:solidFill>
                <a:latin typeface="Consolas"/>
              </a:rPr>
              <a:t>h</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does h classify x as positive?</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C39BD3"/>
                </a:solidFill>
                <a:latin typeface="Consolas"/>
              </a:rPr>
              <a:t>all</a:t>
            </a:r>
            <a:r>
              <a:rPr sz="1500" i="0">
                <a:solidFill>
                  <a:srgbClr val="AEB6BF"/>
                </a:solidFill>
                <a:latin typeface="Consolas"/>
              </a:rPr>
              <a:t>(</a:t>
            </a:r>
            <a:r>
              <a:rPr sz="1500" i="0">
                <a:solidFill>
                  <a:srgbClr val="E8EDF2"/>
                </a:solidFill>
                <a:latin typeface="Consolas"/>
              </a:rPr>
              <a:t>c</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or</a:t>
            </a:r>
            <a:r>
              <a:rPr sz="1500" i="0">
                <a:solidFill>
                  <a:srgbClr val="E8EDF2"/>
                </a:solidFill>
                <a:latin typeface="Consolas"/>
              </a:rPr>
              <a:t> </a:t>
            </a:r>
            <a:r>
              <a:rPr sz="1500" i="0">
                <a:solidFill>
                  <a:srgbClr val="E8EDF2"/>
                </a:solidFill>
                <a:latin typeface="Consolas"/>
              </a:rPr>
              <a:t>c</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c</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C39BD3"/>
                </a:solidFill>
                <a:latin typeface="Consolas"/>
              </a:rPr>
              <a:t>zip</a:t>
            </a:r>
            <a:r>
              <a:rPr sz="1500" i="0">
                <a:solidFill>
                  <a:srgbClr val="AEB6BF"/>
                </a:solidFill>
                <a:latin typeface="Consolas"/>
              </a:rPr>
              <a:t>(</a:t>
            </a:r>
            <a:r>
              <a:rPr sz="1500" i="0">
                <a:solidFill>
                  <a:srgbClr val="E8EDF2"/>
                </a:solidFill>
                <a:latin typeface="Consolas"/>
              </a:rPr>
              <a:t>h</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a:t>
            </a:r>
            <a:r>
              <a:rPr sz="1500" i="0">
                <a:solidFill>
                  <a:srgbClr val="AEB6BF"/>
                </a:solidFill>
                <a:latin typeface="Consolas"/>
              </a:rPr>
              <a:t>)</a:t>
            </a: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2</a:t>
            </a:r>
          </a:p>
          <a:p>
            <a:pPr algn="r">
              <a:lnSpc>
                <a:spcPct val="100000"/>
              </a:lnSpc>
            </a:pPr>
            <a:r>
              <a:rPr sz="1500">
                <a:solidFill>
                  <a:srgbClr val="4F5D6A"/>
                </a:solidFill>
                <a:latin typeface="Consolas"/>
              </a:rPr>
              <a:t>3</a:t>
            </a:r>
          </a:p>
          <a:p>
            <a:pPr algn="r">
              <a:lnSpc>
                <a:spcPct val="100000"/>
              </a:lnSpc>
            </a:pPr>
            <a:r>
              <a:rPr sz="1500">
                <a:solidFill>
                  <a:srgbClr val="4F5D6A"/>
                </a:solidFill>
                <a:latin typeface="Consolas"/>
              </a:rPr>
              <a:t>4</a:t>
            </a:r>
          </a:p>
          <a:p>
            <a:pPr algn="r">
              <a:lnSpc>
                <a:spcPct val="100000"/>
              </a:lnSpc>
            </a:pPr>
            <a:r>
              <a:rPr sz="1500">
                <a:solidFill>
                  <a:srgbClr val="4F5D6A"/>
                </a:solidFill>
                <a:latin typeface="Consolas"/>
              </a:rPr>
              <a:t>5</a:t>
            </a:r>
          </a:p>
          <a:p>
            <a:pPr algn="r">
              <a:lnSpc>
                <a:spcPct val="100000"/>
              </a:lnSpc>
            </a:pPr>
            <a:r>
              <a:rPr sz="1500">
                <a:solidFill>
                  <a:srgbClr val="4F5D6A"/>
                </a:solidFill>
                <a:latin typeface="Consolas"/>
              </a:rPr>
              <a:t>6</a:t>
            </a:r>
          </a:p>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0594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Candidate Elimination in Forty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64983EB8-3498-4557-8FF0-F280BBE8D065}"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code/ch04_candidate_elimination.py</a:t>
            </a:r>
          </a:p>
        </p:txBody>
      </p:sp>
      <p:sp>
        <p:nvSpPr>
          <p:cNvPr id="14" name="!!code-text" descr="def more_general(h1, h2): # h1 &gt;=g h2 return &quot;0&quot; in h2 or all(a == &quot;?&quot; or a == b for a, b in zip(h1, h2)) def generalize(s, x): # minimal generalisation of s covering x return tuple(v if c == &quot;0&quot; else (c if c == v else &quot;?&quot;) for c, v in zip(s, x)) def specializations(g, x): # minimal specialisations of g excluding x return [g[:i] + (v,) + g[i + 1:] for i, c in enumerate(g) if c == &quot;?&quot; for v in VALUES[i] if v != x[i]]"/>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more_general</a:t>
            </a:r>
            <a:r>
              <a:rPr sz="1800" i="0">
                <a:solidFill>
                  <a:srgbClr val="AEB6BF"/>
                </a:solidFill>
                <a:latin typeface="Consolas"/>
              </a:rPr>
              <a:t>(</a:t>
            </a:r>
            <a:r>
              <a:rPr sz="1800" i="0">
                <a:solidFill>
                  <a:srgbClr val="E8EDF2"/>
                </a:solidFill>
                <a:latin typeface="Consolas"/>
              </a:rPr>
              <a:t>h1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h1 &gt;=g h2</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0</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h2</a:t>
            </a:r>
            <a:r>
              <a:rPr sz="1800" i="0">
                <a:solidFill>
                  <a:srgbClr val="E8EDF2"/>
                </a:solidFill>
                <a:latin typeface="Consolas"/>
              </a:rPr>
              <a:t> </a:t>
            </a:r>
            <a:r>
              <a:rPr sz="1800" i="0">
                <a:solidFill>
                  <a:srgbClr val="AEB6BF"/>
                </a:solidFill>
                <a:latin typeface="Consolas"/>
              </a:rPr>
              <a:t>or</a:t>
            </a:r>
            <a:r>
              <a:rPr sz="1800" i="0">
                <a:solidFill>
                  <a:srgbClr val="E8EDF2"/>
                </a:solidFill>
                <a:latin typeface="Consolas"/>
              </a:rPr>
              <a:t> </a:t>
            </a:r>
            <a:r>
              <a:rPr sz="1800" i="0">
                <a:solidFill>
                  <a:srgbClr val="C39BD3"/>
                </a:solidFill>
                <a:latin typeface="Consolas"/>
              </a:rPr>
              <a:t>all</a:t>
            </a:r>
            <a:r>
              <a:rPr sz="1800" i="0">
                <a:solidFill>
                  <a:srgbClr val="AEB6BF"/>
                </a:solidFill>
                <a:latin typeface="Consolas"/>
              </a:rPr>
              <a:t>(</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or</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zip</a:t>
            </a:r>
            <a:r>
              <a:rPr sz="1800" i="0">
                <a:solidFill>
                  <a:srgbClr val="AEB6BF"/>
                </a:solidFill>
                <a:latin typeface="Consolas"/>
              </a:rPr>
              <a:t>(</a:t>
            </a:r>
            <a:r>
              <a:rPr sz="1800" i="0">
                <a:solidFill>
                  <a:srgbClr val="E8EDF2"/>
                </a:solidFill>
                <a:latin typeface="Consolas"/>
              </a:rPr>
              <a:t>h1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h2</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a:latin typeface="Consolas"/>
              </a:rPr>
              <a:t> </a:t>
            </a:r>
          </a:p>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generalize</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minimal generalisation of s covering x</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C39BD3"/>
                </a:solidFill>
                <a:latin typeface="Consolas"/>
              </a:rPr>
              <a:t>tuple</a:t>
            </a:r>
            <a:r>
              <a:rPr sz="1800" i="0">
                <a:solidFill>
                  <a:srgbClr val="AEB6BF"/>
                </a:solidFill>
                <a:latin typeface="Consolas"/>
              </a:rPr>
              <a:t>(</a:t>
            </a:r>
            <a:r>
              <a:rPr sz="1800" i="0">
                <a:solidFill>
                  <a:srgbClr val="E8EDF2"/>
                </a:solidFill>
                <a:latin typeface="Consolas"/>
              </a:rPr>
              <a:t>v</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0</a:t>
            </a:r>
            <a:r>
              <a:rPr sz="1800" i="0">
                <a:solidFill>
                  <a:srgbClr val="7DCEA0"/>
                </a:solidFill>
                <a:latin typeface="Consolas"/>
              </a:rPr>
              <a:t>"</a:t>
            </a:r>
            <a:r>
              <a:rPr sz="1800" i="0">
                <a:solidFill>
                  <a:srgbClr val="E8EDF2"/>
                </a:solidFill>
                <a:latin typeface="Consolas"/>
              </a:rPr>
              <a:t> </a:t>
            </a:r>
            <a:r>
              <a:rPr sz="1800" i="0">
                <a:solidFill>
                  <a:srgbClr val="5DADE2"/>
                </a:solidFill>
                <a:latin typeface="Consolas"/>
              </a:rPr>
              <a:t>else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c</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5DADE2"/>
                </a:solidFill>
                <a:latin typeface="Consolas"/>
              </a:rPr>
              <a:t>else</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zip</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a:latin typeface="Consolas"/>
              </a:rPr>
              <a:t> </a:t>
            </a:r>
          </a:p>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specializations</a:t>
            </a:r>
            <a:r>
              <a:rPr sz="1800" i="0">
                <a:solidFill>
                  <a:srgbClr val="AEB6BF"/>
                </a:solidFill>
                <a:latin typeface="Consolas"/>
              </a:rPr>
              <a:t>(</a:t>
            </a:r>
            <a:r>
              <a:rPr sz="1800" i="0">
                <a:solidFill>
                  <a:srgbClr val="E8EDF2"/>
                </a:solidFill>
                <a:latin typeface="Consolas"/>
              </a:rPr>
              <a:t>g</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minimal specialisations of g excluding x</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g</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v</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t>
            </a:r>
            <a:r>
              <a:rPr sz="1800" i="0">
                <a:solidFill>
                  <a:srgbClr val="AEB6BF"/>
                </a:solidFill>
                <a:latin typeface="Consolas"/>
              </a:rPr>
              <a:t>[</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i</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enumerate</a:t>
            </a:r>
            <a:r>
              <a:rPr sz="1800" i="0">
                <a:solidFill>
                  <a:srgbClr val="AEB6BF"/>
                </a:solidFill>
                <a:latin typeface="Consolas"/>
              </a:rPr>
              <a:t>(</a:t>
            </a:r>
            <a:r>
              <a:rPr sz="1800" i="0">
                <a:solidFill>
                  <a:srgbClr val="E8EDF2"/>
                </a:solidFill>
                <a:latin typeface="Consolas"/>
              </a:rPr>
              <a:t>g</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VALUES</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404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Candidate Elimination in Forty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78268F59-D91F-454C-A40A-29720F5FFFCE}"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Find-S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code/ch04_candidate_elimination.py</a:t>
            </a:r>
          </a:p>
        </p:txBody>
      </p:sp>
      <p:sp>
        <p:nvSpPr>
          <p:cNvPr id="14" name="!!code-text" descr="# --- Find-S -------------------------------------------------------------- h = (&quot;0&quot;,) * 6 for x, positive in D: if positive: h = generalize(h, x) print(&quot;Find-S:&quot;, show([h]))"/>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Find-S --------------------------------------------------------------</a:t>
            </a:r>
          </a:p>
          <a:p>
            <a:pPr>
              <a:lnSpc>
                <a:spcPct val="100000"/>
              </a:lnSpc>
              <a:spcAft>
                <a:spcPts val="0"/>
              </a:spcAft>
            </a:pP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0</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positive</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D</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positive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generalize</a:t>
            </a:r>
            <a:r>
              <a:rPr sz="1800" i="0">
                <a:solidFill>
                  <a:srgbClr val="AEB6BF"/>
                </a:solidFill>
                <a:latin typeface="Consolas"/>
              </a:rPr>
              <a:t>(</a:t>
            </a:r>
            <a:r>
              <a:rPr sz="1800" i="0">
                <a:solidFill>
                  <a:srgbClr val="E8EDF2"/>
                </a:solidFill>
                <a:latin typeface="Consolas"/>
              </a:rPr>
              <a:t>h</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Find-S: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show</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h</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748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Candidate Elimination in Forty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B692B3A4-9B2E-4218-947E-B462A71411B6}"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Candidate-Elimination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code/ch04_candidate_elimination.py</a:t>
            </a:r>
          </a:p>
        </p:txBody>
      </p:sp>
      <p:sp>
        <p:nvSpPr>
          <p:cNvPr id="14" name="!!code-text" descr="# --- Candidate-Elimination ----------------------------------------------- S, G = {(&quot;0&quot;,) * 6}, {(&quot;?&quot;,) * 6} for k, (x, positive) in enumerate(D, 1): if positive: G = {g for g in G if covers(g, x)} S = {generalize(s, x) for s in S} S = {s for s in S if any(more_general(g, s) for g in G)} else: S = {s for s in S if not covers(s, x)} new = {g for g in G if not covers(g, x)} for g in G - new: new |= {h for h in specializations(g, x) if any(more_general(h, s) for s in S)} G = {g for g in new if not any(o != g and more_general(o, g) for o in new)} print(f&quot;release {k} S: {show(S)}\n G: {show(G)}&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Candidate-Elimination -----------------------------------------------</a:t>
            </a:r>
          </a:p>
          <a:p>
            <a:pPr>
              <a:lnSpc>
                <a:spcPct val="100000"/>
              </a:lnSpc>
              <a:spcAft>
                <a:spcPts val="0"/>
              </a:spcAft>
            </a:pP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0</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6</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6</a:t>
            </a:r>
            <a:r>
              <a:rPr sz="1400" i="0">
                <a:solidFill>
                  <a:srgbClr val="AEB6BF"/>
                </a:solidFill>
                <a:latin typeface="Consolas"/>
              </a:rPr>
              <a:t>}</a:t>
            </a:r>
          </a:p>
          <a:p>
            <a:pPr>
              <a:lnSpc>
                <a:spcPct val="100000"/>
              </a:lnSpc>
              <a:spcAft>
                <a:spcPts val="0"/>
              </a:spcAft>
            </a:pP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k</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x</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positive</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enumerate</a:t>
            </a:r>
            <a:r>
              <a:rPr sz="1400" i="0">
                <a:solidFill>
                  <a:srgbClr val="AEB6BF"/>
                </a:solidFill>
                <a:latin typeface="Consolas"/>
              </a:rPr>
              <a:t>(</a:t>
            </a:r>
            <a:r>
              <a:rPr sz="1400" i="0">
                <a:solidFill>
                  <a:srgbClr val="E8EDF2"/>
                </a:solidFill>
                <a:latin typeface="Consolas"/>
              </a:rPr>
              <a:t>D</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positive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g</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covers</a:t>
            </a:r>
            <a:r>
              <a:rPr sz="1400" i="0">
                <a:solidFill>
                  <a:srgbClr val="AEB6BF"/>
                </a:solidFill>
                <a:latin typeface="Consolas"/>
              </a:rPr>
              <a:t>(</a:t>
            </a:r>
            <a:r>
              <a:rPr sz="1400" i="0">
                <a:solidFill>
                  <a:srgbClr val="E8EDF2"/>
                </a:solidFill>
                <a:latin typeface="Consolas"/>
              </a:rPr>
              <a:t>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generalize</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s</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C39BD3"/>
                </a:solidFill>
                <a:latin typeface="Consolas"/>
              </a:rPr>
              <a:t>any</a:t>
            </a:r>
            <a:r>
              <a:rPr sz="1400" i="0">
                <a:solidFill>
                  <a:srgbClr val="AEB6BF"/>
                </a:solidFill>
                <a:latin typeface="Consolas"/>
              </a:rPr>
              <a:t>(</a:t>
            </a:r>
            <a:r>
              <a:rPr sz="1400" i="0">
                <a:solidFill>
                  <a:srgbClr val="E8EDF2"/>
                </a:solidFill>
                <a:latin typeface="Consolas"/>
              </a:rPr>
              <a:t>more_general</a:t>
            </a:r>
            <a:r>
              <a:rPr sz="1400" i="0">
                <a:solidFill>
                  <a:srgbClr val="AEB6BF"/>
                </a:solidFill>
                <a:latin typeface="Consolas"/>
              </a:rPr>
              <a:t>(</a:t>
            </a:r>
            <a:r>
              <a:rPr sz="1400" i="0">
                <a:solidFill>
                  <a:srgbClr val="E8EDF2"/>
                </a:solidFill>
                <a:latin typeface="Consolas"/>
              </a:rPr>
              <a:t>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G</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else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s</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covers</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new</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g</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covers</a:t>
            </a:r>
            <a:r>
              <a:rPr sz="1400" i="0">
                <a:solidFill>
                  <a:srgbClr val="AEB6BF"/>
                </a:solidFill>
                <a:latin typeface="Consolas"/>
              </a:rPr>
              <a:t>(</a:t>
            </a:r>
            <a:r>
              <a:rPr sz="1400" i="0">
                <a:solidFill>
                  <a:srgbClr val="E8EDF2"/>
                </a:solidFill>
                <a:latin typeface="Consolas"/>
              </a:rPr>
              <a:t>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new</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new</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h</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h</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specializations</a:t>
            </a:r>
            <a:r>
              <a:rPr sz="1400" i="0">
                <a:solidFill>
                  <a:srgbClr val="AEB6BF"/>
                </a:solidFill>
                <a:latin typeface="Consolas"/>
              </a:rPr>
              <a:t>(</a:t>
            </a:r>
            <a:r>
              <a:rPr sz="1400" i="0">
                <a:solidFill>
                  <a:srgbClr val="E8EDF2"/>
                </a:solidFill>
                <a:latin typeface="Consolas"/>
              </a:rPr>
              <a:t>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C39BD3"/>
                </a:solidFill>
                <a:latin typeface="Consolas"/>
              </a:rPr>
              <a:t>any</a:t>
            </a:r>
            <a:r>
              <a:rPr sz="1400" i="0">
                <a:solidFill>
                  <a:srgbClr val="AEB6BF"/>
                </a:solidFill>
                <a:latin typeface="Consolas"/>
              </a:rPr>
              <a:t>(</a:t>
            </a:r>
            <a:r>
              <a:rPr sz="1400" i="0">
                <a:solidFill>
                  <a:srgbClr val="E8EDF2"/>
                </a:solidFill>
                <a:latin typeface="Consolas"/>
              </a:rPr>
              <a:t>more_general</a:t>
            </a:r>
            <a:r>
              <a:rPr sz="1400" i="0">
                <a:solidFill>
                  <a:srgbClr val="AEB6BF"/>
                </a:solidFill>
                <a:latin typeface="Consolas"/>
              </a:rPr>
              <a:t>(</a:t>
            </a:r>
            <a:r>
              <a:rPr sz="1400" i="0">
                <a:solidFill>
                  <a:srgbClr val="E8EDF2"/>
                </a:solidFill>
                <a:latin typeface="Consolas"/>
              </a:rPr>
              <a:t>h</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g</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new</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C39BD3"/>
                </a:solidFill>
                <a:latin typeface="Consolas"/>
              </a:rPr>
              <a:t>any</a:t>
            </a:r>
            <a:r>
              <a:rPr sz="1400" i="0">
                <a:solidFill>
                  <a:srgbClr val="AEB6BF"/>
                </a:solidFill>
                <a:latin typeface="Consolas"/>
              </a:rPr>
              <a:t>(</a:t>
            </a:r>
            <a:r>
              <a:rPr sz="1400" i="0">
                <a:solidFill>
                  <a:srgbClr val="E8EDF2"/>
                </a:solidFill>
                <a:latin typeface="Consolas"/>
              </a:rPr>
              <a:t>o</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a:t>
            </a:r>
            <a:r>
              <a:rPr sz="1400" i="0">
                <a:solidFill>
                  <a:srgbClr val="E8EDF2"/>
                </a:solidFill>
                <a:latin typeface="Consolas"/>
              </a:rPr>
              <a:t> </a:t>
            </a:r>
            <a:r>
              <a:rPr sz="1400" i="0">
                <a:solidFill>
                  <a:srgbClr val="AEB6BF"/>
                </a:solidFill>
                <a:latin typeface="Consolas"/>
              </a:rPr>
              <a:t>and</a:t>
            </a:r>
            <a:r>
              <a:rPr sz="1400" i="0">
                <a:solidFill>
                  <a:srgbClr val="E8EDF2"/>
                </a:solidFill>
                <a:latin typeface="Consolas"/>
              </a:rPr>
              <a:t> </a:t>
            </a:r>
            <a:r>
              <a:rPr sz="1400" i="0">
                <a:solidFill>
                  <a:srgbClr val="E8EDF2"/>
                </a:solidFill>
                <a:latin typeface="Consolas"/>
              </a:rPr>
              <a:t>more_general</a:t>
            </a:r>
            <a:r>
              <a:rPr sz="1400" i="0">
                <a:solidFill>
                  <a:srgbClr val="AEB6BF"/>
                </a:solidFill>
                <a:latin typeface="Consolas"/>
              </a:rPr>
              <a:t>(</a:t>
            </a:r>
            <a:r>
              <a:rPr sz="1400" i="0">
                <a:solidFill>
                  <a:srgbClr val="E8EDF2"/>
                </a:solidFill>
                <a:latin typeface="Consolas"/>
              </a:rPr>
              <a:t>o</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o</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new</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release </a:t>
            </a:r>
            <a:r>
              <a:rPr sz="1400" i="0">
                <a:solidFill>
                  <a:srgbClr val="7DCEA0"/>
                </a:solidFill>
                <a:latin typeface="Consolas"/>
              </a:rPr>
              <a:t>{</a:t>
            </a:r>
            <a:r>
              <a:rPr sz="1400" i="0">
                <a:solidFill>
                  <a:srgbClr val="E8EDF2"/>
                </a:solidFill>
                <a:latin typeface="Consolas"/>
              </a:rPr>
              <a:t>k</a:t>
            </a:r>
            <a:r>
              <a:rPr sz="1400" i="0">
                <a:solidFill>
                  <a:srgbClr val="7DCEA0"/>
                </a:solidFill>
                <a:latin typeface="Consolas"/>
              </a:rPr>
              <a:t>}</a:t>
            </a:r>
            <a:r>
              <a:rPr sz="1400" i="0">
                <a:solidFill>
                  <a:srgbClr val="7DCEA0"/>
                </a:solidFill>
                <a:latin typeface="Consolas"/>
              </a:rPr>
              <a:t>  S: </a:t>
            </a:r>
            <a:r>
              <a:rPr sz="1400" i="0">
                <a:solidFill>
                  <a:srgbClr val="7DCEA0"/>
                </a:solidFill>
                <a:latin typeface="Consolas"/>
              </a:rPr>
              <a:t>{</a:t>
            </a:r>
            <a:r>
              <a:rPr sz="1400" i="0">
                <a:solidFill>
                  <a:srgbClr val="E8EDF2"/>
                </a:solidFill>
                <a:latin typeface="Consolas"/>
              </a:rPr>
              <a:t>show</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\n</a:t>
            </a:r>
            <a:r>
              <a:rPr sz="1400" i="0">
                <a:solidFill>
                  <a:srgbClr val="7DCEA0"/>
                </a:solidFill>
                <a:latin typeface="Consolas"/>
              </a:rPr>
              <a:t>           G: </a:t>
            </a:r>
            <a:r>
              <a:rPr sz="1400" i="0">
                <a:solidFill>
                  <a:srgbClr val="7DCEA0"/>
                </a:solidFill>
                <a:latin typeface="Consolas"/>
              </a:rPr>
              <a:t>{</a:t>
            </a:r>
            <a:r>
              <a:rPr sz="1400" i="0">
                <a:solidFill>
                  <a:srgbClr val="E8EDF2"/>
                </a:solidFill>
                <a:latin typeface="Consolas"/>
              </a:rPr>
              <a:t>show</a:t>
            </a:r>
            <a:r>
              <a:rPr sz="1400" i="0">
                <a:solidFill>
                  <a:srgbClr val="AEB6BF"/>
                </a:solidFill>
                <a:latin typeface="Consolas"/>
              </a:rPr>
              <a:t>(</a:t>
            </a:r>
            <a:r>
              <a:rPr sz="1400" i="0">
                <a:solidFill>
                  <a:srgbClr val="E8EDF2"/>
                </a:solidFill>
                <a:latin typeface="Consolas"/>
              </a:rPr>
              <a:t>G</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40</a:t>
            </a:r>
          </a:p>
          <a:p>
            <a:pPr algn="r">
              <a:lnSpc>
                <a:spcPct val="100000"/>
              </a:lnSpc>
            </a:pPr>
            <a:r>
              <a:rPr sz="1400">
                <a:solidFill>
                  <a:srgbClr val="4F5D6A"/>
                </a:solidFill>
                <a:latin typeface="Consolas"/>
              </a:rPr>
              <a:t>41</a:t>
            </a:r>
          </a:p>
          <a:p>
            <a:pPr algn="r">
              <a:lnSpc>
                <a:spcPct val="100000"/>
              </a:lnSpc>
            </a:pPr>
            <a:r>
              <a:rPr sz="1400">
                <a:solidFill>
                  <a:srgbClr val="4F5D6A"/>
                </a:solidFill>
                <a:latin typeface="Consolas"/>
              </a:rPr>
              <a:t>42</a:t>
            </a:r>
          </a:p>
          <a:p>
            <a:pPr algn="r">
              <a:lnSpc>
                <a:spcPct val="100000"/>
              </a:lnSpc>
            </a:pPr>
            <a:r>
              <a:rPr sz="1400">
                <a:solidFill>
                  <a:srgbClr val="4F5D6A"/>
                </a:solidFill>
                <a:latin typeface="Consolas"/>
              </a:rPr>
              <a:t>43</a:t>
            </a:r>
          </a:p>
          <a:p>
            <a:pPr algn="r">
              <a:lnSpc>
                <a:spcPct val="100000"/>
              </a:lnSpc>
            </a:pPr>
            <a:r>
              <a:rPr sz="1400">
                <a:solidFill>
                  <a:srgbClr val="4F5D6A"/>
                </a:solidFill>
                <a:latin typeface="Consolas"/>
              </a:rPr>
              <a:t>44</a:t>
            </a:r>
          </a:p>
          <a:p>
            <a:pPr algn="r">
              <a:lnSpc>
                <a:spcPct val="100000"/>
              </a:lnSpc>
            </a:pPr>
            <a:r>
              <a:rPr sz="1400">
                <a:solidFill>
                  <a:srgbClr val="4F5D6A"/>
                </a:solidFill>
                <a:latin typeface="Consolas"/>
              </a:rPr>
              <a:t>45</a:t>
            </a:r>
          </a:p>
          <a:p>
            <a:pPr algn="r">
              <a:lnSpc>
                <a:spcPct val="100000"/>
              </a:lnSpc>
            </a:pPr>
            <a:r>
              <a:rPr sz="1400">
                <a:solidFill>
                  <a:srgbClr val="4F5D6A"/>
                </a:solidFill>
                <a:latin typeface="Consolas"/>
              </a:rPr>
              <a:t>46</a:t>
            </a:r>
          </a:p>
          <a:p>
            <a:pPr algn="r">
              <a:lnSpc>
                <a:spcPct val="100000"/>
              </a:lnSpc>
            </a:pPr>
            <a:r>
              <a:rPr sz="1400">
                <a:solidFill>
                  <a:srgbClr val="4F5D6A"/>
                </a:solidFill>
                <a:latin typeface="Consolas"/>
              </a:rPr>
              <a:t>47</a:t>
            </a:r>
          </a:p>
          <a:p>
            <a:pPr algn="r">
              <a:lnSpc>
                <a:spcPct val="100000"/>
              </a:lnSpc>
            </a:pPr>
            <a:r>
              <a:rPr sz="1400">
                <a:solidFill>
                  <a:srgbClr val="4F5D6A"/>
                </a:solidFill>
                <a:latin typeface="Consolas"/>
              </a:rPr>
              <a:t>48</a:t>
            </a:r>
          </a:p>
          <a:p>
            <a:pPr algn="r">
              <a:lnSpc>
                <a:spcPct val="100000"/>
              </a:lnSpc>
            </a:pPr>
            <a:r>
              <a:rPr sz="1400">
                <a:solidFill>
                  <a:srgbClr val="4F5D6A"/>
                </a:solidFill>
                <a:latin typeface="Consolas"/>
              </a:rPr>
              <a:t>49</a:t>
            </a:r>
          </a:p>
          <a:p>
            <a:pPr algn="r">
              <a:lnSpc>
                <a:spcPct val="100000"/>
              </a:lnSpc>
            </a:pPr>
            <a:r>
              <a:rPr sz="1400">
                <a:solidFill>
                  <a:srgbClr val="4F5D6A"/>
                </a:solidFill>
                <a:latin typeface="Consolas"/>
              </a:rPr>
              <a:t>50</a:t>
            </a:r>
          </a:p>
          <a:p>
            <a:pPr algn="r">
              <a:lnSpc>
                <a:spcPct val="100000"/>
              </a:lnSpc>
            </a:pPr>
            <a:r>
              <a:rPr sz="1400">
                <a:solidFill>
                  <a:srgbClr val="4F5D6A"/>
                </a:solidFill>
                <a:latin typeface="Consolas"/>
              </a:rPr>
              <a:t>51</a:t>
            </a:r>
          </a:p>
          <a:p>
            <a:pPr algn="r">
              <a:lnSpc>
                <a:spcPct val="100000"/>
              </a:lnSpc>
            </a:pPr>
            <a:r>
              <a:rPr sz="1400">
                <a:solidFill>
                  <a:srgbClr val="4F5D6A"/>
                </a:solidFill>
                <a:latin typeface="Consolas"/>
              </a:rPr>
              <a:t>52</a:t>
            </a:r>
          </a:p>
          <a:p>
            <a:pPr algn="r">
              <a:lnSpc>
                <a:spcPct val="100000"/>
              </a:lnSpc>
            </a:pPr>
            <a:r>
              <a:rPr sz="1400">
                <a:solidFill>
                  <a:srgbClr val="4F5D6A"/>
                </a:solidFill>
                <a:latin typeface="Consolas"/>
              </a:rPr>
              <a:t>53</a:t>
            </a:r>
          </a:p>
          <a:p>
            <a:pPr algn="r">
              <a:lnSpc>
                <a:spcPct val="100000"/>
              </a:lnSpc>
            </a:pPr>
            <a:r>
              <a:rPr sz="1400">
                <a:solidFill>
                  <a:srgbClr val="4F5D6A"/>
                </a:solidFill>
                <a:latin typeface="Consolas"/>
              </a:rPr>
              <a:t>54</a:t>
            </a:r>
          </a:p>
          <a:p>
            <a:pPr algn="r">
              <a:lnSpc>
                <a:spcPct val="100000"/>
              </a:lnSpc>
            </a:pPr>
            <a:r>
              <a:rPr sz="1400">
                <a:solidFill>
                  <a:srgbClr val="4F5D6A"/>
                </a:solidFill>
                <a:latin typeface="Consolas"/>
              </a:rPr>
              <a:t>55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093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Candidate Elimination in Forty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6B8822B6-A48B-41D3-A7C0-C39B666E17DC}"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Brute force: list every hypothesis, keep the consistent ones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code/ch04_candidate_elimination.py</a:t>
            </a:r>
          </a:p>
        </p:txBody>
      </p:sp>
      <p:sp>
        <p:nvSpPr>
          <p:cNvPr id="14" name="!!code-text" descr="# --- brute force: list every hypothesis, keep the consistent ones --------- H = list(product(*[v + (&quot;?&quot;,) for v in VALUES])) VS = [h for h in H if all(covers(h, x) == p for x, p in D)] print(len(VS), &quot;hypotheses in the version space:&quot;) print(show(VS)) new_release = (&quot;Pass&quot;, &quot;Done&quot;, &quot;Complete&quot;, &quot;None&quot;, &quot;Quiet&quot;, &quot;Same&quot;) yes = sum(covers(h, new_release) for h in VS) print(f&quot;vote on {new_release}: {yes} yes, {len(VS) - yes} no&quot;)"/>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brute force: list every hypothesis, keep the consistent ones ---------</a:t>
            </a:r>
          </a:p>
          <a:p>
            <a:pPr>
              <a:lnSpc>
                <a:spcPct val="100000"/>
              </a:lnSpc>
              <a:spcAft>
                <a:spcPts val="0"/>
              </a:spcAft>
            </a:pP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list</a:t>
            </a:r>
            <a:r>
              <a:rPr sz="1800" i="0">
                <a:solidFill>
                  <a:srgbClr val="AEB6BF"/>
                </a:solidFill>
                <a:latin typeface="Consolas"/>
              </a:rPr>
              <a:t>(</a:t>
            </a:r>
            <a:r>
              <a:rPr sz="1800" i="0">
                <a:solidFill>
                  <a:srgbClr val="E8EDF2"/>
                </a:solidFill>
                <a:latin typeface="Consolas"/>
              </a:rPr>
              <a:t>product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v</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VALUES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VS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h</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H</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C39BD3"/>
                </a:solidFill>
                <a:latin typeface="Consolas"/>
              </a:rPr>
              <a:t>all</a:t>
            </a:r>
            <a:r>
              <a:rPr sz="1800" i="0">
                <a:solidFill>
                  <a:srgbClr val="AEB6BF"/>
                </a:solidFill>
                <a:latin typeface="Consolas"/>
              </a:rPr>
              <a:t>(</a:t>
            </a:r>
            <a:r>
              <a:rPr sz="1800" i="0">
                <a:solidFill>
                  <a:srgbClr val="E8EDF2"/>
                </a:solidFill>
                <a:latin typeface="Consolas"/>
              </a:rPr>
              <a:t>covers</a:t>
            </a:r>
            <a:r>
              <a:rPr sz="1800" i="0">
                <a:solidFill>
                  <a:srgbClr val="AEB6BF"/>
                </a:solidFill>
                <a:latin typeface="Consolas"/>
              </a:rPr>
              <a:t>(</a:t>
            </a:r>
            <a:r>
              <a:rPr sz="1800" i="0">
                <a:solidFill>
                  <a:srgbClr val="E8EDF2"/>
                </a:solidFill>
                <a:latin typeface="Consolas"/>
              </a:rPr>
              <a:t>h</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D</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VS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hypotheses in the version space:</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E8EDF2"/>
                </a:solidFill>
                <a:latin typeface="Consolas"/>
              </a:rPr>
              <a:t>show</a:t>
            </a:r>
            <a:r>
              <a:rPr sz="1800" i="0">
                <a:solidFill>
                  <a:srgbClr val="AEB6BF"/>
                </a:solidFill>
                <a:latin typeface="Consolas"/>
              </a:rPr>
              <a:t>(</a:t>
            </a:r>
            <a:r>
              <a:rPr sz="1800" i="0">
                <a:solidFill>
                  <a:srgbClr val="E8EDF2"/>
                </a:solidFill>
                <a:latin typeface="Consolas"/>
              </a:rPr>
              <a:t>VS</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new_release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Pass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Done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Complete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None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Quiet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Same</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yes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sum</a:t>
            </a:r>
            <a:r>
              <a:rPr sz="1800" i="0">
                <a:solidFill>
                  <a:srgbClr val="AEB6BF"/>
                </a:solidFill>
                <a:latin typeface="Consolas"/>
              </a:rPr>
              <a:t>(</a:t>
            </a:r>
            <a:r>
              <a:rPr sz="1800" i="0">
                <a:solidFill>
                  <a:srgbClr val="E8EDF2"/>
                </a:solidFill>
                <a:latin typeface="Consolas"/>
              </a:rPr>
              <a:t>covers</a:t>
            </a:r>
            <a:r>
              <a:rPr sz="1800" i="0">
                <a:solidFill>
                  <a:srgbClr val="AEB6BF"/>
                </a:solidFill>
                <a:latin typeface="Consolas"/>
              </a:rPr>
              <a:t>(</a:t>
            </a:r>
            <a:r>
              <a:rPr sz="1800" i="0">
                <a:solidFill>
                  <a:srgbClr val="E8EDF2"/>
                </a:solidFill>
                <a:latin typeface="Consolas"/>
              </a:rPr>
              <a:t>h</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new_release</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h</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VS</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vote on </a:t>
            </a:r>
            <a:r>
              <a:rPr sz="1800" i="0">
                <a:solidFill>
                  <a:srgbClr val="7DCEA0"/>
                </a:solidFill>
                <a:latin typeface="Consolas"/>
              </a:rPr>
              <a:t>{</a:t>
            </a:r>
            <a:r>
              <a:rPr sz="1800" i="0">
                <a:solidFill>
                  <a:srgbClr val="E8EDF2"/>
                </a:solidFill>
                <a:latin typeface="Consolas"/>
              </a:rPr>
              <a:t>new_release</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yes</a:t>
            </a:r>
            <a:r>
              <a:rPr sz="1800" i="0">
                <a:solidFill>
                  <a:srgbClr val="7DCEA0"/>
                </a:solidFill>
                <a:latin typeface="Consolas"/>
              </a:rPr>
              <a:t>}</a:t>
            </a:r>
            <a:r>
              <a:rPr sz="1800" i="0">
                <a:solidFill>
                  <a:srgbClr val="7DCEA0"/>
                </a:solidFill>
                <a:latin typeface="Consolas"/>
              </a:rPr>
              <a:t> yes, </a:t>
            </a:r>
            <a:r>
              <a:rPr sz="1800" i="0">
                <a:solidFill>
                  <a:srgbClr val="7DCEA0"/>
                </a:solidFill>
                <a:latin typeface="Consolas"/>
              </a:rPr>
              <a:t>{</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VS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yes</a:t>
            </a:r>
            <a:r>
              <a:rPr sz="1800" i="0">
                <a:solidFill>
                  <a:srgbClr val="7DCEA0"/>
                </a:solidFill>
                <a:latin typeface="Consolas"/>
              </a:rPr>
              <a:t>}</a:t>
            </a:r>
            <a:r>
              <a:rPr sz="1800" i="0">
                <a:solidFill>
                  <a:srgbClr val="7DCEA0"/>
                </a:solidFill>
                <a:latin typeface="Consolas"/>
              </a:rPr>
              <a:t> no</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a:p>
            <a:pPr algn="r">
              <a:lnSpc>
                <a:spcPct val="100000"/>
              </a:lnSpc>
            </a:pPr>
            <a:r>
              <a:rPr sz="1800">
                <a:solidFill>
                  <a:srgbClr val="4F5D6A"/>
                </a:solidFill>
                <a:latin typeface="Consolas"/>
              </a:rPr>
              <a:t>63</a:t>
            </a:r>
          </a:p>
          <a:p>
            <a:pPr algn="r">
              <a:lnSpc>
                <a:spcPct val="100000"/>
              </a:lnSpc>
            </a:pPr>
            <a:r>
              <a:rPr sz="1800">
                <a:solidFill>
                  <a:srgbClr val="4F5D6A"/>
                </a:solidFill>
                <a:latin typeface="Consolas"/>
              </a:rPr>
              <a:t>64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§4.8  ·  Handout p. 31     </a:t>
            </a:r>
            <a:fld id="{564D1155-B83F-43E5-925F-56752CE1B7B6}" type="slidenum">
              <a:rPr lang="en-GB" sz="1000">
                <a:solidFill>
                  <a:srgbClr val="8795A1"/>
                </a:solidFill>
                <a:latin typeface="Segoe UI"/>
              </a:rPr>
              <a:t>40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Now add a fifth example, a copy of Release 1 recorded as </a:t>
            </a:r>
            <a:r>
              <a:rPr sz="2300" b="0" i="1">
                <a:solidFill>
                  <a:srgbClr val="1C252B"/>
                </a:solidFill>
                <a:latin typeface="Segoe UI"/>
              </a:rPr>
              <a:t>No</a:t>
            </a:r>
            <a:r>
              <a:rPr sz="2300" b="0" i="0">
                <a:solidFill>
                  <a:srgbClr val="1C252B"/>
                </a:solidFill>
                <a:latin typeface="Segoe UI"/>
              </a:rPr>
              <a:t> — a data-entry mistake — and run the trace again. What happens to </a:t>
            </a:r>
            <a:r>
              <a:rPr sz="2300" b="0" i="1">
                <a:solidFill>
                  <a:srgbClr val="1C252B"/>
                </a:solidFill>
                <a:latin typeface="Cambria"/>
              </a:rPr>
              <a:t>S</a:t>
            </a:r>
            <a:r>
              <a:rPr sz="2300" b="0" i="0">
                <a:solidFill>
                  <a:srgbClr val="1C252B"/>
                </a:solidFill>
                <a:latin typeface="Segoe UI"/>
              </a:rPr>
              <a:t>, </a:t>
            </a:r>
            <a:r>
              <a:rPr sz="2300" b="0" i="1">
                <a:solidFill>
                  <a:srgbClr val="1C252B"/>
                </a:solidFill>
                <a:latin typeface="Cambria"/>
              </a:rPr>
              <a:t>G</a:t>
            </a:r>
            <a:r>
              <a:rPr sz="2300" b="0" i="0">
                <a:solidFill>
                  <a:srgbClr val="1C252B"/>
                </a:solidFill>
                <a:latin typeface="Segoe UI"/>
              </a:rPr>
              <a:t> and the version space?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3782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Is </a:t>
            </a:r>
            <a:r>
              <a:rPr sz="3400" b="0" i="0">
                <a:solidFill>
                  <a:srgbClr val="FFFFFF"/>
                </a:solidFill>
                <a:latin typeface="Cambria"/>
              </a:rPr>
              <a:t>⟨</a:t>
            </a:r>
            <a:r>
              <a:rPr sz="3400" b="0" i="0">
                <a:solidFill>
                  <a:srgbClr val="FFFFFF"/>
                </a:solidFill>
                <a:latin typeface="Segoe UI Semibold"/>
              </a:rPr>
              <a:t>Pass, ?, ?, Ready, ?, ?</a:t>
            </a:r>
            <a:r>
              <a:rPr sz="3400" b="0" i="0">
                <a:solidFill>
                  <a:srgbClr val="FFFFFF"/>
                </a:solidFill>
                <a:latin typeface="Cambria"/>
              </a:rPr>
              <a:t>⟩ ≥</a:t>
            </a:r>
            <a:r>
              <a:rPr sz="3400" b="0" i="1" baseline="-25000">
                <a:solidFill>
                  <a:srgbClr val="FFFFFF"/>
                </a:solidFill>
                <a:latin typeface="Cambria"/>
              </a:rPr>
              <a:t>g</a:t>
            </a:r>
            <a:r>
              <a:rPr sz="3400" b="0" i="0">
                <a:solidFill>
                  <a:srgbClr val="FFFFFF"/>
                </a:solidFill>
                <a:latin typeface="Cambria"/>
              </a:rPr>
              <a:t> ⟨</a:t>
            </a:r>
            <a:r>
              <a:rPr sz="3400" b="0" i="0">
                <a:solidFill>
                  <a:srgbClr val="FFFFFF"/>
                </a:solidFill>
                <a:latin typeface="Segoe UI Semibold"/>
              </a:rPr>
              <a:t>Pass, Done, ?, Ready, ?, ?</a:t>
            </a:r>
            <a:r>
              <a:rPr sz="3400" b="0" i="0">
                <a:solidFill>
                  <a:srgbClr val="FFFFFF"/>
                </a:solidFill>
                <a:latin typeface="Cambria"/>
              </a:rPr>
              <a:t>⟩</a:t>
            </a:r>
            <a:r>
              <a:rPr sz="3400" b="0" i="0">
                <a:solidFill>
                  <a:srgbClr val="FFFFFF"/>
                </a:solidFill>
                <a:latin typeface="Segoe UI Semibold"/>
              </a:rPr>
              <a:t>? Is the reverse true?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4  ·  Concept Learning and the Version Space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36  ·  answers in Appendix D     </a:t>
            </a:r>
            <a:fld id="{6AC4DAD9-72E6-4CE2-903C-3A24113AE37E}"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Is </a:t>
            </a:r>
            <a:r>
              <a:rPr sz="2400" b="0" i="0">
                <a:solidFill>
                  <a:srgbClr val="1A5276"/>
                </a:solidFill>
                <a:latin typeface="Cambria"/>
              </a:rPr>
              <a:t>⟨</a:t>
            </a:r>
            <a:r>
              <a:rPr sz="2400" b="0" i="0">
                <a:solidFill>
                  <a:srgbClr val="1A5276"/>
                </a:solidFill>
                <a:latin typeface="Segoe UI Semibold"/>
              </a:rPr>
              <a:t>Pass, ?, ?, Ready, ?, ?</a:t>
            </a:r>
            <a:r>
              <a:rPr sz="2400" b="0" i="0">
                <a:solidFill>
                  <a:srgbClr val="1A5276"/>
                </a:solidFill>
                <a:latin typeface="Cambria"/>
              </a:rPr>
              <a:t>⟩ ≥</a:t>
            </a:r>
            <a:r>
              <a:rPr sz="2400" b="0" i="1" baseline="-25000">
                <a:solidFill>
                  <a:srgbClr val="1A5276"/>
                </a:solidFill>
                <a:latin typeface="Cambria"/>
              </a:rPr>
              <a:t>g</a:t>
            </a:r>
            <a:r>
              <a:rPr sz="2400" b="0" i="0">
                <a:solidFill>
                  <a:srgbClr val="1A5276"/>
                </a:solidFill>
                <a:latin typeface="Cambria"/>
              </a:rPr>
              <a:t> ⟨</a:t>
            </a:r>
            <a:r>
              <a:rPr sz="2400" b="0" i="0">
                <a:solidFill>
                  <a:srgbClr val="1A5276"/>
                </a:solidFill>
                <a:latin typeface="Segoe UI Semibold"/>
              </a:rPr>
              <a:t>Pass, Done, ?, Ready, ?, ?</a:t>
            </a:r>
            <a:r>
              <a:rPr sz="2400" b="0" i="0">
                <a:solidFill>
                  <a:srgbClr val="1A5276"/>
                </a:solidFill>
                <a:latin typeface="Cambria"/>
              </a:rPr>
              <a:t>⟩</a:t>
            </a:r>
            <a:r>
              <a:rPr sz="2400" b="0" i="0">
                <a:solidFill>
                  <a:srgbClr val="1A5276"/>
                </a:solidFill>
                <a:latin typeface="Segoe UI Semibold"/>
              </a:rPr>
              <a:t>? Is the reverse true?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Yes: any release satisfying </a:t>
            </a:r>
            <a:r>
              <a:rPr sz="2200" b="0" i="0">
                <a:solidFill>
                  <a:srgbClr val="1C252B"/>
                </a:solidFill>
                <a:latin typeface="Cambria"/>
              </a:rPr>
              <a:t>⟨</a:t>
            </a:r>
            <a:r>
              <a:rPr sz="2200" b="0" i="0">
                <a:solidFill>
                  <a:srgbClr val="1C252B"/>
                </a:solidFill>
                <a:latin typeface="Segoe UI"/>
              </a:rPr>
              <a:t>Pass, Done, ?, Ready, ?, ?</a:t>
            </a:r>
            <a:r>
              <a:rPr sz="2200" b="0" i="0">
                <a:solidFill>
                  <a:srgbClr val="1C252B"/>
                </a:solidFill>
                <a:latin typeface="Cambria"/>
              </a:rPr>
              <a:t>⟩</a:t>
            </a:r>
            <a:r>
              <a:rPr sz="2200" b="0" i="0">
                <a:solidFill>
                  <a:srgbClr val="1C252B"/>
                </a:solidFill>
                <a:latin typeface="Segoe UI"/>
              </a:rPr>
              <a:t> also satisfies </a:t>
            </a:r>
            <a:r>
              <a:rPr sz="2200" b="0" i="0">
                <a:solidFill>
                  <a:srgbClr val="1C252B"/>
                </a:solidFill>
                <a:latin typeface="Cambria"/>
              </a:rPr>
              <a:t>⟨</a:t>
            </a:r>
            <a:r>
              <a:rPr sz="2200" b="0" i="0">
                <a:solidFill>
                  <a:srgbClr val="1C252B"/>
                </a:solidFill>
                <a:latin typeface="Segoe UI"/>
              </a:rPr>
              <a:t>Pass, ?, ?, Ready, ?, ?</a:t>
            </a:r>
            <a:r>
              <a:rPr sz="2200" b="0" i="0">
                <a:solidFill>
                  <a:srgbClr val="1C252B"/>
                </a:solidFill>
                <a:latin typeface="Cambria"/>
              </a:rPr>
              <a:t>⟩</a:t>
            </a:r>
            <a:r>
              <a:rPr sz="2200" b="0" i="0">
                <a:solidFill>
                  <a:srgbClr val="1C252B"/>
                </a:solidFill>
                <a:latin typeface="Segoe UI"/>
              </a:rPr>
              <a:t>. The reverse is false: a release whose tests pass and whose rollback is ready, but whose review is still pending, satisfies the first but not the second.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  answers in Appendix D     </a:t>
            </a:r>
            <a:fld id="{58E144D8-F7D3-4801-9E60-AC96B821B8DE}"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471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Run Find-S on the release decisions with Release 4 removed. What does it return?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4  ·  Concept Learning and the Version Space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36  ·  answers in Appendix D     </a:t>
            </a:r>
            <a:fld id="{F8FE26DF-D840-43F8-A2CA-4188332C1320}"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Run Find-S on the release decisions with Release 4 removed. What does it return?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a:t>
            </a:r>
            <a:r>
              <a:rPr sz="2200" b="0" i="0">
                <a:solidFill>
                  <a:srgbClr val="1C252B"/>
                </a:solidFill>
                <a:latin typeface="Segoe UI"/>
              </a:rPr>
              <a:t>Pass, Done, ?, Ready, Quiet, Same</a:t>
            </a:r>
            <a:r>
              <a:rPr sz="2200" b="0" i="0">
                <a:solidFill>
                  <a:srgbClr val="1C252B"/>
                </a:solidFill>
                <a:latin typeface="Cambria"/>
              </a:rPr>
              <a:t>⟩</a:t>
            </a:r>
            <a:r>
              <a:rPr sz="2200" b="0" i="0">
                <a:solidFill>
                  <a:srgbClr val="1C252B"/>
                </a:solidFill>
                <a:latin typeface="Segoe UI"/>
              </a:rPr>
              <a:t> — the hypothesis after Release 2, since Release 3 is negative and ignored.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  answers in Appendix D     </a:t>
            </a:r>
            <a:fld id="{488314CE-042E-498D-9512-0B97D34AB521}"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1604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an unbiased learner’s vote on an unseen instance always end in a tie?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4  ·  Concept Learning and the Version Space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36  ·  answers in Appendix D     </a:t>
            </a:r>
            <a:fld id="{5FB46E0F-F6AE-40F2-86D1-D6BC3AD9F418}"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an unbiased learner’s vote on an unseen instance always end in a tie?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each concept in its version space that labels the unseen instance positive, there is another, identical except for that instance, labelling it negative; both are consistent with the training data. The votes are always equal.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  answers in Appendix D     </a:t>
            </a:r>
            <a:fld id="{2B3F600B-ECD3-47A7-904C-9E6FBBA9A4CC}" type="slidenum">
              <a:rPr lang="en-GB" sz="1000">
                <a:solidFill>
                  <a:srgbClr val="8795A1"/>
                </a:solidFill>
                <a:latin typeface="Segoe UI"/>
              </a:rPr>
              <a:t>46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849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a:t>
            </a:r>
            <a:fld id="{BCE54D85-0B86-49A2-A1C0-9CF35B62A767}" type="slidenum">
              <a:rPr lang="en-GB" sz="1000">
                <a:solidFill>
                  <a:srgbClr val="8795A1"/>
                </a:solidFill>
                <a:latin typeface="Segoe UI"/>
              </a:rPr>
              <a:t>47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Concept learning infers a yes/no function from examples by searching a hypothesis space — here, conjunctions of attribute constraints.</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Hypotheses are partially ordered from specific to general; the ordering lets a learner search without listing every hypothesis.</a:t>
            </a:r>
          </a:p>
        </p:txBody>
      </p:sp>
      <p:sp>
        <p:nvSpPr>
          <p:cNvPr id="13" name="!!sb2">
            <a:extLst>
              <a:ext uri="{C183D7F6-B498-43B3-948B-1728B52AA6E4}">
                <adec:decorative xmlns:adec="http://schemas.microsoft.com/office/drawing/2017/decorative" val="1"/>
              </a:ext>
            </a:extLst>
          </p:cNvPr>
          <p:cNvSpPr/>
          <p:nvPr/>
        </p:nvSpPr>
        <p:spPr>
          <a:xfrm>
            <a:off x="658368" y="32534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082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244291"/>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Find-S returns the most specific hypothesis consistent with the positive examples, but cannot say whether it is the only one.</a:t>
            </a:r>
          </a:p>
        </p:txBody>
      </p:sp>
      <p:sp>
        <p:nvSpPr>
          <p:cNvPr id="16" name="!!sb3">
            <a:extLst>
              <a:ext uri="{C183D7F6-B498-43B3-948B-1728B52AA6E4}">
                <adec:decorative xmlns:adec="http://schemas.microsoft.com/office/drawing/2017/decorative" val="1"/>
              </a:ext>
            </a:extLst>
          </p:cNvPr>
          <p:cNvSpPr/>
          <p:nvPr/>
        </p:nvSpPr>
        <p:spPr>
          <a:xfrm>
            <a:off x="658368" y="400690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6176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97756"/>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version space is every hypothesis consistent with the data; Candidate-Elimination represents it by its boundaries </a:t>
            </a:r>
            <a:r>
              <a:rPr sz="1800" b="0" i="1">
                <a:solidFill>
                  <a:srgbClr val="1C252B"/>
                </a:solidFill>
                <a:latin typeface="Cambria"/>
              </a:rPr>
              <a:t>S</a:t>
            </a:r>
            <a:r>
              <a:rPr sz="1800" b="0" i="0">
                <a:solidFill>
                  <a:srgbClr val="1C252B"/>
                </a:solidFill>
                <a:latin typeface="Segoe UI"/>
              </a:rPr>
              <a:t> and </a:t>
            </a:r>
            <a:r>
              <a:rPr sz="1800" b="0" i="1">
                <a:solidFill>
                  <a:srgbClr val="1C252B"/>
                </a:solidFill>
                <a:latin typeface="Cambria"/>
              </a:rPr>
              <a:t>G</a:t>
            </a:r>
            <a:r>
              <a:rPr sz="1800" b="0" i="0">
                <a:solidFill>
                  <a:srgbClr val="1C252B"/>
                </a:solidFill>
                <a:latin typeface="Segoe UI"/>
              </a:rPr>
              <a:t>, which positive and negative examples move towards each other.</a:t>
            </a:r>
          </a:p>
        </p:txBody>
      </p:sp>
      <p:sp>
        <p:nvSpPr>
          <p:cNvPr id="19" name="!!sb4">
            <a:extLst>
              <a:ext uri="{C183D7F6-B498-43B3-948B-1728B52AA6E4}">
                <adec:decorative xmlns:adec="http://schemas.microsoft.com/office/drawing/2017/decorative" val="1"/>
              </a:ext>
            </a:extLst>
          </p:cNvPr>
          <p:cNvSpPr/>
          <p:nvPr/>
        </p:nvSpPr>
        <p:spPr>
          <a:xfrm>
            <a:off x="658368" y="476036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1523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51222"/>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partially learned concept classifies by vote; the most informative query splits the version space in half.</a:t>
            </a:r>
          </a:p>
        </p:txBody>
      </p:sp>
      <p:sp>
        <p:nvSpPr>
          <p:cNvPr id="22" name="!!sb5">
            <a:extLst>
              <a:ext uri="{C183D7F6-B498-43B3-948B-1728B52AA6E4}">
                <adec:decorative xmlns:adec="http://schemas.microsoft.com/office/drawing/2017/decorative" val="1"/>
              </a:ext>
            </a:extLst>
          </p:cNvPr>
          <p:cNvSpPr/>
          <p:nvPr/>
        </p:nvSpPr>
        <p:spPr>
          <a:xfrm>
            <a:off x="658368" y="55138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6869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04688"/>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Without an inductive bias there is no generalisation. The bias of Candidate-Elimination is that the target is in </a:t>
            </a:r>
            <a:r>
              <a:rPr sz="1800" b="0" i="1">
                <a:solidFill>
                  <a:srgbClr val="1C252B"/>
                </a:solidFill>
                <a:latin typeface="Cambria"/>
              </a:rPr>
              <a:t>H</a:t>
            </a:r>
            <a:r>
              <a:rPr sz="1800" b="0" i="0">
                <a:solidFill>
                  <a:srgbClr val="1C252B"/>
                </a:solidFill>
                <a:latin typeface="Segoe UI"/>
              </a:rPr>
              <a:t> — and it assumes noise-free data, which later chapters drop.</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194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a:t>
            </a:r>
            <a:fld id="{B9D7F6BC-90DD-4F34-AB0C-45AD96B139BA}"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Find-S ignores: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positive examples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negative examples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first example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nothing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538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a:t>
            </a:r>
            <a:fld id="{E2923093-ECA6-4D8A-A9CF-1E6F2FD391BF}"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negative example can change: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S</a:t>
            </a:r>
            <a:r>
              <a:rPr sz="2000" b="0" i="0">
                <a:solidFill>
                  <a:srgbClr val="1C252B"/>
                </a:solidFill>
                <a:latin typeface="Segoe UI"/>
              </a:rPr>
              <a:t> only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G</a:t>
            </a:r>
            <a:r>
              <a:rPr sz="2000" b="0" i="0">
                <a:solidFill>
                  <a:srgbClr val="1C252B"/>
                </a:solidFill>
                <a:latin typeface="Segoe UI"/>
              </a:rPr>
              <a:t> only, though it may also remove members of </a:t>
            </a:r>
            <a:r>
              <a:rPr sz="2000" b="0" i="1">
                <a:solidFill>
                  <a:srgbClr val="1C252B"/>
                </a:solidFill>
                <a:latin typeface="Cambria"/>
              </a:rPr>
              <a: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neither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hypothesis space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883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a:t>
            </a:r>
            <a:fld id="{9FC22613-CBFF-444C-BBFE-8BA042E876AC}" type="slidenum">
              <a:rPr lang="en-GB" sz="1000">
                <a:solidFill>
                  <a:srgbClr val="8795A1"/>
                </a:solidFill>
                <a:latin typeface="Segoe UI"/>
              </a:rPr>
              <a:t>50</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With 3 attributes of 3 values each, the number of semantically distinct conjunctive hypotheses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27</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64</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65</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2</a:t>
            </a:r>
            <a:r>
              <a:rPr sz="2000" b="0" i="0" baseline="30000">
                <a:solidFill>
                  <a:srgbClr val="1C252B"/>
                </a:solidFill>
                <a:latin typeface="Cambria"/>
              </a:rPr>
              <a:t>27</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227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4  ·  Concept Learning and the Version Space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36     </a:t>
            </a:r>
            <a:fld id="{82A0A97A-6C2C-4246-92E5-C0253C02F4CF}" type="slidenum">
              <a:rPr lang="en-GB" sz="1000">
                <a:solidFill>
                  <a:srgbClr val="8795A1"/>
                </a:solidFill>
                <a:latin typeface="Segoe UI"/>
              </a:rPr>
              <a:t>51</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the version space, and explain why Candidate-Elimination does not need to list it.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inductive learning hypothesis. Why is it an assumption rather than a theorem?</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how a single mislabelled training example affects Candidate-Elimination.</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Trace Candidate-Elimination on the release decisions presented in the order Release 3, Release 1, Release 2, Release 4. Is the final version space the same? Is any intermediate boundary different?</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final version space of this chapter, find a release that splits the vote 2 to 4 other than the one in the worked example, and one that splits it 3 to 3. Explain why the second is the better query.</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572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5 — Linear Regression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4, pages 26–36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Candidate elimination in forty lines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1 (Ch 1–3)</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4  ·  Concept Learning and the Version Space</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D40298EF-F685-4435-9C56-14A04E71162C}" type="slidenum">
              <a:rPr lang="en-GB" sz="1000">
                <a:solidFill>
                  <a:srgbClr val="D5DEE5"/>
                </a:solidFill>
                <a:latin typeface="Segoe UI"/>
              </a:rPr>
              <a:t>52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Concept Learning and the Version Space</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