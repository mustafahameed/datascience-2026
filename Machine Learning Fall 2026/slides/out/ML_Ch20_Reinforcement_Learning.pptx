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3.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4C0CE7A-CF2E-443F-A984-98F13DC616F0}">
          <p14:sldIdLst>
            <p14:sldId id="256"/>
            <p14:sldId id="257"/>
            <p14:sldId id="258"/>
            <p14:sldId id="259"/>
            <p14:sldId id="260"/>
          </p14:sldIdLst>
        </p14:section>
        <p14:section name="20.1 Learning From Consequences" id="{0B96D7C1-ACEF-4DAC-8076-986C3C152789}">
          <p14:sldIdLst>
            <p14:sldId id="261"/>
          </p14:sldIdLst>
        </p14:section>
        <p14:section name="20.2 Monte Carlo Methods" id="{76832825-D3B5-4712-82AB-2DD01D2383CF}">
          <p14:sldIdLst>
            <p14:sldId id="262"/>
            <p14:sldId id="263"/>
            <p14:sldId id="264"/>
          </p14:sldIdLst>
        </p14:section>
        <p14:section name="20.3 Exploration and Exploitation" id="{2960662F-95AD-4F56-A372-6234A6954524}">
          <p14:sldIdLst>
            <p14:sldId id="265"/>
            <p14:sldId id="266"/>
            <p14:sldId id="267"/>
            <p14:sldId id="268"/>
            <p14:sldId id="269"/>
            <p14:sldId id="270"/>
          </p14:sldIdLst>
        </p14:section>
        <p14:section name="20.4 Temporal-Difference Learning" id="{466519B2-E65B-4E77-9B16-99B64460DE2B}">
          <p14:sldIdLst>
            <p14:sldId id="271"/>
            <p14:sldId id="272"/>
            <p14:sldId id="273"/>
          </p14:sldIdLst>
        </p14:section>
        <p14:section name="20.5 Q-Learning" id="{C6EC1812-B112-48C8-9E17-48804D656549}">
          <p14:sldIdLst>
            <p14:sldId id="274"/>
            <p14:sldId id="275"/>
            <p14:sldId id="276"/>
            <p14:sldId id="277"/>
          </p14:sldIdLst>
        </p14:section>
        <p14:section name="20.6 From Tables to Deep Reinforcement Learning" id="{BAAF3820-A6C0-4CCD-A63F-05B47E6E8C27}">
          <p14:sldIdLst>
            <p14:sldId id="278"/>
          </p14:sldIdLst>
        </p14:section>
        <p14:section name="Pitfalls" id="{3366C6C2-BB55-40E6-AF4F-F74CEF108449}">
          <p14:sldIdLst>
            <p14:sldId id="279"/>
          </p14:sldIdLst>
        </p14:section>
        <p14:section name="Lab" id="{E768B7C2-9ED0-4969-BBFE-2226EC67228C}">
          <p14:sldIdLst>
            <p14:sldId id="280"/>
            <p14:sldId id="281"/>
            <p14:sldId id="282"/>
            <p14:sldId id="283"/>
            <p14:sldId id="284"/>
            <p14:sldId id="285"/>
            <p14:sldId id="286"/>
          </p14:sldIdLst>
        </p14:section>
        <p14:section name="Checkpoint" id="{EEC5A440-59C1-499D-84B5-477F54483BE7}">
          <p14:sldIdLst>
            <p14:sldId id="287"/>
            <p14:sldId id="288"/>
            <p14:sldId id="289"/>
            <p14:sldId id="290"/>
            <p14:sldId id="291"/>
            <p14:sldId id="292"/>
          </p14:sldIdLst>
        </p14:section>
        <p14:section name="Wrap-up" id="{65EF21AA-0079-450B-86EA-B42C3C7AC165}">
          <p14:sldIdLst>
            <p14:sldId id="293"/>
            <p14:sldId id="294"/>
            <p14:sldId id="295"/>
            <p14:sldId id="296"/>
            <p14:sldId id="297"/>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20: Reinforcement Learning. Part 5 — Sequences, Decisions and Reinforcement. Week 15: Markov decision processes; reinforcement learning. Handout pages 147–155.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19 (MDPs, returns, value functions, the Bellman equations) and Chapter 18 (Monte Carlo estimation). Chapter 7 for the trade-off between trying new things and using what is known, which returns here in a new form.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reinforcement learning; model-free; episode; Monte Carlo prediction; first-visit Monte Carlo; exploration vs. exploitation; multi-armed bandit; greedy; ε-greedy; upper confidence bound (UCB); incremental mean; temporal difference (TD); TD error; bootstrapping; Q-learning; SARSA; on-policy vs. off-policy; function approximation; deep Q-network.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18 introduced Monte Carlo estimation: estimate an expectation by sampling and averaging, with error shrinking like 1/√n. The simplest illustration needs no MDP at all. In the model of Chapter 18, a healthy project stays healthy for another week with probability 0.8; what is the chance it stays healthy for ten weeks? Exactly, 0.810 = 0.107. By simulation: run the ten weeks 100 times and count the runs that stay healthy — the lab gets 0.120; a million runs give 0.1071. The same procedure works when no exact formula exists,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Monte Carlo is simple and unbiased, but it must wait until an episode ends to learn anything, and returns summed over long episodes are noisy. The temporal-difference methods later in the chapter fix both. An agent that always takes the action it currently believes best exploits what it knows, but may never discover that another action is better. One that tries actions at random explores, but wastes effort on actions it already knows are poor. Every RL agent must balance the two, and the cleanest setting in which to study the balance is the bandit.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20.1 (handout p. 149): Ten-armed bandits (600 random problems, averaged). Greedy settles early on a mediocre arm; ε-greedy keeps improving; UCB explores hardest at first — its worst start — and earns the most thereafter.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Monte Carlo waits for the end of an episode to see the return. Temporal-difference (TD) learning updates after every single step, using the Bellman equation: the value of a state should equal the reward plus the discounted value of the next state, so move the estimate towards that.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choose actions without a model, the agent needs action values Q(s, a), not state values: with Q, the best action is simply argmaxa Q(s, a), with no need to know where each action leads.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table with one entry per state–action pair is fine for three codebase states and hopeless for the full state of a project portfolio — every team, task and deadline. Function approximation replaces the table by a model Q̂(s, a; w) — a linear model over state features, or a neural network (Chapter 13) — trained with the same TD targets as regression targets. A deep neural network trained this way is a deep Q-network (DQN), and the field is deep reinforcement learning, the technology behind AlphaGo. Approximation brings instability that the tabular case does not have, which is why deep RL systems need engineering tricks (experience replay, target networks) that belong to a deep RL course.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Monte Carlo inference: estimate an expectation by averaging.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Exploration vs exploitation: a 10-armed bandit.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Exploration vs exploitation: a 10-armed bandit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Q-learning on the technical-debt MDP, without being told 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Q-learning on the technical-debt MDP, without being told 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(10 + 4 + 7)/3 = 7; after a return of 3, 7 + (3 − 7)/4 = 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An arm that happened to pay badly the first time is never tried again, so its low estimate is never corrected; greedy selection can lock onto a worse arm for ever.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Q ← 4 + 0.5 (1 + 0.9 × 6 − 4) = 4 + 0.5 × 2.4 = 5.2.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21 — Responsible and Ethical Machine Learning. READ: Handout Chapter 20, pages 147–155. THIS WEEK'S LAB: Value and policy iteration; bandits and Q-learning.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9.xml"/><Relationship Id="rId10"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2.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5.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8.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9.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3.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4.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20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Reinforcement Learning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SEQUENCES, DECISIONS AND REINFORCEMENT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20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147     </a:t>
            </a:r>
            <a:fld id="{0F0A3C5E-B6D1-49DF-A673-EADF33ACA9F4}"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333571"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333571"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36470"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36470" y="2029967"/>
            <a:ext cx="1329163"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7374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2823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3268"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1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92795"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013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664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52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86168"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947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704838"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70483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Reinforcement Learning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7">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7">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7"/>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68" name="!!chipBU18">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18">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18"/>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Hidden Markov Models</a:t>
            </a:r>
          </a:p>
        </p:txBody>
      </p:sp>
      <p:sp>
        <p:nvSpPr>
          <p:cNvPr id="71" name="!!chipBU19">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19">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19"/>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Markov Decision Processes</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 later chapter depends on it</a:t>
            </a:r>
          </a:p>
        </p:txBody>
      </p:sp>
      <p:sp>
        <p:nvSpPr>
          <p:cNvPr id="7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pfill">
            <a:extLst>
              <a:ext uri="{C183D7F6-B498-43B3-948B-1728B52AA6E4}">
                <adec:decorative xmlns:adec="http://schemas.microsoft.com/office/drawing/2017/decorative" val="1"/>
              </a:ext>
            </a:extLst>
          </p:cNvPr>
          <p:cNvSpPr/>
          <p:nvPr/>
        </p:nvSpPr>
        <p:spPr>
          <a:xfrm>
            <a:off x="0" y="0"/>
            <a:ext cx="5670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147     </a:t>
            </a:r>
            <a:fld id="{EFC56F23-4F2A-47AD-9BCF-A66D30796E8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how reinforcement learning differs from planning with a known model and from supervised learning.</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Estimate</a:t>
            </a:r>
            <a:r>
              <a:rPr sz="2100" b="0" i="0">
                <a:solidFill>
                  <a:srgbClr val="1C252B"/>
                </a:solidFill>
                <a:latin typeface="Segoe UI"/>
              </a:rPr>
              <a:t> values by Monte Carlo averaging of observed returns.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the exploration–exploitation trade-off, and </a:t>
            </a:r>
            <a:r>
              <a:rPr sz="2100" b="1" i="0">
                <a:solidFill>
                  <a:srgbClr val="1C252B"/>
                </a:solidFill>
                <a:latin typeface="Segoe UI"/>
              </a:rPr>
              <a:t>apply</a:t>
            </a:r>
            <a:r>
              <a:rPr sz="2100" b="0" i="0">
                <a:solidFill>
                  <a:srgbClr val="1C252B"/>
                </a:solidFill>
                <a:latin typeface="Segoe UI"/>
              </a:rPr>
              <a:t> greedy, </a:t>
            </a:r>
            <a:r>
              <a:rPr sz="2100" b="0" i="0">
                <a:solidFill>
                  <a:srgbClr val="1C252B"/>
                </a:solidFill>
                <a:latin typeface="Cambria"/>
              </a:rPr>
              <a:t>ε</a:t>
            </a:r>
            <a:r>
              <a:rPr sz="2100" b="0" i="0">
                <a:solidFill>
                  <a:srgbClr val="1C252B"/>
                </a:solidFill>
                <a:latin typeface="Segoe UI"/>
              </a:rPr>
              <a:t>-greedy and UCB action selection to a bandit problem.</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Perform</a:t>
            </a:r>
            <a:r>
              <a:rPr sz="2100" b="0" i="0">
                <a:solidFill>
                  <a:srgbClr val="1C252B"/>
                </a:solidFill>
                <a:latin typeface="Segoe UI"/>
              </a:rPr>
              <a:t> temporal-difference and Q-learning updates by hand.</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Contrast</a:t>
            </a:r>
            <a:r>
              <a:rPr sz="2100" b="0" i="0">
                <a:solidFill>
                  <a:srgbClr val="1C252B"/>
                </a:solidFill>
                <a:latin typeface="Segoe UI"/>
              </a:rPr>
              <a:t> Q-learning with SARSA, and </a:t>
            </a:r>
            <a:r>
              <a:rPr sz="2100" b="1" i="0">
                <a:solidFill>
                  <a:srgbClr val="1C252B"/>
                </a:solidFill>
                <a:latin typeface="Segoe UI"/>
              </a:rPr>
              <a:t>describe</a:t>
            </a:r>
            <a:r>
              <a:rPr sz="2100" b="0" i="0">
                <a:solidFill>
                  <a:srgbClr val="1C252B"/>
                </a:solidFill>
                <a:latin typeface="Segoe UI"/>
              </a:rPr>
              <a:t> how function approximation leads to deep reinforcement learning.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505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147     </a:t>
            </a:r>
            <a:fld id="{8476EB07-2871-44D2-8856-8940FCDAD38A}" type="slidenum">
              <a:rPr lang="en-GB" sz="1000">
                <a:solidFill>
                  <a:srgbClr val="8795A1"/>
                </a:solidFill>
                <a:latin typeface="Segoe UI"/>
              </a:rPr>
              <a:t>4</a:t>
            </a:fld>
          </a:p>
        </p:txBody>
      </p:sp>
      <p:sp>
        <p:nvSpPr>
          <p:cNvPr id="7" name="!!term-reinforcement ">
            <a:extLst>
              <a:ext uri="{C183D7F6-B498-43B3-948B-1728B52AA6E4}">
                <adec:decorative xmlns:adec="http://schemas.microsoft.com/office/drawing/2017/decorative" val="1"/>
              </a:ext>
            </a:extLst>
          </p:cNvPr>
          <p:cNvSpPr/>
          <p:nvPr/>
        </p:nvSpPr>
        <p:spPr>
          <a:xfrm>
            <a:off x="658368" y="1847088"/>
            <a:ext cx="23933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reinforcement ">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reinforcement "/>
          <p:cNvSpPr txBox="1"/>
          <p:nvPr/>
        </p:nvSpPr>
        <p:spPr>
          <a:xfrm>
            <a:off x="950976" y="1970532"/>
            <a:ext cx="22105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reinforcement learning</a:t>
            </a:r>
          </a:p>
        </p:txBody>
      </p:sp>
      <p:sp>
        <p:nvSpPr>
          <p:cNvPr id="10" name="!!term-model-free">
            <a:extLst>
              <a:ext uri="{C183D7F6-B498-43B3-948B-1728B52AA6E4}">
                <adec:decorative xmlns:adec="http://schemas.microsoft.com/office/drawing/2017/decorative" val="1"/>
              </a:ext>
            </a:extLst>
          </p:cNvPr>
          <p:cNvSpPr/>
          <p:nvPr/>
        </p:nvSpPr>
        <p:spPr>
          <a:xfrm>
            <a:off x="3198063" y="1847088"/>
            <a:ext cx="13925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model-free">
            <a:extLst>
              <a:ext uri="{C183D7F6-B498-43B3-948B-1728B52AA6E4}">
                <adec:decorative xmlns:adec="http://schemas.microsoft.com/office/drawing/2017/decorative" val="1"/>
              </a:ext>
            </a:extLst>
          </p:cNvPr>
          <p:cNvSpPr/>
          <p:nvPr/>
        </p:nvSpPr>
        <p:spPr>
          <a:xfrm>
            <a:off x="332607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model-free"/>
          <p:cNvSpPr txBox="1"/>
          <p:nvPr/>
        </p:nvSpPr>
        <p:spPr>
          <a:xfrm>
            <a:off x="3490671" y="1970532"/>
            <a:ext cx="12096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model-free</a:t>
            </a:r>
          </a:p>
        </p:txBody>
      </p:sp>
      <p:sp>
        <p:nvSpPr>
          <p:cNvPr id="13" name="!!term-episode">
            <a:extLst>
              <a:ext uri="{C183D7F6-B498-43B3-948B-1728B52AA6E4}">
                <adec:decorative xmlns:adec="http://schemas.microsoft.com/office/drawing/2017/decorative" val="1"/>
              </a:ext>
            </a:extLst>
          </p:cNvPr>
          <p:cNvSpPr/>
          <p:nvPr/>
        </p:nvSpPr>
        <p:spPr>
          <a:xfrm>
            <a:off x="4736913" y="1847088"/>
            <a:ext cx="11141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episode">
            <a:extLst>
              <a:ext uri="{C183D7F6-B498-43B3-948B-1728B52AA6E4}">
                <adec:decorative xmlns:adec="http://schemas.microsoft.com/office/drawing/2017/decorative" val="1"/>
              </a:ext>
            </a:extLst>
          </p:cNvPr>
          <p:cNvSpPr/>
          <p:nvPr/>
        </p:nvSpPr>
        <p:spPr>
          <a:xfrm>
            <a:off x="486492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episode"/>
          <p:cNvSpPr txBox="1"/>
          <p:nvPr/>
        </p:nvSpPr>
        <p:spPr>
          <a:xfrm>
            <a:off x="5029521" y="1970532"/>
            <a:ext cx="9312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episode</a:t>
            </a:r>
          </a:p>
        </p:txBody>
      </p:sp>
      <p:sp>
        <p:nvSpPr>
          <p:cNvPr id="16" name="!!term-Monte Carlo pr">
            <a:extLst>
              <a:ext uri="{C183D7F6-B498-43B3-948B-1728B52AA6E4}">
                <adec:decorative xmlns:adec="http://schemas.microsoft.com/office/drawing/2017/decorative" val="1"/>
              </a:ext>
            </a:extLst>
          </p:cNvPr>
          <p:cNvSpPr/>
          <p:nvPr/>
        </p:nvSpPr>
        <p:spPr>
          <a:xfrm>
            <a:off x="5997356" y="1847088"/>
            <a:ext cx="24303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Monte Carlo pr">
            <a:extLst>
              <a:ext uri="{C183D7F6-B498-43B3-948B-1728B52AA6E4}">
                <adec:decorative xmlns:adec="http://schemas.microsoft.com/office/drawing/2017/decorative" val="1"/>
              </a:ext>
            </a:extLst>
          </p:cNvPr>
          <p:cNvSpPr/>
          <p:nvPr/>
        </p:nvSpPr>
        <p:spPr>
          <a:xfrm>
            <a:off x="61253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Monte Carlo pr"/>
          <p:cNvSpPr txBox="1"/>
          <p:nvPr/>
        </p:nvSpPr>
        <p:spPr>
          <a:xfrm>
            <a:off x="6289964" y="1970532"/>
            <a:ext cx="224745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Monte Carlo prediction</a:t>
            </a:r>
          </a:p>
        </p:txBody>
      </p:sp>
      <p:sp>
        <p:nvSpPr>
          <p:cNvPr id="19" name="!!term-first-visit Mo">
            <a:extLst>
              <a:ext uri="{C183D7F6-B498-43B3-948B-1728B52AA6E4}">
                <adec:decorative xmlns:adec="http://schemas.microsoft.com/office/drawing/2017/decorative" val="1"/>
              </a:ext>
            </a:extLst>
          </p:cNvPr>
          <p:cNvSpPr/>
          <p:nvPr/>
        </p:nvSpPr>
        <p:spPr>
          <a:xfrm>
            <a:off x="8573991" y="1847088"/>
            <a:ext cx="22955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first-visit Mo">
            <a:extLst>
              <a:ext uri="{C183D7F6-B498-43B3-948B-1728B52AA6E4}">
                <adec:decorative xmlns:adec="http://schemas.microsoft.com/office/drawing/2017/decorative" val="1"/>
              </a:ext>
            </a:extLst>
          </p:cNvPr>
          <p:cNvSpPr/>
          <p:nvPr/>
        </p:nvSpPr>
        <p:spPr>
          <a:xfrm>
            <a:off x="870200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first-visit Mo"/>
          <p:cNvSpPr txBox="1"/>
          <p:nvPr/>
        </p:nvSpPr>
        <p:spPr>
          <a:xfrm>
            <a:off x="8866599" y="1970532"/>
            <a:ext cx="21126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first-visit Monte Carlo</a:t>
            </a:r>
          </a:p>
        </p:txBody>
      </p:sp>
      <p:sp>
        <p:nvSpPr>
          <p:cNvPr id="22" name="!!term-exploration vs">
            <a:extLst>
              <a:ext uri="{C183D7F6-B498-43B3-948B-1728B52AA6E4}">
                <adec:decorative xmlns:adec="http://schemas.microsoft.com/office/drawing/2017/decorative" val="1"/>
              </a:ext>
            </a:extLst>
          </p:cNvPr>
          <p:cNvSpPr/>
          <p:nvPr/>
        </p:nvSpPr>
        <p:spPr>
          <a:xfrm>
            <a:off x="658368" y="2468880"/>
            <a:ext cx="27467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exploration vs">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exploration vs"/>
          <p:cNvSpPr txBox="1"/>
          <p:nvPr/>
        </p:nvSpPr>
        <p:spPr>
          <a:xfrm>
            <a:off x="950976" y="2592324"/>
            <a:ext cx="256385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exploration vs. exploitation</a:t>
            </a:r>
          </a:p>
        </p:txBody>
      </p:sp>
      <p:sp>
        <p:nvSpPr>
          <p:cNvPr id="25" name="!!term-multi-armed ba">
            <a:extLst>
              <a:ext uri="{C183D7F6-B498-43B3-948B-1728B52AA6E4}">
                <adec:decorative xmlns:adec="http://schemas.microsoft.com/office/drawing/2017/decorative" val="1"/>
              </a:ext>
            </a:extLst>
          </p:cNvPr>
          <p:cNvSpPr/>
          <p:nvPr/>
        </p:nvSpPr>
        <p:spPr>
          <a:xfrm>
            <a:off x="3551403" y="2468880"/>
            <a:ext cx="21074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multi-armed ba">
            <a:extLst>
              <a:ext uri="{C183D7F6-B498-43B3-948B-1728B52AA6E4}">
                <adec:decorative xmlns:adec="http://schemas.microsoft.com/office/drawing/2017/decorative" val="1"/>
              </a:ext>
            </a:extLst>
          </p:cNvPr>
          <p:cNvSpPr/>
          <p:nvPr/>
        </p:nvSpPr>
        <p:spPr>
          <a:xfrm>
            <a:off x="367941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multi-armed ba"/>
          <p:cNvSpPr txBox="1"/>
          <p:nvPr/>
        </p:nvSpPr>
        <p:spPr>
          <a:xfrm>
            <a:off x="3844011" y="2592324"/>
            <a:ext cx="19245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multi-armed bandit</a:t>
            </a:r>
          </a:p>
        </p:txBody>
      </p:sp>
      <p:sp>
        <p:nvSpPr>
          <p:cNvPr id="28" name="!!term-greedy">
            <a:extLst>
              <a:ext uri="{C183D7F6-B498-43B3-948B-1728B52AA6E4}">
                <adec:decorative xmlns:adec="http://schemas.microsoft.com/office/drawing/2017/decorative" val="1"/>
              </a:ext>
            </a:extLst>
          </p:cNvPr>
          <p:cNvSpPr/>
          <p:nvPr/>
        </p:nvSpPr>
        <p:spPr>
          <a:xfrm>
            <a:off x="5805114" y="2468880"/>
            <a:ext cx="10326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greedy">
            <a:extLst>
              <a:ext uri="{C183D7F6-B498-43B3-948B-1728B52AA6E4}">
                <adec:decorative xmlns:adec="http://schemas.microsoft.com/office/drawing/2017/decorative" val="1"/>
              </a:ext>
            </a:extLst>
          </p:cNvPr>
          <p:cNvSpPr/>
          <p:nvPr/>
        </p:nvSpPr>
        <p:spPr>
          <a:xfrm>
            <a:off x="593313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greedy"/>
          <p:cNvSpPr txBox="1"/>
          <p:nvPr/>
        </p:nvSpPr>
        <p:spPr>
          <a:xfrm>
            <a:off x="6097722" y="2592324"/>
            <a:ext cx="84980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greedy</a:t>
            </a:r>
          </a:p>
        </p:txBody>
      </p:sp>
      <p:sp>
        <p:nvSpPr>
          <p:cNvPr id="31" name="!!term-ε-greedy">
            <a:extLst>
              <a:ext uri="{C183D7F6-B498-43B3-948B-1728B52AA6E4}">
                <adec:decorative xmlns:adec="http://schemas.microsoft.com/office/drawing/2017/decorative" val="1"/>
              </a:ext>
            </a:extLst>
          </p:cNvPr>
          <p:cNvSpPr/>
          <p:nvPr/>
        </p:nvSpPr>
        <p:spPr>
          <a:xfrm>
            <a:off x="6984102" y="2468880"/>
            <a:ext cx="11955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ε-greedy">
            <a:extLst>
              <a:ext uri="{C183D7F6-B498-43B3-948B-1728B52AA6E4}">
                <adec:decorative xmlns:adec="http://schemas.microsoft.com/office/drawing/2017/decorative" val="1"/>
              </a:ext>
            </a:extLst>
          </p:cNvPr>
          <p:cNvSpPr/>
          <p:nvPr/>
        </p:nvSpPr>
        <p:spPr>
          <a:xfrm>
            <a:off x="711211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ε-greedy"/>
          <p:cNvSpPr txBox="1"/>
          <p:nvPr/>
        </p:nvSpPr>
        <p:spPr>
          <a:xfrm>
            <a:off x="7276710" y="2592324"/>
            <a:ext cx="10126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ε-greedy</a:t>
            </a:r>
          </a:p>
        </p:txBody>
      </p:sp>
      <p:sp>
        <p:nvSpPr>
          <p:cNvPr id="34" name="!!term-upper confiden">
            <a:extLst>
              <a:ext uri="{C183D7F6-B498-43B3-948B-1728B52AA6E4}">
                <adec:decorative xmlns:adec="http://schemas.microsoft.com/office/drawing/2017/decorative" val="1"/>
              </a:ext>
            </a:extLst>
          </p:cNvPr>
          <p:cNvSpPr/>
          <p:nvPr/>
        </p:nvSpPr>
        <p:spPr>
          <a:xfrm>
            <a:off x="8325921" y="2468880"/>
            <a:ext cx="30902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upper confiden">
            <a:extLst>
              <a:ext uri="{C183D7F6-B498-43B3-948B-1728B52AA6E4}">
                <adec:decorative xmlns:adec="http://schemas.microsoft.com/office/drawing/2017/decorative" val="1"/>
              </a:ext>
            </a:extLst>
          </p:cNvPr>
          <p:cNvSpPr/>
          <p:nvPr/>
        </p:nvSpPr>
        <p:spPr>
          <a:xfrm>
            <a:off x="845393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upper confiden"/>
          <p:cNvSpPr txBox="1"/>
          <p:nvPr/>
        </p:nvSpPr>
        <p:spPr>
          <a:xfrm>
            <a:off x="8618529" y="2592324"/>
            <a:ext cx="29073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upper confidence bound (UCB)</a:t>
            </a:r>
          </a:p>
        </p:txBody>
      </p:sp>
      <p:sp>
        <p:nvSpPr>
          <p:cNvPr id="37" name="!!term-incremental me">
            <a:extLst>
              <a:ext uri="{C183D7F6-B498-43B3-948B-1728B52AA6E4}">
                <adec:decorative xmlns:adec="http://schemas.microsoft.com/office/drawing/2017/decorative" val="1"/>
              </a:ext>
            </a:extLst>
          </p:cNvPr>
          <p:cNvSpPr/>
          <p:nvPr/>
        </p:nvSpPr>
        <p:spPr>
          <a:xfrm>
            <a:off x="658368" y="3090672"/>
            <a:ext cx="19766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incremental m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incremental me"/>
          <p:cNvSpPr txBox="1"/>
          <p:nvPr/>
        </p:nvSpPr>
        <p:spPr>
          <a:xfrm>
            <a:off x="950976" y="3214116"/>
            <a:ext cx="179376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incremental mean</a:t>
            </a:r>
          </a:p>
        </p:txBody>
      </p:sp>
      <p:sp>
        <p:nvSpPr>
          <p:cNvPr id="40" name="!!term-temporal diffe">
            <a:extLst>
              <a:ext uri="{C183D7F6-B498-43B3-948B-1728B52AA6E4}">
                <adec:decorative xmlns:adec="http://schemas.microsoft.com/office/drawing/2017/decorative" val="1"/>
              </a:ext>
            </a:extLst>
          </p:cNvPr>
          <p:cNvSpPr/>
          <p:nvPr/>
        </p:nvSpPr>
        <p:spPr>
          <a:xfrm>
            <a:off x="2781313" y="3090672"/>
            <a:ext cx="25325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temporal diffe">
            <a:extLst>
              <a:ext uri="{C183D7F6-B498-43B3-948B-1728B52AA6E4}">
                <adec:decorative xmlns:adec="http://schemas.microsoft.com/office/drawing/2017/decorative" val="1"/>
              </a:ext>
            </a:extLst>
          </p:cNvPr>
          <p:cNvSpPr/>
          <p:nvPr/>
        </p:nvSpPr>
        <p:spPr>
          <a:xfrm>
            <a:off x="290932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temporal diffe"/>
          <p:cNvSpPr txBox="1"/>
          <p:nvPr/>
        </p:nvSpPr>
        <p:spPr>
          <a:xfrm>
            <a:off x="3073921" y="3214116"/>
            <a:ext cx="23496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temporal difference (TD)</a:t>
            </a:r>
          </a:p>
        </p:txBody>
      </p:sp>
      <p:sp>
        <p:nvSpPr>
          <p:cNvPr id="43" name="!!term-TD error">
            <a:extLst>
              <a:ext uri="{C183D7F6-B498-43B3-948B-1728B52AA6E4}">
                <adec:decorative xmlns:adec="http://schemas.microsoft.com/office/drawing/2017/decorative" val="1"/>
              </a:ext>
            </a:extLst>
          </p:cNvPr>
          <p:cNvSpPr/>
          <p:nvPr/>
        </p:nvSpPr>
        <p:spPr>
          <a:xfrm>
            <a:off x="5460156" y="3090672"/>
            <a:ext cx="11484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TD error">
            <a:extLst>
              <a:ext uri="{C183D7F6-B498-43B3-948B-1728B52AA6E4}">
                <adec:decorative xmlns:adec="http://schemas.microsoft.com/office/drawing/2017/decorative" val="1"/>
              </a:ext>
            </a:extLst>
          </p:cNvPr>
          <p:cNvSpPr/>
          <p:nvPr/>
        </p:nvSpPr>
        <p:spPr>
          <a:xfrm>
            <a:off x="558817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TD error"/>
          <p:cNvSpPr txBox="1"/>
          <p:nvPr/>
        </p:nvSpPr>
        <p:spPr>
          <a:xfrm>
            <a:off x="5752764" y="3214116"/>
            <a:ext cx="9656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TD error</a:t>
            </a:r>
          </a:p>
        </p:txBody>
      </p:sp>
      <p:sp>
        <p:nvSpPr>
          <p:cNvPr id="46" name="!!term-bootstrapping">
            <a:extLst>
              <a:ext uri="{C183D7F6-B498-43B3-948B-1728B52AA6E4}">
                <adec:decorative xmlns:adec="http://schemas.microsoft.com/office/drawing/2017/decorative" val="1"/>
              </a:ext>
            </a:extLst>
          </p:cNvPr>
          <p:cNvSpPr/>
          <p:nvPr/>
        </p:nvSpPr>
        <p:spPr>
          <a:xfrm>
            <a:off x="6754953" y="3090672"/>
            <a:ext cx="166151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bootstrapping">
            <a:extLst>
              <a:ext uri="{C183D7F6-B498-43B3-948B-1728B52AA6E4}">
                <adec:decorative xmlns:adec="http://schemas.microsoft.com/office/drawing/2017/decorative" val="1"/>
              </a:ext>
            </a:extLst>
          </p:cNvPr>
          <p:cNvSpPr/>
          <p:nvPr/>
        </p:nvSpPr>
        <p:spPr>
          <a:xfrm>
            <a:off x="688296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bootstrapping"/>
          <p:cNvSpPr txBox="1"/>
          <p:nvPr/>
        </p:nvSpPr>
        <p:spPr>
          <a:xfrm>
            <a:off x="7047561" y="3214116"/>
            <a:ext cx="147863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bootstrapping</a:t>
            </a:r>
          </a:p>
        </p:txBody>
      </p:sp>
      <p:sp>
        <p:nvSpPr>
          <p:cNvPr id="49" name="!!term-Q-learning">
            <a:extLst>
              <a:ext uri="{C183D7F6-B498-43B3-948B-1728B52AA6E4}">
                <adec:decorative xmlns:adec="http://schemas.microsoft.com/office/drawing/2017/decorative" val="1"/>
              </a:ext>
            </a:extLst>
          </p:cNvPr>
          <p:cNvSpPr/>
          <p:nvPr/>
        </p:nvSpPr>
        <p:spPr>
          <a:xfrm>
            <a:off x="8562767" y="3090672"/>
            <a:ext cx="13597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Q-learning">
            <a:extLst>
              <a:ext uri="{C183D7F6-B498-43B3-948B-1728B52AA6E4}">
                <adec:decorative xmlns:adec="http://schemas.microsoft.com/office/drawing/2017/decorative" val="1"/>
              </a:ext>
            </a:extLst>
          </p:cNvPr>
          <p:cNvSpPr/>
          <p:nvPr/>
        </p:nvSpPr>
        <p:spPr>
          <a:xfrm>
            <a:off x="869078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Q-learning"/>
          <p:cNvSpPr txBox="1"/>
          <p:nvPr/>
        </p:nvSpPr>
        <p:spPr>
          <a:xfrm>
            <a:off x="8855375" y="3214116"/>
            <a:ext cx="117686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Q-learning</a:t>
            </a:r>
          </a:p>
        </p:txBody>
      </p:sp>
      <p:sp>
        <p:nvSpPr>
          <p:cNvPr id="52" name="!!term-SARSA">
            <a:extLst>
              <a:ext uri="{C183D7F6-B498-43B3-948B-1728B52AA6E4}">
                <adec:decorative xmlns:adec="http://schemas.microsoft.com/office/drawing/2017/decorative" val="1"/>
              </a:ext>
            </a:extLst>
          </p:cNvPr>
          <p:cNvSpPr/>
          <p:nvPr/>
        </p:nvSpPr>
        <p:spPr>
          <a:xfrm>
            <a:off x="10068812" y="3090672"/>
            <a:ext cx="10121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SARSA">
            <a:extLst>
              <a:ext uri="{C183D7F6-B498-43B3-948B-1728B52AA6E4}">
                <adec:decorative xmlns:adec="http://schemas.microsoft.com/office/drawing/2017/decorative" val="1"/>
              </a:ext>
            </a:extLst>
          </p:cNvPr>
          <p:cNvSpPr/>
          <p:nvPr/>
        </p:nvSpPr>
        <p:spPr>
          <a:xfrm>
            <a:off x="1019682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SARSA"/>
          <p:cNvSpPr txBox="1"/>
          <p:nvPr/>
        </p:nvSpPr>
        <p:spPr>
          <a:xfrm>
            <a:off x="10361420" y="3214116"/>
            <a:ext cx="82924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SARSA</a:t>
            </a:r>
          </a:p>
        </p:txBody>
      </p:sp>
      <p:sp>
        <p:nvSpPr>
          <p:cNvPr id="55" name="!!term-on-policy vs. ">
            <a:extLst>
              <a:ext uri="{C183D7F6-B498-43B3-948B-1728B52AA6E4}">
                <adec:decorative xmlns:adec="http://schemas.microsoft.com/office/drawing/2017/decorative" val="1"/>
              </a:ext>
            </a:extLst>
          </p:cNvPr>
          <p:cNvSpPr/>
          <p:nvPr/>
        </p:nvSpPr>
        <p:spPr>
          <a:xfrm>
            <a:off x="658368" y="3712464"/>
            <a:ext cx="23895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on-policy vs. ">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on-policy vs. "/>
          <p:cNvSpPr txBox="1"/>
          <p:nvPr/>
        </p:nvSpPr>
        <p:spPr>
          <a:xfrm>
            <a:off x="950976" y="3835908"/>
            <a:ext cx="22066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on-policy vs. off-policy</a:t>
            </a:r>
          </a:p>
        </p:txBody>
      </p:sp>
      <p:sp>
        <p:nvSpPr>
          <p:cNvPr id="58" name="!!term-function appro">
            <a:extLst>
              <a:ext uri="{C183D7F6-B498-43B3-948B-1728B52AA6E4}">
                <adec:decorative xmlns:adec="http://schemas.microsoft.com/office/drawing/2017/decorative" val="1"/>
              </a:ext>
            </a:extLst>
          </p:cNvPr>
          <p:cNvSpPr/>
          <p:nvPr/>
        </p:nvSpPr>
        <p:spPr>
          <a:xfrm>
            <a:off x="3194249" y="3712464"/>
            <a:ext cx="24474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function appro">
            <a:extLst>
              <a:ext uri="{C183D7F6-B498-43B3-948B-1728B52AA6E4}">
                <adec:decorative xmlns:adec="http://schemas.microsoft.com/office/drawing/2017/decorative" val="1"/>
              </a:ext>
            </a:extLst>
          </p:cNvPr>
          <p:cNvSpPr/>
          <p:nvPr/>
        </p:nvSpPr>
        <p:spPr>
          <a:xfrm>
            <a:off x="3322265"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function appro"/>
          <p:cNvSpPr txBox="1"/>
          <p:nvPr/>
        </p:nvSpPr>
        <p:spPr>
          <a:xfrm>
            <a:off x="3486857" y="3835908"/>
            <a:ext cx="226453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function approximation</a:t>
            </a:r>
          </a:p>
        </p:txBody>
      </p:sp>
      <p:sp>
        <p:nvSpPr>
          <p:cNvPr id="61" name="!!term-deep Q-network">
            <a:extLst>
              <a:ext uri="{C183D7F6-B498-43B3-948B-1728B52AA6E4}">
                <adec:decorative xmlns:adec="http://schemas.microsoft.com/office/drawing/2017/decorative" val="1"/>
              </a:ext>
            </a:extLst>
          </p:cNvPr>
          <p:cNvSpPr/>
          <p:nvPr/>
        </p:nvSpPr>
        <p:spPr>
          <a:xfrm>
            <a:off x="5787972" y="3712464"/>
            <a:ext cx="18443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deep Q-network">
            <a:extLst>
              <a:ext uri="{C183D7F6-B498-43B3-948B-1728B52AA6E4}">
                <adec:decorative xmlns:adec="http://schemas.microsoft.com/office/drawing/2017/decorative" val="1"/>
              </a:ext>
            </a:extLst>
          </p:cNvPr>
          <p:cNvSpPr/>
          <p:nvPr/>
        </p:nvSpPr>
        <p:spPr>
          <a:xfrm>
            <a:off x="591598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deep Q-network"/>
          <p:cNvSpPr txBox="1"/>
          <p:nvPr/>
        </p:nvSpPr>
        <p:spPr>
          <a:xfrm>
            <a:off x="6080580" y="3835908"/>
            <a:ext cx="166146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deep Q-network</a:t>
            </a:r>
          </a:p>
        </p:txBody>
      </p:sp>
      <p:sp>
        <p:nvSpPr>
          <p:cNvPr id="64"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pfill">
            <a:extLst>
              <a:ext uri="{C183D7F6-B498-43B3-948B-1728B52AA6E4}">
                <adec:decorative xmlns:adec="http://schemas.microsoft.com/office/drawing/2017/decorative" val="1"/>
              </a:ext>
            </a:extLst>
          </p:cNvPr>
          <p:cNvSpPr/>
          <p:nvPr/>
        </p:nvSpPr>
        <p:spPr>
          <a:xfrm>
            <a:off x="0" y="0"/>
            <a:ext cx="11341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147–155     </a:t>
            </a:r>
            <a:fld id="{184F20C0-4C95-43C9-96E7-6A7351A030BE}" type="slidenum">
              <a:rPr lang="en-GB" sz="1000">
                <a:solidFill>
                  <a:srgbClr val="8795A1"/>
                </a:solidFill>
                <a:latin typeface="Segoe UI"/>
              </a:rPr>
              <a:t>5</a:t>
            </a:fld>
          </a:p>
        </p:txBody>
      </p:sp>
      <p:sp>
        <p:nvSpPr>
          <p:cNvPr id="7" name="!!ag0" descr="Go to section 20.1 Learning From Consequence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Learning From Consequences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147  ›</a:t>
            </a:r>
          </a:p>
        </p:txBody>
      </p:sp>
      <p:sp>
        <p:nvSpPr>
          <p:cNvPr id="12" name="!!ag1" descr="Go to section 20.2 Monte Carlo Method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Monte Carlo Methods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148  ›</a:t>
            </a:r>
          </a:p>
        </p:txBody>
      </p:sp>
      <p:sp>
        <p:nvSpPr>
          <p:cNvPr id="17" name="!!ag2" descr="Go to section 20.3 Exploration and Exploitation">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Exploration and Exploitation</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148  ›</a:t>
            </a:r>
          </a:p>
        </p:txBody>
      </p:sp>
      <p:sp>
        <p:nvSpPr>
          <p:cNvPr id="22" name="!!ag3" descr="Go to section 20.4 Temporal-Difference Learn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Temporal-Difference Learning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149  ›</a:t>
            </a:r>
          </a:p>
        </p:txBody>
      </p:sp>
      <p:sp>
        <p:nvSpPr>
          <p:cNvPr id="27" name="!!ag4" descr="Go to section 20.5 Q-Learn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Q-Learning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150  ›</a:t>
            </a:r>
          </a:p>
        </p:txBody>
      </p:sp>
      <p:sp>
        <p:nvSpPr>
          <p:cNvPr id="32" name="!!ag5" descr="Go to section 20.6 From Tables to Deep Reinforcement Learning">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20.6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From Tables to Deep Reinforcement Learning</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151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41763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From Consequences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§20.1  ·  Handout p. 147     </a:t>
            </a:r>
            <a:fld id="{340E8111-AF4F-4A0D-ACFD-3AA195F6A605}"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39070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26466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Chapter 19 solved decision problems when the rules of the world were written down: every transition probability and every reward. </a:t>
            </a:r>
            <a:r>
              <a:rPr sz="2000" b="1" i="0">
                <a:solidFill>
                  <a:srgbClr val="1A5276"/>
                </a:solidFill>
                <a:latin typeface="Segoe UI"/>
              </a:rPr>
              <a:t>Reinforcement learning</a:t>
            </a:r>
            <a:r>
              <a:rPr sz="2000" b="0" i="0">
                <a:solidFill>
                  <a:srgbClr val="1C252B"/>
                </a:solidFill>
                <a:latin typeface="Segoe UI"/>
              </a:rPr>
              <a:t> (RL) solves them when they are not. The agent acts, observes what happens and what it is paid, and improves its behaviour from that experience alone. Nobody tells it the right action — unlike supervised learning, there are no labels, only a reward that may arrive many steps after the action that earned it. That is how Samuel’s checkers program improved in 1959 (Chapter 1), and how AlphaGo beat a world champion in 2016.</a:t>
            </a:r>
          </a:p>
        </p:txBody>
      </p:sp>
      <p:sp>
        <p:nvSpPr>
          <p:cNvPr id="9" name="body-1"/>
          <p:cNvSpPr txBox="1"/>
          <p:nvPr/>
        </p:nvSpPr>
        <p:spPr>
          <a:xfrm>
            <a:off x="1042415" y="4150868"/>
            <a:ext cx="10417759"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RL is </a:t>
            </a:r>
            <a:r>
              <a:rPr sz="2000" b="1" i="0">
                <a:solidFill>
                  <a:srgbClr val="1A5276"/>
                </a:solidFill>
                <a:latin typeface="Segoe UI"/>
              </a:rPr>
              <a:t>model-free</a:t>
            </a:r>
            <a:r>
              <a:rPr sz="2000" b="0" i="0">
                <a:solidFill>
                  <a:srgbClr val="1C252B"/>
                </a:solidFill>
                <a:latin typeface="Segoe UI"/>
              </a:rPr>
              <a:t> in the sense used here: it learns value functions or policies directly, without first estimating </a:t>
            </a: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 </a:t>
            </a:r>
            <a:r>
              <a:rPr sz="2000" b="0" i="1">
                <a:solidFill>
                  <a:srgbClr val="1C252B"/>
                </a:solidFill>
                <a:latin typeface="Cambria"/>
              </a:rPr>
              <a:t>s</a:t>
            </a:r>
            <a:r>
              <a:rPr sz="2000" b="0" i="0">
                <a:solidFill>
                  <a:srgbClr val="1C252B"/>
                </a:solidFill>
                <a:latin typeface="Cambria"/>
              </a:rPr>
              <a:t>, </a:t>
            </a:r>
            <a:r>
              <a:rPr sz="2000" b="0" i="1">
                <a:solidFill>
                  <a:srgbClr val="1C252B"/>
                </a:solidFill>
                <a:latin typeface="Cambria"/>
              </a:rPr>
              <a:t>a</a:t>
            </a:r>
            <a:r>
              <a:rPr sz="2000" b="0" i="0">
                <a:solidFill>
                  <a:srgbClr val="1C252B"/>
                </a:solidFill>
                <a:latin typeface="Cambria"/>
              </a:rPr>
              <a:t>)</a:t>
            </a:r>
            <a:r>
              <a:rPr sz="2000" b="0" i="0">
                <a:solidFill>
                  <a:srgbClr val="1C252B"/>
                </a:solidFill>
                <a:latin typeface="Segoe UI"/>
              </a:rPr>
              <a:t>. Two ideas carry the whole chapter. </a:t>
            </a:r>
            <a:r>
              <a:rPr sz="2000" b="1" i="0">
                <a:solidFill>
                  <a:srgbClr val="1C252B"/>
                </a:solidFill>
                <a:latin typeface="Segoe UI"/>
              </a:rPr>
              <a:t>Averaging</a:t>
            </a:r>
            <a:r>
              <a:rPr sz="2000" b="0" i="0">
                <a:solidFill>
                  <a:srgbClr val="1C252B"/>
                </a:solidFill>
                <a:latin typeface="Segoe UI"/>
              </a:rPr>
              <a:t>: the value of a state is the average return that follows it, so average the returns you observe (Monte Carlo). </a:t>
            </a:r>
            <a:r>
              <a:rPr sz="2000" b="1" i="0">
                <a:solidFill>
                  <a:srgbClr val="1C252B"/>
                </a:solidFill>
                <a:latin typeface="Segoe UI"/>
              </a:rPr>
              <a:t>Bootstrapping</a:t>
            </a:r>
            <a:r>
              <a:rPr sz="2000" b="0" i="0">
                <a:solidFill>
                  <a:srgbClr val="1C252B"/>
                </a:solidFill>
                <a:latin typeface="Segoe UI"/>
              </a:rPr>
              <a:t>: the Bellman equation says a state’s value is the reward plus the next state’s value, so nudge your estimate towards that (temporal-difference learning).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70116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Monte Carlo Methods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Learning From Consequences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20.2   Monte Carlo Methods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Exploration and Exploitation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Temporal-Difference Learning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20.5   Q-Learning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20.6   From Tables to Deep Reinforcement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§20.2     </a:t>
            </a:r>
            <a:fld id="{C9383148-E265-48C2-B688-A89A3E89CB6E}"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98469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Monte Carlo Prediction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148     </a:t>
            </a:r>
            <a:fld id="{2D65758A-BC8B-4200-AD1F-5E1B1AF9E3DD}"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To estimate </a:t>
            </a:r>
            <a:r>
              <a:rPr sz="2300" b="0" i="1">
                <a:solidFill>
                  <a:srgbClr val="1C252B"/>
                </a:solidFill>
                <a:latin typeface="Cambria"/>
              </a:rPr>
              <a:t>V</a:t>
            </a:r>
            <a:r>
              <a:rPr sz="2300" b="0" i="0" baseline="30000">
                <a:solidFill>
                  <a:srgbClr val="1C252B"/>
                </a:solidFill>
                <a:latin typeface="Cambria"/>
              </a:rPr>
              <a:t>π</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without a model: run many </a:t>
            </a:r>
            <a:r>
              <a:rPr sz="2300" b="1" i="0">
                <a:solidFill>
                  <a:srgbClr val="1A5276"/>
                </a:solidFill>
                <a:latin typeface="Segoe UI"/>
              </a:rPr>
              <a:t>episodes</a:t>
            </a:r>
            <a:r>
              <a:rPr sz="2300" b="0" i="0">
                <a:solidFill>
                  <a:srgbClr val="1C252B"/>
                </a:solidFill>
                <a:latin typeface="Segoe UI"/>
              </a:rPr>
              <a:t> (complete sequences from start to end) following </a:t>
            </a:r>
            <a:r>
              <a:rPr sz="2300" b="0" i="0">
                <a:solidFill>
                  <a:srgbClr val="1C252B"/>
                </a:solidFill>
                <a:latin typeface="Cambria"/>
              </a:rPr>
              <a:t>π</a:t>
            </a:r>
            <a:r>
              <a:rPr sz="2300" b="0" i="0">
                <a:solidFill>
                  <a:srgbClr val="1C252B"/>
                </a:solidFill>
                <a:latin typeface="Segoe UI"/>
              </a:rPr>
              <a:t>; each time </a:t>
            </a:r>
            <a:r>
              <a:rPr sz="2300" b="0" i="1">
                <a:solidFill>
                  <a:srgbClr val="1C252B"/>
                </a:solidFill>
                <a:latin typeface="Cambria"/>
              </a:rPr>
              <a:t>s</a:t>
            </a:r>
            <a:r>
              <a:rPr sz="2300" b="0" i="0">
                <a:solidFill>
                  <a:srgbClr val="1C252B"/>
                </a:solidFill>
                <a:latin typeface="Segoe UI"/>
              </a:rPr>
              <a:t> is visited, record the return </a:t>
            </a:r>
            <a:r>
              <a:rPr sz="2300" b="0" i="1">
                <a:solidFill>
                  <a:srgbClr val="1C252B"/>
                </a:solidFill>
                <a:latin typeface="Cambria"/>
              </a:rPr>
              <a:t>G</a:t>
            </a:r>
            <a:r>
              <a:rPr sz="2300" b="0" i="0">
                <a:solidFill>
                  <a:srgbClr val="1C252B"/>
                </a:solidFill>
                <a:latin typeface="Segoe UI"/>
              </a:rPr>
              <a:t> that followed; estimate </a:t>
            </a:r>
            <a:r>
              <a:rPr sz="2300" b="0" i="1">
                <a:solidFill>
                  <a:srgbClr val="1C252B"/>
                </a:solidFill>
                <a:latin typeface="Cambria"/>
              </a:rPr>
              <a:t>V</a:t>
            </a:r>
            <a:r>
              <a:rPr sz="2300" b="0" i="0" baseline="30000">
                <a:solidFill>
                  <a:srgbClr val="1C252B"/>
                </a:solidFill>
                <a:latin typeface="Cambria"/>
              </a:rPr>
              <a:t>π</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as the average of the recorded returns. </a:t>
            </a:r>
            <a:r>
              <a:rPr sz="2300" b="1" i="0">
                <a:solidFill>
                  <a:srgbClr val="1A5276"/>
                </a:solidFill>
                <a:latin typeface="Segoe UI"/>
              </a:rPr>
              <a:t>First-visit</a:t>
            </a:r>
            <a:r>
              <a:rPr sz="2300" b="0" i="0">
                <a:solidFill>
                  <a:srgbClr val="1C252B"/>
                </a:solidFill>
                <a:latin typeface="Segoe UI"/>
              </a:rPr>
              <a:t> Monte Carlo counts only the first visit to </a:t>
            </a:r>
            <a:r>
              <a:rPr sz="2300" b="0" i="1">
                <a:solidFill>
                  <a:srgbClr val="1C252B"/>
                </a:solidFill>
                <a:latin typeface="Cambria"/>
              </a:rPr>
              <a:t>s</a:t>
            </a:r>
            <a:r>
              <a:rPr sz="2300" b="0" i="0">
                <a:solidFill>
                  <a:srgbClr val="1C252B"/>
                </a:solidFill>
                <a:latin typeface="Segoe UI"/>
              </a:rPr>
              <a:t> in each episode. With an </a:t>
            </a:r>
            <a:r>
              <a:rPr sz="2300" b="0" i="0">
                <a:solidFill>
                  <a:srgbClr val="1C252B"/>
                </a:solidFill>
                <a:latin typeface="Cambria"/>
              </a:rPr>
              <a:t>ε</a:t>
            </a:r>
            <a:r>
              <a:rPr sz="2300" b="0" i="0">
                <a:solidFill>
                  <a:srgbClr val="1C252B"/>
                </a:solidFill>
                <a:latin typeface="Segoe UI"/>
              </a:rPr>
              <a:t>-greedy policy (below) and averaging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instead of </a:t>
            </a:r>
            <a:r>
              <a:rPr sz="2300" b="0" i="1">
                <a:solidFill>
                  <a:srgbClr val="1C252B"/>
                </a:solidFill>
                <a:latin typeface="Cambria"/>
              </a:rPr>
              <a:t>V</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the same idea learns to </a:t>
            </a:r>
            <a:r>
              <a:rPr sz="2300" b="0" i="1">
                <a:solidFill>
                  <a:srgbClr val="1C252B"/>
                </a:solidFill>
                <a:latin typeface="Segoe UI"/>
              </a:rPr>
              <a:t>control</a:t>
            </a:r>
            <a:r>
              <a:rPr sz="2300" b="0" i="0">
                <a:solidFill>
                  <a:srgbClr val="1C252B"/>
                </a:solidFill>
                <a:latin typeface="Segoe UI"/>
              </a:rPr>
              <a:t>, not just predict.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26822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Averaging Returns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148     </a:t>
            </a:r>
            <a:fld id="{C6070B63-4A5A-41AA-BB3D-34C964F6EA87}"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90620"/>
          </a:xfrm>
          <a:prstGeom prst="roundRect">
            <a:avLst>
              <a:gd name="adj" fmla="val 254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906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Three episodes pass through state </a:t>
            </a:r>
            <a:r>
              <a:rPr sz="2100" b="0" i="1">
                <a:solidFill>
                  <a:srgbClr val="1C252B"/>
                </a:solidFill>
                <a:latin typeface="Cambria"/>
              </a:rPr>
              <a:t>s</a:t>
            </a:r>
            <a:r>
              <a:rPr sz="2100" b="0" i="0">
                <a:solidFill>
                  <a:srgbClr val="1C252B"/>
                </a:solidFill>
                <a:latin typeface="Segoe UI"/>
              </a:rPr>
              <a:t>, and the returns that followed the first visit were </a:t>
            </a:r>
            <a:r>
              <a:rPr sz="2100" b="0" i="1">
                <a:solidFill>
                  <a:srgbClr val="1C252B"/>
                </a:solidFill>
                <a:latin typeface="Cambria"/>
              </a:rPr>
              <a:t>G</a:t>
            </a:r>
            <a:r>
              <a:rPr sz="2100" b="0" i="0">
                <a:solidFill>
                  <a:srgbClr val="1C252B"/>
                </a:solidFill>
                <a:latin typeface="Cambria"/>
              </a:rPr>
              <a:t> = 7</a:t>
            </a:r>
            <a:r>
              <a:rPr sz="2100" b="0" i="0">
                <a:solidFill>
                  <a:srgbClr val="1C252B"/>
                </a:solidFill>
                <a:latin typeface="Segoe UI"/>
              </a:rPr>
              <a:t>, </a:t>
            </a:r>
            <a:r>
              <a:rPr sz="2100" b="0" i="0">
                <a:solidFill>
                  <a:srgbClr val="1C252B"/>
                </a:solidFill>
                <a:latin typeface="Cambria"/>
              </a:rPr>
              <a:t>3</a:t>
            </a:r>
            <a:r>
              <a:rPr sz="2100" b="0" i="0">
                <a:solidFill>
                  <a:srgbClr val="1C252B"/>
                </a:solidFill>
                <a:latin typeface="Segoe UI"/>
              </a:rPr>
              <a:t> and </a:t>
            </a:r>
            <a:r>
              <a:rPr sz="2100" b="0" i="0">
                <a:solidFill>
                  <a:srgbClr val="1C252B"/>
                </a:solidFill>
                <a:latin typeface="Cambria"/>
              </a:rPr>
              <a:t>5</a:t>
            </a:r>
            <a:r>
              <a:rPr sz="2100" b="0" i="0">
                <a:solidFill>
                  <a:srgbClr val="1C252B"/>
                </a:solidFill>
                <a:latin typeface="Segoe UI"/>
              </a:rPr>
              <a:t>. The Monte Carlo estimate is </a:t>
            </a:r>
            <a:r>
              <a:rPr sz="2100" b="0" i="1">
                <a:solidFill>
                  <a:srgbClr val="1C252B"/>
                </a:solidFill>
                <a:latin typeface="Cambria"/>
              </a:rPr>
              <a:t>V</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 = (7 + 3 + 5)/3 = </a:t>
            </a:r>
            <a:r>
              <a:rPr sz="2100" b="1" i="0">
                <a:solidFill>
                  <a:srgbClr val="1C252B"/>
                </a:solidFill>
                <a:latin typeface="Cambria"/>
              </a:rPr>
              <a:t>5</a:t>
            </a:r>
            <a:r>
              <a:rPr sz="2100" b="0" i="0">
                <a:solidFill>
                  <a:srgbClr val="1C252B"/>
                </a:solidFill>
                <a:latin typeface="Segoe UI"/>
              </a:rPr>
              <a:t>.</a:t>
            </a:r>
          </a:p>
        </p:txBody>
      </p:sp>
      <p:sp>
        <p:nvSpPr>
          <p:cNvPr id="10" name="body-1"/>
          <p:cNvSpPr txBox="1"/>
          <p:nvPr/>
        </p:nvSpPr>
        <p:spPr>
          <a:xfrm>
            <a:off x="1042416" y="2824048"/>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average can be kept </a:t>
            </a:r>
            <a:r>
              <a:rPr sz="2100" b="0" i="1">
                <a:solidFill>
                  <a:srgbClr val="1C252B"/>
                </a:solidFill>
                <a:latin typeface="Segoe UI"/>
              </a:rPr>
              <a:t>incrementally</a:t>
            </a:r>
            <a:r>
              <a:rPr sz="2100" b="0" i="0">
                <a:solidFill>
                  <a:srgbClr val="1C252B"/>
                </a:solidFill>
                <a:latin typeface="Segoe UI"/>
              </a:rPr>
              <a:t> — no need to store every return:</a:t>
            </a:r>
          </a:p>
        </p:txBody>
      </p:sp>
      <p:pic>
        <p:nvPicPr>
          <p:cNvPr id="11" name="body-2" descr="V_{n} = V_{n-1} + \frac{1}{n}\big(G_n - V_{n-1}\bi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303574"/>
            <a:ext cx="10234879" cy="604875"/>
          </a:xfrm>
          <a:prstGeom prst="rect">
            <a:avLst/>
          </a:prstGeom>
        </p:spPr>
      </p:pic>
      <p:sp>
        <p:nvSpPr>
          <p:cNvPr id="12" name="body-3"/>
          <p:cNvSpPr txBox="1"/>
          <p:nvPr/>
        </p:nvSpPr>
        <p:spPr>
          <a:xfrm>
            <a:off x="1042416" y="4055135"/>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After the first episode </a:t>
            </a:r>
            <a:r>
              <a:rPr sz="2100" b="0" i="1">
                <a:solidFill>
                  <a:srgbClr val="1C252B"/>
                </a:solidFill>
                <a:latin typeface="Cambria"/>
              </a:rPr>
              <a:t>V</a:t>
            </a:r>
            <a:r>
              <a:rPr sz="2100" b="0" i="0">
                <a:solidFill>
                  <a:srgbClr val="1C252B"/>
                </a:solidFill>
                <a:latin typeface="Cambria"/>
              </a:rPr>
              <a:t> = 7</a:t>
            </a:r>
            <a:r>
              <a:rPr sz="2100" b="0" i="0">
                <a:solidFill>
                  <a:srgbClr val="1C252B"/>
                </a:solidFill>
                <a:latin typeface="Segoe UI"/>
              </a:rPr>
              <a:t>; after the second </a:t>
            </a:r>
            <a:r>
              <a:rPr sz="2100" b="0" i="0">
                <a:solidFill>
                  <a:srgbClr val="1C252B"/>
                </a:solidFill>
                <a:latin typeface="Cambria"/>
              </a:rPr>
              <a:t>7 + 1/2(3 − 7) = 5</a:t>
            </a:r>
            <a:r>
              <a:rPr sz="2100" b="0" i="0">
                <a:solidFill>
                  <a:srgbClr val="1C252B"/>
                </a:solidFill>
                <a:latin typeface="Segoe UI"/>
              </a:rPr>
              <a:t>; after the third </a:t>
            </a:r>
            <a:r>
              <a:rPr sz="2100" b="0" i="0">
                <a:solidFill>
                  <a:srgbClr val="1C252B"/>
                </a:solidFill>
                <a:latin typeface="Cambria"/>
              </a:rPr>
              <a:t>5 + 1/3(5 − 5) = 5</a:t>
            </a:r>
            <a:r>
              <a:rPr sz="2100" b="0" i="0">
                <a:solidFill>
                  <a:srgbClr val="1C252B"/>
                </a:solidFill>
                <a:latin typeface="Segoe UI"/>
              </a:rPr>
              <a:t>. The form “old estimate plus a step towards the new evidence” appears in every method in this chapter.</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55175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Exploration and Exploitation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Learning From Consequences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Monte Carlo Methods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20.3   Exploration and Exploitation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Temporal-Difference Learning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20.5   Q-Learning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20.6   From Tables to Deep Reinforcement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§20.3     </a:t>
            </a:r>
            <a:fld id="{AEDDF186-E20C-477D-AB71-31AEE6C089B8}" type="slidenum">
              <a:rPr lang="en-GB" sz="1000">
                <a:solidFill>
                  <a:srgbClr val="8795A1"/>
                </a:solidFill>
                <a:latin typeface="Segoe UI"/>
              </a:rPr>
              <a:t>10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83527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Multi-Armed Bandit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148     </a:t>
            </a:r>
            <a:fld id="{5525BDA6-8BA1-4EDA-95FF-C4791EBAB5BA}"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k</a:t>
            </a:r>
            <a:r>
              <a:rPr sz="2300" b="0" i="0">
                <a:solidFill>
                  <a:srgbClr val="1C252B"/>
                </a:solidFill>
                <a:latin typeface="Segoe UI"/>
              </a:rPr>
              <a:t> actions (“arms”, after slot machines), each paying a random reward from an unknown distribution; there is only one state. The agent pulls one arm per step and tries to maximise its total reward. Its estimate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of each arm’s value is the average reward received from it so far, updated incrementally: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+ 1/</a:t>
            </a:r>
            <a:r>
              <a:rPr sz="2300" b="0" i="1">
                <a:solidFill>
                  <a:srgbClr val="1C252B"/>
                </a:solidFill>
                <a:latin typeface="Cambria"/>
              </a:rPr>
              <a:t>N</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r</a:t>
            </a:r>
            <a:r>
              <a:rPr sz="2300" b="0" i="0">
                <a:solidFill>
                  <a:srgbClr val="1C252B"/>
                </a:solidFill>
                <a:latin typeface="Cambria"/>
              </a:rPr>
              <a:t> −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11880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Exploration and Exploitation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148     </a:t>
            </a:r>
            <a:fld id="{A5767EA1-CCEB-4E56-893A-0CAF64AA572E}" type="slidenum">
              <a:rPr lang="en-GB" sz="1000">
                <a:solidFill>
                  <a:srgbClr val="8795A1"/>
                </a:solidFill>
                <a:latin typeface="Segoe UI"/>
              </a:rPr>
              <a:t>12</a:t>
            </a:fld>
          </a:p>
        </p:txBody>
      </p:sp>
      <p:graphicFrame>
        <p:nvGraphicFramePr>
          <p:cNvPr id="7" name="!!table"/>
          <p:cNvGraphicFramePr>
            <a:graphicFrameLocks noGrp="1"/>
          </p:cNvGraphicFramePr>
          <p:nvPr/>
        </p:nvGraphicFramePr>
        <p:xfrm>
          <a:off x="658368" y="1737360"/>
          <a:ext cx="10874958" cy="2657856"/>
        </p:xfrm>
        <a:graphic>
          <a:graphicData uri="http://schemas.openxmlformats.org/drawingml/2006/table">
            <a:tbl>
              <a:tblPr firstRow="0" bandRow="0" firstCol="0" lastRow="0" lastCol="0" bandCol="0">
                <a:tableStyleId>{2D5ABB26-0587-4C30-8999-92F81FD0307C}</a:tableStyleId>
              </a:tblPr>
              <a:tblGrid>
                <a:gridCol w="2029992"/>
                <a:gridCol w="4639982"/>
                <a:gridCol w="4204984"/>
              </a:tblGrid>
              <a:tr h="405384">
                <a:tc>
                  <a:txBody>
                    <a:bodyPr wrap="square"/>
                    <a:lstStyle/>
                    <a:p>
                      <a:pPr algn="l"/>
                      <a:r>
                        <a:rPr sz="1700" b="1" i="0">
                          <a:solidFill>
                            <a:srgbClr val="1A5276"/>
                          </a:solidFill>
                          <a:latin typeface="Segoe UI"/>
                        </a:rPr>
                        <a:t>Strategy</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Rule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Behaviour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Greedy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Always pull </a:t>
                      </a:r>
                      <a:r>
                        <a:rPr sz="1700" b="0" i="0">
                          <a:solidFill>
                            <a:srgbClr val="1C252B"/>
                          </a:solidFill>
                          <a:latin typeface="Cambria"/>
                        </a:rPr>
                        <a:t>argmax</a:t>
                      </a:r>
                      <a:r>
                        <a:rPr sz="1700" b="0" i="1" baseline="-25000">
                          <a:solidFill>
                            <a:srgbClr val="1C252B"/>
                          </a:solidFill>
                          <a:latin typeface="Cambria"/>
                        </a:rPr>
                        <a:t>a</a:t>
                      </a:r>
                      <a:r>
                        <a:rPr sz="1700" b="0" i="0">
                          <a:solidFill>
                            <a:srgbClr val="1C252B"/>
                          </a:solidFill>
                          <a:latin typeface="Cambria"/>
                        </a:rPr>
                        <a:t> </a:t>
                      </a:r>
                      <a:r>
                        <a:rPr sz="1700" b="0" i="1">
                          <a:solidFill>
                            <a:srgbClr val="1C252B"/>
                          </a:solidFill>
                          <a:latin typeface="Cambria"/>
                        </a:rPr>
                        <a:t>Q</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Locks onto whichever arm looked good first; may never find the best</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Cambria"/>
                        </a:rPr>
                        <a:t>ε</a:t>
                      </a:r>
                      <a:r>
                        <a:rPr sz="1700" b="0" i="0">
                          <a:solidFill>
                            <a:srgbClr val="1C252B"/>
                          </a:solidFill>
                          <a:latin typeface="Segoe UI"/>
                        </a:rPr>
                        <a:t>-greedy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With probability </a:t>
                      </a:r>
                      <a:r>
                        <a:rPr sz="1700" b="0" i="0">
                          <a:solidFill>
                            <a:srgbClr val="1C252B"/>
                          </a:solidFill>
                          <a:latin typeface="Cambria"/>
                        </a:rPr>
                        <a:t>ε</a:t>
                      </a:r>
                      <a:r>
                        <a:rPr sz="1700" b="0" i="0">
                          <a:solidFill>
                            <a:srgbClr val="1C252B"/>
                          </a:solidFill>
                          <a:latin typeface="Segoe UI"/>
                        </a:rPr>
                        <a:t> pull a random arm; otherwise greedy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Keeps exploring forever at rate </a:t>
                      </a:r>
                      <a:r>
                        <a:rPr sz="1700" b="0" i="0">
                          <a:solidFill>
                            <a:srgbClr val="1C252B"/>
                          </a:solidFill>
                          <a:latin typeface="Cambria"/>
                        </a:rPr>
                        <a:t>ε</a:t>
                      </a:r>
                      <a:r>
                        <a:rPr sz="1700" b="0" i="0">
                          <a:solidFill>
                            <a:srgbClr val="1C252B"/>
                          </a:solidFill>
                          <a:latin typeface="Segoe UI"/>
                        </a:rPr>
                        <a:t>; simple and robust</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0" i="0">
                          <a:solidFill>
                            <a:srgbClr val="1C252B"/>
                          </a:solidFill>
                          <a:latin typeface="Segoe UI"/>
                        </a:rPr>
                        <a:t>UCB</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Pull </a:t>
                      </a:r>
                      <a:r>
                        <a:rPr sz="1700" b="0" i="0">
                          <a:solidFill>
                            <a:srgbClr val="1C252B"/>
                          </a:solidFill>
                          <a:latin typeface="Cambria"/>
                        </a:rPr>
                        <a:t>argmax</a:t>
                      </a:r>
                      <a:r>
                        <a:rPr sz="1700" b="0" i="1" baseline="-25000">
                          <a:solidFill>
                            <a:srgbClr val="1C252B"/>
                          </a:solidFill>
                          <a:latin typeface="Cambria"/>
                        </a:rPr>
                        <a:t>a</a:t>
                      </a:r>
                      <a:r>
                        <a:rPr sz="1700" b="0" i="0">
                          <a:solidFill>
                            <a:srgbClr val="1C252B"/>
                          </a:solidFill>
                          <a:latin typeface="Cambria"/>
                        </a:rPr>
                        <a:t> [</a:t>
                      </a:r>
                      <a:r>
                        <a:rPr sz="1700" b="0" i="1">
                          <a:solidFill>
                            <a:srgbClr val="1C252B"/>
                          </a:solidFill>
                          <a:latin typeface="Cambria"/>
                        </a:rPr>
                        <a:t>Q</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 + </a:t>
                      </a:r>
                      <a:r>
                        <a:rPr sz="1700" b="0" i="1">
                          <a:solidFill>
                            <a:srgbClr val="1C252B"/>
                          </a:solidFill>
                          <a:latin typeface="Cambria"/>
                        </a:rPr>
                        <a:t>c</a:t>
                      </a:r>
                      <a:r>
                        <a:rPr sz="1700" b="0" i="0">
                          <a:solidFill>
                            <a:srgbClr val="1C252B"/>
                          </a:solidFill>
                          <a:latin typeface="Cambria"/>
                        </a:rPr>
                        <a:t>√((ln </a:t>
                      </a:r>
                      <a:r>
                        <a:rPr sz="1700" b="0" i="1">
                          <a:solidFill>
                            <a:srgbClr val="1C252B"/>
                          </a:solidFill>
                          <a:latin typeface="Cambria"/>
                        </a:rPr>
                        <a:t>t</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1">
                          <a:solidFill>
                            <a:srgbClr val="1C252B"/>
                          </a:solidFill>
                          <a:latin typeface="Cambria"/>
                        </a:rPr>
                        <a:t>a</a:t>
                      </a:r>
                      <a:r>
                        <a:rPr sz="1700" b="0" i="0">
                          <a:solidFill>
                            <a:srgbClr val="1C252B"/>
                          </a:solidFill>
                          <a:latin typeface="Cambria"/>
                        </a:rPr>
                        <a: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Explores arms in proportion to how </a:t>
                      </a:r>
                      <a:r>
                        <a:rPr sz="1700" b="0" i="1">
                          <a:solidFill>
                            <a:srgbClr val="1C252B"/>
                          </a:solidFill>
                          <a:latin typeface="Segoe UI"/>
                        </a:rPr>
                        <a:t>uncertain</a:t>
                      </a:r>
                      <a:r>
                        <a:rPr sz="1700" b="0" i="0">
                          <a:solidFill>
                            <a:srgbClr val="1C252B"/>
                          </a:solidFill>
                          <a:latin typeface="Segoe UI"/>
                        </a:rPr>
                        <a:t> their estimate is: optimism under uncertainty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4023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Estimation Technique Next Sprint?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148     </a:t>
            </a:r>
            <a:fld id="{1DCD8F28-4568-48E0-BCB6-BC12C6355767}"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59834"/>
          </a:xfrm>
          <a:prstGeom prst="roundRect">
            <a:avLst>
              <a:gd name="adj" fmla="val 214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5983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team is trying three estimation techniques — A planning poker, B t-shirt sizing, C three-point estimates — one per sprint. The reward is 1 when the sprint’s estimate lands within 10% of the actual effort, 0 otherwise. So far the rewards average: A </a:t>
            </a:r>
            <a:r>
              <a:rPr sz="1900" b="0" i="0">
                <a:solidFill>
                  <a:srgbClr val="1C252B"/>
                </a:solidFill>
                <a:latin typeface="Cambria"/>
              </a:rPr>
              <a:t>0.5</a:t>
            </a:r>
            <a:r>
              <a:rPr sz="1900" b="0" i="0">
                <a:solidFill>
                  <a:srgbClr val="1C252B"/>
                </a:solidFill>
                <a:latin typeface="Segoe UI"/>
              </a:rPr>
              <a:t> (used in 10 sprints), B </a:t>
            </a:r>
            <a:r>
              <a:rPr sz="1900" b="0" i="0">
                <a:solidFill>
                  <a:srgbClr val="1C252B"/>
                </a:solidFill>
                <a:latin typeface="Cambria"/>
              </a:rPr>
              <a:t>0.6</a:t>
            </a:r>
            <a:r>
              <a:rPr sz="1900" b="0" i="0">
                <a:solidFill>
                  <a:srgbClr val="1C252B"/>
                </a:solidFill>
                <a:latin typeface="Segoe UI"/>
              </a:rPr>
              <a:t> (5 sprints), C </a:t>
            </a:r>
            <a:r>
              <a:rPr sz="1900" b="0" i="0">
                <a:solidFill>
                  <a:srgbClr val="1C252B"/>
                </a:solidFill>
                <a:latin typeface="Cambria"/>
              </a:rPr>
              <a:t>0.3</a:t>
            </a:r>
            <a:r>
              <a:rPr sz="1900" b="0" i="0">
                <a:solidFill>
                  <a:srgbClr val="1C252B"/>
                </a:solidFill>
                <a:latin typeface="Segoe UI"/>
              </a:rPr>
              <a:t> (2 sprints). Total pulls </a:t>
            </a:r>
            <a:r>
              <a:rPr sz="1900" b="0" i="1">
                <a:solidFill>
                  <a:srgbClr val="1C252B"/>
                </a:solidFill>
                <a:latin typeface="Cambria"/>
              </a:rPr>
              <a:t>t</a:t>
            </a:r>
            <a:r>
              <a:rPr sz="1900" b="0" i="0">
                <a:solidFill>
                  <a:srgbClr val="1C252B"/>
                </a:solidFill>
                <a:latin typeface="Cambria"/>
              </a:rPr>
              <a:t> = 17</a:t>
            </a:r>
            <a:r>
              <a:rPr sz="1900" b="0" i="0">
                <a:solidFill>
                  <a:srgbClr val="1C252B"/>
                </a:solidFill>
                <a:latin typeface="Segoe UI"/>
              </a:rPr>
              <a:t>; </a:t>
            </a:r>
            <a:r>
              <a:rPr sz="1900" b="0" i="0">
                <a:solidFill>
                  <a:srgbClr val="1C252B"/>
                </a:solidFill>
                <a:latin typeface="Cambria"/>
              </a:rPr>
              <a:t>ln 17 = 2.833</a:t>
            </a:r>
            <a:r>
              <a:rPr sz="1900" b="0" i="0">
                <a:solidFill>
                  <a:srgbClr val="1C252B"/>
                </a:solidFill>
                <a:latin typeface="Segoe UI"/>
              </a:rPr>
              <a:t>.</a:t>
            </a:r>
          </a:p>
        </p:txBody>
      </p:sp>
      <p:sp>
        <p:nvSpPr>
          <p:cNvPr id="10" name="body-1"/>
          <p:cNvSpPr txBox="1"/>
          <p:nvPr/>
        </p:nvSpPr>
        <p:spPr>
          <a:xfrm>
            <a:off x="1042416" y="334896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Greedy:</a:t>
            </a:r>
            <a:r>
              <a:rPr sz="1900" b="0" i="0">
                <a:solidFill>
                  <a:srgbClr val="1C252B"/>
                </a:solidFill>
                <a:latin typeface="Segoe UI"/>
              </a:rPr>
              <a:t> B, the highest average.</a:t>
            </a:r>
          </a:p>
        </p:txBody>
      </p:sp>
      <p:sp>
        <p:nvSpPr>
          <p:cNvPr id="11" name="body-2"/>
          <p:cNvSpPr txBox="1"/>
          <p:nvPr/>
        </p:nvSpPr>
        <p:spPr>
          <a:xfrm>
            <a:off x="1042416" y="3782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Cambria"/>
              </a:rPr>
              <a:t>ε</a:t>
            </a:r>
            <a:r>
              <a:rPr sz="1900" b="1" i="0">
                <a:solidFill>
                  <a:srgbClr val="1C252B"/>
                </a:solidFill>
                <a:latin typeface="Segoe UI"/>
              </a:rPr>
              <a:t>-greedy</a:t>
            </a:r>
            <a:r>
              <a:rPr sz="1900" b="0" i="0">
                <a:solidFill>
                  <a:srgbClr val="1C252B"/>
                </a:solidFill>
                <a:latin typeface="Segoe UI"/>
              </a:rPr>
              <a:t> (</a:t>
            </a:r>
            <a:r>
              <a:rPr sz="1900" b="0" i="0">
                <a:solidFill>
                  <a:srgbClr val="1C252B"/>
                </a:solidFill>
                <a:latin typeface="Cambria"/>
              </a:rPr>
              <a:t>ε = 0.1</a:t>
            </a:r>
            <a:r>
              <a:rPr sz="1900" b="0" i="0">
                <a:solidFill>
                  <a:srgbClr val="1C252B"/>
                </a:solidFill>
                <a:latin typeface="Segoe UI"/>
              </a:rPr>
              <a:t>): B with probability </a:t>
            </a:r>
            <a:r>
              <a:rPr sz="1900" b="0" i="0">
                <a:solidFill>
                  <a:srgbClr val="1C252B"/>
                </a:solidFill>
                <a:latin typeface="Cambria"/>
              </a:rPr>
              <a:t>0.9 + 0.1/3 = 0.933</a:t>
            </a:r>
            <a:r>
              <a:rPr sz="1900" b="0" i="0">
                <a:solidFill>
                  <a:srgbClr val="1C252B"/>
                </a:solidFill>
                <a:latin typeface="Segoe UI"/>
              </a:rPr>
              <a:t>; A and C with </a:t>
            </a:r>
            <a:r>
              <a:rPr sz="1900" b="0" i="0">
                <a:solidFill>
                  <a:srgbClr val="1C252B"/>
                </a:solidFill>
                <a:latin typeface="Cambria"/>
              </a:rPr>
              <a:t>0.033</a:t>
            </a:r>
            <a:r>
              <a:rPr sz="1900" b="0" i="0">
                <a:solidFill>
                  <a:srgbClr val="1C252B"/>
                </a:solidFill>
                <a:latin typeface="Segoe UI"/>
              </a:rPr>
              <a:t> each.</a:t>
            </a:r>
          </a:p>
        </p:txBody>
      </p:sp>
      <p:sp>
        <p:nvSpPr>
          <p:cNvPr id="12" name="body-3"/>
          <p:cNvSpPr txBox="1"/>
          <p:nvPr/>
        </p:nvSpPr>
        <p:spPr>
          <a:xfrm>
            <a:off x="1042416" y="421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UCB</a:t>
            </a:r>
            <a:r>
              <a:rPr sz="1900" b="0" i="0">
                <a:solidFill>
                  <a:srgbClr val="1C252B"/>
                </a:solidFill>
                <a:latin typeface="Segoe UI"/>
              </a:rPr>
              <a:t> (</a:t>
            </a:r>
            <a:r>
              <a:rPr sz="1900" b="0" i="1">
                <a:solidFill>
                  <a:srgbClr val="1C252B"/>
                </a:solidFill>
                <a:latin typeface="Cambria"/>
              </a:rPr>
              <a:t>c</a:t>
            </a:r>
            <a:r>
              <a:rPr sz="1900" b="0" i="0">
                <a:solidFill>
                  <a:srgbClr val="1C252B"/>
                </a:solidFill>
                <a:latin typeface="Cambria"/>
              </a:rPr>
              <a:t> = 1</a:t>
            </a:r>
            <a:r>
              <a:rPr sz="1900" b="0" i="0">
                <a:solidFill>
                  <a:srgbClr val="1C252B"/>
                </a:solidFill>
                <a:latin typeface="Segoe UI"/>
              </a:rPr>
              <a:t>):</a:t>
            </a:r>
          </a:p>
        </p:txBody>
      </p:sp>
      <p:sp>
        <p:nvSpPr>
          <p:cNvPr id="13" name="body-4"/>
          <p:cNvSpPr txBox="1"/>
          <p:nvPr/>
        </p:nvSpPr>
        <p:spPr>
          <a:xfrm>
            <a:off x="1042416" y="4650536"/>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A: </a:t>
            </a:r>
            <a:r>
              <a:rPr sz="1900" b="0" i="0">
                <a:solidFill>
                  <a:srgbClr val="1C252B"/>
                </a:solidFill>
                <a:latin typeface="Cambria"/>
              </a:rPr>
              <a:t>0.5 + √(2.833/10) = 0.5 + 0.532 = 1.032</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B: </a:t>
            </a:r>
            <a:r>
              <a:rPr sz="1900" b="0" i="0">
                <a:solidFill>
                  <a:srgbClr val="1C252B"/>
                </a:solidFill>
                <a:latin typeface="Cambria"/>
              </a:rPr>
              <a:t>0.6 + √(2.833/5) = 0.6 + 0.753 = 1.353</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C: </a:t>
            </a:r>
            <a:r>
              <a:rPr sz="1900" b="0" i="0">
                <a:solidFill>
                  <a:srgbClr val="1C252B"/>
                </a:solidFill>
                <a:latin typeface="Cambria"/>
              </a:rPr>
              <a:t>0.3 + √(2.833/2) = 0.3 + 1.190 = </a:t>
            </a:r>
            <a:r>
              <a:rPr sz="1900" b="1" i="0">
                <a:solidFill>
                  <a:srgbClr val="1C252B"/>
                </a:solidFill>
                <a:latin typeface="Cambria"/>
              </a:rPr>
              <a:t>1.490</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36858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fade">
                                      <p:cBhvr>
                                        <p:cTn id="23" dur="350"/>
                                        <p:tgtEl>
                                          <p:spTgt spid="1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xEl>
                                              <p:pRg st="1" end="1"/>
                                            </p:txEl>
                                          </p:spTgt>
                                        </p:tgtEl>
                                        <p:attrNameLst>
                                          <p:attrName>style.visibility</p:attrName>
                                        </p:attrNameLst>
                                      </p:cBhvr>
                                      <p:to>
                                        <p:strVal val="visible"/>
                                      </p:to>
                                    </p:set>
                                    <p:animEffect transition="in" filter="fade">
                                      <p:cBhvr>
                                        <p:cTn id="28" dur="350"/>
                                        <p:tgtEl>
                                          <p:spTgt spid="1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xEl>
                                              <p:pRg st="2" end="2"/>
                                            </p:txEl>
                                          </p:spTgt>
                                        </p:tgtEl>
                                        <p:attrNameLst>
                                          <p:attrName>style.visibility</p:attrName>
                                        </p:attrNameLst>
                                      </p:cBhvr>
                                      <p:to>
                                        <p:strVal val="visible"/>
                                      </p:to>
                                    </p:set>
                                    <p:animEffect transition="in" filter="fade">
                                      <p:cBhvr>
                                        <p:cTn id="33" dur="35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Estimation Technique Next Sprint?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148     </a:t>
            </a:r>
            <a:fld id="{45E3DDD1-5EE3-4952-A752-F22DF63E861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87067"/>
          </a:xfrm>
          <a:prstGeom prst="roundRect">
            <a:avLst>
              <a:gd name="adj" fmla="val 418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87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UCB chooses </a:t>
            </a:r>
            <a:r>
              <a:rPr sz="1900" b="1" i="0">
                <a:solidFill>
                  <a:srgbClr val="1C252B"/>
                </a:solidFill>
                <a:latin typeface="Segoe UI"/>
              </a:rPr>
              <a:t>C</a:t>
            </a:r>
            <a:r>
              <a:rPr sz="1900" b="0" i="0">
                <a:solidFill>
                  <a:srgbClr val="1C252B"/>
                </a:solidFill>
                <a:latin typeface="Segoe UI"/>
              </a:rPr>
              <a:t>: its average is lowest, but it has been tried only twice, so its true value is the most uncertain. If C really is poor, a few more sprints will lower its bonus and UCB will stop choosing it; if it is good, greedy would never have found out.</a:t>
            </a:r>
          </a:p>
        </p:txBody>
      </p:sp>
      <p:sp>
        <p:nvSpPr>
          <p:cNvPr id="10" name="body-1"/>
          <p:cNvSpPr txBox="1"/>
          <p:nvPr/>
        </p:nvSpPr>
        <p:spPr>
          <a:xfrm>
            <a:off x="1042416" y="304782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Update</a:t>
            </a:r>
            <a:r>
              <a:rPr sz="1900" b="0" i="0">
                <a:solidFill>
                  <a:srgbClr val="1C252B"/>
                </a:solidFill>
                <a:latin typeface="Segoe UI"/>
              </a:rPr>
              <a:t> after B is used again and its estimate lands (reward 1): </a:t>
            </a:r>
            <a:r>
              <a:rPr sz="1900" b="0" i="1">
                <a:solidFill>
                  <a:srgbClr val="1C252B"/>
                </a:solidFill>
                <a:latin typeface="Cambria"/>
              </a:rPr>
              <a:t>N</a:t>
            </a:r>
            <a:r>
              <a:rPr sz="1900" b="0" i="0">
                <a:solidFill>
                  <a:srgbClr val="1C252B"/>
                </a:solidFill>
                <a:latin typeface="Cambria"/>
              </a:rPr>
              <a:t>(</a:t>
            </a:r>
            <a:r>
              <a:rPr sz="1900" b="0" i="1">
                <a:solidFill>
                  <a:srgbClr val="1C252B"/>
                </a:solidFill>
                <a:latin typeface="Cambria"/>
              </a:rPr>
              <a:t>B</a:t>
            </a:r>
            <a:r>
              <a:rPr sz="1900" b="0" i="0">
                <a:solidFill>
                  <a:srgbClr val="1C252B"/>
                </a:solidFill>
                <a:latin typeface="Cambria"/>
              </a:rPr>
              <a:t>) = 6</a:t>
            </a:r>
            <a:r>
              <a:rPr sz="1900" b="0" i="0">
                <a:solidFill>
                  <a:srgbClr val="1C252B"/>
                </a:solidFill>
                <a:latin typeface="Segoe UI"/>
              </a:rPr>
              <a:t> and </a:t>
            </a:r>
            <a:r>
              <a:rPr sz="1900" b="0" i="1">
                <a:solidFill>
                  <a:srgbClr val="1C252B"/>
                </a:solidFill>
                <a:latin typeface="Cambria"/>
              </a:rPr>
              <a:t>Q</a:t>
            </a:r>
            <a:r>
              <a:rPr sz="1900" b="0" i="0">
                <a:solidFill>
                  <a:srgbClr val="1C252B"/>
                </a:solidFill>
                <a:latin typeface="Cambria"/>
              </a:rPr>
              <a:t>(</a:t>
            </a:r>
            <a:r>
              <a:rPr sz="1900" b="0" i="1">
                <a:solidFill>
                  <a:srgbClr val="1C252B"/>
                </a:solidFill>
                <a:latin typeface="Cambria"/>
              </a:rPr>
              <a:t>B</a:t>
            </a:r>
            <a:r>
              <a:rPr sz="1900" b="0" i="0">
                <a:solidFill>
                  <a:srgbClr val="1C252B"/>
                </a:solidFill>
                <a:latin typeface="Cambria"/>
              </a:rPr>
              <a:t>) = 0.6 + 1/6(1 − 0.6) = 0.667</a:t>
            </a:r>
            <a:r>
              <a:rPr sz="1900" b="0" i="0">
                <a:solidFill>
                  <a:srgbClr val="1C252B"/>
                </a:solidFill>
                <a:latin typeface="Segoe UI"/>
              </a:rPr>
              <a:t>.</a:t>
            </a:r>
          </a:p>
        </p:txBody>
      </p:sp>
      <p:sp>
        <p:nvSpPr>
          <p:cNvPr id="11" name="body-1bar">
            <a:extLst>
              <a:ext uri="{C183D7F6-B498-43B3-948B-1728B52AA6E4}">
                <adec:decorative xmlns:adec="http://schemas.microsoft.com/office/drawing/2017/decorative" val="1"/>
              </a:ext>
            </a:extLst>
          </p:cNvPr>
          <p:cNvSpPr/>
          <p:nvPr/>
        </p:nvSpPr>
        <p:spPr>
          <a:xfrm>
            <a:off x="841248" y="3066110"/>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96938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Ten-armed bandits (600 random problems, averaged)</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148     </a:t>
            </a:r>
            <a:fld id="{C3456993-B5CB-4364-AB87-C9B1AD021BCB}" type="slidenum">
              <a:rPr lang="en-GB" sz="1000">
                <a:solidFill>
                  <a:srgbClr val="8795A1"/>
                </a:solidFill>
                <a:latin typeface="Segoe UI"/>
              </a:rPr>
              <a:t>15</a:t>
            </a:fld>
          </a:p>
        </p:txBody>
      </p:sp>
      <p:pic>
        <p:nvPicPr>
          <p:cNvPr id="6" name="!!figure" descr="Figure 20.1. Ten-armed bandits (600 random problems, averaged). Greedy settles early on a mediocre arm; ε-greedy keeps improving; UCB explores hardest at first — its worst start — and earns the most thereaft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73828" y="1737360"/>
            <a:ext cx="7444037"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Greedy settles early on a mediocre arm; ε-greedy keeps improving; UCB explores hardest at first — its worst start — and earns the most thereafter.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25291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Temporal-Difference Learning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Learning From Consequences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Monte Carlo Methods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Exploration and Exploitation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20.4   Temporal-Difference Learning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20.5   Q-Learning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20.6   From Tables to Deep Reinforcement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§20.4     </a:t>
            </a:r>
            <a:fld id="{AEC3CA3D-6BA5-45B8-B80E-F9254CD5B6AC}" type="slidenum">
              <a:rPr lang="en-GB" sz="1000">
                <a:solidFill>
                  <a:srgbClr val="8795A1"/>
                </a:solidFill>
                <a:latin typeface="Segoe UI"/>
              </a:rPr>
              <a:t>16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53644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TD(0) Update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149     </a:t>
            </a:r>
            <a:fld id="{EE7DF8CD-D39E-4F6F-AE30-CAB3A4B6A394}"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08024"/>
          </a:xfrm>
          <a:prstGeom prst="roundRect">
            <a:avLst>
              <a:gd name="adj" fmla="val 260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0802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After moving from </a:t>
            </a:r>
            <a:r>
              <a:rPr sz="2300" b="0" i="1">
                <a:solidFill>
                  <a:srgbClr val="1C252B"/>
                </a:solidFill>
                <a:latin typeface="Cambria"/>
              </a:rPr>
              <a:t>s</a:t>
            </a:r>
            <a:r>
              <a:rPr sz="2300" b="0" i="0">
                <a:solidFill>
                  <a:srgbClr val="1C252B"/>
                </a:solidFill>
                <a:latin typeface="Segoe UI"/>
              </a:rPr>
              <a:t> to </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with reward </a:t>
            </a:r>
            <a:r>
              <a:rPr sz="2300" b="0" i="1">
                <a:solidFill>
                  <a:srgbClr val="1C252B"/>
                </a:solidFill>
                <a:latin typeface="Cambria"/>
              </a:rPr>
              <a:t>r</a:t>
            </a:r>
            <a:r>
              <a:rPr sz="2300" b="0" i="0">
                <a:solidFill>
                  <a:srgbClr val="1C252B"/>
                </a:solidFill>
                <a:latin typeface="Segoe UI"/>
              </a:rPr>
              <a:t>:</a:t>
            </a:r>
          </a:p>
        </p:txBody>
      </p:sp>
      <p:pic>
        <p:nvPicPr>
          <p:cNvPr id="10" name="body-1" descr="V(s) \leftarrow V(s) + \alpha\big[\underbrace{r + \gamma V(s')}_{\text{TD target}} - V(s)\bi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742218"/>
          </a:xfrm>
          <a:prstGeom prst="rect">
            <a:avLst/>
          </a:prstGeom>
        </p:spPr>
      </p:pic>
      <p:sp>
        <p:nvSpPr>
          <p:cNvPr id="11" name="body-2"/>
          <p:cNvSpPr txBox="1"/>
          <p:nvPr/>
        </p:nvSpPr>
        <p:spPr>
          <a:xfrm>
            <a:off x="1060704" y="347632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bracket is the </a:t>
            </a:r>
            <a:r>
              <a:rPr sz="2300" b="1" i="0">
                <a:solidFill>
                  <a:srgbClr val="1A5276"/>
                </a:solidFill>
                <a:latin typeface="Segoe UI"/>
              </a:rPr>
              <a:t>TD error</a:t>
            </a:r>
            <a:r>
              <a:rPr sz="2300" b="0" i="0">
                <a:solidFill>
                  <a:srgbClr val="1C252B"/>
                </a:solidFill>
                <a:latin typeface="Segoe UI"/>
              </a:rPr>
              <a:t>: how much better or worse things turned out than expected. Using the current estimate </a:t>
            </a:r>
            <a:r>
              <a:rPr sz="2300" b="0" i="1">
                <a:solidFill>
                  <a:srgbClr val="1C252B"/>
                </a:solidFill>
                <a:latin typeface="Cambria"/>
              </a:rPr>
              <a:t>V</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inside the target is called </a:t>
            </a:r>
            <a:r>
              <a:rPr sz="2300" b="1" i="0">
                <a:solidFill>
                  <a:srgbClr val="1A5276"/>
                </a:solidFill>
                <a:latin typeface="Segoe UI"/>
              </a:rPr>
              <a:t>bootstrapping</a:t>
            </a:r>
            <a:r>
              <a:rPr sz="2300" b="0" i="0">
                <a:solidFill>
                  <a:srgbClr val="1C252B"/>
                </a:solidFill>
                <a:latin typeface="Segoe UI"/>
              </a:rPr>
              <a:t> — learning a guess from a guess. It lets TD learn during an episode, and in tasks that never end.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81997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TD Update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149     </a:t>
            </a:r>
            <a:fld id="{FD29FD03-AEF4-4164-B1C9-6D016C9F6264}"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99253"/>
          </a:xfrm>
          <a:prstGeom prst="roundRect">
            <a:avLst>
              <a:gd name="adj" fmla="val 415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9925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Cambria"/>
              </a:rPr>
              <a:t>V</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 = 5</a:t>
            </a:r>
            <a:r>
              <a:rPr sz="2100" b="0" i="0">
                <a:solidFill>
                  <a:srgbClr val="1C252B"/>
                </a:solidFill>
                <a:latin typeface="Segoe UI"/>
              </a:rPr>
              <a:t> and </a:t>
            </a:r>
            <a:r>
              <a:rPr sz="2100" b="0" i="1">
                <a:solidFill>
                  <a:srgbClr val="1C252B"/>
                </a:solidFill>
                <a:latin typeface="Cambria"/>
              </a:rPr>
              <a:t>V</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 = 10</a:t>
            </a:r>
            <a:r>
              <a:rPr sz="2100" b="0" i="0">
                <a:solidFill>
                  <a:srgbClr val="1C252B"/>
                </a:solidFill>
                <a:latin typeface="Segoe UI"/>
              </a:rPr>
              <a:t>. The agent moves from </a:t>
            </a:r>
            <a:r>
              <a:rPr sz="2100" b="0" i="1">
                <a:solidFill>
                  <a:srgbClr val="1C252B"/>
                </a:solidFill>
                <a:latin typeface="Cambria"/>
              </a:rPr>
              <a:t>s</a:t>
            </a:r>
            <a:r>
              <a:rPr sz="2100" b="0" i="0">
                <a:solidFill>
                  <a:srgbClr val="1C252B"/>
                </a:solidFill>
                <a:latin typeface="Segoe UI"/>
              </a:rPr>
              <a:t> to </a:t>
            </a:r>
            <a:r>
              <a:rPr sz="2100" b="0" i="1">
                <a:solidFill>
                  <a:srgbClr val="1C252B"/>
                </a:solidFill>
                <a:latin typeface="Cambria"/>
              </a:rPr>
              <a:t>s</a:t>
            </a:r>
            <a:r>
              <a:rPr sz="2100" b="0" i="0">
                <a:solidFill>
                  <a:srgbClr val="1C252B"/>
                </a:solidFill>
                <a:latin typeface="Cambria"/>
              </a:rPr>
              <a:t>′</a:t>
            </a:r>
            <a:r>
              <a:rPr sz="2100" b="0" i="0">
                <a:solidFill>
                  <a:srgbClr val="1C252B"/>
                </a:solidFill>
                <a:latin typeface="Segoe UI"/>
              </a:rPr>
              <a:t> and receives </a:t>
            </a:r>
            <a:r>
              <a:rPr sz="2100" b="0" i="1">
                <a:solidFill>
                  <a:srgbClr val="1C252B"/>
                </a:solidFill>
                <a:latin typeface="Cambria"/>
              </a:rPr>
              <a:t>r</a:t>
            </a:r>
            <a:r>
              <a:rPr sz="2100" b="0" i="0">
                <a:solidFill>
                  <a:srgbClr val="1C252B"/>
                </a:solidFill>
                <a:latin typeface="Cambria"/>
              </a:rPr>
              <a:t> = 2</a:t>
            </a:r>
            <a:r>
              <a:rPr sz="2100" b="0" i="0">
                <a:solidFill>
                  <a:srgbClr val="1C252B"/>
                </a:solidFill>
                <a:latin typeface="Segoe UI"/>
              </a:rPr>
              <a:t>; </a:t>
            </a:r>
            <a:r>
              <a:rPr sz="2100" b="0" i="0">
                <a:solidFill>
                  <a:srgbClr val="1C252B"/>
                </a:solidFill>
                <a:latin typeface="Cambria"/>
              </a:rPr>
              <a:t>γ = 0.9</a:t>
            </a:r>
            <a:r>
              <a:rPr sz="2100" b="0" i="0">
                <a:solidFill>
                  <a:srgbClr val="1C252B"/>
                </a:solidFill>
                <a:latin typeface="Segoe UI"/>
              </a:rPr>
              <a:t>, </a:t>
            </a:r>
            <a:r>
              <a:rPr sz="2100" b="0" i="0">
                <a:solidFill>
                  <a:srgbClr val="1C252B"/>
                </a:solidFill>
                <a:latin typeface="Cambria"/>
              </a:rPr>
              <a:t>α = 0.1</a:t>
            </a:r>
            <a:r>
              <a:rPr sz="2100" b="0" i="0">
                <a:solidFill>
                  <a:srgbClr val="1C252B"/>
                </a:solidFill>
                <a:latin typeface="Segoe UI"/>
              </a:rPr>
              <a:t>.</a:t>
            </a:r>
          </a:p>
        </p:txBody>
      </p:sp>
      <p:pic>
        <p:nvPicPr>
          <p:cNvPr id="10" name="body-1" descr="\text{TD target} = 2 + 0.9 \times 10 = 11, \quad \text{TD error} = 11 - 5 = 6, \quad V(s) \leftarrow 5 + 0.1 \times 6 = \mathbf{5.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91206"/>
            <a:ext cx="10234879" cy="358719"/>
          </a:xfrm>
          <a:prstGeom prst="rect">
            <a:avLst/>
          </a:prstGeom>
        </p:spPr>
      </p:pic>
      <p:sp>
        <p:nvSpPr>
          <p:cNvPr id="11" name="body-2"/>
          <p:cNvSpPr txBox="1"/>
          <p:nvPr/>
        </p:nvSpPr>
        <p:spPr>
          <a:xfrm>
            <a:off x="1042416" y="2996610"/>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step was better than expected, so the estimate of </a:t>
            </a:r>
            <a:r>
              <a:rPr sz="2100" b="0" i="1">
                <a:solidFill>
                  <a:srgbClr val="1C252B"/>
                </a:solidFill>
                <a:latin typeface="Cambria"/>
              </a:rPr>
              <a:t>s</a:t>
            </a:r>
            <a:r>
              <a:rPr sz="2100" b="0" i="0">
                <a:solidFill>
                  <a:srgbClr val="1C252B"/>
                </a:solidFill>
                <a:latin typeface="Segoe UI"/>
              </a:rPr>
              <a:t> rises — by a tenth of the surprise, because one step is weak evidence.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1035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Q-Learning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Learning From Consequences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Monte Carlo Methods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Exploration and Exploitation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Temporal-Difference Learning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20.5   Q-Learning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20.6   From Tables to Deep Reinforcement Learning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§20.5     </a:t>
            </a:r>
            <a:fld id="{608E585A-40E8-49E3-BDAB-B05960D6080F}" type="slidenum">
              <a:rPr lang="en-GB" sz="1000">
                <a:solidFill>
                  <a:srgbClr val="8795A1"/>
                </a:solidFill>
                <a:latin typeface="Segoe UI"/>
              </a:rPr>
              <a:t>19</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38702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Q-Learning (Watkins, 1989)</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150     </a:t>
            </a:r>
            <a:fld id="{C5B21777-25C5-49F8-95D1-D7EE7ED4AC16}"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29807"/>
          </a:xfrm>
          <a:prstGeom prst="roundRect">
            <a:avLst>
              <a:gd name="adj" fmla="val 274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2980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Initialise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arbitrarily (say 0). In each step: in state </a:t>
            </a:r>
            <a:r>
              <a:rPr sz="2300" b="0" i="1">
                <a:solidFill>
                  <a:srgbClr val="1C252B"/>
                </a:solidFill>
                <a:latin typeface="Cambria"/>
              </a:rPr>
              <a:t>s</a:t>
            </a:r>
            <a:r>
              <a:rPr sz="2300" b="0" i="0">
                <a:solidFill>
                  <a:srgbClr val="1C252B"/>
                </a:solidFill>
                <a:latin typeface="Segoe UI"/>
              </a:rPr>
              <a:t> choose </a:t>
            </a:r>
            <a:r>
              <a:rPr sz="2300" b="0" i="1">
                <a:solidFill>
                  <a:srgbClr val="1C252B"/>
                </a:solidFill>
                <a:latin typeface="Cambria"/>
              </a:rPr>
              <a:t>a</a:t>
            </a:r>
            <a:r>
              <a:rPr sz="2300" b="0" i="0">
                <a:solidFill>
                  <a:srgbClr val="1C252B"/>
                </a:solidFill>
                <a:latin typeface="Segoe UI"/>
              </a:rPr>
              <a:t> (e.g. </a:t>
            </a:r>
            <a:r>
              <a:rPr sz="2300" b="0" i="0">
                <a:solidFill>
                  <a:srgbClr val="1C252B"/>
                </a:solidFill>
                <a:latin typeface="Cambria"/>
              </a:rPr>
              <a:t>ε</a:t>
            </a:r>
            <a:r>
              <a:rPr sz="2300" b="0" i="0">
                <a:solidFill>
                  <a:srgbClr val="1C252B"/>
                </a:solidFill>
                <a:latin typeface="Segoe UI"/>
              </a:rPr>
              <a:t>-greedily from </a:t>
            </a:r>
            <a:r>
              <a:rPr sz="2300" b="0" i="1">
                <a:solidFill>
                  <a:srgbClr val="1C252B"/>
                </a:solidFill>
                <a:latin typeface="Cambria"/>
              </a:rPr>
              <a:t>Q</a:t>
            </a:r>
            <a:r>
              <a:rPr sz="2300" b="0" i="0">
                <a:solidFill>
                  <a:srgbClr val="1C252B"/>
                </a:solidFill>
                <a:latin typeface="Segoe UI"/>
              </a:rPr>
              <a:t>), observe reward </a:t>
            </a:r>
            <a:r>
              <a:rPr sz="2300" b="0" i="1">
                <a:solidFill>
                  <a:srgbClr val="1C252B"/>
                </a:solidFill>
                <a:latin typeface="Cambria"/>
              </a:rPr>
              <a:t>r</a:t>
            </a:r>
            <a:r>
              <a:rPr sz="2300" b="0" i="0">
                <a:solidFill>
                  <a:srgbClr val="1C252B"/>
                </a:solidFill>
                <a:latin typeface="Segoe UI"/>
              </a:rPr>
              <a:t> and next state </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and update</a:t>
            </a:r>
          </a:p>
        </p:txBody>
      </p:sp>
      <p:pic>
        <p:nvPicPr>
          <p:cNvPr id="10" name="body-1" descr="Q(s, a) \leftarrow Q(s, a) + \alpha\Big[r + \gamma\max_{a'} Q(s', a') - Q(s, a)\Bi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564001"/>
          </a:xfrm>
          <a:prstGeom prst="rect">
            <a:avLst/>
          </a:prstGeom>
        </p:spPr>
      </p:pic>
      <p:sp>
        <p:nvSpPr>
          <p:cNvPr id="11" name="body-2"/>
          <p:cNvSpPr txBox="1"/>
          <p:nvPr/>
        </p:nvSpPr>
        <p:spPr>
          <a:xfrm>
            <a:off x="1060704" y="3662649"/>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Under mild conditions — every action tried in every state infinitely often, and a suitably decreasing </a:t>
            </a:r>
            <a:r>
              <a:rPr sz="2300" b="0" i="0">
                <a:solidFill>
                  <a:srgbClr val="1C252B"/>
                </a:solidFill>
                <a:latin typeface="Cambria"/>
              </a:rPr>
              <a:t>α</a:t>
            </a:r>
            <a:r>
              <a:rPr sz="2300" b="0" i="0">
                <a:solidFill>
                  <a:srgbClr val="1C252B"/>
                </a:solidFill>
                <a:latin typeface="Segoe UI"/>
              </a:rPr>
              <a:t> — </a:t>
            </a:r>
            <a:r>
              <a:rPr sz="2300" b="0" i="1">
                <a:solidFill>
                  <a:srgbClr val="1C252B"/>
                </a:solidFill>
                <a:latin typeface="Cambria"/>
              </a:rPr>
              <a:t>Q</a:t>
            </a:r>
            <a:r>
              <a:rPr sz="2300" b="0" i="0">
                <a:solidFill>
                  <a:srgbClr val="1C252B"/>
                </a:solidFill>
                <a:latin typeface="Segoe UI"/>
              </a:rPr>
              <a:t> converges to the optimal </a:t>
            </a:r>
            <a:r>
              <a:rPr sz="2300" b="0" i="1">
                <a:solidFill>
                  <a:srgbClr val="1C252B"/>
                </a:solidFill>
                <a:latin typeface="Cambria"/>
              </a:rPr>
              <a:t>Q</a:t>
            </a:r>
            <a:r>
              <a:rPr sz="2300" b="0" i="0" baseline="30000">
                <a:solidFill>
                  <a:srgbClr val="1C252B"/>
                </a:solidFill>
                <a:latin typeface="Cambria"/>
              </a:rPr>
              <a:t>∗</a:t>
            </a:r>
            <a:r>
              <a:rPr sz="2300" b="0" i="0">
                <a:solidFill>
                  <a:srgbClr val="1C252B"/>
                </a:solidFill>
                <a:latin typeface="Segoe UI"/>
              </a:rPr>
              <a:t> of Chapter 19, whatever exploratory policy generated the experience.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6705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Q-Learning Updates on the Technical-Debt MDP</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150     </a:t>
            </a:r>
            <a:fld id="{7A648E57-8D1E-4ADD-8100-B6380CA3A98A}"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2066"/>
          </a:xfrm>
          <a:prstGeom prst="roundRect">
            <a:avLst>
              <a:gd name="adj" fmla="val 208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206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agent does not know the transition probabilities of Figure 19.2; it only experiences them, one sprint at a time. </a:t>
            </a:r>
            <a:r>
              <a:rPr sz="1900" b="0" i="1">
                <a:solidFill>
                  <a:srgbClr val="1C252B"/>
                </a:solidFill>
                <a:latin typeface="Cambria"/>
              </a:rPr>
              <a:t>Q</a:t>
            </a:r>
            <a:r>
              <a:rPr sz="1900" b="0" i="0">
                <a:solidFill>
                  <a:srgbClr val="1C252B"/>
                </a:solidFill>
                <a:latin typeface="Segoe UI"/>
              </a:rPr>
              <a:t> starts at 0 everywhere; </a:t>
            </a:r>
            <a:r>
              <a:rPr sz="1900" b="0" i="0">
                <a:solidFill>
                  <a:srgbClr val="1C252B"/>
                </a:solidFill>
                <a:latin typeface="Cambria"/>
              </a:rPr>
              <a:t>α = 0.5</a:t>
            </a:r>
            <a:r>
              <a:rPr sz="1900" b="0" i="0">
                <a:solidFill>
                  <a:srgbClr val="1C252B"/>
                </a:solidFill>
                <a:latin typeface="Segoe UI"/>
              </a:rPr>
              <a:t>, </a:t>
            </a:r>
            <a:r>
              <a:rPr sz="1900" b="0" i="0">
                <a:solidFill>
                  <a:srgbClr val="1C252B"/>
                </a:solidFill>
                <a:latin typeface="Cambria"/>
              </a:rPr>
              <a:t>γ = 0.9</a:t>
            </a:r>
            <a:r>
              <a:rPr sz="1900" b="0" i="0">
                <a:solidFill>
                  <a:srgbClr val="1C252B"/>
                </a:solidFill>
                <a:latin typeface="Segoe UI"/>
              </a:rPr>
              <a:t>.</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a:t>
            </a:r>
            <a:r>
              <a:rPr sz="1900" b="0" i="0">
                <a:solidFill>
                  <a:srgbClr val="1C252B"/>
                </a:solidFill>
                <a:latin typeface="Segoe UI"/>
              </a:rPr>
              <a:t> in H, ship; reward </a:t>
            </a:r>
            <a:r>
              <a:rPr sz="1900" b="0" i="0">
                <a:solidFill>
                  <a:srgbClr val="1C252B"/>
                </a:solidFill>
                <a:latin typeface="Cambria"/>
              </a:rPr>
              <a:t>+10</a:t>
            </a:r>
            <a:r>
              <a:rPr sz="1900" b="0" i="0">
                <a:solidFill>
                  <a:srgbClr val="1C252B"/>
                </a:solidFill>
                <a:latin typeface="Segoe UI"/>
              </a:rPr>
              <a:t>; stays in H. </a:t>
            </a:r>
            <a:r>
              <a:rPr sz="1900" b="0" i="1">
                <a:solidFill>
                  <a:srgbClr val="1C252B"/>
                </a:solidFill>
                <a:latin typeface="Cambria"/>
              </a:rPr>
              <a:t>Q</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a:t>
            </a:r>
            <a:r>
              <a:rPr sz="1900" b="0" i="0">
                <a:solidFill>
                  <a:srgbClr val="1C252B"/>
                </a:solidFill>
                <a:latin typeface="Segoe UI"/>
              </a:rPr>
              <a:t>ship</a:t>
            </a:r>
            <a:r>
              <a:rPr sz="1900" b="0" i="0">
                <a:solidFill>
                  <a:srgbClr val="1C252B"/>
                </a:solidFill>
                <a:latin typeface="Cambria"/>
              </a:rPr>
              <a:t>) ← 0 + 0.5 [10 + 0.9 × max(0, 0) − 0] = </a:t>
            </a:r>
            <a:r>
              <a:rPr sz="1900" b="1" i="0">
                <a:solidFill>
                  <a:srgbClr val="1C252B"/>
                </a:solidFill>
                <a:latin typeface="Cambria"/>
              </a:rPr>
              <a:t>5</a:t>
            </a:r>
            <a:r>
              <a:rPr sz="1900" b="0" i="0">
                <a:solidFill>
                  <a:srgbClr val="1C252B"/>
                </a:solidFill>
                <a:latin typeface="Segoe UI"/>
              </a:rPr>
              <a:t>.</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a:t>
            </a:r>
            <a:r>
              <a:rPr sz="1900" b="0" i="0">
                <a:solidFill>
                  <a:srgbClr val="1C252B"/>
                </a:solidFill>
                <a:latin typeface="Segoe UI"/>
              </a:rPr>
              <a:t> in H, ship; reward </a:t>
            </a:r>
            <a:r>
              <a:rPr sz="1900" b="0" i="0">
                <a:solidFill>
                  <a:srgbClr val="1C252B"/>
                </a:solidFill>
                <a:latin typeface="Cambria"/>
              </a:rPr>
              <a:t>+10</a:t>
            </a:r>
            <a:r>
              <a:rPr sz="1900" b="0" i="0">
                <a:solidFill>
                  <a:srgbClr val="1C252B"/>
                </a:solidFill>
                <a:latin typeface="Segoe UI"/>
              </a:rPr>
              <a:t>; debt builds up, now D. </a:t>
            </a:r>
            <a:r>
              <a:rPr sz="1900" b="0" i="1">
                <a:solidFill>
                  <a:srgbClr val="1C252B"/>
                </a:solidFill>
                <a:latin typeface="Cambria"/>
              </a:rPr>
              <a:t>Q</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a:t>
            </a:r>
            <a:r>
              <a:rPr sz="1900" b="0" i="0">
                <a:solidFill>
                  <a:srgbClr val="1C252B"/>
                </a:solidFill>
                <a:latin typeface="Segoe UI"/>
              </a:rPr>
              <a:t>ship</a:t>
            </a:r>
            <a:r>
              <a:rPr sz="1900" b="0" i="0">
                <a:solidFill>
                  <a:srgbClr val="1C252B"/>
                </a:solidFill>
                <a:latin typeface="Cambria"/>
              </a:rPr>
              <a:t>) ← 5 + 0.5 [10 + 0.9 × max(</a:t>
            </a:r>
            <a:r>
              <a:rPr sz="1900" b="0" i="1">
                <a:solidFill>
                  <a:srgbClr val="1C252B"/>
                </a:solidFill>
                <a:latin typeface="Cambria"/>
              </a:rPr>
              <a:t>Q</a:t>
            </a:r>
            <a:r>
              <a:rPr sz="1900" b="0" i="0">
                <a:solidFill>
                  <a:srgbClr val="1C252B"/>
                </a:solidFill>
                <a:latin typeface="Cambria"/>
              </a:rPr>
              <a:t>(</a:t>
            </a:r>
            <a:r>
              <a:rPr sz="1900" b="0" i="1">
                <a:solidFill>
                  <a:srgbClr val="1C252B"/>
                </a:solidFill>
                <a:latin typeface="Cambria"/>
              </a:rPr>
              <a:t>D</a:t>
            </a:r>
            <a:r>
              <a:rPr sz="1900" b="0" i="0">
                <a:solidFill>
                  <a:srgbClr val="1C252B"/>
                </a:solidFill>
                <a:latin typeface="Cambria"/>
              </a:rPr>
              <a:t>, ·)) − 5] = 5 + 0.5 × 5 = </a:t>
            </a:r>
            <a:r>
              <a:rPr sz="1900" b="1" i="0">
                <a:solidFill>
                  <a:srgbClr val="1C252B"/>
                </a:solidFill>
                <a:latin typeface="Cambria"/>
              </a:rPr>
              <a:t>7.5</a:t>
            </a:r>
            <a:r>
              <a:rPr sz="1900" b="0" i="0">
                <a:solidFill>
                  <a:srgbClr val="1C252B"/>
                </a:solidFill>
                <a:latin typeface="Segoe UI"/>
              </a:rPr>
              <a:t>.</a:t>
            </a:r>
          </a:p>
        </p:txBody>
      </p:sp>
      <p:sp>
        <p:nvSpPr>
          <p:cNvPr id="12" name="body-3"/>
          <p:cNvSpPr txBox="1"/>
          <p:nvPr/>
        </p:nvSpPr>
        <p:spPr>
          <a:xfrm>
            <a:off x="1042416" y="391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a:t>
            </a:r>
            <a:r>
              <a:rPr sz="1900" b="0" i="0">
                <a:solidFill>
                  <a:srgbClr val="1C252B"/>
                </a:solidFill>
                <a:latin typeface="Segoe UI"/>
              </a:rPr>
              <a:t> in D, refactor; reward </a:t>
            </a:r>
            <a:r>
              <a:rPr sz="1900" b="0" i="0">
                <a:solidFill>
                  <a:srgbClr val="1C252B"/>
                </a:solidFill>
                <a:latin typeface="Cambria"/>
              </a:rPr>
              <a:t>−4</a:t>
            </a:r>
            <a:r>
              <a:rPr sz="1900" b="0" i="0">
                <a:solidFill>
                  <a:srgbClr val="1C252B"/>
                </a:solidFill>
                <a:latin typeface="Segoe UI"/>
              </a:rPr>
              <a:t>; back to H. </a:t>
            </a:r>
            <a:r>
              <a:rPr sz="1900" b="0" i="1">
                <a:solidFill>
                  <a:srgbClr val="1C252B"/>
                </a:solidFill>
                <a:latin typeface="Cambria"/>
              </a:rPr>
              <a:t>Q</a:t>
            </a:r>
            <a:r>
              <a:rPr sz="1900" b="0" i="0">
                <a:solidFill>
                  <a:srgbClr val="1C252B"/>
                </a:solidFill>
                <a:latin typeface="Cambria"/>
              </a:rPr>
              <a:t>(</a:t>
            </a:r>
            <a:r>
              <a:rPr sz="1900" b="0" i="1">
                <a:solidFill>
                  <a:srgbClr val="1C252B"/>
                </a:solidFill>
                <a:latin typeface="Cambria"/>
              </a:rPr>
              <a:t>D</a:t>
            </a:r>
            <a:r>
              <a:rPr sz="1900" b="0" i="0">
                <a:solidFill>
                  <a:srgbClr val="1C252B"/>
                </a:solidFill>
                <a:latin typeface="Cambria"/>
              </a:rPr>
              <a:t>, </a:t>
            </a:r>
            <a:r>
              <a:rPr sz="1900" b="0" i="0">
                <a:solidFill>
                  <a:srgbClr val="1C252B"/>
                </a:solidFill>
                <a:latin typeface="Segoe UI"/>
              </a:rPr>
              <a:t>ref</a:t>
            </a:r>
            <a:r>
              <a:rPr sz="1900" b="0" i="0">
                <a:solidFill>
                  <a:srgbClr val="1C252B"/>
                </a:solidFill>
                <a:latin typeface="Cambria"/>
              </a:rPr>
              <a:t>) ← 0 + 0.5 [−4 + 0.9 × 7.5 − 0] = 0.5 × 2.75 = </a:t>
            </a:r>
            <a:r>
              <a:rPr sz="1900" b="1" i="0">
                <a:solidFill>
                  <a:srgbClr val="1C252B"/>
                </a:solidFill>
                <a:latin typeface="Cambria"/>
              </a:rPr>
              <a:t>1.375</a:t>
            </a:r>
            <a:r>
              <a:rPr sz="1900" b="0" i="0">
                <a:solidFill>
                  <a:srgbClr val="1C252B"/>
                </a:solidFill>
                <a:latin typeface="Segoe UI"/>
              </a:rPr>
              <a:t>.</a:t>
            </a:r>
          </a:p>
        </p:txBody>
      </p:sp>
      <p:sp>
        <p:nvSpPr>
          <p:cNvPr id="13" name="body-4"/>
          <p:cNvSpPr txBox="1"/>
          <p:nvPr/>
        </p:nvSpPr>
        <p:spPr>
          <a:xfrm>
            <a:off x="1042416" y="4650536"/>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refactoring was penalised </a:t>
            </a:r>
            <a:r>
              <a:rPr sz="1900" b="0" i="0">
                <a:solidFill>
                  <a:srgbClr val="1C252B"/>
                </a:solidFill>
                <a:latin typeface="Cambria"/>
              </a:rPr>
              <a:t>−4</a:t>
            </a:r>
            <a:r>
              <a:rPr sz="1900" b="0" i="0">
                <a:solidFill>
                  <a:srgbClr val="1C252B"/>
                </a:solidFill>
                <a:latin typeface="Segoe UI"/>
              </a:rPr>
              <a:t>, yet its Q-value is </a:t>
            </a:r>
            <a:r>
              <a:rPr sz="1900" b="0" i="1">
                <a:solidFill>
                  <a:srgbClr val="1C252B"/>
                </a:solidFill>
                <a:latin typeface="Segoe UI"/>
              </a:rPr>
              <a:t>positive</a:t>
            </a:r>
            <a:r>
              <a:rPr sz="1900" b="0" i="0">
                <a:solidFill>
                  <a:srgbClr val="1C252B"/>
                </a:solidFill>
                <a:latin typeface="Segoe UI"/>
              </a:rPr>
              <a:t>: the update already credits it with the value of the healthy state it leads to. Run for 200,000 steps (the lab), Q-learning arrives at the same policy value iteration computed from the full model — ship when healthy, refactor when debt-laden or frozen — having never seen a single transition probability.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9540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Q-Learning and SARSA: Off-Policy and On-Policy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§20.5  ·  Handout p. 150     </a:t>
            </a:r>
            <a:fld id="{5CC2C9CB-E83C-46C3-8FD5-FEBFEAF1592E}"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02659"/>
          </a:xfrm>
          <a:prstGeom prst="roundRect">
            <a:avLst>
              <a:gd name="adj" fmla="val 234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0265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26587"/>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Q-learning’s target uses </a:t>
            </a:r>
            <a:r>
              <a:rPr sz="2300" b="0" i="0">
                <a:solidFill>
                  <a:srgbClr val="1C252B"/>
                </a:solidFill>
                <a:latin typeface="Cambria"/>
              </a:rPr>
              <a:t>max</a:t>
            </a:r>
            <a:r>
              <a:rPr sz="2300" b="0" i="1" baseline="-25000">
                <a:solidFill>
                  <a:srgbClr val="1C252B"/>
                </a:solidFill>
                <a:latin typeface="Cambria"/>
              </a:rPr>
              <a:t>a</a:t>
            </a:r>
            <a:r>
              <a:rPr sz="2300" b="0" i="0" baseline="-25000">
                <a:solidFill>
                  <a:srgbClr val="1C252B"/>
                </a:solidFill>
                <a:latin typeface="Cambria"/>
              </a:rPr>
              <a:t>′</a:t>
            </a:r>
            <a:r>
              <a:rPr sz="2300" b="0" i="0">
                <a:solidFill>
                  <a:srgbClr val="1C252B"/>
                </a:solidFill>
                <a:latin typeface="Cambria"/>
              </a:rPr>
              <a:t>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 the value of the </a:t>
            </a:r>
            <a:r>
              <a:rPr sz="2300" b="0" i="1">
                <a:solidFill>
                  <a:srgbClr val="1C252B"/>
                </a:solidFill>
                <a:latin typeface="Segoe UI"/>
              </a:rPr>
              <a:t>best</a:t>
            </a:r>
            <a:r>
              <a:rPr sz="2300" b="0" i="0">
                <a:solidFill>
                  <a:srgbClr val="1C252B"/>
                </a:solidFill>
                <a:latin typeface="Segoe UI"/>
              </a:rPr>
              <a:t> next action, whether or not the agent will take it. It learns the value of the optimal policy while behaving exploratorily: </a:t>
            </a:r>
            <a:r>
              <a:rPr sz="2300" b="1" i="0">
                <a:solidFill>
                  <a:srgbClr val="1A5276"/>
                </a:solidFill>
                <a:latin typeface="Segoe UI"/>
              </a:rPr>
              <a:t>off-policy</a:t>
            </a:r>
            <a:r>
              <a:rPr sz="2300" b="0" i="0">
                <a:solidFill>
                  <a:srgbClr val="1C252B"/>
                </a:solidFill>
                <a:latin typeface="Segoe UI"/>
              </a:rPr>
              <a:t>. </a:t>
            </a:r>
            <a:r>
              <a:rPr sz="2300" b="1" i="0">
                <a:solidFill>
                  <a:srgbClr val="1C252B"/>
                </a:solidFill>
                <a:latin typeface="Segoe UI"/>
              </a:rPr>
              <a:t>SARSA</a:t>
            </a:r>
            <a:r>
              <a:rPr sz="2300" b="0" i="0">
                <a:solidFill>
                  <a:srgbClr val="1C252B"/>
                </a:solidFill>
                <a:latin typeface="Segoe UI"/>
              </a:rPr>
              <a:t> uses instead the action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the agent actually takes next,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 + α[</a:t>
            </a:r>
            <a:r>
              <a:rPr sz="2300" b="0" i="1">
                <a:solidFill>
                  <a:srgbClr val="1C252B"/>
                </a:solidFill>
                <a:latin typeface="Cambria"/>
              </a:rPr>
              <a:t>r</a:t>
            </a:r>
            <a:r>
              <a:rPr sz="2300" b="0" i="0">
                <a:solidFill>
                  <a:srgbClr val="1C252B"/>
                </a:solidFill>
                <a:latin typeface="Cambria"/>
              </a:rPr>
              <a:t> + γ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Q</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(the name lists the quintuple </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 </a:t>
            </a:r>
            <a:r>
              <a:rPr sz="2300" b="0" i="1">
                <a:solidFill>
                  <a:srgbClr val="1C252B"/>
                </a:solidFill>
                <a:latin typeface="Cambria"/>
              </a:rPr>
              <a:t>r</a:t>
            </a:r>
            <a:r>
              <a:rPr sz="2300" b="0" i="0">
                <a:solidFill>
                  <a:srgbClr val="1C252B"/>
                </a:solidFill>
                <a:latin typeface="Cambria"/>
              </a:rPr>
              <a:t>, </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It learns the value of the policy it follows, exploration included: </a:t>
            </a:r>
            <a:r>
              <a:rPr sz="2300" b="1" i="0">
                <a:solidFill>
                  <a:srgbClr val="1A5276"/>
                </a:solidFill>
                <a:latin typeface="Segoe UI"/>
              </a:rPr>
              <a:t>on-policy</a:t>
            </a:r>
            <a:r>
              <a:rPr sz="2300" b="0" i="0">
                <a:solidFill>
                  <a:srgbClr val="1C252B"/>
                </a:solidFill>
                <a:latin typeface="Segoe UI"/>
              </a:rPr>
              <a:t>. Where an exploratory step is disastrous — pushing an untested build to production, say — SARSA learns a safer policy than Q-learning, because it accounts for its own occasional random steps.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2376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Makes Real Reinforcement Learning Hard</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F15652CD-D8DE-49A7-BE68-F68804567811}"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78047"/>
          </a:xfrm>
          <a:prstGeom prst="roundRect">
            <a:avLst>
              <a:gd name="adj" fmla="val 270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78047"/>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801975"/>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A93226"/>
                </a:solidFill>
                <a:latin typeface="Segoe UI"/>
              </a:rPr>
              <a:t>•	</a:t>
            </a:r>
            <a:r>
              <a:rPr sz="2300" b="1" i="0">
                <a:solidFill>
                  <a:srgbClr val="A93226"/>
                </a:solidFill>
                <a:latin typeface="Segoe UI"/>
              </a:rPr>
              <a:t>Samples are expensive.</a:t>
            </a:r>
            <a:r>
              <a:rPr sz="2300" b="0" i="0">
                <a:solidFill>
                  <a:srgbClr val="1C252B"/>
                </a:solidFill>
                <a:latin typeface="Segoe UI"/>
              </a:rPr>
              <a:t> Q-learning needed 200,000 steps on a three-state problem; a real team runs perhaps twenty-five sprints a year. Most practical RL learns in a simulator first.</a:t>
            </a:r>
          </a:p>
          <a:p>
            <a:pPr algn="l" marL="257176" indent="-257176">
              <a:lnSpc>
                <a:spcPct val="104000"/>
              </a:lnSpc>
              <a:spcBef>
                <a:spcPts val="0"/>
              </a:spcBef>
              <a:spcAft>
                <a:spcPts val="804"/>
              </a:spcAft>
            </a:pPr>
            <a:r>
              <a:rPr sz="2300" b="1">
                <a:solidFill>
                  <a:srgbClr val="A93226"/>
                </a:solidFill>
                <a:latin typeface="Segoe UI"/>
              </a:rPr>
              <a:t>•	</a:t>
            </a:r>
            <a:r>
              <a:rPr sz="2300" b="1" i="0">
                <a:solidFill>
                  <a:srgbClr val="A93226"/>
                </a:solidFill>
                <a:latin typeface="Segoe UI"/>
              </a:rPr>
              <a:t>Exploration can be unsafe.</a:t>
            </a:r>
            <a:r>
              <a:rPr sz="2300" b="0" i="0">
                <a:solidFill>
                  <a:srgbClr val="1C252B"/>
                </a:solidFill>
                <a:latin typeface="Segoe UI"/>
              </a:rPr>
              <a:t> “Try a random action” is unacceptable for a production release or a client’s budget.</a:t>
            </a:r>
          </a:p>
          <a:p>
            <a:pPr algn="l" marL="257176" indent="-257176">
              <a:lnSpc>
                <a:spcPct val="104000"/>
              </a:lnSpc>
              <a:spcBef>
                <a:spcPts val="0"/>
              </a:spcBef>
              <a:spcAft>
                <a:spcPts val="0"/>
              </a:spcAft>
            </a:pPr>
            <a:r>
              <a:rPr sz="2300" b="1">
                <a:solidFill>
                  <a:srgbClr val="A93226"/>
                </a:solidFill>
                <a:latin typeface="Segoe UI"/>
              </a:rPr>
              <a:t>•	</a:t>
            </a:r>
            <a:r>
              <a:rPr sz="2300" b="1" i="0">
                <a:solidFill>
                  <a:srgbClr val="A93226"/>
                </a:solidFill>
                <a:latin typeface="Segoe UI"/>
              </a:rPr>
              <a:t>The reward is the specification.</a:t>
            </a:r>
            <a:r>
              <a:rPr sz="2300" b="0" i="0">
                <a:solidFill>
                  <a:srgbClr val="1C252B"/>
                </a:solidFill>
                <a:latin typeface="Segoe UI"/>
              </a:rPr>
              <a:t> An agent will exploit any gap between the reward and what was meant.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65211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1C241E40-DFA7-4734-AF23-ACFD1FECAC47}" type="slidenum">
              <a:rPr lang="en-GB" sz="1000">
                <a:solidFill>
                  <a:srgbClr val="8795A1"/>
                </a:solidFill>
                <a:latin typeface="Segoe UI"/>
              </a:rPr>
              <a:t>24</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Never exploring.</a:t>
            </a:r>
            <a:r>
              <a:rPr sz="2100" b="0" i="0">
                <a:solidFill>
                  <a:srgbClr val="1C252B"/>
                </a:solidFill>
                <a:latin typeface="Segoe UI"/>
              </a:rPr>
              <a:t> A greedy agent can lock onto a poor action for ever.</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Exploring for ever at a high rate.</a:t>
            </a:r>
            <a:r>
              <a:rPr sz="2100" b="0" i="0">
                <a:solidFill>
                  <a:srgbClr val="1C252B"/>
                </a:solidFill>
                <a:latin typeface="Segoe UI"/>
              </a:rPr>
              <a:t> Decay </a:t>
            </a:r>
            <a:r>
              <a:rPr sz="2100" b="0" i="0">
                <a:solidFill>
                  <a:srgbClr val="1C252B"/>
                </a:solidFill>
                <a:latin typeface="Cambria"/>
              </a:rPr>
              <a:t>ε</a:t>
            </a:r>
            <a:r>
              <a:rPr sz="2100" b="0" i="0">
                <a:solidFill>
                  <a:srgbClr val="1C252B"/>
                </a:solidFill>
                <a:latin typeface="Segoe UI"/>
              </a:rPr>
              <a:t> over time once estimates are reliable.</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Confusing Q-learning’s target with SARSA’s.</a:t>
            </a:r>
            <a:r>
              <a:rPr sz="2100" b="0" i="0">
                <a:solidFill>
                  <a:srgbClr val="1C252B"/>
                </a:solidFill>
                <a:latin typeface="Segoe UI"/>
              </a:rPr>
              <a:t> Max over next actions versus the next action actually taken.</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 learning rate that is too large.</a:t>
            </a:r>
            <a:r>
              <a:rPr sz="2100" b="0" i="0">
                <a:solidFill>
                  <a:srgbClr val="1C252B"/>
                </a:solidFill>
                <a:latin typeface="Segoe UI"/>
              </a:rPr>
              <a:t> Values oscillate; too small and learning takes for ever.</a:t>
            </a:r>
          </a:p>
        </p:txBody>
      </p:sp>
      <p:sp>
        <p:nvSpPr>
          <p:cNvPr id="19" name="!!pb4">
            <a:extLst>
              <a:ext uri="{C183D7F6-B498-43B3-948B-1728B52AA6E4}">
                <adec:decorative xmlns:adec="http://schemas.microsoft.com/office/drawing/2017/decorative" val="1"/>
              </a:ext>
            </a:extLst>
          </p:cNvPr>
          <p:cNvSpPr/>
          <p:nvPr/>
        </p:nvSpPr>
        <p:spPr>
          <a:xfrm>
            <a:off x="658368" y="46232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460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0491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Judging a policy by one run.</a:t>
            </a:r>
            <a:r>
              <a:rPr sz="2100" b="0" i="0">
                <a:solidFill>
                  <a:srgbClr val="1C252B"/>
                </a:solidFill>
                <a:latin typeface="Segoe UI"/>
              </a:rPr>
              <a:t> Rewards are random; average many episodes, as in the bandit figure.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8046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Monte Carlo, Bandits and Q-Learning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E0F66CB5-B232-4A64-B747-DE8D36341CDC}" type="slidenum">
              <a:rPr lang="en-GB" sz="1000">
                <a:solidFill>
                  <a:srgbClr val="8795A1"/>
                </a:solidFill>
                <a:latin typeface="Segoe UI"/>
              </a:rPr>
              <a:t>25</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Monte Carlo inference: estimate an expectation by averaging</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Exploration vs exploitation: a 10-armed bandit</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Q-learning on the technical-debt MDP, without being told P</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Week 15: Value and policy iteration; bandits and Q-learning</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65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code/ch20_monte_carlo_bandits_q.py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08819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Monte Carlo, Bandits and Q-Learning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6FA2A48C-B817-42D1-A903-AC849F648E34}"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Monte Carlo inference: estimate an expectation by averaging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code/ch20_monte_carlo_bandits_q.py</a:t>
            </a:r>
          </a:p>
        </p:txBody>
      </p:sp>
      <p:sp>
        <p:nvSpPr>
          <p:cNvPr id="14" name="!!code-text" descr="import numpy as np rng = np.random.default_rng(0) # --- 1. Monte Carlo inference: estimate an expectation by averaging ------ # the chance that a project stays healthy for 10 weeks (it slips with # probability 0.2 each week): exact answer 0.8 ** 10 = 0.107 for n in (100, 10_000, 1_000_000): runs = rng.random((n, 10)) &gt; 0.2 # True = stayed healthy print(f&quot;{n:9,d} simulated runs: P(healthy 10 weeks) ~ &quot; f&quot;{runs.all(axis=1).mean():.4f}&quot;)"/>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import</a:t>
            </a:r>
            <a:r>
              <a:rPr sz="1800" i="0">
                <a:solidFill>
                  <a:srgbClr val="E8EDF2"/>
                </a:solidFill>
                <a:latin typeface="Consolas"/>
              </a:rPr>
              <a:t> </a:t>
            </a:r>
            <a:r>
              <a:rPr sz="1800" i="0">
                <a:solidFill>
                  <a:srgbClr val="76D7C4"/>
                </a:solidFill>
                <a:latin typeface="Consolas"/>
              </a:rPr>
              <a:t>numpy</a:t>
            </a:r>
            <a:r>
              <a:rPr sz="1800" i="0">
                <a:solidFill>
                  <a:srgbClr val="E8EDF2"/>
                </a:solidFill>
                <a:latin typeface="Consolas"/>
              </a:rPr>
              <a:t> </a:t>
            </a:r>
            <a:r>
              <a:rPr sz="1800" i="0">
                <a:solidFill>
                  <a:srgbClr val="5DADE2"/>
                </a:solidFill>
                <a:latin typeface="Consolas"/>
              </a:rPr>
              <a:t>as</a:t>
            </a:r>
            <a:r>
              <a:rPr sz="1800" i="0">
                <a:solidFill>
                  <a:srgbClr val="E8EDF2"/>
                </a:solidFill>
                <a:latin typeface="Consolas"/>
              </a:rPr>
              <a:t> </a:t>
            </a:r>
            <a:r>
              <a:rPr sz="1800" i="0">
                <a:solidFill>
                  <a:srgbClr val="76D7C4"/>
                </a:solidFill>
                <a:latin typeface="Consolas"/>
              </a:rPr>
              <a:t>np</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rng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default_rng</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Monte Carlo inference: estimate an expectation by averaging ------</a:t>
            </a:r>
          </a:p>
          <a:p>
            <a:pPr>
              <a:lnSpc>
                <a:spcPct val="100000"/>
              </a:lnSpc>
              <a:spcAft>
                <a:spcPts val="0"/>
              </a:spcAft>
            </a:pPr>
            <a:r>
              <a:rPr sz="1800" i="1">
                <a:solidFill>
                  <a:srgbClr val="8795A1"/>
                </a:solidFill>
                <a:latin typeface="Consolas"/>
              </a:rPr>
              <a:t># the chance that a project stays healthy for 10 weeks (it slips with</a:t>
            </a:r>
          </a:p>
          <a:p>
            <a:pPr>
              <a:lnSpc>
                <a:spcPct val="100000"/>
              </a:lnSpc>
              <a:spcAft>
                <a:spcPts val="0"/>
              </a:spcAft>
            </a:pPr>
            <a:r>
              <a:rPr sz="1800" i="1">
                <a:solidFill>
                  <a:srgbClr val="8795A1"/>
                </a:solidFill>
                <a:latin typeface="Consolas"/>
              </a:rPr>
              <a:t># probability 0.2 each week): exact answer 0.8 ** 10 = 0.107</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10_000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1_000_000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runs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0.2</a:t>
            </a:r>
            <a:r>
              <a:rPr sz="1800" i="0">
                <a:solidFill>
                  <a:srgbClr val="E8EDF2"/>
                </a:solidFill>
                <a:latin typeface="Consolas"/>
              </a:rPr>
              <a:t>            </a:t>
            </a:r>
            <a:r>
              <a:rPr sz="1800" i="1">
                <a:solidFill>
                  <a:srgbClr val="8795A1"/>
                </a:solidFill>
                <a:latin typeface="Consolas"/>
              </a:rPr>
              <a:t># True = stayed healthy</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n</a:t>
            </a:r>
            <a:r>
              <a:rPr sz="1800" i="0">
                <a:solidFill>
                  <a:srgbClr val="7DCEA0"/>
                </a:solidFill>
                <a:latin typeface="Consolas"/>
              </a:rPr>
              <a:t>:</a:t>
            </a:r>
            <a:r>
              <a:rPr sz="1800" i="0">
                <a:solidFill>
                  <a:srgbClr val="7DCEA0"/>
                </a:solidFill>
                <a:latin typeface="Consolas"/>
              </a:rPr>
              <a:t>9,d</a:t>
            </a:r>
            <a:r>
              <a:rPr sz="1800" i="0">
                <a:solidFill>
                  <a:srgbClr val="7DCEA0"/>
                </a:solidFill>
                <a:latin typeface="Consolas"/>
              </a:rPr>
              <a:t>}</a:t>
            </a:r>
            <a:r>
              <a:rPr sz="1800" i="0">
                <a:solidFill>
                  <a:srgbClr val="7DCEA0"/>
                </a:solidFill>
                <a:latin typeface="Consolas"/>
              </a:rPr>
              <a:t> simulated runs: P(healthy 10 weeks) ~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runs</a:t>
            </a:r>
            <a:r>
              <a:rPr sz="1800" i="0">
                <a:solidFill>
                  <a:srgbClr val="AEB6BF"/>
                </a:solidFill>
                <a:latin typeface="Consolas"/>
              </a:rPr>
              <a:t>.</a:t>
            </a:r>
            <a:r>
              <a:rPr sz="1800" i="0">
                <a:solidFill>
                  <a:srgbClr val="E8EDF2"/>
                </a:solidFill>
                <a:latin typeface="Consolas"/>
              </a:rPr>
              <a:t>all</a:t>
            </a:r>
            <a:r>
              <a:rPr sz="1800" i="0">
                <a:solidFill>
                  <a:srgbClr val="AEB6BF"/>
                </a:solidFill>
                <a:latin typeface="Consolas"/>
              </a:rPr>
              <a:t>(</a:t>
            </a:r>
            <a:r>
              <a:rPr sz="1800" i="0">
                <a:solidFill>
                  <a:srgbClr val="E8EDF2"/>
                </a:solidFill>
                <a:latin typeface="Consolas"/>
              </a:rPr>
              <a:t>axis</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.4f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7172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Monte Carlo, Bandits and Q-Learning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1D454030-DEF6-4417-BA18-EE1C19B554C4}"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Exploration vs exploitation: a 10-armed bandit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code/ch20_monte_carlo_bandits_q.py</a:t>
            </a:r>
          </a:p>
        </p:txBody>
      </p:sp>
      <p:sp>
        <p:nvSpPr>
          <p:cNvPr id="14" name="!!code-text" descr="# --- 2. exploration vs exploitation: a 10-armed bandit ------------------- def bandit(strategy, steps=1000, arms=10, runs=300): total = np.zeros(steps) for _ in range(runs): true = rng.normal(0, 1, arms) # unknown mean payoffs Q, N = np.zeros(arms), np.zeros(arms) for t in range(1, steps + 1): if strategy == &quot;greedy&quot;: a = int(np.argmax(Q)) elif strategy == &quot;e-greedy&quot;: a = (int(rng.integers(arms)) if rng.random() &lt; 0.1 else int(np.argmax(Q))) else: # UCB, c = 2 ucb = Q + 2 * np.sqrt(np.log(t) / np.maximum(N, 1e-9)) a = int(np.argmax(np.where(N == 0, np.inf, ucb))) r = rng.normal(true[a], 1) N[a] += 1 Q[a] += (r - Q[a]) / N[a] # incremental average total[t - 1] += r return total / runs"/>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1">
                <a:solidFill>
                  <a:srgbClr val="8795A1"/>
                </a:solidFill>
                <a:latin typeface="Consolas"/>
              </a:rPr>
              <a:t># --- 2. exploration vs exploitation: a 10-armed bandit -------------------</a:t>
            </a:r>
          </a:p>
          <a:p>
            <a:pPr>
              <a:lnSpc>
                <a:spcPct val="100000"/>
              </a:lnSpc>
              <a:spcAft>
                <a:spcPts val="0"/>
              </a:spcAft>
            </a:pPr>
            <a:r>
              <a:rPr sz="1100" i="0">
                <a:solidFill>
                  <a:srgbClr val="5DADE2"/>
                </a:solidFill>
                <a:latin typeface="Consolas"/>
              </a:rPr>
              <a:t>def</a:t>
            </a:r>
            <a:r>
              <a:rPr sz="1100" i="0">
                <a:solidFill>
                  <a:srgbClr val="E8EDF2"/>
                </a:solidFill>
                <a:latin typeface="Consolas"/>
              </a:rPr>
              <a:t> </a:t>
            </a:r>
            <a:r>
              <a:rPr sz="1100" i="0">
                <a:solidFill>
                  <a:srgbClr val="C39BD3"/>
                </a:solidFill>
                <a:latin typeface="Consolas"/>
              </a:rPr>
              <a:t>bandit</a:t>
            </a:r>
            <a:r>
              <a:rPr sz="1100" i="0">
                <a:solidFill>
                  <a:srgbClr val="AEB6BF"/>
                </a:solidFill>
                <a:latin typeface="Consolas"/>
              </a:rPr>
              <a:t>(</a:t>
            </a:r>
            <a:r>
              <a:rPr sz="1100" i="0">
                <a:solidFill>
                  <a:srgbClr val="E8EDF2"/>
                </a:solidFill>
                <a:latin typeface="Consolas"/>
              </a:rPr>
              <a:t>strategy</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steps</a:t>
            </a:r>
            <a:r>
              <a:rPr sz="1100" i="0">
                <a:solidFill>
                  <a:srgbClr val="AEB6BF"/>
                </a:solidFill>
                <a:latin typeface="Consolas"/>
              </a:rPr>
              <a:t>=</a:t>
            </a:r>
            <a:r>
              <a:rPr sz="1100" i="0">
                <a:solidFill>
                  <a:srgbClr val="F7DC6F"/>
                </a:solidFill>
                <a:latin typeface="Consolas"/>
              </a:rPr>
              <a:t>1000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arms</a:t>
            </a:r>
            <a:r>
              <a:rPr sz="1100" i="0">
                <a:solidFill>
                  <a:srgbClr val="AEB6BF"/>
                </a:solidFill>
                <a:latin typeface="Consolas"/>
              </a:rPr>
              <a:t>=</a:t>
            </a:r>
            <a:r>
              <a:rPr sz="1100" i="0">
                <a:solidFill>
                  <a:srgbClr val="F7DC6F"/>
                </a:solidFill>
                <a:latin typeface="Consolas"/>
              </a:rPr>
              <a:t>10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runs</a:t>
            </a:r>
            <a:r>
              <a:rPr sz="1100" i="0">
                <a:solidFill>
                  <a:srgbClr val="AEB6BF"/>
                </a:solidFill>
                <a:latin typeface="Consolas"/>
              </a:rPr>
              <a:t>=</a:t>
            </a:r>
            <a:r>
              <a:rPr sz="1100" i="0">
                <a:solidFill>
                  <a:srgbClr val="F7DC6F"/>
                </a:solidFill>
                <a:latin typeface="Consolas"/>
              </a:rPr>
              <a:t>300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total</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zeros</a:t>
            </a:r>
            <a:r>
              <a:rPr sz="1100" i="0">
                <a:solidFill>
                  <a:srgbClr val="AEB6BF"/>
                </a:solidFill>
                <a:latin typeface="Consolas"/>
              </a:rPr>
              <a:t>(</a:t>
            </a:r>
            <a:r>
              <a:rPr sz="1100" i="0">
                <a:solidFill>
                  <a:srgbClr val="E8EDF2"/>
                </a:solidFill>
                <a:latin typeface="Consolas"/>
              </a:rPr>
              <a:t>steps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_</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C39BD3"/>
                </a:solidFill>
                <a:latin typeface="Consolas"/>
              </a:rPr>
              <a:t>range</a:t>
            </a:r>
            <a:r>
              <a:rPr sz="1100" i="0">
                <a:solidFill>
                  <a:srgbClr val="AEB6BF"/>
                </a:solidFill>
                <a:latin typeface="Consolas"/>
              </a:rPr>
              <a:t>(</a:t>
            </a:r>
            <a:r>
              <a:rPr sz="1100" i="0">
                <a:solidFill>
                  <a:srgbClr val="E8EDF2"/>
                </a:solidFill>
                <a:latin typeface="Consolas"/>
              </a:rPr>
              <a:t>runs</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true</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rng</a:t>
            </a:r>
            <a:r>
              <a:rPr sz="1100" i="0">
                <a:solidFill>
                  <a:srgbClr val="AEB6BF"/>
                </a:solidFill>
                <a:latin typeface="Consolas"/>
              </a:rPr>
              <a:t>.</a:t>
            </a:r>
            <a:r>
              <a:rPr sz="1100" i="0">
                <a:solidFill>
                  <a:srgbClr val="E8EDF2"/>
                </a:solidFill>
                <a:latin typeface="Consolas"/>
              </a:rPr>
              <a:t>normal</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arms</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unknown mean payoffs</a:t>
            </a:r>
          </a:p>
          <a:p>
            <a:pPr>
              <a:lnSpc>
                <a:spcPct val="100000"/>
              </a:lnSpc>
              <a:spcAft>
                <a:spcPts val="0"/>
              </a:spcAft>
            </a:pPr>
            <a:r>
              <a:rPr sz="1100" i="0">
                <a:solidFill>
                  <a:srgbClr val="E8EDF2"/>
                </a:solidFill>
                <a:latin typeface="Consolas"/>
              </a:rPr>
              <a:t>        </a:t>
            </a:r>
            <a:r>
              <a:rPr sz="1100" i="0">
                <a:solidFill>
                  <a:srgbClr val="E8EDF2"/>
                </a:solidFill>
                <a:latin typeface="Consolas"/>
              </a:rPr>
              <a:t>Q</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zeros</a:t>
            </a:r>
            <a:r>
              <a:rPr sz="1100" i="0">
                <a:solidFill>
                  <a:srgbClr val="AEB6BF"/>
                </a:solidFill>
                <a:latin typeface="Consolas"/>
              </a:rPr>
              <a:t>(</a:t>
            </a:r>
            <a:r>
              <a:rPr sz="1100" i="0">
                <a:solidFill>
                  <a:srgbClr val="E8EDF2"/>
                </a:solidFill>
                <a:latin typeface="Consolas"/>
              </a:rPr>
              <a:t>arms</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zeros</a:t>
            </a:r>
            <a:r>
              <a:rPr sz="1100" i="0">
                <a:solidFill>
                  <a:srgbClr val="AEB6BF"/>
                </a:solidFill>
                <a:latin typeface="Consolas"/>
              </a:rPr>
              <a:t>(</a:t>
            </a:r>
            <a:r>
              <a:rPr sz="1100" i="0">
                <a:solidFill>
                  <a:srgbClr val="E8EDF2"/>
                </a:solidFill>
                <a:latin typeface="Consolas"/>
              </a:rPr>
              <a:t>arms</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t</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C39BD3"/>
                </a:solidFill>
                <a:latin typeface="Consolas"/>
              </a:rPr>
              <a:t>range</a:t>
            </a:r>
            <a:r>
              <a:rPr sz="1100" i="0">
                <a:solidFill>
                  <a:srgbClr val="AEB6BF"/>
                </a:solidFill>
                <a:latin typeface="Consolas"/>
              </a:rPr>
              <a:t>(</a:t>
            </a:r>
            <a:r>
              <a:rPr sz="1100" i="0">
                <a:solidFill>
                  <a:srgbClr val="F7DC6F"/>
                </a:solidFill>
                <a:latin typeface="Consolas"/>
              </a:rPr>
              <a:t>1</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steps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strategy</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greedy</a:t>
            </a:r>
            <a:r>
              <a:rPr sz="1100" i="0">
                <a:solidFill>
                  <a:srgbClr val="7DCEA0"/>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a</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int</a:t>
            </a:r>
            <a:r>
              <a:rPr sz="1100" i="0">
                <a:solidFill>
                  <a:srgbClr val="AEB6BF"/>
                </a:solidFill>
                <a:latin typeface="Consolas"/>
              </a:rPr>
              <a:t>(</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argmax</a:t>
            </a:r>
            <a:r>
              <a:rPr sz="1100" i="0">
                <a:solidFill>
                  <a:srgbClr val="AEB6BF"/>
                </a:solidFill>
                <a:latin typeface="Consolas"/>
              </a:rPr>
              <a:t>(</a:t>
            </a:r>
            <a:r>
              <a:rPr sz="1100" i="0">
                <a:solidFill>
                  <a:srgbClr val="E8EDF2"/>
                </a:solidFill>
                <a:latin typeface="Consolas"/>
              </a:rPr>
              <a:t>Q</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elif</a:t>
            </a:r>
            <a:r>
              <a:rPr sz="1100" i="0">
                <a:solidFill>
                  <a:srgbClr val="E8EDF2"/>
                </a:solidFill>
                <a:latin typeface="Consolas"/>
              </a:rPr>
              <a:t> </a:t>
            </a:r>
            <a:r>
              <a:rPr sz="1100" i="0">
                <a:solidFill>
                  <a:srgbClr val="E8EDF2"/>
                </a:solidFill>
                <a:latin typeface="Consolas"/>
              </a:rPr>
              <a:t>strategy</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e-greedy</a:t>
            </a:r>
            <a:r>
              <a:rPr sz="1100" i="0">
                <a:solidFill>
                  <a:srgbClr val="7DCEA0"/>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a</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C39BD3"/>
                </a:solidFill>
                <a:latin typeface="Consolas"/>
              </a:rPr>
              <a:t>int</a:t>
            </a:r>
            <a:r>
              <a:rPr sz="1100" i="0">
                <a:solidFill>
                  <a:srgbClr val="AEB6BF"/>
                </a:solidFill>
                <a:latin typeface="Consolas"/>
              </a:rPr>
              <a:t>(</a:t>
            </a:r>
            <a:r>
              <a:rPr sz="1100" i="0">
                <a:solidFill>
                  <a:srgbClr val="E8EDF2"/>
                </a:solidFill>
                <a:latin typeface="Consolas"/>
              </a:rPr>
              <a:t>rng</a:t>
            </a:r>
            <a:r>
              <a:rPr sz="1100" i="0">
                <a:solidFill>
                  <a:srgbClr val="AEB6BF"/>
                </a:solidFill>
                <a:latin typeface="Consolas"/>
              </a:rPr>
              <a:t>.</a:t>
            </a:r>
            <a:r>
              <a:rPr sz="1100" i="0">
                <a:solidFill>
                  <a:srgbClr val="E8EDF2"/>
                </a:solidFill>
                <a:latin typeface="Consolas"/>
              </a:rPr>
              <a:t>integers</a:t>
            </a:r>
            <a:r>
              <a:rPr sz="1100" i="0">
                <a:solidFill>
                  <a:srgbClr val="AEB6BF"/>
                </a:solidFill>
                <a:latin typeface="Consolas"/>
              </a:rPr>
              <a:t>(</a:t>
            </a:r>
            <a:r>
              <a:rPr sz="1100" i="0">
                <a:solidFill>
                  <a:srgbClr val="E8EDF2"/>
                </a:solidFill>
                <a:latin typeface="Consolas"/>
              </a:rPr>
              <a:t>arms</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rng</a:t>
            </a:r>
            <a:r>
              <a:rPr sz="1100" i="0">
                <a:solidFill>
                  <a:srgbClr val="AEB6BF"/>
                </a:solidFill>
                <a:latin typeface="Consolas"/>
              </a:rPr>
              <a:t>.</a:t>
            </a:r>
            <a:r>
              <a:rPr sz="1100" i="0">
                <a:solidFill>
                  <a:srgbClr val="E8EDF2"/>
                </a:solidFill>
                <a:latin typeface="Consolas"/>
              </a:rPr>
              <a:t>random</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&lt;</a:t>
            </a:r>
            <a:r>
              <a:rPr sz="1100" i="0">
                <a:solidFill>
                  <a:srgbClr val="E8EDF2"/>
                </a:solidFill>
                <a:latin typeface="Consolas"/>
              </a:rPr>
              <a:t> </a:t>
            </a:r>
            <a:r>
              <a:rPr sz="1100" i="0">
                <a:solidFill>
                  <a:srgbClr val="F7DC6F"/>
                </a:solidFill>
                <a:latin typeface="Consolas"/>
              </a:rPr>
              <a:t>0.1</a:t>
            </a:r>
          </a:p>
          <a:p>
            <a:pPr>
              <a:lnSpc>
                <a:spcPct val="100000"/>
              </a:lnSpc>
              <a:spcAft>
                <a:spcPts val="0"/>
              </a:spcAft>
            </a:pPr>
            <a:r>
              <a:rPr sz="1100" i="0">
                <a:solidFill>
                  <a:srgbClr val="E8EDF2"/>
                </a:solidFill>
                <a:latin typeface="Consolas"/>
              </a:rPr>
              <a:t>                     </a:t>
            </a:r>
            <a:r>
              <a:rPr sz="1100" i="0">
                <a:solidFill>
                  <a:srgbClr val="5DADE2"/>
                </a:solidFill>
                <a:latin typeface="Consolas"/>
              </a:rPr>
              <a:t>else</a:t>
            </a:r>
            <a:r>
              <a:rPr sz="1100" i="0">
                <a:solidFill>
                  <a:srgbClr val="E8EDF2"/>
                </a:solidFill>
                <a:latin typeface="Consolas"/>
              </a:rPr>
              <a:t> </a:t>
            </a:r>
            <a:r>
              <a:rPr sz="1100" i="0">
                <a:solidFill>
                  <a:srgbClr val="C39BD3"/>
                </a:solidFill>
                <a:latin typeface="Consolas"/>
              </a:rPr>
              <a:t>int</a:t>
            </a:r>
            <a:r>
              <a:rPr sz="1100" i="0">
                <a:solidFill>
                  <a:srgbClr val="AEB6BF"/>
                </a:solidFill>
                <a:latin typeface="Consolas"/>
              </a:rPr>
              <a:t>(</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argmax</a:t>
            </a:r>
            <a:r>
              <a:rPr sz="1100" i="0">
                <a:solidFill>
                  <a:srgbClr val="AEB6BF"/>
                </a:solidFill>
                <a:latin typeface="Consolas"/>
              </a:rPr>
              <a:t>(</a:t>
            </a:r>
            <a:r>
              <a:rPr sz="1100" i="0">
                <a:solidFill>
                  <a:srgbClr val="E8EDF2"/>
                </a:solidFill>
                <a:latin typeface="Consolas"/>
              </a:rPr>
              <a:t>Q</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else</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UCB, c = 2</a:t>
            </a:r>
          </a:p>
          <a:p>
            <a:pPr>
              <a:lnSpc>
                <a:spcPct val="100000"/>
              </a:lnSpc>
              <a:spcAft>
                <a:spcPts val="0"/>
              </a:spcAft>
            </a:pPr>
            <a:r>
              <a:rPr sz="1100" i="0">
                <a:solidFill>
                  <a:srgbClr val="E8EDF2"/>
                </a:solidFill>
                <a:latin typeface="Consolas"/>
              </a:rPr>
              <a:t>                </a:t>
            </a:r>
            <a:r>
              <a:rPr sz="1100" i="0">
                <a:solidFill>
                  <a:srgbClr val="E8EDF2"/>
                </a:solidFill>
                <a:latin typeface="Consolas"/>
              </a:rPr>
              <a:t>ucb</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Q</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2</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sqrt</a:t>
            </a:r>
            <a:r>
              <a:rPr sz="1100" i="0">
                <a:solidFill>
                  <a:srgbClr val="AEB6BF"/>
                </a:solidFill>
                <a:latin typeface="Consolas"/>
              </a:rPr>
              <a:t>(</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log</a:t>
            </a:r>
            <a:r>
              <a:rPr sz="1100" i="0">
                <a:solidFill>
                  <a:srgbClr val="AEB6BF"/>
                </a:solidFill>
                <a:latin typeface="Consolas"/>
              </a:rPr>
              <a:t>(</a:t>
            </a:r>
            <a:r>
              <a:rPr sz="1100" i="0">
                <a:solidFill>
                  <a:srgbClr val="E8EDF2"/>
                </a:solidFill>
                <a:latin typeface="Consolas"/>
              </a:rPr>
              <a:t>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maximum</a:t>
            </a:r>
            <a:r>
              <a:rPr sz="1100" i="0">
                <a:solidFill>
                  <a:srgbClr val="AEB6BF"/>
                </a:solidFill>
                <a:latin typeface="Consolas"/>
              </a:rPr>
              <a:t>(</a:t>
            </a:r>
            <a:r>
              <a:rPr sz="1100" i="0">
                <a:solidFill>
                  <a:srgbClr val="E8EDF2"/>
                </a:solidFill>
                <a:latin typeface="Consolas"/>
              </a:rPr>
              <a:t>N</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1e-9</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a</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C39BD3"/>
                </a:solidFill>
                <a:latin typeface="Consolas"/>
              </a:rPr>
              <a:t>int</a:t>
            </a:r>
            <a:r>
              <a:rPr sz="1100" i="0">
                <a:solidFill>
                  <a:srgbClr val="AEB6BF"/>
                </a:solidFill>
                <a:latin typeface="Consolas"/>
              </a:rPr>
              <a:t>(</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argmax</a:t>
            </a:r>
            <a:r>
              <a:rPr sz="1100" i="0">
                <a:solidFill>
                  <a:srgbClr val="AEB6BF"/>
                </a:solidFill>
                <a:latin typeface="Consolas"/>
              </a:rPr>
              <a:t>(</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where</a:t>
            </a:r>
            <a:r>
              <a:rPr sz="1100" i="0">
                <a:solidFill>
                  <a:srgbClr val="AEB6BF"/>
                </a:solidFill>
                <a:latin typeface="Consolas"/>
              </a:rPr>
              <a:t>(</a:t>
            </a:r>
            <a:r>
              <a:rPr sz="1100" i="0">
                <a:solidFill>
                  <a:srgbClr val="E8EDF2"/>
                </a:solidFill>
                <a:latin typeface="Consolas"/>
              </a:rPr>
              <a:t>N</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np</a:t>
            </a:r>
            <a:r>
              <a:rPr sz="1100" i="0">
                <a:solidFill>
                  <a:srgbClr val="AEB6BF"/>
                </a:solidFill>
                <a:latin typeface="Consolas"/>
              </a:rPr>
              <a:t>.</a:t>
            </a:r>
            <a:r>
              <a:rPr sz="1100" i="0">
                <a:solidFill>
                  <a:srgbClr val="E8EDF2"/>
                </a:solidFill>
                <a:latin typeface="Consolas"/>
              </a:rPr>
              <a:t>inf</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ucb</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rng</a:t>
            </a:r>
            <a:r>
              <a:rPr sz="1100" i="0">
                <a:solidFill>
                  <a:srgbClr val="AEB6BF"/>
                </a:solidFill>
                <a:latin typeface="Consolas"/>
              </a:rPr>
              <a:t>.</a:t>
            </a:r>
            <a:r>
              <a:rPr sz="1100" i="0">
                <a:solidFill>
                  <a:srgbClr val="E8EDF2"/>
                </a:solidFill>
                <a:latin typeface="Consolas"/>
              </a:rPr>
              <a:t>normal</a:t>
            </a:r>
            <a:r>
              <a:rPr sz="1100" i="0">
                <a:solidFill>
                  <a:srgbClr val="AEB6BF"/>
                </a:solidFill>
                <a:latin typeface="Consolas"/>
              </a:rPr>
              <a:t>(</a:t>
            </a:r>
            <a:r>
              <a:rPr sz="1100" i="0">
                <a:solidFill>
                  <a:srgbClr val="E8EDF2"/>
                </a:solidFill>
                <a:latin typeface="Consolas"/>
              </a:rPr>
              <a:t>true</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N</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p>
          <a:p>
            <a:pPr>
              <a:lnSpc>
                <a:spcPct val="100000"/>
              </a:lnSpc>
              <a:spcAft>
                <a:spcPts val="0"/>
              </a:spcAft>
            </a:pPr>
            <a:r>
              <a:rPr sz="1100" i="0">
                <a:solidFill>
                  <a:srgbClr val="E8EDF2"/>
                </a:solidFill>
                <a:latin typeface="Consolas"/>
              </a:rPr>
              <a:t>            </a:t>
            </a:r>
            <a:r>
              <a:rPr sz="1100" i="0">
                <a:solidFill>
                  <a:srgbClr val="E8EDF2"/>
                </a:solidFill>
                <a:latin typeface="Consolas"/>
              </a:rPr>
              <a:t>Q</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r</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Q</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a:t>
            </a:r>
            <a:r>
              <a:rPr sz="1100" i="0">
                <a:solidFill>
                  <a:srgbClr val="AEB6BF"/>
                </a:solidFill>
                <a:latin typeface="Consolas"/>
              </a:rPr>
              <a:t>[</a:t>
            </a:r>
            <a:r>
              <a:rPr sz="1100" i="0">
                <a:solidFill>
                  <a:srgbClr val="E8EDF2"/>
                </a:solidFill>
                <a:latin typeface="Consolas"/>
              </a:rPr>
              <a:t>a</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incremental average</a:t>
            </a:r>
          </a:p>
          <a:p>
            <a:pPr>
              <a:lnSpc>
                <a:spcPct val="100000"/>
              </a:lnSpc>
              <a:spcAft>
                <a:spcPts val="0"/>
              </a:spcAft>
            </a:pPr>
            <a:r>
              <a:rPr sz="1100" i="0">
                <a:solidFill>
                  <a:srgbClr val="E8EDF2"/>
                </a:solidFill>
                <a:latin typeface="Consolas"/>
              </a:rPr>
              <a:t>            </a:t>
            </a:r>
            <a:r>
              <a:rPr sz="1100" i="0">
                <a:solidFill>
                  <a:srgbClr val="E8EDF2"/>
                </a:solidFill>
                <a:latin typeface="Consolas"/>
              </a:rPr>
              <a:t>total</a:t>
            </a:r>
            <a:r>
              <a:rPr sz="1100" i="0">
                <a:solidFill>
                  <a:srgbClr val="AEB6BF"/>
                </a:solidFill>
                <a:latin typeface="Consolas"/>
              </a:rPr>
              <a:t>[</a:t>
            </a:r>
            <a:r>
              <a:rPr sz="1100" i="0">
                <a:solidFill>
                  <a:srgbClr val="E8EDF2"/>
                </a:solidFill>
                <a:latin typeface="Consolas"/>
              </a:rPr>
              <a:t>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F7DC6F"/>
                </a:solidFill>
                <a:latin typeface="Consolas"/>
              </a:rPr>
              <a:t>1</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a:t>
            </a:r>
          </a:p>
          <a:p>
            <a:pPr>
              <a:lnSpc>
                <a:spcPct val="100000"/>
              </a:lnSpc>
              <a:spcAft>
                <a:spcPts val="0"/>
              </a:spcAft>
            </a:pP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E8EDF2"/>
                </a:solidFill>
                <a:latin typeface="Consolas"/>
              </a:rPr>
              <a:t>total</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runs</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15</a:t>
            </a:r>
          </a:p>
          <a:p>
            <a:pPr algn="r">
              <a:lnSpc>
                <a:spcPct val="100000"/>
              </a:lnSpc>
            </a:pPr>
            <a:r>
              <a:rPr sz="1100">
                <a:solidFill>
                  <a:srgbClr val="4F5D6A"/>
                </a:solidFill>
                <a:latin typeface="Consolas"/>
              </a:rPr>
              <a:t>16</a:t>
            </a:r>
          </a:p>
          <a:p>
            <a:pPr algn="r">
              <a:lnSpc>
                <a:spcPct val="100000"/>
              </a:lnSpc>
            </a:pPr>
            <a:r>
              <a:rPr sz="1100">
                <a:solidFill>
                  <a:srgbClr val="4F5D6A"/>
                </a:solidFill>
                <a:latin typeface="Consolas"/>
              </a:rPr>
              <a:t>17</a:t>
            </a:r>
          </a:p>
          <a:p>
            <a:pPr algn="r">
              <a:lnSpc>
                <a:spcPct val="100000"/>
              </a:lnSpc>
            </a:pPr>
            <a:r>
              <a:rPr sz="1100">
                <a:solidFill>
                  <a:srgbClr val="4F5D6A"/>
                </a:solidFill>
                <a:latin typeface="Consolas"/>
              </a:rPr>
              <a:t>18</a:t>
            </a:r>
          </a:p>
          <a:p>
            <a:pPr algn="r">
              <a:lnSpc>
                <a:spcPct val="100000"/>
              </a:lnSpc>
            </a:pPr>
            <a:r>
              <a:rPr sz="1100">
                <a:solidFill>
                  <a:srgbClr val="4F5D6A"/>
                </a:solidFill>
                <a:latin typeface="Consolas"/>
              </a:rPr>
              <a:t>19</a:t>
            </a:r>
          </a:p>
          <a:p>
            <a:pPr algn="r">
              <a:lnSpc>
                <a:spcPct val="100000"/>
              </a:lnSpc>
            </a:pPr>
            <a:r>
              <a:rPr sz="1100">
                <a:solidFill>
                  <a:srgbClr val="4F5D6A"/>
                </a:solidFill>
                <a:latin typeface="Consolas"/>
              </a:rPr>
              <a:t>20</a:t>
            </a:r>
          </a:p>
          <a:p>
            <a:pPr algn="r">
              <a:lnSpc>
                <a:spcPct val="100000"/>
              </a:lnSpc>
            </a:pPr>
            <a:r>
              <a:rPr sz="1100">
                <a:solidFill>
                  <a:srgbClr val="4F5D6A"/>
                </a:solidFill>
                <a:latin typeface="Consolas"/>
              </a:rPr>
              <a:t>21</a:t>
            </a:r>
          </a:p>
          <a:p>
            <a:pPr algn="r">
              <a:lnSpc>
                <a:spcPct val="100000"/>
              </a:lnSpc>
            </a:pPr>
            <a:r>
              <a:rPr sz="1100">
                <a:solidFill>
                  <a:srgbClr val="4F5D6A"/>
                </a:solidFill>
                <a:latin typeface="Consolas"/>
              </a:rPr>
              <a:t>22</a:t>
            </a:r>
          </a:p>
          <a:p>
            <a:pPr algn="r">
              <a:lnSpc>
                <a:spcPct val="100000"/>
              </a:lnSpc>
            </a:pPr>
            <a:r>
              <a:rPr sz="1100">
                <a:solidFill>
                  <a:srgbClr val="4F5D6A"/>
                </a:solidFill>
                <a:latin typeface="Consolas"/>
              </a:rPr>
              <a:t>23</a:t>
            </a:r>
          </a:p>
          <a:p>
            <a:pPr algn="r">
              <a:lnSpc>
                <a:spcPct val="100000"/>
              </a:lnSpc>
            </a:pPr>
            <a:r>
              <a:rPr sz="1100">
                <a:solidFill>
                  <a:srgbClr val="4F5D6A"/>
                </a:solidFill>
                <a:latin typeface="Consolas"/>
              </a:rPr>
              <a:t>24</a:t>
            </a:r>
          </a:p>
          <a:p>
            <a:pPr algn="r">
              <a:lnSpc>
                <a:spcPct val="100000"/>
              </a:lnSpc>
            </a:pPr>
            <a:r>
              <a:rPr sz="1100">
                <a:solidFill>
                  <a:srgbClr val="4F5D6A"/>
                </a:solidFill>
                <a:latin typeface="Consolas"/>
              </a:rPr>
              <a:t>25</a:t>
            </a:r>
          </a:p>
          <a:p>
            <a:pPr algn="r">
              <a:lnSpc>
                <a:spcPct val="100000"/>
              </a:lnSpc>
            </a:pPr>
            <a:r>
              <a:rPr sz="1100">
                <a:solidFill>
                  <a:srgbClr val="4F5D6A"/>
                </a:solidFill>
                <a:latin typeface="Consolas"/>
              </a:rPr>
              <a:t>26</a:t>
            </a:r>
          </a:p>
          <a:p>
            <a:pPr algn="r">
              <a:lnSpc>
                <a:spcPct val="100000"/>
              </a:lnSpc>
            </a:pPr>
            <a:r>
              <a:rPr sz="1100">
                <a:solidFill>
                  <a:srgbClr val="4F5D6A"/>
                </a:solidFill>
                <a:latin typeface="Consolas"/>
              </a:rPr>
              <a:t>27</a:t>
            </a:r>
          </a:p>
          <a:p>
            <a:pPr algn="r">
              <a:lnSpc>
                <a:spcPct val="100000"/>
              </a:lnSpc>
            </a:pPr>
            <a:r>
              <a:rPr sz="1100">
                <a:solidFill>
                  <a:srgbClr val="4F5D6A"/>
                </a:solidFill>
                <a:latin typeface="Consolas"/>
              </a:rPr>
              <a:t>28</a:t>
            </a:r>
          </a:p>
          <a:p>
            <a:pPr algn="r">
              <a:lnSpc>
                <a:spcPct val="100000"/>
              </a:lnSpc>
            </a:pPr>
            <a:r>
              <a:rPr sz="1100">
                <a:solidFill>
                  <a:srgbClr val="4F5D6A"/>
                </a:solidFill>
                <a:latin typeface="Consolas"/>
              </a:rPr>
              <a:t>29</a:t>
            </a:r>
          </a:p>
          <a:p>
            <a:pPr algn="r">
              <a:lnSpc>
                <a:spcPct val="100000"/>
              </a:lnSpc>
            </a:pPr>
            <a:r>
              <a:rPr sz="1100">
                <a:solidFill>
                  <a:srgbClr val="4F5D6A"/>
                </a:solidFill>
                <a:latin typeface="Consolas"/>
              </a:rPr>
              <a:t>30</a:t>
            </a:r>
          </a:p>
          <a:p>
            <a:pPr algn="r">
              <a:lnSpc>
                <a:spcPct val="100000"/>
              </a:lnSpc>
            </a:pPr>
            <a:r>
              <a:rPr sz="1100">
                <a:solidFill>
                  <a:srgbClr val="4F5D6A"/>
                </a:solidFill>
                <a:latin typeface="Consolas"/>
              </a:rPr>
              <a:t>31</a:t>
            </a:r>
          </a:p>
          <a:p>
            <a:pPr algn="r">
              <a:lnSpc>
                <a:spcPct val="100000"/>
              </a:lnSpc>
            </a:pPr>
            <a:r>
              <a:rPr sz="1100">
                <a:solidFill>
                  <a:srgbClr val="4F5D6A"/>
                </a:solidFill>
                <a:latin typeface="Consolas"/>
              </a:rPr>
              <a:t>32</a:t>
            </a:r>
          </a:p>
          <a:p>
            <a:pPr algn="r">
              <a:lnSpc>
                <a:spcPct val="100000"/>
              </a:lnSpc>
            </a:pPr>
            <a:r>
              <a:rPr sz="1100">
                <a:solidFill>
                  <a:srgbClr val="4F5D6A"/>
                </a:solidFill>
                <a:latin typeface="Consolas"/>
              </a:rPr>
              <a:t>33</a:t>
            </a:r>
          </a:p>
          <a:p>
            <a:pPr algn="r">
              <a:lnSpc>
                <a:spcPct val="100000"/>
              </a:lnSpc>
            </a:pPr>
            <a:r>
              <a:rPr sz="1100">
                <a:solidFill>
                  <a:srgbClr val="4F5D6A"/>
                </a:solidFill>
                <a:latin typeface="Consolas"/>
              </a:rPr>
              <a:t>34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5525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Monte Carlo, Bandits and Q-Learning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699C491C-0FBB-44AA-9071-B56166BE8518}"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Exploration vs exploitation: a 10-armed bandit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code/ch20_monte_carlo_bandits_q.py</a:t>
            </a:r>
          </a:p>
        </p:txBody>
      </p:sp>
      <p:sp>
        <p:nvSpPr>
          <p:cNvPr id="14" name="!!code-text" descr="for s in (&quot;greedy&quot;, &quot;e-greedy&quot;, &quot;ucb&quot;): avg = bandit(s) print(f&quot;{s:8s}: mean reward, steps 1-100 {avg[:100].mean():.2f}; &quot; f&quot;steps 901-1000 {avg[900:].mean():.2f}&quot;)"/>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greedy</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e-greedy</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ucb</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avg</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bandit</a:t>
            </a:r>
            <a:r>
              <a:rPr sz="1900" i="0">
                <a:solidFill>
                  <a:srgbClr val="AEB6BF"/>
                </a:solidFill>
                <a:latin typeface="Consolas"/>
              </a:rPr>
              <a:t>(</a:t>
            </a:r>
            <a:r>
              <a:rPr sz="1900" i="0">
                <a:solidFill>
                  <a:srgbClr val="E8EDF2"/>
                </a:solidFill>
                <a:latin typeface="Consolas"/>
              </a:rPr>
              <a:t>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f</a:t>
            </a:r>
            <a:r>
              <a:rPr sz="1900" i="0">
                <a:solidFill>
                  <a:srgbClr val="7DCEA0"/>
                </a:solidFill>
                <a:latin typeface="Consolas"/>
              </a:rPr>
              <a:t>"</a:t>
            </a:r>
            <a:r>
              <a:rPr sz="1900" i="0">
                <a:solidFill>
                  <a:srgbClr val="7DCEA0"/>
                </a:solidFill>
                <a:latin typeface="Consolas"/>
              </a:rPr>
              <a:t>{</a:t>
            </a:r>
            <a:r>
              <a:rPr sz="1900" i="0">
                <a:solidFill>
                  <a:srgbClr val="E8EDF2"/>
                </a:solidFill>
                <a:latin typeface="Consolas"/>
              </a:rPr>
              <a:t>s</a:t>
            </a:r>
            <a:r>
              <a:rPr sz="1900" i="0">
                <a:solidFill>
                  <a:srgbClr val="7DCEA0"/>
                </a:solidFill>
                <a:latin typeface="Consolas"/>
              </a:rPr>
              <a:t>:</a:t>
            </a:r>
            <a:r>
              <a:rPr sz="1900" i="0">
                <a:solidFill>
                  <a:srgbClr val="7DCEA0"/>
                </a:solidFill>
                <a:latin typeface="Consolas"/>
              </a:rPr>
              <a:t>8s</a:t>
            </a:r>
            <a:r>
              <a:rPr sz="1900" i="0">
                <a:solidFill>
                  <a:srgbClr val="7DCEA0"/>
                </a:solidFill>
                <a:latin typeface="Consolas"/>
              </a:rPr>
              <a:t>}</a:t>
            </a:r>
            <a:r>
              <a:rPr sz="1900" i="0">
                <a:solidFill>
                  <a:srgbClr val="7DCEA0"/>
                </a:solidFill>
                <a:latin typeface="Consolas"/>
              </a:rPr>
              <a:t>: mean reward, steps 1-100 </a:t>
            </a:r>
            <a:r>
              <a:rPr sz="1900" i="0">
                <a:solidFill>
                  <a:srgbClr val="7DCEA0"/>
                </a:solidFill>
                <a:latin typeface="Consolas"/>
              </a:rPr>
              <a:t>{</a:t>
            </a:r>
            <a:r>
              <a:rPr sz="1900" i="0">
                <a:solidFill>
                  <a:srgbClr val="E8EDF2"/>
                </a:solidFill>
                <a:latin typeface="Consolas"/>
              </a:rPr>
              <a:t>avg</a:t>
            </a:r>
            <a:r>
              <a:rPr sz="1900" i="0">
                <a:solidFill>
                  <a:srgbClr val="AEB6BF"/>
                </a:solidFill>
                <a:latin typeface="Consolas"/>
              </a:rPr>
              <a:t>[</a:t>
            </a:r>
            <a:r>
              <a:rPr sz="1900" i="0">
                <a:solidFill>
                  <a:srgbClr val="AEB6BF"/>
                </a:solidFill>
                <a:latin typeface="Consolas"/>
              </a:rPr>
              <a:t>:</a:t>
            </a:r>
            <a:r>
              <a:rPr sz="1900" i="0">
                <a:solidFill>
                  <a:srgbClr val="F7DC6F"/>
                </a:solidFill>
                <a:latin typeface="Consolas"/>
              </a:rPr>
              <a:t>100</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mean</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.2f</a:t>
            </a:r>
            <a:r>
              <a:rPr sz="1900" i="0">
                <a:solidFill>
                  <a:srgbClr val="7DCEA0"/>
                </a:solidFill>
                <a:latin typeface="Consolas"/>
              </a:rPr>
              <a:t>}</a:t>
            </a:r>
            <a:r>
              <a:rPr sz="1900" i="0">
                <a:solidFill>
                  <a:srgbClr val="7DCEA0"/>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f</a:t>
            </a:r>
            <a:r>
              <a:rPr sz="1900" i="0">
                <a:solidFill>
                  <a:srgbClr val="7DCEA0"/>
                </a:solidFill>
                <a:latin typeface="Consolas"/>
              </a:rPr>
              <a:t>"</a:t>
            </a:r>
            <a:r>
              <a:rPr sz="1900" i="0">
                <a:solidFill>
                  <a:srgbClr val="7DCEA0"/>
                </a:solidFill>
                <a:latin typeface="Consolas"/>
              </a:rPr>
              <a:t>steps 901-1000 </a:t>
            </a:r>
            <a:r>
              <a:rPr sz="1900" i="0">
                <a:solidFill>
                  <a:srgbClr val="7DCEA0"/>
                </a:solidFill>
                <a:latin typeface="Consolas"/>
              </a:rPr>
              <a:t>{</a:t>
            </a:r>
            <a:r>
              <a:rPr sz="1900" i="0">
                <a:solidFill>
                  <a:srgbClr val="E8EDF2"/>
                </a:solidFill>
                <a:latin typeface="Consolas"/>
              </a:rPr>
              <a:t>avg</a:t>
            </a:r>
            <a:r>
              <a:rPr sz="1900" i="0">
                <a:solidFill>
                  <a:srgbClr val="AEB6BF"/>
                </a:solidFill>
                <a:latin typeface="Consolas"/>
              </a:rPr>
              <a:t>[</a:t>
            </a:r>
            <a:r>
              <a:rPr sz="1900" i="0">
                <a:solidFill>
                  <a:srgbClr val="F7DC6F"/>
                </a:solidFill>
                <a:latin typeface="Consolas"/>
              </a:rPr>
              <a:t>900</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mean</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.2f</a:t>
            </a:r>
            <a:r>
              <a:rPr sz="1900" i="0">
                <a:solidFill>
                  <a:srgbClr val="7DCEA0"/>
                </a:solidFill>
                <a:latin typeface="Consolas"/>
              </a:rPr>
              <a:t>}</a:t>
            </a:r>
            <a:r>
              <a:rPr sz="1900" i="0">
                <a:solidFill>
                  <a:srgbClr val="7DCEA0"/>
                </a:solidFill>
                <a:latin typeface="Consolas"/>
              </a:rPr>
              <a:t>"</a:t>
            </a:r>
            <a:r>
              <a:rPr sz="1900" i="0">
                <a:solidFill>
                  <a:srgbClr val="AEB6BF"/>
                </a:solidFill>
                <a:latin typeface="Consolas"/>
              </a:rPr>
              <a:t>)</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3877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Monte Carlo, Bandits and Q-Learning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B8922632-D2F7-4413-9AC9-B529AAC80219}"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Q-learning on the technical-debt MDP, without being told 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code/ch20_monte_carlo_bandits_q.py</a:t>
            </a:r>
          </a:p>
        </p:txBody>
      </p:sp>
      <p:sp>
        <p:nvSpPr>
          <p:cNvPr id="14" name="!!code-text" descr="# --- 3. Q-learning on the technical-debt MDP, without being told P ------- P = {(&quot;H&quot;, &quot;ship&quot;): ([0.8, 0.2, 0.0], 10), (&quot;D&quot;, &quot;ship&quot;): ([0.0, 0.5, 0.5], 5), (&quot;F&quot;, &quot;ship&quot;): ([0.0, 0.0, 1.0], 0), (&quot;H&quot;, &quot;refactor&quot;): ([1, 0, 0], -2), (&quot;D&quot;, &quot;refactor&quot;): ([1, 0, 0], -4), (&quot;F&quot;, &quot;refactor&quot;): ([1, 0, 0], -15)} S, A = [&quot;H&quot;, &quot;D&quot;, &quot;F&quot;], [&quot;ship&quot;, &quot;refactor&quot;] def env_step(s, a): # the agent only sees samples probs, reward = P[(S[s], A[a])] return int(rng.choice(3, p=probs)), reward"/>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Q-learning on the technical-debt MDP, without being told P -------</a:t>
            </a:r>
          </a:p>
          <a:p>
            <a:pPr>
              <a:lnSpc>
                <a:spcPct val="100000"/>
              </a:lnSpc>
              <a:spcAft>
                <a:spcPts val="0"/>
              </a:spcAft>
            </a:pP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H</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ship</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0.8</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ship</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ship</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H</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refactor</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refactor</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refactor</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H</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ship</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refactor</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a:latin typeface="Consolas"/>
              </a:rPr>
              <a:t> </a:t>
            </a:r>
          </a:p>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env_step</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the agent only sees samples</a:t>
            </a:r>
          </a:p>
          <a:p>
            <a:pPr>
              <a:lnSpc>
                <a:spcPct val="100000"/>
              </a:lnSpc>
              <a:spcAft>
                <a:spcPts val="0"/>
              </a:spcAft>
            </a:pPr>
            <a:r>
              <a:rPr sz="1800" i="0">
                <a:solidFill>
                  <a:srgbClr val="E8EDF2"/>
                </a:solidFill>
                <a:latin typeface="Consolas"/>
              </a:rPr>
              <a:t>    </a:t>
            </a:r>
            <a:r>
              <a:rPr sz="1800" i="0">
                <a:solidFill>
                  <a:srgbClr val="E8EDF2"/>
                </a:solidFill>
                <a:latin typeface="Consolas"/>
              </a:rPr>
              <a:t>probs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reward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C39BD3"/>
                </a:solidFill>
                <a:latin typeface="Consolas"/>
              </a:rPr>
              <a:t>int</a:t>
            </a:r>
            <a:r>
              <a:rPr sz="1800" i="0">
                <a:solidFill>
                  <a:srgbClr val="AEB6BF"/>
                </a:solidFill>
                <a:latin typeface="Consolas"/>
              </a:rPr>
              <a:t>(</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choice</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AEB6BF"/>
                </a:solidFill>
                <a:latin typeface="Consolas"/>
              </a:rPr>
              <a:t>=</a:t>
            </a:r>
            <a:r>
              <a:rPr sz="1800" i="0">
                <a:solidFill>
                  <a:srgbClr val="E8EDF2"/>
                </a:solidFill>
                <a:latin typeface="Consolas"/>
              </a:rPr>
              <a:t>probs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reward</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230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Monte Carlo, Bandits and Q-Learning</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89E228B0-D522-4477-89C4-1394B6315A85}"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Q-learning on the technical-debt MDP, without being told 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code/ch20_monte_carlo_bandits_q.py</a:t>
            </a:r>
          </a:p>
        </p:txBody>
      </p:sp>
      <p:sp>
        <p:nvSpPr>
          <p:cNvPr id="14" name="!!code-text" descr="Q = np.zeros((3, 2)) alpha, gamma, eps = 0.1, 0.9, 0.1 s = 0 for t in range(200_000): a = int(rng.integers(2)) if rng.random() &lt; eps else int(Q[s].argmax()) s2, r = env_step(s, a) Q[s, a] += alpha * (r + gamma * Q[s2].max() - Q[s, a]) # Q-learning s = s2 print(&quot;learned Q (rows H, D, F; columns ship, refactor):&quot;) print(Q.round(1)) print(&quot;learned policy:&quot;, dict(zip(S, [A[a] for a in Q.argmax(axis=1)])))"/>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0">
                <a:solidFill>
                  <a:srgbClr val="E8EDF2"/>
                </a:solidFill>
                <a:latin typeface="Consolas"/>
              </a:rPr>
              <a:t>Q</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zeros</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alpha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gamma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eps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0.9</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0.1</a:t>
            </a:r>
          </a:p>
          <a:p>
            <a:pPr>
              <a:lnSpc>
                <a:spcPct val="100000"/>
              </a:lnSpc>
              <a:spcAft>
                <a:spcPts val="0"/>
              </a:spcAft>
            </a:pP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200_000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int</a:t>
            </a:r>
            <a:r>
              <a:rPr sz="1800" i="0">
                <a:solidFill>
                  <a:srgbClr val="AEB6BF"/>
                </a:solidFill>
                <a:latin typeface="Consolas"/>
              </a:rPr>
              <a:t>(</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integers</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eps</a:t>
            </a:r>
            <a:r>
              <a:rPr sz="1800" i="0">
                <a:solidFill>
                  <a:srgbClr val="E8EDF2"/>
                </a:solidFill>
                <a:latin typeface="Consolas"/>
              </a:rPr>
              <a:t> </a:t>
            </a:r>
            <a:r>
              <a:rPr sz="1800" i="0">
                <a:solidFill>
                  <a:srgbClr val="5DADE2"/>
                </a:solidFill>
                <a:latin typeface="Consolas"/>
              </a:rPr>
              <a:t>else</a:t>
            </a:r>
            <a:r>
              <a:rPr sz="1800" i="0">
                <a:solidFill>
                  <a:srgbClr val="E8EDF2"/>
                </a:solidFill>
                <a:latin typeface="Consolas"/>
              </a:rPr>
              <a:t> </a:t>
            </a:r>
            <a:r>
              <a:rPr sz="1800" i="0">
                <a:solidFill>
                  <a:srgbClr val="C39BD3"/>
                </a:solidFill>
                <a:latin typeface="Consolas"/>
              </a:rPr>
              <a:t>int</a:t>
            </a:r>
            <a:r>
              <a:rPr sz="1800" i="0">
                <a:solidFill>
                  <a:srgbClr val="AEB6BF"/>
                </a:solidFill>
                <a:latin typeface="Consolas"/>
              </a:rPr>
              <a:t>(</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argmax</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s2</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env_step</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gamma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s2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max</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Q-learning</a:t>
            </a:r>
          </a:p>
          <a:p>
            <a:pPr>
              <a:lnSpc>
                <a:spcPct val="100000"/>
              </a:lnSpc>
              <a:spcAft>
                <a:spcPts val="0"/>
              </a:spcAft>
            </a:pP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s2</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learned Q (rows H, D, F; columns ship, refactor):</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learned policy: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dict</a:t>
            </a:r>
            <a:r>
              <a:rPr sz="1800" i="0">
                <a:solidFill>
                  <a:srgbClr val="AEB6BF"/>
                </a:solidFill>
                <a:latin typeface="Consolas"/>
              </a:rPr>
              <a:t>(</a:t>
            </a:r>
            <a:r>
              <a:rPr sz="1800" i="0">
                <a:solidFill>
                  <a:srgbClr val="C39BD3"/>
                </a:solidFill>
                <a:latin typeface="Consolas"/>
              </a:rPr>
              <a:t>zip</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argmax</a:t>
            </a:r>
            <a:r>
              <a:rPr sz="1800" i="0">
                <a:solidFill>
                  <a:srgbClr val="AEB6BF"/>
                </a:solidFill>
                <a:latin typeface="Consolas"/>
              </a:rPr>
              <a:t>(</a:t>
            </a:r>
            <a:r>
              <a:rPr sz="1800" i="0">
                <a:solidFill>
                  <a:srgbClr val="E8EDF2"/>
                </a:solidFill>
                <a:latin typeface="Consolas"/>
              </a:rPr>
              <a:t>axis</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a:p>
            <a:pPr algn="r">
              <a:lnSpc>
                <a:spcPct val="100000"/>
              </a:lnSpc>
            </a:pPr>
            <a:r>
              <a:rPr sz="1800">
                <a:solidFill>
                  <a:srgbClr val="4F5D6A"/>
                </a:solidFill>
                <a:latin typeface="Consolas"/>
              </a:rPr>
              <a:t>63</a:t>
            </a:r>
          </a:p>
          <a:p>
            <a:pPr algn="r">
              <a:lnSpc>
                <a:spcPct val="100000"/>
              </a:lnSpc>
            </a:pPr>
            <a:r>
              <a:rPr sz="1800">
                <a:solidFill>
                  <a:srgbClr val="4F5D6A"/>
                </a:solidFill>
                <a:latin typeface="Consolas"/>
              </a:rPr>
              <a:t>64</a:t>
            </a:r>
          </a:p>
          <a:p>
            <a:pPr algn="r">
              <a:lnSpc>
                <a:spcPct val="100000"/>
              </a:lnSpc>
            </a:pPr>
            <a:r>
              <a:rPr sz="1800">
                <a:solidFill>
                  <a:srgbClr val="4F5D6A"/>
                </a:solidFill>
                <a:latin typeface="Consolas"/>
              </a:rPr>
              <a:t>65</a:t>
            </a:r>
          </a:p>
          <a:p>
            <a:pPr algn="r">
              <a:lnSpc>
                <a:spcPct val="100000"/>
              </a:lnSpc>
            </a:pPr>
            <a:r>
              <a:rPr sz="1800">
                <a:solidFill>
                  <a:srgbClr val="4F5D6A"/>
                </a:solidFill>
                <a:latin typeface="Consolas"/>
              </a:rPr>
              <a:t>66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058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§20.6  ·  Handout p. 151     </a:t>
            </a:r>
            <a:fld id="{8AC5460C-332C-436B-BF17-BB4B20131A41}"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learned Q-values approach the true </a:t>
            </a:r>
            <a:r>
              <a:rPr sz="2300" b="0" i="1">
                <a:solidFill>
                  <a:srgbClr val="1C252B"/>
                </a:solidFill>
                <a:latin typeface="Cambria"/>
              </a:rPr>
              <a:t>Q</a:t>
            </a:r>
            <a:r>
              <a:rPr sz="2300" b="0" i="0" baseline="30000">
                <a:solidFill>
                  <a:srgbClr val="1C252B"/>
                </a:solidFill>
                <a:latin typeface="Cambria"/>
              </a:rPr>
              <a:t>∗</a:t>
            </a:r>
            <a:r>
              <a:rPr sz="2300" b="0" i="0">
                <a:solidFill>
                  <a:srgbClr val="1C252B"/>
                </a:solidFill>
                <a:latin typeface="Segoe UI"/>
              </a:rPr>
              <a:t> (for H: ship 78.6, refactor 68.8) but do not reach them exactly, because </a:t>
            </a:r>
            <a:r>
              <a:rPr sz="2300" b="0" i="0">
                <a:solidFill>
                  <a:srgbClr val="1C252B"/>
                </a:solidFill>
                <a:latin typeface="Cambria"/>
              </a:rPr>
              <a:t>α</a:t>
            </a:r>
            <a:r>
              <a:rPr sz="2300" b="0" i="0">
                <a:solidFill>
                  <a:srgbClr val="1C252B"/>
                </a:solidFill>
                <a:latin typeface="Segoe UI"/>
              </a:rPr>
              <a:t> stays at 0.1 and the agent keeps exploring. Try </a:t>
            </a:r>
            <a:r>
              <a:rPr sz="2300" b="0" i="0">
                <a:solidFill>
                  <a:srgbClr val="1C252B"/>
                </a:solidFill>
                <a:latin typeface="Cambria"/>
              </a:rPr>
              <a:t>ε = 0</a:t>
            </a:r>
            <a:r>
              <a:rPr sz="2300" b="0" i="0">
                <a:solidFill>
                  <a:srgbClr val="1C252B"/>
                </a:solidFill>
                <a:latin typeface="Segoe UI"/>
              </a:rPr>
              <a:t>: does Q-learning still discover that refactoring pays?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893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Returns of 10, 4 and 7 followed three visits to a state. What is the Monte Carlo estimate of its value, and what does it become after a fourth return of 3?</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20  ·  Reinforcement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155  ·  answers in Appendix D     </a:t>
            </a:r>
            <a:fld id="{957C1EF0-3755-4DC3-9762-66B5D3864F31}"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Returns of 10, 4 and 7 followed three visits to a state. What is the Monte Carlo estimate of its value, and what does it become after a fourth return of 3?</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(10 + 4 + 7)/3 = 7</a:t>
            </a:r>
            <a:r>
              <a:rPr sz="2200" b="0" i="0">
                <a:solidFill>
                  <a:srgbClr val="1C252B"/>
                </a:solidFill>
                <a:latin typeface="Segoe UI"/>
              </a:rPr>
              <a:t>; after a return of 3, </a:t>
            </a:r>
            <a:r>
              <a:rPr sz="2200" b="0" i="0">
                <a:solidFill>
                  <a:srgbClr val="1C252B"/>
                </a:solidFill>
                <a:latin typeface="Cambria"/>
              </a:rPr>
              <a:t>7 + (3 − 7)/4 = 6</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  answers in Appendix D     </a:t>
            </a:r>
            <a:fld id="{7F3E4F42-90AB-4D0D-BE7B-A513871648C3}"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35641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a purely greedy bandit strategy perform badly for ever?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20  ·  Reinforcement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155  ·  answers in Appendix D     </a:t>
            </a:r>
            <a:fld id="{EC7EBDDB-B2FE-4E7E-A79B-29B89F08D3E7}"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can a purely greedy bandit strategy perform badly for ever?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 arm that happened to pay badly the first time is never tried again, so its low estimate is never corrected; greedy selection can lock onto a worse arm for ever.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  answers in Appendix D     </a:t>
            </a:r>
            <a:fld id="{659DFFF8-CAB5-43CB-8516-4D723EBD1BF0}"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2347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1">
                <a:solidFill>
                  <a:srgbClr val="FFFFFF"/>
                </a:solidFill>
                <a:latin typeface="Cambria"/>
              </a:rPr>
              <a:t>Q</a:t>
            </a:r>
            <a:r>
              <a:rPr sz="3400" b="0" i="0">
                <a:solidFill>
                  <a:srgbClr val="FFFFFF"/>
                </a:solidFill>
                <a:latin typeface="Cambria"/>
              </a:rPr>
              <a:t>(</a:t>
            </a:r>
            <a:r>
              <a:rPr sz="3400" b="0" i="1">
                <a:solidFill>
                  <a:srgbClr val="FFFFFF"/>
                </a:solidFill>
                <a:latin typeface="Cambria"/>
              </a:rPr>
              <a:t>s</a:t>
            </a:r>
            <a:r>
              <a:rPr sz="3400" b="0" i="0">
                <a:solidFill>
                  <a:srgbClr val="FFFFFF"/>
                </a:solidFill>
                <a:latin typeface="Cambria"/>
              </a:rPr>
              <a:t>, </a:t>
            </a:r>
            <a:r>
              <a:rPr sz="3400" b="0" i="1">
                <a:solidFill>
                  <a:srgbClr val="FFFFFF"/>
                </a:solidFill>
                <a:latin typeface="Cambria"/>
              </a:rPr>
              <a:t>a</a:t>
            </a:r>
            <a:r>
              <a:rPr sz="3400" b="0" i="0">
                <a:solidFill>
                  <a:srgbClr val="FFFFFF"/>
                </a:solidFill>
                <a:latin typeface="Cambria"/>
              </a:rPr>
              <a:t>) = 4</a:t>
            </a:r>
            <a:r>
              <a:rPr sz="3400" b="0" i="0">
                <a:solidFill>
                  <a:srgbClr val="FFFFFF"/>
                </a:solidFill>
                <a:latin typeface="Segoe UI Semibold"/>
              </a:rPr>
              <a:t>; the agent receives </a:t>
            </a:r>
            <a:r>
              <a:rPr sz="3400" b="0" i="1">
                <a:solidFill>
                  <a:srgbClr val="FFFFFF"/>
                </a:solidFill>
                <a:latin typeface="Cambria"/>
              </a:rPr>
              <a:t>r</a:t>
            </a:r>
            <a:r>
              <a:rPr sz="3400" b="0" i="0">
                <a:solidFill>
                  <a:srgbClr val="FFFFFF"/>
                </a:solidFill>
                <a:latin typeface="Cambria"/>
              </a:rPr>
              <a:t> = 1</a:t>
            </a:r>
            <a:r>
              <a:rPr sz="3400" b="0" i="0">
                <a:solidFill>
                  <a:srgbClr val="FFFFFF"/>
                </a:solidFill>
                <a:latin typeface="Segoe UI Semibold"/>
              </a:rPr>
              <a:t> and lands in </a:t>
            </a:r>
            <a:r>
              <a:rPr sz="3400" b="0" i="1">
                <a:solidFill>
                  <a:srgbClr val="FFFFFF"/>
                </a:solidFill>
                <a:latin typeface="Cambria"/>
              </a:rPr>
              <a:t>s</a:t>
            </a:r>
            <a:r>
              <a:rPr sz="3400" b="0" i="0">
                <a:solidFill>
                  <a:srgbClr val="FFFFFF"/>
                </a:solidFill>
                <a:latin typeface="Cambria"/>
              </a:rPr>
              <a:t>′</a:t>
            </a:r>
            <a:r>
              <a:rPr sz="3400" b="0" i="0">
                <a:solidFill>
                  <a:srgbClr val="FFFFFF"/>
                </a:solidFill>
                <a:latin typeface="Segoe UI Semibold"/>
              </a:rPr>
              <a:t> where the best action value is 6. With </a:t>
            </a:r>
            <a:r>
              <a:rPr sz="3400" b="0" i="0">
                <a:solidFill>
                  <a:srgbClr val="FFFFFF"/>
                </a:solidFill>
                <a:latin typeface="Cambria"/>
              </a:rPr>
              <a:t>α = 0.5</a:t>
            </a:r>
            <a:r>
              <a:rPr sz="3400" b="0" i="0">
                <a:solidFill>
                  <a:srgbClr val="FFFFFF"/>
                </a:solidFill>
                <a:latin typeface="Segoe UI Semibold"/>
              </a:rPr>
              <a:t> and </a:t>
            </a:r>
            <a:r>
              <a:rPr sz="3400" b="0" i="0">
                <a:solidFill>
                  <a:srgbClr val="FFFFFF"/>
                </a:solidFill>
                <a:latin typeface="Cambria"/>
              </a:rPr>
              <a:t>γ = 0.9</a:t>
            </a:r>
            <a:r>
              <a:rPr sz="3400" b="0" i="0">
                <a:solidFill>
                  <a:srgbClr val="FFFFFF"/>
                </a:solidFill>
                <a:latin typeface="Segoe UI Semibold"/>
              </a:rPr>
              <a:t>, what is the new </a:t>
            </a:r>
            <a:r>
              <a:rPr sz="3400" b="0" i="1">
                <a:solidFill>
                  <a:srgbClr val="FFFFFF"/>
                </a:solidFill>
                <a:latin typeface="Cambria"/>
              </a:rPr>
              <a:t>Q</a:t>
            </a:r>
            <a:r>
              <a:rPr sz="3400" b="0" i="0">
                <a:solidFill>
                  <a:srgbClr val="FFFFFF"/>
                </a:solidFill>
                <a:latin typeface="Cambria"/>
              </a:rPr>
              <a:t>(</a:t>
            </a:r>
            <a:r>
              <a:rPr sz="3400" b="0" i="1">
                <a:solidFill>
                  <a:srgbClr val="FFFFFF"/>
                </a:solidFill>
                <a:latin typeface="Cambria"/>
              </a:rPr>
              <a:t>s</a:t>
            </a:r>
            <a:r>
              <a:rPr sz="3400" b="0" i="0">
                <a:solidFill>
                  <a:srgbClr val="FFFFFF"/>
                </a:solidFill>
                <a:latin typeface="Cambria"/>
              </a:rPr>
              <a:t>, </a:t>
            </a:r>
            <a:r>
              <a:rPr sz="3400" b="0" i="1">
                <a:solidFill>
                  <a:srgbClr val="FFFFFF"/>
                </a:solidFill>
                <a:latin typeface="Cambria"/>
              </a:rPr>
              <a:t>a</a:t>
            </a:r>
            <a:r>
              <a:rPr sz="3400" b="0" i="0">
                <a:solidFill>
                  <a:srgbClr val="FFFFFF"/>
                </a:solidFill>
                <a:latin typeface="Cambria"/>
              </a:rPr>
              <a:t>)</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20  ·  Reinforcement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155  ·  answers in Appendix D     </a:t>
            </a:r>
            <a:fld id="{A9E24C8F-EB66-4413-8A59-F938BBE8A8F4}"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1">
                <a:solidFill>
                  <a:srgbClr val="1A5276"/>
                </a:solidFill>
                <a:latin typeface="Cambria"/>
              </a:rPr>
              <a:t>Q</a:t>
            </a:r>
            <a:r>
              <a:rPr sz="2400" b="0" i="0">
                <a:solidFill>
                  <a:srgbClr val="1A5276"/>
                </a:solidFill>
                <a:latin typeface="Cambria"/>
              </a:rPr>
              <a:t>(</a:t>
            </a:r>
            <a:r>
              <a:rPr sz="2400" b="0" i="1">
                <a:solidFill>
                  <a:srgbClr val="1A5276"/>
                </a:solidFill>
                <a:latin typeface="Cambria"/>
              </a:rPr>
              <a:t>s</a:t>
            </a:r>
            <a:r>
              <a:rPr sz="2400" b="0" i="0">
                <a:solidFill>
                  <a:srgbClr val="1A5276"/>
                </a:solidFill>
                <a:latin typeface="Cambria"/>
              </a:rPr>
              <a:t>, </a:t>
            </a:r>
            <a:r>
              <a:rPr sz="2400" b="0" i="1">
                <a:solidFill>
                  <a:srgbClr val="1A5276"/>
                </a:solidFill>
                <a:latin typeface="Cambria"/>
              </a:rPr>
              <a:t>a</a:t>
            </a:r>
            <a:r>
              <a:rPr sz="2400" b="0" i="0">
                <a:solidFill>
                  <a:srgbClr val="1A5276"/>
                </a:solidFill>
                <a:latin typeface="Cambria"/>
              </a:rPr>
              <a:t>) = 4</a:t>
            </a:r>
            <a:r>
              <a:rPr sz="2400" b="0" i="0">
                <a:solidFill>
                  <a:srgbClr val="1A5276"/>
                </a:solidFill>
                <a:latin typeface="Segoe UI Semibold"/>
              </a:rPr>
              <a:t>; the agent receives </a:t>
            </a:r>
            <a:r>
              <a:rPr sz="2400" b="0" i="1">
                <a:solidFill>
                  <a:srgbClr val="1A5276"/>
                </a:solidFill>
                <a:latin typeface="Cambria"/>
              </a:rPr>
              <a:t>r</a:t>
            </a:r>
            <a:r>
              <a:rPr sz="2400" b="0" i="0">
                <a:solidFill>
                  <a:srgbClr val="1A5276"/>
                </a:solidFill>
                <a:latin typeface="Cambria"/>
              </a:rPr>
              <a:t> = 1</a:t>
            </a:r>
            <a:r>
              <a:rPr sz="2400" b="0" i="0">
                <a:solidFill>
                  <a:srgbClr val="1A5276"/>
                </a:solidFill>
                <a:latin typeface="Segoe UI Semibold"/>
              </a:rPr>
              <a:t> and lands in </a:t>
            </a:r>
            <a:r>
              <a:rPr sz="2400" b="0" i="1">
                <a:solidFill>
                  <a:srgbClr val="1A5276"/>
                </a:solidFill>
                <a:latin typeface="Cambria"/>
              </a:rPr>
              <a:t>s</a:t>
            </a:r>
            <a:r>
              <a:rPr sz="2400" b="0" i="0">
                <a:solidFill>
                  <a:srgbClr val="1A5276"/>
                </a:solidFill>
                <a:latin typeface="Cambria"/>
              </a:rPr>
              <a:t>′</a:t>
            </a:r>
            <a:r>
              <a:rPr sz="2400" b="0" i="0">
                <a:solidFill>
                  <a:srgbClr val="1A5276"/>
                </a:solidFill>
                <a:latin typeface="Segoe UI Semibold"/>
              </a:rPr>
              <a:t> where the best action value is 6. With </a:t>
            </a:r>
            <a:r>
              <a:rPr sz="2400" b="0" i="0">
                <a:solidFill>
                  <a:srgbClr val="1A5276"/>
                </a:solidFill>
                <a:latin typeface="Cambria"/>
              </a:rPr>
              <a:t>α = 0.5</a:t>
            </a:r>
            <a:r>
              <a:rPr sz="2400" b="0" i="0">
                <a:solidFill>
                  <a:srgbClr val="1A5276"/>
                </a:solidFill>
                <a:latin typeface="Segoe UI Semibold"/>
              </a:rPr>
              <a:t> and </a:t>
            </a:r>
            <a:r>
              <a:rPr sz="2400" b="0" i="0">
                <a:solidFill>
                  <a:srgbClr val="1A5276"/>
                </a:solidFill>
                <a:latin typeface="Cambria"/>
              </a:rPr>
              <a:t>γ = 0.9</a:t>
            </a:r>
            <a:r>
              <a:rPr sz="2400" b="0" i="0">
                <a:solidFill>
                  <a:srgbClr val="1A5276"/>
                </a:solidFill>
                <a:latin typeface="Segoe UI Semibold"/>
              </a:rPr>
              <a:t>, what is the new </a:t>
            </a:r>
            <a:r>
              <a:rPr sz="2400" b="0" i="1">
                <a:solidFill>
                  <a:srgbClr val="1A5276"/>
                </a:solidFill>
                <a:latin typeface="Cambria"/>
              </a:rPr>
              <a:t>Q</a:t>
            </a:r>
            <a:r>
              <a:rPr sz="2400" b="0" i="0">
                <a:solidFill>
                  <a:srgbClr val="1A5276"/>
                </a:solidFill>
                <a:latin typeface="Cambria"/>
              </a:rPr>
              <a:t>(</a:t>
            </a:r>
            <a:r>
              <a:rPr sz="2400" b="0" i="1">
                <a:solidFill>
                  <a:srgbClr val="1A5276"/>
                </a:solidFill>
                <a:latin typeface="Cambria"/>
              </a:rPr>
              <a:t>s</a:t>
            </a:r>
            <a:r>
              <a:rPr sz="2400" b="0" i="0">
                <a:solidFill>
                  <a:srgbClr val="1A5276"/>
                </a:solidFill>
                <a:latin typeface="Cambria"/>
              </a:rPr>
              <a:t>, </a:t>
            </a:r>
            <a:r>
              <a:rPr sz="2400" b="0" i="1">
                <a:solidFill>
                  <a:srgbClr val="1A5276"/>
                </a:solidFill>
                <a:latin typeface="Cambria"/>
              </a:rPr>
              <a:t>a</a:t>
            </a:r>
            <a:r>
              <a:rPr sz="2400" b="0" i="0">
                <a:solidFill>
                  <a:srgbClr val="1A5276"/>
                </a:solidFill>
                <a:latin typeface="Cambria"/>
              </a:rPr>
              <a:t>)</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Q</a:t>
            </a:r>
            <a:r>
              <a:rPr sz="2200" b="0" i="0">
                <a:solidFill>
                  <a:srgbClr val="1C252B"/>
                </a:solidFill>
                <a:latin typeface="Cambria"/>
              </a:rPr>
              <a:t> ← 4 + 0.5 (1 + 0.9 × 6 − 4) = 4 + 0.5 × 2.4 = 5.2</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  answers in Appendix D     </a:t>
            </a:r>
            <a:fld id="{1E7CE2A4-61D6-4746-8C6F-2CDAAFCFDDBD}"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9052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9AEAFC6A-05FA-498E-B1D5-D20EC0437ADA}" type="slidenum">
              <a:rPr lang="en-GB" sz="1000">
                <a:solidFill>
                  <a:srgbClr val="8795A1"/>
                </a:solidFill>
                <a:latin typeface="Segoe UI"/>
              </a:rPr>
              <a:t>38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Reinforcement learning finds good policies from experience, without a model of the environment and without labels.</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Monte Carlo methods average the returns observed after visiting a state; they are unbiased but wait for episodes to end.</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Exploration versus exploitation: greedy action selection can lock in a poor choice; </a:t>
            </a:r>
            <a:r>
              <a:rPr sz="1900" b="0" i="0">
                <a:solidFill>
                  <a:srgbClr val="1C252B"/>
                </a:solidFill>
                <a:latin typeface="Cambria"/>
              </a:rPr>
              <a:t>ε</a:t>
            </a:r>
            <a:r>
              <a:rPr sz="1900" b="0" i="0">
                <a:solidFill>
                  <a:srgbClr val="1C252B"/>
                </a:solidFill>
                <a:latin typeface="Segoe UI"/>
              </a:rPr>
              <a:t>-greedy explores at a fixed rate; UCB explores where estimates are most uncertain.</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TD learning updates after every step towards </a:t>
            </a:r>
            <a:r>
              <a:rPr sz="1900" b="0" i="1">
                <a:solidFill>
                  <a:srgbClr val="1C252B"/>
                </a:solidFill>
                <a:latin typeface="Cambria"/>
              </a:rPr>
              <a:t>r</a:t>
            </a:r>
            <a:r>
              <a:rPr sz="1900" b="0" i="0">
                <a:solidFill>
                  <a:srgbClr val="1C252B"/>
                </a:solidFill>
                <a:latin typeface="Cambria"/>
              </a:rPr>
              <a:t> + γ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s</a:t>
            </a:r>
            <a:r>
              <a:rPr sz="1900" b="0" i="0">
                <a:solidFill>
                  <a:srgbClr val="1C252B"/>
                </a:solidFill>
                <a:latin typeface="Cambria"/>
              </a:rPr>
              <a:t>′)</a:t>
            </a:r>
            <a:r>
              <a:rPr sz="1900" b="0" i="0">
                <a:solidFill>
                  <a:srgbClr val="1C252B"/>
                </a:solidFill>
                <a:latin typeface="Segoe UI"/>
              </a:rPr>
              <a:t>, bootstrapping from its own estimates.</a:t>
            </a:r>
          </a:p>
        </p:txBody>
      </p:sp>
      <p:sp>
        <p:nvSpPr>
          <p:cNvPr id="19" name="!!sb4">
            <a:extLst>
              <a:ext uri="{C183D7F6-B498-43B3-948B-1728B52AA6E4}">
                <adec:decorative xmlns:adec="http://schemas.microsoft.com/office/drawing/2017/decorative" val="1"/>
              </a:ext>
            </a:extLst>
          </p:cNvPr>
          <p:cNvSpPr/>
          <p:nvPr/>
        </p:nvSpPr>
        <p:spPr>
          <a:xfrm>
            <a:off x="658368" y="468721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74207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7807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Q-learning updates action values towards </a:t>
            </a:r>
            <a:r>
              <a:rPr sz="1900" b="0" i="1">
                <a:solidFill>
                  <a:srgbClr val="1C252B"/>
                </a:solidFill>
                <a:latin typeface="Cambria"/>
              </a:rPr>
              <a:t>r</a:t>
            </a:r>
            <a:r>
              <a:rPr sz="1900" b="0" i="0">
                <a:solidFill>
                  <a:srgbClr val="1C252B"/>
                </a:solidFill>
                <a:latin typeface="Cambria"/>
              </a:rPr>
              <a:t> + γmax</a:t>
            </a:r>
            <a:r>
              <a:rPr sz="1900" b="0" i="1" baseline="-25000">
                <a:solidFill>
                  <a:srgbClr val="1C252B"/>
                </a:solidFill>
                <a:latin typeface="Cambria"/>
              </a:rPr>
              <a:t>a</a:t>
            </a:r>
            <a:r>
              <a:rPr sz="1900" b="0" i="0" baseline="-25000">
                <a:solidFill>
                  <a:srgbClr val="1C252B"/>
                </a:solidFill>
                <a:latin typeface="Cambria"/>
              </a:rPr>
              <a:t>′</a:t>
            </a:r>
            <a:r>
              <a:rPr sz="1900" b="0" i="1">
                <a:solidFill>
                  <a:srgbClr val="1C252B"/>
                </a:solidFill>
                <a:latin typeface="Cambria"/>
              </a:rPr>
              <a:t>Q</a:t>
            </a:r>
            <a:r>
              <a:rPr sz="1900" b="0" i="0">
                <a:solidFill>
                  <a:srgbClr val="1C252B"/>
                </a:solidFill>
                <a:latin typeface="Cambria"/>
              </a:rPr>
              <a:t>(</a:t>
            </a:r>
            <a:r>
              <a:rPr sz="1900" b="0" i="1">
                <a:solidFill>
                  <a:srgbClr val="1C252B"/>
                </a:solidFill>
                <a:latin typeface="Cambria"/>
              </a:rPr>
              <a:t>s</a:t>
            </a:r>
            <a:r>
              <a:rPr sz="1900" b="0" i="0">
                <a:solidFill>
                  <a:srgbClr val="1C252B"/>
                </a:solidFill>
                <a:latin typeface="Cambria"/>
              </a:rPr>
              <a:t>′, </a:t>
            </a:r>
            <a:r>
              <a:rPr sz="1900" b="0" i="1">
                <a:solidFill>
                  <a:srgbClr val="1C252B"/>
                </a:solidFill>
                <a:latin typeface="Cambria"/>
              </a:rPr>
              <a:t>a</a:t>
            </a:r>
            <a:r>
              <a:rPr sz="1900" b="0" i="0">
                <a:solidFill>
                  <a:srgbClr val="1C252B"/>
                </a:solidFill>
                <a:latin typeface="Cambria"/>
              </a:rPr>
              <a:t>′)</a:t>
            </a:r>
            <a:r>
              <a:rPr sz="1900" b="0" i="0">
                <a:solidFill>
                  <a:srgbClr val="1C252B"/>
                </a:solidFill>
                <a:latin typeface="Segoe UI"/>
              </a:rPr>
              <a:t> and converges to </a:t>
            </a:r>
            <a:r>
              <a:rPr sz="1900" b="0" i="1">
                <a:solidFill>
                  <a:srgbClr val="1C252B"/>
                </a:solidFill>
                <a:latin typeface="Cambria"/>
              </a:rPr>
              <a:t>Q</a:t>
            </a:r>
            <a:r>
              <a:rPr sz="1900" b="0" i="0" baseline="30000">
                <a:solidFill>
                  <a:srgbClr val="1C252B"/>
                </a:solidFill>
                <a:latin typeface="Cambria"/>
              </a:rPr>
              <a:t>∗</a:t>
            </a:r>
            <a:r>
              <a:rPr sz="1900" b="0" i="0">
                <a:solidFill>
                  <a:srgbClr val="1C252B"/>
                </a:solidFill>
                <a:latin typeface="Segoe UI"/>
              </a:rPr>
              <a:t> off-policy; SARSA is its on-policy counterpart.</a:t>
            </a:r>
          </a:p>
        </p:txBody>
      </p:sp>
      <p:sp>
        <p:nvSpPr>
          <p:cNvPr id="22" name="!!sb5">
            <a:extLst>
              <a:ext uri="{C183D7F6-B498-43B3-948B-1728B52AA6E4}">
                <adec:decorative xmlns:adec="http://schemas.microsoft.com/office/drawing/2017/decorative" val="1"/>
              </a:ext>
            </a:extLst>
          </p:cNvPr>
          <p:cNvSpPr/>
          <p:nvPr/>
        </p:nvSpPr>
        <p:spPr>
          <a:xfrm>
            <a:off x="658368" y="547237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2724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63235"/>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Function approximation, with neural networks, extends RL to huge state spaces: deep reinforcement learning.</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77405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0DCAF195-F543-43AB-83E6-7C2CABA0E55A}"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Q-learning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on-policy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off-policy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supervised method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planning method that needs the model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575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2ACDD5F6-B712-4262-87CD-AE2946280E65}"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UCB, an arm that has been tried few times receives: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smaller bonus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larger bonus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bonus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negative value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411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18E71123-C373-4443-9D26-4578A6977A5F}"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TD error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r</a:t>
            </a:r>
            <a:r>
              <a:rPr sz="2000" b="0" i="0">
                <a:solidFill>
                  <a:srgbClr val="1C252B"/>
                </a:solidFill>
                <a:latin typeface="Cambria"/>
              </a:rPr>
              <a:t> − </a:t>
            </a:r>
            <a:r>
              <a:rPr sz="2000" b="0" i="1">
                <a:solidFill>
                  <a:srgbClr val="1C252B"/>
                </a:solidFill>
                <a:latin typeface="Cambria"/>
              </a:rPr>
              <a:t>V</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r</a:t>
            </a:r>
            <a:r>
              <a:rPr sz="2000" b="0" i="0">
                <a:solidFill>
                  <a:srgbClr val="1C252B"/>
                </a:solidFill>
                <a:latin typeface="Cambria"/>
              </a:rPr>
              <a:t> + γ </a:t>
            </a:r>
            <a:r>
              <a:rPr sz="2000" b="0" i="1">
                <a:solidFill>
                  <a:srgbClr val="1C252B"/>
                </a:solidFill>
                <a:latin typeface="Cambria"/>
              </a:rPr>
              <a:t>V</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 </a:t>
            </a:r>
            <a:r>
              <a:rPr sz="2000" b="0" i="1">
                <a:solidFill>
                  <a:srgbClr val="1C252B"/>
                </a:solidFill>
                <a:latin typeface="Cambria"/>
              </a:rPr>
              <a:t>V</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V</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 </a:t>
            </a:r>
            <a:r>
              <a:rPr sz="2000" b="0" i="1">
                <a:solidFill>
                  <a:srgbClr val="1C252B"/>
                </a:solidFill>
                <a:latin typeface="Cambria"/>
              </a:rPr>
              <a:t>V</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G</a:t>
            </a:r>
            <a:r>
              <a:rPr sz="2000" b="0" i="0">
                <a:solidFill>
                  <a:srgbClr val="1C252B"/>
                </a:solidFill>
                <a:latin typeface="Cambria"/>
              </a:rPr>
              <a:t> − </a:t>
            </a:r>
            <a:r>
              <a:rPr sz="2000" b="0" i="1">
                <a:solidFill>
                  <a:srgbClr val="1C252B"/>
                </a:solidFill>
                <a:latin typeface="Cambria"/>
              </a:rPr>
              <a:t>r</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246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20  ·  Reinforcement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155     </a:t>
            </a:r>
            <a:fld id="{B38A3448-32C6-4DD1-A3CD-A3BB9AECFE52}" type="slidenum">
              <a:rPr lang="en-GB" sz="1000">
                <a:solidFill>
                  <a:srgbClr val="8795A1"/>
                </a:solidFill>
                <a:latin typeface="Segoe UI"/>
              </a:rPr>
              <a:t>42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Compare Monte Carlo and TD learning: when does each update, and what does each target use?</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“optimism under uncertainty” with reference to UCB.</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exploration dangerous in some real applications, and what is done about it?</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estimation example, compute the UCB scores with </a:t>
            </a:r>
            <a:r>
              <a:rPr sz="1900" b="0" i="1">
                <a:solidFill>
                  <a:srgbClr val="1C252B"/>
                </a:solidFill>
                <a:latin typeface="Cambria"/>
              </a:rPr>
              <a:t>c</a:t>
            </a:r>
            <a:r>
              <a:rPr sz="1900" b="0" i="0">
                <a:solidFill>
                  <a:srgbClr val="1C252B"/>
                </a:solidFill>
                <a:latin typeface="Cambria"/>
              </a:rPr>
              <a:t> = 2</a:t>
            </a:r>
            <a:r>
              <a:rPr sz="1900" b="0" i="0">
                <a:solidFill>
                  <a:srgbClr val="1C252B"/>
                </a:solidFill>
                <a:latin typeface="Segoe UI"/>
              </a:rPr>
              <a:t> and state which technique is chosen. Then suppose it is used and the estimate misses (reward 0): recompute its average.</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Continue the Q-learning worked example with step 4: in H, refactor, reward </a:t>
            </a:r>
            <a:r>
              <a:rPr sz="1900" b="0" i="0">
                <a:solidFill>
                  <a:srgbClr val="1C252B"/>
                </a:solidFill>
                <a:latin typeface="Cambria"/>
              </a:rPr>
              <a:t>−2</a:t>
            </a:r>
            <a:r>
              <a:rPr sz="1900" b="0" i="0">
                <a:solidFill>
                  <a:srgbClr val="1C252B"/>
                </a:solidFill>
                <a:latin typeface="Segoe UI"/>
              </a:rPr>
              <a:t>, stays in H. Compute the new </a:t>
            </a:r>
            <a:r>
              <a:rPr sz="1900" b="0" i="1">
                <a:solidFill>
                  <a:srgbClr val="1C252B"/>
                </a:solidFill>
                <a:latin typeface="Cambria"/>
              </a:rPr>
              <a:t>Q</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a:t>
            </a:r>
            <a:r>
              <a:rPr sz="1900" b="0" i="0">
                <a:solidFill>
                  <a:srgbClr val="1C252B"/>
                </a:solidFill>
                <a:latin typeface="Segoe UI"/>
              </a:rPr>
              <a:t>refactor</a:t>
            </a:r>
            <a:r>
              <a:rPr sz="1900" b="0" i="0">
                <a:solidFill>
                  <a:srgbClr val="1C252B"/>
                </a:solidFill>
                <a:latin typeface="Cambria"/>
              </a:rPr>
              <a:t>)</a:t>
            </a:r>
            <a:r>
              <a:rPr sz="1900" b="0" i="0">
                <a:solidFill>
                  <a:srgbClr val="1C252B"/>
                </a:solidFill>
                <a:latin typeface="Segoe UI"/>
              </a:rPr>
              <a:t> and state which action is now greedy in H.</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81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20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21 — Responsible and Ethical Machine Learning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20, pages 147–155</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Value and policy iteration; bandits and Q-learning</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20  ·  Reinforcement Learning</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2748404A-D8BB-4198-9211-246E48957C8D}"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20: Reinforcement Learning</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