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1.svg" ContentType="image/svg+xml"/>
  <Override PartName="/ppt/media/image12.svg" ContentType="image/svg+xml"/>
  <Override PartName="/ppt/media/image14.svg" ContentType="image/svg+xml"/>
  <Override PartName="/ppt/media/image16.svg" ContentType="image/svg+xml"/>
  <Override PartName="/ppt/media/image17.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29.svg" ContentType="image/svg+xml"/>
  <Override PartName="/ppt/media/image31.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3.svg" ContentType="image/svg+xml"/>
  <Override PartName="/ppt/media/image84.svg" ContentType="image/svg+xml"/>
  <Override PartName="/ppt/media/image85.svg" ContentType="image/svg+xml"/>
  <Override PartName="/ppt/media/image86.svg" ContentType="image/svg+xml"/>
  <Override PartName="/ppt/media/image88.svg" ContentType="image/svg+xml"/>
  <Override PartName="/ppt/media/image90.svg" ContentType="image/svg+xml"/>
  <Override PartName="/ppt/media/image91.svg" ContentType="image/svg+xml"/>
  <Override PartName="/ppt/media/image92.svg" ContentType="image/svg+xml"/>
  <Override PartName="/ppt/media/image93.svg" ContentType="image/svg+xml"/>
  <Override PartName="/ppt/media/image94.svg" ContentType="image/svg+xml"/>
  <Override PartName="/ppt/media/image96.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E9E510-589A-4CB4-8810-5B921C98DED5}">
          <p14:sldIdLst>
            <p14:sldId id="256"/>
            <p14:sldId id="257"/>
            <p14:sldId id="258"/>
            <p14:sldId id="259"/>
            <p14:sldId id="260"/>
          </p14:sldIdLst>
        </p14:section>
        <p14:section name="19.1 Decisions Whose Consequences Unfold" id="{AD8DA324-B210-48F8-A7CA-59A692E20FAF}">
          <p14:sldIdLst>
            <p14:sldId id="261"/>
          </p14:sldIdLst>
        </p14:section>
        <p14:section name="19.2 The Markov Decision Process" id="{148A7643-46C2-4456-A828-675EFAA46899}">
          <p14:sldIdLst>
            <p14:sldId id="262"/>
            <p14:sldId id="263"/>
            <p14:sldId id="264"/>
            <p14:sldId id="265"/>
            <p14:sldId id="266"/>
          </p14:sldIdLst>
        </p14:section>
        <p14:section name="19.3 Value Functions and the Bellman Equations" id="{4ED1D2F0-4411-453B-81C9-339853F8CC44}">
          <p14:sldIdLst>
            <p14:sldId id="267"/>
            <p14:sldId id="268"/>
            <p14:sldId id="269"/>
          </p14:sldIdLst>
        </p14:section>
        <p14:section name="19.4 Value Iteration" id="{9E9C9E3C-6119-4238-B90D-38AD614C1BCC}">
          <p14:sldIdLst>
            <p14:sldId id="270"/>
            <p14:sldId id="271"/>
            <p14:sldId id="272"/>
            <p14:sldId id="273"/>
            <p14:sldId id="274"/>
          </p14:sldIdLst>
        </p14:section>
        <p14:section name="19.5 Policy Iteration" id="{E0D78D4F-A7D8-4EFE-8D56-AC0FDB8183D5}">
          <p14:sldIdLst>
            <p14:sldId id="275"/>
            <p14:sldId id="276"/>
            <p14:sldId id="277"/>
            <p14:sldId id="278"/>
          </p14:sldIdLst>
        </p14:section>
        <p14:section name="Pitfalls" id="{F8D7F595-9219-40E7-B969-32A7C90A663E}">
          <p14:sldIdLst>
            <p14:sldId id="279"/>
          </p14:sldIdLst>
        </p14:section>
        <p14:section name="Four lenses" id="{5E2543EB-2DC9-4FC4-A25D-AC0D43455154}">
          <p14:sldIdLst>
            <p14:sldId id="280"/>
            <p14:sldId id="281"/>
            <p14:sldId id="282"/>
            <p14:sldId id="283"/>
            <p14:sldId id="284"/>
          </p14:sldIdLst>
        </p14:section>
        <p14:section name="Lab" id="{AFB7E046-463C-4B0B-AF2A-C0100CB07F3F}">
          <p14:sldIdLst>
            <p14:sldId id="285"/>
            <p14:sldId id="286"/>
            <p14:sldId id="287"/>
            <p14:sldId id="288"/>
            <p14:sldId id="289"/>
            <p14:sldId id="290"/>
            <p14:sldId id="291"/>
          </p14:sldIdLst>
        </p14:section>
        <p14:section name="Checkpoint" id="{C49B263A-80AE-4F9F-B876-399C3F0D58F4}">
          <p14:sldIdLst>
            <p14:sldId id="292"/>
            <p14:sldId id="293"/>
            <p14:sldId id="294"/>
            <p14:sldId id="295"/>
            <p14:sldId id="296"/>
            <p14:sldId id="297"/>
          </p14:sldIdLst>
        </p14:section>
        <p14:section name="Wrap-up" id="{ED9833E2-43EE-4EC0-AA8C-344DA25517B7}">
          <p14:sldIdLst>
            <p14:sldId id="298"/>
            <p14:sldId id="299"/>
            <p14:sldId id="300"/>
            <p14:sldId id="301"/>
            <p14:sldId id="302"/>
            <p14:sldId id="3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19: Markov Decision Processes. Part 5 — Sequences, Decisions and Reinforcement. Week 15: Markov decision processes; reinforcement learning. Handout pages 145–151.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18 (Markov chains and transition matrices) and, from Artificial Intelligence, agents and search. An MDP is a Markov chain in which an agent chooses the transition probabilities by its actions, and is paid for doing 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agent; environment; state; action; reward; Markov decision process; transition model; policy; return; discount factor γ; state-value function V; action-value function Q; Bellman expectation equation; Bellman optimality equation; value iteration; policy evaluation; policy improvement; policy iteration.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makes one decision per example, and the next example does not depend on it. Many real decisions are not like that. Repairing a machine now costs money now but keeps it earning later; offering a struggling student extra tutoring changes which state they are in next week; a thermostat that heats early spends energy to save discomfort. The value of an action depends on the situations it leads to, and on the actions that will be taken there. The framework for such problems is the Markov decision process, and it is the foundation of reinforcement learning (Chapter 20).</a:t>
            </a:r>
          </a:p>
          <a:p/>
          <a:p>
            <a:r>
              <a:t>Figure 19.1 (handout p. 145): The agent–environment loop. Every problem in Part V’s last two chapters has this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19.2 (handout p. 146): The maintenance MDP of the worked examples. Operating earns money but risks decline; repairing costs money and restores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19.3 (handout p. 148): Optimal values and policy for a small gridworld (the standard example of Russell and Norvig), computed by value iteration with γ = 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when the policy no longer changes. Each improvement is guaranteed not to make any state worse, and there are finitely many policies, so it terminates — usually in a handful of iterations. On the maintenance MDP it starts from “always operate” (V(H) = 41.56), improves once to “repair when degraded or failed”, evaluates that (V(H) = 78.64), finds nothing to change, and stops: two evaluations against about two hundred sweeps of value iteration, each evaluation costlier.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States describe a student’s progress; actions are interventions (a reminder, a tutoring session, nothing); rewards are learning gains minus the cost of the intervention. An MDP makes explicit what a well-meaning adviser does implicitly: spend scarce support where it changes the future most.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Project states (on track, slipping, critical) and actions (continue, add staff, cut scope) with estimated transition probabilities turn a gut decision into a policy — and expose the assumption, often wrong, that adding people to a late project speeds it 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The worked example is a real problem class: condition-based maintenance. With transition probabilities estimated from fleet data (Chapter 18), value iteration gives the repair policy that maximises long-run output.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An attacker moving through a network, and a defender choosing where to patch or monitor, can both be modelled as MDPs; the attack graph provides the states. Solving the defender’s MDP ranks mitigations by how much they reduce the attacker’s expected success.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maintenance MDP: states H, D, F; actions operate (0), repair (1).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Value iteration.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Policy iteration: evaluate exactly, then improve.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A gridworld: 3 x 4, wall at (1,1), exits +1 and -1, slippery moves.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gridworld: 3 x 4, wall at (1,1), exits +1 and -1, slippery moves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4 + 0.5 × 4 + 0.25 × 4 = 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Vπ(s) is the expected return from s following π; Qπ(s, a) is the expected return from taking a first and then following π. So Vπ(s) = Qπ(s, π(s)).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a machine that is operated while degraded eventually fails, and a failed machine that keeps being “operated” earns nothing for ever. The small immediate gain of operating is outweighed by the lost future earnings that repair preserves.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20 — Reinforcement Learning. READ: Handout Chapter 19, pages 145–151. THIS WEEK'S LAB: Value and policy iteration; bandits and Q-learning.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5.xml"/><Relationship Id="rId9" Type="http://schemas.openxmlformats.org/officeDocument/2006/relationships/slide" Target="slide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7.sv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image" Target="../media/image25.png"/><Relationship Id="rId7" Type="http://schemas.openxmlformats.org/officeDocument/2006/relationships/image" Target="../media/image26.sv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32.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33.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6.svg"/><Relationship Id="rId4" Type="http://schemas.openxmlformats.org/officeDocument/2006/relationships/image" Target="../media/image37.png"/><Relationship Id="rId5" Type="http://schemas.openxmlformats.org/officeDocument/2006/relationships/image" Target="../media/image38.sv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image" Target="../media/image47.png"/><Relationship Id="rId5" Type="http://schemas.openxmlformats.org/officeDocument/2006/relationships/image" Target="../media/image48.svg"/><Relationship Id="rId6" Type="http://schemas.openxmlformats.org/officeDocument/2006/relationships/image" Target="../media/image49.png"/><Relationship Id="rId7" Type="http://schemas.openxmlformats.org/officeDocument/2006/relationships/image" Target="../media/image50.svg"/><Relationship Id="rId8" Type="http://schemas.openxmlformats.org/officeDocument/2006/relationships/image" Target="../media/image51.png"/><Relationship Id="rId9" Type="http://schemas.openxmlformats.org/officeDocument/2006/relationships/image" Target="../media/image52.svg"/><Relationship Id="rId10" Type="http://schemas.openxmlformats.org/officeDocument/2006/relationships/image" Target="../media/image53.png"/><Relationship Id="rId11" Type="http://schemas.openxmlformats.org/officeDocument/2006/relationships/image" Target="../media/image54.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image" Target="../media/image47.png"/><Relationship Id="rId5" Type="http://schemas.openxmlformats.org/officeDocument/2006/relationships/image" Target="../media/image57.svg"/><Relationship Id="rId6" Type="http://schemas.openxmlformats.org/officeDocument/2006/relationships/image" Target="../media/image49.png"/><Relationship Id="rId7" Type="http://schemas.openxmlformats.org/officeDocument/2006/relationships/image" Target="../media/image58.svg"/><Relationship Id="rId8" Type="http://schemas.openxmlformats.org/officeDocument/2006/relationships/image" Target="../media/image51.png"/><Relationship Id="rId9" Type="http://schemas.openxmlformats.org/officeDocument/2006/relationships/image" Target="../media/image59.svg"/><Relationship Id="rId10" Type="http://schemas.openxmlformats.org/officeDocument/2006/relationships/image" Target="../media/image53.png"/><Relationship Id="rId11" Type="http://schemas.openxmlformats.org/officeDocument/2006/relationships/image" Target="../media/image60.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image" Target="../media/image49.png"/><Relationship Id="rId5" Type="http://schemas.openxmlformats.org/officeDocument/2006/relationships/image" Target="../media/image63.svg"/><Relationship Id="rId6" Type="http://schemas.openxmlformats.org/officeDocument/2006/relationships/image" Target="../media/image47.png"/><Relationship Id="rId7" Type="http://schemas.openxmlformats.org/officeDocument/2006/relationships/image" Target="../media/image64.svg"/><Relationship Id="rId8" Type="http://schemas.openxmlformats.org/officeDocument/2006/relationships/image" Target="../media/image51.png"/><Relationship Id="rId9" Type="http://schemas.openxmlformats.org/officeDocument/2006/relationships/image" Target="../media/image65.svg"/><Relationship Id="rId10" Type="http://schemas.openxmlformats.org/officeDocument/2006/relationships/image" Target="../media/image53.png"/><Relationship Id="rId11" Type="http://schemas.openxmlformats.org/officeDocument/2006/relationships/image" Target="../media/image66.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image" Target="../media/image51.png"/><Relationship Id="rId5" Type="http://schemas.openxmlformats.org/officeDocument/2006/relationships/image" Target="../media/image69.svg"/><Relationship Id="rId6" Type="http://schemas.openxmlformats.org/officeDocument/2006/relationships/image" Target="../media/image47.png"/><Relationship Id="rId7" Type="http://schemas.openxmlformats.org/officeDocument/2006/relationships/image" Target="../media/image70.svg"/><Relationship Id="rId8" Type="http://schemas.openxmlformats.org/officeDocument/2006/relationships/image" Target="../media/image49.png"/><Relationship Id="rId9" Type="http://schemas.openxmlformats.org/officeDocument/2006/relationships/image" Target="../media/image71.svg"/><Relationship Id="rId10" Type="http://schemas.openxmlformats.org/officeDocument/2006/relationships/image" Target="../media/image53.png"/><Relationship Id="rId11" Type="http://schemas.openxmlformats.org/officeDocument/2006/relationships/image" Target="../media/image72.sv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image" Target="../media/image53.png"/><Relationship Id="rId5" Type="http://schemas.openxmlformats.org/officeDocument/2006/relationships/image" Target="../media/image75.svg"/><Relationship Id="rId6" Type="http://schemas.openxmlformats.org/officeDocument/2006/relationships/image" Target="../media/image47.png"/><Relationship Id="rId7" Type="http://schemas.openxmlformats.org/officeDocument/2006/relationships/image" Target="../media/image76.svg"/><Relationship Id="rId8" Type="http://schemas.openxmlformats.org/officeDocument/2006/relationships/image" Target="../media/image49.png"/><Relationship Id="rId9" Type="http://schemas.openxmlformats.org/officeDocument/2006/relationships/image" Target="../media/image77.svg"/><Relationship Id="rId10" Type="http://schemas.openxmlformats.org/officeDocument/2006/relationships/image" Target="../media/image51.png"/><Relationship Id="rId11" Type="http://schemas.openxmlformats.org/officeDocument/2006/relationships/image" Target="../media/image78.sv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0.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1.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2.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3.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4.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5.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88.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0.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91.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2.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93.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4.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5.png"/><Relationship Id="rId3" Type="http://schemas.openxmlformats.org/officeDocument/2006/relationships/image" Target="../media/image96.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8.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9.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100.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101.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88674"/>
                </a:solidFill>
                <a:latin typeface="Segoe UI Black"/>
              </a:rPr>
              <a:t>19</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Markov Decision Processes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PART V  ·  SEQUENCES, DECISIONS AND REINFORCEMENT</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CHAPTER 19  ·  WEEK 15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CFE4E0"/>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0C57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3BFB9"/>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BD0CC"/>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3BFB9"/>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59559F2A-65A7-4959-86A1-55763FE9B5F6}"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36470"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36470" y="2029967"/>
            <a:ext cx="1484611" cy="4572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192795"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013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6641"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52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95312" y="2112264"/>
            <a:ext cx="566928" cy="566928"/>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295312"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07964"/>
                </a:solidFill>
                <a:latin typeface="Segoe UI"/>
              </a:rPr>
              <a:t>Markov Decision Processes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8">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8">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8"/>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18  </a:t>
            </a:r>
            <a:r>
              <a:rPr sz="1400" b="0" i="0">
                <a:solidFill>
                  <a:srgbClr val="1C252B"/>
                </a:solidFill>
                <a:latin typeface="Segoe UI"/>
              </a:rPr>
              <a:t>Hidden Markov Models</a:t>
            </a:r>
          </a:p>
        </p:txBody>
      </p:sp>
      <p:sp>
        <p:nvSpPr>
          <p:cNvPr id="68"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9" name="!!chipUS20">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bUS20">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tUS20"/>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20  </a:t>
            </a:r>
            <a:r>
              <a:rPr sz="1400" b="0" i="0">
                <a:solidFill>
                  <a:srgbClr val="1C252B"/>
                </a:solidFill>
                <a:latin typeface="Segoe UI"/>
              </a:rPr>
              <a:t>Reinforcement Learning</a:t>
            </a:r>
          </a:p>
        </p:txBody>
      </p:sp>
      <p:sp>
        <p:nvSpPr>
          <p:cNvPr id="7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pfill">
            <a:extLst>
              <a:ext uri="{C183D7F6-B498-43B3-948B-1728B52AA6E4}">
                <adec:decorative xmlns:adec="http://schemas.microsoft.com/office/drawing/2017/decorative" val="1"/>
              </a:ext>
            </a:extLst>
          </p:cNvPr>
          <p:cNvSpPr/>
          <p:nvPr/>
        </p:nvSpPr>
        <p:spPr>
          <a:xfrm>
            <a:off x="0" y="0"/>
            <a:ext cx="50798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6E1ED941-BE84-4142-A26D-FF928730DB0D}"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Formulate</a:t>
            </a:r>
            <a:r>
              <a:rPr sz="2100" b="0" i="0">
                <a:solidFill>
                  <a:srgbClr val="1C252B"/>
                </a:solidFill>
                <a:latin typeface="Segoe UI"/>
              </a:rPr>
              <a:t> a sequential decision problem as a Markov decision process: states, actions, transitions, rewards and discount.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Compute</a:t>
            </a:r>
            <a:r>
              <a:rPr sz="2100" b="0" i="0">
                <a:solidFill>
                  <a:srgbClr val="1C252B"/>
                </a:solidFill>
                <a:latin typeface="Segoe UI"/>
              </a:rPr>
              <a:t> the discounted return of a sequence of rewards, and </a:t>
            </a:r>
            <a:r>
              <a:rPr sz="2100" b="1" i="0">
                <a:solidFill>
                  <a:srgbClr val="1C252B"/>
                </a:solidFill>
                <a:latin typeface="Segoe UI"/>
              </a:rPr>
              <a:t>explain</a:t>
            </a:r>
            <a:r>
              <a:rPr sz="2100" b="0" i="0">
                <a:solidFill>
                  <a:srgbClr val="1C252B"/>
                </a:solidFill>
                <a:latin typeface="Segoe UI"/>
              </a:rPr>
              <a:t> the role of </a:t>
            </a:r>
            <a:r>
              <a:rPr sz="2100" b="0" i="0">
                <a:solidFill>
                  <a:srgbClr val="1C252B"/>
                </a:solidFill>
                <a:latin typeface="Cambria"/>
              </a:rPr>
              <a:t>γ</a:t>
            </a:r>
            <a:r>
              <a:rPr sz="2100" b="0" i="0">
                <a:solidFill>
                  <a:srgbClr val="1C252B"/>
                </a:solidFill>
                <a:latin typeface="Segoe UI"/>
              </a:rPr>
              <a:t>.</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Define</a:t>
            </a:r>
            <a:r>
              <a:rPr sz="2100" b="0" i="0">
                <a:solidFill>
                  <a:srgbClr val="1C252B"/>
                </a:solidFill>
                <a:latin typeface="Segoe UI"/>
              </a:rPr>
              <a:t> state values and action values, and </a:t>
            </a:r>
            <a:r>
              <a:rPr sz="2100" b="1" i="0">
                <a:solidFill>
                  <a:srgbClr val="1C252B"/>
                </a:solidFill>
                <a:latin typeface="Segoe UI"/>
              </a:rPr>
              <a:t>write</a:t>
            </a:r>
            <a:r>
              <a:rPr sz="2100" b="0" i="0">
                <a:solidFill>
                  <a:srgbClr val="1C252B"/>
                </a:solidFill>
                <a:latin typeface="Segoe UI"/>
              </a:rPr>
              <a:t> the Bellman equations for them.</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318711"/>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Perform</a:t>
            </a:r>
            <a:r>
              <a:rPr sz="2100" b="0" i="0">
                <a:solidFill>
                  <a:srgbClr val="1C252B"/>
                </a:solidFill>
                <a:latin typeface="Segoe UI"/>
              </a:rPr>
              <a:t> value iteration by hand for a small MDP and </a:t>
            </a:r>
            <a:r>
              <a:rPr sz="2100" b="1" i="0">
                <a:solidFill>
                  <a:srgbClr val="1C252B"/>
                </a:solidFill>
                <a:latin typeface="Segoe UI"/>
              </a:rPr>
              <a:t>read off</a:t>
            </a:r>
            <a:r>
              <a:rPr sz="2100" b="0" i="0">
                <a:solidFill>
                  <a:srgbClr val="1C252B"/>
                </a:solidFill>
                <a:latin typeface="Segoe UI"/>
              </a:rPr>
              <a:t> the optimal policy.</a:t>
            </a:r>
          </a:p>
        </p:txBody>
      </p:sp>
      <p:sp>
        <p:nvSpPr>
          <p:cNvPr id="20" name="!!ob4">
            <a:extLst>
              <a:ext uri="{C183D7F6-B498-43B3-948B-1728B52AA6E4}">
                <adec:decorative xmlns:adec="http://schemas.microsoft.com/office/drawing/2017/decorative" val="1"/>
              </a:ext>
            </a:extLst>
          </p:cNvPr>
          <p:cNvSpPr/>
          <p:nvPr/>
        </p:nvSpPr>
        <p:spPr>
          <a:xfrm>
            <a:off x="658368" y="4881067"/>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4940503"/>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4922215"/>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Describe</a:t>
            </a:r>
            <a:r>
              <a:rPr sz="2100" b="0" i="0">
                <a:solidFill>
                  <a:srgbClr val="1C252B"/>
                </a:solidFill>
                <a:latin typeface="Segoe UI"/>
              </a:rPr>
              <a:t> policy iteration and </a:t>
            </a:r>
            <a:r>
              <a:rPr sz="2100" b="1" i="0">
                <a:solidFill>
                  <a:srgbClr val="1C252B"/>
                </a:solidFill>
                <a:latin typeface="Segoe UI"/>
              </a:rPr>
              <a:t>compare</a:t>
            </a:r>
            <a:r>
              <a:rPr sz="2100" b="0" i="0">
                <a:solidFill>
                  <a:srgbClr val="1C252B"/>
                </a:solidFill>
                <a:latin typeface="Segoe UI"/>
              </a:rPr>
              <a:t> it with value iteration.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6198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65989F03-A86F-4B87-9C47-170D8E201BEA}" type="slidenum">
              <a:rPr lang="en-GB" sz="1000">
                <a:solidFill>
                  <a:srgbClr val="8795A1"/>
                </a:solidFill>
                <a:latin typeface="Segoe UI"/>
              </a:rPr>
              <a:t>4</a:t>
            </a:fld>
          </a:p>
        </p:txBody>
      </p:sp>
      <p:sp>
        <p:nvSpPr>
          <p:cNvPr id="7" name="!!term-agent">
            <a:extLst>
              <a:ext uri="{C183D7F6-B498-43B3-948B-1728B52AA6E4}">
                <adec:decorative xmlns:adec="http://schemas.microsoft.com/office/drawing/2017/decorative" val="1"/>
              </a:ext>
            </a:extLst>
          </p:cNvPr>
          <p:cNvSpPr/>
          <p:nvPr/>
        </p:nvSpPr>
        <p:spPr>
          <a:xfrm>
            <a:off x="658368" y="1847088"/>
            <a:ext cx="9297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gent">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gent"/>
          <p:cNvSpPr txBox="1"/>
          <p:nvPr/>
        </p:nvSpPr>
        <p:spPr>
          <a:xfrm>
            <a:off x="950976" y="1970532"/>
            <a:ext cx="7468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agent</a:t>
            </a:r>
          </a:p>
        </p:txBody>
      </p:sp>
      <p:sp>
        <p:nvSpPr>
          <p:cNvPr id="10" name="!!term-environment">
            <a:extLst>
              <a:ext uri="{C183D7F6-B498-43B3-948B-1728B52AA6E4}">
                <adec:decorative xmlns:adec="http://schemas.microsoft.com/office/drawing/2017/decorative" val="1"/>
              </a:ext>
            </a:extLst>
          </p:cNvPr>
          <p:cNvSpPr/>
          <p:nvPr/>
        </p:nvSpPr>
        <p:spPr>
          <a:xfrm>
            <a:off x="1734411" y="1847088"/>
            <a:ext cx="15268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environment">
            <a:extLst>
              <a:ext uri="{C183D7F6-B498-43B3-948B-1728B52AA6E4}">
                <adec:decorative xmlns:adec="http://schemas.microsoft.com/office/drawing/2017/decorative" val="1"/>
              </a:ext>
            </a:extLst>
          </p:cNvPr>
          <p:cNvSpPr/>
          <p:nvPr/>
        </p:nvSpPr>
        <p:spPr>
          <a:xfrm>
            <a:off x="186242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environment"/>
          <p:cNvSpPr txBox="1"/>
          <p:nvPr/>
        </p:nvSpPr>
        <p:spPr>
          <a:xfrm>
            <a:off x="2027019" y="1970532"/>
            <a:ext cx="134393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environment</a:t>
            </a:r>
          </a:p>
        </p:txBody>
      </p:sp>
      <p:sp>
        <p:nvSpPr>
          <p:cNvPr id="13" name="!!term-state">
            <a:extLst>
              <a:ext uri="{C183D7F6-B498-43B3-948B-1728B52AA6E4}">
                <adec:decorative xmlns:adec="http://schemas.microsoft.com/office/drawing/2017/decorative" val="1"/>
              </a:ext>
            </a:extLst>
          </p:cNvPr>
          <p:cNvSpPr/>
          <p:nvPr/>
        </p:nvSpPr>
        <p:spPr>
          <a:xfrm>
            <a:off x="3407529" y="1847088"/>
            <a:ext cx="8535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tate">
            <a:extLst>
              <a:ext uri="{C183D7F6-B498-43B3-948B-1728B52AA6E4}">
                <adec:decorative xmlns:adec="http://schemas.microsoft.com/office/drawing/2017/decorative" val="1"/>
              </a:ext>
            </a:extLst>
          </p:cNvPr>
          <p:cNvSpPr/>
          <p:nvPr/>
        </p:nvSpPr>
        <p:spPr>
          <a:xfrm>
            <a:off x="353554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tate"/>
          <p:cNvSpPr txBox="1"/>
          <p:nvPr/>
        </p:nvSpPr>
        <p:spPr>
          <a:xfrm>
            <a:off x="3700137" y="1970532"/>
            <a:ext cx="67066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a:t>
            </a:r>
          </a:p>
        </p:txBody>
      </p:sp>
      <p:sp>
        <p:nvSpPr>
          <p:cNvPr id="16" name="!!term-action">
            <a:extLst>
              <a:ext uri="{C183D7F6-B498-43B3-948B-1728B52AA6E4}">
                <adec:decorative xmlns:adec="http://schemas.microsoft.com/office/drawing/2017/decorative" val="1"/>
              </a:ext>
            </a:extLst>
          </p:cNvPr>
          <p:cNvSpPr/>
          <p:nvPr/>
        </p:nvSpPr>
        <p:spPr>
          <a:xfrm>
            <a:off x="4407378" y="1847088"/>
            <a:ext cx="9643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action">
            <a:extLst>
              <a:ext uri="{C183D7F6-B498-43B3-948B-1728B52AA6E4}">
                <adec:decorative xmlns:adec="http://schemas.microsoft.com/office/drawing/2017/decorative" val="1"/>
              </a:ext>
            </a:extLst>
          </p:cNvPr>
          <p:cNvSpPr/>
          <p:nvPr/>
        </p:nvSpPr>
        <p:spPr>
          <a:xfrm>
            <a:off x="453539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action"/>
          <p:cNvSpPr txBox="1"/>
          <p:nvPr/>
        </p:nvSpPr>
        <p:spPr>
          <a:xfrm>
            <a:off x="4699986" y="1970532"/>
            <a:ext cx="78144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action</a:t>
            </a:r>
          </a:p>
        </p:txBody>
      </p:sp>
      <p:sp>
        <p:nvSpPr>
          <p:cNvPr id="19" name="!!term-reward">
            <a:extLst>
              <a:ext uri="{C183D7F6-B498-43B3-948B-1728B52AA6E4}">
                <adec:decorative xmlns:adec="http://schemas.microsoft.com/office/drawing/2017/decorative" val="1"/>
              </a:ext>
            </a:extLst>
          </p:cNvPr>
          <p:cNvSpPr/>
          <p:nvPr/>
        </p:nvSpPr>
        <p:spPr>
          <a:xfrm>
            <a:off x="5518008" y="1847088"/>
            <a:ext cx="10295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eward">
            <a:extLst>
              <a:ext uri="{C183D7F6-B498-43B3-948B-1728B52AA6E4}">
                <adec:decorative xmlns:adec="http://schemas.microsoft.com/office/drawing/2017/decorative" val="1"/>
              </a:ext>
            </a:extLst>
          </p:cNvPr>
          <p:cNvSpPr/>
          <p:nvPr/>
        </p:nvSpPr>
        <p:spPr>
          <a:xfrm>
            <a:off x="564602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eward"/>
          <p:cNvSpPr txBox="1"/>
          <p:nvPr/>
        </p:nvSpPr>
        <p:spPr>
          <a:xfrm>
            <a:off x="5810616" y="1970532"/>
            <a:ext cx="84665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reward</a:t>
            </a:r>
          </a:p>
        </p:txBody>
      </p:sp>
      <p:sp>
        <p:nvSpPr>
          <p:cNvPr id="22" name="!!term-Markov decisio">
            <a:extLst>
              <a:ext uri="{C183D7F6-B498-43B3-948B-1728B52AA6E4}">
                <adec:decorative xmlns:adec="http://schemas.microsoft.com/office/drawing/2017/decorative" val="1"/>
              </a:ext>
            </a:extLst>
          </p:cNvPr>
          <p:cNvSpPr/>
          <p:nvPr/>
        </p:nvSpPr>
        <p:spPr>
          <a:xfrm>
            <a:off x="6693848" y="1847088"/>
            <a:ext cx="25478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arkov decisio">
            <a:extLst>
              <a:ext uri="{C183D7F6-B498-43B3-948B-1728B52AA6E4}">
                <adec:decorative xmlns:adec="http://schemas.microsoft.com/office/drawing/2017/decorative" val="1"/>
              </a:ext>
            </a:extLst>
          </p:cNvPr>
          <p:cNvSpPr/>
          <p:nvPr/>
        </p:nvSpPr>
        <p:spPr>
          <a:xfrm>
            <a:off x="682186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arkov decisio"/>
          <p:cNvSpPr txBox="1"/>
          <p:nvPr/>
        </p:nvSpPr>
        <p:spPr>
          <a:xfrm>
            <a:off x="6986456" y="1970532"/>
            <a:ext cx="236497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Markov decision process</a:t>
            </a:r>
          </a:p>
        </p:txBody>
      </p:sp>
      <p:sp>
        <p:nvSpPr>
          <p:cNvPr id="25" name="!!term-transition mod">
            <a:extLst>
              <a:ext uri="{C183D7F6-B498-43B3-948B-1728B52AA6E4}">
                <adec:decorative xmlns:adec="http://schemas.microsoft.com/office/drawing/2017/decorative" val="1"/>
              </a:ext>
            </a:extLst>
          </p:cNvPr>
          <p:cNvSpPr/>
          <p:nvPr/>
        </p:nvSpPr>
        <p:spPr>
          <a:xfrm>
            <a:off x="9388004" y="1847088"/>
            <a:ext cx="18449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transition mod">
            <a:extLst>
              <a:ext uri="{C183D7F6-B498-43B3-948B-1728B52AA6E4}">
                <adec:decorative xmlns:adec="http://schemas.microsoft.com/office/drawing/2017/decorative" val="1"/>
              </a:ext>
            </a:extLst>
          </p:cNvPr>
          <p:cNvSpPr/>
          <p:nvPr/>
        </p:nvSpPr>
        <p:spPr>
          <a:xfrm>
            <a:off x="951602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transition mod"/>
          <p:cNvSpPr txBox="1"/>
          <p:nvPr/>
        </p:nvSpPr>
        <p:spPr>
          <a:xfrm>
            <a:off x="9680612" y="1970532"/>
            <a:ext cx="16620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transition model</a:t>
            </a:r>
          </a:p>
        </p:txBody>
      </p:sp>
      <p:sp>
        <p:nvSpPr>
          <p:cNvPr id="28" name="!!term-policy">
            <a:extLst>
              <a:ext uri="{C183D7F6-B498-43B3-948B-1728B52AA6E4}">
                <adec:decorative xmlns:adec="http://schemas.microsoft.com/office/drawing/2017/decorative" val="1"/>
              </a:ext>
            </a:extLst>
          </p:cNvPr>
          <p:cNvSpPr/>
          <p:nvPr/>
        </p:nvSpPr>
        <p:spPr>
          <a:xfrm>
            <a:off x="658368" y="2468880"/>
            <a:ext cx="9448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olicy">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olicy"/>
          <p:cNvSpPr txBox="1"/>
          <p:nvPr/>
        </p:nvSpPr>
        <p:spPr>
          <a:xfrm>
            <a:off x="950976" y="2592324"/>
            <a:ext cx="76201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policy</a:t>
            </a:r>
          </a:p>
        </p:txBody>
      </p:sp>
      <p:sp>
        <p:nvSpPr>
          <p:cNvPr id="31" name="!!term-return">
            <a:extLst>
              <a:ext uri="{C183D7F6-B498-43B3-948B-1728B52AA6E4}">
                <adec:decorative xmlns:adec="http://schemas.microsoft.com/office/drawing/2017/decorative" val="1"/>
              </a:ext>
            </a:extLst>
          </p:cNvPr>
          <p:cNvSpPr/>
          <p:nvPr/>
        </p:nvSpPr>
        <p:spPr>
          <a:xfrm>
            <a:off x="1749567" y="2468880"/>
            <a:ext cx="96156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turn">
            <a:extLst>
              <a:ext uri="{C183D7F6-B498-43B3-948B-1728B52AA6E4}">
                <adec:decorative xmlns:adec="http://schemas.microsoft.com/office/drawing/2017/decorative" val="1"/>
              </a:ext>
            </a:extLst>
          </p:cNvPr>
          <p:cNvSpPr/>
          <p:nvPr/>
        </p:nvSpPr>
        <p:spPr>
          <a:xfrm>
            <a:off x="187758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turn"/>
          <p:cNvSpPr txBox="1"/>
          <p:nvPr/>
        </p:nvSpPr>
        <p:spPr>
          <a:xfrm>
            <a:off x="2042175" y="2592324"/>
            <a:ext cx="77868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return</a:t>
            </a:r>
          </a:p>
        </p:txBody>
      </p:sp>
      <p:sp>
        <p:nvSpPr>
          <p:cNvPr id="34" name="!!term-discount facto">
            <a:extLst>
              <a:ext uri="{C183D7F6-B498-43B3-948B-1728B52AA6E4}">
                <adec:decorative xmlns:adec="http://schemas.microsoft.com/office/drawing/2017/decorative" val="1"/>
              </a:ext>
            </a:extLst>
          </p:cNvPr>
          <p:cNvSpPr/>
          <p:nvPr/>
        </p:nvSpPr>
        <p:spPr>
          <a:xfrm>
            <a:off x="2857431" y="2468880"/>
            <a:ext cx="18763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discount facto">
            <a:extLst>
              <a:ext uri="{C183D7F6-B498-43B3-948B-1728B52AA6E4}">
                <adec:decorative xmlns:adec="http://schemas.microsoft.com/office/drawing/2017/decorative" val="1"/>
              </a:ext>
            </a:extLst>
          </p:cNvPr>
          <p:cNvSpPr/>
          <p:nvPr/>
        </p:nvSpPr>
        <p:spPr>
          <a:xfrm>
            <a:off x="298544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discount facto"/>
          <p:cNvSpPr txBox="1"/>
          <p:nvPr/>
        </p:nvSpPr>
        <p:spPr>
          <a:xfrm>
            <a:off x="3150039" y="2592324"/>
            <a:ext cx="16935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discount factor γ</a:t>
            </a:r>
          </a:p>
        </p:txBody>
      </p:sp>
      <p:sp>
        <p:nvSpPr>
          <p:cNvPr id="37" name="!!term-state-value fu">
            <a:extLst>
              <a:ext uri="{C183D7F6-B498-43B3-948B-1728B52AA6E4}">
                <adec:decorative xmlns:adec="http://schemas.microsoft.com/office/drawing/2017/decorative" val="1"/>
              </a:ext>
            </a:extLst>
          </p:cNvPr>
          <p:cNvSpPr/>
          <p:nvPr/>
        </p:nvSpPr>
        <p:spPr>
          <a:xfrm>
            <a:off x="4880128" y="2468880"/>
            <a:ext cx="23162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state-value fu">
            <a:extLst>
              <a:ext uri="{C183D7F6-B498-43B3-948B-1728B52AA6E4}">
                <adec:decorative xmlns:adec="http://schemas.microsoft.com/office/drawing/2017/decorative" val="1"/>
              </a:ext>
            </a:extLst>
          </p:cNvPr>
          <p:cNvSpPr/>
          <p:nvPr/>
        </p:nvSpPr>
        <p:spPr>
          <a:xfrm>
            <a:off x="500814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state-value fu"/>
          <p:cNvSpPr txBox="1"/>
          <p:nvPr/>
        </p:nvSpPr>
        <p:spPr>
          <a:xfrm>
            <a:off x="5172736" y="2592324"/>
            <a:ext cx="213337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state-value function V</a:t>
            </a:r>
          </a:p>
        </p:txBody>
      </p:sp>
      <p:sp>
        <p:nvSpPr>
          <p:cNvPr id="40" name="!!term-action-value f">
            <a:extLst>
              <a:ext uri="{C183D7F6-B498-43B3-948B-1728B52AA6E4}">
                <adec:decorative xmlns:adec="http://schemas.microsoft.com/office/drawing/2017/decorative" val="1"/>
              </a:ext>
            </a:extLst>
          </p:cNvPr>
          <p:cNvSpPr/>
          <p:nvPr/>
        </p:nvSpPr>
        <p:spPr>
          <a:xfrm>
            <a:off x="7342688" y="2468880"/>
            <a:ext cx="24528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action-value f">
            <a:extLst>
              <a:ext uri="{C183D7F6-B498-43B3-948B-1728B52AA6E4}">
                <adec:decorative xmlns:adec="http://schemas.microsoft.com/office/drawing/2017/decorative" val="1"/>
              </a:ext>
            </a:extLst>
          </p:cNvPr>
          <p:cNvSpPr/>
          <p:nvPr/>
        </p:nvSpPr>
        <p:spPr>
          <a:xfrm>
            <a:off x="747070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action-value f"/>
          <p:cNvSpPr txBox="1"/>
          <p:nvPr/>
        </p:nvSpPr>
        <p:spPr>
          <a:xfrm>
            <a:off x="7635296" y="2592324"/>
            <a:ext cx="227000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action-value function Q</a:t>
            </a:r>
          </a:p>
        </p:txBody>
      </p:sp>
      <p:sp>
        <p:nvSpPr>
          <p:cNvPr id="43" name="!!term-Bellman expect">
            <a:extLst>
              <a:ext uri="{C183D7F6-B498-43B3-948B-1728B52AA6E4}">
                <adec:decorative xmlns:adec="http://schemas.microsoft.com/office/drawing/2017/decorative" val="1"/>
              </a:ext>
            </a:extLst>
          </p:cNvPr>
          <p:cNvSpPr/>
          <p:nvPr/>
        </p:nvSpPr>
        <p:spPr>
          <a:xfrm>
            <a:off x="658368" y="3090672"/>
            <a:ext cx="29882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Bellman expect">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Bellman expect"/>
          <p:cNvSpPr txBox="1"/>
          <p:nvPr/>
        </p:nvSpPr>
        <p:spPr>
          <a:xfrm>
            <a:off x="950976" y="3214116"/>
            <a:ext cx="280537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Bellman expectation equation</a:t>
            </a:r>
          </a:p>
        </p:txBody>
      </p:sp>
      <p:sp>
        <p:nvSpPr>
          <p:cNvPr id="46" name="!!term-Bellman optima">
            <a:extLst>
              <a:ext uri="{C183D7F6-B498-43B3-948B-1728B52AA6E4}">
                <adec:decorative xmlns:adec="http://schemas.microsoft.com/office/drawing/2017/decorative" val="1"/>
              </a:ext>
            </a:extLst>
          </p:cNvPr>
          <p:cNvSpPr/>
          <p:nvPr/>
        </p:nvSpPr>
        <p:spPr>
          <a:xfrm>
            <a:off x="3792931" y="3090672"/>
            <a:ext cx="285146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Bellman optima">
            <a:extLst>
              <a:ext uri="{C183D7F6-B498-43B3-948B-1728B52AA6E4}">
                <adec:decorative xmlns:adec="http://schemas.microsoft.com/office/drawing/2017/decorative" val="1"/>
              </a:ext>
            </a:extLst>
          </p:cNvPr>
          <p:cNvSpPr/>
          <p:nvPr/>
        </p:nvSpPr>
        <p:spPr>
          <a:xfrm>
            <a:off x="392094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Bellman optima"/>
          <p:cNvSpPr txBox="1"/>
          <p:nvPr/>
        </p:nvSpPr>
        <p:spPr>
          <a:xfrm>
            <a:off x="4085539" y="3214116"/>
            <a:ext cx="266858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Bellman optimality equation</a:t>
            </a:r>
          </a:p>
        </p:txBody>
      </p:sp>
      <p:sp>
        <p:nvSpPr>
          <p:cNvPr id="49" name="!!term-value iteratio">
            <a:extLst>
              <a:ext uri="{C183D7F6-B498-43B3-948B-1728B52AA6E4}">
                <adec:decorative xmlns:adec="http://schemas.microsoft.com/office/drawing/2017/decorative" val="1"/>
              </a:ext>
            </a:extLst>
          </p:cNvPr>
          <p:cNvSpPr/>
          <p:nvPr/>
        </p:nvSpPr>
        <p:spPr>
          <a:xfrm>
            <a:off x="6790700" y="3090672"/>
            <a:ext cx="166046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value iteratio">
            <a:extLst>
              <a:ext uri="{C183D7F6-B498-43B3-948B-1728B52AA6E4}">
                <adec:decorative xmlns:adec="http://schemas.microsoft.com/office/drawing/2017/decorative" val="1"/>
              </a:ext>
            </a:extLst>
          </p:cNvPr>
          <p:cNvSpPr/>
          <p:nvPr/>
        </p:nvSpPr>
        <p:spPr>
          <a:xfrm>
            <a:off x="691871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value iteratio"/>
          <p:cNvSpPr txBox="1"/>
          <p:nvPr/>
        </p:nvSpPr>
        <p:spPr>
          <a:xfrm>
            <a:off x="7083308" y="3214116"/>
            <a:ext cx="147758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value iteration</a:t>
            </a:r>
          </a:p>
        </p:txBody>
      </p:sp>
      <p:sp>
        <p:nvSpPr>
          <p:cNvPr id="52" name="!!term-policy evaluat">
            <a:extLst>
              <a:ext uri="{C183D7F6-B498-43B3-948B-1728B52AA6E4}">
                <adec:decorative xmlns:adec="http://schemas.microsoft.com/office/drawing/2017/decorative" val="1"/>
              </a:ext>
            </a:extLst>
          </p:cNvPr>
          <p:cNvSpPr/>
          <p:nvPr/>
        </p:nvSpPr>
        <p:spPr>
          <a:xfrm>
            <a:off x="8597464" y="3090672"/>
            <a:ext cx="18843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policy evaluat">
            <a:extLst>
              <a:ext uri="{C183D7F6-B498-43B3-948B-1728B52AA6E4}">
                <adec:decorative xmlns:adec="http://schemas.microsoft.com/office/drawing/2017/decorative" val="1"/>
              </a:ext>
            </a:extLst>
          </p:cNvPr>
          <p:cNvSpPr/>
          <p:nvPr/>
        </p:nvSpPr>
        <p:spPr>
          <a:xfrm>
            <a:off x="872548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policy evaluat"/>
          <p:cNvSpPr txBox="1"/>
          <p:nvPr/>
        </p:nvSpPr>
        <p:spPr>
          <a:xfrm>
            <a:off x="8890072" y="3214116"/>
            <a:ext cx="17014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policy evaluation</a:t>
            </a:r>
          </a:p>
        </p:txBody>
      </p:sp>
      <p:sp>
        <p:nvSpPr>
          <p:cNvPr id="55" name="!!term-policy improve">
            <a:extLst>
              <a:ext uri="{C183D7F6-B498-43B3-948B-1728B52AA6E4}">
                <adec:decorative xmlns:adec="http://schemas.microsoft.com/office/drawing/2017/decorative" val="1"/>
              </a:ext>
            </a:extLst>
          </p:cNvPr>
          <p:cNvSpPr/>
          <p:nvPr/>
        </p:nvSpPr>
        <p:spPr>
          <a:xfrm>
            <a:off x="658368" y="3712464"/>
            <a:ext cx="21476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policy improve">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policy improve"/>
          <p:cNvSpPr txBox="1"/>
          <p:nvPr/>
        </p:nvSpPr>
        <p:spPr>
          <a:xfrm>
            <a:off x="950976" y="3835908"/>
            <a:ext cx="196473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policy improvement</a:t>
            </a:r>
          </a:p>
        </p:txBody>
      </p:sp>
      <p:sp>
        <p:nvSpPr>
          <p:cNvPr id="58" name="!!term-policy iterati">
            <a:extLst>
              <a:ext uri="{C183D7F6-B498-43B3-948B-1728B52AA6E4}">
                <adec:decorative xmlns:adec="http://schemas.microsoft.com/office/drawing/2017/decorative" val="1"/>
              </a:ext>
            </a:extLst>
          </p:cNvPr>
          <p:cNvSpPr/>
          <p:nvPr/>
        </p:nvSpPr>
        <p:spPr>
          <a:xfrm>
            <a:off x="2952288" y="3712464"/>
            <a:ext cx="17158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policy iterati">
            <a:extLst>
              <a:ext uri="{C183D7F6-B498-43B3-948B-1728B52AA6E4}">
                <adec:decorative xmlns:adec="http://schemas.microsoft.com/office/drawing/2017/decorative" val="1"/>
              </a:ext>
            </a:extLst>
          </p:cNvPr>
          <p:cNvSpPr/>
          <p:nvPr/>
        </p:nvSpPr>
        <p:spPr>
          <a:xfrm>
            <a:off x="308030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policy iterati"/>
          <p:cNvSpPr txBox="1"/>
          <p:nvPr/>
        </p:nvSpPr>
        <p:spPr>
          <a:xfrm>
            <a:off x="3244896" y="3835908"/>
            <a:ext cx="15330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policy iteration</a:t>
            </a:r>
          </a:p>
        </p:txBody>
      </p:sp>
      <p:sp>
        <p:nvSpPr>
          <p:cNvPr id="61"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pfill">
            <a:extLst>
              <a:ext uri="{C183D7F6-B498-43B3-948B-1728B52AA6E4}">
                <adec:decorative xmlns:adec="http://schemas.microsoft.com/office/drawing/2017/decorative" val="1"/>
              </a:ext>
            </a:extLst>
          </p:cNvPr>
          <p:cNvSpPr/>
          <p:nvPr/>
        </p:nvSpPr>
        <p:spPr>
          <a:xfrm>
            <a:off x="0" y="0"/>
            <a:ext cx="101597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145–151     </a:t>
            </a:r>
            <a:fld id="{AE013F0B-CD3A-4B18-B3F2-6C613134243B}" type="slidenum">
              <a:rPr lang="en-GB" sz="1000">
                <a:solidFill>
                  <a:srgbClr val="8795A1"/>
                </a:solidFill>
                <a:latin typeface="Segoe UI"/>
              </a:rPr>
              <a:t>5</a:t>
            </a:fld>
          </a:p>
        </p:txBody>
      </p:sp>
      <p:sp>
        <p:nvSpPr>
          <p:cNvPr id="7" name="!!ag0" descr="Go to section 19.1 Decisions Whose Consequences Unfold">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19.1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Decisions Whose Consequences Unfold</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145  ›</a:t>
            </a:r>
          </a:p>
        </p:txBody>
      </p:sp>
      <p:sp>
        <p:nvSpPr>
          <p:cNvPr id="12" name="!!ag1" descr="Go to section 19.2 The Markov Decision Proces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19.2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Markov Decision Process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146  ›</a:t>
            </a:r>
          </a:p>
        </p:txBody>
      </p:sp>
      <p:sp>
        <p:nvSpPr>
          <p:cNvPr id="17" name="!!ag2" descr="Go to section 19.3 Value Functions and the Bellman Equation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19.3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Value Functions and the Bellman Equations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147  ›</a:t>
            </a:r>
          </a:p>
        </p:txBody>
      </p:sp>
      <p:sp>
        <p:nvSpPr>
          <p:cNvPr id="22" name="!!ag3" descr="Go to section 19.4 Value Iteration">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19.4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Value Iteration</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147  ›</a:t>
            </a:r>
          </a:p>
        </p:txBody>
      </p:sp>
      <p:sp>
        <p:nvSpPr>
          <p:cNvPr id="27" name="!!ag4" descr="Go to section 19.5 Policy Iterat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19.5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Policy Iteration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148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26996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agent–environment loop</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19.1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§19.1  ·  Handout p. 145     </a:t>
            </a:r>
            <a:fld id="{5EB42401-45D4-4842-93AD-B3985F082755}" type="slidenum">
              <a:rPr lang="en-GB" sz="1000">
                <a:solidFill>
                  <a:srgbClr val="8795A1"/>
                </a:solidFill>
                <a:latin typeface="Segoe UI"/>
              </a:rPr>
              <a:t>6</a:t>
            </a:fld>
          </a:p>
        </p:txBody>
      </p:sp>
      <p:pic>
        <p:nvPicPr>
          <p:cNvPr id="6" name="!!figure" descr="Figure 19.1. The agent–environment loop. Every problem in Part V’s last two chapters has this shap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93253"/>
            <a:ext cx="10874959" cy="311912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 problem in Part V’s last two chapters has this shape.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52396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Markov Decision Process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19.2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19.1   Decisions Whose Consequences Unfold</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19.2   The Markov Decision Process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19.3   Value Functions and the Bellman Equations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19.4   Value Iteration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19.5   Policy Iteration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§19.2     </a:t>
            </a:r>
            <a:fld id="{5914FE1D-4DE9-4AAA-B55C-43B404420097}"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77795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Markov Decision Process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§19.2  ·  Handout p. 146     </a:t>
            </a:r>
            <a:fld id="{97CF785E-54B2-4665-853F-EA55465CDF9D}"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0722"/>
          </a:xfrm>
          <a:prstGeom prst="roundRect">
            <a:avLst>
              <a:gd name="adj" fmla="val 20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072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An MDP consists of:</a:t>
            </a:r>
          </a:p>
        </p:txBody>
      </p:sp>
      <p:sp>
        <p:nvSpPr>
          <p:cNvPr id="10" name="body-1"/>
          <p:cNvSpPr txBox="1"/>
          <p:nvPr/>
        </p:nvSpPr>
        <p:spPr>
          <a:xfrm>
            <a:off x="1060704" y="2550617"/>
            <a:ext cx="10161727" cy="2082545"/>
          </a:xfrm>
          <a:prstGeom prst="rect">
            <a:avLst/>
          </a:prstGeom>
          <a:noFill/>
        </p:spPr>
        <p:txBody>
          <a:bodyPr wrap="square" anchor="t" lIns="0" rIns="0" tIns="0" bIns="0">
            <a:noAutofit/>
          </a:bodyPr>
          <a:lstStyle/>
          <a:p>
            <a:pPr algn="l" marL="245994" indent="-245994">
              <a:lnSpc>
                <a:spcPct val="104000"/>
              </a:lnSpc>
              <a:spcBef>
                <a:spcPts val="0"/>
              </a:spcBef>
              <a:spcAft>
                <a:spcPts val="769"/>
              </a:spcAft>
            </a:pPr>
            <a:r>
              <a:rPr sz="2200" b="1">
                <a:solidFill>
                  <a:srgbClr val="8A4500"/>
                </a:solidFill>
                <a:latin typeface="Segoe UI"/>
              </a:rPr>
              <a:t>•	</a:t>
            </a:r>
            <a:r>
              <a:rPr sz="2200" b="0" i="0">
                <a:solidFill>
                  <a:srgbClr val="1C252B"/>
                </a:solidFill>
                <a:latin typeface="Segoe UI"/>
              </a:rPr>
              <a:t>a set of </a:t>
            </a:r>
            <a:r>
              <a:rPr sz="2200" b="1" i="0">
                <a:solidFill>
                  <a:srgbClr val="1A5276"/>
                </a:solidFill>
                <a:latin typeface="Segoe UI"/>
              </a:rPr>
              <a:t>states</a:t>
            </a:r>
            <a:r>
              <a:rPr sz="2200" b="0" i="0">
                <a:solidFill>
                  <a:srgbClr val="1C252B"/>
                </a:solidFill>
                <a:latin typeface="Segoe UI"/>
              </a:rPr>
              <a:t> </a:t>
            </a:r>
            <a:r>
              <a:rPr sz="2200" b="0" i="1">
                <a:solidFill>
                  <a:srgbClr val="1C252B"/>
                </a:solidFill>
                <a:latin typeface="Cambria"/>
              </a:rPr>
              <a:t>S</a:t>
            </a:r>
            <a:r>
              <a:rPr sz="2200" b="0" i="0">
                <a:solidFill>
                  <a:srgbClr val="1C252B"/>
                </a:solidFill>
                <a:latin typeface="Segoe UI"/>
              </a:rPr>
              <a:t> and a set of </a:t>
            </a:r>
            <a:r>
              <a:rPr sz="2200" b="1" i="0">
                <a:solidFill>
                  <a:srgbClr val="1A5276"/>
                </a:solidFill>
                <a:latin typeface="Segoe UI"/>
              </a:rPr>
              <a:t>actions</a:t>
            </a:r>
            <a:r>
              <a:rPr sz="2200" b="0" i="0">
                <a:solidFill>
                  <a:srgbClr val="1C252B"/>
                </a:solidFill>
                <a:latin typeface="Segoe UI"/>
              </a:rPr>
              <a:t> </a:t>
            </a:r>
            <a:r>
              <a:rPr sz="2200" b="0" i="1">
                <a:solidFill>
                  <a:srgbClr val="1C252B"/>
                </a:solidFill>
                <a:latin typeface="Cambria"/>
              </a:rPr>
              <a:t>A</a:t>
            </a:r>
            <a:r>
              <a:rPr sz="2200" b="0" i="0">
                <a:solidFill>
                  <a:srgbClr val="1C252B"/>
                </a:solidFill>
                <a:latin typeface="Segoe UI"/>
              </a:rPr>
              <a:t>;</a:t>
            </a:r>
          </a:p>
          <a:p>
            <a:pPr algn="l" marL="245994" indent="-245994">
              <a:lnSpc>
                <a:spcPct val="104000"/>
              </a:lnSpc>
              <a:spcBef>
                <a:spcPts val="0"/>
              </a:spcBef>
              <a:spcAft>
                <a:spcPts val="769"/>
              </a:spcAft>
            </a:pPr>
            <a:r>
              <a:rPr sz="2200" b="1">
                <a:solidFill>
                  <a:srgbClr val="8A4500"/>
                </a:solidFill>
                <a:latin typeface="Segoe UI"/>
              </a:rPr>
              <a:t>•	</a:t>
            </a:r>
            <a:r>
              <a:rPr sz="2200" b="0" i="0">
                <a:solidFill>
                  <a:srgbClr val="1C252B"/>
                </a:solidFill>
                <a:latin typeface="Segoe UI"/>
              </a:rPr>
              <a:t>a </a:t>
            </a:r>
            <a:r>
              <a:rPr sz="2200" b="1" i="0">
                <a:solidFill>
                  <a:srgbClr val="1A5276"/>
                </a:solidFill>
                <a:latin typeface="Segoe UI"/>
              </a:rPr>
              <a:t>transition model</a:t>
            </a:r>
            <a:r>
              <a:rPr sz="2200" b="0" i="0">
                <a:solidFill>
                  <a:srgbClr val="1C252B"/>
                </a:solidFill>
                <a:latin typeface="Segoe UI"/>
              </a:rPr>
              <a:t>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 </a:t>
            </a:r>
            <a:r>
              <a:rPr sz="2200" b="0" i="1">
                <a:solidFill>
                  <a:srgbClr val="1C252B"/>
                </a:solidFill>
                <a:latin typeface="Cambria"/>
              </a:rPr>
              <a:t>s</a:t>
            </a:r>
            <a:r>
              <a:rPr sz="2200" b="0" i="0">
                <a:solidFill>
                  <a:srgbClr val="1C252B"/>
                </a:solidFill>
                <a:latin typeface="Cambria"/>
              </a:rPr>
              <a:t>, </a:t>
            </a:r>
            <a:r>
              <a:rPr sz="2200" b="0" i="1">
                <a:solidFill>
                  <a:srgbClr val="1C252B"/>
                </a:solidFill>
                <a:latin typeface="Cambria"/>
              </a:rPr>
              <a:t>a</a:t>
            </a:r>
            <a:r>
              <a:rPr sz="2200" b="0" i="0">
                <a:solidFill>
                  <a:srgbClr val="1C252B"/>
                </a:solidFill>
                <a:latin typeface="Cambria"/>
              </a:rPr>
              <a:t>)</a:t>
            </a:r>
            <a:r>
              <a:rPr sz="2200" b="0" i="0">
                <a:solidFill>
                  <a:srgbClr val="1C252B"/>
                </a:solidFill>
                <a:latin typeface="Segoe UI"/>
              </a:rPr>
              <a:t> — the probability that action </a:t>
            </a:r>
            <a:r>
              <a:rPr sz="2200" b="0" i="1">
                <a:solidFill>
                  <a:srgbClr val="1C252B"/>
                </a:solidFill>
                <a:latin typeface="Cambria"/>
              </a:rPr>
              <a:t>a</a:t>
            </a:r>
            <a:r>
              <a:rPr sz="2200" b="0" i="0">
                <a:solidFill>
                  <a:srgbClr val="1C252B"/>
                </a:solidFill>
                <a:latin typeface="Segoe UI"/>
              </a:rPr>
              <a:t> in state </a:t>
            </a:r>
            <a:r>
              <a:rPr sz="2200" b="0" i="1">
                <a:solidFill>
                  <a:srgbClr val="1C252B"/>
                </a:solidFill>
                <a:latin typeface="Cambria"/>
              </a:rPr>
              <a:t>s</a:t>
            </a:r>
            <a:r>
              <a:rPr sz="2200" b="0" i="0">
                <a:solidFill>
                  <a:srgbClr val="1C252B"/>
                </a:solidFill>
                <a:latin typeface="Segoe UI"/>
              </a:rPr>
              <a:t> leads to state </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a:t>
            </a:r>
          </a:p>
          <a:p>
            <a:pPr algn="l" marL="245994" indent="-245994">
              <a:lnSpc>
                <a:spcPct val="104000"/>
              </a:lnSpc>
              <a:spcBef>
                <a:spcPts val="0"/>
              </a:spcBef>
              <a:spcAft>
                <a:spcPts val="769"/>
              </a:spcAft>
            </a:pPr>
            <a:r>
              <a:rPr sz="2200" b="1">
                <a:solidFill>
                  <a:srgbClr val="8A4500"/>
                </a:solidFill>
                <a:latin typeface="Segoe UI"/>
              </a:rPr>
              <a:t>•	</a:t>
            </a:r>
            <a:r>
              <a:rPr sz="2200" b="0" i="0">
                <a:solidFill>
                  <a:srgbClr val="1C252B"/>
                </a:solidFill>
                <a:latin typeface="Segoe UI"/>
              </a:rPr>
              <a:t>a </a:t>
            </a:r>
            <a:r>
              <a:rPr sz="2200" b="1" i="0">
                <a:solidFill>
                  <a:srgbClr val="1A5276"/>
                </a:solidFill>
                <a:latin typeface="Segoe UI"/>
              </a:rPr>
              <a:t>reward</a:t>
            </a:r>
            <a:r>
              <a:rPr sz="2200" b="0" i="0">
                <a:solidFill>
                  <a:srgbClr val="1C252B"/>
                </a:solidFill>
                <a:latin typeface="Segoe UI"/>
              </a:rPr>
              <a:t> </a:t>
            </a:r>
            <a:r>
              <a:rPr sz="2200" b="0" i="1">
                <a:solidFill>
                  <a:srgbClr val="1C252B"/>
                </a:solidFill>
                <a:latin typeface="Cambria"/>
              </a:rPr>
              <a:t>R</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a:t>
            </a:r>
            <a:r>
              <a:rPr sz="2200" b="0" i="1">
                <a:solidFill>
                  <a:srgbClr val="1C252B"/>
                </a:solidFill>
                <a:latin typeface="Cambria"/>
              </a:rPr>
              <a:t>a</a:t>
            </a:r>
            <a:r>
              <a:rPr sz="2200" b="0" i="0">
                <a:solidFill>
                  <a:srgbClr val="1C252B"/>
                </a:solidFill>
                <a:latin typeface="Cambria"/>
              </a:rPr>
              <a:t>)</a:t>
            </a:r>
            <a:r>
              <a:rPr sz="2200" b="0" i="0">
                <a:solidFill>
                  <a:srgbClr val="1C252B"/>
                </a:solidFill>
                <a:latin typeface="Segoe UI"/>
              </a:rPr>
              <a:t> received for taking </a:t>
            </a:r>
            <a:r>
              <a:rPr sz="2200" b="0" i="1">
                <a:solidFill>
                  <a:srgbClr val="1C252B"/>
                </a:solidFill>
                <a:latin typeface="Cambria"/>
              </a:rPr>
              <a:t>a</a:t>
            </a:r>
            <a:r>
              <a:rPr sz="2200" b="0" i="0">
                <a:solidFill>
                  <a:srgbClr val="1C252B"/>
                </a:solidFill>
                <a:latin typeface="Segoe UI"/>
              </a:rPr>
              <a:t> in </a:t>
            </a:r>
            <a:r>
              <a:rPr sz="2200" b="0" i="1">
                <a:solidFill>
                  <a:srgbClr val="1C252B"/>
                </a:solidFill>
                <a:latin typeface="Cambria"/>
              </a:rPr>
              <a:t>s</a:t>
            </a:r>
            <a:r>
              <a:rPr sz="2200" b="0" i="0">
                <a:solidFill>
                  <a:srgbClr val="1C252B"/>
                </a:solidFill>
                <a:latin typeface="Segoe UI"/>
              </a:rPr>
              <a:t> (or </a:t>
            </a:r>
            <a:r>
              <a:rPr sz="2200" b="0" i="1">
                <a:solidFill>
                  <a:srgbClr val="1C252B"/>
                </a:solidFill>
                <a:latin typeface="Cambria"/>
              </a:rPr>
              <a:t>R</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a:t>
            </a:r>
            <a:r>
              <a:rPr sz="2200" b="0" i="1">
                <a:solidFill>
                  <a:srgbClr val="1C252B"/>
                </a:solidFill>
                <a:latin typeface="Cambria"/>
              </a:rPr>
              <a:t>a</a:t>
            </a:r>
            <a:r>
              <a:rPr sz="2200" b="0" i="0">
                <a:solidFill>
                  <a:srgbClr val="1C252B"/>
                </a:solidFill>
                <a:latin typeface="Cambria"/>
              </a:rPr>
              <a:t>, </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a:t>
            </a:r>
          </a:p>
          <a:p>
            <a:pPr algn="l" marL="245994" indent="-245994">
              <a:lnSpc>
                <a:spcPct val="104000"/>
              </a:lnSpc>
              <a:spcBef>
                <a:spcPts val="0"/>
              </a:spcBef>
              <a:spcAft>
                <a:spcPts val="0"/>
              </a:spcAft>
            </a:pPr>
            <a:r>
              <a:rPr sz="2200" b="1">
                <a:solidFill>
                  <a:srgbClr val="8A4500"/>
                </a:solidFill>
                <a:latin typeface="Segoe UI"/>
              </a:rPr>
              <a:t>•	</a:t>
            </a:r>
            <a:r>
              <a:rPr sz="2200" b="0" i="0">
                <a:solidFill>
                  <a:srgbClr val="1C252B"/>
                </a:solidFill>
                <a:latin typeface="Segoe UI"/>
              </a:rPr>
              <a:t>a </a:t>
            </a:r>
            <a:r>
              <a:rPr sz="2200" b="1" i="0">
                <a:solidFill>
                  <a:srgbClr val="1A5276"/>
                </a:solidFill>
                <a:latin typeface="Segoe UI"/>
              </a:rPr>
              <a:t>discount factor</a:t>
            </a:r>
            <a:r>
              <a:rPr sz="2200" b="0" i="0">
                <a:solidFill>
                  <a:srgbClr val="1C252B"/>
                </a:solidFill>
                <a:latin typeface="Segoe UI"/>
              </a:rPr>
              <a:t> </a:t>
            </a:r>
            <a:r>
              <a:rPr sz="2200" b="0" i="0">
                <a:solidFill>
                  <a:srgbClr val="1C252B"/>
                </a:solidFill>
                <a:latin typeface="Cambria"/>
              </a:rPr>
              <a:t>0 ≤ γ &lt; 1</a:t>
            </a:r>
            <a:r>
              <a:rPr sz="2200" b="0" i="0">
                <a:solidFill>
                  <a:srgbClr val="1C252B"/>
                </a:solidFill>
                <a:latin typeface="Segoe UI"/>
              </a:rPr>
              <a:t>.</a:t>
            </a:r>
          </a:p>
        </p:txBody>
      </p:sp>
      <p:sp>
        <p:nvSpPr>
          <p:cNvPr id="11" name="body-2"/>
          <p:cNvSpPr txBox="1"/>
          <p:nvPr/>
        </p:nvSpPr>
        <p:spPr>
          <a:xfrm>
            <a:off x="1060704" y="4741113"/>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has the Markov property: what happens next depends only on the current state and action. A </a:t>
            </a:r>
            <a:r>
              <a:rPr sz="2200" b="1" i="0">
                <a:solidFill>
                  <a:srgbClr val="1A5276"/>
                </a:solidFill>
                <a:latin typeface="Segoe UI"/>
              </a:rPr>
              <a:t>policy</a:t>
            </a:r>
            <a:r>
              <a:rPr sz="2200" b="0" i="0">
                <a:solidFill>
                  <a:srgbClr val="1C252B"/>
                </a:solidFill>
                <a:latin typeface="Segoe UI"/>
              </a:rPr>
              <a:t> </a:t>
            </a:r>
            <a:r>
              <a:rPr sz="2200" b="0" i="0">
                <a:solidFill>
                  <a:srgbClr val="1C252B"/>
                </a:solidFill>
                <a:latin typeface="Cambria"/>
              </a:rPr>
              <a:t>π</a:t>
            </a:r>
            <a:r>
              <a:rPr sz="2200" b="0" i="0">
                <a:solidFill>
                  <a:srgbClr val="1C252B"/>
                </a:solidFill>
                <a:latin typeface="Segoe UI"/>
              </a:rPr>
              <a:t> says what to do in each state, </a:t>
            </a:r>
            <a:r>
              <a:rPr sz="2200" b="0" i="1">
                <a:solidFill>
                  <a:srgbClr val="1C252B"/>
                </a:solidFill>
                <a:latin typeface="Cambria"/>
              </a:rPr>
              <a:t>a</a:t>
            </a:r>
            <a:r>
              <a:rPr sz="2200" b="0" i="0">
                <a:solidFill>
                  <a:srgbClr val="1C252B"/>
                </a:solidFill>
                <a:latin typeface="Cambria"/>
              </a:rPr>
              <a:t> = π(</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 solving the MDP means finding the policy that maximises the expected discounted return.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203194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maintenance MDP of the worked examples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19.2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§19.2  ·  Handout p. 146     </a:t>
            </a:r>
            <a:fld id="{3971158C-15A4-4E9A-80E8-82C8389E29A8}" type="slidenum">
              <a:rPr lang="en-GB" sz="1000">
                <a:solidFill>
                  <a:srgbClr val="8795A1"/>
                </a:solidFill>
                <a:latin typeface="Segoe UI"/>
              </a:rPr>
              <a:t>9</a:t>
            </a:fld>
          </a:p>
        </p:txBody>
      </p:sp>
      <p:pic>
        <p:nvPicPr>
          <p:cNvPr id="6" name="!!figure" descr="Figure 19.2. The maintenance MDP of the worked examples. Operating earns money but risks decline; repairing costs money and restores the machin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77195"/>
            <a:ext cx="10874959" cy="378231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Operating earns money but risks decline; repairing costs money and restores the machine.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8594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Return and Discounting</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§19.2  ·  Handout p. 146     </a:t>
            </a:r>
            <a:fld id="{7676B984-C338-4EAD-A1B9-5113F43F755D}"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76930"/>
          </a:xfrm>
          <a:prstGeom prst="roundRect">
            <a:avLst>
              <a:gd name="adj" fmla="val 270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76930"/>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return</a:t>
            </a:r>
            <a:r>
              <a:rPr sz="2300" b="0" i="0">
                <a:solidFill>
                  <a:srgbClr val="1C252B"/>
                </a:solidFill>
                <a:latin typeface="Segoe UI"/>
              </a:rPr>
              <a:t> from time </a:t>
            </a:r>
            <a:r>
              <a:rPr sz="2300" b="0" i="1">
                <a:solidFill>
                  <a:srgbClr val="1C252B"/>
                </a:solidFill>
                <a:latin typeface="Cambria"/>
              </a:rPr>
              <a:t>t</a:t>
            </a:r>
            <a:r>
              <a:rPr sz="2300" b="0" i="0">
                <a:solidFill>
                  <a:srgbClr val="1C252B"/>
                </a:solidFill>
                <a:latin typeface="Segoe UI"/>
              </a:rPr>
              <a:t> is the discounted sum of future rewards:</a:t>
            </a:r>
          </a:p>
        </p:txBody>
      </p:sp>
      <p:pic>
        <p:nvPicPr>
          <p:cNvPr id="10" name="body-1" descr="G_t = r_{t+1} + \gamma\,r_{t+2} + \gamma^2 r_{t+3} + \dots = \sum_{k=0}^{\infty}\gamma^k\,r_{t+k+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975664"/>
          </a:xfrm>
          <a:prstGeom prst="rect">
            <a:avLst/>
          </a:prstGeom>
        </p:spPr>
      </p:pic>
      <p:sp>
        <p:nvSpPr>
          <p:cNvPr id="11" name="body-2"/>
          <p:cNvSpPr txBox="1"/>
          <p:nvPr/>
        </p:nvSpPr>
        <p:spPr>
          <a:xfrm>
            <a:off x="1060704" y="3709771"/>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t>
            </a:r>
            <a:r>
              <a:rPr sz="2300" b="0" i="0">
                <a:solidFill>
                  <a:srgbClr val="1C252B"/>
                </a:solidFill>
                <a:latin typeface="Cambria"/>
              </a:rPr>
              <a:t>γ &lt; 1</a:t>
            </a:r>
            <a:r>
              <a:rPr sz="2300" b="0" i="0">
                <a:solidFill>
                  <a:srgbClr val="1C252B"/>
                </a:solidFill>
                <a:latin typeface="Segoe UI"/>
              </a:rPr>
              <a:t> the sum is finite even for tasks that never end, and a reward </a:t>
            </a:r>
            <a:r>
              <a:rPr sz="2300" b="0" i="1">
                <a:solidFill>
                  <a:srgbClr val="1C252B"/>
                </a:solidFill>
                <a:latin typeface="Cambria"/>
              </a:rPr>
              <a:t>k</a:t>
            </a:r>
            <a:r>
              <a:rPr sz="2300" b="0" i="0">
                <a:solidFill>
                  <a:srgbClr val="1C252B"/>
                </a:solidFill>
                <a:latin typeface="Segoe UI"/>
              </a:rPr>
              <a:t> steps away is worth </a:t>
            </a:r>
            <a:r>
              <a:rPr sz="2300" b="0" i="0">
                <a:solidFill>
                  <a:srgbClr val="1C252B"/>
                </a:solidFill>
                <a:latin typeface="Cambria"/>
              </a:rPr>
              <a:t>γ</a:t>
            </a:r>
            <a:r>
              <a:rPr sz="2300" b="0" i="1" baseline="30000">
                <a:solidFill>
                  <a:srgbClr val="1C252B"/>
                </a:solidFill>
                <a:latin typeface="Cambria"/>
              </a:rPr>
              <a:t>k</a:t>
            </a:r>
            <a:r>
              <a:rPr sz="2300" b="0" i="0">
                <a:solidFill>
                  <a:srgbClr val="1C252B"/>
                </a:solidFill>
                <a:latin typeface="Segoe UI"/>
              </a:rPr>
              <a:t> of the same reward now. A small </a:t>
            </a:r>
            <a:r>
              <a:rPr sz="2300" b="0" i="0">
                <a:solidFill>
                  <a:srgbClr val="1C252B"/>
                </a:solidFill>
                <a:latin typeface="Cambria"/>
              </a:rPr>
              <a:t>γ</a:t>
            </a:r>
            <a:r>
              <a:rPr sz="2300" b="0" i="0">
                <a:solidFill>
                  <a:srgbClr val="1C252B"/>
                </a:solidFill>
                <a:latin typeface="Segoe UI"/>
              </a:rPr>
              <a:t> makes the agent short-sighted; </a:t>
            </a:r>
            <a:r>
              <a:rPr sz="2300" b="0" i="0">
                <a:solidFill>
                  <a:srgbClr val="1C252B"/>
                </a:solidFill>
                <a:latin typeface="Cambria"/>
              </a:rPr>
              <a:t>γ</a:t>
            </a:r>
            <a:r>
              <a:rPr sz="2300" b="0" i="0">
                <a:solidFill>
                  <a:srgbClr val="1C252B"/>
                </a:solidFill>
                <a:latin typeface="Segoe UI"/>
              </a:rPr>
              <a:t> close to 1 makes it patient.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53993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Two Returns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§19.2  ·  Handout p. 146     </a:t>
            </a:r>
            <a:fld id="{F64587DD-83C2-461C-9517-C40B73E1E83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30929"/>
          </a:xfrm>
          <a:prstGeom prst="roundRect">
            <a:avLst>
              <a:gd name="adj" fmla="val 232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3092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With </a:t>
            </a:r>
            <a:r>
              <a:rPr sz="2100" b="0" i="0">
                <a:solidFill>
                  <a:srgbClr val="1C252B"/>
                </a:solidFill>
                <a:latin typeface="Cambria"/>
              </a:rPr>
              <a:t>γ = 0.9</a:t>
            </a:r>
            <a:r>
              <a:rPr sz="2100" b="0" i="0">
                <a:solidFill>
                  <a:srgbClr val="1C252B"/>
                </a:solidFill>
                <a:latin typeface="Segoe UI"/>
              </a:rPr>
              <a:t>:</a:t>
            </a:r>
          </a:p>
        </p:txBody>
      </p:sp>
      <p:sp>
        <p:nvSpPr>
          <p:cNvPr id="10" name="body-1"/>
          <p:cNvSpPr txBox="1"/>
          <p:nvPr/>
        </p:nvSpPr>
        <p:spPr>
          <a:xfrm>
            <a:off x="1042416" y="2491206"/>
            <a:ext cx="10234879" cy="2136114"/>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Rewards </a:t>
            </a:r>
            <a:r>
              <a:rPr sz="2100" b="0" i="0">
                <a:solidFill>
                  <a:srgbClr val="1C252B"/>
                </a:solidFill>
                <a:latin typeface="Cambria"/>
              </a:rPr>
              <a:t>10, 10, 10, 5, 5, 0, 0, …</a:t>
            </a:r>
            <a:r>
              <a:rPr sz="2100" b="0" i="0">
                <a:solidFill>
                  <a:srgbClr val="1C252B"/>
                </a:solidFill>
                <a:latin typeface="Segoe UI"/>
              </a:rPr>
              <a:t> (operate until the machine fails): </a:t>
            </a:r>
            <a:r>
              <a:rPr sz="2100" b="0" i="1">
                <a:solidFill>
                  <a:srgbClr val="1C252B"/>
                </a:solidFill>
                <a:latin typeface="Cambria"/>
              </a:rPr>
              <a:t>G</a:t>
            </a:r>
            <a:r>
              <a:rPr sz="2100" b="0" i="0">
                <a:solidFill>
                  <a:srgbClr val="1C252B"/>
                </a:solidFill>
                <a:latin typeface="Cambria"/>
              </a:rPr>
              <a:t> = 10 + 9 + 8.1 + 5(0.729) + 5(0.656) = 27.1 + 3.645 + 3.281 = </a:t>
            </a:r>
            <a:r>
              <a:rPr sz="2100" b="1" i="0">
                <a:solidFill>
                  <a:srgbClr val="1C252B"/>
                </a:solidFill>
                <a:latin typeface="Cambria"/>
              </a:rPr>
              <a:t>34.0</a:t>
            </a:r>
            <a:r>
              <a:rPr sz="2100" b="0" i="0">
                <a:solidFill>
                  <a:srgbClr val="1C252B"/>
                </a:solidFill>
                <a:latin typeface="Segoe UI"/>
              </a:rPr>
              <a:t>.</a:t>
            </a:r>
          </a:p>
          <a:p>
            <a:pPr algn="l" marL="234813" indent="-234813">
              <a:lnSpc>
                <a:spcPct val="104000"/>
              </a:lnSpc>
              <a:spcBef>
                <a:spcPts val="0"/>
              </a:spcBef>
              <a:spcAft>
                <a:spcPts val="0"/>
              </a:spcAft>
            </a:pPr>
            <a:r>
              <a:rPr sz="2100" b="1">
                <a:solidFill>
                  <a:srgbClr val="7D6608"/>
                </a:solidFill>
                <a:latin typeface="Segoe UI"/>
              </a:rPr>
              <a:t>•	</a:t>
            </a:r>
            <a:r>
              <a:rPr sz="2100" b="0" i="0">
                <a:solidFill>
                  <a:srgbClr val="1C252B"/>
                </a:solidFill>
                <a:latin typeface="Segoe UI"/>
              </a:rPr>
              <a:t>Rewards </a:t>
            </a:r>
            <a:r>
              <a:rPr sz="2100" b="0" i="0">
                <a:solidFill>
                  <a:srgbClr val="1C252B"/>
                </a:solidFill>
                <a:latin typeface="Cambria"/>
              </a:rPr>
              <a:t>10, 10, −4, 10, 10, …</a:t>
            </a:r>
            <a:r>
              <a:rPr sz="2100" b="0" i="0">
                <a:solidFill>
                  <a:srgbClr val="1C252B"/>
                </a:solidFill>
                <a:latin typeface="Segoe UI"/>
              </a:rPr>
              <a:t> (repair once, then keep operating): the first two give </a:t>
            </a:r>
            <a:r>
              <a:rPr sz="2100" b="0" i="0">
                <a:solidFill>
                  <a:srgbClr val="1C252B"/>
                </a:solidFill>
                <a:latin typeface="Cambria"/>
              </a:rPr>
              <a:t>19</a:t>
            </a:r>
            <a:r>
              <a:rPr sz="2100" b="0" i="0">
                <a:solidFill>
                  <a:srgbClr val="1C252B"/>
                </a:solidFill>
                <a:latin typeface="Segoe UI"/>
              </a:rPr>
              <a:t>; the repair costs </a:t>
            </a:r>
            <a:r>
              <a:rPr sz="2100" b="0" i="0">
                <a:solidFill>
                  <a:srgbClr val="1C252B"/>
                </a:solidFill>
                <a:latin typeface="Cambria"/>
              </a:rPr>
              <a:t>4 × 0.81 = 3.24</a:t>
            </a:r>
            <a:r>
              <a:rPr sz="2100" b="0" i="0">
                <a:solidFill>
                  <a:srgbClr val="1C252B"/>
                </a:solidFill>
                <a:latin typeface="Segoe UI"/>
              </a:rPr>
              <a:t>; and a healthy machine thereafter earns, at the least, </a:t>
            </a:r>
            <a:r>
              <a:rPr sz="2100" b="0" i="0">
                <a:solidFill>
                  <a:srgbClr val="1C252B"/>
                </a:solidFill>
                <a:latin typeface="Cambria"/>
              </a:rPr>
              <a:t>10(0.729 + 0.656 + …) = 10 × 0.729/(1 − 0.9) = 72.9</a:t>
            </a:r>
            <a:r>
              <a:rPr sz="2100" b="0" i="0">
                <a:solidFill>
                  <a:srgbClr val="1C252B"/>
                </a:solidFill>
                <a:latin typeface="Segoe UI"/>
              </a:rPr>
              <a:t> if it never degrades again. The repair pays for itself many times over.</a:t>
            </a:r>
          </a:p>
        </p:txBody>
      </p:sp>
      <p:sp>
        <p:nvSpPr>
          <p:cNvPr id="11" name="body-2"/>
          <p:cNvSpPr txBox="1"/>
          <p:nvPr/>
        </p:nvSpPr>
        <p:spPr>
          <a:xfrm>
            <a:off x="1042416" y="4728286"/>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second calculation needs to know what happens after the repair — which is exactly what the value functions below capture.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79393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Value Functions and the Bellman Equations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19.3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19.1   Decisions Whose Consequences Unfold</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19.2   The Markov Decision Process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19.3   Value Functions and the Bellman Equations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19.4   Value Iteration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19.5   Policy Iteration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§19.3     </a:t>
            </a:r>
            <a:fld id="{55D239A8-8F73-4AFF-B3C2-78992306AFF7}" type="slidenum">
              <a:rPr lang="en-GB" sz="1000">
                <a:solidFill>
                  <a:srgbClr val="8795A1"/>
                </a:solidFill>
                <a:latin typeface="Segoe UI"/>
              </a:rPr>
              <a:t>12</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State and Action Values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§19.3  ·  Handout p. 147     </a:t>
            </a:r>
            <a:fld id="{73EE3208-A051-443F-8A60-41616DCB001B}"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8891"/>
          </a:xfrm>
          <a:prstGeom prst="roundRect">
            <a:avLst>
              <a:gd name="adj" fmla="val 203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889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Under a policy </a:t>
            </a:r>
            <a:r>
              <a:rPr sz="2000" b="0" i="0">
                <a:solidFill>
                  <a:srgbClr val="1C252B"/>
                </a:solidFill>
                <a:latin typeface="Cambria"/>
              </a:rPr>
              <a:t>π</a:t>
            </a:r>
            <a:r>
              <a:rPr sz="2000" b="0" i="0">
                <a:solidFill>
                  <a:srgbClr val="1C252B"/>
                </a:solidFill>
                <a:latin typeface="Segoe UI"/>
              </a:rPr>
              <a:t>, the </a:t>
            </a:r>
            <a:r>
              <a:rPr sz="2000" b="1" i="0">
                <a:solidFill>
                  <a:srgbClr val="1A5276"/>
                </a:solidFill>
                <a:latin typeface="Segoe UI"/>
              </a:rPr>
              <a:t>state value</a:t>
            </a:r>
            <a:r>
              <a:rPr sz="2000" b="0" i="0">
                <a:solidFill>
                  <a:srgbClr val="1C252B"/>
                </a:solidFill>
                <a:latin typeface="Segoe UI"/>
              </a:rPr>
              <a:t> </a:t>
            </a:r>
            <a:r>
              <a:rPr sz="2000" b="0" i="1">
                <a:solidFill>
                  <a:srgbClr val="1C252B"/>
                </a:solidFill>
                <a:latin typeface="Cambria"/>
              </a:rPr>
              <a:t>V</a:t>
            </a:r>
            <a:r>
              <a:rPr sz="2000" b="0" i="0" baseline="30000">
                <a:solidFill>
                  <a:srgbClr val="1C252B"/>
                </a:solidFill>
                <a:latin typeface="Cambria"/>
              </a:rPr>
              <a:t>π</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a:t>
            </a:r>
            <a:r>
              <a:rPr sz="2000" b="0" i="0">
                <a:solidFill>
                  <a:srgbClr val="1C252B"/>
                </a:solidFill>
                <a:latin typeface="Segoe UI"/>
              </a:rPr>
              <a:t> is the expected return starting from </a:t>
            </a:r>
            <a:r>
              <a:rPr sz="2000" b="0" i="1">
                <a:solidFill>
                  <a:srgbClr val="1C252B"/>
                </a:solidFill>
                <a:latin typeface="Cambria"/>
              </a:rPr>
              <a:t>s</a:t>
            </a:r>
            <a:r>
              <a:rPr sz="2000" b="0" i="0">
                <a:solidFill>
                  <a:srgbClr val="1C252B"/>
                </a:solidFill>
                <a:latin typeface="Segoe UI"/>
              </a:rPr>
              <a:t> and following </a:t>
            </a:r>
            <a:r>
              <a:rPr sz="2000" b="0" i="0">
                <a:solidFill>
                  <a:srgbClr val="1C252B"/>
                </a:solidFill>
                <a:latin typeface="Cambria"/>
              </a:rPr>
              <a:t>π</a:t>
            </a:r>
            <a:r>
              <a:rPr sz="2000" b="0" i="0">
                <a:solidFill>
                  <a:srgbClr val="1C252B"/>
                </a:solidFill>
                <a:latin typeface="Segoe UI"/>
              </a:rPr>
              <a:t>; the </a:t>
            </a:r>
            <a:r>
              <a:rPr sz="2000" b="1" i="0">
                <a:solidFill>
                  <a:srgbClr val="1A5276"/>
                </a:solidFill>
                <a:latin typeface="Segoe UI"/>
              </a:rPr>
              <a:t>action value</a:t>
            </a:r>
            <a:r>
              <a:rPr sz="2000" b="0" i="0">
                <a:solidFill>
                  <a:srgbClr val="1C252B"/>
                </a:solidFill>
                <a:latin typeface="Segoe UI"/>
              </a:rPr>
              <a:t> </a:t>
            </a:r>
            <a:r>
              <a:rPr sz="2000" b="0" i="1">
                <a:solidFill>
                  <a:srgbClr val="1C252B"/>
                </a:solidFill>
                <a:latin typeface="Cambria"/>
              </a:rPr>
              <a:t>Q</a:t>
            </a:r>
            <a:r>
              <a:rPr sz="2000" b="0" i="0" baseline="30000">
                <a:solidFill>
                  <a:srgbClr val="1C252B"/>
                </a:solidFill>
                <a:latin typeface="Cambria"/>
              </a:rPr>
              <a:t>π</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r>
              <a:rPr sz="2000" b="0" i="0">
                <a:solidFill>
                  <a:srgbClr val="1C252B"/>
                </a:solidFill>
                <a:latin typeface="Segoe UI"/>
              </a:rPr>
              <a:t> is the expected return from taking </a:t>
            </a:r>
            <a:r>
              <a:rPr sz="2000" b="0" i="1">
                <a:solidFill>
                  <a:srgbClr val="1C252B"/>
                </a:solidFill>
                <a:latin typeface="Cambria"/>
              </a:rPr>
              <a:t>a</a:t>
            </a:r>
            <a:r>
              <a:rPr sz="2000" b="0" i="0">
                <a:solidFill>
                  <a:srgbClr val="1C252B"/>
                </a:solidFill>
                <a:latin typeface="Segoe UI"/>
              </a:rPr>
              <a:t> in </a:t>
            </a:r>
            <a:r>
              <a:rPr sz="2000" b="0" i="1">
                <a:solidFill>
                  <a:srgbClr val="1C252B"/>
                </a:solidFill>
                <a:latin typeface="Cambria"/>
              </a:rPr>
              <a:t>s</a:t>
            </a:r>
            <a:r>
              <a:rPr sz="2000" b="0" i="0">
                <a:solidFill>
                  <a:srgbClr val="1C252B"/>
                </a:solidFill>
                <a:latin typeface="Segoe UI"/>
              </a:rPr>
              <a:t> and following </a:t>
            </a:r>
            <a:r>
              <a:rPr sz="2000" b="0" i="0">
                <a:solidFill>
                  <a:srgbClr val="1C252B"/>
                </a:solidFill>
                <a:latin typeface="Cambria"/>
              </a:rPr>
              <a:t>π</a:t>
            </a:r>
            <a:r>
              <a:rPr sz="2000" b="0" i="0">
                <a:solidFill>
                  <a:srgbClr val="1C252B"/>
                </a:solidFill>
                <a:latin typeface="Segoe UI"/>
              </a:rPr>
              <a:t> afterwards. They satisfy the </a:t>
            </a:r>
            <a:r>
              <a:rPr sz="2000" b="1" i="0">
                <a:solidFill>
                  <a:srgbClr val="1A5276"/>
                </a:solidFill>
                <a:latin typeface="Segoe UI"/>
              </a:rPr>
              <a:t>Bellman expectation equation</a:t>
            </a:r>
            <a:r>
              <a:rPr sz="2000" b="0" i="0">
                <a:solidFill>
                  <a:srgbClr val="1C252B"/>
                </a:solidFill>
                <a:latin typeface="Segoe UI"/>
              </a:rPr>
              <a:t>:</a:t>
            </a:r>
          </a:p>
        </p:txBody>
      </p:sp>
      <p:pic>
        <p:nvPicPr>
          <p:cNvPr id="10" name="body-1" descr="V^{\pi}(s) = R(s, \pi(s)) + \gamma\sum_{s'} P(s' \mid s, \pi(s))\,V^{\pi}(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138931"/>
            <a:ext cx="10161727" cy="703173"/>
          </a:xfrm>
          <a:prstGeom prst="rect">
            <a:avLst/>
          </a:prstGeom>
        </p:spPr>
      </p:pic>
      <p:sp>
        <p:nvSpPr>
          <p:cNvPr id="11" name="body-2"/>
          <p:cNvSpPr txBox="1"/>
          <p:nvPr/>
        </p:nvSpPr>
        <p:spPr>
          <a:xfrm>
            <a:off x="1060704" y="398180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 the value of a state is the immediate reward plus the discounted value of where you go next. The best achievable values satisfy the </a:t>
            </a:r>
            <a:r>
              <a:rPr sz="2000" b="1" i="0">
                <a:solidFill>
                  <a:srgbClr val="1A5276"/>
                </a:solidFill>
                <a:latin typeface="Segoe UI"/>
              </a:rPr>
              <a:t>Bellman optimality equation</a:t>
            </a:r>
            <a:r>
              <a:rPr sz="2000" b="0" i="0">
                <a:solidFill>
                  <a:srgbClr val="1C252B"/>
                </a:solidFill>
                <a:latin typeface="Segoe UI"/>
              </a:rPr>
              <a:t>:</a:t>
            </a:r>
          </a:p>
        </p:txBody>
      </p:sp>
      <p:pic>
        <p:nvPicPr>
          <p:cNvPr id="12" name="body-3" descr="V^{*}(s) = \max_{a}\Big[R(s, a) + \gamma\sum_{s'} P(s' \mid s, a)\,V^{*}(s')\Big] = \max_a Q^{*}(s, a)"/>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755489"/>
            <a:ext cx="10161727" cy="703173"/>
          </a:xfrm>
          <a:prstGeom prst="rect">
            <a:avLst/>
          </a:prstGeom>
        </p:spPr>
      </p:pic>
      <p:sp>
        <p:nvSpPr>
          <p:cNvPr id="13" name="body-4"/>
          <p:cNvSpPr txBox="1"/>
          <p:nvPr/>
        </p:nvSpPr>
        <p:spPr>
          <a:xfrm>
            <a:off x="1060704" y="5598363"/>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and the optimal policy is to act greedily with respect to them: </a:t>
            </a:r>
            <a:r>
              <a:rPr sz="2000" b="0" i="0">
                <a:solidFill>
                  <a:srgbClr val="1C252B"/>
                </a:solidFill>
                <a:latin typeface="Cambria"/>
              </a:rPr>
              <a:t>π</a:t>
            </a:r>
            <a:r>
              <a:rPr sz="2000" b="0" i="0" baseline="30000">
                <a:solidFill>
                  <a:srgbClr val="1C252B"/>
                </a:solidFill>
                <a:latin typeface="Cambria"/>
              </a:rPr>
              <a:t>∗</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argmax</a:t>
            </a:r>
            <a:r>
              <a:rPr sz="2000" b="0" i="1" baseline="-25000">
                <a:solidFill>
                  <a:srgbClr val="1C252B"/>
                </a:solidFill>
                <a:latin typeface="Cambria"/>
              </a:rPr>
              <a:t>a</a:t>
            </a:r>
            <a:r>
              <a:rPr sz="2000" b="0" i="0">
                <a:solidFill>
                  <a:srgbClr val="1C252B"/>
                </a:solidFill>
                <a:latin typeface="Cambria"/>
              </a:rPr>
              <a:t> </a:t>
            </a:r>
            <a:r>
              <a:rPr sz="2000" b="0" i="1">
                <a:solidFill>
                  <a:srgbClr val="1C252B"/>
                </a:solidFill>
                <a:latin typeface="Cambria"/>
              </a:rPr>
              <a:t>Q</a:t>
            </a:r>
            <a:r>
              <a:rPr sz="2000" b="0" i="0" baseline="30000">
                <a:solidFill>
                  <a:srgbClr val="1C252B"/>
                </a:solidFill>
                <a:latin typeface="Cambria"/>
              </a:rPr>
              <a:t>∗</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r>
              <a:rPr sz="2000" b="0" i="0">
                <a:solidFill>
                  <a:srgbClr val="1C252B"/>
                </a:solidFill>
                <a:latin typeface="Segoe UI"/>
              </a:rPr>
              <a: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30191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a Recursive Definition Is Useful</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§19.3  ·  Handout p. 147     </a:t>
            </a:r>
            <a:fld id="{F037FC46-99E9-4052-83FA-44CEEA54BA3A}"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Bellman equation turns a sum over infinitely many futures into a relation between neighbouring states. For a known policy it is a set of linear equations — one per state — that can be solved directly. For the optimal values it is not linear (because of the max), but it can be solved by repeatedly applying it, which is value iteration.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55591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Value Iteration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19.4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19.1   Decisions Whose Consequences Unfold</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19.2   The Markov Decision Process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19.3   Value Functions and the Bellman Equations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19.4   Value Iteration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19.5   Policy Iteration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§19.4     </a:t>
            </a:r>
            <a:fld id="{2C84B369-7530-4335-9772-C4BDB33AF4C2}" type="slidenum">
              <a:rPr lang="en-GB" sz="1000">
                <a:solidFill>
                  <a:srgbClr val="8795A1"/>
                </a:solidFill>
                <a:latin typeface="Segoe UI"/>
              </a:rPr>
              <a:t>15</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80990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Value Iteration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§19.4  ·  Handout p. 147     </a:t>
            </a:r>
            <a:fld id="{E15642C2-DF70-432A-8C43-C494693B9808}"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74409"/>
          </a:xfrm>
          <a:prstGeom prst="roundRect">
            <a:avLst>
              <a:gd name="adj" fmla="val 2558"/>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7440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Start with </a:t>
            </a:r>
            <a:r>
              <a:rPr sz="2300" b="0" i="1">
                <a:solidFill>
                  <a:srgbClr val="1C252B"/>
                </a:solidFill>
                <a:latin typeface="Cambria"/>
              </a:rPr>
              <a:t>V</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 0</a:t>
            </a:r>
            <a:r>
              <a:rPr sz="2300" b="0" i="0">
                <a:solidFill>
                  <a:srgbClr val="1C252B"/>
                </a:solidFill>
                <a:latin typeface="Segoe UI"/>
              </a:rPr>
              <a:t> for every state. Repeat until the values stop changing: for every state, set</a:t>
            </a:r>
          </a:p>
        </p:txBody>
      </p:sp>
      <p:pic>
        <p:nvPicPr>
          <p:cNvPr id="10" name="body-1" descr="V(s) \leftarrow \max_a\Big[R(s, a) + \gamma\sum_{s'} P(s' \mid s, a)\,V(s')\Bi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808603"/>
          </a:xfrm>
          <a:prstGeom prst="rect">
            <a:avLst/>
          </a:prstGeom>
        </p:spPr>
      </p:pic>
      <p:sp>
        <p:nvSpPr>
          <p:cNvPr id="11" name="body-2"/>
          <p:cNvSpPr txBox="1"/>
          <p:nvPr/>
        </p:nvSpPr>
        <p:spPr>
          <a:xfrm>
            <a:off x="1060704" y="3907251"/>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read off the policy: in each state, the action achieving the maximum. After </a:t>
            </a:r>
            <a:r>
              <a:rPr sz="2300" b="0" i="1">
                <a:solidFill>
                  <a:srgbClr val="1C252B"/>
                </a:solidFill>
                <a:latin typeface="Cambria"/>
              </a:rPr>
              <a:t>k</a:t>
            </a:r>
            <a:r>
              <a:rPr sz="2300" b="0" i="0">
                <a:solidFill>
                  <a:srgbClr val="1C252B"/>
                </a:solidFill>
                <a:latin typeface="Segoe UI"/>
              </a:rPr>
              <a:t> sweeps, </a:t>
            </a:r>
            <a:r>
              <a:rPr sz="2300" b="0" i="1">
                <a:solidFill>
                  <a:srgbClr val="1C252B"/>
                </a:solidFill>
                <a:latin typeface="Cambria"/>
              </a:rPr>
              <a:t>V</a:t>
            </a:r>
            <a:r>
              <a:rPr sz="2300" b="0" i="0">
                <a:solidFill>
                  <a:srgbClr val="1C252B"/>
                </a:solidFill>
                <a:latin typeface="Segoe UI"/>
              </a:rPr>
              <a:t> is the best return achievable in </a:t>
            </a:r>
            <a:r>
              <a:rPr sz="2300" b="0" i="1">
                <a:solidFill>
                  <a:srgbClr val="1C252B"/>
                </a:solidFill>
                <a:latin typeface="Cambria"/>
              </a:rPr>
              <a:t>k</a:t>
            </a:r>
            <a:r>
              <a:rPr sz="2300" b="0" i="0">
                <a:solidFill>
                  <a:srgbClr val="1C252B"/>
                </a:solidFill>
                <a:latin typeface="Segoe UI"/>
              </a:rPr>
              <a:t> steps; as </a:t>
            </a:r>
            <a:r>
              <a:rPr sz="2300" b="0" i="1">
                <a:solidFill>
                  <a:srgbClr val="1C252B"/>
                </a:solidFill>
                <a:latin typeface="Cambria"/>
              </a:rPr>
              <a:t>k</a:t>
            </a:r>
            <a:r>
              <a:rPr sz="2300" b="0" i="0">
                <a:solidFill>
                  <a:srgbClr val="1C252B"/>
                </a:solidFill>
                <a:latin typeface="Segoe UI"/>
              </a:rPr>
              <a:t> grows it converges to </a:t>
            </a:r>
            <a:r>
              <a:rPr sz="2300" b="0" i="1">
                <a:solidFill>
                  <a:srgbClr val="1C252B"/>
                </a:solidFill>
                <a:latin typeface="Cambria"/>
              </a:rPr>
              <a:t>V</a:t>
            </a:r>
            <a:r>
              <a:rPr sz="2300" b="0" i="0" baseline="30000">
                <a:solidFill>
                  <a:srgbClr val="1C252B"/>
                </a:solidFill>
                <a:latin typeface="Cambria"/>
              </a:rPr>
              <a:t>∗</a:t>
            </a:r>
            <a:r>
              <a:rPr sz="23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Value Iteration on the Maintenance MDP</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§19.4  ·  Handout p. 147     </a:t>
            </a:r>
            <a:fld id="{1E81F6F4-E478-4F73-A6FC-1761C45ACB7D}"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7004"/>
          </a:xfrm>
          <a:prstGeom prst="roundRect">
            <a:avLst>
              <a:gd name="adj" fmla="val 204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7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Cambria"/>
              </a:rPr>
              <a:t>γ = 0.9</a:t>
            </a:r>
            <a:r>
              <a:rPr sz="1900" b="0" i="0">
                <a:solidFill>
                  <a:srgbClr val="1C252B"/>
                </a:solidFill>
                <a:latin typeface="Segoe UI"/>
              </a:rPr>
              <a:t>; start from </a:t>
            </a:r>
            <a:r>
              <a:rPr sz="1900" b="0" i="1">
                <a:solidFill>
                  <a:srgbClr val="1C252B"/>
                </a:solidFill>
                <a:latin typeface="Cambria"/>
              </a:rPr>
              <a:t>V</a:t>
            </a:r>
            <a:r>
              <a:rPr sz="1900" b="0" i="0">
                <a:solidFill>
                  <a:srgbClr val="1C252B"/>
                </a:solidFill>
                <a:latin typeface="Cambria"/>
              </a:rPr>
              <a:t> = (0, 0, 0)</a:t>
            </a:r>
            <a:r>
              <a:rPr sz="1900" b="0" i="0">
                <a:solidFill>
                  <a:srgbClr val="1C252B"/>
                </a:solidFill>
                <a:latin typeface="Segoe UI"/>
              </a:rPr>
              <a:t> for (H, D, F).</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Sweep 1.</a:t>
            </a:r>
            <a:r>
              <a:rPr sz="1900" b="0" i="0">
                <a:solidFill>
                  <a:srgbClr val="1C252B"/>
                </a:solidFill>
                <a:latin typeface="Segoe UI"/>
              </a:rPr>
              <a:t> With all values 0, only immediate rewards count: operate gives 10, 5, 0 and repair </a:t>
            </a:r>
            <a:r>
              <a:rPr sz="1900" b="0" i="0">
                <a:solidFill>
                  <a:srgbClr val="1C252B"/>
                </a:solidFill>
                <a:latin typeface="Cambria"/>
              </a:rPr>
              <a:t>−2</a:t>
            </a:r>
            <a:r>
              <a:rPr sz="1900" b="0" i="0">
                <a:solidFill>
                  <a:srgbClr val="1C252B"/>
                </a:solidFill>
                <a:latin typeface="Segoe UI"/>
              </a:rPr>
              <a:t>, </a:t>
            </a:r>
            <a:r>
              <a:rPr sz="1900" b="0" i="0">
                <a:solidFill>
                  <a:srgbClr val="1C252B"/>
                </a:solidFill>
                <a:latin typeface="Cambria"/>
              </a:rPr>
              <a:t>−4</a:t>
            </a:r>
            <a:r>
              <a:rPr sz="1900" b="0" i="0">
                <a:solidFill>
                  <a:srgbClr val="1C252B"/>
                </a:solidFill>
                <a:latin typeface="Segoe UI"/>
              </a:rPr>
              <a:t>, </a:t>
            </a:r>
            <a:r>
              <a:rPr sz="1900" b="0" i="0">
                <a:solidFill>
                  <a:srgbClr val="1C252B"/>
                </a:solidFill>
                <a:latin typeface="Cambria"/>
              </a:rPr>
              <a:t>−15</a:t>
            </a:r>
            <a:r>
              <a:rPr sz="1900" b="0" i="0">
                <a:solidFill>
                  <a:srgbClr val="1C252B"/>
                </a:solidFill>
                <a:latin typeface="Segoe UI"/>
              </a:rPr>
              <a:t>. </a:t>
            </a:r>
            <a:r>
              <a:rPr sz="1900" b="0" i="1">
                <a:solidFill>
                  <a:srgbClr val="1C252B"/>
                </a:solidFill>
                <a:latin typeface="Cambria"/>
              </a:rPr>
              <a:t>V</a:t>
            </a:r>
            <a:r>
              <a:rPr sz="1900" b="0" i="0">
                <a:solidFill>
                  <a:srgbClr val="1C252B"/>
                </a:solidFill>
                <a:latin typeface="Cambria"/>
              </a:rPr>
              <a:t> = (10, 5, 0)</a:t>
            </a:r>
            <a:r>
              <a:rPr sz="1900" b="0" i="0">
                <a:solidFill>
                  <a:srgbClr val="1C252B"/>
                </a:solidFill>
                <a:latin typeface="Segoe UI"/>
              </a:rPr>
              <a:t>; best action everywhere: operate.</a:t>
            </a:r>
          </a:p>
        </p:txBody>
      </p:sp>
      <p:sp>
        <p:nvSpPr>
          <p:cNvPr id="11" name="body-2"/>
          <p:cNvSpPr txBox="1"/>
          <p:nvPr/>
        </p:nvSpPr>
        <p:spPr>
          <a:xfrm>
            <a:off x="1042416" y="3180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Sweep 2.</a:t>
            </a:r>
          </a:p>
        </p:txBody>
      </p:sp>
      <p:sp>
        <p:nvSpPr>
          <p:cNvPr id="12" name="body-3"/>
          <p:cNvSpPr txBox="1"/>
          <p:nvPr/>
        </p:nvSpPr>
        <p:spPr>
          <a:xfrm>
            <a:off x="1042416" y="3614394"/>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H: operate </a:t>
            </a:r>
            <a:r>
              <a:rPr sz="1900" b="0" i="0">
                <a:solidFill>
                  <a:srgbClr val="1C252B"/>
                </a:solidFill>
                <a:latin typeface="Cambria"/>
              </a:rPr>
              <a:t>10 + 0.9(0.8 × 10 + 0.2 × 5) = 10 + 8.1 = 18.1</a:t>
            </a:r>
            <a:r>
              <a:rPr sz="1900" b="0" i="0">
                <a:solidFill>
                  <a:srgbClr val="1C252B"/>
                </a:solidFill>
                <a:latin typeface="Segoe UI"/>
              </a:rPr>
              <a:t>; repair </a:t>
            </a:r>
            <a:r>
              <a:rPr sz="1900" b="0" i="0">
                <a:solidFill>
                  <a:srgbClr val="1C252B"/>
                </a:solidFill>
                <a:latin typeface="Cambria"/>
              </a:rPr>
              <a:t>−2 + 0.9 × 10 = 7</a:t>
            </a:r>
            <a:r>
              <a:rPr sz="1900" b="0" i="0">
                <a:solidFill>
                  <a:srgbClr val="1C252B"/>
                </a:solidFill>
                <a:latin typeface="Segoe UI"/>
              </a:rPr>
              <a:t>.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18.1</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D: operate </a:t>
            </a:r>
            <a:r>
              <a:rPr sz="1900" b="0" i="0">
                <a:solidFill>
                  <a:srgbClr val="1C252B"/>
                </a:solidFill>
                <a:latin typeface="Cambria"/>
              </a:rPr>
              <a:t>5 + 0.9(0.5 × 5 + 0.5 × 0) = 7.25</a:t>
            </a:r>
            <a:r>
              <a:rPr sz="1900" b="0" i="0">
                <a:solidFill>
                  <a:srgbClr val="1C252B"/>
                </a:solidFill>
                <a:latin typeface="Segoe UI"/>
              </a:rPr>
              <a:t>; repair </a:t>
            </a:r>
            <a:r>
              <a:rPr sz="1900" b="0" i="0">
                <a:solidFill>
                  <a:srgbClr val="1C252B"/>
                </a:solidFill>
                <a:latin typeface="Cambria"/>
              </a:rPr>
              <a:t>−4 + 0.9 × 10 = 5</a:t>
            </a:r>
            <a:r>
              <a:rPr sz="1900" b="0" i="0">
                <a:solidFill>
                  <a:srgbClr val="1C252B"/>
                </a:solidFill>
                <a:latin typeface="Segoe UI"/>
              </a:rPr>
              <a:t>.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 7.25</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F: operate </a:t>
            </a:r>
            <a:r>
              <a:rPr sz="1900" b="0" i="0">
                <a:solidFill>
                  <a:srgbClr val="1C252B"/>
                </a:solidFill>
                <a:latin typeface="Cambria"/>
              </a:rPr>
              <a:t>0 + 0.9 × 0 = 0</a:t>
            </a:r>
            <a:r>
              <a:rPr sz="1900" b="0" i="0">
                <a:solidFill>
                  <a:srgbClr val="1C252B"/>
                </a:solidFill>
                <a:latin typeface="Segoe UI"/>
              </a:rPr>
              <a:t>; repair </a:t>
            </a:r>
            <a:r>
              <a:rPr sz="1900" b="0" i="0">
                <a:solidFill>
                  <a:srgbClr val="1C252B"/>
                </a:solidFill>
                <a:latin typeface="Cambria"/>
              </a:rPr>
              <a:t>−15 + 9 = −6</a:t>
            </a:r>
            <a:r>
              <a:rPr sz="1900" b="0" i="0">
                <a:solidFill>
                  <a:srgbClr val="1C252B"/>
                </a:solidFill>
                <a:latin typeface="Segoe UI"/>
              </a:rPr>
              <a:t>.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F</a:t>
            </a:r>
            <a:r>
              <a:rPr sz="1900" b="0" i="0">
                <a:solidFill>
                  <a:srgbClr val="1C252B"/>
                </a:solidFill>
                <a:latin typeface="Cambria"/>
              </a:rPr>
              <a:t>) = 0</a:t>
            </a:r>
            <a:r>
              <a:rPr sz="1900" b="0" i="0">
                <a:solidFill>
                  <a:srgbClr val="1C252B"/>
                </a:solidFill>
                <a:latin typeface="Segoe UI"/>
              </a:rPr>
              <a:t>.</a:t>
            </a:r>
          </a:p>
        </p:txBody>
      </p:sp>
      <p:sp>
        <p:nvSpPr>
          <p:cNvPr id="13" name="body-4"/>
          <p:cNvSpPr txBox="1"/>
          <p:nvPr/>
        </p:nvSpPr>
        <p:spPr>
          <a:xfrm>
            <a:off x="1042416" y="4819446"/>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Sweep 3.</a:t>
            </a:r>
          </a:p>
        </p:txBody>
      </p:sp>
      <p:sp>
        <p:nvSpPr>
          <p:cNvPr id="14" name="body-4bar">
            <a:extLst>
              <a:ext uri="{C183D7F6-B498-43B3-948B-1728B52AA6E4}">
                <adec:decorative xmlns:adec="http://schemas.microsoft.com/office/drawing/2017/decorative" val="1"/>
              </a:ext>
            </a:extLst>
          </p:cNvPr>
          <p:cNvSpPr/>
          <p:nvPr/>
        </p:nvSpPr>
        <p:spPr>
          <a:xfrm>
            <a:off x="841248" y="4837734"/>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5"/>
          <p:cNvSpPr txBox="1"/>
          <p:nvPr/>
        </p:nvSpPr>
        <p:spPr>
          <a:xfrm>
            <a:off x="1042416" y="5253304"/>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H: operate </a:t>
            </a:r>
            <a:r>
              <a:rPr sz="1900" b="0" i="0">
                <a:solidFill>
                  <a:srgbClr val="1C252B"/>
                </a:solidFill>
                <a:latin typeface="Cambria"/>
              </a:rPr>
              <a:t>10 + 0.9(0.8 × 18.1 + 0.2 × 7.25) = 24.34</a:t>
            </a:r>
            <a:r>
              <a:rPr sz="1900" b="0" i="0">
                <a:solidFill>
                  <a:srgbClr val="1C252B"/>
                </a:solidFill>
                <a:latin typeface="Segoe UI"/>
              </a:rPr>
              <a:t>; repair </a:t>
            </a:r>
            <a:r>
              <a:rPr sz="1900" b="0" i="0">
                <a:solidFill>
                  <a:srgbClr val="1C252B"/>
                </a:solidFill>
                <a:latin typeface="Cambria"/>
              </a:rPr>
              <a:t>−2 + 16.29 = 14.29</a:t>
            </a:r>
            <a:r>
              <a:rPr sz="1900" b="0" i="0">
                <a:solidFill>
                  <a:srgbClr val="1C252B"/>
                </a:solidFill>
                <a:latin typeface="Segoe UI"/>
              </a:rPr>
              <a:t>.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24.34</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D: operate </a:t>
            </a:r>
            <a:r>
              <a:rPr sz="1900" b="0" i="0">
                <a:solidFill>
                  <a:srgbClr val="1C252B"/>
                </a:solidFill>
                <a:latin typeface="Cambria"/>
              </a:rPr>
              <a:t>5 + 0.9(0.5 × 7.25 + 0) = 8.26</a:t>
            </a:r>
            <a:r>
              <a:rPr sz="1900" b="0" i="0">
                <a:solidFill>
                  <a:srgbClr val="1C252B"/>
                </a:solidFill>
                <a:latin typeface="Segoe UI"/>
              </a:rPr>
              <a:t>; repair </a:t>
            </a:r>
            <a:r>
              <a:rPr sz="1900" b="0" i="0">
                <a:solidFill>
                  <a:srgbClr val="1C252B"/>
                </a:solidFill>
                <a:latin typeface="Cambria"/>
              </a:rPr>
              <a:t>−4 + 0.9 × 18.1 = </a:t>
            </a:r>
            <a:r>
              <a:rPr sz="1900" b="1" i="0">
                <a:solidFill>
                  <a:srgbClr val="1C252B"/>
                </a:solidFill>
                <a:latin typeface="Cambria"/>
              </a:rPr>
              <a:t>12.29</a:t>
            </a:r>
            <a:r>
              <a:rPr sz="1900" b="0" i="0">
                <a:solidFill>
                  <a:srgbClr val="1C252B"/>
                </a:solidFill>
                <a:latin typeface="Segoe UI"/>
              </a:rPr>
              <a:t>. </a:t>
            </a:r>
            <a:r>
              <a:rPr sz="1900" b="1" i="0">
                <a:solidFill>
                  <a:srgbClr val="1C252B"/>
                </a:solidFill>
                <a:latin typeface="Segoe UI"/>
              </a:rPr>
              <a:t>Repair now wins.</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431789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xEl>
                                              <p:pRg st="2" end="2"/>
                                            </p:txEl>
                                          </p:spTgt>
                                        </p:tgtEl>
                                        <p:attrNameLst>
                                          <p:attrName>style.visibility</p:attrName>
                                        </p:attrNameLst>
                                      </p:cBhvr>
                                      <p:to>
                                        <p:strVal val="visible"/>
                                      </p:to>
                                    </p:set>
                                    <p:animEffect transition="in" filter="fade">
                                      <p:cBhvr>
                                        <p:cTn id="28" dur="350"/>
                                        <p:tgtEl>
                                          <p:spTgt spid="12">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right)">
                                      <p:cBhvr>
                                        <p:cTn id="33" dur="42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2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xEl>
                                              <p:pRg st="0" end="0"/>
                                            </p:txEl>
                                          </p:spTgt>
                                        </p:tgtEl>
                                        <p:attrNameLst>
                                          <p:attrName>style.visibility</p:attrName>
                                        </p:attrNameLst>
                                      </p:cBhvr>
                                      <p:to>
                                        <p:strVal val="visible"/>
                                      </p:to>
                                    </p:set>
                                    <p:animEffect transition="in" filter="fade">
                                      <p:cBhvr>
                                        <p:cTn id="41" dur="350"/>
                                        <p:tgtEl>
                                          <p:spTgt spid="15">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5">
                                            <p:txEl>
                                              <p:pRg st="1" end="1"/>
                                            </p:txEl>
                                          </p:spTgt>
                                        </p:tgtEl>
                                        <p:attrNameLst>
                                          <p:attrName>style.visibility</p:attrName>
                                        </p:attrNameLst>
                                      </p:cBhvr>
                                      <p:to>
                                        <p:strVal val="visible"/>
                                      </p:to>
                                    </p:set>
                                    <p:animEffect transition="in" filter="fade">
                                      <p:cBhvr>
                                        <p:cTn id="46" dur="350"/>
                                        <p:tgtEl>
                                          <p:spTgt spid="1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5"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Value Iteration on the Maintenance MDP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§19.4  ·  Handout p. 147     </a:t>
            </a:r>
            <a:fld id="{6A36C4EA-65E2-442B-AFCC-4FC9097A4F70}"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620924"/>
          </a:xfrm>
          <a:prstGeom prst="roundRect">
            <a:avLst>
              <a:gd name="adj" fmla="val 348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620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F: operate </a:t>
            </a:r>
            <a:r>
              <a:rPr sz="1900" b="0" i="0">
                <a:solidFill>
                  <a:srgbClr val="1C252B"/>
                </a:solidFill>
                <a:latin typeface="Cambria"/>
              </a:rPr>
              <a:t>0</a:t>
            </a:r>
            <a:r>
              <a:rPr sz="1900" b="0" i="0">
                <a:solidFill>
                  <a:srgbClr val="1C252B"/>
                </a:solidFill>
                <a:latin typeface="Segoe UI"/>
              </a:rPr>
              <a:t>; repair </a:t>
            </a:r>
            <a:r>
              <a:rPr sz="1900" b="0" i="0">
                <a:solidFill>
                  <a:srgbClr val="1C252B"/>
                </a:solidFill>
                <a:latin typeface="Cambria"/>
              </a:rPr>
              <a:t>−15 + 16.29 = </a:t>
            </a:r>
            <a:r>
              <a:rPr sz="1900" b="1" i="0">
                <a:solidFill>
                  <a:srgbClr val="1C252B"/>
                </a:solidFill>
                <a:latin typeface="Cambria"/>
              </a:rPr>
              <a:t>1.29</a:t>
            </a:r>
            <a:r>
              <a:rPr sz="1900" b="0" i="0">
                <a:solidFill>
                  <a:srgbClr val="1C252B"/>
                </a:solidFill>
                <a:latin typeface="Segoe UI"/>
              </a:rPr>
              <a:t>. </a:t>
            </a:r>
            <a:r>
              <a:rPr sz="1900" b="1" i="0">
                <a:solidFill>
                  <a:srgbClr val="1C252B"/>
                </a:solidFill>
                <a:latin typeface="Segoe UI"/>
              </a:rPr>
              <a:t>Repair wins.</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Converged</a:t>
            </a:r>
            <a:r>
              <a:rPr sz="1900" b="0" i="0">
                <a:solidFill>
                  <a:srgbClr val="1C252B"/>
                </a:solidFill>
                <a:latin typeface="Segoe UI"/>
              </a:rPr>
              <a:t> (after about 200 sweeps): </a:t>
            </a:r>
            <a:r>
              <a:rPr sz="1900" b="0" i="1">
                <a:solidFill>
                  <a:srgbClr val="1C252B"/>
                </a:solidFill>
                <a:latin typeface="Cambria"/>
              </a:rPr>
              <a:t>V</a:t>
            </a:r>
            <a:r>
              <a:rPr sz="1900" b="0" i="0" baseline="30000">
                <a:solidFill>
                  <a:srgbClr val="1C252B"/>
                </a:solidFill>
                <a:latin typeface="Cambria"/>
              </a:rPr>
              <a:t>∗</a:t>
            </a:r>
            <a:r>
              <a:rPr sz="1900" b="0" i="0">
                <a:solidFill>
                  <a:srgbClr val="1C252B"/>
                </a:solidFill>
                <a:latin typeface="Cambria"/>
              </a:rPr>
              <a:t> = (78.64, 66.78, 55.78)</a:t>
            </a:r>
            <a:r>
              <a:rPr sz="1900" b="0" i="0">
                <a:solidFill>
                  <a:srgbClr val="1C252B"/>
                </a:solidFill>
                <a:latin typeface="Segoe UI"/>
              </a:rPr>
              <a:t>, and the optimal policy is </a:t>
            </a:r>
            <a:r>
              <a:rPr sz="1900" b="1" i="0">
                <a:solidFill>
                  <a:srgbClr val="1C252B"/>
                </a:solidFill>
                <a:latin typeface="Segoe UI"/>
              </a:rPr>
              <a:t>operate when healthy, repair when degraded or failed</a:t>
            </a:r>
            <a:r>
              <a:rPr sz="1900" b="0" i="0">
                <a:solidFill>
                  <a:srgbClr val="1C252B"/>
                </a:solidFill>
                <a:latin typeface="Segoe UI"/>
              </a:rPr>
              <a:t>.</a:t>
            </a:r>
          </a:p>
        </p:txBody>
      </p:sp>
      <p:sp>
        <p:nvSpPr>
          <p:cNvPr id="11" name="body-1bar">
            <a:extLst>
              <a:ext uri="{C183D7F6-B498-43B3-948B-1728B52AA6E4}">
                <adec:decorative xmlns:adec="http://schemas.microsoft.com/office/drawing/2017/decorative" val="1"/>
              </a:ext>
            </a:extLst>
          </p:cNvPr>
          <p:cNvSpPr/>
          <p:nvPr/>
        </p:nvSpPr>
        <p:spPr>
          <a:xfrm>
            <a:off x="841248" y="2463825"/>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3180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Check</a:t>
            </a:r>
            <a:r>
              <a:rPr sz="1900" b="0" i="0">
                <a:solidFill>
                  <a:srgbClr val="1C252B"/>
                </a:solidFill>
                <a:latin typeface="Segoe UI"/>
              </a:rPr>
              <a:t> with the Bellman equation for that policy: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10 + 0.9(0.8</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+ 0.2</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a:t>
            </a:r>
            <a:r>
              <a:rPr sz="1900" b="0" i="0">
                <a:solidFill>
                  <a:srgbClr val="1C252B"/>
                </a:solidFill>
                <a:latin typeface="Segoe UI"/>
              </a:rPr>
              <a:t> and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 −4 + 0.9</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a:t>
            </a:r>
            <a:r>
              <a:rPr sz="1900" b="0" i="0">
                <a:solidFill>
                  <a:srgbClr val="1C252B"/>
                </a:solidFill>
                <a:latin typeface="Segoe UI"/>
              </a:rPr>
              <a:t> give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9.28/0.118 = 78.64</a:t>
            </a:r>
            <a:r>
              <a:rPr sz="1900" b="0" i="0">
                <a:solidFill>
                  <a:srgbClr val="1C252B"/>
                </a:solidFill>
                <a:latin typeface="Segoe UI"/>
              </a:rPr>
              <a:t>. For comparison, “always operate” is worth only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41.56</a:t>
            </a:r>
            <a:r>
              <a:rPr sz="1900" b="0" i="0">
                <a:solidFill>
                  <a:srgbClr val="1C252B"/>
                </a:solidFill>
                <a:latin typeface="Segoe UI"/>
              </a:rPr>
              <a:t>: the machine eventually fails and earns nothing forever.</a:t>
            </a:r>
          </a:p>
        </p:txBody>
      </p:sp>
      <p:sp>
        <p:nvSpPr>
          <p:cNvPr id="13" name="body-2bar">
            <a:extLst>
              <a:ext uri="{C183D7F6-B498-43B3-948B-1728B52AA6E4}">
                <adec:decorative xmlns:adec="http://schemas.microsoft.com/office/drawing/2017/decorative" val="1"/>
              </a:ext>
            </a:extLst>
          </p:cNvPr>
          <p:cNvSpPr/>
          <p:nvPr/>
        </p:nvSpPr>
        <p:spPr>
          <a:xfrm>
            <a:off x="841248" y="3198825"/>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fill">
            <a:extLst>
              <a:ext uri="{C183D7F6-B498-43B3-948B-1728B52AA6E4}">
                <adec:decorative xmlns:adec="http://schemas.microsoft.com/office/drawing/2017/decorative" val="1"/>
              </a:ext>
            </a:extLst>
          </p:cNvPr>
          <p:cNvSpPr/>
          <p:nvPr/>
        </p:nvSpPr>
        <p:spPr>
          <a:xfrm>
            <a:off x="0" y="0"/>
            <a:ext cx="457188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Value Iteration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19.3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§19.4  ·  Handout p. 147     </a:t>
            </a:r>
            <a:fld id="{A4B3E5A5-E69B-4744-8DAC-CE6729B47B21}" type="slidenum">
              <a:rPr lang="en-GB" sz="1000">
                <a:solidFill>
                  <a:srgbClr val="8795A1"/>
                </a:solidFill>
                <a:latin typeface="Segoe UI"/>
              </a:rPr>
              <a:t>19</a:t>
            </a:fld>
          </a:p>
        </p:txBody>
      </p:sp>
      <p:pic>
        <p:nvPicPr>
          <p:cNvPr id="6" name="!!figure" descr="Figure 19.3. Optimal values and policy for a small gridworld (the standard example of Russell and Norvig), computed by value iteration with γ = 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54578"/>
            <a:ext cx="10874959" cy="364211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Optimal values and policy for a small gridworld (the standard example of Russell and Norvig), computed by value iteration with γ = 1.</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82587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Policy Iteration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19.5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19.1   Decisions Whose Consequences Unfold</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19.2   The Markov Decision Process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19.3   Value Functions and the Bellman Equations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19.4   Value Iteration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19.5   Policy Iteration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§19.5     </a:t>
            </a:r>
            <a:fld id="{FE44C6FB-9C81-4ECC-A7C5-8EA734E6D20A}" type="slidenum">
              <a:rPr lang="en-GB" sz="1000">
                <a:solidFill>
                  <a:srgbClr val="8795A1"/>
                </a:solidFill>
                <a:latin typeface="Segoe UI"/>
              </a:rPr>
              <a:t>20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07987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Policy Iteration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33DA3AE3-81DE-4F91-80C2-413BFAB1BBA3}"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49335"/>
          </a:xfrm>
          <a:prstGeom prst="roundRect">
            <a:avLst>
              <a:gd name="adj" fmla="val 2903"/>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4933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Value iteration improves values and only implicitly improves the policy. </a:t>
            </a:r>
            <a:r>
              <a:rPr sz="2300" b="1" i="0">
                <a:solidFill>
                  <a:srgbClr val="1A5276"/>
                </a:solidFill>
                <a:latin typeface="Segoe UI"/>
              </a:rPr>
              <a:t>Policy iteration</a:t>
            </a:r>
            <a:r>
              <a:rPr sz="2300" b="0" i="0">
                <a:solidFill>
                  <a:srgbClr val="1C252B"/>
                </a:solidFill>
                <a:latin typeface="Segoe UI"/>
              </a:rPr>
              <a:t> alternates two explicit steps:</a:t>
            </a:r>
          </a:p>
        </p:txBody>
      </p:sp>
      <p:sp>
        <p:nvSpPr>
          <p:cNvPr id="10" name="body-1"/>
          <p:cNvSpPr txBox="1"/>
          <p:nvPr/>
        </p:nvSpPr>
        <p:spPr>
          <a:xfrm>
            <a:off x="1060704" y="2937992"/>
            <a:ext cx="10161727" cy="774801"/>
          </a:xfrm>
          <a:prstGeom prst="rect">
            <a:avLst/>
          </a:prstGeom>
          <a:noFill/>
        </p:spPr>
        <p:txBody>
          <a:bodyPr wrap="square" anchor="t" lIns="0" rIns="0" tIns="0" bIns="0">
            <a:noAutofit/>
          </a:bodyPr>
          <a:lstStyle/>
          <a:p>
            <a:pPr algn="l" marL="554820" indent="-554820">
              <a:lnSpc>
                <a:spcPct val="104000"/>
              </a:lnSpc>
              <a:spcBef>
                <a:spcPts val="0"/>
              </a:spcBef>
              <a:spcAft>
                <a:spcPts val="0"/>
              </a:spcAft>
            </a:pPr>
            <a:r>
              <a:rPr sz="2300" b="1">
                <a:solidFill>
                  <a:srgbClr val="1A5276"/>
                </a:solidFill>
                <a:latin typeface="Segoe UI"/>
              </a:rPr>
              <a:t>1.	</a:t>
            </a:r>
            <a:r>
              <a:rPr sz="2300" b="1" i="0">
                <a:solidFill>
                  <a:srgbClr val="1A5276"/>
                </a:solidFill>
                <a:latin typeface="Segoe UI"/>
              </a:rPr>
              <a:t>Policy evaluation:</a:t>
            </a:r>
            <a:r>
              <a:rPr sz="2300" b="0" i="0">
                <a:solidFill>
                  <a:srgbClr val="1C252B"/>
                </a:solidFill>
                <a:latin typeface="Segoe UI"/>
              </a:rPr>
              <a:t> compute </a:t>
            </a:r>
            <a:r>
              <a:rPr sz="2300" b="0" i="1">
                <a:solidFill>
                  <a:srgbClr val="1C252B"/>
                </a:solidFill>
                <a:latin typeface="Cambria"/>
              </a:rPr>
              <a:t>V</a:t>
            </a:r>
            <a:r>
              <a:rPr sz="2300" b="0" i="0" baseline="30000">
                <a:solidFill>
                  <a:srgbClr val="1C252B"/>
                </a:solidFill>
                <a:latin typeface="Cambria"/>
              </a:rPr>
              <a:t>π</a:t>
            </a:r>
            <a:r>
              <a:rPr sz="2300" b="0" i="0">
                <a:solidFill>
                  <a:srgbClr val="1C252B"/>
                </a:solidFill>
                <a:latin typeface="Segoe UI"/>
              </a:rPr>
              <a:t> for the current policy exactly, by solving the Bellman expectation equations — one linear equation per state.</a:t>
            </a:r>
          </a:p>
        </p:txBody>
      </p:sp>
      <p:sp>
        <p:nvSpPr>
          <p:cNvPr id="11" name="body-2m"/>
          <p:cNvSpPr txBox="1"/>
          <p:nvPr/>
        </p:nvSpPr>
        <p:spPr>
          <a:xfrm>
            <a:off x="1060704" y="3827729"/>
            <a:ext cx="554820"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1A5276"/>
                </a:solidFill>
                <a:latin typeface="Segoe UI"/>
              </a:rPr>
              <a:t>2.</a:t>
            </a:r>
          </a:p>
        </p:txBody>
      </p:sp>
      <p:pic>
        <p:nvPicPr>
          <p:cNvPr id="12" name="body-2" descr="Policy improvement: make the policy greedy with respect to Vπ: π(s) ← argmaxa[R(s, a) + γΣs′P(s′ ∣ s, a)Vπ(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15524" y="3827729"/>
            <a:ext cx="9606869" cy="748070"/>
          </a:xfrm>
          <a:prstGeom prst="rect">
            <a:avLst/>
          </a:prstGeom>
        </p:spPr>
      </p:pic>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33386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Policy Iteration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139578C7-41A9-4A88-BEF1-1007019077EE}" type="slidenum">
              <a:rPr lang="en-GB" sz="1000">
                <a:solidFill>
                  <a:srgbClr val="8795A1"/>
                </a:solidFill>
                <a:latin typeface="Segoe UI"/>
              </a:rPr>
              <a:t>22</a:t>
            </a:fld>
          </a:p>
        </p:txBody>
      </p:sp>
      <p:graphicFrame>
        <p:nvGraphicFramePr>
          <p:cNvPr id="7" name="!!table"/>
          <p:cNvGraphicFramePr>
            <a:graphicFrameLocks noGrp="1"/>
          </p:cNvGraphicFramePr>
          <p:nvPr/>
        </p:nvGraphicFramePr>
        <p:xfrm>
          <a:off x="658368" y="1737360"/>
          <a:ext cx="10874957" cy="2286000"/>
        </p:xfrm>
        <a:graphic>
          <a:graphicData uri="http://schemas.openxmlformats.org/drawingml/2006/table">
            <a:tbl>
              <a:tblPr firstRow="0" bandRow="0" firstCol="0" lastRow="0" lastCol="0" bandCol="0">
                <a:tableStyleId>{2D5ABB26-0587-4C30-8999-92F81FD0307C}</a:tableStyleId>
              </a:tblPr>
              <a:tblGrid>
                <a:gridCol w="2174991"/>
                <a:gridCol w="4349983"/>
                <a:gridCol w="4349983"/>
              </a:tblGrid>
              <a:tr h="405384">
                <a:tc>
                  <a:txBody>
                    <a:bodyPr wrap="square"/>
                    <a:lstStyle/>
                    <a:p>
                      <a:pPr algn="l"/>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Value iteration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Policy iteration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Each iteration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One cheap sweep: a max over actions per state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full policy evaluation (solve </a:t>
                      </a:r>
                      <a:r>
                        <a:rPr sz="1700" b="0" i="0">
                          <a:solidFill>
                            <a:srgbClr val="1C252B"/>
                          </a:solidFill>
                          <a:latin typeface="Cambria"/>
                        </a:rPr>
                        <a:t>|</a:t>
                      </a:r>
                      <a:r>
                        <a:rPr sz="1700" b="0" i="1">
                          <a:solidFill>
                            <a:srgbClr val="1C252B"/>
                          </a:solidFill>
                          <a:latin typeface="Cambria"/>
                        </a:rPr>
                        <a:t>S</a:t>
                      </a:r>
                      <a:r>
                        <a:rPr sz="1700" b="0" i="0">
                          <a:solidFill>
                            <a:srgbClr val="1C252B"/>
                          </a:solidFill>
                          <a:latin typeface="Cambria"/>
                        </a:rPr>
                        <a:t>|</a:t>
                      </a:r>
                      <a:r>
                        <a:rPr sz="1700" b="0" i="0">
                          <a:solidFill>
                            <a:srgbClr val="1C252B"/>
                          </a:solidFill>
                          <a:latin typeface="Segoe UI"/>
                        </a:rPr>
                        <a:t> linear equations) plus an improvement</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Iterations needed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Many; converges gradually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Few; stops exactly</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Best when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Many states, cheap sweeps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Fewer states, or a good starting policy</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Needs the model?</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Yes: </a:t>
                      </a:r>
                      <a:r>
                        <a:rPr sz="1700" b="0" i="1">
                          <a:solidFill>
                            <a:srgbClr val="1C252B"/>
                          </a:solidFill>
                          <a:latin typeface="Cambria"/>
                        </a:rPr>
                        <a:t>P</a:t>
                      </a:r>
                      <a:r>
                        <a:rPr sz="1700" b="0" i="0">
                          <a:solidFill>
                            <a:srgbClr val="1C252B"/>
                          </a:solidFill>
                          <a:latin typeface="Segoe UI"/>
                        </a:rPr>
                        <a:t> and </a:t>
                      </a:r>
                      <a:r>
                        <a:rPr sz="1700" b="0" i="1">
                          <a:solidFill>
                            <a:srgbClr val="1C252B"/>
                          </a:solidFill>
                          <a:latin typeface="Cambria"/>
                        </a:rPr>
                        <a:t>R</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Yes: </a:t>
                      </a:r>
                      <a:r>
                        <a:rPr sz="1700" b="0" i="1">
                          <a:solidFill>
                            <a:srgbClr val="1C252B"/>
                          </a:solidFill>
                          <a:latin typeface="Cambria"/>
                        </a:rPr>
                        <a:t>P</a:t>
                      </a:r>
                      <a:r>
                        <a:rPr sz="1700" b="0" i="0">
                          <a:solidFill>
                            <a:srgbClr val="1C252B"/>
                          </a:solidFill>
                          <a:latin typeface="Segoe UI"/>
                        </a:rPr>
                        <a:t> and </a:t>
                      </a:r>
                      <a:r>
                        <a:rPr sz="1700" b="0" i="1">
                          <a:solidFill>
                            <a:srgbClr val="1C252B"/>
                          </a:solidFill>
                          <a:latin typeface="Cambria"/>
                        </a:rPr>
                        <a:t>R</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58786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Both Methods Need the Model</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FC350C09-64D3-4C05-B7B6-B380BAD10CDC}"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Value and policy iteration are </a:t>
            </a:r>
            <a:r>
              <a:rPr sz="2300" b="0" i="1">
                <a:solidFill>
                  <a:srgbClr val="1C252B"/>
                </a:solidFill>
                <a:latin typeface="Segoe UI"/>
              </a:rPr>
              <a:t>planning</a:t>
            </a:r>
            <a:r>
              <a:rPr sz="2300" b="0" i="0">
                <a:solidFill>
                  <a:srgbClr val="1C252B"/>
                </a:solidFill>
                <a:latin typeface="Segoe UI"/>
              </a:rPr>
              <a:t> algorithms: they compute the optimal policy from a known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 </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and </a:t>
            </a:r>
            <a:r>
              <a:rPr sz="2300" b="0" i="1">
                <a:solidFill>
                  <a:srgbClr val="1C252B"/>
                </a:solidFill>
                <a:latin typeface="Cambria"/>
              </a:rPr>
              <a:t>R</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In most real problems nobody writes those down — the probabilities of a student’s response, a user’s click or a network’s congestion are unknown. Chapter 20 removes the model: the agent learns the same value functions from experience, by trying actions and observing what happens.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84185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42625C8B-933F-4B30-8F47-A14987D7BF45}" type="slidenum">
              <a:rPr lang="en-GB" sz="1000">
                <a:solidFill>
                  <a:srgbClr val="8795A1"/>
                </a:solidFill>
                <a:latin typeface="Segoe UI"/>
              </a:rPr>
              <a:t>24</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Maximising the next reward.</a:t>
            </a:r>
            <a:r>
              <a:rPr sz="2100" b="0" i="0">
                <a:solidFill>
                  <a:srgbClr val="1C252B"/>
                </a:solidFill>
                <a:latin typeface="Segoe UI"/>
              </a:rPr>
              <a:t> The point of an MDP is that the best action now may earn less now.</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Choosing </a:t>
            </a:r>
            <a:r>
              <a:rPr sz="2100" b="1" i="0">
                <a:solidFill>
                  <a:srgbClr val="1C252B"/>
                </a:solidFill>
                <a:latin typeface="Cambria"/>
              </a:rPr>
              <a:t>γ</a:t>
            </a:r>
            <a:r>
              <a:rPr sz="2100" b="1" i="0">
                <a:solidFill>
                  <a:srgbClr val="1C252B"/>
                </a:solidFill>
                <a:latin typeface="Segoe UI"/>
              </a:rPr>
              <a:t> carelessly.</a:t>
            </a:r>
            <a:r>
              <a:rPr sz="2100" b="0" i="0">
                <a:solidFill>
                  <a:srgbClr val="1C252B"/>
                </a:solidFill>
                <a:latin typeface="Segoe UI"/>
              </a:rPr>
              <a:t> A small </a:t>
            </a:r>
            <a:r>
              <a:rPr sz="2100" b="0" i="0">
                <a:solidFill>
                  <a:srgbClr val="1C252B"/>
                </a:solidFill>
                <a:latin typeface="Cambria"/>
              </a:rPr>
              <a:t>γ</a:t>
            </a:r>
            <a:r>
              <a:rPr sz="2100" b="0" i="0">
                <a:solidFill>
                  <a:srgbClr val="1C252B"/>
                </a:solidFill>
                <a:latin typeface="Segoe UI"/>
              </a:rPr>
              <a:t> ignores long-term consequences; </a:t>
            </a:r>
            <a:r>
              <a:rPr sz="2100" b="0" i="0">
                <a:solidFill>
                  <a:srgbClr val="1C252B"/>
                </a:solidFill>
                <a:latin typeface="Cambria"/>
              </a:rPr>
              <a:t>γ = 1</a:t>
            </a:r>
            <a:r>
              <a:rPr sz="2100" b="0" i="0">
                <a:solidFill>
                  <a:srgbClr val="1C252B"/>
                </a:solidFill>
                <a:latin typeface="Segoe UI"/>
              </a:rPr>
              <a:t> can make values infinite in tasks that never end.</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 state that is not Markov.</a:t>
            </a:r>
            <a:r>
              <a:rPr sz="2100" b="0" i="0">
                <a:solidFill>
                  <a:srgbClr val="1C252B"/>
                </a:solidFill>
                <a:latin typeface="Segoe UI"/>
              </a:rPr>
              <a:t> If the right action depends on history the state does not record, add that history to the state.</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Stopping value iteration early and trusting the values.</a:t>
            </a:r>
            <a:r>
              <a:rPr sz="2100" b="0" i="0">
                <a:solidFill>
                  <a:srgbClr val="1C252B"/>
                </a:solidFill>
                <a:latin typeface="Segoe UI"/>
              </a:rPr>
              <a:t> The policy often settles long before the values do; check both.</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Rewarding the wrong thing.</a:t>
            </a:r>
            <a:r>
              <a:rPr sz="2100" b="0" i="0">
                <a:solidFill>
                  <a:srgbClr val="1C252B"/>
                </a:solidFill>
                <a:latin typeface="Segoe UI"/>
              </a:rPr>
              <a:t> An agent maximises exactly the reward it is given. Reward the outcome you want, not a proxy it can game.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Markov Decision Processes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506D06B2-AA83-4B78-92A7-53A385AA4247}" type="slidenum">
              <a:rPr lang="en-GB" sz="1000">
                <a:solidFill>
                  <a:srgbClr val="8795A1"/>
                </a:solidFill>
                <a:latin typeface="Segoe UI"/>
              </a:rPr>
              <a:t>25</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States describe a student’s progress; actions are interventions (a reminder, a tutoring session, nothing); rewards are learning gains minus the cost of the intervention.</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Project states (on track, slipping, critical) and actions (continue, add staff, cut scope) with estimated transition probabilities turn a gut decision into a policy — and expose the assumption, often wrong, that adding people to a late project speeds it up.</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worked example is a real problem class: condition-based maintenance.</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An attacker moving through a network, and a defender choosing where to patch or monitor, can both be modelled as MDPs; the attack graph provides the states.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34984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Markov Decision Processes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097D75D0-2CDB-4EE2-B9B5-5AA38D8C0E27}" type="slidenum">
              <a:rPr lang="en-GB" sz="1000">
                <a:solidFill>
                  <a:srgbClr val="8795A1"/>
                </a:solidFill>
                <a:latin typeface="Segoe UI"/>
              </a:rPr>
              <a:t>26</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States describe a student’s progress; actions are interventions (a reminder, a tutoring session, nothing); rewards are learning gains minus the cost of the intervention. An MDP makes explicit what a well-meaning adviser does implicitly: spend scarce support where it changes the future most.</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60383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Markov Decision Processes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464F4779-6AEB-4A80-BE5C-E01D1750566B}" type="slidenum">
              <a:rPr lang="en-GB" sz="1000">
                <a:solidFill>
                  <a:srgbClr val="8795A1"/>
                </a:solidFill>
                <a:latin typeface="Segoe UI"/>
              </a:rPr>
              <a:t>27</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Project states (on track, slipping, critical) and actions (continue, add staff, cut scope) with estimated transition probabilities turn a gut decision into a policy — and expose the assumption, often wrong, that adding people to a late project speeds it up.</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85782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Markov Decision Processes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1C5C1201-54C3-4AF0-8F86-AF5BFD51F82C}" type="slidenum">
              <a:rPr lang="en-GB" sz="1000">
                <a:solidFill>
                  <a:srgbClr val="8795A1"/>
                </a:solidFill>
                <a:latin typeface="Segoe UI"/>
              </a:rPr>
              <a:t>28</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worked example is a real problem class: condition-based maintenance. With transition probabilities estimated from fleet data (Chapter 18), value iteration gives the repair policy that maximises long-run output.</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11182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Markov Decision Processes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4E3F0FBB-41B3-4E11-8B10-E16763010697}" type="slidenum">
              <a:rPr lang="en-GB" sz="1000">
                <a:solidFill>
                  <a:srgbClr val="8795A1"/>
                </a:solidFill>
                <a:latin typeface="Segoe UI"/>
              </a:rPr>
              <a:t>29</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An attacker moving through a network, and a defender choosing where to patch or monitor, can both be modelled as MDPs; the attack graph provides the states. Solving the defender’s MDP ranks mitigations by how much they reduce the attacker’s expected success.</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36581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BEF6FB1F-18AC-4C5A-B201-AE19BE85318C}" type="slidenum">
              <a:rPr lang="en-GB" sz="1000">
                <a:solidFill>
                  <a:srgbClr val="8795A1"/>
                </a:solidFill>
                <a:latin typeface="Segoe UI"/>
              </a:rPr>
              <a:t>30</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maintenance MDP: states H, D, F; actions operate (0), repair (1)</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Value iteration</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Policy iteration: evaluate exactly, then improve</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A gridworld: 3 x 4, wall at (1,1), exits +1 and -1, slippery moves</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15: Value and policy iteration; bandits and Q-learning</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72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code/ch19_value_iteration_policy.py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761980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3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B1FB0FA0-0A57-4346-B79E-9ABB531B63C3}"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maintenance MDP: states H, D, F; actions operate (0), repair (1)</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code/ch19_value_iteration_policy.py</a:t>
            </a:r>
          </a:p>
        </p:txBody>
      </p:sp>
      <p:sp>
        <p:nvSpPr>
          <p:cNvPr id="14" name="!!code-text" descr="import numpy as np # --- the maintenance MDP: states H, D, F; actions operate (0), repair (1) S, A = [&quot;H&quot;, &quot;D&quot;, &quot;F&quot;], [&quot;operate&quot;, &quot;repair&quot;] P = np.zeros((2, 3, 3)) # P[a, s, s'] P[0, 0] = [0.8, 0.2, 0.0] # operate when healthy P[0, 1] = [0.0, 0.5, 0.5] # operate when degraded P[0, 2] = [0.0, 0.0, 1.0] # operate when failed: stays failed P[1, :, 0] = 1.0 # repair: back to healthy R = np.array([[10.0, 5.0, 0.0], # R[a, s]: operate [-2.0, -4.0, -15.0]]) # repair gamma = 0.9"/>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import</a:t>
            </a:r>
            <a:r>
              <a:rPr sz="1800" i="0">
                <a:solidFill>
                  <a:srgbClr val="E8EDF2"/>
                </a:solidFill>
                <a:latin typeface="Consolas"/>
              </a:rPr>
              <a:t> </a:t>
            </a:r>
            <a:r>
              <a:rPr sz="1800" i="0">
                <a:solidFill>
                  <a:srgbClr val="76D7C4"/>
                </a:solidFill>
                <a:latin typeface="Consolas"/>
              </a:rPr>
              <a:t>numpy</a:t>
            </a:r>
            <a:r>
              <a:rPr sz="1800" i="0">
                <a:solidFill>
                  <a:srgbClr val="E8EDF2"/>
                </a:solidFill>
                <a:latin typeface="Consolas"/>
              </a:rPr>
              <a:t> </a:t>
            </a:r>
            <a:r>
              <a:rPr sz="1800" i="0">
                <a:solidFill>
                  <a:srgbClr val="5DADE2"/>
                </a:solidFill>
                <a:latin typeface="Consolas"/>
              </a:rPr>
              <a:t>as</a:t>
            </a:r>
            <a:r>
              <a:rPr sz="1800" i="0">
                <a:solidFill>
                  <a:srgbClr val="E8EDF2"/>
                </a:solidFill>
                <a:latin typeface="Consolas"/>
              </a:rPr>
              <a:t> </a:t>
            </a:r>
            <a:r>
              <a:rPr sz="1800" i="0">
                <a:solidFill>
                  <a:srgbClr val="76D7C4"/>
                </a:solidFill>
                <a:latin typeface="Consolas"/>
              </a:rPr>
              <a:t>np</a:t>
            </a:r>
          </a:p>
          <a:p>
            <a:pPr>
              <a:lnSpc>
                <a:spcPct val="100000"/>
              </a:lnSpc>
              <a:spcAft>
                <a:spcPts val="0"/>
              </a:spcAft>
            </a:pPr>
            <a:r>
              <a:rPr sz="1800">
                <a:latin typeface="Consolas"/>
              </a:rPr>
              <a:t> </a:t>
            </a:r>
          </a:p>
          <a:p>
            <a:pPr>
              <a:lnSpc>
                <a:spcPct val="100000"/>
              </a:lnSpc>
              <a:spcAft>
                <a:spcPts val="0"/>
              </a:spcAft>
            </a:pPr>
            <a:r>
              <a:rPr sz="1800" i="1">
                <a:solidFill>
                  <a:srgbClr val="8795A1"/>
                </a:solidFill>
                <a:latin typeface="Consolas"/>
              </a:rPr>
              <a:t># --- the maintenance MDP: states H, D, F; actions operate (0), repair (1)</a:t>
            </a:r>
          </a:p>
          <a:p>
            <a:pPr>
              <a:lnSpc>
                <a:spcPct val="100000"/>
              </a:lnSpc>
              <a:spcAft>
                <a:spcPts val="0"/>
              </a:spcAft>
            </a:pP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operate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repair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P[a, s, s']</a:t>
            </a:r>
          </a:p>
          <a:p>
            <a:pPr>
              <a:lnSpc>
                <a:spcPct val="100000"/>
              </a:lnSpc>
              <a:spcAft>
                <a:spcPts val="0"/>
              </a:spcAft>
            </a:pPr>
            <a:r>
              <a:rPr sz="1800" i="0">
                <a:solidFill>
                  <a:srgbClr val="E8EDF2"/>
                </a:solidFill>
                <a:latin typeface="Consolas"/>
              </a:rPr>
              <a:t>P</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0.8</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operate when healthy</a:t>
            </a:r>
          </a:p>
          <a:p>
            <a:pPr>
              <a:lnSpc>
                <a:spcPct val="100000"/>
              </a:lnSpc>
              <a:spcAft>
                <a:spcPts val="0"/>
              </a:spcAft>
            </a:pPr>
            <a:r>
              <a:rPr sz="1800" i="0">
                <a:solidFill>
                  <a:srgbClr val="E8EDF2"/>
                </a:solidFill>
                <a:latin typeface="Consolas"/>
              </a:rPr>
              <a:t>P</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operate when degraded</a:t>
            </a:r>
          </a:p>
          <a:p>
            <a:pPr>
              <a:lnSpc>
                <a:spcPct val="100000"/>
              </a:lnSpc>
              <a:spcAft>
                <a:spcPts val="0"/>
              </a:spcAft>
            </a:pPr>
            <a:r>
              <a:rPr sz="1800" i="0">
                <a:solidFill>
                  <a:srgbClr val="E8EDF2"/>
                </a:solidFill>
                <a:latin typeface="Consolas"/>
              </a:rPr>
              <a:t>P</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operate when failed: stays failed</a:t>
            </a:r>
          </a:p>
          <a:p>
            <a:pPr>
              <a:lnSpc>
                <a:spcPct val="100000"/>
              </a:lnSpc>
              <a:spcAft>
                <a:spcPts val="0"/>
              </a:spcAft>
            </a:pPr>
            <a:r>
              <a:rPr sz="1800" i="0">
                <a:solidFill>
                  <a:srgbClr val="E8EDF2"/>
                </a:solidFill>
                <a:latin typeface="Consolas"/>
              </a:rPr>
              <a:t>P</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E8EDF2"/>
                </a:solidFill>
                <a:latin typeface="Consolas"/>
              </a:rPr>
              <a:t>                     </a:t>
            </a:r>
            <a:r>
              <a:rPr sz="1800" i="1">
                <a:solidFill>
                  <a:srgbClr val="8795A1"/>
                </a:solidFill>
                <a:latin typeface="Consolas"/>
              </a:rPr>
              <a:t># repair: back to healthy</a:t>
            </a:r>
          </a:p>
          <a:p>
            <a:pPr>
              <a:lnSpc>
                <a:spcPct val="100000"/>
              </a:lnSpc>
              <a:spcAft>
                <a:spcPts val="0"/>
              </a:spcAft>
            </a:pP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R[a, s]: operate</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15.0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repair</a:t>
            </a:r>
          </a:p>
          <a:p>
            <a:pPr>
              <a:lnSpc>
                <a:spcPct val="100000"/>
              </a:lnSpc>
              <a:spcAft>
                <a:spcPts val="0"/>
              </a:spcAft>
            </a:pPr>
            <a:r>
              <a:rPr sz="1800" i="0">
                <a:solidFill>
                  <a:srgbClr val="E8EDF2"/>
                </a:solidFill>
                <a:latin typeface="Consolas"/>
              </a:rPr>
              <a:t>gamma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0.9</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a:t>
            </a:r>
          </a:p>
          <a:p>
            <a:pPr algn="r">
              <a:lnSpc>
                <a:spcPct val="100000"/>
              </a:lnSpc>
            </a:pPr>
            <a:r>
              <a:rPr sz="1800">
                <a:solidFill>
                  <a:srgbClr val="4F5D6A"/>
                </a:solidFill>
                <a:latin typeface="Consolas"/>
              </a:rPr>
              <a:t>3</a:t>
            </a:r>
          </a:p>
          <a:p>
            <a:pPr algn="r">
              <a:lnSpc>
                <a:spcPct val="100000"/>
              </a:lnSpc>
            </a:pPr>
            <a:r>
              <a:rPr sz="1800">
                <a:solidFill>
                  <a:srgbClr val="4F5D6A"/>
                </a:solidFill>
                <a:latin typeface="Consolas"/>
              </a:rPr>
              <a:t>4</a:t>
            </a:r>
          </a:p>
          <a:p>
            <a:pPr algn="r">
              <a:lnSpc>
                <a:spcPct val="100000"/>
              </a:lnSpc>
            </a:pPr>
            <a:r>
              <a:rPr sz="1800">
                <a:solidFill>
                  <a:srgbClr val="4F5D6A"/>
                </a:solidFill>
                <a:latin typeface="Consolas"/>
              </a:rPr>
              <a:t>5</a:t>
            </a:r>
          </a:p>
          <a:p>
            <a:pPr algn="r">
              <a:lnSpc>
                <a:spcPct val="100000"/>
              </a:lnSpc>
            </a:pPr>
            <a:r>
              <a:rPr sz="1800">
                <a:solidFill>
                  <a:srgbClr val="4F5D6A"/>
                </a:solidFill>
                <a:latin typeface="Consolas"/>
              </a:rPr>
              <a:t>6</a:t>
            </a:r>
          </a:p>
          <a:p>
            <a:pPr algn="r">
              <a:lnSpc>
                <a:spcPct val="100000"/>
              </a:lnSpc>
            </a:pPr>
            <a:r>
              <a:rPr sz="1800">
                <a:solidFill>
                  <a:srgbClr val="4F5D6A"/>
                </a:solidFill>
                <a:latin typeface="Consolas"/>
              </a:rPr>
              <a:t>7</a:t>
            </a:r>
          </a:p>
          <a:p>
            <a:pPr algn="r">
              <a:lnSpc>
                <a:spcPct val="100000"/>
              </a:lnSpc>
            </a:pPr>
            <a:r>
              <a:rPr sz="1800">
                <a:solidFill>
                  <a:srgbClr val="4F5D6A"/>
                </a:solidFill>
                <a:latin typeface="Consolas"/>
              </a:rPr>
              <a:t>8</a:t>
            </a:r>
          </a:p>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7380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93134CE1-C730-47DA-A25D-2E11AFD7EB59}"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Value iteration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code/ch19_value_iteration_policy.py</a:t>
            </a:r>
          </a:p>
        </p:txBody>
      </p:sp>
      <p:sp>
        <p:nvSpPr>
          <p:cNvPr id="14" name="!!code-text" descr="# --- value iteration ------------------------------------------------------- V = np.zeros(3) for it in range(1, 1000): Q = R + gamma * P @ V # Q[a, s] V_new = Q.max(axis=0) if it &lt;= 3: print(f&quot;iteration {it}: V = {V_new.round(3)} &quot; f&quot;policy = {[A[a] for a in Q.argmax(axis=0)]}&quot;) if np.abs(V_new - V).max() &lt; 1e-8: break V = V_new print(f&quot;converged after {it} iterations: V = {V.round(2)}&quot;) print(&quot;optimal policy:&quot;, dict(zip(S, [A[a] for a in Q.argmax(axis=0)])))"/>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value iteration -------------------------------------------------------</a:t>
            </a:r>
          </a:p>
          <a:p>
            <a:pPr>
              <a:lnSpc>
                <a:spcPct val="100000"/>
              </a:lnSpc>
              <a:spcAft>
                <a:spcPts val="0"/>
              </a:spcAft>
            </a:pP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zeros</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p>
          <a:p>
            <a:pPr>
              <a:lnSpc>
                <a:spcPct val="100000"/>
              </a:lnSpc>
              <a:spcAft>
                <a:spcPts val="0"/>
              </a:spcAft>
            </a:pP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it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C39BD3"/>
                </a:solidFill>
                <a:latin typeface="Consolas"/>
              </a:rPr>
              <a:t>range</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1000</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Q</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gamma</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1">
                <a:solidFill>
                  <a:srgbClr val="8795A1"/>
                </a:solidFill>
                <a:latin typeface="Consolas"/>
              </a:rPr>
              <a:t># Q[a, s]</a:t>
            </a:r>
          </a:p>
          <a:p>
            <a:pPr>
              <a:lnSpc>
                <a:spcPct val="100000"/>
              </a:lnSpc>
              <a:spcAft>
                <a:spcPts val="0"/>
              </a:spcAft>
            </a:pPr>
            <a:r>
              <a:rPr sz="1700" i="0">
                <a:solidFill>
                  <a:srgbClr val="E8EDF2"/>
                </a:solidFill>
                <a:latin typeface="Consolas"/>
              </a:rPr>
              <a:t>    </a:t>
            </a:r>
            <a:r>
              <a:rPr sz="1700" i="0">
                <a:solidFill>
                  <a:srgbClr val="E8EDF2"/>
                </a:solidFill>
                <a:latin typeface="Consolas"/>
              </a:rPr>
              <a:t>V_new</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Q</a:t>
            </a:r>
            <a:r>
              <a:rPr sz="1700" i="0">
                <a:solidFill>
                  <a:srgbClr val="AEB6BF"/>
                </a:solidFill>
                <a:latin typeface="Consolas"/>
              </a:rPr>
              <a:t>.</a:t>
            </a:r>
            <a:r>
              <a:rPr sz="1700" i="0">
                <a:solidFill>
                  <a:srgbClr val="E8EDF2"/>
                </a:solidFill>
                <a:latin typeface="Consolas"/>
              </a:rPr>
              <a:t>max</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it</a:t>
            </a:r>
            <a:r>
              <a:rPr sz="1700" i="0">
                <a:solidFill>
                  <a:srgbClr val="E8EDF2"/>
                </a:solidFill>
                <a:latin typeface="Consolas"/>
              </a:rPr>
              <a:t> </a:t>
            </a:r>
            <a:r>
              <a:rPr sz="1700" i="0">
                <a:solidFill>
                  <a:srgbClr val="AEB6BF"/>
                </a:solidFill>
                <a:latin typeface="Consolas"/>
              </a:rPr>
              <a:t>&lt;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iteration </a:t>
            </a:r>
            <a:r>
              <a:rPr sz="1700" i="0">
                <a:solidFill>
                  <a:srgbClr val="7DCEA0"/>
                </a:solidFill>
                <a:latin typeface="Consolas"/>
              </a:rPr>
              <a:t>{</a:t>
            </a:r>
            <a:r>
              <a:rPr sz="1700" i="0">
                <a:solidFill>
                  <a:srgbClr val="E8EDF2"/>
                </a:solidFill>
                <a:latin typeface="Consolas"/>
              </a:rPr>
              <a:t>it</a:t>
            </a:r>
            <a:r>
              <a:rPr sz="1700" i="0">
                <a:solidFill>
                  <a:srgbClr val="7DCEA0"/>
                </a:solidFill>
                <a:latin typeface="Consolas"/>
              </a:rPr>
              <a:t>}</a:t>
            </a:r>
            <a:r>
              <a:rPr sz="1700" i="0">
                <a:solidFill>
                  <a:srgbClr val="7DCEA0"/>
                </a:solidFill>
                <a:latin typeface="Consolas"/>
              </a:rPr>
              <a:t>: V = </a:t>
            </a:r>
            <a:r>
              <a:rPr sz="1700" i="0">
                <a:solidFill>
                  <a:srgbClr val="7DCEA0"/>
                </a:solidFill>
                <a:latin typeface="Consolas"/>
              </a:rPr>
              <a:t>{</a:t>
            </a:r>
            <a:r>
              <a:rPr sz="1700" i="0">
                <a:solidFill>
                  <a:srgbClr val="E8EDF2"/>
                </a:solidFill>
                <a:latin typeface="Consolas"/>
              </a:rPr>
              <a:t>V_new</a:t>
            </a:r>
            <a:r>
              <a:rPr sz="1700" i="0">
                <a:solidFill>
                  <a:srgbClr val="AEB6BF"/>
                </a:solidFill>
                <a:latin typeface="Consolas"/>
              </a:rPr>
              <a:t>.</a:t>
            </a:r>
            <a:r>
              <a:rPr sz="1700" i="0">
                <a:solidFill>
                  <a:srgbClr val="E8EDF2"/>
                </a:solidFill>
                <a:latin typeface="Consolas"/>
              </a:rPr>
              <a:t>round</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policy =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Q</a:t>
            </a:r>
            <a:r>
              <a:rPr sz="1700" i="0">
                <a:solidFill>
                  <a:srgbClr val="AEB6BF"/>
                </a:solidFill>
                <a:latin typeface="Consolas"/>
              </a:rPr>
              <a:t>.</a:t>
            </a:r>
            <a:r>
              <a:rPr sz="1700" i="0">
                <a:solidFill>
                  <a:srgbClr val="E8EDF2"/>
                </a:solidFill>
                <a:latin typeface="Consolas"/>
              </a:rPr>
              <a:t>argmax</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abs</a:t>
            </a:r>
            <a:r>
              <a:rPr sz="1700" i="0">
                <a:solidFill>
                  <a:srgbClr val="AEB6BF"/>
                </a:solidFill>
                <a:latin typeface="Consolas"/>
              </a:rPr>
              <a:t>(</a:t>
            </a:r>
            <a:r>
              <a:rPr sz="1700" i="0">
                <a:solidFill>
                  <a:srgbClr val="E8EDF2"/>
                </a:solidFill>
                <a:latin typeface="Consolas"/>
              </a:rPr>
              <a:t>V_new</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max</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&lt;</a:t>
            </a:r>
            <a:r>
              <a:rPr sz="1700" i="0">
                <a:solidFill>
                  <a:srgbClr val="E8EDF2"/>
                </a:solidFill>
                <a:latin typeface="Consolas"/>
              </a:rPr>
              <a:t> </a:t>
            </a:r>
            <a:r>
              <a:rPr sz="1700" i="0">
                <a:solidFill>
                  <a:srgbClr val="F7DC6F"/>
                </a:solidFill>
                <a:latin typeface="Consolas"/>
              </a:rPr>
              <a:t>1e-8</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break</a:t>
            </a:r>
          </a:p>
          <a:p>
            <a:pPr>
              <a:lnSpc>
                <a:spcPct val="100000"/>
              </a:lnSpc>
              <a:spcAft>
                <a:spcPts val="0"/>
              </a:spcAft>
            </a:pP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V_new</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converged after </a:t>
            </a:r>
            <a:r>
              <a:rPr sz="1700" i="0">
                <a:solidFill>
                  <a:srgbClr val="7DCEA0"/>
                </a:solidFill>
                <a:latin typeface="Consolas"/>
              </a:rPr>
              <a:t>{</a:t>
            </a:r>
            <a:r>
              <a:rPr sz="1700" i="0">
                <a:solidFill>
                  <a:srgbClr val="E8EDF2"/>
                </a:solidFill>
                <a:latin typeface="Consolas"/>
              </a:rPr>
              <a:t>it</a:t>
            </a:r>
            <a:r>
              <a:rPr sz="1700" i="0">
                <a:solidFill>
                  <a:srgbClr val="7DCEA0"/>
                </a:solidFill>
                <a:latin typeface="Consolas"/>
              </a:rPr>
              <a:t>}</a:t>
            </a:r>
            <a:r>
              <a:rPr sz="1700" i="0">
                <a:solidFill>
                  <a:srgbClr val="7DCEA0"/>
                </a:solidFill>
                <a:latin typeface="Consolas"/>
              </a:rPr>
              <a:t> iterations: V = </a:t>
            </a:r>
            <a:r>
              <a:rPr sz="1700" i="0">
                <a:solidFill>
                  <a:srgbClr val="7DCEA0"/>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E8EDF2"/>
                </a:solidFill>
                <a:latin typeface="Consolas"/>
              </a:rPr>
              <a:t>round</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optimal policy:</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dict</a:t>
            </a:r>
            <a:r>
              <a:rPr sz="1700" i="0">
                <a:solidFill>
                  <a:srgbClr val="AEB6BF"/>
                </a:solidFill>
                <a:latin typeface="Consolas"/>
              </a:rPr>
              <a:t>(</a:t>
            </a:r>
            <a:r>
              <a:rPr sz="1700" i="0">
                <a:solidFill>
                  <a:srgbClr val="C39BD3"/>
                </a:solidFill>
                <a:latin typeface="Consolas"/>
              </a:rPr>
              <a:t>zip</a:t>
            </a:r>
            <a:r>
              <a:rPr sz="1700" i="0">
                <a:solidFill>
                  <a:srgbClr val="AEB6BF"/>
                </a:solidFill>
                <a:latin typeface="Consolas"/>
              </a:rPr>
              <a:t>(</a:t>
            </a:r>
            <a:r>
              <a:rPr sz="1700" i="0">
                <a:solidFill>
                  <a:srgbClr val="E8EDF2"/>
                </a:solidFill>
                <a:latin typeface="Consolas"/>
              </a:rPr>
              <a:t>S</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Q</a:t>
            </a:r>
            <a:r>
              <a:rPr sz="1700" i="0">
                <a:solidFill>
                  <a:srgbClr val="AEB6BF"/>
                </a:solidFill>
                <a:latin typeface="Consolas"/>
              </a:rPr>
              <a:t>.</a:t>
            </a:r>
            <a:r>
              <a:rPr sz="1700" i="0">
                <a:solidFill>
                  <a:srgbClr val="E8EDF2"/>
                </a:solidFill>
                <a:latin typeface="Consolas"/>
              </a:rPr>
              <a:t>argmax</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15</a:t>
            </a:r>
          </a:p>
          <a:p>
            <a:pPr algn="r">
              <a:lnSpc>
                <a:spcPct val="100000"/>
              </a:lnSpc>
            </a:pPr>
            <a:r>
              <a:rPr sz="1700">
                <a:solidFill>
                  <a:srgbClr val="4F5D6A"/>
                </a:solidFill>
                <a:latin typeface="Consolas"/>
              </a:rPr>
              <a:t>16</a:t>
            </a:r>
          </a:p>
          <a:p>
            <a:pPr algn="r">
              <a:lnSpc>
                <a:spcPct val="100000"/>
              </a:lnSpc>
            </a:pPr>
            <a:r>
              <a:rPr sz="1700">
                <a:solidFill>
                  <a:srgbClr val="4F5D6A"/>
                </a:solidFill>
                <a:latin typeface="Consolas"/>
              </a:rPr>
              <a:t>17</a:t>
            </a:r>
          </a:p>
          <a:p>
            <a:pPr algn="r">
              <a:lnSpc>
                <a:spcPct val="100000"/>
              </a:lnSpc>
            </a:pPr>
            <a:r>
              <a:rPr sz="1700">
                <a:solidFill>
                  <a:srgbClr val="4F5D6A"/>
                </a:solidFill>
                <a:latin typeface="Consolas"/>
              </a:rPr>
              <a:t>18</a:t>
            </a:r>
          </a:p>
          <a:p>
            <a:pPr algn="r">
              <a:lnSpc>
                <a:spcPct val="100000"/>
              </a:lnSpc>
            </a:pPr>
            <a:r>
              <a:rPr sz="1700">
                <a:solidFill>
                  <a:srgbClr val="4F5D6A"/>
                </a:solidFill>
                <a:latin typeface="Consolas"/>
              </a:rPr>
              <a:t>19</a:t>
            </a:r>
          </a:p>
          <a:p>
            <a:pPr algn="r">
              <a:lnSpc>
                <a:spcPct val="100000"/>
              </a:lnSpc>
            </a:pPr>
            <a:r>
              <a:rPr sz="1700">
                <a:solidFill>
                  <a:srgbClr val="4F5D6A"/>
                </a:solidFill>
                <a:latin typeface="Consolas"/>
              </a:rPr>
              <a:t>20</a:t>
            </a:r>
          </a:p>
          <a:p>
            <a:pPr algn="r">
              <a:lnSpc>
                <a:spcPct val="100000"/>
              </a:lnSpc>
            </a:pPr>
            <a:r>
              <a:rPr sz="1700">
                <a:solidFill>
                  <a:srgbClr val="4F5D6A"/>
                </a:solidFill>
                <a:latin typeface="Consolas"/>
              </a:rPr>
              <a:t>21</a:t>
            </a:r>
          </a:p>
          <a:p>
            <a:pPr algn="r">
              <a:lnSpc>
                <a:spcPct val="100000"/>
              </a:lnSpc>
            </a:pPr>
            <a:r>
              <a:rPr sz="1700">
                <a:solidFill>
                  <a:srgbClr val="4F5D6A"/>
                </a:solidFill>
                <a:latin typeface="Consolas"/>
              </a:rPr>
              <a:t>22</a:t>
            </a:r>
          </a:p>
          <a:p>
            <a:pPr algn="r">
              <a:lnSpc>
                <a:spcPct val="100000"/>
              </a:lnSpc>
            </a:pPr>
            <a:r>
              <a:rPr sz="1700">
                <a:solidFill>
                  <a:srgbClr val="4F5D6A"/>
                </a:solidFill>
                <a:latin typeface="Consolas"/>
              </a:rPr>
              <a:t>23</a:t>
            </a:r>
          </a:p>
          <a:p>
            <a:pPr algn="r">
              <a:lnSpc>
                <a:spcPct val="100000"/>
              </a:lnSpc>
            </a:pPr>
            <a:r>
              <a:rPr sz="1700">
                <a:solidFill>
                  <a:srgbClr val="4F5D6A"/>
                </a:solidFill>
                <a:latin typeface="Consolas"/>
              </a:rPr>
              <a:t>24</a:t>
            </a:r>
          </a:p>
          <a:p>
            <a:pPr algn="r">
              <a:lnSpc>
                <a:spcPct val="100000"/>
              </a:lnSpc>
            </a:pPr>
            <a:r>
              <a:rPr sz="1700">
                <a:solidFill>
                  <a:srgbClr val="4F5D6A"/>
                </a:solidFill>
                <a:latin typeface="Consolas"/>
              </a:rPr>
              <a:t>25</a:t>
            </a:r>
          </a:p>
          <a:p>
            <a:pPr algn="r">
              <a:lnSpc>
                <a:spcPct val="100000"/>
              </a:lnSpc>
            </a:pPr>
            <a:r>
              <a:rPr sz="1700">
                <a:solidFill>
                  <a:srgbClr val="4F5D6A"/>
                </a:solidFill>
                <a:latin typeface="Consolas"/>
              </a:rPr>
              <a:t>26</a:t>
            </a:r>
          </a:p>
          <a:p>
            <a:pPr algn="r">
              <a:lnSpc>
                <a:spcPct val="100000"/>
              </a:lnSpc>
            </a:pPr>
            <a:r>
              <a:rPr sz="1700">
                <a:solidFill>
                  <a:srgbClr val="4F5D6A"/>
                </a:solidFill>
                <a:latin typeface="Consolas"/>
              </a:rPr>
              <a:t>27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3383F1AF-24B6-44A8-BCCC-76DDB3FDCF8F}"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Policy iteration: evaluate exactly, then improve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53383"/>
          </a:xfrm>
          <a:prstGeom prst="roundRect">
            <a:avLst>
              <a:gd name="adj" fmla="val 26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code/ch19_value_iteration_policy.py</a:t>
            </a:r>
          </a:p>
        </p:txBody>
      </p:sp>
      <p:sp>
        <p:nvSpPr>
          <p:cNvPr id="14" name="!!code-text" descr="# --- policy iteration: evaluate exactly, then improve ---------------------- policy = np.zeros(3, dtype=int) # start: always operate while True: Pp = P[policy, np.arange(3)] # 3 x 3 under the policy Rp = R[policy, np.arange(3)] V = np.linalg.solve(np.eye(3) - gamma * Pp, Rp) # V = R + g P V print(&quot;evaluate&quot;, [A[a] for a in policy], &quot;-&gt;&quot;, V.round(2)) new = (R + gamma * P @ V).argmax(axis=0) # improve greedily if (new == policy).all(): break policy = new"/>
          <p:cNvSpPr txBox="1"/>
          <p:nvPr/>
        </p:nvSpPr>
        <p:spPr>
          <a:xfrm>
            <a:off x="1362456" y="2523744"/>
            <a:ext cx="9987991" cy="295960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policy iteration: evaluate exactly, then improve ----------------------</a:t>
            </a:r>
          </a:p>
          <a:p>
            <a:pPr>
              <a:lnSpc>
                <a:spcPct val="100000"/>
              </a:lnSpc>
              <a:spcAft>
                <a:spcPts val="0"/>
              </a:spcAft>
            </a:pPr>
            <a:r>
              <a:rPr sz="1700" i="0">
                <a:solidFill>
                  <a:srgbClr val="E8EDF2"/>
                </a:solidFill>
                <a:latin typeface="Consolas"/>
              </a:rPr>
              <a:t>policy</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zeros</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dtype</a:t>
            </a:r>
            <a:r>
              <a:rPr sz="1700" i="0">
                <a:solidFill>
                  <a:srgbClr val="AEB6BF"/>
                </a:solidFill>
                <a:latin typeface="Consolas"/>
              </a:rPr>
              <a:t>=</a:t>
            </a:r>
            <a:r>
              <a:rPr sz="1700" i="0">
                <a:solidFill>
                  <a:srgbClr val="C39BD3"/>
                </a:solidFill>
                <a:latin typeface="Consolas"/>
              </a:rPr>
              <a:t>int</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start: always operate</a:t>
            </a:r>
          </a:p>
          <a:p>
            <a:pPr>
              <a:lnSpc>
                <a:spcPct val="100000"/>
              </a:lnSpc>
              <a:spcAft>
                <a:spcPts val="0"/>
              </a:spcAft>
            </a:pPr>
            <a:r>
              <a:rPr sz="1700" i="0">
                <a:solidFill>
                  <a:srgbClr val="5DADE2"/>
                </a:solidFill>
                <a:latin typeface="Consolas"/>
              </a:rPr>
              <a:t>while</a:t>
            </a:r>
            <a:r>
              <a:rPr sz="1700" i="0">
                <a:solidFill>
                  <a:srgbClr val="E8EDF2"/>
                </a:solidFill>
                <a:latin typeface="Consolas"/>
              </a:rPr>
              <a:t> </a:t>
            </a:r>
            <a:r>
              <a:rPr sz="1700" i="0">
                <a:solidFill>
                  <a:srgbClr val="5DADE2"/>
                </a:solidFill>
                <a:latin typeface="Consolas"/>
              </a:rPr>
              <a:t>True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Pp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AEB6BF"/>
                </a:solidFill>
                <a:latin typeface="Consolas"/>
              </a:rPr>
              <a:t>[</a:t>
            </a:r>
            <a:r>
              <a:rPr sz="1700" i="0">
                <a:solidFill>
                  <a:srgbClr val="E8EDF2"/>
                </a:solidFill>
                <a:latin typeface="Consolas"/>
              </a:rPr>
              <a:t>policy</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arange</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3 x 3 under the policy</a:t>
            </a:r>
          </a:p>
          <a:p>
            <a:pPr>
              <a:lnSpc>
                <a:spcPct val="100000"/>
              </a:lnSpc>
              <a:spcAft>
                <a:spcPts val="0"/>
              </a:spcAft>
            </a:pPr>
            <a:r>
              <a:rPr sz="1700" i="0">
                <a:solidFill>
                  <a:srgbClr val="E8EDF2"/>
                </a:solidFill>
                <a:latin typeface="Consolas"/>
              </a:rPr>
              <a:t>    </a:t>
            </a:r>
            <a:r>
              <a:rPr sz="1700" i="0">
                <a:solidFill>
                  <a:srgbClr val="E8EDF2"/>
                </a:solidFill>
                <a:latin typeface="Consolas"/>
              </a:rPr>
              <a:t>Rp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t>
            </a:r>
            <a:r>
              <a:rPr sz="1700" i="0">
                <a:solidFill>
                  <a:srgbClr val="AEB6BF"/>
                </a:solidFill>
                <a:latin typeface="Consolas"/>
              </a:rPr>
              <a:t>[</a:t>
            </a:r>
            <a:r>
              <a:rPr sz="1700" i="0">
                <a:solidFill>
                  <a:srgbClr val="E8EDF2"/>
                </a:solidFill>
                <a:latin typeface="Consolas"/>
              </a:rPr>
              <a:t>policy</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arange</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linalg</a:t>
            </a:r>
            <a:r>
              <a:rPr sz="1700" i="0">
                <a:solidFill>
                  <a:srgbClr val="AEB6BF"/>
                </a:solidFill>
                <a:latin typeface="Consolas"/>
              </a:rPr>
              <a:t>.</a:t>
            </a:r>
            <a:r>
              <a:rPr sz="1700" i="0">
                <a:solidFill>
                  <a:srgbClr val="E8EDF2"/>
                </a:solidFill>
                <a:latin typeface="Consolas"/>
              </a:rPr>
              <a:t>solve</a:t>
            </a:r>
            <a:r>
              <a:rPr sz="1700" i="0">
                <a:solidFill>
                  <a:srgbClr val="AEB6BF"/>
                </a:solidFill>
                <a:latin typeface="Consolas"/>
              </a:rPr>
              <a:t>(</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eye</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gamma</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Pp</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Rp</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V = R + g P V</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evaluate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policy</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-&gt;</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AEB6BF"/>
                </a:solidFill>
                <a:latin typeface="Consolas"/>
              </a:rPr>
              <a:t>.</a:t>
            </a:r>
            <a:r>
              <a:rPr sz="1700" i="0">
                <a:solidFill>
                  <a:srgbClr val="E8EDF2"/>
                </a:solidFill>
                <a:latin typeface="Consolas"/>
              </a:rPr>
              <a:t>round</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new</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gamma</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argmax</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improve greedily</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new</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policy</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all</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break</a:t>
            </a:r>
          </a:p>
          <a:p>
            <a:pPr>
              <a:lnSpc>
                <a:spcPct val="100000"/>
              </a:lnSpc>
              <a:spcAft>
                <a:spcPts val="0"/>
              </a:spcAft>
            </a:pPr>
            <a:r>
              <a:rPr sz="1700" i="0">
                <a:solidFill>
                  <a:srgbClr val="E8EDF2"/>
                </a:solidFill>
                <a:latin typeface="Consolas"/>
              </a:rPr>
              <a:t>    </a:t>
            </a:r>
            <a:r>
              <a:rPr sz="1700" i="0">
                <a:solidFill>
                  <a:srgbClr val="E8EDF2"/>
                </a:solidFill>
                <a:latin typeface="Consolas"/>
              </a:rPr>
              <a:t>policy</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new</a:t>
            </a:r>
          </a:p>
        </p:txBody>
      </p:sp>
      <p:sp>
        <p:nvSpPr>
          <p:cNvPr id="15" name="!!code-num"/>
          <p:cNvSpPr txBox="1"/>
          <p:nvPr/>
        </p:nvSpPr>
        <p:spPr>
          <a:xfrm>
            <a:off x="768096" y="2523744"/>
            <a:ext cx="393192" cy="295960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29</a:t>
            </a:r>
          </a:p>
          <a:p>
            <a:pPr algn="r">
              <a:lnSpc>
                <a:spcPct val="100000"/>
              </a:lnSpc>
            </a:pPr>
            <a:r>
              <a:rPr sz="1700">
                <a:solidFill>
                  <a:srgbClr val="4F5D6A"/>
                </a:solidFill>
                <a:latin typeface="Consolas"/>
              </a:rPr>
              <a:t>30</a:t>
            </a:r>
          </a:p>
          <a:p>
            <a:pPr algn="r">
              <a:lnSpc>
                <a:spcPct val="100000"/>
              </a:lnSpc>
            </a:pPr>
            <a:r>
              <a:rPr sz="1700">
                <a:solidFill>
                  <a:srgbClr val="4F5D6A"/>
                </a:solidFill>
                <a:latin typeface="Consolas"/>
              </a:rPr>
              <a:t>31</a:t>
            </a:r>
          </a:p>
          <a:p>
            <a:pPr algn="r">
              <a:lnSpc>
                <a:spcPct val="100000"/>
              </a:lnSpc>
            </a:pPr>
            <a:r>
              <a:rPr sz="1700">
                <a:solidFill>
                  <a:srgbClr val="4F5D6A"/>
                </a:solidFill>
                <a:latin typeface="Consolas"/>
              </a:rPr>
              <a:t>32</a:t>
            </a:r>
          </a:p>
          <a:p>
            <a:pPr algn="r">
              <a:lnSpc>
                <a:spcPct val="100000"/>
              </a:lnSpc>
            </a:pPr>
            <a:r>
              <a:rPr sz="1700">
                <a:solidFill>
                  <a:srgbClr val="4F5D6A"/>
                </a:solidFill>
                <a:latin typeface="Consolas"/>
              </a:rPr>
              <a:t>33</a:t>
            </a:r>
          </a:p>
          <a:p>
            <a:pPr algn="r">
              <a:lnSpc>
                <a:spcPct val="100000"/>
              </a:lnSpc>
            </a:pPr>
            <a:r>
              <a:rPr sz="1700">
                <a:solidFill>
                  <a:srgbClr val="4F5D6A"/>
                </a:solidFill>
                <a:latin typeface="Consolas"/>
              </a:rPr>
              <a:t>34</a:t>
            </a:r>
          </a:p>
          <a:p>
            <a:pPr algn="r">
              <a:lnSpc>
                <a:spcPct val="100000"/>
              </a:lnSpc>
            </a:pPr>
            <a:r>
              <a:rPr sz="1700">
                <a:solidFill>
                  <a:srgbClr val="4F5D6A"/>
                </a:solidFill>
                <a:latin typeface="Consolas"/>
              </a:rPr>
              <a:t>35</a:t>
            </a:r>
          </a:p>
          <a:p>
            <a:pPr algn="r">
              <a:lnSpc>
                <a:spcPct val="100000"/>
              </a:lnSpc>
            </a:pPr>
            <a:r>
              <a:rPr sz="1700">
                <a:solidFill>
                  <a:srgbClr val="4F5D6A"/>
                </a:solidFill>
                <a:latin typeface="Consolas"/>
              </a:rPr>
              <a:t>36</a:t>
            </a:r>
          </a:p>
          <a:p>
            <a:pPr algn="r">
              <a:lnSpc>
                <a:spcPct val="100000"/>
              </a:lnSpc>
            </a:pPr>
            <a:r>
              <a:rPr sz="1700">
                <a:solidFill>
                  <a:srgbClr val="4F5D6A"/>
                </a:solidFill>
                <a:latin typeface="Consolas"/>
              </a:rPr>
              <a:t>37</a:t>
            </a:r>
          </a:p>
          <a:p>
            <a:pPr algn="r">
              <a:lnSpc>
                <a:spcPct val="100000"/>
              </a:lnSpc>
            </a:pPr>
            <a:r>
              <a:rPr sz="1700">
                <a:solidFill>
                  <a:srgbClr val="4F5D6A"/>
                </a:solidFill>
                <a:latin typeface="Consolas"/>
              </a:rPr>
              <a:t>38</a:t>
            </a:r>
          </a:p>
          <a:p>
            <a:pPr algn="r">
              <a:lnSpc>
                <a:spcPct val="100000"/>
              </a:lnSpc>
            </a:pPr>
            <a:r>
              <a:rPr sz="17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8179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43249CB9-0E4B-4BDC-A80C-1B047364C7E4}"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gridworld: 3 x 4, wall at (1,1), exits +1 and -1, slippery moves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code/ch19_value_iteration_policy.py</a:t>
            </a:r>
          </a:p>
        </p:txBody>
      </p:sp>
      <p:sp>
        <p:nvSpPr>
          <p:cNvPr id="14" name="!!code-text" descr="# --- a gridworld: 3 x 4, wall at (1,1), exits +1 and -1, slippery moves --- rows, cols, wall = 3, 4, (1, 1) exits = {(0, 3): 1.0, (1, 3): -1.0} moves = {&quot;^&quot;: (-1, 0), &quot;v&quot;: (1, 0), &quot;&lt;&quot;: (0, -1), &quot;&gt;&quot;: (0, 1)} side = {&quot;^&quot;: &quot;&lt;&gt;&quot;, &quot;v&quot;: &quot;&lt;&gt;&quot;, &quot;&lt;&quot;: &quot;^v&quot;, &quot;&gt;&quot;: &quot;^v&quot;} def step(s, a): r, c = s[0] + moves[a][0], s[1] + moves[a][1] ok = 0 &lt;= r &lt; rows and 0 &lt;= c &lt; cols and (r, c) != wall return (r, c) if ok else s def q(V, s, a): # expected next value return (0.8 * V[step(s, a)] + 0.1 * V[step(s, side[a][0])] + 0.1 * V[step(s, side[a][1])])"/>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a gridworld: 3 x 4, wall at (1,1), exits +1 and -1, slippery moves ---</a:t>
            </a:r>
          </a:p>
          <a:p>
            <a:pPr>
              <a:lnSpc>
                <a:spcPct val="100000"/>
              </a:lnSpc>
              <a:spcAft>
                <a:spcPts val="0"/>
              </a:spcAft>
            </a:pPr>
            <a:r>
              <a:rPr sz="1400" i="0">
                <a:solidFill>
                  <a:srgbClr val="E8EDF2"/>
                </a:solidFill>
                <a:latin typeface="Consolas"/>
              </a:rPr>
              <a:t>rows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cols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wall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exits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1.0</a:t>
            </a:r>
            <a:r>
              <a:rPr sz="1400" i="0">
                <a:solidFill>
                  <a:srgbClr val="AEB6BF"/>
                </a:solidFill>
                <a:latin typeface="Consolas"/>
              </a:rPr>
              <a:t>}</a:t>
            </a:r>
          </a:p>
          <a:p>
            <a:pPr>
              <a:lnSpc>
                <a:spcPct val="100000"/>
              </a:lnSpc>
              <a:spcAft>
                <a:spcPts val="0"/>
              </a:spcAft>
            </a:pPr>
            <a:r>
              <a:rPr sz="1400" i="0">
                <a:solidFill>
                  <a:srgbClr val="E8EDF2"/>
                </a:solidFill>
                <a:latin typeface="Consolas"/>
              </a:rPr>
              <a:t>moves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v</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&gt;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side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&lt;&gt;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v</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&lt;&gt;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^v</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&gt;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^v</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step</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moves</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moves</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ok</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E8EDF2"/>
                </a:solidFill>
                <a:latin typeface="Consolas"/>
              </a:rPr>
              <a:t> </a:t>
            </a:r>
            <a:r>
              <a:rPr sz="1400" i="0">
                <a:solidFill>
                  <a:srgbClr val="AEB6BF"/>
                </a:solidFill>
                <a:latin typeface="Consolas"/>
              </a:rPr>
              <a:t>&lt;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rows</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F7DC6F"/>
                </a:solidFill>
                <a:latin typeface="Consolas"/>
              </a:rPr>
              <a:t>0</a:t>
            </a:r>
            <a:r>
              <a:rPr sz="1400" i="0">
                <a:solidFill>
                  <a:srgbClr val="E8EDF2"/>
                </a:solidFill>
                <a:latin typeface="Consolas"/>
              </a:rPr>
              <a:t> </a:t>
            </a:r>
            <a:r>
              <a:rPr sz="1400" i="0">
                <a:solidFill>
                  <a:srgbClr val="AEB6BF"/>
                </a:solidFill>
                <a:latin typeface="Consolas"/>
              </a:rPr>
              <a:t>&lt;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cols</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wall</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ok</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E8EDF2"/>
                </a:solidFill>
                <a:latin typeface="Consolas"/>
              </a:rPr>
              <a:t>s</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q</a:t>
            </a:r>
            <a:r>
              <a:rPr sz="1400" i="0">
                <a:solidFill>
                  <a:srgbClr val="AEB6BF"/>
                </a:solidFill>
                <a:latin typeface="Consolas"/>
              </a:rPr>
              <a:t>(</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expected next value</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0.8</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step</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step</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side</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step</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side</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a:p>
            <a:pPr algn="r">
              <a:lnSpc>
                <a:spcPct val="100000"/>
              </a:lnSpc>
            </a:pPr>
            <a:r>
              <a:rPr sz="1400">
                <a:solidFill>
                  <a:srgbClr val="4F5D6A"/>
                </a:solidFill>
                <a:latin typeface="Consolas"/>
              </a:rPr>
              <a:t>51</a:t>
            </a:r>
          </a:p>
          <a:p>
            <a:pPr algn="r">
              <a:lnSpc>
                <a:spcPct val="100000"/>
              </a:lnSpc>
            </a:pPr>
            <a:r>
              <a:rPr sz="1400">
                <a:solidFill>
                  <a:srgbClr val="4F5D6A"/>
                </a:solidFill>
                <a:latin typeface="Consolas"/>
              </a:rPr>
              <a:t>52</a:t>
            </a:r>
          </a:p>
          <a:p>
            <a:pPr algn="r">
              <a:lnSpc>
                <a:spcPct val="100000"/>
              </a:lnSpc>
            </a:pPr>
            <a:r>
              <a:rPr sz="1400">
                <a:solidFill>
                  <a:srgbClr val="4F5D6A"/>
                </a:solidFill>
                <a:latin typeface="Consolas"/>
              </a:rPr>
              <a:t>53</a:t>
            </a:r>
          </a:p>
          <a:p>
            <a:pPr algn="r">
              <a:lnSpc>
                <a:spcPct val="100000"/>
              </a:lnSpc>
            </a:pPr>
            <a:r>
              <a:rPr sz="1400">
                <a:solidFill>
                  <a:srgbClr val="4F5D6A"/>
                </a:solidFill>
                <a:latin typeface="Consolas"/>
              </a:rPr>
              <a:t>54</a:t>
            </a:r>
          </a:p>
          <a:p>
            <a:pPr algn="r">
              <a:lnSpc>
                <a:spcPct val="100000"/>
              </a:lnSpc>
            </a:pPr>
            <a:r>
              <a:rPr sz="1400">
                <a:solidFill>
                  <a:srgbClr val="4F5D6A"/>
                </a:solidFill>
                <a:latin typeface="Consolas"/>
              </a:rPr>
              <a:t>55</a:t>
            </a:r>
          </a:p>
          <a:p>
            <a:pPr algn="r">
              <a:lnSpc>
                <a:spcPct val="100000"/>
              </a:lnSpc>
            </a:pPr>
            <a:r>
              <a:rPr sz="1400">
                <a:solidFill>
                  <a:srgbClr val="4F5D6A"/>
                </a:solidFill>
                <a:latin typeface="Consolas"/>
              </a:rPr>
              <a:t>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3578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Value Iteration, Policy Iteration and a Gridworld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A9F3F510-4CA6-4DE2-BAF2-D68B7A62C99C}"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gridworld: 3 x 4, wall at (1,1), exits +1 and -1, slippery moves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code/ch19_value_iteration_policy.py</a:t>
            </a:r>
          </a:p>
        </p:txBody>
      </p:sp>
      <p:sp>
        <p:nvSpPr>
          <p:cNvPr id="14" name="!!code-text" descr="cells = [(r, c) for r in range(rows) for c in range(cols) if (r, c) != wall] V = {s: 0.0 for s in cells} for _ in range(200): V = {s: exits[s] if s in exits else -0.04 + 1.0 * max(q(V, s, a) for a in moves) for s in cells} for r in range(rows): line = [] for c in range(cols): s = (r, c) if s == wall: line.append(&quot; wall &quot;) else: best = &quot;&quot; if s in exits else max(moves, key=lambda a: q(V, s, a)) line.append(f&quot;{V[s]:6.3f}{best or ' '}&quot;) print(&quot; &quot;.join(line))"/>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cells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r</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r</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rows</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c</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cols</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r</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wall</a:t>
            </a:r>
            <a:r>
              <a:rPr sz="1500" i="0">
                <a:solidFill>
                  <a:srgbClr val="AEB6BF"/>
                </a:solidFill>
                <a:latin typeface="Consolas"/>
              </a:rPr>
              <a:t>]</a:t>
            </a:r>
          </a:p>
          <a:p>
            <a:pPr>
              <a:lnSpc>
                <a:spcPct val="100000"/>
              </a:lnSpc>
              <a:spcAft>
                <a:spcPts val="0"/>
              </a:spcAft>
            </a:pPr>
            <a:r>
              <a:rPr sz="1500" i="0">
                <a:solidFill>
                  <a:srgbClr val="E8EDF2"/>
                </a:solidFill>
                <a:latin typeface="Consolas"/>
              </a:rPr>
              <a: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s</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0.0</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cells</a:t>
            </a:r>
            <a:r>
              <a:rPr sz="1500" i="0">
                <a:solidFill>
                  <a:srgbClr val="AEB6BF"/>
                </a:solidFill>
                <a:latin typeface="Consolas"/>
              </a:rPr>
              <a:t>}</a:t>
            </a:r>
          </a:p>
          <a:p>
            <a:pPr>
              <a:lnSpc>
                <a:spcPct val="100000"/>
              </a:lnSpc>
              <a:spcAft>
                <a:spcPts val="0"/>
              </a:spcAft>
            </a:pP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_</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F7DC6F"/>
                </a:solidFill>
                <a:latin typeface="Consolas"/>
              </a:rPr>
              <a:t>200</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exits</a:t>
            </a:r>
            <a:r>
              <a:rPr sz="1500" i="0">
                <a:solidFill>
                  <a:srgbClr val="AEB6BF"/>
                </a:solidFill>
                <a:latin typeface="Consolas"/>
              </a:rPr>
              <a:t>[</a:t>
            </a:r>
            <a:r>
              <a:rPr sz="1500" i="0">
                <a:solidFill>
                  <a:srgbClr val="E8EDF2"/>
                </a:solidFill>
                <a:latin typeface="Consolas"/>
              </a:rPr>
              <a:t>s</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exits</a:t>
            </a:r>
            <a:r>
              <a:rPr sz="1500" i="0">
                <a:solidFill>
                  <a:srgbClr val="E8EDF2"/>
                </a:solidFill>
                <a:latin typeface="Consolas"/>
              </a:rPr>
              <a:t> </a:t>
            </a:r>
            <a:r>
              <a:rPr sz="1500" i="0">
                <a:solidFill>
                  <a:srgbClr val="5DADE2"/>
                </a:solidFill>
                <a:latin typeface="Consolas"/>
              </a:rPr>
              <a:t>else</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F7DC6F"/>
                </a:solidFill>
                <a:latin typeface="Consolas"/>
              </a:rPr>
              <a:t>0.04</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max</a:t>
            </a:r>
            <a:r>
              <a:rPr sz="1500" i="0">
                <a:solidFill>
                  <a:srgbClr val="AEB6BF"/>
                </a:solidFill>
                <a:latin typeface="Consolas"/>
              </a:rPr>
              <a:t>(</a:t>
            </a:r>
            <a:r>
              <a:rPr sz="1500" i="0">
                <a:solidFill>
                  <a:srgbClr val="E8EDF2"/>
                </a:solidFill>
                <a:latin typeface="Consolas"/>
              </a:rPr>
              <a:t>q</a:t>
            </a:r>
            <a:r>
              <a:rPr sz="1500" i="0">
                <a:solidFill>
                  <a:srgbClr val="AEB6BF"/>
                </a:solidFill>
                <a:latin typeface="Consolas"/>
              </a:rPr>
              <a:t>(</a:t>
            </a:r>
            <a:r>
              <a:rPr sz="1500" i="0">
                <a:solidFill>
                  <a:srgbClr val="E8EDF2"/>
                </a:solidFill>
                <a:latin typeface="Consolas"/>
              </a:rPr>
              <a:t>V</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a</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moves</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cells</a:t>
            </a:r>
            <a:r>
              <a:rPr sz="1500" i="0">
                <a:solidFill>
                  <a:srgbClr val="AEB6BF"/>
                </a:solidFill>
                <a:latin typeface="Consolas"/>
              </a:rPr>
              <a:t>}</a:t>
            </a:r>
          </a:p>
          <a:p>
            <a:pPr>
              <a:lnSpc>
                <a:spcPct val="100000"/>
              </a:lnSpc>
              <a:spcAft>
                <a:spcPts val="0"/>
              </a:spcAft>
            </a:pP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r</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rows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line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c</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cols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r</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wall</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line</a:t>
            </a:r>
            <a:r>
              <a:rPr sz="1500" i="0">
                <a:solidFill>
                  <a:srgbClr val="AEB6BF"/>
                </a:solidFill>
                <a:latin typeface="Consolas"/>
              </a:rPr>
              <a:t>.</a:t>
            </a:r>
            <a:r>
              <a:rPr sz="1500" i="0">
                <a:solidFill>
                  <a:srgbClr val="E8EDF2"/>
                </a:solidFill>
                <a:latin typeface="Consolas"/>
              </a:rPr>
              <a:t>append</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wall  </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else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s</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exits</a:t>
            </a:r>
            <a:r>
              <a:rPr sz="1500" i="0">
                <a:solidFill>
                  <a:srgbClr val="E8EDF2"/>
                </a:solidFill>
                <a:latin typeface="Consolas"/>
              </a:rPr>
              <a:t> </a:t>
            </a:r>
            <a:r>
              <a:rPr sz="1500" i="0">
                <a:solidFill>
                  <a:srgbClr val="5DADE2"/>
                </a:solidFill>
                <a:latin typeface="Consolas"/>
              </a:rPr>
              <a:t>else</a:t>
            </a:r>
            <a:r>
              <a:rPr sz="1500" i="0">
                <a:solidFill>
                  <a:srgbClr val="E8EDF2"/>
                </a:solidFill>
                <a:latin typeface="Consolas"/>
              </a:rPr>
              <a:t> </a:t>
            </a:r>
            <a:r>
              <a:rPr sz="1500" i="0">
                <a:solidFill>
                  <a:srgbClr val="C39BD3"/>
                </a:solidFill>
                <a:latin typeface="Consolas"/>
              </a:rPr>
              <a:t>max</a:t>
            </a:r>
            <a:r>
              <a:rPr sz="1500" i="0">
                <a:solidFill>
                  <a:srgbClr val="AEB6BF"/>
                </a:solidFill>
                <a:latin typeface="Consolas"/>
              </a:rPr>
              <a:t>(</a:t>
            </a:r>
            <a:r>
              <a:rPr sz="1500" i="0">
                <a:solidFill>
                  <a:srgbClr val="E8EDF2"/>
                </a:solidFill>
                <a:latin typeface="Consolas"/>
              </a:rPr>
              <a:t>moves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key</a:t>
            </a:r>
            <a:r>
              <a:rPr sz="1500" i="0">
                <a:solidFill>
                  <a:srgbClr val="AEB6BF"/>
                </a:solidFill>
                <a:latin typeface="Consolas"/>
              </a:rPr>
              <a:t>=</a:t>
            </a:r>
            <a:r>
              <a:rPr sz="1500" i="0">
                <a:solidFill>
                  <a:srgbClr val="5DADE2"/>
                </a:solidFill>
                <a:latin typeface="Consolas"/>
              </a:rPr>
              <a:t>lambda</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q</a:t>
            </a:r>
            <a:r>
              <a:rPr sz="1500" i="0">
                <a:solidFill>
                  <a:srgbClr val="AEB6BF"/>
                </a:solidFill>
                <a:latin typeface="Consolas"/>
              </a:rPr>
              <a:t>(</a:t>
            </a:r>
            <a:r>
              <a:rPr sz="1500" i="0">
                <a:solidFill>
                  <a:srgbClr val="E8EDF2"/>
                </a:solidFill>
                <a:latin typeface="Consolas"/>
              </a:rPr>
              <a:t>V</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line</a:t>
            </a:r>
            <a:r>
              <a:rPr sz="1500" i="0">
                <a:solidFill>
                  <a:srgbClr val="AEB6BF"/>
                </a:solidFill>
                <a:latin typeface="Consolas"/>
              </a:rPr>
              <a:t>.</a:t>
            </a:r>
            <a:r>
              <a:rPr sz="1500" i="0">
                <a:solidFill>
                  <a:srgbClr val="E8EDF2"/>
                </a:solidFill>
                <a:latin typeface="Consolas"/>
              </a:rPr>
              <a:t>append</a:t>
            </a:r>
            <a:r>
              <a:rPr sz="1500" i="0">
                <a:solidFill>
                  <a:srgbClr val="AEB6BF"/>
                </a:solidFill>
                <a:latin typeface="Consolas"/>
              </a:rPr>
              <a:t>(</a:t>
            </a:r>
            <a:r>
              <a:rPr sz="1500" i="0">
                <a:solidFill>
                  <a:srgbClr val="7DCEA0"/>
                </a:solidFill>
                <a:latin typeface="Consolas"/>
              </a:rPr>
              <a:t>f</a:t>
            </a:r>
            <a:r>
              <a:rPr sz="1500" i="0">
                <a:solidFill>
                  <a:srgbClr val="7DCEA0"/>
                </a:solidFill>
                <a:latin typeface="Consolas"/>
              </a:rPr>
              <a:t>"</a:t>
            </a:r>
            <a:r>
              <a:rPr sz="1500" i="0">
                <a:solidFill>
                  <a:srgbClr val="7DCEA0"/>
                </a:solidFill>
                <a:latin typeface="Consolas"/>
              </a:rPr>
              <a:t>{</a:t>
            </a:r>
            <a:r>
              <a:rPr sz="1500" i="0">
                <a:solidFill>
                  <a:srgbClr val="E8EDF2"/>
                </a:solidFill>
                <a:latin typeface="Consolas"/>
              </a:rPr>
              <a:t>V</a:t>
            </a:r>
            <a:r>
              <a:rPr sz="1500" i="0">
                <a:solidFill>
                  <a:srgbClr val="AEB6BF"/>
                </a:solidFill>
                <a:latin typeface="Consolas"/>
              </a:rPr>
              <a:t>[</a:t>
            </a:r>
            <a:r>
              <a:rPr sz="1500" i="0">
                <a:solidFill>
                  <a:srgbClr val="E8EDF2"/>
                </a:solidFill>
                <a:latin typeface="Consolas"/>
              </a:rPr>
              <a:t>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6.3f</a:t>
            </a:r>
            <a:r>
              <a:rPr sz="1500" i="0">
                <a:solidFill>
                  <a:srgbClr val="7DCEA0"/>
                </a:solidFill>
                <a:latin typeface="Consolas"/>
              </a:rPr>
              <a:t>}</a:t>
            </a:r>
            <a:r>
              <a:rPr sz="1500" i="0">
                <a:solidFill>
                  <a:srgbClr val="7DCEA0"/>
                </a:solidFill>
                <a:latin typeface="Consolas"/>
              </a:rPr>
              <a:t>{</a:t>
            </a:r>
            <a:r>
              <a:rPr sz="1500" i="0">
                <a:solidFill>
                  <a:srgbClr val="E8EDF2"/>
                </a:solidFill>
                <a:latin typeface="Consolas"/>
              </a:rPr>
              <a:t>best</a:t>
            </a:r>
            <a:r>
              <a:rPr sz="1500" i="0">
                <a:solidFill>
                  <a:srgbClr val="E8EDF2"/>
                </a:solidFill>
                <a:latin typeface="Consolas"/>
              </a:rPr>
              <a:t> </a:t>
            </a:r>
            <a:r>
              <a:rPr sz="1500" i="0">
                <a:solidFill>
                  <a:srgbClr val="AEB6BF"/>
                </a:solidFill>
                <a:latin typeface="Consolas"/>
              </a:rPr>
              <a:t>or</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 </a:t>
            </a:r>
            <a:r>
              <a:rPr sz="1500" i="0">
                <a:solidFill>
                  <a:srgbClr val="7DCEA0"/>
                </a:solidFill>
                <a:latin typeface="Consolas"/>
              </a:rPr>
              <a:t>'</a:t>
            </a:r>
            <a:r>
              <a:rPr sz="1500" i="0">
                <a:solidFill>
                  <a:srgbClr val="7DCEA0"/>
                </a:solidFill>
                <a:latin typeface="Consolas"/>
              </a:rPr>
              <a:t>}</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join</a:t>
            </a:r>
            <a:r>
              <a:rPr sz="1500" i="0">
                <a:solidFill>
                  <a:srgbClr val="AEB6BF"/>
                </a:solidFill>
                <a:latin typeface="Consolas"/>
              </a:rPr>
              <a:t>(</a:t>
            </a:r>
            <a:r>
              <a:rPr sz="1500" i="0">
                <a:solidFill>
                  <a:srgbClr val="E8EDF2"/>
                </a:solidFill>
                <a:latin typeface="Consolas"/>
              </a:rPr>
              <a:t>line</a:t>
            </a:r>
            <a:r>
              <a:rPr sz="1500" i="0">
                <a:solidFill>
                  <a:srgbClr val="AEB6BF"/>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59</a:t>
            </a:r>
          </a:p>
          <a:p>
            <a:pPr algn="r">
              <a:lnSpc>
                <a:spcPct val="100000"/>
              </a:lnSpc>
            </a:pPr>
            <a:r>
              <a:rPr sz="1500">
                <a:solidFill>
                  <a:srgbClr val="4F5D6A"/>
                </a:solidFill>
                <a:latin typeface="Consolas"/>
              </a:rPr>
              <a:t>60</a:t>
            </a:r>
          </a:p>
          <a:p>
            <a:pPr algn="r">
              <a:lnSpc>
                <a:spcPct val="100000"/>
              </a:lnSpc>
            </a:pPr>
            <a:r>
              <a:rPr sz="1500">
                <a:solidFill>
                  <a:srgbClr val="4F5D6A"/>
                </a:solidFill>
                <a:latin typeface="Consolas"/>
              </a:rPr>
              <a:t>61</a:t>
            </a:r>
          </a:p>
          <a:p>
            <a:pPr algn="r">
              <a:lnSpc>
                <a:spcPct val="100000"/>
              </a:lnSpc>
            </a:pPr>
            <a:r>
              <a:rPr sz="1500">
                <a:solidFill>
                  <a:srgbClr val="4F5D6A"/>
                </a:solidFill>
                <a:latin typeface="Consolas"/>
              </a:rPr>
              <a:t>62</a:t>
            </a:r>
          </a:p>
          <a:p>
            <a:pPr algn="r">
              <a:lnSpc>
                <a:spcPct val="100000"/>
              </a:lnSpc>
            </a:pPr>
            <a:r>
              <a:rPr sz="1500">
                <a:solidFill>
                  <a:srgbClr val="4F5D6A"/>
                </a:solidFill>
                <a:latin typeface="Consolas"/>
              </a:rPr>
              <a:t>63</a:t>
            </a:r>
          </a:p>
          <a:p>
            <a:pPr algn="r">
              <a:lnSpc>
                <a:spcPct val="100000"/>
              </a:lnSpc>
            </a:pPr>
            <a:r>
              <a:rPr sz="1500">
                <a:solidFill>
                  <a:srgbClr val="4F5D6A"/>
                </a:solidFill>
                <a:latin typeface="Consolas"/>
              </a:rPr>
              <a:t>64</a:t>
            </a:r>
          </a:p>
          <a:p>
            <a:pPr algn="r">
              <a:lnSpc>
                <a:spcPct val="100000"/>
              </a:lnSpc>
            </a:pPr>
            <a:r>
              <a:rPr sz="1500">
                <a:solidFill>
                  <a:srgbClr val="4F5D6A"/>
                </a:solidFill>
                <a:latin typeface="Consolas"/>
              </a:rPr>
              <a:t>65</a:t>
            </a:r>
          </a:p>
          <a:p>
            <a:pPr algn="r">
              <a:lnSpc>
                <a:spcPct val="100000"/>
              </a:lnSpc>
            </a:pPr>
            <a:r>
              <a:rPr sz="1500">
                <a:solidFill>
                  <a:srgbClr val="4F5D6A"/>
                </a:solidFill>
                <a:latin typeface="Consolas"/>
              </a:rPr>
              <a:t>66</a:t>
            </a:r>
          </a:p>
          <a:p>
            <a:pPr algn="r">
              <a:lnSpc>
                <a:spcPct val="100000"/>
              </a:lnSpc>
            </a:pPr>
            <a:r>
              <a:rPr sz="1500">
                <a:solidFill>
                  <a:srgbClr val="4F5D6A"/>
                </a:solidFill>
                <a:latin typeface="Consolas"/>
              </a:rPr>
              <a:t>67</a:t>
            </a:r>
          </a:p>
          <a:p>
            <a:pPr algn="r">
              <a:lnSpc>
                <a:spcPct val="100000"/>
              </a:lnSpc>
            </a:pPr>
            <a:r>
              <a:rPr sz="1500">
                <a:solidFill>
                  <a:srgbClr val="4F5D6A"/>
                </a:solidFill>
                <a:latin typeface="Consolas"/>
              </a:rPr>
              <a:t>68</a:t>
            </a:r>
          </a:p>
          <a:p>
            <a:pPr algn="r">
              <a:lnSpc>
                <a:spcPct val="100000"/>
              </a:lnSpc>
            </a:pPr>
            <a:r>
              <a:rPr sz="1500">
                <a:solidFill>
                  <a:srgbClr val="4F5D6A"/>
                </a:solidFill>
                <a:latin typeface="Consolas"/>
              </a:rPr>
              <a:t>69</a:t>
            </a:r>
          </a:p>
          <a:p>
            <a:pPr algn="r">
              <a:lnSpc>
                <a:spcPct val="100000"/>
              </a:lnSpc>
            </a:pPr>
            <a:r>
              <a:rPr sz="1500">
                <a:solidFill>
                  <a:srgbClr val="4F5D6A"/>
                </a:solidFill>
                <a:latin typeface="Consolas"/>
              </a:rPr>
              <a:t>70</a:t>
            </a:r>
          </a:p>
          <a:p>
            <a:pPr algn="r">
              <a:lnSpc>
                <a:spcPct val="100000"/>
              </a:lnSpc>
            </a:pPr>
            <a:r>
              <a:rPr sz="1500">
                <a:solidFill>
                  <a:srgbClr val="4F5D6A"/>
                </a:solidFill>
                <a:latin typeface="Consolas"/>
              </a:rPr>
              <a:t>71</a:t>
            </a:r>
          </a:p>
          <a:p>
            <a:pPr algn="r">
              <a:lnSpc>
                <a:spcPct val="100000"/>
              </a:lnSpc>
            </a:pPr>
            <a:r>
              <a:rPr sz="1500">
                <a:solidFill>
                  <a:srgbClr val="4F5D6A"/>
                </a:solidFill>
                <a:latin typeface="Consolas"/>
              </a:rPr>
              <a:t>72</a:t>
            </a:r>
          </a:p>
          <a:p>
            <a:pPr algn="r">
              <a:lnSpc>
                <a:spcPct val="100000"/>
              </a:lnSpc>
            </a:pPr>
            <a:r>
              <a:rPr sz="1500">
                <a:solidFill>
                  <a:srgbClr val="4F5D6A"/>
                </a:solidFill>
                <a:latin typeface="Consolas"/>
              </a:rPr>
              <a:t>73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8977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148     </a:t>
            </a:r>
            <a:fld id="{63AF2E6B-9E6F-45E3-B88C-3529C9E962F6}" type="slidenum">
              <a:rPr lang="en-GB" sz="1000">
                <a:solidFill>
                  <a:srgbClr val="8795A1"/>
                </a:solidFill>
                <a:latin typeface="Segoe UI"/>
              </a:rPr>
              <a:t>36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gridworld reproduces Figure 19.3. Change the step cost from </a:t>
            </a:r>
            <a:r>
              <a:rPr sz="2300" b="0" i="0">
                <a:solidFill>
                  <a:srgbClr val="1C252B"/>
                </a:solidFill>
                <a:latin typeface="Cambria"/>
              </a:rPr>
              <a:t>−0.04</a:t>
            </a:r>
            <a:r>
              <a:rPr sz="2300" b="0" i="0">
                <a:solidFill>
                  <a:srgbClr val="1C252B"/>
                </a:solidFill>
                <a:latin typeface="Segoe UI"/>
              </a:rPr>
              <a:t> to </a:t>
            </a:r>
            <a:r>
              <a:rPr sz="2300" b="0" i="0">
                <a:solidFill>
                  <a:srgbClr val="1C252B"/>
                </a:solidFill>
                <a:latin typeface="Cambria"/>
              </a:rPr>
              <a:t>−0.4</a:t>
            </a:r>
            <a:r>
              <a:rPr sz="2300" b="0" i="0">
                <a:solidFill>
                  <a:srgbClr val="1C252B"/>
                </a:solidFill>
                <a:latin typeface="Segoe UI"/>
              </a:rPr>
              <a:t> and rerun: the agent stops taking the long way round. Why?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14377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With </a:t>
            </a:r>
            <a:r>
              <a:rPr sz="3400" b="0" i="0">
                <a:solidFill>
                  <a:srgbClr val="FFFFFF"/>
                </a:solidFill>
                <a:latin typeface="Cambria"/>
              </a:rPr>
              <a:t>γ = 0.5</a:t>
            </a:r>
            <a:r>
              <a:rPr sz="3400" b="0" i="0">
                <a:solidFill>
                  <a:srgbClr val="FFFFFF"/>
                </a:solidFill>
                <a:latin typeface="Segoe UI Semibold"/>
              </a:rPr>
              <a:t>, what is the return of the rewards </a:t>
            </a:r>
            <a:r>
              <a:rPr sz="3400" b="0" i="0">
                <a:solidFill>
                  <a:srgbClr val="FFFFFF"/>
                </a:solidFill>
                <a:latin typeface="Cambria"/>
              </a:rPr>
              <a:t>4, 4, 4, 0, 0, …</a:t>
            </a:r>
            <a:r>
              <a:rPr sz="3400" b="0" i="0">
                <a:solidFill>
                  <a:srgbClr val="FFFFFF"/>
                </a:solidFill>
                <a:latin typeface="Segoe UI Semibold"/>
              </a:rPr>
              <a: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19  ·  Markov Decision Processes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151  ·  answers in Appendix D     </a:t>
            </a:r>
            <a:fld id="{AE015CC3-CD0C-4754-91FA-78E8F687C5B2}"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With </a:t>
            </a:r>
            <a:r>
              <a:rPr sz="2400" b="0" i="0">
                <a:solidFill>
                  <a:srgbClr val="1A5276"/>
                </a:solidFill>
                <a:latin typeface="Cambria"/>
              </a:rPr>
              <a:t>γ = 0.5</a:t>
            </a:r>
            <a:r>
              <a:rPr sz="2400" b="0" i="0">
                <a:solidFill>
                  <a:srgbClr val="1A5276"/>
                </a:solidFill>
                <a:latin typeface="Segoe UI Semibold"/>
              </a:rPr>
              <a:t>, what is the return of the rewards </a:t>
            </a:r>
            <a:r>
              <a:rPr sz="2400" b="0" i="0">
                <a:solidFill>
                  <a:srgbClr val="1A5276"/>
                </a:solidFill>
                <a:latin typeface="Cambria"/>
              </a:rPr>
              <a:t>4, 4, 4, 0, 0, …</a:t>
            </a:r>
            <a:r>
              <a:rPr sz="2400" b="0" i="0">
                <a:solidFill>
                  <a:srgbClr val="1A5276"/>
                </a:solidFill>
                <a:latin typeface="Segoe UI Semibold"/>
              </a:rPr>
              <a: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4 + 0.5 × 4 + 0.25 × 4 = 7</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  answers in Appendix D     </a:t>
            </a:r>
            <a:fld id="{D3588975-C99D-4FF0-939E-F399C49AD523}"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5175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What is the difference between </a:t>
            </a:r>
            <a:r>
              <a:rPr sz="3400" b="0" i="1">
                <a:solidFill>
                  <a:srgbClr val="FFFFFF"/>
                </a:solidFill>
                <a:latin typeface="Cambria"/>
              </a:rPr>
              <a:t>V</a:t>
            </a:r>
            <a:r>
              <a:rPr sz="3400" b="0" i="0" baseline="30000">
                <a:solidFill>
                  <a:srgbClr val="FFFFFF"/>
                </a:solidFill>
                <a:latin typeface="Cambria"/>
              </a:rPr>
              <a:t>π</a:t>
            </a:r>
            <a:r>
              <a:rPr sz="3400" b="0" i="0">
                <a:solidFill>
                  <a:srgbClr val="FFFFFF"/>
                </a:solidFill>
                <a:latin typeface="Cambria"/>
              </a:rPr>
              <a:t>(</a:t>
            </a:r>
            <a:r>
              <a:rPr sz="3400" b="0" i="1">
                <a:solidFill>
                  <a:srgbClr val="FFFFFF"/>
                </a:solidFill>
                <a:latin typeface="Cambria"/>
              </a:rPr>
              <a:t>s</a:t>
            </a:r>
            <a:r>
              <a:rPr sz="3400" b="0" i="0">
                <a:solidFill>
                  <a:srgbClr val="FFFFFF"/>
                </a:solidFill>
                <a:latin typeface="Cambria"/>
              </a:rPr>
              <a:t>)</a:t>
            </a:r>
            <a:r>
              <a:rPr sz="3400" b="0" i="0">
                <a:solidFill>
                  <a:srgbClr val="FFFFFF"/>
                </a:solidFill>
                <a:latin typeface="Segoe UI Semibold"/>
              </a:rPr>
              <a:t> and </a:t>
            </a:r>
            <a:r>
              <a:rPr sz="3400" b="0" i="1">
                <a:solidFill>
                  <a:srgbClr val="FFFFFF"/>
                </a:solidFill>
                <a:latin typeface="Cambria"/>
              </a:rPr>
              <a:t>Q</a:t>
            </a:r>
            <a:r>
              <a:rPr sz="3400" b="0" i="0" baseline="30000">
                <a:solidFill>
                  <a:srgbClr val="FFFFFF"/>
                </a:solidFill>
                <a:latin typeface="Cambria"/>
              </a:rPr>
              <a:t>π</a:t>
            </a:r>
            <a:r>
              <a:rPr sz="3400" b="0" i="0">
                <a:solidFill>
                  <a:srgbClr val="FFFFFF"/>
                </a:solidFill>
                <a:latin typeface="Cambria"/>
              </a:rPr>
              <a:t>(</a:t>
            </a:r>
            <a:r>
              <a:rPr sz="3400" b="0" i="1">
                <a:solidFill>
                  <a:srgbClr val="FFFFFF"/>
                </a:solidFill>
                <a:latin typeface="Cambria"/>
              </a:rPr>
              <a:t>s</a:t>
            </a:r>
            <a:r>
              <a:rPr sz="3400" b="0" i="0">
                <a:solidFill>
                  <a:srgbClr val="FFFFFF"/>
                </a:solidFill>
                <a:latin typeface="Cambria"/>
              </a:rPr>
              <a:t>, </a:t>
            </a:r>
            <a:r>
              <a:rPr sz="3400" b="0" i="1">
                <a:solidFill>
                  <a:srgbClr val="FFFFFF"/>
                </a:solidFill>
                <a:latin typeface="Cambria"/>
              </a:rPr>
              <a:t>a</a:t>
            </a:r>
            <a:r>
              <a:rPr sz="3400" b="0" i="0">
                <a:solidFill>
                  <a:srgbClr val="FFFFFF"/>
                </a:solidFill>
                <a:latin typeface="Cambria"/>
              </a:rPr>
              <a:t>)</a:t>
            </a:r>
            <a:r>
              <a:rPr sz="3400" b="0" i="0">
                <a:solidFill>
                  <a:srgbClr val="FFFFFF"/>
                </a:solidFill>
                <a:latin typeface="Segoe UI Semibold"/>
              </a:rPr>
              <a: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19  ·  Markov Decision Processes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151  ·  answers in Appendix D     </a:t>
            </a:r>
            <a:fld id="{7837C53A-6948-4BC8-A18F-92E4F001936A}"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What is the difference between </a:t>
            </a:r>
            <a:r>
              <a:rPr sz="2400" b="0" i="1">
                <a:solidFill>
                  <a:srgbClr val="1A5276"/>
                </a:solidFill>
                <a:latin typeface="Cambria"/>
              </a:rPr>
              <a:t>V</a:t>
            </a:r>
            <a:r>
              <a:rPr sz="2400" b="0" i="0" baseline="30000">
                <a:solidFill>
                  <a:srgbClr val="1A5276"/>
                </a:solidFill>
                <a:latin typeface="Cambria"/>
              </a:rPr>
              <a:t>π</a:t>
            </a:r>
            <a:r>
              <a:rPr sz="2400" b="0" i="0">
                <a:solidFill>
                  <a:srgbClr val="1A5276"/>
                </a:solidFill>
                <a:latin typeface="Cambria"/>
              </a:rPr>
              <a:t>(</a:t>
            </a:r>
            <a:r>
              <a:rPr sz="2400" b="0" i="1">
                <a:solidFill>
                  <a:srgbClr val="1A5276"/>
                </a:solidFill>
                <a:latin typeface="Cambria"/>
              </a:rPr>
              <a:t>s</a:t>
            </a:r>
            <a:r>
              <a:rPr sz="2400" b="0" i="0">
                <a:solidFill>
                  <a:srgbClr val="1A5276"/>
                </a:solidFill>
                <a:latin typeface="Cambria"/>
              </a:rPr>
              <a:t>)</a:t>
            </a:r>
            <a:r>
              <a:rPr sz="2400" b="0" i="0">
                <a:solidFill>
                  <a:srgbClr val="1A5276"/>
                </a:solidFill>
                <a:latin typeface="Segoe UI Semibold"/>
              </a:rPr>
              <a:t> and </a:t>
            </a:r>
            <a:r>
              <a:rPr sz="2400" b="0" i="1">
                <a:solidFill>
                  <a:srgbClr val="1A5276"/>
                </a:solidFill>
                <a:latin typeface="Cambria"/>
              </a:rPr>
              <a:t>Q</a:t>
            </a:r>
            <a:r>
              <a:rPr sz="2400" b="0" i="0" baseline="30000">
                <a:solidFill>
                  <a:srgbClr val="1A5276"/>
                </a:solidFill>
                <a:latin typeface="Cambria"/>
              </a:rPr>
              <a:t>π</a:t>
            </a:r>
            <a:r>
              <a:rPr sz="2400" b="0" i="0">
                <a:solidFill>
                  <a:srgbClr val="1A5276"/>
                </a:solidFill>
                <a:latin typeface="Cambria"/>
              </a:rPr>
              <a:t>(</a:t>
            </a:r>
            <a:r>
              <a:rPr sz="2400" b="0" i="1">
                <a:solidFill>
                  <a:srgbClr val="1A5276"/>
                </a:solidFill>
                <a:latin typeface="Cambria"/>
              </a:rPr>
              <a:t>s</a:t>
            </a:r>
            <a:r>
              <a:rPr sz="2400" b="0" i="0">
                <a:solidFill>
                  <a:srgbClr val="1A5276"/>
                </a:solidFill>
                <a:latin typeface="Cambria"/>
              </a:rPr>
              <a:t>, </a:t>
            </a:r>
            <a:r>
              <a:rPr sz="2400" b="0" i="1">
                <a:solidFill>
                  <a:srgbClr val="1A5276"/>
                </a:solidFill>
                <a:latin typeface="Cambria"/>
              </a:rPr>
              <a:t>a</a:t>
            </a:r>
            <a:r>
              <a:rPr sz="2400" b="0" i="0">
                <a:solidFill>
                  <a:srgbClr val="1A5276"/>
                </a:solidFill>
                <a:latin typeface="Cambria"/>
              </a:rPr>
              <a:t>)</a:t>
            </a:r>
            <a:r>
              <a:rPr sz="2400" b="0" i="0">
                <a:solidFill>
                  <a:srgbClr val="1A5276"/>
                </a:solidFill>
                <a:latin typeface="Segoe UI Semibold"/>
              </a:rPr>
              <a: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V</a:t>
            </a:r>
            <a:r>
              <a:rPr sz="2200" b="0" i="0" baseline="30000">
                <a:solidFill>
                  <a:srgbClr val="1C252B"/>
                </a:solidFill>
                <a:latin typeface="Cambria"/>
              </a:rPr>
              <a:t>π</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 is the expected return from </a:t>
            </a:r>
            <a:r>
              <a:rPr sz="2200" b="0" i="1">
                <a:solidFill>
                  <a:srgbClr val="1C252B"/>
                </a:solidFill>
                <a:latin typeface="Cambria"/>
              </a:rPr>
              <a:t>s</a:t>
            </a:r>
            <a:r>
              <a:rPr sz="2200" b="0" i="0">
                <a:solidFill>
                  <a:srgbClr val="1C252B"/>
                </a:solidFill>
                <a:latin typeface="Segoe UI"/>
              </a:rPr>
              <a:t> following </a:t>
            </a:r>
            <a:r>
              <a:rPr sz="2200" b="0" i="0">
                <a:solidFill>
                  <a:srgbClr val="1C252B"/>
                </a:solidFill>
                <a:latin typeface="Cambria"/>
              </a:rPr>
              <a:t>π</a:t>
            </a:r>
            <a:r>
              <a:rPr sz="2200" b="0" i="0">
                <a:solidFill>
                  <a:srgbClr val="1C252B"/>
                </a:solidFill>
                <a:latin typeface="Segoe UI"/>
              </a:rPr>
              <a:t>; </a:t>
            </a:r>
            <a:r>
              <a:rPr sz="2200" b="0" i="1">
                <a:solidFill>
                  <a:srgbClr val="1C252B"/>
                </a:solidFill>
                <a:latin typeface="Cambria"/>
              </a:rPr>
              <a:t>Q</a:t>
            </a:r>
            <a:r>
              <a:rPr sz="2200" b="0" i="0" baseline="30000">
                <a:solidFill>
                  <a:srgbClr val="1C252B"/>
                </a:solidFill>
                <a:latin typeface="Cambria"/>
              </a:rPr>
              <a:t>π</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a:t>
            </a:r>
            <a:r>
              <a:rPr sz="2200" b="0" i="1">
                <a:solidFill>
                  <a:srgbClr val="1C252B"/>
                </a:solidFill>
                <a:latin typeface="Cambria"/>
              </a:rPr>
              <a:t>a</a:t>
            </a:r>
            <a:r>
              <a:rPr sz="2200" b="0" i="0">
                <a:solidFill>
                  <a:srgbClr val="1C252B"/>
                </a:solidFill>
                <a:latin typeface="Cambria"/>
              </a:rPr>
              <a:t>)</a:t>
            </a:r>
            <a:r>
              <a:rPr sz="2200" b="0" i="0">
                <a:solidFill>
                  <a:srgbClr val="1C252B"/>
                </a:solidFill>
                <a:latin typeface="Segoe UI"/>
              </a:rPr>
              <a:t> is the expected return from taking </a:t>
            </a:r>
            <a:r>
              <a:rPr sz="2200" b="0" i="1">
                <a:solidFill>
                  <a:srgbClr val="1C252B"/>
                </a:solidFill>
                <a:latin typeface="Cambria"/>
              </a:rPr>
              <a:t>a</a:t>
            </a:r>
            <a:r>
              <a:rPr sz="2200" b="0" i="0">
                <a:solidFill>
                  <a:srgbClr val="1C252B"/>
                </a:solidFill>
                <a:latin typeface="Segoe UI"/>
              </a:rPr>
              <a:t> first and then following </a:t>
            </a:r>
            <a:r>
              <a:rPr sz="2200" b="0" i="0">
                <a:solidFill>
                  <a:srgbClr val="1C252B"/>
                </a:solidFill>
                <a:latin typeface="Cambria"/>
              </a:rPr>
              <a:t>π</a:t>
            </a:r>
            <a:r>
              <a:rPr sz="2200" b="0" i="0">
                <a:solidFill>
                  <a:srgbClr val="1C252B"/>
                </a:solidFill>
                <a:latin typeface="Segoe UI"/>
              </a:rPr>
              <a:t>. So </a:t>
            </a:r>
            <a:r>
              <a:rPr sz="2200" b="0" i="1">
                <a:solidFill>
                  <a:srgbClr val="1C252B"/>
                </a:solidFill>
                <a:latin typeface="Cambria"/>
              </a:rPr>
              <a:t>V</a:t>
            </a:r>
            <a:r>
              <a:rPr sz="2200" b="0" i="0" baseline="30000">
                <a:solidFill>
                  <a:srgbClr val="1C252B"/>
                </a:solidFill>
                <a:latin typeface="Cambria"/>
              </a:rPr>
              <a:t>π</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 </a:t>
            </a:r>
            <a:r>
              <a:rPr sz="2200" b="0" i="1">
                <a:solidFill>
                  <a:srgbClr val="1C252B"/>
                </a:solidFill>
                <a:latin typeface="Cambria"/>
              </a:rPr>
              <a:t>Q</a:t>
            </a:r>
            <a:r>
              <a:rPr sz="2200" b="0" i="0" baseline="30000">
                <a:solidFill>
                  <a:srgbClr val="1C252B"/>
                </a:solidFill>
                <a:latin typeface="Cambria"/>
              </a:rPr>
              <a:t>π</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π(</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  answers in Appendix D     </a:t>
            </a:r>
            <a:fld id="{A668F8B2-27F7-41D3-AA90-1DC5A5DD20E7}"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15974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the maintenance MDP, why does “always operate” score so much less than the optimal policy, when operating always earns more immediately than repairing?</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19  ·  Markov Decision Processes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151  ·  answers in Appendix D     </a:t>
            </a:r>
            <a:fld id="{C3490811-2403-457D-BA6A-6B76E9680A6F}"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In the maintenance MDP, why does “always operate” score so much less than the optimal policy, when operating always earns more immediately than repairing?</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a machine that is operated while degraded eventually fails, and a failed machine that keeps being “operated” earns nothing for ever. The small immediate gain of operating is outweighed by the lost future earnings that repair preserves.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  answers in Appendix D     </a:t>
            </a:r>
            <a:fld id="{A9FBBD0D-8A6E-468D-80A2-193C059F8D85}"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66773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D9A58CD8-E7B7-4F0C-AD97-E9D71CAC7AE7}" type="slidenum">
              <a:rPr lang="en-GB" sz="1000">
                <a:solidFill>
                  <a:srgbClr val="8795A1"/>
                </a:solidFill>
                <a:latin typeface="Segoe UI"/>
              </a:rPr>
              <a:t>43</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 MDP has states, actions, a transition model, rewards and a discount; a policy maps states to actions.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return is the discounted sum of future rewards; </a:t>
            </a:r>
            <a:r>
              <a:rPr sz="2100" b="0" i="0">
                <a:solidFill>
                  <a:srgbClr val="1C252B"/>
                </a:solidFill>
                <a:latin typeface="Cambria"/>
              </a:rPr>
              <a:t>γ</a:t>
            </a:r>
            <a:r>
              <a:rPr sz="2100" b="0" i="0">
                <a:solidFill>
                  <a:srgbClr val="1C252B"/>
                </a:solidFill>
                <a:latin typeface="Segoe UI"/>
              </a:rPr>
              <a:t> sets how far ahead the agent looks.</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Bellman equations relate each state’s value to its neighbours’; the optimal policy acts greedily with respect to the optimal action values.</a:t>
            </a:r>
          </a:p>
        </p:txBody>
      </p:sp>
      <p:sp>
        <p:nvSpPr>
          <p:cNvPr id="16" name="!!sb3">
            <a:extLst>
              <a:ext uri="{C183D7F6-B498-43B3-948B-1728B52AA6E4}">
                <adec:decorative xmlns:adec="http://schemas.microsoft.com/office/drawing/2017/decorative" val="1"/>
              </a:ext>
            </a:extLst>
          </p:cNvPr>
          <p:cNvSpPr/>
          <p:nvPr/>
        </p:nvSpPr>
        <p:spPr>
          <a:xfrm>
            <a:off x="658368" y="429219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4705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83049"/>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Value iteration repeatedly applies the Bellman optimality update; policy iteration alternates exact evaluation and greedy improvement and usually needs very few rounds.</a:t>
            </a:r>
          </a:p>
        </p:txBody>
      </p:sp>
      <p:sp>
        <p:nvSpPr>
          <p:cNvPr id="19" name="!!sb4">
            <a:extLst>
              <a:ext uri="{C183D7F6-B498-43B3-948B-1728B52AA6E4}">
                <adec:decorative xmlns:adec="http://schemas.microsoft.com/office/drawing/2017/decorative" val="1"/>
              </a:ext>
            </a:extLst>
          </p:cNvPr>
          <p:cNvSpPr/>
          <p:nvPr/>
        </p:nvSpPr>
        <p:spPr>
          <a:xfrm>
            <a:off x="658368" y="54735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284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64454"/>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Both are planning methods that require the model; reinforcement learning learns without it.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92172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BC9763FB-E1CF-4A28-B442-AFBCA9E5F471}"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discount factor </a:t>
            </a:r>
            <a:r>
              <a:rPr sz="2600" b="0" i="0">
                <a:solidFill>
                  <a:srgbClr val="1C252B"/>
                </a:solidFill>
                <a:latin typeface="Cambria"/>
              </a:rPr>
              <a:t>γ</a:t>
            </a:r>
            <a:r>
              <a:rPr sz="2600" b="0" i="0">
                <a:solidFill>
                  <a:srgbClr val="1C252B"/>
                </a:solidFill>
                <a:latin typeface="Segoe UI"/>
              </a:rPr>
              <a:t> controls: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learning rate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how much future rewards count relative to immediate ones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probability of a transition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number of actions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7572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7B2CAB1B-DA3F-4D83-B74D-C1A7B603FEBA}"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Value iteration requires: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model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transition and reward model</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labelled examples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neural network</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2971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D31376AD-702D-4792-84F3-803AD98C3F81}" type="slidenum">
              <a:rPr lang="en-GB" sz="1000">
                <a:solidFill>
                  <a:srgbClr val="8795A1"/>
                </a:solidFill>
                <a:latin typeface="Segoe UI"/>
              </a:rPr>
              <a:t>46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optimal policy chooses in each state the action that maximises: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R</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Q</a:t>
            </a:r>
            <a:r>
              <a:rPr sz="2000" b="0" i="0" baseline="30000">
                <a:solidFill>
                  <a:srgbClr val="1C252B"/>
                </a:solidFill>
                <a:latin typeface="Cambria"/>
              </a:rPr>
              <a:t>∗</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V</a:t>
            </a:r>
            <a:r>
              <a:rPr sz="2000" b="0" i="0" baseline="30000">
                <a:solidFill>
                  <a:srgbClr val="1C252B"/>
                </a:solidFill>
                <a:latin typeface="Cambria"/>
              </a:rPr>
              <a:t>∗</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8370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19  ·  Markov Decision Processes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151     </a:t>
            </a:r>
            <a:fld id="{28FA8529-08CC-4843-8877-2BE44FBA9C08}" type="slidenum">
              <a:rPr lang="en-GB" sz="1000">
                <a:solidFill>
                  <a:srgbClr val="8795A1"/>
                </a:solidFill>
                <a:latin typeface="Segoe UI"/>
              </a:rPr>
              <a:t>47</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Bellman expectation equation in words.</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policy iteration usually need fewer iterations than value iteration?</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an example of a reward that an agent could satisfy in an unintended way.</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Perform sweep 4 of value iteration on the maintenance MDP, starting from the sweep-3 values </a:t>
            </a:r>
            <a:r>
              <a:rPr sz="1900" b="0" i="0">
                <a:solidFill>
                  <a:srgbClr val="1C252B"/>
                </a:solidFill>
                <a:latin typeface="Cambria"/>
              </a:rPr>
              <a:t>(24.34, 12.29, 1.29)</a:t>
            </a:r>
            <a:r>
              <a:rPr sz="1900" b="0" i="0">
                <a:solidFill>
                  <a:srgbClr val="1C252B"/>
                </a:solidFill>
                <a:latin typeface="Segoe UI"/>
              </a:rPr>
              <a:t>.</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In the maintenance MDP, raise the cost of repairing a degraded machine to </a:t>
            </a:r>
            <a:r>
              <a:rPr sz="1900" b="0" i="0">
                <a:solidFill>
                  <a:srgbClr val="1C252B"/>
                </a:solidFill>
                <a:latin typeface="Cambria"/>
              </a:rPr>
              <a:t>−20</a:t>
            </a:r>
            <a:r>
              <a:rPr sz="1900" b="0" i="0">
                <a:solidFill>
                  <a:srgbClr val="1C252B"/>
                </a:solidFill>
                <a:latin typeface="Segoe UI"/>
              </a:rPr>
              <a:t>. Write the Bellman equations for the policy “operate when healthy or degraded, repair when failed” and solve them for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a:t>
            </a:r>
            <a:r>
              <a:rPr sz="1900" b="0" i="0">
                <a:solidFill>
                  <a:srgbClr val="1C252B"/>
                </a:solidFill>
                <a:latin typeface="Segoe UI"/>
              </a:rPr>
              <a: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3770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38470"/>
                </a:solidFill>
                <a:latin typeface="Segoe UI Black"/>
              </a:rPr>
              <a:t>19</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19</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20 — Reinforcement Learning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19, pages 145–151</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Value and policy iteration; bandits and Q-learning</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19  ·  Markov Decision Processes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3A499B2C-E1C3-4856-9586-076A79072149}" type="slidenum">
              <a:rPr lang="en-GB" sz="1000">
                <a:solidFill>
                  <a:srgbClr val="D5DEE5"/>
                </a:solidFill>
                <a:latin typeface="Segoe UI"/>
              </a:rPr>
              <a:t>48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19: Markov Decision Processes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