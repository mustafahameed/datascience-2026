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3.svg" ContentType="image/svg+xml"/>
  <Override PartName="/ppt/media/image15.svg" ContentType="image/svg+xml"/>
  <Override PartName="/ppt/media/image17.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6B9C37-A7AC-45B1-902E-886147FD2F9C}">
          <p14:sldIdLst>
            <p14:sldId id="256"/>
            <p14:sldId id="257"/>
            <p14:sldId id="258"/>
            <p14:sldId id="259"/>
            <p14:sldId id="260"/>
          </p14:sldIdLst>
        </p14:section>
        <p14:section name="22.1 What the Project Is For" id="{358D386E-CB6E-47F5-9C09-BC848A344519}">
          <p14:sldIdLst>
            <p14:sldId id="261"/>
          </p14:sldIdLst>
        </p14:section>
        <p14:section name="22.2 Choosing and Scoping a Problem" id="{0F4A57CA-CE14-40C0-8298-CDCD5A7103D3}">
          <p14:sldIdLst>
            <p14:sldId id="262"/>
            <p14:sldId id="263"/>
            <p14:sldId id="264"/>
            <p14:sldId id="265"/>
            <p14:sldId id="266"/>
          </p14:sldIdLst>
        </p14:section>
        <p14:section name="22.3 The Plan" id="{6F032482-BCAC-4B94-9D26-2A52D54C8D68}">
          <p14:sldIdLst>
            <p14:sldId id="267"/>
            <p14:sldId id="268"/>
            <p14:sldId id="269"/>
          </p14:sldIdLst>
        </p14:section>
        <p14:section name="22.4 Running Experiments Honestly" id="{392D8404-11D3-4866-B0A6-6ED4019F7EAC}">
          <p14:sldIdLst>
            <p14:sldId id="270"/>
            <p14:sldId id="271"/>
            <p14:sldId id="272"/>
          </p14:sldIdLst>
        </p14:section>
        <p14:section name="22.5 The Report and the Presentation" id="{E359A2EA-BF26-40DB-8D53-AD55A60BED38}">
          <p14:sldIdLst>
            <p14:sldId id="273"/>
          </p14:sldIdLst>
        </p14:section>
        <p14:section name="22.6 Assessment" id="{C45CC054-C5F6-4458-A01B-0BA56D4A126E}">
          <p14:sldIdLst>
            <p14:sldId id="274"/>
          </p14:sldIdLst>
        </p14:section>
        <p14:section name="Pitfalls" id="{B8489025-9B33-4831-A0A9-D33A9613F521}">
          <p14:sldIdLst>
            <p14:sldId id="275"/>
          </p14:sldIdLst>
        </p14:section>
        <p14:section name="Lab" id="{D8AE92E6-31C0-4DF1-986A-BEAD4DD479FB}">
          <p14:sldIdLst>
            <p14:sldId id="276"/>
            <p14:sldId id="277"/>
            <p14:sldId id="278"/>
            <p14:sldId id="279"/>
            <p14:sldId id="280"/>
            <p14:sldId id="281"/>
            <p14:sldId id="282"/>
            <p14:sldId id="283"/>
            <p14:sldId id="284"/>
          </p14:sldIdLst>
        </p14:section>
        <p14:section name="Checkpoint" id="{ABF8FA34-7B6B-44AA-8799-39312E9AA929}">
          <p14:sldIdLst>
            <p14:sldId id="285"/>
            <p14:sldId id="286"/>
            <p14:sldId id="287"/>
            <p14:sldId id="288"/>
            <p14:sldId id="289"/>
            <p14:sldId id="290"/>
          </p14:sldIdLst>
        </p14:section>
        <p14:section name="Wrap-up" id="{7633A45F-88B6-404F-B04B-14B1AC5A8AB1}">
          <p14:sldIdLst>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The Machine Learning Project. Part 6 — Responsible Practice. Week 11: Neural networks; the project brief. Handout pages 162–169.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Everything. In particular Chapter 1 (T, P and E), Chapter 3 (the workflow and leakage), Chapter 7 (model selection), Chapter 8 (metrics and uncertainty) and Chapter 21 (the checklist and the model card). The project delivers HEC 2023 CLO-5 — “develop a reasonable size project using suitable machine learning technique” — and the HEC 2025 outcome “design and develop end-to-end ML solutions for real-world 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problem framing; success criterion; proposal; milestone; fixed test set; experiment log; reproducibility; random seed; version control; ablation; error analysis; model card; technical report;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22.1 (handout p. 164): The project across the last six weeks of the semester. The test set is opened only once, after experiments are frozen in Week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analysis is the step most projects skip and the one that teaches most: look at the examples the model gets wrong, and ask what they have in common. An ablation — removing one feature or one step and measuring the change — shows what each part of the pipeline contributes. Both belong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is ten minutes and five slides: the decision and why it matters; the data; what was compared and how; the result against the baseline, with its uncertainty; and one limitation. Every member of the pair must be able to answer any question on any part.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this script as the skeleton of your project and replace the data and the candidate models. It writes an experiment log, the saved model and a model card into a folder called project_output.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Data, and a split made once and never changed.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Baseline, then candidates, all by cross-validation.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Tune the chosen family.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test set, once.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Save the model and write its model card.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example: “Over the next two sprints, the warning flags at least 70% of the tasks that go on to finish late, and no more than one flag in three is a task that finishes on time.”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They differ by 0.007, far less than one standard deviation of either: they are indistinguishable. Choose on other grounds — simplicity, speed, explainability, fairness.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Any three of: the random seeds; the data version and the split indices; the code version (commit); the library versions; the hyperparameters.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22 chapters  ·  six parts  ·  one project. READ: Handout Chapter 22, pages 162–169. THIS WEEK'S LAB: Backpropagation from scratch. ASSESSMENT: Project set; proposal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8.xml"/><Relationship Id="rId10"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7.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Machine Learning Project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RESPONSIBLE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22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8A7EFFB5-4330-4B55-A791-E2F9B29A965A}"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3647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3647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339370" y="1755648"/>
            <a:ext cx="91963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339370" y="2029967"/>
            <a:ext cx="919637"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92795"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013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664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52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86168"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947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9569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60425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79541"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881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98211"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79821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The Machine Learning Project</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Machine Learning Is</a:t>
            </a:r>
          </a:p>
        </p:txBody>
      </p:sp>
      <p:sp>
        <p:nvSpPr>
          <p:cNvPr id="6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chipBU8">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BU8">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BU8"/>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Measuring Classifier Performance</a:t>
            </a:r>
          </a:p>
        </p:txBody>
      </p:sp>
      <p:sp>
        <p:nvSpPr>
          <p:cNvPr id="77" name="!!chipBU21">
            <a:extLst>
              <a:ext uri="{C183D7F6-B498-43B3-948B-1728B52AA6E4}">
                <adec:decorative xmlns:adec="http://schemas.microsoft.com/office/drawing/2017/decorative" val="1"/>
              </a:ext>
            </a:extLst>
          </p:cNvPr>
          <p:cNvSpPr/>
          <p:nvPr/>
        </p:nvSpPr>
        <p:spPr>
          <a:xfrm>
            <a:off x="658368"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BU21">
            <a:extLst>
              <a:ext uri="{C183D7F6-B498-43B3-948B-1728B52AA6E4}">
                <adec:decorative xmlns:adec="http://schemas.microsoft.com/office/drawing/2017/decorative" val="1"/>
              </a:ext>
            </a:extLst>
          </p:cNvPr>
          <p:cNvSpPr/>
          <p:nvPr/>
        </p:nvSpPr>
        <p:spPr>
          <a:xfrm>
            <a:off x="658368"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BU21"/>
          <p:cNvSpPr txBox="1"/>
          <p:nvPr/>
        </p:nvSpPr>
        <p:spPr>
          <a:xfrm>
            <a:off x="859536"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1"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8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D1D1D9BB-7FA5-4CA5-B78F-091697BF472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Scope</a:t>
            </a:r>
            <a:r>
              <a:rPr sz="2100" b="0" i="0">
                <a:solidFill>
                  <a:srgbClr val="1C252B"/>
                </a:solidFill>
                <a:latin typeface="Segoe UI"/>
              </a:rPr>
              <a:t> a machine learning project: turn a vague aim into a task, performance measure, data source, baseline and success criterion.</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Plan</a:t>
            </a:r>
            <a:r>
              <a:rPr sz="2100" b="0" i="0">
                <a:solidFill>
                  <a:srgbClr val="1C252B"/>
                </a:solidFill>
                <a:latin typeface="Segoe UI"/>
              </a:rPr>
              <a:t> the project in milestones and </a:t>
            </a:r>
            <a:r>
              <a:rPr sz="2100" b="1" i="0">
                <a:solidFill>
                  <a:srgbClr val="1C252B"/>
                </a:solidFill>
                <a:latin typeface="Segoe UI"/>
              </a:rPr>
              <a:t>write</a:t>
            </a:r>
            <a:r>
              <a:rPr sz="2100" b="0" i="0">
                <a:solidFill>
                  <a:srgbClr val="1C252B"/>
                </a:solidFill>
                <a:latin typeface="Segoe UI"/>
              </a:rPr>
              <a:t> a one-page proposal.</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Run</a:t>
            </a:r>
            <a:r>
              <a:rPr sz="2100" b="0" i="0">
                <a:solidFill>
                  <a:srgbClr val="1C252B"/>
                </a:solidFill>
                <a:latin typeface="Segoe UI"/>
              </a:rPr>
              <a:t> experiments reproducibly: one fixed split, cross-validated comparisons, an experiment log, seeds and version control.</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Report</a:t>
            </a:r>
            <a:r>
              <a:rPr sz="2100" b="0" i="0">
                <a:solidFill>
                  <a:srgbClr val="1C252B"/>
                </a:solidFill>
                <a:latin typeface="Segoe UI"/>
              </a:rPr>
              <a:t> results honestly, with a baseline, uncertainty, per-group performance and a model card.</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Present</a:t>
            </a:r>
            <a:r>
              <a:rPr sz="2100" b="0" i="0">
                <a:solidFill>
                  <a:srgbClr val="1C252B"/>
                </a:solidFill>
                <a:latin typeface="Segoe UI"/>
              </a:rPr>
              <a:t> and </a:t>
            </a:r>
            <a:r>
              <a:rPr sz="2100" b="1" i="0">
                <a:solidFill>
                  <a:srgbClr val="1C252B"/>
                </a:solidFill>
                <a:latin typeface="Segoe UI"/>
              </a:rPr>
              <a:t>defend</a:t>
            </a:r>
            <a:r>
              <a:rPr sz="2100" b="0" i="0">
                <a:solidFill>
                  <a:srgbClr val="1C252B"/>
                </a:solidFill>
                <a:latin typeface="Segoe UI"/>
              </a:rPr>
              <a:t> the project’s choices.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D5E70137-A06C-49C3-9B86-E890E4E04045}" type="slidenum">
              <a:rPr lang="en-GB" sz="1000">
                <a:solidFill>
                  <a:srgbClr val="8795A1"/>
                </a:solidFill>
                <a:latin typeface="Segoe UI"/>
              </a:rPr>
              <a:t>4</a:t>
            </a:fld>
          </a:p>
        </p:txBody>
      </p:sp>
      <p:sp>
        <p:nvSpPr>
          <p:cNvPr id="7" name="!!term-problem framin">
            <a:extLst>
              <a:ext uri="{C183D7F6-B498-43B3-948B-1728B52AA6E4}">
                <adec:decorative xmlns:adec="http://schemas.microsoft.com/office/drawing/2017/decorative" val="1"/>
              </a:ext>
            </a:extLst>
          </p:cNvPr>
          <p:cNvSpPr/>
          <p:nvPr/>
        </p:nvSpPr>
        <p:spPr>
          <a:xfrm>
            <a:off x="658368" y="1847088"/>
            <a:ext cx="1980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oblem frami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oblem framin"/>
          <p:cNvSpPr txBox="1"/>
          <p:nvPr/>
        </p:nvSpPr>
        <p:spPr>
          <a:xfrm>
            <a:off x="950976" y="1962911"/>
            <a:ext cx="179761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problem framing</a:t>
            </a:r>
          </a:p>
        </p:txBody>
      </p:sp>
      <p:sp>
        <p:nvSpPr>
          <p:cNvPr id="10" name="!!term-success criter">
            <a:extLst>
              <a:ext uri="{C183D7F6-B498-43B3-948B-1728B52AA6E4}">
                <adec:decorative xmlns:adec="http://schemas.microsoft.com/office/drawing/2017/decorative" val="1"/>
              </a:ext>
            </a:extLst>
          </p:cNvPr>
          <p:cNvSpPr/>
          <p:nvPr/>
        </p:nvSpPr>
        <p:spPr>
          <a:xfrm>
            <a:off x="2785171" y="1847088"/>
            <a:ext cx="19342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uccess criter">
            <a:extLst>
              <a:ext uri="{C183D7F6-B498-43B3-948B-1728B52AA6E4}">
                <adec:decorative xmlns:adec="http://schemas.microsoft.com/office/drawing/2017/decorative" val="1"/>
              </a:ext>
            </a:extLst>
          </p:cNvPr>
          <p:cNvSpPr/>
          <p:nvPr/>
        </p:nvSpPr>
        <p:spPr>
          <a:xfrm>
            <a:off x="291318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uccess criter"/>
          <p:cNvSpPr txBox="1"/>
          <p:nvPr/>
        </p:nvSpPr>
        <p:spPr>
          <a:xfrm>
            <a:off x="3077779" y="1962911"/>
            <a:ext cx="17514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success criterion</a:t>
            </a:r>
          </a:p>
        </p:txBody>
      </p:sp>
      <p:sp>
        <p:nvSpPr>
          <p:cNvPr id="13" name="!!term-proposal">
            <a:extLst>
              <a:ext uri="{C183D7F6-B498-43B3-948B-1728B52AA6E4}">
                <adec:decorative xmlns:adec="http://schemas.microsoft.com/office/drawing/2017/decorative" val="1"/>
              </a:ext>
            </a:extLst>
          </p:cNvPr>
          <p:cNvSpPr/>
          <p:nvPr/>
        </p:nvSpPr>
        <p:spPr>
          <a:xfrm>
            <a:off x="4865771" y="1847088"/>
            <a:ext cx="12411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roposal">
            <a:extLst>
              <a:ext uri="{C183D7F6-B498-43B3-948B-1728B52AA6E4}">
                <adec:decorative xmlns:adec="http://schemas.microsoft.com/office/drawing/2017/decorative" val="1"/>
              </a:ext>
            </a:extLst>
          </p:cNvPr>
          <p:cNvSpPr/>
          <p:nvPr/>
        </p:nvSpPr>
        <p:spPr>
          <a:xfrm>
            <a:off x="499378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roposal"/>
          <p:cNvSpPr txBox="1"/>
          <p:nvPr/>
        </p:nvSpPr>
        <p:spPr>
          <a:xfrm>
            <a:off x="5158379" y="1962911"/>
            <a:ext cx="10583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proposal</a:t>
            </a:r>
          </a:p>
        </p:txBody>
      </p:sp>
      <p:sp>
        <p:nvSpPr>
          <p:cNvPr id="16" name="!!term-milestone">
            <a:extLst>
              <a:ext uri="{C183D7F6-B498-43B3-948B-1728B52AA6E4}">
                <adec:decorative xmlns:adec="http://schemas.microsoft.com/office/drawing/2017/decorative" val="1"/>
              </a:ext>
            </a:extLst>
          </p:cNvPr>
          <p:cNvSpPr/>
          <p:nvPr/>
        </p:nvSpPr>
        <p:spPr>
          <a:xfrm>
            <a:off x="6253264" y="1847088"/>
            <a:ext cx="13313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ilestone">
            <a:extLst>
              <a:ext uri="{C183D7F6-B498-43B3-948B-1728B52AA6E4}">
                <adec:decorative xmlns:adec="http://schemas.microsoft.com/office/drawing/2017/decorative" val="1"/>
              </a:ext>
            </a:extLst>
          </p:cNvPr>
          <p:cNvSpPr/>
          <p:nvPr/>
        </p:nvSpPr>
        <p:spPr>
          <a:xfrm>
            <a:off x="63812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ilestone"/>
          <p:cNvSpPr txBox="1"/>
          <p:nvPr/>
        </p:nvSpPr>
        <p:spPr>
          <a:xfrm>
            <a:off x="6545872" y="1962911"/>
            <a:ext cx="114848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milestone</a:t>
            </a:r>
          </a:p>
        </p:txBody>
      </p:sp>
      <p:sp>
        <p:nvSpPr>
          <p:cNvPr id="19" name="!!term-fixed test set">
            <a:extLst>
              <a:ext uri="{C183D7F6-B498-43B3-948B-1728B52AA6E4}">
                <adec:decorative xmlns:adec="http://schemas.microsoft.com/office/drawing/2017/decorative" val="1"/>
              </a:ext>
            </a:extLst>
          </p:cNvPr>
          <p:cNvSpPr/>
          <p:nvPr/>
        </p:nvSpPr>
        <p:spPr>
          <a:xfrm>
            <a:off x="7730933" y="1847088"/>
            <a:ext cx="1596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ixed test set">
            <a:extLst>
              <a:ext uri="{C183D7F6-B498-43B3-948B-1728B52AA6E4}">
                <adec:decorative xmlns:adec="http://schemas.microsoft.com/office/drawing/2017/decorative" val="1"/>
              </a:ext>
            </a:extLst>
          </p:cNvPr>
          <p:cNvSpPr/>
          <p:nvPr/>
        </p:nvSpPr>
        <p:spPr>
          <a:xfrm>
            <a:off x="78589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ixed test set"/>
          <p:cNvSpPr txBox="1"/>
          <p:nvPr/>
        </p:nvSpPr>
        <p:spPr>
          <a:xfrm>
            <a:off x="8023541" y="1962911"/>
            <a:ext cx="14135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fixed test set</a:t>
            </a:r>
          </a:p>
        </p:txBody>
      </p:sp>
      <p:sp>
        <p:nvSpPr>
          <p:cNvPr id="22" name="!!term-experiment log">
            <a:extLst>
              <a:ext uri="{C183D7F6-B498-43B3-948B-1728B52AA6E4}">
                <adec:decorative xmlns:adec="http://schemas.microsoft.com/office/drawing/2017/decorative" val="1"/>
              </a:ext>
            </a:extLst>
          </p:cNvPr>
          <p:cNvSpPr/>
          <p:nvPr/>
        </p:nvSpPr>
        <p:spPr>
          <a:xfrm>
            <a:off x="9473666" y="1847088"/>
            <a:ext cx="18199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xperiment log">
            <a:extLst>
              <a:ext uri="{C183D7F6-B498-43B3-948B-1728B52AA6E4}">
                <adec:decorative xmlns:adec="http://schemas.microsoft.com/office/drawing/2017/decorative" val="1"/>
              </a:ext>
            </a:extLst>
          </p:cNvPr>
          <p:cNvSpPr/>
          <p:nvPr/>
        </p:nvSpPr>
        <p:spPr>
          <a:xfrm>
            <a:off x="960168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xperiment log"/>
          <p:cNvSpPr txBox="1"/>
          <p:nvPr/>
        </p:nvSpPr>
        <p:spPr>
          <a:xfrm>
            <a:off x="9766274" y="1962911"/>
            <a:ext cx="163703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experiment log</a:t>
            </a:r>
          </a:p>
        </p:txBody>
      </p:sp>
      <p:sp>
        <p:nvSpPr>
          <p:cNvPr id="25" name="!!term-reproducibilit">
            <a:extLst>
              <a:ext uri="{C183D7F6-B498-43B3-948B-1728B52AA6E4}">
                <adec:decorative xmlns:adec="http://schemas.microsoft.com/office/drawing/2017/decorative" val="1"/>
              </a:ext>
            </a:extLst>
          </p:cNvPr>
          <p:cNvSpPr/>
          <p:nvPr/>
        </p:nvSpPr>
        <p:spPr>
          <a:xfrm>
            <a:off x="658368" y="2468880"/>
            <a:ext cx="17630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reproducibili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reproducibilit"/>
          <p:cNvSpPr txBox="1"/>
          <p:nvPr/>
        </p:nvSpPr>
        <p:spPr>
          <a:xfrm>
            <a:off x="950976" y="2584704"/>
            <a:ext cx="15801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reproducibility</a:t>
            </a:r>
          </a:p>
        </p:txBody>
      </p:sp>
      <p:sp>
        <p:nvSpPr>
          <p:cNvPr id="28" name="!!term-random seed">
            <a:extLst>
              <a:ext uri="{C183D7F6-B498-43B3-948B-1728B52AA6E4}">
                <adec:decorative xmlns:adec="http://schemas.microsoft.com/office/drawing/2017/decorative" val="1"/>
              </a:ext>
            </a:extLst>
          </p:cNvPr>
          <p:cNvSpPr/>
          <p:nvPr/>
        </p:nvSpPr>
        <p:spPr>
          <a:xfrm>
            <a:off x="2567709" y="2468880"/>
            <a:ext cx="16393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andom seed">
            <a:extLst>
              <a:ext uri="{C183D7F6-B498-43B3-948B-1728B52AA6E4}">
                <adec:decorative xmlns:adec="http://schemas.microsoft.com/office/drawing/2017/decorative" val="1"/>
              </a:ext>
            </a:extLst>
          </p:cNvPr>
          <p:cNvSpPr/>
          <p:nvPr/>
        </p:nvSpPr>
        <p:spPr>
          <a:xfrm>
            <a:off x="26957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andom seed"/>
          <p:cNvSpPr txBox="1"/>
          <p:nvPr/>
        </p:nvSpPr>
        <p:spPr>
          <a:xfrm>
            <a:off x="2860317" y="2584704"/>
            <a:ext cx="145650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 seed</a:t>
            </a:r>
          </a:p>
        </p:txBody>
      </p:sp>
      <p:sp>
        <p:nvSpPr>
          <p:cNvPr id="31" name="!!term-version contro">
            <a:extLst>
              <a:ext uri="{C183D7F6-B498-43B3-948B-1728B52AA6E4}">
                <adec:decorative xmlns:adec="http://schemas.microsoft.com/office/drawing/2017/decorative" val="1"/>
              </a:ext>
            </a:extLst>
          </p:cNvPr>
          <p:cNvSpPr/>
          <p:nvPr/>
        </p:nvSpPr>
        <p:spPr>
          <a:xfrm>
            <a:off x="4353398" y="2468880"/>
            <a:ext cx="18008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version contro">
            <a:extLst>
              <a:ext uri="{C183D7F6-B498-43B3-948B-1728B52AA6E4}">
                <adec:decorative xmlns:adec="http://schemas.microsoft.com/office/drawing/2017/decorative" val="1"/>
              </a:ext>
            </a:extLst>
          </p:cNvPr>
          <p:cNvSpPr/>
          <p:nvPr/>
        </p:nvSpPr>
        <p:spPr>
          <a:xfrm>
            <a:off x="448141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version contro"/>
          <p:cNvSpPr txBox="1"/>
          <p:nvPr/>
        </p:nvSpPr>
        <p:spPr>
          <a:xfrm>
            <a:off x="4646006" y="2584704"/>
            <a:ext cx="161792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version control</a:t>
            </a:r>
          </a:p>
        </p:txBody>
      </p:sp>
      <p:sp>
        <p:nvSpPr>
          <p:cNvPr id="34" name="!!term-ablation">
            <a:extLst>
              <a:ext uri="{C183D7F6-B498-43B3-948B-1728B52AA6E4}">
                <adec:decorative xmlns:adec="http://schemas.microsoft.com/office/drawing/2017/decorative" val="1"/>
              </a:ext>
            </a:extLst>
          </p:cNvPr>
          <p:cNvSpPr/>
          <p:nvPr/>
        </p:nvSpPr>
        <p:spPr>
          <a:xfrm>
            <a:off x="6300507" y="2468880"/>
            <a:ext cx="11811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ablation">
            <a:extLst>
              <a:ext uri="{C183D7F6-B498-43B3-948B-1728B52AA6E4}">
                <adec:decorative xmlns:adec="http://schemas.microsoft.com/office/drawing/2017/decorative" val="1"/>
              </a:ext>
            </a:extLst>
          </p:cNvPr>
          <p:cNvSpPr/>
          <p:nvPr/>
        </p:nvSpPr>
        <p:spPr>
          <a:xfrm>
            <a:off x="64285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ablation"/>
          <p:cNvSpPr txBox="1"/>
          <p:nvPr/>
        </p:nvSpPr>
        <p:spPr>
          <a:xfrm>
            <a:off x="6593115" y="2584704"/>
            <a:ext cx="9982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ablation</a:t>
            </a:r>
          </a:p>
        </p:txBody>
      </p:sp>
      <p:sp>
        <p:nvSpPr>
          <p:cNvPr id="37" name="!!term-error analysis">
            <a:extLst>
              <a:ext uri="{C183D7F6-B498-43B3-948B-1728B52AA6E4}">
                <adec:decorative xmlns:adec="http://schemas.microsoft.com/office/drawing/2017/decorative" val="1"/>
              </a:ext>
            </a:extLst>
          </p:cNvPr>
          <p:cNvSpPr/>
          <p:nvPr/>
        </p:nvSpPr>
        <p:spPr>
          <a:xfrm>
            <a:off x="7627935" y="2468880"/>
            <a:ext cx="16465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error analysis">
            <a:extLst>
              <a:ext uri="{C183D7F6-B498-43B3-948B-1728B52AA6E4}">
                <adec:decorative xmlns:adec="http://schemas.microsoft.com/office/drawing/2017/decorative" val="1"/>
              </a:ext>
            </a:extLst>
          </p:cNvPr>
          <p:cNvSpPr/>
          <p:nvPr/>
        </p:nvSpPr>
        <p:spPr>
          <a:xfrm>
            <a:off x="775595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error analysis"/>
          <p:cNvSpPr txBox="1"/>
          <p:nvPr/>
        </p:nvSpPr>
        <p:spPr>
          <a:xfrm>
            <a:off x="7920543" y="2584704"/>
            <a:ext cx="146371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error analysis</a:t>
            </a:r>
          </a:p>
        </p:txBody>
      </p:sp>
      <p:sp>
        <p:nvSpPr>
          <p:cNvPr id="40" name="!!term-model card">
            <a:extLst>
              <a:ext uri="{C183D7F6-B498-43B3-948B-1728B52AA6E4}">
                <adec:decorative xmlns:adec="http://schemas.microsoft.com/office/drawing/2017/decorative" val="1"/>
              </a:ext>
            </a:extLst>
          </p:cNvPr>
          <p:cNvSpPr/>
          <p:nvPr/>
        </p:nvSpPr>
        <p:spPr>
          <a:xfrm>
            <a:off x="9420837" y="2468880"/>
            <a:ext cx="14716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odel card">
            <a:extLst>
              <a:ext uri="{C183D7F6-B498-43B3-948B-1728B52AA6E4}">
                <adec:decorative xmlns:adec="http://schemas.microsoft.com/office/drawing/2017/decorative" val="1"/>
              </a:ext>
            </a:extLst>
          </p:cNvPr>
          <p:cNvSpPr/>
          <p:nvPr/>
        </p:nvSpPr>
        <p:spPr>
          <a:xfrm>
            <a:off x="95488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odel card"/>
          <p:cNvSpPr txBox="1"/>
          <p:nvPr/>
        </p:nvSpPr>
        <p:spPr>
          <a:xfrm>
            <a:off x="9713445" y="2584704"/>
            <a:ext cx="12887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model card</a:t>
            </a:r>
          </a:p>
        </p:txBody>
      </p:sp>
      <p:sp>
        <p:nvSpPr>
          <p:cNvPr id="43" name="!!term-technical repo">
            <a:extLst>
              <a:ext uri="{C183D7F6-B498-43B3-948B-1728B52AA6E4}">
                <adec:decorative xmlns:adec="http://schemas.microsoft.com/office/drawing/2017/decorative" val="1"/>
              </a:ext>
            </a:extLst>
          </p:cNvPr>
          <p:cNvSpPr/>
          <p:nvPr/>
        </p:nvSpPr>
        <p:spPr>
          <a:xfrm>
            <a:off x="658368" y="3090672"/>
            <a:ext cx="18725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echnical repo">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echnical repo"/>
          <p:cNvSpPr txBox="1"/>
          <p:nvPr/>
        </p:nvSpPr>
        <p:spPr>
          <a:xfrm>
            <a:off x="950976" y="3206496"/>
            <a:ext cx="16897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technical report</a:t>
            </a:r>
          </a:p>
        </p:txBody>
      </p:sp>
      <p:sp>
        <p:nvSpPr>
          <p:cNvPr id="46" name="!!term-presentation">
            <a:extLst>
              <a:ext uri="{C183D7F6-B498-43B3-948B-1728B52AA6E4}">
                <adec:decorative xmlns:adec="http://schemas.microsoft.com/office/drawing/2017/decorative" val="1"/>
              </a:ext>
            </a:extLst>
          </p:cNvPr>
          <p:cNvSpPr/>
          <p:nvPr/>
        </p:nvSpPr>
        <p:spPr>
          <a:xfrm>
            <a:off x="2677254" y="3090672"/>
            <a:ext cx="15898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presentation">
            <a:extLst>
              <a:ext uri="{C183D7F6-B498-43B3-948B-1728B52AA6E4}">
                <adec:decorative xmlns:adec="http://schemas.microsoft.com/office/drawing/2017/decorative" val="1"/>
              </a:ext>
            </a:extLst>
          </p:cNvPr>
          <p:cNvSpPr/>
          <p:nvPr/>
        </p:nvSpPr>
        <p:spPr>
          <a:xfrm>
            <a:off x="280527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presentation"/>
          <p:cNvSpPr txBox="1"/>
          <p:nvPr/>
        </p:nvSpPr>
        <p:spPr>
          <a:xfrm>
            <a:off x="2969862" y="3206496"/>
            <a:ext cx="140692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presentation</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162–169     </a:t>
            </a:r>
            <a:fld id="{43B41076-0E91-4EEA-AFDE-78BAA0ABF709}" type="slidenum">
              <a:rPr lang="en-GB" sz="1000">
                <a:solidFill>
                  <a:srgbClr val="8795A1"/>
                </a:solidFill>
                <a:latin typeface="Segoe UI"/>
              </a:rPr>
              <a:t>5</a:t>
            </a:fld>
          </a:p>
        </p:txBody>
      </p:sp>
      <p:sp>
        <p:nvSpPr>
          <p:cNvPr id="7" name="!!ag0" descr="Go to section 22.1 What the Project Is Fo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Project Is For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2" name="!!ag1" descr="Go to section 22.2 Choosing and Scoping a Problem">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and Scoping a Problem</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7" name="!!ag2" descr="Go to section 22.3 The Pla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Plan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163  ›</a:t>
            </a:r>
          </a:p>
        </p:txBody>
      </p:sp>
      <p:sp>
        <p:nvSpPr>
          <p:cNvPr id="22" name="!!ag3" descr="Go to section 22.4 Running Experiments Honestl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Running Experiments Honestly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164  ›</a:t>
            </a:r>
          </a:p>
        </p:txBody>
      </p:sp>
      <p:sp>
        <p:nvSpPr>
          <p:cNvPr id="27" name="!!ag4" descr="Go to section 22.5 The Report and the Present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Report and the Presentation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165  ›</a:t>
            </a:r>
          </a:p>
        </p:txBody>
      </p:sp>
      <p:sp>
        <p:nvSpPr>
          <p:cNvPr id="32" name="!!ag5" descr="Go to section 22.6 Assessment">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Assessment</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165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Project Is For</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162     </a:t>
            </a:r>
            <a:fld id="{7FFD7DE5-AAB9-457B-B1A0-47C55A85E186}"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8480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93034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Each chapter has taught one piece: one algorithm, one metric, one pitfall. Real work needs all of them at once, in the right order, on data nobody has cleaned in advance, for a question that matters to someone. The project is where that happens. It is worth 15% of the course (see the Course Specification), is done in pairs, runs from Week 11 to Week 16, and is judged less on the final accuracy than on whether every number in it can be trusted.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 and Scoping a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the Project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22.2   Choosing and Scoping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The Plan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Running Experiments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The Report and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Assessment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§22.2     </a:t>
            </a:r>
            <a:fld id="{41472061-4D9A-489B-9DC0-786160F9209F}"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and Scoping a Problem</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162     </a:t>
            </a:r>
            <a:fld id="{0AF33D6E-F3A5-4647-9033-E98AA85F256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34841"/>
          </a:xfrm>
          <a:prstGeom prst="roundRect">
            <a:avLst>
              <a:gd name="adj" fmla="val 2323"/>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3484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good project problem has four properties: a </a:t>
            </a:r>
            <a:r>
              <a:rPr sz="1900" b="1" i="0">
                <a:solidFill>
                  <a:srgbClr val="1C252B"/>
                </a:solidFill>
                <a:latin typeface="Segoe UI"/>
              </a:rPr>
              <a:t>decision</a:t>
            </a:r>
            <a:r>
              <a:rPr sz="1900" b="0" i="0">
                <a:solidFill>
                  <a:srgbClr val="1C252B"/>
                </a:solidFill>
                <a:latin typeface="Segoe UI"/>
              </a:rPr>
              <a:t> someone would make with the prediction; </a:t>
            </a:r>
            <a:r>
              <a:rPr sz="1900" b="1" i="0">
                <a:solidFill>
                  <a:srgbClr val="1C252B"/>
                </a:solidFill>
                <a:latin typeface="Segoe UI"/>
              </a:rPr>
              <a:t>data</a:t>
            </a:r>
            <a:r>
              <a:rPr sz="1900" b="0" i="0">
                <a:solidFill>
                  <a:srgbClr val="1C252B"/>
                </a:solidFill>
                <a:latin typeface="Segoe UI"/>
              </a:rPr>
              <a:t> you can legally obtain, with labels, preferably at least a thousand examples; a </a:t>
            </a:r>
            <a:r>
              <a:rPr sz="1900" b="1" i="0">
                <a:solidFill>
                  <a:srgbClr val="1C252B"/>
                </a:solidFill>
                <a:latin typeface="Segoe UI"/>
              </a:rPr>
              <a:t>baseline</a:t>
            </a:r>
            <a:r>
              <a:rPr sz="1900" b="0" i="0">
                <a:solidFill>
                  <a:srgbClr val="1C252B"/>
                </a:solidFill>
                <a:latin typeface="Segoe UI"/>
              </a:rPr>
              <a:t> that is easy to compute; and a </a:t>
            </a:r>
            <a:r>
              <a:rPr sz="1900" b="1" i="0">
                <a:solidFill>
                  <a:srgbClr val="1C252B"/>
                </a:solidFill>
                <a:latin typeface="Segoe UI"/>
              </a:rPr>
              <a:t>scope</a:t>
            </a:r>
            <a:r>
              <a:rPr sz="1900" b="0" i="0">
                <a:solidFill>
                  <a:srgbClr val="1C252B"/>
                </a:solidFill>
                <a:latin typeface="Segoe UI"/>
              </a:rPr>
              <a:t> that fits five weeks. Sources of data:</a:t>
            </a:r>
          </a:p>
        </p:txBody>
      </p:sp>
      <p:sp>
        <p:nvSpPr>
          <p:cNvPr id="10" name="body-1"/>
          <p:cNvSpPr txBox="1"/>
          <p:nvPr/>
        </p:nvSpPr>
        <p:spPr>
          <a:xfrm>
            <a:off x="1060704" y="3084398"/>
            <a:ext cx="10161727" cy="2322626"/>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1A5276"/>
                </a:solidFill>
                <a:latin typeface="Segoe UI"/>
              </a:rPr>
              <a:t>•	</a:t>
            </a:r>
            <a:r>
              <a:rPr sz="1900" b="0" i="0">
                <a:solidFill>
                  <a:srgbClr val="1C252B"/>
                </a:solidFill>
                <a:latin typeface="Segoe UI"/>
              </a:rPr>
              <a:t>the issue trackers of open-source projects (the Apache Software Foundation’s public Jira, GitHub issues), which record tickets, their text, their history and how long they took;</a:t>
            </a:r>
          </a:p>
          <a:p>
            <a:pPr algn="l" marL="212450" indent="-212450">
              <a:lnSpc>
                <a:spcPct val="104000"/>
              </a:lnSpc>
              <a:spcBef>
                <a:spcPts val="0"/>
              </a:spcBef>
              <a:spcAft>
                <a:spcPts val="665"/>
              </a:spcAft>
            </a:pPr>
            <a:r>
              <a:rPr sz="1900" b="1">
                <a:solidFill>
                  <a:srgbClr val="1A5276"/>
                </a:solidFill>
                <a:latin typeface="Segoe UI"/>
              </a:rPr>
              <a:t>•	</a:t>
            </a:r>
            <a:r>
              <a:rPr sz="1900" b="0" i="0">
                <a:solidFill>
                  <a:srgbClr val="1C252B"/>
                </a:solidFill>
                <a:latin typeface="Segoe UI"/>
              </a:rPr>
              <a:t>public software-engineering datasets — effort-estimation and defect data such as those of the PROMISE repository — and the general collections of the UCI Machine Learning Repository, OpenML and Kaggle;</a:t>
            </a:r>
          </a:p>
          <a:p>
            <a:pPr algn="l" marL="212450" indent="-212450">
              <a:lnSpc>
                <a:spcPct val="104000"/>
              </a:lnSpc>
              <a:spcBef>
                <a:spcPts val="0"/>
              </a:spcBef>
              <a:spcAft>
                <a:spcPts val="0"/>
              </a:spcAft>
            </a:pPr>
            <a:r>
              <a:rPr sz="1900" b="1">
                <a:solidFill>
                  <a:srgbClr val="1A5276"/>
                </a:solidFill>
                <a:latin typeface="Segoe UI"/>
              </a:rPr>
              <a:t>•	</a:t>
            </a:r>
            <a:r>
              <a:rPr sz="1900" b="0" i="0">
                <a:solidFill>
                  <a:srgbClr val="1C252B"/>
                </a:solidFill>
                <a:latin typeface="Segoe UI"/>
              </a:rPr>
              <a:t>data from your own employer’s project tracker — only with written permission, and never with personal identifiers (Chapter 21).</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Ideas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162     </a:t>
            </a:r>
            <a:fld id="{48127556-73C3-4A4C-B2B8-322077AF5782}"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5355"/>
          </a:xfrm>
          <a:prstGeom prst="roundRect">
            <a:avLst>
              <a:gd name="adj" fmla="val 205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53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869283"/>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1F618D"/>
                </a:solidFill>
                <a:latin typeface="Segoe UI"/>
              </a:rPr>
              <a:t>•	</a:t>
            </a:r>
            <a:r>
              <a:rPr sz="1800" b="1" i="0">
                <a:solidFill>
                  <a:srgbClr val="1F618D"/>
                </a:solidFill>
                <a:latin typeface="Segoe UI"/>
              </a:rPr>
              <a:t>Resolution time.</a:t>
            </a:r>
            <a:r>
              <a:rPr sz="1800" b="0" i="0">
                <a:solidFill>
                  <a:srgbClr val="1C252B"/>
                </a:solidFill>
                <a:latin typeface="Segoe UI"/>
              </a:rPr>
              <a:t> Predict how long a ticket will take to resolve from its text and metadata (Chapter 5, with the word features of Chapter 10), and compare with the team’s own estimates.</a:t>
            </a:r>
          </a:p>
          <a:p>
            <a:pPr algn="l" marL="201268" indent="-201268">
              <a:lnSpc>
                <a:spcPct val="104000"/>
              </a:lnSpc>
              <a:spcBef>
                <a:spcPts val="0"/>
              </a:spcBef>
              <a:spcAft>
                <a:spcPts val="630"/>
              </a:spcAft>
            </a:pPr>
            <a:r>
              <a:rPr sz="1800" b="1">
                <a:solidFill>
                  <a:srgbClr val="1F618D"/>
                </a:solidFill>
                <a:latin typeface="Segoe UI"/>
              </a:rPr>
              <a:t>•	</a:t>
            </a:r>
            <a:r>
              <a:rPr sz="1800" b="1" i="0">
                <a:solidFill>
                  <a:srgbClr val="1F618D"/>
                </a:solidFill>
                <a:latin typeface="Segoe UI"/>
              </a:rPr>
              <a:t>Ticket routing.</a:t>
            </a:r>
            <a:r>
              <a:rPr sz="1800" b="0" i="0">
                <a:solidFill>
                  <a:srgbClr val="1C252B"/>
                </a:solidFill>
                <a:latin typeface="Segoe UI"/>
              </a:rPr>
              <a:t> Send each ticket to the right component or team from its text; report macro-averaged metrics, because the rare queues matter (Chapter 8).</a:t>
            </a:r>
          </a:p>
          <a:p>
            <a:pPr algn="l" marL="201268" indent="-201268">
              <a:lnSpc>
                <a:spcPct val="104000"/>
              </a:lnSpc>
              <a:spcBef>
                <a:spcPts val="0"/>
              </a:spcBef>
              <a:spcAft>
                <a:spcPts val="630"/>
              </a:spcAft>
            </a:pPr>
            <a:r>
              <a:rPr sz="1800" b="1">
                <a:solidFill>
                  <a:srgbClr val="1F618D"/>
                </a:solidFill>
                <a:latin typeface="Segoe UI"/>
              </a:rPr>
              <a:t>•	</a:t>
            </a:r>
            <a:r>
              <a:rPr sz="1800" b="1" i="0">
                <a:solidFill>
                  <a:srgbClr val="1F618D"/>
                </a:solidFill>
                <a:latin typeface="Segoe UI"/>
              </a:rPr>
              <a:t>Effort estimation.</a:t>
            </a:r>
            <a:r>
              <a:rPr sz="1800" b="0" i="0">
                <a:solidFill>
                  <a:srgbClr val="1C252B"/>
                </a:solidFill>
                <a:latin typeface="Segoe UI"/>
              </a:rPr>
              <a:t> Predict story hours from story points and task features (Chapter 5, Chapter 11), and test whether the model beats “hours per point” from last quarter.</a:t>
            </a:r>
          </a:p>
          <a:p>
            <a:pPr algn="l" marL="201268" indent="-201268">
              <a:lnSpc>
                <a:spcPct val="104000"/>
              </a:lnSpc>
              <a:spcBef>
                <a:spcPts val="0"/>
              </a:spcBef>
              <a:spcAft>
                <a:spcPts val="630"/>
              </a:spcAft>
            </a:pPr>
            <a:r>
              <a:rPr sz="1800" b="1">
                <a:solidFill>
                  <a:srgbClr val="1F618D"/>
                </a:solidFill>
                <a:latin typeface="Segoe UI"/>
              </a:rPr>
              <a:t>•	</a:t>
            </a:r>
            <a:r>
              <a:rPr sz="1800" b="1" i="0">
                <a:solidFill>
                  <a:srgbClr val="1F618D"/>
                </a:solidFill>
                <a:latin typeface="Segoe UI"/>
              </a:rPr>
              <a:t>Projects at risk.</a:t>
            </a:r>
            <a:r>
              <a:rPr sz="1800" b="0" i="0">
                <a:solidFill>
                  <a:srgbClr val="1C252B"/>
                </a:solidFill>
                <a:latin typeface="Segoe UI"/>
              </a:rPr>
              <a:t> Classify projects likely to overrun from their early metrics — the worked example below.</a:t>
            </a:r>
          </a:p>
          <a:p>
            <a:pPr algn="l" marL="201268" indent="-201268">
              <a:lnSpc>
                <a:spcPct val="104000"/>
              </a:lnSpc>
              <a:spcBef>
                <a:spcPts val="0"/>
              </a:spcBef>
              <a:spcAft>
                <a:spcPts val="630"/>
              </a:spcAft>
            </a:pPr>
            <a:r>
              <a:rPr sz="1800" b="1">
                <a:solidFill>
                  <a:srgbClr val="1F618D"/>
                </a:solidFill>
                <a:latin typeface="Segoe UI"/>
              </a:rPr>
              <a:t>•	</a:t>
            </a:r>
            <a:r>
              <a:rPr sz="1800" b="1" i="0">
                <a:solidFill>
                  <a:srgbClr val="1F618D"/>
                </a:solidFill>
                <a:latin typeface="Segoe UI"/>
              </a:rPr>
              <a:t>Defect prediction.</a:t>
            </a:r>
            <a:r>
              <a:rPr sz="1800" b="0" i="0">
                <a:solidFill>
                  <a:srgbClr val="1C252B"/>
                </a:solidFill>
                <a:latin typeface="Segoe UI"/>
              </a:rPr>
              <a:t> Flag code changes likely to introduce a defect; the classes are imbalanced, so report the precision–recall curve.</a:t>
            </a:r>
          </a:p>
          <a:p>
            <a:pPr algn="l" marL="201268" indent="-201268">
              <a:lnSpc>
                <a:spcPct val="104000"/>
              </a:lnSpc>
              <a:spcBef>
                <a:spcPts val="0"/>
              </a:spcBef>
              <a:spcAft>
                <a:spcPts val="0"/>
              </a:spcAft>
            </a:pPr>
            <a:r>
              <a:rPr sz="1800" b="1">
                <a:solidFill>
                  <a:srgbClr val="1F618D"/>
                </a:solidFill>
                <a:latin typeface="Segoe UI"/>
              </a:rPr>
              <a:t>•	</a:t>
            </a:r>
            <a:r>
              <a:rPr sz="1800" b="1" i="0">
                <a:solidFill>
                  <a:srgbClr val="1F618D"/>
                </a:solidFill>
                <a:latin typeface="Segoe UI"/>
              </a:rPr>
              <a:t>Duplicate reports.</a:t>
            </a:r>
            <a:r>
              <a:rPr sz="1800" b="0" i="0">
                <a:solidFill>
                  <a:srgbClr val="1C252B"/>
                </a:solidFill>
                <a:latin typeface="Segoe UI"/>
              </a:rPr>
              <a:t> Find earlier tickets that describe the same fault (cosine similarity and nearest neighbours, Chapter 11).</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8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From a Vague Idea to a Project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162     </a:t>
            </a:r>
            <a:fld id="{56AE4C81-1BBA-4703-9CE4-7F04062D4EEC}"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4781"/>
          </a:xfrm>
          <a:prstGeom prst="roundRect">
            <a:avLst>
              <a:gd name="adj" fmla="val 20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47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Idea:</a:t>
            </a:r>
            <a:r>
              <a:rPr sz="1900" b="0" i="0">
                <a:solidFill>
                  <a:srgbClr val="1C252B"/>
                </a:solidFill>
                <a:latin typeface="Segoe UI"/>
              </a:rPr>
              <a:t> “Use machine learning to deliver more projects on time.”</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Decision.</a:t>
            </a:r>
            <a:r>
              <a:rPr sz="1900" b="0" i="0">
                <a:solidFill>
                  <a:srgbClr val="1C252B"/>
                </a:solidFill>
                <a:latin typeface="Segoe UI"/>
              </a:rPr>
              <a:t> Who acts on the prediction? The project office, which can review about 15 projects in depth each quarter.</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Task </a:t>
            </a:r>
            <a:r>
              <a:rPr sz="1900" b="1" i="1">
                <a:solidFill>
                  <a:srgbClr val="1C252B"/>
                </a:solidFill>
                <a:latin typeface="Cambria"/>
              </a:rPr>
              <a:t>T</a:t>
            </a:r>
            <a:r>
              <a:rPr sz="1900" b="1" i="0">
                <a:solidFill>
                  <a:srgbClr val="1C252B"/>
                </a:solidFill>
                <a:latin typeface="Segoe UI"/>
              </a:rPr>
              <a:t>.</a:t>
            </a:r>
            <a:r>
              <a:rPr sz="1900" b="0" i="0">
                <a:solidFill>
                  <a:srgbClr val="1C252B"/>
                </a:solidFill>
                <a:latin typeface="Segoe UI"/>
              </a:rPr>
              <a:t> One month into each project, rank the projects that started this quarter by their risk of overrunning their deadline by more than 20%.</a:t>
            </a:r>
          </a:p>
        </p:txBody>
      </p:sp>
      <p:sp>
        <p:nvSpPr>
          <p:cNvPr id="12" name="body-3"/>
          <p:cNvSpPr txBox="1"/>
          <p:nvPr/>
        </p:nvSpPr>
        <p:spPr>
          <a:xfrm>
            <a:off x="1042416" y="3915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Experience </a:t>
            </a:r>
            <a:r>
              <a:rPr sz="1900" b="1" i="1">
                <a:solidFill>
                  <a:srgbClr val="1C252B"/>
                </a:solidFill>
                <a:latin typeface="Cambria"/>
              </a:rPr>
              <a:t>E</a:t>
            </a:r>
            <a:r>
              <a:rPr sz="1900" b="1" i="0">
                <a:solidFill>
                  <a:srgbClr val="1C252B"/>
                </a:solidFill>
                <a:latin typeface="Segoe UI"/>
              </a:rPr>
              <a:t>.</a:t>
            </a:r>
            <a:r>
              <a:rPr sz="1900" b="0" i="0">
                <a:solidFill>
                  <a:srgbClr val="1C252B"/>
                </a:solidFill>
                <a:latin typeface="Segoe UI"/>
              </a:rPr>
              <a:t> Four years of completed projects (about 900) with their month-one metrics — change requests, staffing, velocity, open defects — and whether they overran, exported from the company’s project tracker with written permission and without personal identifiers.</a:t>
            </a:r>
          </a:p>
        </p:txBody>
      </p:sp>
      <p:sp>
        <p:nvSpPr>
          <p:cNvPr id="13" name="body-4"/>
          <p:cNvSpPr txBox="1"/>
          <p:nvPr/>
        </p:nvSpPr>
        <p:spPr>
          <a:xfrm>
            <a:off x="1042416" y="495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Performance </a:t>
            </a:r>
            <a:r>
              <a:rPr sz="1900" b="1" i="1">
                <a:solidFill>
                  <a:srgbClr val="1C252B"/>
                </a:solidFill>
                <a:latin typeface="Cambria"/>
              </a:rPr>
              <a:t>P</a:t>
            </a:r>
            <a:r>
              <a:rPr sz="1900" b="1" i="0">
                <a:solidFill>
                  <a:srgbClr val="1C252B"/>
                </a:solidFill>
                <a:latin typeface="Segoe UI"/>
              </a:rPr>
              <a:t>.</a:t>
            </a:r>
            <a:r>
              <a:rPr sz="1900" b="0" i="0">
                <a:solidFill>
                  <a:srgbClr val="1C252B"/>
                </a:solidFill>
                <a:latin typeface="Segoe UI"/>
              </a:rPr>
              <a:t> Recall among the top 15 ranked projects (how many eventual overruns the office would review), with precision reported beside it.</a:t>
            </a:r>
          </a:p>
        </p:txBody>
      </p:sp>
      <p:sp>
        <p:nvSpPr>
          <p:cNvPr id="14" name="body-5"/>
          <p:cNvSpPr txBox="1"/>
          <p:nvPr/>
        </p:nvSpPr>
        <p:spPr>
          <a:xfrm>
            <a:off x="1042416" y="568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Baseline.</a:t>
            </a:r>
            <a:r>
              <a:rPr sz="1900" b="0" i="0">
                <a:solidFill>
                  <a:srgbClr val="1C252B"/>
                </a:solidFill>
                <a:latin typeface="Segoe UI"/>
              </a:rPr>
              <a:t> Rank by the number of change requests alone — the rule the office already uses.</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From a Vague Idea to a Project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162     </a:t>
            </a:r>
            <a:fld id="{80643920-9528-4D1B-809B-BC07FEA5AE3E}"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7067"/>
          </a:xfrm>
          <a:prstGeom prst="roundRect">
            <a:avLst>
              <a:gd name="adj" fmla="val 418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7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Success criterion.</a:t>
            </a:r>
            <a:r>
              <a:rPr sz="1900" b="0" i="0">
                <a:solidFill>
                  <a:srgbClr val="1C252B"/>
                </a:solidFill>
                <a:latin typeface="Segoe UI"/>
              </a:rPr>
              <a:t> Beat the change-request rule’s recall at 15 by at least three projects on the held-out year, with no project type (web, mobile, data) whose recall is below 60% of the others’.</a:t>
            </a:r>
          </a:p>
        </p:txBody>
      </p:sp>
      <p:sp>
        <p:nvSpPr>
          <p:cNvPr id="10" name="body-1"/>
          <p:cNvSpPr txBox="1"/>
          <p:nvPr/>
        </p:nvSpPr>
        <p:spPr>
          <a:xfrm>
            <a:off x="1042416" y="304782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Every later choice — features, model, threshold, fairness check — now has something to be judged against. A project without that paragraph cannot fail, and so cannot succeed either.</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Plan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the Project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Choosing and Scoping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22.3   The Plan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Running Experiments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The Report and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Assessment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§22.3     </a:t>
            </a:r>
            <a:fld id="{C919EE20-2AFA-4821-80E1-E7CA4EAF7A4E}" type="slidenum">
              <a:rPr lang="en-GB" sz="1000">
                <a:solidFill>
                  <a:srgbClr val="8795A1"/>
                </a:solidFill>
                <a:latin typeface="Segoe UI"/>
              </a:rPr>
              <a:t>12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project across the last six weeks of the semester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163     </a:t>
            </a:r>
            <a:fld id="{DDCCA47F-A6E2-45B4-8E09-0EE6966034D5}" type="slidenum">
              <a:rPr lang="en-GB" sz="1000">
                <a:solidFill>
                  <a:srgbClr val="8795A1"/>
                </a:solidFill>
                <a:latin typeface="Segoe UI"/>
              </a:rPr>
              <a:t>13</a:t>
            </a:fld>
          </a:p>
        </p:txBody>
      </p:sp>
      <p:pic>
        <p:nvPicPr>
          <p:cNvPr id="6" name="!!figure" descr="Figure 22.1. The project across the last six weeks of the semester. The test set is opened only once, after experiments are frozen in Week 1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2197" y="1737360"/>
            <a:ext cx="10807301"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test set is opened only once, after experiments are frozen in Week 14.</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One-Page Proposal (due end of Week 11)</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163     </a:t>
            </a:r>
            <a:fld id="{C99C53BA-1AA3-4175-A976-09D8273F9D56}"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20211"/>
          </a:xfrm>
          <a:prstGeom prst="roundRect">
            <a:avLst>
              <a:gd name="adj" fmla="val 275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202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744139"/>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1F618D"/>
                </a:solidFill>
                <a:latin typeface="Segoe UI"/>
              </a:rPr>
              <a:t>1.	</a:t>
            </a:r>
            <a:r>
              <a:rPr sz="2300" b="1" i="0">
                <a:solidFill>
                  <a:srgbClr val="1F618D"/>
                </a:solidFill>
                <a:latin typeface="Segoe UI"/>
              </a:rPr>
              <a:t>Problem and decision:</a:t>
            </a:r>
            <a:r>
              <a:rPr sz="2300" b="0" i="0">
                <a:solidFill>
                  <a:srgbClr val="1C252B"/>
                </a:solidFill>
                <a:latin typeface="Segoe UI"/>
              </a:rPr>
              <a:t> who will use the prediction, for what.</a:t>
            </a:r>
          </a:p>
          <a:p>
            <a:pPr algn="l" marL="554820" indent="-554820">
              <a:lnSpc>
                <a:spcPct val="104000"/>
              </a:lnSpc>
              <a:spcBef>
                <a:spcPts val="0"/>
              </a:spcBef>
              <a:spcAft>
                <a:spcPts val="804"/>
              </a:spcAft>
            </a:pPr>
            <a:r>
              <a:rPr sz="2300" b="1">
                <a:solidFill>
                  <a:srgbClr val="1F618D"/>
                </a:solidFill>
                <a:latin typeface="Segoe UI"/>
              </a:rPr>
              <a:t>2.	</a:t>
            </a:r>
            <a:r>
              <a:rPr sz="2300" b="1" i="1">
                <a:solidFill>
                  <a:srgbClr val="1F618D"/>
                </a:solidFill>
                <a:latin typeface="Cambria"/>
              </a:rPr>
              <a:t>T</a:t>
            </a:r>
            <a:r>
              <a:rPr sz="2300" b="1" i="0">
                <a:solidFill>
                  <a:srgbClr val="1C252B"/>
                </a:solidFill>
                <a:latin typeface="Segoe UI"/>
              </a:rPr>
              <a:t>, </a:t>
            </a:r>
            <a:r>
              <a:rPr sz="2300" b="1" i="1">
                <a:solidFill>
                  <a:srgbClr val="1C252B"/>
                </a:solidFill>
                <a:latin typeface="Cambria"/>
              </a:rPr>
              <a:t>P</a:t>
            </a:r>
            <a:r>
              <a:rPr sz="2300" b="1" i="0">
                <a:solidFill>
                  <a:srgbClr val="1C252B"/>
                </a:solidFill>
                <a:latin typeface="Segoe UI"/>
              </a:rPr>
              <a:t>, </a:t>
            </a:r>
            <a:r>
              <a:rPr sz="2300" b="1" i="1">
                <a:solidFill>
                  <a:srgbClr val="1C252B"/>
                </a:solidFill>
                <a:latin typeface="Cambria"/>
              </a:rPr>
              <a:t>E</a:t>
            </a:r>
            <a:r>
              <a:rPr sz="2300" b="0" i="0">
                <a:solidFill>
                  <a:srgbClr val="1C252B"/>
                </a:solidFill>
                <a:latin typeface="Segoe UI"/>
              </a:rPr>
              <a:t>, as in the worked example.</a:t>
            </a:r>
          </a:p>
          <a:p>
            <a:pPr algn="l" marL="554820" indent="-554820">
              <a:lnSpc>
                <a:spcPct val="104000"/>
              </a:lnSpc>
              <a:spcBef>
                <a:spcPts val="0"/>
              </a:spcBef>
              <a:spcAft>
                <a:spcPts val="804"/>
              </a:spcAft>
            </a:pPr>
            <a:r>
              <a:rPr sz="2300" b="1">
                <a:solidFill>
                  <a:srgbClr val="1F618D"/>
                </a:solidFill>
                <a:latin typeface="Segoe UI"/>
              </a:rPr>
              <a:t>3.	</a:t>
            </a:r>
            <a:r>
              <a:rPr sz="2300" b="1" i="0">
                <a:solidFill>
                  <a:srgbClr val="1F618D"/>
                </a:solidFill>
                <a:latin typeface="Segoe UI"/>
              </a:rPr>
              <a:t>Data:</a:t>
            </a:r>
            <a:r>
              <a:rPr sz="2300" b="0" i="0">
                <a:solidFill>
                  <a:srgbClr val="1C252B"/>
                </a:solidFill>
                <a:latin typeface="Segoe UI"/>
              </a:rPr>
              <a:t> source, size, label, permission, known problems.</a:t>
            </a:r>
          </a:p>
          <a:p>
            <a:pPr algn="l" marL="554820" indent="-554820">
              <a:lnSpc>
                <a:spcPct val="104000"/>
              </a:lnSpc>
              <a:spcBef>
                <a:spcPts val="0"/>
              </a:spcBef>
              <a:spcAft>
                <a:spcPts val="804"/>
              </a:spcAft>
            </a:pPr>
            <a:r>
              <a:rPr sz="2300" b="1">
                <a:solidFill>
                  <a:srgbClr val="1F618D"/>
                </a:solidFill>
                <a:latin typeface="Segoe UI"/>
              </a:rPr>
              <a:t>4.	</a:t>
            </a:r>
            <a:r>
              <a:rPr sz="2300" b="1" i="0">
                <a:solidFill>
                  <a:srgbClr val="1F618D"/>
                </a:solidFill>
                <a:latin typeface="Segoe UI"/>
              </a:rPr>
              <a:t>Baseline</a:t>
            </a:r>
            <a:r>
              <a:rPr sz="2300" b="0" i="0">
                <a:solidFill>
                  <a:srgbClr val="1C252B"/>
                </a:solidFill>
                <a:latin typeface="Segoe UI"/>
              </a:rPr>
              <a:t> and </a:t>
            </a:r>
            <a:r>
              <a:rPr sz="2300" b="1" i="0">
                <a:solidFill>
                  <a:srgbClr val="1C252B"/>
                </a:solidFill>
                <a:latin typeface="Segoe UI"/>
              </a:rPr>
              <a:t>success criterion</a:t>
            </a:r>
            <a:r>
              <a:rPr sz="2300" b="0" i="0">
                <a:solidFill>
                  <a:srgbClr val="1C252B"/>
                </a:solidFill>
                <a:latin typeface="Segoe UI"/>
              </a:rPr>
              <a:t>.</a:t>
            </a:r>
          </a:p>
          <a:p>
            <a:pPr algn="l" marL="554820" indent="-554820">
              <a:lnSpc>
                <a:spcPct val="104000"/>
              </a:lnSpc>
              <a:spcBef>
                <a:spcPts val="0"/>
              </a:spcBef>
              <a:spcAft>
                <a:spcPts val="804"/>
              </a:spcAft>
            </a:pPr>
            <a:r>
              <a:rPr sz="2300" b="1">
                <a:solidFill>
                  <a:srgbClr val="1F618D"/>
                </a:solidFill>
                <a:latin typeface="Segoe UI"/>
              </a:rPr>
              <a:t>5.	</a:t>
            </a:r>
            <a:r>
              <a:rPr sz="2300" b="1" i="0">
                <a:solidFill>
                  <a:srgbClr val="1F618D"/>
                </a:solidFill>
                <a:latin typeface="Segoe UI"/>
              </a:rPr>
              <a:t>Planned models</a:t>
            </a:r>
            <a:r>
              <a:rPr sz="2300" b="0" i="0">
                <a:solidFill>
                  <a:srgbClr val="1C252B"/>
                </a:solidFill>
                <a:latin typeface="Segoe UI"/>
              </a:rPr>
              <a:t> (at least one from each of two different chapters).</a:t>
            </a:r>
          </a:p>
          <a:p>
            <a:pPr algn="l" marL="554820" indent="-554820">
              <a:lnSpc>
                <a:spcPct val="104000"/>
              </a:lnSpc>
              <a:spcBef>
                <a:spcPts val="0"/>
              </a:spcBef>
              <a:spcAft>
                <a:spcPts val="0"/>
              </a:spcAft>
            </a:pPr>
            <a:r>
              <a:rPr sz="2300" b="1">
                <a:solidFill>
                  <a:srgbClr val="1F618D"/>
                </a:solidFill>
                <a:latin typeface="Segoe UI"/>
              </a:rPr>
              <a:t>6.	</a:t>
            </a:r>
            <a:r>
              <a:rPr sz="2300" b="1" i="0">
                <a:solidFill>
                  <a:srgbClr val="1F618D"/>
                </a:solidFill>
                <a:latin typeface="Segoe UI"/>
              </a:rPr>
              <a:t>Risks and ethics:</a:t>
            </a:r>
            <a:r>
              <a:rPr sz="2300" b="0" i="0">
                <a:solidFill>
                  <a:srgbClr val="1C252B"/>
                </a:solidFill>
                <a:latin typeface="Segoe UI"/>
              </a:rPr>
              <a:t> who could be harmed; which fairness check.</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8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Running Experiments Honestly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the Project Is For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Choosing and Scoping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The Plan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22.4   Running Experiments Honestly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The Report and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Assessment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§22.4     </a:t>
            </a:r>
            <a:fld id="{90BBC632-3F7C-42EE-AC35-05158B3A5206}" type="slidenum">
              <a:rPr lang="en-GB" sz="1000">
                <a:solidFill>
                  <a:srgbClr val="8795A1"/>
                </a:solidFill>
                <a:latin typeface="Segoe UI"/>
              </a:rPr>
              <a:t>15</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Rules for Reproducible Experiments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164     </a:t>
            </a:r>
            <a:fld id="{84CA9B7F-3A93-41F3-B756-450B276ECF9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1599"/>
          </a:xfrm>
          <a:prstGeom prst="roundRect">
            <a:avLst>
              <a:gd name="adj" fmla="val 212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159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3552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Split once, first,</a:t>
            </a:r>
            <a:r>
              <a:rPr sz="2300" b="0" i="0">
                <a:solidFill>
                  <a:srgbClr val="1C252B"/>
                </a:solidFill>
                <a:latin typeface="Segoe UI"/>
              </a:rPr>
              <a:t> and store the test indices; the test set is not opened until the experiments are frozen.</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Every model is a pipeline</a:t>
            </a:r>
            <a:r>
              <a:rPr sz="2300" b="0" i="0">
                <a:solidFill>
                  <a:srgbClr val="1C252B"/>
                </a:solidFill>
                <a:latin typeface="Segoe UI"/>
              </a:rPr>
              <a:t> (Chapter 3) evaluated by the same cross-validation folds.</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Log every run</a:t>
            </a:r>
            <a:r>
              <a:rPr sz="2300" b="0" i="0">
                <a:solidFill>
                  <a:srgbClr val="1C252B"/>
                </a:solidFill>
                <a:latin typeface="Segoe UI"/>
              </a:rPr>
              <a:t>: date, model, settings, CV mean and standard deviation, and one line on why it was run. The log, not memory, is the record.</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Fix the random seeds</a:t>
            </a:r>
            <a:r>
              <a:rPr sz="2300" b="0" i="0">
                <a:solidFill>
                  <a:srgbClr val="1C252B"/>
                </a:solidFill>
                <a:latin typeface="Segoe UI"/>
              </a:rPr>
              <a:t> and record the library versions.</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8A4500"/>
                </a:solidFill>
                <a:latin typeface="Segoe UI"/>
              </a:rPr>
              <a:t>Use version control</a:t>
            </a:r>
            <a:r>
              <a:rPr sz="2300" b="0" i="0">
                <a:solidFill>
                  <a:srgbClr val="1C252B"/>
                </a:solidFill>
                <a:latin typeface="Segoe UI"/>
              </a:rPr>
              <a:t> (Git): commit the code with each logged run, so any number in the report can be regenerated.</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an Experiment Log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164     </a:t>
            </a:r>
            <a:fld id="{F758000B-8ECB-4810-B1AF-E6C440463D3E}"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78604"/>
          </a:xfrm>
          <a:prstGeom prst="roundRect">
            <a:avLst>
              <a:gd name="adj" fmla="val 218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786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lab’s template writes this log for the projects-at-risk example, whose metric is recall on the overrun class:</a:t>
            </a:r>
          </a:p>
        </p:txBody>
      </p:sp>
      <p:graphicFrame>
        <p:nvGraphicFramePr>
          <p:cNvPr id="10" name="body-1"/>
          <p:cNvGraphicFramePr>
            <a:graphicFrameLocks noGrp="1"/>
          </p:cNvGraphicFramePr>
          <p:nvPr/>
        </p:nvGraphicFramePr>
        <p:xfrm>
          <a:off x="1042416" y="2377033"/>
          <a:ext cx="4223659" cy="1377696"/>
        </p:xfrm>
        <a:graphic>
          <a:graphicData uri="http://schemas.openxmlformats.org/drawingml/2006/table">
            <a:tbl>
              <a:tblPr firstRow="0" bandRow="0" firstCol="0" lastRow="0" lastCol="0" bandCol="0">
                <a:tableStyleId>{2D5ABB26-0587-4C30-8999-92F81FD0307C}</a:tableStyleId>
              </a:tblPr>
              <a:tblGrid>
                <a:gridCol w="2014283"/>
                <a:gridCol w="1553727"/>
                <a:gridCol w="655649"/>
              </a:tblGrid>
              <a:tr h="344424">
                <a:tc>
                  <a:txBody>
                    <a:bodyPr wrap="square"/>
                    <a:lstStyle/>
                    <a:p>
                      <a:pPr algn="l"/>
                      <a:r>
                        <a:rPr sz="1300" b="1" i="0">
                          <a:solidFill>
                            <a:srgbClr val="1A5276"/>
                          </a:solidFill>
                          <a:latin typeface="Segoe UI"/>
                        </a:rPr>
                        <a:t>Model</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CV recall (mean)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(sd)</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baseline (majority class)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0.000</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logistic regression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0.799</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0.047</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random forest</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0.804</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0.061</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3866489"/>
            <a:ext cx="10234879" cy="1820875"/>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baseline scores zero</a:t>
            </a:r>
            <a:r>
              <a:rPr sz="1600" b="0" i="0">
                <a:solidFill>
                  <a:srgbClr val="1C252B"/>
                </a:solidFill>
                <a:latin typeface="Segoe UI"/>
              </a:rPr>
              <a:t>: it predicts “on time” for every project, so it never catches an overrun — the accuracy paradox of Chapter 8 expressed in the metric that matters. </a:t>
            </a:r>
            <a:r>
              <a:rPr sz="1600" b="1" i="0">
                <a:solidFill>
                  <a:srgbClr val="1C252B"/>
                </a:solidFill>
                <a:latin typeface="Segoe UI"/>
              </a:rPr>
              <a:t>The two models</a:t>
            </a:r>
            <a:r>
              <a:rPr sz="1600" b="0" i="0">
                <a:solidFill>
                  <a:srgbClr val="1C252B"/>
                </a:solidFill>
                <a:latin typeface="Segoe UI"/>
              </a:rPr>
              <a:t> — logistic regression (Chapter 6) and a random forest (Chapter 14) — </a:t>
            </a:r>
            <a:r>
              <a:rPr sz="1600" b="1" i="0">
                <a:solidFill>
                  <a:srgbClr val="1C252B"/>
                </a:solidFill>
                <a:latin typeface="Segoe UI"/>
              </a:rPr>
              <a:t>are indistinguishable</a:t>
            </a:r>
            <a:r>
              <a:rPr sz="1600" b="0" i="0">
                <a:solidFill>
                  <a:srgbClr val="1C252B"/>
                </a:solidFill>
                <a:latin typeface="Segoe UI"/>
              </a:rPr>
              <a:t>: 0.799 and 0.804 differ by far less than one fold-to-fold standard deviation. Choose the simpler, more explainable one — logistic regression, whose odds ratios the project office can read — tune it (the template finds </a:t>
            </a:r>
            <a:r>
              <a:rPr sz="1600" b="0" i="1">
                <a:solidFill>
                  <a:srgbClr val="1C252B"/>
                </a:solidFill>
                <a:latin typeface="Cambria"/>
              </a:rPr>
              <a:t>C</a:t>
            </a:r>
            <a:r>
              <a:rPr sz="1600" b="0" i="0">
                <a:solidFill>
                  <a:srgbClr val="1C252B"/>
                </a:solidFill>
                <a:latin typeface="Cambria"/>
              </a:rPr>
              <a:t> = 0.1</a:t>
            </a:r>
            <a:r>
              <a:rPr sz="1600" b="0" i="0">
                <a:solidFill>
                  <a:srgbClr val="1C252B"/>
                </a:solidFill>
                <a:latin typeface="Segoe UI"/>
              </a:rPr>
              <a:t> with balanced class weights, which lifts cross-validated recall to 0.881), and only then open the test set, once: recall 0.857, which is 48 of the 56 overruns caught.</a:t>
            </a:r>
          </a:p>
        </p:txBody>
      </p:sp>
      <p:sp>
        <p:nvSpPr>
          <p:cNvPr id="12" name="body-2bar">
            <a:extLst>
              <a:ext uri="{C183D7F6-B498-43B3-948B-1728B52AA6E4}">
                <adec:decorative xmlns:adec="http://schemas.microsoft.com/office/drawing/2017/decorative" val="1"/>
              </a:ext>
            </a:extLst>
          </p:cNvPr>
          <p:cNvSpPr/>
          <p:nvPr/>
        </p:nvSpPr>
        <p:spPr>
          <a:xfrm>
            <a:off x="841248" y="3884777"/>
            <a:ext cx="54864" cy="17568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Report and the Presentation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165     </a:t>
            </a:r>
            <a:fld id="{EE3DE05B-BE5C-4C79-B146-2FDF508D372F}"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3502152"/>
        </p:xfrm>
        <a:graphic>
          <a:graphicData uri="http://schemas.openxmlformats.org/drawingml/2006/table">
            <a:tbl>
              <a:tblPr firstRow="0" bandRow="0" firstCol="0" lastRow="0" lastCol="0" bandCol="0">
                <a:tableStyleId>{2D5ABB26-0587-4C30-8999-92F81FD0307C}</a:tableStyleId>
              </a:tblPr>
              <a:tblGrid>
                <a:gridCol w="2609990"/>
                <a:gridCol w="8264968"/>
              </a:tblGrid>
              <a:tr h="405384">
                <a:tc>
                  <a:txBody>
                    <a:bodyPr wrap="square"/>
                    <a:lstStyle/>
                    <a:p>
                      <a:pPr algn="l"/>
                      <a:r>
                        <a:rPr sz="1700" b="1" i="0">
                          <a:solidFill>
                            <a:srgbClr val="1A5276"/>
                          </a:solidFill>
                          <a:latin typeface="Segoe UI"/>
                        </a:rPr>
                        <a:t>Section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Contents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1. Problem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decision, </a:t>
                      </a:r>
                      <a:r>
                        <a:rPr sz="1700" b="0" i="1">
                          <a:solidFill>
                            <a:srgbClr val="1C252B"/>
                          </a:solidFill>
                          <a:latin typeface="Cambria"/>
                        </a:rPr>
                        <a:t>T</a:t>
                      </a:r>
                      <a:r>
                        <a:rPr sz="1700" b="0" i="0">
                          <a:solidFill>
                            <a:srgbClr val="1C252B"/>
                          </a:solidFill>
                          <a:latin typeface="Segoe UI"/>
                        </a:rPr>
                        <a:t>, </a:t>
                      </a:r>
                      <a:r>
                        <a:rPr sz="1700" b="0" i="1">
                          <a:solidFill>
                            <a:srgbClr val="1C252B"/>
                          </a:solidFill>
                          <a:latin typeface="Cambria"/>
                        </a:rPr>
                        <a:t>P</a:t>
                      </a:r>
                      <a:r>
                        <a:rPr sz="1700" b="0" i="0">
                          <a:solidFill>
                            <a:srgbClr val="1C252B"/>
                          </a:solidFill>
                          <a:latin typeface="Segoe UI"/>
                        </a:rPr>
                        <a:t>, </a:t>
                      </a:r>
                      <a:r>
                        <a:rPr sz="1700" b="0" i="1">
                          <a:solidFill>
                            <a:srgbClr val="1C252B"/>
                          </a:solidFill>
                          <a:latin typeface="Cambria"/>
                        </a:rPr>
                        <a:t>E</a:t>
                      </a:r>
                      <a:r>
                        <a:rPr sz="1700" b="0" i="0">
                          <a:solidFill>
                            <a:srgbClr val="1C252B"/>
                          </a:solidFill>
                          <a:latin typeface="Segoe UI"/>
                        </a:rPr>
                        <a:t>, success criterion (from the proposal, updated)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2. Data</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Source, permission, size, label, cleaning, the split; a table of features</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3. Method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Baseline; models compared; the pipeline; how hyperparameters were chosen</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4. Results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experiment log; the chosen model’s test performance </a:t>
                      </a:r>
                      <a:r>
                        <a:rPr sz="1700" b="0" i="1">
                          <a:solidFill>
                            <a:srgbClr val="1C252B"/>
                          </a:solidFill>
                          <a:latin typeface="Segoe UI"/>
                        </a:rPr>
                        <a:t>with a confidence interval</a:t>
                      </a:r>
                      <a:r>
                        <a:rPr sz="1700" b="0" i="0">
                          <a:solidFill>
                            <a:srgbClr val="1C252B"/>
                          </a:solidFill>
                          <a:latin typeface="Segoe UI"/>
                        </a:rPr>
                        <a:t> (Chapter 8); comparison with the baseline and success criterion</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5. Analysis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Error analysis; ablation; per-group performance and the fairness check</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6. Limitations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What the model must not be used for; what would change the conclusion</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Appendix</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model card (Chapter 21); how to rerun everything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Assessment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C92A08CC-B131-410B-AFEB-84F907B5533B}"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10874958" cy="4242816"/>
        </p:xfrm>
        <a:graphic>
          <a:graphicData uri="http://schemas.openxmlformats.org/drawingml/2006/table">
            <a:tbl>
              <a:tblPr firstRow="0" bandRow="0" firstCol="0" lastRow="0" lastCol="0" bandCol="0">
                <a:tableStyleId>{2D5ABB26-0587-4C30-8999-92F81FD0307C}</a:tableStyleId>
              </a:tblPr>
              <a:tblGrid>
                <a:gridCol w="3255089"/>
                <a:gridCol w="961731"/>
                <a:gridCol w="5474469"/>
                <a:gridCol w="1183669"/>
              </a:tblGrid>
              <a:tr h="390144">
                <a:tc>
                  <a:txBody>
                    <a:bodyPr wrap="square"/>
                    <a:lstStyle/>
                    <a:p>
                      <a:pPr algn="l"/>
                      <a:r>
                        <a:rPr sz="1600" b="1" i="0">
                          <a:solidFill>
                            <a:srgbClr val="1A5276"/>
                          </a:solidFill>
                          <a:latin typeface="Segoe UI"/>
                        </a:rPr>
                        <a:t>Criterion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Marks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Full marks require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CLO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Framing and proposal</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 decision, </a:t>
                      </a:r>
                      <a:r>
                        <a:rPr sz="1600" b="0" i="1">
                          <a:solidFill>
                            <a:srgbClr val="1C252B"/>
                          </a:solidFill>
                          <a:latin typeface="Cambria"/>
                        </a:rPr>
                        <a:t>T</a:t>
                      </a:r>
                      <a:r>
                        <a:rPr sz="1600" b="0" i="0">
                          <a:solidFill>
                            <a:srgbClr val="1C252B"/>
                          </a:solidFill>
                          <a:latin typeface="Segoe UI"/>
                        </a:rPr>
                        <a:t>/</a:t>
                      </a:r>
                      <a:r>
                        <a:rPr sz="1600" b="0" i="1">
                          <a:solidFill>
                            <a:srgbClr val="1C252B"/>
                          </a:solidFill>
                          <a:latin typeface="Cambria"/>
                        </a:rPr>
                        <a:t>P</a:t>
                      </a:r>
                      <a:r>
                        <a:rPr sz="1600" b="0" i="0">
                          <a:solidFill>
                            <a:srgbClr val="1C252B"/>
                          </a:solidFill>
                          <a:latin typeface="Segoe UI"/>
                        </a:rPr>
                        <a:t>/</a:t>
                      </a:r>
                      <a:r>
                        <a:rPr sz="1600" b="0" i="1">
                          <a:solidFill>
                            <a:srgbClr val="1C252B"/>
                          </a:solidFill>
                          <a:latin typeface="Cambria"/>
                        </a:rPr>
                        <a:t>E</a:t>
                      </a:r>
                      <a:r>
                        <a:rPr sz="1600" b="0" i="0">
                          <a:solidFill>
                            <a:srgbClr val="1C252B"/>
                          </a:solidFill>
                          <a:latin typeface="Segoe UI"/>
                        </a:rPr>
                        <a:t>, baseline and success criterion stated before any modelling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1, 6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Data and pipeline</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15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Legal data; leak-free pipeline; one fixed split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6</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Experiments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At least two model families; CV comparison; logged; reproducible from the repository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2–4, 6</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Evaluation</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Right metric; baseline; confidence interval; test set used once</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Analysis and ethics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Error analysis; per-group results; model card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5, 7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Report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10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Clear, complete, honest about limitations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Presentation and defence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Both members answer confidently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1" i="0">
                          <a:solidFill>
                            <a:srgbClr val="1C252B"/>
                          </a:solidFill>
                          <a:latin typeface="Segoe UI"/>
                        </a:rPr>
                        <a:t>Total</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1" i="0">
                          <a:solidFill>
                            <a:srgbClr val="1C252B"/>
                          </a:solidFill>
                          <a:latin typeface="Segoe UI"/>
                        </a:rPr>
                        <a:t>100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Weighted to 15% of the course</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CED674F3-8EBE-42C3-BAF9-A90DE778F91B}"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Choosing the dataset before the question.</a:t>
            </a:r>
            <a:r>
              <a:rPr sz="2100" b="0" i="0">
                <a:solidFill>
                  <a:srgbClr val="1C252B"/>
                </a:solidFill>
                <a:latin typeface="Segoe UI"/>
              </a:rPr>
              <a:t> Start from a decision; find data for it.</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Opening the test set to “check progress”.</a:t>
            </a:r>
            <a:r>
              <a:rPr sz="2100" b="0" i="0">
                <a:solidFill>
                  <a:srgbClr val="1C252B"/>
                </a:solidFill>
                <a:latin typeface="Segoe UI"/>
              </a:rPr>
              <a:t> It is then a validation set, and the final number is optimistic.</a:t>
            </a:r>
          </a:p>
        </p:txBody>
      </p:sp>
      <p:sp>
        <p:nvSpPr>
          <p:cNvPr id="13" name="!!pb2">
            <a:extLst>
              <a:ext uri="{C183D7F6-B498-43B3-948B-1728B52AA6E4}">
                <adec:decorative xmlns:adec="http://schemas.microsoft.com/office/drawing/2017/decorative" val="1"/>
              </a:ext>
            </a:extLst>
          </p:cNvPr>
          <p:cNvSpPr/>
          <p:nvPr/>
        </p:nvSpPr>
        <p:spPr>
          <a:xfrm>
            <a:off x="658368" y="318942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1228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17113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 baseline.</a:t>
            </a:r>
            <a:r>
              <a:rPr sz="2100" b="0" i="0">
                <a:solidFill>
                  <a:srgbClr val="1C252B"/>
                </a:solidFill>
                <a:latin typeface="Segoe UI"/>
              </a:rPr>
              <a:t> A 92% model means nothing until the baseline is known.</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only the best run.</a:t>
            </a:r>
            <a:r>
              <a:rPr sz="2100" b="0" i="0">
                <a:solidFill>
                  <a:srgbClr val="1C252B"/>
                </a:solidFill>
                <a:latin typeface="Segoe UI"/>
              </a:rPr>
              <a:t> Report the log, including what did not work.</a:t>
            </a:r>
          </a:p>
        </p:txBody>
      </p:sp>
      <p:sp>
        <p:nvSpPr>
          <p:cNvPr id="19" name="!!pb4">
            <a:extLst>
              <a:ext uri="{C183D7F6-B498-43B3-948B-1728B52AA6E4}">
                <adec:decorative xmlns:adec="http://schemas.microsoft.com/office/drawing/2017/decorative" val="1"/>
              </a:ext>
            </a:extLst>
          </p:cNvPr>
          <p:cNvSpPr/>
          <p:nvPr/>
        </p:nvSpPr>
        <p:spPr>
          <a:xfrm>
            <a:off x="658368" y="43232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4614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04995"/>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notebook that runs only in the order it was written.</a:t>
            </a:r>
            <a:r>
              <a:rPr sz="2100" b="0" i="0">
                <a:solidFill>
                  <a:srgbClr val="1C252B"/>
                </a:solidFill>
                <a:latin typeface="Segoe UI"/>
              </a:rPr>
              <a:t> Restart and run everything before submitting; better, turn it into a script.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CAA51B15-D794-4889-B3A8-18F7E2B33733}" type="slidenum">
              <a:rPr lang="en-GB" sz="1000">
                <a:solidFill>
                  <a:srgbClr val="8795A1"/>
                </a:solidFill>
                <a:latin typeface="Segoe UI"/>
              </a:rPr>
              <a:t>21</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Copy this script as the skeleton of your project and replace the data and the candidate models. It writes an experiment log, the saved model and a model card into a folder called </a:t>
            </a:r>
            <a:r>
              <a:rPr sz="1900" b="0" i="0">
                <a:solidFill>
                  <a:srgbClr val="1F4E79"/>
                </a:solidFill>
                <a:latin typeface="Consolas"/>
              </a:rPr>
              <a:t>project_output</a:t>
            </a:r>
            <a:r>
              <a:rPr sz="2000" b="0" i="0">
                <a:solidFill>
                  <a:srgbClr val="1C252B"/>
                </a:solidFill>
                <a:latin typeface="Segoe UI"/>
              </a:rPr>
              <a:t>.</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645919"/>
          </a:xfrm>
          <a:prstGeom prst="rect">
            <a:avLst/>
          </a:prstGeom>
          <a:noFill/>
        </p:spPr>
        <p:txBody>
          <a:bodyPr wrap="square" anchor="t" lIns="0" rIns="0" tIns="0" bIns="0">
            <a:noAutofit/>
          </a:bodyPr>
          <a:lstStyle/>
          <a:p>
            <a:pPr algn="l" marL="422657" indent="-422657">
              <a:lnSpc>
                <a:spcPct val="100000"/>
              </a:lnSpc>
              <a:spcBef>
                <a:spcPts val="0"/>
              </a:spcBef>
              <a:spcAft>
                <a:spcPts val="509"/>
              </a:spcAft>
            </a:pPr>
            <a:r>
              <a:rPr sz="1700" b="1">
                <a:solidFill>
                  <a:srgbClr val="117A65"/>
                </a:solidFill>
                <a:latin typeface="Segoe UI"/>
              </a:rPr>
              <a:t>1.	</a:t>
            </a:r>
            <a:r>
              <a:rPr sz="1700" b="0" i="0">
                <a:solidFill>
                  <a:srgbClr val="1C252B"/>
                </a:solidFill>
                <a:latin typeface="Segoe UI"/>
              </a:rPr>
              <a:t>Data, and a split made once and never changed</a:t>
            </a:r>
          </a:p>
          <a:p>
            <a:pPr algn="l" marL="422657" indent="-422657">
              <a:lnSpc>
                <a:spcPct val="100000"/>
              </a:lnSpc>
              <a:spcBef>
                <a:spcPts val="0"/>
              </a:spcBef>
              <a:spcAft>
                <a:spcPts val="509"/>
              </a:spcAft>
            </a:pPr>
            <a:r>
              <a:rPr sz="1700" b="1">
                <a:solidFill>
                  <a:srgbClr val="117A65"/>
                </a:solidFill>
                <a:latin typeface="Segoe UI"/>
              </a:rPr>
              <a:t>2.	</a:t>
            </a:r>
            <a:r>
              <a:rPr sz="1700" b="0" i="0">
                <a:solidFill>
                  <a:srgbClr val="1C252B"/>
                </a:solidFill>
                <a:latin typeface="Segoe UI"/>
              </a:rPr>
              <a:t>Baseline, then candidates, all by cross-validation</a:t>
            </a:r>
          </a:p>
          <a:p>
            <a:pPr algn="l" marL="422657" indent="-422657">
              <a:lnSpc>
                <a:spcPct val="100000"/>
              </a:lnSpc>
              <a:spcBef>
                <a:spcPts val="0"/>
              </a:spcBef>
              <a:spcAft>
                <a:spcPts val="509"/>
              </a:spcAft>
            </a:pPr>
            <a:r>
              <a:rPr sz="1700" b="1">
                <a:solidFill>
                  <a:srgbClr val="117A65"/>
                </a:solidFill>
                <a:latin typeface="Segoe UI"/>
              </a:rPr>
              <a:t>3.	</a:t>
            </a:r>
            <a:r>
              <a:rPr sz="1700" b="0" i="0">
                <a:solidFill>
                  <a:srgbClr val="1C252B"/>
                </a:solidFill>
                <a:latin typeface="Segoe UI"/>
              </a:rPr>
              <a:t>Tune the chosen family</a:t>
            </a:r>
          </a:p>
          <a:p>
            <a:pPr algn="l" marL="422657" indent="-422657">
              <a:lnSpc>
                <a:spcPct val="100000"/>
              </a:lnSpc>
              <a:spcBef>
                <a:spcPts val="0"/>
              </a:spcBef>
              <a:spcAft>
                <a:spcPts val="509"/>
              </a:spcAft>
            </a:pPr>
            <a:r>
              <a:rPr sz="1700" b="1">
                <a:solidFill>
                  <a:srgbClr val="117A65"/>
                </a:solidFill>
                <a:latin typeface="Segoe UI"/>
              </a:rPr>
              <a:t>4.	</a:t>
            </a:r>
            <a:r>
              <a:rPr sz="1700" b="0" i="0">
                <a:solidFill>
                  <a:srgbClr val="1C252B"/>
                </a:solidFill>
                <a:latin typeface="Segoe UI"/>
              </a:rPr>
              <a:t>The test set, once</a:t>
            </a:r>
          </a:p>
          <a:p>
            <a:pPr algn="l" marL="422657" indent="-422657">
              <a:lnSpc>
                <a:spcPct val="100000"/>
              </a:lnSpc>
              <a:spcBef>
                <a:spcPts val="0"/>
              </a:spcBef>
              <a:spcAft>
                <a:spcPts val="0"/>
              </a:spcAft>
            </a:pPr>
            <a:r>
              <a:rPr sz="1700" b="1">
                <a:solidFill>
                  <a:srgbClr val="117A65"/>
                </a:solidFill>
                <a:latin typeface="Segoe UI"/>
              </a:rPr>
              <a:t>5.	</a:t>
            </a:r>
            <a:r>
              <a:rPr sz="1700" b="0" i="0">
                <a:solidFill>
                  <a:srgbClr val="1C252B"/>
                </a:solidFill>
                <a:latin typeface="Segoe UI"/>
              </a:rPr>
              <a:t>Save the model and write its model card</a:t>
            </a:r>
          </a:p>
        </p:txBody>
      </p:sp>
      <p:sp>
        <p:nvSpPr>
          <p:cNvPr id="29" name="!!lfTHIS">
            <a:extLst>
              <a:ext uri="{C183D7F6-B498-43B3-948B-1728B52AA6E4}">
                <adec:decorative xmlns:adec="http://schemas.microsoft.com/office/drawing/2017/decorative" val="1"/>
              </a:ext>
            </a:extLst>
          </p:cNvPr>
          <p:cNvSpPr/>
          <p:nvPr/>
        </p:nvSpPr>
        <p:spPr>
          <a:xfrm>
            <a:off x="658368" y="5248656"/>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48656"/>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413248"/>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705856"/>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Backpropagation from scratch</a:t>
            </a:r>
          </a:p>
        </p:txBody>
      </p:sp>
      <p:sp>
        <p:nvSpPr>
          <p:cNvPr id="33" name="!!lfWHAT">
            <a:extLst>
              <a:ext uri="{C183D7F6-B498-43B3-948B-1728B52AA6E4}">
                <adec:decorative xmlns:adec="http://schemas.microsoft.com/office/drawing/2017/decorative" val="1"/>
              </a:ext>
            </a:extLst>
          </p:cNvPr>
          <p:cNvSpPr/>
          <p:nvPr/>
        </p:nvSpPr>
        <p:spPr>
          <a:xfrm>
            <a:off x="4374794" y="5248656"/>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4374794" y="5248656"/>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4649114" y="5413248"/>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4649114" y="5705856"/>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77 lines of Python</a:t>
            </a:r>
          </a:p>
        </p:txBody>
      </p:sp>
      <p:sp>
        <p:nvSpPr>
          <p:cNvPr id="37" name="!!lfRUNN">
            <a:extLst>
              <a:ext uri="{C183D7F6-B498-43B3-948B-1728B52AA6E4}">
                <adec:decorative xmlns:adec="http://schemas.microsoft.com/office/drawing/2017/decorative" val="1"/>
              </a:ext>
            </a:extLst>
          </p:cNvPr>
          <p:cNvSpPr/>
          <p:nvPr/>
        </p:nvSpPr>
        <p:spPr>
          <a:xfrm>
            <a:off x="8091220" y="5248656"/>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lfbRUNN">
            <a:extLst>
              <a:ext uri="{C183D7F6-B498-43B3-948B-1728B52AA6E4}">
                <adec:decorative xmlns:adec="http://schemas.microsoft.com/office/drawing/2017/decorative" val="1"/>
              </a:ext>
            </a:extLst>
          </p:cNvPr>
          <p:cNvSpPr/>
          <p:nvPr/>
        </p:nvSpPr>
        <p:spPr>
          <a:xfrm>
            <a:off x="8091220" y="5248656"/>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lRUNN"/>
          <p:cNvSpPr txBox="1"/>
          <p:nvPr/>
        </p:nvSpPr>
        <p:spPr>
          <a:xfrm>
            <a:off x="8365540" y="5413248"/>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0" name="!!lfvRUNN"/>
          <p:cNvSpPr txBox="1"/>
          <p:nvPr/>
        </p:nvSpPr>
        <p:spPr>
          <a:xfrm>
            <a:off x="8365540" y="5705856"/>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code/ch22_project_template_end.py</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28796A50-6D55-4EDE-96E8-462AC1DCB936}"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27504"/>
          </a:xfrm>
          <a:prstGeom prst="roundRect">
            <a:avLst>
              <a:gd name="adj" fmla="val 429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quot;&quot;&quot;Project skeleton: from raw data to a saved, documented model.&quot;&quot;&quot; import csv import datetime import json import os"/>
          <p:cNvSpPr txBox="1"/>
          <p:nvPr/>
        </p:nvSpPr>
        <p:spPr>
          <a:xfrm>
            <a:off x="1362456" y="2523744"/>
            <a:ext cx="9987991" cy="1633728"/>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"""Project skeleton: from raw data to a saved, documented model."""</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csv</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datetime</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json</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os</a:t>
            </a:r>
          </a:p>
        </p:txBody>
      </p:sp>
      <p:sp>
        <p:nvSpPr>
          <p:cNvPr id="15" name="!!code-num"/>
          <p:cNvSpPr txBox="1"/>
          <p:nvPr/>
        </p:nvSpPr>
        <p:spPr>
          <a:xfrm>
            <a:off x="768096" y="2523744"/>
            <a:ext cx="393192" cy="1633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6B1B78C4-7E0E-45B8-928C-55F736415BC1}"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import joblib import sklearn from sklearn.datasets import make_classification from sklearn.dummy import DummyClassifier from sklearn.ensemble import RandomForestClassifier from sklearn.linear_model import LogisticRegression from sklearn.metrics import classification_report, recall_score from sklearn.model_selection import (GridSearchCV, StratifiedKFold, cross_val_score, train_test_split) from sklearn.pipeline import make_pipeline from sklearn.preprocessing import StandardScaler SEED = 42 # one seed, used everywhere OUT = &quot;project_output&quot; os.makedirs(OUT, exist_ok=True)"/>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import</a:t>
            </a:r>
            <a:r>
              <a:rPr sz="1500" i="0">
                <a:solidFill>
                  <a:srgbClr val="E8EDF2"/>
                </a:solidFill>
                <a:latin typeface="Consolas"/>
              </a:rPr>
              <a:t> </a:t>
            </a:r>
            <a:r>
              <a:rPr sz="1500" i="0">
                <a:solidFill>
                  <a:srgbClr val="76D7C4"/>
                </a:solidFill>
                <a:latin typeface="Consolas"/>
              </a:rPr>
              <a:t>joblib</a:t>
            </a:r>
          </a:p>
          <a:p>
            <a:pPr>
              <a:lnSpc>
                <a:spcPct val="100000"/>
              </a:lnSpc>
              <a:spcAft>
                <a:spcPts val="0"/>
              </a:spcAft>
            </a:pPr>
            <a:r>
              <a:rPr sz="1500" i="0">
                <a:solidFill>
                  <a:srgbClr val="5DADE2"/>
                </a:solidFill>
                <a:latin typeface="Consolas"/>
              </a:rPr>
              <a:t>import</a:t>
            </a:r>
            <a:r>
              <a:rPr sz="1500" i="0">
                <a:solidFill>
                  <a:srgbClr val="E8EDF2"/>
                </a:solidFill>
                <a:latin typeface="Consolas"/>
              </a:rPr>
              <a:t> </a:t>
            </a:r>
            <a:r>
              <a:rPr sz="1500" i="0">
                <a:solidFill>
                  <a:srgbClr val="76D7C4"/>
                </a:solidFill>
                <a:latin typeface="Consolas"/>
              </a:rPr>
              <a:t>sklearn</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datasets</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make_classification</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dummy</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DummyClassifier</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ensemble</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RandomForestClassifier</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linear_model</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LogisticRegression</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metrics</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classification_report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recall_score</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model_selection</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GridSearchCV</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StratifiedKFold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cross_val_score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train_test_split</a:t>
            </a:r>
            <a:r>
              <a:rPr sz="1500" i="0">
                <a:solidFill>
                  <a:srgbClr val="AEB6BF"/>
                </a:solidFill>
                <a:latin typeface="Consolas"/>
              </a:rPr>
              <a:t>)</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pipeline</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make_pipeline</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preprocessing</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StandardScaler</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SEED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42</a:t>
            </a:r>
            <a:r>
              <a:rPr sz="1500" i="0">
                <a:solidFill>
                  <a:srgbClr val="E8EDF2"/>
                </a:solidFill>
                <a:latin typeface="Consolas"/>
              </a:rPr>
              <a:t>                                   </a:t>
            </a:r>
            <a:r>
              <a:rPr sz="1500" i="1">
                <a:solidFill>
                  <a:srgbClr val="8795A1"/>
                </a:solidFill>
                <a:latin typeface="Consolas"/>
              </a:rPr>
              <a:t># one seed, used everywhere</a:t>
            </a:r>
          </a:p>
          <a:p>
            <a:pPr>
              <a:lnSpc>
                <a:spcPct val="100000"/>
              </a:lnSpc>
              <a:spcAft>
                <a:spcPts val="0"/>
              </a:spcAft>
            </a:pPr>
            <a:r>
              <a:rPr sz="1500" i="0">
                <a:solidFill>
                  <a:srgbClr val="E8EDF2"/>
                </a:solidFill>
                <a:latin typeface="Consolas"/>
              </a:rPr>
              <a:t>OUT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project_output</a:t>
            </a:r>
            <a:r>
              <a:rPr sz="1500" i="0">
                <a:solidFill>
                  <a:srgbClr val="7DCEA0"/>
                </a:solidFill>
                <a:latin typeface="Consolas"/>
              </a:rPr>
              <a:t>"</a:t>
            </a:r>
          </a:p>
          <a:p>
            <a:pPr>
              <a:lnSpc>
                <a:spcPct val="100000"/>
              </a:lnSpc>
              <a:spcAft>
                <a:spcPts val="0"/>
              </a:spcAft>
            </a:pPr>
            <a:r>
              <a:rPr sz="1500" i="0">
                <a:solidFill>
                  <a:srgbClr val="E8EDF2"/>
                </a:solidFill>
                <a:latin typeface="Consolas"/>
              </a:rPr>
              <a:t>os</a:t>
            </a:r>
            <a:r>
              <a:rPr sz="1500" i="0">
                <a:solidFill>
                  <a:srgbClr val="AEB6BF"/>
                </a:solidFill>
                <a:latin typeface="Consolas"/>
              </a:rPr>
              <a:t>.</a:t>
            </a:r>
            <a:r>
              <a:rPr sz="1500" i="0">
                <a:solidFill>
                  <a:srgbClr val="E8EDF2"/>
                </a:solidFill>
                <a:latin typeface="Consolas"/>
              </a:rPr>
              <a:t>makedirs</a:t>
            </a:r>
            <a:r>
              <a:rPr sz="1500" i="0">
                <a:solidFill>
                  <a:srgbClr val="AEB6BF"/>
                </a:solidFill>
                <a:latin typeface="Consolas"/>
              </a:rPr>
              <a:t>(</a:t>
            </a:r>
            <a:r>
              <a:rPr sz="1500" i="0">
                <a:solidFill>
                  <a:srgbClr val="E8EDF2"/>
                </a:solidFill>
                <a:latin typeface="Consolas"/>
              </a:rPr>
              <a:t>OUT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exist_ok</a:t>
            </a:r>
            <a:r>
              <a:rPr sz="1500" i="0">
                <a:solidFill>
                  <a:srgbClr val="AEB6BF"/>
                </a:solidFill>
                <a:latin typeface="Consolas"/>
              </a:rPr>
              <a:t>=</a:t>
            </a:r>
            <a:r>
              <a:rPr sz="1500" i="0">
                <a:solidFill>
                  <a:srgbClr val="5DADE2"/>
                </a:solidFill>
                <a:latin typeface="Consolas"/>
              </a:rPr>
              <a:t>True</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7F07B717-495E-4543-B3E1-7656862B5756}"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Data, and a split made once and never changed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 --- 1. data, and a split made once and never changed -------------------- # a stand-in for your tracker export: 900 projects, 8 month-one metrics X, y = make_classification(n_samples=900, n_features=8, n_informative=5, n_redundant=1, weights=[0.75], flip_y=0.02, random_state=5) # y: 1 = overran, must not miss X_tr, X_te, y_tr, y_te = train_test_split( X, y, test_size=0.25, stratify=y, random_state=SEED) cv = StratifiedKFold(5, shuffle=True, random_state=SEED) metric = &quot;recall&quot; # chosen in the proposal"/>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data, and a split made once and never changed --------------------</a:t>
            </a:r>
          </a:p>
          <a:p>
            <a:pPr>
              <a:lnSpc>
                <a:spcPct val="100000"/>
              </a:lnSpc>
              <a:spcAft>
                <a:spcPts val="0"/>
              </a:spcAft>
            </a:pPr>
            <a:r>
              <a:rPr sz="1800" i="1">
                <a:solidFill>
                  <a:srgbClr val="8795A1"/>
                </a:solidFill>
                <a:latin typeface="Consolas"/>
              </a:rPr>
              <a:t># a stand-in for your tracker export: 900 projects, 8 month-one metrics</a:t>
            </a:r>
          </a:p>
          <a:p>
            <a:pPr>
              <a:lnSpc>
                <a:spcPct val="100000"/>
              </a:lnSpc>
              <a:spcAft>
                <a:spcPts val="0"/>
              </a:spcAft>
            </a:pP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make_classification</a:t>
            </a:r>
            <a:r>
              <a:rPr sz="1800" i="0">
                <a:solidFill>
                  <a:srgbClr val="AEB6BF"/>
                </a:solidFill>
                <a:latin typeface="Consolas"/>
              </a:rPr>
              <a:t>(</a:t>
            </a:r>
            <a:r>
              <a:rPr sz="1800" i="0">
                <a:solidFill>
                  <a:srgbClr val="E8EDF2"/>
                </a:solidFill>
                <a:latin typeface="Consolas"/>
              </a:rPr>
              <a:t>n_samples</a:t>
            </a:r>
            <a:r>
              <a:rPr sz="1800" i="0">
                <a:solidFill>
                  <a:srgbClr val="AEB6BF"/>
                </a:solidFill>
                <a:latin typeface="Consolas"/>
              </a:rPr>
              <a:t>=</a:t>
            </a:r>
            <a:r>
              <a:rPr sz="1800" i="0">
                <a:solidFill>
                  <a:srgbClr val="F7DC6F"/>
                </a:solidFill>
                <a:latin typeface="Consolas"/>
              </a:rPr>
              <a:t>900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n_features</a:t>
            </a:r>
            <a:r>
              <a:rPr sz="1800" i="0">
                <a:solidFill>
                  <a:srgbClr val="AEB6BF"/>
                </a:solidFill>
                <a:latin typeface="Consolas"/>
              </a:rPr>
              <a:t>=</a:t>
            </a:r>
            <a:r>
              <a:rPr sz="1800" i="0">
                <a:solidFill>
                  <a:srgbClr val="F7DC6F"/>
                </a:solidFill>
                <a:latin typeface="Consolas"/>
              </a:rPr>
              <a:t>8</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n_informative</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n_redundant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weights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0.75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flip_y</a:t>
            </a:r>
            <a:r>
              <a:rPr sz="1800" i="0">
                <a:solidFill>
                  <a:srgbClr val="AEB6BF"/>
                </a:solidFill>
                <a:latin typeface="Consolas"/>
              </a:rPr>
              <a:t>=</a:t>
            </a:r>
            <a:r>
              <a:rPr sz="1800" i="0">
                <a:solidFill>
                  <a:srgbClr val="F7DC6F"/>
                </a:solidFill>
                <a:latin typeface="Consolas"/>
              </a:rPr>
              <a:t>0.02</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y: 1 = overran, must not miss</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train_test_split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test_size</a:t>
            </a:r>
            <a:r>
              <a:rPr sz="1800" i="0">
                <a:solidFill>
                  <a:srgbClr val="AEB6BF"/>
                </a:solidFill>
                <a:latin typeface="Consolas"/>
              </a:rPr>
              <a:t>=</a:t>
            </a:r>
            <a:r>
              <a:rPr sz="1800" i="0">
                <a:solidFill>
                  <a:srgbClr val="F7DC6F"/>
                </a:solidFill>
                <a:latin typeface="Consolas"/>
              </a:rPr>
              <a:t>0.25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stratify</a:t>
            </a:r>
            <a:r>
              <a:rPr sz="1800" i="0">
                <a:solidFill>
                  <a:srgbClr val="AEB6BF"/>
                </a:solidFill>
                <a:latin typeface="Consolas"/>
              </a:rPr>
              <a:t>=</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p>
          <a:p>
            <a:pPr>
              <a:lnSpc>
                <a:spcPct val="100000"/>
              </a:lnSpc>
              <a:spcAft>
                <a:spcPts val="0"/>
              </a:spcAft>
            </a:pPr>
            <a:r>
              <a:rPr sz="1800" i="0">
                <a:solidFill>
                  <a:srgbClr val="E8EDF2"/>
                </a:solidFill>
                <a:latin typeface="Consolas"/>
              </a:rPr>
              <a:t>cv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StratifiedKFold</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shuffle</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p>
          <a:p>
            <a:pPr>
              <a:lnSpc>
                <a:spcPct val="100000"/>
              </a:lnSpc>
              <a:spcAft>
                <a:spcPts val="0"/>
              </a:spcAft>
            </a:pPr>
            <a:r>
              <a:rPr sz="1800" i="0">
                <a:solidFill>
                  <a:srgbClr val="E8EDF2"/>
                </a:solidFill>
                <a:latin typeface="Consolas"/>
              </a:rPr>
              <a:t>metric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recall</a:t>
            </a:r>
            <a:r>
              <a:rPr sz="1800" i="0">
                <a:solidFill>
                  <a:srgbClr val="7DCEA0"/>
                </a:solidFill>
                <a:latin typeface="Consolas"/>
              </a:rPr>
              <a:t>"</a:t>
            </a:r>
            <a:r>
              <a:rPr sz="1800" i="0">
                <a:solidFill>
                  <a:srgbClr val="E8EDF2"/>
                </a:solidFill>
                <a:latin typeface="Consolas"/>
              </a:rPr>
              <a:t>                           </a:t>
            </a:r>
            <a:r>
              <a:rPr sz="1800" i="1">
                <a:solidFill>
                  <a:srgbClr val="8795A1"/>
                </a:solidFill>
                <a:latin typeface="Consolas"/>
              </a:rPr>
              <a:t># chosen in the proposal</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6D058F0F-1F4C-4CAC-8184-F43F05B63717}"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Baseline, then candidates, all by cross-validation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 --- 2. baseline, then candidates, all by cross-validation --------------- candidates = { &quot;baseline&quot;: DummyClassifier(strategy=&quot;most_frequent&quot;), &quot;logistic&quot;: make_pipeline(StandardScaler(), LogisticRegression()), &quot;forest&quot;: RandomForestClassifier(n_estimators=300, random_state=SEED), } with open(os.path.join(OUT, &quot;experiments.csv&quot;), &quot;w&quot;, newline=&quot;&quot;) as fh: log = csv.writer(fh) log.writerow([&quot;model&quot;, f&quot;cv_{metric}_mean&quot;, f&quot;cv_{metric}_std&quot;]) for name, model in candidates.items(): s = cross_val_score(model, X_tr, y_tr, cv=cv, scoring=metric) log.writerow([name, round(s.mean(), 4), round(s.std(), 4)]) print(f&quot;{name:9s} CV {metric} {s.mean():.3f} +/- {s.std():.3f}&quot;)"/>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baseline, then candidates, all by cross-validation ---------------</a:t>
            </a:r>
          </a:p>
          <a:p>
            <a:pPr>
              <a:lnSpc>
                <a:spcPct val="100000"/>
              </a:lnSpc>
              <a:spcAft>
                <a:spcPts val="0"/>
              </a:spcAft>
            </a:pPr>
            <a:r>
              <a:rPr sz="1800" i="0">
                <a:solidFill>
                  <a:srgbClr val="E8EDF2"/>
                </a:solidFill>
                <a:latin typeface="Consolas"/>
              </a:rPr>
              <a:t>candidates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baseline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DummyClassifier</a:t>
            </a:r>
            <a:r>
              <a:rPr sz="1800" i="0">
                <a:solidFill>
                  <a:srgbClr val="AEB6BF"/>
                </a:solidFill>
                <a:latin typeface="Consolas"/>
              </a:rPr>
              <a:t>(</a:t>
            </a:r>
            <a:r>
              <a:rPr sz="1800" i="0">
                <a:solidFill>
                  <a:srgbClr val="E8EDF2"/>
                </a:solidFill>
                <a:latin typeface="Consolas"/>
              </a:rPr>
              <a:t>strategy</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most_frequent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logistic</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forest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RandomForestClassifier</a:t>
            </a:r>
            <a:r>
              <a:rPr sz="1800" i="0">
                <a:solidFill>
                  <a:srgbClr val="AEB6BF"/>
                </a:solidFill>
                <a:latin typeface="Consolas"/>
              </a:rPr>
              <a:t>(</a:t>
            </a:r>
            <a:r>
              <a:rPr sz="1800" i="0">
                <a:solidFill>
                  <a:srgbClr val="E8EDF2"/>
                </a:solidFill>
                <a:latin typeface="Consolas"/>
              </a:rPr>
              <a:t>n_estimators</a:t>
            </a:r>
            <a:r>
              <a:rPr sz="1800" i="0">
                <a:solidFill>
                  <a:srgbClr val="AEB6BF"/>
                </a:solidFill>
                <a:latin typeface="Consolas"/>
              </a:rPr>
              <a:t>=</a:t>
            </a:r>
            <a:r>
              <a:rPr sz="1800" i="0">
                <a:solidFill>
                  <a:srgbClr val="F7DC6F"/>
                </a:solidFill>
                <a:latin typeface="Consolas"/>
              </a:rPr>
              <a:t>300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E8EDF2"/>
                </a:solidFill>
                <a:latin typeface="Consolas"/>
              </a:rPr>
              <a:t>SEED</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5DADE2"/>
                </a:solidFill>
                <a:latin typeface="Consolas"/>
              </a:rPr>
              <a:t>with</a:t>
            </a:r>
            <a:r>
              <a:rPr sz="1800" i="0">
                <a:solidFill>
                  <a:srgbClr val="E8EDF2"/>
                </a:solidFill>
                <a:latin typeface="Consolas"/>
              </a:rPr>
              <a:t> </a:t>
            </a:r>
            <a:r>
              <a:rPr sz="1800" i="0">
                <a:solidFill>
                  <a:srgbClr val="C39BD3"/>
                </a:solidFill>
                <a:latin typeface="Consolas"/>
              </a:rPr>
              <a:t>open</a:t>
            </a:r>
            <a:r>
              <a:rPr sz="1800" i="0">
                <a:solidFill>
                  <a:srgbClr val="AEB6BF"/>
                </a:solidFill>
                <a:latin typeface="Consolas"/>
              </a:rPr>
              <a:t>(</a:t>
            </a:r>
            <a:r>
              <a:rPr sz="1800" i="0">
                <a:solidFill>
                  <a:srgbClr val="E8EDF2"/>
                </a:solidFill>
                <a:latin typeface="Consolas"/>
              </a:rPr>
              <a:t>os</a:t>
            </a:r>
            <a:r>
              <a:rPr sz="1800" i="0">
                <a:solidFill>
                  <a:srgbClr val="AEB6BF"/>
                </a:solidFill>
                <a:latin typeface="Consolas"/>
              </a:rPr>
              <a:t>.</a:t>
            </a:r>
            <a:r>
              <a:rPr sz="1800" i="0">
                <a:solidFill>
                  <a:srgbClr val="E8EDF2"/>
                </a:solidFill>
                <a:latin typeface="Consolas"/>
              </a:rPr>
              <a:t>path</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E8EDF2"/>
                </a:solidFill>
                <a:latin typeface="Consolas"/>
              </a:rPr>
              <a:t>OUT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experiments.csv</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w</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newline</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E8EDF2"/>
                </a:solidFill>
                <a:latin typeface="Consolas"/>
              </a:rPr>
              <a:t>fh</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log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csv</a:t>
            </a:r>
            <a:r>
              <a:rPr sz="1800" i="0">
                <a:solidFill>
                  <a:srgbClr val="AEB6BF"/>
                </a:solidFill>
                <a:latin typeface="Consolas"/>
              </a:rPr>
              <a:t>.</a:t>
            </a:r>
            <a:r>
              <a:rPr sz="1800" i="0">
                <a:solidFill>
                  <a:srgbClr val="E8EDF2"/>
                </a:solidFill>
                <a:latin typeface="Consolas"/>
              </a:rPr>
              <a:t>writer</a:t>
            </a:r>
            <a:r>
              <a:rPr sz="1800" i="0">
                <a:solidFill>
                  <a:srgbClr val="AEB6BF"/>
                </a:solidFill>
                <a:latin typeface="Consolas"/>
              </a:rPr>
              <a:t>(</a:t>
            </a:r>
            <a:r>
              <a:rPr sz="1800" i="0">
                <a:solidFill>
                  <a:srgbClr val="E8EDF2"/>
                </a:solidFill>
                <a:latin typeface="Consolas"/>
              </a:rPr>
              <a:t>fh</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log</a:t>
            </a:r>
            <a:r>
              <a:rPr sz="1800" i="0">
                <a:solidFill>
                  <a:srgbClr val="AEB6BF"/>
                </a:solidFill>
                <a:latin typeface="Consolas"/>
              </a:rPr>
              <a:t>.</a:t>
            </a:r>
            <a:r>
              <a:rPr sz="1800" i="0">
                <a:solidFill>
                  <a:srgbClr val="E8EDF2"/>
                </a:solidFill>
                <a:latin typeface="Consolas"/>
              </a:rPr>
              <a:t>writerow</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model</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cv_</a:t>
            </a:r>
            <a:r>
              <a:rPr sz="1800" i="0">
                <a:solidFill>
                  <a:srgbClr val="7DCEA0"/>
                </a:solidFill>
                <a:latin typeface="Consolas"/>
              </a:rPr>
              <a:t>{</a:t>
            </a:r>
            <a:r>
              <a:rPr sz="1800" i="0">
                <a:solidFill>
                  <a:srgbClr val="E8EDF2"/>
                </a:solidFill>
                <a:latin typeface="Consolas"/>
              </a:rPr>
              <a:t>metric</a:t>
            </a:r>
            <a:r>
              <a:rPr sz="1800" i="0">
                <a:solidFill>
                  <a:srgbClr val="7DCEA0"/>
                </a:solidFill>
                <a:latin typeface="Consolas"/>
              </a:rPr>
              <a:t>}</a:t>
            </a:r>
            <a:r>
              <a:rPr sz="1800" i="0">
                <a:solidFill>
                  <a:srgbClr val="7DCEA0"/>
                </a:solidFill>
                <a:latin typeface="Consolas"/>
              </a:rPr>
              <a:t>_mean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cv_</a:t>
            </a:r>
            <a:r>
              <a:rPr sz="1800" i="0">
                <a:solidFill>
                  <a:srgbClr val="7DCEA0"/>
                </a:solidFill>
                <a:latin typeface="Consolas"/>
              </a:rPr>
              <a:t>{</a:t>
            </a:r>
            <a:r>
              <a:rPr sz="1800" i="0">
                <a:solidFill>
                  <a:srgbClr val="E8EDF2"/>
                </a:solidFill>
                <a:latin typeface="Consolas"/>
              </a:rPr>
              <a:t>metric</a:t>
            </a:r>
            <a:r>
              <a:rPr sz="1800" i="0">
                <a:solidFill>
                  <a:srgbClr val="7DCEA0"/>
                </a:solidFill>
                <a:latin typeface="Consolas"/>
              </a:rPr>
              <a:t>}</a:t>
            </a:r>
            <a:r>
              <a:rPr sz="1800" i="0">
                <a:solidFill>
                  <a:srgbClr val="7DCEA0"/>
                </a:solidFill>
                <a:latin typeface="Consolas"/>
              </a:rPr>
              <a:t>_std</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name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candidates</a:t>
            </a:r>
            <a:r>
              <a:rPr sz="1800" i="0">
                <a:solidFill>
                  <a:srgbClr val="AEB6BF"/>
                </a:solidFill>
                <a:latin typeface="Consolas"/>
              </a:rPr>
              <a:t>.</a:t>
            </a:r>
            <a:r>
              <a:rPr sz="1800" i="0">
                <a:solidFill>
                  <a:srgbClr val="E8EDF2"/>
                </a:solidFill>
                <a:latin typeface="Consolas"/>
              </a:rPr>
              <a:t>items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E8EDF2"/>
                </a:solidFill>
                <a:latin typeface="Consolas"/>
              </a:rPr>
              <a:t>metric</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log</a:t>
            </a:r>
            <a:r>
              <a:rPr sz="1800" i="0">
                <a:solidFill>
                  <a:srgbClr val="AEB6BF"/>
                </a:solidFill>
                <a:latin typeface="Consolas"/>
              </a:rPr>
              <a:t>.</a:t>
            </a:r>
            <a:r>
              <a:rPr sz="1800" i="0">
                <a:solidFill>
                  <a:srgbClr val="E8EDF2"/>
                </a:solidFill>
                <a:latin typeface="Consolas"/>
              </a:rPr>
              <a:t>writerow</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name</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name</a:t>
            </a:r>
            <a:r>
              <a:rPr sz="1800" i="0">
                <a:solidFill>
                  <a:srgbClr val="7DCEA0"/>
                </a:solidFill>
                <a:latin typeface="Consolas"/>
              </a:rPr>
              <a:t>:</a:t>
            </a:r>
            <a:r>
              <a:rPr sz="1800" i="0">
                <a:solidFill>
                  <a:srgbClr val="7DCEA0"/>
                </a:solidFill>
                <a:latin typeface="Consolas"/>
              </a:rPr>
              <a:t>9s</a:t>
            </a:r>
            <a:r>
              <a:rPr sz="1800" i="0">
                <a:solidFill>
                  <a:srgbClr val="7DCEA0"/>
                </a:solidFill>
                <a:latin typeface="Consolas"/>
              </a:rPr>
              <a:t>}</a:t>
            </a:r>
            <a:r>
              <a:rPr sz="1800" i="0">
                <a:solidFill>
                  <a:srgbClr val="7DCEA0"/>
                </a:solidFill>
                <a:latin typeface="Consolas"/>
              </a:rPr>
              <a:t> CV </a:t>
            </a:r>
            <a:r>
              <a:rPr sz="1800" i="0">
                <a:solidFill>
                  <a:srgbClr val="7DCEA0"/>
                </a:solidFill>
                <a:latin typeface="Consolas"/>
              </a:rPr>
              <a:t>{</a:t>
            </a:r>
            <a:r>
              <a:rPr sz="1800" i="0">
                <a:solidFill>
                  <a:srgbClr val="E8EDF2"/>
                </a:solidFill>
                <a:latin typeface="Consolas"/>
              </a:rPr>
              <a:t>metric</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 </a:t>
            </a:r>
            <a:r>
              <a:rPr sz="1800" i="0">
                <a:solidFill>
                  <a:srgbClr val="7DCEA0"/>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530B9D3F-5188-455D-A13D-ACDA11649B9E}"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Tune the chosen family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 --- 3. tune the chosen family ------------------------------------------- params = {&quot;logisticregression__C&quot;: [0.01, 0.1, 1, 10], &quot;logisticregression__class_weight&quot;: [None, &quot;balanced&quot;]} grid = GridSearchCV(candidates[&quot;logistic&quot;], params, cv=cv, scoring=metric).fit(X_tr, y_tr) print(&quot;chosen settings:&quot;, grid.best_params_)"/>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tune the chosen family -------------------------------------------</a:t>
            </a:r>
          </a:p>
          <a:p>
            <a:pPr>
              <a:lnSpc>
                <a:spcPct val="100000"/>
              </a:lnSpc>
              <a:spcAft>
                <a:spcPts val="0"/>
              </a:spcAft>
            </a:pPr>
            <a:r>
              <a:rPr sz="1800" i="0">
                <a:solidFill>
                  <a:srgbClr val="E8EDF2"/>
                </a:solidFill>
                <a:latin typeface="Consolas"/>
              </a:rPr>
              <a:t>params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logisticregression__C</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logisticregression__class_weight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balanced</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grid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GridSearchCV</a:t>
            </a:r>
            <a:r>
              <a:rPr sz="1800" i="0">
                <a:solidFill>
                  <a:srgbClr val="AEB6BF"/>
                </a:solidFill>
                <a:latin typeface="Consolas"/>
              </a:rPr>
              <a:t>(</a:t>
            </a:r>
            <a:r>
              <a:rPr sz="1800" i="0">
                <a:solidFill>
                  <a:srgbClr val="E8EDF2"/>
                </a:solidFill>
                <a:latin typeface="Consolas"/>
              </a:rPr>
              <a:t>candidates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logistic</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params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E8EDF2"/>
                </a:solidFill>
                <a:latin typeface="Consolas"/>
              </a:rPr>
              <a:t>cv</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E8EDF2"/>
                </a:solidFill>
                <a:latin typeface="Consolas"/>
              </a:rPr>
              <a:t>metric</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chosen settings: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best_params_</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7A66DF03-723B-4750-840C-BCD035D7899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test set, once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 --- 4. the test set, once ----------------------------------------------- pred = grid.predict(X_te) test_recall = recall_score(y_te, pred) print(classification_report(y_te, pred, target_names=[&quot;on time&quot;, &quot;overran&quot;], digits=3))"/>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the test set, once -----------------------------------------------</a:t>
            </a:r>
          </a:p>
          <a:p>
            <a:pPr>
              <a:lnSpc>
                <a:spcPct val="100000"/>
              </a:lnSpc>
              <a:spcAft>
                <a:spcPts val="0"/>
              </a:spcAft>
            </a:pP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p>
          <a:p>
            <a:pPr>
              <a:lnSpc>
                <a:spcPct val="100000"/>
              </a:lnSpc>
              <a:spcAft>
                <a:spcPts val="0"/>
              </a:spcAft>
            </a:pPr>
            <a:r>
              <a:rPr sz="1800" i="0">
                <a:solidFill>
                  <a:srgbClr val="E8EDF2"/>
                </a:solidFill>
                <a:latin typeface="Consolas"/>
              </a:rPr>
              <a:t>test_recall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recall_score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classification_report</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target_names</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on time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overran</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digits</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Template, End to End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2F628676-D8CB-4DA7-BEBA-6B5C495FC072}"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Save the model and write its model card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code/ch22_project_template_end.py</a:t>
            </a:r>
          </a:p>
        </p:txBody>
      </p:sp>
      <p:sp>
        <p:nvSpPr>
          <p:cNvPr id="14" name="!!code-text" descr="# --- 5. save the model and write its model card -------------------------- joblib.dump(grid.best_estimator_, os.path.join(OUT, &quot;model.joblib&quot;)) card = { &quot;model&quot;: &quot;logistic regression, standardised features&quot;, &quot;intended use&quot;: &quot;rank projects for a project-office review; never to &quot; &quot;judge a team or a manager&quot;, &quot;data&quot;: f&quot;{len(y)} past projects, 8 month-one metrics&quot;, &quot;split&quot;: f&quot;75/25 stratified, seed {SEED}; 5-fold CV for selection&quot;, &quot;settings&quot;: grid.best_params_, f&quot;test {metric}&quot;: round(float(test_recall), 3), &quot;limitations&quot;: &quot;one company's projects; re-validate after any change &quot; &quot;to how projects are run&quot;, &quot;date&quot;: datetime.date.today().isoformat(), &quot;library&quot;: f&quot;scikit-learn {sklearn.__version__}&quot;, } with open(os.path.join(OUT, &quot;model_card.json&quot;), &quot;w&quot;) as fh: json.dump(card, fh, indent=2, default=str) print(&quot;saved:&quot;, sorted(os.listdir(OUT)))"/>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--- 5. save the model and write its model card --------------------------</a:t>
            </a:r>
          </a:p>
          <a:p>
            <a:pPr>
              <a:lnSpc>
                <a:spcPct val="100000"/>
              </a:lnSpc>
              <a:spcAft>
                <a:spcPts val="0"/>
              </a:spcAft>
            </a:pPr>
            <a:r>
              <a:rPr sz="1300" i="0">
                <a:solidFill>
                  <a:srgbClr val="E8EDF2"/>
                </a:solidFill>
                <a:latin typeface="Consolas"/>
              </a:rPr>
              <a:t>joblib</a:t>
            </a:r>
            <a:r>
              <a:rPr sz="1300" i="0">
                <a:solidFill>
                  <a:srgbClr val="AEB6BF"/>
                </a:solidFill>
                <a:latin typeface="Consolas"/>
              </a:rPr>
              <a:t>.</a:t>
            </a:r>
            <a:r>
              <a:rPr sz="1300" i="0">
                <a:solidFill>
                  <a:srgbClr val="E8EDF2"/>
                </a:solidFill>
                <a:latin typeface="Consolas"/>
              </a:rPr>
              <a:t>dump</a:t>
            </a:r>
            <a:r>
              <a:rPr sz="1300" i="0">
                <a:solidFill>
                  <a:srgbClr val="AEB6BF"/>
                </a:solidFill>
                <a:latin typeface="Consolas"/>
              </a:rPr>
              <a:t>(</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best_estimator_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os</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join</a:t>
            </a:r>
            <a:r>
              <a:rPr sz="1300" i="0">
                <a:solidFill>
                  <a:srgbClr val="AEB6BF"/>
                </a:solidFill>
                <a:latin typeface="Consolas"/>
              </a:rPr>
              <a:t>(</a:t>
            </a:r>
            <a:r>
              <a:rPr sz="1300" i="0">
                <a:solidFill>
                  <a:srgbClr val="E8EDF2"/>
                </a:solidFill>
                <a:latin typeface="Consolas"/>
              </a:rPr>
              <a:t>OUT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model.joblib</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card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model</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logistic regression, standardised features</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intended use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rank projects for a project-office review; never to </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judge a team or a manager</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data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y</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past projects, 8 month-one metrics</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split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75/25 stratified, seed </a:t>
            </a:r>
            <a:r>
              <a:rPr sz="1300" i="0">
                <a:solidFill>
                  <a:srgbClr val="7DCEA0"/>
                </a:solidFill>
                <a:latin typeface="Consolas"/>
              </a:rPr>
              <a:t>{</a:t>
            </a:r>
            <a:r>
              <a:rPr sz="1300" i="0">
                <a:solidFill>
                  <a:srgbClr val="E8EDF2"/>
                </a:solidFill>
                <a:latin typeface="Consolas"/>
              </a:rPr>
              <a:t>SEED</a:t>
            </a:r>
            <a:r>
              <a:rPr sz="1300" i="0">
                <a:solidFill>
                  <a:srgbClr val="7DCEA0"/>
                </a:solidFill>
                <a:latin typeface="Consolas"/>
              </a:rPr>
              <a:t>}</a:t>
            </a:r>
            <a:r>
              <a:rPr sz="1300" i="0">
                <a:solidFill>
                  <a:srgbClr val="7DCEA0"/>
                </a:solidFill>
                <a:latin typeface="Consolas"/>
              </a:rPr>
              <a:t>; 5-fold CV for selection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settings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best_params_</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test </a:t>
            </a:r>
            <a:r>
              <a:rPr sz="1300" i="0">
                <a:solidFill>
                  <a:srgbClr val="7DCEA0"/>
                </a:solidFill>
                <a:latin typeface="Consolas"/>
              </a:rPr>
              <a:t>{</a:t>
            </a:r>
            <a:r>
              <a:rPr sz="1300" i="0">
                <a:solidFill>
                  <a:srgbClr val="E8EDF2"/>
                </a:solidFill>
                <a:latin typeface="Consolas"/>
              </a:rPr>
              <a:t>metric</a:t>
            </a:r>
            <a:r>
              <a:rPr sz="1300" i="0">
                <a:solidFill>
                  <a:srgbClr val="7DCEA0"/>
                </a:solidFill>
                <a:latin typeface="Consolas"/>
              </a:rPr>
              <a: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C39BD3"/>
                </a:solidFill>
                <a:latin typeface="Consolas"/>
              </a:rPr>
              <a:t>float</a:t>
            </a:r>
            <a:r>
              <a:rPr sz="1300" i="0">
                <a:solidFill>
                  <a:srgbClr val="AEB6BF"/>
                </a:solidFill>
                <a:latin typeface="Consolas"/>
              </a:rPr>
              <a:t>(</a:t>
            </a:r>
            <a:r>
              <a:rPr sz="1300" i="0">
                <a:solidFill>
                  <a:srgbClr val="E8EDF2"/>
                </a:solidFill>
                <a:latin typeface="Consolas"/>
              </a:rPr>
              <a:t>test_recall</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limitations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one company</a:t>
            </a:r>
            <a:r>
              <a:rPr sz="1300" i="0">
                <a:solidFill>
                  <a:srgbClr val="7DCEA0"/>
                </a:solidFill>
                <a:latin typeface="Consolas"/>
              </a:rPr>
              <a:t>'</a:t>
            </a:r>
            <a:r>
              <a:rPr sz="1300" i="0">
                <a:solidFill>
                  <a:srgbClr val="7DCEA0"/>
                </a:solidFill>
                <a:latin typeface="Consolas"/>
              </a:rPr>
              <a:t>s projects; re-validate after any change </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to how projects are run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date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datetime</a:t>
            </a:r>
            <a:r>
              <a:rPr sz="1300" i="0">
                <a:solidFill>
                  <a:srgbClr val="AEB6BF"/>
                </a:solidFill>
                <a:latin typeface="Consolas"/>
              </a:rPr>
              <a:t>.</a:t>
            </a:r>
            <a:r>
              <a:rPr sz="1300" i="0">
                <a:solidFill>
                  <a:srgbClr val="E8EDF2"/>
                </a:solidFill>
                <a:latin typeface="Consolas"/>
              </a:rPr>
              <a:t>date</a:t>
            </a:r>
            <a:r>
              <a:rPr sz="1300" i="0">
                <a:solidFill>
                  <a:srgbClr val="AEB6BF"/>
                </a:solidFill>
                <a:latin typeface="Consolas"/>
              </a:rPr>
              <a:t>.</a:t>
            </a:r>
            <a:r>
              <a:rPr sz="1300" i="0">
                <a:solidFill>
                  <a:srgbClr val="E8EDF2"/>
                </a:solidFill>
                <a:latin typeface="Consolas"/>
              </a:rPr>
              <a:t>today</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isoformat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library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scikit-learn </a:t>
            </a:r>
            <a:r>
              <a:rPr sz="1300" i="0">
                <a:solidFill>
                  <a:srgbClr val="7DCEA0"/>
                </a:solidFill>
                <a:latin typeface="Consolas"/>
              </a:rPr>
              <a:t>{</a:t>
            </a:r>
            <a:r>
              <a:rPr sz="1300" i="0">
                <a:solidFill>
                  <a:srgbClr val="E8EDF2"/>
                </a:solidFill>
                <a:latin typeface="Consolas"/>
              </a:rPr>
              <a:t>sklearn</a:t>
            </a:r>
            <a:r>
              <a:rPr sz="1300" i="0">
                <a:solidFill>
                  <a:srgbClr val="AEB6BF"/>
                </a:solidFill>
                <a:latin typeface="Consolas"/>
              </a:rPr>
              <a:t>.</a:t>
            </a:r>
            <a:r>
              <a:rPr sz="1300" i="0">
                <a:solidFill>
                  <a:srgbClr val="E8EDF2"/>
                </a:solidFill>
                <a:latin typeface="Consolas"/>
              </a:rPr>
              <a:t>__version__</a:t>
            </a:r>
            <a:r>
              <a:rPr sz="1300" i="0">
                <a:solidFill>
                  <a:srgbClr val="7DCEA0"/>
                </a:solidFill>
                <a:latin typeface="Consolas"/>
              </a:rPr>
              <a:t>}</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5DADE2"/>
                </a:solidFill>
                <a:latin typeface="Consolas"/>
              </a:rPr>
              <a:t>with</a:t>
            </a:r>
            <a:r>
              <a:rPr sz="1300" i="0">
                <a:solidFill>
                  <a:srgbClr val="E8EDF2"/>
                </a:solidFill>
                <a:latin typeface="Consolas"/>
              </a:rPr>
              <a:t> </a:t>
            </a:r>
            <a:r>
              <a:rPr sz="1300" i="0">
                <a:solidFill>
                  <a:srgbClr val="C39BD3"/>
                </a:solidFill>
                <a:latin typeface="Consolas"/>
              </a:rPr>
              <a:t>open</a:t>
            </a:r>
            <a:r>
              <a:rPr sz="1300" i="0">
                <a:solidFill>
                  <a:srgbClr val="AEB6BF"/>
                </a:solidFill>
                <a:latin typeface="Consolas"/>
              </a:rPr>
              <a:t>(</a:t>
            </a:r>
            <a:r>
              <a:rPr sz="1300" i="0">
                <a:solidFill>
                  <a:srgbClr val="E8EDF2"/>
                </a:solidFill>
                <a:latin typeface="Consolas"/>
              </a:rPr>
              <a:t>os</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join</a:t>
            </a:r>
            <a:r>
              <a:rPr sz="1300" i="0">
                <a:solidFill>
                  <a:srgbClr val="AEB6BF"/>
                </a:solidFill>
                <a:latin typeface="Consolas"/>
              </a:rPr>
              <a:t>(</a:t>
            </a:r>
            <a:r>
              <a:rPr sz="1300" i="0">
                <a:solidFill>
                  <a:srgbClr val="E8EDF2"/>
                </a:solidFill>
                <a:latin typeface="Consolas"/>
              </a:rPr>
              <a:t>OUT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model_card.json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as</a:t>
            </a:r>
            <a:r>
              <a:rPr sz="1300" i="0">
                <a:solidFill>
                  <a:srgbClr val="E8EDF2"/>
                </a:solidFill>
                <a:latin typeface="Consolas"/>
              </a:rPr>
              <a:t> </a:t>
            </a:r>
            <a:r>
              <a:rPr sz="1300" i="0">
                <a:solidFill>
                  <a:srgbClr val="E8EDF2"/>
                </a:solidFill>
                <a:latin typeface="Consolas"/>
              </a:rPr>
              <a:t>fh</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json</a:t>
            </a:r>
            <a:r>
              <a:rPr sz="1300" i="0">
                <a:solidFill>
                  <a:srgbClr val="AEB6BF"/>
                </a:solidFill>
                <a:latin typeface="Consolas"/>
              </a:rPr>
              <a:t>.</a:t>
            </a:r>
            <a:r>
              <a:rPr sz="1300" i="0">
                <a:solidFill>
                  <a:srgbClr val="E8EDF2"/>
                </a:solidFill>
                <a:latin typeface="Consolas"/>
              </a:rPr>
              <a:t>dump</a:t>
            </a:r>
            <a:r>
              <a:rPr sz="1300" i="0">
                <a:solidFill>
                  <a:srgbClr val="AEB6BF"/>
                </a:solidFill>
                <a:latin typeface="Consolas"/>
              </a:rPr>
              <a:t>(</a:t>
            </a:r>
            <a:r>
              <a:rPr sz="1300" i="0">
                <a:solidFill>
                  <a:srgbClr val="E8EDF2"/>
                </a:solidFill>
                <a:latin typeface="Consolas"/>
              </a:rPr>
              <a:t>card</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indent</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default</a:t>
            </a:r>
            <a:r>
              <a:rPr sz="1300" i="0">
                <a:solidFill>
                  <a:srgbClr val="AEB6BF"/>
                </a:solidFill>
                <a:latin typeface="Consolas"/>
              </a:rPr>
              <a:t>=</a:t>
            </a:r>
            <a:r>
              <a:rPr sz="1300" i="0">
                <a:solidFill>
                  <a:srgbClr val="C39BD3"/>
                </a:solidFill>
                <a:latin typeface="Consolas"/>
              </a:rPr>
              <a:t>str</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saved:</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sorted</a:t>
            </a:r>
            <a:r>
              <a:rPr sz="1300" i="0">
                <a:solidFill>
                  <a:srgbClr val="AEB6BF"/>
                </a:solidFill>
                <a:latin typeface="Consolas"/>
              </a:rPr>
              <a:t>(</a:t>
            </a:r>
            <a:r>
              <a:rPr sz="1300" i="0">
                <a:solidFill>
                  <a:srgbClr val="E8EDF2"/>
                </a:solidFill>
                <a:latin typeface="Consolas"/>
              </a:rPr>
              <a:t>os</a:t>
            </a:r>
            <a:r>
              <a:rPr sz="1300" i="0">
                <a:solidFill>
                  <a:srgbClr val="AEB6BF"/>
                </a:solidFill>
                <a:latin typeface="Consolas"/>
              </a:rPr>
              <a:t>.</a:t>
            </a:r>
            <a:r>
              <a:rPr sz="1300" i="0">
                <a:solidFill>
                  <a:srgbClr val="E8EDF2"/>
                </a:solidFill>
                <a:latin typeface="Consolas"/>
              </a:rPr>
              <a:t>listdir</a:t>
            </a:r>
            <a:r>
              <a:rPr sz="1300" i="0">
                <a:solidFill>
                  <a:srgbClr val="AEB6BF"/>
                </a:solidFill>
                <a:latin typeface="Consolas"/>
              </a:rPr>
              <a:t>(</a:t>
            </a:r>
            <a:r>
              <a:rPr sz="1300" i="0">
                <a:solidFill>
                  <a:srgbClr val="E8EDF2"/>
                </a:solidFill>
                <a:latin typeface="Consolas"/>
              </a:rPr>
              <a:t>OUT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a:p>
            <a:pPr algn="r">
              <a:lnSpc>
                <a:spcPct val="100000"/>
              </a:lnSpc>
            </a:pPr>
            <a:r>
              <a:rPr sz="1300">
                <a:solidFill>
                  <a:srgbClr val="4F5D6A"/>
                </a:solidFill>
                <a:latin typeface="Consolas"/>
              </a:rPr>
              <a:t>72</a:t>
            </a:r>
          </a:p>
          <a:p>
            <a:pPr algn="r">
              <a:lnSpc>
                <a:spcPct val="100000"/>
              </a:lnSpc>
            </a:pPr>
            <a:r>
              <a:rPr sz="1300">
                <a:solidFill>
                  <a:srgbClr val="4F5D6A"/>
                </a:solidFill>
                <a:latin typeface="Consolas"/>
              </a:rPr>
              <a:t>73</a:t>
            </a:r>
          </a:p>
          <a:p>
            <a:pPr algn="r">
              <a:lnSpc>
                <a:spcPct val="100000"/>
              </a:lnSpc>
            </a:pPr>
            <a:r>
              <a:rPr sz="1300">
                <a:solidFill>
                  <a:srgbClr val="4F5D6A"/>
                </a:solidFill>
                <a:latin typeface="Consolas"/>
              </a:rPr>
              <a:t>74</a:t>
            </a:r>
          </a:p>
          <a:p>
            <a:pPr algn="r">
              <a:lnSpc>
                <a:spcPct val="100000"/>
              </a:lnSpc>
            </a:pPr>
            <a:r>
              <a:rPr sz="1300">
                <a:solidFill>
                  <a:srgbClr val="4F5D6A"/>
                </a:solidFill>
                <a:latin typeface="Consolas"/>
              </a:rPr>
              <a:t>75</a:t>
            </a:r>
          </a:p>
          <a:p>
            <a:pPr algn="r">
              <a:lnSpc>
                <a:spcPct val="100000"/>
              </a:lnSpc>
            </a:pPr>
            <a:r>
              <a:rPr sz="1300">
                <a:solidFill>
                  <a:srgbClr val="4F5D6A"/>
                </a:solidFill>
                <a:latin typeface="Consolas"/>
              </a:rPr>
              <a:t>76</a:t>
            </a:r>
          </a:p>
          <a:p>
            <a:pPr algn="r">
              <a:lnSpc>
                <a:spcPct val="100000"/>
              </a:lnSpc>
            </a:pPr>
            <a:r>
              <a:rPr sz="1300">
                <a:solidFill>
                  <a:srgbClr val="4F5D6A"/>
                </a:solidFill>
                <a:latin typeface="Consolas"/>
              </a:rPr>
              <a:t>77</a:t>
            </a:r>
          </a:p>
          <a:p>
            <a:pPr algn="r">
              <a:lnSpc>
                <a:spcPct val="100000"/>
              </a:lnSpc>
            </a:pPr>
            <a:r>
              <a:rPr sz="1300">
                <a:solidFill>
                  <a:srgbClr val="4F5D6A"/>
                </a:solidFill>
                <a:latin typeface="Consolas"/>
              </a:rPr>
              <a:t>78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165     </a:t>
            </a:r>
            <a:fld id="{7E6D0333-7194-4831-BD89-DE9BD575DF7A}"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template reproduces the experiment log of the worked example. Before adapting it, change </a:t>
            </a:r>
            <a:r>
              <a:rPr sz="2150" b="0" i="0">
                <a:solidFill>
                  <a:srgbClr val="1F4E79"/>
                </a:solidFill>
                <a:latin typeface="Consolas"/>
              </a:rPr>
              <a:t>metric</a:t>
            </a:r>
            <a:r>
              <a:rPr sz="2300" b="0" i="0">
                <a:solidFill>
                  <a:srgbClr val="1C252B"/>
                </a:solidFill>
                <a:latin typeface="Segoe UI"/>
              </a:rPr>
              <a:t> to </a:t>
            </a:r>
            <a:r>
              <a:rPr sz="2150" b="0" i="0">
                <a:solidFill>
                  <a:srgbClr val="1F4E79"/>
                </a:solidFill>
                <a:latin typeface="Consolas"/>
              </a:rPr>
              <a:t>"precision"</a:t>
            </a:r>
            <a:r>
              <a:rPr sz="2300" b="0" i="0">
                <a:solidFill>
                  <a:srgbClr val="1C252B"/>
                </a:solidFill>
                <a:latin typeface="Segoe UI"/>
              </a:rPr>
              <a:t> and rerun: does the chosen model change?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Write a success criterion for the late-task warning of Chapter 1 that a project manager could check.</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22  ·  The Machine Learning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169  ·  answers in Appendix D     </a:t>
            </a:r>
            <a:fld id="{C3247A6F-CEFB-4EEF-87EC-69E26A68E1B2}"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Write a success criterion for the late-task warning of Chapter 1 that a project manager could check.</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example: “Over the next two sprints, the warning flags at least 70% of the tasks that go on to finish late, and no more than one flag in three is a task that finishes on time.”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  answers in Appendix D     </a:t>
            </a:r>
            <a:fld id="{7DEBFA38-B507-4889-9EE6-619DEBF9FC3B}"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181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Two models score 0.912 </a:t>
            </a:r>
            <a:r>
              <a:rPr sz="3400" b="0" i="0">
                <a:solidFill>
                  <a:srgbClr val="FFFFFF"/>
                </a:solidFill>
                <a:latin typeface="Cambria"/>
              </a:rPr>
              <a:t>±</a:t>
            </a:r>
            <a:r>
              <a:rPr sz="3400" b="0" i="0">
                <a:solidFill>
                  <a:srgbClr val="FFFFFF"/>
                </a:solidFill>
                <a:latin typeface="Segoe UI Semibold"/>
              </a:rPr>
              <a:t> 0.030 and 0.905 </a:t>
            </a:r>
            <a:r>
              <a:rPr sz="3400" b="0" i="0">
                <a:solidFill>
                  <a:srgbClr val="FFFFFF"/>
                </a:solidFill>
                <a:latin typeface="Cambria"/>
              </a:rPr>
              <a:t>±</a:t>
            </a:r>
            <a:r>
              <a:rPr sz="3400" b="0" i="0">
                <a:solidFill>
                  <a:srgbClr val="FFFFFF"/>
                </a:solidFill>
                <a:latin typeface="Segoe UI Semibold"/>
              </a:rPr>
              <a:t> 0.028 in cross-validation. Which do you choose, and on what grounds?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22  ·  The Machine Learning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169  ·  answers in Appendix D     </a:t>
            </a:r>
            <a:fld id="{9D8047DE-DFDB-4878-A706-CEDDD803A9FB}"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Two models score 0.912 </a:t>
            </a:r>
            <a:r>
              <a:rPr sz="2400" b="0" i="0">
                <a:solidFill>
                  <a:srgbClr val="1A5276"/>
                </a:solidFill>
                <a:latin typeface="Cambria"/>
              </a:rPr>
              <a:t>±</a:t>
            </a:r>
            <a:r>
              <a:rPr sz="2400" b="0" i="0">
                <a:solidFill>
                  <a:srgbClr val="1A5276"/>
                </a:solidFill>
                <a:latin typeface="Segoe UI Semibold"/>
              </a:rPr>
              <a:t> 0.030 and 0.905 </a:t>
            </a:r>
            <a:r>
              <a:rPr sz="2400" b="0" i="0">
                <a:solidFill>
                  <a:srgbClr val="1A5276"/>
                </a:solidFill>
                <a:latin typeface="Cambria"/>
              </a:rPr>
              <a:t>±</a:t>
            </a:r>
            <a:r>
              <a:rPr sz="2400" b="0" i="0">
                <a:solidFill>
                  <a:srgbClr val="1A5276"/>
                </a:solidFill>
                <a:latin typeface="Segoe UI Semibold"/>
              </a:rPr>
              <a:t> 0.028 in cross-validation. Which do you choose, and on what grounds?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differ by 0.007, far less than one standard deviation of either: they are indistinguishable. Choose on other grounds — simplicity, speed, explainability, fairness.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  answers in Appendix D     </a:t>
            </a:r>
            <a:fld id="{C5CA0BA6-1788-4212-8138-F185BC6702E6}"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1282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Name three things that must be recorded for an experiment to be reproducible.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22  ·  The Machine Learning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169  ·  answers in Appendix D     </a:t>
            </a:r>
            <a:fld id="{9325470A-9C11-4C73-A48B-5BDE7B3F82AF}"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Name three things that must be recorded for an experiment to be reproducible.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Any three of: the random seeds; the data version and the split indices; the code version (commit); the library versions; the hyperparameters.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  answers in Appendix D     </a:t>
            </a:r>
            <a:fld id="{A9E82789-39CB-4694-A712-4724FA6D98C2}"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075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a:t>
            </a:r>
            <a:fld id="{600BDE8B-3679-48E6-9184-0CB4A8617FE7}"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Start from a decision, and write </a:t>
            </a:r>
            <a:r>
              <a:rPr sz="2100" b="0" i="1">
                <a:solidFill>
                  <a:srgbClr val="1C252B"/>
                </a:solidFill>
                <a:latin typeface="Cambria"/>
              </a:rPr>
              <a:t>T</a:t>
            </a:r>
            <a:r>
              <a:rPr sz="2100" b="0" i="0">
                <a:solidFill>
                  <a:srgbClr val="1C252B"/>
                </a:solidFill>
                <a:latin typeface="Segoe UI"/>
              </a:rPr>
              <a:t>, </a:t>
            </a:r>
            <a:r>
              <a:rPr sz="2100" b="0" i="1">
                <a:solidFill>
                  <a:srgbClr val="1C252B"/>
                </a:solidFill>
                <a:latin typeface="Cambria"/>
              </a:rPr>
              <a:t>P</a:t>
            </a:r>
            <a:r>
              <a:rPr sz="2100" b="0" i="0">
                <a:solidFill>
                  <a:srgbClr val="1C252B"/>
                </a:solidFill>
                <a:latin typeface="Segoe UI"/>
              </a:rPr>
              <a:t>, </a:t>
            </a:r>
            <a:r>
              <a:rPr sz="2100" b="0" i="1">
                <a:solidFill>
                  <a:srgbClr val="1C252B"/>
                </a:solidFill>
                <a:latin typeface="Cambria"/>
              </a:rPr>
              <a:t>E</a:t>
            </a:r>
            <a:r>
              <a:rPr sz="2100" b="0" i="0">
                <a:solidFill>
                  <a:srgbClr val="1C252B"/>
                </a:solidFill>
                <a:latin typeface="Segoe UI"/>
              </a:rPr>
              <a:t>, a baseline and a success criterion before modelling.</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Split once; compare pipelines by cross-validation on fixed folds; log every run; fix seeds; commit code.</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Choose between near-equal models on simplicity; open the test set once; report the result with its uncertainty and beside the baseline.</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Error analysis, ablations and per-group results turn a score into understanding.</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report, the model card and the defence are part of the work, not decoration.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a:t>
            </a:r>
            <a:fld id="{9F03F1C7-9327-427A-A157-16C3218C2D81}"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test set should be used:</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after every experiment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once, after experiments are frozen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to choose hyperparameters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never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a:t>
            </a:r>
            <a:fld id="{321651EE-52E2-4171-A833-ABB7B9B10FFF}"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ablation study: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removes components to measure their contribution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adds more data</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tunes the learning rate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cleans labels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a:t>
            </a:r>
            <a:fld id="{E69A51FE-F062-4971-8F54-0AC48A566AC2}"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most important part of a project proposal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choice of algorithm</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decision, metric and success criterion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features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programming language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22  ·  The Machine Learning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169     </a:t>
            </a:r>
            <a:fld id="{C8D72B8E-0F9D-4C95-AC04-D05125E69E8A}"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should an experiment log include runs that did not improve the model?</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is error analysis, and what can it reveal that a single metric cannot?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the worked example chose logistic regression over the random forest.</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the one-page proposal for an IT project-management problem of your choice, using the template of this chapter.</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worked example’s test result (48 of 56 overruns caught), compute a 95% confidence interval for the recall and discuss what it means for the claim “the model catches 86% of overruns”.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the course</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THE COURSE</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22 chapters  ·  six parts  ·  one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22, pages 162–169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Backpropagation from scratch</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set; proposal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22  ·  The Machine Learning Project</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DA1197E-4C12-4494-9958-ECC8498BDFD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The Machine Learning Project</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