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3.svg" ContentType="image/svg+xml"/>
  <Override PartName="/ppt/media/image25.svg" ContentType="image/svg+xml"/>
  <Override PartName="/ppt/media/image26.svg" ContentType="image/svg+xml"/>
  <Override PartName="/ppt/media/image28.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4.svg" ContentType="image/svg+xml"/>
  <Override PartName="/ppt/media/image65.svg" ContentType="image/svg+xml"/>
  <Override PartName="/ppt/media/image66.svg" ContentType="image/svg+xml"/>
  <Override PartName="/ppt/media/image67.svg" ContentType="image/svg+xml"/>
  <Override PartName="/ppt/media/image68.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4.svg" ContentType="image/svg+xml"/>
  <Override PartName="/ppt/media/image76.svg" ContentType="image/svg+xml"/>
  <Override PartName="/ppt/media/image77.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2.svg" ContentType="image/svg+xml"/>
  <Override PartName="/ppt/media/image84.svg" ContentType="image/svg+xml"/>
  <Override PartName="/ppt/media/image85.svg" ContentType="image/svg+xml"/>
  <Override PartName="/ppt/media/image86.svg" ContentType="image/svg+xml"/>
  <Override PartName="/ppt/media/image8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B61F20-9028-458D-AE9A-F72CE4ABAEF0}">
          <p14:sldIdLst>
            <p14:sldId id="256"/>
            <p14:sldId id="257"/>
            <p14:sldId id="258"/>
            <p14:sldId id="259"/>
            <p14:sldId id="260"/>
          </p14:sldIdLst>
        </p14:section>
        <p14:section name="22.1 What the Project Is For" id="{FDB100FE-E0D0-4AC1-B929-9AA682B49DCB}">
          <p14:sldIdLst>
            <p14:sldId id="261"/>
          </p14:sldIdLst>
        </p14:section>
        <p14:section name="22.2 Choosing and Scoping a Problem" id="{BCB3C9D7-C7EF-44C4-A2DD-6D12E63EBEA6}">
          <p14:sldIdLst>
            <p14:sldId id="262"/>
            <p14:sldId id="263"/>
            <p14:sldId id="264"/>
            <p14:sldId id="265"/>
          </p14:sldIdLst>
        </p14:section>
        <p14:section name="22.3 The Plan" id="{55B1E83E-A697-4BBA-BA21-C236E8DB5392}">
          <p14:sldIdLst>
            <p14:sldId id="266"/>
            <p14:sldId id="267"/>
            <p14:sldId id="268"/>
          </p14:sldIdLst>
        </p14:section>
        <p14:section name="22.4 Running Experiments Honestly" id="{A1029EA4-C880-426D-B58C-EC20D06178F1}">
          <p14:sldIdLst>
            <p14:sldId id="269"/>
            <p14:sldId id="270"/>
            <p14:sldId id="271"/>
          </p14:sldIdLst>
        </p14:section>
        <p14:section name="22.5 The Report and the Presentation" id="{6E9D39B0-04E3-404C-9847-147D08A6558B}">
          <p14:sldIdLst>
            <p14:sldId id="272"/>
          </p14:sldIdLst>
        </p14:section>
        <p14:section name="22.6 Assessment" id="{BD2411DB-5721-4810-883E-30F92E972CDF}">
          <p14:sldIdLst>
            <p14:sldId id="273"/>
          </p14:sldIdLst>
        </p14:section>
        <p14:section name="Pitfalls" id="{A0F990D4-3A76-41EA-9A44-3E6A8AD1A0F8}">
          <p14:sldIdLst>
            <p14:sldId id="274"/>
          </p14:sldIdLst>
        </p14:section>
        <p14:section name="Four lenses" id="{772053F9-5B8E-4D3B-9B39-FF602017E760}">
          <p14:sldIdLst>
            <p14:sldId id="275"/>
            <p14:sldId id="276"/>
            <p14:sldId id="277"/>
            <p14:sldId id="278"/>
            <p14:sldId id="279"/>
          </p14:sldIdLst>
        </p14:section>
        <p14:section name="Lab" id="{5DF49813-2DB8-44DF-96A2-E2DB13616B97}">
          <p14:sldIdLst>
            <p14:sldId id="280"/>
            <p14:sldId id="281"/>
            <p14:sldId id="282"/>
            <p14:sldId id="283"/>
            <p14:sldId id="284"/>
            <p14:sldId id="285"/>
            <p14:sldId id="286"/>
            <p14:sldId id="287"/>
            <p14:sldId id="288"/>
          </p14:sldIdLst>
        </p14:section>
        <p14:section name="Checkpoint" id="{4BD576C5-27EF-4222-8652-9CFEA83F3918}">
          <p14:sldIdLst>
            <p14:sldId id="289"/>
            <p14:sldId id="290"/>
            <p14:sldId id="291"/>
            <p14:sldId id="292"/>
            <p14:sldId id="293"/>
            <p14:sldId id="294"/>
          </p14:sldIdLst>
        </p14:section>
        <p14:section name="Wrap-up" id="{43860A4B-7B5D-46DE-B1FF-C63C5CB651D7}">
          <p14:sldIdLst>
            <p14:sldId id="295"/>
            <p14:sldId id="296"/>
            <p14:sldId id="297"/>
            <p14:sldId id="298"/>
            <p14:sldId id="299"/>
            <p14:sldId id="30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22: The Machine Learning Project. Part 6 — Responsible Practice. Week 11: Neural networks; the project brief. Handout pages 169–176.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Everything. In particular Chapter 1 (T, P and E), Chapter 3 (the workflow and leakage), Chapter 7 (model selection), Chapter 8 (metrics and uncertainty) and Chapter 21 (the checklist and the model card). The project delivers HEC 2023 CLO-5 — “develop a reasonable size project using suitable machine learning technique” — and the HEC 2025 outcome “design and develop end-to-end ML solutions for real-world datasets”.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problem framing; success criterion; proposal; milestone; fixed test set; experiment log; reproducibility; random seed; version control; ablation; error analysis; model card; technical report;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22.1 (handout p. 170): The project across the last six weeks of the semester. The test set is opened only once, after experiments are frozen in Week 14.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 analysis is the step most projects skip and the one that teaches most: look at the examples the model gets wrong, and ask what they have in common. An ablation — removing one feature or one step and measuring the change — shows what each part of the pipeline contributes. Both belong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presentation is ten minutes and five slides: the decision and why it matters; the data; what was compared and how; the result against the baseline, with its uncertainty; and one limitation. Every member of the pair must be able to answer any question on any part.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method, four domains. Each of the next four slides opens one lens in full.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Analytics. Predict course failure from early-term engagement (the worked example); cluster students by study behaviour and describe each group; or run a bandit over reminder messages and report which works best. Obtain anonymised data with written permission, and include the fairness check across programmes.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Management. Estimate issue resolution time from ticket text and metadata (regression plus naive Bayes features); or classify projects at risk from their weekly metrics. Open issue trackers from public software projects are an accessible, legal source.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Internet of Things. Detect machine faults from a public vibration or predictive-maintenance dataset; compare an anomaly detector trained on normal data with a supervised classifier, and report the cost of each kind of error.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Cybersecurity. Classify network connections as benign or malicious on a public intrusion-detection dataset, or phishing URLs from their features. Report precision at fixed recall, compare with a signature-style rule, and test how easily the model can be evaded by changing one feature.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Copy this script as the skeleton of your project and replace the data and the candidate models. It writes an experiment log, the saved model and a model card into a folder called project_output.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Data, and a split made once and never changed.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Baseline, then candidates, all by cross-validation.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Tune the chosen family.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The test set, once.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Save the model and write its model card.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For example: “On a freshly labelled sample of 5,000 messages from the test week, the filter blocks at least 95% of spam while blocking fewer than 1 in 1,000 legitimate messages.”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They differ by 0.007, far less than one standard deviation of either: they are indistinguishable. Choose on other grounds — simplicity, speed, explainability, fairness.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Any three of: the random seeds; the data version and the split indices; the code version (commit); the library versions; the hyperparameters.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COURSE: 22 chapters  ·  six parts  ·  four lenses  ·  one project. READ: Handout Chapter 22, pages 169–176. THIS WEEK'S LAB: Backpropagation from scratch. ASSESSMENT: Project set; proposal due.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1.xml"/><Relationship Id="rId8" Type="http://schemas.openxmlformats.org/officeDocument/2006/relationships/slide" Target="slide14.xml"/><Relationship Id="rId9" Type="http://schemas.openxmlformats.org/officeDocument/2006/relationships/slide" Target="slide17.xml"/><Relationship Id="rId10" Type="http://schemas.openxmlformats.org/officeDocument/2006/relationships/slide" Target="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3.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6.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23.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5.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6.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image" Target="../media/image31.png"/><Relationship Id="rId5" Type="http://schemas.openxmlformats.org/officeDocument/2006/relationships/image" Target="../media/image32.svg"/><Relationship Id="rId6" Type="http://schemas.openxmlformats.org/officeDocument/2006/relationships/image" Target="../media/image33.png"/><Relationship Id="rId7" Type="http://schemas.openxmlformats.org/officeDocument/2006/relationships/image" Target="../media/image34.svg"/><Relationship Id="rId8" Type="http://schemas.openxmlformats.org/officeDocument/2006/relationships/image" Target="../media/image35.png"/><Relationship Id="rId9" Type="http://schemas.openxmlformats.org/officeDocument/2006/relationships/image" Target="../media/image36.svg"/><Relationship Id="rId10" Type="http://schemas.openxmlformats.org/officeDocument/2006/relationships/image" Target="../media/image37.png"/><Relationship Id="rId11" Type="http://schemas.openxmlformats.org/officeDocument/2006/relationships/image" Target="../media/image38.svg"/><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image" Target="../media/image31.png"/><Relationship Id="rId5" Type="http://schemas.openxmlformats.org/officeDocument/2006/relationships/image" Target="../media/image41.svg"/><Relationship Id="rId6" Type="http://schemas.openxmlformats.org/officeDocument/2006/relationships/image" Target="../media/image33.png"/><Relationship Id="rId7" Type="http://schemas.openxmlformats.org/officeDocument/2006/relationships/image" Target="../media/image42.svg"/><Relationship Id="rId8" Type="http://schemas.openxmlformats.org/officeDocument/2006/relationships/image" Target="../media/image35.png"/><Relationship Id="rId9" Type="http://schemas.openxmlformats.org/officeDocument/2006/relationships/image" Target="../media/image43.svg"/><Relationship Id="rId10" Type="http://schemas.openxmlformats.org/officeDocument/2006/relationships/image" Target="../media/image37.png"/><Relationship Id="rId11" Type="http://schemas.openxmlformats.org/officeDocument/2006/relationships/image" Target="../media/image44.svg"/><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image" Target="../media/image33.png"/><Relationship Id="rId5" Type="http://schemas.openxmlformats.org/officeDocument/2006/relationships/image" Target="../media/image47.svg"/><Relationship Id="rId6" Type="http://schemas.openxmlformats.org/officeDocument/2006/relationships/image" Target="../media/image31.png"/><Relationship Id="rId7" Type="http://schemas.openxmlformats.org/officeDocument/2006/relationships/image" Target="../media/image48.svg"/><Relationship Id="rId8" Type="http://schemas.openxmlformats.org/officeDocument/2006/relationships/image" Target="../media/image35.png"/><Relationship Id="rId9" Type="http://schemas.openxmlformats.org/officeDocument/2006/relationships/image" Target="../media/image49.svg"/><Relationship Id="rId10" Type="http://schemas.openxmlformats.org/officeDocument/2006/relationships/image" Target="../media/image37.png"/><Relationship Id="rId11" Type="http://schemas.openxmlformats.org/officeDocument/2006/relationships/image" Target="../media/image50.sv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2.svg"/><Relationship Id="rId4" Type="http://schemas.openxmlformats.org/officeDocument/2006/relationships/image" Target="../media/image35.png"/><Relationship Id="rId5" Type="http://schemas.openxmlformats.org/officeDocument/2006/relationships/image" Target="../media/image53.svg"/><Relationship Id="rId6" Type="http://schemas.openxmlformats.org/officeDocument/2006/relationships/image" Target="../media/image31.png"/><Relationship Id="rId7" Type="http://schemas.openxmlformats.org/officeDocument/2006/relationships/image" Target="../media/image54.svg"/><Relationship Id="rId8" Type="http://schemas.openxmlformats.org/officeDocument/2006/relationships/image" Target="../media/image33.png"/><Relationship Id="rId9" Type="http://schemas.openxmlformats.org/officeDocument/2006/relationships/image" Target="../media/image55.svg"/><Relationship Id="rId10" Type="http://schemas.openxmlformats.org/officeDocument/2006/relationships/image" Target="../media/image37.png"/><Relationship Id="rId11" Type="http://schemas.openxmlformats.org/officeDocument/2006/relationships/image" Target="../media/image56.sv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7.png"/><Relationship Id="rId3" Type="http://schemas.openxmlformats.org/officeDocument/2006/relationships/image" Target="../media/image58.svg"/><Relationship Id="rId4" Type="http://schemas.openxmlformats.org/officeDocument/2006/relationships/image" Target="../media/image37.png"/><Relationship Id="rId5" Type="http://schemas.openxmlformats.org/officeDocument/2006/relationships/image" Target="../media/image59.svg"/><Relationship Id="rId6" Type="http://schemas.openxmlformats.org/officeDocument/2006/relationships/image" Target="../media/image31.png"/><Relationship Id="rId7" Type="http://schemas.openxmlformats.org/officeDocument/2006/relationships/image" Target="../media/image60.svg"/><Relationship Id="rId8" Type="http://schemas.openxmlformats.org/officeDocument/2006/relationships/image" Target="../media/image33.png"/><Relationship Id="rId9" Type="http://schemas.openxmlformats.org/officeDocument/2006/relationships/image" Target="../media/image61.svg"/><Relationship Id="rId10" Type="http://schemas.openxmlformats.org/officeDocument/2006/relationships/image" Target="../media/image35.png"/><Relationship Id="rId11" Type="http://schemas.openxmlformats.org/officeDocument/2006/relationships/image" Target="../media/image62.sv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4.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5.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6.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7.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8.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69.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70.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71.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3.png"/><Relationship Id="rId3" Type="http://schemas.openxmlformats.org/officeDocument/2006/relationships/image" Target="../media/image72.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4.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6.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7.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78.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image" Target="../media/image79.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image" Target="../media/image80.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1.png"/><Relationship Id="rId3" Type="http://schemas.openxmlformats.org/officeDocument/2006/relationships/image" Target="../media/image82.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4.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5.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6.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image" Target="../media/image87.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E6B1F"/>
                </a:solidFill>
                <a:latin typeface="Segoe UI Black"/>
              </a:rPr>
              <a:t>22</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The Machine Learning Project</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PART VI  ·  RESPONSIBLE PRACTICE</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CHAPTER 22  ·  WEEK 11</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2DECD"/>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142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BDB7A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CECAB9"/>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BDB7A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169     </a:t>
            </a:r>
            <a:fld id="{086683AD-F473-439F-B7B9-993733650749}"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333571"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333571"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883647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883647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339370" y="1755648"/>
            <a:ext cx="919637"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05B06"/>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339370" y="2029967"/>
            <a:ext cx="919637" cy="4572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036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18892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6689895"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5984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37374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2823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7783268"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6918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192795"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10135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8876641"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878520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286168"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19472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9695694"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60425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379541"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28810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0798211" y="2112264"/>
            <a:ext cx="566928" cy="566928"/>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0798211"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05B06"/>
                </a:solidFill>
                <a:latin typeface="Segoe UI"/>
              </a:rPr>
              <a:t>The Machine Learning Project</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1">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1">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1"/>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1  </a:t>
            </a:r>
            <a:r>
              <a:rPr sz="1400" b="0" i="0">
                <a:solidFill>
                  <a:srgbClr val="1C252B"/>
                </a:solidFill>
                <a:latin typeface="Segoe UI"/>
              </a:rPr>
              <a:t>What Machine Learning Is</a:t>
            </a:r>
          </a:p>
        </p:txBody>
      </p:sp>
      <p:sp>
        <p:nvSpPr>
          <p:cNvPr id="68" name="!!chipBU3">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3">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3"/>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The Machine Learning Workflow and Toolkit</a:t>
            </a:r>
          </a:p>
        </p:txBody>
      </p:sp>
      <p:sp>
        <p:nvSpPr>
          <p:cNvPr id="71" name="!!chipBU7">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7">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7"/>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4" name="!!chipBU8">
            <a:extLst>
              <a:ext uri="{C183D7F6-B498-43B3-948B-1728B52AA6E4}">
                <adec:decorative xmlns:adec="http://schemas.microsoft.com/office/drawing/2017/decorative" val="1"/>
              </a:ext>
            </a:extLst>
          </p:cNvPr>
          <p:cNvSpPr/>
          <p:nvPr/>
        </p:nvSpPr>
        <p:spPr>
          <a:xfrm>
            <a:off x="658368" y="5321808"/>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chipbBU8">
            <a:extLst>
              <a:ext uri="{C183D7F6-B498-43B3-948B-1728B52AA6E4}">
                <adec:decorative xmlns:adec="http://schemas.microsoft.com/office/drawing/2017/decorative" val="1"/>
              </a:ext>
            </a:extLst>
          </p:cNvPr>
          <p:cNvSpPr/>
          <p:nvPr/>
        </p:nvSpPr>
        <p:spPr>
          <a:xfrm>
            <a:off x="658368" y="5321808"/>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tBU8"/>
          <p:cNvSpPr txBox="1"/>
          <p:nvPr/>
        </p:nvSpPr>
        <p:spPr>
          <a:xfrm>
            <a:off x="859536"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8  </a:t>
            </a:r>
            <a:r>
              <a:rPr sz="1400" b="0" i="0">
                <a:solidFill>
                  <a:srgbClr val="1C252B"/>
                </a:solidFill>
                <a:latin typeface="Segoe UI"/>
              </a:rPr>
              <a:t>Measuring Classifier Performance</a:t>
            </a:r>
          </a:p>
        </p:txBody>
      </p:sp>
      <p:sp>
        <p:nvSpPr>
          <p:cNvPr id="77" name="!!chipBU21">
            <a:extLst>
              <a:ext uri="{C183D7F6-B498-43B3-948B-1728B52AA6E4}">
                <adec:decorative xmlns:adec="http://schemas.microsoft.com/office/drawing/2017/decorative" val="1"/>
              </a:ext>
            </a:extLst>
          </p:cNvPr>
          <p:cNvSpPr/>
          <p:nvPr/>
        </p:nvSpPr>
        <p:spPr>
          <a:xfrm>
            <a:off x="658368" y="5833872"/>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chipbBU21">
            <a:extLst>
              <a:ext uri="{C183D7F6-B498-43B3-948B-1728B52AA6E4}">
                <adec:decorative xmlns:adec="http://schemas.microsoft.com/office/drawing/2017/decorative" val="1"/>
              </a:ext>
            </a:extLst>
          </p:cNvPr>
          <p:cNvSpPr/>
          <p:nvPr/>
        </p:nvSpPr>
        <p:spPr>
          <a:xfrm>
            <a:off x="658368" y="5833872"/>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tBU21"/>
          <p:cNvSpPr txBox="1"/>
          <p:nvPr/>
        </p:nvSpPr>
        <p:spPr>
          <a:xfrm>
            <a:off x="859536"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and Ethical Machine Learning</a:t>
            </a:r>
          </a:p>
        </p:txBody>
      </p:sp>
      <p:sp>
        <p:nvSpPr>
          <p:cNvPr id="80"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81" name="!!dep-none-USED "/>
          <p:cNvSpPr txBox="1"/>
          <p:nvPr/>
        </p:nvSpPr>
        <p:spPr>
          <a:xfrm>
            <a:off x="6324447" y="3785616"/>
            <a:ext cx="520887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98A4AE"/>
                </a:solidFill>
                <a:latin typeface="Segoe UI"/>
              </a:rPr>
              <a:t>—  the course ends here</a:t>
            </a:r>
          </a:p>
        </p:txBody>
      </p:sp>
      <p:sp>
        <p:nvSpPr>
          <p:cNvPr id="8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pfill">
            <a:extLst>
              <a:ext uri="{C183D7F6-B498-43B3-948B-1728B52AA6E4}">
                <adec:decorative xmlns:adec="http://schemas.microsoft.com/office/drawing/2017/decorative" val="1"/>
              </a:ext>
            </a:extLst>
          </p:cNvPr>
          <p:cNvSpPr/>
          <p:nvPr/>
        </p:nvSpPr>
        <p:spPr>
          <a:xfrm>
            <a:off x="0" y="0"/>
            <a:ext cx="54185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169     </a:t>
            </a:r>
            <a:fld id="{1B226A6B-CBA4-4B17-BDC0-5B949DD02F78}"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Scope</a:t>
            </a:r>
            <a:r>
              <a:rPr sz="2100" b="0" i="0">
                <a:solidFill>
                  <a:srgbClr val="1C252B"/>
                </a:solidFill>
                <a:latin typeface="Segoe UI"/>
              </a:rPr>
              <a:t> a machine learning project: turn a vague aim into a task, performance measure, data source, baseline and success criterion.</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Plan</a:t>
            </a:r>
            <a:r>
              <a:rPr sz="2100" b="0" i="0">
                <a:solidFill>
                  <a:srgbClr val="1C252B"/>
                </a:solidFill>
                <a:latin typeface="Segoe UI"/>
              </a:rPr>
              <a:t> the project in milestones and </a:t>
            </a:r>
            <a:r>
              <a:rPr sz="2100" b="1" i="0">
                <a:solidFill>
                  <a:srgbClr val="1C252B"/>
                </a:solidFill>
                <a:latin typeface="Segoe UI"/>
              </a:rPr>
              <a:t>write</a:t>
            </a:r>
            <a:r>
              <a:rPr sz="2100" b="0" i="0">
                <a:solidFill>
                  <a:srgbClr val="1C252B"/>
                </a:solidFill>
                <a:latin typeface="Segoe UI"/>
              </a:rPr>
              <a:t> a one-page proposal.</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Run</a:t>
            </a:r>
            <a:r>
              <a:rPr sz="2100" b="0" i="0">
                <a:solidFill>
                  <a:srgbClr val="1C252B"/>
                </a:solidFill>
                <a:latin typeface="Segoe UI"/>
              </a:rPr>
              <a:t> experiments reproducibly: one fixed split, cross-validated comparisons, an experiment log, seeds and version control.</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1347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Report</a:t>
            </a:r>
            <a:r>
              <a:rPr sz="2100" b="0" i="0">
                <a:solidFill>
                  <a:srgbClr val="1C252B"/>
                </a:solidFill>
                <a:latin typeface="Segoe UI"/>
              </a:rPr>
              <a:t> results honestly, with a baseline, uncertainty, per-group performance and a model card.</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Present</a:t>
            </a:r>
            <a:r>
              <a:rPr sz="2100" b="0" i="0">
                <a:solidFill>
                  <a:srgbClr val="1C252B"/>
                </a:solidFill>
                <a:latin typeface="Segoe UI"/>
              </a:rPr>
              <a:t> and </a:t>
            </a:r>
            <a:r>
              <a:rPr sz="2100" b="1" i="0">
                <a:solidFill>
                  <a:srgbClr val="1C252B"/>
                </a:solidFill>
                <a:latin typeface="Segoe UI"/>
              </a:rPr>
              <a:t>defend</a:t>
            </a:r>
            <a:r>
              <a:rPr sz="2100" b="0" i="0">
                <a:solidFill>
                  <a:srgbClr val="1C252B"/>
                </a:solidFill>
                <a:latin typeface="Segoe UI"/>
              </a:rPr>
              <a:t> the project’s choices.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1277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169     </a:t>
            </a:r>
            <a:fld id="{088E00C3-AAB4-4915-AB5F-8778B71E1A3B}" type="slidenum">
              <a:rPr lang="en-GB" sz="1000">
                <a:solidFill>
                  <a:srgbClr val="8795A1"/>
                </a:solidFill>
                <a:latin typeface="Segoe UI"/>
              </a:rPr>
              <a:t>4</a:t>
            </a:fld>
          </a:p>
        </p:txBody>
      </p:sp>
      <p:sp>
        <p:nvSpPr>
          <p:cNvPr id="7" name="!!term-problem framin">
            <a:extLst>
              <a:ext uri="{C183D7F6-B498-43B3-948B-1728B52AA6E4}">
                <adec:decorative xmlns:adec="http://schemas.microsoft.com/office/drawing/2017/decorative" val="1"/>
              </a:ext>
            </a:extLst>
          </p:cNvPr>
          <p:cNvSpPr/>
          <p:nvPr/>
        </p:nvSpPr>
        <p:spPr>
          <a:xfrm>
            <a:off x="658368" y="1847088"/>
            <a:ext cx="198049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problem framin">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problem framin"/>
          <p:cNvSpPr txBox="1"/>
          <p:nvPr/>
        </p:nvSpPr>
        <p:spPr>
          <a:xfrm>
            <a:off x="950976" y="1962911"/>
            <a:ext cx="179761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problem framing</a:t>
            </a:r>
          </a:p>
        </p:txBody>
      </p:sp>
      <p:sp>
        <p:nvSpPr>
          <p:cNvPr id="10" name="!!term-success criter">
            <a:extLst>
              <a:ext uri="{C183D7F6-B498-43B3-948B-1728B52AA6E4}">
                <adec:decorative xmlns:adec="http://schemas.microsoft.com/office/drawing/2017/decorative" val="1"/>
              </a:ext>
            </a:extLst>
          </p:cNvPr>
          <p:cNvSpPr/>
          <p:nvPr/>
        </p:nvSpPr>
        <p:spPr>
          <a:xfrm>
            <a:off x="2785171" y="1847088"/>
            <a:ext cx="193429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success criter">
            <a:extLst>
              <a:ext uri="{C183D7F6-B498-43B3-948B-1728B52AA6E4}">
                <adec:decorative xmlns:adec="http://schemas.microsoft.com/office/drawing/2017/decorative" val="1"/>
              </a:ext>
            </a:extLst>
          </p:cNvPr>
          <p:cNvSpPr/>
          <p:nvPr/>
        </p:nvSpPr>
        <p:spPr>
          <a:xfrm>
            <a:off x="291318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success criter"/>
          <p:cNvSpPr txBox="1"/>
          <p:nvPr/>
        </p:nvSpPr>
        <p:spPr>
          <a:xfrm>
            <a:off x="3077779" y="1962911"/>
            <a:ext cx="175141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success criterion</a:t>
            </a:r>
          </a:p>
        </p:txBody>
      </p:sp>
      <p:sp>
        <p:nvSpPr>
          <p:cNvPr id="13" name="!!term-proposal">
            <a:extLst>
              <a:ext uri="{C183D7F6-B498-43B3-948B-1728B52AA6E4}">
                <adec:decorative xmlns:adec="http://schemas.microsoft.com/office/drawing/2017/decorative" val="1"/>
              </a:ext>
            </a:extLst>
          </p:cNvPr>
          <p:cNvSpPr/>
          <p:nvPr/>
        </p:nvSpPr>
        <p:spPr>
          <a:xfrm>
            <a:off x="4865771" y="1847088"/>
            <a:ext cx="12411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proposal">
            <a:extLst>
              <a:ext uri="{C183D7F6-B498-43B3-948B-1728B52AA6E4}">
                <adec:decorative xmlns:adec="http://schemas.microsoft.com/office/drawing/2017/decorative" val="1"/>
              </a:ext>
            </a:extLst>
          </p:cNvPr>
          <p:cNvSpPr/>
          <p:nvPr/>
        </p:nvSpPr>
        <p:spPr>
          <a:xfrm>
            <a:off x="4993787"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proposal"/>
          <p:cNvSpPr txBox="1"/>
          <p:nvPr/>
        </p:nvSpPr>
        <p:spPr>
          <a:xfrm>
            <a:off x="5158379" y="1962911"/>
            <a:ext cx="105830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proposal</a:t>
            </a:r>
          </a:p>
        </p:txBody>
      </p:sp>
      <p:sp>
        <p:nvSpPr>
          <p:cNvPr id="16" name="!!term-milestone">
            <a:extLst>
              <a:ext uri="{C183D7F6-B498-43B3-948B-1728B52AA6E4}">
                <adec:decorative xmlns:adec="http://schemas.microsoft.com/office/drawing/2017/decorative" val="1"/>
              </a:ext>
            </a:extLst>
          </p:cNvPr>
          <p:cNvSpPr/>
          <p:nvPr/>
        </p:nvSpPr>
        <p:spPr>
          <a:xfrm>
            <a:off x="6253264" y="1847088"/>
            <a:ext cx="133136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milestone">
            <a:extLst>
              <a:ext uri="{C183D7F6-B498-43B3-948B-1728B52AA6E4}">
                <adec:decorative xmlns:adec="http://schemas.microsoft.com/office/drawing/2017/decorative" val="1"/>
              </a:ext>
            </a:extLst>
          </p:cNvPr>
          <p:cNvSpPr/>
          <p:nvPr/>
        </p:nvSpPr>
        <p:spPr>
          <a:xfrm>
            <a:off x="638128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milestone"/>
          <p:cNvSpPr txBox="1"/>
          <p:nvPr/>
        </p:nvSpPr>
        <p:spPr>
          <a:xfrm>
            <a:off x="6545872" y="1962911"/>
            <a:ext cx="114848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milestone</a:t>
            </a:r>
          </a:p>
        </p:txBody>
      </p:sp>
      <p:sp>
        <p:nvSpPr>
          <p:cNvPr id="19" name="!!term-fixed test set">
            <a:extLst>
              <a:ext uri="{C183D7F6-B498-43B3-948B-1728B52AA6E4}">
                <adec:decorative xmlns:adec="http://schemas.microsoft.com/office/drawing/2017/decorative" val="1"/>
              </a:ext>
            </a:extLst>
          </p:cNvPr>
          <p:cNvSpPr/>
          <p:nvPr/>
        </p:nvSpPr>
        <p:spPr>
          <a:xfrm>
            <a:off x="7730933" y="1847088"/>
            <a:ext cx="15964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fixed test set">
            <a:extLst>
              <a:ext uri="{C183D7F6-B498-43B3-948B-1728B52AA6E4}">
                <adec:decorative xmlns:adec="http://schemas.microsoft.com/office/drawing/2017/decorative" val="1"/>
              </a:ext>
            </a:extLst>
          </p:cNvPr>
          <p:cNvSpPr/>
          <p:nvPr/>
        </p:nvSpPr>
        <p:spPr>
          <a:xfrm>
            <a:off x="785894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fixed test set"/>
          <p:cNvSpPr txBox="1"/>
          <p:nvPr/>
        </p:nvSpPr>
        <p:spPr>
          <a:xfrm>
            <a:off x="8023541" y="1962911"/>
            <a:ext cx="141354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fixed test set</a:t>
            </a:r>
          </a:p>
        </p:txBody>
      </p:sp>
      <p:sp>
        <p:nvSpPr>
          <p:cNvPr id="22" name="!!term-experiment log">
            <a:extLst>
              <a:ext uri="{C183D7F6-B498-43B3-948B-1728B52AA6E4}">
                <adec:decorative xmlns:adec="http://schemas.microsoft.com/office/drawing/2017/decorative" val="1"/>
              </a:ext>
            </a:extLst>
          </p:cNvPr>
          <p:cNvSpPr/>
          <p:nvPr/>
        </p:nvSpPr>
        <p:spPr>
          <a:xfrm>
            <a:off x="9473666" y="1847088"/>
            <a:ext cx="181991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experiment log">
            <a:extLst>
              <a:ext uri="{C183D7F6-B498-43B3-948B-1728B52AA6E4}">
                <adec:decorative xmlns:adec="http://schemas.microsoft.com/office/drawing/2017/decorative" val="1"/>
              </a:ext>
            </a:extLst>
          </p:cNvPr>
          <p:cNvSpPr/>
          <p:nvPr/>
        </p:nvSpPr>
        <p:spPr>
          <a:xfrm>
            <a:off x="960168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experiment log"/>
          <p:cNvSpPr txBox="1"/>
          <p:nvPr/>
        </p:nvSpPr>
        <p:spPr>
          <a:xfrm>
            <a:off x="9766274" y="1962911"/>
            <a:ext cx="163703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experiment log</a:t>
            </a:r>
          </a:p>
        </p:txBody>
      </p:sp>
      <p:sp>
        <p:nvSpPr>
          <p:cNvPr id="25" name="!!term-reproducibilit">
            <a:extLst>
              <a:ext uri="{C183D7F6-B498-43B3-948B-1728B52AA6E4}">
                <adec:decorative xmlns:adec="http://schemas.microsoft.com/office/drawing/2017/decorative" val="1"/>
              </a:ext>
            </a:extLst>
          </p:cNvPr>
          <p:cNvSpPr/>
          <p:nvPr/>
        </p:nvSpPr>
        <p:spPr>
          <a:xfrm>
            <a:off x="658368" y="2468880"/>
            <a:ext cx="17630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reproducibilit">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reproducibilit"/>
          <p:cNvSpPr txBox="1"/>
          <p:nvPr/>
        </p:nvSpPr>
        <p:spPr>
          <a:xfrm>
            <a:off x="950976" y="2584704"/>
            <a:ext cx="15801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reproducibility</a:t>
            </a:r>
          </a:p>
        </p:txBody>
      </p:sp>
      <p:sp>
        <p:nvSpPr>
          <p:cNvPr id="28" name="!!term-random seed">
            <a:extLst>
              <a:ext uri="{C183D7F6-B498-43B3-948B-1728B52AA6E4}">
                <adec:decorative xmlns:adec="http://schemas.microsoft.com/office/drawing/2017/decorative" val="1"/>
              </a:ext>
            </a:extLst>
          </p:cNvPr>
          <p:cNvSpPr/>
          <p:nvPr/>
        </p:nvSpPr>
        <p:spPr>
          <a:xfrm>
            <a:off x="2567709" y="2468880"/>
            <a:ext cx="163938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random seed">
            <a:extLst>
              <a:ext uri="{C183D7F6-B498-43B3-948B-1728B52AA6E4}">
                <adec:decorative xmlns:adec="http://schemas.microsoft.com/office/drawing/2017/decorative" val="1"/>
              </a:ext>
            </a:extLst>
          </p:cNvPr>
          <p:cNvSpPr/>
          <p:nvPr/>
        </p:nvSpPr>
        <p:spPr>
          <a:xfrm>
            <a:off x="269572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random seed"/>
          <p:cNvSpPr txBox="1"/>
          <p:nvPr/>
        </p:nvSpPr>
        <p:spPr>
          <a:xfrm>
            <a:off x="2860317" y="2584704"/>
            <a:ext cx="1456505"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random seed</a:t>
            </a:r>
          </a:p>
        </p:txBody>
      </p:sp>
      <p:sp>
        <p:nvSpPr>
          <p:cNvPr id="31" name="!!term-version contro">
            <a:extLst>
              <a:ext uri="{C183D7F6-B498-43B3-948B-1728B52AA6E4}">
                <adec:decorative xmlns:adec="http://schemas.microsoft.com/office/drawing/2017/decorative" val="1"/>
              </a:ext>
            </a:extLst>
          </p:cNvPr>
          <p:cNvSpPr/>
          <p:nvPr/>
        </p:nvSpPr>
        <p:spPr>
          <a:xfrm>
            <a:off x="4353398" y="2468880"/>
            <a:ext cx="180080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version contro">
            <a:extLst>
              <a:ext uri="{C183D7F6-B498-43B3-948B-1728B52AA6E4}">
                <adec:decorative xmlns:adec="http://schemas.microsoft.com/office/drawing/2017/decorative" val="1"/>
              </a:ext>
            </a:extLst>
          </p:cNvPr>
          <p:cNvSpPr/>
          <p:nvPr/>
        </p:nvSpPr>
        <p:spPr>
          <a:xfrm>
            <a:off x="448141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version contro"/>
          <p:cNvSpPr txBox="1"/>
          <p:nvPr/>
        </p:nvSpPr>
        <p:spPr>
          <a:xfrm>
            <a:off x="4646006" y="2584704"/>
            <a:ext cx="161792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version control</a:t>
            </a:r>
          </a:p>
        </p:txBody>
      </p:sp>
      <p:sp>
        <p:nvSpPr>
          <p:cNvPr id="34" name="!!term-ablation">
            <a:extLst>
              <a:ext uri="{C183D7F6-B498-43B3-948B-1728B52AA6E4}">
                <adec:decorative xmlns:adec="http://schemas.microsoft.com/office/drawing/2017/decorative" val="1"/>
              </a:ext>
            </a:extLst>
          </p:cNvPr>
          <p:cNvSpPr/>
          <p:nvPr/>
        </p:nvSpPr>
        <p:spPr>
          <a:xfrm>
            <a:off x="6300507" y="2468880"/>
            <a:ext cx="118112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ablation">
            <a:extLst>
              <a:ext uri="{C183D7F6-B498-43B3-948B-1728B52AA6E4}">
                <adec:decorative xmlns:adec="http://schemas.microsoft.com/office/drawing/2017/decorative" val="1"/>
              </a:ext>
            </a:extLst>
          </p:cNvPr>
          <p:cNvSpPr/>
          <p:nvPr/>
        </p:nvSpPr>
        <p:spPr>
          <a:xfrm>
            <a:off x="642852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ablation"/>
          <p:cNvSpPr txBox="1"/>
          <p:nvPr/>
        </p:nvSpPr>
        <p:spPr>
          <a:xfrm>
            <a:off x="6593115" y="2584704"/>
            <a:ext cx="998244"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ablation</a:t>
            </a:r>
          </a:p>
        </p:txBody>
      </p:sp>
      <p:sp>
        <p:nvSpPr>
          <p:cNvPr id="37" name="!!term-error analysis">
            <a:extLst>
              <a:ext uri="{C183D7F6-B498-43B3-948B-1728B52AA6E4}">
                <adec:decorative xmlns:adec="http://schemas.microsoft.com/office/drawing/2017/decorative" val="1"/>
              </a:ext>
            </a:extLst>
          </p:cNvPr>
          <p:cNvSpPr/>
          <p:nvPr/>
        </p:nvSpPr>
        <p:spPr>
          <a:xfrm>
            <a:off x="7627935" y="2468880"/>
            <a:ext cx="164659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error analysis">
            <a:extLst>
              <a:ext uri="{C183D7F6-B498-43B3-948B-1728B52AA6E4}">
                <adec:decorative xmlns:adec="http://schemas.microsoft.com/office/drawing/2017/decorative" val="1"/>
              </a:ext>
            </a:extLst>
          </p:cNvPr>
          <p:cNvSpPr/>
          <p:nvPr/>
        </p:nvSpPr>
        <p:spPr>
          <a:xfrm>
            <a:off x="775595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error analysis"/>
          <p:cNvSpPr txBox="1"/>
          <p:nvPr/>
        </p:nvSpPr>
        <p:spPr>
          <a:xfrm>
            <a:off x="7920543" y="2584704"/>
            <a:ext cx="146371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error analysis</a:t>
            </a:r>
          </a:p>
        </p:txBody>
      </p:sp>
      <p:sp>
        <p:nvSpPr>
          <p:cNvPr id="40" name="!!term-model card">
            <a:extLst>
              <a:ext uri="{C183D7F6-B498-43B3-948B-1728B52AA6E4}">
                <adec:decorative xmlns:adec="http://schemas.microsoft.com/office/drawing/2017/decorative" val="1"/>
              </a:ext>
            </a:extLst>
          </p:cNvPr>
          <p:cNvSpPr/>
          <p:nvPr/>
        </p:nvSpPr>
        <p:spPr>
          <a:xfrm>
            <a:off x="9420837" y="2468880"/>
            <a:ext cx="147166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model card">
            <a:extLst>
              <a:ext uri="{C183D7F6-B498-43B3-948B-1728B52AA6E4}">
                <adec:decorative xmlns:adec="http://schemas.microsoft.com/office/drawing/2017/decorative" val="1"/>
              </a:ext>
            </a:extLst>
          </p:cNvPr>
          <p:cNvSpPr/>
          <p:nvPr/>
        </p:nvSpPr>
        <p:spPr>
          <a:xfrm>
            <a:off x="954885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model card"/>
          <p:cNvSpPr txBox="1"/>
          <p:nvPr/>
        </p:nvSpPr>
        <p:spPr>
          <a:xfrm>
            <a:off x="9713445" y="2584704"/>
            <a:ext cx="128878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model card</a:t>
            </a:r>
          </a:p>
        </p:txBody>
      </p:sp>
      <p:sp>
        <p:nvSpPr>
          <p:cNvPr id="43" name="!!term-technical repo">
            <a:extLst>
              <a:ext uri="{C183D7F6-B498-43B3-948B-1728B52AA6E4}">
                <adec:decorative xmlns:adec="http://schemas.microsoft.com/office/drawing/2017/decorative" val="1"/>
              </a:ext>
            </a:extLst>
          </p:cNvPr>
          <p:cNvSpPr/>
          <p:nvPr/>
        </p:nvSpPr>
        <p:spPr>
          <a:xfrm>
            <a:off x="658368" y="3090672"/>
            <a:ext cx="187258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technical repo">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technical repo"/>
          <p:cNvSpPr txBox="1"/>
          <p:nvPr/>
        </p:nvSpPr>
        <p:spPr>
          <a:xfrm>
            <a:off x="950976" y="3206496"/>
            <a:ext cx="168970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technical report</a:t>
            </a:r>
          </a:p>
        </p:txBody>
      </p:sp>
      <p:sp>
        <p:nvSpPr>
          <p:cNvPr id="46" name="!!term-presentation">
            <a:extLst>
              <a:ext uri="{C183D7F6-B498-43B3-948B-1728B52AA6E4}">
                <adec:decorative xmlns:adec="http://schemas.microsoft.com/office/drawing/2017/decorative" val="1"/>
              </a:ext>
            </a:extLst>
          </p:cNvPr>
          <p:cNvSpPr/>
          <p:nvPr/>
        </p:nvSpPr>
        <p:spPr>
          <a:xfrm>
            <a:off x="2677254" y="3090672"/>
            <a:ext cx="15898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presentation">
            <a:extLst>
              <a:ext uri="{C183D7F6-B498-43B3-948B-1728B52AA6E4}">
                <adec:decorative xmlns:adec="http://schemas.microsoft.com/office/drawing/2017/decorative" val="1"/>
              </a:ext>
            </a:extLst>
          </p:cNvPr>
          <p:cNvSpPr/>
          <p:nvPr/>
        </p:nvSpPr>
        <p:spPr>
          <a:xfrm>
            <a:off x="2805270"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presentation"/>
          <p:cNvSpPr txBox="1"/>
          <p:nvPr/>
        </p:nvSpPr>
        <p:spPr>
          <a:xfrm>
            <a:off x="2969862" y="3206496"/>
            <a:ext cx="140692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presentation</a:t>
            </a:r>
          </a:p>
        </p:txBody>
      </p:sp>
      <p:sp>
        <p:nvSpPr>
          <p:cNvPr id="49"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108370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169–176     </a:t>
            </a:r>
            <a:fld id="{324399C0-0303-4EF7-AF97-B09871858AC8}" type="slidenum">
              <a:rPr lang="en-GB" sz="1000">
                <a:solidFill>
                  <a:srgbClr val="8795A1"/>
                </a:solidFill>
                <a:latin typeface="Segoe UI"/>
              </a:rPr>
              <a:t>5</a:t>
            </a:fld>
          </a:p>
        </p:txBody>
      </p:sp>
      <p:sp>
        <p:nvSpPr>
          <p:cNvPr id="7" name="!!ag0" descr="Go to section 22.1 What the Project Is For">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22.1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What the Project Is For</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169  ›</a:t>
            </a:r>
          </a:p>
        </p:txBody>
      </p:sp>
      <p:sp>
        <p:nvSpPr>
          <p:cNvPr id="12" name="!!ag1" descr="Go to section 22.2 Choosing and Scoping a Problem">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22.2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Choosing and Scoping a Problem</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169  ›</a:t>
            </a:r>
          </a:p>
        </p:txBody>
      </p:sp>
      <p:sp>
        <p:nvSpPr>
          <p:cNvPr id="17" name="!!ag2" descr="Go to section 22.3 The Plan">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22.3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Plan</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170  ›</a:t>
            </a:r>
          </a:p>
        </p:txBody>
      </p:sp>
      <p:sp>
        <p:nvSpPr>
          <p:cNvPr id="22" name="!!ag3" descr="Go to section 22.4 Running Experiments Honestly">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22.4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Running Experiments Honestly</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171  ›</a:t>
            </a:r>
          </a:p>
        </p:txBody>
      </p:sp>
      <p:sp>
        <p:nvSpPr>
          <p:cNvPr id="27" name="!!ag4" descr="Go to section 22.5 The Report and the Presentation">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22.5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Report and the Presentation</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171  ›</a:t>
            </a:r>
          </a:p>
        </p:txBody>
      </p:sp>
      <p:sp>
        <p:nvSpPr>
          <p:cNvPr id="32" name="!!ag5" descr="Go to section 22.6 Assessment">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22.6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Assessment</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172  ›</a:t>
            </a:r>
          </a:p>
        </p:txBody>
      </p:sp>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135463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Project Is For</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§22.1  ·  Handout p. 169     </a:t>
            </a:r>
            <a:fld id="{D35D9A68-F826-4825-B5B0-F34FEE62D693}"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28480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930347"/>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Each chapter has taught one piece: one algorithm, one metric, one pitfall. Real work needs all of them at once, in the right order, on data nobody has cleaned in advance, for a question that matters to someone. The project is where that happens. It is worth 15% of the course (see the Course Specification), is done in pairs, runs from Week 11 to Week 16, and is judged less on the final accuracy than on whether every number in it can be trusted.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62555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Choosing and Scoping a Problem</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2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22.2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22.1   What the Project Is For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22.2   Choosing and Scoping a Problem</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22.3   The Plan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22.4   Running Experiments Honestly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22.5   The Report and the Presentation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22.6   Assessment</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§22.2     </a:t>
            </a:r>
            <a:fld id="{1633BC34-000F-4E0E-AC42-D5B95D43180C}" type="slidenum">
              <a:rPr lang="en-GB" sz="1000">
                <a:solidFill>
                  <a:srgbClr val="8795A1"/>
                </a:solidFill>
                <a:latin typeface="Segoe UI"/>
              </a:rPr>
              <a:t>7</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89648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Choosing and Scoping a Problem</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§22.2  ·  Handout p. 169     </a:t>
            </a:r>
            <a:fld id="{0F1F925B-0161-4ECB-916F-610C277618E0}"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67784"/>
          </a:xfrm>
          <a:prstGeom prst="roundRect">
            <a:avLst>
              <a:gd name="adj" fmla="val 2142"/>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6778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good project problem has four properties: a </a:t>
            </a:r>
            <a:r>
              <a:rPr sz="2300" b="1" i="0">
                <a:solidFill>
                  <a:srgbClr val="1C252B"/>
                </a:solidFill>
                <a:latin typeface="Segoe UI"/>
              </a:rPr>
              <a:t>decision</a:t>
            </a:r>
            <a:r>
              <a:rPr sz="2300" b="0" i="0">
                <a:solidFill>
                  <a:srgbClr val="1C252B"/>
                </a:solidFill>
                <a:latin typeface="Segoe UI"/>
              </a:rPr>
              <a:t> someone would make with the prediction; </a:t>
            </a:r>
            <a:r>
              <a:rPr sz="2300" b="1" i="0">
                <a:solidFill>
                  <a:srgbClr val="1C252B"/>
                </a:solidFill>
                <a:latin typeface="Segoe UI"/>
              </a:rPr>
              <a:t>data</a:t>
            </a:r>
            <a:r>
              <a:rPr sz="2300" b="0" i="0">
                <a:solidFill>
                  <a:srgbClr val="1C252B"/>
                </a:solidFill>
                <a:latin typeface="Segoe UI"/>
              </a:rPr>
              <a:t> you can legally obtain, with labels, preferably at least a thousand examples; a </a:t>
            </a:r>
            <a:r>
              <a:rPr sz="2300" b="1" i="0">
                <a:solidFill>
                  <a:srgbClr val="1C252B"/>
                </a:solidFill>
                <a:latin typeface="Segoe UI"/>
              </a:rPr>
              <a:t>baseline</a:t>
            </a:r>
            <a:r>
              <a:rPr sz="2300" b="0" i="0">
                <a:solidFill>
                  <a:srgbClr val="1C252B"/>
                </a:solidFill>
                <a:latin typeface="Segoe UI"/>
              </a:rPr>
              <a:t> that is easy to compute; and a </a:t>
            </a:r>
            <a:r>
              <a:rPr sz="2300" b="1" i="0">
                <a:solidFill>
                  <a:srgbClr val="1C252B"/>
                </a:solidFill>
                <a:latin typeface="Segoe UI"/>
              </a:rPr>
              <a:t>scope</a:t>
            </a:r>
            <a:r>
              <a:rPr sz="2300" b="0" i="0">
                <a:solidFill>
                  <a:srgbClr val="1C252B"/>
                </a:solidFill>
                <a:latin typeface="Segoe UI"/>
              </a:rPr>
              <a:t> that fits five weeks. Sources of data:</a:t>
            </a:r>
          </a:p>
        </p:txBody>
      </p:sp>
      <p:sp>
        <p:nvSpPr>
          <p:cNvPr id="10" name="body-1"/>
          <p:cNvSpPr txBox="1"/>
          <p:nvPr/>
        </p:nvSpPr>
        <p:spPr>
          <a:xfrm>
            <a:off x="1060704" y="3667074"/>
            <a:ext cx="10161727" cy="2072893"/>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1A5276"/>
                </a:solidFill>
                <a:latin typeface="Segoe UI"/>
              </a:rPr>
              <a:t>•	</a:t>
            </a:r>
            <a:r>
              <a:rPr sz="2300" b="0" i="0">
                <a:solidFill>
                  <a:srgbClr val="1C252B"/>
                </a:solidFill>
                <a:latin typeface="Segoe UI"/>
              </a:rPr>
              <a:t>the UCI Machine Learning Repository, OpenML and Kaggle, each with thousands of documented datasets;</a:t>
            </a:r>
          </a:p>
          <a:p>
            <a:pPr algn="l" marL="257176" indent="-257176">
              <a:lnSpc>
                <a:spcPct val="104000"/>
              </a:lnSpc>
              <a:spcBef>
                <a:spcPts val="0"/>
              </a:spcBef>
              <a:spcAft>
                <a:spcPts val="804"/>
              </a:spcAft>
            </a:pPr>
            <a:r>
              <a:rPr sz="2300" b="1">
                <a:solidFill>
                  <a:srgbClr val="1A5276"/>
                </a:solidFill>
                <a:latin typeface="Segoe UI"/>
              </a:rPr>
              <a:t>•	</a:t>
            </a:r>
            <a:r>
              <a:rPr sz="2300" b="0" i="0">
                <a:solidFill>
                  <a:srgbClr val="1C252B"/>
                </a:solidFill>
                <a:latin typeface="Segoe UI"/>
              </a:rPr>
              <a:t>the datasets bundled with scikit-learn, for rehearsing the pipeline;</a:t>
            </a:r>
          </a:p>
          <a:p>
            <a:pPr algn="l" marL="257176" indent="-257176">
              <a:lnSpc>
                <a:spcPct val="104000"/>
              </a:lnSpc>
              <a:spcBef>
                <a:spcPts val="0"/>
              </a:spcBef>
              <a:spcAft>
                <a:spcPts val="0"/>
              </a:spcAft>
            </a:pPr>
            <a:r>
              <a:rPr sz="2300" b="1">
                <a:solidFill>
                  <a:srgbClr val="1A5276"/>
                </a:solidFill>
                <a:latin typeface="Segoe UI"/>
              </a:rPr>
              <a:t>•	</a:t>
            </a:r>
            <a:r>
              <a:rPr sz="2300" b="0" i="0">
                <a:solidFill>
                  <a:srgbClr val="1C252B"/>
                </a:solidFill>
                <a:latin typeface="Segoe UI"/>
              </a:rPr>
              <a:t>data from your own institution or employer — only with written permission, and never with personal identifiers (Chapter 21).</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216741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
                                            <p:txEl>
                                              <p:pRg st="2" end="2"/>
                                            </p:txEl>
                                          </p:spTgt>
                                        </p:tgtEl>
                                        <p:attrNameLst>
                                          <p:attrName>style.visibility</p:attrName>
                                        </p:attrNameLst>
                                      </p:cBhvr>
                                      <p:to>
                                        <p:strVal val="visible"/>
                                      </p:to>
                                    </p:set>
                                    <p:animEffect transition="in" filter="fade">
                                      <p:cBhvr>
                                        <p:cTn id="18" dur="380"/>
                                        <p:tgtEl>
                                          <p:spTgt spid="10">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From a Vague Idea to a Project</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§22.2  ·  Handout p. 169     </a:t>
            </a:r>
            <a:fld id="{3BF4F2C1-A74B-44F7-B5FD-522A0B585654}"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23639"/>
          </a:xfrm>
          <a:prstGeom prst="roundRect">
            <a:avLst>
              <a:gd name="adj" fmla="val 216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236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Idea:</a:t>
            </a:r>
            <a:r>
              <a:rPr sz="1900" b="0" i="0">
                <a:solidFill>
                  <a:srgbClr val="1C252B"/>
                </a:solidFill>
                <a:latin typeface="Segoe UI"/>
              </a:rPr>
              <a:t> “Use machine learning to improve student results.”</a:t>
            </a:r>
          </a:p>
        </p:txBody>
      </p:sp>
      <p:sp>
        <p:nvSpPr>
          <p:cNvPr id="10" name="body-1"/>
          <p:cNvSpPr txBox="1"/>
          <p:nvPr/>
        </p:nvSpPr>
        <p:spPr>
          <a:xfrm>
            <a:off x="1042416" y="2445537"/>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Decision.</a:t>
            </a:r>
            <a:r>
              <a:rPr sz="1900" b="0" i="0">
                <a:solidFill>
                  <a:srgbClr val="1C252B"/>
                </a:solidFill>
                <a:latin typeface="Segoe UI"/>
              </a:rPr>
              <a:t> Who acts on the prediction? The department’s advisers, who can contact about 50 students each term.</a:t>
            </a:r>
          </a:p>
        </p:txBody>
      </p:sp>
      <p:sp>
        <p:nvSpPr>
          <p:cNvPr id="11" name="body-2"/>
          <p:cNvSpPr txBox="1"/>
          <p:nvPr/>
        </p:nvSpPr>
        <p:spPr>
          <a:xfrm>
            <a:off x="1042416" y="3180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Task </a:t>
            </a:r>
            <a:r>
              <a:rPr sz="1900" b="1" i="1">
                <a:solidFill>
                  <a:srgbClr val="1C252B"/>
                </a:solidFill>
                <a:latin typeface="Cambria"/>
              </a:rPr>
              <a:t>T</a:t>
            </a:r>
            <a:r>
              <a:rPr sz="1900" b="1" i="0">
                <a:solidFill>
                  <a:srgbClr val="1C252B"/>
                </a:solidFill>
                <a:latin typeface="Segoe UI"/>
              </a:rPr>
              <a:t>.</a:t>
            </a:r>
            <a:r>
              <a:rPr sz="1900" b="0" i="0">
                <a:solidFill>
                  <a:srgbClr val="1C252B"/>
                </a:solidFill>
                <a:latin typeface="Segoe UI"/>
              </a:rPr>
              <a:t> In Week 4, rank enrolled students by their risk of failing the course.</a:t>
            </a:r>
          </a:p>
        </p:txBody>
      </p:sp>
      <p:sp>
        <p:nvSpPr>
          <p:cNvPr id="12" name="body-3"/>
          <p:cNvSpPr txBox="1"/>
          <p:nvPr/>
        </p:nvSpPr>
        <p:spPr>
          <a:xfrm>
            <a:off x="1042416" y="3614394"/>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Experience </a:t>
            </a:r>
            <a:r>
              <a:rPr sz="1900" b="1" i="1">
                <a:solidFill>
                  <a:srgbClr val="1C252B"/>
                </a:solidFill>
                <a:latin typeface="Cambria"/>
              </a:rPr>
              <a:t>E</a:t>
            </a:r>
            <a:r>
              <a:rPr sz="1900" b="1" i="0">
                <a:solidFill>
                  <a:srgbClr val="1C252B"/>
                </a:solidFill>
                <a:latin typeface="Segoe UI"/>
              </a:rPr>
              <a:t>.</a:t>
            </a:r>
            <a:r>
              <a:rPr sz="1900" b="0" i="0">
                <a:solidFill>
                  <a:srgbClr val="1C252B"/>
                </a:solidFill>
                <a:latin typeface="Segoe UI"/>
              </a:rPr>
              <a:t> Three past cohorts (about 900 students) with Week-4 attendance, quiz marks and LMS activity, and final results — obtained anonymised, with the department’s written permission.</a:t>
            </a:r>
          </a:p>
        </p:txBody>
      </p:sp>
      <p:sp>
        <p:nvSpPr>
          <p:cNvPr id="13" name="body-4"/>
          <p:cNvSpPr txBox="1"/>
          <p:nvPr/>
        </p:nvSpPr>
        <p:spPr>
          <a:xfrm>
            <a:off x="1042416" y="4650536"/>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Performance </a:t>
            </a:r>
            <a:r>
              <a:rPr sz="1900" b="1" i="1">
                <a:solidFill>
                  <a:srgbClr val="1C252B"/>
                </a:solidFill>
                <a:latin typeface="Cambria"/>
              </a:rPr>
              <a:t>P</a:t>
            </a:r>
            <a:r>
              <a:rPr sz="1900" b="1" i="0">
                <a:solidFill>
                  <a:srgbClr val="1C252B"/>
                </a:solidFill>
                <a:latin typeface="Segoe UI"/>
              </a:rPr>
              <a:t>.</a:t>
            </a:r>
            <a:r>
              <a:rPr sz="1900" b="0" i="0">
                <a:solidFill>
                  <a:srgbClr val="1C252B"/>
                </a:solidFill>
                <a:latin typeface="Segoe UI"/>
              </a:rPr>
              <a:t> Recall among the top 50 ranked students (how many eventual failures the advisers would reach), with precision reported beside it.</a:t>
            </a:r>
          </a:p>
        </p:txBody>
      </p:sp>
      <p:sp>
        <p:nvSpPr>
          <p:cNvPr id="14" name="body-5"/>
          <p:cNvSpPr txBox="1"/>
          <p:nvPr/>
        </p:nvSpPr>
        <p:spPr>
          <a:xfrm>
            <a:off x="1042416" y="5385536"/>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Baseline.</a:t>
            </a:r>
            <a:r>
              <a:rPr sz="1900" b="0" i="0">
                <a:solidFill>
                  <a:srgbClr val="1C252B"/>
                </a:solidFill>
                <a:latin typeface="Segoe UI"/>
              </a:rPr>
              <a:t> Rank by attendance alone — the rule advisers already use.</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243833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From a Vague Idea to a Project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§22.2  ·  Handout p. 169     </a:t>
            </a:r>
            <a:fld id="{15556C3A-FDDB-4A8A-9866-40E1C0CC481F}"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187067"/>
          </a:xfrm>
          <a:prstGeom prst="roundRect">
            <a:avLst>
              <a:gd name="adj" fmla="val 418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18706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Success criterion.</a:t>
            </a:r>
            <a:r>
              <a:rPr sz="1900" b="0" i="0">
                <a:solidFill>
                  <a:srgbClr val="1C252B"/>
                </a:solidFill>
                <a:latin typeface="Segoe UI"/>
              </a:rPr>
              <a:t> Beat the attendance rule’s recall at 50 by at least five students on the held-out cohort, with no group of students (by programme) whose recall is below 60% of the others’.</a:t>
            </a:r>
          </a:p>
        </p:txBody>
      </p:sp>
      <p:sp>
        <p:nvSpPr>
          <p:cNvPr id="10" name="body-1"/>
          <p:cNvSpPr txBox="1"/>
          <p:nvPr/>
        </p:nvSpPr>
        <p:spPr>
          <a:xfrm>
            <a:off x="1042416" y="304782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Every later choice — features, model, threshold, fairness check — now has something to be judged against. A project without that paragraph cannot fail, and so cannot succeed either.</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70926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Plan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3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22.3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22.1   What the Project Is For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22.2   Choosing and Scoping a Problem</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22.3   The Plan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22.4   Running Experiments Honestly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22.5   The Report and the Presentation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22.6   Assessment</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§22.3     </a:t>
            </a:r>
            <a:fld id="{BD5154D0-2BF0-42A8-ADF8-F9D1E29034ED}" type="slidenum">
              <a:rPr lang="en-GB" sz="1000">
                <a:solidFill>
                  <a:srgbClr val="8795A1"/>
                </a:solidFill>
                <a:latin typeface="Segoe UI"/>
              </a:rPr>
              <a:t>11</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98019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project across the last six weeks of the semester</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22.1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§22.3  ·  Handout p. 170     </a:t>
            </a:r>
            <a:fld id="{F24BBC63-93D3-4DEE-9D35-F09BDB9AAB0F}" type="slidenum">
              <a:rPr lang="en-GB" sz="1000">
                <a:solidFill>
                  <a:srgbClr val="8795A1"/>
                </a:solidFill>
                <a:latin typeface="Segoe UI"/>
              </a:rPr>
              <a:t>12</a:t>
            </a:fld>
          </a:p>
        </p:txBody>
      </p:sp>
      <p:pic>
        <p:nvPicPr>
          <p:cNvPr id="6" name="!!figure" descr="Figure 22.1. The project across the last six weeks of the semester. The test set is opened only once, after experiments are frozen in Week 14."/>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2197" y="1737360"/>
            <a:ext cx="10807301"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test set is opened only once, after experiments are frozen in Week 14.</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25111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One-Page Proposal (due end of Week 11)</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§22.3  ·  Handout p. 170     </a:t>
            </a:r>
            <a:fld id="{CE4C5385-70E4-44FB-B89F-8A010E7BAED8}"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20211"/>
          </a:xfrm>
          <a:prstGeom prst="roundRect">
            <a:avLst>
              <a:gd name="adj" fmla="val 2754"/>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20211"/>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744139"/>
          </a:xfrm>
          <a:prstGeom prst="rect">
            <a:avLst/>
          </a:prstGeom>
          <a:noFill/>
        </p:spPr>
        <p:txBody>
          <a:bodyPr wrap="square" anchor="t" lIns="0" rIns="0" tIns="0" bIns="0">
            <a:noAutofit/>
          </a:bodyPr>
          <a:lstStyle/>
          <a:p>
            <a:pPr algn="l" marL="554820" indent="-554820">
              <a:lnSpc>
                <a:spcPct val="104000"/>
              </a:lnSpc>
              <a:spcBef>
                <a:spcPts val="0"/>
              </a:spcBef>
              <a:spcAft>
                <a:spcPts val="804"/>
              </a:spcAft>
            </a:pPr>
            <a:r>
              <a:rPr sz="2300" b="1">
                <a:solidFill>
                  <a:srgbClr val="1F618D"/>
                </a:solidFill>
                <a:latin typeface="Segoe UI"/>
              </a:rPr>
              <a:t>1.	</a:t>
            </a:r>
            <a:r>
              <a:rPr sz="2300" b="1" i="0">
                <a:solidFill>
                  <a:srgbClr val="1F618D"/>
                </a:solidFill>
                <a:latin typeface="Segoe UI"/>
              </a:rPr>
              <a:t>Problem and decision:</a:t>
            </a:r>
            <a:r>
              <a:rPr sz="2300" b="0" i="0">
                <a:solidFill>
                  <a:srgbClr val="1C252B"/>
                </a:solidFill>
                <a:latin typeface="Segoe UI"/>
              </a:rPr>
              <a:t> who will use the prediction, for what.</a:t>
            </a:r>
          </a:p>
          <a:p>
            <a:pPr algn="l" marL="554820" indent="-554820">
              <a:lnSpc>
                <a:spcPct val="104000"/>
              </a:lnSpc>
              <a:spcBef>
                <a:spcPts val="0"/>
              </a:spcBef>
              <a:spcAft>
                <a:spcPts val="804"/>
              </a:spcAft>
            </a:pPr>
            <a:r>
              <a:rPr sz="2300" b="1">
                <a:solidFill>
                  <a:srgbClr val="1F618D"/>
                </a:solidFill>
                <a:latin typeface="Segoe UI"/>
              </a:rPr>
              <a:t>2.	</a:t>
            </a:r>
            <a:r>
              <a:rPr sz="2300" b="1" i="1">
                <a:solidFill>
                  <a:srgbClr val="1F618D"/>
                </a:solidFill>
                <a:latin typeface="Cambria"/>
              </a:rPr>
              <a:t>T</a:t>
            </a:r>
            <a:r>
              <a:rPr sz="2300" b="1" i="0">
                <a:solidFill>
                  <a:srgbClr val="1C252B"/>
                </a:solidFill>
                <a:latin typeface="Segoe UI"/>
              </a:rPr>
              <a:t>, </a:t>
            </a:r>
            <a:r>
              <a:rPr sz="2300" b="1" i="1">
                <a:solidFill>
                  <a:srgbClr val="1C252B"/>
                </a:solidFill>
                <a:latin typeface="Cambria"/>
              </a:rPr>
              <a:t>P</a:t>
            </a:r>
            <a:r>
              <a:rPr sz="2300" b="1" i="0">
                <a:solidFill>
                  <a:srgbClr val="1C252B"/>
                </a:solidFill>
                <a:latin typeface="Segoe UI"/>
              </a:rPr>
              <a:t>, </a:t>
            </a:r>
            <a:r>
              <a:rPr sz="2300" b="1" i="1">
                <a:solidFill>
                  <a:srgbClr val="1C252B"/>
                </a:solidFill>
                <a:latin typeface="Cambria"/>
              </a:rPr>
              <a:t>E</a:t>
            </a:r>
            <a:r>
              <a:rPr sz="2300" b="0" i="0">
                <a:solidFill>
                  <a:srgbClr val="1C252B"/>
                </a:solidFill>
                <a:latin typeface="Segoe UI"/>
              </a:rPr>
              <a:t>, as in the worked example.</a:t>
            </a:r>
          </a:p>
          <a:p>
            <a:pPr algn="l" marL="554820" indent="-554820">
              <a:lnSpc>
                <a:spcPct val="104000"/>
              </a:lnSpc>
              <a:spcBef>
                <a:spcPts val="0"/>
              </a:spcBef>
              <a:spcAft>
                <a:spcPts val="804"/>
              </a:spcAft>
            </a:pPr>
            <a:r>
              <a:rPr sz="2300" b="1">
                <a:solidFill>
                  <a:srgbClr val="1F618D"/>
                </a:solidFill>
                <a:latin typeface="Segoe UI"/>
              </a:rPr>
              <a:t>3.	</a:t>
            </a:r>
            <a:r>
              <a:rPr sz="2300" b="1" i="0">
                <a:solidFill>
                  <a:srgbClr val="1F618D"/>
                </a:solidFill>
                <a:latin typeface="Segoe UI"/>
              </a:rPr>
              <a:t>Data:</a:t>
            </a:r>
            <a:r>
              <a:rPr sz="2300" b="0" i="0">
                <a:solidFill>
                  <a:srgbClr val="1C252B"/>
                </a:solidFill>
                <a:latin typeface="Segoe UI"/>
              </a:rPr>
              <a:t> source, size, label, permission, known problems.</a:t>
            </a:r>
          </a:p>
          <a:p>
            <a:pPr algn="l" marL="554820" indent="-554820">
              <a:lnSpc>
                <a:spcPct val="104000"/>
              </a:lnSpc>
              <a:spcBef>
                <a:spcPts val="0"/>
              </a:spcBef>
              <a:spcAft>
                <a:spcPts val="804"/>
              </a:spcAft>
            </a:pPr>
            <a:r>
              <a:rPr sz="2300" b="1">
                <a:solidFill>
                  <a:srgbClr val="1F618D"/>
                </a:solidFill>
                <a:latin typeface="Segoe UI"/>
              </a:rPr>
              <a:t>4.	</a:t>
            </a:r>
            <a:r>
              <a:rPr sz="2300" b="1" i="0">
                <a:solidFill>
                  <a:srgbClr val="1F618D"/>
                </a:solidFill>
                <a:latin typeface="Segoe UI"/>
              </a:rPr>
              <a:t>Baseline</a:t>
            </a:r>
            <a:r>
              <a:rPr sz="2300" b="0" i="0">
                <a:solidFill>
                  <a:srgbClr val="1C252B"/>
                </a:solidFill>
                <a:latin typeface="Segoe UI"/>
              </a:rPr>
              <a:t> and </a:t>
            </a:r>
            <a:r>
              <a:rPr sz="2300" b="1" i="0">
                <a:solidFill>
                  <a:srgbClr val="1C252B"/>
                </a:solidFill>
                <a:latin typeface="Segoe UI"/>
              </a:rPr>
              <a:t>success criterion</a:t>
            </a:r>
            <a:r>
              <a:rPr sz="2300" b="0" i="0">
                <a:solidFill>
                  <a:srgbClr val="1C252B"/>
                </a:solidFill>
                <a:latin typeface="Segoe UI"/>
              </a:rPr>
              <a:t>.</a:t>
            </a:r>
          </a:p>
          <a:p>
            <a:pPr algn="l" marL="554820" indent="-554820">
              <a:lnSpc>
                <a:spcPct val="104000"/>
              </a:lnSpc>
              <a:spcBef>
                <a:spcPts val="0"/>
              </a:spcBef>
              <a:spcAft>
                <a:spcPts val="804"/>
              </a:spcAft>
            </a:pPr>
            <a:r>
              <a:rPr sz="2300" b="1">
                <a:solidFill>
                  <a:srgbClr val="1F618D"/>
                </a:solidFill>
                <a:latin typeface="Segoe UI"/>
              </a:rPr>
              <a:t>5.	</a:t>
            </a:r>
            <a:r>
              <a:rPr sz="2300" b="1" i="0">
                <a:solidFill>
                  <a:srgbClr val="1F618D"/>
                </a:solidFill>
                <a:latin typeface="Segoe UI"/>
              </a:rPr>
              <a:t>Planned models</a:t>
            </a:r>
            <a:r>
              <a:rPr sz="2300" b="0" i="0">
                <a:solidFill>
                  <a:srgbClr val="1C252B"/>
                </a:solidFill>
                <a:latin typeface="Segoe UI"/>
              </a:rPr>
              <a:t> (at least one from each of two different chapters).</a:t>
            </a:r>
          </a:p>
          <a:p>
            <a:pPr algn="l" marL="554820" indent="-554820">
              <a:lnSpc>
                <a:spcPct val="104000"/>
              </a:lnSpc>
              <a:spcBef>
                <a:spcPts val="0"/>
              </a:spcBef>
              <a:spcAft>
                <a:spcPts val="0"/>
              </a:spcAft>
            </a:pPr>
            <a:r>
              <a:rPr sz="2300" b="1">
                <a:solidFill>
                  <a:srgbClr val="1F618D"/>
                </a:solidFill>
                <a:latin typeface="Segoe UI"/>
              </a:rPr>
              <a:t>6.	</a:t>
            </a:r>
            <a:r>
              <a:rPr sz="2300" b="1" i="0">
                <a:solidFill>
                  <a:srgbClr val="1F618D"/>
                </a:solidFill>
                <a:latin typeface="Segoe UI"/>
              </a:rPr>
              <a:t>Risks and ethics:</a:t>
            </a:r>
            <a:r>
              <a:rPr sz="2300" b="0" i="0">
                <a:solidFill>
                  <a:srgbClr val="1C252B"/>
                </a:solidFill>
                <a:latin typeface="Segoe UI"/>
              </a:rPr>
              <a:t> who could be harmed; which fairness check.</a:t>
            </a:r>
          </a:p>
        </p:txBody>
      </p:sp>
      <p:sp>
        <p:nvSpPr>
          <p:cNvPr id="3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fill">
            <a:extLst>
              <a:ext uri="{C183D7F6-B498-43B3-948B-1728B52AA6E4}">
                <adec:decorative xmlns:adec="http://schemas.microsoft.com/office/drawing/2017/decorative" val="1"/>
              </a:ext>
            </a:extLst>
          </p:cNvPr>
          <p:cNvSpPr/>
          <p:nvPr/>
        </p:nvSpPr>
        <p:spPr>
          <a:xfrm>
            <a:off x="0" y="0"/>
            <a:ext cx="352204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8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80"/>
                                        <p:tgtEl>
                                          <p:spTgt spid="9">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xEl>
                                              <p:pRg st="5" end="5"/>
                                            </p:txEl>
                                          </p:spTgt>
                                        </p:tgtEl>
                                        <p:attrNameLst>
                                          <p:attrName>style.visibility</p:attrName>
                                        </p:attrNameLst>
                                      </p:cBhvr>
                                      <p:to>
                                        <p:strVal val="visible"/>
                                      </p:to>
                                    </p:set>
                                    <p:animEffect transition="in" filter="fade">
                                      <p:cBhvr>
                                        <p:cTn id="33" dur="38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Running Experiments Honestly</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4 OF 6</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22.4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22.1   What the Project Is For</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22.2   Choosing and Scoping a Problem</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22.3   The Plan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22.4   Running Experiments Honestly</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22.5   The Report and the Presentation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22.6   Assessment</a:t>
            </a:r>
          </a:p>
        </p:txBody>
      </p:sp>
      <p:sp>
        <p:nvSpPr>
          <p:cNvPr id="12"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a:t>
            </a:r>
          </a:p>
        </p:txBody>
      </p:sp>
      <p:sp>
        <p:nvSpPr>
          <p:cNvPr id="13"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§22.4     </a:t>
            </a:r>
            <a:fld id="{AA4DD70E-D9C3-423D-9363-343E93AA75F2}" type="slidenum">
              <a:rPr lang="en-GB" sz="1000">
                <a:solidFill>
                  <a:srgbClr val="8795A1"/>
                </a:solidFill>
                <a:latin typeface="Segoe UI"/>
              </a:rPr>
              <a:t>14</a:t>
            </a:fld>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79297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Rules for Reproducible Experiments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§22.4  ·  Handout p. 171     </a:t>
            </a:r>
            <a:fld id="{6859E19C-55D3-4D82-9A64-AE6616396BAF}"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11599"/>
          </a:xfrm>
          <a:prstGeom prst="roundRect">
            <a:avLst>
              <a:gd name="adj" fmla="val 212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1159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735527"/>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1" i="0">
                <a:solidFill>
                  <a:srgbClr val="8A4500"/>
                </a:solidFill>
                <a:latin typeface="Segoe UI"/>
              </a:rPr>
              <a:t>Split once, first,</a:t>
            </a:r>
            <a:r>
              <a:rPr sz="2300" b="0" i="0">
                <a:solidFill>
                  <a:srgbClr val="1C252B"/>
                </a:solidFill>
                <a:latin typeface="Segoe UI"/>
              </a:rPr>
              <a:t> and store the test indices; the test set is not opened until the experiments are frozen.</a:t>
            </a:r>
          </a:p>
          <a:p>
            <a:pPr algn="l" marL="257176" indent="-257176">
              <a:lnSpc>
                <a:spcPct val="104000"/>
              </a:lnSpc>
              <a:spcBef>
                <a:spcPts val="0"/>
              </a:spcBef>
              <a:spcAft>
                <a:spcPts val="804"/>
              </a:spcAft>
            </a:pPr>
            <a:r>
              <a:rPr sz="2300" b="1">
                <a:solidFill>
                  <a:srgbClr val="8A4500"/>
                </a:solidFill>
                <a:latin typeface="Segoe UI"/>
              </a:rPr>
              <a:t>•	</a:t>
            </a:r>
            <a:r>
              <a:rPr sz="2300" b="1" i="0">
                <a:solidFill>
                  <a:srgbClr val="8A4500"/>
                </a:solidFill>
                <a:latin typeface="Segoe UI"/>
              </a:rPr>
              <a:t>Every model is a pipeline</a:t>
            </a:r>
            <a:r>
              <a:rPr sz="2300" b="0" i="0">
                <a:solidFill>
                  <a:srgbClr val="1C252B"/>
                </a:solidFill>
                <a:latin typeface="Segoe UI"/>
              </a:rPr>
              <a:t> (Chapter 3) evaluated by the same cross-validation folds.</a:t>
            </a:r>
          </a:p>
          <a:p>
            <a:pPr algn="l" marL="257176" indent="-257176">
              <a:lnSpc>
                <a:spcPct val="104000"/>
              </a:lnSpc>
              <a:spcBef>
                <a:spcPts val="0"/>
              </a:spcBef>
              <a:spcAft>
                <a:spcPts val="804"/>
              </a:spcAft>
            </a:pPr>
            <a:r>
              <a:rPr sz="2300" b="1">
                <a:solidFill>
                  <a:srgbClr val="8A4500"/>
                </a:solidFill>
                <a:latin typeface="Segoe UI"/>
              </a:rPr>
              <a:t>•	</a:t>
            </a:r>
            <a:r>
              <a:rPr sz="2300" b="1" i="0">
                <a:solidFill>
                  <a:srgbClr val="8A4500"/>
                </a:solidFill>
                <a:latin typeface="Segoe UI"/>
              </a:rPr>
              <a:t>Log every run</a:t>
            </a:r>
            <a:r>
              <a:rPr sz="2300" b="0" i="0">
                <a:solidFill>
                  <a:srgbClr val="1C252B"/>
                </a:solidFill>
                <a:latin typeface="Segoe UI"/>
              </a:rPr>
              <a:t>: date, model, settings, CV mean and standard deviation, and one line on why it was run. The log, not memory, is the record.</a:t>
            </a:r>
          </a:p>
          <a:p>
            <a:pPr algn="l" marL="257176" indent="-257176">
              <a:lnSpc>
                <a:spcPct val="104000"/>
              </a:lnSpc>
              <a:spcBef>
                <a:spcPts val="0"/>
              </a:spcBef>
              <a:spcAft>
                <a:spcPts val="804"/>
              </a:spcAft>
            </a:pPr>
            <a:r>
              <a:rPr sz="2300" b="1">
                <a:solidFill>
                  <a:srgbClr val="8A4500"/>
                </a:solidFill>
                <a:latin typeface="Segoe UI"/>
              </a:rPr>
              <a:t>•	</a:t>
            </a:r>
            <a:r>
              <a:rPr sz="2300" b="1" i="0">
                <a:solidFill>
                  <a:srgbClr val="8A4500"/>
                </a:solidFill>
                <a:latin typeface="Segoe UI"/>
              </a:rPr>
              <a:t>Fix the random seeds</a:t>
            </a:r>
            <a:r>
              <a:rPr sz="2300" b="0" i="0">
                <a:solidFill>
                  <a:srgbClr val="1C252B"/>
                </a:solidFill>
                <a:latin typeface="Segoe UI"/>
              </a:rPr>
              <a:t> and record the library versions.</a:t>
            </a:r>
          </a:p>
          <a:p>
            <a:pPr algn="l" marL="257176" indent="-257176">
              <a:lnSpc>
                <a:spcPct val="104000"/>
              </a:lnSpc>
              <a:spcBef>
                <a:spcPts val="0"/>
              </a:spcBef>
              <a:spcAft>
                <a:spcPts val="0"/>
              </a:spcAft>
            </a:pPr>
            <a:r>
              <a:rPr sz="2300" b="1">
                <a:solidFill>
                  <a:srgbClr val="8A4500"/>
                </a:solidFill>
                <a:latin typeface="Segoe UI"/>
              </a:rPr>
              <a:t>•	</a:t>
            </a:r>
            <a:r>
              <a:rPr sz="2300" b="1" i="0">
                <a:solidFill>
                  <a:srgbClr val="8A4500"/>
                </a:solidFill>
                <a:latin typeface="Segoe UI"/>
              </a:rPr>
              <a:t>Use version control</a:t>
            </a:r>
            <a:r>
              <a:rPr sz="2300" b="0" i="0">
                <a:solidFill>
                  <a:srgbClr val="1C252B"/>
                </a:solidFill>
                <a:latin typeface="Segoe UI"/>
              </a:rPr>
              <a:t> (Git): commit the code with each logged run, so any number in the report can be regenerated.</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8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8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Reading an Experiment Log</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§22.4  ·  Handout p. 171     </a:t>
            </a:r>
            <a:fld id="{AAC2948E-62EC-45D2-9AFC-7E05136CA5C2}"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110888"/>
          </a:xfrm>
          <a:prstGeom prst="roundRect">
            <a:avLst>
              <a:gd name="adj" fmla="val 222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1108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15163"/>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lab’s template writes this log for a tumour classifier whose metric is recall on the malignant class:</a:t>
            </a:r>
          </a:p>
        </p:txBody>
      </p:sp>
      <p:graphicFrame>
        <p:nvGraphicFramePr>
          <p:cNvPr id="10" name="body-1"/>
          <p:cNvGraphicFramePr>
            <a:graphicFrameLocks noGrp="1"/>
          </p:cNvGraphicFramePr>
          <p:nvPr/>
        </p:nvGraphicFramePr>
        <p:xfrm>
          <a:off x="1042416" y="2399868"/>
          <a:ext cx="4489472" cy="1438656"/>
        </p:xfrm>
        <a:graphic>
          <a:graphicData uri="http://schemas.openxmlformats.org/drawingml/2006/table">
            <a:tbl>
              <a:tblPr firstRow="0" bandRow="0" firstCol="0" lastRow="0" lastCol="0" bandCol="0">
                <a:tableStyleId>{2D5ABB26-0587-4C30-8999-92F81FD0307C}</a:tableStyleId>
              </a:tblPr>
              <a:tblGrid>
                <a:gridCol w="2149533"/>
                <a:gridCol w="1653550"/>
                <a:gridCol w="686389"/>
              </a:tblGrid>
              <a:tr h="359664">
                <a:tc>
                  <a:txBody>
                    <a:bodyPr wrap="square"/>
                    <a:lstStyle/>
                    <a:p>
                      <a:pPr algn="l"/>
                      <a:r>
                        <a:rPr sz="1400" b="1" i="0">
                          <a:solidFill>
                            <a:srgbClr val="1A5276"/>
                          </a:solidFill>
                          <a:latin typeface="Segoe UI"/>
                        </a:rPr>
                        <a:t>Model</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400" b="1" i="0">
                          <a:solidFill>
                            <a:srgbClr val="1A5276"/>
                          </a:solidFill>
                          <a:latin typeface="Segoe UI"/>
                        </a:rPr>
                        <a:t>CV recall (mean)</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r"/>
                      <a:r>
                        <a:rPr sz="1400" b="1" i="0">
                          <a:solidFill>
                            <a:srgbClr val="1A5276"/>
                          </a:solidFill>
                          <a:latin typeface="Segoe UI"/>
                        </a:rPr>
                        <a:t>(sd)</a:t>
                      </a:r>
                      <a:endParaRPr sz="14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359664">
                <a:tc>
                  <a:txBody>
                    <a:bodyPr wrap="square"/>
                    <a:lstStyle/>
                    <a:p>
                      <a:pPr algn="l"/>
                      <a:r>
                        <a:rPr sz="1400" b="0" i="0">
                          <a:solidFill>
                            <a:srgbClr val="1C252B"/>
                          </a:solidFill>
                          <a:latin typeface="Segoe UI"/>
                        </a:rPr>
                        <a:t>baseline (majority class)</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400" b="0" i="0">
                          <a:solidFill>
                            <a:srgbClr val="1C252B"/>
                          </a:solidFill>
                          <a:latin typeface="Segoe UI"/>
                        </a:rPr>
                        <a:t>0.000</a:t>
                      </a:r>
                      <a:endParaRPr sz="14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r"/>
                      <a:r>
                        <a:rPr sz="1400" b="0" i="0">
                          <a:solidFill>
                            <a:srgbClr val="1C252B"/>
                          </a:solidFill>
                          <a:latin typeface="Segoe UI"/>
                        </a:rPr>
                        <a:t>0.000</a:t>
                      </a:r>
                      <a:endParaRPr sz="1400"/>
                    </a:p>
                  </a:txBody>
                  <a:tcPr marL="109728" marR="109728" marT="64008" marB="45720" anchor="t">
                    <a:lnL w="0" cmpd="sng">
                      <a:noFill/>
                    </a:lnL>
                    <a:lnR w="0" cmpd="sng">
                      <a:noFill/>
                    </a:lnR>
                    <a:lnT w="9525" cmpd="sng">
                      <a:noFill/>
                    </a:lnT>
                    <a:lnB w="9525" cmpd="sng">
                      <a:noFill/>
                    </a:lnB>
                    <a:solidFill>
                      <a:srgbClr val="FFFFFF"/>
                    </a:solidFill>
                  </a:tcPr>
                </a:tc>
              </a:tr>
              <a:tr h="359664">
                <a:tc>
                  <a:txBody>
                    <a:bodyPr wrap="square"/>
                    <a:lstStyle/>
                    <a:p>
                      <a:pPr algn="l"/>
                      <a:r>
                        <a:rPr sz="1400" b="0" i="0">
                          <a:solidFill>
                            <a:srgbClr val="1C252B"/>
                          </a:solidFill>
                          <a:latin typeface="Segoe UI"/>
                        </a:rPr>
                        <a:t>logistic regression</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400" b="0" i="0">
                          <a:solidFill>
                            <a:srgbClr val="1C252B"/>
                          </a:solidFill>
                          <a:latin typeface="Segoe UI"/>
                        </a:rPr>
                        <a:t>0.944</a:t>
                      </a:r>
                      <a:endParaRPr sz="14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r"/>
                      <a:r>
                        <a:rPr sz="1400" b="0" i="0">
                          <a:solidFill>
                            <a:srgbClr val="1C252B"/>
                          </a:solidFill>
                          <a:latin typeface="Segoe UI"/>
                        </a:rPr>
                        <a:t>0.036</a:t>
                      </a:r>
                      <a:endParaRPr sz="1400"/>
                    </a:p>
                  </a:txBody>
                  <a:tcPr marL="109728" marR="109728" marT="64008" marB="45720" anchor="t">
                    <a:lnL w="0" cmpd="sng">
                      <a:noFill/>
                    </a:lnL>
                    <a:lnR w="0" cmpd="sng">
                      <a:noFill/>
                    </a:lnR>
                    <a:lnT w="9525" cmpd="sng">
                      <a:noFill/>
                    </a:lnT>
                    <a:lnB w="9525" cmpd="sng">
                      <a:noFill/>
                    </a:lnB>
                    <a:solidFill>
                      <a:srgbClr val="F2F8FC"/>
                    </a:solidFill>
                  </a:tcPr>
                </a:tc>
              </a:tr>
              <a:tr h="359664">
                <a:tc>
                  <a:txBody>
                    <a:bodyPr wrap="square"/>
                    <a:lstStyle/>
                    <a:p>
                      <a:pPr algn="l"/>
                      <a:r>
                        <a:rPr sz="1400" b="0" i="0">
                          <a:solidFill>
                            <a:srgbClr val="1C252B"/>
                          </a:solidFill>
                          <a:latin typeface="Segoe UI"/>
                        </a:rPr>
                        <a:t>random forest</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400" b="0" i="0">
                          <a:solidFill>
                            <a:srgbClr val="1C252B"/>
                          </a:solidFill>
                          <a:latin typeface="Segoe UI"/>
                        </a:rPr>
                        <a:t>0.937</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r"/>
                      <a:r>
                        <a:rPr sz="1400" b="0" i="0">
                          <a:solidFill>
                            <a:srgbClr val="1C252B"/>
                          </a:solidFill>
                          <a:latin typeface="Segoe UI"/>
                        </a:rPr>
                        <a:t>0.034</a:t>
                      </a:r>
                      <a:endParaRPr sz="14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11" name="body-2"/>
          <p:cNvSpPr txBox="1"/>
          <p:nvPr/>
        </p:nvSpPr>
        <p:spPr>
          <a:xfrm>
            <a:off x="1042416" y="3957269"/>
            <a:ext cx="10234879" cy="166237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7D6608"/>
                </a:solidFill>
                <a:latin typeface="Segoe UI"/>
              </a:rPr>
              <a:t>The baseline scores zero</a:t>
            </a:r>
            <a:r>
              <a:rPr sz="1700" b="0" i="0">
                <a:solidFill>
                  <a:srgbClr val="1C252B"/>
                </a:solidFill>
                <a:latin typeface="Segoe UI"/>
              </a:rPr>
              <a:t>: it predicts “benign” for everyone, so it never catches a malignant case — the accuracy paradox of Chapter 8 expressed in the metric that matters. </a:t>
            </a:r>
            <a:r>
              <a:rPr sz="1700" b="1" i="0">
                <a:solidFill>
                  <a:srgbClr val="1C252B"/>
                </a:solidFill>
                <a:latin typeface="Segoe UI"/>
              </a:rPr>
              <a:t>The two models</a:t>
            </a:r>
            <a:r>
              <a:rPr sz="1700" b="0" i="0">
                <a:solidFill>
                  <a:srgbClr val="1C252B"/>
                </a:solidFill>
                <a:latin typeface="Segoe UI"/>
              </a:rPr>
              <a:t> — logistic regression (Chapter 6) and a random forest (Chapter 14) — </a:t>
            </a:r>
            <a:r>
              <a:rPr sz="1700" b="1" i="0">
                <a:solidFill>
                  <a:srgbClr val="1C252B"/>
                </a:solidFill>
                <a:latin typeface="Segoe UI"/>
              </a:rPr>
              <a:t>are indistinguishable</a:t>
            </a:r>
            <a:r>
              <a:rPr sz="1700" b="0" i="0">
                <a:solidFill>
                  <a:srgbClr val="1C252B"/>
                </a:solidFill>
                <a:latin typeface="Segoe UI"/>
              </a:rPr>
              <a:t>: 0.944 and 0.937 differ by far less than one fold-to-fold standard deviation. Choose the simpler, more explainable one — logistic regression — tune it (the template finds </a:t>
            </a:r>
            <a:r>
              <a:rPr sz="1700" b="0" i="1">
                <a:solidFill>
                  <a:srgbClr val="1C252B"/>
                </a:solidFill>
                <a:latin typeface="Cambria"/>
              </a:rPr>
              <a:t>C</a:t>
            </a:r>
            <a:r>
              <a:rPr sz="1700" b="0" i="0">
                <a:solidFill>
                  <a:srgbClr val="1C252B"/>
                </a:solidFill>
                <a:latin typeface="Cambria"/>
              </a:rPr>
              <a:t> = 0.1</a:t>
            </a:r>
            <a:r>
              <a:rPr sz="1700" b="0" i="0">
                <a:solidFill>
                  <a:srgbClr val="1C252B"/>
                </a:solidFill>
                <a:latin typeface="Segoe UI"/>
              </a:rPr>
              <a:t> with balanced class weights), and only then open the test set, once: recall 0.962 on 53 malignant cases, which is 51 of 53 caught.</a:t>
            </a:r>
          </a:p>
        </p:txBody>
      </p:sp>
      <p:sp>
        <p:nvSpPr>
          <p:cNvPr id="12" name="body-2bar">
            <a:extLst>
              <a:ext uri="{C183D7F6-B498-43B3-948B-1728B52AA6E4}">
                <adec:decorative xmlns:adec="http://schemas.microsoft.com/office/drawing/2017/decorative" val="1"/>
              </a:ext>
            </a:extLst>
          </p:cNvPr>
          <p:cNvSpPr/>
          <p:nvPr/>
        </p:nvSpPr>
        <p:spPr>
          <a:xfrm>
            <a:off x="841248" y="3975557"/>
            <a:ext cx="54864" cy="159837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pfill">
            <a:extLst>
              <a:ext uri="{C183D7F6-B498-43B3-948B-1728B52AA6E4}">
                <adec:decorative xmlns:adec="http://schemas.microsoft.com/office/drawing/2017/decorative" val="1"/>
              </a:ext>
            </a:extLst>
          </p:cNvPr>
          <p:cNvSpPr/>
          <p:nvPr/>
        </p:nvSpPr>
        <p:spPr>
          <a:xfrm>
            <a:off x="0" y="0"/>
            <a:ext cx="433482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42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Report and the Presentation</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§22.5  ·  Handout p. 171     </a:t>
            </a:r>
            <a:fld id="{25677EBD-02BB-4C52-B905-EA347DCCF475}" type="slidenum">
              <a:rPr lang="en-GB" sz="1000">
                <a:solidFill>
                  <a:srgbClr val="8795A1"/>
                </a:solidFill>
                <a:latin typeface="Segoe UI"/>
              </a:rPr>
              <a:t>17</a:t>
            </a:fld>
          </a:p>
        </p:txBody>
      </p:sp>
      <p:graphicFrame>
        <p:nvGraphicFramePr>
          <p:cNvPr id="7" name="!!table"/>
          <p:cNvGraphicFramePr>
            <a:graphicFrameLocks noGrp="1"/>
          </p:cNvGraphicFramePr>
          <p:nvPr/>
        </p:nvGraphicFramePr>
        <p:xfrm>
          <a:off x="658368" y="1737360"/>
          <a:ext cx="10874958" cy="3502152"/>
        </p:xfrm>
        <a:graphic>
          <a:graphicData uri="http://schemas.openxmlformats.org/drawingml/2006/table">
            <a:tbl>
              <a:tblPr firstRow="0" bandRow="0" firstCol="0" lastRow="0" lastCol="0" bandCol="0">
                <a:tableStyleId>{2D5ABB26-0587-4C30-8999-92F81FD0307C}</a:tableStyleId>
              </a:tblPr>
              <a:tblGrid>
                <a:gridCol w="2609990"/>
                <a:gridCol w="8264968"/>
              </a:tblGrid>
              <a:tr h="405384">
                <a:tc>
                  <a:txBody>
                    <a:bodyPr wrap="square"/>
                    <a:lstStyle/>
                    <a:p>
                      <a:pPr algn="l"/>
                      <a:r>
                        <a:rPr sz="1700" b="1" i="0">
                          <a:solidFill>
                            <a:srgbClr val="1A5276"/>
                          </a:solidFill>
                          <a:latin typeface="Segoe UI"/>
                        </a:rPr>
                        <a:t>Section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Contents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1. Problem</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The decision, </a:t>
                      </a:r>
                      <a:r>
                        <a:rPr sz="1700" b="0" i="1">
                          <a:solidFill>
                            <a:srgbClr val="1C252B"/>
                          </a:solidFill>
                          <a:latin typeface="Cambria"/>
                        </a:rPr>
                        <a:t>T</a:t>
                      </a:r>
                      <a:r>
                        <a:rPr sz="1700" b="0" i="0">
                          <a:solidFill>
                            <a:srgbClr val="1C252B"/>
                          </a:solidFill>
                          <a:latin typeface="Segoe UI"/>
                        </a:rPr>
                        <a:t>, </a:t>
                      </a:r>
                      <a:r>
                        <a:rPr sz="1700" b="0" i="1">
                          <a:solidFill>
                            <a:srgbClr val="1C252B"/>
                          </a:solidFill>
                          <a:latin typeface="Cambria"/>
                        </a:rPr>
                        <a:t>P</a:t>
                      </a:r>
                      <a:r>
                        <a:rPr sz="1700" b="0" i="0">
                          <a:solidFill>
                            <a:srgbClr val="1C252B"/>
                          </a:solidFill>
                          <a:latin typeface="Segoe UI"/>
                        </a:rPr>
                        <a:t>, </a:t>
                      </a:r>
                      <a:r>
                        <a:rPr sz="1700" b="0" i="1">
                          <a:solidFill>
                            <a:srgbClr val="1C252B"/>
                          </a:solidFill>
                          <a:latin typeface="Cambria"/>
                        </a:rPr>
                        <a:t>E</a:t>
                      </a:r>
                      <a:r>
                        <a:rPr sz="1700" b="0" i="0">
                          <a:solidFill>
                            <a:srgbClr val="1C252B"/>
                          </a:solidFill>
                          <a:latin typeface="Segoe UI"/>
                        </a:rPr>
                        <a:t>, success criterion (from the proposal, updated)</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2. Data</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Source, permission, size, label, cleaning, the split; a table of features</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3. Method</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Baseline; models compared; the pipeline; how hyperparameters were chosen</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4. Results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The experiment log; the chosen model’s test performance </a:t>
                      </a:r>
                      <a:r>
                        <a:rPr sz="1700" b="0" i="1">
                          <a:solidFill>
                            <a:srgbClr val="1C252B"/>
                          </a:solidFill>
                          <a:latin typeface="Segoe UI"/>
                        </a:rPr>
                        <a:t>with a confidence interval</a:t>
                      </a:r>
                      <a:r>
                        <a:rPr sz="1700" b="0" i="0">
                          <a:solidFill>
                            <a:srgbClr val="1C252B"/>
                          </a:solidFill>
                          <a:latin typeface="Segoe UI"/>
                        </a:rPr>
                        <a:t> (Chapter 8); comparison with the baseline and success criterion</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5. Analysis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Error analysis; ablation; per-group performance and the fairness check</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6. Limitations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What the model must not be used for; what would change the conclusion</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Appendix</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The model card (Chapter 21); how to rerun everything</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60575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Assessment</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BCF30B91-73D0-4C43-993C-A79DD89DDD7C}" type="slidenum">
              <a:rPr lang="en-GB" sz="1000">
                <a:solidFill>
                  <a:srgbClr val="8795A1"/>
                </a:solidFill>
                <a:latin typeface="Segoe UI"/>
              </a:rPr>
              <a:t>18</a:t>
            </a:fld>
          </a:p>
        </p:txBody>
      </p:sp>
      <p:graphicFrame>
        <p:nvGraphicFramePr>
          <p:cNvPr id="7" name="!!table"/>
          <p:cNvGraphicFramePr>
            <a:graphicFrameLocks noGrp="1"/>
          </p:cNvGraphicFramePr>
          <p:nvPr/>
        </p:nvGraphicFramePr>
        <p:xfrm>
          <a:off x="658368" y="1737360"/>
          <a:ext cx="10874958" cy="4242816"/>
        </p:xfrm>
        <a:graphic>
          <a:graphicData uri="http://schemas.openxmlformats.org/drawingml/2006/table">
            <a:tbl>
              <a:tblPr firstRow="0" bandRow="0" firstCol="0" lastRow="0" lastCol="0" bandCol="0">
                <a:tableStyleId>{2D5ABB26-0587-4C30-8999-92F81FD0307C}</a:tableStyleId>
              </a:tblPr>
              <a:tblGrid>
                <a:gridCol w="3255089"/>
                <a:gridCol w="961731"/>
                <a:gridCol w="5474469"/>
                <a:gridCol w="1183669"/>
              </a:tblGrid>
              <a:tr h="390144">
                <a:tc>
                  <a:txBody>
                    <a:bodyPr wrap="square"/>
                    <a:lstStyle/>
                    <a:p>
                      <a:pPr algn="l"/>
                      <a:r>
                        <a:rPr sz="1600" b="1" i="0">
                          <a:solidFill>
                            <a:srgbClr val="1A5276"/>
                          </a:solidFill>
                          <a:latin typeface="Segoe UI"/>
                        </a:rPr>
                        <a:t>Criterion</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Marks</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Full marks require</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600" b="1" i="0">
                          <a:solidFill>
                            <a:srgbClr val="1A5276"/>
                          </a:solidFill>
                          <a:latin typeface="Segoe UI"/>
                        </a:rPr>
                        <a:t>CLO</a:t>
                      </a:r>
                      <a:endParaRPr sz="16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33984">
                <a:tc>
                  <a:txBody>
                    <a:bodyPr wrap="square"/>
                    <a:lstStyle/>
                    <a:p>
                      <a:pPr algn="l"/>
                      <a:r>
                        <a:rPr sz="1600" b="0" i="0">
                          <a:solidFill>
                            <a:srgbClr val="1C252B"/>
                          </a:solidFill>
                          <a:latin typeface="Segoe UI"/>
                        </a:rPr>
                        <a:t>Framing and proposal</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10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A decision, </a:t>
                      </a:r>
                      <a:r>
                        <a:rPr sz="1600" b="0" i="1">
                          <a:solidFill>
                            <a:srgbClr val="1C252B"/>
                          </a:solidFill>
                          <a:latin typeface="Cambria"/>
                        </a:rPr>
                        <a:t>T</a:t>
                      </a:r>
                      <a:r>
                        <a:rPr sz="1600" b="0" i="0">
                          <a:solidFill>
                            <a:srgbClr val="1C252B"/>
                          </a:solidFill>
                          <a:latin typeface="Segoe UI"/>
                        </a:rPr>
                        <a:t>/</a:t>
                      </a:r>
                      <a:r>
                        <a:rPr sz="1600" b="0" i="1">
                          <a:solidFill>
                            <a:srgbClr val="1C252B"/>
                          </a:solidFill>
                          <a:latin typeface="Cambria"/>
                        </a:rPr>
                        <a:t>P</a:t>
                      </a:r>
                      <a:r>
                        <a:rPr sz="1600" b="0" i="0">
                          <a:solidFill>
                            <a:srgbClr val="1C252B"/>
                          </a:solidFill>
                          <a:latin typeface="Segoe UI"/>
                        </a:rPr>
                        <a:t>/</a:t>
                      </a:r>
                      <a:r>
                        <a:rPr sz="1600" b="0" i="1">
                          <a:solidFill>
                            <a:srgbClr val="1C252B"/>
                          </a:solidFill>
                          <a:latin typeface="Cambria"/>
                        </a:rPr>
                        <a:t>E</a:t>
                      </a:r>
                      <a:r>
                        <a:rPr sz="1600" b="0" i="0">
                          <a:solidFill>
                            <a:srgbClr val="1C252B"/>
                          </a:solidFill>
                          <a:latin typeface="Segoe UI"/>
                        </a:rPr>
                        <a:t>, baseline and success criterion stated before any modelling</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1, 6</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0" i="0">
                          <a:solidFill>
                            <a:srgbClr val="1C252B"/>
                          </a:solidFill>
                          <a:latin typeface="Segoe UI"/>
                        </a:rPr>
                        <a:t>Data and pipeline</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15</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Legal data; leak-free pipeline; one fixed split</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6</a:t>
                      </a:r>
                      <a:endParaRPr sz="1600"/>
                    </a:p>
                  </a:txBody>
                  <a:tcPr marL="109728" marR="109728" marT="64008" marB="45720" anchor="t">
                    <a:lnL w="0" cmpd="sng">
                      <a:noFill/>
                    </a:lnL>
                    <a:lnR w="0" cmpd="sng">
                      <a:noFill/>
                    </a:lnR>
                    <a:lnT w="9525" cmpd="sng">
                      <a:noFill/>
                    </a:lnT>
                    <a:lnB w="9525" cmpd="sng">
                      <a:noFill/>
                    </a:lnB>
                    <a:solidFill>
                      <a:srgbClr val="F2F8FC"/>
                    </a:solidFill>
                  </a:tcPr>
                </a:tc>
              </a:tr>
              <a:tr h="633984">
                <a:tc>
                  <a:txBody>
                    <a:bodyPr wrap="square"/>
                    <a:lstStyle/>
                    <a:p>
                      <a:pPr algn="l"/>
                      <a:r>
                        <a:rPr sz="1600" b="0" i="0">
                          <a:solidFill>
                            <a:srgbClr val="1C252B"/>
                          </a:solidFill>
                          <a:latin typeface="Segoe UI"/>
                        </a:rPr>
                        <a:t>Experiments</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20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At least two model families; CV comparison; logged; reproducible from the repository</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2–4, 6</a:t>
                      </a:r>
                      <a:endParaRPr sz="1600"/>
                    </a:p>
                  </a:txBody>
                  <a:tcPr marL="109728" marR="109728" marT="64008" marB="45720" anchor="t">
                    <a:lnL w="0" cmpd="sng">
                      <a:noFill/>
                    </a:lnL>
                    <a:lnR w="0" cmpd="sng">
                      <a:noFill/>
                    </a:lnR>
                    <a:lnT w="9525" cmpd="sng">
                      <a:noFill/>
                    </a:lnT>
                    <a:lnB w="9525" cmpd="sng">
                      <a:noFill/>
                    </a:lnB>
                    <a:solidFill>
                      <a:srgbClr val="FFFFFF"/>
                    </a:solidFill>
                  </a:tcPr>
                </a:tc>
              </a:tr>
              <a:tr h="633984">
                <a:tc>
                  <a:txBody>
                    <a:bodyPr wrap="square"/>
                    <a:lstStyle/>
                    <a:p>
                      <a:pPr algn="l"/>
                      <a:r>
                        <a:rPr sz="1600" b="0" i="0">
                          <a:solidFill>
                            <a:srgbClr val="1C252B"/>
                          </a:solidFill>
                          <a:latin typeface="Segoe UI"/>
                        </a:rPr>
                        <a:t>Evaluation</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20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Right metric; baseline; confidence interval; test set used once</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5</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r>
                        <a:rPr sz="1600" b="0" i="0">
                          <a:solidFill>
                            <a:srgbClr val="1C252B"/>
                          </a:solidFill>
                          <a:latin typeface="Segoe UI"/>
                        </a:rPr>
                        <a:t>Analysis and ethics</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15</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Error analysis; per-group results; model card</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5, 7</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0" i="0">
                          <a:solidFill>
                            <a:srgbClr val="1C252B"/>
                          </a:solidFill>
                          <a:latin typeface="Segoe UI"/>
                        </a:rPr>
                        <a:t>Report</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10</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Clear, complete, honest about limitations</a:t>
                      </a:r>
                      <a:endParaRPr sz="16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C252B"/>
                          </a:solidFill>
                          <a:latin typeface="Segoe UI"/>
                        </a:rPr>
                        <a:t>6</a:t>
                      </a:r>
                      <a:endParaRPr sz="1600"/>
                    </a:p>
                  </a:txBody>
                  <a:tcPr marL="109728" marR="109728" marT="64008" marB="45720" anchor="t">
                    <a:lnL w="0" cmpd="sng">
                      <a:noFill/>
                    </a:lnL>
                    <a:lnR w="0" cmpd="sng">
                      <a:noFill/>
                    </a:lnR>
                    <a:lnT w="9525" cmpd="sng">
                      <a:noFill/>
                    </a:lnT>
                    <a:lnB w="9525" cmpd="sng">
                      <a:noFill/>
                    </a:lnB>
                    <a:solidFill>
                      <a:srgbClr val="F2F8FC"/>
                    </a:solidFill>
                  </a:tcPr>
                </a:tc>
              </a:tr>
              <a:tr h="390144">
                <a:tc>
                  <a:txBody>
                    <a:bodyPr wrap="square"/>
                    <a:lstStyle/>
                    <a:p>
                      <a:pPr algn="l"/>
                      <a:r>
                        <a:rPr sz="1600" b="0" i="0">
                          <a:solidFill>
                            <a:srgbClr val="1C252B"/>
                          </a:solidFill>
                          <a:latin typeface="Segoe UI"/>
                        </a:rPr>
                        <a:t>Presentation and defence</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10</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Both members answer confidently</a:t>
                      </a:r>
                      <a:endParaRPr sz="16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600" b="0" i="0">
                          <a:solidFill>
                            <a:srgbClr val="1C252B"/>
                          </a:solidFill>
                          <a:latin typeface="Segoe UI"/>
                        </a:rPr>
                        <a:t>6</a:t>
                      </a:r>
                      <a:endParaRPr sz="1600"/>
                    </a:p>
                  </a:txBody>
                  <a:tcPr marL="109728" marR="109728" marT="64008" marB="45720" anchor="t">
                    <a:lnL w="0" cmpd="sng">
                      <a:noFill/>
                    </a:lnL>
                    <a:lnR w="0" cmpd="sng">
                      <a:noFill/>
                    </a:lnR>
                    <a:lnT w="9525" cmpd="sng">
                      <a:noFill/>
                    </a:lnT>
                    <a:lnB w="9525" cmpd="sng">
                      <a:noFill/>
                    </a:lnB>
                    <a:solidFill>
                      <a:srgbClr val="FFFFFF"/>
                    </a:solidFill>
                  </a:tcPr>
                </a:tc>
              </a:tr>
              <a:tr h="390144">
                <a:tc>
                  <a:txBody>
                    <a:bodyPr wrap="square"/>
                    <a:lstStyle/>
                    <a:p>
                      <a:pPr algn="l"/>
                      <a:r>
                        <a:rPr sz="1600" b="1" i="0">
                          <a:solidFill>
                            <a:srgbClr val="1C252B"/>
                          </a:solidFill>
                          <a:latin typeface="Segoe UI"/>
                        </a:rPr>
                        <a:t>Total</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600" b="1" i="0">
                          <a:solidFill>
                            <a:srgbClr val="1C252B"/>
                          </a:solidFill>
                          <a:latin typeface="Segoe UI"/>
                        </a:rPr>
                        <a:t>100</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600" b="0" i="0">
                          <a:solidFill>
                            <a:srgbClr val="1C252B"/>
                          </a:solidFill>
                          <a:latin typeface="Segoe UI"/>
                        </a:rPr>
                        <a:t>Weighted to 15% of the course</a:t>
                      </a:r>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endParaRPr sz="16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87667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B580D9C7-F4E4-454F-BE70-728AD5EF2959}" type="slidenum">
              <a:rPr lang="en-GB" sz="1000">
                <a:solidFill>
                  <a:srgbClr val="8795A1"/>
                </a:solidFill>
                <a:latin typeface="Segoe UI"/>
              </a:rPr>
              <a:t>19</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Choosing the dataset before the question.</a:t>
            </a:r>
            <a:r>
              <a:rPr sz="2100" b="0" i="0">
                <a:solidFill>
                  <a:srgbClr val="1C252B"/>
                </a:solidFill>
                <a:latin typeface="Segoe UI"/>
              </a:rPr>
              <a:t> Start from a decision; find data for it.</a:t>
            </a:r>
          </a:p>
        </p:txBody>
      </p:sp>
      <p:sp>
        <p:nvSpPr>
          <p:cNvPr id="10" name="!!pb1">
            <a:extLst>
              <a:ext uri="{C183D7F6-B498-43B3-948B-1728B52AA6E4}">
                <adec:decorative xmlns:adec="http://schemas.microsoft.com/office/drawing/2017/decorative" val="1"/>
              </a:ext>
            </a:extLst>
          </p:cNvPr>
          <p:cNvSpPr/>
          <p:nvPr/>
        </p:nvSpPr>
        <p:spPr>
          <a:xfrm>
            <a:off x="658368" y="232257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34543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304288"/>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Opening the test set to “check progress”.</a:t>
            </a:r>
            <a:r>
              <a:rPr sz="2100" b="0" i="0">
                <a:solidFill>
                  <a:srgbClr val="1C252B"/>
                </a:solidFill>
                <a:latin typeface="Segoe UI"/>
              </a:rPr>
              <a:t> It is then a validation set, and the final number is optimistic.</a:t>
            </a:r>
          </a:p>
        </p:txBody>
      </p:sp>
      <p:sp>
        <p:nvSpPr>
          <p:cNvPr id="13" name="!!pb2">
            <a:extLst>
              <a:ext uri="{C183D7F6-B498-43B3-948B-1728B52AA6E4}">
                <adec:decorative xmlns:adec="http://schemas.microsoft.com/office/drawing/2017/decorative" val="1"/>
              </a:ext>
            </a:extLst>
          </p:cNvPr>
          <p:cNvSpPr/>
          <p:nvPr/>
        </p:nvSpPr>
        <p:spPr>
          <a:xfrm>
            <a:off x="658368" y="3189427"/>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21228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171139"/>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No baseline.</a:t>
            </a:r>
            <a:r>
              <a:rPr sz="2100" b="0" i="0">
                <a:solidFill>
                  <a:srgbClr val="1C252B"/>
                </a:solidFill>
                <a:latin typeface="Segoe UI"/>
              </a:rPr>
              <a:t> A 92% model means nothing until the baseline is known.</a:t>
            </a:r>
          </a:p>
        </p:txBody>
      </p:sp>
      <p:sp>
        <p:nvSpPr>
          <p:cNvPr id="16" name="!!pb3">
            <a:extLst>
              <a:ext uri="{C183D7F6-B498-43B3-948B-1728B52AA6E4}">
                <adec:decorative xmlns:adec="http://schemas.microsoft.com/office/drawing/2017/decorative" val="1"/>
              </a:ext>
            </a:extLst>
          </p:cNvPr>
          <p:cNvSpPr/>
          <p:nvPr/>
        </p:nvSpPr>
        <p:spPr>
          <a:xfrm>
            <a:off x="658368" y="37563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37792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3738067"/>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Reporting only the best run.</a:t>
            </a:r>
            <a:r>
              <a:rPr sz="2100" b="0" i="0">
                <a:solidFill>
                  <a:srgbClr val="1C252B"/>
                </a:solidFill>
                <a:latin typeface="Segoe UI"/>
              </a:rPr>
              <a:t> Report the log, including what did not work.</a:t>
            </a:r>
          </a:p>
        </p:txBody>
      </p:sp>
      <p:sp>
        <p:nvSpPr>
          <p:cNvPr id="19" name="!!pb4">
            <a:extLst>
              <a:ext uri="{C183D7F6-B498-43B3-948B-1728B52AA6E4}">
                <adec:decorative xmlns:adec="http://schemas.microsoft.com/office/drawing/2017/decorative" val="1"/>
              </a:ext>
            </a:extLst>
          </p:cNvPr>
          <p:cNvSpPr/>
          <p:nvPr/>
        </p:nvSpPr>
        <p:spPr>
          <a:xfrm>
            <a:off x="658368" y="432328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34614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304995"/>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 notebook that runs only in the order it was written.</a:t>
            </a:r>
            <a:r>
              <a:rPr sz="2100" b="0" i="0">
                <a:solidFill>
                  <a:srgbClr val="1C252B"/>
                </a:solidFill>
                <a:latin typeface="Segoe UI"/>
              </a:rPr>
              <a:t> Restart and run everything before submitting; better, turn it into a script.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514760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Four lenses: Project Ideas</a:t>
            </a:r>
          </a:p>
        </p:txBody>
      </p:sp>
      <p:pic>
        <p:nvPicPr>
          <p:cNvPr id="3" name="!!kicker-icon" descr="compass-12395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2395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1ED3BD2A-3FE1-402D-AD94-8FE8DC815482}" type="slidenum">
              <a:rPr lang="en-GB" sz="1000">
                <a:solidFill>
                  <a:srgbClr val="8795A1"/>
                </a:solidFill>
                <a:latin typeface="Segoe UI"/>
              </a:rPr>
              <a:t>20</a:t>
            </a:fld>
          </a:p>
        </p:txBody>
      </p:sp>
      <p:sp>
        <p:nvSpPr>
          <p:cNvPr id="7" name="!!lens-LA">
            <a:extLst>
              <a:ext uri="{C183D7F6-B498-43B3-948B-1728B52AA6E4}">
                <adec:decorative xmlns:adec="http://schemas.microsoft.com/office/drawing/2017/decorative" val="1"/>
              </a:ext>
            </a:extLst>
          </p:cNvPr>
          <p:cNvSpPr/>
          <p:nvPr/>
        </p:nvSpPr>
        <p:spPr>
          <a:xfrm>
            <a:off x="658368" y="1737360"/>
            <a:ext cx="5318607" cy="2176272"/>
          </a:xfrm>
          <a:prstGeom prst="roundRect">
            <a:avLst>
              <a:gd name="adj" fmla="val 4201"/>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5318607"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5318607"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4460197"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Predict course failure from early-term engagement (the worked example); cluster students by study behaviour and describe each group; or run a bandit over reminder messages and report which works best.</a:t>
            </a:r>
          </a:p>
        </p:txBody>
      </p:sp>
      <p:sp>
        <p:nvSpPr>
          <p:cNvPr id="13" name="!!lens-PM">
            <a:extLst>
              <a:ext uri="{C183D7F6-B498-43B3-948B-1728B52AA6E4}">
                <adec:decorative xmlns:adec="http://schemas.microsoft.com/office/drawing/2017/decorative" val="1"/>
              </a:ext>
            </a:extLst>
          </p:cNvPr>
          <p:cNvSpPr/>
          <p:nvPr/>
        </p:nvSpPr>
        <p:spPr>
          <a:xfrm>
            <a:off x="6214719" y="1737360"/>
            <a:ext cx="5318607" cy="2176272"/>
          </a:xfrm>
          <a:prstGeom prst="roundRect">
            <a:avLst>
              <a:gd name="adj" fmla="val 4201"/>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6214719" y="1737360"/>
            <a:ext cx="5318607"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6214719" y="2121408"/>
            <a:ext cx="5318607"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15887" y="1856231"/>
            <a:ext cx="301783" cy="256032"/>
          </a:xfrm>
          <a:prstGeom prst="rect">
            <a:avLst/>
          </a:prstGeom>
        </p:spPr>
      </p:pic>
      <p:sp>
        <p:nvSpPr>
          <p:cNvPr id="17" name="!!lensn-PM"/>
          <p:cNvSpPr txBox="1"/>
          <p:nvPr/>
        </p:nvSpPr>
        <p:spPr>
          <a:xfrm>
            <a:off x="6863974" y="1837943"/>
            <a:ext cx="4577912"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8" name="!!lensb-PM-0"/>
          <p:cNvSpPr txBox="1"/>
          <p:nvPr/>
        </p:nvSpPr>
        <p:spPr>
          <a:xfrm>
            <a:off x="6452463" y="2414016"/>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Estimate issue resolution time from ticket text and metadata (regression plus naive Bayes features); or classify projects at risk from their weekly metrics.</a:t>
            </a:r>
          </a:p>
        </p:txBody>
      </p:sp>
      <p:sp>
        <p:nvSpPr>
          <p:cNvPr id="19" name="!!lens-IOT">
            <a:extLst>
              <a:ext uri="{C183D7F6-B498-43B3-948B-1728B52AA6E4}">
                <adec:decorative xmlns:adec="http://schemas.microsoft.com/office/drawing/2017/decorative" val="1"/>
              </a:ext>
            </a:extLst>
          </p:cNvPr>
          <p:cNvSpPr/>
          <p:nvPr/>
        </p:nvSpPr>
        <p:spPr>
          <a:xfrm>
            <a:off x="658368" y="4133087"/>
            <a:ext cx="5318607" cy="2176272"/>
          </a:xfrm>
          <a:prstGeom prst="roundRect">
            <a:avLst>
              <a:gd name="adj" fmla="val 4201"/>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IOT">
            <a:extLst>
              <a:ext uri="{C183D7F6-B498-43B3-948B-1728B52AA6E4}">
                <adec:decorative xmlns:adec="http://schemas.microsoft.com/office/drawing/2017/decorative" val="1"/>
              </a:ext>
            </a:extLst>
          </p:cNvPr>
          <p:cNvSpPr/>
          <p:nvPr/>
        </p:nvSpPr>
        <p:spPr>
          <a:xfrm>
            <a:off x="658368" y="4133087"/>
            <a:ext cx="5318607"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ensh2-IOT">
            <a:extLst>
              <a:ext uri="{C183D7F6-B498-43B3-948B-1728B52AA6E4}">
                <adec:decorative xmlns:adec="http://schemas.microsoft.com/office/drawing/2017/decorative" val="1"/>
              </a:ext>
            </a:extLst>
          </p:cNvPr>
          <p:cNvSpPr/>
          <p:nvPr/>
        </p:nvSpPr>
        <p:spPr>
          <a:xfrm>
            <a:off x="658368" y="4517136"/>
            <a:ext cx="5318607"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2"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59536" y="4251959"/>
            <a:ext cx="256032" cy="256032"/>
          </a:xfrm>
          <a:prstGeom prst="rect">
            <a:avLst/>
          </a:prstGeom>
        </p:spPr>
      </p:pic>
      <p:sp>
        <p:nvSpPr>
          <p:cNvPr id="23" name="!!lensn-IOT"/>
          <p:cNvSpPr txBox="1"/>
          <p:nvPr/>
        </p:nvSpPr>
        <p:spPr>
          <a:xfrm>
            <a:off x="1261872"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24" name="!!lensb-IOT-0"/>
          <p:cNvSpPr txBox="1"/>
          <p:nvPr/>
        </p:nvSpPr>
        <p:spPr>
          <a:xfrm>
            <a:off x="896112"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Detect machine faults from a public vibration or predictive-maintenance dataset; compare an anomaly detector trained on normal data with a supervised classifier, and report the cost of each kind of error.</a:t>
            </a:r>
          </a:p>
        </p:txBody>
      </p:sp>
      <p:sp>
        <p:nvSpPr>
          <p:cNvPr id="25" name="!!lens-SEC">
            <a:extLst>
              <a:ext uri="{C183D7F6-B498-43B3-948B-1728B52AA6E4}">
                <adec:decorative xmlns:adec="http://schemas.microsoft.com/office/drawing/2017/decorative" val="1"/>
              </a:ext>
            </a:extLst>
          </p:cNvPr>
          <p:cNvSpPr/>
          <p:nvPr/>
        </p:nvSpPr>
        <p:spPr>
          <a:xfrm>
            <a:off x="6214719" y="4133087"/>
            <a:ext cx="5318607" cy="2176272"/>
          </a:xfrm>
          <a:prstGeom prst="roundRect">
            <a:avLst>
              <a:gd name="adj" fmla="val 4201"/>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lensh-SEC">
            <a:extLst>
              <a:ext uri="{C183D7F6-B498-43B3-948B-1728B52AA6E4}">
                <adec:decorative xmlns:adec="http://schemas.microsoft.com/office/drawing/2017/decorative" val="1"/>
              </a:ext>
            </a:extLst>
          </p:cNvPr>
          <p:cNvSpPr/>
          <p:nvPr/>
        </p:nvSpPr>
        <p:spPr>
          <a:xfrm>
            <a:off x="6214719" y="4133087"/>
            <a:ext cx="5318607"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lensh2-SEC">
            <a:extLst>
              <a:ext uri="{C183D7F6-B498-43B3-948B-1728B52AA6E4}">
                <adec:decorative xmlns:adec="http://schemas.microsoft.com/office/drawing/2017/decorative" val="1"/>
              </a:ext>
            </a:extLst>
          </p:cNvPr>
          <p:cNvSpPr/>
          <p:nvPr/>
        </p:nvSpPr>
        <p:spPr>
          <a:xfrm>
            <a:off x="6214719" y="4517136"/>
            <a:ext cx="5318607"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8"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415887" y="4251959"/>
            <a:ext cx="256032" cy="256032"/>
          </a:xfrm>
          <a:prstGeom prst="rect">
            <a:avLst/>
          </a:prstGeom>
        </p:spPr>
      </p:pic>
      <p:sp>
        <p:nvSpPr>
          <p:cNvPr id="29" name="!!lensn-SEC"/>
          <p:cNvSpPr txBox="1"/>
          <p:nvPr/>
        </p:nvSpPr>
        <p:spPr>
          <a:xfrm>
            <a:off x="6818223" y="4233672"/>
            <a:ext cx="4623663"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30" name="!!lensb-SEC-0"/>
          <p:cNvSpPr txBox="1"/>
          <p:nvPr/>
        </p:nvSpPr>
        <p:spPr>
          <a:xfrm>
            <a:off x="6452463" y="4809744"/>
            <a:ext cx="4861407" cy="1408175"/>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Classify network connections as benign or malicious on a public intrusion-detection dataset, or phishing URLs from their features.</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541853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Analytics: Project Ideas</a:t>
            </a:r>
          </a:p>
        </p:txBody>
      </p:sp>
      <p:pic>
        <p:nvPicPr>
          <p:cNvPr id="3" name="!!kicker-icon" descr="compass-6C3483.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6C3483"/>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9B61CDBC-EA96-4AFA-A620-01F6910079EC}" type="slidenum">
              <a:rPr lang="en-GB" sz="1000">
                <a:solidFill>
                  <a:srgbClr val="8795A1"/>
                </a:solidFill>
                <a:latin typeface="Segoe UI"/>
              </a:rPr>
              <a:t>21</a:t>
            </a:fld>
          </a:p>
        </p:txBody>
      </p:sp>
      <p:sp>
        <p:nvSpPr>
          <p:cNvPr id="7" name="!!lens-LA">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6F3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LA">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LA">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LA" descr="graduation-ca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419498" cy="256032"/>
          </a:xfrm>
          <a:prstGeom prst="rect">
            <a:avLst/>
          </a:prstGeom>
        </p:spPr>
      </p:pic>
      <p:sp>
        <p:nvSpPr>
          <p:cNvPr id="11" name="!!lensn-LA"/>
          <p:cNvSpPr txBox="1"/>
          <p:nvPr/>
        </p:nvSpPr>
        <p:spPr>
          <a:xfrm>
            <a:off x="1425337" y="1837943"/>
            <a:ext cx="7181909"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LEARNING ANALYTICS</a:t>
            </a:r>
          </a:p>
        </p:txBody>
      </p:sp>
      <p:sp>
        <p:nvSpPr>
          <p:cNvPr id="12" name="!!lensb-LA-0"/>
          <p:cNvSpPr txBox="1"/>
          <p:nvPr/>
        </p:nvSpPr>
        <p:spPr>
          <a:xfrm>
            <a:off x="896112" y="2432304"/>
            <a:ext cx="758311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Predict course failure from early-term engagement (the worked example); cluster students by study behaviour and describe each group; or run a bandit over reminder messages and report which works best. Obtain anonymised data with written permission, and include the fairness check across programmes.</a:t>
            </a:r>
          </a:p>
        </p:txBody>
      </p:sp>
      <p:sp>
        <p:nvSpPr>
          <p:cNvPr id="13" name="!!lens-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PM">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PM">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PM" descr="tasks-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301783" cy="256032"/>
          </a:xfrm>
          <a:prstGeom prst="rect">
            <a:avLst/>
          </a:prstGeom>
        </p:spPr>
      </p:pic>
      <p:sp>
        <p:nvSpPr>
          <p:cNvPr id="17" name="!!lensn-PM"/>
          <p:cNvSpPr txBox="1"/>
          <p:nvPr/>
        </p:nvSpPr>
        <p:spPr>
          <a:xfrm>
            <a:off x="9585686" y="1837943"/>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568945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Project Management: Project Ideas</a:t>
            </a:r>
          </a:p>
        </p:txBody>
      </p:sp>
      <p:pic>
        <p:nvPicPr>
          <p:cNvPr id="3" name="!!kicker-icon" descr="compass-1F618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F618D"/>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FCDF7FE7-165D-468B-A291-56F8D8792E6C}" type="slidenum">
              <a:rPr lang="en-GB" sz="1000">
                <a:solidFill>
                  <a:srgbClr val="8795A1"/>
                </a:solidFill>
                <a:latin typeface="Segoe UI"/>
              </a:rPr>
              <a:t>22</a:t>
            </a:fld>
          </a:p>
        </p:txBody>
      </p:sp>
      <p:sp>
        <p:nvSpPr>
          <p:cNvPr id="7" name="!!lens-PM">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2F6F8"/>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PM">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PM">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PM" descr="tasks-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301783" cy="256032"/>
          </a:xfrm>
          <a:prstGeom prst="rect">
            <a:avLst/>
          </a:prstGeom>
        </p:spPr>
      </p:pic>
      <p:sp>
        <p:nvSpPr>
          <p:cNvPr id="11" name="!!lensn-PM"/>
          <p:cNvSpPr txBox="1"/>
          <p:nvPr/>
        </p:nvSpPr>
        <p:spPr>
          <a:xfrm>
            <a:off x="1307622" y="1837943"/>
            <a:ext cx="7299624"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PROJECT MANAGEMENT</a:t>
            </a:r>
          </a:p>
        </p:txBody>
      </p:sp>
      <p:sp>
        <p:nvSpPr>
          <p:cNvPr id="12" name="!!lensb-PM-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Estimate issue resolution time from ticket text and metadata (regression plus naive Bayes features); or classify projects at risk from their weekly metrics. Open issue trackers from public software projects are an accessible, legal source.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IOT">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IOT">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IOT" descr="microchip-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256032" cy="256032"/>
          </a:xfrm>
          <a:prstGeom prst="rect">
            <a:avLst/>
          </a:prstGeom>
        </p:spPr>
      </p:pic>
      <p:sp>
        <p:nvSpPr>
          <p:cNvPr id="22" name="!!lensn-IOT"/>
          <p:cNvSpPr txBox="1"/>
          <p:nvPr/>
        </p:nvSpPr>
        <p:spPr>
          <a:xfrm>
            <a:off x="9539935" y="2496312"/>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596038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Internet of Things: Project Ideas</a:t>
            </a:r>
          </a:p>
        </p:txBody>
      </p:sp>
      <p:pic>
        <p:nvPicPr>
          <p:cNvPr id="3" name="!!kicker-icon" descr="compass-117864.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864"/>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08BC69EF-2429-4F76-B9CC-2B9FD3D013A5}" type="slidenum">
              <a:rPr lang="en-GB" sz="1000">
                <a:solidFill>
                  <a:srgbClr val="8795A1"/>
                </a:solidFill>
                <a:latin typeface="Segoe UI"/>
              </a:rPr>
              <a:t>23</a:t>
            </a:fld>
          </a:p>
        </p:txBody>
      </p:sp>
      <p:sp>
        <p:nvSpPr>
          <p:cNvPr id="7" name="!!lens-IOT">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1F7F6"/>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IOT">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IOT">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IOT" descr="microchip-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IOT"/>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INTERNET OF THINGS</a:t>
            </a:r>
          </a:p>
        </p:txBody>
      </p:sp>
      <p:sp>
        <p:nvSpPr>
          <p:cNvPr id="12" name="!!lensb-IOT-0"/>
          <p:cNvSpPr txBox="1"/>
          <p:nvPr/>
        </p:nvSpPr>
        <p:spPr>
          <a:xfrm>
            <a:off x="896112" y="2432304"/>
            <a:ext cx="7583119"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Detect machine faults from a public vibration or predictive-maintenance dataset; compare an anomaly detector trained on normal data with a supervised classifier, and report the cost of each kind of error.</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8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SEC">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SEC">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SEC" descr="shield-alt-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SEC"/>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Cybersecurity</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23131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Cybersecurity: Project Ideas</a:t>
            </a:r>
          </a:p>
        </p:txBody>
      </p:sp>
      <p:pic>
        <p:nvPicPr>
          <p:cNvPr id="3" name="!!kicker-icon" descr="compass-922B2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922B21"/>
                </a:solidFill>
                <a:latin typeface="Segoe UI"/>
              </a:rPr>
              <a:t>FOUR LENSES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F9A539E8-7A1E-4C64-8D2B-3229609EA48B}" type="slidenum">
              <a:rPr lang="en-GB" sz="1000">
                <a:solidFill>
                  <a:srgbClr val="8795A1"/>
                </a:solidFill>
                <a:latin typeface="Segoe UI"/>
              </a:rPr>
              <a:t>24</a:t>
            </a:fld>
          </a:p>
        </p:txBody>
      </p:sp>
      <p:sp>
        <p:nvSpPr>
          <p:cNvPr id="7" name="!!lens-SEC">
            <a:extLst>
              <a:ext uri="{C183D7F6-B498-43B3-948B-1728B52AA6E4}">
                <adec:decorative xmlns:adec="http://schemas.microsoft.com/office/drawing/2017/decorative" val="1"/>
              </a:ext>
            </a:extLst>
          </p:cNvPr>
          <p:cNvSpPr/>
          <p:nvPr/>
        </p:nvSpPr>
        <p:spPr>
          <a:xfrm>
            <a:off x="658368" y="1737360"/>
            <a:ext cx="8040319" cy="4572000"/>
          </a:xfrm>
          <a:prstGeom prst="roundRect">
            <a:avLst>
              <a:gd name="adj" fmla="val 2000"/>
            </a:avLst>
          </a:prstGeom>
          <a:solidFill>
            <a:srgbClr val="F8F2F2"/>
          </a:solidFill>
          <a:ln>
            <a:noFill/>
          </a:ln>
          <a:effectLst>
            <a:outerShdw blurRad="177800" dist="38100" dir="5400000" algn="t" rotWithShape="0">
              <a:srgbClr val="1C252B">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lensh-SEC">
            <a:extLst>
              <a:ext uri="{C183D7F6-B498-43B3-948B-1728B52AA6E4}">
                <adec:decorative xmlns:adec="http://schemas.microsoft.com/office/drawing/2017/decorative" val="1"/>
              </a:ext>
            </a:extLst>
          </p:cNvPr>
          <p:cNvSpPr/>
          <p:nvPr/>
        </p:nvSpPr>
        <p:spPr>
          <a:xfrm>
            <a:off x="658368" y="1737360"/>
            <a:ext cx="8040319" cy="493776"/>
          </a:xfrm>
          <a:prstGeom prst="roundRect">
            <a:avLst>
              <a:gd name="adj" fmla="val 18518"/>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ensh2-SEC">
            <a:extLst>
              <a:ext uri="{C183D7F6-B498-43B3-948B-1728B52AA6E4}">
                <adec:decorative xmlns:adec="http://schemas.microsoft.com/office/drawing/2017/decorative" val="1"/>
              </a:ext>
            </a:extLst>
          </p:cNvPr>
          <p:cNvSpPr/>
          <p:nvPr/>
        </p:nvSpPr>
        <p:spPr>
          <a:xfrm>
            <a:off x="658368" y="2121408"/>
            <a:ext cx="8040319" cy="1097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0" name="!!lensi-SEC" descr="shield-alt-FFFFFF.png">
            <a:extLs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59536" y="1856231"/>
            <a:ext cx="256032" cy="256032"/>
          </a:xfrm>
          <a:prstGeom prst="rect">
            <a:avLst/>
          </a:prstGeom>
        </p:spPr>
      </p:pic>
      <p:sp>
        <p:nvSpPr>
          <p:cNvPr id="11" name="!!lensn-SEC"/>
          <p:cNvSpPr txBox="1"/>
          <p:nvPr/>
        </p:nvSpPr>
        <p:spPr>
          <a:xfrm>
            <a:off x="1261872" y="1837943"/>
            <a:ext cx="7345375" cy="292608"/>
          </a:xfrm>
          <a:prstGeom prst="rect">
            <a:avLst/>
          </a:prstGeom>
          <a:noFill/>
        </p:spPr>
        <p:txBody>
          <a:bodyPr wrap="none" anchor="t" lIns="0" rIns="0" tIns="0" bIns="0">
            <a:noAutofit/>
          </a:bodyPr>
          <a:lstStyle/>
          <a:p>
            <a:pPr algn="l">
              <a:lnSpc>
                <a:spcPct val="100000"/>
              </a:lnSpc>
              <a:spcBef>
                <a:spcPts val="0"/>
              </a:spcBef>
              <a:spcAft>
                <a:spcPts val="0"/>
              </a:spcAft>
            </a:pPr>
            <a:r>
              <a:rPr sz="1350" b="1" i="0" spc="100">
                <a:solidFill>
                  <a:srgbClr val="FFFFFF"/>
                </a:solidFill>
                <a:latin typeface="Segoe UI"/>
              </a:rPr>
              <a:t>CYBERSECURITY</a:t>
            </a:r>
          </a:p>
        </p:txBody>
      </p:sp>
      <p:sp>
        <p:nvSpPr>
          <p:cNvPr id="12" name="!!lensb-SEC-0"/>
          <p:cNvSpPr txBox="1"/>
          <p:nvPr/>
        </p:nvSpPr>
        <p:spPr>
          <a:xfrm>
            <a:off x="896112" y="2432304"/>
            <a:ext cx="758311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Classify network connections as benign or malicious on a public intrusion-detection dataset, or phishing URLs from their features. Report precision at fixed recall, compare with a signature-style rule, and test how easily the model can be evaded by changing one feature.</a:t>
            </a:r>
          </a:p>
        </p:txBody>
      </p:sp>
      <p:sp>
        <p:nvSpPr>
          <p:cNvPr id="13" name="!!lens-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F6F3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ensh-LA">
            <a:extLst>
              <a:ext uri="{C183D7F6-B498-43B3-948B-1728B52AA6E4}">
                <adec:decorative xmlns:adec="http://schemas.microsoft.com/office/drawing/2017/decorative" val="1"/>
              </a:ext>
            </a:extLst>
          </p:cNvPr>
          <p:cNvSpPr/>
          <p:nvPr/>
        </p:nvSpPr>
        <p:spPr>
          <a:xfrm>
            <a:off x="8936431" y="1737360"/>
            <a:ext cx="2596896" cy="493776"/>
          </a:xfrm>
          <a:prstGeom prst="roundRect">
            <a:avLst>
              <a:gd name="adj" fmla="val 18518"/>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ensh2-LA">
            <a:extLst>
              <a:ext uri="{C183D7F6-B498-43B3-948B-1728B52AA6E4}">
                <adec:decorative xmlns:adec="http://schemas.microsoft.com/office/drawing/2017/decorative" val="1"/>
              </a:ext>
            </a:extLst>
          </p:cNvPr>
          <p:cNvSpPr/>
          <p:nvPr/>
        </p:nvSpPr>
        <p:spPr>
          <a:xfrm>
            <a:off x="8936431" y="2121408"/>
            <a:ext cx="2596896" cy="109728"/>
          </a:xfrm>
          <a:prstGeom prst="rect">
            <a:avLst/>
          </a:prstGeom>
          <a:solidFill>
            <a:srgbClr val="6C348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6" name="!!lensi-LA" descr="graduation-cap-FFFFFF.png">
            <a:extLst>
              <a:ext uri="{C183D7F6-B498-43B3-948B-1728B52AA6E4}">
                <adec:decorative xmlns:adec="http://schemas.microsoft.com/office/drawing/2017/decorative" val="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37599" y="1856231"/>
            <a:ext cx="419498" cy="256032"/>
          </a:xfrm>
          <a:prstGeom prst="rect">
            <a:avLst/>
          </a:prstGeom>
        </p:spPr>
      </p:pic>
      <p:sp>
        <p:nvSpPr>
          <p:cNvPr id="17" name="!!lensn-LA"/>
          <p:cNvSpPr txBox="1"/>
          <p:nvPr/>
        </p:nvSpPr>
        <p:spPr>
          <a:xfrm>
            <a:off x="9703401" y="1837943"/>
            <a:ext cx="1738485"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Learning Analytics</a:t>
            </a:r>
          </a:p>
        </p:txBody>
      </p:sp>
      <p:sp>
        <p:nvSpPr>
          <p:cNvPr id="18" name="!!lens-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F2F6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ensh-PM">
            <a:extLst>
              <a:ext uri="{C183D7F6-B498-43B3-948B-1728B52AA6E4}">
                <adec:decorative xmlns:adec="http://schemas.microsoft.com/office/drawing/2017/decorative" val="1"/>
              </a:ext>
            </a:extLst>
          </p:cNvPr>
          <p:cNvSpPr/>
          <p:nvPr/>
        </p:nvSpPr>
        <p:spPr>
          <a:xfrm>
            <a:off x="8936431" y="2395728"/>
            <a:ext cx="2596896" cy="493776"/>
          </a:xfrm>
          <a:prstGeom prst="roundRect">
            <a:avLst>
              <a:gd name="adj" fmla="val 18518"/>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ensh2-PM">
            <a:extLst>
              <a:ext uri="{C183D7F6-B498-43B3-948B-1728B52AA6E4}">
                <adec:decorative xmlns:adec="http://schemas.microsoft.com/office/drawing/2017/decorative" val="1"/>
              </a:ext>
            </a:extLst>
          </p:cNvPr>
          <p:cNvSpPr/>
          <p:nvPr/>
        </p:nvSpPr>
        <p:spPr>
          <a:xfrm>
            <a:off x="8936431" y="2779776"/>
            <a:ext cx="2596896" cy="1097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1" name="!!lensi-PM" descr="tasks-FFFFFF.png">
            <a:extLst>
              <a:ext uri="{C183D7F6-B498-43B3-948B-1728B52AA6E4}">
                <adec:decorative xmlns:adec="http://schemas.microsoft.com/office/drawing/2017/decorative" val="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137599" y="2514600"/>
            <a:ext cx="301783" cy="256032"/>
          </a:xfrm>
          <a:prstGeom prst="rect">
            <a:avLst/>
          </a:prstGeom>
        </p:spPr>
      </p:pic>
      <p:sp>
        <p:nvSpPr>
          <p:cNvPr id="22" name="!!lensn-PM"/>
          <p:cNvSpPr txBox="1"/>
          <p:nvPr/>
        </p:nvSpPr>
        <p:spPr>
          <a:xfrm>
            <a:off x="9585686" y="2496312"/>
            <a:ext cx="1856200"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Project Management</a:t>
            </a:r>
          </a:p>
        </p:txBody>
      </p:sp>
      <p:sp>
        <p:nvSpPr>
          <p:cNvPr id="23" name="!!lens-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F1F7F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ensh-IOT">
            <a:extLst>
              <a:ext uri="{C183D7F6-B498-43B3-948B-1728B52AA6E4}">
                <adec:decorative xmlns:adec="http://schemas.microsoft.com/office/drawing/2017/decorative" val="1"/>
              </a:ext>
            </a:extLst>
          </p:cNvPr>
          <p:cNvSpPr/>
          <p:nvPr/>
        </p:nvSpPr>
        <p:spPr>
          <a:xfrm>
            <a:off x="8936431" y="3054096"/>
            <a:ext cx="2596896" cy="493776"/>
          </a:xfrm>
          <a:prstGeom prst="roundRect">
            <a:avLst>
              <a:gd name="adj" fmla="val 18518"/>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ensh2-IOT">
            <a:extLst>
              <a:ext uri="{C183D7F6-B498-43B3-948B-1728B52AA6E4}">
                <adec:decorative xmlns:adec="http://schemas.microsoft.com/office/drawing/2017/decorative" val="1"/>
              </a:ext>
            </a:extLst>
          </p:cNvPr>
          <p:cNvSpPr/>
          <p:nvPr/>
        </p:nvSpPr>
        <p:spPr>
          <a:xfrm>
            <a:off x="8936431" y="3438144"/>
            <a:ext cx="2596896" cy="1097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26" name="!!lensi-IOT" descr="microchip-FFFFFF.png">
            <a:extLst>
              <a:ext uri="{C183D7F6-B498-43B3-948B-1728B52AA6E4}">
                <adec:decorative xmlns:adec="http://schemas.microsoft.com/office/drawing/2017/decorative" val="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9137599" y="3172968"/>
            <a:ext cx="256032" cy="256032"/>
          </a:xfrm>
          <a:prstGeom prst="rect">
            <a:avLst/>
          </a:prstGeom>
        </p:spPr>
      </p:pic>
      <p:sp>
        <p:nvSpPr>
          <p:cNvPr id="27" name="!!lensn-IOT"/>
          <p:cNvSpPr txBox="1"/>
          <p:nvPr/>
        </p:nvSpPr>
        <p:spPr>
          <a:xfrm>
            <a:off x="9539935" y="3154679"/>
            <a:ext cx="1901951" cy="292608"/>
          </a:xfrm>
          <a:prstGeom prst="rect">
            <a:avLst/>
          </a:prstGeom>
          <a:noFill/>
        </p:spPr>
        <p:txBody>
          <a:bodyPr wrap="none" anchor="t" lIns="0" rIns="0" tIns="0" bIns="0">
            <a:noAutofit/>
          </a:bodyPr>
          <a:lstStyle/>
          <a:p>
            <a:pPr algn="l">
              <a:lnSpc>
                <a:spcPct val="100000"/>
              </a:lnSpc>
              <a:spcBef>
                <a:spcPts val="0"/>
              </a:spcBef>
              <a:spcAft>
                <a:spcPts val="0"/>
              </a:spcAft>
            </a:pPr>
            <a:r>
              <a:rPr sz="1300" b="1" i="0">
                <a:solidFill>
                  <a:srgbClr val="FFFFFF"/>
                </a:solidFill>
                <a:latin typeface="Segoe UI"/>
              </a:rPr>
              <a:t>Internet of Things</a:t>
            </a:r>
          </a:p>
        </p:txBody>
      </p:sp>
      <p:sp>
        <p:nvSpPr>
          <p:cNvPr id="2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pfill">
            <a:extLst>
              <a:ext uri="{C183D7F6-B498-43B3-948B-1728B52AA6E4}">
                <adec:decorative xmlns:adec="http://schemas.microsoft.com/office/drawing/2017/decorative" val="1"/>
              </a:ext>
            </a:extLst>
          </p:cNvPr>
          <p:cNvSpPr/>
          <p:nvPr/>
        </p:nvSpPr>
        <p:spPr>
          <a:xfrm>
            <a:off x="0" y="0"/>
            <a:ext cx="650223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7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Project Template, End to End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3D3EEF63-A91D-489B-9C4C-23A6EE73C012}" type="slidenum">
              <a:rPr lang="en-GB" sz="1000">
                <a:solidFill>
                  <a:srgbClr val="8795A1"/>
                </a:solidFill>
                <a:latin typeface="Segoe UI"/>
              </a:rPr>
              <a:t>25</a:t>
            </a:fld>
          </a:p>
        </p:txBody>
      </p:sp>
      <p:sp>
        <p:nvSpPr>
          <p:cNvPr id="7" name="body-0"/>
          <p:cNvSpPr txBox="1"/>
          <p:nvPr/>
        </p:nvSpPr>
        <p:spPr>
          <a:xfrm>
            <a:off x="658368" y="1737360"/>
            <a:ext cx="1087495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Copy this script as the skeleton of your project and replace the data and the candidate models. It writes an experiment log, the saved model and a model card into a folder called </a:t>
            </a:r>
            <a:r>
              <a:rPr sz="1900" b="0" i="0">
                <a:solidFill>
                  <a:srgbClr val="1F4E79"/>
                </a:solidFill>
                <a:latin typeface="Consolas"/>
              </a:rPr>
              <a:t>project_output</a:t>
            </a:r>
            <a:r>
              <a:rPr sz="2000" b="0" i="0">
                <a:solidFill>
                  <a:srgbClr val="1C252B"/>
                </a:solidFill>
                <a:latin typeface="Segoe UI"/>
              </a:rPr>
              <a:t>.</a:t>
            </a:r>
          </a:p>
        </p:txBody>
      </p:sp>
      <p:sp>
        <p:nvSpPr>
          <p:cNvPr id="8" name="!!labsteps-h"/>
          <p:cNvSpPr txBox="1"/>
          <p:nvPr/>
        </p:nvSpPr>
        <p:spPr>
          <a:xfrm>
            <a:off x="658368" y="29992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383280"/>
            <a:ext cx="10874959" cy="1645919"/>
          </a:xfrm>
          <a:prstGeom prst="rect">
            <a:avLst/>
          </a:prstGeom>
          <a:noFill/>
        </p:spPr>
        <p:txBody>
          <a:bodyPr wrap="square" anchor="t" lIns="0" rIns="0" tIns="0" bIns="0">
            <a:noAutofit/>
          </a:bodyPr>
          <a:lstStyle/>
          <a:p>
            <a:pPr algn="l" marL="422657" indent="-422657">
              <a:lnSpc>
                <a:spcPct val="100000"/>
              </a:lnSpc>
              <a:spcBef>
                <a:spcPts val="0"/>
              </a:spcBef>
              <a:spcAft>
                <a:spcPts val="509"/>
              </a:spcAft>
            </a:pPr>
            <a:r>
              <a:rPr sz="1700" b="1">
                <a:solidFill>
                  <a:srgbClr val="117A65"/>
                </a:solidFill>
                <a:latin typeface="Segoe UI"/>
              </a:rPr>
              <a:t>1.	</a:t>
            </a:r>
            <a:r>
              <a:rPr sz="1700" b="0" i="0">
                <a:solidFill>
                  <a:srgbClr val="1C252B"/>
                </a:solidFill>
                <a:latin typeface="Segoe UI"/>
              </a:rPr>
              <a:t>Data, and a split made once and never changed</a:t>
            </a:r>
          </a:p>
          <a:p>
            <a:pPr algn="l" marL="422657" indent="-422657">
              <a:lnSpc>
                <a:spcPct val="100000"/>
              </a:lnSpc>
              <a:spcBef>
                <a:spcPts val="0"/>
              </a:spcBef>
              <a:spcAft>
                <a:spcPts val="509"/>
              </a:spcAft>
            </a:pPr>
            <a:r>
              <a:rPr sz="1700" b="1">
                <a:solidFill>
                  <a:srgbClr val="117A65"/>
                </a:solidFill>
                <a:latin typeface="Segoe UI"/>
              </a:rPr>
              <a:t>2.	</a:t>
            </a:r>
            <a:r>
              <a:rPr sz="1700" b="0" i="0">
                <a:solidFill>
                  <a:srgbClr val="1C252B"/>
                </a:solidFill>
                <a:latin typeface="Segoe UI"/>
              </a:rPr>
              <a:t>Baseline, then candidates, all by cross-validation</a:t>
            </a:r>
          </a:p>
          <a:p>
            <a:pPr algn="l" marL="422657" indent="-422657">
              <a:lnSpc>
                <a:spcPct val="100000"/>
              </a:lnSpc>
              <a:spcBef>
                <a:spcPts val="0"/>
              </a:spcBef>
              <a:spcAft>
                <a:spcPts val="509"/>
              </a:spcAft>
            </a:pPr>
            <a:r>
              <a:rPr sz="1700" b="1">
                <a:solidFill>
                  <a:srgbClr val="117A65"/>
                </a:solidFill>
                <a:latin typeface="Segoe UI"/>
              </a:rPr>
              <a:t>3.	</a:t>
            </a:r>
            <a:r>
              <a:rPr sz="1700" b="0" i="0">
                <a:solidFill>
                  <a:srgbClr val="1C252B"/>
                </a:solidFill>
                <a:latin typeface="Segoe UI"/>
              </a:rPr>
              <a:t>Tune the chosen family</a:t>
            </a:r>
          </a:p>
          <a:p>
            <a:pPr algn="l" marL="422657" indent="-422657">
              <a:lnSpc>
                <a:spcPct val="100000"/>
              </a:lnSpc>
              <a:spcBef>
                <a:spcPts val="0"/>
              </a:spcBef>
              <a:spcAft>
                <a:spcPts val="509"/>
              </a:spcAft>
            </a:pPr>
            <a:r>
              <a:rPr sz="1700" b="1">
                <a:solidFill>
                  <a:srgbClr val="117A65"/>
                </a:solidFill>
                <a:latin typeface="Segoe UI"/>
              </a:rPr>
              <a:t>4.	</a:t>
            </a:r>
            <a:r>
              <a:rPr sz="1700" b="0" i="0">
                <a:solidFill>
                  <a:srgbClr val="1C252B"/>
                </a:solidFill>
                <a:latin typeface="Segoe UI"/>
              </a:rPr>
              <a:t>The test set, once</a:t>
            </a:r>
          </a:p>
          <a:p>
            <a:pPr algn="l" marL="422657" indent="-422657">
              <a:lnSpc>
                <a:spcPct val="100000"/>
              </a:lnSpc>
              <a:spcBef>
                <a:spcPts val="0"/>
              </a:spcBef>
              <a:spcAft>
                <a:spcPts val="0"/>
              </a:spcAft>
            </a:pPr>
            <a:r>
              <a:rPr sz="1700" b="1">
                <a:solidFill>
                  <a:srgbClr val="117A65"/>
                </a:solidFill>
                <a:latin typeface="Segoe UI"/>
              </a:rPr>
              <a:t>5.	</a:t>
            </a:r>
            <a:r>
              <a:rPr sz="1700" b="0" i="0">
                <a:solidFill>
                  <a:srgbClr val="1C252B"/>
                </a:solidFill>
                <a:latin typeface="Segoe UI"/>
              </a:rPr>
              <a:t>Save the model and write its model card</a:t>
            </a:r>
          </a:p>
        </p:txBody>
      </p:sp>
      <p:sp>
        <p:nvSpPr>
          <p:cNvPr id="29" name="!!lfTHIS">
            <a:extLst>
              <a:ext uri="{C183D7F6-B498-43B3-948B-1728B52AA6E4}">
                <adec:decorative xmlns:adec="http://schemas.microsoft.com/office/drawing/2017/decorative" val="1"/>
              </a:ext>
            </a:extLst>
          </p:cNvPr>
          <p:cNvSpPr/>
          <p:nvPr/>
        </p:nvSpPr>
        <p:spPr>
          <a:xfrm>
            <a:off x="658368" y="524865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lfbTHIS">
            <a:extLst>
              <a:ext uri="{C183D7F6-B498-43B3-948B-1728B52AA6E4}">
                <adec:decorative xmlns:adec="http://schemas.microsoft.com/office/drawing/2017/decorative" val="1"/>
              </a:ext>
            </a:extLst>
          </p:cNvPr>
          <p:cNvSpPr/>
          <p:nvPr/>
        </p:nvSpPr>
        <p:spPr>
          <a:xfrm>
            <a:off x="658368" y="524865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lflTHIS"/>
          <p:cNvSpPr txBox="1"/>
          <p:nvPr/>
        </p:nvSpPr>
        <p:spPr>
          <a:xfrm>
            <a:off x="932688" y="541324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2" name="!!lfvTHIS"/>
          <p:cNvSpPr txBox="1"/>
          <p:nvPr/>
        </p:nvSpPr>
        <p:spPr>
          <a:xfrm>
            <a:off x="932688" y="570585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11: Backpropagation from scratch</a:t>
            </a:r>
          </a:p>
        </p:txBody>
      </p:sp>
      <p:sp>
        <p:nvSpPr>
          <p:cNvPr id="33" name="!!lfWHAT">
            <a:extLst>
              <a:ext uri="{C183D7F6-B498-43B3-948B-1728B52AA6E4}">
                <adec:decorative xmlns:adec="http://schemas.microsoft.com/office/drawing/2017/decorative" val="1"/>
              </a:ext>
            </a:extLst>
          </p:cNvPr>
          <p:cNvSpPr/>
          <p:nvPr/>
        </p:nvSpPr>
        <p:spPr>
          <a:xfrm>
            <a:off x="4374794" y="524865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lfbWHAT">
            <a:extLst>
              <a:ext uri="{C183D7F6-B498-43B3-948B-1728B52AA6E4}">
                <adec:decorative xmlns:adec="http://schemas.microsoft.com/office/drawing/2017/decorative" val="1"/>
              </a:ext>
            </a:extLst>
          </p:cNvPr>
          <p:cNvSpPr/>
          <p:nvPr/>
        </p:nvSpPr>
        <p:spPr>
          <a:xfrm>
            <a:off x="4374794" y="524865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lWHAT"/>
          <p:cNvSpPr txBox="1"/>
          <p:nvPr/>
        </p:nvSpPr>
        <p:spPr>
          <a:xfrm>
            <a:off x="4649114" y="541324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36" name="!!lfvWHAT"/>
          <p:cNvSpPr txBox="1"/>
          <p:nvPr/>
        </p:nvSpPr>
        <p:spPr>
          <a:xfrm>
            <a:off x="4649114" y="570585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74 lines of Python</a:t>
            </a:r>
          </a:p>
        </p:txBody>
      </p:sp>
      <p:sp>
        <p:nvSpPr>
          <p:cNvPr id="37" name="!!lfRUNN">
            <a:extLst>
              <a:ext uri="{C183D7F6-B498-43B3-948B-1728B52AA6E4}">
                <adec:decorative xmlns:adec="http://schemas.microsoft.com/office/drawing/2017/decorative" val="1"/>
              </a:ext>
            </a:extLst>
          </p:cNvPr>
          <p:cNvSpPr/>
          <p:nvPr/>
        </p:nvSpPr>
        <p:spPr>
          <a:xfrm>
            <a:off x="8091220" y="524865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lfbRUNN">
            <a:extLst>
              <a:ext uri="{C183D7F6-B498-43B3-948B-1728B52AA6E4}">
                <adec:decorative xmlns:adec="http://schemas.microsoft.com/office/drawing/2017/decorative" val="1"/>
              </a:ext>
            </a:extLst>
          </p:cNvPr>
          <p:cNvSpPr/>
          <p:nvPr/>
        </p:nvSpPr>
        <p:spPr>
          <a:xfrm>
            <a:off x="8091220" y="524865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lRUNN"/>
          <p:cNvSpPr txBox="1"/>
          <p:nvPr/>
        </p:nvSpPr>
        <p:spPr>
          <a:xfrm>
            <a:off x="8365540" y="541324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0" name="!!lfvRUNN"/>
          <p:cNvSpPr txBox="1"/>
          <p:nvPr/>
        </p:nvSpPr>
        <p:spPr>
          <a:xfrm>
            <a:off x="8365540" y="570585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code/ch22_project_template_end.py</a:t>
            </a:r>
          </a:p>
        </p:txBody>
      </p:sp>
      <p:sp>
        <p:nvSpPr>
          <p:cNvPr id="4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pfill">
            <a:extLst>
              <a:ext uri="{C183D7F6-B498-43B3-948B-1728B52AA6E4}">
                <adec:decorative xmlns:adec="http://schemas.microsoft.com/office/drawing/2017/decorative" val="1"/>
              </a:ext>
            </a:extLst>
          </p:cNvPr>
          <p:cNvSpPr/>
          <p:nvPr/>
        </p:nvSpPr>
        <p:spPr>
          <a:xfrm>
            <a:off x="0" y="0"/>
            <a:ext cx="677316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Project Template, End to End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D42C6A68-F731-4801-AE39-06EEA1A002DA}"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code/ch22_project_template_end.py</a:t>
            </a:r>
          </a:p>
        </p:txBody>
      </p:sp>
      <p:sp>
        <p:nvSpPr>
          <p:cNvPr id="14" name="!!code-text" descr="&quot;&quot;&quot;Project skeleton: from raw data to a saved, documented model.&quot;&quot;&quot; import csv import datetime import json import os"/>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"""Project skeleton: from raw data to a saved, documented model."""</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csv</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datetime</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json</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os</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04409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Project Template, End to End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C818A0B8-251E-4EA4-BCDA-97B293C1FED5}"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code/ch22_project_template_end.py</a:t>
            </a:r>
          </a:p>
        </p:txBody>
      </p:sp>
      <p:sp>
        <p:nvSpPr>
          <p:cNvPr id="14" name="!!code-text" descr="import joblib import sklearn from sklearn.datasets import load_breast_cancer from sklearn.dummy import DummyClassifier from sklearn.ensemble import RandomForestClassifier from sklearn.linear_model import LogisticRegression from sklearn.metrics import classification_report, recall_score from sklearn.model_selection import (GridSearchCV, StratifiedKFold, cross_val_score, train_test_split) from sklearn.pipeline import make_pipeline from sklearn.preprocessing import StandardScaler SEED = 42 # one seed, used everywhere OUT = &quot;project_output&quot; os.makedirs(OUT, exist_ok=True)"/>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0">
                <a:solidFill>
                  <a:srgbClr val="5DADE2"/>
                </a:solidFill>
                <a:latin typeface="Consolas"/>
              </a:rPr>
              <a:t>import</a:t>
            </a:r>
            <a:r>
              <a:rPr sz="1500" i="0">
                <a:solidFill>
                  <a:srgbClr val="E8EDF2"/>
                </a:solidFill>
                <a:latin typeface="Consolas"/>
              </a:rPr>
              <a:t> </a:t>
            </a:r>
            <a:r>
              <a:rPr sz="1500" i="0">
                <a:solidFill>
                  <a:srgbClr val="76D7C4"/>
                </a:solidFill>
                <a:latin typeface="Consolas"/>
              </a:rPr>
              <a:t>joblib</a:t>
            </a:r>
          </a:p>
          <a:p>
            <a:pPr>
              <a:lnSpc>
                <a:spcPct val="100000"/>
              </a:lnSpc>
              <a:spcAft>
                <a:spcPts val="0"/>
              </a:spcAft>
            </a:pPr>
            <a:r>
              <a:rPr sz="1500" i="0">
                <a:solidFill>
                  <a:srgbClr val="5DADE2"/>
                </a:solidFill>
                <a:latin typeface="Consolas"/>
              </a:rPr>
              <a:t>import</a:t>
            </a:r>
            <a:r>
              <a:rPr sz="1500" i="0">
                <a:solidFill>
                  <a:srgbClr val="E8EDF2"/>
                </a:solidFill>
                <a:latin typeface="Consolas"/>
              </a:rPr>
              <a:t> </a:t>
            </a:r>
            <a:r>
              <a:rPr sz="1500" i="0">
                <a:solidFill>
                  <a:srgbClr val="76D7C4"/>
                </a:solidFill>
                <a:latin typeface="Consolas"/>
              </a:rPr>
              <a:t>sklearn</a:t>
            </a:r>
          </a:p>
          <a:p>
            <a:pPr>
              <a:lnSpc>
                <a:spcPct val="100000"/>
              </a:lnSpc>
              <a:spcAft>
                <a:spcPts val="0"/>
              </a:spcAft>
            </a:pPr>
            <a:r>
              <a:rPr sz="1500" i="0">
                <a:solidFill>
                  <a:srgbClr val="5DADE2"/>
                </a:solidFill>
                <a:latin typeface="Consolas"/>
              </a:rPr>
              <a:t>from</a:t>
            </a:r>
            <a:r>
              <a:rPr sz="1500" i="0">
                <a:solidFill>
                  <a:srgbClr val="E8EDF2"/>
                </a:solidFill>
                <a:latin typeface="Consolas"/>
              </a:rPr>
              <a:t> </a:t>
            </a:r>
            <a:r>
              <a:rPr sz="1500" i="0">
                <a:solidFill>
                  <a:srgbClr val="76D7C4"/>
                </a:solidFill>
                <a:latin typeface="Consolas"/>
              </a:rPr>
              <a:t>sklearn</a:t>
            </a:r>
            <a:r>
              <a:rPr sz="1500" i="0">
                <a:solidFill>
                  <a:srgbClr val="76D7C4"/>
                </a:solidFill>
                <a:latin typeface="Consolas"/>
              </a:rPr>
              <a:t>.</a:t>
            </a:r>
            <a:r>
              <a:rPr sz="1500" i="0">
                <a:solidFill>
                  <a:srgbClr val="76D7C4"/>
                </a:solidFill>
                <a:latin typeface="Consolas"/>
              </a:rPr>
              <a:t>datasets</a:t>
            </a:r>
            <a:r>
              <a:rPr sz="1500" i="0">
                <a:solidFill>
                  <a:srgbClr val="E8EDF2"/>
                </a:solidFill>
                <a:latin typeface="Consolas"/>
              </a:rPr>
              <a:t> </a:t>
            </a:r>
            <a:r>
              <a:rPr sz="1500" i="0">
                <a:solidFill>
                  <a:srgbClr val="5DADE2"/>
                </a:solidFill>
                <a:latin typeface="Consolas"/>
              </a:rPr>
              <a:t>import</a:t>
            </a:r>
            <a:r>
              <a:rPr sz="1500" i="0">
                <a:solidFill>
                  <a:srgbClr val="E8EDF2"/>
                </a:solidFill>
                <a:latin typeface="Consolas"/>
              </a:rPr>
              <a:t> </a:t>
            </a:r>
            <a:r>
              <a:rPr sz="1500" i="0">
                <a:solidFill>
                  <a:srgbClr val="E8EDF2"/>
                </a:solidFill>
                <a:latin typeface="Consolas"/>
              </a:rPr>
              <a:t>load_breast_cancer</a:t>
            </a:r>
          </a:p>
          <a:p>
            <a:pPr>
              <a:lnSpc>
                <a:spcPct val="100000"/>
              </a:lnSpc>
              <a:spcAft>
                <a:spcPts val="0"/>
              </a:spcAft>
            </a:pPr>
            <a:r>
              <a:rPr sz="1500" i="0">
                <a:solidFill>
                  <a:srgbClr val="5DADE2"/>
                </a:solidFill>
                <a:latin typeface="Consolas"/>
              </a:rPr>
              <a:t>from</a:t>
            </a:r>
            <a:r>
              <a:rPr sz="1500" i="0">
                <a:solidFill>
                  <a:srgbClr val="E8EDF2"/>
                </a:solidFill>
                <a:latin typeface="Consolas"/>
              </a:rPr>
              <a:t> </a:t>
            </a:r>
            <a:r>
              <a:rPr sz="1500" i="0">
                <a:solidFill>
                  <a:srgbClr val="76D7C4"/>
                </a:solidFill>
                <a:latin typeface="Consolas"/>
              </a:rPr>
              <a:t>sklearn</a:t>
            </a:r>
            <a:r>
              <a:rPr sz="1500" i="0">
                <a:solidFill>
                  <a:srgbClr val="76D7C4"/>
                </a:solidFill>
                <a:latin typeface="Consolas"/>
              </a:rPr>
              <a:t>.</a:t>
            </a:r>
            <a:r>
              <a:rPr sz="1500" i="0">
                <a:solidFill>
                  <a:srgbClr val="76D7C4"/>
                </a:solidFill>
                <a:latin typeface="Consolas"/>
              </a:rPr>
              <a:t>dummy</a:t>
            </a:r>
            <a:r>
              <a:rPr sz="1500" i="0">
                <a:solidFill>
                  <a:srgbClr val="E8EDF2"/>
                </a:solidFill>
                <a:latin typeface="Consolas"/>
              </a:rPr>
              <a:t> </a:t>
            </a:r>
            <a:r>
              <a:rPr sz="1500" i="0">
                <a:solidFill>
                  <a:srgbClr val="5DADE2"/>
                </a:solidFill>
                <a:latin typeface="Consolas"/>
              </a:rPr>
              <a:t>import</a:t>
            </a:r>
            <a:r>
              <a:rPr sz="1500" i="0">
                <a:solidFill>
                  <a:srgbClr val="E8EDF2"/>
                </a:solidFill>
                <a:latin typeface="Consolas"/>
              </a:rPr>
              <a:t> </a:t>
            </a:r>
            <a:r>
              <a:rPr sz="1500" i="0">
                <a:solidFill>
                  <a:srgbClr val="E8EDF2"/>
                </a:solidFill>
                <a:latin typeface="Consolas"/>
              </a:rPr>
              <a:t>DummyClassifier</a:t>
            </a:r>
          </a:p>
          <a:p>
            <a:pPr>
              <a:lnSpc>
                <a:spcPct val="100000"/>
              </a:lnSpc>
              <a:spcAft>
                <a:spcPts val="0"/>
              </a:spcAft>
            </a:pPr>
            <a:r>
              <a:rPr sz="1500" i="0">
                <a:solidFill>
                  <a:srgbClr val="5DADE2"/>
                </a:solidFill>
                <a:latin typeface="Consolas"/>
              </a:rPr>
              <a:t>from</a:t>
            </a:r>
            <a:r>
              <a:rPr sz="1500" i="0">
                <a:solidFill>
                  <a:srgbClr val="E8EDF2"/>
                </a:solidFill>
                <a:latin typeface="Consolas"/>
              </a:rPr>
              <a:t> </a:t>
            </a:r>
            <a:r>
              <a:rPr sz="1500" i="0">
                <a:solidFill>
                  <a:srgbClr val="76D7C4"/>
                </a:solidFill>
                <a:latin typeface="Consolas"/>
              </a:rPr>
              <a:t>sklearn</a:t>
            </a:r>
            <a:r>
              <a:rPr sz="1500" i="0">
                <a:solidFill>
                  <a:srgbClr val="76D7C4"/>
                </a:solidFill>
                <a:latin typeface="Consolas"/>
              </a:rPr>
              <a:t>.</a:t>
            </a:r>
            <a:r>
              <a:rPr sz="1500" i="0">
                <a:solidFill>
                  <a:srgbClr val="76D7C4"/>
                </a:solidFill>
                <a:latin typeface="Consolas"/>
              </a:rPr>
              <a:t>ensemble</a:t>
            </a:r>
            <a:r>
              <a:rPr sz="1500" i="0">
                <a:solidFill>
                  <a:srgbClr val="E8EDF2"/>
                </a:solidFill>
                <a:latin typeface="Consolas"/>
              </a:rPr>
              <a:t> </a:t>
            </a:r>
            <a:r>
              <a:rPr sz="1500" i="0">
                <a:solidFill>
                  <a:srgbClr val="5DADE2"/>
                </a:solidFill>
                <a:latin typeface="Consolas"/>
              </a:rPr>
              <a:t>import</a:t>
            </a:r>
            <a:r>
              <a:rPr sz="1500" i="0">
                <a:solidFill>
                  <a:srgbClr val="E8EDF2"/>
                </a:solidFill>
                <a:latin typeface="Consolas"/>
              </a:rPr>
              <a:t> </a:t>
            </a:r>
            <a:r>
              <a:rPr sz="1500" i="0">
                <a:solidFill>
                  <a:srgbClr val="E8EDF2"/>
                </a:solidFill>
                <a:latin typeface="Consolas"/>
              </a:rPr>
              <a:t>RandomForestClassifier</a:t>
            </a:r>
          </a:p>
          <a:p>
            <a:pPr>
              <a:lnSpc>
                <a:spcPct val="100000"/>
              </a:lnSpc>
              <a:spcAft>
                <a:spcPts val="0"/>
              </a:spcAft>
            </a:pPr>
            <a:r>
              <a:rPr sz="1500" i="0">
                <a:solidFill>
                  <a:srgbClr val="5DADE2"/>
                </a:solidFill>
                <a:latin typeface="Consolas"/>
              </a:rPr>
              <a:t>from</a:t>
            </a:r>
            <a:r>
              <a:rPr sz="1500" i="0">
                <a:solidFill>
                  <a:srgbClr val="E8EDF2"/>
                </a:solidFill>
                <a:latin typeface="Consolas"/>
              </a:rPr>
              <a:t> </a:t>
            </a:r>
            <a:r>
              <a:rPr sz="1500" i="0">
                <a:solidFill>
                  <a:srgbClr val="76D7C4"/>
                </a:solidFill>
                <a:latin typeface="Consolas"/>
              </a:rPr>
              <a:t>sklearn</a:t>
            </a:r>
            <a:r>
              <a:rPr sz="1500" i="0">
                <a:solidFill>
                  <a:srgbClr val="76D7C4"/>
                </a:solidFill>
                <a:latin typeface="Consolas"/>
              </a:rPr>
              <a:t>.</a:t>
            </a:r>
            <a:r>
              <a:rPr sz="1500" i="0">
                <a:solidFill>
                  <a:srgbClr val="76D7C4"/>
                </a:solidFill>
                <a:latin typeface="Consolas"/>
              </a:rPr>
              <a:t>linear_model</a:t>
            </a:r>
            <a:r>
              <a:rPr sz="1500" i="0">
                <a:solidFill>
                  <a:srgbClr val="E8EDF2"/>
                </a:solidFill>
                <a:latin typeface="Consolas"/>
              </a:rPr>
              <a:t> </a:t>
            </a:r>
            <a:r>
              <a:rPr sz="1500" i="0">
                <a:solidFill>
                  <a:srgbClr val="5DADE2"/>
                </a:solidFill>
                <a:latin typeface="Consolas"/>
              </a:rPr>
              <a:t>import</a:t>
            </a:r>
            <a:r>
              <a:rPr sz="1500" i="0">
                <a:solidFill>
                  <a:srgbClr val="E8EDF2"/>
                </a:solidFill>
                <a:latin typeface="Consolas"/>
              </a:rPr>
              <a:t> </a:t>
            </a:r>
            <a:r>
              <a:rPr sz="1500" i="0">
                <a:solidFill>
                  <a:srgbClr val="E8EDF2"/>
                </a:solidFill>
                <a:latin typeface="Consolas"/>
              </a:rPr>
              <a:t>LogisticRegression</a:t>
            </a:r>
          </a:p>
          <a:p>
            <a:pPr>
              <a:lnSpc>
                <a:spcPct val="100000"/>
              </a:lnSpc>
              <a:spcAft>
                <a:spcPts val="0"/>
              </a:spcAft>
            </a:pPr>
            <a:r>
              <a:rPr sz="1500" i="0">
                <a:solidFill>
                  <a:srgbClr val="5DADE2"/>
                </a:solidFill>
                <a:latin typeface="Consolas"/>
              </a:rPr>
              <a:t>from</a:t>
            </a:r>
            <a:r>
              <a:rPr sz="1500" i="0">
                <a:solidFill>
                  <a:srgbClr val="E8EDF2"/>
                </a:solidFill>
                <a:latin typeface="Consolas"/>
              </a:rPr>
              <a:t> </a:t>
            </a:r>
            <a:r>
              <a:rPr sz="1500" i="0">
                <a:solidFill>
                  <a:srgbClr val="76D7C4"/>
                </a:solidFill>
                <a:latin typeface="Consolas"/>
              </a:rPr>
              <a:t>sklearn</a:t>
            </a:r>
            <a:r>
              <a:rPr sz="1500" i="0">
                <a:solidFill>
                  <a:srgbClr val="76D7C4"/>
                </a:solidFill>
                <a:latin typeface="Consolas"/>
              </a:rPr>
              <a:t>.</a:t>
            </a:r>
            <a:r>
              <a:rPr sz="1500" i="0">
                <a:solidFill>
                  <a:srgbClr val="76D7C4"/>
                </a:solidFill>
                <a:latin typeface="Consolas"/>
              </a:rPr>
              <a:t>metrics</a:t>
            </a:r>
            <a:r>
              <a:rPr sz="1500" i="0">
                <a:solidFill>
                  <a:srgbClr val="E8EDF2"/>
                </a:solidFill>
                <a:latin typeface="Consolas"/>
              </a:rPr>
              <a:t> </a:t>
            </a:r>
            <a:r>
              <a:rPr sz="1500" i="0">
                <a:solidFill>
                  <a:srgbClr val="5DADE2"/>
                </a:solidFill>
                <a:latin typeface="Consolas"/>
              </a:rPr>
              <a:t>import</a:t>
            </a:r>
            <a:r>
              <a:rPr sz="1500" i="0">
                <a:solidFill>
                  <a:srgbClr val="E8EDF2"/>
                </a:solidFill>
                <a:latin typeface="Consolas"/>
              </a:rPr>
              <a:t> </a:t>
            </a:r>
            <a:r>
              <a:rPr sz="1500" i="0">
                <a:solidFill>
                  <a:srgbClr val="E8EDF2"/>
                </a:solidFill>
                <a:latin typeface="Consolas"/>
              </a:rPr>
              <a:t>classification_report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recall_score</a:t>
            </a:r>
          </a:p>
          <a:p>
            <a:pPr>
              <a:lnSpc>
                <a:spcPct val="100000"/>
              </a:lnSpc>
              <a:spcAft>
                <a:spcPts val="0"/>
              </a:spcAft>
            </a:pPr>
            <a:r>
              <a:rPr sz="1500" i="0">
                <a:solidFill>
                  <a:srgbClr val="5DADE2"/>
                </a:solidFill>
                <a:latin typeface="Consolas"/>
              </a:rPr>
              <a:t>from</a:t>
            </a:r>
            <a:r>
              <a:rPr sz="1500" i="0">
                <a:solidFill>
                  <a:srgbClr val="E8EDF2"/>
                </a:solidFill>
                <a:latin typeface="Consolas"/>
              </a:rPr>
              <a:t> </a:t>
            </a:r>
            <a:r>
              <a:rPr sz="1500" i="0">
                <a:solidFill>
                  <a:srgbClr val="76D7C4"/>
                </a:solidFill>
                <a:latin typeface="Consolas"/>
              </a:rPr>
              <a:t>sklearn</a:t>
            </a:r>
            <a:r>
              <a:rPr sz="1500" i="0">
                <a:solidFill>
                  <a:srgbClr val="76D7C4"/>
                </a:solidFill>
                <a:latin typeface="Consolas"/>
              </a:rPr>
              <a:t>.</a:t>
            </a:r>
            <a:r>
              <a:rPr sz="1500" i="0">
                <a:solidFill>
                  <a:srgbClr val="76D7C4"/>
                </a:solidFill>
                <a:latin typeface="Consolas"/>
              </a:rPr>
              <a:t>model_selection</a:t>
            </a:r>
            <a:r>
              <a:rPr sz="1500" i="0">
                <a:solidFill>
                  <a:srgbClr val="E8EDF2"/>
                </a:solidFill>
                <a:latin typeface="Consolas"/>
              </a:rPr>
              <a:t> </a:t>
            </a:r>
            <a:r>
              <a:rPr sz="1500" i="0">
                <a:solidFill>
                  <a:srgbClr val="5DADE2"/>
                </a:solidFill>
                <a:latin typeface="Consolas"/>
              </a:rPr>
              <a:t>import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GridSearchCV</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StratifiedKFold</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cross_val_score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train_test_split</a:t>
            </a:r>
            <a:r>
              <a:rPr sz="1500" i="0">
                <a:solidFill>
                  <a:srgbClr val="AEB6BF"/>
                </a:solidFill>
                <a:latin typeface="Consolas"/>
              </a:rPr>
              <a:t>)</a:t>
            </a:r>
          </a:p>
          <a:p>
            <a:pPr>
              <a:lnSpc>
                <a:spcPct val="100000"/>
              </a:lnSpc>
              <a:spcAft>
                <a:spcPts val="0"/>
              </a:spcAft>
            </a:pPr>
            <a:r>
              <a:rPr sz="1500" i="0">
                <a:solidFill>
                  <a:srgbClr val="5DADE2"/>
                </a:solidFill>
                <a:latin typeface="Consolas"/>
              </a:rPr>
              <a:t>from</a:t>
            </a:r>
            <a:r>
              <a:rPr sz="1500" i="0">
                <a:solidFill>
                  <a:srgbClr val="E8EDF2"/>
                </a:solidFill>
                <a:latin typeface="Consolas"/>
              </a:rPr>
              <a:t> </a:t>
            </a:r>
            <a:r>
              <a:rPr sz="1500" i="0">
                <a:solidFill>
                  <a:srgbClr val="76D7C4"/>
                </a:solidFill>
                <a:latin typeface="Consolas"/>
              </a:rPr>
              <a:t>sklearn</a:t>
            </a:r>
            <a:r>
              <a:rPr sz="1500" i="0">
                <a:solidFill>
                  <a:srgbClr val="76D7C4"/>
                </a:solidFill>
                <a:latin typeface="Consolas"/>
              </a:rPr>
              <a:t>.</a:t>
            </a:r>
            <a:r>
              <a:rPr sz="1500" i="0">
                <a:solidFill>
                  <a:srgbClr val="76D7C4"/>
                </a:solidFill>
                <a:latin typeface="Consolas"/>
              </a:rPr>
              <a:t>pipeline</a:t>
            </a:r>
            <a:r>
              <a:rPr sz="1500" i="0">
                <a:solidFill>
                  <a:srgbClr val="E8EDF2"/>
                </a:solidFill>
                <a:latin typeface="Consolas"/>
              </a:rPr>
              <a:t> </a:t>
            </a:r>
            <a:r>
              <a:rPr sz="1500" i="0">
                <a:solidFill>
                  <a:srgbClr val="5DADE2"/>
                </a:solidFill>
                <a:latin typeface="Consolas"/>
              </a:rPr>
              <a:t>import</a:t>
            </a:r>
            <a:r>
              <a:rPr sz="1500" i="0">
                <a:solidFill>
                  <a:srgbClr val="E8EDF2"/>
                </a:solidFill>
                <a:latin typeface="Consolas"/>
              </a:rPr>
              <a:t> </a:t>
            </a:r>
            <a:r>
              <a:rPr sz="1500" i="0">
                <a:solidFill>
                  <a:srgbClr val="E8EDF2"/>
                </a:solidFill>
                <a:latin typeface="Consolas"/>
              </a:rPr>
              <a:t>make_pipeline</a:t>
            </a:r>
          </a:p>
          <a:p>
            <a:pPr>
              <a:lnSpc>
                <a:spcPct val="100000"/>
              </a:lnSpc>
              <a:spcAft>
                <a:spcPts val="0"/>
              </a:spcAft>
            </a:pPr>
            <a:r>
              <a:rPr sz="1500" i="0">
                <a:solidFill>
                  <a:srgbClr val="5DADE2"/>
                </a:solidFill>
                <a:latin typeface="Consolas"/>
              </a:rPr>
              <a:t>from</a:t>
            </a:r>
            <a:r>
              <a:rPr sz="1500" i="0">
                <a:solidFill>
                  <a:srgbClr val="E8EDF2"/>
                </a:solidFill>
                <a:latin typeface="Consolas"/>
              </a:rPr>
              <a:t> </a:t>
            </a:r>
            <a:r>
              <a:rPr sz="1500" i="0">
                <a:solidFill>
                  <a:srgbClr val="76D7C4"/>
                </a:solidFill>
                <a:latin typeface="Consolas"/>
              </a:rPr>
              <a:t>sklearn</a:t>
            </a:r>
            <a:r>
              <a:rPr sz="1500" i="0">
                <a:solidFill>
                  <a:srgbClr val="76D7C4"/>
                </a:solidFill>
                <a:latin typeface="Consolas"/>
              </a:rPr>
              <a:t>.</a:t>
            </a:r>
            <a:r>
              <a:rPr sz="1500" i="0">
                <a:solidFill>
                  <a:srgbClr val="76D7C4"/>
                </a:solidFill>
                <a:latin typeface="Consolas"/>
              </a:rPr>
              <a:t>preprocessing</a:t>
            </a:r>
            <a:r>
              <a:rPr sz="1500" i="0">
                <a:solidFill>
                  <a:srgbClr val="E8EDF2"/>
                </a:solidFill>
                <a:latin typeface="Consolas"/>
              </a:rPr>
              <a:t> </a:t>
            </a:r>
            <a:r>
              <a:rPr sz="1500" i="0">
                <a:solidFill>
                  <a:srgbClr val="5DADE2"/>
                </a:solidFill>
                <a:latin typeface="Consolas"/>
              </a:rPr>
              <a:t>import</a:t>
            </a:r>
            <a:r>
              <a:rPr sz="1500" i="0">
                <a:solidFill>
                  <a:srgbClr val="E8EDF2"/>
                </a:solidFill>
                <a:latin typeface="Consolas"/>
              </a:rPr>
              <a:t> </a:t>
            </a:r>
            <a:r>
              <a:rPr sz="1500" i="0">
                <a:solidFill>
                  <a:srgbClr val="E8EDF2"/>
                </a:solidFill>
                <a:latin typeface="Consolas"/>
              </a:rPr>
              <a:t>StandardScaler</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SEED</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42</a:t>
            </a:r>
            <a:r>
              <a:rPr sz="1500" i="0">
                <a:solidFill>
                  <a:srgbClr val="E8EDF2"/>
                </a:solidFill>
                <a:latin typeface="Consolas"/>
              </a:rPr>
              <a:t>                                   </a:t>
            </a:r>
            <a:r>
              <a:rPr sz="1500" i="1">
                <a:solidFill>
                  <a:srgbClr val="8795A1"/>
                </a:solidFill>
                <a:latin typeface="Consolas"/>
              </a:rPr>
              <a:t># one seed, used everywhere</a:t>
            </a:r>
          </a:p>
          <a:p>
            <a:pPr>
              <a:lnSpc>
                <a:spcPct val="100000"/>
              </a:lnSpc>
              <a:spcAft>
                <a:spcPts val="0"/>
              </a:spcAft>
            </a:pPr>
            <a:r>
              <a:rPr sz="1500" i="0">
                <a:solidFill>
                  <a:srgbClr val="E8EDF2"/>
                </a:solidFill>
                <a:latin typeface="Consolas"/>
              </a:rPr>
              <a:t>OUT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project_output</a:t>
            </a:r>
            <a:r>
              <a:rPr sz="1500" i="0">
                <a:solidFill>
                  <a:srgbClr val="7DCEA0"/>
                </a:solidFill>
                <a:latin typeface="Consolas"/>
              </a:rPr>
              <a:t>"</a:t>
            </a:r>
          </a:p>
          <a:p>
            <a:pPr>
              <a:lnSpc>
                <a:spcPct val="100000"/>
              </a:lnSpc>
              <a:spcAft>
                <a:spcPts val="0"/>
              </a:spcAft>
            </a:pPr>
            <a:r>
              <a:rPr sz="1500" i="0">
                <a:solidFill>
                  <a:srgbClr val="E8EDF2"/>
                </a:solidFill>
                <a:latin typeface="Consolas"/>
              </a:rPr>
              <a:t>os</a:t>
            </a:r>
            <a:r>
              <a:rPr sz="1500" i="0">
                <a:solidFill>
                  <a:srgbClr val="AEB6BF"/>
                </a:solidFill>
                <a:latin typeface="Consolas"/>
              </a:rPr>
              <a:t>.</a:t>
            </a:r>
            <a:r>
              <a:rPr sz="1500" i="0">
                <a:solidFill>
                  <a:srgbClr val="E8EDF2"/>
                </a:solidFill>
                <a:latin typeface="Consolas"/>
              </a:rPr>
              <a:t>makedirs</a:t>
            </a:r>
            <a:r>
              <a:rPr sz="1500" i="0">
                <a:solidFill>
                  <a:srgbClr val="AEB6BF"/>
                </a:solidFill>
                <a:latin typeface="Consolas"/>
              </a:rPr>
              <a:t>(</a:t>
            </a:r>
            <a:r>
              <a:rPr sz="1500" i="0">
                <a:solidFill>
                  <a:srgbClr val="E8EDF2"/>
                </a:solidFill>
                <a:latin typeface="Consolas"/>
              </a:rPr>
              <a:t>OUT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exist_ok</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8</a:t>
            </a:r>
          </a:p>
          <a:p>
            <a:pPr algn="r">
              <a:lnSpc>
                <a:spcPct val="100000"/>
              </a:lnSpc>
            </a:pPr>
            <a:r>
              <a:rPr sz="1500">
                <a:solidFill>
                  <a:srgbClr val="4F5D6A"/>
                </a:solidFill>
                <a:latin typeface="Consolas"/>
              </a:rPr>
              <a:t>9</a:t>
            </a:r>
          </a:p>
          <a:p>
            <a:pPr algn="r">
              <a:lnSpc>
                <a:spcPct val="100000"/>
              </a:lnSpc>
            </a:pPr>
            <a:r>
              <a:rPr sz="1500">
                <a:solidFill>
                  <a:srgbClr val="4F5D6A"/>
                </a:solidFill>
                <a:latin typeface="Consolas"/>
              </a:rPr>
              <a:t>10</a:t>
            </a:r>
          </a:p>
          <a:p>
            <a:pPr algn="r">
              <a:lnSpc>
                <a:spcPct val="100000"/>
              </a:lnSpc>
            </a:pPr>
            <a:r>
              <a:rPr sz="1500">
                <a:solidFill>
                  <a:srgbClr val="4F5D6A"/>
                </a:solidFill>
                <a:latin typeface="Consolas"/>
              </a:rPr>
              <a:t>11</a:t>
            </a:r>
          </a:p>
          <a:p>
            <a:pPr algn="r">
              <a:lnSpc>
                <a:spcPct val="100000"/>
              </a:lnSpc>
            </a:pPr>
            <a:r>
              <a:rPr sz="1500">
                <a:solidFill>
                  <a:srgbClr val="4F5D6A"/>
                </a:solidFill>
                <a:latin typeface="Consolas"/>
              </a:rPr>
              <a:t>12</a:t>
            </a:r>
          </a:p>
          <a:p>
            <a:pPr algn="r">
              <a:lnSpc>
                <a:spcPct val="100000"/>
              </a:lnSpc>
            </a:pPr>
            <a:r>
              <a:rPr sz="1500">
                <a:solidFill>
                  <a:srgbClr val="4F5D6A"/>
                </a:solidFill>
                <a:latin typeface="Consolas"/>
              </a:rPr>
              <a:t>13</a:t>
            </a:r>
          </a:p>
          <a:p>
            <a:pPr algn="r">
              <a:lnSpc>
                <a:spcPct val="100000"/>
              </a:lnSpc>
            </a:pPr>
            <a:r>
              <a:rPr sz="1500">
                <a:solidFill>
                  <a:srgbClr val="4F5D6A"/>
                </a:solidFill>
                <a:latin typeface="Consolas"/>
              </a:rPr>
              <a:t>14</a:t>
            </a:r>
          </a:p>
          <a:p>
            <a:pPr algn="r">
              <a:lnSpc>
                <a:spcPct val="100000"/>
              </a:lnSpc>
            </a:pPr>
            <a:r>
              <a:rPr sz="1500">
                <a:solidFill>
                  <a:srgbClr val="4F5D6A"/>
                </a:solidFill>
                <a:latin typeface="Consolas"/>
              </a:rPr>
              <a:t>15</a:t>
            </a:r>
          </a:p>
          <a:p>
            <a:pPr algn="r">
              <a:lnSpc>
                <a:spcPct val="100000"/>
              </a:lnSpc>
            </a:pPr>
            <a:r>
              <a:rPr sz="1500">
                <a:solidFill>
                  <a:srgbClr val="4F5D6A"/>
                </a:solidFill>
                <a:latin typeface="Consolas"/>
              </a:rPr>
              <a:t>16</a:t>
            </a:r>
          </a:p>
          <a:p>
            <a:pPr algn="r">
              <a:lnSpc>
                <a:spcPct val="100000"/>
              </a:lnSpc>
            </a:pPr>
            <a:r>
              <a:rPr sz="1500">
                <a:solidFill>
                  <a:srgbClr val="4F5D6A"/>
                </a:solidFill>
                <a:latin typeface="Consolas"/>
              </a:rPr>
              <a:t>17</a:t>
            </a:r>
          </a:p>
          <a:p>
            <a:pPr algn="r">
              <a:lnSpc>
                <a:spcPct val="100000"/>
              </a:lnSpc>
            </a:pPr>
            <a:r>
              <a:rPr sz="1500">
                <a:solidFill>
                  <a:srgbClr val="4F5D6A"/>
                </a:solidFill>
                <a:latin typeface="Consolas"/>
              </a:rPr>
              <a:t>18</a:t>
            </a:r>
          </a:p>
          <a:p>
            <a:pPr algn="r">
              <a:lnSpc>
                <a:spcPct val="100000"/>
              </a:lnSpc>
            </a:pPr>
            <a:r>
              <a:rPr sz="1500">
                <a:solidFill>
                  <a:srgbClr val="4F5D6A"/>
                </a:solidFill>
                <a:latin typeface="Consolas"/>
              </a:rPr>
              <a:t>19</a:t>
            </a:r>
          </a:p>
          <a:p>
            <a:pPr algn="r">
              <a:lnSpc>
                <a:spcPct val="100000"/>
              </a:lnSpc>
            </a:pPr>
            <a:r>
              <a:rPr sz="1500">
                <a:solidFill>
                  <a:srgbClr val="4F5D6A"/>
                </a:solidFill>
                <a:latin typeface="Consolas"/>
              </a:rPr>
              <a:t>20</a:t>
            </a:r>
          </a:p>
          <a:p>
            <a:pPr algn="r">
              <a:lnSpc>
                <a:spcPct val="100000"/>
              </a:lnSpc>
            </a:pPr>
            <a:r>
              <a:rPr sz="1500">
                <a:solidFill>
                  <a:srgbClr val="4F5D6A"/>
                </a:solidFill>
                <a:latin typeface="Consolas"/>
              </a:rPr>
              <a:t>21</a:t>
            </a:r>
          </a:p>
          <a:p>
            <a:pPr algn="r">
              <a:lnSpc>
                <a:spcPct val="100000"/>
              </a:lnSpc>
            </a:pPr>
            <a:r>
              <a:rPr sz="1500">
                <a:solidFill>
                  <a:srgbClr val="4F5D6A"/>
                </a:solidFill>
                <a:latin typeface="Consolas"/>
              </a:rPr>
              <a:t>22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31501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Project Template, End to End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4A699593-4CC5-4C89-B214-7F46B476A137}"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Data, and a split made once and never changed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523744"/>
          </a:xfrm>
          <a:prstGeom prst="roundRect">
            <a:avLst>
              <a:gd name="adj" fmla="val 362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code/ch22_project_template_end.py</a:t>
            </a:r>
          </a:p>
        </p:txBody>
      </p:sp>
      <p:sp>
        <p:nvSpPr>
          <p:cNvPr id="14" name="!!code-text" descr="# --- 1. data, and a split made once and never changed -------------------- data = load_breast_cancer() X, y = data.data, 1 - data.target # 1 = malignant: must not miss X_tr, X_te, y_tr, y_te = train_test_split( X, y, test_size=0.25, stratify=y, random_state=SEED) cv = StratifiedKFold(5, shuffle=True, random_state=SEED) metric = &quot;recall&quot; # chosen in the proposal"/>
          <p:cNvSpPr txBox="1"/>
          <p:nvPr/>
        </p:nvSpPr>
        <p:spPr>
          <a:xfrm>
            <a:off x="1362456" y="2523744"/>
            <a:ext cx="9987991" cy="202996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data, and a split made once and never changed --------------------</a:t>
            </a:r>
          </a:p>
          <a:p>
            <a:pPr>
              <a:lnSpc>
                <a:spcPct val="100000"/>
              </a:lnSpc>
              <a:spcAft>
                <a:spcPts val="0"/>
              </a:spcAft>
            </a:pPr>
            <a:r>
              <a:rPr sz="1800" i="0">
                <a:solidFill>
                  <a:srgbClr val="E8EDF2"/>
                </a:solidFill>
                <a:latin typeface="Consolas"/>
              </a:rPr>
              <a:t>data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load_breast_cancer</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data</a:t>
            </a:r>
            <a:r>
              <a:rPr sz="1800" i="0">
                <a:solidFill>
                  <a:srgbClr val="AEB6BF"/>
                </a:solidFill>
                <a:latin typeface="Consolas"/>
              </a:rPr>
              <a:t>.</a:t>
            </a:r>
            <a:r>
              <a:rPr sz="1800" i="0">
                <a:solidFill>
                  <a:srgbClr val="E8EDF2"/>
                </a:solidFill>
                <a:latin typeface="Consolas"/>
              </a:rPr>
              <a:t>data</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data</a:t>
            </a:r>
            <a:r>
              <a:rPr sz="1800" i="0">
                <a:solidFill>
                  <a:srgbClr val="AEB6BF"/>
                </a:solidFill>
                <a:latin typeface="Consolas"/>
              </a:rPr>
              <a:t>.</a:t>
            </a:r>
            <a:r>
              <a:rPr sz="1800" i="0">
                <a:solidFill>
                  <a:srgbClr val="E8EDF2"/>
                </a:solidFill>
                <a:latin typeface="Consolas"/>
              </a:rPr>
              <a:t>target</a:t>
            </a:r>
            <a:r>
              <a:rPr sz="1800" i="0">
                <a:solidFill>
                  <a:srgbClr val="E8EDF2"/>
                </a:solidFill>
                <a:latin typeface="Consolas"/>
              </a:rPr>
              <a:t>           </a:t>
            </a:r>
            <a:r>
              <a:rPr sz="1800" i="1">
                <a:solidFill>
                  <a:srgbClr val="8795A1"/>
                </a:solidFill>
                <a:latin typeface="Consolas"/>
              </a:rPr>
              <a:t># 1 = malignant: must not miss</a:t>
            </a:r>
          </a:p>
          <a:p>
            <a:pPr>
              <a:lnSpc>
                <a:spcPct val="100000"/>
              </a:lnSpc>
              <a:spcAft>
                <a:spcPts val="0"/>
              </a:spcAft>
            </a:pP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train_test_split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test_size</a:t>
            </a:r>
            <a:r>
              <a:rPr sz="1800" i="0">
                <a:solidFill>
                  <a:srgbClr val="AEB6BF"/>
                </a:solidFill>
                <a:latin typeface="Consolas"/>
              </a:rPr>
              <a:t>=</a:t>
            </a:r>
            <a:r>
              <a:rPr sz="1800" i="0">
                <a:solidFill>
                  <a:srgbClr val="F7DC6F"/>
                </a:solidFill>
                <a:latin typeface="Consolas"/>
              </a:rPr>
              <a:t>0.25</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stratify</a:t>
            </a:r>
            <a:r>
              <a:rPr sz="1800" i="0">
                <a:solidFill>
                  <a:srgbClr val="AEB6BF"/>
                </a:solidFill>
                <a:latin typeface="Consolas"/>
              </a:rPr>
              <a:t>=</a:t>
            </a:r>
            <a:r>
              <a:rPr sz="1800" i="0">
                <a:solidFill>
                  <a:srgbClr val="E8EDF2"/>
                </a:solidFill>
                <a:latin typeface="Consolas"/>
              </a:rPr>
              <a:t>y</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E8EDF2"/>
                </a:solidFill>
                <a:latin typeface="Consolas"/>
              </a:rPr>
              <a:t>SEED</a:t>
            </a:r>
            <a:r>
              <a:rPr sz="1800" i="0">
                <a:solidFill>
                  <a:srgbClr val="AEB6BF"/>
                </a:solidFill>
                <a:latin typeface="Consolas"/>
              </a:rPr>
              <a:t>)</a:t>
            </a:r>
          </a:p>
          <a:p>
            <a:pPr>
              <a:lnSpc>
                <a:spcPct val="100000"/>
              </a:lnSpc>
              <a:spcAft>
                <a:spcPts val="0"/>
              </a:spcAft>
            </a:pPr>
            <a:r>
              <a:rPr sz="1800" i="0">
                <a:solidFill>
                  <a:srgbClr val="E8EDF2"/>
                </a:solidFill>
                <a:latin typeface="Consolas"/>
              </a:rPr>
              <a:t>cv</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StratifiedKFold</a:t>
            </a:r>
            <a:r>
              <a:rPr sz="1800" i="0">
                <a:solidFill>
                  <a:srgbClr val="AEB6BF"/>
                </a:solidFill>
                <a:latin typeface="Consolas"/>
              </a:rPr>
              <a:t>(</a:t>
            </a:r>
            <a:r>
              <a:rPr sz="1800" i="0">
                <a:solidFill>
                  <a:srgbClr val="F7DC6F"/>
                </a:solidFill>
                <a:latin typeface="Consolas"/>
              </a:rPr>
              <a:t>5</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shuffle</a:t>
            </a:r>
            <a:r>
              <a:rPr sz="1800" i="0">
                <a:solidFill>
                  <a:srgbClr val="AEB6BF"/>
                </a:solidFill>
                <a:latin typeface="Consolas"/>
              </a:rPr>
              <a:t>=</a:t>
            </a:r>
            <a:r>
              <a:rPr sz="1800" i="0">
                <a:solidFill>
                  <a:srgbClr val="5DADE2"/>
                </a:solidFill>
                <a:latin typeface="Consolas"/>
              </a:rPr>
              <a:t>True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E8EDF2"/>
                </a:solidFill>
                <a:latin typeface="Consolas"/>
              </a:rPr>
              <a:t>SEED</a:t>
            </a:r>
            <a:r>
              <a:rPr sz="1800" i="0">
                <a:solidFill>
                  <a:srgbClr val="AEB6BF"/>
                </a:solidFill>
                <a:latin typeface="Consolas"/>
              </a:rPr>
              <a:t>)</a:t>
            </a:r>
          </a:p>
          <a:p>
            <a:pPr>
              <a:lnSpc>
                <a:spcPct val="100000"/>
              </a:lnSpc>
              <a:spcAft>
                <a:spcPts val="0"/>
              </a:spcAft>
            </a:pPr>
            <a:r>
              <a:rPr sz="1800" i="0">
                <a:solidFill>
                  <a:srgbClr val="E8EDF2"/>
                </a:solidFill>
                <a:latin typeface="Consolas"/>
              </a:rPr>
              <a:t>metric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recall</a:t>
            </a:r>
            <a:r>
              <a:rPr sz="1800" i="0">
                <a:solidFill>
                  <a:srgbClr val="7DCEA0"/>
                </a:solidFill>
                <a:latin typeface="Consolas"/>
              </a:rPr>
              <a:t>"</a:t>
            </a:r>
            <a:r>
              <a:rPr sz="1800" i="0">
                <a:solidFill>
                  <a:srgbClr val="E8EDF2"/>
                </a:solidFill>
                <a:latin typeface="Consolas"/>
              </a:rPr>
              <a:t>                           </a:t>
            </a:r>
            <a:r>
              <a:rPr sz="1800" i="1">
                <a:solidFill>
                  <a:srgbClr val="8795A1"/>
                </a:solidFill>
                <a:latin typeface="Consolas"/>
              </a:rPr>
              <a:t># chosen in the proposal</a:t>
            </a:r>
          </a:p>
        </p:txBody>
      </p:sp>
      <p:sp>
        <p:nvSpPr>
          <p:cNvPr id="15" name="!!code-num"/>
          <p:cNvSpPr txBox="1"/>
          <p:nvPr/>
        </p:nvSpPr>
        <p:spPr>
          <a:xfrm>
            <a:off x="768096" y="2523744"/>
            <a:ext cx="393192" cy="202996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a:p>
            <a:pPr algn="r">
              <a:lnSpc>
                <a:spcPct val="100000"/>
              </a:lnSpc>
            </a:pPr>
            <a:r>
              <a:rPr sz="1800">
                <a:solidFill>
                  <a:srgbClr val="4F5D6A"/>
                </a:solidFill>
                <a:latin typeface="Consolas"/>
              </a:rPr>
              <a:t>27</a:t>
            </a:r>
          </a:p>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8594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Project Template, End to End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594CD211-7060-4337-8286-4D2EAF84175B}"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Baseline, then candidates, all by cross-validation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code/ch22_project_template_end.py</a:t>
            </a:r>
          </a:p>
        </p:txBody>
      </p:sp>
      <p:sp>
        <p:nvSpPr>
          <p:cNvPr id="14" name="!!code-text" descr="# --- 2. baseline, then candidates, all by cross-validation --------------- candidates = { &quot;baseline&quot;: DummyClassifier(strategy=&quot;most_frequent&quot;), &quot;logistic&quot;: make_pipeline(StandardScaler(), LogisticRegression(max_iter=2000)), &quot;forest&quot;: RandomForestClassifier(n_estimators=300, random_state=SEED), } with open(os.path.join(OUT, &quot;experiments.csv&quot;), &quot;w&quot;, newline=&quot;&quot;) as fh: log = csv.writer(fh) log.writerow([&quot;model&quot;, f&quot;cv_{metric}_mean&quot;, f&quot;cv_{metric}_std&quot;]) for name, model in candidates.items(): s = cross_val_score(model, X_tr, y_tr, cv=cv, scoring=metric) log.writerow([name, round(s.mean(), 4), round(s.std(), 4)]) print(f&quot;{name:9s} CV {metric} {s.mean():.3f} +/- {s.std():.3f}&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1">
                <a:solidFill>
                  <a:srgbClr val="8795A1"/>
                </a:solidFill>
                <a:latin typeface="Consolas"/>
              </a:rPr>
              <a:t># --- 2. baseline, then candidates, all by cross-validation ---------------</a:t>
            </a:r>
          </a:p>
          <a:p>
            <a:pPr>
              <a:lnSpc>
                <a:spcPct val="100000"/>
              </a:lnSpc>
              <a:spcAft>
                <a:spcPts val="0"/>
              </a:spcAft>
            </a:pPr>
            <a:r>
              <a:rPr sz="1600" i="0">
                <a:solidFill>
                  <a:srgbClr val="E8EDF2"/>
                </a:solidFill>
                <a:latin typeface="Consolas"/>
              </a:rPr>
              <a:t>candidates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baseline</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DummyClassifier</a:t>
            </a:r>
            <a:r>
              <a:rPr sz="1600" i="0">
                <a:solidFill>
                  <a:srgbClr val="AEB6BF"/>
                </a:solidFill>
                <a:latin typeface="Consolas"/>
              </a:rPr>
              <a:t>(</a:t>
            </a:r>
            <a:r>
              <a:rPr sz="1600" i="0">
                <a:solidFill>
                  <a:srgbClr val="E8EDF2"/>
                </a:solidFill>
                <a:latin typeface="Consolas"/>
              </a:rPr>
              <a:t>strategy</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most_frequent</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logistic</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make_pipeline</a:t>
            </a:r>
            <a:r>
              <a:rPr sz="1600" i="0">
                <a:solidFill>
                  <a:srgbClr val="AEB6BF"/>
                </a:solidFill>
                <a:latin typeface="Consolas"/>
              </a:rPr>
              <a:t>(</a:t>
            </a:r>
            <a:r>
              <a:rPr sz="1600" i="0">
                <a:solidFill>
                  <a:srgbClr val="E8EDF2"/>
                </a:solidFill>
                <a:latin typeface="Consolas"/>
              </a:rPr>
              <a:t>StandardScaler</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LogisticRegression</a:t>
            </a:r>
            <a:r>
              <a:rPr sz="1600" i="0">
                <a:solidFill>
                  <a:srgbClr val="AEB6BF"/>
                </a:solidFill>
                <a:latin typeface="Consolas"/>
              </a:rPr>
              <a:t>(</a:t>
            </a:r>
            <a:r>
              <a:rPr sz="1600" i="0">
                <a:solidFill>
                  <a:srgbClr val="E8EDF2"/>
                </a:solidFill>
                <a:latin typeface="Consolas"/>
              </a:rPr>
              <a:t>max_iter</a:t>
            </a:r>
            <a:r>
              <a:rPr sz="1600" i="0">
                <a:solidFill>
                  <a:srgbClr val="AEB6BF"/>
                </a:solidFill>
                <a:latin typeface="Consolas"/>
              </a:rPr>
              <a:t>=</a:t>
            </a:r>
            <a:r>
              <a:rPr sz="1600" i="0">
                <a:solidFill>
                  <a:srgbClr val="F7DC6F"/>
                </a:solidFill>
                <a:latin typeface="Consolas"/>
              </a:rPr>
              <a:t>2000</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forest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RandomForestClassifier</a:t>
            </a:r>
            <a:r>
              <a:rPr sz="1600" i="0">
                <a:solidFill>
                  <a:srgbClr val="AEB6BF"/>
                </a:solidFill>
                <a:latin typeface="Consolas"/>
              </a:rPr>
              <a:t>(</a:t>
            </a:r>
            <a:r>
              <a:rPr sz="1600" i="0">
                <a:solidFill>
                  <a:srgbClr val="E8EDF2"/>
                </a:solidFill>
                <a:latin typeface="Consolas"/>
              </a:rPr>
              <a:t>n_estimators</a:t>
            </a:r>
            <a:r>
              <a:rPr sz="1600" i="0">
                <a:solidFill>
                  <a:srgbClr val="AEB6BF"/>
                </a:solidFill>
                <a:latin typeface="Consolas"/>
              </a:rPr>
              <a:t>=</a:t>
            </a:r>
            <a:r>
              <a:rPr sz="1600" i="0">
                <a:solidFill>
                  <a:srgbClr val="F7DC6F"/>
                </a:solidFill>
                <a:latin typeface="Consolas"/>
              </a:rPr>
              <a:t>300</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random_state</a:t>
            </a:r>
            <a:r>
              <a:rPr sz="1600" i="0">
                <a:solidFill>
                  <a:srgbClr val="AEB6BF"/>
                </a:solidFill>
                <a:latin typeface="Consolas"/>
              </a:rPr>
              <a:t>=</a:t>
            </a:r>
            <a:r>
              <a:rPr sz="1600" i="0">
                <a:solidFill>
                  <a:srgbClr val="E8EDF2"/>
                </a:solidFill>
                <a:latin typeface="Consolas"/>
              </a:rPr>
              <a:t>SEED</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AEB6BF"/>
                </a:solidFill>
                <a:latin typeface="Consolas"/>
              </a:rPr>
              <a:t>}</a:t>
            </a:r>
          </a:p>
          <a:p>
            <a:pPr>
              <a:lnSpc>
                <a:spcPct val="100000"/>
              </a:lnSpc>
              <a:spcAft>
                <a:spcPts val="0"/>
              </a:spcAft>
            </a:pPr>
            <a:r>
              <a:rPr sz="1600" i="0">
                <a:solidFill>
                  <a:srgbClr val="5DADE2"/>
                </a:solidFill>
                <a:latin typeface="Consolas"/>
              </a:rPr>
              <a:t>with</a:t>
            </a:r>
            <a:r>
              <a:rPr sz="1600" i="0">
                <a:solidFill>
                  <a:srgbClr val="E8EDF2"/>
                </a:solidFill>
                <a:latin typeface="Consolas"/>
              </a:rPr>
              <a:t> </a:t>
            </a:r>
            <a:r>
              <a:rPr sz="1600" i="0">
                <a:solidFill>
                  <a:srgbClr val="C39BD3"/>
                </a:solidFill>
                <a:latin typeface="Consolas"/>
              </a:rPr>
              <a:t>open</a:t>
            </a:r>
            <a:r>
              <a:rPr sz="1600" i="0">
                <a:solidFill>
                  <a:srgbClr val="AEB6BF"/>
                </a:solidFill>
                <a:latin typeface="Consolas"/>
              </a:rPr>
              <a:t>(</a:t>
            </a:r>
            <a:r>
              <a:rPr sz="1600" i="0">
                <a:solidFill>
                  <a:srgbClr val="E8EDF2"/>
                </a:solidFill>
                <a:latin typeface="Consolas"/>
              </a:rPr>
              <a:t>os</a:t>
            </a:r>
            <a:r>
              <a:rPr sz="1600" i="0">
                <a:solidFill>
                  <a:srgbClr val="AEB6BF"/>
                </a:solidFill>
                <a:latin typeface="Consolas"/>
              </a:rPr>
              <a:t>.</a:t>
            </a:r>
            <a:r>
              <a:rPr sz="1600" i="0">
                <a:solidFill>
                  <a:srgbClr val="E8EDF2"/>
                </a:solidFill>
                <a:latin typeface="Consolas"/>
              </a:rPr>
              <a:t>path</a:t>
            </a:r>
            <a:r>
              <a:rPr sz="1600" i="0">
                <a:solidFill>
                  <a:srgbClr val="AEB6BF"/>
                </a:solidFill>
                <a:latin typeface="Consolas"/>
              </a:rPr>
              <a:t>.</a:t>
            </a:r>
            <a:r>
              <a:rPr sz="1600" i="0">
                <a:solidFill>
                  <a:srgbClr val="E8EDF2"/>
                </a:solidFill>
                <a:latin typeface="Consolas"/>
              </a:rPr>
              <a:t>join</a:t>
            </a:r>
            <a:r>
              <a:rPr sz="1600" i="0">
                <a:solidFill>
                  <a:srgbClr val="AEB6BF"/>
                </a:solidFill>
                <a:latin typeface="Consolas"/>
              </a:rPr>
              <a:t>(</a:t>
            </a:r>
            <a:r>
              <a:rPr sz="1600" i="0">
                <a:solidFill>
                  <a:srgbClr val="E8EDF2"/>
                </a:solidFill>
                <a:latin typeface="Consolas"/>
              </a:rPr>
              <a:t>OUT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experiments.csv</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w</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newline</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5DADE2"/>
                </a:solidFill>
                <a:latin typeface="Consolas"/>
              </a:rPr>
              <a:t>as</a:t>
            </a:r>
            <a:r>
              <a:rPr sz="1600" i="0">
                <a:solidFill>
                  <a:srgbClr val="E8EDF2"/>
                </a:solidFill>
                <a:latin typeface="Consolas"/>
              </a:rPr>
              <a:t> </a:t>
            </a:r>
            <a:r>
              <a:rPr sz="1600" i="0">
                <a:solidFill>
                  <a:srgbClr val="E8EDF2"/>
                </a:solidFill>
                <a:latin typeface="Consolas"/>
              </a:rPr>
              <a:t>fh</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log</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csv</a:t>
            </a:r>
            <a:r>
              <a:rPr sz="1600" i="0">
                <a:solidFill>
                  <a:srgbClr val="AEB6BF"/>
                </a:solidFill>
                <a:latin typeface="Consolas"/>
              </a:rPr>
              <a:t>.</a:t>
            </a:r>
            <a:r>
              <a:rPr sz="1600" i="0">
                <a:solidFill>
                  <a:srgbClr val="E8EDF2"/>
                </a:solidFill>
                <a:latin typeface="Consolas"/>
              </a:rPr>
              <a:t>writer</a:t>
            </a:r>
            <a:r>
              <a:rPr sz="1600" i="0">
                <a:solidFill>
                  <a:srgbClr val="AEB6BF"/>
                </a:solidFill>
                <a:latin typeface="Consolas"/>
              </a:rPr>
              <a:t>(</a:t>
            </a:r>
            <a:r>
              <a:rPr sz="1600" i="0">
                <a:solidFill>
                  <a:srgbClr val="E8EDF2"/>
                </a:solidFill>
                <a:latin typeface="Consolas"/>
              </a:rPr>
              <a:t>fh</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log</a:t>
            </a:r>
            <a:r>
              <a:rPr sz="1600" i="0">
                <a:solidFill>
                  <a:srgbClr val="AEB6BF"/>
                </a:solidFill>
                <a:latin typeface="Consolas"/>
              </a:rPr>
              <a:t>.</a:t>
            </a:r>
            <a:r>
              <a:rPr sz="1600" i="0">
                <a:solidFill>
                  <a:srgbClr val="E8EDF2"/>
                </a:solidFill>
                <a:latin typeface="Consolas"/>
              </a:rPr>
              <a:t>writerow</a:t>
            </a:r>
            <a:r>
              <a:rPr sz="1600" i="0">
                <a:solidFill>
                  <a:srgbClr val="AEB6BF"/>
                </a:solidFill>
                <a:latin typeface="Consolas"/>
              </a:rPr>
              <a: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model</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f</a:t>
            </a:r>
            <a:r>
              <a:rPr sz="1600" i="0">
                <a:solidFill>
                  <a:srgbClr val="7DCEA0"/>
                </a:solidFill>
                <a:latin typeface="Consolas"/>
              </a:rPr>
              <a:t>"</a:t>
            </a:r>
            <a:r>
              <a:rPr sz="1600" i="0">
                <a:solidFill>
                  <a:srgbClr val="7DCEA0"/>
                </a:solidFill>
                <a:latin typeface="Consolas"/>
              </a:rPr>
              <a:t>cv_</a:t>
            </a:r>
            <a:r>
              <a:rPr sz="1600" i="0">
                <a:solidFill>
                  <a:srgbClr val="7DCEA0"/>
                </a:solidFill>
                <a:latin typeface="Consolas"/>
              </a:rPr>
              <a:t>{</a:t>
            </a:r>
            <a:r>
              <a:rPr sz="1600" i="0">
                <a:solidFill>
                  <a:srgbClr val="E8EDF2"/>
                </a:solidFill>
                <a:latin typeface="Consolas"/>
              </a:rPr>
              <a:t>metric</a:t>
            </a:r>
            <a:r>
              <a:rPr sz="1600" i="0">
                <a:solidFill>
                  <a:srgbClr val="7DCEA0"/>
                </a:solidFill>
                <a:latin typeface="Consolas"/>
              </a:rPr>
              <a:t>}</a:t>
            </a:r>
            <a:r>
              <a:rPr sz="1600" i="0">
                <a:solidFill>
                  <a:srgbClr val="7DCEA0"/>
                </a:solidFill>
                <a:latin typeface="Consolas"/>
              </a:rPr>
              <a:t>_mean</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f</a:t>
            </a:r>
            <a:r>
              <a:rPr sz="1600" i="0">
                <a:solidFill>
                  <a:srgbClr val="7DCEA0"/>
                </a:solidFill>
                <a:latin typeface="Consolas"/>
              </a:rPr>
              <a:t>"</a:t>
            </a:r>
            <a:r>
              <a:rPr sz="1600" i="0">
                <a:solidFill>
                  <a:srgbClr val="7DCEA0"/>
                </a:solidFill>
                <a:latin typeface="Consolas"/>
              </a:rPr>
              <a:t>cv_</a:t>
            </a:r>
            <a:r>
              <a:rPr sz="1600" i="0">
                <a:solidFill>
                  <a:srgbClr val="7DCEA0"/>
                </a:solidFill>
                <a:latin typeface="Consolas"/>
              </a:rPr>
              <a:t>{</a:t>
            </a:r>
            <a:r>
              <a:rPr sz="1600" i="0">
                <a:solidFill>
                  <a:srgbClr val="E8EDF2"/>
                </a:solidFill>
                <a:latin typeface="Consolas"/>
              </a:rPr>
              <a:t>metric</a:t>
            </a:r>
            <a:r>
              <a:rPr sz="1600" i="0">
                <a:solidFill>
                  <a:srgbClr val="7DCEA0"/>
                </a:solidFill>
                <a:latin typeface="Consolas"/>
              </a:rPr>
              <a:t>}</a:t>
            </a:r>
            <a:r>
              <a:rPr sz="1600" i="0">
                <a:solidFill>
                  <a:srgbClr val="7DCEA0"/>
                </a:solidFill>
                <a:latin typeface="Consolas"/>
              </a:rPr>
              <a:t>_std</a:t>
            </a:r>
            <a:r>
              <a:rPr sz="1600" i="0">
                <a:solidFill>
                  <a:srgbClr val="7DCEA0"/>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name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model</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candidates</a:t>
            </a:r>
            <a:r>
              <a:rPr sz="1600" i="0">
                <a:solidFill>
                  <a:srgbClr val="AEB6BF"/>
                </a:solidFill>
                <a:latin typeface="Consolas"/>
              </a:rPr>
              <a:t>.</a:t>
            </a:r>
            <a:r>
              <a:rPr sz="1600" i="0">
                <a:solidFill>
                  <a:srgbClr val="E8EDF2"/>
                </a:solidFill>
                <a:latin typeface="Consolas"/>
              </a:rPr>
              <a:t>items</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cross_val_score</a:t>
            </a:r>
            <a:r>
              <a:rPr sz="1600" i="0">
                <a:solidFill>
                  <a:srgbClr val="AEB6BF"/>
                </a:solidFill>
                <a:latin typeface="Consolas"/>
              </a:rPr>
              <a:t>(</a:t>
            </a:r>
            <a:r>
              <a:rPr sz="1600" i="0">
                <a:solidFill>
                  <a:srgbClr val="E8EDF2"/>
                </a:solidFill>
                <a:latin typeface="Consolas"/>
              </a:rPr>
              <a:t>model</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X_tr</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y_tr</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cv</a:t>
            </a:r>
            <a:r>
              <a:rPr sz="1600" i="0">
                <a:solidFill>
                  <a:srgbClr val="AEB6BF"/>
                </a:solidFill>
                <a:latin typeface="Consolas"/>
              </a:rPr>
              <a:t>=</a:t>
            </a:r>
            <a:r>
              <a:rPr sz="1600" i="0">
                <a:solidFill>
                  <a:srgbClr val="E8EDF2"/>
                </a:solidFill>
                <a:latin typeface="Consolas"/>
              </a:rPr>
              <a:t>cv</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scoring</a:t>
            </a:r>
            <a:r>
              <a:rPr sz="1600" i="0">
                <a:solidFill>
                  <a:srgbClr val="AEB6BF"/>
                </a:solidFill>
                <a:latin typeface="Consolas"/>
              </a:rPr>
              <a:t>=</a:t>
            </a:r>
            <a:r>
              <a:rPr sz="1600" i="0">
                <a:solidFill>
                  <a:srgbClr val="E8EDF2"/>
                </a:solidFill>
                <a:latin typeface="Consolas"/>
              </a:rPr>
              <a:t>metric</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log</a:t>
            </a:r>
            <a:r>
              <a:rPr sz="1600" i="0">
                <a:solidFill>
                  <a:srgbClr val="AEB6BF"/>
                </a:solidFill>
                <a:latin typeface="Consolas"/>
              </a:rPr>
              <a:t>.</a:t>
            </a:r>
            <a:r>
              <a:rPr sz="1600" i="0">
                <a:solidFill>
                  <a:srgbClr val="E8EDF2"/>
                </a:solidFill>
                <a:latin typeface="Consolas"/>
              </a:rPr>
              <a:t>writerow</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name</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round</a:t>
            </a:r>
            <a:r>
              <a:rPr sz="1600" i="0">
                <a:solidFill>
                  <a:srgbClr val="AEB6BF"/>
                </a:solidFill>
                <a:latin typeface="Consolas"/>
              </a:rPr>
              <a:t>(</a:t>
            </a:r>
            <a:r>
              <a:rPr sz="1600" i="0">
                <a:solidFill>
                  <a:srgbClr val="E8EDF2"/>
                </a:solidFill>
                <a:latin typeface="Consolas"/>
              </a:rPr>
              <a:t>s</a:t>
            </a:r>
            <a:r>
              <a:rPr sz="1600" i="0">
                <a:solidFill>
                  <a:srgbClr val="AEB6BF"/>
                </a:solidFill>
                <a:latin typeface="Consolas"/>
              </a:rPr>
              <a:t>.</a:t>
            </a:r>
            <a:r>
              <a:rPr sz="1600" i="0">
                <a:solidFill>
                  <a:srgbClr val="E8EDF2"/>
                </a:solidFill>
                <a:latin typeface="Consolas"/>
              </a:rPr>
              <a:t>mean</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4</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C39BD3"/>
                </a:solidFill>
                <a:latin typeface="Consolas"/>
              </a:rPr>
              <a:t>round</a:t>
            </a:r>
            <a:r>
              <a:rPr sz="1600" i="0">
                <a:solidFill>
                  <a:srgbClr val="AEB6BF"/>
                </a:solidFill>
                <a:latin typeface="Consolas"/>
              </a:rPr>
              <a:t>(</a:t>
            </a:r>
            <a:r>
              <a:rPr sz="1600" i="0">
                <a:solidFill>
                  <a:srgbClr val="E8EDF2"/>
                </a:solidFill>
                <a:latin typeface="Consolas"/>
              </a:rPr>
              <a:t>s</a:t>
            </a:r>
            <a:r>
              <a:rPr sz="1600" i="0">
                <a:solidFill>
                  <a:srgbClr val="AEB6BF"/>
                </a:solidFill>
                <a:latin typeface="Consolas"/>
              </a:rPr>
              <a:t>.</a:t>
            </a:r>
            <a:r>
              <a:rPr sz="1600" i="0">
                <a:solidFill>
                  <a:srgbClr val="E8EDF2"/>
                </a:solidFill>
                <a:latin typeface="Consolas"/>
              </a:rPr>
              <a:t>std</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4</a:t>
            </a:r>
            <a:r>
              <a:rPr sz="1600" i="0">
                <a:solidFill>
                  <a:srgbClr val="AEB6BF"/>
                </a:solidFill>
                <a:latin typeface="Consolas"/>
              </a:rPr>
              <a: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f</a:t>
            </a:r>
            <a:r>
              <a:rPr sz="1600" i="0">
                <a:solidFill>
                  <a:srgbClr val="7DCEA0"/>
                </a:solidFill>
                <a:latin typeface="Consolas"/>
              </a:rPr>
              <a:t>"</a:t>
            </a:r>
            <a:r>
              <a:rPr sz="1600" i="0">
                <a:solidFill>
                  <a:srgbClr val="7DCEA0"/>
                </a:solidFill>
                <a:latin typeface="Consolas"/>
              </a:rPr>
              <a:t>{</a:t>
            </a:r>
            <a:r>
              <a:rPr sz="1600" i="0">
                <a:solidFill>
                  <a:srgbClr val="E8EDF2"/>
                </a:solidFill>
                <a:latin typeface="Consolas"/>
              </a:rPr>
              <a:t>name</a:t>
            </a:r>
            <a:r>
              <a:rPr sz="1600" i="0">
                <a:solidFill>
                  <a:srgbClr val="7DCEA0"/>
                </a:solidFill>
                <a:latin typeface="Consolas"/>
              </a:rPr>
              <a:t>:</a:t>
            </a:r>
            <a:r>
              <a:rPr sz="1600" i="0">
                <a:solidFill>
                  <a:srgbClr val="7DCEA0"/>
                </a:solidFill>
                <a:latin typeface="Consolas"/>
              </a:rPr>
              <a:t>9s</a:t>
            </a:r>
            <a:r>
              <a:rPr sz="1600" i="0">
                <a:solidFill>
                  <a:srgbClr val="7DCEA0"/>
                </a:solidFill>
                <a:latin typeface="Consolas"/>
              </a:rPr>
              <a:t>}</a:t>
            </a:r>
            <a:r>
              <a:rPr sz="1600" i="0">
                <a:solidFill>
                  <a:srgbClr val="7DCEA0"/>
                </a:solidFill>
                <a:latin typeface="Consolas"/>
              </a:rPr>
              <a:t> CV </a:t>
            </a:r>
            <a:r>
              <a:rPr sz="1600" i="0">
                <a:solidFill>
                  <a:srgbClr val="7DCEA0"/>
                </a:solidFill>
                <a:latin typeface="Consolas"/>
              </a:rPr>
              <a:t>{</a:t>
            </a:r>
            <a:r>
              <a:rPr sz="1600" i="0">
                <a:solidFill>
                  <a:srgbClr val="E8EDF2"/>
                </a:solidFill>
                <a:latin typeface="Consolas"/>
              </a:rPr>
              <a:t>metric</a:t>
            </a:r>
            <a:r>
              <a:rPr sz="1600" i="0">
                <a:solidFill>
                  <a:srgbClr val="7DCEA0"/>
                </a:solidFill>
                <a:latin typeface="Consolas"/>
              </a:rPr>
              <a:t>}</a:t>
            </a:r>
            <a:r>
              <a:rPr sz="1600" i="0">
                <a:solidFill>
                  <a:srgbClr val="7DCEA0"/>
                </a:solidFill>
                <a:latin typeface="Consolas"/>
              </a:rPr>
              <a:t> </a:t>
            </a:r>
            <a:r>
              <a:rPr sz="1600" i="0">
                <a:solidFill>
                  <a:srgbClr val="7DCEA0"/>
                </a:solidFill>
                <a:latin typeface="Consolas"/>
              </a:rPr>
              <a:t>{</a:t>
            </a:r>
            <a:r>
              <a:rPr sz="1600" i="0">
                <a:solidFill>
                  <a:srgbClr val="E8EDF2"/>
                </a:solidFill>
                <a:latin typeface="Consolas"/>
              </a:rPr>
              <a:t>s</a:t>
            </a:r>
            <a:r>
              <a:rPr sz="1600" i="0">
                <a:solidFill>
                  <a:srgbClr val="AEB6BF"/>
                </a:solidFill>
                <a:latin typeface="Consolas"/>
              </a:rPr>
              <a:t>.</a:t>
            </a:r>
            <a:r>
              <a:rPr sz="1600" i="0">
                <a:solidFill>
                  <a:srgbClr val="E8EDF2"/>
                </a:solidFill>
                <a:latin typeface="Consolas"/>
              </a:rPr>
              <a:t>mean</a:t>
            </a:r>
            <a:r>
              <a:rPr sz="1600" i="0">
                <a:solidFill>
                  <a:srgbClr val="AEB6BF"/>
                </a:solidFill>
                <a:latin typeface="Consolas"/>
              </a:rPr>
              <a: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.3f</a:t>
            </a:r>
            <a:r>
              <a:rPr sz="1600" i="0">
                <a:solidFill>
                  <a:srgbClr val="7DCEA0"/>
                </a:solidFill>
                <a:latin typeface="Consolas"/>
              </a:rPr>
              <a:t>}</a:t>
            </a:r>
            <a:r>
              <a:rPr sz="1600" i="0">
                <a:solidFill>
                  <a:srgbClr val="7DCEA0"/>
                </a:solidFill>
                <a:latin typeface="Consolas"/>
              </a:rPr>
              <a:t> +/- </a:t>
            </a:r>
            <a:r>
              <a:rPr sz="1600" i="0">
                <a:solidFill>
                  <a:srgbClr val="7DCEA0"/>
                </a:solidFill>
                <a:latin typeface="Consolas"/>
              </a:rPr>
              <a:t>{</a:t>
            </a:r>
            <a:r>
              <a:rPr sz="1600" i="0">
                <a:solidFill>
                  <a:srgbClr val="E8EDF2"/>
                </a:solidFill>
                <a:latin typeface="Consolas"/>
              </a:rPr>
              <a:t>s</a:t>
            </a:r>
            <a:r>
              <a:rPr sz="1600" i="0">
                <a:solidFill>
                  <a:srgbClr val="AEB6BF"/>
                </a:solidFill>
                <a:latin typeface="Consolas"/>
              </a:rPr>
              <a:t>.</a:t>
            </a:r>
            <a:r>
              <a:rPr sz="1600" i="0">
                <a:solidFill>
                  <a:srgbClr val="E8EDF2"/>
                </a:solidFill>
                <a:latin typeface="Consolas"/>
              </a:rPr>
              <a:t>std</a:t>
            </a:r>
            <a:r>
              <a:rPr sz="1600" i="0">
                <a:solidFill>
                  <a:srgbClr val="AEB6BF"/>
                </a:solidFill>
                <a:latin typeface="Consolas"/>
              </a:rPr>
              <a: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.3f</a:t>
            </a:r>
            <a:r>
              <a:rPr sz="1600" i="0">
                <a:solidFill>
                  <a:srgbClr val="7DCEA0"/>
                </a:solidFill>
                <a:latin typeface="Consolas"/>
              </a:rPr>
              <a:t>}</a:t>
            </a:r>
            <a:r>
              <a:rPr sz="1600" i="0">
                <a:solidFill>
                  <a:srgbClr val="7DCEA0"/>
                </a:solidFill>
                <a:latin typeface="Consolas"/>
              </a:rPr>
              <a:t>"</a:t>
            </a:r>
            <a:r>
              <a:rPr sz="16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32</a:t>
            </a:r>
          </a:p>
          <a:p>
            <a:pPr algn="r">
              <a:lnSpc>
                <a:spcPct val="100000"/>
              </a:lnSpc>
            </a:pPr>
            <a:r>
              <a:rPr sz="1600">
                <a:solidFill>
                  <a:srgbClr val="4F5D6A"/>
                </a:solidFill>
                <a:latin typeface="Consolas"/>
              </a:rPr>
              <a:t>33</a:t>
            </a:r>
          </a:p>
          <a:p>
            <a:pPr algn="r">
              <a:lnSpc>
                <a:spcPct val="100000"/>
              </a:lnSpc>
            </a:pPr>
            <a:r>
              <a:rPr sz="1600">
                <a:solidFill>
                  <a:srgbClr val="4F5D6A"/>
                </a:solidFill>
                <a:latin typeface="Consolas"/>
              </a:rPr>
              <a:t>34</a:t>
            </a:r>
          </a:p>
          <a:p>
            <a:pPr algn="r">
              <a:lnSpc>
                <a:spcPct val="100000"/>
              </a:lnSpc>
            </a:pPr>
            <a:r>
              <a:rPr sz="1600">
                <a:solidFill>
                  <a:srgbClr val="4F5D6A"/>
                </a:solidFill>
                <a:latin typeface="Consolas"/>
              </a:rPr>
              <a:t>35</a:t>
            </a:r>
          </a:p>
          <a:p>
            <a:pPr algn="r">
              <a:lnSpc>
                <a:spcPct val="100000"/>
              </a:lnSpc>
            </a:pPr>
            <a:r>
              <a:rPr sz="1600">
                <a:solidFill>
                  <a:srgbClr val="4F5D6A"/>
                </a:solidFill>
                <a:latin typeface="Consolas"/>
              </a:rPr>
              <a:t>36</a:t>
            </a:r>
          </a:p>
          <a:p>
            <a:pPr algn="r">
              <a:lnSpc>
                <a:spcPct val="100000"/>
              </a:lnSpc>
            </a:pPr>
            <a:r>
              <a:rPr sz="1600">
                <a:solidFill>
                  <a:srgbClr val="4F5D6A"/>
                </a:solidFill>
                <a:latin typeface="Consolas"/>
              </a:rPr>
              <a:t>37</a:t>
            </a:r>
          </a:p>
          <a:p>
            <a:pPr algn="r">
              <a:lnSpc>
                <a:spcPct val="100000"/>
              </a:lnSpc>
            </a:pPr>
            <a:r>
              <a:rPr sz="1600">
                <a:solidFill>
                  <a:srgbClr val="4F5D6A"/>
                </a:solidFill>
                <a:latin typeface="Consolas"/>
              </a:rPr>
              <a:t>38</a:t>
            </a:r>
          </a:p>
          <a:p>
            <a:pPr algn="r">
              <a:lnSpc>
                <a:spcPct val="100000"/>
              </a:lnSpc>
            </a:pPr>
            <a:r>
              <a:rPr sz="1600">
                <a:solidFill>
                  <a:srgbClr val="4F5D6A"/>
                </a:solidFill>
                <a:latin typeface="Consolas"/>
              </a:rPr>
              <a:t>39</a:t>
            </a:r>
          </a:p>
          <a:p>
            <a:pPr algn="r">
              <a:lnSpc>
                <a:spcPct val="100000"/>
              </a:lnSpc>
            </a:pPr>
            <a:r>
              <a:rPr sz="1600">
                <a:solidFill>
                  <a:srgbClr val="4F5D6A"/>
                </a:solidFill>
                <a:latin typeface="Consolas"/>
              </a:rPr>
              <a:t>40</a:t>
            </a:r>
          </a:p>
          <a:p>
            <a:pPr algn="r">
              <a:lnSpc>
                <a:spcPct val="100000"/>
              </a:lnSpc>
            </a:pPr>
            <a:r>
              <a:rPr sz="1600">
                <a:solidFill>
                  <a:srgbClr val="4F5D6A"/>
                </a:solidFill>
                <a:latin typeface="Consolas"/>
              </a:rPr>
              <a:t>41</a:t>
            </a:r>
          </a:p>
          <a:p>
            <a:pPr algn="r">
              <a:lnSpc>
                <a:spcPct val="100000"/>
              </a:lnSpc>
            </a:pPr>
            <a:r>
              <a:rPr sz="1600">
                <a:solidFill>
                  <a:srgbClr val="4F5D6A"/>
                </a:solidFill>
                <a:latin typeface="Consolas"/>
              </a:rPr>
              <a:t>42</a:t>
            </a:r>
          </a:p>
          <a:p>
            <a:pPr algn="r">
              <a:lnSpc>
                <a:spcPct val="100000"/>
              </a:lnSpc>
            </a:pPr>
            <a:r>
              <a:rPr sz="1600">
                <a:solidFill>
                  <a:srgbClr val="4F5D6A"/>
                </a:solidFill>
                <a:latin typeface="Consolas"/>
              </a:rPr>
              <a:t>43</a:t>
            </a:r>
          </a:p>
          <a:p>
            <a:pPr algn="r">
              <a:lnSpc>
                <a:spcPct val="100000"/>
              </a:lnSpc>
            </a:pPr>
            <a:r>
              <a:rPr sz="1600">
                <a:solidFill>
                  <a:srgbClr val="4F5D6A"/>
                </a:solidFill>
                <a:latin typeface="Consolas"/>
              </a:rPr>
              <a:t>44</a:t>
            </a:r>
          </a:p>
          <a:p>
            <a:pPr algn="r">
              <a:lnSpc>
                <a:spcPct val="100000"/>
              </a:lnSpc>
            </a:pPr>
            <a:r>
              <a:rPr sz="1600">
                <a:solidFill>
                  <a:srgbClr val="4F5D6A"/>
                </a:solidFill>
                <a:latin typeface="Consolas"/>
              </a:rPr>
              <a:t>45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5687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Project Template, End to End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B034E1A7-8FBC-4290-A1FE-6E5B99CBA849}"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Tune the chosen family</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249424"/>
          </a:xfrm>
          <a:prstGeom prst="roundRect">
            <a:avLst>
              <a:gd name="adj" fmla="val 406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code/ch22_project_template_end.py</a:t>
            </a:r>
          </a:p>
        </p:txBody>
      </p:sp>
      <p:sp>
        <p:nvSpPr>
          <p:cNvPr id="14" name="!!code-text" descr="# --- 3. tune the chosen family ------------------------------------------- params = {&quot;logisticregression__C&quot;: [0.01, 0.1, 1, 10], &quot;logisticregression__class_weight&quot;: [None, &quot;balanced&quot;]} grid = GridSearchCV(candidates[&quot;logistic&quot;], params, cv=cv, scoring=metric).fit(X_tr, y_tr) print(&quot;chosen settings:&quot;, grid.best_params_)"/>
          <p:cNvSpPr txBox="1"/>
          <p:nvPr/>
        </p:nvSpPr>
        <p:spPr>
          <a:xfrm>
            <a:off x="1362456" y="2523744"/>
            <a:ext cx="9987991" cy="175564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tune the chosen family -------------------------------------------</a:t>
            </a:r>
          </a:p>
          <a:p>
            <a:pPr>
              <a:lnSpc>
                <a:spcPct val="100000"/>
              </a:lnSpc>
              <a:spcAft>
                <a:spcPts val="0"/>
              </a:spcAft>
            </a:pPr>
            <a:r>
              <a:rPr sz="1800" i="0">
                <a:solidFill>
                  <a:srgbClr val="E8EDF2"/>
                </a:solidFill>
                <a:latin typeface="Consolas"/>
              </a:rPr>
              <a:t>params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logisticregression__C</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logisticregression__class_weight</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5DADE2"/>
                </a:solidFill>
                <a:latin typeface="Consolas"/>
              </a:rPr>
              <a:t>None</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balanced</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grid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GridSearchCV</a:t>
            </a:r>
            <a:r>
              <a:rPr sz="1800" i="0">
                <a:solidFill>
                  <a:srgbClr val="AEB6BF"/>
                </a:solidFill>
                <a:latin typeface="Consolas"/>
              </a:rPr>
              <a:t>(</a:t>
            </a:r>
            <a:r>
              <a:rPr sz="1800" i="0">
                <a:solidFill>
                  <a:srgbClr val="E8EDF2"/>
                </a:solidFill>
                <a:latin typeface="Consolas"/>
              </a:rPr>
              <a:t>candidates</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logistic</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params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cv</a:t>
            </a:r>
            <a:r>
              <a:rPr sz="1800" i="0">
                <a:solidFill>
                  <a:srgbClr val="AEB6BF"/>
                </a:solidFill>
                <a:latin typeface="Consolas"/>
              </a:rPr>
              <a:t>=</a:t>
            </a:r>
            <a:r>
              <a:rPr sz="1800" i="0">
                <a:solidFill>
                  <a:srgbClr val="E8EDF2"/>
                </a:solidFill>
                <a:latin typeface="Consolas"/>
              </a:rPr>
              <a:t>cv</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scoring</a:t>
            </a:r>
            <a:r>
              <a:rPr sz="1800" i="0">
                <a:solidFill>
                  <a:srgbClr val="AEB6BF"/>
                </a:solidFill>
                <a:latin typeface="Consolas"/>
              </a:rPr>
              <a:t>=</a:t>
            </a:r>
            <a:r>
              <a:rPr sz="1800" i="0">
                <a:solidFill>
                  <a:srgbClr val="E8EDF2"/>
                </a:solidFill>
                <a:latin typeface="Consolas"/>
              </a:rPr>
              <a:t>metric</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chosen settings:</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best_params_</a:t>
            </a:r>
            <a:r>
              <a:rPr sz="1800" i="0">
                <a:solidFill>
                  <a:srgbClr val="AEB6BF"/>
                </a:solidFill>
                <a:latin typeface="Consolas"/>
              </a:rPr>
              <a:t>)</a:t>
            </a:r>
          </a:p>
        </p:txBody>
      </p:sp>
      <p:sp>
        <p:nvSpPr>
          <p:cNvPr id="15" name="!!code-num"/>
          <p:cNvSpPr txBox="1"/>
          <p:nvPr/>
        </p:nvSpPr>
        <p:spPr>
          <a:xfrm>
            <a:off x="768096" y="2523744"/>
            <a:ext cx="393192" cy="175564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47</a:t>
            </a:r>
          </a:p>
          <a:p>
            <a:pPr algn="r">
              <a:lnSpc>
                <a:spcPct val="100000"/>
              </a:lnSpc>
            </a:pPr>
            <a:r>
              <a:rPr sz="1800">
                <a:solidFill>
                  <a:srgbClr val="4F5D6A"/>
                </a:solidFill>
                <a:latin typeface="Consolas"/>
              </a:rPr>
              <a:t>48</a:t>
            </a:r>
          </a:p>
          <a:p>
            <a:pPr algn="r">
              <a:lnSpc>
                <a:spcPct val="100000"/>
              </a:lnSpc>
            </a:pPr>
            <a:r>
              <a:rPr sz="1800">
                <a:solidFill>
                  <a:srgbClr val="4F5D6A"/>
                </a:solidFill>
                <a:latin typeface="Consolas"/>
              </a:rPr>
              <a:t>49</a:t>
            </a:r>
          </a:p>
          <a:p>
            <a:pPr algn="r">
              <a:lnSpc>
                <a:spcPct val="100000"/>
              </a:lnSpc>
            </a:pPr>
            <a:r>
              <a:rPr sz="1800">
                <a:solidFill>
                  <a:srgbClr val="4F5D6A"/>
                </a:solidFill>
                <a:latin typeface="Consolas"/>
              </a:rPr>
              <a:t>50</a:t>
            </a:r>
          </a:p>
          <a:p>
            <a:pPr algn="r">
              <a:lnSpc>
                <a:spcPct val="100000"/>
              </a:lnSpc>
            </a:pPr>
            <a:r>
              <a:rPr sz="1800">
                <a:solidFill>
                  <a:srgbClr val="4F5D6A"/>
                </a:solidFill>
                <a:latin typeface="Consolas"/>
              </a:rPr>
              <a:t>51</a:t>
            </a:r>
          </a:p>
          <a:p>
            <a:pPr algn="r">
              <a:lnSpc>
                <a:spcPct val="100000"/>
              </a:lnSpc>
            </a:pPr>
            <a:r>
              <a:rPr sz="1800">
                <a:solidFill>
                  <a:srgbClr val="4F5D6A"/>
                </a:solidFill>
                <a:latin typeface="Consolas"/>
              </a:rPr>
              <a:t>52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Project Template, End to End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E5C2727F-7353-41F7-84F0-CECE3F15BE2D}"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test set, once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975104"/>
          </a:xfrm>
          <a:prstGeom prst="roundRect">
            <a:avLst>
              <a:gd name="adj" fmla="val 462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code/ch22_project_template_end.py</a:t>
            </a:r>
          </a:p>
        </p:txBody>
      </p:sp>
      <p:sp>
        <p:nvSpPr>
          <p:cNvPr id="14" name="!!code-text" descr="# --- 4. the test set, once ----------------------------------------------- pred = grid.predict(X_te) test_recall = recall_score(y_te, pred) print(classification_report(y_te, pred, target_names=[&quot;benign&quot;, &quot;malignant&quot;], digits=3))"/>
          <p:cNvSpPr txBox="1"/>
          <p:nvPr/>
        </p:nvSpPr>
        <p:spPr>
          <a:xfrm>
            <a:off x="1362456" y="2523744"/>
            <a:ext cx="9987991" cy="148132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--- 4. the test set, once -----------------------------------------------</a:t>
            </a:r>
          </a:p>
          <a:p>
            <a:pPr>
              <a:lnSpc>
                <a:spcPct val="100000"/>
              </a:lnSpc>
              <a:spcAft>
                <a:spcPts val="0"/>
              </a:spcAft>
            </a:pPr>
            <a:r>
              <a:rPr sz="1800" i="0">
                <a:solidFill>
                  <a:srgbClr val="E8EDF2"/>
                </a:solidFill>
                <a:latin typeface="Consolas"/>
              </a:rPr>
              <a:t>pred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grid</a:t>
            </a:r>
            <a:r>
              <a:rPr sz="1800" i="0">
                <a:solidFill>
                  <a:srgbClr val="AEB6BF"/>
                </a:solidFill>
                <a:latin typeface="Consolas"/>
              </a:rPr>
              <a:t>.</a:t>
            </a:r>
            <a:r>
              <a:rPr sz="1800" i="0">
                <a:solidFill>
                  <a:srgbClr val="E8EDF2"/>
                </a:solidFill>
                <a:latin typeface="Consolas"/>
              </a:rPr>
              <a:t>predict</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p>
          <a:p>
            <a:pPr>
              <a:lnSpc>
                <a:spcPct val="100000"/>
              </a:lnSpc>
              <a:spcAft>
                <a:spcPts val="0"/>
              </a:spcAft>
            </a:pPr>
            <a:r>
              <a:rPr sz="1800" i="0">
                <a:solidFill>
                  <a:srgbClr val="E8EDF2"/>
                </a:solidFill>
                <a:latin typeface="Consolas"/>
              </a:rPr>
              <a:t>test_recall</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recall_score</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E8EDF2"/>
                </a:solidFill>
                <a:latin typeface="Consolas"/>
              </a:rPr>
              <a:t>classification_report</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pred</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target_names</a:t>
            </a:r>
            <a:r>
              <a:rPr sz="1800" i="0">
                <a:solidFill>
                  <a:srgbClr val="AEB6BF"/>
                </a:solidFill>
                <a:latin typeface="Consolas"/>
              </a:rPr>
              <a: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benign</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malignant</a:t>
            </a:r>
            <a:r>
              <a:rPr sz="1800" i="0">
                <a:solidFill>
                  <a:srgbClr val="7DCEA0"/>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digits</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148132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54</a:t>
            </a:r>
          </a:p>
          <a:p>
            <a:pPr algn="r">
              <a:lnSpc>
                <a:spcPct val="100000"/>
              </a:lnSpc>
            </a:pPr>
            <a:r>
              <a:rPr sz="1800">
                <a:solidFill>
                  <a:srgbClr val="4F5D6A"/>
                </a:solidFill>
                <a:latin typeface="Consolas"/>
              </a:rPr>
              <a:t>55</a:t>
            </a:r>
          </a:p>
          <a:p>
            <a:pPr algn="r">
              <a:lnSpc>
                <a:spcPct val="100000"/>
              </a:lnSpc>
            </a:pPr>
            <a:r>
              <a:rPr sz="1800">
                <a:solidFill>
                  <a:srgbClr val="4F5D6A"/>
                </a:solidFill>
                <a:latin typeface="Consolas"/>
              </a:rPr>
              <a:t>56</a:t>
            </a:r>
          </a:p>
          <a:p>
            <a:pPr algn="r">
              <a:lnSpc>
                <a:spcPct val="100000"/>
              </a:lnSpc>
            </a:pPr>
            <a:r>
              <a:rPr sz="1800">
                <a:solidFill>
                  <a:srgbClr val="4F5D6A"/>
                </a:solidFill>
                <a:latin typeface="Consolas"/>
              </a:rPr>
              <a:t>57</a:t>
            </a:r>
          </a:p>
          <a:p>
            <a:pPr algn="r">
              <a:lnSpc>
                <a:spcPct val="100000"/>
              </a:lnSpc>
            </a:pPr>
            <a:r>
              <a:rPr sz="1800">
                <a:solidFill>
                  <a:srgbClr val="4F5D6A"/>
                </a:solidFill>
                <a:latin typeface="Consolas"/>
              </a:rPr>
              <a:t>58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9872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Project Template, End to End</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7</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457D16B8-A47D-4584-A615-F7E413D8C4BD}"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Save the model and write its model card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code/ch22_project_template_end.py</a:t>
            </a:r>
          </a:p>
        </p:txBody>
      </p:sp>
      <p:sp>
        <p:nvSpPr>
          <p:cNvPr id="14" name="!!code-text" descr="# --- 5. save the model and write its model card -------------------------- joblib.dump(grid.best_estimator_, os.path.join(OUT, &quot;model.joblib&quot;)) card = { &quot;model&quot;: &quot;logistic regression, standardised features&quot;, &quot;intended use&quot;: &quot;second reader for tumour measurements; never alone&quot;, &quot;data&quot;: f&quot;Wisconsin breast cancer, {len(y)} cases, 30 features&quot;, &quot;split&quot;: f&quot;75/25 stratified, seed {SEED}; 5-fold CV for selection&quot;, &quot;settings&quot;: grid.best_params_, f&quot;test {metric}&quot;: round(float(test_recall), 3), &quot;limitations&quot;: &quot;one hospital's data; not validated on other scanners&quot;, &quot;date&quot;: datetime.date.today().isoformat(), &quot;library&quot;: f&quot;scikit-learn {sklearn.__version__}&quot;, } with open(os.path.join(OUT, &quot;model_card.json&quot;), &quot;w&quot;) as fh: json.dump(card, fh, indent=2, default=str) print(&quot;saved:&quot;, sorted(os.listdir(OU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--- 5. save the model and write its model card --------------------------</a:t>
            </a:r>
          </a:p>
          <a:p>
            <a:pPr>
              <a:lnSpc>
                <a:spcPct val="100000"/>
              </a:lnSpc>
              <a:spcAft>
                <a:spcPts val="0"/>
              </a:spcAft>
            </a:pPr>
            <a:r>
              <a:rPr sz="1400" i="0">
                <a:solidFill>
                  <a:srgbClr val="E8EDF2"/>
                </a:solidFill>
                <a:latin typeface="Consolas"/>
              </a:rPr>
              <a:t>joblib</a:t>
            </a:r>
            <a:r>
              <a:rPr sz="1400" i="0">
                <a:solidFill>
                  <a:srgbClr val="AEB6BF"/>
                </a:solidFill>
                <a:latin typeface="Consolas"/>
              </a:rPr>
              <a:t>.</a:t>
            </a:r>
            <a:r>
              <a:rPr sz="1400" i="0">
                <a:solidFill>
                  <a:srgbClr val="E8EDF2"/>
                </a:solidFill>
                <a:latin typeface="Consolas"/>
              </a:rPr>
              <a:t>dump</a:t>
            </a:r>
            <a:r>
              <a:rPr sz="1400" i="0">
                <a:solidFill>
                  <a:srgbClr val="AEB6BF"/>
                </a:solidFill>
                <a:latin typeface="Consolas"/>
              </a:rPr>
              <a:t>(</a:t>
            </a:r>
            <a:r>
              <a:rPr sz="1400" i="0">
                <a:solidFill>
                  <a:srgbClr val="E8EDF2"/>
                </a:solidFill>
                <a:latin typeface="Consolas"/>
              </a:rPr>
              <a:t>grid</a:t>
            </a:r>
            <a:r>
              <a:rPr sz="1400" i="0">
                <a:solidFill>
                  <a:srgbClr val="AEB6BF"/>
                </a:solidFill>
                <a:latin typeface="Consolas"/>
              </a:rPr>
              <a:t>.</a:t>
            </a:r>
            <a:r>
              <a:rPr sz="1400" i="0">
                <a:solidFill>
                  <a:srgbClr val="E8EDF2"/>
                </a:solidFill>
                <a:latin typeface="Consolas"/>
              </a:rPr>
              <a:t>best_estimator_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os</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r>
              <a:rPr sz="1400" i="0">
                <a:solidFill>
                  <a:srgbClr val="E8EDF2"/>
                </a:solidFill>
                <a:latin typeface="Consolas"/>
              </a:rPr>
              <a:t>join</a:t>
            </a:r>
            <a:r>
              <a:rPr sz="1400" i="0">
                <a:solidFill>
                  <a:srgbClr val="AEB6BF"/>
                </a:solidFill>
                <a:latin typeface="Consolas"/>
              </a:rPr>
              <a:t>(</a:t>
            </a:r>
            <a:r>
              <a:rPr sz="1400" i="0">
                <a:solidFill>
                  <a:srgbClr val="E8EDF2"/>
                </a:solidFill>
                <a:latin typeface="Consolas"/>
              </a:rPr>
              <a:t>OUT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model.joblib</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card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model</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logistic regression, standardised features</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intended use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second reader for tumour measurements; never alone</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data</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Wisconsin breast cancer, </a:t>
            </a:r>
            <a:r>
              <a:rPr sz="1400" i="0">
                <a:solidFill>
                  <a:srgbClr val="7DCEA0"/>
                </a:solidFill>
                <a:latin typeface="Consolas"/>
              </a:rPr>
              <a:t>{</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y</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 cases, 30 features</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split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75/25 stratified, seed </a:t>
            </a:r>
            <a:r>
              <a:rPr sz="1400" i="0">
                <a:solidFill>
                  <a:srgbClr val="7DCEA0"/>
                </a:solidFill>
                <a:latin typeface="Consolas"/>
              </a:rPr>
              <a:t>{</a:t>
            </a:r>
            <a:r>
              <a:rPr sz="1400" i="0">
                <a:solidFill>
                  <a:srgbClr val="E8EDF2"/>
                </a:solidFill>
                <a:latin typeface="Consolas"/>
              </a:rPr>
              <a:t>SEED</a:t>
            </a:r>
            <a:r>
              <a:rPr sz="1400" i="0">
                <a:solidFill>
                  <a:srgbClr val="7DCEA0"/>
                </a:solidFill>
                <a:latin typeface="Consolas"/>
              </a:rPr>
              <a:t>}</a:t>
            </a:r>
            <a:r>
              <a:rPr sz="1400" i="0">
                <a:solidFill>
                  <a:srgbClr val="7DCEA0"/>
                </a:solidFill>
                <a:latin typeface="Consolas"/>
              </a:rPr>
              <a:t>; 5-fold CV for selection</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settings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grid</a:t>
            </a:r>
            <a:r>
              <a:rPr sz="1400" i="0">
                <a:solidFill>
                  <a:srgbClr val="AEB6BF"/>
                </a:solidFill>
                <a:latin typeface="Consolas"/>
              </a:rPr>
              <a:t>.</a:t>
            </a:r>
            <a:r>
              <a:rPr sz="1400" i="0">
                <a:solidFill>
                  <a:srgbClr val="E8EDF2"/>
                </a:solidFill>
                <a:latin typeface="Consolas"/>
              </a:rPr>
              <a:t>best_params_</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test </a:t>
            </a:r>
            <a:r>
              <a:rPr sz="1400" i="0">
                <a:solidFill>
                  <a:srgbClr val="7DCEA0"/>
                </a:solidFill>
                <a:latin typeface="Consolas"/>
              </a:rPr>
              <a:t>{</a:t>
            </a:r>
            <a:r>
              <a:rPr sz="1400" i="0">
                <a:solidFill>
                  <a:srgbClr val="E8EDF2"/>
                </a:solidFill>
                <a:latin typeface="Consolas"/>
              </a:rPr>
              <a:t>metric</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round</a:t>
            </a:r>
            <a:r>
              <a:rPr sz="1400" i="0">
                <a:solidFill>
                  <a:srgbClr val="AEB6BF"/>
                </a:solidFill>
                <a:latin typeface="Consolas"/>
              </a:rPr>
              <a:t>(</a:t>
            </a:r>
            <a:r>
              <a:rPr sz="1400" i="0">
                <a:solidFill>
                  <a:srgbClr val="C39BD3"/>
                </a:solidFill>
                <a:latin typeface="Consolas"/>
              </a:rPr>
              <a:t>float</a:t>
            </a:r>
            <a:r>
              <a:rPr sz="1400" i="0">
                <a:solidFill>
                  <a:srgbClr val="AEB6BF"/>
                </a:solidFill>
                <a:latin typeface="Consolas"/>
              </a:rPr>
              <a:t>(</a:t>
            </a:r>
            <a:r>
              <a:rPr sz="1400" i="0">
                <a:solidFill>
                  <a:srgbClr val="E8EDF2"/>
                </a:solidFill>
                <a:latin typeface="Consolas"/>
              </a:rPr>
              <a:t>test_recall</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limitations</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one hospital</a:t>
            </a:r>
            <a:r>
              <a:rPr sz="1400" i="0">
                <a:solidFill>
                  <a:srgbClr val="7DCEA0"/>
                </a:solidFill>
                <a:latin typeface="Consolas"/>
              </a:rPr>
              <a:t>'</a:t>
            </a:r>
            <a:r>
              <a:rPr sz="1400" i="0">
                <a:solidFill>
                  <a:srgbClr val="7DCEA0"/>
                </a:solidFill>
                <a:latin typeface="Consolas"/>
              </a:rPr>
              <a:t>s data; not validated on other scanners</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date</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datetime</a:t>
            </a:r>
            <a:r>
              <a:rPr sz="1400" i="0">
                <a:solidFill>
                  <a:srgbClr val="AEB6BF"/>
                </a:solidFill>
                <a:latin typeface="Consolas"/>
              </a:rPr>
              <a:t>.</a:t>
            </a:r>
            <a:r>
              <a:rPr sz="1400" i="0">
                <a:solidFill>
                  <a:srgbClr val="E8EDF2"/>
                </a:solidFill>
                <a:latin typeface="Consolas"/>
              </a:rPr>
              <a:t>date</a:t>
            </a:r>
            <a:r>
              <a:rPr sz="1400" i="0">
                <a:solidFill>
                  <a:srgbClr val="AEB6BF"/>
                </a:solidFill>
                <a:latin typeface="Consolas"/>
              </a:rPr>
              <a:t>.</a:t>
            </a:r>
            <a:r>
              <a:rPr sz="1400" i="0">
                <a:solidFill>
                  <a:srgbClr val="E8EDF2"/>
                </a:solidFill>
                <a:latin typeface="Consolas"/>
              </a:rPr>
              <a:t>today</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isoformat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library</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f</a:t>
            </a:r>
            <a:r>
              <a:rPr sz="1400" i="0">
                <a:solidFill>
                  <a:srgbClr val="7DCEA0"/>
                </a:solidFill>
                <a:latin typeface="Consolas"/>
              </a:rPr>
              <a:t>"</a:t>
            </a:r>
            <a:r>
              <a:rPr sz="1400" i="0">
                <a:solidFill>
                  <a:srgbClr val="7DCEA0"/>
                </a:solidFill>
                <a:latin typeface="Consolas"/>
              </a:rPr>
              <a:t>scikit-learn </a:t>
            </a:r>
            <a:r>
              <a:rPr sz="1400" i="0">
                <a:solidFill>
                  <a:srgbClr val="7DCEA0"/>
                </a:solidFill>
                <a:latin typeface="Consolas"/>
              </a:rPr>
              <a:t>{</a:t>
            </a:r>
            <a:r>
              <a:rPr sz="1400" i="0">
                <a:solidFill>
                  <a:srgbClr val="E8EDF2"/>
                </a:solidFill>
                <a:latin typeface="Consolas"/>
              </a:rPr>
              <a:t>sklearn</a:t>
            </a:r>
            <a:r>
              <a:rPr sz="1400" i="0">
                <a:solidFill>
                  <a:srgbClr val="AEB6BF"/>
                </a:solidFill>
                <a:latin typeface="Consolas"/>
              </a:rPr>
              <a:t>.</a:t>
            </a:r>
            <a:r>
              <a:rPr sz="1400" i="0">
                <a:solidFill>
                  <a:srgbClr val="E8EDF2"/>
                </a:solidFill>
                <a:latin typeface="Consolas"/>
              </a:rPr>
              <a:t>__version__</a:t>
            </a:r>
            <a:r>
              <a:rPr sz="1400" i="0">
                <a:solidFill>
                  <a:srgbClr val="7DCEA0"/>
                </a:solidFill>
                <a:latin typeface="Consolas"/>
              </a:rPr>
              <a:t>}</a:t>
            </a:r>
            <a:r>
              <a:rPr sz="1400" i="0">
                <a:solidFill>
                  <a:srgbClr val="7DCEA0"/>
                </a:solidFill>
                <a:latin typeface="Consolas"/>
              </a:rPr>
              <a:t>"</a:t>
            </a:r>
            <a:r>
              <a:rPr sz="1400" i="0">
                <a:solidFill>
                  <a:srgbClr val="AEB6BF"/>
                </a:solidFill>
                <a:latin typeface="Consolas"/>
              </a:rPr>
              <a:t>,</a:t>
            </a:r>
          </a:p>
          <a:p>
            <a:pPr>
              <a:lnSpc>
                <a:spcPct val="100000"/>
              </a:lnSpc>
              <a:spcAft>
                <a:spcPts val="0"/>
              </a:spcAft>
            </a:pPr>
            <a:r>
              <a:rPr sz="1400" i="0">
                <a:solidFill>
                  <a:srgbClr val="AEB6BF"/>
                </a:solidFill>
                <a:latin typeface="Consolas"/>
              </a:rPr>
              <a:t>}</a:t>
            </a:r>
          </a:p>
          <a:p>
            <a:pPr>
              <a:lnSpc>
                <a:spcPct val="100000"/>
              </a:lnSpc>
              <a:spcAft>
                <a:spcPts val="0"/>
              </a:spcAft>
            </a:pPr>
            <a:r>
              <a:rPr sz="1400" i="0">
                <a:solidFill>
                  <a:srgbClr val="5DADE2"/>
                </a:solidFill>
                <a:latin typeface="Consolas"/>
              </a:rPr>
              <a:t>with</a:t>
            </a:r>
            <a:r>
              <a:rPr sz="1400" i="0">
                <a:solidFill>
                  <a:srgbClr val="E8EDF2"/>
                </a:solidFill>
                <a:latin typeface="Consolas"/>
              </a:rPr>
              <a:t> </a:t>
            </a:r>
            <a:r>
              <a:rPr sz="1400" i="0">
                <a:solidFill>
                  <a:srgbClr val="C39BD3"/>
                </a:solidFill>
                <a:latin typeface="Consolas"/>
              </a:rPr>
              <a:t>open</a:t>
            </a:r>
            <a:r>
              <a:rPr sz="1400" i="0">
                <a:solidFill>
                  <a:srgbClr val="AEB6BF"/>
                </a:solidFill>
                <a:latin typeface="Consolas"/>
              </a:rPr>
              <a:t>(</a:t>
            </a:r>
            <a:r>
              <a:rPr sz="1400" i="0">
                <a:solidFill>
                  <a:srgbClr val="E8EDF2"/>
                </a:solidFill>
                <a:latin typeface="Consolas"/>
              </a:rPr>
              <a:t>os</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r>
              <a:rPr sz="1400" i="0">
                <a:solidFill>
                  <a:srgbClr val="E8EDF2"/>
                </a:solidFill>
                <a:latin typeface="Consolas"/>
              </a:rPr>
              <a:t>join</a:t>
            </a:r>
            <a:r>
              <a:rPr sz="1400" i="0">
                <a:solidFill>
                  <a:srgbClr val="AEB6BF"/>
                </a:solidFill>
                <a:latin typeface="Consolas"/>
              </a:rPr>
              <a:t>(</a:t>
            </a:r>
            <a:r>
              <a:rPr sz="1400" i="0">
                <a:solidFill>
                  <a:srgbClr val="E8EDF2"/>
                </a:solidFill>
                <a:latin typeface="Consolas"/>
              </a:rPr>
              <a:t>OUT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model_card.json</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w</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as</a:t>
            </a:r>
            <a:r>
              <a:rPr sz="1400" i="0">
                <a:solidFill>
                  <a:srgbClr val="E8EDF2"/>
                </a:solidFill>
                <a:latin typeface="Consolas"/>
              </a:rPr>
              <a:t> </a:t>
            </a:r>
            <a:r>
              <a:rPr sz="1400" i="0">
                <a:solidFill>
                  <a:srgbClr val="E8EDF2"/>
                </a:solidFill>
                <a:latin typeface="Consolas"/>
              </a:rPr>
              <a:t>fh</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json</a:t>
            </a:r>
            <a:r>
              <a:rPr sz="1400" i="0">
                <a:solidFill>
                  <a:srgbClr val="AEB6BF"/>
                </a:solidFill>
                <a:latin typeface="Consolas"/>
              </a:rPr>
              <a:t>.</a:t>
            </a:r>
            <a:r>
              <a:rPr sz="1400" i="0">
                <a:solidFill>
                  <a:srgbClr val="E8EDF2"/>
                </a:solidFill>
                <a:latin typeface="Consolas"/>
              </a:rPr>
              <a:t>dump</a:t>
            </a:r>
            <a:r>
              <a:rPr sz="1400" i="0">
                <a:solidFill>
                  <a:srgbClr val="AEB6BF"/>
                </a:solidFill>
                <a:latin typeface="Consolas"/>
              </a:rPr>
              <a:t>(</a:t>
            </a:r>
            <a:r>
              <a:rPr sz="1400" i="0">
                <a:solidFill>
                  <a:srgbClr val="E8EDF2"/>
                </a:solidFill>
                <a:latin typeface="Consolas"/>
              </a:rPr>
              <a:t>card</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fh</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indent</a:t>
            </a:r>
            <a:r>
              <a:rPr sz="1400" i="0">
                <a:solidFill>
                  <a:srgbClr val="AEB6BF"/>
                </a:solidFill>
                <a:latin typeface="Consolas"/>
              </a:rPr>
              <a:t>=</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default</a:t>
            </a:r>
            <a:r>
              <a:rPr sz="1400" i="0">
                <a:solidFill>
                  <a:srgbClr val="AEB6BF"/>
                </a:solidFill>
                <a:latin typeface="Consolas"/>
              </a:rPr>
              <a:t>=</a:t>
            </a:r>
            <a:r>
              <a:rPr sz="1400" i="0">
                <a:solidFill>
                  <a:srgbClr val="C39BD3"/>
                </a:solidFill>
                <a:latin typeface="Consolas"/>
              </a:rPr>
              <a:t>str</a:t>
            </a:r>
            <a:r>
              <a:rPr sz="1400" i="0">
                <a:solidFill>
                  <a:srgbClr val="AEB6BF"/>
                </a:solidFill>
                <a:latin typeface="Consolas"/>
              </a:rPr>
              <a:t>)</a:t>
            </a:r>
          </a:p>
          <a:p>
            <a:pPr>
              <a:lnSpc>
                <a:spcPct val="100000"/>
              </a:lnSpc>
              <a:spcAft>
                <a:spcPts val="0"/>
              </a:spcAft>
            </a:pP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saved:</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sorted</a:t>
            </a:r>
            <a:r>
              <a:rPr sz="1400" i="0">
                <a:solidFill>
                  <a:srgbClr val="AEB6BF"/>
                </a:solidFill>
                <a:latin typeface="Consolas"/>
              </a:rPr>
              <a:t>(</a:t>
            </a:r>
            <a:r>
              <a:rPr sz="1400" i="0">
                <a:solidFill>
                  <a:srgbClr val="E8EDF2"/>
                </a:solidFill>
                <a:latin typeface="Consolas"/>
              </a:rPr>
              <a:t>os</a:t>
            </a:r>
            <a:r>
              <a:rPr sz="1400" i="0">
                <a:solidFill>
                  <a:srgbClr val="AEB6BF"/>
                </a:solidFill>
                <a:latin typeface="Consolas"/>
              </a:rPr>
              <a:t>.</a:t>
            </a:r>
            <a:r>
              <a:rPr sz="1400" i="0">
                <a:solidFill>
                  <a:srgbClr val="E8EDF2"/>
                </a:solidFill>
                <a:latin typeface="Consolas"/>
              </a:rPr>
              <a:t>listdir</a:t>
            </a:r>
            <a:r>
              <a:rPr sz="1400" i="0">
                <a:solidFill>
                  <a:srgbClr val="AEB6BF"/>
                </a:solidFill>
                <a:latin typeface="Consolas"/>
              </a:rPr>
              <a:t>(</a:t>
            </a:r>
            <a:r>
              <a:rPr sz="1400" i="0">
                <a:solidFill>
                  <a:srgbClr val="E8EDF2"/>
                </a:solidFill>
                <a:latin typeface="Consolas"/>
              </a:rPr>
              <a:t>OUT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60</a:t>
            </a:r>
          </a:p>
          <a:p>
            <a:pPr algn="r">
              <a:lnSpc>
                <a:spcPct val="100000"/>
              </a:lnSpc>
            </a:pPr>
            <a:r>
              <a:rPr sz="1400">
                <a:solidFill>
                  <a:srgbClr val="4F5D6A"/>
                </a:solidFill>
                <a:latin typeface="Consolas"/>
              </a:rPr>
              <a:t>61</a:t>
            </a:r>
          </a:p>
          <a:p>
            <a:pPr algn="r">
              <a:lnSpc>
                <a:spcPct val="100000"/>
              </a:lnSpc>
            </a:pPr>
            <a:r>
              <a:rPr sz="1400">
                <a:solidFill>
                  <a:srgbClr val="4F5D6A"/>
                </a:solidFill>
                <a:latin typeface="Consolas"/>
              </a:rPr>
              <a:t>62</a:t>
            </a:r>
          </a:p>
          <a:p>
            <a:pPr algn="r">
              <a:lnSpc>
                <a:spcPct val="100000"/>
              </a:lnSpc>
            </a:pPr>
            <a:r>
              <a:rPr sz="1400">
                <a:solidFill>
                  <a:srgbClr val="4F5D6A"/>
                </a:solidFill>
                <a:latin typeface="Consolas"/>
              </a:rPr>
              <a:t>63</a:t>
            </a:r>
          </a:p>
          <a:p>
            <a:pPr algn="r">
              <a:lnSpc>
                <a:spcPct val="100000"/>
              </a:lnSpc>
            </a:pPr>
            <a:r>
              <a:rPr sz="1400">
                <a:solidFill>
                  <a:srgbClr val="4F5D6A"/>
                </a:solidFill>
                <a:latin typeface="Consolas"/>
              </a:rPr>
              <a:t>64</a:t>
            </a:r>
          </a:p>
          <a:p>
            <a:pPr algn="r">
              <a:lnSpc>
                <a:spcPct val="100000"/>
              </a:lnSpc>
            </a:pPr>
            <a:r>
              <a:rPr sz="1400">
                <a:solidFill>
                  <a:srgbClr val="4F5D6A"/>
                </a:solidFill>
                <a:latin typeface="Consolas"/>
              </a:rPr>
              <a:t>65</a:t>
            </a:r>
          </a:p>
          <a:p>
            <a:pPr algn="r">
              <a:lnSpc>
                <a:spcPct val="100000"/>
              </a:lnSpc>
            </a:pPr>
            <a:r>
              <a:rPr sz="1400">
                <a:solidFill>
                  <a:srgbClr val="4F5D6A"/>
                </a:solidFill>
                <a:latin typeface="Consolas"/>
              </a:rPr>
              <a:t>66</a:t>
            </a:r>
          </a:p>
          <a:p>
            <a:pPr algn="r">
              <a:lnSpc>
                <a:spcPct val="100000"/>
              </a:lnSpc>
            </a:pPr>
            <a:r>
              <a:rPr sz="1400">
                <a:solidFill>
                  <a:srgbClr val="4F5D6A"/>
                </a:solidFill>
                <a:latin typeface="Consolas"/>
              </a:rPr>
              <a:t>67</a:t>
            </a:r>
          </a:p>
          <a:p>
            <a:pPr algn="r">
              <a:lnSpc>
                <a:spcPct val="100000"/>
              </a:lnSpc>
            </a:pPr>
            <a:r>
              <a:rPr sz="1400">
                <a:solidFill>
                  <a:srgbClr val="4F5D6A"/>
                </a:solidFill>
                <a:latin typeface="Consolas"/>
              </a:rPr>
              <a:t>68</a:t>
            </a:r>
          </a:p>
          <a:p>
            <a:pPr algn="r">
              <a:lnSpc>
                <a:spcPct val="100000"/>
              </a:lnSpc>
            </a:pPr>
            <a:r>
              <a:rPr sz="1400">
                <a:solidFill>
                  <a:srgbClr val="4F5D6A"/>
                </a:solidFill>
                <a:latin typeface="Consolas"/>
              </a:rPr>
              <a:t>69</a:t>
            </a:r>
          </a:p>
          <a:p>
            <a:pPr algn="r">
              <a:lnSpc>
                <a:spcPct val="100000"/>
              </a:lnSpc>
            </a:pPr>
            <a:r>
              <a:rPr sz="1400">
                <a:solidFill>
                  <a:srgbClr val="4F5D6A"/>
                </a:solidFill>
                <a:latin typeface="Consolas"/>
              </a:rPr>
              <a:t>70</a:t>
            </a:r>
          </a:p>
          <a:p>
            <a:pPr algn="r">
              <a:lnSpc>
                <a:spcPct val="100000"/>
              </a:lnSpc>
            </a:pPr>
            <a:r>
              <a:rPr sz="1400">
                <a:solidFill>
                  <a:srgbClr val="4F5D6A"/>
                </a:solidFill>
                <a:latin typeface="Consolas"/>
              </a:rPr>
              <a:t>71</a:t>
            </a:r>
          </a:p>
          <a:p>
            <a:pPr algn="r">
              <a:lnSpc>
                <a:spcPct val="100000"/>
              </a:lnSpc>
            </a:pPr>
            <a:r>
              <a:rPr sz="1400">
                <a:solidFill>
                  <a:srgbClr val="4F5D6A"/>
                </a:solidFill>
                <a:latin typeface="Consolas"/>
              </a:rPr>
              <a:t>72</a:t>
            </a:r>
          </a:p>
          <a:p>
            <a:pPr algn="r">
              <a:lnSpc>
                <a:spcPct val="100000"/>
              </a:lnSpc>
            </a:pPr>
            <a:r>
              <a:rPr sz="1400">
                <a:solidFill>
                  <a:srgbClr val="4F5D6A"/>
                </a:solidFill>
                <a:latin typeface="Consolas"/>
              </a:rPr>
              <a:t>73</a:t>
            </a:r>
          </a:p>
          <a:p>
            <a:pPr algn="r">
              <a:lnSpc>
                <a:spcPct val="100000"/>
              </a:lnSpc>
            </a:pPr>
            <a:r>
              <a:rPr sz="1400">
                <a:solidFill>
                  <a:srgbClr val="4F5D6A"/>
                </a:solidFill>
                <a:latin typeface="Consolas"/>
              </a:rPr>
              <a:t>74</a:t>
            </a:r>
          </a:p>
          <a:p>
            <a:pPr algn="r">
              <a:lnSpc>
                <a:spcPct val="100000"/>
              </a:lnSpc>
            </a:pPr>
            <a:r>
              <a:rPr sz="1400">
                <a:solidFill>
                  <a:srgbClr val="4F5D6A"/>
                </a:solidFill>
                <a:latin typeface="Consolas"/>
              </a:rPr>
              <a:t>75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6964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§22.6  ·  Handout p. 172     </a:t>
            </a:r>
            <a:fld id="{2660F39C-55FF-4477-A5B0-D2DCFA7438D4}"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template reproduces the experiment log of the worked example. Before adapting it, change </a:t>
            </a:r>
            <a:r>
              <a:rPr sz="2150" b="0" i="0">
                <a:solidFill>
                  <a:srgbClr val="1F4E79"/>
                </a:solidFill>
                <a:latin typeface="Consolas"/>
              </a:rPr>
              <a:t>metric</a:t>
            </a:r>
            <a:r>
              <a:rPr sz="2300" b="0" i="0">
                <a:solidFill>
                  <a:srgbClr val="1C252B"/>
                </a:solidFill>
                <a:latin typeface="Segoe UI"/>
              </a:rPr>
              <a:t> to </a:t>
            </a:r>
            <a:r>
              <a:rPr sz="2150" b="0" i="0">
                <a:solidFill>
                  <a:srgbClr val="1F4E79"/>
                </a:solidFill>
                <a:latin typeface="Consolas"/>
              </a:rPr>
              <a:t>"precision"</a:t>
            </a:r>
            <a:r>
              <a:rPr sz="2300" b="0" i="0">
                <a:solidFill>
                  <a:srgbClr val="1C252B"/>
                </a:solidFill>
                <a:latin typeface="Segoe UI"/>
              </a:rPr>
              <a:t> and rerun: does the chosen model change?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94057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Write a success criterion for a spam filter that a manager could check.</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22  ·  The Machine Learning Project</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176  ·  answers in Appendix D     </a:t>
            </a:r>
            <a:fld id="{956FD1E5-F3CC-4452-87B0-BF77BD1943FA}"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457200"/>
          </a:xfrm>
        </p:spPr>
        <p:txBody>
          <a:bodyPr wrap="square" lIns="0" rIns="0" tIns="0" bIns="0" anchor="t">
            <a:noAutofit/>
          </a:bodyPr>
          <a:lstStyle/>
          <a:p>
            <a:pPr algn="l">
              <a:lnSpc>
                <a:spcPct val="96000"/>
              </a:lnSpc>
            </a:pPr>
            <a:r>
              <a:rPr sz="2400" b="0" i="0">
                <a:solidFill>
                  <a:srgbClr val="1A5276"/>
                </a:solidFill>
                <a:latin typeface="Segoe UI Semibold"/>
              </a:rPr>
              <a:t>Write a success criterion for a spam filter that a manager could check.</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41183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41183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For example: “On a freshly labelled sample of 5,000 messages from the test week, the filter blocks at least 95% of spam while blocking fewer than 1 in 1,000 legitimate messages.”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  answers in Appendix D     </a:t>
            </a:r>
            <a:fld id="{3F0FF64D-B928-404C-B8C0-94BAA80107D2}"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48242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Two models score 0.912 </a:t>
            </a:r>
            <a:r>
              <a:rPr sz="3400" b="0" i="0">
                <a:solidFill>
                  <a:srgbClr val="FFFFFF"/>
                </a:solidFill>
                <a:latin typeface="Cambria"/>
              </a:rPr>
              <a:t>±</a:t>
            </a:r>
            <a:r>
              <a:rPr sz="3400" b="0" i="0">
                <a:solidFill>
                  <a:srgbClr val="FFFFFF"/>
                </a:solidFill>
                <a:latin typeface="Segoe UI Semibold"/>
              </a:rPr>
              <a:t> 0.030 and 0.905 </a:t>
            </a:r>
            <a:r>
              <a:rPr sz="3400" b="0" i="0">
                <a:solidFill>
                  <a:srgbClr val="FFFFFF"/>
                </a:solidFill>
                <a:latin typeface="Cambria"/>
              </a:rPr>
              <a:t>±</a:t>
            </a:r>
            <a:r>
              <a:rPr sz="3400" b="0" i="0">
                <a:solidFill>
                  <a:srgbClr val="FFFFFF"/>
                </a:solidFill>
                <a:latin typeface="Segoe UI Semibold"/>
              </a:rPr>
              <a:t> 0.028 in cross-validation. Which do you choose, and on what grounds?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22  ·  The Machine Learning Project</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176  ·  answers in Appendix D     </a:t>
            </a:r>
            <a:fld id="{82A6D79C-1CA2-4ABE-8E56-9C9A05C6C115}"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Two models score 0.912 </a:t>
            </a:r>
            <a:r>
              <a:rPr sz="2400" b="0" i="0">
                <a:solidFill>
                  <a:srgbClr val="1A5276"/>
                </a:solidFill>
                <a:latin typeface="Cambria"/>
              </a:rPr>
              <a:t>±</a:t>
            </a:r>
            <a:r>
              <a:rPr sz="2400" b="0" i="0">
                <a:solidFill>
                  <a:srgbClr val="1A5276"/>
                </a:solidFill>
                <a:latin typeface="Segoe UI Semibold"/>
              </a:rPr>
              <a:t> 0.030 and 0.905 </a:t>
            </a:r>
            <a:r>
              <a:rPr sz="2400" b="0" i="0">
                <a:solidFill>
                  <a:srgbClr val="1A5276"/>
                </a:solidFill>
                <a:latin typeface="Cambria"/>
              </a:rPr>
              <a:t>±</a:t>
            </a:r>
            <a:r>
              <a:rPr sz="2400" b="0" i="0">
                <a:solidFill>
                  <a:srgbClr val="1A5276"/>
                </a:solidFill>
                <a:latin typeface="Segoe UI Semibold"/>
              </a:rPr>
              <a:t> 0.028 in cross-validation. Which do you choose, and on what grounds?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They differ by 0.007, far less than one standard deviation of either: they are indistinguishable. Choose on other grounds — simplicity, speed, explainability, fairness.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  answers in Appendix D     </a:t>
            </a:r>
            <a:fld id="{82F415E3-3254-4EFF-82FB-025FE349BCEB}"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02428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Name three things that must be recorded for an experiment to be reproducible.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22  ·  The Machine Learning Project</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176  ·  answers in Appendix D     </a:t>
            </a:r>
            <a:fld id="{11928DD0-8BC7-4E06-85CA-939B0D63B2EB}"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Name three things that must be recorded for an experiment to be reproducible.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Any three of: the random seeds; the data version and the split indices; the code version (commit); the library versions; the hyperparameters.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  answers in Appendix D     </a:t>
            </a:r>
            <a:fld id="{4E78BCD4-C005-4411-B6F8-4302CBB37373}"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56613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07E7AB22-D808-405A-BA34-3896396B5506}"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Start from a decision, and write </a:t>
            </a:r>
            <a:r>
              <a:rPr sz="2100" b="0" i="1">
                <a:solidFill>
                  <a:srgbClr val="1C252B"/>
                </a:solidFill>
                <a:latin typeface="Cambria"/>
              </a:rPr>
              <a:t>T</a:t>
            </a:r>
            <a:r>
              <a:rPr sz="2100" b="0" i="0">
                <a:solidFill>
                  <a:srgbClr val="1C252B"/>
                </a:solidFill>
                <a:latin typeface="Segoe UI"/>
              </a:rPr>
              <a:t>, </a:t>
            </a:r>
            <a:r>
              <a:rPr sz="2100" b="0" i="1">
                <a:solidFill>
                  <a:srgbClr val="1C252B"/>
                </a:solidFill>
                <a:latin typeface="Cambria"/>
              </a:rPr>
              <a:t>P</a:t>
            </a:r>
            <a:r>
              <a:rPr sz="2100" b="0" i="0">
                <a:solidFill>
                  <a:srgbClr val="1C252B"/>
                </a:solidFill>
                <a:latin typeface="Segoe UI"/>
              </a:rPr>
              <a:t>, </a:t>
            </a:r>
            <a:r>
              <a:rPr sz="2100" b="0" i="1">
                <a:solidFill>
                  <a:srgbClr val="1C252B"/>
                </a:solidFill>
                <a:latin typeface="Cambria"/>
              </a:rPr>
              <a:t>E</a:t>
            </a:r>
            <a:r>
              <a:rPr sz="2100" b="0" i="0">
                <a:solidFill>
                  <a:srgbClr val="1C252B"/>
                </a:solidFill>
                <a:latin typeface="Segoe UI"/>
              </a:rPr>
              <a:t>, a baseline and a success criterion before modelling.</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Split once; compare pipelines by cross-validation on fixed folds; log every run; fix seeds; commit code.</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Choose between near-equal models on simplicity; open the test set once; report the result with its uncertainty and beside the baseline.</a:t>
            </a:r>
          </a:p>
        </p:txBody>
      </p:sp>
      <p:sp>
        <p:nvSpPr>
          <p:cNvPr id="16" name="!!sb3">
            <a:extLst>
              <a:ext uri="{C183D7F6-B498-43B3-948B-1728B52AA6E4}">
                <adec:decorative xmlns:adec="http://schemas.microsoft.com/office/drawing/2017/decorative" val="1"/>
              </a:ext>
            </a:extLst>
          </p:cNvPr>
          <p:cNvSpPr/>
          <p:nvPr/>
        </p:nvSpPr>
        <p:spPr>
          <a:xfrm>
            <a:off x="658368" y="429219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34705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283049"/>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Error analysis, ablations and per-group results turn a score into understanding.</a:t>
            </a:r>
          </a:p>
        </p:txBody>
      </p:sp>
      <p:sp>
        <p:nvSpPr>
          <p:cNvPr id="19" name="!!sb4">
            <a:extLst>
              <a:ext uri="{C183D7F6-B498-43B3-948B-1728B52AA6E4}">
                <adec:decorative xmlns:adec="http://schemas.microsoft.com/office/drawing/2017/decorative" val="1"/>
              </a:ext>
            </a:extLst>
          </p:cNvPr>
          <p:cNvSpPr/>
          <p:nvPr/>
        </p:nvSpPr>
        <p:spPr>
          <a:xfrm>
            <a:off x="658368" y="487740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3227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68265"/>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report, the model card and the defence are part of the work, not decoration.</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83706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A44327A0-A01B-4F76-BC3B-D2585710EBB4}"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test set should be used:</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after every experiment</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once, after experiments are frozen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to choose hyperparameters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never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0798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B1E5C56E-12F4-4BBB-895C-3A9B36695D93}"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An ablation study: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removes components to measure their contribution</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adds more data</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tunes the learning rate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cleans labels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7891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4C32B1B9-990E-43EE-8673-BB01F5CAA4F0}"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most important part of a project proposal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choice of algorithm</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decision, metric and success criterion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number of features</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programming language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4984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22  ·  The Machine Learning Project</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176     </a:t>
            </a:r>
            <a:fld id="{88B43DBE-732F-4B7E-8C4B-76D2934C9198}" type="slidenum">
              <a:rPr lang="en-GB" sz="1000">
                <a:solidFill>
                  <a:srgbClr val="8795A1"/>
                </a:solidFill>
                <a:latin typeface="Segoe UI"/>
              </a:rPr>
              <a:t>44</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should an experiment log include runs that did not improve the model?</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What is error analysis, and what can it reveal that a single metric cannot?</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the worked example chose logistic regression over the random forest.</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Write the one-page proposal for a project in a domain of your choice, using the template of this chapter.</a:t>
            </a:r>
          </a:p>
        </p:txBody>
      </p:sp>
      <p:sp>
        <p:nvSpPr>
          <p:cNvPr id="19" name="!!rt4">
            <a:extLst>
              <a:ext uri="{C183D7F6-B498-43B3-948B-1728B52AA6E4}">
                <adec:decorative xmlns:adec="http://schemas.microsoft.com/office/drawing/2017/decorative" val="1"/>
              </a:ext>
            </a:extLst>
          </p:cNvPr>
          <p:cNvSpPr/>
          <p:nvPr/>
        </p:nvSpPr>
        <p:spPr>
          <a:xfrm>
            <a:off x="658368" y="413918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18033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120895"/>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worked example’s test result (51 of 53 malignant cases caught), compute a 95% confidence interval for the recall and discuss what it means for the claim “the model catches 96% of cancers”.</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2076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B681A"/>
                </a:solidFill>
                <a:latin typeface="Segoe UI Black"/>
              </a:rPr>
              <a:t>22</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the course</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THE COURSE</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22 chapters  ·  six parts  ·  four lenses  ·  one project</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22, pages 169–176</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Backpropagation from scratch</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Project set; proposal due</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22  ·  The Machine Learning Project</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38693C07-8930-48B0-82E0-85EFE3CC25A6}" type="slidenum">
              <a:rPr lang="en-GB" sz="1000">
                <a:solidFill>
                  <a:srgbClr val="D5DEE5"/>
                </a:solidFill>
                <a:latin typeface="Segoe UI"/>
              </a:rPr>
              <a:t>45</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22: The Machine Learning Project</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