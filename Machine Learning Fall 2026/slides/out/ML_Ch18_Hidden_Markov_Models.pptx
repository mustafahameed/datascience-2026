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5.svg" ContentType="image/svg+xml"/>
  <Override PartName="/ppt/media/image17.svg" ContentType="image/svg+xml"/>
  <Override PartName="/ppt/media/image18.svg" ContentType="image/svg+xml"/>
  <Override PartName="/ppt/media/image20.svg" ContentType="image/svg+xml"/>
  <Override PartName="/ppt/media/image22.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2.svg" ContentType="image/svg+xml"/>
  <Override PartName="/ppt/media/image43.svg" ContentType="image/svg+xml"/>
  <Override PartName="/ppt/media/image45.svg" ContentType="image/svg+xml"/>
  <Override PartName="/ppt/media/image46.svg" ContentType="image/svg+xml"/>
  <Override PartName="/ppt/media/image48.svg" ContentType="image/svg+xml"/>
  <Override PartName="/ppt/media/image50.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1.svg" ContentType="image/svg+xml"/>
  <Override PartName="/ppt/media/image63.svg" ContentType="image/svg+xml"/>
  <Override PartName="/ppt/media/image64.svg" ContentType="image/svg+xml"/>
  <Override PartName="/ppt/media/image65.svg" ContentType="image/svg+xml"/>
  <Override PartName="/ppt/media/image66.svg" ContentType="image/svg+xml"/>
  <Override PartName="/ppt/media/image67.svg" ContentType="image/svg+xml"/>
  <Override PartName="/ppt/media/image69.svg" ContentType="image/svg+xml"/>
  <Override PartName="/ppt/media/image71.svg" ContentType="image/svg+xml"/>
  <Override PartName="/ppt/media/image72.svg" ContentType="image/svg+xml"/>
  <Override PartName="/ppt/media/image73.svg" ContentType="image/svg+xml"/>
  <Override PartName="/ppt/media/image74.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E6B2563-2BC1-45CA-8F08-CEC1ED6F16EE}">
          <p14:sldIdLst>
            <p14:sldId id="256"/>
            <p14:sldId id="257"/>
            <p14:sldId id="258"/>
            <p14:sldId id="259"/>
            <p14:sldId id="260"/>
          </p14:sldIdLst>
        </p14:section>
        <p14:section name="18.1 When Order Matters" id="{AC0C86B4-0A28-4904-9C40-ADEB68219312}">
          <p14:sldIdLst>
            <p14:sldId id="261"/>
          </p14:sldIdLst>
        </p14:section>
        <p14:section name="18.2 Markov Chains" id="{B3D7BA17-1B6C-4E54-B932-4C8554443D76}">
          <p14:sldIdLst>
            <p14:sldId id="262"/>
            <p14:sldId id="263"/>
          </p14:sldIdLst>
        </p14:section>
        <p14:section name="18.3 Hidden Markov Models" id="{4A0A5137-A358-4631-AA06-F42803EFAC55}">
          <p14:sldIdLst>
            <p14:sldId id="264"/>
            <p14:sldId id="265"/>
            <p14:sldId id="266"/>
            <p14:sldId id="267"/>
          </p14:sldIdLst>
        </p14:section>
        <p14:section name="18.4 Evaluation: The Forward Algorithm" id="{EC20DFC1-BFD2-4F79-9614-E78EED4EF608}">
          <p14:sldIdLst>
            <p14:sldId id="268"/>
            <p14:sldId id="269"/>
            <p14:sldId id="270"/>
            <p14:sldId id="271"/>
          </p14:sldIdLst>
        </p14:section>
        <p14:section name="18.5 Decoding: The Viterbi Algorithm" id="{DB2127D8-5B21-45DD-8D41-C71ADA57C795}">
          <p14:sldIdLst>
            <p14:sldId id="272"/>
            <p14:sldId id="273"/>
            <p14:sldId id="274"/>
            <p14:sldId id="275"/>
          </p14:sldIdLst>
        </p14:section>
        <p14:section name="18.6 Learning: Baum–Welch" id="{97CF7C0F-F20C-4103-BD47-2A3CA7B8BF40}">
          <p14:sldIdLst>
            <p14:sldId id="276"/>
          </p14:sldIdLst>
        </p14:section>
        <p14:section name="18.7 Monte Carlo Estimation" id="{E23F1577-73F4-47D0-BDC7-AA870049698A}">
          <p14:sldIdLst>
            <p14:sldId id="277"/>
            <p14:sldId id="278"/>
            <p14:sldId id="279"/>
          </p14:sldIdLst>
        </p14:section>
        <p14:section name="Pitfalls" id="{90AADA75-56D1-4B53-A275-C373BF238AA1}">
          <p14:sldIdLst>
            <p14:sldId id="280"/>
          </p14:sldIdLst>
        </p14:section>
        <p14:section name="Lab" id="{CC521FC2-DB8F-4540-8B9F-E9DD53C2DCFA}">
          <p14:sldIdLst>
            <p14:sldId id="281"/>
            <p14:sldId id="282"/>
            <p14:sldId id="283"/>
            <p14:sldId id="284"/>
            <p14:sldId id="285"/>
            <p14:sldId id="286"/>
            <p14:sldId id="287"/>
            <p14:sldId id="288"/>
          </p14:sldIdLst>
        </p14:section>
        <p14:section name="Checkpoint" id="{9378C919-A8AF-4788-9813-0F05634E1F05}">
          <p14:sldIdLst>
            <p14:sldId id="289"/>
            <p14:sldId id="290"/>
            <p14:sldId id="291"/>
            <p14:sldId id="292"/>
            <p14:sldId id="293"/>
            <p14:sldId id="294"/>
          </p14:sldIdLst>
        </p14:section>
        <p14:section name="Wrap-up" id="{CEAC0BFB-1B48-45CC-9726-67813E84EB1F}">
          <p14:sldIdLst>
            <p14:sldId id="295"/>
            <p14:sldId id="296"/>
            <p14:sldId id="297"/>
            <p14:sldId id="298"/>
            <p14:sldId id="299"/>
            <p14:sldId id="30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18: Hidden Markov Models. Part 5 — Sequences, Decisions and Reinforcement. Week 14: Semi-supervised learning and EM; hidden Markov models. Handout pages 134–140.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2 (conditional probability), Chapter 10 (Bayes’ theorem, posteriors) and Chapter 17 (the EM algorithm, which trains HMMs). The HEC outline lists HMMs under reinforcement learning; they belong here, at the start of Part V, because the Markov machinery they introduce is what Markov decision processes (Chapter 19) build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sequence; Markov property; Markov chain; transition matrix; stationary distribution; hidden state; observation (emission); initial distribution π; emission matrix; evaluation, decoding and learning problems; forward algorithm; Viterbi algorithm; backpointer; Baum–Welch; Monte Carlo estimation.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project is either Healthy (H) or Distressed (D). From one week to the next a healthy project stays healthy with probability 0.8 and slips into distress with probability 0.2; a distressed one recovers with probability 0.3 and stays distressed with 0.7: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it is healthy now, the probability it is distressed in two weeks sums over the two routes: H→H→D = 0.8 × 0.2 = 0.16 and H→D→D = 0.2 × 0.7 = 0.14, total 0.30 — which is the entry of A2 in row H, column D. Run long enough, the chain forgets where it started and settles into a stationary distribution: here 60% healthy, 40% distressed (check: 0.6 × 0.2 = 0.4 × 0.3, so the flows between the states balance). In practice a project’s true state is not visible. What the project office sees is the weekly status report, which depends on the state but only probabilistically: a healthy project usually reports on plan, a distressed one usually behind or blocked, but either can produce any report. The states are hidden; the observations are what is recorded.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18.1 (handout p. 135): The hidden Markov model used throughout this chapter. The project office never sees the state, only a weekly status report whose probabilities depend on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 way to find P(o1, …, oT) sums over every possible hidden-state sequence — NT of them, which for 2 states and 100 time steps is 2100. The forward algorithm avoids the explosion by reusing partial sums.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Viterbi has the same structure as the forward algorithm with one change: replace the sum over incoming paths by a maximum, and remember which predecessor gave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18.2 (handout p. 137): The Viterbi trellis for the worked example. Every hidden-state sequence is a path through the trellis; Viterbi keeps only the best path into each node.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a completely different way to answer the evaluation question: simulate. Generate many sequences from the model and count how often the observed one appears.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three observations the forward algorithm is exact and instant, and simulation is pointless: with 1,000 samples the lab’s estimate is 0.025, with 10,000 it is 0.032, and with 100,000 it is 0.0296, finally matching. Monte Carlo earns its place when no exact algorithm exists — models too complex to sum over, or, as in Chapter 20, an environment whose probabilities are unknown and can only be experienced. There, averaging the outcomes of many trials is the only estimate available, and it is the foundation of Monte Carlo reinforcement learning.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The worked example: a project, Healthy (0) or Distressed (1).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The worked example: a project, Healthy (0) or Distressed (1)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Monte Carlo: estimate the same probability by sampling.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Baum-Welch (EM): relearn A and B from one long sampled sequence.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Baum-Welch (EM): relearn A and B from one long sampled sequence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Baum-Welch (EM): relearn A and B from one long sampled sequence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D→H→H = 0.3 × 0.8 = 0.24; D→D→H = 0.7 × 0.3 = 0.21; total 0.45.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αt(i) is the probability of the observations up to t and being in state i, summed over every path; δt(i) is the probability of the single best path ending in i — a maximum instead of a sum.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There are NT state sequences, exponentially many. The forward algorithm stores αt for each state and reuses it at the next step, which costs N2 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19 — Markov Decision Processes. READ: Handout Chapter 18, pages 134–140. THIS WEEK'S LAB: EM by hand; forward, Viterbi, Baum–Welch. ASSESSMENT: Project experiments frozen.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9.xml"/><Relationship Id="rId8" Type="http://schemas.openxmlformats.org/officeDocument/2006/relationships/slide" Target="slide13.xml"/><Relationship Id="rId9" Type="http://schemas.openxmlformats.org/officeDocument/2006/relationships/slide" Target="slide17.xml"/><Relationship Id="rId10" Type="http://schemas.openxmlformats.org/officeDocument/2006/relationships/slide" Target="slide21.xml"/><Relationship Id="rId11" Type="http://schemas.openxmlformats.org/officeDocument/2006/relationships/slide" Target="slide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5.svg"/><Relationship Id="rId4" Type="http://schemas.openxmlformats.org/officeDocument/2006/relationships/image" Target="../media/image16.png"/><Relationship Id="rId5" Type="http://schemas.openxmlformats.org/officeDocument/2006/relationships/image" Target="../media/image17.sv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8.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3.svg"/><Relationship Id="rId4" Type="http://schemas.openxmlformats.org/officeDocument/2006/relationships/image" Target="../media/image24.png"/><Relationship Id="rId5" Type="http://schemas.openxmlformats.org/officeDocument/2006/relationships/image" Target="../media/image25.svg"/><Relationship Id="rId6" Type="http://schemas.openxmlformats.org/officeDocument/2006/relationships/image" Target="../media/image26.png"/><Relationship Id="rId7" Type="http://schemas.openxmlformats.org/officeDocument/2006/relationships/image" Target="../media/image27.sv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29.svg"/><Relationship Id="rId4" Type="http://schemas.openxmlformats.org/officeDocument/2006/relationships/image" Target="../media/image30.png"/><Relationship Id="rId5" Type="http://schemas.openxmlformats.org/officeDocument/2006/relationships/image" Target="../media/image31.svg"/><Relationship Id="rId6" Type="http://schemas.openxmlformats.org/officeDocument/2006/relationships/image" Target="../media/image32.png"/><Relationship Id="rId7" Type="http://schemas.openxmlformats.org/officeDocument/2006/relationships/image" Target="../media/image33.svg"/><Relationship Id="rId8" Type="http://schemas.openxmlformats.org/officeDocument/2006/relationships/image" Target="../media/image34.png"/><Relationship Id="rId9" Type="http://schemas.openxmlformats.org/officeDocument/2006/relationships/image" Target="../media/image35.svg"/><Relationship Id="rId10" Type="http://schemas.openxmlformats.org/officeDocument/2006/relationships/image" Target="../media/image36.png"/><Relationship Id="rId11" Type="http://schemas.openxmlformats.org/officeDocument/2006/relationships/image" Target="../media/image37.sv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8.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39.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40.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2.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43.svg"/><Relationship Id="rId4" Type="http://schemas.openxmlformats.org/officeDocument/2006/relationships/image" Target="../media/image44.png"/><Relationship Id="rId5" Type="http://schemas.openxmlformats.org/officeDocument/2006/relationships/image" Target="../media/image45.sv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46.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48.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0.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2.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3.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4.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5.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6.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7.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8.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9.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0.png"/><Relationship Id="rId3" Type="http://schemas.openxmlformats.org/officeDocument/2006/relationships/image" Target="../media/image61.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3.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0.png"/><Relationship Id="rId3" Type="http://schemas.openxmlformats.org/officeDocument/2006/relationships/image" Target="../media/image64.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5.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0.png"/><Relationship Id="rId3" Type="http://schemas.openxmlformats.org/officeDocument/2006/relationships/image" Target="../media/image66.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7.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69.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0.png"/><Relationship Id="rId3" Type="http://schemas.openxmlformats.org/officeDocument/2006/relationships/image" Target="../media/image71.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0.png"/><Relationship Id="rId3" Type="http://schemas.openxmlformats.org/officeDocument/2006/relationships/image" Target="../media/image72.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0.png"/><Relationship Id="rId3" Type="http://schemas.openxmlformats.org/officeDocument/2006/relationships/image" Target="../media/image73.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0.png"/><Relationship Id="rId3" Type="http://schemas.openxmlformats.org/officeDocument/2006/relationships/image" Target="../media/image74.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796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88674"/>
                </a:solidFill>
                <a:latin typeface="Segoe UI Black"/>
              </a:rPr>
              <a:t>18</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Hidden Markov Models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CD9D4"/>
                </a:solidFill>
                <a:latin typeface="Segoe UI"/>
              </a:rPr>
              <a:t>PART V  ·  SEQUENCES, DECISIONS AND REINFORCEMENT</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CD9D4"/>
                </a:solidFill>
                <a:latin typeface="Segoe UI"/>
              </a:rPr>
              <a:t>CHAPTER 18  ·  WEEK 14</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CFE4E0"/>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0C57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3BFB9"/>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BD0CC"/>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3BFB9"/>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134     </a:t>
            </a:r>
            <a:fld id="{B46EA08C-31E9-4E06-84CC-10B7938CE357}"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602092"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602092"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333571"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333571"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8991918" y="1755648"/>
            <a:ext cx="132916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8991918" y="2029967"/>
            <a:ext cx="1329163" cy="4572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58416"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8669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05178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49603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46131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3698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5870842"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57794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28036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18892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6689895"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59845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37374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2823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7783268"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69182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192795"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10135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8885785" y="2112264"/>
            <a:ext cx="566928" cy="566928"/>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8885785"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5681167"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07964"/>
                </a:solidFill>
                <a:latin typeface="Segoe UI"/>
              </a:rPr>
              <a:t>Hidden Markov Models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Mathematics for Machine Learning</a:t>
            </a:r>
          </a:p>
        </p:txBody>
      </p:sp>
      <p:sp>
        <p:nvSpPr>
          <p:cNvPr id="68" name="!!chipBU10">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10">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10"/>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10  </a:t>
            </a:r>
            <a:r>
              <a:rPr sz="1400" b="0" i="0">
                <a:solidFill>
                  <a:srgbClr val="1C252B"/>
                </a:solidFill>
                <a:latin typeface="Segoe UI"/>
              </a:rPr>
              <a:t>Bayesian Learning and Naive Bayes</a:t>
            </a:r>
          </a:p>
        </p:txBody>
      </p:sp>
      <p:sp>
        <p:nvSpPr>
          <p:cNvPr id="71" name="!!chipBU17">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17">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17"/>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17  </a:t>
            </a:r>
            <a:r>
              <a:rPr sz="1400" b="0" i="0">
                <a:solidFill>
                  <a:srgbClr val="1C252B"/>
                </a:solidFill>
                <a:latin typeface="Segoe UI"/>
              </a:rPr>
              <a:t>Semi-Supervised Learning and the EM Algorithm</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19">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19">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19"/>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19  </a:t>
            </a:r>
            <a:r>
              <a:rPr sz="1400" b="0" i="0">
                <a:solidFill>
                  <a:srgbClr val="1C252B"/>
                </a:solidFill>
                <a:latin typeface="Segoe UI"/>
              </a:rPr>
              <a:t>Markov Decision Processes</a:t>
            </a:r>
          </a:p>
        </p:txBody>
      </p:sp>
      <p:sp>
        <p:nvSpPr>
          <p:cNvPr id="78" name="!!chipUS20">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20">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20"/>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20  </a:t>
            </a:r>
            <a:r>
              <a:rPr sz="1400" b="0" i="0">
                <a:solidFill>
                  <a:srgbClr val="1C252B"/>
                </a:solidFill>
                <a:latin typeface="Segoe UI"/>
              </a:rPr>
              <a:t>Reinforcement Learning</a:t>
            </a:r>
          </a:p>
        </p:txBody>
      </p:sp>
      <p:sp>
        <p:nvSpPr>
          <p:cNvPr id="8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pfill">
            <a:extLst>
              <a:ext uri="{C183D7F6-B498-43B3-948B-1728B52AA6E4}">
                <adec:decorative xmlns:adec="http://schemas.microsoft.com/office/drawing/2017/decorative" val="1"/>
              </a:ext>
            </a:extLst>
          </p:cNvPr>
          <p:cNvSpPr/>
          <p:nvPr/>
        </p:nvSpPr>
        <p:spPr>
          <a:xfrm>
            <a:off x="0" y="0"/>
            <a:ext cx="54185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134     </a:t>
            </a:r>
            <a:fld id="{3500D46F-B802-4359-8A3A-B9DBD80C19E3}"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63140"/>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State</a:t>
            </a:r>
            <a:r>
              <a:rPr sz="2100" b="0" i="0">
                <a:solidFill>
                  <a:srgbClr val="1C252B"/>
                </a:solidFill>
                <a:latin typeface="Segoe UI"/>
              </a:rPr>
              <a:t> the Markov property, and </a:t>
            </a:r>
            <a:r>
              <a:rPr sz="2100" b="1" i="0">
                <a:solidFill>
                  <a:srgbClr val="1C252B"/>
                </a:solidFill>
                <a:latin typeface="Segoe UI"/>
              </a:rPr>
              <a:t>compute</a:t>
            </a:r>
            <a:r>
              <a:rPr sz="2100" b="0" i="0">
                <a:solidFill>
                  <a:srgbClr val="1C252B"/>
                </a:solidFill>
                <a:latin typeface="Segoe UI"/>
              </a:rPr>
              <a:t> with a Markov chain’s transition matrix.</a:t>
            </a:r>
          </a:p>
        </p:txBody>
      </p:sp>
      <p:sp>
        <p:nvSpPr>
          <p:cNvPr id="11" name="!!ob1">
            <a:extLst>
              <a:ext uri="{C183D7F6-B498-43B3-948B-1728B52AA6E4}">
                <adec:decorative xmlns:adec="http://schemas.microsoft.com/office/drawing/2017/decorative" val="1"/>
              </a:ext>
            </a:extLst>
          </p:cNvPr>
          <p:cNvSpPr/>
          <p:nvPr/>
        </p:nvSpPr>
        <p:spPr>
          <a:xfrm>
            <a:off x="658368" y="2825496"/>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288493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2816352"/>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Specify</a:t>
            </a:r>
            <a:r>
              <a:rPr sz="2100" b="0" i="0">
                <a:solidFill>
                  <a:srgbClr val="1C252B"/>
                </a:solidFill>
                <a:latin typeface="Segoe UI"/>
              </a:rPr>
              <a:t> a hidden Markov model by its states, observations, initial, transition and emission probabilities.</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664915"/>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Compute</a:t>
            </a:r>
            <a:r>
              <a:rPr sz="2100" b="0" i="0">
                <a:solidFill>
                  <a:srgbClr val="1C252B"/>
                </a:solidFill>
                <a:latin typeface="Segoe UI"/>
              </a:rPr>
              <a:t> the probability of an observation sequence with the forward algorithm, by hand.</a:t>
            </a:r>
          </a:p>
        </p:txBody>
      </p:sp>
      <p:sp>
        <p:nvSpPr>
          <p:cNvPr id="17" name="!!ob3">
            <a:extLst>
              <a:ext uri="{C183D7F6-B498-43B3-948B-1728B52AA6E4}">
                <adec:decorative xmlns:adec="http://schemas.microsoft.com/office/drawing/2017/decorative" val="1"/>
              </a:ext>
            </a:extLst>
          </p:cNvPr>
          <p:cNvSpPr/>
          <p:nvPr/>
        </p:nvSpPr>
        <p:spPr>
          <a:xfrm>
            <a:off x="658368" y="4522622"/>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58205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563770"/>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Find</a:t>
            </a:r>
            <a:r>
              <a:rPr sz="2100" b="0" i="0">
                <a:solidFill>
                  <a:srgbClr val="1C252B"/>
                </a:solidFill>
                <a:latin typeface="Segoe UI"/>
              </a:rPr>
              <a:t> the most likely hidden-state sequence with the Viterbi algorithm, by hand.</a:t>
            </a:r>
          </a:p>
        </p:txBody>
      </p:sp>
      <p:sp>
        <p:nvSpPr>
          <p:cNvPr id="20" name="!!ob4">
            <a:extLst>
              <a:ext uri="{C183D7F6-B498-43B3-948B-1728B52AA6E4}">
                <adec:decorative xmlns:adec="http://schemas.microsoft.com/office/drawing/2017/decorative" val="1"/>
              </a:ext>
            </a:extLst>
          </p:cNvPr>
          <p:cNvSpPr/>
          <p:nvPr/>
        </p:nvSpPr>
        <p:spPr>
          <a:xfrm>
            <a:off x="658368" y="5126126"/>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18556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116982"/>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Explain</a:t>
            </a:r>
            <a:r>
              <a:rPr sz="2100" b="0" i="0">
                <a:solidFill>
                  <a:srgbClr val="1C252B"/>
                </a:solidFill>
                <a:latin typeface="Segoe UI"/>
              </a:rPr>
              <a:t> how Baum–Welch learns an HMM’s parameters, and </a:t>
            </a:r>
            <a:r>
              <a:rPr sz="2100" b="1" i="0">
                <a:solidFill>
                  <a:srgbClr val="1C252B"/>
                </a:solidFill>
                <a:latin typeface="Segoe UI"/>
              </a:rPr>
              <a:t>estimate</a:t>
            </a:r>
            <a:r>
              <a:rPr sz="2100" b="0" i="0">
                <a:solidFill>
                  <a:srgbClr val="1C252B"/>
                </a:solidFill>
                <a:latin typeface="Segoe UI"/>
              </a:rPr>
              <a:t> a probability by Monte Carlo sampling.</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1277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134     </a:t>
            </a:r>
            <a:fld id="{F153E727-5DC8-47F5-9477-9A6CD6ACED3D}" type="slidenum">
              <a:rPr lang="en-GB" sz="1000">
                <a:solidFill>
                  <a:srgbClr val="8795A1"/>
                </a:solidFill>
                <a:latin typeface="Segoe UI"/>
              </a:rPr>
              <a:t>4</a:t>
            </a:fld>
          </a:p>
        </p:txBody>
      </p:sp>
      <p:sp>
        <p:nvSpPr>
          <p:cNvPr id="7" name="!!term-sequence">
            <a:extLst>
              <a:ext uri="{C183D7F6-B498-43B3-948B-1728B52AA6E4}">
                <adec:decorative xmlns:adec="http://schemas.microsoft.com/office/drawing/2017/decorative" val="1"/>
              </a:ext>
            </a:extLst>
          </p:cNvPr>
          <p:cNvSpPr/>
          <p:nvPr/>
        </p:nvSpPr>
        <p:spPr>
          <a:xfrm>
            <a:off x="658368" y="1847088"/>
            <a:ext cx="130444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sequence">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sequence"/>
          <p:cNvSpPr txBox="1"/>
          <p:nvPr/>
        </p:nvSpPr>
        <p:spPr>
          <a:xfrm>
            <a:off x="950976" y="1962911"/>
            <a:ext cx="112156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sequence</a:t>
            </a:r>
          </a:p>
        </p:txBody>
      </p:sp>
      <p:sp>
        <p:nvSpPr>
          <p:cNvPr id="10" name="!!term-Markov propert">
            <a:extLst>
              <a:ext uri="{C183D7F6-B498-43B3-948B-1728B52AA6E4}">
                <adec:decorative xmlns:adec="http://schemas.microsoft.com/office/drawing/2017/decorative" val="1"/>
              </a:ext>
            </a:extLst>
          </p:cNvPr>
          <p:cNvSpPr/>
          <p:nvPr/>
        </p:nvSpPr>
        <p:spPr>
          <a:xfrm>
            <a:off x="2109118" y="1847088"/>
            <a:ext cx="197161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Markov propert">
            <a:extLst>
              <a:ext uri="{C183D7F6-B498-43B3-948B-1728B52AA6E4}">
                <adec:decorative xmlns:adec="http://schemas.microsoft.com/office/drawing/2017/decorative" val="1"/>
              </a:ext>
            </a:extLst>
          </p:cNvPr>
          <p:cNvSpPr/>
          <p:nvPr/>
        </p:nvSpPr>
        <p:spPr>
          <a:xfrm>
            <a:off x="223713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Markov propert"/>
          <p:cNvSpPr txBox="1"/>
          <p:nvPr/>
        </p:nvSpPr>
        <p:spPr>
          <a:xfrm>
            <a:off x="2401726" y="1962911"/>
            <a:ext cx="178873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Markov property</a:t>
            </a:r>
          </a:p>
        </p:txBody>
      </p:sp>
      <p:sp>
        <p:nvSpPr>
          <p:cNvPr id="13" name="!!term-Markov chain">
            <a:extLst>
              <a:ext uri="{C183D7F6-B498-43B3-948B-1728B52AA6E4}">
                <adec:decorative xmlns:adec="http://schemas.microsoft.com/office/drawing/2017/decorative" val="1"/>
              </a:ext>
            </a:extLst>
          </p:cNvPr>
          <p:cNvSpPr/>
          <p:nvPr/>
        </p:nvSpPr>
        <p:spPr>
          <a:xfrm>
            <a:off x="4227038" y="1847088"/>
            <a:ext cx="166916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Markov chain">
            <a:extLst>
              <a:ext uri="{C183D7F6-B498-43B3-948B-1728B52AA6E4}">
                <adec:decorative xmlns:adec="http://schemas.microsoft.com/office/drawing/2017/decorative" val="1"/>
              </a:ext>
            </a:extLst>
          </p:cNvPr>
          <p:cNvSpPr/>
          <p:nvPr/>
        </p:nvSpPr>
        <p:spPr>
          <a:xfrm>
            <a:off x="435505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Markov chain"/>
          <p:cNvSpPr txBox="1"/>
          <p:nvPr/>
        </p:nvSpPr>
        <p:spPr>
          <a:xfrm>
            <a:off x="4519646" y="1962911"/>
            <a:ext cx="148628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Markov chain</a:t>
            </a:r>
          </a:p>
        </p:txBody>
      </p:sp>
      <p:sp>
        <p:nvSpPr>
          <p:cNvPr id="16" name="!!term-transition mat">
            <a:extLst>
              <a:ext uri="{C183D7F6-B498-43B3-948B-1728B52AA6E4}">
                <adec:decorative xmlns:adec="http://schemas.microsoft.com/office/drawing/2017/decorative" val="1"/>
              </a:ext>
            </a:extLst>
          </p:cNvPr>
          <p:cNvSpPr/>
          <p:nvPr/>
        </p:nvSpPr>
        <p:spPr>
          <a:xfrm>
            <a:off x="6042509" y="1847088"/>
            <a:ext cx="192976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transition mat">
            <a:extLst>
              <a:ext uri="{C183D7F6-B498-43B3-948B-1728B52AA6E4}">
                <adec:decorative xmlns:adec="http://schemas.microsoft.com/office/drawing/2017/decorative" val="1"/>
              </a:ext>
            </a:extLst>
          </p:cNvPr>
          <p:cNvSpPr/>
          <p:nvPr/>
        </p:nvSpPr>
        <p:spPr>
          <a:xfrm>
            <a:off x="617052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transition mat"/>
          <p:cNvSpPr txBox="1"/>
          <p:nvPr/>
        </p:nvSpPr>
        <p:spPr>
          <a:xfrm>
            <a:off x="6335117" y="1962911"/>
            <a:ext cx="174688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transition matrix</a:t>
            </a:r>
          </a:p>
        </p:txBody>
      </p:sp>
      <p:sp>
        <p:nvSpPr>
          <p:cNvPr id="19" name="!!term-stationary dis">
            <a:extLst>
              <a:ext uri="{C183D7F6-B498-43B3-948B-1728B52AA6E4}">
                <adec:decorative xmlns:adec="http://schemas.microsoft.com/office/drawing/2017/decorative" val="1"/>
              </a:ext>
            </a:extLst>
          </p:cNvPr>
          <p:cNvSpPr/>
          <p:nvPr/>
        </p:nvSpPr>
        <p:spPr>
          <a:xfrm>
            <a:off x="8118575" y="1847088"/>
            <a:ext cx="244763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stationary dis">
            <a:extLst>
              <a:ext uri="{C183D7F6-B498-43B3-948B-1728B52AA6E4}">
                <adec:decorative xmlns:adec="http://schemas.microsoft.com/office/drawing/2017/decorative" val="1"/>
              </a:ext>
            </a:extLst>
          </p:cNvPr>
          <p:cNvSpPr/>
          <p:nvPr/>
        </p:nvSpPr>
        <p:spPr>
          <a:xfrm>
            <a:off x="824659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stationary dis"/>
          <p:cNvSpPr txBox="1"/>
          <p:nvPr/>
        </p:nvSpPr>
        <p:spPr>
          <a:xfrm>
            <a:off x="8411183" y="1962911"/>
            <a:ext cx="226475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stationary distribution</a:t>
            </a:r>
          </a:p>
        </p:txBody>
      </p:sp>
      <p:sp>
        <p:nvSpPr>
          <p:cNvPr id="22" name="!!term-hidden state">
            <a:extLst>
              <a:ext uri="{C183D7F6-B498-43B3-948B-1728B52AA6E4}">
                <adec:decorative xmlns:adec="http://schemas.microsoft.com/office/drawing/2017/decorative" val="1"/>
              </a:ext>
            </a:extLst>
          </p:cNvPr>
          <p:cNvSpPr/>
          <p:nvPr/>
        </p:nvSpPr>
        <p:spPr>
          <a:xfrm>
            <a:off x="658368" y="2468880"/>
            <a:ext cx="157531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hidden state">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hidden state"/>
          <p:cNvSpPr txBox="1"/>
          <p:nvPr/>
        </p:nvSpPr>
        <p:spPr>
          <a:xfrm>
            <a:off x="950976" y="2584704"/>
            <a:ext cx="139243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hidden state</a:t>
            </a:r>
          </a:p>
        </p:txBody>
      </p:sp>
      <p:sp>
        <p:nvSpPr>
          <p:cNvPr id="25" name="!!term-observation (e">
            <a:extLst>
              <a:ext uri="{C183D7F6-B498-43B3-948B-1728B52AA6E4}">
                <adec:decorative xmlns:adec="http://schemas.microsoft.com/office/drawing/2017/decorative" val="1"/>
              </a:ext>
            </a:extLst>
          </p:cNvPr>
          <p:cNvSpPr/>
          <p:nvPr/>
        </p:nvSpPr>
        <p:spPr>
          <a:xfrm>
            <a:off x="2379986" y="2468880"/>
            <a:ext cx="249835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observation (e">
            <a:extLst>
              <a:ext uri="{C183D7F6-B498-43B3-948B-1728B52AA6E4}">
                <adec:decorative xmlns:adec="http://schemas.microsoft.com/office/drawing/2017/decorative" val="1"/>
              </a:ext>
            </a:extLst>
          </p:cNvPr>
          <p:cNvSpPr/>
          <p:nvPr/>
        </p:nvSpPr>
        <p:spPr>
          <a:xfrm>
            <a:off x="2508002"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observation (e"/>
          <p:cNvSpPr txBox="1"/>
          <p:nvPr/>
        </p:nvSpPr>
        <p:spPr>
          <a:xfrm>
            <a:off x="2672594" y="2584704"/>
            <a:ext cx="231547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observation (emission)</a:t>
            </a:r>
          </a:p>
        </p:txBody>
      </p:sp>
      <p:sp>
        <p:nvSpPr>
          <p:cNvPr id="28" name="!!term-initial distri">
            <a:extLst>
              <a:ext uri="{C183D7F6-B498-43B3-948B-1728B52AA6E4}">
                <adec:decorative xmlns:adec="http://schemas.microsoft.com/office/drawing/2017/decorative" val="1"/>
              </a:ext>
            </a:extLst>
          </p:cNvPr>
          <p:cNvSpPr/>
          <p:nvPr/>
        </p:nvSpPr>
        <p:spPr>
          <a:xfrm>
            <a:off x="5024648" y="2468880"/>
            <a:ext cx="222718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initial distri">
            <a:extLst>
              <a:ext uri="{C183D7F6-B498-43B3-948B-1728B52AA6E4}">
                <adec:decorative xmlns:adec="http://schemas.microsoft.com/office/drawing/2017/decorative" val="1"/>
              </a:ext>
            </a:extLst>
          </p:cNvPr>
          <p:cNvSpPr/>
          <p:nvPr/>
        </p:nvSpPr>
        <p:spPr>
          <a:xfrm>
            <a:off x="515266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initial distri"/>
          <p:cNvSpPr txBox="1"/>
          <p:nvPr/>
        </p:nvSpPr>
        <p:spPr>
          <a:xfrm>
            <a:off x="5317256" y="2584704"/>
            <a:ext cx="204430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initial distribution π</a:t>
            </a:r>
          </a:p>
        </p:txBody>
      </p:sp>
      <p:sp>
        <p:nvSpPr>
          <p:cNvPr id="31" name="!!term-emission matri">
            <a:extLst>
              <a:ext uri="{C183D7F6-B498-43B3-948B-1728B52AA6E4}">
                <adec:decorative xmlns:adec="http://schemas.microsoft.com/office/drawing/2017/decorative" val="1"/>
              </a:ext>
            </a:extLst>
          </p:cNvPr>
          <p:cNvSpPr/>
          <p:nvPr/>
        </p:nvSpPr>
        <p:spPr>
          <a:xfrm>
            <a:off x="7398138" y="2468880"/>
            <a:ext cx="186903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emission matri">
            <a:extLst>
              <a:ext uri="{C183D7F6-B498-43B3-948B-1728B52AA6E4}">
                <adec:decorative xmlns:adec="http://schemas.microsoft.com/office/drawing/2017/decorative" val="1"/>
              </a:ext>
            </a:extLst>
          </p:cNvPr>
          <p:cNvSpPr/>
          <p:nvPr/>
        </p:nvSpPr>
        <p:spPr>
          <a:xfrm>
            <a:off x="752615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emission matri"/>
          <p:cNvSpPr txBox="1"/>
          <p:nvPr/>
        </p:nvSpPr>
        <p:spPr>
          <a:xfrm>
            <a:off x="7690746" y="2584704"/>
            <a:ext cx="168615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emission matrix</a:t>
            </a:r>
          </a:p>
        </p:txBody>
      </p:sp>
      <p:sp>
        <p:nvSpPr>
          <p:cNvPr id="34" name="!!term-evaluation, de">
            <a:extLst>
              <a:ext uri="{C183D7F6-B498-43B3-948B-1728B52AA6E4}">
                <adec:decorative xmlns:adec="http://schemas.microsoft.com/office/drawing/2017/decorative" val="1"/>
              </a:ext>
            </a:extLst>
          </p:cNvPr>
          <p:cNvSpPr/>
          <p:nvPr/>
        </p:nvSpPr>
        <p:spPr>
          <a:xfrm>
            <a:off x="658368" y="3090672"/>
            <a:ext cx="446573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evaluation, de">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evaluation, de"/>
          <p:cNvSpPr txBox="1"/>
          <p:nvPr/>
        </p:nvSpPr>
        <p:spPr>
          <a:xfrm>
            <a:off x="950976" y="3206496"/>
            <a:ext cx="428285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evaluation, decoding and learning problems</a:t>
            </a:r>
          </a:p>
        </p:txBody>
      </p:sp>
      <p:sp>
        <p:nvSpPr>
          <p:cNvPr id="37" name="!!term-forward algori">
            <a:extLst>
              <a:ext uri="{C183D7F6-B498-43B3-948B-1728B52AA6E4}">
                <adec:decorative xmlns:adec="http://schemas.microsoft.com/office/drawing/2017/decorative" val="1"/>
              </a:ext>
            </a:extLst>
          </p:cNvPr>
          <p:cNvSpPr/>
          <p:nvPr/>
        </p:nvSpPr>
        <p:spPr>
          <a:xfrm>
            <a:off x="5270409" y="3090672"/>
            <a:ext cx="209130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forward algori">
            <a:extLst>
              <a:ext uri="{C183D7F6-B498-43B3-948B-1728B52AA6E4}">
                <adec:decorative xmlns:adec="http://schemas.microsoft.com/office/drawing/2017/decorative" val="1"/>
              </a:ext>
            </a:extLst>
          </p:cNvPr>
          <p:cNvSpPr/>
          <p:nvPr/>
        </p:nvSpPr>
        <p:spPr>
          <a:xfrm>
            <a:off x="5398425"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forward algori"/>
          <p:cNvSpPr txBox="1"/>
          <p:nvPr/>
        </p:nvSpPr>
        <p:spPr>
          <a:xfrm>
            <a:off x="5563017" y="3206496"/>
            <a:ext cx="190842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forward algorithm</a:t>
            </a:r>
          </a:p>
        </p:txBody>
      </p:sp>
      <p:sp>
        <p:nvSpPr>
          <p:cNvPr id="40" name="!!term-Viterbi algori">
            <a:extLst>
              <a:ext uri="{C183D7F6-B498-43B3-948B-1728B52AA6E4}">
                <adec:decorative xmlns:adec="http://schemas.microsoft.com/office/drawing/2017/decorative" val="1"/>
              </a:ext>
            </a:extLst>
          </p:cNvPr>
          <p:cNvSpPr/>
          <p:nvPr/>
        </p:nvSpPr>
        <p:spPr>
          <a:xfrm>
            <a:off x="7508021" y="3090672"/>
            <a:ext cx="198486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Viterbi algori">
            <a:extLst>
              <a:ext uri="{C183D7F6-B498-43B3-948B-1728B52AA6E4}">
                <adec:decorative xmlns:adec="http://schemas.microsoft.com/office/drawing/2017/decorative" val="1"/>
              </a:ext>
            </a:extLst>
          </p:cNvPr>
          <p:cNvSpPr/>
          <p:nvPr/>
        </p:nvSpPr>
        <p:spPr>
          <a:xfrm>
            <a:off x="763603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Viterbi algori"/>
          <p:cNvSpPr txBox="1"/>
          <p:nvPr/>
        </p:nvSpPr>
        <p:spPr>
          <a:xfrm>
            <a:off x="7800629" y="3206496"/>
            <a:ext cx="180198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Viterbi algorithm</a:t>
            </a:r>
          </a:p>
        </p:txBody>
      </p:sp>
      <p:sp>
        <p:nvSpPr>
          <p:cNvPr id="43" name="!!term-backpointer">
            <a:extLst>
              <a:ext uri="{C183D7F6-B498-43B3-948B-1728B52AA6E4}">
                <adec:decorative xmlns:adec="http://schemas.microsoft.com/office/drawing/2017/decorative" val="1"/>
              </a:ext>
            </a:extLst>
          </p:cNvPr>
          <p:cNvSpPr/>
          <p:nvPr/>
        </p:nvSpPr>
        <p:spPr>
          <a:xfrm>
            <a:off x="9639193" y="3090672"/>
            <a:ext cx="152656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backpointer">
            <a:extLst>
              <a:ext uri="{C183D7F6-B498-43B3-948B-1728B52AA6E4}">
                <adec:decorative xmlns:adec="http://schemas.microsoft.com/office/drawing/2017/decorative" val="1"/>
              </a:ext>
            </a:extLst>
          </p:cNvPr>
          <p:cNvSpPr/>
          <p:nvPr/>
        </p:nvSpPr>
        <p:spPr>
          <a:xfrm>
            <a:off x="976720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backpointer"/>
          <p:cNvSpPr txBox="1"/>
          <p:nvPr/>
        </p:nvSpPr>
        <p:spPr>
          <a:xfrm>
            <a:off x="9931801" y="3206496"/>
            <a:ext cx="134368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backpointer</a:t>
            </a:r>
          </a:p>
        </p:txBody>
      </p:sp>
      <p:sp>
        <p:nvSpPr>
          <p:cNvPr id="46" name="!!term-Baum–Welch">
            <a:extLst>
              <a:ext uri="{C183D7F6-B498-43B3-948B-1728B52AA6E4}">
                <adec:decorative xmlns:adec="http://schemas.microsoft.com/office/drawing/2017/decorative" val="1"/>
              </a:ext>
            </a:extLst>
          </p:cNvPr>
          <p:cNvSpPr/>
          <p:nvPr/>
        </p:nvSpPr>
        <p:spPr>
          <a:xfrm>
            <a:off x="658368" y="3712464"/>
            <a:ext cx="162770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Baum–Welch">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Baum–Welch"/>
          <p:cNvSpPr txBox="1"/>
          <p:nvPr/>
        </p:nvSpPr>
        <p:spPr>
          <a:xfrm>
            <a:off x="950976" y="3828288"/>
            <a:ext cx="144482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Baum–Welch</a:t>
            </a:r>
          </a:p>
        </p:txBody>
      </p:sp>
      <p:sp>
        <p:nvSpPr>
          <p:cNvPr id="49" name="!!term-Monte Carlo es">
            <a:extLst>
              <a:ext uri="{C183D7F6-B498-43B3-948B-1728B52AA6E4}">
                <adec:decorative xmlns:adec="http://schemas.microsoft.com/office/drawing/2017/decorative" val="1"/>
              </a:ext>
            </a:extLst>
          </p:cNvPr>
          <p:cNvSpPr/>
          <p:nvPr/>
        </p:nvSpPr>
        <p:spPr>
          <a:xfrm>
            <a:off x="2432372" y="3712464"/>
            <a:ext cx="259339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Monte Carlo es">
            <a:extLst>
              <a:ext uri="{C183D7F6-B498-43B3-948B-1728B52AA6E4}">
                <adec:decorative xmlns:adec="http://schemas.microsoft.com/office/drawing/2017/decorative" val="1"/>
              </a:ext>
            </a:extLst>
          </p:cNvPr>
          <p:cNvSpPr/>
          <p:nvPr/>
        </p:nvSpPr>
        <p:spPr>
          <a:xfrm>
            <a:off x="2560388"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Monte Carlo es"/>
          <p:cNvSpPr txBox="1"/>
          <p:nvPr/>
        </p:nvSpPr>
        <p:spPr>
          <a:xfrm>
            <a:off x="2724980" y="3828288"/>
            <a:ext cx="241051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Monte Carlo estimation</a:t>
            </a:r>
          </a:p>
        </p:txBody>
      </p:sp>
      <p:sp>
        <p:nvSpPr>
          <p:cNvPr id="52"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pfill">
            <a:extLst>
              <a:ext uri="{C183D7F6-B498-43B3-948B-1728B52AA6E4}">
                <adec:decorative xmlns:adec="http://schemas.microsoft.com/office/drawing/2017/decorative" val="1"/>
              </a:ext>
            </a:extLst>
          </p:cNvPr>
          <p:cNvSpPr/>
          <p:nvPr/>
        </p:nvSpPr>
        <p:spPr>
          <a:xfrm>
            <a:off x="0" y="0"/>
            <a:ext cx="108370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134–140     </a:t>
            </a:r>
            <a:fld id="{92C5D96A-FB71-4AC6-A9F0-2129E91B0A1D}" type="slidenum">
              <a:rPr lang="en-GB" sz="1000">
                <a:solidFill>
                  <a:srgbClr val="8795A1"/>
                </a:solidFill>
                <a:latin typeface="Segoe UI"/>
              </a:rPr>
              <a:t>5</a:t>
            </a:fld>
          </a:p>
        </p:txBody>
      </p:sp>
      <p:sp>
        <p:nvSpPr>
          <p:cNvPr id="7" name="!!ag0" descr="Go to section 18.1 When Order Matters">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18.1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When Order Matters</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134  ›</a:t>
            </a:r>
          </a:p>
        </p:txBody>
      </p:sp>
      <p:sp>
        <p:nvSpPr>
          <p:cNvPr id="12" name="!!ag1" descr="Go to section 18.2 Markov Chains">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18.2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Markov Chains</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134  ›</a:t>
            </a:r>
          </a:p>
        </p:txBody>
      </p:sp>
      <p:sp>
        <p:nvSpPr>
          <p:cNvPr id="17" name="!!ag2" descr="Go to section 18.3 Hidden Markov Models">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18.3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Hidden Markov Models</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135  ›</a:t>
            </a:r>
          </a:p>
        </p:txBody>
      </p:sp>
      <p:sp>
        <p:nvSpPr>
          <p:cNvPr id="22" name="!!ag3" descr="Go to section 18.4 Evaluation: The Forward Algorithm">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18.4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Evaluation: The Forward Algorithm</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136  ›</a:t>
            </a:r>
          </a:p>
        </p:txBody>
      </p:sp>
      <p:sp>
        <p:nvSpPr>
          <p:cNvPr id="27" name="!!ag4" descr="Go to section 18.5 Decoding: The Viterbi Algorithm">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18.5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Decoding: The Viterbi Algorithm</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136  ›</a:t>
            </a:r>
          </a:p>
        </p:txBody>
      </p:sp>
      <p:sp>
        <p:nvSpPr>
          <p:cNvPr id="32" name="!!ag5" descr="Go to section 18.6 Learning: Baum–Welch">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18.6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Learning: Baum–Welch</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137  ›</a:t>
            </a:r>
          </a:p>
        </p:txBody>
      </p:sp>
      <p:sp>
        <p:nvSpPr>
          <p:cNvPr id="37" name="!!ag6" descr="Go to section 18.7 Monte Carlo Estimation">
            <a:hlinkClick action="ppaction://hlinksldjump" r:id="rId11"/>
          </p:cNvPr>
          <p:cNvSpPr/>
          <p:nvPr/>
        </p:nvSpPr>
        <p:spPr>
          <a:xfrm>
            <a:off x="658368" y="561441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agb6">
            <a:extLst>
              <a:ext uri="{C183D7F6-B498-43B3-948B-1728B52AA6E4}">
                <adec:decorative xmlns:adec="http://schemas.microsoft.com/office/drawing/2017/decorative" val="1"/>
              </a:ext>
            </a:extLst>
          </p:cNvPr>
          <p:cNvSpPr/>
          <p:nvPr/>
        </p:nvSpPr>
        <p:spPr>
          <a:xfrm>
            <a:off x="658368" y="561441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agn6"/>
          <p:cNvSpPr txBox="1"/>
          <p:nvPr/>
        </p:nvSpPr>
        <p:spPr>
          <a:xfrm>
            <a:off x="932688" y="57607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18.7</a:t>
            </a:r>
          </a:p>
        </p:txBody>
      </p:sp>
      <p:sp>
        <p:nvSpPr>
          <p:cNvPr id="40" name="!!agt6"/>
          <p:cNvSpPr txBox="1"/>
          <p:nvPr/>
        </p:nvSpPr>
        <p:spPr>
          <a:xfrm>
            <a:off x="1847088" y="57607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Monte Carlo Estimation</a:t>
            </a:r>
          </a:p>
        </p:txBody>
      </p:sp>
      <p:sp>
        <p:nvSpPr>
          <p:cNvPr id="41" name="!!agp6"/>
          <p:cNvSpPr txBox="1"/>
          <p:nvPr/>
        </p:nvSpPr>
        <p:spPr>
          <a:xfrm>
            <a:off x="9795967" y="578815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138  ›</a:t>
            </a:r>
          </a:p>
        </p:txBody>
      </p:sp>
      <p:sp>
        <p:nvSpPr>
          <p:cNvPr id="4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pfill">
            <a:extLst>
              <a:ext uri="{C183D7F6-B498-43B3-948B-1728B52AA6E4}">
                <adec:decorative xmlns:adec="http://schemas.microsoft.com/office/drawing/2017/decorative" val="1"/>
              </a:ext>
            </a:extLst>
          </p:cNvPr>
          <p:cNvSpPr/>
          <p:nvPr/>
        </p:nvSpPr>
        <p:spPr>
          <a:xfrm>
            <a:off x="0" y="0"/>
            <a:ext cx="135463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When Order Matters</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§18.1  ·  Handout p. 134     </a:t>
            </a:r>
            <a:fld id="{989FB342-C7B7-45D7-A940-1C508B8F5D6D}"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2848051"/>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2930347"/>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Every model so far has treated examples as independent: shuffling the training set changes nothing. Much project data is a </a:t>
            </a:r>
            <a:r>
              <a:rPr sz="2600" b="0" i="1">
                <a:solidFill>
                  <a:srgbClr val="1C252B"/>
                </a:solidFill>
                <a:latin typeface="Segoe UI"/>
              </a:rPr>
              <a:t>sequence</a:t>
            </a:r>
            <a:r>
              <a:rPr sz="2600" b="0" i="0">
                <a:solidFill>
                  <a:srgbClr val="1C252B"/>
                </a:solidFill>
                <a:latin typeface="Segoe UI"/>
              </a:rPr>
              <a:t> in which the order carries the information — a project’s weekly status reports, the stages a ticket passes through, the runs of a build pipeline, the commits on a feature branch. Hidden Markov models were the standard tool for sequences for thirty years, and they remain the clearest introduction to reasoning about them.</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62555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Markov Property and Markov Chain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§18.2  ·  Handout p. 134     </a:t>
            </a:r>
            <a:fld id="{03F82D54-271B-47F5-AAE1-ED107DC99C73}" type="slidenum">
              <a:rPr lang="en-GB" sz="1000">
                <a:solidFill>
                  <a:srgbClr val="8795A1"/>
                </a:solidFill>
                <a:latin typeface="Segoe UI"/>
              </a:rPr>
              <a:t>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sequence of states </a:t>
            </a:r>
            <a:r>
              <a:rPr sz="2300" b="0" i="1">
                <a:solidFill>
                  <a:srgbClr val="1C252B"/>
                </a:solidFill>
                <a:latin typeface="Cambria"/>
              </a:rPr>
              <a:t>s</a:t>
            </a:r>
            <a:r>
              <a:rPr sz="2300" b="0" i="0" baseline="-25000">
                <a:solidFill>
                  <a:srgbClr val="1C252B"/>
                </a:solidFill>
                <a:latin typeface="Cambria"/>
              </a:rPr>
              <a:t>1</a:t>
            </a:r>
            <a:r>
              <a:rPr sz="2300" b="0" i="0">
                <a:solidFill>
                  <a:srgbClr val="1C252B"/>
                </a:solidFill>
                <a:latin typeface="Cambria"/>
              </a:rPr>
              <a:t>, </a:t>
            </a:r>
            <a:r>
              <a:rPr sz="2300" b="0" i="1">
                <a:solidFill>
                  <a:srgbClr val="1C252B"/>
                </a:solidFill>
                <a:latin typeface="Cambria"/>
              </a:rPr>
              <a:t>s</a:t>
            </a:r>
            <a:r>
              <a:rPr sz="2300" b="0" i="0" baseline="-25000">
                <a:solidFill>
                  <a:srgbClr val="1C252B"/>
                </a:solidFill>
                <a:latin typeface="Cambria"/>
              </a:rPr>
              <a:t>2</a:t>
            </a:r>
            <a:r>
              <a:rPr sz="2300" b="0" i="0">
                <a:solidFill>
                  <a:srgbClr val="1C252B"/>
                </a:solidFill>
                <a:latin typeface="Cambria"/>
              </a:rPr>
              <a:t>, …</a:t>
            </a:r>
            <a:r>
              <a:rPr sz="2300" b="0" i="0">
                <a:solidFill>
                  <a:srgbClr val="1C252B"/>
                </a:solidFill>
                <a:latin typeface="Segoe UI"/>
              </a:rPr>
              <a:t> has the </a:t>
            </a:r>
            <a:r>
              <a:rPr sz="2300" b="1" i="0">
                <a:solidFill>
                  <a:srgbClr val="1A5276"/>
                </a:solidFill>
                <a:latin typeface="Segoe UI"/>
              </a:rPr>
              <a:t>Markov property</a:t>
            </a:r>
            <a:r>
              <a:rPr sz="2300" b="0" i="0">
                <a:solidFill>
                  <a:srgbClr val="1C252B"/>
                </a:solidFill>
                <a:latin typeface="Segoe UI"/>
              </a:rPr>
              <a:t> if the next state depends only on the current one, not on the history: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s</a:t>
            </a:r>
            <a:r>
              <a:rPr sz="2300" b="0" i="1" baseline="-25000">
                <a:solidFill>
                  <a:srgbClr val="1C252B"/>
                </a:solidFill>
                <a:latin typeface="Cambria"/>
              </a:rPr>
              <a:t>t</a:t>
            </a:r>
            <a:r>
              <a:rPr sz="2300" b="0" i="0" baseline="-25000">
                <a:solidFill>
                  <a:srgbClr val="1C252B"/>
                </a:solidFill>
                <a:latin typeface="Cambria"/>
              </a:rPr>
              <a:t>+1</a:t>
            </a:r>
            <a:r>
              <a:rPr sz="2300" b="0" i="0">
                <a:solidFill>
                  <a:srgbClr val="1C252B"/>
                </a:solidFill>
                <a:latin typeface="Cambria"/>
              </a:rPr>
              <a:t> ∣ </a:t>
            </a:r>
            <a:r>
              <a:rPr sz="2300" b="0" i="1">
                <a:solidFill>
                  <a:srgbClr val="1C252B"/>
                </a:solidFill>
                <a:latin typeface="Cambria"/>
              </a:rPr>
              <a:t>s</a:t>
            </a:r>
            <a:r>
              <a:rPr sz="2300" b="0" i="1" baseline="-25000">
                <a:solidFill>
                  <a:srgbClr val="1C252B"/>
                </a:solidFill>
                <a:latin typeface="Cambria"/>
              </a:rPr>
              <a:t>t</a:t>
            </a:r>
            <a:r>
              <a:rPr sz="2300" b="0" i="0">
                <a:solidFill>
                  <a:srgbClr val="1C252B"/>
                </a:solidFill>
                <a:latin typeface="Cambria"/>
              </a:rPr>
              <a:t>, </a:t>
            </a:r>
            <a:r>
              <a:rPr sz="2300" b="0" i="1">
                <a:solidFill>
                  <a:srgbClr val="1C252B"/>
                </a:solidFill>
                <a:latin typeface="Cambria"/>
              </a:rPr>
              <a:t>s</a:t>
            </a:r>
            <a:r>
              <a:rPr sz="2300" b="0" i="1" baseline="-25000">
                <a:solidFill>
                  <a:srgbClr val="1C252B"/>
                </a:solidFill>
                <a:latin typeface="Cambria"/>
              </a:rPr>
              <a:t>t</a:t>
            </a:r>
            <a:r>
              <a:rPr sz="2300" b="0" i="0" baseline="-25000">
                <a:solidFill>
                  <a:srgbClr val="1C252B"/>
                </a:solidFill>
                <a:latin typeface="Cambria"/>
              </a:rPr>
              <a:t>−1</a:t>
            </a:r>
            <a:r>
              <a:rPr sz="2300" b="0" i="0">
                <a:solidFill>
                  <a:srgbClr val="1C252B"/>
                </a:solidFill>
                <a:latin typeface="Cambria"/>
              </a:rPr>
              <a:t>, …, </a:t>
            </a:r>
            <a:r>
              <a:rPr sz="2300" b="0" i="1">
                <a:solidFill>
                  <a:srgbClr val="1C252B"/>
                </a:solidFill>
                <a:latin typeface="Cambria"/>
              </a:rPr>
              <a:t>s</a:t>
            </a:r>
            <a:r>
              <a:rPr sz="2300" b="0" i="0" baseline="-25000">
                <a:solidFill>
                  <a:srgbClr val="1C252B"/>
                </a:solidFill>
                <a:latin typeface="Cambria"/>
              </a:rPr>
              <a:t>1</a:t>
            </a:r>
            <a:r>
              <a:rPr sz="2300" b="0" i="0">
                <a:solidFill>
                  <a:srgbClr val="1C252B"/>
                </a:solidFill>
                <a:latin typeface="Cambria"/>
              </a:rPr>
              <a:t>) =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s</a:t>
            </a:r>
            <a:r>
              <a:rPr sz="2300" b="0" i="1" baseline="-25000">
                <a:solidFill>
                  <a:srgbClr val="1C252B"/>
                </a:solidFill>
                <a:latin typeface="Cambria"/>
              </a:rPr>
              <a:t>t</a:t>
            </a:r>
            <a:r>
              <a:rPr sz="2300" b="0" i="0" baseline="-25000">
                <a:solidFill>
                  <a:srgbClr val="1C252B"/>
                </a:solidFill>
                <a:latin typeface="Cambria"/>
              </a:rPr>
              <a:t>+1</a:t>
            </a:r>
            <a:r>
              <a:rPr sz="2300" b="0" i="0">
                <a:solidFill>
                  <a:srgbClr val="1C252B"/>
                </a:solidFill>
                <a:latin typeface="Cambria"/>
              </a:rPr>
              <a:t> ∣ </a:t>
            </a:r>
            <a:r>
              <a:rPr sz="2300" b="0" i="1">
                <a:solidFill>
                  <a:srgbClr val="1C252B"/>
                </a:solidFill>
                <a:latin typeface="Cambria"/>
              </a:rPr>
              <a:t>s</a:t>
            </a:r>
            <a:r>
              <a:rPr sz="2300" b="0" i="1" baseline="-25000">
                <a:solidFill>
                  <a:srgbClr val="1C252B"/>
                </a:solidFill>
                <a:latin typeface="Cambria"/>
              </a:rPr>
              <a:t>t</a:t>
            </a:r>
            <a:r>
              <a:rPr sz="2300" b="0" i="0">
                <a:solidFill>
                  <a:srgbClr val="1C252B"/>
                </a:solidFill>
                <a:latin typeface="Cambria"/>
              </a:rPr>
              <a:t>)</a:t>
            </a:r>
            <a:r>
              <a:rPr sz="2300" b="0" i="0">
                <a:solidFill>
                  <a:srgbClr val="1C252B"/>
                </a:solidFill>
                <a:latin typeface="Segoe UI"/>
              </a:rPr>
              <a:t>. A </a:t>
            </a:r>
            <a:r>
              <a:rPr sz="2300" b="1" i="0">
                <a:solidFill>
                  <a:srgbClr val="1A5276"/>
                </a:solidFill>
                <a:latin typeface="Segoe UI"/>
              </a:rPr>
              <a:t>Markov chain</a:t>
            </a:r>
            <a:r>
              <a:rPr sz="2300" b="0" i="0">
                <a:solidFill>
                  <a:srgbClr val="1C252B"/>
                </a:solidFill>
                <a:latin typeface="Segoe UI"/>
              </a:rPr>
              <a:t> is such a sequence, described by an initial distribution </a:t>
            </a:r>
            <a:r>
              <a:rPr sz="2300" b="0" i="0">
                <a:solidFill>
                  <a:srgbClr val="1C252B"/>
                </a:solidFill>
                <a:latin typeface="Cambria"/>
              </a:rPr>
              <a:t>π</a:t>
            </a:r>
            <a:r>
              <a:rPr sz="2300" b="0" i="0">
                <a:solidFill>
                  <a:srgbClr val="1C252B"/>
                </a:solidFill>
                <a:latin typeface="Segoe UI"/>
              </a:rPr>
              <a:t> and a </a:t>
            </a:r>
            <a:r>
              <a:rPr sz="2300" b="1" i="0">
                <a:solidFill>
                  <a:srgbClr val="1A5276"/>
                </a:solidFill>
                <a:latin typeface="Segoe UI"/>
              </a:rPr>
              <a:t>transition matrix</a:t>
            </a:r>
            <a:r>
              <a:rPr sz="2300" b="0" i="0">
                <a:solidFill>
                  <a:srgbClr val="1C252B"/>
                </a:solidFill>
                <a:latin typeface="Segoe UI"/>
              </a:rPr>
              <a:t> </a:t>
            </a:r>
            <a:r>
              <a:rPr sz="2300" b="0" i="1">
                <a:solidFill>
                  <a:srgbClr val="1C252B"/>
                </a:solidFill>
                <a:latin typeface="Cambria"/>
              </a:rPr>
              <a:t>A</a:t>
            </a:r>
            <a:r>
              <a:rPr sz="2300" b="0" i="0">
                <a:solidFill>
                  <a:srgbClr val="1C252B"/>
                </a:solidFill>
                <a:latin typeface="Segoe UI"/>
              </a:rPr>
              <a:t> with </a:t>
            </a:r>
            <a:r>
              <a:rPr sz="2300" b="0" i="1">
                <a:solidFill>
                  <a:srgbClr val="1C252B"/>
                </a:solidFill>
                <a:latin typeface="Cambria"/>
              </a:rPr>
              <a:t>A</a:t>
            </a:r>
            <a:r>
              <a:rPr sz="2300" b="0" i="1" baseline="-25000">
                <a:solidFill>
                  <a:srgbClr val="1C252B"/>
                </a:solidFill>
                <a:latin typeface="Cambria"/>
              </a:rPr>
              <a:t>ij</a:t>
            </a:r>
            <a:r>
              <a:rPr sz="2300" b="0" i="0">
                <a:solidFill>
                  <a:srgbClr val="1C252B"/>
                </a:solidFill>
                <a:latin typeface="Cambria"/>
              </a:rPr>
              <a:t> =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s</a:t>
            </a:r>
            <a:r>
              <a:rPr sz="2300" b="0" i="1" baseline="-25000">
                <a:solidFill>
                  <a:srgbClr val="1C252B"/>
                </a:solidFill>
                <a:latin typeface="Cambria"/>
              </a:rPr>
              <a:t>t</a:t>
            </a:r>
            <a:r>
              <a:rPr sz="2300" b="0" i="0" baseline="-25000">
                <a:solidFill>
                  <a:srgbClr val="1C252B"/>
                </a:solidFill>
                <a:latin typeface="Cambria"/>
              </a:rPr>
              <a:t>+1</a:t>
            </a:r>
            <a:r>
              <a:rPr sz="2300" b="0" i="0">
                <a:solidFill>
                  <a:srgbClr val="1C252B"/>
                </a:solidFill>
                <a:latin typeface="Cambria"/>
              </a:rPr>
              <a:t> = </a:t>
            </a:r>
            <a:r>
              <a:rPr sz="2300" b="0" i="1">
                <a:solidFill>
                  <a:srgbClr val="1C252B"/>
                </a:solidFill>
                <a:latin typeface="Cambria"/>
              </a:rPr>
              <a:t>j</a:t>
            </a:r>
            <a:r>
              <a:rPr sz="2300" b="0" i="0">
                <a:solidFill>
                  <a:srgbClr val="1C252B"/>
                </a:solidFill>
                <a:latin typeface="Cambria"/>
              </a:rPr>
              <a:t> ∣ </a:t>
            </a:r>
            <a:r>
              <a:rPr sz="2300" b="0" i="1">
                <a:solidFill>
                  <a:srgbClr val="1C252B"/>
                </a:solidFill>
                <a:latin typeface="Cambria"/>
              </a:rPr>
              <a:t>s</a:t>
            </a:r>
            <a:r>
              <a:rPr sz="2300" b="0" i="1" baseline="-25000">
                <a:solidFill>
                  <a:srgbClr val="1C252B"/>
                </a:solidFill>
                <a:latin typeface="Cambria"/>
              </a:rPr>
              <a:t>t</a:t>
            </a:r>
            <a:r>
              <a:rPr sz="2300" b="0" i="0">
                <a:solidFill>
                  <a:srgbClr val="1C252B"/>
                </a:solidFill>
                <a:latin typeface="Cambria"/>
              </a:rPr>
              <a:t> = </a:t>
            </a:r>
            <a:r>
              <a:rPr sz="2300" b="0" i="1">
                <a:solidFill>
                  <a:srgbClr val="1C252B"/>
                </a:solidFill>
                <a:latin typeface="Cambria"/>
              </a:rPr>
              <a:t>i</a:t>
            </a:r>
            <a:r>
              <a:rPr sz="2300" b="0" i="0">
                <a:solidFill>
                  <a:srgbClr val="1C252B"/>
                </a:solidFill>
                <a:latin typeface="Cambria"/>
              </a:rPr>
              <a:t>)</a:t>
            </a:r>
            <a:r>
              <a:rPr sz="2300" b="0" i="0">
                <a:solidFill>
                  <a:srgbClr val="1C252B"/>
                </a:solidFill>
                <a:latin typeface="Segoe UI"/>
              </a:rPr>
              <a:t>; each row of </a:t>
            </a:r>
            <a:r>
              <a:rPr sz="2300" b="0" i="1">
                <a:solidFill>
                  <a:srgbClr val="1C252B"/>
                </a:solidFill>
                <a:latin typeface="Cambria"/>
              </a:rPr>
              <a:t>A</a:t>
            </a:r>
            <a:r>
              <a:rPr sz="2300" b="0" i="0">
                <a:solidFill>
                  <a:srgbClr val="1C252B"/>
                </a:solidFill>
                <a:latin typeface="Segoe UI"/>
              </a:rPr>
              <a:t> sums to 1.</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189648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Markov Chains</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§18.2  ·  Handout p. 134     </a:t>
            </a:r>
            <a:fld id="{7A489021-3125-4402-A2B4-7EC1918A0441}"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041990"/>
          </a:xfrm>
          <a:prstGeom prst="roundRect">
            <a:avLst>
              <a:gd name="adj" fmla="val 3005"/>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04199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project is either Healthy (H) or Distressed (D). From one week to the next a healthy project stays healthy with probability 0.8 and slips into distress with probability 0.2; a distressed one recovers with probability 0.3 and stays distressed with 0.7:</a:t>
            </a:r>
          </a:p>
        </p:txBody>
      </p:sp>
      <p:pic>
        <p:nvPicPr>
          <p:cNvPr id="10" name="body-1" descr="A = \begin{pmatrix} 0.8 &amp; 0.2 \\ 0.3 &amp; 0.7 \end{pmatrix}"/>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667074"/>
            <a:ext cx="10161727" cy="801380"/>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16741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Hidden Markov Models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3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18.3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18.1   When Order Matters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18.2   Markov Chains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18.3   Hidden Markov Models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18.4   Evaluation: The Forward Algorithm</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18.5   Decoding: The Viterbi Algorithm</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18.6   Learning: Baum–Welch</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18.7   Monte Carlo Estimation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§18.3     </a:t>
            </a:r>
            <a:fld id="{370B55E3-7C1D-4589-9138-03356CC2A236}" type="slidenum">
              <a:rPr lang="en-GB" sz="1000">
                <a:solidFill>
                  <a:srgbClr val="8795A1"/>
                </a:solidFill>
                <a:latin typeface="Segoe UI"/>
              </a:rPr>
              <a:t>9</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243833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Hidden Markov Model</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§18.3  ·  Handout p. 135     </a:t>
            </a:r>
            <a:fld id="{D6B9CAE2-85FE-4647-8FC1-D8763EDB76FA}"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99357"/>
          </a:xfrm>
          <a:prstGeom prst="roundRect">
            <a:avLst>
              <a:gd name="adj" fmla="val 2471"/>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99357"/>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An HMM has hidden states </a:t>
            </a:r>
            <a:r>
              <a:rPr sz="2300" b="0" i="1">
                <a:solidFill>
                  <a:srgbClr val="1C252B"/>
                </a:solidFill>
                <a:latin typeface="Cambria"/>
              </a:rPr>
              <a:t>S</a:t>
            </a:r>
            <a:r>
              <a:rPr sz="2300" b="0" i="0">
                <a:solidFill>
                  <a:srgbClr val="1C252B"/>
                </a:solidFill>
                <a:latin typeface="Segoe UI"/>
              </a:rPr>
              <a:t> and observable symbols </a:t>
            </a:r>
            <a:r>
              <a:rPr sz="2300" b="0" i="1">
                <a:solidFill>
                  <a:srgbClr val="1C252B"/>
                </a:solidFill>
                <a:latin typeface="Cambria"/>
              </a:rPr>
              <a:t>O</a:t>
            </a:r>
            <a:r>
              <a:rPr sz="2300" b="0" i="0">
                <a:solidFill>
                  <a:srgbClr val="1C252B"/>
                </a:solidFill>
                <a:latin typeface="Segoe UI"/>
              </a:rPr>
              <a:t>, and three sets of probabilities:</a:t>
            </a:r>
          </a:p>
        </p:txBody>
      </p:sp>
      <p:sp>
        <p:nvSpPr>
          <p:cNvPr id="10" name="body-1"/>
          <p:cNvSpPr txBox="1"/>
          <p:nvPr/>
        </p:nvSpPr>
        <p:spPr>
          <a:xfrm>
            <a:off x="1060704" y="2937992"/>
            <a:ext cx="10161727" cy="1343812"/>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8A4500"/>
                </a:solidFill>
                <a:latin typeface="Segoe UI"/>
              </a:rPr>
              <a:t>•	</a:t>
            </a:r>
            <a:r>
              <a:rPr sz="2300" b="0" i="0">
                <a:solidFill>
                  <a:srgbClr val="1C252B"/>
                </a:solidFill>
                <a:latin typeface="Segoe UI"/>
              </a:rPr>
              <a:t>the </a:t>
            </a:r>
            <a:r>
              <a:rPr sz="2300" b="1" i="0">
                <a:solidFill>
                  <a:srgbClr val="1A5276"/>
                </a:solidFill>
                <a:latin typeface="Segoe UI"/>
              </a:rPr>
              <a:t>initial distribution</a:t>
            </a:r>
            <a:r>
              <a:rPr sz="2300" b="0" i="0">
                <a:solidFill>
                  <a:srgbClr val="1C252B"/>
                </a:solidFill>
                <a:latin typeface="Segoe UI"/>
              </a:rPr>
              <a:t> </a:t>
            </a:r>
            <a:r>
              <a:rPr sz="2300" b="0" i="0">
                <a:solidFill>
                  <a:srgbClr val="1C252B"/>
                </a:solidFill>
                <a:latin typeface="Cambria"/>
              </a:rPr>
              <a:t>π</a:t>
            </a:r>
            <a:r>
              <a:rPr sz="2300" b="0" i="1" baseline="-25000">
                <a:solidFill>
                  <a:srgbClr val="1C252B"/>
                </a:solidFill>
                <a:latin typeface="Cambria"/>
              </a:rPr>
              <a:t>i</a:t>
            </a:r>
            <a:r>
              <a:rPr sz="2300" b="0" i="0">
                <a:solidFill>
                  <a:srgbClr val="1C252B"/>
                </a:solidFill>
                <a:latin typeface="Cambria"/>
              </a:rPr>
              <a:t> =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s</a:t>
            </a:r>
            <a:r>
              <a:rPr sz="2300" b="0" i="0" baseline="-25000">
                <a:solidFill>
                  <a:srgbClr val="1C252B"/>
                </a:solidFill>
                <a:latin typeface="Cambria"/>
              </a:rPr>
              <a:t>1</a:t>
            </a:r>
            <a:r>
              <a:rPr sz="2300" b="0" i="0">
                <a:solidFill>
                  <a:srgbClr val="1C252B"/>
                </a:solidFill>
                <a:latin typeface="Cambria"/>
              </a:rPr>
              <a:t> = </a:t>
            </a:r>
            <a:r>
              <a:rPr sz="2300" b="0" i="1">
                <a:solidFill>
                  <a:srgbClr val="1C252B"/>
                </a:solidFill>
                <a:latin typeface="Cambria"/>
              </a:rPr>
              <a:t>i</a:t>
            </a:r>
            <a:r>
              <a:rPr sz="2300" b="0" i="0">
                <a:solidFill>
                  <a:srgbClr val="1C252B"/>
                </a:solidFill>
                <a:latin typeface="Cambria"/>
              </a:rPr>
              <a:t>)</a:t>
            </a:r>
            <a:r>
              <a:rPr sz="2300" b="0" i="0">
                <a:solidFill>
                  <a:srgbClr val="1C252B"/>
                </a:solidFill>
                <a:latin typeface="Segoe UI"/>
              </a:rPr>
              <a:t>;</a:t>
            </a:r>
          </a:p>
          <a:p>
            <a:pPr algn="l" marL="257176" indent="-257176">
              <a:lnSpc>
                <a:spcPct val="104000"/>
              </a:lnSpc>
              <a:spcBef>
                <a:spcPts val="0"/>
              </a:spcBef>
              <a:spcAft>
                <a:spcPts val="804"/>
              </a:spcAft>
            </a:pPr>
            <a:r>
              <a:rPr sz="2300" b="1">
                <a:solidFill>
                  <a:srgbClr val="8A4500"/>
                </a:solidFill>
                <a:latin typeface="Segoe UI"/>
              </a:rPr>
              <a:t>•	</a:t>
            </a:r>
            <a:r>
              <a:rPr sz="2300" b="0" i="0">
                <a:solidFill>
                  <a:srgbClr val="1C252B"/>
                </a:solidFill>
                <a:latin typeface="Segoe UI"/>
              </a:rPr>
              <a:t>the </a:t>
            </a:r>
            <a:r>
              <a:rPr sz="2300" b="1" i="0">
                <a:solidFill>
                  <a:srgbClr val="1A5276"/>
                </a:solidFill>
                <a:latin typeface="Segoe UI"/>
              </a:rPr>
              <a:t>transition matrix</a:t>
            </a:r>
            <a:r>
              <a:rPr sz="2300" b="0" i="0">
                <a:solidFill>
                  <a:srgbClr val="1C252B"/>
                </a:solidFill>
                <a:latin typeface="Segoe UI"/>
              </a:rPr>
              <a:t> </a:t>
            </a:r>
            <a:r>
              <a:rPr sz="2300" b="0" i="1">
                <a:solidFill>
                  <a:srgbClr val="1C252B"/>
                </a:solidFill>
                <a:latin typeface="Cambria"/>
              </a:rPr>
              <a:t>A</a:t>
            </a:r>
            <a:r>
              <a:rPr sz="2300" b="0" i="1" baseline="-25000">
                <a:solidFill>
                  <a:srgbClr val="1C252B"/>
                </a:solidFill>
                <a:latin typeface="Cambria"/>
              </a:rPr>
              <a:t>ij</a:t>
            </a:r>
            <a:r>
              <a:rPr sz="2300" b="0" i="0">
                <a:solidFill>
                  <a:srgbClr val="1C252B"/>
                </a:solidFill>
                <a:latin typeface="Cambria"/>
              </a:rPr>
              <a:t> =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s</a:t>
            </a:r>
            <a:r>
              <a:rPr sz="2300" b="0" i="1" baseline="-25000">
                <a:solidFill>
                  <a:srgbClr val="1C252B"/>
                </a:solidFill>
                <a:latin typeface="Cambria"/>
              </a:rPr>
              <a:t>t</a:t>
            </a:r>
            <a:r>
              <a:rPr sz="2300" b="0" i="0" baseline="-25000">
                <a:solidFill>
                  <a:srgbClr val="1C252B"/>
                </a:solidFill>
                <a:latin typeface="Cambria"/>
              </a:rPr>
              <a:t>+1</a:t>
            </a:r>
            <a:r>
              <a:rPr sz="2300" b="0" i="0">
                <a:solidFill>
                  <a:srgbClr val="1C252B"/>
                </a:solidFill>
                <a:latin typeface="Cambria"/>
              </a:rPr>
              <a:t> = </a:t>
            </a:r>
            <a:r>
              <a:rPr sz="2300" b="0" i="1">
                <a:solidFill>
                  <a:srgbClr val="1C252B"/>
                </a:solidFill>
                <a:latin typeface="Cambria"/>
              </a:rPr>
              <a:t>j</a:t>
            </a:r>
            <a:r>
              <a:rPr sz="2300" b="0" i="0">
                <a:solidFill>
                  <a:srgbClr val="1C252B"/>
                </a:solidFill>
                <a:latin typeface="Cambria"/>
              </a:rPr>
              <a:t> ∣ </a:t>
            </a:r>
            <a:r>
              <a:rPr sz="2300" b="0" i="1">
                <a:solidFill>
                  <a:srgbClr val="1C252B"/>
                </a:solidFill>
                <a:latin typeface="Cambria"/>
              </a:rPr>
              <a:t>s</a:t>
            </a:r>
            <a:r>
              <a:rPr sz="2300" b="0" i="1" baseline="-25000">
                <a:solidFill>
                  <a:srgbClr val="1C252B"/>
                </a:solidFill>
                <a:latin typeface="Cambria"/>
              </a:rPr>
              <a:t>t</a:t>
            </a:r>
            <a:r>
              <a:rPr sz="2300" b="0" i="0">
                <a:solidFill>
                  <a:srgbClr val="1C252B"/>
                </a:solidFill>
                <a:latin typeface="Cambria"/>
              </a:rPr>
              <a:t> = </a:t>
            </a:r>
            <a:r>
              <a:rPr sz="2300" b="0" i="1">
                <a:solidFill>
                  <a:srgbClr val="1C252B"/>
                </a:solidFill>
                <a:latin typeface="Cambria"/>
              </a:rPr>
              <a:t>i</a:t>
            </a:r>
            <a:r>
              <a:rPr sz="2300" b="0" i="0">
                <a:solidFill>
                  <a:srgbClr val="1C252B"/>
                </a:solidFill>
                <a:latin typeface="Cambria"/>
              </a:rPr>
              <a:t>)</a:t>
            </a:r>
            <a:r>
              <a:rPr sz="2300" b="0" i="0">
                <a:solidFill>
                  <a:srgbClr val="1C252B"/>
                </a:solidFill>
                <a:latin typeface="Segoe UI"/>
              </a:rPr>
              <a:t>;</a:t>
            </a:r>
          </a:p>
          <a:p>
            <a:pPr algn="l" marL="257176" indent="-257176">
              <a:lnSpc>
                <a:spcPct val="104000"/>
              </a:lnSpc>
              <a:spcBef>
                <a:spcPts val="0"/>
              </a:spcBef>
              <a:spcAft>
                <a:spcPts val="0"/>
              </a:spcAft>
            </a:pPr>
            <a:r>
              <a:rPr sz="2300" b="1">
                <a:solidFill>
                  <a:srgbClr val="8A4500"/>
                </a:solidFill>
                <a:latin typeface="Segoe UI"/>
              </a:rPr>
              <a:t>•	</a:t>
            </a:r>
            <a:r>
              <a:rPr sz="2300" b="0" i="0">
                <a:solidFill>
                  <a:srgbClr val="1C252B"/>
                </a:solidFill>
                <a:latin typeface="Segoe UI"/>
              </a:rPr>
              <a:t>the </a:t>
            </a:r>
            <a:r>
              <a:rPr sz="2300" b="1" i="0">
                <a:solidFill>
                  <a:srgbClr val="1A5276"/>
                </a:solidFill>
                <a:latin typeface="Segoe UI"/>
              </a:rPr>
              <a:t>emission matrix</a:t>
            </a:r>
            <a:r>
              <a:rPr sz="2300" b="0" i="0">
                <a:solidFill>
                  <a:srgbClr val="1C252B"/>
                </a:solidFill>
                <a:latin typeface="Segoe UI"/>
              </a:rPr>
              <a:t> </a:t>
            </a:r>
            <a:r>
              <a:rPr sz="2300" b="0" i="1">
                <a:solidFill>
                  <a:srgbClr val="1C252B"/>
                </a:solidFill>
                <a:latin typeface="Cambria"/>
              </a:rPr>
              <a:t>B</a:t>
            </a:r>
            <a:r>
              <a:rPr sz="2300" b="0" i="1" baseline="-25000">
                <a:solidFill>
                  <a:srgbClr val="1C252B"/>
                </a:solidFill>
                <a:latin typeface="Cambria"/>
              </a:rPr>
              <a:t>ik</a:t>
            </a:r>
            <a:r>
              <a:rPr sz="2300" b="0" i="0">
                <a:solidFill>
                  <a:srgbClr val="1C252B"/>
                </a:solidFill>
                <a:latin typeface="Cambria"/>
              </a:rPr>
              <a:t> =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o</a:t>
            </a:r>
            <a:r>
              <a:rPr sz="2300" b="0" i="1" baseline="-25000">
                <a:solidFill>
                  <a:srgbClr val="1C252B"/>
                </a:solidFill>
                <a:latin typeface="Cambria"/>
              </a:rPr>
              <a:t>t</a:t>
            </a:r>
            <a:r>
              <a:rPr sz="2300" b="0" i="0">
                <a:solidFill>
                  <a:srgbClr val="1C252B"/>
                </a:solidFill>
                <a:latin typeface="Cambria"/>
              </a:rPr>
              <a:t> = </a:t>
            </a:r>
            <a:r>
              <a:rPr sz="2300" b="0" i="1">
                <a:solidFill>
                  <a:srgbClr val="1C252B"/>
                </a:solidFill>
                <a:latin typeface="Cambria"/>
              </a:rPr>
              <a:t>k</a:t>
            </a:r>
            <a:r>
              <a:rPr sz="2300" b="0" i="0">
                <a:solidFill>
                  <a:srgbClr val="1C252B"/>
                </a:solidFill>
                <a:latin typeface="Cambria"/>
              </a:rPr>
              <a:t> ∣ </a:t>
            </a:r>
            <a:r>
              <a:rPr sz="2300" b="0" i="1">
                <a:solidFill>
                  <a:srgbClr val="1C252B"/>
                </a:solidFill>
                <a:latin typeface="Cambria"/>
              </a:rPr>
              <a:t>s</a:t>
            </a:r>
            <a:r>
              <a:rPr sz="2300" b="0" i="1" baseline="-25000">
                <a:solidFill>
                  <a:srgbClr val="1C252B"/>
                </a:solidFill>
                <a:latin typeface="Cambria"/>
              </a:rPr>
              <a:t>t</a:t>
            </a:r>
            <a:r>
              <a:rPr sz="2300" b="0" i="0">
                <a:solidFill>
                  <a:srgbClr val="1C252B"/>
                </a:solidFill>
                <a:latin typeface="Cambria"/>
              </a:rPr>
              <a:t> = </a:t>
            </a:r>
            <a:r>
              <a:rPr sz="2300" b="0" i="1">
                <a:solidFill>
                  <a:srgbClr val="1C252B"/>
                </a:solidFill>
                <a:latin typeface="Cambria"/>
              </a:rPr>
              <a:t>i</a:t>
            </a:r>
            <a:r>
              <a:rPr sz="2300" b="0" i="0">
                <a:solidFill>
                  <a:srgbClr val="1C252B"/>
                </a:solidFill>
                <a:latin typeface="Cambria"/>
              </a:rPr>
              <a:t>)</a:t>
            </a:r>
            <a:r>
              <a:rPr sz="2300" b="0" i="0">
                <a:solidFill>
                  <a:srgbClr val="1C252B"/>
                </a:solidFill>
                <a:latin typeface="Segoe UI"/>
              </a:rPr>
              <a:t>.</a:t>
            </a:r>
          </a:p>
        </p:txBody>
      </p:sp>
      <p:sp>
        <p:nvSpPr>
          <p:cNvPr id="11" name="body-2"/>
          <p:cNvSpPr txBox="1"/>
          <p:nvPr/>
        </p:nvSpPr>
        <p:spPr>
          <a:xfrm>
            <a:off x="1060704" y="4396740"/>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hidden states form a Markov chain, and each observation depends only on the hidden state at the same time.</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270926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hidden Markov model used throughout this chapter</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07964"/>
                </a:solidFill>
                <a:latin typeface="Segoe UI"/>
              </a:rPr>
              <a:t>FIGURE 18.1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§18.3  ·  Handout p. 135     </a:t>
            </a:r>
            <a:fld id="{BF7B2600-E96C-4D70-8676-6AD149B94EA9}" type="slidenum">
              <a:rPr lang="en-GB" sz="1000">
                <a:solidFill>
                  <a:srgbClr val="8795A1"/>
                </a:solidFill>
                <a:latin typeface="Segoe UI"/>
              </a:rPr>
              <a:t>11</a:t>
            </a:fld>
          </a:p>
        </p:txBody>
      </p:sp>
      <p:pic>
        <p:nvPicPr>
          <p:cNvPr id="6" name="!!figure" descr="Figure 18.1. The hidden Markov model used throughout this chapter. The project office never sees the state, only a weekly status report whose probabilities depend on it."/>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24497" y="1737360"/>
            <a:ext cx="9942700"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project office never sees the state, only a weekly status report whose probabilities depend on it.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98019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Three Questions an HMM Answers</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§18.3  ·  Handout p. 135     </a:t>
            </a:r>
            <a:fld id="{FEA82D56-5091-45F9-94EB-6ED579E0EC59}"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013506"/>
          </a:xfrm>
          <a:prstGeom prst="roundRect">
            <a:avLst>
              <a:gd name="adj" fmla="val 3034"/>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013506"/>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437434"/>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1F618D"/>
                </a:solidFill>
                <a:latin typeface="Segoe UI"/>
              </a:rPr>
              <a:t>•	</a:t>
            </a:r>
            <a:r>
              <a:rPr sz="2300" b="1" i="0">
                <a:solidFill>
                  <a:srgbClr val="1F618D"/>
                </a:solidFill>
                <a:latin typeface="Segoe UI"/>
              </a:rPr>
              <a:t>Evaluation:</a:t>
            </a:r>
            <a:r>
              <a:rPr sz="2300" b="0" i="0">
                <a:solidFill>
                  <a:srgbClr val="1C252B"/>
                </a:solidFill>
                <a:latin typeface="Segoe UI"/>
              </a:rPr>
              <a:t> how probable is an observed sequence under this model? (Is this run of status reports normal?) — the forward algorithm.</a:t>
            </a:r>
          </a:p>
          <a:p>
            <a:pPr algn="l" marL="257176" indent="-257176">
              <a:lnSpc>
                <a:spcPct val="104000"/>
              </a:lnSpc>
              <a:spcBef>
                <a:spcPts val="0"/>
              </a:spcBef>
              <a:spcAft>
                <a:spcPts val="804"/>
              </a:spcAft>
            </a:pPr>
            <a:r>
              <a:rPr sz="2300" b="1">
                <a:solidFill>
                  <a:srgbClr val="1F618D"/>
                </a:solidFill>
                <a:latin typeface="Segoe UI"/>
              </a:rPr>
              <a:t>•	</a:t>
            </a:r>
            <a:r>
              <a:rPr sz="2300" b="1" i="0">
                <a:solidFill>
                  <a:srgbClr val="1F618D"/>
                </a:solidFill>
                <a:latin typeface="Segoe UI"/>
              </a:rPr>
              <a:t>Decoding:</a:t>
            </a:r>
            <a:r>
              <a:rPr sz="2300" b="0" i="0">
                <a:solidFill>
                  <a:srgbClr val="1C252B"/>
                </a:solidFill>
                <a:latin typeface="Segoe UI"/>
              </a:rPr>
              <a:t> which sequence of hidden states most probably produced it? (When did the project actually slip?) — the Viterbi algorithm.</a:t>
            </a:r>
          </a:p>
          <a:p>
            <a:pPr algn="l" marL="257176" indent="-257176">
              <a:lnSpc>
                <a:spcPct val="104000"/>
              </a:lnSpc>
              <a:spcBef>
                <a:spcPts val="0"/>
              </a:spcBef>
              <a:spcAft>
                <a:spcPts val="0"/>
              </a:spcAft>
            </a:pPr>
            <a:r>
              <a:rPr sz="2300" b="1">
                <a:solidFill>
                  <a:srgbClr val="1F618D"/>
                </a:solidFill>
                <a:latin typeface="Segoe UI"/>
              </a:rPr>
              <a:t>•	</a:t>
            </a:r>
            <a:r>
              <a:rPr sz="2300" b="1" i="0">
                <a:solidFill>
                  <a:srgbClr val="1F618D"/>
                </a:solidFill>
                <a:latin typeface="Segoe UI"/>
              </a:rPr>
              <a:t>Learning:</a:t>
            </a:r>
            <a:r>
              <a:rPr sz="2300" b="0" i="0">
                <a:solidFill>
                  <a:srgbClr val="1C252B"/>
                </a:solidFill>
                <a:latin typeface="Segoe UI"/>
              </a:rPr>
              <a:t> which parameters make the observed sequences most probable? — the Baum–Welch algorithm, an instance of EM.</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325111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8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8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80"/>
                                        <p:tgtEl>
                                          <p:spTgt spid="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Evaluation: The Forward Algorithm</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4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18.4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18.1   When Order Matters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18.2   Markov Chains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18.3   Hidden Markov Models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18.4   Evaluation: The Forward Algorithm</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18.5   Decoding: The Viterbi Algorithm</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18.6   Learning: Baum–Welch</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18.7   Monte Carlo Estimation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§18.4     </a:t>
            </a:r>
            <a:fld id="{6570DDAE-C20A-471D-B8C0-2FB9C6F91F4B}" type="slidenum">
              <a:rPr lang="en-GB" sz="1000">
                <a:solidFill>
                  <a:srgbClr val="8795A1"/>
                </a:solidFill>
                <a:latin typeface="Segoe UI"/>
              </a:rPr>
              <a:t>13</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352204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Forward Algorithm</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§18.4  ·  Handout p. 136     </a:t>
            </a:r>
            <a:fld id="{209D5B75-D4C6-4293-B284-C838C43E5118}"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47962"/>
          </a:xfrm>
          <a:prstGeom prst="roundRect">
            <a:avLst>
              <a:gd name="adj" fmla="val 2316"/>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47962"/>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Let </a:t>
            </a:r>
            <a:r>
              <a:rPr sz="2300" b="0" i="0">
                <a:solidFill>
                  <a:srgbClr val="1C252B"/>
                </a:solidFill>
                <a:latin typeface="Cambria"/>
              </a:rPr>
              <a:t>α</a:t>
            </a:r>
            <a:r>
              <a:rPr sz="2300" b="0" i="1" baseline="-25000">
                <a:solidFill>
                  <a:srgbClr val="1C252B"/>
                </a:solidFill>
                <a:latin typeface="Cambria"/>
              </a:rPr>
              <a:t>t</a:t>
            </a:r>
            <a:r>
              <a:rPr sz="2300" b="0" i="0">
                <a:solidFill>
                  <a:srgbClr val="1C252B"/>
                </a:solidFill>
                <a:latin typeface="Cambria"/>
              </a:rPr>
              <a:t>(</a:t>
            </a:r>
            <a:r>
              <a:rPr sz="2300" b="0" i="1">
                <a:solidFill>
                  <a:srgbClr val="1C252B"/>
                </a:solidFill>
                <a:latin typeface="Cambria"/>
              </a:rPr>
              <a:t>i</a:t>
            </a:r>
            <a:r>
              <a:rPr sz="2300" b="0" i="0">
                <a:solidFill>
                  <a:srgbClr val="1C252B"/>
                </a:solidFill>
                <a:latin typeface="Cambria"/>
              </a:rPr>
              <a:t>) =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o</a:t>
            </a:r>
            <a:r>
              <a:rPr sz="2300" b="0" i="0" baseline="-25000">
                <a:solidFill>
                  <a:srgbClr val="1C252B"/>
                </a:solidFill>
                <a:latin typeface="Cambria"/>
              </a:rPr>
              <a:t>1</a:t>
            </a:r>
            <a:r>
              <a:rPr sz="2300" b="0" i="0">
                <a:solidFill>
                  <a:srgbClr val="1C252B"/>
                </a:solidFill>
                <a:latin typeface="Cambria"/>
              </a:rPr>
              <a:t>, …, </a:t>
            </a:r>
            <a:r>
              <a:rPr sz="2300" b="0" i="1">
                <a:solidFill>
                  <a:srgbClr val="1C252B"/>
                </a:solidFill>
                <a:latin typeface="Cambria"/>
              </a:rPr>
              <a:t>o</a:t>
            </a:r>
            <a:r>
              <a:rPr sz="2300" b="0" i="1" baseline="-25000">
                <a:solidFill>
                  <a:srgbClr val="1C252B"/>
                </a:solidFill>
                <a:latin typeface="Cambria"/>
              </a:rPr>
              <a:t>t</a:t>
            </a:r>
            <a:r>
              <a:rPr sz="2300" b="0" i="0">
                <a:solidFill>
                  <a:srgbClr val="1C252B"/>
                </a:solidFill>
                <a:latin typeface="Cambria"/>
              </a:rPr>
              <a:t>, </a:t>
            </a:r>
            <a:r>
              <a:rPr sz="2300" b="0" i="1">
                <a:solidFill>
                  <a:srgbClr val="1C252B"/>
                </a:solidFill>
                <a:latin typeface="Cambria"/>
              </a:rPr>
              <a:t>s</a:t>
            </a:r>
            <a:r>
              <a:rPr sz="2300" b="0" i="1" baseline="-25000">
                <a:solidFill>
                  <a:srgbClr val="1C252B"/>
                </a:solidFill>
                <a:latin typeface="Cambria"/>
              </a:rPr>
              <a:t>t</a:t>
            </a:r>
            <a:r>
              <a:rPr sz="2300" b="0" i="0">
                <a:solidFill>
                  <a:srgbClr val="1C252B"/>
                </a:solidFill>
                <a:latin typeface="Cambria"/>
              </a:rPr>
              <a:t> = </a:t>
            </a:r>
            <a:r>
              <a:rPr sz="2300" b="0" i="1">
                <a:solidFill>
                  <a:srgbClr val="1C252B"/>
                </a:solidFill>
                <a:latin typeface="Cambria"/>
              </a:rPr>
              <a:t>i</a:t>
            </a:r>
            <a:r>
              <a:rPr sz="2300" b="0" i="0">
                <a:solidFill>
                  <a:srgbClr val="1C252B"/>
                </a:solidFill>
                <a:latin typeface="Cambria"/>
              </a:rPr>
              <a:t>)</a:t>
            </a:r>
            <a:r>
              <a:rPr sz="2300" b="0" i="0">
                <a:solidFill>
                  <a:srgbClr val="1C252B"/>
                </a:solidFill>
                <a:latin typeface="Segoe UI"/>
              </a:rPr>
              <a:t>: the probability of the observations so far </a:t>
            </a:r>
            <a:r>
              <a:rPr sz="2300" b="0" i="1">
                <a:solidFill>
                  <a:srgbClr val="1C252B"/>
                </a:solidFill>
                <a:latin typeface="Segoe UI"/>
              </a:rPr>
              <a:t>and</a:t>
            </a:r>
            <a:r>
              <a:rPr sz="2300" b="0" i="0">
                <a:solidFill>
                  <a:srgbClr val="1C252B"/>
                </a:solidFill>
                <a:latin typeface="Segoe UI"/>
              </a:rPr>
              <a:t> being in state </a:t>
            </a:r>
            <a:r>
              <a:rPr sz="2300" b="0" i="1">
                <a:solidFill>
                  <a:srgbClr val="1C252B"/>
                </a:solidFill>
                <a:latin typeface="Cambria"/>
              </a:rPr>
              <a:t>i</a:t>
            </a:r>
            <a:r>
              <a:rPr sz="2300" b="0" i="0">
                <a:solidFill>
                  <a:srgbClr val="1C252B"/>
                </a:solidFill>
                <a:latin typeface="Segoe UI"/>
              </a:rPr>
              <a:t> now.</a:t>
            </a:r>
          </a:p>
        </p:txBody>
      </p:sp>
      <p:sp>
        <p:nvSpPr>
          <p:cNvPr id="10" name="body-1"/>
          <p:cNvSpPr txBox="1"/>
          <p:nvPr/>
        </p:nvSpPr>
        <p:spPr>
          <a:xfrm>
            <a:off x="1060704" y="2937992"/>
            <a:ext cx="10161727" cy="410260"/>
          </a:xfrm>
          <a:prstGeom prst="rect">
            <a:avLst/>
          </a:prstGeom>
          <a:noFill/>
        </p:spPr>
        <p:txBody>
          <a:bodyPr wrap="square" anchor="t" lIns="0" rIns="0" tIns="0" bIns="0">
            <a:noAutofit/>
          </a:bodyPr>
          <a:lstStyle/>
          <a:p>
            <a:pPr algn="l" marL="257176" indent="-257176">
              <a:lnSpc>
                <a:spcPct val="104000"/>
              </a:lnSpc>
              <a:spcBef>
                <a:spcPts val="0"/>
              </a:spcBef>
              <a:spcAft>
                <a:spcPts val="0"/>
              </a:spcAft>
            </a:pPr>
            <a:r>
              <a:rPr sz="2300" b="1">
                <a:solidFill>
                  <a:srgbClr val="8A4500"/>
                </a:solidFill>
                <a:latin typeface="Segoe UI"/>
              </a:rPr>
              <a:t>•	</a:t>
            </a:r>
            <a:r>
              <a:rPr sz="2300" b="0" i="0">
                <a:solidFill>
                  <a:srgbClr val="1C252B"/>
                </a:solidFill>
                <a:latin typeface="Segoe UI"/>
              </a:rPr>
              <a:t>Start: </a:t>
            </a:r>
            <a:r>
              <a:rPr sz="2300" b="0" i="0">
                <a:solidFill>
                  <a:srgbClr val="1C252B"/>
                </a:solidFill>
                <a:latin typeface="Cambria"/>
              </a:rPr>
              <a:t>α</a:t>
            </a:r>
            <a:r>
              <a:rPr sz="2300" b="0" i="0" baseline="-25000">
                <a:solidFill>
                  <a:srgbClr val="1C252B"/>
                </a:solidFill>
                <a:latin typeface="Cambria"/>
              </a:rPr>
              <a:t>1</a:t>
            </a:r>
            <a:r>
              <a:rPr sz="2300" b="0" i="0">
                <a:solidFill>
                  <a:srgbClr val="1C252B"/>
                </a:solidFill>
                <a:latin typeface="Cambria"/>
              </a:rPr>
              <a:t>(</a:t>
            </a:r>
            <a:r>
              <a:rPr sz="2300" b="0" i="1">
                <a:solidFill>
                  <a:srgbClr val="1C252B"/>
                </a:solidFill>
                <a:latin typeface="Cambria"/>
              </a:rPr>
              <a:t>i</a:t>
            </a:r>
            <a:r>
              <a:rPr sz="2300" b="0" i="0">
                <a:solidFill>
                  <a:srgbClr val="1C252B"/>
                </a:solidFill>
                <a:latin typeface="Cambria"/>
              </a:rPr>
              <a:t>) = π</a:t>
            </a:r>
            <a:r>
              <a:rPr sz="2300" b="0" i="1" baseline="-25000">
                <a:solidFill>
                  <a:srgbClr val="1C252B"/>
                </a:solidFill>
                <a:latin typeface="Cambria"/>
              </a:rPr>
              <a:t>i</a:t>
            </a:r>
            <a:r>
              <a:rPr sz="2300" b="0" i="0">
                <a:solidFill>
                  <a:srgbClr val="1C252B"/>
                </a:solidFill>
                <a:latin typeface="Cambria"/>
              </a:rPr>
              <a:t> </a:t>
            </a:r>
            <a:r>
              <a:rPr sz="2300" b="0" i="1">
                <a:solidFill>
                  <a:srgbClr val="1C252B"/>
                </a:solidFill>
                <a:latin typeface="Cambria"/>
              </a:rPr>
              <a:t>B</a:t>
            </a:r>
            <a:r>
              <a:rPr sz="2300" b="0" i="1" baseline="-25000">
                <a:solidFill>
                  <a:srgbClr val="1C252B"/>
                </a:solidFill>
                <a:latin typeface="Cambria"/>
              </a:rPr>
              <a:t>i</a:t>
            </a:r>
            <a:r>
              <a:rPr sz="2300" b="0" i="0">
                <a:solidFill>
                  <a:srgbClr val="1C252B"/>
                </a:solidFill>
                <a:latin typeface="Cambria"/>
              </a:rPr>
              <a:t>(</a:t>
            </a:r>
            <a:r>
              <a:rPr sz="2300" b="0" i="1">
                <a:solidFill>
                  <a:srgbClr val="1C252B"/>
                </a:solidFill>
                <a:latin typeface="Cambria"/>
              </a:rPr>
              <a:t>o</a:t>
            </a:r>
            <a:r>
              <a:rPr sz="2300" b="0" i="0" baseline="-25000">
                <a:solidFill>
                  <a:srgbClr val="1C252B"/>
                </a:solidFill>
                <a:latin typeface="Cambria"/>
              </a:rPr>
              <a:t>1</a:t>
            </a:r>
            <a:r>
              <a:rPr sz="2300" b="0" i="0">
                <a:solidFill>
                  <a:srgbClr val="1C252B"/>
                </a:solidFill>
                <a:latin typeface="Cambria"/>
              </a:rPr>
              <a:t>)</a:t>
            </a:r>
            <a:r>
              <a:rPr sz="2300" b="0" i="0">
                <a:solidFill>
                  <a:srgbClr val="1C252B"/>
                </a:solidFill>
                <a:latin typeface="Segoe UI"/>
              </a:rPr>
              <a:t>.</a:t>
            </a:r>
          </a:p>
        </p:txBody>
      </p:sp>
      <p:sp>
        <p:nvSpPr>
          <p:cNvPr id="11" name="body-2m"/>
          <p:cNvSpPr txBox="1"/>
          <p:nvPr/>
        </p:nvSpPr>
        <p:spPr>
          <a:xfrm>
            <a:off x="1060704" y="3463188"/>
            <a:ext cx="257176" cy="365760"/>
          </a:xfrm>
          <a:prstGeom prst="rect">
            <a:avLst/>
          </a:prstGeom>
          <a:noFill/>
        </p:spPr>
        <p:txBody>
          <a:bodyPr wrap="square" anchor="t" lIns="0" rIns="0" tIns="0" bIns="0">
            <a:noAutofit/>
          </a:bodyPr>
          <a:lstStyle/>
          <a:p>
            <a:pPr algn="l">
              <a:lnSpc>
                <a:spcPct val="100000"/>
              </a:lnSpc>
              <a:spcBef>
                <a:spcPts val="0"/>
              </a:spcBef>
              <a:spcAft>
                <a:spcPts val="0"/>
              </a:spcAft>
            </a:pPr>
            <a:r>
              <a:rPr sz="2300" b="1" i="0">
                <a:solidFill>
                  <a:srgbClr val="8A4500"/>
                </a:solidFill>
                <a:latin typeface="Segoe UI"/>
              </a:rPr>
              <a:t>•</a:t>
            </a:r>
          </a:p>
        </p:txBody>
      </p:sp>
      <p:pic>
        <p:nvPicPr>
          <p:cNvPr id="12" name="body-2" descr="Step: αt+1(j) = [Σi αt(i) Aij] Bj(ot+1) — every way of arriving in j, times the chance of emitting what was seen."/>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17880" y="3463188"/>
            <a:ext cx="9904506" cy="861639"/>
          </a:xfrm>
          <a:prstGeom prst="rect">
            <a:avLst/>
          </a:prstGeom>
        </p:spPr>
      </p:pic>
      <p:sp>
        <p:nvSpPr>
          <p:cNvPr id="13" name="body-3m"/>
          <p:cNvSpPr txBox="1"/>
          <p:nvPr/>
        </p:nvSpPr>
        <p:spPr>
          <a:xfrm>
            <a:off x="1060704" y="4485482"/>
            <a:ext cx="257176" cy="365760"/>
          </a:xfrm>
          <a:prstGeom prst="rect">
            <a:avLst/>
          </a:prstGeom>
          <a:noFill/>
        </p:spPr>
        <p:txBody>
          <a:bodyPr wrap="square" anchor="t" lIns="0" rIns="0" tIns="0" bIns="0">
            <a:noAutofit/>
          </a:bodyPr>
          <a:lstStyle/>
          <a:p>
            <a:pPr algn="l">
              <a:lnSpc>
                <a:spcPct val="100000"/>
              </a:lnSpc>
              <a:spcBef>
                <a:spcPts val="0"/>
              </a:spcBef>
              <a:spcAft>
                <a:spcPts val="0"/>
              </a:spcAft>
            </a:pPr>
            <a:r>
              <a:rPr sz="2300" b="1" i="0">
                <a:solidFill>
                  <a:srgbClr val="8A4500"/>
                </a:solidFill>
                <a:latin typeface="Segoe UI"/>
              </a:rPr>
              <a:t>•</a:t>
            </a:r>
          </a:p>
        </p:txBody>
      </p:sp>
      <p:pic>
        <p:nvPicPr>
          <p:cNvPr id="14" name="body-3" descr="End: P(o1, …, oT) = Σi αT(i)."/>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17880" y="4485482"/>
            <a:ext cx="9904506" cy="363748"/>
          </a:xfrm>
          <a:prstGeom prst="rect">
            <a:avLst/>
          </a:prstGeom>
        </p:spPr>
      </p:pic>
      <p:sp>
        <p:nvSpPr>
          <p:cNvPr id="15" name="body-4"/>
          <p:cNvSpPr txBox="1"/>
          <p:nvPr/>
        </p:nvSpPr>
        <p:spPr>
          <a:xfrm>
            <a:off x="1060704" y="500988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cost is </a:t>
            </a:r>
            <a:r>
              <a:rPr sz="2300" b="0" i="1">
                <a:solidFill>
                  <a:srgbClr val="1C252B"/>
                </a:solidFill>
                <a:latin typeface="Cambria"/>
              </a:rPr>
              <a:t>N</a:t>
            </a:r>
            <a:r>
              <a:rPr sz="2300" b="0" i="0" baseline="30000">
                <a:solidFill>
                  <a:srgbClr val="1C252B"/>
                </a:solidFill>
                <a:latin typeface="Cambria"/>
              </a:rPr>
              <a:t>2</a:t>
            </a:r>
            <a:r>
              <a:rPr sz="2300" b="0" i="0">
                <a:solidFill>
                  <a:srgbClr val="1C252B"/>
                </a:solidFill>
                <a:latin typeface="Cambria"/>
              </a:rPr>
              <a:t> </a:t>
            </a:r>
            <a:r>
              <a:rPr sz="2300" b="0" i="1">
                <a:solidFill>
                  <a:srgbClr val="1C252B"/>
                </a:solidFill>
                <a:latin typeface="Cambria"/>
              </a:rPr>
              <a:t>T</a:t>
            </a:r>
            <a:r>
              <a:rPr sz="2300" b="0" i="0">
                <a:solidFill>
                  <a:srgbClr val="1C252B"/>
                </a:solidFill>
                <a:latin typeface="Segoe UI"/>
              </a:rPr>
              <a:t> instead of </a:t>
            </a:r>
            <a:r>
              <a:rPr sz="2300" b="0" i="1">
                <a:solidFill>
                  <a:srgbClr val="1C252B"/>
                </a:solidFill>
                <a:latin typeface="Cambria"/>
              </a:rPr>
              <a:t>N</a:t>
            </a:r>
            <a:r>
              <a:rPr sz="2300" b="0" i="1" baseline="30000">
                <a:solidFill>
                  <a:srgbClr val="1C252B"/>
                </a:solidFill>
                <a:latin typeface="Cambria"/>
              </a:rPr>
              <a:t>T</a:t>
            </a:r>
            <a:r>
              <a:rPr sz="2300" b="0" i="0">
                <a:solidFill>
                  <a:srgbClr val="1C252B"/>
                </a:solidFill>
                <a:latin typeface="Segoe UI"/>
              </a:rPr>
              <a:t>.</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379297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How Likely Is “On Plan, Behind, Blocked”?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§18.4  ·  Handout p. 136     </a:t>
            </a:r>
            <a:fld id="{0F030F94-E315-44BE-8F58-A22833CD3518}"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14154"/>
          </a:xfrm>
          <a:prstGeom prst="roundRect">
            <a:avLst>
              <a:gd name="adj" fmla="val 207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141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Three weekly reports </a:t>
            </a:r>
            <a:r>
              <a:rPr sz="1900" b="0" i="1">
                <a:solidFill>
                  <a:srgbClr val="1C252B"/>
                </a:solidFill>
                <a:latin typeface="Cambria"/>
              </a:rPr>
              <a:t>o</a:t>
            </a:r>
            <a:r>
              <a:rPr sz="1900" b="0" i="0">
                <a:solidFill>
                  <a:srgbClr val="1C252B"/>
                </a:solidFill>
                <a:latin typeface="Cambria"/>
              </a:rPr>
              <a:t> = </a:t>
            </a:r>
            <a:r>
              <a:rPr sz="1900" b="0" i="0">
                <a:solidFill>
                  <a:srgbClr val="1C252B"/>
                </a:solidFill>
                <a:latin typeface="Segoe UI"/>
              </a:rPr>
              <a:t>(on plan, behind, blocked), model of Figure 18.1.</a:t>
            </a:r>
          </a:p>
        </p:txBody>
      </p:sp>
      <p:sp>
        <p:nvSpPr>
          <p:cNvPr id="10" name="body-1"/>
          <p:cNvSpPr txBox="1"/>
          <p:nvPr/>
        </p:nvSpPr>
        <p:spPr>
          <a:xfrm>
            <a:off x="1042416" y="244553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1">
                <a:solidFill>
                  <a:srgbClr val="7D6608"/>
                </a:solidFill>
                <a:latin typeface="Cambria"/>
              </a:rPr>
              <a:t>t</a:t>
            </a:r>
            <a:r>
              <a:rPr sz="1900" b="1" i="0">
                <a:solidFill>
                  <a:srgbClr val="1C252B"/>
                </a:solidFill>
                <a:latin typeface="Cambria"/>
              </a:rPr>
              <a:t> = 1</a:t>
            </a:r>
            <a:r>
              <a:rPr sz="1900" b="1" i="0">
                <a:solidFill>
                  <a:srgbClr val="1C252B"/>
                </a:solidFill>
                <a:latin typeface="Segoe UI"/>
              </a:rPr>
              <a:t> (on plan):</a:t>
            </a:r>
            <a:r>
              <a:rPr sz="1900" b="0" i="0">
                <a:solidFill>
                  <a:srgbClr val="1C252B"/>
                </a:solidFill>
                <a:latin typeface="Segoe UI"/>
              </a:rPr>
              <a:t> </a:t>
            </a:r>
            <a:r>
              <a:rPr sz="1900" b="0" i="0">
                <a:solidFill>
                  <a:srgbClr val="1C252B"/>
                </a:solidFill>
                <a:latin typeface="Cambria"/>
              </a:rPr>
              <a:t>α</a:t>
            </a:r>
            <a:r>
              <a:rPr sz="1900" b="0" i="0" baseline="-25000">
                <a:solidFill>
                  <a:srgbClr val="1C252B"/>
                </a:solidFill>
                <a:latin typeface="Cambria"/>
              </a:rPr>
              <a:t>1</a:t>
            </a:r>
            <a:r>
              <a:rPr sz="1900" b="0" i="0">
                <a:solidFill>
                  <a:srgbClr val="1C252B"/>
                </a:solidFill>
                <a:latin typeface="Cambria"/>
              </a:rPr>
              <a:t>(</a:t>
            </a:r>
            <a:r>
              <a:rPr sz="1900" b="0" i="1">
                <a:solidFill>
                  <a:srgbClr val="1C252B"/>
                </a:solidFill>
                <a:latin typeface="Cambria"/>
              </a:rPr>
              <a:t>H</a:t>
            </a:r>
            <a:r>
              <a:rPr sz="1900" b="0" i="0">
                <a:solidFill>
                  <a:srgbClr val="1C252B"/>
                </a:solidFill>
                <a:latin typeface="Cambria"/>
              </a:rPr>
              <a:t>) = 0.7 × 0.70 = 0.49</a:t>
            </a:r>
            <a:r>
              <a:rPr sz="1900" b="0" i="0">
                <a:solidFill>
                  <a:srgbClr val="1C252B"/>
                </a:solidFill>
                <a:latin typeface="Segoe UI"/>
              </a:rPr>
              <a:t>; </a:t>
            </a:r>
            <a:r>
              <a:rPr sz="1900" b="0" i="0">
                <a:solidFill>
                  <a:srgbClr val="1C252B"/>
                </a:solidFill>
                <a:latin typeface="Cambria"/>
              </a:rPr>
              <a:t>α</a:t>
            </a:r>
            <a:r>
              <a:rPr sz="1900" b="0" i="0" baseline="-25000">
                <a:solidFill>
                  <a:srgbClr val="1C252B"/>
                </a:solidFill>
                <a:latin typeface="Cambria"/>
              </a:rPr>
              <a:t>1</a:t>
            </a:r>
            <a:r>
              <a:rPr sz="1900" b="0" i="0">
                <a:solidFill>
                  <a:srgbClr val="1C252B"/>
                </a:solidFill>
                <a:latin typeface="Cambria"/>
              </a:rPr>
              <a:t>(</a:t>
            </a:r>
            <a:r>
              <a:rPr sz="1900" b="0" i="1">
                <a:solidFill>
                  <a:srgbClr val="1C252B"/>
                </a:solidFill>
                <a:latin typeface="Cambria"/>
              </a:rPr>
              <a:t>D</a:t>
            </a:r>
            <a:r>
              <a:rPr sz="1900" b="0" i="0">
                <a:solidFill>
                  <a:srgbClr val="1C252B"/>
                </a:solidFill>
                <a:latin typeface="Cambria"/>
              </a:rPr>
              <a:t>) = 0.3 × 0.10 = 0.03</a:t>
            </a:r>
            <a:r>
              <a:rPr sz="1900" b="0" i="0">
                <a:solidFill>
                  <a:srgbClr val="1C252B"/>
                </a:solidFill>
                <a:latin typeface="Segoe UI"/>
              </a:rPr>
              <a:t>.</a:t>
            </a:r>
          </a:p>
        </p:txBody>
      </p:sp>
      <p:sp>
        <p:nvSpPr>
          <p:cNvPr id="11" name="body-2"/>
          <p:cNvSpPr txBox="1"/>
          <p:nvPr/>
        </p:nvSpPr>
        <p:spPr>
          <a:xfrm>
            <a:off x="1042416" y="2879394"/>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1">
                <a:solidFill>
                  <a:srgbClr val="7D6608"/>
                </a:solidFill>
                <a:latin typeface="Cambria"/>
              </a:rPr>
              <a:t>t</a:t>
            </a:r>
            <a:r>
              <a:rPr sz="1900" b="1" i="0">
                <a:solidFill>
                  <a:srgbClr val="1C252B"/>
                </a:solidFill>
                <a:latin typeface="Cambria"/>
              </a:rPr>
              <a:t> = 2</a:t>
            </a:r>
            <a:r>
              <a:rPr sz="1900" b="1" i="0">
                <a:solidFill>
                  <a:srgbClr val="1C252B"/>
                </a:solidFill>
                <a:latin typeface="Segoe UI"/>
              </a:rPr>
              <a:t> (behind):</a:t>
            </a:r>
          </a:p>
        </p:txBody>
      </p:sp>
      <p:pic>
        <p:nvPicPr>
          <p:cNvPr id="12" name="body-3" descr="\alpha_2(H) = (0.49 \times 0.8 + 0.03 \times 0.3) \times 0.25 = 0.401 \times 0.25 = 0.10025"/>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313252"/>
            <a:ext cx="10234879" cy="324520"/>
          </a:xfrm>
          <a:prstGeom prst="rect">
            <a:avLst/>
          </a:prstGeom>
        </p:spPr>
      </p:pic>
      <p:pic>
        <p:nvPicPr>
          <p:cNvPr id="13" name="body-4" descr="\alpha_2(D) = (0.49 \times 0.2 + 0.03 \times 0.7) \times 0.50 = 0.119 \times 0.5 = 0.0595"/>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3770487"/>
            <a:ext cx="10234879" cy="324520"/>
          </a:xfrm>
          <a:prstGeom prst="rect">
            <a:avLst/>
          </a:prstGeom>
        </p:spPr>
      </p:pic>
      <p:sp>
        <p:nvSpPr>
          <p:cNvPr id="14" name="body-5"/>
          <p:cNvSpPr txBox="1"/>
          <p:nvPr/>
        </p:nvSpPr>
        <p:spPr>
          <a:xfrm>
            <a:off x="1042416" y="4227723"/>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1">
                <a:solidFill>
                  <a:srgbClr val="7D6608"/>
                </a:solidFill>
                <a:latin typeface="Cambria"/>
              </a:rPr>
              <a:t>t</a:t>
            </a:r>
            <a:r>
              <a:rPr sz="1900" b="1" i="0">
                <a:solidFill>
                  <a:srgbClr val="1C252B"/>
                </a:solidFill>
                <a:latin typeface="Cambria"/>
              </a:rPr>
              <a:t> = 3</a:t>
            </a:r>
            <a:r>
              <a:rPr sz="1900" b="1" i="0">
                <a:solidFill>
                  <a:srgbClr val="1C252B"/>
                </a:solidFill>
                <a:latin typeface="Segoe UI"/>
              </a:rPr>
              <a:t> (blocked):</a:t>
            </a:r>
          </a:p>
        </p:txBody>
      </p:sp>
      <p:sp>
        <p:nvSpPr>
          <p:cNvPr id="15" name="body-5bar">
            <a:extLst>
              <a:ext uri="{C183D7F6-B498-43B3-948B-1728B52AA6E4}">
                <adec:decorative xmlns:adec="http://schemas.microsoft.com/office/drawing/2017/decorative" val="1"/>
              </a:ext>
            </a:extLst>
          </p:cNvPr>
          <p:cNvSpPr/>
          <p:nvPr/>
        </p:nvSpPr>
        <p:spPr>
          <a:xfrm>
            <a:off x="841248" y="4246011"/>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body-6" descr="\alpha_3(H) = (0.10025 \times 0.8 + 0.0595 \times 0.3) \times 0.05 = 0.09805 \times 0.05 = 0.00490"/>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042416" y="4661580"/>
            <a:ext cx="10234879" cy="324520"/>
          </a:xfrm>
          <a:prstGeom prst="rect">
            <a:avLst/>
          </a:prstGeom>
        </p:spPr>
      </p:pic>
      <p:pic>
        <p:nvPicPr>
          <p:cNvPr id="17" name="body-7" descr="\alpha_3(D) = (0.10025 \times 0.2 + 0.0595 \times 0.7) \times 0.40 = 0.0617 \times 0.4 = 0.02468"/>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042416" y="5118816"/>
            <a:ext cx="10234879" cy="324520"/>
          </a:xfrm>
          <a:prstGeom prst="rect">
            <a:avLst/>
          </a:prstGeom>
        </p:spPr>
      </p:pic>
      <p:sp>
        <p:nvSpPr>
          <p:cNvPr id="18" name="body-8"/>
          <p:cNvSpPr txBox="1"/>
          <p:nvPr/>
        </p:nvSpPr>
        <p:spPr>
          <a:xfrm>
            <a:off x="1042416" y="5576051"/>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Answer:</a:t>
            </a:r>
            <a:r>
              <a:rPr sz="1900" b="0" i="0">
                <a:solidFill>
                  <a:srgbClr val="1C252B"/>
                </a:solidFill>
                <a:latin typeface="Segoe UI"/>
              </a:rPr>
              <a:t> </a:t>
            </a:r>
            <a:r>
              <a:rPr sz="1900" b="0" i="1">
                <a:solidFill>
                  <a:srgbClr val="1C252B"/>
                </a:solidFill>
                <a:latin typeface="Cambria"/>
              </a:rPr>
              <a:t>P</a:t>
            </a:r>
            <a:r>
              <a:rPr sz="1900" b="0" i="0">
                <a:solidFill>
                  <a:srgbClr val="1C252B"/>
                </a:solidFill>
                <a:latin typeface="Cambria"/>
              </a:rPr>
              <a:t>(</a:t>
            </a:r>
            <a:r>
              <a:rPr sz="1900" b="0" i="1">
                <a:solidFill>
                  <a:srgbClr val="1C252B"/>
                </a:solidFill>
                <a:latin typeface="Cambria"/>
              </a:rPr>
              <a:t>o</a:t>
            </a:r>
            <a:r>
              <a:rPr sz="1900" b="0" i="0">
                <a:solidFill>
                  <a:srgbClr val="1C252B"/>
                </a:solidFill>
                <a:latin typeface="Cambria"/>
              </a:rPr>
              <a:t>) = 0.00490 + 0.02468 = </a:t>
            </a:r>
            <a:r>
              <a:rPr sz="1900" b="1" i="0">
                <a:solidFill>
                  <a:srgbClr val="1C252B"/>
                </a:solidFill>
                <a:latin typeface="Cambria"/>
              </a:rPr>
              <a:t>0.0296</a:t>
            </a:r>
            <a:r>
              <a:rPr sz="1900" b="0" i="0">
                <a:solidFill>
                  <a:srgbClr val="1C252B"/>
                </a:solidFill>
                <a:latin typeface="Segoe UI"/>
              </a:rPr>
              <a:t>.</a:t>
            </a:r>
          </a:p>
        </p:txBody>
      </p:sp>
      <p:sp>
        <p:nvSpPr>
          <p:cNvPr id="19" name="body-8bar">
            <a:extLst>
              <a:ext uri="{C183D7F6-B498-43B3-948B-1728B52AA6E4}">
                <adec:decorative xmlns:adec="http://schemas.microsoft.com/office/drawing/2017/decorative" val="1"/>
              </a:ext>
            </a:extLst>
          </p:cNvPr>
          <p:cNvSpPr/>
          <p:nvPr/>
        </p:nvSpPr>
        <p:spPr>
          <a:xfrm>
            <a:off x="841248" y="5594339"/>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pfill">
            <a:extLst>
              <a:ext uri="{C183D7F6-B498-43B3-948B-1728B52AA6E4}">
                <adec:decorative xmlns:adec="http://schemas.microsoft.com/office/drawing/2017/decorative" val="1"/>
              </a:ext>
            </a:extLst>
          </p:cNvPr>
          <p:cNvSpPr/>
          <p:nvPr/>
        </p:nvSpPr>
        <p:spPr>
          <a:xfrm>
            <a:off x="0" y="0"/>
            <a:ext cx="406389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wipe(right)">
                                      <p:cBhvr>
                                        <p:cTn id="28" dur="42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2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wipe(right)">
                                      <p:cBhvr>
                                        <p:cTn id="41" dur="420"/>
                                        <p:tgtEl>
                                          <p:spTgt spid="1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9"/>
                                        </p:tgtEl>
                                        <p:attrNameLst>
                                          <p:attrName>style.visibility</p:attrName>
                                        </p:attrNameLst>
                                      </p:cBhvr>
                                      <p:to>
                                        <p:strVal val="visible"/>
                                      </p:to>
                                    </p:set>
                                    <p:animEffect transition="in" filter="wipe(right)">
                                      <p:cBhvr>
                                        <p:cTn id="46" dur="420"/>
                                        <p:tgtEl>
                                          <p:spTgt spid="1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How Likely Is “On Plan, Behind, Blocked”?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§18.4  ·  Handout p. 136     </a:t>
            </a:r>
            <a:fld id="{79C4675A-A872-43F8-946B-46016C919569}"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452067"/>
          </a:xfrm>
          <a:prstGeom prst="roundRect">
            <a:avLst>
              <a:gd name="adj" fmla="val 6297"/>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45206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same numbers answer a second question for free: given everything seen so far, the project is now distressed with probability </a:t>
            </a:r>
            <a:r>
              <a:rPr sz="1900" b="0" i="0">
                <a:solidFill>
                  <a:srgbClr val="1C252B"/>
                </a:solidFill>
                <a:latin typeface="Cambria"/>
              </a:rPr>
              <a:t>0.02468/0.0296 = </a:t>
            </a:r>
            <a:r>
              <a:rPr sz="1900" b="1" i="0">
                <a:solidFill>
                  <a:srgbClr val="1C252B"/>
                </a:solidFill>
                <a:latin typeface="Cambria"/>
              </a:rPr>
              <a:t>0.83</a:t>
            </a:r>
            <a:r>
              <a:rPr sz="1900" b="0" i="0">
                <a:solidFill>
                  <a:srgbClr val="1C252B"/>
                </a:solidFill>
                <a:latin typeface="Segoe UI"/>
              </a:rPr>
              <a:t> — the </a:t>
            </a:r>
            <a:r>
              <a:rPr sz="1900" b="0" i="1">
                <a:solidFill>
                  <a:srgbClr val="1C252B"/>
                </a:solidFill>
                <a:latin typeface="Segoe UI"/>
              </a:rPr>
              <a:t>filtered</a:t>
            </a:r>
            <a:r>
              <a:rPr sz="1900" b="0" i="0">
                <a:solidFill>
                  <a:srgbClr val="1C252B"/>
                </a:solidFill>
                <a:latin typeface="Segoe UI"/>
              </a:rPr>
              <a:t> state estimate, which is what a portfolio dashboard wants.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33482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Decoding: The Viterbi Algorithm</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5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18.5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18.1   When Order Matters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18.2   Markov Chains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18.3   Hidden Markov Models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18.4   Evaluation: The Forward Algorithm</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18.5   Decoding: The Viterbi Algorithm</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18.6   Learning: Baum–Welch</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18.7   Monte Carlo Estimation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§18.5     </a:t>
            </a:r>
            <a:fld id="{234FFD7D-59C3-472C-8E90-EEBCA88D2D03}" type="slidenum">
              <a:rPr lang="en-GB" sz="1000">
                <a:solidFill>
                  <a:srgbClr val="8795A1"/>
                </a:solidFill>
                <a:latin typeface="Segoe UI"/>
              </a:rPr>
              <a:t>17</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460575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Viterbi Algorithm</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§18.5  ·  Handout p. 136     </a:t>
            </a:r>
            <a:fld id="{63EFEA88-3D6D-4F6C-83B6-144EB77624AC}"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38702"/>
          </a:xfrm>
          <a:prstGeom prst="roundRect">
            <a:avLst>
              <a:gd name="adj" fmla="val 2583"/>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38702"/>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Let </a:t>
            </a:r>
            <a:r>
              <a:rPr sz="2300" b="0" i="0">
                <a:solidFill>
                  <a:srgbClr val="1C252B"/>
                </a:solidFill>
                <a:latin typeface="Cambria"/>
              </a:rPr>
              <a:t>δ</a:t>
            </a:r>
            <a:r>
              <a:rPr sz="2300" b="0" i="1" baseline="-25000">
                <a:solidFill>
                  <a:srgbClr val="1C252B"/>
                </a:solidFill>
                <a:latin typeface="Cambria"/>
              </a:rPr>
              <a:t>t</a:t>
            </a:r>
            <a:r>
              <a:rPr sz="2300" b="0" i="0">
                <a:solidFill>
                  <a:srgbClr val="1C252B"/>
                </a:solidFill>
                <a:latin typeface="Cambria"/>
              </a:rPr>
              <a:t>(</a:t>
            </a:r>
            <a:r>
              <a:rPr sz="2300" b="0" i="1">
                <a:solidFill>
                  <a:srgbClr val="1C252B"/>
                </a:solidFill>
                <a:latin typeface="Cambria"/>
              </a:rPr>
              <a:t>j</a:t>
            </a:r>
            <a:r>
              <a:rPr sz="2300" b="0" i="0">
                <a:solidFill>
                  <a:srgbClr val="1C252B"/>
                </a:solidFill>
                <a:latin typeface="Cambria"/>
              </a:rPr>
              <a:t>)</a:t>
            </a:r>
            <a:r>
              <a:rPr sz="2300" b="0" i="0">
                <a:solidFill>
                  <a:srgbClr val="1C252B"/>
                </a:solidFill>
                <a:latin typeface="Segoe UI"/>
              </a:rPr>
              <a:t> be the probability of the single most likely state sequence ending in state </a:t>
            </a:r>
            <a:r>
              <a:rPr sz="2300" b="0" i="1">
                <a:solidFill>
                  <a:srgbClr val="1C252B"/>
                </a:solidFill>
                <a:latin typeface="Cambria"/>
              </a:rPr>
              <a:t>j</a:t>
            </a:r>
            <a:r>
              <a:rPr sz="2300" b="0" i="0">
                <a:solidFill>
                  <a:srgbClr val="1C252B"/>
                </a:solidFill>
                <a:latin typeface="Segoe UI"/>
              </a:rPr>
              <a:t> at time </a:t>
            </a:r>
            <a:r>
              <a:rPr sz="2300" b="0" i="1">
                <a:solidFill>
                  <a:srgbClr val="1C252B"/>
                </a:solidFill>
                <a:latin typeface="Cambria"/>
              </a:rPr>
              <a:t>t</a:t>
            </a:r>
            <a:r>
              <a:rPr sz="2300" b="0" i="0">
                <a:solidFill>
                  <a:srgbClr val="1C252B"/>
                </a:solidFill>
                <a:latin typeface="Segoe UI"/>
              </a:rPr>
              <a:t> (with the observations so far).</a:t>
            </a:r>
          </a:p>
        </p:txBody>
      </p:sp>
      <p:sp>
        <p:nvSpPr>
          <p:cNvPr id="10" name="body-1"/>
          <p:cNvSpPr txBox="1"/>
          <p:nvPr/>
        </p:nvSpPr>
        <p:spPr>
          <a:xfrm>
            <a:off x="1060704" y="2937992"/>
            <a:ext cx="10161727" cy="2072893"/>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8A4500"/>
                </a:solidFill>
                <a:latin typeface="Segoe UI"/>
              </a:rPr>
              <a:t>•	</a:t>
            </a:r>
            <a:r>
              <a:rPr sz="2300" b="0" i="0">
                <a:solidFill>
                  <a:srgbClr val="1C252B"/>
                </a:solidFill>
                <a:latin typeface="Segoe UI"/>
              </a:rPr>
              <a:t>Start: </a:t>
            </a:r>
            <a:r>
              <a:rPr sz="2300" b="0" i="0">
                <a:solidFill>
                  <a:srgbClr val="1C252B"/>
                </a:solidFill>
                <a:latin typeface="Cambria"/>
              </a:rPr>
              <a:t>δ</a:t>
            </a:r>
            <a:r>
              <a:rPr sz="2300" b="0" i="0" baseline="-25000">
                <a:solidFill>
                  <a:srgbClr val="1C252B"/>
                </a:solidFill>
                <a:latin typeface="Cambria"/>
              </a:rPr>
              <a:t>1</a:t>
            </a:r>
            <a:r>
              <a:rPr sz="2300" b="0" i="0">
                <a:solidFill>
                  <a:srgbClr val="1C252B"/>
                </a:solidFill>
                <a:latin typeface="Cambria"/>
              </a:rPr>
              <a:t>(</a:t>
            </a:r>
            <a:r>
              <a:rPr sz="2300" b="0" i="1">
                <a:solidFill>
                  <a:srgbClr val="1C252B"/>
                </a:solidFill>
                <a:latin typeface="Cambria"/>
              </a:rPr>
              <a:t>i</a:t>
            </a:r>
            <a:r>
              <a:rPr sz="2300" b="0" i="0">
                <a:solidFill>
                  <a:srgbClr val="1C252B"/>
                </a:solidFill>
                <a:latin typeface="Cambria"/>
              </a:rPr>
              <a:t>) = π</a:t>
            </a:r>
            <a:r>
              <a:rPr sz="2300" b="0" i="1" baseline="-25000">
                <a:solidFill>
                  <a:srgbClr val="1C252B"/>
                </a:solidFill>
                <a:latin typeface="Cambria"/>
              </a:rPr>
              <a:t>i</a:t>
            </a:r>
            <a:r>
              <a:rPr sz="2300" b="0" i="0">
                <a:solidFill>
                  <a:srgbClr val="1C252B"/>
                </a:solidFill>
                <a:latin typeface="Cambria"/>
              </a:rPr>
              <a:t> </a:t>
            </a:r>
            <a:r>
              <a:rPr sz="2300" b="0" i="1">
                <a:solidFill>
                  <a:srgbClr val="1C252B"/>
                </a:solidFill>
                <a:latin typeface="Cambria"/>
              </a:rPr>
              <a:t>B</a:t>
            </a:r>
            <a:r>
              <a:rPr sz="2300" b="0" i="1" baseline="-25000">
                <a:solidFill>
                  <a:srgbClr val="1C252B"/>
                </a:solidFill>
                <a:latin typeface="Cambria"/>
              </a:rPr>
              <a:t>i</a:t>
            </a:r>
            <a:r>
              <a:rPr sz="2300" b="0" i="0">
                <a:solidFill>
                  <a:srgbClr val="1C252B"/>
                </a:solidFill>
                <a:latin typeface="Cambria"/>
              </a:rPr>
              <a:t>(</a:t>
            </a:r>
            <a:r>
              <a:rPr sz="2300" b="0" i="1">
                <a:solidFill>
                  <a:srgbClr val="1C252B"/>
                </a:solidFill>
                <a:latin typeface="Cambria"/>
              </a:rPr>
              <a:t>o</a:t>
            </a:r>
            <a:r>
              <a:rPr sz="2300" b="0" i="0" baseline="-25000">
                <a:solidFill>
                  <a:srgbClr val="1C252B"/>
                </a:solidFill>
                <a:latin typeface="Cambria"/>
              </a:rPr>
              <a:t>1</a:t>
            </a:r>
            <a:r>
              <a:rPr sz="2300" b="0" i="0">
                <a:solidFill>
                  <a:srgbClr val="1C252B"/>
                </a:solidFill>
                <a:latin typeface="Cambria"/>
              </a:rPr>
              <a:t>)</a:t>
            </a:r>
            <a:r>
              <a:rPr sz="2300" b="0" i="0">
                <a:solidFill>
                  <a:srgbClr val="1C252B"/>
                </a:solidFill>
                <a:latin typeface="Segoe UI"/>
              </a:rPr>
              <a:t>.</a:t>
            </a:r>
          </a:p>
          <a:p>
            <a:pPr algn="l" marL="257176" indent="-257176">
              <a:lnSpc>
                <a:spcPct val="104000"/>
              </a:lnSpc>
              <a:spcBef>
                <a:spcPts val="0"/>
              </a:spcBef>
              <a:spcAft>
                <a:spcPts val="804"/>
              </a:spcAft>
            </a:pPr>
            <a:r>
              <a:rPr sz="2300" b="1">
                <a:solidFill>
                  <a:srgbClr val="8A4500"/>
                </a:solidFill>
                <a:latin typeface="Segoe UI"/>
              </a:rPr>
              <a:t>•	</a:t>
            </a:r>
            <a:r>
              <a:rPr sz="2300" b="0" i="0">
                <a:solidFill>
                  <a:srgbClr val="1C252B"/>
                </a:solidFill>
                <a:latin typeface="Segoe UI"/>
              </a:rPr>
              <a:t>Step: </a:t>
            </a:r>
            <a:r>
              <a:rPr sz="2300" b="0" i="0">
                <a:solidFill>
                  <a:srgbClr val="1C252B"/>
                </a:solidFill>
                <a:latin typeface="Cambria"/>
              </a:rPr>
              <a:t>δ</a:t>
            </a:r>
            <a:r>
              <a:rPr sz="2300" b="0" i="1" baseline="-25000">
                <a:solidFill>
                  <a:srgbClr val="1C252B"/>
                </a:solidFill>
                <a:latin typeface="Cambria"/>
              </a:rPr>
              <a:t>t</a:t>
            </a:r>
            <a:r>
              <a:rPr sz="2300" b="0" i="0" baseline="-25000">
                <a:solidFill>
                  <a:srgbClr val="1C252B"/>
                </a:solidFill>
                <a:latin typeface="Cambria"/>
              </a:rPr>
              <a:t>+1</a:t>
            </a:r>
            <a:r>
              <a:rPr sz="2300" b="0" i="0">
                <a:solidFill>
                  <a:srgbClr val="1C252B"/>
                </a:solidFill>
                <a:latin typeface="Cambria"/>
              </a:rPr>
              <a:t>(</a:t>
            </a:r>
            <a:r>
              <a:rPr sz="2300" b="0" i="1">
                <a:solidFill>
                  <a:srgbClr val="1C252B"/>
                </a:solidFill>
                <a:latin typeface="Cambria"/>
              </a:rPr>
              <a:t>j</a:t>
            </a:r>
            <a:r>
              <a:rPr sz="2300" b="0" i="0">
                <a:solidFill>
                  <a:srgbClr val="1C252B"/>
                </a:solidFill>
                <a:latin typeface="Cambria"/>
              </a:rPr>
              <a:t>) = max</a:t>
            </a:r>
            <a:r>
              <a:rPr sz="2300" b="0" i="1" baseline="-25000">
                <a:solidFill>
                  <a:srgbClr val="1C252B"/>
                </a:solidFill>
                <a:latin typeface="Cambria"/>
              </a:rPr>
              <a:t>i</a:t>
            </a:r>
            <a:r>
              <a:rPr sz="2300" b="0" i="0">
                <a:solidFill>
                  <a:srgbClr val="1C252B"/>
                </a:solidFill>
                <a:latin typeface="Cambria"/>
              </a:rPr>
              <a:t>[δ</a:t>
            </a:r>
            <a:r>
              <a:rPr sz="2300" b="0" i="1" baseline="-25000">
                <a:solidFill>
                  <a:srgbClr val="1C252B"/>
                </a:solidFill>
                <a:latin typeface="Cambria"/>
              </a:rPr>
              <a:t>t</a:t>
            </a:r>
            <a:r>
              <a:rPr sz="2300" b="0" i="0">
                <a:solidFill>
                  <a:srgbClr val="1C252B"/>
                </a:solidFill>
                <a:latin typeface="Cambria"/>
              </a:rPr>
              <a:t>(</a:t>
            </a:r>
            <a:r>
              <a:rPr sz="2300" b="0" i="1">
                <a:solidFill>
                  <a:srgbClr val="1C252B"/>
                </a:solidFill>
                <a:latin typeface="Cambria"/>
              </a:rPr>
              <a:t>i</a:t>
            </a:r>
            <a:r>
              <a:rPr sz="2300" b="0" i="0">
                <a:solidFill>
                  <a:srgbClr val="1C252B"/>
                </a:solidFill>
                <a:latin typeface="Cambria"/>
              </a:rPr>
              <a:t>) </a:t>
            </a:r>
            <a:r>
              <a:rPr sz="2300" b="0" i="1">
                <a:solidFill>
                  <a:srgbClr val="1C252B"/>
                </a:solidFill>
                <a:latin typeface="Cambria"/>
              </a:rPr>
              <a:t>A</a:t>
            </a:r>
            <a:r>
              <a:rPr sz="2300" b="0" i="1" baseline="-25000">
                <a:solidFill>
                  <a:srgbClr val="1C252B"/>
                </a:solidFill>
                <a:latin typeface="Cambria"/>
              </a:rPr>
              <a:t>ij</a:t>
            </a:r>
            <a:r>
              <a:rPr sz="2300" b="0" i="0">
                <a:solidFill>
                  <a:srgbClr val="1C252B"/>
                </a:solidFill>
                <a:latin typeface="Cambria"/>
              </a:rPr>
              <a:t>] </a:t>
            </a:r>
            <a:r>
              <a:rPr sz="2300" b="0" i="1">
                <a:solidFill>
                  <a:srgbClr val="1C252B"/>
                </a:solidFill>
                <a:latin typeface="Cambria"/>
              </a:rPr>
              <a:t>B</a:t>
            </a:r>
            <a:r>
              <a:rPr sz="2300" b="0" i="1" baseline="-25000">
                <a:solidFill>
                  <a:srgbClr val="1C252B"/>
                </a:solidFill>
                <a:latin typeface="Cambria"/>
              </a:rPr>
              <a:t>j</a:t>
            </a:r>
            <a:r>
              <a:rPr sz="2300" b="0" i="0">
                <a:solidFill>
                  <a:srgbClr val="1C252B"/>
                </a:solidFill>
                <a:latin typeface="Cambria"/>
              </a:rPr>
              <a:t>(</a:t>
            </a:r>
            <a:r>
              <a:rPr sz="2300" b="0" i="1">
                <a:solidFill>
                  <a:srgbClr val="1C252B"/>
                </a:solidFill>
                <a:latin typeface="Cambria"/>
              </a:rPr>
              <a:t>o</a:t>
            </a:r>
            <a:r>
              <a:rPr sz="2300" b="0" i="1" baseline="-25000">
                <a:solidFill>
                  <a:srgbClr val="1C252B"/>
                </a:solidFill>
                <a:latin typeface="Cambria"/>
              </a:rPr>
              <a:t>t</a:t>
            </a:r>
            <a:r>
              <a:rPr sz="2300" b="0" i="0" baseline="-25000">
                <a:solidFill>
                  <a:srgbClr val="1C252B"/>
                </a:solidFill>
                <a:latin typeface="Cambria"/>
              </a:rPr>
              <a:t>+1</a:t>
            </a:r>
            <a:r>
              <a:rPr sz="2300" b="0" i="0">
                <a:solidFill>
                  <a:srgbClr val="1C252B"/>
                </a:solidFill>
                <a:latin typeface="Cambria"/>
              </a:rPr>
              <a:t>)</a:t>
            </a:r>
            <a:r>
              <a:rPr sz="2300" b="0" i="0">
                <a:solidFill>
                  <a:srgbClr val="1C252B"/>
                </a:solidFill>
                <a:latin typeface="Segoe UI"/>
              </a:rPr>
              <a:t>, and store the maximising </a:t>
            </a:r>
            <a:r>
              <a:rPr sz="2300" b="0" i="1">
                <a:solidFill>
                  <a:srgbClr val="1C252B"/>
                </a:solidFill>
                <a:latin typeface="Cambria"/>
              </a:rPr>
              <a:t>i</a:t>
            </a:r>
            <a:r>
              <a:rPr sz="2300" b="0" i="0">
                <a:solidFill>
                  <a:srgbClr val="1C252B"/>
                </a:solidFill>
                <a:latin typeface="Segoe UI"/>
              </a:rPr>
              <a:t> as the </a:t>
            </a:r>
            <a:r>
              <a:rPr sz="2300" b="1" i="0">
                <a:solidFill>
                  <a:srgbClr val="1A5276"/>
                </a:solidFill>
                <a:latin typeface="Segoe UI"/>
              </a:rPr>
              <a:t>backpointer</a:t>
            </a:r>
            <a:r>
              <a:rPr sz="2300" b="0" i="0">
                <a:solidFill>
                  <a:srgbClr val="1C252B"/>
                </a:solidFill>
                <a:latin typeface="Segoe UI"/>
              </a:rPr>
              <a:t> for </a:t>
            </a:r>
            <a:r>
              <a:rPr sz="2300" b="0" i="0">
                <a:solidFill>
                  <a:srgbClr val="1C252B"/>
                </a:solidFill>
                <a:latin typeface="Cambria"/>
              </a:rPr>
              <a:t>(</a:t>
            </a:r>
            <a:r>
              <a:rPr sz="2300" b="0" i="1">
                <a:solidFill>
                  <a:srgbClr val="1C252B"/>
                </a:solidFill>
                <a:latin typeface="Cambria"/>
              </a:rPr>
              <a:t>t</a:t>
            </a:r>
            <a:r>
              <a:rPr sz="2300" b="0" i="0">
                <a:solidFill>
                  <a:srgbClr val="1C252B"/>
                </a:solidFill>
                <a:latin typeface="Cambria"/>
              </a:rPr>
              <a:t>+1, </a:t>
            </a:r>
            <a:r>
              <a:rPr sz="2300" b="0" i="1">
                <a:solidFill>
                  <a:srgbClr val="1C252B"/>
                </a:solidFill>
                <a:latin typeface="Cambria"/>
              </a:rPr>
              <a:t>j</a:t>
            </a:r>
            <a:r>
              <a:rPr sz="2300" b="0" i="0">
                <a:solidFill>
                  <a:srgbClr val="1C252B"/>
                </a:solidFill>
                <a:latin typeface="Cambria"/>
              </a:rPr>
              <a:t>)</a:t>
            </a:r>
            <a:r>
              <a:rPr sz="2300" b="0" i="0">
                <a:solidFill>
                  <a:srgbClr val="1C252B"/>
                </a:solidFill>
                <a:latin typeface="Segoe UI"/>
              </a:rPr>
              <a:t>.</a:t>
            </a:r>
          </a:p>
          <a:p>
            <a:pPr algn="l" marL="257176" indent="-257176">
              <a:lnSpc>
                <a:spcPct val="104000"/>
              </a:lnSpc>
              <a:spcBef>
                <a:spcPts val="0"/>
              </a:spcBef>
              <a:spcAft>
                <a:spcPts val="0"/>
              </a:spcAft>
            </a:pPr>
            <a:r>
              <a:rPr sz="2300" b="1">
                <a:solidFill>
                  <a:srgbClr val="8A4500"/>
                </a:solidFill>
                <a:latin typeface="Segoe UI"/>
              </a:rPr>
              <a:t>•	</a:t>
            </a:r>
            <a:r>
              <a:rPr sz="2300" b="0" i="0">
                <a:solidFill>
                  <a:srgbClr val="1C252B"/>
                </a:solidFill>
                <a:latin typeface="Segoe UI"/>
              </a:rPr>
              <a:t>End: take the state with the largest </a:t>
            </a:r>
            <a:r>
              <a:rPr sz="2300" b="0" i="0">
                <a:solidFill>
                  <a:srgbClr val="1C252B"/>
                </a:solidFill>
                <a:latin typeface="Cambria"/>
              </a:rPr>
              <a:t>δ</a:t>
            </a:r>
            <a:r>
              <a:rPr sz="2300" b="0" i="1" baseline="-25000">
                <a:solidFill>
                  <a:srgbClr val="1C252B"/>
                </a:solidFill>
                <a:latin typeface="Cambria"/>
              </a:rPr>
              <a:t>T</a:t>
            </a:r>
            <a:r>
              <a:rPr sz="2300" b="0" i="0">
                <a:solidFill>
                  <a:srgbClr val="1C252B"/>
                </a:solidFill>
                <a:latin typeface="Segoe UI"/>
              </a:rPr>
              <a:t>, then follow the backpointers back to </a:t>
            </a:r>
            <a:r>
              <a:rPr sz="2300" b="0" i="1">
                <a:solidFill>
                  <a:srgbClr val="1C252B"/>
                </a:solidFill>
                <a:latin typeface="Cambria"/>
              </a:rPr>
              <a:t>t</a:t>
            </a:r>
            <a:r>
              <a:rPr sz="2300" b="0" i="0">
                <a:solidFill>
                  <a:srgbClr val="1C252B"/>
                </a:solidFill>
                <a:latin typeface="Cambria"/>
              </a:rPr>
              <a:t> = 1</a:t>
            </a:r>
            <a:r>
              <a:rPr sz="2300" b="0" i="0">
                <a:solidFill>
                  <a:srgbClr val="1C252B"/>
                </a:solidFill>
                <a:latin typeface="Segoe UI"/>
              </a:rPr>
              <a:t>.</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487667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When Did the Project Slip?</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§18.5  ·  Handout p. 136     </a:t>
            </a:r>
            <a:fld id="{6EAE7D45-CE0A-42F7-B25B-54FACDD7CC86}"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50969"/>
          </a:xfrm>
          <a:prstGeom prst="roundRect">
            <a:avLst>
              <a:gd name="adj" fmla="val 2202"/>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5096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The same reports: on plan, behind, blocked.</a:t>
            </a:r>
          </a:p>
        </p:txBody>
      </p:sp>
      <p:sp>
        <p:nvSpPr>
          <p:cNvPr id="10" name="body-1"/>
          <p:cNvSpPr txBox="1"/>
          <p:nvPr/>
        </p:nvSpPr>
        <p:spPr>
          <a:xfrm>
            <a:off x="1042416" y="2377033"/>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1" i="1">
                <a:solidFill>
                  <a:srgbClr val="7D6608"/>
                </a:solidFill>
                <a:latin typeface="Cambria"/>
              </a:rPr>
              <a:t>t</a:t>
            </a:r>
            <a:r>
              <a:rPr sz="1600" b="1" i="0">
                <a:solidFill>
                  <a:srgbClr val="1C252B"/>
                </a:solidFill>
                <a:latin typeface="Cambria"/>
              </a:rPr>
              <a:t> = 1</a:t>
            </a:r>
            <a:r>
              <a:rPr sz="1600" b="1" i="0">
                <a:solidFill>
                  <a:srgbClr val="1C252B"/>
                </a:solidFill>
                <a:latin typeface="Segoe UI"/>
              </a:rPr>
              <a:t>:</a:t>
            </a:r>
            <a:r>
              <a:rPr sz="1600" b="0" i="0">
                <a:solidFill>
                  <a:srgbClr val="1C252B"/>
                </a:solidFill>
                <a:latin typeface="Segoe UI"/>
              </a:rPr>
              <a:t> </a:t>
            </a:r>
            <a:r>
              <a:rPr sz="1600" b="0" i="0">
                <a:solidFill>
                  <a:srgbClr val="1C252B"/>
                </a:solidFill>
                <a:latin typeface="Cambria"/>
              </a:rPr>
              <a:t>δ</a:t>
            </a:r>
            <a:r>
              <a:rPr sz="1600" b="0" i="0" baseline="-25000">
                <a:solidFill>
                  <a:srgbClr val="1C252B"/>
                </a:solidFill>
                <a:latin typeface="Cambria"/>
              </a:rPr>
              <a:t>1</a:t>
            </a:r>
            <a:r>
              <a:rPr sz="1600" b="0" i="0">
                <a:solidFill>
                  <a:srgbClr val="1C252B"/>
                </a:solidFill>
                <a:latin typeface="Cambria"/>
              </a:rPr>
              <a:t>(</a:t>
            </a:r>
            <a:r>
              <a:rPr sz="1600" b="0" i="1">
                <a:solidFill>
                  <a:srgbClr val="1C252B"/>
                </a:solidFill>
                <a:latin typeface="Cambria"/>
              </a:rPr>
              <a:t>H</a:t>
            </a:r>
            <a:r>
              <a:rPr sz="1600" b="0" i="0">
                <a:solidFill>
                  <a:srgbClr val="1C252B"/>
                </a:solidFill>
                <a:latin typeface="Cambria"/>
              </a:rPr>
              <a:t>) = 0.49</a:t>
            </a:r>
            <a:r>
              <a:rPr sz="1600" b="0" i="0">
                <a:solidFill>
                  <a:srgbClr val="1C252B"/>
                </a:solidFill>
                <a:latin typeface="Segoe UI"/>
              </a:rPr>
              <a:t>, </a:t>
            </a:r>
            <a:r>
              <a:rPr sz="1600" b="0" i="0">
                <a:solidFill>
                  <a:srgbClr val="1C252B"/>
                </a:solidFill>
                <a:latin typeface="Cambria"/>
              </a:rPr>
              <a:t>δ</a:t>
            </a:r>
            <a:r>
              <a:rPr sz="1600" b="0" i="0" baseline="-25000">
                <a:solidFill>
                  <a:srgbClr val="1C252B"/>
                </a:solidFill>
                <a:latin typeface="Cambria"/>
              </a:rPr>
              <a:t>1</a:t>
            </a:r>
            <a:r>
              <a:rPr sz="1600" b="0" i="0">
                <a:solidFill>
                  <a:srgbClr val="1C252B"/>
                </a:solidFill>
                <a:latin typeface="Cambria"/>
              </a:rPr>
              <a:t>(</a:t>
            </a:r>
            <a:r>
              <a:rPr sz="1600" b="0" i="1">
                <a:solidFill>
                  <a:srgbClr val="1C252B"/>
                </a:solidFill>
                <a:latin typeface="Cambria"/>
              </a:rPr>
              <a:t>D</a:t>
            </a:r>
            <a:r>
              <a:rPr sz="1600" b="0" i="0">
                <a:solidFill>
                  <a:srgbClr val="1C252B"/>
                </a:solidFill>
                <a:latin typeface="Cambria"/>
              </a:rPr>
              <a:t>) = 0.03</a:t>
            </a:r>
            <a:r>
              <a:rPr sz="1600" b="0" i="0">
                <a:solidFill>
                  <a:srgbClr val="1C252B"/>
                </a:solidFill>
                <a:latin typeface="Segoe UI"/>
              </a:rPr>
              <a:t>.</a:t>
            </a:r>
          </a:p>
        </p:txBody>
      </p:sp>
      <p:sp>
        <p:nvSpPr>
          <p:cNvPr id="11" name="body-2"/>
          <p:cNvSpPr txBox="1"/>
          <p:nvPr/>
        </p:nvSpPr>
        <p:spPr>
          <a:xfrm>
            <a:off x="1042416" y="2742387"/>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1" i="1">
                <a:solidFill>
                  <a:srgbClr val="7D6608"/>
                </a:solidFill>
                <a:latin typeface="Cambria"/>
              </a:rPr>
              <a:t>t</a:t>
            </a:r>
            <a:r>
              <a:rPr sz="1600" b="1" i="0">
                <a:solidFill>
                  <a:srgbClr val="1C252B"/>
                </a:solidFill>
                <a:latin typeface="Cambria"/>
              </a:rPr>
              <a:t> = 2</a:t>
            </a:r>
            <a:r>
              <a:rPr sz="1600" b="1" i="0">
                <a:solidFill>
                  <a:srgbClr val="1C252B"/>
                </a:solidFill>
                <a:latin typeface="Segoe UI"/>
              </a:rPr>
              <a:t> (behind):</a:t>
            </a:r>
          </a:p>
        </p:txBody>
      </p:sp>
      <p:sp>
        <p:nvSpPr>
          <p:cNvPr id="12" name="body-3"/>
          <p:cNvSpPr txBox="1"/>
          <p:nvPr/>
        </p:nvSpPr>
        <p:spPr>
          <a:xfrm>
            <a:off x="1042416" y="3107740"/>
            <a:ext cx="10234879" cy="624027"/>
          </a:xfrm>
          <a:prstGeom prst="rect">
            <a:avLst/>
          </a:prstGeom>
          <a:noFill/>
        </p:spPr>
        <p:txBody>
          <a:bodyPr wrap="square" anchor="t" lIns="0" rIns="0" tIns="0" bIns="0">
            <a:noAutofit/>
          </a:bodyPr>
          <a:lstStyle/>
          <a:p>
            <a:pPr algn="l" marL="178905" indent="-178905">
              <a:lnSpc>
                <a:spcPct val="104000"/>
              </a:lnSpc>
              <a:spcBef>
                <a:spcPts val="0"/>
              </a:spcBef>
              <a:spcAft>
                <a:spcPts val="560"/>
              </a:spcAft>
            </a:pPr>
            <a:r>
              <a:rPr sz="1600" b="1">
                <a:solidFill>
                  <a:srgbClr val="7D6608"/>
                </a:solidFill>
                <a:latin typeface="Segoe UI"/>
              </a:rPr>
              <a:t>•	</a:t>
            </a:r>
            <a:r>
              <a:rPr sz="1600" b="0" i="0">
                <a:solidFill>
                  <a:srgbClr val="1C252B"/>
                </a:solidFill>
                <a:latin typeface="Segoe UI"/>
              </a:rPr>
              <a:t>into H: from H </a:t>
            </a:r>
            <a:r>
              <a:rPr sz="1600" b="0" i="0">
                <a:solidFill>
                  <a:srgbClr val="1C252B"/>
                </a:solidFill>
                <a:latin typeface="Cambria"/>
              </a:rPr>
              <a:t>0.49 × 0.8 = 0.392</a:t>
            </a:r>
            <a:r>
              <a:rPr sz="1600" b="0" i="0">
                <a:solidFill>
                  <a:srgbClr val="1C252B"/>
                </a:solidFill>
                <a:latin typeface="Segoe UI"/>
              </a:rPr>
              <a:t>, from D </a:t>
            </a:r>
            <a:r>
              <a:rPr sz="1600" b="0" i="0">
                <a:solidFill>
                  <a:srgbClr val="1C252B"/>
                </a:solidFill>
                <a:latin typeface="Cambria"/>
              </a:rPr>
              <a:t>0.03 × 0.3 = 0.009</a:t>
            </a:r>
            <a:r>
              <a:rPr sz="1600" b="0" i="0">
                <a:solidFill>
                  <a:srgbClr val="1C252B"/>
                </a:solidFill>
                <a:latin typeface="Segoe UI"/>
              </a:rPr>
              <a:t>; best from H. </a:t>
            </a:r>
            <a:r>
              <a:rPr sz="1600" b="0" i="0">
                <a:solidFill>
                  <a:srgbClr val="1C252B"/>
                </a:solidFill>
                <a:latin typeface="Cambria"/>
              </a:rPr>
              <a:t>δ</a:t>
            </a:r>
            <a:r>
              <a:rPr sz="1600" b="0" i="0" baseline="-25000">
                <a:solidFill>
                  <a:srgbClr val="1C252B"/>
                </a:solidFill>
                <a:latin typeface="Cambria"/>
              </a:rPr>
              <a:t>2</a:t>
            </a:r>
            <a:r>
              <a:rPr sz="1600" b="0" i="0">
                <a:solidFill>
                  <a:srgbClr val="1C252B"/>
                </a:solidFill>
                <a:latin typeface="Cambria"/>
              </a:rPr>
              <a:t>(</a:t>
            </a:r>
            <a:r>
              <a:rPr sz="1600" b="0" i="1">
                <a:solidFill>
                  <a:srgbClr val="1C252B"/>
                </a:solidFill>
                <a:latin typeface="Cambria"/>
              </a:rPr>
              <a:t>H</a:t>
            </a:r>
            <a:r>
              <a:rPr sz="1600" b="0" i="0">
                <a:solidFill>
                  <a:srgbClr val="1C252B"/>
                </a:solidFill>
                <a:latin typeface="Cambria"/>
              </a:rPr>
              <a:t>) = 0.392 × 0.25 = 0.098</a:t>
            </a:r>
            <a:r>
              <a:rPr sz="1600" b="0" i="0">
                <a:solidFill>
                  <a:srgbClr val="1C252B"/>
                </a:solidFill>
                <a:latin typeface="Segoe UI"/>
              </a:rPr>
              <a:t>.</a:t>
            </a:r>
          </a:p>
          <a:p>
            <a:pPr algn="l" marL="178905" indent="-178905">
              <a:lnSpc>
                <a:spcPct val="104000"/>
              </a:lnSpc>
              <a:spcBef>
                <a:spcPts val="0"/>
              </a:spcBef>
              <a:spcAft>
                <a:spcPts val="0"/>
              </a:spcAft>
            </a:pPr>
            <a:r>
              <a:rPr sz="1600" b="1">
                <a:solidFill>
                  <a:srgbClr val="7D6608"/>
                </a:solidFill>
                <a:latin typeface="Segoe UI"/>
              </a:rPr>
              <a:t>•	</a:t>
            </a:r>
            <a:r>
              <a:rPr sz="1600" b="0" i="0">
                <a:solidFill>
                  <a:srgbClr val="1C252B"/>
                </a:solidFill>
                <a:latin typeface="Segoe UI"/>
              </a:rPr>
              <a:t>into D: from H </a:t>
            </a:r>
            <a:r>
              <a:rPr sz="1600" b="0" i="0">
                <a:solidFill>
                  <a:srgbClr val="1C252B"/>
                </a:solidFill>
                <a:latin typeface="Cambria"/>
              </a:rPr>
              <a:t>0.49 × 0.2 = 0.098</a:t>
            </a:r>
            <a:r>
              <a:rPr sz="1600" b="0" i="0">
                <a:solidFill>
                  <a:srgbClr val="1C252B"/>
                </a:solidFill>
                <a:latin typeface="Segoe UI"/>
              </a:rPr>
              <a:t>, from D </a:t>
            </a:r>
            <a:r>
              <a:rPr sz="1600" b="0" i="0">
                <a:solidFill>
                  <a:srgbClr val="1C252B"/>
                </a:solidFill>
                <a:latin typeface="Cambria"/>
              </a:rPr>
              <a:t>0.03 × 0.7 = 0.021</a:t>
            </a:r>
            <a:r>
              <a:rPr sz="1600" b="0" i="0">
                <a:solidFill>
                  <a:srgbClr val="1C252B"/>
                </a:solidFill>
                <a:latin typeface="Segoe UI"/>
              </a:rPr>
              <a:t>; best from H. </a:t>
            </a:r>
            <a:r>
              <a:rPr sz="1600" b="0" i="0">
                <a:solidFill>
                  <a:srgbClr val="1C252B"/>
                </a:solidFill>
                <a:latin typeface="Cambria"/>
              </a:rPr>
              <a:t>δ</a:t>
            </a:r>
            <a:r>
              <a:rPr sz="1600" b="0" i="0" baseline="-25000">
                <a:solidFill>
                  <a:srgbClr val="1C252B"/>
                </a:solidFill>
                <a:latin typeface="Cambria"/>
              </a:rPr>
              <a:t>2</a:t>
            </a:r>
            <a:r>
              <a:rPr sz="1600" b="0" i="0">
                <a:solidFill>
                  <a:srgbClr val="1C252B"/>
                </a:solidFill>
                <a:latin typeface="Cambria"/>
              </a:rPr>
              <a:t>(</a:t>
            </a:r>
            <a:r>
              <a:rPr sz="1600" b="0" i="1">
                <a:solidFill>
                  <a:srgbClr val="1C252B"/>
                </a:solidFill>
                <a:latin typeface="Cambria"/>
              </a:rPr>
              <a:t>D</a:t>
            </a:r>
            <a:r>
              <a:rPr sz="1600" b="0" i="0">
                <a:solidFill>
                  <a:srgbClr val="1C252B"/>
                </a:solidFill>
                <a:latin typeface="Cambria"/>
              </a:rPr>
              <a:t>) = 0.098 × 0.5 = 0.049</a:t>
            </a:r>
            <a:r>
              <a:rPr sz="1600" b="0" i="0">
                <a:solidFill>
                  <a:srgbClr val="1C252B"/>
                </a:solidFill>
                <a:latin typeface="Segoe UI"/>
              </a:rPr>
              <a:t>.</a:t>
            </a:r>
          </a:p>
        </p:txBody>
      </p:sp>
      <p:sp>
        <p:nvSpPr>
          <p:cNvPr id="13" name="body-4"/>
          <p:cNvSpPr txBox="1"/>
          <p:nvPr/>
        </p:nvSpPr>
        <p:spPr>
          <a:xfrm>
            <a:off x="1042416" y="3797808"/>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1" i="1">
                <a:solidFill>
                  <a:srgbClr val="7D6608"/>
                </a:solidFill>
                <a:latin typeface="Cambria"/>
              </a:rPr>
              <a:t>t</a:t>
            </a:r>
            <a:r>
              <a:rPr sz="1600" b="1" i="0">
                <a:solidFill>
                  <a:srgbClr val="1C252B"/>
                </a:solidFill>
                <a:latin typeface="Cambria"/>
              </a:rPr>
              <a:t> = 3</a:t>
            </a:r>
            <a:r>
              <a:rPr sz="1600" b="1" i="0">
                <a:solidFill>
                  <a:srgbClr val="1C252B"/>
                </a:solidFill>
                <a:latin typeface="Segoe UI"/>
              </a:rPr>
              <a:t> (blocked):</a:t>
            </a:r>
          </a:p>
        </p:txBody>
      </p:sp>
      <p:sp>
        <p:nvSpPr>
          <p:cNvPr id="14" name="body-4bar">
            <a:extLst>
              <a:ext uri="{C183D7F6-B498-43B3-948B-1728B52AA6E4}">
                <adec:decorative xmlns:adec="http://schemas.microsoft.com/office/drawing/2017/decorative" val="1"/>
              </a:ext>
            </a:extLst>
          </p:cNvPr>
          <p:cNvSpPr/>
          <p:nvPr/>
        </p:nvSpPr>
        <p:spPr>
          <a:xfrm>
            <a:off x="841248" y="3816095"/>
            <a:ext cx="54864" cy="23530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body-5"/>
          <p:cNvSpPr txBox="1"/>
          <p:nvPr/>
        </p:nvSpPr>
        <p:spPr>
          <a:xfrm>
            <a:off x="1042416" y="4163161"/>
            <a:ext cx="10234879" cy="624027"/>
          </a:xfrm>
          <a:prstGeom prst="rect">
            <a:avLst/>
          </a:prstGeom>
          <a:noFill/>
        </p:spPr>
        <p:txBody>
          <a:bodyPr wrap="square" anchor="t" lIns="0" rIns="0" tIns="0" bIns="0">
            <a:noAutofit/>
          </a:bodyPr>
          <a:lstStyle/>
          <a:p>
            <a:pPr algn="l" marL="178905" indent="-178905">
              <a:lnSpc>
                <a:spcPct val="104000"/>
              </a:lnSpc>
              <a:spcBef>
                <a:spcPts val="0"/>
              </a:spcBef>
              <a:spcAft>
                <a:spcPts val="560"/>
              </a:spcAft>
            </a:pPr>
            <a:r>
              <a:rPr sz="1600" b="1">
                <a:solidFill>
                  <a:srgbClr val="7D6608"/>
                </a:solidFill>
                <a:latin typeface="Segoe UI"/>
              </a:rPr>
              <a:t>•	</a:t>
            </a:r>
            <a:r>
              <a:rPr sz="1600" b="0" i="0">
                <a:solidFill>
                  <a:srgbClr val="1C252B"/>
                </a:solidFill>
                <a:latin typeface="Segoe UI"/>
              </a:rPr>
              <a:t>into H: from H </a:t>
            </a:r>
            <a:r>
              <a:rPr sz="1600" b="0" i="0">
                <a:solidFill>
                  <a:srgbClr val="1C252B"/>
                </a:solidFill>
                <a:latin typeface="Cambria"/>
              </a:rPr>
              <a:t>0.098 × 0.8 = 0.0784</a:t>
            </a:r>
            <a:r>
              <a:rPr sz="1600" b="0" i="0">
                <a:solidFill>
                  <a:srgbClr val="1C252B"/>
                </a:solidFill>
                <a:latin typeface="Segoe UI"/>
              </a:rPr>
              <a:t>, from D </a:t>
            </a:r>
            <a:r>
              <a:rPr sz="1600" b="0" i="0">
                <a:solidFill>
                  <a:srgbClr val="1C252B"/>
                </a:solidFill>
                <a:latin typeface="Cambria"/>
              </a:rPr>
              <a:t>0.049 × 0.3 = 0.0147</a:t>
            </a:r>
            <a:r>
              <a:rPr sz="1600" b="0" i="0">
                <a:solidFill>
                  <a:srgbClr val="1C252B"/>
                </a:solidFill>
                <a:latin typeface="Segoe UI"/>
              </a:rPr>
              <a:t>; best from H. </a:t>
            </a:r>
            <a:r>
              <a:rPr sz="1600" b="0" i="0">
                <a:solidFill>
                  <a:srgbClr val="1C252B"/>
                </a:solidFill>
                <a:latin typeface="Cambria"/>
              </a:rPr>
              <a:t>δ</a:t>
            </a:r>
            <a:r>
              <a:rPr sz="1600" b="0" i="0" baseline="-25000">
                <a:solidFill>
                  <a:srgbClr val="1C252B"/>
                </a:solidFill>
                <a:latin typeface="Cambria"/>
              </a:rPr>
              <a:t>3</a:t>
            </a:r>
            <a:r>
              <a:rPr sz="1600" b="0" i="0">
                <a:solidFill>
                  <a:srgbClr val="1C252B"/>
                </a:solidFill>
                <a:latin typeface="Cambria"/>
              </a:rPr>
              <a:t>(</a:t>
            </a:r>
            <a:r>
              <a:rPr sz="1600" b="0" i="1">
                <a:solidFill>
                  <a:srgbClr val="1C252B"/>
                </a:solidFill>
                <a:latin typeface="Cambria"/>
              </a:rPr>
              <a:t>H</a:t>
            </a:r>
            <a:r>
              <a:rPr sz="1600" b="0" i="0">
                <a:solidFill>
                  <a:srgbClr val="1C252B"/>
                </a:solidFill>
                <a:latin typeface="Cambria"/>
              </a:rPr>
              <a:t>) = 0.0784 × 0.05 = 0.00392</a:t>
            </a:r>
            <a:r>
              <a:rPr sz="1600" b="0" i="0">
                <a:solidFill>
                  <a:srgbClr val="1C252B"/>
                </a:solidFill>
                <a:latin typeface="Segoe UI"/>
              </a:rPr>
              <a:t>.</a:t>
            </a:r>
          </a:p>
          <a:p>
            <a:pPr algn="l" marL="178905" indent="-178905">
              <a:lnSpc>
                <a:spcPct val="104000"/>
              </a:lnSpc>
              <a:spcBef>
                <a:spcPts val="0"/>
              </a:spcBef>
              <a:spcAft>
                <a:spcPts val="0"/>
              </a:spcAft>
            </a:pPr>
            <a:r>
              <a:rPr sz="1600" b="1">
                <a:solidFill>
                  <a:srgbClr val="7D6608"/>
                </a:solidFill>
                <a:latin typeface="Segoe UI"/>
              </a:rPr>
              <a:t>•	</a:t>
            </a:r>
            <a:r>
              <a:rPr sz="1600" b="0" i="0">
                <a:solidFill>
                  <a:srgbClr val="1C252B"/>
                </a:solidFill>
                <a:latin typeface="Segoe UI"/>
              </a:rPr>
              <a:t>into D: from H </a:t>
            </a:r>
            <a:r>
              <a:rPr sz="1600" b="0" i="0">
                <a:solidFill>
                  <a:srgbClr val="1C252B"/>
                </a:solidFill>
                <a:latin typeface="Cambria"/>
              </a:rPr>
              <a:t>0.098 × 0.2 = 0.0196</a:t>
            </a:r>
            <a:r>
              <a:rPr sz="1600" b="0" i="0">
                <a:solidFill>
                  <a:srgbClr val="1C252B"/>
                </a:solidFill>
                <a:latin typeface="Segoe UI"/>
              </a:rPr>
              <a:t>, from D </a:t>
            </a:r>
            <a:r>
              <a:rPr sz="1600" b="0" i="0">
                <a:solidFill>
                  <a:srgbClr val="1C252B"/>
                </a:solidFill>
                <a:latin typeface="Cambria"/>
              </a:rPr>
              <a:t>0.049 × 0.7 = 0.0343</a:t>
            </a:r>
            <a:r>
              <a:rPr sz="1600" b="0" i="0">
                <a:solidFill>
                  <a:srgbClr val="1C252B"/>
                </a:solidFill>
                <a:latin typeface="Segoe UI"/>
              </a:rPr>
              <a:t>; best from D. </a:t>
            </a:r>
            <a:r>
              <a:rPr sz="1600" b="0" i="0">
                <a:solidFill>
                  <a:srgbClr val="1C252B"/>
                </a:solidFill>
                <a:latin typeface="Cambria"/>
              </a:rPr>
              <a:t>δ</a:t>
            </a:r>
            <a:r>
              <a:rPr sz="1600" b="0" i="0" baseline="-25000">
                <a:solidFill>
                  <a:srgbClr val="1C252B"/>
                </a:solidFill>
                <a:latin typeface="Cambria"/>
              </a:rPr>
              <a:t>3</a:t>
            </a:r>
            <a:r>
              <a:rPr sz="1600" b="0" i="0">
                <a:solidFill>
                  <a:srgbClr val="1C252B"/>
                </a:solidFill>
                <a:latin typeface="Cambria"/>
              </a:rPr>
              <a:t>(</a:t>
            </a:r>
            <a:r>
              <a:rPr sz="1600" b="0" i="1">
                <a:solidFill>
                  <a:srgbClr val="1C252B"/>
                </a:solidFill>
                <a:latin typeface="Cambria"/>
              </a:rPr>
              <a:t>D</a:t>
            </a:r>
            <a:r>
              <a:rPr sz="1600" b="0" i="0">
                <a:solidFill>
                  <a:srgbClr val="1C252B"/>
                </a:solidFill>
                <a:latin typeface="Cambria"/>
              </a:rPr>
              <a:t>) = 0.0343 × 0.4 = </a:t>
            </a:r>
            <a:r>
              <a:rPr sz="1600" b="1" i="0">
                <a:solidFill>
                  <a:srgbClr val="1C252B"/>
                </a:solidFill>
                <a:latin typeface="Cambria"/>
              </a:rPr>
              <a:t>0.01372</a:t>
            </a:r>
            <a:r>
              <a:rPr sz="1600" b="0" i="0">
                <a:solidFill>
                  <a:srgbClr val="1C252B"/>
                </a:solidFill>
                <a:latin typeface="Segoe UI"/>
              </a:rPr>
              <a:t>.</a:t>
            </a:r>
          </a:p>
        </p:txBody>
      </p:sp>
      <p:sp>
        <p:nvSpPr>
          <p:cNvPr id="16" name="body-6"/>
          <p:cNvSpPr txBox="1"/>
          <p:nvPr/>
        </p:nvSpPr>
        <p:spPr>
          <a:xfrm>
            <a:off x="1042416" y="4853228"/>
            <a:ext cx="10234879" cy="806500"/>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Backtrack.</a:t>
            </a:r>
            <a:r>
              <a:rPr sz="1600" b="0" i="0">
                <a:solidFill>
                  <a:srgbClr val="1C252B"/>
                </a:solidFill>
                <a:latin typeface="Segoe UI"/>
              </a:rPr>
              <a:t> The best final state is D (0.01372). Its backpointer is D at </a:t>
            </a:r>
            <a:r>
              <a:rPr sz="1600" b="0" i="1">
                <a:solidFill>
                  <a:srgbClr val="1C252B"/>
                </a:solidFill>
                <a:latin typeface="Cambria"/>
              </a:rPr>
              <a:t>t</a:t>
            </a:r>
            <a:r>
              <a:rPr sz="1600" b="0" i="0">
                <a:solidFill>
                  <a:srgbClr val="1C252B"/>
                </a:solidFill>
                <a:latin typeface="Cambria"/>
              </a:rPr>
              <a:t> = 2</a:t>
            </a:r>
            <a:r>
              <a:rPr sz="1600" b="0" i="0">
                <a:solidFill>
                  <a:srgbClr val="1C252B"/>
                </a:solidFill>
                <a:latin typeface="Segoe UI"/>
              </a:rPr>
              <a:t>, whose backpointer is H at </a:t>
            </a:r>
            <a:r>
              <a:rPr sz="1600" b="0" i="1">
                <a:solidFill>
                  <a:srgbClr val="1C252B"/>
                </a:solidFill>
                <a:latin typeface="Cambria"/>
              </a:rPr>
              <a:t>t</a:t>
            </a:r>
            <a:r>
              <a:rPr sz="1600" b="0" i="0">
                <a:solidFill>
                  <a:srgbClr val="1C252B"/>
                </a:solidFill>
                <a:latin typeface="Cambria"/>
              </a:rPr>
              <a:t> = 1</a:t>
            </a:r>
            <a:r>
              <a:rPr sz="1600" b="0" i="0">
                <a:solidFill>
                  <a:srgbClr val="1C252B"/>
                </a:solidFill>
                <a:latin typeface="Segoe UI"/>
              </a:rPr>
              <a:t>. </a:t>
            </a:r>
            <a:r>
              <a:rPr sz="1600" b="1" i="0">
                <a:solidFill>
                  <a:srgbClr val="1C252B"/>
                </a:solidFill>
                <a:latin typeface="Segoe UI"/>
              </a:rPr>
              <a:t>Most likely states: H, D, D</a:t>
            </a:r>
            <a:r>
              <a:rPr sz="1600" b="0" i="0">
                <a:solidFill>
                  <a:srgbClr val="1C252B"/>
                </a:solidFill>
                <a:latin typeface="Segoe UI"/>
              </a:rPr>
              <a:t> — the project slipped between the first and second week, when the first “behind” report appeared, not when it became blocked.</a:t>
            </a:r>
          </a:p>
        </p:txBody>
      </p:sp>
      <p:sp>
        <p:nvSpPr>
          <p:cNvPr id="17" name="body-6bar">
            <a:extLst>
              <a:ext uri="{C183D7F6-B498-43B3-948B-1728B52AA6E4}">
                <adec:decorative xmlns:adec="http://schemas.microsoft.com/office/drawing/2017/decorative" val="1"/>
              </a:ext>
            </a:extLst>
          </p:cNvPr>
          <p:cNvSpPr/>
          <p:nvPr/>
        </p:nvSpPr>
        <p:spPr>
          <a:xfrm>
            <a:off x="841248" y="4871516"/>
            <a:ext cx="54864" cy="74249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pfill">
            <a:extLst>
              <a:ext uri="{C183D7F6-B498-43B3-948B-1728B52AA6E4}">
                <adec:decorative xmlns:adec="http://schemas.microsoft.com/office/drawing/2017/decorative" val="1"/>
              </a:ext>
            </a:extLst>
          </p:cNvPr>
          <p:cNvSpPr/>
          <p:nvPr/>
        </p:nvSpPr>
        <p:spPr>
          <a:xfrm>
            <a:off x="0" y="0"/>
            <a:ext cx="514760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2">
                                            <p:txEl>
                                              <p:pRg st="0" end="0"/>
                                            </p:txEl>
                                          </p:spTgt>
                                        </p:tgtEl>
                                        <p:attrNameLst>
                                          <p:attrName>style.visibility</p:attrName>
                                        </p:attrNameLst>
                                      </p:cBhvr>
                                      <p:to>
                                        <p:strVal val="visible"/>
                                      </p:to>
                                    </p:set>
                                    <p:animEffect transition="in" filter="fade">
                                      <p:cBhvr>
                                        <p:cTn id="18" dur="350"/>
                                        <p:tgtEl>
                                          <p:spTgt spid="12">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xEl>
                                              <p:pRg st="1" end="1"/>
                                            </p:txEl>
                                          </p:spTgt>
                                        </p:tgtEl>
                                        <p:attrNameLst>
                                          <p:attrName>style.visibility</p:attrName>
                                        </p:attrNameLst>
                                      </p:cBhvr>
                                      <p:to>
                                        <p:strVal val="visible"/>
                                      </p:to>
                                    </p:set>
                                    <p:animEffect transition="in" filter="fade">
                                      <p:cBhvr>
                                        <p:cTn id="23" dur="350"/>
                                        <p:tgtEl>
                                          <p:spTgt spid="12">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right)">
                                      <p:cBhvr>
                                        <p:cTn id="28" dur="42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20"/>
                                        <p:tgtEl>
                                          <p:spTgt spid="1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5">
                                            <p:txEl>
                                              <p:pRg st="0" end="0"/>
                                            </p:txEl>
                                          </p:spTgt>
                                        </p:tgtEl>
                                        <p:attrNameLst>
                                          <p:attrName>style.visibility</p:attrName>
                                        </p:attrNameLst>
                                      </p:cBhvr>
                                      <p:to>
                                        <p:strVal val="visible"/>
                                      </p:to>
                                    </p:set>
                                    <p:animEffect transition="in" filter="fade">
                                      <p:cBhvr>
                                        <p:cTn id="36" dur="350"/>
                                        <p:tgtEl>
                                          <p:spTgt spid="15">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xEl>
                                              <p:pRg st="1" end="1"/>
                                            </p:txEl>
                                          </p:spTgt>
                                        </p:tgtEl>
                                        <p:attrNameLst>
                                          <p:attrName>style.visibility</p:attrName>
                                        </p:attrNameLst>
                                      </p:cBhvr>
                                      <p:to>
                                        <p:strVal val="visible"/>
                                      </p:to>
                                    </p:set>
                                    <p:animEffect transition="in" filter="fade">
                                      <p:cBhvr>
                                        <p:cTn id="41" dur="350"/>
                                        <p:tgtEl>
                                          <p:spTgt spid="15">
                                            <p:txEl>
                                              <p:pRg st="1" end="1"/>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wipe(right)">
                                      <p:cBhvr>
                                        <p:cTn id="46" dur="42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42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P spid="15" grpId="0" build="p"/>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Viterbi trellis for the worked example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07964"/>
                </a:solidFill>
                <a:latin typeface="Segoe UI"/>
              </a:rPr>
              <a:t>FIGURE 18.2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§18.5  ·  Handout p. 136     </a:t>
            </a:r>
            <a:fld id="{68AD43F7-F4E2-42F9-848E-19E558DDF400}" type="slidenum">
              <a:rPr lang="en-GB" sz="1000">
                <a:solidFill>
                  <a:srgbClr val="8795A1"/>
                </a:solidFill>
                <a:latin typeface="Segoe UI"/>
              </a:rPr>
              <a:t>20</a:t>
            </a:fld>
          </a:p>
        </p:txBody>
      </p:sp>
      <p:pic>
        <p:nvPicPr>
          <p:cNvPr id="6" name="!!figure" descr="Figure 18.2. The Viterbi trellis for the worked example. Every hidden-state sequence is a path through the trellis; Viterbi keeps only the best path into each nod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2006797"/>
            <a:ext cx="10874959" cy="24703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Every hidden-state sequence is a path through the trellis; Viterbi keeps only the best path into each node.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541853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Baum–Welch</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§18.6  ·  Handout p. 137     </a:t>
            </a:r>
            <a:fld id="{F56128E8-9D6A-41BF-9D4B-644DDADBF656}" type="slidenum">
              <a:rPr lang="en-GB" sz="1000">
                <a:solidFill>
                  <a:srgbClr val="8795A1"/>
                </a:solidFill>
                <a:latin typeface="Segoe UI"/>
              </a:rPr>
              <a:t>21</a:t>
            </a:fld>
          </a:p>
        </p:txBody>
      </p:sp>
      <p:sp>
        <p:nvSpPr>
          <p:cNvPr id="7" name="!!stbar">
            <a:extLst>
              <a:ext uri="{C183D7F6-B498-43B3-948B-1728B52AA6E4}">
                <adec:decorative xmlns:adec="http://schemas.microsoft.com/office/drawing/2017/decorative" val="1"/>
              </a:ext>
            </a:extLst>
          </p:cNvPr>
          <p:cNvSpPr/>
          <p:nvPr/>
        </p:nvSpPr>
        <p:spPr>
          <a:xfrm>
            <a:off x="658368" y="1810512"/>
            <a:ext cx="73152" cy="3902303"/>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2756001"/>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Where do </a:t>
            </a:r>
            <a:r>
              <a:rPr sz="1900" b="0" i="0">
                <a:solidFill>
                  <a:srgbClr val="1C252B"/>
                </a:solidFill>
                <a:latin typeface="Cambria"/>
              </a:rPr>
              <a:t>π</a:t>
            </a:r>
            <a:r>
              <a:rPr sz="1900" b="0" i="0">
                <a:solidFill>
                  <a:srgbClr val="1C252B"/>
                </a:solidFill>
                <a:latin typeface="Segoe UI"/>
              </a:rPr>
              <a:t>, </a:t>
            </a:r>
            <a:r>
              <a:rPr sz="1900" b="0" i="1">
                <a:solidFill>
                  <a:srgbClr val="1C252B"/>
                </a:solidFill>
                <a:latin typeface="Cambria"/>
              </a:rPr>
              <a:t>A</a:t>
            </a:r>
            <a:r>
              <a:rPr sz="1900" b="0" i="0">
                <a:solidFill>
                  <a:srgbClr val="1C252B"/>
                </a:solidFill>
                <a:latin typeface="Segoe UI"/>
              </a:rPr>
              <a:t> and </a:t>
            </a:r>
            <a:r>
              <a:rPr sz="1900" b="0" i="1">
                <a:solidFill>
                  <a:srgbClr val="1C252B"/>
                </a:solidFill>
                <a:latin typeface="Cambria"/>
              </a:rPr>
              <a:t>B</a:t>
            </a:r>
            <a:r>
              <a:rPr sz="1900" b="0" i="0">
                <a:solidFill>
                  <a:srgbClr val="1C252B"/>
                </a:solidFill>
                <a:latin typeface="Segoe UI"/>
              </a:rPr>
              <a:t> come from? If the hidden states had been recorded, they would be counts: how often H followed H, how often D reported “blocked”. They were not — so the </a:t>
            </a:r>
            <a:r>
              <a:rPr sz="1900" b="1" i="0">
                <a:solidFill>
                  <a:srgbClr val="1A5276"/>
                </a:solidFill>
                <a:latin typeface="Segoe UI"/>
              </a:rPr>
              <a:t>Baum–Welch</a:t>
            </a:r>
            <a:r>
              <a:rPr sz="1900" b="0" i="0">
                <a:solidFill>
                  <a:srgbClr val="1C252B"/>
                </a:solidFill>
                <a:latin typeface="Segoe UI"/>
              </a:rPr>
              <a:t> algorithm applies EM (Chapter 17). The </a:t>
            </a:r>
            <a:r>
              <a:rPr sz="1900" b="1" i="0">
                <a:solidFill>
                  <a:srgbClr val="1C252B"/>
                </a:solidFill>
                <a:latin typeface="Segoe UI"/>
              </a:rPr>
              <a:t>E-step</a:t>
            </a:r>
            <a:r>
              <a:rPr sz="1900" b="0" i="0">
                <a:solidFill>
                  <a:srgbClr val="1C252B"/>
                </a:solidFill>
                <a:latin typeface="Segoe UI"/>
              </a:rPr>
              <a:t> runs the forward algorithm and its mirror image, the backward algorithm, to compute for every time step the probability of each hidden state and of each transition, given the whole observed sequence. The </a:t>
            </a:r>
            <a:r>
              <a:rPr sz="1900" b="1" i="0">
                <a:solidFill>
                  <a:srgbClr val="1C252B"/>
                </a:solidFill>
                <a:latin typeface="Segoe UI"/>
              </a:rPr>
              <a:t>M-step</a:t>
            </a:r>
            <a:r>
              <a:rPr sz="1900" b="0" i="0">
                <a:solidFill>
                  <a:srgbClr val="1C252B"/>
                </a:solidFill>
                <a:latin typeface="Segoe UI"/>
              </a:rPr>
              <a:t> re-estimates </a:t>
            </a:r>
            <a:r>
              <a:rPr sz="1900" b="0" i="1">
                <a:solidFill>
                  <a:srgbClr val="1C252B"/>
                </a:solidFill>
                <a:latin typeface="Cambria"/>
              </a:rPr>
              <a:t>A</a:t>
            </a:r>
            <a:r>
              <a:rPr sz="1900" b="0" i="0">
                <a:solidFill>
                  <a:srgbClr val="1C252B"/>
                </a:solidFill>
                <a:latin typeface="Segoe UI"/>
              </a:rPr>
              <a:t> and </a:t>
            </a:r>
            <a:r>
              <a:rPr sz="1900" b="0" i="1">
                <a:solidFill>
                  <a:srgbClr val="1C252B"/>
                </a:solidFill>
                <a:latin typeface="Cambria"/>
              </a:rPr>
              <a:t>B</a:t>
            </a:r>
            <a:r>
              <a:rPr sz="1900" b="0" i="0">
                <a:solidFill>
                  <a:srgbClr val="1C252B"/>
                </a:solidFill>
                <a:latin typeface="Segoe UI"/>
              </a:rPr>
              <a:t> as expected counts: the expected number of H</a:t>
            </a:r>
            <a:r>
              <a:rPr sz="1900" b="0" i="0">
                <a:solidFill>
                  <a:srgbClr val="1C252B"/>
                </a:solidFill>
                <a:latin typeface="Cambria"/>
              </a:rPr>
              <a:t>→</a:t>
            </a:r>
            <a:r>
              <a:rPr sz="1900" b="0" i="0">
                <a:solidFill>
                  <a:srgbClr val="1C252B"/>
                </a:solidFill>
                <a:latin typeface="Segoe UI"/>
              </a:rPr>
              <a:t>D transitions divided by the expected number of visits to H, and so on. As with every EM, the likelihood never decreases and the answer is a local maximum. This chapter’s lab generates 3,000 weekly reports from the model, forgets the parameters, and from a vague start recovers</a:t>
            </a:r>
          </a:p>
        </p:txBody>
      </p:sp>
      <p:pic>
        <p:nvPicPr>
          <p:cNvPr id="9" name="body-1" descr="A \approx \begin{pmatrix} 0.78 &amp; 0.22 \\ 0.31 &amp; 0.69 \end{pmatrix},"/>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5" y="4635220"/>
            <a:ext cx="10417759" cy="662025"/>
          </a:xfrm>
          <a:prstGeom prst="rect">
            <a:avLst/>
          </a:prstGeom>
        </p:spPr>
      </p:pic>
      <p:sp>
        <p:nvSpPr>
          <p:cNvPr id="10" name="body-2"/>
          <p:cNvSpPr txBox="1"/>
          <p:nvPr/>
        </p:nvSpPr>
        <p:spPr>
          <a:xfrm>
            <a:off x="1042415" y="5429961"/>
            <a:ext cx="1041775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close to the true values.</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568945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Monte Carlo Estimation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7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18.7</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18.1   When Order Matters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18.2   Markov Chains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18.3   Hidden Markov Models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18.4   Evaluation: The Forward Algorithm</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18.5   Decoding: The Viterbi Algorithm</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18.6   Learning: Baum–Welch</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18.7   Monte Carlo Estimation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§18.7     </a:t>
            </a:r>
            <a:fld id="{9CDB7991-39B4-4D69-A896-BE8B685039CE}" type="slidenum">
              <a:rPr lang="en-GB" sz="1000">
                <a:solidFill>
                  <a:srgbClr val="8795A1"/>
                </a:solidFill>
                <a:latin typeface="Segoe UI"/>
              </a:rPr>
              <a:t>22</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96038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Monte Carlo Estimation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138     </a:t>
            </a:r>
            <a:fld id="{D527C3A6-3447-49BC-A893-4E666DC8FA52}" type="slidenum">
              <a:rPr lang="en-GB" sz="1000">
                <a:solidFill>
                  <a:srgbClr val="8795A1"/>
                </a:solidFill>
                <a:latin typeface="Segoe UI"/>
              </a:rPr>
              <a:t>23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To estimate a probability or an expectation, draw many independent samples from the model and average: the fraction of samples in which an event occurs estimates its probability, and the average of a quantity over the samples estimates its expected value. The error shrinks like </a:t>
            </a:r>
            <a:r>
              <a:rPr sz="2300" b="0" i="0">
                <a:solidFill>
                  <a:srgbClr val="1C252B"/>
                </a:solidFill>
                <a:latin typeface="Cambria"/>
              </a:rPr>
              <a:t>1/√(</a:t>
            </a:r>
            <a:r>
              <a:rPr sz="2300" b="0" i="0">
                <a:solidFill>
                  <a:srgbClr val="1C252B"/>
                </a:solidFill>
                <a:latin typeface="Segoe UI"/>
              </a:rPr>
              <a:t>number of samples</a:t>
            </a:r>
            <a:r>
              <a:rPr sz="2300" b="0" i="0">
                <a:solidFill>
                  <a:srgbClr val="1C252B"/>
                </a:solidFill>
                <a:latin typeface="Cambria"/>
              </a:rPr>
              <a:t>)</a:t>
            </a:r>
            <a:r>
              <a:rPr sz="2300" b="0" i="0">
                <a:solidFill>
                  <a:srgbClr val="1C252B"/>
                </a:solidFill>
                <a:latin typeface="Segoe UI"/>
              </a:rPr>
              <a:t> — the same square-root law as the confidence intervals of Chapter 8.</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6231310"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HMMs Were Largely Replaced — and Where They Remain</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138     </a:t>
            </a:r>
            <a:fld id="{41559AA8-C532-4386-9B62-FBAC2C0827AA}" type="slidenum">
              <a:rPr lang="en-GB" sz="1000">
                <a:solidFill>
                  <a:srgbClr val="8795A1"/>
                </a:solidFill>
                <a:latin typeface="Segoe UI"/>
              </a:rPr>
              <a:t>24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173577"/>
          </a:xfrm>
          <a:prstGeom prst="roundRect">
            <a:avLst>
              <a:gd name="adj" fmla="val 2881"/>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173577"/>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59750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An HMM’s hidden state is one symbol from a small set, and each observation depends on the current state alone. Long texts, such as a ticket’s whole discussion thread, have longer dependencies than that, and recurrent networks and transformers (the Deep Learning course) now dominate text. HMMs remain the right tool when the data is small, the states are meaningful and must be interpretable — a project’s health, a ticket’s stage, the phase of a release — and when an exact probability is needed rather than a score.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650223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138     </a:t>
            </a:r>
            <a:fld id="{C4C00D92-16AB-429C-AA22-2ABA57C0E559}" type="slidenum">
              <a:rPr lang="en-GB" sz="1000">
                <a:solidFill>
                  <a:srgbClr val="8795A1"/>
                </a:solidFill>
                <a:latin typeface="Segoe UI"/>
              </a:rPr>
              <a:t>25</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633984"/>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A93226"/>
                </a:solidFill>
                <a:latin typeface="Segoe UI"/>
              </a:rPr>
              <a:t>Multiplying probabilities along long sequences.</a:t>
            </a:r>
            <a:r>
              <a:rPr sz="2000" b="0" i="0">
                <a:solidFill>
                  <a:srgbClr val="1C252B"/>
                </a:solidFill>
                <a:latin typeface="Segoe UI"/>
              </a:rPr>
              <a:t> They underflow to zero; scale at each step or work in logarithms (Viterbi is usually run in log space, turning products into sums).</a:t>
            </a:r>
          </a:p>
        </p:txBody>
      </p:sp>
      <p:sp>
        <p:nvSpPr>
          <p:cNvPr id="10" name="!!pb1">
            <a:extLst>
              <a:ext uri="{C183D7F6-B498-43B3-948B-1728B52AA6E4}">
                <adec:decorative xmlns:adec="http://schemas.microsoft.com/office/drawing/2017/decorative" val="1"/>
              </a:ext>
            </a:extLst>
          </p:cNvPr>
          <p:cNvSpPr/>
          <p:nvPr/>
        </p:nvSpPr>
        <p:spPr>
          <a:xfrm>
            <a:off x="658368" y="2590800"/>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613660"/>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572512"/>
            <a:ext cx="10271455" cy="633984"/>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A93226"/>
                </a:solidFill>
                <a:latin typeface="Segoe UI"/>
              </a:rPr>
              <a:t>Confusing the forward and Viterbi results.</a:t>
            </a:r>
            <a:r>
              <a:rPr sz="2000" b="0" i="0">
                <a:solidFill>
                  <a:srgbClr val="1C252B"/>
                </a:solidFill>
                <a:latin typeface="Segoe UI"/>
              </a:rPr>
              <a:t> Forward sums over all paths (probability of the observations); Viterbi keeps the single best path.</a:t>
            </a:r>
          </a:p>
        </p:txBody>
      </p:sp>
      <p:sp>
        <p:nvSpPr>
          <p:cNvPr id="13" name="!!pb2">
            <a:extLst>
              <a:ext uri="{C183D7F6-B498-43B3-948B-1728B52AA6E4}">
                <adec:decorative xmlns:adec="http://schemas.microsoft.com/office/drawing/2017/decorative" val="1"/>
              </a:ext>
            </a:extLst>
          </p:cNvPr>
          <p:cNvSpPr/>
          <p:nvPr/>
        </p:nvSpPr>
        <p:spPr>
          <a:xfrm>
            <a:off x="658368" y="342595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44881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407664"/>
            <a:ext cx="10271455" cy="950976"/>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A93226"/>
                </a:solidFill>
                <a:latin typeface="Segoe UI"/>
              </a:rPr>
              <a:t>Taking the most likely state at each step as the best sequence.</a:t>
            </a:r>
            <a:r>
              <a:rPr sz="2000" b="0" i="0">
                <a:solidFill>
                  <a:srgbClr val="1C252B"/>
                </a:solidFill>
                <a:latin typeface="Segoe UI"/>
              </a:rPr>
              <a:t> The individually likeliest states may form a sequence that is itself unlikely, or even impossible; decode with Viterbi.</a:t>
            </a:r>
          </a:p>
        </p:txBody>
      </p:sp>
      <p:sp>
        <p:nvSpPr>
          <p:cNvPr id="16" name="!!pb3">
            <a:extLst>
              <a:ext uri="{C183D7F6-B498-43B3-948B-1728B52AA6E4}">
                <adec:decorative xmlns:adec="http://schemas.microsoft.com/office/drawing/2017/decorative" val="1"/>
              </a:ext>
            </a:extLst>
          </p:cNvPr>
          <p:cNvSpPr/>
          <p:nvPr/>
        </p:nvSpPr>
        <p:spPr>
          <a:xfrm>
            <a:off x="658368" y="457809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60095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559808"/>
            <a:ext cx="10271455" cy="633984"/>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A93226"/>
                </a:solidFill>
                <a:latin typeface="Segoe UI"/>
              </a:rPr>
              <a:t>Trusting Baum–Welch from one start.</a:t>
            </a:r>
            <a:r>
              <a:rPr sz="2000" b="0" i="0">
                <a:solidFill>
                  <a:srgbClr val="1C252B"/>
                </a:solidFill>
                <a:latin typeface="Segoe UI"/>
              </a:rPr>
              <a:t> It finds a local maximum; restart from several initial guesses.</a:t>
            </a:r>
          </a:p>
        </p:txBody>
      </p:sp>
      <p:sp>
        <p:nvSpPr>
          <p:cNvPr id="19" name="!!pb4">
            <a:extLst>
              <a:ext uri="{C183D7F6-B498-43B3-948B-1728B52AA6E4}">
                <adec:decorative xmlns:adec="http://schemas.microsoft.com/office/drawing/2017/decorative" val="1"/>
              </a:ext>
            </a:extLst>
          </p:cNvPr>
          <p:cNvSpPr/>
          <p:nvPr/>
        </p:nvSpPr>
        <p:spPr>
          <a:xfrm>
            <a:off x="658368" y="5413247"/>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4361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5394959"/>
            <a:ext cx="10271455" cy="633984"/>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A93226"/>
                </a:solidFill>
                <a:latin typeface="Segoe UI"/>
              </a:rPr>
              <a:t>Assuming the Markov property holds.</a:t>
            </a:r>
            <a:r>
              <a:rPr sz="2000" b="0" i="0">
                <a:solidFill>
                  <a:srgbClr val="1C252B"/>
                </a:solidFill>
                <a:latin typeface="Segoe UI"/>
              </a:rPr>
              <a:t> If the next state depends on a long history, a first-order HMM is the wrong model.</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77316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Forward, Viterbi, Monte Carlo and Baum-Welch</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138     </a:t>
            </a:r>
            <a:fld id="{0977417D-06F0-49B6-B144-50D369642D6D}" type="slidenum">
              <a:rPr lang="en-GB" sz="1000">
                <a:solidFill>
                  <a:srgbClr val="8795A1"/>
                </a:solidFill>
                <a:latin typeface="Segoe UI"/>
              </a:rPr>
              <a:t>26</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1104900"/>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The worked example: a project, Healthy (0) or Distressed (1)</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Monte Carlo: estimate the same probability by sampling</a:t>
            </a:r>
          </a:p>
          <a:p>
            <a:pPr algn="l" marL="459473" indent="-459473">
              <a:lnSpc>
                <a:spcPct val="100000"/>
              </a:lnSpc>
              <a:spcBef>
                <a:spcPts val="0"/>
              </a:spcBef>
              <a:spcAft>
                <a:spcPts val="0"/>
              </a:spcAft>
            </a:pPr>
            <a:r>
              <a:rPr sz="1900" b="1">
                <a:solidFill>
                  <a:srgbClr val="117A65"/>
                </a:solidFill>
                <a:latin typeface="Segoe UI"/>
              </a:rPr>
              <a:t>3.	</a:t>
            </a:r>
            <a:r>
              <a:rPr sz="1900" b="0" i="0">
                <a:solidFill>
                  <a:srgbClr val="1C252B"/>
                </a:solidFill>
                <a:latin typeface="Segoe UI"/>
              </a:rPr>
              <a:t>Baum-Welch (EM): relearn A and B from one long sampled sequence</a:t>
            </a:r>
          </a:p>
        </p:txBody>
      </p:sp>
      <p:sp>
        <p:nvSpPr>
          <p:cNvPr id="1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700" b="0" i="0">
                <a:solidFill>
                  <a:srgbClr val="1C252B"/>
                </a:solidFill>
                <a:latin typeface="Segoe UI"/>
              </a:rPr>
              <a:t>Week 14: EM by hand; forward, Viterbi, Baum–Welch</a:t>
            </a:r>
          </a:p>
        </p:txBody>
      </p:sp>
      <p:sp>
        <p:nvSpPr>
          <p:cNvPr id="2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82 lines of Python</a:t>
            </a:r>
          </a:p>
        </p:txBody>
      </p:sp>
      <p:sp>
        <p:nvSpPr>
          <p:cNvPr id="2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code/ch18_forward_viterbi_monte.py</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7044090"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3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Forward, Viterbi, Monte Carlo and Baum-Welch</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138     </a:t>
            </a:r>
            <a:fld id="{46E08B92-1B6C-4B1D-B8D2-693D27196C99}"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worked example: a project, Healthy (0) or Distressed (1)</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code/ch18_forward_viterbi_monte.py</a:t>
            </a:r>
          </a:p>
        </p:txBody>
      </p:sp>
      <p:sp>
        <p:nvSpPr>
          <p:cNvPr id="14" name="!!code-text" descr="import numpy as np # --- the worked example: a project, Healthy (0) or Distressed (1) -------- pi = np.array([0.7, 0.3]) # initial state A = np.array([[0.8, 0.2], # transitions, row = from [0.3, 0.7]]) B = np.array([[0.70, 0.25, 0.05], # reports: on plan, behind, [0.10, 0.50, 0.40]]) # blocked obs = [0, 1, 2] # on plan, behind, blocked def forward(obs, pi, A, B): alpha = pi * B[:, obs[0]] for o in obs[1:]: alpha = (alpha @ A) * B[:, o] return alpha # sums to P(obs)"/>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import</a:t>
            </a:r>
            <a:r>
              <a:rPr sz="1400" i="0">
                <a:solidFill>
                  <a:srgbClr val="E8EDF2"/>
                </a:solidFill>
                <a:latin typeface="Consolas"/>
              </a:rPr>
              <a:t> </a:t>
            </a:r>
            <a:r>
              <a:rPr sz="1400" i="0">
                <a:solidFill>
                  <a:srgbClr val="76D7C4"/>
                </a:solidFill>
                <a:latin typeface="Consolas"/>
              </a:rPr>
              <a:t>numpy</a:t>
            </a:r>
            <a:r>
              <a:rPr sz="1400" i="0">
                <a:solidFill>
                  <a:srgbClr val="E8EDF2"/>
                </a:solidFill>
                <a:latin typeface="Consolas"/>
              </a:rPr>
              <a:t> </a:t>
            </a:r>
            <a:r>
              <a:rPr sz="1400" i="0">
                <a:solidFill>
                  <a:srgbClr val="5DADE2"/>
                </a:solidFill>
                <a:latin typeface="Consolas"/>
              </a:rPr>
              <a:t>as</a:t>
            </a:r>
            <a:r>
              <a:rPr sz="1400" i="0">
                <a:solidFill>
                  <a:srgbClr val="E8EDF2"/>
                </a:solidFill>
                <a:latin typeface="Consolas"/>
              </a:rPr>
              <a:t> </a:t>
            </a:r>
            <a:r>
              <a:rPr sz="1400" i="0">
                <a:solidFill>
                  <a:srgbClr val="76D7C4"/>
                </a:solidFill>
                <a:latin typeface="Consolas"/>
              </a:rPr>
              <a:t>np</a:t>
            </a:r>
          </a:p>
          <a:p>
            <a:pPr>
              <a:lnSpc>
                <a:spcPct val="100000"/>
              </a:lnSpc>
              <a:spcAft>
                <a:spcPts val="0"/>
              </a:spcAft>
            </a:pPr>
            <a:r>
              <a:rPr sz="1400">
                <a:latin typeface="Consolas"/>
              </a:rPr>
              <a:t> </a:t>
            </a:r>
          </a:p>
          <a:p>
            <a:pPr>
              <a:lnSpc>
                <a:spcPct val="100000"/>
              </a:lnSpc>
              <a:spcAft>
                <a:spcPts val="0"/>
              </a:spcAft>
            </a:pPr>
            <a:r>
              <a:rPr sz="1400" i="1">
                <a:solidFill>
                  <a:srgbClr val="8795A1"/>
                </a:solidFill>
                <a:latin typeface="Consolas"/>
              </a:rPr>
              <a:t># --- the worked example: a project, Healthy (0) or Distressed (1) --------</a:t>
            </a:r>
          </a:p>
          <a:p>
            <a:pPr>
              <a:lnSpc>
                <a:spcPct val="100000"/>
              </a:lnSpc>
              <a:spcAft>
                <a:spcPts val="0"/>
              </a:spcAft>
            </a:pPr>
            <a:r>
              <a:rPr sz="1400" i="0">
                <a:solidFill>
                  <a:srgbClr val="E8EDF2"/>
                </a:solidFill>
                <a:latin typeface="Consolas"/>
              </a:rPr>
              <a:t>pi</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array</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0.7</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0.3</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initial state</a:t>
            </a:r>
          </a:p>
          <a:p>
            <a:pPr>
              <a:lnSpc>
                <a:spcPct val="100000"/>
              </a:lnSpc>
              <a:spcAft>
                <a:spcPts val="0"/>
              </a:spcAft>
            </a:pPr>
            <a:r>
              <a:rPr sz="1400" i="0">
                <a:solidFill>
                  <a:srgbClr val="E8EDF2"/>
                </a:solidFill>
                <a:latin typeface="Consolas"/>
              </a:rPr>
              <a:t>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array</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0.8</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0.2</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transitions, row = from</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0.3</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0.7</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B</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array</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0.70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0.25</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0.05</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reports: on plan, behind,</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0.10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0.50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0.40</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blocked</a:t>
            </a:r>
          </a:p>
          <a:p>
            <a:pPr>
              <a:lnSpc>
                <a:spcPct val="100000"/>
              </a:lnSpc>
              <a:spcAft>
                <a:spcPts val="0"/>
              </a:spcAft>
            </a:pPr>
            <a:r>
              <a:rPr sz="1400" i="0">
                <a:solidFill>
                  <a:srgbClr val="E8EDF2"/>
                </a:solidFill>
                <a:latin typeface="Consolas"/>
              </a:rPr>
              <a:t>obs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on plan, behind, blocked</a:t>
            </a:r>
          </a:p>
          <a:p>
            <a:pPr>
              <a:lnSpc>
                <a:spcPct val="100000"/>
              </a:lnSpc>
              <a:spcAft>
                <a:spcPts val="0"/>
              </a:spcAft>
            </a:pPr>
            <a:r>
              <a:rPr sz="1400">
                <a:latin typeface="Consolas"/>
              </a:rPr>
              <a:t> </a:t>
            </a:r>
          </a:p>
          <a:p>
            <a:pPr>
              <a:lnSpc>
                <a:spcPct val="100000"/>
              </a:lnSpc>
              <a:spcAft>
                <a:spcPts val="0"/>
              </a:spcAft>
            </a:pPr>
            <a:r>
              <a:rPr sz="1400">
                <a:latin typeface="Consolas"/>
              </a:rPr>
              <a:t> </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forward</a:t>
            </a:r>
            <a:r>
              <a:rPr sz="1400" i="0">
                <a:solidFill>
                  <a:srgbClr val="AEB6BF"/>
                </a:solidFill>
                <a:latin typeface="Consolas"/>
              </a:rPr>
              <a:t>(</a:t>
            </a:r>
            <a:r>
              <a:rPr sz="1400" i="0">
                <a:solidFill>
                  <a:srgbClr val="E8EDF2"/>
                </a:solidFill>
                <a:latin typeface="Consolas"/>
              </a:rPr>
              <a:t>obs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pi</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alpha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pi</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obs</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o</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obs</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alpha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alpha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o</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alpha</a:t>
            </a:r>
            <a:r>
              <a:rPr sz="1400" i="0">
                <a:solidFill>
                  <a:srgbClr val="E8EDF2"/>
                </a:solidFill>
                <a:latin typeface="Consolas"/>
              </a:rPr>
              <a:t>                                 </a:t>
            </a:r>
            <a:r>
              <a:rPr sz="1400" i="1">
                <a:solidFill>
                  <a:srgbClr val="8795A1"/>
                </a:solidFill>
                <a:latin typeface="Consolas"/>
              </a:rPr>
              <a:t># sums to P(obs)</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2</a:t>
            </a:r>
          </a:p>
          <a:p>
            <a:pPr algn="r">
              <a:lnSpc>
                <a:spcPct val="100000"/>
              </a:lnSpc>
            </a:pPr>
            <a:r>
              <a:rPr sz="1400">
                <a:solidFill>
                  <a:srgbClr val="4F5D6A"/>
                </a:solidFill>
                <a:latin typeface="Consolas"/>
              </a:rPr>
              <a:t>3</a:t>
            </a:r>
          </a:p>
          <a:p>
            <a:pPr algn="r">
              <a:lnSpc>
                <a:spcPct val="100000"/>
              </a:lnSpc>
            </a:pPr>
            <a:r>
              <a:rPr sz="1400">
                <a:solidFill>
                  <a:srgbClr val="4F5D6A"/>
                </a:solidFill>
                <a:latin typeface="Consolas"/>
              </a:rPr>
              <a:t>4</a:t>
            </a:r>
          </a:p>
          <a:p>
            <a:pPr algn="r">
              <a:lnSpc>
                <a:spcPct val="100000"/>
              </a:lnSpc>
            </a:pPr>
            <a:r>
              <a:rPr sz="1400">
                <a:solidFill>
                  <a:srgbClr val="4F5D6A"/>
                </a:solidFill>
                <a:latin typeface="Consolas"/>
              </a:rPr>
              <a:t>5</a:t>
            </a:r>
          </a:p>
          <a:p>
            <a:pPr algn="r">
              <a:lnSpc>
                <a:spcPct val="100000"/>
              </a:lnSpc>
            </a:pPr>
            <a:r>
              <a:rPr sz="1400">
                <a:solidFill>
                  <a:srgbClr val="4F5D6A"/>
                </a:solidFill>
                <a:latin typeface="Consolas"/>
              </a:rPr>
              <a:t>6</a:t>
            </a:r>
          </a:p>
          <a:p>
            <a:pPr algn="r">
              <a:lnSpc>
                <a:spcPct val="100000"/>
              </a:lnSpc>
            </a:pPr>
            <a:r>
              <a:rPr sz="1400">
                <a:solidFill>
                  <a:srgbClr val="4F5D6A"/>
                </a:solidFill>
                <a:latin typeface="Consolas"/>
              </a:rPr>
              <a:t>7</a:t>
            </a:r>
          </a:p>
          <a:p>
            <a:pPr algn="r">
              <a:lnSpc>
                <a:spcPct val="100000"/>
              </a:lnSpc>
            </a:pPr>
            <a:r>
              <a:rPr sz="1400">
                <a:solidFill>
                  <a:srgbClr val="4F5D6A"/>
                </a:solidFill>
                <a:latin typeface="Consolas"/>
              </a:rPr>
              <a:t>8</a:t>
            </a:r>
          </a:p>
          <a:p>
            <a:pPr algn="r">
              <a:lnSpc>
                <a:spcPct val="100000"/>
              </a:lnSpc>
            </a:pPr>
            <a:r>
              <a:rPr sz="1400">
                <a:solidFill>
                  <a:srgbClr val="4F5D6A"/>
                </a:solidFill>
                <a:latin typeface="Consolas"/>
              </a:rPr>
              <a:t>9</a:t>
            </a:r>
          </a:p>
          <a:p>
            <a:pPr algn="r">
              <a:lnSpc>
                <a:spcPct val="100000"/>
              </a:lnSpc>
            </a:pPr>
            <a:r>
              <a:rPr sz="1400">
                <a:solidFill>
                  <a:srgbClr val="4F5D6A"/>
                </a:solidFill>
                <a:latin typeface="Consolas"/>
              </a:rPr>
              <a:t>10</a:t>
            </a:r>
          </a:p>
          <a:p>
            <a:pPr algn="r">
              <a:lnSpc>
                <a:spcPct val="100000"/>
              </a:lnSpc>
            </a:pPr>
            <a:r>
              <a:rPr sz="1400">
                <a:solidFill>
                  <a:srgbClr val="4F5D6A"/>
                </a:solidFill>
                <a:latin typeface="Consolas"/>
              </a:rPr>
              <a:t>11</a:t>
            </a:r>
          </a:p>
          <a:p>
            <a:pPr algn="r">
              <a:lnSpc>
                <a:spcPct val="100000"/>
              </a:lnSpc>
            </a:pPr>
            <a:r>
              <a:rPr sz="1400">
                <a:solidFill>
                  <a:srgbClr val="4F5D6A"/>
                </a:solidFill>
                <a:latin typeface="Consolas"/>
              </a:rPr>
              <a:t>12</a:t>
            </a:r>
          </a:p>
          <a:p>
            <a:pPr algn="r">
              <a:lnSpc>
                <a:spcPct val="100000"/>
              </a:lnSpc>
            </a:pPr>
            <a:r>
              <a:rPr sz="1400">
                <a:solidFill>
                  <a:srgbClr val="4F5D6A"/>
                </a:solidFill>
                <a:latin typeface="Consolas"/>
              </a:rPr>
              <a:t>13</a:t>
            </a:r>
          </a:p>
          <a:p>
            <a:pPr algn="r">
              <a:lnSpc>
                <a:spcPct val="100000"/>
              </a:lnSpc>
            </a:pPr>
            <a:r>
              <a:rPr sz="1400">
                <a:solidFill>
                  <a:srgbClr val="4F5D6A"/>
                </a:solidFill>
                <a:latin typeface="Consolas"/>
              </a:rPr>
              <a:t>14</a:t>
            </a:r>
          </a:p>
          <a:p>
            <a:pPr algn="r">
              <a:lnSpc>
                <a:spcPct val="100000"/>
              </a:lnSpc>
            </a:pPr>
            <a:r>
              <a:rPr sz="1400">
                <a:solidFill>
                  <a:srgbClr val="4F5D6A"/>
                </a:solidFill>
                <a:latin typeface="Consolas"/>
              </a:rPr>
              <a:t>15</a:t>
            </a:r>
          </a:p>
          <a:p>
            <a:pPr algn="r">
              <a:lnSpc>
                <a:spcPct val="100000"/>
              </a:lnSpc>
            </a:pPr>
            <a:r>
              <a:rPr sz="1400">
                <a:solidFill>
                  <a:srgbClr val="4F5D6A"/>
                </a:solidFill>
                <a:latin typeface="Consolas"/>
              </a:rPr>
              <a:t>16</a:t>
            </a:r>
          </a:p>
          <a:p>
            <a:pPr algn="r">
              <a:lnSpc>
                <a:spcPct val="100000"/>
              </a:lnSpc>
            </a:pPr>
            <a:r>
              <a:rPr sz="1400">
                <a:solidFill>
                  <a:srgbClr val="4F5D6A"/>
                </a:solidFill>
                <a:latin typeface="Consolas"/>
              </a:rPr>
              <a:t>17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31501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Forward, Viterbi, Monte Carlo and Baum-Welch</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138     </a:t>
            </a:r>
            <a:fld id="{AAC15578-0654-46F4-844E-E76CCC8977BD}"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worked example: a project, Healthy (0) or Distressed (1)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code/ch18_forward_viterbi_monte.py</a:t>
            </a:r>
          </a:p>
        </p:txBody>
      </p:sp>
      <p:sp>
        <p:nvSpPr>
          <p:cNvPr id="14" name="!!code-text" descr="def viterbi(obs, pi, A, B): delta, back = pi * B[:, obs[0]], [] for o in obs[1:]: cand = delta[:, None] * A # cand[i, j]: from i to j back.append(cand.argmax(axis=0)) delta = cand.max(axis=0) * B[:, o] path = [int(delta.argmax())] for b in reversed(back): path.insert(0, int(b[path[0]])) return path, delta.max() alpha = forward(obs, pi, A, B) print(&quot;P(on plan, behind, blocked) =&quot;, round(alpha.sum(), 6)) print(&quot;P(state at t=3 | obs) =&quot;, (alpha / alpha.sum()).round(3)) path, p = viterbi(obs, pi, A, B) print(&quot;most likely states:&quot;, [&quot;HD&quot;[s] for s in path], &quot;prob&quot;, round(p, 5))"/>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viterbi</a:t>
            </a:r>
            <a:r>
              <a:rPr sz="1300" i="0">
                <a:solidFill>
                  <a:srgbClr val="AEB6BF"/>
                </a:solidFill>
                <a:latin typeface="Consolas"/>
              </a:rPr>
              <a:t>(</a:t>
            </a:r>
            <a:r>
              <a:rPr sz="1300" i="0">
                <a:solidFill>
                  <a:srgbClr val="E8EDF2"/>
                </a:solidFill>
                <a:latin typeface="Consolas"/>
              </a:rPr>
              <a:t>obs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pi</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delta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back</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pi</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obs</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o</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obs</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cand</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delta</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None</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a:t>
            </a:r>
            <a:r>
              <a:rPr sz="1300" i="0">
                <a:solidFill>
                  <a:srgbClr val="E8EDF2"/>
                </a:solidFill>
                <a:latin typeface="Consolas"/>
              </a:rPr>
              <a:t>                </a:t>
            </a:r>
            <a:r>
              <a:rPr sz="1300" i="1">
                <a:solidFill>
                  <a:srgbClr val="8795A1"/>
                </a:solidFill>
                <a:latin typeface="Consolas"/>
              </a:rPr>
              <a:t># cand[i, j]: from i to j</a:t>
            </a:r>
          </a:p>
          <a:p>
            <a:pPr>
              <a:lnSpc>
                <a:spcPct val="100000"/>
              </a:lnSpc>
              <a:spcAft>
                <a:spcPts val="0"/>
              </a:spcAft>
            </a:pPr>
            <a:r>
              <a:rPr sz="1300" i="0">
                <a:solidFill>
                  <a:srgbClr val="E8EDF2"/>
                </a:solidFill>
                <a:latin typeface="Consolas"/>
              </a:rPr>
              <a:t>        </a:t>
            </a:r>
            <a:r>
              <a:rPr sz="1300" i="0">
                <a:solidFill>
                  <a:srgbClr val="E8EDF2"/>
                </a:solidFill>
                <a:latin typeface="Consolas"/>
              </a:rPr>
              <a:t>back</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E8EDF2"/>
                </a:solidFill>
                <a:latin typeface="Consolas"/>
              </a:rPr>
              <a:t>cand</a:t>
            </a:r>
            <a:r>
              <a:rPr sz="1300" i="0">
                <a:solidFill>
                  <a:srgbClr val="AEB6BF"/>
                </a:solidFill>
                <a:latin typeface="Consolas"/>
              </a:rPr>
              <a:t>.</a:t>
            </a:r>
            <a:r>
              <a:rPr sz="1300" i="0">
                <a:solidFill>
                  <a:srgbClr val="E8EDF2"/>
                </a:solidFill>
                <a:latin typeface="Consolas"/>
              </a:rPr>
              <a:t>argmax</a:t>
            </a:r>
            <a:r>
              <a:rPr sz="1300" i="0">
                <a:solidFill>
                  <a:srgbClr val="AEB6BF"/>
                </a:solidFill>
                <a:latin typeface="Consolas"/>
              </a:rPr>
              <a:t>(</a:t>
            </a:r>
            <a:r>
              <a:rPr sz="1300" i="0">
                <a:solidFill>
                  <a:srgbClr val="E8EDF2"/>
                </a:solidFill>
                <a:latin typeface="Consolas"/>
              </a:rPr>
              <a:t>axis</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delta</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cand</a:t>
            </a:r>
            <a:r>
              <a:rPr sz="1300" i="0">
                <a:solidFill>
                  <a:srgbClr val="AEB6BF"/>
                </a:solidFill>
                <a:latin typeface="Consolas"/>
              </a:rPr>
              <a:t>.</a:t>
            </a:r>
            <a:r>
              <a:rPr sz="1300" i="0">
                <a:solidFill>
                  <a:srgbClr val="E8EDF2"/>
                </a:solidFill>
                <a:latin typeface="Consolas"/>
              </a:rPr>
              <a:t>max</a:t>
            </a:r>
            <a:r>
              <a:rPr sz="1300" i="0">
                <a:solidFill>
                  <a:srgbClr val="AEB6BF"/>
                </a:solidFill>
                <a:latin typeface="Consolas"/>
              </a:rPr>
              <a:t>(</a:t>
            </a:r>
            <a:r>
              <a:rPr sz="1300" i="0">
                <a:solidFill>
                  <a:srgbClr val="E8EDF2"/>
                </a:solidFill>
                <a:latin typeface="Consolas"/>
              </a:rPr>
              <a:t>axis</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path</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C39BD3"/>
                </a:solidFill>
                <a:latin typeface="Consolas"/>
              </a:rPr>
              <a:t>int</a:t>
            </a:r>
            <a:r>
              <a:rPr sz="1300" i="0">
                <a:solidFill>
                  <a:srgbClr val="AEB6BF"/>
                </a:solidFill>
                <a:latin typeface="Consolas"/>
              </a:rPr>
              <a:t>(</a:t>
            </a:r>
            <a:r>
              <a:rPr sz="1300" i="0">
                <a:solidFill>
                  <a:srgbClr val="E8EDF2"/>
                </a:solidFill>
                <a:latin typeface="Consolas"/>
              </a:rPr>
              <a:t>delta</a:t>
            </a:r>
            <a:r>
              <a:rPr sz="1300" i="0">
                <a:solidFill>
                  <a:srgbClr val="AEB6BF"/>
                </a:solidFill>
                <a:latin typeface="Consolas"/>
              </a:rPr>
              <a:t>.</a:t>
            </a:r>
            <a:r>
              <a:rPr sz="1300" i="0">
                <a:solidFill>
                  <a:srgbClr val="E8EDF2"/>
                </a:solidFill>
                <a:latin typeface="Consolas"/>
              </a:rPr>
              <a:t>argmax</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b</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C39BD3"/>
                </a:solidFill>
                <a:latin typeface="Consolas"/>
              </a:rPr>
              <a:t>reversed</a:t>
            </a:r>
            <a:r>
              <a:rPr sz="1300" i="0">
                <a:solidFill>
                  <a:srgbClr val="AEB6BF"/>
                </a:solidFill>
                <a:latin typeface="Consolas"/>
              </a:rPr>
              <a:t>(</a:t>
            </a:r>
            <a:r>
              <a:rPr sz="1300" i="0">
                <a:solidFill>
                  <a:srgbClr val="E8EDF2"/>
                </a:solidFill>
                <a:latin typeface="Consolas"/>
              </a:rPr>
              <a:t>back</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path</a:t>
            </a:r>
            <a:r>
              <a:rPr sz="1300" i="0">
                <a:solidFill>
                  <a:srgbClr val="AEB6BF"/>
                </a:solidFill>
                <a:latin typeface="Consolas"/>
              </a:rPr>
              <a:t>.</a:t>
            </a:r>
            <a:r>
              <a:rPr sz="1300" i="0">
                <a:solidFill>
                  <a:srgbClr val="E8EDF2"/>
                </a:solidFill>
                <a:latin typeface="Consolas"/>
              </a:rPr>
              <a:t>insert</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int</a:t>
            </a:r>
            <a:r>
              <a:rPr sz="1300" i="0">
                <a:solidFill>
                  <a:srgbClr val="AEB6BF"/>
                </a:solidFill>
                <a:latin typeface="Consolas"/>
              </a:rPr>
              <a:t>(</a:t>
            </a:r>
            <a:r>
              <a:rPr sz="1300" i="0">
                <a:solidFill>
                  <a:srgbClr val="E8EDF2"/>
                </a:solidFill>
                <a:latin typeface="Consolas"/>
              </a:rPr>
              <a:t>b</a:t>
            </a:r>
            <a:r>
              <a:rPr sz="1300" i="0">
                <a:solidFill>
                  <a:srgbClr val="AEB6BF"/>
                </a:solidFill>
                <a:latin typeface="Consolas"/>
              </a:rPr>
              <a:t>[</a:t>
            </a:r>
            <a:r>
              <a:rPr sz="1300" i="0">
                <a:solidFill>
                  <a:srgbClr val="E8EDF2"/>
                </a:solidFill>
                <a:latin typeface="Consolas"/>
              </a:rPr>
              <a:t>path</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path</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delta</a:t>
            </a:r>
            <a:r>
              <a:rPr sz="1300" i="0">
                <a:solidFill>
                  <a:srgbClr val="AEB6BF"/>
                </a:solidFill>
                <a:latin typeface="Consolas"/>
              </a:rPr>
              <a:t>.</a:t>
            </a:r>
            <a:r>
              <a:rPr sz="1300" i="0">
                <a:solidFill>
                  <a:srgbClr val="E8EDF2"/>
                </a:solidFill>
                <a:latin typeface="Consolas"/>
              </a:rPr>
              <a:t>max</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alpha</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forward</a:t>
            </a:r>
            <a:r>
              <a:rPr sz="1300" i="0">
                <a:solidFill>
                  <a:srgbClr val="AEB6BF"/>
                </a:solidFill>
                <a:latin typeface="Consolas"/>
              </a:rPr>
              <a:t>(</a:t>
            </a:r>
            <a:r>
              <a:rPr sz="1300" i="0">
                <a:solidFill>
                  <a:srgbClr val="E8EDF2"/>
                </a:solidFill>
                <a:latin typeface="Consolas"/>
              </a:rPr>
              <a:t>obs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pi</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a:t>
            </a:r>
            <a:r>
              <a:rPr sz="1300" i="0">
                <a:solidFill>
                  <a:srgbClr val="AEB6BF"/>
                </a:solidFill>
                <a:latin typeface="Consolas"/>
              </a:rPr>
              <a:t>)</a:t>
            </a:r>
          </a:p>
          <a:p>
            <a:pPr>
              <a:lnSpc>
                <a:spcPct val="100000"/>
              </a:lnSpc>
              <a:spcAft>
                <a:spcPts val="0"/>
              </a:spcAft>
            </a:pP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P(on plan, behind, blocked) =</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round</a:t>
            </a:r>
            <a:r>
              <a:rPr sz="1300" i="0">
                <a:solidFill>
                  <a:srgbClr val="AEB6BF"/>
                </a:solidFill>
                <a:latin typeface="Consolas"/>
              </a:rPr>
              <a:t>(</a:t>
            </a:r>
            <a:r>
              <a:rPr sz="1300" i="0">
                <a:solidFill>
                  <a:srgbClr val="E8EDF2"/>
                </a:solidFill>
                <a:latin typeface="Consolas"/>
              </a:rPr>
              <a:t>alpha</a:t>
            </a:r>
            <a:r>
              <a:rPr sz="1300" i="0">
                <a:solidFill>
                  <a:srgbClr val="AEB6BF"/>
                </a:solidFill>
                <a:latin typeface="Consolas"/>
              </a:rPr>
              <a:t>.</a:t>
            </a:r>
            <a:r>
              <a:rPr sz="1300" i="0">
                <a:solidFill>
                  <a:srgbClr val="E8EDF2"/>
                </a:solidFill>
                <a:latin typeface="Consolas"/>
              </a:rPr>
              <a:t>sum</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6</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P(state at t=3 | obs)  =</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alpha</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alpha</a:t>
            </a:r>
            <a:r>
              <a:rPr sz="1300" i="0">
                <a:solidFill>
                  <a:srgbClr val="AEB6BF"/>
                </a:solidFill>
                <a:latin typeface="Consolas"/>
              </a:rPr>
              <a:t>.</a:t>
            </a:r>
            <a:r>
              <a:rPr sz="1300" i="0">
                <a:solidFill>
                  <a:srgbClr val="E8EDF2"/>
                </a:solidFill>
                <a:latin typeface="Consolas"/>
              </a:rPr>
              <a:t>sum</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round</a:t>
            </a:r>
            <a:r>
              <a:rPr sz="1300" i="0">
                <a:solidFill>
                  <a:srgbClr val="AEB6BF"/>
                </a:solidFill>
                <a:latin typeface="Consolas"/>
              </a:rPr>
              <a:t>(</a:t>
            </a:r>
            <a:r>
              <a:rPr sz="1300" i="0">
                <a:solidFill>
                  <a:srgbClr val="F7DC6F"/>
                </a:solidFill>
                <a:latin typeface="Consolas"/>
              </a:rPr>
              <a:t>3</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path</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p</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viterbi</a:t>
            </a:r>
            <a:r>
              <a:rPr sz="1300" i="0">
                <a:solidFill>
                  <a:srgbClr val="AEB6BF"/>
                </a:solidFill>
                <a:latin typeface="Consolas"/>
              </a:rPr>
              <a:t>(</a:t>
            </a:r>
            <a:r>
              <a:rPr sz="1300" i="0">
                <a:solidFill>
                  <a:srgbClr val="E8EDF2"/>
                </a:solidFill>
                <a:latin typeface="Consolas"/>
              </a:rPr>
              <a:t>obs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pi</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a:t>
            </a:r>
            <a:r>
              <a:rPr sz="1300" i="0">
                <a:solidFill>
                  <a:srgbClr val="AEB6BF"/>
                </a:solidFill>
                <a:latin typeface="Consolas"/>
              </a:rPr>
              <a:t>)</a:t>
            </a:r>
          </a:p>
          <a:p>
            <a:pPr>
              <a:lnSpc>
                <a:spcPct val="100000"/>
              </a:lnSpc>
              <a:spcAft>
                <a:spcPts val="0"/>
              </a:spcAft>
            </a:pP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most likely states: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HD</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s</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s</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path</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prob</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round</a:t>
            </a:r>
            <a:r>
              <a:rPr sz="1300" i="0">
                <a:solidFill>
                  <a:srgbClr val="AEB6BF"/>
                </a:solidFill>
                <a:latin typeface="Consolas"/>
              </a:rPr>
              <a:t>(</a:t>
            </a:r>
            <a:r>
              <a:rPr sz="1300" i="0">
                <a:solidFill>
                  <a:srgbClr val="E8EDF2"/>
                </a:solidFill>
                <a:latin typeface="Consolas"/>
              </a:rPr>
              <a:t>p</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5</a:t>
            </a:r>
            <a:r>
              <a:rPr sz="1300" i="0">
                <a:solidFill>
                  <a:srgbClr val="AEB6BF"/>
                </a:solidFill>
                <a:latin typeface="Consolas"/>
              </a:rPr>
              <a:t>)</a:t>
            </a:r>
            <a:r>
              <a:rPr sz="13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20</a:t>
            </a:r>
          </a:p>
          <a:p>
            <a:pPr algn="r">
              <a:lnSpc>
                <a:spcPct val="100000"/>
              </a:lnSpc>
            </a:pPr>
            <a:r>
              <a:rPr sz="1300">
                <a:solidFill>
                  <a:srgbClr val="4F5D6A"/>
                </a:solidFill>
                <a:latin typeface="Consolas"/>
              </a:rPr>
              <a:t>21</a:t>
            </a:r>
          </a:p>
          <a:p>
            <a:pPr algn="r">
              <a:lnSpc>
                <a:spcPct val="100000"/>
              </a:lnSpc>
            </a:pPr>
            <a:r>
              <a:rPr sz="1300">
                <a:solidFill>
                  <a:srgbClr val="4F5D6A"/>
                </a:solidFill>
                <a:latin typeface="Consolas"/>
              </a:rPr>
              <a:t>22</a:t>
            </a:r>
          </a:p>
          <a:p>
            <a:pPr algn="r">
              <a:lnSpc>
                <a:spcPct val="100000"/>
              </a:lnSpc>
            </a:pPr>
            <a:r>
              <a:rPr sz="1300">
                <a:solidFill>
                  <a:srgbClr val="4F5D6A"/>
                </a:solidFill>
                <a:latin typeface="Consolas"/>
              </a:rPr>
              <a:t>23</a:t>
            </a:r>
          </a:p>
          <a:p>
            <a:pPr algn="r">
              <a:lnSpc>
                <a:spcPct val="100000"/>
              </a:lnSpc>
            </a:pPr>
            <a:r>
              <a:rPr sz="1300">
                <a:solidFill>
                  <a:srgbClr val="4F5D6A"/>
                </a:solidFill>
                <a:latin typeface="Consolas"/>
              </a:rPr>
              <a:t>24</a:t>
            </a:r>
          </a:p>
          <a:p>
            <a:pPr algn="r">
              <a:lnSpc>
                <a:spcPct val="100000"/>
              </a:lnSpc>
            </a:pPr>
            <a:r>
              <a:rPr sz="1300">
                <a:solidFill>
                  <a:srgbClr val="4F5D6A"/>
                </a:solidFill>
                <a:latin typeface="Consolas"/>
              </a:rPr>
              <a:t>25</a:t>
            </a:r>
          </a:p>
          <a:p>
            <a:pPr algn="r">
              <a:lnSpc>
                <a:spcPct val="100000"/>
              </a:lnSpc>
            </a:pPr>
            <a:r>
              <a:rPr sz="1300">
                <a:solidFill>
                  <a:srgbClr val="4F5D6A"/>
                </a:solidFill>
                <a:latin typeface="Consolas"/>
              </a:rPr>
              <a:t>26</a:t>
            </a:r>
          </a:p>
          <a:p>
            <a:pPr algn="r">
              <a:lnSpc>
                <a:spcPct val="100000"/>
              </a:lnSpc>
            </a:pPr>
            <a:r>
              <a:rPr sz="1300">
                <a:solidFill>
                  <a:srgbClr val="4F5D6A"/>
                </a:solidFill>
                <a:latin typeface="Consolas"/>
              </a:rPr>
              <a:t>27</a:t>
            </a:r>
          </a:p>
          <a:p>
            <a:pPr algn="r">
              <a:lnSpc>
                <a:spcPct val="100000"/>
              </a:lnSpc>
            </a:pPr>
            <a:r>
              <a:rPr sz="1300">
                <a:solidFill>
                  <a:srgbClr val="4F5D6A"/>
                </a:solidFill>
                <a:latin typeface="Consolas"/>
              </a:rPr>
              <a:t>28</a:t>
            </a:r>
          </a:p>
          <a:p>
            <a:pPr algn="r">
              <a:lnSpc>
                <a:spcPct val="100000"/>
              </a:lnSpc>
            </a:pPr>
            <a:r>
              <a:rPr sz="1300">
                <a:solidFill>
                  <a:srgbClr val="4F5D6A"/>
                </a:solidFill>
                <a:latin typeface="Consolas"/>
              </a:rPr>
              <a:t>29</a:t>
            </a:r>
          </a:p>
          <a:p>
            <a:pPr algn="r">
              <a:lnSpc>
                <a:spcPct val="100000"/>
              </a:lnSpc>
            </a:pPr>
            <a:r>
              <a:rPr sz="1300">
                <a:solidFill>
                  <a:srgbClr val="4F5D6A"/>
                </a:solidFill>
                <a:latin typeface="Consolas"/>
              </a:rPr>
              <a:t>30</a:t>
            </a:r>
          </a:p>
          <a:p>
            <a:pPr algn="r">
              <a:lnSpc>
                <a:spcPct val="100000"/>
              </a:lnSpc>
            </a:pPr>
            <a:r>
              <a:rPr sz="1300">
                <a:solidFill>
                  <a:srgbClr val="4F5D6A"/>
                </a:solidFill>
                <a:latin typeface="Consolas"/>
              </a:rPr>
              <a:t>31</a:t>
            </a:r>
          </a:p>
          <a:p>
            <a:pPr algn="r">
              <a:lnSpc>
                <a:spcPct val="100000"/>
              </a:lnSpc>
            </a:pPr>
            <a:r>
              <a:rPr sz="1300">
                <a:solidFill>
                  <a:srgbClr val="4F5D6A"/>
                </a:solidFill>
                <a:latin typeface="Consolas"/>
              </a:rPr>
              <a:t>32</a:t>
            </a:r>
          </a:p>
          <a:p>
            <a:pPr algn="r">
              <a:lnSpc>
                <a:spcPct val="100000"/>
              </a:lnSpc>
            </a:pPr>
            <a:r>
              <a:rPr sz="1300">
                <a:solidFill>
                  <a:srgbClr val="4F5D6A"/>
                </a:solidFill>
                <a:latin typeface="Consolas"/>
              </a:rPr>
              <a:t>33</a:t>
            </a:r>
          </a:p>
          <a:p>
            <a:pPr algn="r">
              <a:lnSpc>
                <a:spcPct val="100000"/>
              </a:lnSpc>
            </a:pPr>
            <a:r>
              <a:rPr sz="1300">
                <a:solidFill>
                  <a:srgbClr val="4F5D6A"/>
                </a:solidFill>
                <a:latin typeface="Consolas"/>
              </a:rPr>
              <a:t>34</a:t>
            </a:r>
          </a:p>
          <a:p>
            <a:pPr algn="r">
              <a:lnSpc>
                <a:spcPct val="100000"/>
              </a:lnSpc>
            </a:pPr>
            <a:r>
              <a:rPr sz="1300">
                <a:solidFill>
                  <a:srgbClr val="4F5D6A"/>
                </a:solidFill>
                <a:latin typeface="Consolas"/>
              </a:rPr>
              <a:t>35</a:t>
            </a:r>
          </a:p>
          <a:p>
            <a:pPr algn="r">
              <a:lnSpc>
                <a:spcPct val="100000"/>
              </a:lnSpc>
            </a:pPr>
            <a:r>
              <a:rPr sz="1300">
                <a:solidFill>
                  <a:srgbClr val="4F5D6A"/>
                </a:solidFill>
                <a:latin typeface="Consolas"/>
              </a:rPr>
              <a:t>36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58594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Forward, Viterbi, Monte Carlo and Baum-Welch</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138     </a:t>
            </a:r>
            <a:fld id="{A4BD9B2E-991F-44A0-ACEB-51EDBEA437B9}"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Monte Carlo: estimate the same probability by sampling</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code/ch18_forward_viterbi_monte.py</a:t>
            </a:r>
          </a:p>
        </p:txBody>
      </p:sp>
      <p:sp>
        <p:nvSpPr>
          <p:cNvPr id="14" name="!!code-text" descr="# --- Monte Carlo: estimate the same probability by sampling -------------- rng = np.random.default_rng(0) def sample(T): s = rng.choice(2, p=pi) out = [] for t in range(T): out.append(rng.choice(3, p=B[s])) s = rng.choice(2, p=A[s]) return out for n in (1_000, 10_000, 100_000): hits = sum(sample(3) == obs for _ in range(n)) print(f&quot;Monte Carlo, {n:6d} samples: {hits / n:.4f}&quot;)"/>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 Monte Carlo: estimate the same probability by sampling --------------</a:t>
            </a:r>
          </a:p>
          <a:p>
            <a:pPr>
              <a:lnSpc>
                <a:spcPct val="100000"/>
              </a:lnSpc>
              <a:spcAft>
                <a:spcPts val="0"/>
              </a:spcAft>
            </a:pPr>
            <a:r>
              <a:rPr sz="1400" i="0">
                <a:solidFill>
                  <a:srgbClr val="E8EDF2"/>
                </a:solidFill>
                <a:latin typeface="Consolas"/>
              </a:rPr>
              <a:t>rng</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random</a:t>
            </a:r>
            <a:r>
              <a:rPr sz="1400" i="0">
                <a:solidFill>
                  <a:srgbClr val="AEB6BF"/>
                </a:solidFill>
                <a:latin typeface="Consolas"/>
              </a:rPr>
              <a:t>.</a:t>
            </a:r>
            <a:r>
              <a:rPr sz="1400" i="0">
                <a:solidFill>
                  <a:srgbClr val="E8EDF2"/>
                </a:solidFill>
                <a:latin typeface="Consolas"/>
              </a:rPr>
              <a:t>default_rng</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a:latin typeface="Consolas"/>
              </a:rPr>
              <a:t> </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sample</a:t>
            </a:r>
            <a:r>
              <a:rPr sz="1400" i="0">
                <a:solidFill>
                  <a:srgbClr val="AEB6BF"/>
                </a:solidFill>
                <a:latin typeface="Consolas"/>
              </a:rPr>
              <a:t>(</a:t>
            </a:r>
            <a:r>
              <a:rPr sz="1400" i="0">
                <a:solidFill>
                  <a:srgbClr val="E8EDF2"/>
                </a:solidFill>
                <a:latin typeface="Consolas"/>
              </a:rPr>
              <a:t>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rng</a:t>
            </a:r>
            <a:r>
              <a:rPr sz="1400" i="0">
                <a:solidFill>
                  <a:srgbClr val="AEB6BF"/>
                </a:solidFill>
                <a:latin typeface="Consolas"/>
              </a:rPr>
              <a:t>.</a:t>
            </a:r>
            <a:r>
              <a:rPr sz="1400" i="0">
                <a:solidFill>
                  <a:srgbClr val="E8EDF2"/>
                </a:solidFill>
                <a:latin typeface="Consolas"/>
              </a:rPr>
              <a:t>choice</a:t>
            </a:r>
            <a:r>
              <a:rPr sz="1400" i="0">
                <a:solidFill>
                  <a:srgbClr val="AEB6BF"/>
                </a:solidFill>
                <a:latin typeface="Consolas"/>
              </a:rPr>
              <a:t>(</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a:t>
            </a:r>
            <a:r>
              <a:rPr sz="1400" i="0">
                <a:solidFill>
                  <a:srgbClr val="AEB6BF"/>
                </a:solidFill>
                <a:latin typeface="Consolas"/>
              </a:rPr>
              <a:t>=</a:t>
            </a:r>
            <a:r>
              <a:rPr sz="1400" i="0">
                <a:solidFill>
                  <a:srgbClr val="E8EDF2"/>
                </a:solidFill>
                <a:latin typeface="Consolas"/>
              </a:rPr>
              <a:t>pi</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out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C39BD3"/>
                </a:solidFill>
                <a:latin typeface="Consolas"/>
              </a:rPr>
              <a:t>range</a:t>
            </a:r>
            <a:r>
              <a:rPr sz="1400" i="0">
                <a:solidFill>
                  <a:srgbClr val="AEB6BF"/>
                </a:solidFill>
                <a:latin typeface="Consolas"/>
              </a:rPr>
              <a:t>(</a:t>
            </a:r>
            <a:r>
              <a:rPr sz="1400" i="0">
                <a:solidFill>
                  <a:srgbClr val="E8EDF2"/>
                </a:solidFill>
                <a:latin typeface="Consolas"/>
              </a:rPr>
              <a:t>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out</a:t>
            </a:r>
            <a:r>
              <a:rPr sz="1400" i="0">
                <a:solidFill>
                  <a:srgbClr val="AEB6BF"/>
                </a:solidFill>
                <a:latin typeface="Consolas"/>
              </a:rPr>
              <a:t>.</a:t>
            </a:r>
            <a:r>
              <a:rPr sz="1400" i="0">
                <a:solidFill>
                  <a:srgbClr val="E8EDF2"/>
                </a:solidFill>
                <a:latin typeface="Consolas"/>
              </a:rPr>
              <a:t>append</a:t>
            </a:r>
            <a:r>
              <a:rPr sz="1400" i="0">
                <a:solidFill>
                  <a:srgbClr val="AEB6BF"/>
                </a:solidFill>
                <a:latin typeface="Consolas"/>
              </a:rPr>
              <a:t>(</a:t>
            </a:r>
            <a:r>
              <a:rPr sz="1400" i="0">
                <a:solidFill>
                  <a:srgbClr val="E8EDF2"/>
                </a:solidFill>
                <a:latin typeface="Consolas"/>
              </a:rPr>
              <a:t>rng</a:t>
            </a:r>
            <a:r>
              <a:rPr sz="1400" i="0">
                <a:solidFill>
                  <a:srgbClr val="AEB6BF"/>
                </a:solidFill>
                <a:latin typeface="Consolas"/>
              </a:rPr>
              <a:t>.</a:t>
            </a:r>
            <a:r>
              <a:rPr sz="1400" i="0">
                <a:solidFill>
                  <a:srgbClr val="E8EDF2"/>
                </a:solidFill>
                <a:latin typeface="Consolas"/>
              </a:rPr>
              <a:t>choice</a:t>
            </a:r>
            <a:r>
              <a:rPr sz="1400" i="0">
                <a:solidFill>
                  <a:srgbClr val="AEB6BF"/>
                </a:solidFill>
                <a:latin typeface="Consolas"/>
              </a:rPr>
              <a:t>(</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a:t>
            </a:r>
            <a:r>
              <a:rPr sz="1400" i="0">
                <a:solidFill>
                  <a:srgbClr val="AEB6BF"/>
                </a:solidFill>
                <a:latin typeface="Consolas"/>
              </a:rPr>
              <a:t>=</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s</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rng</a:t>
            </a:r>
            <a:r>
              <a:rPr sz="1400" i="0">
                <a:solidFill>
                  <a:srgbClr val="AEB6BF"/>
                </a:solidFill>
                <a:latin typeface="Consolas"/>
              </a:rPr>
              <a:t>.</a:t>
            </a:r>
            <a:r>
              <a:rPr sz="1400" i="0">
                <a:solidFill>
                  <a:srgbClr val="E8EDF2"/>
                </a:solidFill>
                <a:latin typeface="Consolas"/>
              </a:rPr>
              <a:t>choice</a:t>
            </a:r>
            <a:r>
              <a:rPr sz="1400" i="0">
                <a:solidFill>
                  <a:srgbClr val="AEB6BF"/>
                </a:solidFill>
                <a:latin typeface="Consolas"/>
              </a:rPr>
              <a:t>(</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a:t>
            </a:r>
            <a:r>
              <a:rPr sz="1400" i="0">
                <a:solidFill>
                  <a:srgbClr val="AEB6BF"/>
                </a:solidFill>
                <a:latin typeface="Consolas"/>
              </a:rPr>
              <a:t>=</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s</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out</a:t>
            </a:r>
          </a:p>
          <a:p>
            <a:pPr>
              <a:lnSpc>
                <a:spcPct val="100000"/>
              </a:lnSpc>
              <a:spcAft>
                <a:spcPts val="0"/>
              </a:spcAft>
            </a:pPr>
            <a:r>
              <a:rPr sz="1400">
                <a:latin typeface="Consolas"/>
              </a:rPr>
              <a:t> </a:t>
            </a:r>
          </a:p>
          <a:p>
            <a:pPr>
              <a:lnSpc>
                <a:spcPct val="100000"/>
              </a:lnSpc>
              <a:spcAft>
                <a:spcPts val="0"/>
              </a:spcAft>
            </a:pPr>
            <a:r>
              <a:rPr sz="1400">
                <a:latin typeface="Consolas"/>
              </a:rPr>
              <a:t> </a:t>
            </a:r>
          </a:p>
          <a:p>
            <a:pPr>
              <a:lnSpc>
                <a:spcPct val="100000"/>
              </a:lnSpc>
              <a:spcAft>
                <a:spcPts val="0"/>
              </a:spcAft>
            </a:pP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n</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1_000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10_000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100_000</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hits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sum</a:t>
            </a:r>
            <a:r>
              <a:rPr sz="1400" i="0">
                <a:solidFill>
                  <a:srgbClr val="AEB6BF"/>
                </a:solidFill>
                <a:latin typeface="Consolas"/>
              </a:rPr>
              <a:t>(</a:t>
            </a:r>
            <a:r>
              <a:rPr sz="1400" i="0">
                <a:solidFill>
                  <a:srgbClr val="E8EDF2"/>
                </a:solidFill>
                <a:latin typeface="Consolas"/>
              </a:rPr>
              <a:t>sample</a:t>
            </a:r>
            <a:r>
              <a:rPr sz="1400" i="0">
                <a:solidFill>
                  <a:srgbClr val="AEB6BF"/>
                </a:solidFill>
                <a:latin typeface="Consolas"/>
              </a:rPr>
              <a:t>(</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obs</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_</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C39BD3"/>
                </a:solidFill>
                <a:latin typeface="Consolas"/>
              </a:rPr>
              <a:t>range</a:t>
            </a:r>
            <a:r>
              <a:rPr sz="1400" i="0">
                <a:solidFill>
                  <a:srgbClr val="AEB6BF"/>
                </a:solidFill>
                <a:latin typeface="Consolas"/>
              </a:rPr>
              <a:t>(</a:t>
            </a:r>
            <a:r>
              <a:rPr sz="1400" i="0">
                <a:solidFill>
                  <a:srgbClr val="E8EDF2"/>
                </a:solidFill>
                <a:latin typeface="Consolas"/>
              </a:rPr>
              <a:t>n</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f</a:t>
            </a:r>
            <a:r>
              <a:rPr sz="1400" i="0">
                <a:solidFill>
                  <a:srgbClr val="7DCEA0"/>
                </a:solidFill>
                <a:latin typeface="Consolas"/>
              </a:rPr>
              <a:t>"</a:t>
            </a:r>
            <a:r>
              <a:rPr sz="1400" i="0">
                <a:solidFill>
                  <a:srgbClr val="7DCEA0"/>
                </a:solidFill>
                <a:latin typeface="Consolas"/>
              </a:rPr>
              <a:t>Monte Carlo, </a:t>
            </a:r>
            <a:r>
              <a:rPr sz="1400" i="0">
                <a:solidFill>
                  <a:srgbClr val="7DCEA0"/>
                </a:solidFill>
                <a:latin typeface="Consolas"/>
              </a:rPr>
              <a:t>{</a:t>
            </a:r>
            <a:r>
              <a:rPr sz="1400" i="0">
                <a:solidFill>
                  <a:srgbClr val="E8EDF2"/>
                </a:solidFill>
                <a:latin typeface="Consolas"/>
              </a:rPr>
              <a:t>n</a:t>
            </a:r>
            <a:r>
              <a:rPr sz="1400" i="0">
                <a:solidFill>
                  <a:srgbClr val="7DCEA0"/>
                </a:solidFill>
                <a:latin typeface="Consolas"/>
              </a:rPr>
              <a:t>:</a:t>
            </a:r>
            <a:r>
              <a:rPr sz="1400" i="0">
                <a:solidFill>
                  <a:srgbClr val="7DCEA0"/>
                </a:solidFill>
                <a:latin typeface="Consolas"/>
              </a:rPr>
              <a:t>6d</a:t>
            </a:r>
            <a:r>
              <a:rPr sz="1400" i="0">
                <a:solidFill>
                  <a:srgbClr val="7DCEA0"/>
                </a:solidFill>
                <a:latin typeface="Consolas"/>
              </a:rPr>
              <a:t>}</a:t>
            </a:r>
            <a:r>
              <a:rPr sz="1400" i="0">
                <a:solidFill>
                  <a:srgbClr val="7DCEA0"/>
                </a:solidFill>
                <a:latin typeface="Consolas"/>
              </a:rPr>
              <a:t> samples: </a:t>
            </a:r>
            <a:r>
              <a:rPr sz="1400" i="0">
                <a:solidFill>
                  <a:srgbClr val="7DCEA0"/>
                </a:solidFill>
                <a:latin typeface="Consolas"/>
              </a:rPr>
              <a:t>{</a:t>
            </a:r>
            <a:r>
              <a:rPr sz="1400" i="0">
                <a:solidFill>
                  <a:srgbClr val="E8EDF2"/>
                </a:solidFill>
                <a:latin typeface="Consolas"/>
              </a:rPr>
              <a:t>hits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t>
            </a:r>
            <a:r>
              <a:rPr sz="1400" i="0">
                <a:solidFill>
                  <a:srgbClr val="7DCEA0"/>
                </a:solidFill>
                <a:latin typeface="Consolas"/>
              </a:rPr>
              <a:t>:</a:t>
            </a:r>
            <a:r>
              <a:rPr sz="1400" i="0">
                <a:solidFill>
                  <a:srgbClr val="7DCEA0"/>
                </a:solidFill>
                <a:latin typeface="Consolas"/>
              </a:rPr>
              <a:t>.4f</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38</a:t>
            </a:r>
          </a:p>
          <a:p>
            <a:pPr algn="r">
              <a:lnSpc>
                <a:spcPct val="100000"/>
              </a:lnSpc>
            </a:pPr>
            <a:r>
              <a:rPr sz="1400">
                <a:solidFill>
                  <a:srgbClr val="4F5D6A"/>
                </a:solidFill>
                <a:latin typeface="Consolas"/>
              </a:rPr>
              <a:t>39</a:t>
            </a:r>
          </a:p>
          <a:p>
            <a:pPr algn="r">
              <a:lnSpc>
                <a:spcPct val="100000"/>
              </a:lnSpc>
            </a:pPr>
            <a:r>
              <a:rPr sz="1400">
                <a:solidFill>
                  <a:srgbClr val="4F5D6A"/>
                </a:solidFill>
                <a:latin typeface="Consolas"/>
              </a:rPr>
              <a:t>40</a:t>
            </a:r>
          </a:p>
          <a:p>
            <a:pPr algn="r">
              <a:lnSpc>
                <a:spcPct val="100000"/>
              </a:lnSpc>
            </a:pPr>
            <a:r>
              <a:rPr sz="1400">
                <a:solidFill>
                  <a:srgbClr val="4F5D6A"/>
                </a:solidFill>
                <a:latin typeface="Consolas"/>
              </a:rPr>
              <a:t>41</a:t>
            </a:r>
          </a:p>
          <a:p>
            <a:pPr algn="r">
              <a:lnSpc>
                <a:spcPct val="100000"/>
              </a:lnSpc>
            </a:pPr>
            <a:r>
              <a:rPr sz="1400">
                <a:solidFill>
                  <a:srgbClr val="4F5D6A"/>
                </a:solidFill>
                <a:latin typeface="Consolas"/>
              </a:rPr>
              <a:t>42</a:t>
            </a:r>
          </a:p>
          <a:p>
            <a:pPr algn="r">
              <a:lnSpc>
                <a:spcPct val="100000"/>
              </a:lnSpc>
            </a:pPr>
            <a:r>
              <a:rPr sz="1400">
                <a:solidFill>
                  <a:srgbClr val="4F5D6A"/>
                </a:solidFill>
                <a:latin typeface="Consolas"/>
              </a:rPr>
              <a:t>43</a:t>
            </a:r>
          </a:p>
          <a:p>
            <a:pPr algn="r">
              <a:lnSpc>
                <a:spcPct val="100000"/>
              </a:lnSpc>
            </a:pPr>
            <a:r>
              <a:rPr sz="1400">
                <a:solidFill>
                  <a:srgbClr val="4F5D6A"/>
                </a:solidFill>
                <a:latin typeface="Consolas"/>
              </a:rPr>
              <a:t>44</a:t>
            </a:r>
          </a:p>
          <a:p>
            <a:pPr algn="r">
              <a:lnSpc>
                <a:spcPct val="100000"/>
              </a:lnSpc>
            </a:pPr>
            <a:r>
              <a:rPr sz="1400">
                <a:solidFill>
                  <a:srgbClr val="4F5D6A"/>
                </a:solidFill>
                <a:latin typeface="Consolas"/>
              </a:rPr>
              <a:t>45</a:t>
            </a:r>
          </a:p>
          <a:p>
            <a:pPr algn="r">
              <a:lnSpc>
                <a:spcPct val="100000"/>
              </a:lnSpc>
            </a:pPr>
            <a:r>
              <a:rPr sz="1400">
                <a:solidFill>
                  <a:srgbClr val="4F5D6A"/>
                </a:solidFill>
                <a:latin typeface="Consolas"/>
              </a:rPr>
              <a:t>46</a:t>
            </a:r>
          </a:p>
          <a:p>
            <a:pPr algn="r">
              <a:lnSpc>
                <a:spcPct val="100000"/>
              </a:lnSpc>
            </a:pPr>
            <a:r>
              <a:rPr sz="1400">
                <a:solidFill>
                  <a:srgbClr val="4F5D6A"/>
                </a:solidFill>
                <a:latin typeface="Consolas"/>
              </a:rPr>
              <a:t>47</a:t>
            </a:r>
          </a:p>
          <a:p>
            <a:pPr algn="r">
              <a:lnSpc>
                <a:spcPct val="100000"/>
              </a:lnSpc>
            </a:pPr>
            <a:r>
              <a:rPr sz="1400">
                <a:solidFill>
                  <a:srgbClr val="4F5D6A"/>
                </a:solidFill>
                <a:latin typeface="Consolas"/>
              </a:rPr>
              <a:t>48</a:t>
            </a:r>
          </a:p>
          <a:p>
            <a:pPr algn="r">
              <a:lnSpc>
                <a:spcPct val="100000"/>
              </a:lnSpc>
            </a:pPr>
            <a:r>
              <a:rPr sz="1400">
                <a:solidFill>
                  <a:srgbClr val="4F5D6A"/>
                </a:solidFill>
                <a:latin typeface="Consolas"/>
              </a:rPr>
              <a:t>49</a:t>
            </a:r>
          </a:p>
          <a:p>
            <a:pPr algn="r">
              <a:lnSpc>
                <a:spcPct val="100000"/>
              </a:lnSpc>
            </a:pPr>
            <a:r>
              <a:rPr sz="1400">
                <a:solidFill>
                  <a:srgbClr val="4F5D6A"/>
                </a:solidFill>
                <a:latin typeface="Consolas"/>
              </a:rPr>
              <a:t>50</a:t>
            </a:r>
          </a:p>
          <a:p>
            <a:pPr algn="r">
              <a:lnSpc>
                <a:spcPct val="100000"/>
              </a:lnSpc>
            </a:pPr>
            <a:r>
              <a:rPr sz="1400">
                <a:solidFill>
                  <a:srgbClr val="4F5D6A"/>
                </a:solidFill>
                <a:latin typeface="Consolas"/>
              </a:rPr>
              <a:t>51</a:t>
            </a:r>
          </a:p>
          <a:p>
            <a:pPr algn="r">
              <a:lnSpc>
                <a:spcPct val="100000"/>
              </a:lnSpc>
            </a:pPr>
            <a:r>
              <a:rPr sz="1400">
                <a:solidFill>
                  <a:srgbClr val="4F5D6A"/>
                </a:solidFill>
                <a:latin typeface="Consolas"/>
              </a:rPr>
              <a:t>52</a:t>
            </a:r>
          </a:p>
          <a:p>
            <a:pPr algn="r">
              <a:lnSpc>
                <a:spcPct val="100000"/>
              </a:lnSpc>
            </a:pPr>
            <a:r>
              <a:rPr sz="1400">
                <a:solidFill>
                  <a:srgbClr val="4F5D6A"/>
                </a:solidFill>
                <a:latin typeface="Consolas"/>
              </a:rPr>
              <a:t>53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856870"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Forward, Viterbi, Monte Carlo and Baum-Welch</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138     </a:t>
            </a:r>
            <a:fld id="{E758F9BC-C1E8-498B-9033-0D367BAC2FC1}"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Baum-Welch (EM): relearn A and B from one long sampled sequence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249424"/>
          </a:xfrm>
          <a:prstGeom prst="roundRect">
            <a:avLst>
              <a:gd name="adj" fmla="val 406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code/ch18_forward_viterbi_monte.py</a:t>
            </a:r>
          </a:p>
        </p:txBody>
      </p:sp>
      <p:sp>
        <p:nvSpPr>
          <p:cNvPr id="14" name="!!code-text" descr="# --- Baum-Welch (EM): relearn A and B from one long sampled sequence ----- seq = np.array(sample(3000)) A_hat = np.array([[0.5, 0.5], [0.5, 0.5]]) # deliberately vague start B_hat = np.array([[0.5, 0.3, 0.2], [0.2, 0.3, 0.5]]) p_hat = np.array([0.5, 0.5]) T = len(seq)"/>
          <p:cNvSpPr txBox="1"/>
          <p:nvPr/>
        </p:nvSpPr>
        <p:spPr>
          <a:xfrm>
            <a:off x="1362456" y="2523744"/>
            <a:ext cx="9987991" cy="175564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Baum-Welch (EM): relearn A and B from one long sampled sequence -----</a:t>
            </a:r>
          </a:p>
          <a:p>
            <a:pPr>
              <a:lnSpc>
                <a:spcPct val="100000"/>
              </a:lnSpc>
              <a:spcAft>
                <a:spcPts val="0"/>
              </a:spcAft>
            </a:pPr>
            <a:r>
              <a:rPr sz="1800" i="0">
                <a:solidFill>
                  <a:srgbClr val="E8EDF2"/>
                </a:solidFill>
                <a:latin typeface="Consolas"/>
              </a:rPr>
              <a:t>seq</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E8EDF2"/>
                </a:solidFill>
                <a:latin typeface="Consolas"/>
              </a:rPr>
              <a:t>sample</a:t>
            </a:r>
            <a:r>
              <a:rPr sz="1800" i="0">
                <a:solidFill>
                  <a:srgbClr val="AEB6BF"/>
                </a:solidFill>
                <a:latin typeface="Consolas"/>
              </a:rPr>
              <a:t>(</a:t>
            </a:r>
            <a:r>
              <a:rPr sz="1800" i="0">
                <a:solidFill>
                  <a:srgbClr val="F7DC6F"/>
                </a:solidFill>
                <a:latin typeface="Consolas"/>
              </a:rPr>
              <a:t>3000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A_hat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deliberately vague start</a:t>
            </a:r>
          </a:p>
          <a:p>
            <a:pPr>
              <a:lnSpc>
                <a:spcPct val="100000"/>
              </a:lnSpc>
              <a:spcAft>
                <a:spcPts val="0"/>
              </a:spcAft>
            </a:pPr>
            <a:r>
              <a:rPr sz="1800" i="0">
                <a:solidFill>
                  <a:srgbClr val="E8EDF2"/>
                </a:solidFill>
                <a:latin typeface="Consolas"/>
              </a:rPr>
              <a:t>B_hat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0.2</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p_hat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len</a:t>
            </a:r>
            <a:r>
              <a:rPr sz="1800" i="0">
                <a:solidFill>
                  <a:srgbClr val="AEB6BF"/>
                </a:solidFill>
                <a:latin typeface="Consolas"/>
              </a:rPr>
              <a:t>(</a:t>
            </a:r>
            <a:r>
              <a:rPr sz="1800" i="0">
                <a:solidFill>
                  <a:srgbClr val="E8EDF2"/>
                </a:solidFill>
                <a:latin typeface="Consolas"/>
              </a:rPr>
              <a:t>seq</a:t>
            </a:r>
            <a:r>
              <a:rPr sz="1800" i="0">
                <a:solidFill>
                  <a:srgbClr val="AEB6BF"/>
                </a:solidFill>
                <a:latin typeface="Consolas"/>
              </a:rPr>
              <a:t>)</a:t>
            </a:r>
          </a:p>
        </p:txBody>
      </p:sp>
      <p:sp>
        <p:nvSpPr>
          <p:cNvPr id="15" name="!!code-num"/>
          <p:cNvSpPr txBox="1"/>
          <p:nvPr/>
        </p:nvSpPr>
        <p:spPr>
          <a:xfrm>
            <a:off x="768096" y="2523744"/>
            <a:ext cx="393192" cy="175564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55</a:t>
            </a:r>
          </a:p>
          <a:p>
            <a:pPr algn="r">
              <a:lnSpc>
                <a:spcPct val="100000"/>
              </a:lnSpc>
            </a:pPr>
            <a:r>
              <a:rPr sz="1800">
                <a:solidFill>
                  <a:srgbClr val="4F5D6A"/>
                </a:solidFill>
                <a:latin typeface="Consolas"/>
              </a:rPr>
              <a:t>56</a:t>
            </a:r>
          </a:p>
          <a:p>
            <a:pPr algn="r">
              <a:lnSpc>
                <a:spcPct val="100000"/>
              </a:lnSpc>
            </a:pPr>
            <a:r>
              <a:rPr sz="1800">
                <a:solidFill>
                  <a:srgbClr val="4F5D6A"/>
                </a:solidFill>
                <a:latin typeface="Consolas"/>
              </a:rPr>
              <a:t>57</a:t>
            </a:r>
          </a:p>
          <a:p>
            <a:pPr algn="r">
              <a:lnSpc>
                <a:spcPct val="100000"/>
              </a:lnSpc>
            </a:pPr>
            <a:r>
              <a:rPr sz="1800">
                <a:solidFill>
                  <a:srgbClr val="4F5D6A"/>
                </a:solidFill>
                <a:latin typeface="Consolas"/>
              </a:rPr>
              <a:t>58</a:t>
            </a:r>
          </a:p>
          <a:p>
            <a:pPr algn="r">
              <a:lnSpc>
                <a:spcPct val="100000"/>
              </a:lnSpc>
            </a:pPr>
            <a:r>
              <a:rPr sz="1800">
                <a:solidFill>
                  <a:srgbClr val="4F5D6A"/>
                </a:solidFill>
                <a:latin typeface="Consolas"/>
              </a:rPr>
              <a:t>59</a:t>
            </a:r>
          </a:p>
          <a:p>
            <a:pPr algn="r">
              <a:lnSpc>
                <a:spcPct val="100000"/>
              </a:lnSpc>
            </a:pPr>
            <a:r>
              <a:rPr sz="1800">
                <a:solidFill>
                  <a:srgbClr val="4F5D6A"/>
                </a:solidFill>
                <a:latin typeface="Consolas"/>
              </a:rPr>
              <a:t>60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12779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Forward, Viterbi, Monte Carlo and Baum-Welch</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138     </a:t>
            </a:r>
            <a:fld id="{4DD491D9-77C7-40D8-9F09-0D1DAA2D3E7B}"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Baum-Welch (EM): relearn A and B from one long sampled sequence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4"/>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code/ch18_forward_viterbi_monte.py</a:t>
            </a:r>
          </a:p>
        </p:txBody>
      </p:sp>
      <p:sp>
        <p:nvSpPr>
          <p:cNvPr id="14" name="!!code-text" descr="for it in range(60): a, c = np.zeros((T, 2)), np.zeros(T) # scaled forward pass a[0] = p_hat * B_hat[:, seq[0]] c[0] = a[0].sum() a[0] /= c[0] for t in range(1, T): a[t] = (a[t - 1] @ A_hat) * B_hat[:, seq[t]] c[t] = a[t].sum() a[t] /= c[t] b = np.ones((T, 2)) # scaled backward pass for t in range(T - 2, -1, -1): b[t] = A_hat @ (B_hat[:, seq[t + 1]] * b[t + 1]) / c[t + 1]"/>
          <p:cNvSpPr txBox="1"/>
          <p:nvPr/>
        </p:nvSpPr>
        <p:spPr>
          <a:xfrm>
            <a:off x="1362456" y="2523744"/>
            <a:ext cx="9987991" cy="3675888"/>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it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C39BD3"/>
                </a:solidFill>
                <a:latin typeface="Consolas"/>
              </a:rPr>
              <a:t>range</a:t>
            </a:r>
            <a:r>
              <a:rPr sz="1800" i="0">
                <a:solidFill>
                  <a:srgbClr val="AEB6BF"/>
                </a:solidFill>
                <a:latin typeface="Consolas"/>
              </a:rPr>
              <a:t>(</a:t>
            </a:r>
            <a:r>
              <a:rPr sz="1800" i="0">
                <a:solidFill>
                  <a:srgbClr val="F7DC6F"/>
                </a:solidFill>
                <a:latin typeface="Consolas"/>
              </a:rPr>
              <a:t>60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zeros</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zeros</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scaled forward pass</a:t>
            </a:r>
          </a:p>
          <a:p>
            <a:pPr>
              <a:lnSpc>
                <a:spcPct val="100000"/>
              </a:lnSpc>
              <a:spcAft>
                <a:spcPts val="0"/>
              </a:spcAft>
            </a:pP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p_hat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B_hat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seq</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c</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C39BD3"/>
                </a:solidFill>
                <a:latin typeface="Consolas"/>
              </a:rPr>
              <a:t>range</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A_hat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B_hat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seq</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c</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p>
          <a:p>
            <a:pPr>
              <a:lnSpc>
                <a:spcPct val="100000"/>
              </a:lnSpc>
              <a:spcAft>
                <a:spcPts val="0"/>
              </a:spcAft>
            </a:pPr>
            <a:r>
              <a:rPr sz="1800">
                <a:latin typeface="Consolas"/>
              </a:rPr>
              <a:t> </a:t>
            </a:r>
          </a:p>
          <a:p>
            <a:pPr>
              <a:lnSpc>
                <a:spcPct val="100000"/>
              </a:lnSpc>
              <a:spcAft>
                <a:spcPts val="0"/>
              </a:spcAft>
            </a:pPr>
            <a:r>
              <a:rPr sz="1800" i="0">
                <a:solidFill>
                  <a:srgbClr val="E8EDF2"/>
                </a:solidFill>
                <a:latin typeface="Consolas"/>
              </a:rPr>
              <a:t>    </a:t>
            </a:r>
            <a:r>
              <a:rPr sz="1800" i="0">
                <a:solidFill>
                  <a:srgbClr val="E8EDF2"/>
                </a:solidFill>
                <a:latin typeface="Consolas"/>
              </a:rPr>
              <a:t>b</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ones</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scaled backward pass</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C39BD3"/>
                </a:solidFill>
                <a:latin typeface="Consolas"/>
              </a:rPr>
              <a:t>range</a:t>
            </a:r>
            <a:r>
              <a:rPr sz="1800" i="0">
                <a:solidFill>
                  <a:srgbClr val="AEB6BF"/>
                </a:solidFill>
                <a:latin typeface="Consolas"/>
              </a:rPr>
              <a:t>(</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b</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A_hat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B_hat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seq</a:t>
            </a:r>
            <a:r>
              <a:rPr sz="1800" i="0">
                <a:solidFill>
                  <a:srgbClr val="AEB6BF"/>
                </a:solidFill>
                <a:latin typeface="Consolas"/>
              </a:rPr>
              <a:t>[</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a:t>
            </a:r>
            <a:r>
              <a:rPr sz="1800" i="0">
                <a:solidFill>
                  <a:srgbClr val="AEB6BF"/>
                </a:solidFill>
                <a:latin typeface="Consolas"/>
              </a:rPr>
              <a:t>[</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a:t>
            </a:r>
            <a:r>
              <a:rPr sz="1800" i="0">
                <a:solidFill>
                  <a:srgbClr val="AEB6BF"/>
                </a:solidFill>
                <a:latin typeface="Consolas"/>
              </a:rPr>
              <a:t>[</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p>
        </p:txBody>
      </p:sp>
      <p:sp>
        <p:nvSpPr>
          <p:cNvPr id="15" name="!!code-num"/>
          <p:cNvSpPr txBox="1"/>
          <p:nvPr/>
        </p:nvSpPr>
        <p:spPr>
          <a:xfrm>
            <a:off x="768096" y="2523744"/>
            <a:ext cx="393192" cy="367588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61</a:t>
            </a:r>
          </a:p>
          <a:p>
            <a:pPr algn="r">
              <a:lnSpc>
                <a:spcPct val="100000"/>
              </a:lnSpc>
            </a:pPr>
            <a:r>
              <a:rPr sz="1800">
                <a:solidFill>
                  <a:srgbClr val="4F5D6A"/>
                </a:solidFill>
                <a:latin typeface="Consolas"/>
              </a:rPr>
              <a:t>62</a:t>
            </a:r>
          </a:p>
          <a:p>
            <a:pPr algn="r">
              <a:lnSpc>
                <a:spcPct val="100000"/>
              </a:lnSpc>
            </a:pPr>
            <a:r>
              <a:rPr sz="1800">
                <a:solidFill>
                  <a:srgbClr val="4F5D6A"/>
                </a:solidFill>
                <a:latin typeface="Consolas"/>
              </a:rPr>
              <a:t>63</a:t>
            </a:r>
          </a:p>
          <a:p>
            <a:pPr algn="r">
              <a:lnSpc>
                <a:spcPct val="100000"/>
              </a:lnSpc>
            </a:pPr>
            <a:r>
              <a:rPr sz="1800">
                <a:solidFill>
                  <a:srgbClr val="4F5D6A"/>
                </a:solidFill>
                <a:latin typeface="Consolas"/>
              </a:rPr>
              <a:t>64</a:t>
            </a:r>
          </a:p>
          <a:p>
            <a:pPr algn="r">
              <a:lnSpc>
                <a:spcPct val="100000"/>
              </a:lnSpc>
            </a:pPr>
            <a:r>
              <a:rPr sz="1800">
                <a:solidFill>
                  <a:srgbClr val="4F5D6A"/>
                </a:solidFill>
                <a:latin typeface="Consolas"/>
              </a:rPr>
              <a:t>65</a:t>
            </a:r>
          </a:p>
          <a:p>
            <a:pPr algn="r">
              <a:lnSpc>
                <a:spcPct val="100000"/>
              </a:lnSpc>
            </a:pPr>
            <a:r>
              <a:rPr sz="1800">
                <a:solidFill>
                  <a:srgbClr val="4F5D6A"/>
                </a:solidFill>
                <a:latin typeface="Consolas"/>
              </a:rPr>
              <a:t>66</a:t>
            </a:r>
          </a:p>
          <a:p>
            <a:pPr algn="r">
              <a:lnSpc>
                <a:spcPct val="100000"/>
              </a:lnSpc>
            </a:pPr>
            <a:r>
              <a:rPr sz="1800">
                <a:solidFill>
                  <a:srgbClr val="4F5D6A"/>
                </a:solidFill>
                <a:latin typeface="Consolas"/>
              </a:rPr>
              <a:t>67</a:t>
            </a:r>
          </a:p>
          <a:p>
            <a:pPr algn="r">
              <a:lnSpc>
                <a:spcPct val="100000"/>
              </a:lnSpc>
            </a:pPr>
            <a:r>
              <a:rPr sz="1800">
                <a:solidFill>
                  <a:srgbClr val="4F5D6A"/>
                </a:solidFill>
                <a:latin typeface="Consolas"/>
              </a:rPr>
              <a:t>68</a:t>
            </a:r>
          </a:p>
          <a:p>
            <a:pPr algn="r">
              <a:lnSpc>
                <a:spcPct val="100000"/>
              </a:lnSpc>
            </a:pPr>
            <a:r>
              <a:rPr sz="1800">
                <a:solidFill>
                  <a:srgbClr val="4F5D6A"/>
                </a:solidFill>
                <a:latin typeface="Consolas"/>
              </a:rPr>
              <a:t>69</a:t>
            </a:r>
          </a:p>
          <a:p>
            <a:pPr algn="r">
              <a:lnSpc>
                <a:spcPct val="100000"/>
              </a:lnSpc>
            </a:pPr>
            <a:r>
              <a:rPr sz="1800">
                <a:solidFill>
                  <a:srgbClr val="4F5D6A"/>
                </a:solidFill>
                <a:latin typeface="Consolas"/>
              </a:rPr>
              <a:t>70</a:t>
            </a:r>
          </a:p>
          <a:p>
            <a:pPr algn="r">
              <a:lnSpc>
                <a:spcPct val="100000"/>
              </a:lnSpc>
            </a:pPr>
            <a:r>
              <a:rPr sz="1800">
                <a:solidFill>
                  <a:srgbClr val="4F5D6A"/>
                </a:solidFill>
                <a:latin typeface="Consolas"/>
              </a:rPr>
              <a:t>71</a:t>
            </a:r>
          </a:p>
          <a:p>
            <a:pPr algn="r">
              <a:lnSpc>
                <a:spcPct val="100000"/>
              </a:lnSpc>
            </a:pPr>
            <a:r>
              <a:rPr sz="1800">
                <a:solidFill>
                  <a:srgbClr val="4F5D6A"/>
                </a:solidFill>
                <a:latin typeface="Consolas"/>
              </a:rPr>
              <a:t>72</a:t>
            </a:r>
          </a:p>
          <a:p>
            <a:pPr algn="r">
              <a:lnSpc>
                <a:spcPct val="100000"/>
              </a:lnSpc>
            </a:pPr>
            <a:r>
              <a:rPr sz="1800">
                <a:solidFill>
                  <a:srgbClr val="4F5D6A"/>
                </a:solidFill>
                <a:latin typeface="Consolas"/>
              </a:rPr>
              <a:t>73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9872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Forward, Viterbi, Monte Carlo and Baum-Welch</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138     </a:t>
            </a:r>
            <a:fld id="{6C304A26-1088-4CC2-BE8A-B7176AF535C3}"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Baum-Welch (EM): relearn A and B from one long sampled sequence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072383"/>
          </a:xfrm>
          <a:prstGeom prst="roundRect">
            <a:avLst>
              <a:gd name="adj" fmla="val 29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code/ch18_forward_viterbi_monte.py</a:t>
            </a:r>
          </a:p>
        </p:txBody>
      </p:sp>
      <p:sp>
        <p:nvSpPr>
          <p:cNvPr id="14" name="!!code-text" descr="g = a * b # E-step: P(state_t | obs) xi = (a[:-1, :, None] * A_hat[None] * (B_hat[:, seq[1:]].T * b[1:])[:, None, :]) / c[1:, None, None] A_hat = xi.sum(0) / g[:-1].sum(0)[:, None] # M-step: expected counts B_hat = np.array([g[seq == k].sum(0) for k in range(3)]).T B_hat /= g.sum(0)[:, None] p_hat = g[0] print(&quot;relearned A:\n&quot;, A_hat.round(2)) print(&quot;relearned B:\n&quot;, B_hat.round(2))"/>
          <p:cNvSpPr txBox="1"/>
          <p:nvPr/>
        </p:nvSpPr>
        <p:spPr>
          <a:xfrm>
            <a:off x="1362456" y="2523744"/>
            <a:ext cx="9987991" cy="2578607"/>
          </a:xfrm>
          <a:prstGeom prst="rect">
            <a:avLst/>
          </a:prstGeom>
          <a:noFill/>
        </p:spPr>
        <p:txBody>
          <a:bodyPr wrap="none" anchor="t" lIns="0" rIns="0" tIns="0" bIns="0">
            <a:noAutofit/>
          </a:bodyPr>
          <a:lstStyle/>
          <a:p>
            <a:pPr>
              <a:lnSpc>
                <a:spcPct val="100000"/>
              </a:lnSpc>
              <a:spcAft>
                <a:spcPts val="0"/>
              </a:spcAft>
            </a:pPr>
            <a:r>
              <a:rPr sz="1800" i="0">
                <a:solidFill>
                  <a:srgbClr val="E8EDF2"/>
                </a:solidFill>
                <a:latin typeface="Consolas"/>
              </a:rPr>
              <a:t>    </a:t>
            </a:r>
            <a:r>
              <a:rPr sz="1800" i="0">
                <a:solidFill>
                  <a:srgbClr val="E8EDF2"/>
                </a:solidFill>
                <a:latin typeface="Consolas"/>
              </a:rPr>
              <a:t>g</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a:t>
            </a:r>
            <a:r>
              <a:rPr sz="1800" i="0">
                <a:solidFill>
                  <a:srgbClr val="E8EDF2"/>
                </a:solidFill>
                <a:latin typeface="Consolas"/>
              </a:rPr>
              <a:t>                                    </a:t>
            </a:r>
            <a:r>
              <a:rPr sz="1800" i="1">
                <a:solidFill>
                  <a:srgbClr val="8795A1"/>
                </a:solidFill>
                <a:latin typeface="Consolas"/>
              </a:rPr>
              <a:t># E-step: P(state_t | obs)</a:t>
            </a:r>
          </a:p>
          <a:p>
            <a:pPr>
              <a:lnSpc>
                <a:spcPct val="100000"/>
              </a:lnSpc>
              <a:spcAft>
                <a:spcPts val="0"/>
              </a:spcAft>
            </a:pPr>
            <a:r>
              <a:rPr sz="1800" i="0">
                <a:solidFill>
                  <a:srgbClr val="E8EDF2"/>
                </a:solidFill>
                <a:latin typeface="Consolas"/>
              </a:rPr>
              <a:t>    </a:t>
            </a:r>
            <a:r>
              <a:rPr sz="1800" i="0">
                <a:solidFill>
                  <a:srgbClr val="E8EDF2"/>
                </a:solidFill>
                <a:latin typeface="Consolas"/>
              </a:rPr>
              <a:t>xi</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a</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None</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A_hat</a:t>
            </a:r>
            <a:r>
              <a:rPr sz="1800" i="0">
                <a:solidFill>
                  <a:srgbClr val="AEB6BF"/>
                </a:solidFill>
                <a:latin typeface="Consolas"/>
              </a:rPr>
              <a:t>[</a:t>
            </a:r>
            <a:r>
              <a:rPr sz="1800" i="0">
                <a:solidFill>
                  <a:srgbClr val="5DADE2"/>
                </a:solidFill>
                <a:latin typeface="Consolas"/>
              </a:rPr>
              <a:t>None</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B_hat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seq</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None</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None</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None</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A_hat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xi</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None</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M-step: expected counts</a:t>
            </a:r>
          </a:p>
          <a:p>
            <a:pPr>
              <a:lnSpc>
                <a:spcPct val="100000"/>
              </a:lnSpc>
              <a:spcAft>
                <a:spcPts val="0"/>
              </a:spcAft>
            </a:pPr>
            <a:r>
              <a:rPr sz="1800" i="0">
                <a:solidFill>
                  <a:srgbClr val="E8EDF2"/>
                </a:solidFill>
                <a:latin typeface="Consolas"/>
              </a:rPr>
              <a:t>    </a:t>
            </a:r>
            <a:r>
              <a:rPr sz="1800" i="0">
                <a:solidFill>
                  <a:srgbClr val="E8EDF2"/>
                </a:solidFill>
                <a:latin typeface="Consolas"/>
              </a:rPr>
              <a:t>B_hat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g</a:t>
            </a:r>
            <a:r>
              <a:rPr sz="1800" i="0">
                <a:solidFill>
                  <a:srgbClr val="AEB6BF"/>
                </a:solidFill>
                <a:latin typeface="Consolas"/>
              </a:rPr>
              <a:t>[</a:t>
            </a:r>
            <a:r>
              <a:rPr sz="1800" i="0">
                <a:solidFill>
                  <a:srgbClr val="E8EDF2"/>
                </a:solidFill>
                <a:latin typeface="Consolas"/>
              </a:rPr>
              <a:t>seq</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k</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k</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C39BD3"/>
                </a:solidFill>
                <a:latin typeface="Consolas"/>
              </a:rPr>
              <a:t>range</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T</a:t>
            </a:r>
          </a:p>
          <a:p>
            <a:pPr>
              <a:lnSpc>
                <a:spcPct val="100000"/>
              </a:lnSpc>
              <a:spcAft>
                <a:spcPts val="0"/>
              </a:spcAft>
            </a:pPr>
            <a:r>
              <a:rPr sz="1800" i="0">
                <a:solidFill>
                  <a:srgbClr val="E8EDF2"/>
                </a:solidFill>
                <a:latin typeface="Consolas"/>
              </a:rPr>
              <a:t>    </a:t>
            </a:r>
            <a:r>
              <a:rPr sz="1800" i="0">
                <a:solidFill>
                  <a:srgbClr val="E8EDF2"/>
                </a:solidFill>
                <a:latin typeface="Consolas"/>
              </a:rPr>
              <a:t>B_hat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None</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p_hat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relearned A:</a:t>
            </a:r>
            <a:r>
              <a:rPr sz="1800" i="0">
                <a:solidFill>
                  <a:srgbClr val="7DCEA0"/>
                </a:solidFill>
                <a:latin typeface="Consolas"/>
              </a:rPr>
              <a:t>\n</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A_hat</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relearned B:</a:t>
            </a:r>
            <a:r>
              <a:rPr sz="1800" i="0">
                <a:solidFill>
                  <a:srgbClr val="7DCEA0"/>
                </a:solidFill>
                <a:latin typeface="Consolas"/>
              </a:rPr>
              <a:t>\n</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B_hat</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257860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75</a:t>
            </a:r>
          </a:p>
          <a:p>
            <a:pPr algn="r">
              <a:lnSpc>
                <a:spcPct val="100000"/>
              </a:lnSpc>
            </a:pPr>
            <a:r>
              <a:rPr sz="1800">
                <a:solidFill>
                  <a:srgbClr val="4F5D6A"/>
                </a:solidFill>
                <a:latin typeface="Consolas"/>
              </a:rPr>
              <a:t>76</a:t>
            </a:r>
          </a:p>
          <a:p>
            <a:pPr algn="r">
              <a:lnSpc>
                <a:spcPct val="100000"/>
              </a:lnSpc>
            </a:pPr>
            <a:r>
              <a:rPr sz="1800">
                <a:solidFill>
                  <a:srgbClr val="4F5D6A"/>
                </a:solidFill>
                <a:latin typeface="Consolas"/>
              </a:rPr>
              <a:t>77</a:t>
            </a:r>
          </a:p>
          <a:p>
            <a:pPr algn="r">
              <a:lnSpc>
                <a:spcPct val="100000"/>
              </a:lnSpc>
            </a:pPr>
            <a:r>
              <a:rPr sz="1800">
                <a:solidFill>
                  <a:srgbClr val="4F5D6A"/>
                </a:solidFill>
                <a:latin typeface="Consolas"/>
              </a:rPr>
              <a:t>78</a:t>
            </a:r>
          </a:p>
          <a:p>
            <a:pPr algn="r">
              <a:lnSpc>
                <a:spcPct val="100000"/>
              </a:lnSpc>
            </a:pPr>
            <a:r>
              <a:rPr sz="1800">
                <a:solidFill>
                  <a:srgbClr val="4F5D6A"/>
                </a:solidFill>
                <a:latin typeface="Consolas"/>
              </a:rPr>
              <a:t>79</a:t>
            </a:r>
          </a:p>
          <a:p>
            <a:pPr algn="r">
              <a:lnSpc>
                <a:spcPct val="100000"/>
              </a:lnSpc>
            </a:pPr>
            <a:r>
              <a:rPr sz="1800">
                <a:solidFill>
                  <a:srgbClr val="4F5D6A"/>
                </a:solidFill>
                <a:latin typeface="Consolas"/>
              </a:rPr>
              <a:t>80</a:t>
            </a:r>
          </a:p>
          <a:p>
            <a:pPr algn="r">
              <a:lnSpc>
                <a:spcPct val="100000"/>
              </a:lnSpc>
            </a:pPr>
            <a:r>
              <a:rPr sz="1800">
                <a:solidFill>
                  <a:srgbClr val="4F5D6A"/>
                </a:solidFill>
                <a:latin typeface="Consolas"/>
              </a:rPr>
              <a:t>81</a:t>
            </a:r>
          </a:p>
          <a:p>
            <a:pPr algn="r">
              <a:lnSpc>
                <a:spcPct val="100000"/>
              </a:lnSpc>
            </a:pPr>
            <a:r>
              <a:rPr sz="1800">
                <a:solidFill>
                  <a:srgbClr val="4F5D6A"/>
                </a:solidFill>
                <a:latin typeface="Consolas"/>
              </a:rPr>
              <a:t>82</a:t>
            </a:r>
          </a:p>
          <a:p>
            <a:pPr algn="r">
              <a:lnSpc>
                <a:spcPct val="100000"/>
              </a:lnSpc>
            </a:pPr>
            <a:r>
              <a:rPr sz="1800">
                <a:solidFill>
                  <a:srgbClr val="4F5D6A"/>
                </a:solidFill>
                <a:latin typeface="Consolas"/>
              </a:rPr>
              <a:t>83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6964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138     </a:t>
            </a:r>
            <a:fld id="{B1C6D685-3BD1-40D7-949F-064B89507E1B}" type="slidenum">
              <a:rPr lang="en-GB" sz="1000">
                <a:solidFill>
                  <a:srgbClr val="8795A1"/>
                </a:solidFill>
                <a:latin typeface="Segoe UI"/>
              </a:rPr>
              <a:t>33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forward and Viterbi results reproduce both worked examples. Change the start of Baum–Welch to </a:t>
            </a:r>
            <a:r>
              <a:rPr sz="2150" b="0" i="0">
                <a:solidFill>
                  <a:srgbClr val="1F4E79"/>
                </a:solidFill>
                <a:latin typeface="Consolas"/>
              </a:rPr>
              <a:t>B_hat = [[0.2, 0.3, 0.5], [0.5, 0.3, 0.2]]</a:t>
            </a:r>
            <a:r>
              <a:rPr sz="2300" b="0" i="0">
                <a:solidFill>
                  <a:srgbClr val="1C252B"/>
                </a:solidFill>
                <a:latin typeface="Segoe UI"/>
              </a:rPr>
              <a:t>: the states come out the other way round. Why is that not an error?</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94057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In the Markov chain of this chapter, a project is distressed now. What is the probability it is healthy two weeks later?</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18  ·  Hidden Markov Models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140  ·  answers in Appendix D     </a:t>
            </a:r>
            <a:fld id="{E9B1E5CC-1D80-4AF4-A267-F0D72AA96DA9}"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In the Markov chain of this chapter, a project is distressed now. What is the probability it is healthy two weeks later?</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D</a:t>
            </a:r>
            <a:r>
              <a:rPr sz="2200" b="0" i="0">
                <a:solidFill>
                  <a:srgbClr val="1C252B"/>
                </a:solidFill>
                <a:latin typeface="Cambria"/>
              </a:rPr>
              <a:t>→</a:t>
            </a:r>
            <a:r>
              <a:rPr sz="2200" b="0" i="0">
                <a:solidFill>
                  <a:srgbClr val="1C252B"/>
                </a:solidFill>
                <a:latin typeface="Segoe UI"/>
              </a:rPr>
              <a:t>H</a:t>
            </a:r>
            <a:r>
              <a:rPr sz="2200" b="0" i="0">
                <a:solidFill>
                  <a:srgbClr val="1C252B"/>
                </a:solidFill>
                <a:latin typeface="Cambria"/>
              </a:rPr>
              <a:t>→</a:t>
            </a:r>
            <a:r>
              <a:rPr sz="2200" b="0" i="0">
                <a:solidFill>
                  <a:srgbClr val="1C252B"/>
                </a:solidFill>
                <a:latin typeface="Segoe UI"/>
              </a:rPr>
              <a:t>H </a:t>
            </a:r>
            <a:r>
              <a:rPr sz="2200" b="0" i="0">
                <a:solidFill>
                  <a:srgbClr val="1C252B"/>
                </a:solidFill>
                <a:latin typeface="Cambria"/>
              </a:rPr>
              <a:t>= 0.3 × 0.8 = 0.24</a:t>
            </a:r>
            <a:r>
              <a:rPr sz="2200" b="0" i="0">
                <a:solidFill>
                  <a:srgbClr val="1C252B"/>
                </a:solidFill>
                <a:latin typeface="Segoe UI"/>
              </a:rPr>
              <a:t>; D</a:t>
            </a:r>
            <a:r>
              <a:rPr sz="2200" b="0" i="0">
                <a:solidFill>
                  <a:srgbClr val="1C252B"/>
                </a:solidFill>
                <a:latin typeface="Cambria"/>
              </a:rPr>
              <a:t>→</a:t>
            </a:r>
            <a:r>
              <a:rPr sz="2200" b="0" i="0">
                <a:solidFill>
                  <a:srgbClr val="1C252B"/>
                </a:solidFill>
                <a:latin typeface="Segoe UI"/>
              </a:rPr>
              <a:t>D</a:t>
            </a:r>
            <a:r>
              <a:rPr sz="2200" b="0" i="0">
                <a:solidFill>
                  <a:srgbClr val="1C252B"/>
                </a:solidFill>
                <a:latin typeface="Cambria"/>
              </a:rPr>
              <a:t>→</a:t>
            </a:r>
            <a:r>
              <a:rPr sz="2200" b="0" i="0">
                <a:solidFill>
                  <a:srgbClr val="1C252B"/>
                </a:solidFill>
                <a:latin typeface="Segoe UI"/>
              </a:rPr>
              <a:t>H </a:t>
            </a:r>
            <a:r>
              <a:rPr sz="2200" b="0" i="0">
                <a:solidFill>
                  <a:srgbClr val="1C252B"/>
                </a:solidFill>
                <a:latin typeface="Cambria"/>
              </a:rPr>
              <a:t>= 0.7 × 0.3 = 0.21</a:t>
            </a:r>
            <a:r>
              <a:rPr sz="2200" b="0" i="0">
                <a:solidFill>
                  <a:srgbClr val="1C252B"/>
                </a:solidFill>
                <a:latin typeface="Segoe UI"/>
              </a:rPr>
              <a:t>; total </a:t>
            </a:r>
            <a:r>
              <a:rPr sz="2200" b="0" i="0">
                <a:solidFill>
                  <a:srgbClr val="1C252B"/>
                </a:solidFill>
                <a:latin typeface="Cambria"/>
              </a:rPr>
              <a:t>0.45</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140  ·  answers in Appendix D     </a:t>
            </a:r>
            <a:fld id="{AC74251E-B876-4CB8-9DEC-FC6B4E35569B}"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48242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What does </a:t>
            </a:r>
            <a:r>
              <a:rPr sz="3400" b="0" i="0">
                <a:solidFill>
                  <a:srgbClr val="FFFFFF"/>
                </a:solidFill>
                <a:latin typeface="Cambria"/>
              </a:rPr>
              <a:t>α</a:t>
            </a:r>
            <a:r>
              <a:rPr sz="3400" b="0" i="1" baseline="-25000">
                <a:solidFill>
                  <a:srgbClr val="FFFFFF"/>
                </a:solidFill>
                <a:latin typeface="Cambria"/>
              </a:rPr>
              <a:t>t</a:t>
            </a:r>
            <a:r>
              <a:rPr sz="3400" b="0" i="0">
                <a:solidFill>
                  <a:srgbClr val="FFFFFF"/>
                </a:solidFill>
                <a:latin typeface="Cambria"/>
              </a:rPr>
              <a:t>(</a:t>
            </a:r>
            <a:r>
              <a:rPr sz="3400" b="0" i="1">
                <a:solidFill>
                  <a:srgbClr val="FFFFFF"/>
                </a:solidFill>
                <a:latin typeface="Cambria"/>
              </a:rPr>
              <a:t>i</a:t>
            </a:r>
            <a:r>
              <a:rPr sz="3400" b="0" i="0">
                <a:solidFill>
                  <a:srgbClr val="FFFFFF"/>
                </a:solidFill>
                <a:latin typeface="Cambria"/>
              </a:rPr>
              <a:t>)</a:t>
            </a:r>
            <a:r>
              <a:rPr sz="3400" b="0" i="0">
                <a:solidFill>
                  <a:srgbClr val="FFFFFF"/>
                </a:solidFill>
                <a:latin typeface="Segoe UI Semibold"/>
              </a:rPr>
              <a:t> represent, and how does </a:t>
            </a:r>
            <a:r>
              <a:rPr sz="3400" b="0" i="0">
                <a:solidFill>
                  <a:srgbClr val="FFFFFF"/>
                </a:solidFill>
                <a:latin typeface="Cambria"/>
              </a:rPr>
              <a:t>δ</a:t>
            </a:r>
            <a:r>
              <a:rPr sz="3400" b="0" i="1" baseline="-25000">
                <a:solidFill>
                  <a:srgbClr val="FFFFFF"/>
                </a:solidFill>
                <a:latin typeface="Cambria"/>
              </a:rPr>
              <a:t>t</a:t>
            </a:r>
            <a:r>
              <a:rPr sz="3400" b="0" i="0">
                <a:solidFill>
                  <a:srgbClr val="FFFFFF"/>
                </a:solidFill>
                <a:latin typeface="Cambria"/>
              </a:rPr>
              <a:t>(</a:t>
            </a:r>
            <a:r>
              <a:rPr sz="3400" b="0" i="1">
                <a:solidFill>
                  <a:srgbClr val="FFFFFF"/>
                </a:solidFill>
                <a:latin typeface="Cambria"/>
              </a:rPr>
              <a:t>i</a:t>
            </a:r>
            <a:r>
              <a:rPr sz="3400" b="0" i="0">
                <a:solidFill>
                  <a:srgbClr val="FFFFFF"/>
                </a:solidFill>
                <a:latin typeface="Cambria"/>
              </a:rPr>
              <a:t>)</a:t>
            </a:r>
            <a:r>
              <a:rPr sz="3400" b="0" i="0">
                <a:solidFill>
                  <a:srgbClr val="FFFFFF"/>
                </a:solidFill>
                <a:latin typeface="Segoe UI Semibold"/>
              </a:rPr>
              <a:t> differ from it?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18  ·  Hidden Markov Models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140  ·  answers in Appendix D     </a:t>
            </a:r>
            <a:fld id="{C73D40EA-9AC7-4F2A-8709-37C1312BAAA0}" type="slidenum">
              <a:rPr lang="en-GB" sz="1000">
                <a:solidFill>
                  <a:srgbClr val="D5DEE5"/>
                </a:solidFill>
                <a:latin typeface="Segoe UI"/>
              </a:rPr>
              <a:t>36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What does </a:t>
            </a:r>
            <a:r>
              <a:rPr sz="2400" b="0" i="0">
                <a:solidFill>
                  <a:srgbClr val="1A5276"/>
                </a:solidFill>
                <a:latin typeface="Cambria"/>
              </a:rPr>
              <a:t>α</a:t>
            </a:r>
            <a:r>
              <a:rPr sz="2400" b="0" i="1" baseline="-25000">
                <a:solidFill>
                  <a:srgbClr val="1A5276"/>
                </a:solidFill>
                <a:latin typeface="Cambria"/>
              </a:rPr>
              <a:t>t</a:t>
            </a:r>
            <a:r>
              <a:rPr sz="2400" b="0" i="0">
                <a:solidFill>
                  <a:srgbClr val="1A5276"/>
                </a:solidFill>
                <a:latin typeface="Cambria"/>
              </a:rPr>
              <a:t>(</a:t>
            </a:r>
            <a:r>
              <a:rPr sz="2400" b="0" i="1">
                <a:solidFill>
                  <a:srgbClr val="1A5276"/>
                </a:solidFill>
                <a:latin typeface="Cambria"/>
              </a:rPr>
              <a:t>i</a:t>
            </a:r>
            <a:r>
              <a:rPr sz="2400" b="0" i="0">
                <a:solidFill>
                  <a:srgbClr val="1A5276"/>
                </a:solidFill>
                <a:latin typeface="Cambria"/>
              </a:rPr>
              <a:t>)</a:t>
            </a:r>
            <a:r>
              <a:rPr sz="2400" b="0" i="0">
                <a:solidFill>
                  <a:srgbClr val="1A5276"/>
                </a:solidFill>
                <a:latin typeface="Segoe UI Semibold"/>
              </a:rPr>
              <a:t> represent, and how does </a:t>
            </a:r>
            <a:r>
              <a:rPr sz="2400" b="0" i="0">
                <a:solidFill>
                  <a:srgbClr val="1A5276"/>
                </a:solidFill>
                <a:latin typeface="Cambria"/>
              </a:rPr>
              <a:t>δ</a:t>
            </a:r>
            <a:r>
              <a:rPr sz="2400" b="0" i="1" baseline="-25000">
                <a:solidFill>
                  <a:srgbClr val="1A5276"/>
                </a:solidFill>
                <a:latin typeface="Cambria"/>
              </a:rPr>
              <a:t>t</a:t>
            </a:r>
            <a:r>
              <a:rPr sz="2400" b="0" i="0">
                <a:solidFill>
                  <a:srgbClr val="1A5276"/>
                </a:solidFill>
                <a:latin typeface="Cambria"/>
              </a:rPr>
              <a:t>(</a:t>
            </a:r>
            <a:r>
              <a:rPr sz="2400" b="0" i="1">
                <a:solidFill>
                  <a:srgbClr val="1A5276"/>
                </a:solidFill>
                <a:latin typeface="Cambria"/>
              </a:rPr>
              <a:t>i</a:t>
            </a:r>
            <a:r>
              <a:rPr sz="2400" b="0" i="0">
                <a:solidFill>
                  <a:srgbClr val="1A5276"/>
                </a:solidFill>
                <a:latin typeface="Cambria"/>
              </a:rPr>
              <a:t>)</a:t>
            </a:r>
            <a:r>
              <a:rPr sz="2400" b="0" i="0">
                <a:solidFill>
                  <a:srgbClr val="1A5276"/>
                </a:solidFill>
                <a:latin typeface="Segoe UI Semibold"/>
              </a:rPr>
              <a:t> differ from it?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Cambria"/>
              </a:rPr>
              <a:t>α</a:t>
            </a:r>
            <a:r>
              <a:rPr sz="2200" b="0" i="1" baseline="-25000">
                <a:solidFill>
                  <a:srgbClr val="1C252B"/>
                </a:solidFill>
                <a:latin typeface="Cambria"/>
              </a:rPr>
              <a:t>t</a:t>
            </a:r>
            <a:r>
              <a:rPr sz="2200" b="0" i="0">
                <a:solidFill>
                  <a:srgbClr val="1C252B"/>
                </a:solidFill>
                <a:latin typeface="Cambria"/>
              </a:rPr>
              <a:t>(</a:t>
            </a:r>
            <a:r>
              <a:rPr sz="2200" b="0" i="1">
                <a:solidFill>
                  <a:srgbClr val="1C252B"/>
                </a:solidFill>
                <a:latin typeface="Cambria"/>
              </a:rPr>
              <a:t>i</a:t>
            </a:r>
            <a:r>
              <a:rPr sz="2200" b="0" i="0">
                <a:solidFill>
                  <a:srgbClr val="1C252B"/>
                </a:solidFill>
                <a:latin typeface="Cambria"/>
              </a:rPr>
              <a:t>)</a:t>
            </a:r>
            <a:r>
              <a:rPr sz="2200" b="0" i="0">
                <a:solidFill>
                  <a:srgbClr val="1C252B"/>
                </a:solidFill>
                <a:latin typeface="Segoe UI"/>
              </a:rPr>
              <a:t> is the probability of the observations up to </a:t>
            </a:r>
            <a:r>
              <a:rPr sz="2200" b="0" i="1">
                <a:solidFill>
                  <a:srgbClr val="1C252B"/>
                </a:solidFill>
                <a:latin typeface="Cambria"/>
              </a:rPr>
              <a:t>t</a:t>
            </a:r>
            <a:r>
              <a:rPr sz="2200" b="0" i="0">
                <a:solidFill>
                  <a:srgbClr val="1C252B"/>
                </a:solidFill>
                <a:latin typeface="Segoe UI"/>
              </a:rPr>
              <a:t> </a:t>
            </a:r>
            <a:r>
              <a:rPr sz="2200" b="0" i="1">
                <a:solidFill>
                  <a:srgbClr val="1C252B"/>
                </a:solidFill>
                <a:latin typeface="Segoe UI"/>
              </a:rPr>
              <a:t>and</a:t>
            </a:r>
            <a:r>
              <a:rPr sz="2200" b="0" i="0">
                <a:solidFill>
                  <a:srgbClr val="1C252B"/>
                </a:solidFill>
                <a:latin typeface="Segoe UI"/>
              </a:rPr>
              <a:t> being in state </a:t>
            </a:r>
            <a:r>
              <a:rPr sz="2200" b="0" i="1">
                <a:solidFill>
                  <a:srgbClr val="1C252B"/>
                </a:solidFill>
                <a:latin typeface="Cambria"/>
              </a:rPr>
              <a:t>i</a:t>
            </a:r>
            <a:r>
              <a:rPr sz="2200" b="0" i="0">
                <a:solidFill>
                  <a:srgbClr val="1C252B"/>
                </a:solidFill>
                <a:latin typeface="Segoe UI"/>
              </a:rPr>
              <a:t>, summed over every path; </a:t>
            </a:r>
            <a:r>
              <a:rPr sz="2200" b="0" i="0">
                <a:solidFill>
                  <a:srgbClr val="1C252B"/>
                </a:solidFill>
                <a:latin typeface="Cambria"/>
              </a:rPr>
              <a:t>δ</a:t>
            </a:r>
            <a:r>
              <a:rPr sz="2200" b="0" i="1" baseline="-25000">
                <a:solidFill>
                  <a:srgbClr val="1C252B"/>
                </a:solidFill>
                <a:latin typeface="Cambria"/>
              </a:rPr>
              <a:t>t</a:t>
            </a:r>
            <a:r>
              <a:rPr sz="2200" b="0" i="0">
                <a:solidFill>
                  <a:srgbClr val="1C252B"/>
                </a:solidFill>
                <a:latin typeface="Cambria"/>
              </a:rPr>
              <a:t>(</a:t>
            </a:r>
            <a:r>
              <a:rPr sz="2200" b="0" i="1">
                <a:solidFill>
                  <a:srgbClr val="1C252B"/>
                </a:solidFill>
                <a:latin typeface="Cambria"/>
              </a:rPr>
              <a:t>i</a:t>
            </a:r>
            <a:r>
              <a:rPr sz="2200" b="0" i="0">
                <a:solidFill>
                  <a:srgbClr val="1C252B"/>
                </a:solidFill>
                <a:latin typeface="Cambria"/>
              </a:rPr>
              <a:t>)</a:t>
            </a:r>
            <a:r>
              <a:rPr sz="2200" b="0" i="0">
                <a:solidFill>
                  <a:srgbClr val="1C252B"/>
                </a:solidFill>
                <a:latin typeface="Segoe UI"/>
              </a:rPr>
              <a:t> is the probability of the single best path ending in </a:t>
            </a:r>
            <a:r>
              <a:rPr sz="2200" b="0" i="1">
                <a:solidFill>
                  <a:srgbClr val="1C252B"/>
                </a:solidFill>
                <a:latin typeface="Cambria"/>
              </a:rPr>
              <a:t>i</a:t>
            </a:r>
            <a:r>
              <a:rPr sz="2200" b="0" i="0">
                <a:solidFill>
                  <a:srgbClr val="1C252B"/>
                </a:solidFill>
                <a:latin typeface="Segoe UI"/>
              </a:rPr>
              <a:t> — a maximum instead of a sum.</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140  ·  answers in Appendix D     </a:t>
            </a:r>
            <a:fld id="{80D81694-FCC7-418F-B4C1-5ADD18827252}" type="slidenum">
              <a:rPr lang="en-GB" sz="1000">
                <a:solidFill>
                  <a:srgbClr val="8795A1"/>
                </a:solidFill>
                <a:latin typeface="Segoe UI"/>
              </a:rPr>
              <a:t>37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02428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does the direct sum over all hidden sequences become impractical, and how does the forward algorithm avoid it?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18  ·  Hidden Markov Models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140  ·  answers in Appendix D     </a:t>
            </a:r>
            <a:fld id="{94D29BAD-F430-41F7-8135-81BEA60A27B1}"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Why does the direct sum over all hidden sequences become impractical, and how does the forward algorithm avoid it?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There are </a:t>
            </a:r>
            <a:r>
              <a:rPr sz="2200" b="0" i="1">
                <a:solidFill>
                  <a:srgbClr val="1C252B"/>
                </a:solidFill>
                <a:latin typeface="Cambria"/>
              </a:rPr>
              <a:t>N</a:t>
            </a:r>
            <a:r>
              <a:rPr sz="2200" b="0" i="1" baseline="30000">
                <a:solidFill>
                  <a:srgbClr val="1C252B"/>
                </a:solidFill>
                <a:latin typeface="Cambria"/>
              </a:rPr>
              <a:t>T</a:t>
            </a:r>
            <a:r>
              <a:rPr sz="2200" b="0" i="0">
                <a:solidFill>
                  <a:srgbClr val="1C252B"/>
                </a:solidFill>
                <a:latin typeface="Segoe UI"/>
              </a:rPr>
              <a:t> state sequences, exponentially many. The forward algorithm stores </a:t>
            </a:r>
            <a:r>
              <a:rPr sz="2200" b="0" i="0">
                <a:solidFill>
                  <a:srgbClr val="1C252B"/>
                </a:solidFill>
                <a:latin typeface="Cambria"/>
              </a:rPr>
              <a:t>α</a:t>
            </a:r>
            <a:r>
              <a:rPr sz="2200" b="0" i="1" baseline="-25000">
                <a:solidFill>
                  <a:srgbClr val="1C252B"/>
                </a:solidFill>
                <a:latin typeface="Cambria"/>
              </a:rPr>
              <a:t>t</a:t>
            </a:r>
            <a:r>
              <a:rPr sz="2200" b="0" i="0">
                <a:solidFill>
                  <a:srgbClr val="1C252B"/>
                </a:solidFill>
                <a:latin typeface="Segoe UI"/>
              </a:rPr>
              <a:t> for each state and reuses it at the next step, which costs </a:t>
            </a:r>
            <a:r>
              <a:rPr sz="2200" b="0" i="1">
                <a:solidFill>
                  <a:srgbClr val="1C252B"/>
                </a:solidFill>
                <a:latin typeface="Cambria"/>
              </a:rPr>
              <a:t>N</a:t>
            </a:r>
            <a:r>
              <a:rPr sz="2200" b="0" i="0" baseline="30000">
                <a:solidFill>
                  <a:srgbClr val="1C252B"/>
                </a:solidFill>
                <a:latin typeface="Cambria"/>
              </a:rPr>
              <a:t>2</a:t>
            </a:r>
            <a:r>
              <a:rPr sz="2200" b="0" i="0">
                <a:solidFill>
                  <a:srgbClr val="1C252B"/>
                </a:solidFill>
                <a:latin typeface="Cambria"/>
              </a:rPr>
              <a:t> </a:t>
            </a:r>
            <a:r>
              <a:rPr sz="2200" b="0" i="1">
                <a:solidFill>
                  <a:srgbClr val="1C252B"/>
                </a:solidFill>
                <a:latin typeface="Cambria"/>
              </a:rPr>
              <a:t>T</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140  ·  answers in Appendix D     </a:t>
            </a:r>
            <a:fld id="{B278729F-3AA4-4BB1-AC3D-E10CFAD5151F}" type="slidenum">
              <a:rPr lang="en-GB" sz="1000">
                <a:solidFill>
                  <a:srgbClr val="8795A1"/>
                </a:solidFill>
                <a:latin typeface="Segoe UI"/>
              </a:rPr>
              <a:t>39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56613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140     </a:t>
            </a:r>
            <a:fld id="{E9C07BD9-69AF-4DD9-A3A9-5DD921550F8C}" type="slidenum">
              <a:rPr lang="en-GB" sz="1000">
                <a:solidFill>
                  <a:srgbClr val="8795A1"/>
                </a:solidFill>
                <a:latin typeface="Segoe UI"/>
              </a:rPr>
              <a:t>40</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 Markov chain’s next state depends only on the current one; its transition matrix gives multi-step probabilities and a stationary distribution.</a:t>
            </a:r>
          </a:p>
        </p:txBody>
      </p:sp>
      <p:sp>
        <p:nvSpPr>
          <p:cNvPr id="10" name="!!sb1">
            <a:extLst>
              <a:ext uri="{C183D7F6-B498-43B3-948B-1728B52AA6E4}">
                <adec:decorative xmlns:adec="http://schemas.microsoft.com/office/drawing/2017/decorative" val="1"/>
              </a:ext>
            </a:extLst>
          </p:cNvPr>
          <p:cNvSpPr/>
          <p:nvPr/>
        </p:nvSpPr>
        <p:spPr>
          <a:xfrm>
            <a:off x="658368" y="259506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64993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85923"/>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An HMM adds observations emitted from hidden states: </a:t>
            </a:r>
            <a:r>
              <a:rPr sz="2100" b="0" i="0">
                <a:solidFill>
                  <a:srgbClr val="1C252B"/>
                </a:solidFill>
                <a:latin typeface="Cambria"/>
              </a:rPr>
              <a:t>π</a:t>
            </a:r>
            <a:r>
              <a:rPr sz="2100" b="0" i="0">
                <a:solidFill>
                  <a:srgbClr val="1C252B"/>
                </a:solidFill>
                <a:latin typeface="Segoe UI"/>
              </a:rPr>
              <a:t>, </a:t>
            </a:r>
            <a:r>
              <a:rPr sz="2100" b="0" i="1">
                <a:solidFill>
                  <a:srgbClr val="1C252B"/>
                </a:solidFill>
                <a:latin typeface="Cambria"/>
              </a:rPr>
              <a:t>A</a:t>
            </a:r>
            <a:r>
              <a:rPr sz="2100" b="0" i="0">
                <a:solidFill>
                  <a:srgbClr val="1C252B"/>
                </a:solidFill>
                <a:latin typeface="Segoe UI"/>
              </a:rPr>
              <a:t> and </a:t>
            </a:r>
            <a:r>
              <a:rPr sz="2100" b="0" i="1">
                <a:solidFill>
                  <a:srgbClr val="1C252B"/>
                </a:solidFill>
                <a:latin typeface="Cambria"/>
              </a:rPr>
              <a:t>B</a:t>
            </a:r>
            <a:r>
              <a:rPr sz="2100" b="0" i="0">
                <a:solidFill>
                  <a:srgbClr val="1C252B"/>
                </a:solidFill>
                <a:latin typeface="Segoe UI"/>
              </a:rPr>
              <a:t> define it completely.</a:t>
            </a:r>
          </a:p>
        </p:txBody>
      </p:sp>
      <p:sp>
        <p:nvSpPr>
          <p:cNvPr id="13" name="!!sb2">
            <a:extLst>
              <a:ext uri="{C183D7F6-B498-43B3-948B-1728B52AA6E4}">
                <adec:decorative xmlns:adec="http://schemas.microsoft.com/office/drawing/2017/decorative" val="1"/>
              </a:ext>
            </a:extLst>
          </p:cNvPr>
          <p:cNvSpPr/>
          <p:nvPr/>
        </p:nvSpPr>
        <p:spPr>
          <a:xfrm>
            <a:off x="658368" y="344363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49849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34486"/>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forward algorithm computes the probability of an observation sequence in </a:t>
            </a:r>
            <a:r>
              <a:rPr sz="2100" b="0" i="1">
                <a:solidFill>
                  <a:srgbClr val="1C252B"/>
                </a:solidFill>
                <a:latin typeface="Cambria"/>
              </a:rPr>
              <a:t>N</a:t>
            </a:r>
            <a:r>
              <a:rPr sz="2100" b="0" i="0" baseline="30000">
                <a:solidFill>
                  <a:srgbClr val="1C252B"/>
                </a:solidFill>
                <a:latin typeface="Cambria"/>
              </a:rPr>
              <a:t>2</a:t>
            </a:r>
            <a:r>
              <a:rPr sz="2100" b="0" i="0">
                <a:solidFill>
                  <a:srgbClr val="1C252B"/>
                </a:solidFill>
                <a:latin typeface="Cambria"/>
              </a:rPr>
              <a:t> </a:t>
            </a:r>
            <a:r>
              <a:rPr sz="2100" b="0" i="1">
                <a:solidFill>
                  <a:srgbClr val="1C252B"/>
                </a:solidFill>
                <a:latin typeface="Cambria"/>
              </a:rPr>
              <a:t>T</a:t>
            </a:r>
            <a:r>
              <a:rPr sz="2100" b="0" i="0">
                <a:solidFill>
                  <a:srgbClr val="1C252B"/>
                </a:solidFill>
                <a:latin typeface="Segoe UI"/>
              </a:rPr>
              <a:t> steps, and yields the filtered state probabilities.</a:t>
            </a:r>
          </a:p>
        </p:txBody>
      </p:sp>
      <p:sp>
        <p:nvSpPr>
          <p:cNvPr id="16" name="!!sb3">
            <a:extLst>
              <a:ext uri="{C183D7F6-B498-43B3-948B-1728B52AA6E4}">
                <adec:decorative xmlns:adec="http://schemas.microsoft.com/office/drawing/2017/decorative" val="1"/>
              </a:ext>
            </a:extLst>
          </p:cNvPr>
          <p:cNvSpPr/>
          <p:nvPr/>
        </p:nvSpPr>
        <p:spPr>
          <a:xfrm>
            <a:off x="658368" y="429219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34705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283049"/>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Viterbi replaces the forward sum by a maximum with backpointers, giving the most likely hidden-state sequence.</a:t>
            </a:r>
          </a:p>
        </p:txBody>
      </p:sp>
      <p:sp>
        <p:nvSpPr>
          <p:cNvPr id="19" name="!!sb4">
            <a:extLst>
              <a:ext uri="{C183D7F6-B498-43B3-948B-1728B52AA6E4}">
                <adec:decorative xmlns:adec="http://schemas.microsoft.com/office/drawing/2017/decorative" val="1"/>
              </a:ext>
            </a:extLst>
          </p:cNvPr>
          <p:cNvSpPr/>
          <p:nvPr/>
        </p:nvSpPr>
        <p:spPr>
          <a:xfrm>
            <a:off x="658368" y="514075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519562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5131612"/>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Baum–Welch learns the parameters by EM; Monte Carlo sampling estimates any probability by simulation, with error falling as </a:t>
            </a:r>
            <a:r>
              <a:rPr sz="2100" b="0" i="0">
                <a:solidFill>
                  <a:srgbClr val="1C252B"/>
                </a:solidFill>
                <a:latin typeface="Cambria"/>
              </a:rPr>
              <a:t>1/√</a:t>
            </a:r>
            <a:r>
              <a:rPr sz="2100" b="0" i="1">
                <a:solidFill>
                  <a:srgbClr val="1C252B"/>
                </a:solidFill>
                <a:latin typeface="Cambria"/>
              </a:rPr>
              <a:t>n</a:t>
            </a:r>
            <a:r>
              <a:rPr sz="2100" b="0" i="0">
                <a:solidFill>
                  <a:srgbClr val="1C252B"/>
                </a:solidFill>
                <a:latin typeface="Segoe UI"/>
              </a:rPr>
              <a: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83706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140     </a:t>
            </a:r>
            <a:fld id="{9AD66355-EC19-4DF1-80BC-36C99A6CEED2}" type="slidenum">
              <a:rPr lang="en-GB" sz="1000">
                <a:solidFill>
                  <a:srgbClr val="8795A1"/>
                </a:solidFill>
                <a:latin typeface="Segoe UI"/>
              </a:rPr>
              <a:t>41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 an HMM, the emission matrix gives: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P</a:t>
            </a:r>
            <a:r>
              <a:rPr sz="2000" b="0" i="0">
                <a:solidFill>
                  <a:srgbClr val="1C252B"/>
                </a:solidFill>
                <a:latin typeface="Cambria"/>
              </a:rPr>
              <a:t>(</a:t>
            </a:r>
            <a:r>
              <a:rPr sz="2000" b="0" i="1">
                <a:solidFill>
                  <a:srgbClr val="1C252B"/>
                </a:solidFill>
                <a:latin typeface="Cambria"/>
              </a:rPr>
              <a:t>s</a:t>
            </a:r>
            <a:r>
              <a:rPr sz="2000" b="0" i="1" baseline="-25000">
                <a:solidFill>
                  <a:srgbClr val="1C252B"/>
                </a:solidFill>
                <a:latin typeface="Cambria"/>
              </a:rPr>
              <a:t>t</a:t>
            </a:r>
            <a:r>
              <a:rPr sz="2000" b="0" i="0" baseline="-25000">
                <a:solidFill>
                  <a:srgbClr val="1C252B"/>
                </a:solidFill>
                <a:latin typeface="Cambria"/>
              </a:rPr>
              <a:t>+1</a:t>
            </a:r>
            <a:r>
              <a:rPr sz="2000" b="0" i="0">
                <a:solidFill>
                  <a:srgbClr val="1C252B"/>
                </a:solidFill>
                <a:latin typeface="Cambria"/>
              </a:rPr>
              <a:t> ∣ </a:t>
            </a:r>
            <a:r>
              <a:rPr sz="2000" b="0" i="1">
                <a:solidFill>
                  <a:srgbClr val="1C252B"/>
                </a:solidFill>
                <a:latin typeface="Cambria"/>
              </a:rPr>
              <a:t>s</a:t>
            </a:r>
            <a:r>
              <a:rPr sz="2000" b="0" i="1" baseline="-25000">
                <a:solidFill>
                  <a:srgbClr val="1C252B"/>
                </a:solidFill>
                <a:latin typeface="Cambria"/>
              </a:rPr>
              <a:t>t</a:t>
            </a:r>
            <a:r>
              <a:rPr sz="2000" b="0" i="0">
                <a:solidFill>
                  <a:srgbClr val="1C252B"/>
                </a:solidFill>
                <a:latin typeface="Cambria"/>
              </a:rPr>
              <a:t>)</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P</a:t>
            </a:r>
            <a:r>
              <a:rPr sz="2000" b="0" i="0">
                <a:solidFill>
                  <a:srgbClr val="1C252B"/>
                </a:solidFill>
                <a:latin typeface="Cambria"/>
              </a:rPr>
              <a:t>(</a:t>
            </a:r>
            <a:r>
              <a:rPr sz="2000" b="0" i="1">
                <a:solidFill>
                  <a:srgbClr val="1C252B"/>
                </a:solidFill>
                <a:latin typeface="Cambria"/>
              </a:rPr>
              <a:t>o</a:t>
            </a:r>
            <a:r>
              <a:rPr sz="2000" b="0" i="1" baseline="-25000">
                <a:solidFill>
                  <a:srgbClr val="1C252B"/>
                </a:solidFill>
                <a:latin typeface="Cambria"/>
              </a:rPr>
              <a:t>t</a:t>
            </a:r>
            <a:r>
              <a:rPr sz="2000" b="0" i="0">
                <a:solidFill>
                  <a:srgbClr val="1C252B"/>
                </a:solidFill>
                <a:latin typeface="Cambria"/>
              </a:rPr>
              <a:t> ∣ </a:t>
            </a:r>
            <a:r>
              <a:rPr sz="2000" b="0" i="1">
                <a:solidFill>
                  <a:srgbClr val="1C252B"/>
                </a:solidFill>
                <a:latin typeface="Cambria"/>
              </a:rPr>
              <a:t>s</a:t>
            </a:r>
            <a:r>
              <a:rPr sz="2000" b="0" i="1" baseline="-25000">
                <a:solidFill>
                  <a:srgbClr val="1C252B"/>
                </a:solidFill>
                <a:latin typeface="Cambria"/>
              </a:rPr>
              <a:t>t</a:t>
            </a:r>
            <a:r>
              <a:rPr sz="2000" b="0" i="0">
                <a:solidFill>
                  <a:srgbClr val="1C252B"/>
                </a:solidFill>
                <a:latin typeface="Cambria"/>
              </a:rPr>
              <a: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P</a:t>
            </a:r>
            <a:r>
              <a:rPr sz="2000" b="0" i="0">
                <a:solidFill>
                  <a:srgbClr val="1C252B"/>
                </a:solidFill>
                <a:latin typeface="Cambria"/>
              </a:rPr>
              <a:t>(</a:t>
            </a:r>
            <a:r>
              <a:rPr sz="2000" b="0" i="1">
                <a:solidFill>
                  <a:srgbClr val="1C252B"/>
                </a:solidFill>
                <a:latin typeface="Cambria"/>
              </a:rPr>
              <a:t>s</a:t>
            </a:r>
            <a:r>
              <a:rPr sz="2000" b="0" i="0" baseline="-25000">
                <a:solidFill>
                  <a:srgbClr val="1C252B"/>
                </a:solidFill>
                <a:latin typeface="Cambria"/>
              </a:rPr>
              <a:t>1</a:t>
            </a:r>
            <a:r>
              <a:rPr sz="2000" b="0" i="0">
                <a:solidFill>
                  <a:srgbClr val="1C252B"/>
                </a:solidFill>
                <a:latin typeface="Cambria"/>
              </a:rPr>
              <a: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P</a:t>
            </a:r>
            <a:r>
              <a:rPr sz="2000" b="0" i="0">
                <a:solidFill>
                  <a:srgbClr val="1C252B"/>
                </a:solidFill>
                <a:latin typeface="Cambria"/>
              </a:rPr>
              <a:t>(</a:t>
            </a:r>
            <a:r>
              <a:rPr sz="2000" b="0" i="1">
                <a:solidFill>
                  <a:srgbClr val="1C252B"/>
                </a:solidFill>
                <a:latin typeface="Cambria"/>
              </a:rPr>
              <a:t>s</a:t>
            </a:r>
            <a:r>
              <a:rPr sz="2000" b="0" i="1" baseline="-25000">
                <a:solidFill>
                  <a:srgbClr val="1C252B"/>
                </a:solidFill>
                <a:latin typeface="Cambria"/>
              </a:rPr>
              <a:t>t</a:t>
            </a:r>
            <a:r>
              <a:rPr sz="2000" b="0" i="0">
                <a:solidFill>
                  <a:srgbClr val="1C252B"/>
                </a:solidFill>
                <a:latin typeface="Cambria"/>
              </a:rPr>
              <a:t> ∣ </a:t>
            </a:r>
            <a:r>
              <a:rPr sz="2000" b="0" i="1">
                <a:solidFill>
                  <a:srgbClr val="1C252B"/>
                </a:solidFill>
                <a:latin typeface="Cambria"/>
              </a:rPr>
              <a:t>o</a:t>
            </a:r>
            <a:r>
              <a:rPr sz="2000" b="0" i="1" baseline="-25000">
                <a:solidFill>
                  <a:srgbClr val="1C252B"/>
                </a:solidFill>
                <a:latin typeface="Cambria"/>
              </a:rPr>
              <a:t>t</a:t>
            </a:r>
            <a:r>
              <a:rPr sz="2000" b="0" i="0">
                <a:solidFill>
                  <a:srgbClr val="1C252B"/>
                </a:solidFill>
                <a:latin typeface="Cambria"/>
              </a:rPr>
              <a:t>)</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0798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140     </a:t>
            </a:r>
            <a:fld id="{67707FD9-74D8-48B9-9508-51038C2345C1}" type="slidenum">
              <a:rPr lang="en-GB" sz="1000">
                <a:solidFill>
                  <a:srgbClr val="8795A1"/>
                </a:solidFill>
                <a:latin typeface="Segoe UI"/>
              </a:rPr>
              <a:t>42</a:t>
            </a:fld>
          </a:p>
        </p:txBody>
      </p:sp>
      <p:sp>
        <p:nvSpPr>
          <p:cNvPr id="7" name="!!mstem"/>
          <p:cNvSpPr txBox="1"/>
          <p:nvPr/>
        </p:nvSpPr>
        <p:spPr>
          <a:xfrm>
            <a:off x="658368" y="1737360"/>
            <a:ext cx="10874959" cy="86989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Viterbi algorithm differs from the forward algorithm by replacing a sum with:</a:t>
            </a:r>
          </a:p>
        </p:txBody>
      </p:sp>
      <p:sp>
        <p:nvSpPr>
          <p:cNvPr id="8" name="!!mo0">
            <a:extLst>
              <a:ext uri="{C183D7F6-B498-43B3-948B-1728B52AA6E4}">
                <adec:decorative xmlns:adec="http://schemas.microsoft.com/office/drawing/2017/decorative" val="1"/>
              </a:ext>
            </a:extLst>
          </p:cNvPr>
          <p:cNvSpPr/>
          <p:nvPr/>
        </p:nvSpPr>
        <p:spPr>
          <a:xfrm>
            <a:off x="658368"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320161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product</a:t>
            </a:r>
          </a:p>
        </p:txBody>
      </p:sp>
      <p:sp>
        <p:nvSpPr>
          <p:cNvPr id="12" name="!!mo1">
            <a:extLst>
              <a:ext uri="{C183D7F6-B498-43B3-948B-1728B52AA6E4}">
                <adec:decorative xmlns:adec="http://schemas.microsoft.com/office/drawing/2017/decorative" val="1"/>
              </a:ext>
            </a:extLst>
          </p:cNvPr>
          <p:cNvSpPr/>
          <p:nvPr/>
        </p:nvSpPr>
        <p:spPr>
          <a:xfrm>
            <a:off x="6214719"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320161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maximum</a:t>
            </a:r>
          </a:p>
        </p:txBody>
      </p:sp>
      <p:sp>
        <p:nvSpPr>
          <p:cNvPr id="16" name="!!mo2">
            <a:extLst>
              <a:ext uri="{C183D7F6-B498-43B3-948B-1728B52AA6E4}">
                <adec:decorative xmlns:adec="http://schemas.microsoft.com/office/drawing/2017/decorative" val="1"/>
              </a:ext>
            </a:extLst>
          </p:cNvPr>
          <p:cNvSpPr/>
          <p:nvPr/>
        </p:nvSpPr>
        <p:spPr>
          <a:xfrm>
            <a:off x="658368"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439033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an average</a:t>
            </a:r>
          </a:p>
        </p:txBody>
      </p:sp>
      <p:sp>
        <p:nvSpPr>
          <p:cNvPr id="20" name="!!mo3">
            <a:extLst>
              <a:ext uri="{C183D7F6-B498-43B3-948B-1728B52AA6E4}">
                <adec:decorative xmlns:adec="http://schemas.microsoft.com/office/drawing/2017/decorative" val="1"/>
              </a:ext>
            </a:extLst>
          </p:cNvPr>
          <p:cNvSpPr/>
          <p:nvPr/>
        </p:nvSpPr>
        <p:spPr>
          <a:xfrm>
            <a:off x="6214719"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439033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logarithm</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7891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140     </a:t>
            </a:r>
            <a:fld id="{43750524-DA54-4D41-9F22-0250C6B45F4D}" type="slidenum">
              <a:rPr lang="en-GB" sz="1000">
                <a:solidFill>
                  <a:srgbClr val="8795A1"/>
                </a:solidFill>
                <a:latin typeface="Segoe UI"/>
              </a:rPr>
              <a:t>43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Baum–Welch is an instance of:</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gradient descent</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EM algorithm</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k</a:t>
            </a:r>
            <a:r>
              <a:rPr sz="2000" b="0" i="0">
                <a:solidFill>
                  <a:srgbClr val="1C252B"/>
                </a:solidFill>
                <a:latin typeface="Segoe UI"/>
              </a:rPr>
              <a:t>-means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Q-learning</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4984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18  ·  Hidden Markov Models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140     </a:t>
            </a:r>
            <a:fld id="{ED5F71B0-003A-4B7C-B1F6-3B1FB19B8010}" type="slidenum">
              <a:rPr lang="en-GB" sz="1000">
                <a:solidFill>
                  <a:srgbClr val="8795A1"/>
                </a:solidFill>
                <a:latin typeface="Segoe UI"/>
              </a:rPr>
              <a:t>44</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State the three problems an HMM can solve and the algorithm for each.</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can choosing the most likely state at each time step separately give a worse answer than Viterbi?</a:t>
            </a:r>
          </a:p>
        </p:txBody>
      </p:sp>
      <p:sp>
        <p:nvSpPr>
          <p:cNvPr id="13" name="!!rt2">
            <a:extLst>
              <a:ext uri="{C183D7F6-B498-43B3-948B-1728B52AA6E4}">
                <adec:decorative xmlns:adec="http://schemas.microsoft.com/office/drawing/2017/decorative" val="1"/>
              </a:ext>
            </a:extLst>
          </p:cNvPr>
          <p:cNvSpPr/>
          <p:nvPr/>
        </p:nvSpPr>
        <p:spPr>
          <a:xfrm>
            <a:off x="658368" y="3097987"/>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13913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079699"/>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When is Monte Carlo estimation preferable to an exact algorithm?</a:t>
            </a:r>
          </a:p>
        </p:txBody>
      </p:sp>
      <p:sp>
        <p:nvSpPr>
          <p:cNvPr id="16" name="!!rt3">
            <a:extLst>
              <a:ext uri="{C183D7F6-B498-43B3-948B-1728B52AA6E4}">
                <adec:decorative xmlns:adec="http://schemas.microsoft.com/office/drawing/2017/decorative" val="1"/>
              </a:ext>
            </a:extLst>
          </p:cNvPr>
          <p:cNvSpPr/>
          <p:nvPr/>
        </p:nvSpPr>
        <p:spPr>
          <a:xfrm>
            <a:off x="658368" y="3618585"/>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659733"/>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600297"/>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Compute </a:t>
            </a:r>
            <a:r>
              <a:rPr sz="1900" b="0" i="1">
                <a:solidFill>
                  <a:srgbClr val="1C252B"/>
                </a:solidFill>
                <a:latin typeface="Cambria"/>
              </a:rPr>
              <a:t>P</a:t>
            </a:r>
            <a:r>
              <a:rPr sz="1900" b="0" i="0">
                <a:solidFill>
                  <a:srgbClr val="1C252B"/>
                </a:solidFill>
                <a:latin typeface="Cambria"/>
              </a:rPr>
              <a:t>(</a:t>
            </a:r>
            <a:r>
              <a:rPr sz="1900" b="0" i="0">
                <a:solidFill>
                  <a:srgbClr val="1C252B"/>
                </a:solidFill>
                <a:latin typeface="Segoe UI"/>
              </a:rPr>
              <a:t>behind, behind</a:t>
            </a:r>
            <a:r>
              <a:rPr sz="1900" b="0" i="0">
                <a:solidFill>
                  <a:srgbClr val="1C252B"/>
                </a:solidFill>
                <a:latin typeface="Cambria"/>
              </a:rPr>
              <a:t>)</a:t>
            </a:r>
            <a:r>
              <a:rPr sz="1900" b="0" i="0">
                <a:solidFill>
                  <a:srgbClr val="1C252B"/>
                </a:solidFill>
                <a:latin typeface="Segoe UI"/>
              </a:rPr>
              <a:t> for the model of this chapter with the forward algorithm, and the filtered probability that the project is distressed after the second report.</a:t>
            </a:r>
          </a:p>
        </p:txBody>
      </p:sp>
      <p:sp>
        <p:nvSpPr>
          <p:cNvPr id="19" name="!!rt4">
            <a:extLst>
              <a:ext uri="{C183D7F6-B498-43B3-948B-1728B52AA6E4}">
                <adec:decorative xmlns:adec="http://schemas.microsoft.com/office/drawing/2017/decorative" val="1"/>
              </a:ext>
            </a:extLst>
          </p:cNvPr>
          <p:cNvSpPr/>
          <p:nvPr/>
        </p:nvSpPr>
        <p:spPr>
          <a:xfrm>
            <a:off x="658368" y="4440326"/>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48147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422038"/>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Run Viterbi on the reports (blocked, on plan, on plan) and interpret the decoded state sequence.</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2076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796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38470"/>
                </a:solidFill>
                <a:latin typeface="Segoe UI Black"/>
              </a:rPr>
              <a:t>18</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18</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19 — Markov Decision Processes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18, pages 134–140</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EM by hand; forward, Viterbi, Baum–Welch</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Project experiments frozen</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18  ·  Hidden Markov Models</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5D5937C8-3C06-4924-BB5F-9427AF20BAD5}" type="slidenum">
              <a:rPr lang="en-GB" sz="1000">
                <a:solidFill>
                  <a:srgbClr val="D5DEE5"/>
                </a:solidFill>
                <a:latin typeface="Segoe UI"/>
              </a:rPr>
              <a:t>45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18: Hidden Markov Models</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