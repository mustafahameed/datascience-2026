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5.svg" ContentType="image/svg+xml"/>
  <Override PartName="/ppt/media/image37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1.svg" ContentType="image/svg+xml"/>
  <Override PartName="/ppt/media/image63.svg" ContentType="image/svg+xml"/>
  <Override PartName="/ppt/media/image64.svg" ContentType="image/svg+xml"/>
  <Override PartName="/ppt/media/image66.svg" ContentType="image/svg+xml"/>
  <Override PartName="/ppt/media/image68.svg" ContentType="image/svg+xml"/>
  <Override PartName="/ppt/media/image69.svg" ContentType="image/svg+xml"/>
  <Override PartName="/ppt/media/image71.svg" ContentType="image/svg+xml"/>
  <Override PartName="/ppt/media/image72.svg" ContentType="image/svg+xml"/>
  <Override PartName="/ppt/media/image74.svg" ContentType="image/svg+xml"/>
  <Override PartName="/ppt/media/image76.svg" ContentType="image/svg+xml"/>
  <Override PartName="/ppt/media/image78.svg" ContentType="image/svg+xml"/>
  <Override PartName="/ppt/media/image79.svg" ContentType="image/svg+xml"/>
  <Override PartName="/ppt/media/image8.svg" ContentType="image/svg+xml"/>
  <Override PartName="/ppt/media/image80.svg" ContentType="image/svg+xml"/>
  <Override PartName="/ppt/media/image81.svg" ContentType="image/svg+xml"/>
  <Override PartName="/ppt/media/image82.svg" ContentType="image/svg+xml"/>
  <Override PartName="/ppt/media/image83.svg" ContentType="image/svg+xml"/>
  <Override PartName="/ppt/media/image84.svg" ContentType="image/svg+xml"/>
  <Override PartName="/ppt/media/image86.svg" ContentType="image/svg+xml"/>
  <Override PartName="/ppt/media/image88.svg" ContentType="image/svg+xml"/>
  <Override PartName="/ppt/media/image8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7.svg" ContentType="image/svg+xml"/>
  <Override PartName="/ppt/media/image98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573335E-430F-4AB1-B627-96D4443F7E8D}">
          <p14:sldIdLst>
            <p14:sldId id="256"/>
            <p14:sldId id="257"/>
            <p14:sldId id="258"/>
            <p14:sldId id="259"/>
            <p14:sldId id="260"/>
          </p14:sldIdLst>
        </p14:section>
        <p14:section name="2.1 Four Kinds of Mathematics, Four Jobs" id="{093ACA0E-6BA1-4A90-86F9-0C2C4E7A32AE}">
          <p14:sldIdLst>
            <p14:sldId id="261"/>
          </p14:sldIdLst>
        </p14:section>
        <p14:section name="2.2 Vectors and the Dot Product" id="{915C2FA5-C044-4C5C-B87B-5CB8B3F7419F}">
          <p14:sldIdLst>
            <p14:sldId id="262"/>
            <p14:sldId id="263"/>
            <p14:sldId id="264"/>
            <p14:sldId id="265"/>
          </p14:sldIdLst>
        </p14:section>
        <p14:section name="2.3 Matrices: A Whole Dataset at Once" id="{3A346A24-0EAE-4DAC-BF4E-328534F55A9E}">
          <p14:sldIdLst>
            <p14:sldId id="266"/>
            <p14:sldId id="267"/>
            <p14:sldId id="268"/>
          </p14:sldIdLst>
        </p14:section>
        <p14:section name="2.4 Derivatives and Gradients" id="{F3052C98-C809-479D-B022-09EC04BB8FDF}">
          <p14:sldIdLst>
            <p14:sldId id="269"/>
            <p14:sldId id="270"/>
          </p14:sldIdLst>
        </p14:section>
        <p14:section name="2.5 Gradient Descent" id="{90BD5A7C-8BA1-482E-9BF5-D0611B029158}">
          <p14:sldIdLst>
            <p14:sldId id="271"/>
            <p14:sldId id="272"/>
            <p14:sldId id="273"/>
            <p14:sldId id="274"/>
            <p14:sldId id="275"/>
          </p14:sldIdLst>
        </p14:section>
        <p14:section name="2.6 Probability" id="{3E506D51-BD5E-4F4F-92B5-5633D8B3E4EE}">
          <p14:sldIdLst>
            <p14:sldId id="276"/>
            <p14:sldId id="277"/>
            <p14:sldId id="278"/>
          </p14:sldIdLst>
        </p14:section>
        <p14:section name="2.7 Expectation, Variance and the Gaussian" id="{23A2B341-4441-41C4-B03A-1CECBD7C0671}">
          <p14:sldIdLst>
            <p14:sldId id="279"/>
          </p14:sldIdLst>
        </p14:section>
        <p14:section name="2.8 Maximum Likelihood" id="{A5611885-5048-40F4-B7F5-E3C7A3BBD9F0}">
          <p14:sldIdLst>
            <p14:sldId id="280"/>
            <p14:sldId id="281"/>
            <p14:sldId id="282"/>
            <p14:sldId id="283"/>
            <p14:sldId id="284"/>
          </p14:sldIdLst>
        </p14:section>
        <p14:section name="2.9 Information and Entropy" id="{031B9CFC-03A4-4465-A05E-56DAE701D421}">
          <p14:sldIdLst>
            <p14:sldId id="285"/>
            <p14:sldId id="286"/>
            <p14:sldId id="287"/>
          </p14:sldIdLst>
        </p14:section>
        <p14:section name="Pitfalls" id="{67793521-5601-4D0A-8641-673EFE89CA79}">
          <p14:sldIdLst>
            <p14:sldId id="288"/>
          </p14:sldIdLst>
        </p14:section>
        <p14:section name="Lab" id="{B2F3D555-6F44-465F-934F-D128D9769AB7}">
          <p14:sldIdLst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Checkpoint" id="{118EA0A9-92B0-4178-AB48-813751D92548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Wrap-up" id="{88F9AED5-D988-4A0C-BCC4-F223092A0627}">
          <p14:sldIdLst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2: Mathematics for Machine Learning. Part 1 — Foundations. Week 1: What machine learning is; its mathematics. Handout pages 11–18.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the chapter. Before you start: School algebra, and the probability you used in Artificial Intelligence. Chapter 1 for the idea of a model with weights w0, …, wd. Appendix B collects every formula in this chapter on one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out: they are the chapter's contract with the room. Each click adds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now; they arrive one at a time. This slide is for the students' notes. Terms: vector; dot product; norm; Euclidean distance; cosine similarity; matrix; transpose; derivative; partial derivative; gradient; chain rule; gradient descent; learning rate; conditional probability; Bayes’ theorem; expectation; variance; Gaussian; likelihood; maximum likelihood; entropy.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route through the chapter. Each row is a link: click it to jump to that section in the slide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Machine learning uses four pieces of mathematics, and each does one job. It is worth knowing which is which, because when a formula appears later you will know what it is for before you know what it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dot product is the most important operation in this course. A linear model — linear regression, logistic regression, a perceptron, an SVM — computes one dot product and adds a bias: ŷ = w·x + b. Each weight says how much its feature pushes the prediction up or down.</a:t>
            </a:r>
          </a:p>
          <a:p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2.1 (handout p. 13): A matrix–vector product scores every example in one operation. Each row of X is one example; each entry of ŷ is that row’s dot product with the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will meet one more matrix operation, in Chapter 5: the inverse A−1 of a square matrix, which undoes multiplication by A the way dividing by 3 undoes multiplying by 3. You will never compute one by hand; NumPy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a model means finding weights that make a loss L(w) small. For most models there is no formula for the best weights, so we walk downhill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2.2 (handout p. 14): Gradient descent on L(w)=(w−3)2 from w=0. With a small learning rate each step closes a fixed fraction of the gap; with one that is too large, each step jumps past the minimum by more than the last, and the weights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in your own words first; the slide is the handout's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learning algorithms can be read as answering one question: which parameters make the observed data most probable?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2.3 (handout p. 16): The likelihood of seven delivered sprints in ten, as a function of p. It is largest at p=0.7 — the observed proportion, which is what maximum likelihood gives for any such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each pitfall, ask who has seen it happen. One real story beats five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what the room will have at the end of the lab, then let them start. Circulate rather than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Vectors and the dot product.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2: A whole dataset at once.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3: Gradient descent on L(w) = (w - 3)^2.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4: Bayes by simulation: how many blocked builds are broken?.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5: Entropy.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√((4−1)2 + (6−2)2) = √(9 + 16) =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L′(w) = 2(w + 1) = 6 at w = 2, so w ← 2 − 0.25 × 6 = 0.5. The minimum is at −1: the gap fell from 3 to 1.5, so yes, closer.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H = −(0.5log2 0.5 + 2 × 0.25log2 0.25) = 0.5 + 0.5 + 0.5 = 1.5 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to say each takeaway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these for independent study. Model answers are not printed in the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NEXT: Chapter 3 — The Machine Learning Workflow and Toolkit. READ: Handout Chapter 2, pages 11–18. THIS WEEK'S LAB: A rule against a learned model; the chapter in NumPy.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000" kern="1200" b="0">
          <a:solidFill>
            <a:srgbClr val="1A5276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notesSlide" Target="../notesSlides/notes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14.xml"/><Relationship Id="rId9" Type="http://schemas.openxmlformats.org/officeDocument/2006/relationships/slide" Target="slide16.xml"/><Relationship Id="rId10" Type="http://schemas.openxmlformats.org/officeDocument/2006/relationships/slide" Target="slide21.xml"/><Relationship Id="rId11" Type="http://schemas.openxmlformats.org/officeDocument/2006/relationships/slide" Target="slide24.xml"/><Relationship Id="rId12" Type="http://schemas.openxmlformats.org/officeDocument/2006/relationships/slide" Target="slide25.xml"/><Relationship Id="rId13" Type="http://schemas.openxmlformats.org/officeDocument/2006/relationships/slide" Target="slide3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20.svg"/><Relationship Id="rId4" Type="http://schemas.openxmlformats.org/officeDocument/2006/relationships/image" Target="../media/image21.png"/><Relationship Id="rId5" Type="http://schemas.openxmlformats.org/officeDocument/2006/relationships/image" Target="../media/image22.sv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27.sv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30.sv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33.png"/><Relationship Id="rId7" Type="http://schemas.openxmlformats.org/officeDocument/2006/relationships/image" Target="../media/image34.sv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35.svg"/><Relationship Id="rId4" Type="http://schemas.openxmlformats.org/officeDocument/2006/relationships/image" Target="../media/image36.png"/><Relationship Id="rId5" Type="http://schemas.openxmlformats.org/officeDocument/2006/relationships/image" Target="../media/image37.sv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38.svg"/><Relationship Id="rId4" Type="http://schemas.openxmlformats.org/officeDocument/2006/relationships/image" Target="../media/image39.png"/><Relationship Id="rId5" Type="http://schemas.openxmlformats.org/officeDocument/2006/relationships/image" Target="../media/image40.sv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43.sv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44.sv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45.svg"/><Relationship Id="rId4" Type="http://schemas.openxmlformats.org/officeDocument/2006/relationships/image" Target="../media/image46.png"/><Relationship Id="rId5" Type="http://schemas.openxmlformats.org/officeDocument/2006/relationships/image" Target="../media/image47.svg"/><Relationship Id="rId6" Type="http://schemas.openxmlformats.org/officeDocument/2006/relationships/image" Target="../media/image48.png"/><Relationship Id="rId7" Type="http://schemas.openxmlformats.org/officeDocument/2006/relationships/image" Target="../media/image49.svg"/><Relationship Id="rId8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50.svg"/><Relationship Id="rId4" Type="http://schemas.openxmlformats.org/officeDocument/2006/relationships/image" Target="../media/image51.png"/><Relationship Id="rId5" Type="http://schemas.openxmlformats.org/officeDocument/2006/relationships/image" Target="../media/image52.svg"/><Relationship Id="rId6" Type="http://schemas.openxmlformats.org/officeDocument/2006/relationships/image" Target="../media/image53.png"/><Relationship Id="rId7" Type="http://schemas.openxmlformats.org/officeDocument/2006/relationships/image" Target="../media/image54.svg"/><Relationship Id="rId8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5.png"/><Relationship Id="rId3" Type="http://schemas.openxmlformats.org/officeDocument/2006/relationships/image" Target="../media/image56.svg"/><Relationship Id="rId4" Type="http://schemas.openxmlformats.org/officeDocument/2006/relationships/image" Target="../media/image57.png"/><Relationship Id="rId5" Type="http://schemas.openxmlformats.org/officeDocument/2006/relationships/image" Target="../media/image58.svg"/><Relationship Id="rId6" Type="http://schemas.openxmlformats.org/officeDocument/2006/relationships/image" Target="../media/image59.png"/><Relationship Id="rId7" Type="http://schemas.openxmlformats.org/officeDocument/2006/relationships/image" Target="../media/image60.sv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61.sv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2.png"/><Relationship Id="rId3" Type="http://schemas.openxmlformats.org/officeDocument/2006/relationships/image" Target="../media/image63.sv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64.svg"/><Relationship Id="rId4" Type="http://schemas.openxmlformats.org/officeDocument/2006/relationships/image" Target="../media/image65.png"/><Relationship Id="rId5" Type="http://schemas.openxmlformats.org/officeDocument/2006/relationships/image" Target="../media/image66.sv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7.png"/><Relationship Id="rId3" Type="http://schemas.openxmlformats.org/officeDocument/2006/relationships/image" Target="../media/image68.sv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69.svg"/><Relationship Id="rId4" Type="http://schemas.openxmlformats.org/officeDocument/2006/relationships/image" Target="../media/image70.png"/><Relationship Id="rId5" Type="http://schemas.openxmlformats.org/officeDocument/2006/relationships/image" Target="../media/image71.sv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72.svg"/><Relationship Id="rId4" Type="http://schemas.openxmlformats.org/officeDocument/2006/relationships/image" Target="../media/image73.png"/><Relationship Id="rId5" Type="http://schemas.openxmlformats.org/officeDocument/2006/relationships/image" Target="../media/image74.svg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5.png"/><Relationship Id="rId3" Type="http://schemas.openxmlformats.org/officeDocument/2006/relationships/image" Target="../media/image76.sv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78.sv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79.sv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80.sv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81.sv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82.sv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83.sv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84.sv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Relationship Id="rId3" Type="http://schemas.openxmlformats.org/officeDocument/2006/relationships/image" Target="../media/image86.sv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7.png"/><Relationship Id="rId3" Type="http://schemas.openxmlformats.org/officeDocument/2006/relationships/image" Target="../media/image88.sv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Relationship Id="rId3" Type="http://schemas.openxmlformats.org/officeDocument/2006/relationships/image" Target="../media/image89.sv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7.png"/><Relationship Id="rId3" Type="http://schemas.openxmlformats.org/officeDocument/2006/relationships/image" Target="../media/image90.sv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Relationship Id="rId3" Type="http://schemas.openxmlformats.org/officeDocument/2006/relationships/image" Target="../media/image91.sv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7.png"/><Relationship Id="rId3" Type="http://schemas.openxmlformats.org/officeDocument/2006/relationships/image" Target="../media/image92.sv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3.png"/><Relationship Id="rId3" Type="http://schemas.openxmlformats.org/officeDocument/2006/relationships/image" Target="../media/image94.sv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5.png"/><Relationship Id="rId3" Type="http://schemas.openxmlformats.org/officeDocument/2006/relationships/image" Target="../media/image96.sv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5.png"/><Relationship Id="rId3" Type="http://schemas.openxmlformats.org/officeDocument/2006/relationships/image" Target="../media/image97.sv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5.png"/><Relationship Id="rId3" Type="http://schemas.openxmlformats.org/officeDocument/2006/relationships/image" Target="../media/image98.sv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5.png"/><Relationship Id="rId3" Type="http://schemas.openxmlformats.org/officeDocument/2006/relationships/image" Target="../media/image99.sv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316384"/>
                </a:solidFill>
                <a:latin typeface="Segoe UI Black"/>
              </a:rPr>
              <a:t>02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2304288"/>
            <a:ext cx="8503920" cy="192024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Segoe UI Semibold"/>
              </a:rPr>
              <a:t>Mathematics for Machine Learning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29844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tpart"/>
          <p:cNvSpPr txBox="1"/>
          <p:nvPr/>
        </p:nvSpPr>
        <p:spPr>
          <a:xfrm>
            <a:off x="658368" y="151790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FCFD9"/>
                </a:solidFill>
                <a:latin typeface="Segoe UI"/>
              </a:rPr>
              <a:t>PART I  ·  FOUNDATIONS</a:t>
            </a:r>
          </a:p>
        </p:txBody>
      </p:sp>
      <p:sp>
        <p:nvSpPr>
          <p:cNvPr id="6" name="!!tch"/>
          <p:cNvSpPr txBox="1"/>
          <p:nvPr/>
        </p:nvSpPr>
        <p:spPr>
          <a:xfrm>
            <a:off x="658368" y="186537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FCFD9"/>
                </a:solidFill>
                <a:latin typeface="Segoe UI"/>
              </a:rPr>
              <a:t>CHAPTER 2  ·  WEEK 1</a:t>
            </a:r>
          </a:p>
        </p:txBody>
      </p:sp>
      <p:sp>
        <p:nvSpPr>
          <p:cNvPr id="7" name="!!tsub"/>
          <p:cNvSpPr txBox="1"/>
          <p:nvPr/>
        </p:nvSpPr>
        <p:spPr>
          <a:xfrm>
            <a:off x="658368" y="4315968"/>
            <a:ext cx="85039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1DCE4"/>
                </a:solidFill>
                <a:latin typeface="Segoe UI"/>
              </a:rPr>
              <a:t>Machine Learning — From Hypotheses to Decisions</a:t>
            </a:r>
          </a:p>
        </p:txBody>
      </p:sp>
      <p:sp>
        <p:nvSpPr>
          <p:cNvPr id="8" name="!!ba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285232"/>
            <a:ext cx="12191695" cy="1572767"/>
          </a:xfrm>
          <a:prstGeom prst="rect">
            <a:avLst/>
          </a:prstGeom>
          <a:solidFill>
            <a:srgbClr val="133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ab"/>
          <p:cNvSpPr txBox="1"/>
          <p:nvPr/>
        </p:nvSpPr>
        <p:spPr>
          <a:xfrm>
            <a:off x="658368" y="554126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A5B5BE"/>
                </a:solidFill>
                <a:latin typeface="Segoe UI"/>
              </a:rPr>
              <a:t>LECTURER</a:t>
            </a:r>
          </a:p>
        </p:txBody>
      </p:sp>
      <p:sp>
        <p:nvSpPr>
          <p:cNvPr id="10" name="!!author"/>
          <p:cNvSpPr txBox="1"/>
          <p:nvPr/>
        </p:nvSpPr>
        <p:spPr>
          <a:xfrm>
            <a:off x="658368" y="57790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Dr. Mustafa Hameed</a:t>
            </a:r>
          </a:p>
        </p:txBody>
      </p:sp>
      <p:sp>
        <p:nvSpPr>
          <p:cNvPr id="11" name="!!dept"/>
          <p:cNvSpPr txBox="1"/>
          <p:nvPr/>
        </p:nvSpPr>
        <p:spPr>
          <a:xfrm>
            <a:off x="658368" y="618134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DC8CF"/>
                </a:solidFill>
                <a:latin typeface="Segoe UI"/>
              </a:rPr>
              <a:t>Department of Information Technology  ·  BSIT · Fall 2026</a:t>
            </a:r>
          </a:p>
        </p:txBody>
      </p:sp>
      <p:sp>
        <p:nvSpPr>
          <p:cNvPr id="12" name="!!uni"/>
          <p:cNvSpPr txBox="1"/>
          <p:nvPr/>
        </p:nvSpPr>
        <p:spPr>
          <a:xfrm>
            <a:off x="5205818" y="568756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6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3" name="!!uni2"/>
          <p:cNvSpPr txBox="1"/>
          <p:nvPr/>
        </p:nvSpPr>
        <p:spPr>
          <a:xfrm>
            <a:off x="5205818" y="596188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5BE"/>
                </a:solidFill>
                <a:latin typeface="Segoe UI"/>
              </a:rPr>
              <a:t>Bahawalpur, Pakistan</a:t>
            </a:r>
          </a:p>
        </p:txBody>
      </p:sp>
      <p:pic>
        <p:nvPicPr>
          <p:cNvPr id="14" name="!!logo-iub-logo-white" descr="The Islamia University of Bahawalpu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3498" y="5486400"/>
            <a:ext cx="904084" cy="896112"/>
          </a:xfrm>
          <a:prstGeom prst="rect">
            <a:avLst/>
          </a:prstGeom>
        </p:spPr>
      </p:pic>
      <p:pic>
        <p:nvPicPr>
          <p:cNvPr id="15" name="!!logo-dit-logo" descr="Department of Information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614" y="5486400"/>
            <a:ext cx="869712" cy="8961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Where this chapter sits</a:t>
            </a:r>
          </a:p>
        </p:txBody>
      </p:sp>
      <p:pic>
        <p:nvPicPr>
          <p:cNvPr id="3" name="!!kicker-icon" descr="map-signs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 COURSE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     </a:t>
            </a:r>
            <a:fld id="{265115D6-6AB6-42A8-82D2-9F9A573A42C8}" type="slidenum">
              <a:rPr lang="en-GB" sz="1000">
                <a:solidFill>
                  <a:srgbClr val="8795A1"/>
                </a:solidFill>
                <a:latin typeface="Segoe UI"/>
              </a:rPr>
              <a:t>2</a:t>
            </a:fld>
          </a:p>
        </p:txBody>
      </p:sp>
      <p:sp>
        <p:nvSpPr>
          <p:cNvPr id="7" name="!!rp1"/>
          <p:cNvSpPr txBox="1"/>
          <p:nvPr/>
        </p:nvSpPr>
        <p:spPr>
          <a:xfrm>
            <a:off x="777239" y="1755648"/>
            <a:ext cx="189413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A5276"/>
                </a:solidFill>
                <a:latin typeface="Segoe UI"/>
              </a:rPr>
              <a:t>PART I</a:t>
            </a:r>
          </a:p>
        </p:txBody>
      </p:sp>
      <p:sp>
        <p:nvSpPr>
          <p:cNvPr id="8" name="!!rp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39" y="2029967"/>
            <a:ext cx="1894138" cy="4572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rp2"/>
          <p:cNvSpPr txBox="1"/>
          <p:nvPr/>
        </p:nvSpPr>
        <p:spPr>
          <a:xfrm>
            <a:off x="3000562" y="1755648"/>
            <a:ext cx="1583242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</a:t>
            </a:r>
          </a:p>
        </p:txBody>
      </p:sp>
      <p:sp>
        <p:nvSpPr>
          <p:cNvPr id="10" name="!!rp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00562" y="2029967"/>
            <a:ext cx="1583242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p3"/>
          <p:cNvSpPr txBox="1"/>
          <p:nvPr/>
        </p:nvSpPr>
        <p:spPr>
          <a:xfrm>
            <a:off x="4912988" y="1755648"/>
            <a:ext cx="240229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III</a:t>
            </a:r>
          </a:p>
        </p:txBody>
      </p:sp>
      <p:sp>
        <p:nvSpPr>
          <p:cNvPr id="12" name="!!rp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12988" y="2029967"/>
            <a:ext cx="240229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rp4"/>
          <p:cNvSpPr txBox="1"/>
          <p:nvPr/>
        </p:nvSpPr>
        <p:spPr>
          <a:xfrm>
            <a:off x="7644467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IV</a:t>
            </a:r>
          </a:p>
        </p:txBody>
      </p:sp>
      <p:sp>
        <p:nvSpPr>
          <p:cNvPr id="14" name="!!rpl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4467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rp5"/>
          <p:cNvSpPr txBox="1"/>
          <p:nvPr/>
        </p:nvSpPr>
        <p:spPr>
          <a:xfrm>
            <a:off x="9147366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</a:t>
            </a:r>
          </a:p>
        </p:txBody>
      </p:sp>
      <p:sp>
        <p:nvSpPr>
          <p:cNvPr id="16" name="!!rpl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7366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p6"/>
          <p:cNvSpPr txBox="1"/>
          <p:nvPr/>
        </p:nvSpPr>
        <p:spPr>
          <a:xfrm>
            <a:off x="10650266" y="1755648"/>
            <a:ext cx="76418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VI</a:t>
            </a:r>
          </a:p>
        </p:txBody>
      </p:sp>
      <p:sp>
        <p:nvSpPr>
          <p:cNvPr id="18" name="!!rpl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50266" y="2029967"/>
            <a:ext cx="764189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411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dotn1"/>
          <p:cNvSpPr txBox="1"/>
          <p:nvPr/>
        </p:nvSpPr>
        <p:spPr>
          <a:xfrm>
            <a:off x="72597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!!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6081" y="2112264"/>
            <a:ext cx="566928" cy="566928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dotn2"/>
          <p:cNvSpPr txBox="1"/>
          <p:nvPr/>
        </p:nvSpPr>
        <p:spPr>
          <a:xfrm>
            <a:off x="1236081" y="2240280"/>
            <a:ext cx="56692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3" name="!!do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47360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1A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dotn3"/>
          <p:cNvSpPr txBox="1"/>
          <p:nvPr/>
        </p:nvSpPr>
        <p:spPr>
          <a:xfrm>
            <a:off x="185592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4967"/>
                </a:solidFill>
                <a:latin typeface="Segoe UI"/>
              </a:rPr>
              <a:t>3</a:t>
            </a:r>
          </a:p>
        </p:txBody>
      </p:sp>
      <p:sp>
        <p:nvSpPr>
          <p:cNvPr id="25" name="!!do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56886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1A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dotn4"/>
          <p:cNvSpPr txBox="1"/>
          <p:nvPr/>
        </p:nvSpPr>
        <p:spPr>
          <a:xfrm>
            <a:off x="226544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4967"/>
                </a:solidFill>
                <a:latin typeface="Segoe UI"/>
              </a:rPr>
              <a:t>4</a:t>
            </a:r>
          </a:p>
        </p:txBody>
      </p:sp>
      <p:sp>
        <p:nvSpPr>
          <p:cNvPr id="27" name="!!dot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073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dotn5"/>
          <p:cNvSpPr txBox="1"/>
          <p:nvPr/>
        </p:nvSpPr>
        <p:spPr>
          <a:xfrm>
            <a:off x="294929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5</a:t>
            </a:r>
          </a:p>
        </p:txBody>
      </p:sp>
      <p:sp>
        <p:nvSpPr>
          <p:cNvPr id="29" name="!!dot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0259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dotn6"/>
          <p:cNvSpPr txBox="1"/>
          <p:nvPr/>
        </p:nvSpPr>
        <p:spPr>
          <a:xfrm>
            <a:off x="335881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6</a:t>
            </a:r>
          </a:p>
        </p:txBody>
      </p:sp>
      <p:sp>
        <p:nvSpPr>
          <p:cNvPr id="31" name="!!dot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59786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dotn7"/>
          <p:cNvSpPr txBox="1"/>
          <p:nvPr/>
        </p:nvSpPr>
        <p:spPr>
          <a:xfrm>
            <a:off x="376834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7</a:t>
            </a:r>
          </a:p>
        </p:txBody>
      </p:sp>
      <p:sp>
        <p:nvSpPr>
          <p:cNvPr id="33" name="!!dot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69312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dotn8"/>
          <p:cNvSpPr txBox="1"/>
          <p:nvPr/>
        </p:nvSpPr>
        <p:spPr>
          <a:xfrm>
            <a:off x="417787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8</a:t>
            </a:r>
          </a:p>
        </p:txBody>
      </p:sp>
      <p:sp>
        <p:nvSpPr>
          <p:cNvPr id="35" name="!!dot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53159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dotn9"/>
          <p:cNvSpPr txBox="1"/>
          <p:nvPr/>
        </p:nvSpPr>
        <p:spPr>
          <a:xfrm>
            <a:off x="486171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9</a:t>
            </a:r>
          </a:p>
        </p:txBody>
      </p:sp>
      <p:sp>
        <p:nvSpPr>
          <p:cNvPr id="37" name="!!dot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62685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dotn10"/>
          <p:cNvSpPr txBox="1"/>
          <p:nvPr/>
        </p:nvSpPr>
        <p:spPr>
          <a:xfrm>
            <a:off x="527124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10</a:t>
            </a:r>
          </a:p>
        </p:txBody>
      </p:sp>
      <p:sp>
        <p:nvSpPr>
          <p:cNvPr id="39" name="!!dot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72212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!!dotn11"/>
          <p:cNvSpPr txBox="1"/>
          <p:nvPr/>
        </p:nvSpPr>
        <p:spPr>
          <a:xfrm>
            <a:off x="568077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11</a:t>
            </a:r>
          </a:p>
        </p:txBody>
      </p:sp>
      <p:sp>
        <p:nvSpPr>
          <p:cNvPr id="41" name="!!dot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81738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dotn12"/>
          <p:cNvSpPr txBox="1"/>
          <p:nvPr/>
        </p:nvSpPr>
        <p:spPr>
          <a:xfrm>
            <a:off x="609029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12</a:t>
            </a:r>
          </a:p>
        </p:txBody>
      </p:sp>
      <p:sp>
        <p:nvSpPr>
          <p:cNvPr id="43" name="!!dot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91265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dotn13"/>
          <p:cNvSpPr txBox="1"/>
          <p:nvPr/>
        </p:nvSpPr>
        <p:spPr>
          <a:xfrm>
            <a:off x="649982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13</a:t>
            </a:r>
          </a:p>
        </p:txBody>
      </p:sp>
      <p:sp>
        <p:nvSpPr>
          <p:cNvPr id="45" name="!!dot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0079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!!dotn14"/>
          <p:cNvSpPr txBox="1"/>
          <p:nvPr/>
        </p:nvSpPr>
        <p:spPr>
          <a:xfrm>
            <a:off x="690935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14</a:t>
            </a:r>
          </a:p>
        </p:txBody>
      </p:sp>
      <p:sp>
        <p:nvSpPr>
          <p:cNvPr id="47" name="!!dot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4638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dotn15"/>
          <p:cNvSpPr txBox="1"/>
          <p:nvPr/>
        </p:nvSpPr>
        <p:spPr>
          <a:xfrm>
            <a:off x="759319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15</a:t>
            </a:r>
          </a:p>
        </p:txBody>
      </p:sp>
      <p:sp>
        <p:nvSpPr>
          <p:cNvPr id="49" name="!!dot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416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dotn16"/>
          <p:cNvSpPr txBox="1"/>
          <p:nvPr/>
        </p:nvSpPr>
        <p:spPr>
          <a:xfrm>
            <a:off x="80027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16</a:t>
            </a:r>
          </a:p>
        </p:txBody>
      </p:sp>
      <p:sp>
        <p:nvSpPr>
          <p:cNvPr id="51" name="!!dot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0369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!!dotn17"/>
          <p:cNvSpPr txBox="1"/>
          <p:nvPr/>
        </p:nvSpPr>
        <p:spPr>
          <a:xfrm>
            <a:off x="841225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17</a:t>
            </a:r>
          </a:p>
        </p:txBody>
      </p:sp>
      <p:sp>
        <p:nvSpPr>
          <p:cNvPr id="53" name="!!dot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8753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dotn18"/>
          <p:cNvSpPr txBox="1"/>
          <p:nvPr/>
        </p:nvSpPr>
        <p:spPr>
          <a:xfrm>
            <a:off x="90960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18</a:t>
            </a:r>
          </a:p>
        </p:txBody>
      </p:sp>
      <p:sp>
        <p:nvSpPr>
          <p:cNvPr id="55" name="!!dot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9706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!!dotn19"/>
          <p:cNvSpPr txBox="1"/>
          <p:nvPr/>
        </p:nvSpPr>
        <p:spPr>
          <a:xfrm>
            <a:off x="95056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19</a:t>
            </a:r>
          </a:p>
        </p:txBody>
      </p:sp>
      <p:sp>
        <p:nvSpPr>
          <p:cNvPr id="57" name="!!dot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006590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!!dotn20"/>
          <p:cNvSpPr txBox="1"/>
          <p:nvPr/>
        </p:nvSpPr>
        <p:spPr>
          <a:xfrm>
            <a:off x="991515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20</a:t>
            </a:r>
          </a:p>
        </p:txBody>
      </p:sp>
      <p:sp>
        <p:nvSpPr>
          <p:cNvPr id="59" name="!!dot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9043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dotn21"/>
          <p:cNvSpPr txBox="1"/>
          <p:nvPr/>
        </p:nvSpPr>
        <p:spPr>
          <a:xfrm>
            <a:off x="105989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21</a:t>
            </a:r>
          </a:p>
        </p:txBody>
      </p:sp>
      <p:sp>
        <p:nvSpPr>
          <p:cNvPr id="61" name="!!dot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9996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!!dotn22"/>
          <p:cNvSpPr txBox="1"/>
          <p:nvPr/>
        </p:nvSpPr>
        <p:spPr>
          <a:xfrm>
            <a:off x="110085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22</a:t>
            </a:r>
          </a:p>
        </p:txBody>
      </p:sp>
      <p:sp>
        <p:nvSpPr>
          <p:cNvPr id="63" name="!!dotlabel"/>
          <p:cNvSpPr txBox="1"/>
          <p:nvPr/>
        </p:nvSpPr>
        <p:spPr>
          <a:xfrm>
            <a:off x="658368" y="2798064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5276"/>
                </a:solidFill>
                <a:latin typeface="Segoe UI"/>
              </a:rPr>
              <a:t>Mathematics for Machine Learning</a:t>
            </a:r>
          </a:p>
        </p:txBody>
      </p:sp>
      <p:sp>
        <p:nvSpPr>
          <p:cNvPr id="64" name="!!dep-BUILD"/>
          <p:cNvSpPr txBox="1"/>
          <p:nvPr/>
        </p:nvSpPr>
        <p:spPr>
          <a:xfrm>
            <a:off x="658368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BUILDS ON</a:t>
            </a:r>
          </a:p>
        </p:txBody>
      </p:sp>
      <p:sp>
        <p:nvSpPr>
          <p:cNvPr id="65" name="!!chipBU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!!chipbBU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64008" cy="42062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!!chiptBU1"/>
          <p:cNvSpPr txBox="1"/>
          <p:nvPr/>
        </p:nvSpPr>
        <p:spPr>
          <a:xfrm>
            <a:off x="859536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5276"/>
                </a:solidFill>
                <a:latin typeface="Segoe UI"/>
              </a:rPr>
              <a:t>Ch 1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What Machine Learning Is</a:t>
            </a:r>
          </a:p>
        </p:txBody>
      </p:sp>
      <p:sp>
        <p:nvSpPr>
          <p:cNvPr id="68" name="!!dep-USED "/>
          <p:cNvSpPr txBox="1"/>
          <p:nvPr/>
        </p:nvSpPr>
        <p:spPr>
          <a:xfrm>
            <a:off x="6324447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USED LATER IN</a:t>
            </a:r>
          </a:p>
        </p:txBody>
      </p:sp>
      <p:sp>
        <p:nvSpPr>
          <p:cNvPr id="69" name="!!chipUS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!!chipbUS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64008" cy="42062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chiptUS3"/>
          <p:cNvSpPr txBox="1"/>
          <p:nvPr/>
        </p:nvSpPr>
        <p:spPr>
          <a:xfrm>
            <a:off x="6525615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5276"/>
                </a:solidFill>
                <a:latin typeface="Segoe UI"/>
              </a:rPr>
              <a:t>Ch 3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The Machine Learning Workflow and Toolkit</a:t>
            </a:r>
          </a:p>
        </p:txBody>
      </p:sp>
      <p:sp>
        <p:nvSpPr>
          <p:cNvPr id="72" name="!!chipUS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297680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!!chipbUS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297680"/>
            <a:ext cx="64008" cy="420624"/>
          </a:xfrm>
          <a:prstGeom prst="rect">
            <a:avLst/>
          </a:prstGeom>
          <a:solidFill>
            <a:srgbClr val="236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!!chiptUS5"/>
          <p:cNvSpPr txBox="1"/>
          <p:nvPr/>
        </p:nvSpPr>
        <p:spPr>
          <a:xfrm>
            <a:off x="6525615" y="4389120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6794"/>
                </a:solidFill>
                <a:latin typeface="Segoe UI"/>
              </a:rPr>
              <a:t>Ch 5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Linear Regression</a:t>
            </a:r>
          </a:p>
        </p:txBody>
      </p:sp>
      <p:sp>
        <p:nvSpPr>
          <p:cNvPr id="75" name="!!chipUS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809744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!!chipbUS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809744"/>
            <a:ext cx="64008" cy="420624"/>
          </a:xfrm>
          <a:prstGeom prst="rect">
            <a:avLst/>
          </a:prstGeom>
          <a:solidFill>
            <a:srgbClr val="236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!!chiptUS6"/>
          <p:cNvSpPr txBox="1"/>
          <p:nvPr/>
        </p:nvSpPr>
        <p:spPr>
          <a:xfrm>
            <a:off x="6525615" y="4901184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6794"/>
                </a:solidFill>
                <a:latin typeface="Segoe UI"/>
              </a:rPr>
              <a:t>Ch 6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Logistic Regression</a:t>
            </a:r>
          </a:p>
        </p:txBody>
      </p:sp>
      <p:sp>
        <p:nvSpPr>
          <p:cNvPr id="78" name="!!chipUS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321808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!!chipbUS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321808"/>
            <a:ext cx="64008" cy="420624"/>
          </a:xfrm>
          <a:prstGeom prst="rect">
            <a:avLst/>
          </a:prstGeom>
          <a:solidFill>
            <a:srgbClr val="236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!!chiptUS8"/>
          <p:cNvSpPr txBox="1"/>
          <p:nvPr/>
        </p:nvSpPr>
        <p:spPr>
          <a:xfrm>
            <a:off x="6525615" y="5413248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6794"/>
                </a:solidFill>
                <a:latin typeface="Segoe UI"/>
              </a:rPr>
              <a:t>Ch 8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Measuring Classifier Performance</a:t>
            </a:r>
          </a:p>
        </p:txBody>
      </p:sp>
      <p:sp>
        <p:nvSpPr>
          <p:cNvPr id="81" name="!!chipUS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833872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!!chipbUS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833872"/>
            <a:ext cx="64008" cy="4206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!!chiptUS9"/>
          <p:cNvSpPr txBox="1"/>
          <p:nvPr/>
        </p:nvSpPr>
        <p:spPr>
          <a:xfrm>
            <a:off x="6525615" y="5925312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7A43"/>
                </a:solidFill>
                <a:latin typeface="Segoe UI"/>
              </a:rPr>
              <a:t>Ch 9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Decision Tree Learning</a:t>
            </a:r>
          </a:p>
        </p:txBody>
      </p:sp>
      <p:sp>
        <p:nvSpPr>
          <p:cNvPr id="8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6891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you will be able to do</a:t>
            </a:r>
          </a:p>
        </p:txBody>
      </p:sp>
      <p:pic>
        <p:nvPicPr>
          <p:cNvPr id="3" name="!!kicker-icon" descr="bullsey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LEARNING OUTCOMES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     </a:t>
            </a:r>
            <a:fld id="{3DBA34D4-9C58-445C-AA52-166F0F278D00}" type="slidenum">
              <a:rPr lang="en-GB" sz="1000">
                <a:solidFill>
                  <a:srgbClr val="8795A1"/>
                </a:solidFill>
                <a:latin typeface="Segoe UI"/>
              </a:rPr>
              <a:t>3</a:t>
            </a:fld>
          </a:p>
        </p:txBody>
      </p:sp>
      <p:sp>
        <p:nvSpPr>
          <p:cNvPr id="7" name="!!olead"/>
          <p:cNvSpPr txBox="1"/>
          <p:nvPr/>
        </p:nvSpPr>
        <p:spPr>
          <a:xfrm>
            <a:off x="658368" y="173736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6F7B"/>
                </a:solidFill>
                <a:latin typeface="Segoe UI"/>
              </a:rPr>
              <a:t>By the end of this chapter you will be able to:</a:t>
            </a:r>
          </a:p>
        </p:txBody>
      </p:sp>
      <p:sp>
        <p:nvSpPr>
          <p:cNvPr id="8" name="!!o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21991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obn0"/>
          <p:cNvSpPr txBox="1"/>
          <p:nvPr/>
        </p:nvSpPr>
        <p:spPr>
          <a:xfrm>
            <a:off x="658368" y="228142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!!ot0"/>
          <p:cNvSpPr txBox="1"/>
          <p:nvPr/>
        </p:nvSpPr>
        <p:spPr>
          <a:xfrm>
            <a:off x="1316736" y="2212848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Compute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dot products, norms and distances, and write a linear model as a dot product.</a:t>
            </a:r>
          </a:p>
        </p:txBody>
      </p:sp>
      <p:sp>
        <p:nvSpPr>
          <p:cNvPr id="11" name="!!o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70555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obn1"/>
          <p:cNvSpPr txBox="1"/>
          <p:nvPr/>
        </p:nvSpPr>
        <p:spPr>
          <a:xfrm>
            <a:off x="658368" y="3129991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!!ot1"/>
          <p:cNvSpPr txBox="1"/>
          <p:nvPr/>
        </p:nvSpPr>
        <p:spPr>
          <a:xfrm>
            <a:off x="1316736" y="3111703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Explain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what the product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w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computes for a whole dataset at once.</a:t>
            </a:r>
          </a:p>
        </p:txBody>
      </p:sp>
      <p:sp>
        <p:nvSpPr>
          <p:cNvPr id="14" name="!!o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74059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obn2"/>
          <p:cNvSpPr txBox="1"/>
          <p:nvPr/>
        </p:nvSpPr>
        <p:spPr>
          <a:xfrm>
            <a:off x="658368" y="3733495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!!ot2"/>
          <p:cNvSpPr txBox="1"/>
          <p:nvPr/>
        </p:nvSpPr>
        <p:spPr>
          <a:xfrm>
            <a:off x="1316736" y="3664915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Differentiate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simple loss function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perform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gradient descent steps by hand, including choosing a learning rate.</a:t>
            </a:r>
          </a:p>
        </p:txBody>
      </p:sp>
      <p:sp>
        <p:nvSpPr>
          <p:cNvPr id="17" name="!!o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522622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obn3"/>
          <p:cNvSpPr txBox="1"/>
          <p:nvPr/>
        </p:nvSpPr>
        <p:spPr>
          <a:xfrm>
            <a:off x="658368" y="458205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9" name="!!ot3"/>
          <p:cNvSpPr txBox="1"/>
          <p:nvPr/>
        </p:nvSpPr>
        <p:spPr>
          <a:xfrm>
            <a:off x="1316736" y="4563770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Apply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Bayes’ theorem to a base-rate problem.</a:t>
            </a:r>
          </a:p>
        </p:txBody>
      </p:sp>
      <p:sp>
        <p:nvSpPr>
          <p:cNvPr id="20" name="!!o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126126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obn4"/>
          <p:cNvSpPr txBox="1"/>
          <p:nvPr/>
        </p:nvSpPr>
        <p:spPr>
          <a:xfrm>
            <a:off x="658368" y="5185562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2" name="!!ot4"/>
          <p:cNvSpPr txBox="1"/>
          <p:nvPr/>
        </p:nvSpPr>
        <p:spPr>
          <a:xfrm>
            <a:off x="1316736" y="5116982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Estimate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parameter by maximum likelihood,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compute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entropy of a distribution.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0336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Vocabulary for this chapter</a:t>
            </a:r>
          </a:p>
        </p:txBody>
      </p:sp>
      <p:pic>
        <p:nvPicPr>
          <p:cNvPr id="3" name="!!kicker-icon" descr="tags-8E44AD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7256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8E44AD"/>
                </a:solidFill>
                <a:latin typeface="Segoe UI"/>
              </a:rPr>
              <a:t>KEY TERMS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     </a:t>
            </a:r>
            <a:fld id="{8C72215C-E055-4AC4-84A3-DAE445F30F70}" type="slidenum">
              <a:rPr lang="en-GB" sz="1000">
                <a:solidFill>
                  <a:srgbClr val="8795A1"/>
                </a:solidFill>
                <a:latin typeface="Segoe UI"/>
              </a:rPr>
              <a:t>4</a:t>
            </a:fld>
          </a:p>
        </p:txBody>
      </p:sp>
      <p:sp>
        <p:nvSpPr>
          <p:cNvPr id="7" name="!!term-vecto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847088"/>
            <a:ext cx="97069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ermd-vecto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termt-vector"/>
          <p:cNvSpPr txBox="1"/>
          <p:nvPr/>
        </p:nvSpPr>
        <p:spPr>
          <a:xfrm>
            <a:off x="950976" y="1970532"/>
            <a:ext cx="78781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vector</a:t>
            </a:r>
          </a:p>
        </p:txBody>
      </p:sp>
      <p:sp>
        <p:nvSpPr>
          <p:cNvPr id="10" name="!!term-dot produc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75367" y="1847088"/>
            <a:ext cx="1462108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termd-dot produc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03383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termt-dot product"/>
          <p:cNvSpPr txBox="1"/>
          <p:nvPr/>
        </p:nvSpPr>
        <p:spPr>
          <a:xfrm>
            <a:off x="2067975" y="1970532"/>
            <a:ext cx="1279228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dot product</a:t>
            </a:r>
          </a:p>
        </p:txBody>
      </p:sp>
      <p:sp>
        <p:nvSpPr>
          <p:cNvPr id="13" name="!!term-nor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780" y="1847088"/>
            <a:ext cx="89767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termd-nor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11796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termt-norm"/>
          <p:cNvSpPr txBox="1"/>
          <p:nvPr/>
        </p:nvSpPr>
        <p:spPr>
          <a:xfrm>
            <a:off x="3676388" y="1970532"/>
            <a:ext cx="71479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norm</a:t>
            </a:r>
          </a:p>
        </p:txBody>
      </p:sp>
      <p:sp>
        <p:nvSpPr>
          <p:cNvPr id="16" name="!!term-Euclidean di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27756" y="1847088"/>
            <a:ext cx="201923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termd-Euclidean di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55772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termt-Euclidean dist"/>
          <p:cNvSpPr txBox="1"/>
          <p:nvPr/>
        </p:nvSpPr>
        <p:spPr>
          <a:xfrm>
            <a:off x="4720364" y="1970532"/>
            <a:ext cx="183635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Euclidean distance</a:t>
            </a:r>
          </a:p>
        </p:txBody>
      </p:sp>
      <p:sp>
        <p:nvSpPr>
          <p:cNvPr id="19" name="!!term-cosine simil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93296" y="1847088"/>
            <a:ext cx="180102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termd-cosine simil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21312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termt-cosine similar"/>
          <p:cNvSpPr txBox="1"/>
          <p:nvPr/>
        </p:nvSpPr>
        <p:spPr>
          <a:xfrm>
            <a:off x="6885904" y="1970532"/>
            <a:ext cx="161814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cosine similarity</a:t>
            </a:r>
          </a:p>
        </p:txBody>
      </p:sp>
      <p:sp>
        <p:nvSpPr>
          <p:cNvPr id="22" name="!!term-matri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40625" y="1847088"/>
            <a:ext cx="974818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termd-matri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68641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termt-matrix"/>
          <p:cNvSpPr txBox="1"/>
          <p:nvPr/>
        </p:nvSpPr>
        <p:spPr>
          <a:xfrm>
            <a:off x="8833233" y="1970532"/>
            <a:ext cx="791938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matrix</a:t>
            </a:r>
          </a:p>
        </p:txBody>
      </p:sp>
      <p:sp>
        <p:nvSpPr>
          <p:cNvPr id="25" name="!!term-transpos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61748" y="1847088"/>
            <a:ext cx="127580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termd-transpos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8976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termt-transpose"/>
          <p:cNvSpPr txBox="1"/>
          <p:nvPr/>
        </p:nvSpPr>
        <p:spPr>
          <a:xfrm>
            <a:off x="9954356" y="1970532"/>
            <a:ext cx="109292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transpose</a:t>
            </a:r>
          </a:p>
        </p:txBody>
      </p:sp>
      <p:sp>
        <p:nvSpPr>
          <p:cNvPr id="28" name="!!term-derivativ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68880"/>
            <a:ext cx="126912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termd-derivativ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termt-derivative"/>
          <p:cNvSpPr txBox="1"/>
          <p:nvPr/>
        </p:nvSpPr>
        <p:spPr>
          <a:xfrm>
            <a:off x="950976" y="2592324"/>
            <a:ext cx="108624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derivative</a:t>
            </a:r>
          </a:p>
        </p:txBody>
      </p:sp>
      <p:sp>
        <p:nvSpPr>
          <p:cNvPr id="31" name="!!term-partial deriv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73797" y="2468880"/>
            <a:ext cx="186201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termd-partial deriv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01813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termt-partial deriva"/>
          <p:cNvSpPr txBox="1"/>
          <p:nvPr/>
        </p:nvSpPr>
        <p:spPr>
          <a:xfrm>
            <a:off x="2366405" y="2592324"/>
            <a:ext cx="167913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partial derivative</a:t>
            </a:r>
          </a:p>
        </p:txBody>
      </p:sp>
      <p:sp>
        <p:nvSpPr>
          <p:cNvPr id="34" name="!!term-gradi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82115" y="2468880"/>
            <a:ext cx="1158830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!!termd-gradi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10131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termt-gradient"/>
          <p:cNvSpPr txBox="1"/>
          <p:nvPr/>
        </p:nvSpPr>
        <p:spPr>
          <a:xfrm>
            <a:off x="4374723" y="2592324"/>
            <a:ext cx="97595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gradient</a:t>
            </a:r>
          </a:p>
        </p:txBody>
      </p:sp>
      <p:sp>
        <p:nvSpPr>
          <p:cNvPr id="37" name="!!term-chain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87250" y="2468880"/>
            <a:ext cx="127405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termd-chain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15266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termt-chain rule"/>
          <p:cNvSpPr txBox="1"/>
          <p:nvPr/>
        </p:nvSpPr>
        <p:spPr>
          <a:xfrm>
            <a:off x="5679858" y="2592324"/>
            <a:ext cx="109117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chain rule</a:t>
            </a:r>
          </a:p>
        </p:txBody>
      </p:sp>
      <p:sp>
        <p:nvSpPr>
          <p:cNvPr id="40" name="!!term-gradient des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07610" y="2468880"/>
            <a:ext cx="187777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!!termd-gradient des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35626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termt-gradient desce"/>
          <p:cNvSpPr txBox="1"/>
          <p:nvPr/>
        </p:nvSpPr>
        <p:spPr>
          <a:xfrm>
            <a:off x="7100218" y="2592324"/>
            <a:ext cx="169489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gradient descent</a:t>
            </a:r>
          </a:p>
        </p:txBody>
      </p:sp>
      <p:sp>
        <p:nvSpPr>
          <p:cNvPr id="43" name="!!term-learning rat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31692" y="2468880"/>
            <a:ext cx="1522742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termd-learning rat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59708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!!termt-learning rate"/>
          <p:cNvSpPr txBox="1"/>
          <p:nvPr/>
        </p:nvSpPr>
        <p:spPr>
          <a:xfrm>
            <a:off x="9124300" y="2592324"/>
            <a:ext cx="1339862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learning rate</a:t>
            </a:r>
          </a:p>
        </p:txBody>
      </p:sp>
      <p:sp>
        <p:nvSpPr>
          <p:cNvPr id="46" name="!!term-conditional p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90672"/>
            <a:ext cx="237396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!!termd-conditional p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termt-conditional pr"/>
          <p:cNvSpPr txBox="1"/>
          <p:nvPr/>
        </p:nvSpPr>
        <p:spPr>
          <a:xfrm>
            <a:off x="950976" y="3214116"/>
            <a:ext cx="219108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conditional probability</a:t>
            </a:r>
          </a:p>
        </p:txBody>
      </p:sp>
      <p:sp>
        <p:nvSpPr>
          <p:cNvPr id="49" name="!!term-Bayes’ theore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78638" y="3090672"/>
            <a:ext cx="175278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termd-Bayes’ theore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06654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!!termt-Bayes’ theorem"/>
          <p:cNvSpPr txBox="1"/>
          <p:nvPr/>
        </p:nvSpPr>
        <p:spPr>
          <a:xfrm>
            <a:off x="3471246" y="3214116"/>
            <a:ext cx="156990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Bayes’ theorem</a:t>
            </a:r>
          </a:p>
        </p:txBody>
      </p:sp>
      <p:sp>
        <p:nvSpPr>
          <p:cNvPr id="52" name="!!term-expect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77723" y="3090672"/>
            <a:ext cx="1436888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!!termd-expect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05739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termt-expectation"/>
          <p:cNvSpPr txBox="1"/>
          <p:nvPr/>
        </p:nvSpPr>
        <p:spPr>
          <a:xfrm>
            <a:off x="5370331" y="3214116"/>
            <a:ext cx="1254008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expectation</a:t>
            </a:r>
          </a:p>
        </p:txBody>
      </p:sp>
      <p:sp>
        <p:nvSpPr>
          <p:cNvPr id="55" name="!!term-varian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60916" y="3090672"/>
            <a:ext cx="114575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!!termd-varian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88932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!!termt-variance"/>
          <p:cNvSpPr txBox="1"/>
          <p:nvPr/>
        </p:nvSpPr>
        <p:spPr>
          <a:xfrm>
            <a:off x="6953524" y="3214116"/>
            <a:ext cx="96287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variance</a:t>
            </a:r>
          </a:p>
        </p:txBody>
      </p:sp>
      <p:sp>
        <p:nvSpPr>
          <p:cNvPr id="58" name="!!term-Gaussia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52977" y="3090672"/>
            <a:ext cx="120177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!!termd-Gaussia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80993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termt-Gaussian"/>
          <p:cNvSpPr txBox="1"/>
          <p:nvPr/>
        </p:nvSpPr>
        <p:spPr>
          <a:xfrm>
            <a:off x="8245585" y="3214116"/>
            <a:ext cx="101889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Gaussian</a:t>
            </a:r>
          </a:p>
        </p:txBody>
      </p:sp>
      <p:sp>
        <p:nvSpPr>
          <p:cNvPr id="61" name="!!term-likelihoo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01054" y="3090672"/>
            <a:ext cx="1277298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!!termd-likelihoo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29070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!!termt-likelihood"/>
          <p:cNvSpPr txBox="1"/>
          <p:nvPr/>
        </p:nvSpPr>
        <p:spPr>
          <a:xfrm>
            <a:off x="9593662" y="3214116"/>
            <a:ext cx="1094418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likelihood</a:t>
            </a:r>
          </a:p>
        </p:txBody>
      </p:sp>
      <p:sp>
        <p:nvSpPr>
          <p:cNvPr id="64" name="!!term-maximum likel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12464"/>
            <a:ext cx="217753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!!termd-maximum likel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3904488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!!termt-maximum likeli"/>
          <p:cNvSpPr txBox="1"/>
          <p:nvPr/>
        </p:nvSpPr>
        <p:spPr>
          <a:xfrm>
            <a:off x="950976" y="3835908"/>
            <a:ext cx="199465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maximum likelihood</a:t>
            </a:r>
          </a:p>
        </p:txBody>
      </p:sp>
      <p:sp>
        <p:nvSpPr>
          <p:cNvPr id="67" name="!!term-entrop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82209" y="3712464"/>
            <a:ext cx="110613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!!termd-entrop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0225" y="3904488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!!termt-entropy"/>
          <p:cNvSpPr txBox="1"/>
          <p:nvPr/>
        </p:nvSpPr>
        <p:spPr>
          <a:xfrm>
            <a:off x="3274817" y="3835908"/>
            <a:ext cx="92325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entropy</a:t>
            </a:r>
          </a:p>
        </p:txBody>
      </p:sp>
      <p:sp>
        <p:nvSpPr>
          <p:cNvPr id="70" name="!!termnote"/>
          <p:cNvSpPr txBox="1"/>
          <p:nvPr/>
        </p:nvSpPr>
        <p:spPr>
          <a:xfrm>
            <a:off x="658368" y="45354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F6F7B"/>
                </a:solidFill>
                <a:latin typeface="Segoe UI"/>
              </a:rPr>
              <a:t>Each term is defined where it first matters — not here.</a:t>
            </a:r>
          </a:p>
        </p:txBody>
      </p:sp>
      <p:sp>
        <p:nvSpPr>
          <p:cNvPr id="7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3782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 this chapter</a:t>
            </a:r>
          </a:p>
        </p:txBody>
      </p:sp>
      <p:pic>
        <p:nvPicPr>
          <p:cNvPr id="3" name="!!kicker-icon" descr="list-ul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6883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IN THIS CHAPTER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pp. 11–18     </a:t>
            </a:r>
            <a:fld id="{EA731D78-D275-4A7C-B854-A0182A7546E9}" type="slidenum">
              <a:rPr lang="en-GB" sz="1000">
                <a:solidFill>
                  <a:srgbClr val="8795A1"/>
                </a:solidFill>
                <a:latin typeface="Segoe UI"/>
              </a:rPr>
              <a:t>5</a:t>
            </a:fld>
          </a:p>
        </p:txBody>
      </p:sp>
      <p:sp>
        <p:nvSpPr>
          <p:cNvPr id="7" name="!!ag0" descr="Go to section 2.1 Four Kinds of Mathematics, Four Jobs">
            <a:hlinkClick action="ppaction://hlinksldjump" r:id="rId5"/>
          </p:cNvPr>
          <p:cNvSpPr/>
          <p:nvPr/>
        </p:nvSpPr>
        <p:spPr>
          <a:xfrm>
            <a:off x="658368" y="1773936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ag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73936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agn0"/>
          <p:cNvSpPr txBox="1"/>
          <p:nvPr/>
        </p:nvSpPr>
        <p:spPr>
          <a:xfrm>
            <a:off x="932688" y="1864359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2.1</a:t>
            </a:r>
          </a:p>
        </p:txBody>
      </p:sp>
      <p:sp>
        <p:nvSpPr>
          <p:cNvPr id="10" name="!!agt0"/>
          <p:cNvSpPr txBox="1"/>
          <p:nvPr/>
        </p:nvSpPr>
        <p:spPr>
          <a:xfrm>
            <a:off x="1847088" y="1864359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Four Kinds of Mathematics, Four Jobs</a:t>
            </a:r>
          </a:p>
        </p:txBody>
      </p:sp>
      <p:sp>
        <p:nvSpPr>
          <p:cNvPr id="11" name="!!agp0"/>
          <p:cNvSpPr txBox="1"/>
          <p:nvPr/>
        </p:nvSpPr>
        <p:spPr>
          <a:xfrm>
            <a:off x="9795967" y="1891791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11  ›</a:t>
            </a:r>
          </a:p>
        </p:txBody>
      </p:sp>
      <p:sp>
        <p:nvSpPr>
          <p:cNvPr id="12" name="!!ag1" descr="Go to section 2.2 Vectors and the Dot Product">
            <a:hlinkClick action="ppaction://hlinksldjump" r:id="rId6"/>
          </p:cNvPr>
          <p:cNvSpPr/>
          <p:nvPr/>
        </p:nvSpPr>
        <p:spPr>
          <a:xfrm>
            <a:off x="658368" y="2271776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ag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71776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agn1"/>
          <p:cNvSpPr txBox="1"/>
          <p:nvPr/>
        </p:nvSpPr>
        <p:spPr>
          <a:xfrm>
            <a:off x="932688" y="236220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2.2</a:t>
            </a:r>
          </a:p>
        </p:txBody>
      </p:sp>
      <p:sp>
        <p:nvSpPr>
          <p:cNvPr id="15" name="!!agt1"/>
          <p:cNvSpPr txBox="1"/>
          <p:nvPr/>
        </p:nvSpPr>
        <p:spPr>
          <a:xfrm>
            <a:off x="1847088" y="236220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Vectors and the Dot Product</a:t>
            </a:r>
          </a:p>
        </p:txBody>
      </p:sp>
      <p:sp>
        <p:nvSpPr>
          <p:cNvPr id="16" name="!!agp1"/>
          <p:cNvSpPr txBox="1"/>
          <p:nvPr/>
        </p:nvSpPr>
        <p:spPr>
          <a:xfrm>
            <a:off x="9795967" y="238963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12  ›</a:t>
            </a:r>
          </a:p>
        </p:txBody>
      </p:sp>
      <p:sp>
        <p:nvSpPr>
          <p:cNvPr id="17" name="!!ag2" descr="Go to section 2.3 Matrices: A Whole Dataset at Once">
            <a:hlinkClick action="ppaction://hlinksldjump" r:id="rId7"/>
          </p:cNvPr>
          <p:cNvSpPr/>
          <p:nvPr/>
        </p:nvSpPr>
        <p:spPr>
          <a:xfrm>
            <a:off x="658368" y="2769616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ag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769616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agn2"/>
          <p:cNvSpPr txBox="1"/>
          <p:nvPr/>
        </p:nvSpPr>
        <p:spPr>
          <a:xfrm>
            <a:off x="932688" y="286004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2.3</a:t>
            </a:r>
          </a:p>
        </p:txBody>
      </p:sp>
      <p:sp>
        <p:nvSpPr>
          <p:cNvPr id="20" name="!!agt2"/>
          <p:cNvSpPr txBox="1"/>
          <p:nvPr/>
        </p:nvSpPr>
        <p:spPr>
          <a:xfrm>
            <a:off x="1847088" y="286004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Matrices: A Whole Dataset at Once</a:t>
            </a:r>
          </a:p>
        </p:txBody>
      </p:sp>
      <p:sp>
        <p:nvSpPr>
          <p:cNvPr id="21" name="!!agp2"/>
          <p:cNvSpPr txBox="1"/>
          <p:nvPr/>
        </p:nvSpPr>
        <p:spPr>
          <a:xfrm>
            <a:off x="9795967" y="288747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12  ›</a:t>
            </a:r>
          </a:p>
        </p:txBody>
      </p:sp>
      <p:sp>
        <p:nvSpPr>
          <p:cNvPr id="22" name="!!ag3" descr="Go to section 2.4 Derivatives and Gradients">
            <a:hlinkClick action="ppaction://hlinksldjump" r:id="rId8"/>
          </p:cNvPr>
          <p:cNvSpPr/>
          <p:nvPr/>
        </p:nvSpPr>
        <p:spPr>
          <a:xfrm>
            <a:off x="658368" y="3267456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ag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267456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agn3"/>
          <p:cNvSpPr txBox="1"/>
          <p:nvPr/>
        </p:nvSpPr>
        <p:spPr>
          <a:xfrm>
            <a:off x="932688" y="335788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2.4</a:t>
            </a:r>
          </a:p>
        </p:txBody>
      </p:sp>
      <p:sp>
        <p:nvSpPr>
          <p:cNvPr id="25" name="!!agt3"/>
          <p:cNvSpPr txBox="1"/>
          <p:nvPr/>
        </p:nvSpPr>
        <p:spPr>
          <a:xfrm>
            <a:off x="1847088" y="335788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Derivatives and Gradients</a:t>
            </a:r>
          </a:p>
        </p:txBody>
      </p:sp>
      <p:sp>
        <p:nvSpPr>
          <p:cNvPr id="26" name="!!agp3"/>
          <p:cNvSpPr txBox="1"/>
          <p:nvPr/>
        </p:nvSpPr>
        <p:spPr>
          <a:xfrm>
            <a:off x="9795967" y="3385311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13  ›</a:t>
            </a:r>
          </a:p>
        </p:txBody>
      </p:sp>
      <p:sp>
        <p:nvSpPr>
          <p:cNvPr id="27" name="!!ag4" descr="Go to section 2.5 Gradient Descent">
            <a:hlinkClick action="ppaction://hlinksldjump" r:id="rId9"/>
          </p:cNvPr>
          <p:cNvSpPr/>
          <p:nvPr/>
        </p:nvSpPr>
        <p:spPr>
          <a:xfrm>
            <a:off x="658368" y="3765296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ag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65296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agn4"/>
          <p:cNvSpPr txBox="1"/>
          <p:nvPr/>
        </p:nvSpPr>
        <p:spPr>
          <a:xfrm>
            <a:off x="932688" y="385572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2.5</a:t>
            </a:r>
          </a:p>
        </p:txBody>
      </p:sp>
      <p:sp>
        <p:nvSpPr>
          <p:cNvPr id="30" name="!!agt4"/>
          <p:cNvSpPr txBox="1"/>
          <p:nvPr/>
        </p:nvSpPr>
        <p:spPr>
          <a:xfrm>
            <a:off x="1847088" y="385572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Gradient Descent</a:t>
            </a:r>
          </a:p>
        </p:txBody>
      </p:sp>
      <p:sp>
        <p:nvSpPr>
          <p:cNvPr id="31" name="!!agp4"/>
          <p:cNvSpPr txBox="1"/>
          <p:nvPr/>
        </p:nvSpPr>
        <p:spPr>
          <a:xfrm>
            <a:off x="9795967" y="388315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13  ›</a:t>
            </a:r>
          </a:p>
        </p:txBody>
      </p:sp>
      <p:sp>
        <p:nvSpPr>
          <p:cNvPr id="32" name="!!ag5" descr="Go to section 2.6 Probability">
            <a:hlinkClick action="ppaction://hlinksldjump" r:id="rId10"/>
          </p:cNvPr>
          <p:cNvSpPr/>
          <p:nvPr/>
        </p:nvSpPr>
        <p:spPr>
          <a:xfrm>
            <a:off x="658368" y="4263136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agb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263136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agn5"/>
          <p:cNvSpPr txBox="1"/>
          <p:nvPr/>
        </p:nvSpPr>
        <p:spPr>
          <a:xfrm>
            <a:off x="932688" y="435356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2.6</a:t>
            </a:r>
          </a:p>
        </p:txBody>
      </p:sp>
      <p:sp>
        <p:nvSpPr>
          <p:cNvPr id="35" name="!!agt5"/>
          <p:cNvSpPr txBox="1"/>
          <p:nvPr/>
        </p:nvSpPr>
        <p:spPr>
          <a:xfrm>
            <a:off x="1847088" y="435356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Probability</a:t>
            </a:r>
          </a:p>
        </p:txBody>
      </p:sp>
      <p:sp>
        <p:nvSpPr>
          <p:cNvPr id="36" name="!!agp5"/>
          <p:cNvSpPr txBox="1"/>
          <p:nvPr/>
        </p:nvSpPr>
        <p:spPr>
          <a:xfrm>
            <a:off x="9795967" y="438099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14  ›</a:t>
            </a:r>
          </a:p>
        </p:txBody>
      </p:sp>
      <p:sp>
        <p:nvSpPr>
          <p:cNvPr id="37" name="!!ag6" descr="Go to section 2.7 Expectation, Variance and the Gaussian">
            <a:hlinkClick action="ppaction://hlinksldjump" r:id="rId11"/>
          </p:cNvPr>
          <p:cNvSpPr/>
          <p:nvPr/>
        </p:nvSpPr>
        <p:spPr>
          <a:xfrm>
            <a:off x="658368" y="4760975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agb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760975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agn6"/>
          <p:cNvSpPr txBox="1"/>
          <p:nvPr/>
        </p:nvSpPr>
        <p:spPr>
          <a:xfrm>
            <a:off x="932688" y="485140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2.7</a:t>
            </a:r>
          </a:p>
        </p:txBody>
      </p:sp>
      <p:sp>
        <p:nvSpPr>
          <p:cNvPr id="40" name="!!agt6"/>
          <p:cNvSpPr txBox="1"/>
          <p:nvPr/>
        </p:nvSpPr>
        <p:spPr>
          <a:xfrm>
            <a:off x="1847088" y="485140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Expectation, Variance and the Gaussian</a:t>
            </a:r>
          </a:p>
        </p:txBody>
      </p:sp>
      <p:sp>
        <p:nvSpPr>
          <p:cNvPr id="41" name="!!agp6"/>
          <p:cNvSpPr txBox="1"/>
          <p:nvPr/>
        </p:nvSpPr>
        <p:spPr>
          <a:xfrm>
            <a:off x="9795967" y="487883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15  ›</a:t>
            </a:r>
          </a:p>
        </p:txBody>
      </p:sp>
      <p:sp>
        <p:nvSpPr>
          <p:cNvPr id="42" name="!!ag7" descr="Go to section 2.8 Maximum Likelihood">
            <a:hlinkClick action="ppaction://hlinksldjump" r:id="rId12"/>
          </p:cNvPr>
          <p:cNvSpPr/>
          <p:nvPr/>
        </p:nvSpPr>
        <p:spPr>
          <a:xfrm>
            <a:off x="658368" y="5258815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!!agb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58815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agn7"/>
          <p:cNvSpPr txBox="1"/>
          <p:nvPr/>
        </p:nvSpPr>
        <p:spPr>
          <a:xfrm>
            <a:off x="932688" y="534924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2.8</a:t>
            </a:r>
          </a:p>
        </p:txBody>
      </p:sp>
      <p:sp>
        <p:nvSpPr>
          <p:cNvPr id="45" name="!!agt7"/>
          <p:cNvSpPr txBox="1"/>
          <p:nvPr/>
        </p:nvSpPr>
        <p:spPr>
          <a:xfrm>
            <a:off x="1847088" y="534924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Maximum Likelihood</a:t>
            </a:r>
          </a:p>
        </p:txBody>
      </p:sp>
      <p:sp>
        <p:nvSpPr>
          <p:cNvPr id="46" name="!!agp7"/>
          <p:cNvSpPr txBox="1"/>
          <p:nvPr/>
        </p:nvSpPr>
        <p:spPr>
          <a:xfrm>
            <a:off x="9795967" y="537667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15  ›</a:t>
            </a:r>
          </a:p>
        </p:txBody>
      </p:sp>
      <p:sp>
        <p:nvSpPr>
          <p:cNvPr id="47" name="!!ag8" descr="Go to section 2.9 Information and Entropy">
            <a:hlinkClick action="ppaction://hlinksldjump" r:id="rId13"/>
          </p:cNvPr>
          <p:cNvSpPr/>
          <p:nvPr/>
        </p:nvSpPr>
        <p:spPr>
          <a:xfrm>
            <a:off x="658368" y="5756655"/>
            <a:ext cx="10874959" cy="424688"/>
          </a:xfrm>
          <a:prstGeom prst="roundRect">
            <a:avLst>
              <a:gd name="adj" fmla="val 12918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agb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756655"/>
            <a:ext cx="64008" cy="42468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!!agn8"/>
          <p:cNvSpPr txBox="1"/>
          <p:nvPr/>
        </p:nvSpPr>
        <p:spPr>
          <a:xfrm>
            <a:off x="932688" y="5847079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2.9</a:t>
            </a:r>
          </a:p>
        </p:txBody>
      </p:sp>
      <p:sp>
        <p:nvSpPr>
          <p:cNvPr id="50" name="!!agt8"/>
          <p:cNvSpPr txBox="1"/>
          <p:nvPr/>
        </p:nvSpPr>
        <p:spPr>
          <a:xfrm>
            <a:off x="1847088" y="5847079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Information and Entropy</a:t>
            </a:r>
          </a:p>
        </p:txBody>
      </p:sp>
      <p:sp>
        <p:nvSpPr>
          <p:cNvPr id="51" name="!!agp8"/>
          <p:cNvSpPr txBox="1"/>
          <p:nvPr/>
        </p:nvSpPr>
        <p:spPr>
          <a:xfrm>
            <a:off x="9795967" y="587451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16  ›</a:t>
            </a:r>
          </a:p>
        </p:txBody>
      </p:sp>
      <p:sp>
        <p:nvSpPr>
          <p:cNvPr id="5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7227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Four Kinds of Mathematics, Four Jobs</a:t>
            </a:r>
          </a:p>
        </p:txBody>
      </p:sp>
      <p:pic>
        <p:nvPicPr>
          <p:cNvPr id="3" name="!!kicker-icon" descr="tabl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5007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AT A GLANCE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§2.1  ·  Handout p. 11     </a:t>
            </a:r>
            <a:fld id="{9B572D85-E94E-425C-B3F8-21DD51B68DDF}" type="slidenum">
              <a:rPr lang="en-GB" sz="1000">
                <a:solidFill>
                  <a:srgbClr val="8795A1"/>
                </a:solidFill>
                <a:latin typeface="Segoe UI"/>
              </a:rPr>
              <a:t>6</a:t>
            </a:fld>
          </a:p>
        </p:txBody>
      </p:sp>
      <p:graphicFrame>
        <p:nvGraphicFramePr>
          <p:cNvPr id="7" name="!!table"/>
          <p:cNvGraphicFramePr>
            <a:graphicFrameLocks noGrp="1"/>
          </p:cNvGraphicFramePr>
          <p:nvPr/>
        </p:nvGraphicFramePr>
        <p:xfrm>
          <a:off x="658368" y="1737360"/>
          <a:ext cx="10874958" cy="33223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74991"/>
                <a:gridCol w="3914985"/>
                <a:gridCol w="4784982"/>
              </a:tblGrid>
              <a:tr h="405384"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Mathematics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Its job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Where it appears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Linear algebra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1">
                          <a:solidFill>
                            <a:srgbClr val="1C252B"/>
                          </a:solidFill>
                          <a:latin typeface="Segoe UI"/>
                        </a:rPr>
                        <a:t>Represent</a:t>
                      </a:r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 examples and models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Every model: an example is a vector, a dataset is a matrix, a linear model is a dot product (Chs 5, 6, 12, 13, 16)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Calculus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1">
                          <a:solidFill>
                            <a:srgbClr val="1C252B"/>
                          </a:solidFill>
                          <a:latin typeface="Segoe UI"/>
                        </a:rPr>
                        <a:t>Optimise</a:t>
                      </a:r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: find the weights that minimise a loss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Gradient descent in Chs 5, 6 and 13; backpropagation is the chain rule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Probability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1">
                          <a:solidFill>
                            <a:srgbClr val="1C252B"/>
                          </a:solidFill>
                          <a:latin typeface="Segoe UI"/>
                        </a:rPr>
                        <a:t>Reason under uncertainty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Naive Bayes (Ch 10), EM (Ch 17), HMMs (Ch 18), every stochastic environment in Part V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Information theory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1">
                          <a:solidFill>
                            <a:srgbClr val="1C252B"/>
                          </a:solidFill>
                          <a:latin typeface="Segoe UI"/>
                        </a:rPr>
                        <a:t>Measure surprise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Decision-tree splits (Ch 9) and the cross-entropy loss (Ch 6)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0673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Vectors and the Dot Product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2 OF 9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2.2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2.1   Four Kinds of Mathematics, Four Jobs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2.2   Vectors and the Dot Product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2.3   Matrices: A Whole Dataset at Once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2.4   Derivatives and Gradients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2.5   Gradient Descent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2.6   Probability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2.7   Expectation, Variance and the Gaussian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2.8   Maximum Likelihood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§2.2     </a:t>
            </a:r>
            <a:fld id="{CE6F0E23-9701-49D5-BF43-425C5E2B9ED5}" type="slidenum">
              <a:rPr lang="en-GB" sz="1000">
                <a:solidFill>
                  <a:srgbClr val="8795A1"/>
                </a:solidFill>
                <a:latin typeface="Segoe UI"/>
              </a:rPr>
              <a:t>7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64118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Vector, Dot Product and Norm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§2.2  ·  Handout p. 12     </a:t>
            </a:r>
            <a:fld id="{5B7EA44D-9A7C-4B27-94E1-656593741EB2}" type="slidenum">
              <a:rPr lang="en-GB" sz="1000">
                <a:solidFill>
                  <a:srgbClr val="8795A1"/>
                </a:solidFill>
                <a:latin typeface="Segoe UI"/>
              </a:rPr>
              <a:t>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99305"/>
          </a:xfrm>
          <a:prstGeom prst="roundRect">
            <a:avLst>
              <a:gd name="adj" fmla="val 2032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99305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4310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A </a:t>
            </a:r>
            <a:r>
              <a:rPr sz="2200" b="1" i="0">
                <a:solidFill>
                  <a:srgbClr val="1A5276"/>
                </a:solidFill>
                <a:latin typeface="Segoe UI"/>
              </a:rPr>
              <a:t>vector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200" b="1" i="1">
                <a:solidFill>
                  <a:srgbClr val="1C252B"/>
                </a:solidFill>
                <a:latin typeface="Cambria"/>
              </a:rPr>
              <a:t>x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2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, …,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200" b="0" i="1" baseline="-25000">
                <a:solidFill>
                  <a:srgbClr val="1C252B"/>
                </a:solidFill>
                <a:latin typeface="Cambria"/>
              </a:rPr>
              <a:t>d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is an ordered list of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numbers — in this course, usually the features of one example.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2899308"/>
            <a:ext cx="10161727" cy="74310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200" b="1" i="0">
                <a:solidFill>
                  <a:srgbClr val="1A5276"/>
                </a:solidFill>
                <a:latin typeface="Segoe UI"/>
              </a:rPr>
              <a:t>dot product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of two vectors of the same length multiplies them element by element and adds up:</a:t>
            </a:r>
          </a:p>
        </p:txBody>
      </p:sp>
      <p:pic>
        <p:nvPicPr>
          <p:cNvPr id="11" name="body-2" descr="\mathbf{w} \cdot \mathbf{x} = \mathbf{w}^{\top}\mathbf{x} = \sum_{j=1}^{d} w_j x_j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3750360"/>
            <a:ext cx="10161727" cy="1022207"/>
          </a:xfrm>
          <a:prstGeom prst="rect">
            <a:avLst/>
          </a:prstGeom>
        </p:spPr>
      </p:pic>
      <p:pic>
        <p:nvPicPr>
          <p:cNvPr id="12" name="body-3" descr="The norm (length) of a vector is ‖x‖ = √(x·x) = √(Σj xj2), and the Euclidean distance between two vectors is the norm of their difference, ‖x − z‖.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704" y="4926238"/>
            <a:ext cx="10161727" cy="999530"/>
          </a:xfrm>
          <a:prstGeom prst="rect">
            <a:avLst/>
          </a:prstGeom>
        </p:spPr>
      </p:pic>
      <p:sp>
        <p:nvSpPr>
          <p:cNvPr id="13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87564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One Task as a Vector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§2.2  ·  Handout p. 12     </a:t>
            </a:r>
            <a:fld id="{552CAED0-790E-40F3-A883-3661EED124F4}" type="slidenum">
              <a:rPr lang="en-GB" sz="1000">
                <a:solidFill>
                  <a:srgbClr val="8795A1"/>
                </a:solidFill>
                <a:latin typeface="Segoe UI"/>
              </a:rPr>
              <a:t>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93260"/>
          </a:xfrm>
          <a:prstGeom prst="roundRect">
            <a:avLst>
              <a:gd name="adj" fmla="val 2035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9326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9491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 task has requirement clarity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0.9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(the fraction of its acceptance criteria written down), test coverage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0.6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4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open dependencies: 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x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(0.9, 0.6, 4)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A model has weights 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(2, 3, 0.25)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bias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−3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3047822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Score: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·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x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+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(2)(0.9) + (3)(0.6) + (0.25)(4) − 3 = 1.8 + 1.8 + 1.0 − 3 = </a:t>
            </a:r>
            <a:r>
              <a:rPr sz="1900" b="1" i="0">
                <a:solidFill>
                  <a:srgbClr val="1C252B"/>
                </a:solidFill>
                <a:latin typeface="Cambria"/>
              </a:rPr>
              <a:t>1.6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42416" y="3481679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Distance to a second task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z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(0.5, 0.4, 1)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</a:t>
            </a:r>
          </a:p>
        </p:txBody>
      </p:sp>
      <p:pic>
        <p:nvPicPr>
          <p:cNvPr id="12" name="body-3" descr="\|\mathbf{x}-\mathbf{z}\| = \sqrt{0.4^2 + 0.2^2 + 3^2} = \sqrt{0.16 + 0.04 + 9} = \sqrt{9.2} \approx \mathbf{3.03}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3915537"/>
            <a:ext cx="10234879" cy="402336"/>
          </a:xfrm>
          <a:prstGeom prst="rect">
            <a:avLst/>
          </a:prstGeom>
        </p:spPr>
      </p:pic>
      <p:sp>
        <p:nvSpPr>
          <p:cNvPr id="13" name="body-4"/>
          <p:cNvSpPr txBox="1"/>
          <p:nvPr/>
        </p:nvSpPr>
        <p:spPr>
          <a:xfrm>
            <a:off x="1042416" y="4450588"/>
            <a:ext cx="10234879" cy="1551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Look at where the distance came from.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Of the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9.2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under the root,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dependencies. Clarity and coverage — arguably the more important differences — contribute almost nothing, simply because they are measured on a scale of 0 to 1 and dependencies are not. Any method built on distance (Chapter 11, Chapter 15) needs the features put on a common scale first (Chapter 3).</a:t>
            </a:r>
          </a:p>
        </p:txBody>
      </p:sp>
      <p:sp>
        <p:nvSpPr>
          <p:cNvPr id="14" name="body-4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4468876"/>
            <a:ext cx="54864" cy="148742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11010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Cosine Similarity: Direction Without Length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§2.2  ·  Handout p. 12     </a:t>
            </a:r>
            <a:fld id="{4F111EB2-79EC-496B-989C-85E884F91BB7}" type="slidenum">
              <a:rPr lang="en-GB" sz="1000">
                <a:solidFill>
                  <a:srgbClr val="8795A1"/>
                </a:solidFill>
                <a:latin typeface="Segoe UI"/>
              </a:rPr>
              <a:t>10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646913"/>
          </a:xfrm>
          <a:prstGeom prst="roundRect">
            <a:avLst>
              <a:gd name="adj" fmla="val 3454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646913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body-0" descr="Sometimes length is a nuisance. Two tickets reporting the same fault, one ten times longer, have word-count vectors pointing the same way but of very different lengths. Cosine similarity compares directions only: cosθ = (x·z)/‖x‖ ‖z‖, which is 1 for vectors pointing the same way, 0 for perpendicular ones and −1 for opposite ones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048255"/>
            <a:ext cx="10161727" cy="2025121"/>
          </a:xfrm>
          <a:prstGeom prst="rect">
            <a:avLst/>
          </a:prstGeom>
        </p:spPr>
      </p:pic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34455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Matrices: A Whole Dataset at Once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3 OF 9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2.3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2.1   Four Kinds of Mathematics, Four Jobs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2.2   Vectors and the Dot Product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2.3   Matrices: A Whole Dataset at Once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2.4   Derivatives and Gradients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2.5   Gradient Descent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2.6   Probability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2.7   Expectation, Variance and the Gaussian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2.8   Maximum Likelihood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§2.3     </a:t>
            </a:r>
            <a:fld id="{5D281911-934D-455E-B1E2-EC4DAEA31D10}" type="slidenum">
              <a:rPr lang="en-GB" sz="1000">
                <a:solidFill>
                  <a:srgbClr val="8795A1"/>
                </a:solidFill>
                <a:latin typeface="Segoe UI"/>
              </a:rPr>
              <a:t>11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57901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Data Matrix and Matrix–Vector Product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§2.3  ·  Handout p. 12     </a:t>
            </a:r>
            <a:fld id="{6451F1BC-A308-433A-A2FC-68D370BBF1E1}" type="slidenum">
              <a:rPr lang="en-GB" sz="1000">
                <a:solidFill>
                  <a:srgbClr val="8795A1"/>
                </a:solidFill>
                <a:latin typeface="Segoe UI"/>
              </a:rPr>
              <a:t>12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715414"/>
          </a:xfrm>
          <a:prstGeom prst="roundRect">
            <a:avLst>
              <a:gd name="adj" fmla="val 5330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715414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Stack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examples as the rows of a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matrix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with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rows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columns. Then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1" i="1">
                <a:solidFill>
                  <a:srgbClr val="1C252B"/>
                </a:solidFill>
                <a:latin typeface="Cambria"/>
              </a:rPr>
              <a:t>w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a vector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numbers: row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i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of the result is the dot product of example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i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with </a:t>
            </a:r>
            <a:r>
              <a:rPr sz="2300" b="1" i="1">
                <a:solidFill>
                  <a:srgbClr val="1C252B"/>
                </a:solidFill>
                <a:latin typeface="Cambria"/>
              </a:rPr>
              <a:t>w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transpose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swaps rows and columns.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81346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A matrix–vector product scores every example in one operation</a:t>
            </a:r>
          </a:p>
        </p:txBody>
      </p:sp>
      <p:sp>
        <p:nvSpPr>
          <p:cNvPr id="3" name="!!kicker"/>
          <p:cNvSpPr txBox="1"/>
          <p:nvPr/>
        </p:nvSpPr>
        <p:spPr>
          <a:xfrm>
            <a:off x="658368" y="402336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FIGURE 2.1</a:t>
            </a:r>
          </a:p>
        </p:txBody>
      </p:sp>
      <p:sp>
        <p:nvSpPr>
          <p:cNvPr id="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§2.3  ·  Handout p. 12     </a:t>
            </a:r>
            <a:fld id="{BF516226-FE94-4D07-8B79-B0D29DE0806F}" type="slidenum">
              <a:rPr lang="en-GB" sz="1000">
                <a:solidFill>
                  <a:srgbClr val="8795A1"/>
                </a:solidFill>
                <a:latin typeface="Segoe UI"/>
              </a:rPr>
              <a:t>13</a:t>
            </a:fld>
          </a:p>
        </p:txBody>
      </p:sp>
      <p:pic>
        <p:nvPicPr>
          <p:cNvPr id="6" name="!!figure" descr="Figure 2.1. A matrix–vector product scores every example in one operation. Each row of X is one example; each entry of ŷ is that row’s dot product with the weights.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2077777"/>
            <a:ext cx="10874959" cy="2064703"/>
          </a:xfrm>
          <a:prstGeom prst="rect">
            <a:avLst/>
          </a:prstGeom>
        </p:spPr>
      </p:pic>
      <p:sp>
        <p:nvSpPr>
          <p:cNvPr id="7" name="!!take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930188"/>
            <a:ext cx="54864" cy="306019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ake"/>
          <p:cNvSpPr txBox="1"/>
          <p:nvPr/>
        </p:nvSpPr>
        <p:spPr>
          <a:xfrm>
            <a:off x="877824" y="5911900"/>
            <a:ext cx="10600639" cy="4888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E4C57"/>
                </a:solidFill>
                <a:latin typeface="Segoe UI"/>
              </a:rPr>
              <a:t>Each row of X is one example; each entry of ŷ is that row’s dot product with the weights.</a:t>
            </a:r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04792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Derivative, Partial Derivative, Gradient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§2.4  ·  Handout p. 13     </a:t>
            </a:r>
            <a:fld id="{6AC35E0A-4269-4E37-90D8-95899CD339B6}" type="slidenum">
              <a:rPr lang="en-GB" sz="1000">
                <a:solidFill>
                  <a:srgbClr val="8795A1"/>
                </a:solidFill>
                <a:latin typeface="Segoe UI"/>
              </a:rPr>
              <a:t>14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169074"/>
          </a:xfrm>
          <a:prstGeom prst="roundRect">
            <a:avLst>
              <a:gd name="adj" fmla="val 2193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169074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body-0" descr="The derivative dL/dw of a function L(w) is its slope: how much L changes per unit increase in w. For a function of several weights, the partial derivative (∂ L)/(∂ wj) is the slope in the direction of wj alone, holding the others fixed. The gradient collects them into a vector: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048255"/>
            <a:ext cx="10161727" cy="2060051"/>
          </a:xfrm>
          <a:prstGeom prst="rect">
            <a:avLst/>
          </a:prstGeom>
        </p:spPr>
      </p:pic>
      <p:pic>
        <p:nvPicPr>
          <p:cNvPr id="10" name="body-1" descr="\nabla L = \left(\frac{\partial L}{\partial w_1}, \dots, \frac{\partial L}{\partial w_d}\right)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704" y="4268962"/>
            <a:ext cx="10161727" cy="801380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5230997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gradient points in the direction in which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increases fastest.</a:t>
            </a:r>
          </a:p>
        </p:txBody>
      </p:sp>
      <p:sp>
        <p:nvSpPr>
          <p:cNvPr id="1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28237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Derivatives and Gradients</a:t>
            </a:r>
          </a:p>
        </p:txBody>
      </p:sp>
      <p:pic>
        <p:nvPicPr>
          <p:cNvPr id="3" name="!!kicker-icon" descr="list-ul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6883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IN BRIEF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§2.4  ·  Handout p. 13     </a:t>
            </a:r>
            <a:fld id="{796A9886-5A0F-4D4C-9F70-36C7AC3C4545}" type="slidenum">
              <a:rPr lang="en-GB" sz="1000">
                <a:solidFill>
                  <a:srgbClr val="8795A1"/>
                </a:solidFill>
                <a:latin typeface="Segoe UI"/>
              </a:rPr>
              <a:t>15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920227"/>
          </a:xfrm>
          <a:prstGeom prst="roundRect">
            <a:avLst>
              <a:gd name="adj" fmla="val 3131"/>
            </a:avLst>
          </a:prstGeom>
          <a:solidFill>
            <a:srgbClr val="F2F6F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920227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body-0" descr="You need only four rules, and Appendix B lists them: the derivative of wk is k wk−1; of a constant is 0; of a sum is the sum of the derivatives; and the chain rule: if L = f(g(w)) then dL/dw = f′(g(w))· g′(w). For example, L(w) = (w−3)2 has outer function u2 and inner function u = w − 3, so dL/dw = 2(w−3)· 1 = 2(w−3). The chain rule is the whole of backpropagation (Chapter 13)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048255"/>
            <a:ext cx="10161727" cy="2298435"/>
          </a:xfrm>
          <a:prstGeom prst="rect">
            <a:avLst/>
          </a:prstGeom>
        </p:spPr>
      </p:pic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51683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Gradient Descent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5 OF 9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2.5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2.1   Four Kinds of Mathematics, Four Jobs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2.2   Vectors and the Dot Product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2.3   Matrices: A Whole Dataset at Once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2.4   Derivatives and Gradients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2.5   Gradient Descent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2.6   Probability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2.7   Expectation, Variance and the Gaussian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2.8   Maximum Likelihood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§2.5     </a:t>
            </a:r>
            <a:fld id="{42BEBFFF-B92A-4F92-B208-CCD088CFF73E}" type="slidenum">
              <a:rPr lang="en-GB" sz="1000">
                <a:solidFill>
                  <a:srgbClr val="8795A1"/>
                </a:solidFill>
                <a:latin typeface="Segoe UI"/>
              </a:rPr>
              <a:t>16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75129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Gradient Descent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§2.5  ·  Handout p. 13     </a:t>
            </a:r>
            <a:fld id="{27250A7D-3097-41DB-BC8C-B74E4144ECFC}" type="slidenum">
              <a:rPr lang="en-GB" sz="1000">
                <a:solidFill>
                  <a:srgbClr val="8795A1"/>
                </a:solidFill>
                <a:latin typeface="Segoe UI"/>
              </a:rPr>
              <a:t>17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429550"/>
          </a:xfrm>
          <a:prstGeom prst="roundRect">
            <a:avLst>
              <a:gd name="adj" fmla="val 3763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42955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Start from any weights. Repeatedly take a small step against the gradient:</a:t>
            </a:r>
          </a:p>
        </p:txBody>
      </p:sp>
      <p:pic>
        <p:nvPicPr>
          <p:cNvPr id="10" name="body-1" descr="\mathbf{w} \leftarrow \mathbf{w} - \alpha\, \nabla L(\mathbf{w}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573451"/>
            <a:ext cx="10161727" cy="392826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3126933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learning rate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α &gt; 0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sets the step size. Stop when the loss stops decreasing.</a:t>
            </a:r>
          </a:p>
        </p:txBody>
      </p:sp>
      <p:sp>
        <p:nvSpPr>
          <p:cNvPr id="1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98574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Gradient descent on L(w)=(w−3)2 from w=0</a:t>
            </a:r>
          </a:p>
        </p:txBody>
      </p:sp>
      <p:sp>
        <p:nvSpPr>
          <p:cNvPr id="3" name="!!kicker"/>
          <p:cNvSpPr txBox="1"/>
          <p:nvPr/>
        </p:nvSpPr>
        <p:spPr>
          <a:xfrm>
            <a:off x="658368" y="402336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FIGURE 2.2</a:t>
            </a:r>
          </a:p>
        </p:txBody>
      </p:sp>
      <p:sp>
        <p:nvSpPr>
          <p:cNvPr id="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§2.5  ·  Handout p. 13     </a:t>
            </a:r>
            <a:fld id="{407760C0-418B-4BA5-ACE2-3B80BDC6CA78}" type="slidenum">
              <a:rPr lang="en-GB" sz="1000">
                <a:solidFill>
                  <a:srgbClr val="8795A1"/>
                </a:solidFill>
                <a:latin typeface="Segoe UI"/>
              </a:rPr>
              <a:t>18</a:t>
            </a:fld>
          </a:p>
        </p:txBody>
      </p:sp>
      <p:pic>
        <p:nvPicPr>
          <p:cNvPr id="6" name="!!figure" descr="Figure 2.2. Gradient descent on L(w)=(w−3)2 from w=0. With a small learning rate each step closes a fixed fraction of the gap; with one that is too large, each step jumps past the minimum by more than the last, and the weights diverge.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05052" y="1737360"/>
            <a:ext cx="9581590" cy="3740505"/>
          </a:xfrm>
          <a:prstGeom prst="rect">
            <a:avLst/>
          </a:prstGeom>
        </p:spPr>
      </p:pic>
      <p:sp>
        <p:nvSpPr>
          <p:cNvPr id="7" name="!!take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660745"/>
            <a:ext cx="54864" cy="575462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ake"/>
          <p:cNvSpPr txBox="1"/>
          <p:nvPr/>
        </p:nvSpPr>
        <p:spPr>
          <a:xfrm>
            <a:off x="877824" y="5642457"/>
            <a:ext cx="10600639" cy="758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E4C57"/>
                </a:solidFill>
                <a:latin typeface="Segoe UI"/>
              </a:rPr>
              <a:t>With a small learning rate each step closes a fixed fraction of the gap; with one that is too large, each step jumps past the minimum by more than the last, and the weights diverge.</a:t>
            </a:r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22020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Four Steps of Gradient Descent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§2.5  ·  Handout p. 13     </a:t>
            </a:r>
            <a:fld id="{F38C8565-4FF1-4FEE-B398-8DB4793792A3}" type="slidenum">
              <a:rPr lang="en-GB" sz="1000">
                <a:solidFill>
                  <a:srgbClr val="8795A1"/>
                </a:solidFill>
                <a:latin typeface="Segoe UI"/>
              </a:rPr>
              <a:t>19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87672"/>
          </a:xfrm>
          <a:prstGeom prst="roundRect">
            <a:avLst>
              <a:gd name="adj" fmla="val 2037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87672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Minimise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 = 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−3)</a:t>
            </a:r>
            <a:r>
              <a:rPr sz="19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starting from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with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α = 0.1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gradient is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′(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 = 2(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−3)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graphicFrame>
        <p:nvGraphicFramePr>
          <p:cNvPr id="10" name="body-1"/>
          <p:cNvGraphicFramePr>
            <a:graphicFrameLocks noGrp="1"/>
          </p:cNvGraphicFramePr>
          <p:nvPr/>
        </p:nvGraphicFramePr>
        <p:xfrm>
          <a:off x="1042416" y="2445537"/>
          <a:ext cx="5507774" cy="19507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693472"/>
                <a:gridCol w="747869"/>
                <a:gridCol w="1663354"/>
                <a:gridCol w="2403079"/>
              </a:tblGrid>
              <a:tr h="390144"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5276"/>
                          </a:solidFill>
                          <a:latin typeface="Segoe UI"/>
                        </a:rPr>
                        <a:t>Step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w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L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′(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w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) = 2(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w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−3)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w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 − 0.1 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L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′(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w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)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−6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0 + 0.6 = 0.6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−4.8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0.6 + 0.48 = 1.08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−3.84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1.08 + 0.384 = 1.464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3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1.464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−3.072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C252B"/>
                          </a:solidFill>
                          <a:latin typeface="Cambria"/>
                        </a:rPr>
                        <a:t>1.464 + 0.3072 = 1.7712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1" name="body-2"/>
          <p:cNvSpPr txBox="1"/>
          <p:nvPr/>
        </p:nvSpPr>
        <p:spPr>
          <a:xfrm>
            <a:off x="1042416" y="4528972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The pattern.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The gap to the minimum goes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3 → 2.4 → 1.92 → 1.536 → 1.2288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every step multiplies it by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1 − 2α = 0.8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So</a:t>
            </a:r>
          </a:p>
        </p:txBody>
      </p:sp>
      <p:sp>
        <p:nvSpPr>
          <p:cNvPr id="12" name="body-2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4547260"/>
            <a:ext cx="54864" cy="583996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body-3"/>
          <p:cNvSpPr txBox="1"/>
          <p:nvPr/>
        </p:nvSpPr>
        <p:spPr>
          <a:xfrm>
            <a:off x="1042416" y="5263972"/>
            <a:ext cx="10234879" cy="732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α = 0.1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the gap shrinks by 20% a step — steady.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α = 0.5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the factor is 0, so one step lands exactly on 3.</a:t>
            </a:r>
          </a:p>
        </p:txBody>
      </p:sp>
      <p:sp>
        <p:nvSpPr>
          <p:cNvPr id="27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465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Four Steps of Gradient Descent (continued)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§2.5  ·  Handout p. 13     </a:t>
            </a:r>
            <a:fld id="{7BAE2A62-9FC8-4D47-837F-3BE418F64C5F}" type="slidenum">
              <a:rPr lang="en-GB" sz="1000">
                <a:solidFill>
                  <a:srgbClr val="8795A1"/>
                </a:solidFill>
                <a:latin typeface="Segoe UI"/>
              </a:rPr>
              <a:t>20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885924"/>
          </a:xfrm>
          <a:prstGeom prst="roundRect">
            <a:avLst>
              <a:gd name="adj" fmla="val 4848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88592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α = 1.1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the factor is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−1.2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the weight flips to the far side and lands further away each time: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0 → 6.6 → −1.32 → 8.18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It diverges (Figure 2.2, right).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2746679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Real losses are not this simple, and the right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α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found by trying several (Chapter 7), but the three behaviours — slow, just right, divergent — are exactly the ones you will see.</a:t>
            </a:r>
          </a:p>
        </p:txBody>
      </p:sp>
      <p:sp>
        <p:nvSpPr>
          <p:cNvPr id="1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68911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Probability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6 OF 9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2.6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2.1   Four Kinds of Mathematics, Four Jobs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2.2   Vectors and the Dot Product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2.3   Matrices: A Whole Dataset at Once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2.4   Derivatives and Gradients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2.5   Gradient Descent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2.6   Probability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2.7   Expectation, Variance and the Gaussian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2.8   Maximum Likelihood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§2.6     </a:t>
            </a:r>
            <a:fld id="{9B07265F-BDBE-45A2-BEE6-9CDB306D5862}" type="slidenum">
              <a:rPr lang="en-GB" sz="1000">
                <a:solidFill>
                  <a:srgbClr val="8795A1"/>
                </a:solidFill>
                <a:latin typeface="Segoe UI"/>
              </a:rPr>
              <a:t>21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92356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Conditional Probability and Bayes’ Theorem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§2.6  ·  Handout p. 14     </a:t>
            </a:r>
            <a:fld id="{7729146A-00D2-40CE-9C81-1F8445C2C465}" type="slidenum">
              <a:rPr lang="en-GB" sz="1000">
                <a:solidFill>
                  <a:srgbClr val="8795A1"/>
                </a:solidFill>
                <a:latin typeface="Segoe UI"/>
              </a:rPr>
              <a:t>22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451514"/>
          </a:xfrm>
          <a:prstGeom prst="roundRect">
            <a:avLst>
              <a:gd name="adj" fmla="val 2649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451514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body-0" descr="The conditional probability of A given B is P(A ∣ B) = (P(A and B))/P(B). Reversing the condition gives Bayes’ theorem: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048255"/>
            <a:ext cx="10161727" cy="1070945"/>
          </a:xfrm>
          <a:prstGeom prst="rect">
            <a:avLst/>
          </a:prstGeom>
        </p:spPr>
      </p:pic>
      <p:pic>
        <p:nvPicPr>
          <p:cNvPr id="10" name="body-1" descr="P(A \mid B) = \frac{P(B \mid A)\, P(A)}{P(B)}, \qquad P(B) = P(B\mid A)P(A) + P(B \mid \text{not }A)\,P(\text{not }A)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704" y="3279856"/>
            <a:ext cx="10161727" cy="708385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4148896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prior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likelihood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posterior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Two events are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independent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and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 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15802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A Blocked Release You Should Not Panic About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§2.6  ·  Handout p. 14     </a:t>
            </a:r>
            <a:fld id="{C504636B-0472-4A64-AF9A-B9C026C2E40D}" type="slidenum">
              <a:rPr lang="en-GB" sz="1000">
                <a:solidFill>
                  <a:srgbClr val="8795A1"/>
                </a:solidFill>
                <a:latin typeface="Segoe UI"/>
              </a:rPr>
              <a:t>23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561067"/>
          </a:xfrm>
          <a:prstGeom prst="roundRect">
            <a:avLst>
              <a:gd name="adj" fmla="val 2004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561067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9966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An automated release check catches 99% of builds that would break production, and wrongly blocks 1% of good builds. One build in a thousand is broken. The check blocks a build. What is the probability that it really is broken?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3102355"/>
            <a:ext cx="10234879" cy="3627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Let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= broken build,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= blocked.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 = 0.001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 = 0.99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not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 = 0.01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pic>
        <p:nvPicPr>
          <p:cNvPr id="11" name="body-2" descr="P(B) = (0.99)(0.001) + (0.01)(0.999) = 0.00099 + 0.00999 = 0.01098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3559047"/>
            <a:ext cx="10234879" cy="341619"/>
          </a:xfrm>
          <a:prstGeom prst="rect">
            <a:avLst/>
          </a:prstGeom>
        </p:spPr>
      </p:pic>
      <p:pic>
        <p:nvPicPr>
          <p:cNvPr id="12" name="body-3" descr="P(A \mid B) = \frac{0.00099}{0.01098} \approx \mathbf{0.090}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2416" y="4040367"/>
            <a:ext cx="10234879" cy="576072"/>
          </a:xfrm>
          <a:prstGeom prst="rect">
            <a:avLst/>
          </a:prstGeom>
        </p:spPr>
      </p:pic>
      <p:sp>
        <p:nvSpPr>
          <p:cNvPr id="13" name="body-4"/>
          <p:cNvSpPr txBox="1"/>
          <p:nvPr/>
        </p:nvSpPr>
        <p:spPr>
          <a:xfrm>
            <a:off x="1042416" y="4756139"/>
            <a:ext cx="10234879" cy="13136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D6608"/>
                </a:solidFill>
                <a:latin typeface="Segoe UI"/>
              </a:rPr>
              <a:t>Only 9% of blocked builds are broken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from a check that is “99% accurate”. There are so many more good builds that their 1% of false blocks outnumbers the real failures ten to one. This is the 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base-rate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effect, and it is why Chapter 8 insists on precision rather than accuracy. Naive Bayes (Chapter 10) is this calculation, done for every class.</a:t>
            </a:r>
          </a:p>
        </p:txBody>
      </p:sp>
      <p:sp>
        <p:nvSpPr>
          <p:cNvPr id="14" name="body-4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4774427"/>
            <a:ext cx="54864" cy="124968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39248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Expectation, Variance and the Gaussian</a:t>
            </a:r>
          </a:p>
        </p:txBody>
      </p:sp>
      <p:pic>
        <p:nvPicPr>
          <p:cNvPr id="3" name="!!kicker-icon" descr="quote-left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5007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KEY IDEA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§2.7  ·  Handout p. 15     </a:t>
            </a:r>
            <a:fld id="{BC5DF581-5796-42EB-A9A7-FB75CF49C876}" type="slidenum">
              <a:rPr lang="en-GB" sz="1000">
                <a:solidFill>
                  <a:srgbClr val="8795A1"/>
                </a:solidFill>
                <a:latin typeface="Segoe UI"/>
              </a:rPr>
              <a:t>24</a:t>
            </a:fld>
          </a:p>
        </p:txBody>
      </p:sp>
      <p:sp>
        <p:nvSpPr>
          <p:cNvPr id="7" name="!!s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810512"/>
            <a:ext cx="73152" cy="433581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body-0" descr="The expectation (mean) of a random variable is its probability-weighted average, E[X] = Σx x P(x); from a sample it is estimated by the sample mean x̄. The variance is the expected squared distance from the mean, Var(X) = E[(X − E[X])2], and its square root is the standard deviation σ. For the values 2, 4, 4, 4, 5, 5, 7, 9 the mean is 5, the squared deviations sum to 32, the variance is 32/8 = 4 and σ = 2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5" y="1792224"/>
            <a:ext cx="10417759" cy="1739737"/>
          </a:xfrm>
          <a:prstGeom prst="rect">
            <a:avLst/>
          </a:prstGeom>
        </p:spPr>
      </p:pic>
      <p:sp>
        <p:nvSpPr>
          <p:cNvPr id="9" name="body-1"/>
          <p:cNvSpPr txBox="1"/>
          <p:nvPr/>
        </p:nvSpPr>
        <p:spPr>
          <a:xfrm>
            <a:off x="1042415" y="3685631"/>
            <a:ext cx="1041775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200" b="1" i="0">
                <a:solidFill>
                  <a:srgbClr val="1A5276"/>
                </a:solidFill>
                <a:latin typeface="Segoe UI"/>
              </a:rPr>
              <a:t>Gaussian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(normal) distribution with mean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μ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and variance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σ</a:t>
            </a:r>
            <a:r>
              <a:rPr sz="22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has density</a:t>
            </a:r>
          </a:p>
        </p:txBody>
      </p:sp>
      <p:pic>
        <p:nvPicPr>
          <p:cNvPr id="10" name="body-2" descr="p(x) = \frac{1}{\sqrt{2\pi\sigma^2}} \exp\!\left(-\frac{(x-\mu)^2}{2\sigma^2}\right)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2415" y="4187992"/>
            <a:ext cx="10417759" cy="776874"/>
          </a:xfrm>
          <a:prstGeom prst="rect">
            <a:avLst/>
          </a:prstGeom>
        </p:spPr>
      </p:pic>
      <p:sp>
        <p:nvSpPr>
          <p:cNvPr id="11" name="body-3"/>
          <p:cNvSpPr txBox="1"/>
          <p:nvPr/>
        </p:nvSpPr>
        <p:spPr>
          <a:xfrm>
            <a:off x="1042415" y="5118536"/>
            <a:ext cx="10417759" cy="10917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It appears in Gaussian naive Bayes (Chapter 10) and Gaussian mixtures (Chapter 17), and whenever a model assumes that its errors are small, symmetric and unsurprising.</a:t>
            </a:r>
          </a:p>
        </p:txBody>
      </p:sp>
      <p:sp>
        <p:nvSpPr>
          <p:cNvPr id="1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62693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Maximum Likelihood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8 OF 9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2.8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2.1   Four Kinds of Mathematics, Four Jobs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2.2   Vectors and the Dot Product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2.3   Matrices: A Whole Dataset at Once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2.4   Derivatives and Gradients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2.5   Gradient Descent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2.6   Probability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2.7   Expectation, Variance and the Gaussian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2.8   Maximum Likelihood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§2.8     </a:t>
            </a:r>
            <a:fld id="{D1057EBE-ECE6-4558-9ACD-86C1A3D8C772}" type="slidenum">
              <a:rPr lang="en-GB" sz="1000">
                <a:solidFill>
                  <a:srgbClr val="8795A1"/>
                </a:solidFill>
                <a:latin typeface="Segoe UI"/>
              </a:rPr>
              <a:t>25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86139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Likelihood and Maximum Likelihood Estimation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§2.8  ·  Handout p. 15     </a:t>
            </a:r>
            <a:fld id="{651DDC94-F0E6-4F40-9142-7B9887F62DE2}" type="slidenum">
              <a:rPr lang="en-GB" sz="1000">
                <a:solidFill>
                  <a:srgbClr val="8795A1"/>
                </a:solidFill>
                <a:latin typeface="Segoe UI"/>
              </a:rPr>
              <a:t>26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444496"/>
          </a:xfrm>
          <a:prstGeom prst="roundRect">
            <a:avLst>
              <a:gd name="adj" fmla="val 3740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444496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8684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For data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parameters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likelihood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(θ)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∣ θ)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probability of the data under those parameters, read as a function of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maximum likelihood estimate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θ̂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ML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that maximises it. In practice one maximises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log-likelihood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log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(θ)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instead: the logarithm turns products into sums and has the same maximum.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09584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likelihood of seven delivered sprints in ten, as a function of p</a:t>
            </a:r>
          </a:p>
        </p:txBody>
      </p:sp>
      <p:sp>
        <p:nvSpPr>
          <p:cNvPr id="3" name="!!kicker"/>
          <p:cNvSpPr txBox="1"/>
          <p:nvPr/>
        </p:nvSpPr>
        <p:spPr>
          <a:xfrm>
            <a:off x="658368" y="402336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FIGURE 2.3</a:t>
            </a:r>
          </a:p>
        </p:txBody>
      </p:sp>
      <p:sp>
        <p:nvSpPr>
          <p:cNvPr id="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§2.8  ·  Handout p. 15     </a:t>
            </a:r>
            <a:fld id="{6BAF1504-8BA3-4284-B5C2-142C67480BCB}" type="slidenum">
              <a:rPr lang="en-GB" sz="1000">
                <a:solidFill>
                  <a:srgbClr val="8795A1"/>
                </a:solidFill>
                <a:latin typeface="Segoe UI"/>
              </a:rPr>
              <a:t>27</a:t>
            </a:fld>
          </a:p>
        </p:txBody>
      </p:sp>
      <p:pic>
        <p:nvPicPr>
          <p:cNvPr id="6" name="!!figure" descr="Figure 2.3. The likelihood of seven delivered sprints in ten, as a function of p. It is largest at p=0.7 — the observed proportion, which is what maximum likelihood gives for any such count.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3339" y="1737360"/>
            <a:ext cx="8365016" cy="4009948"/>
          </a:xfrm>
          <a:prstGeom prst="rect">
            <a:avLst/>
          </a:prstGeom>
        </p:spPr>
      </p:pic>
      <p:sp>
        <p:nvSpPr>
          <p:cNvPr id="7" name="!!take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930188"/>
            <a:ext cx="54864" cy="306019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ake"/>
          <p:cNvSpPr txBox="1"/>
          <p:nvPr/>
        </p:nvSpPr>
        <p:spPr>
          <a:xfrm>
            <a:off x="877824" y="5911900"/>
            <a:ext cx="10600639" cy="4888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E4C57"/>
                </a:solidFill>
                <a:latin typeface="Segoe UI"/>
              </a:rPr>
              <a:t>It is largest at p=0.7 — the observed proportion, which is what maximum likelihood gives for any such count.</a:t>
            </a:r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33030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How Often Does the Team Deliver?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§2.8  ·  Handout p. 15     </a:t>
            </a:r>
            <a:fld id="{AD02F010-7E9C-42AC-BE3C-AAE7376DD06D}" type="slidenum">
              <a:rPr lang="en-GB" sz="1000">
                <a:solidFill>
                  <a:srgbClr val="8795A1"/>
                </a:solidFill>
                <a:latin typeface="Segoe UI"/>
              </a:rPr>
              <a:t>28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174540"/>
          </a:xfrm>
          <a:prstGeom prst="roundRect">
            <a:avLst>
              <a:gd name="adj" fmla="val 2190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17454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13770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A team delivered everything it committed to in 7 of its last 10 sprints. Let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be the probability that a sprint delivers, and treat sprints as independent. The likelihood of that record is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 baseline="30000">
                <a:solidFill>
                  <a:srgbClr val="1C252B"/>
                </a:solidFill>
                <a:latin typeface="Cambria"/>
              </a:rPr>
              <a:t>7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(1−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and the log-likelihood is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 = 7ln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+ 3ln(1−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 Set its derivative to zero:</a:t>
            </a:r>
          </a:p>
        </p:txBody>
      </p:sp>
      <p:pic>
        <p:nvPicPr>
          <p:cNvPr id="10" name="body-1" descr="\frac{d\ell}{dp} = \frac{7}{p} - \frac{3}{1-p} = 0 \;\Rightarrow\; 7(1-p) = 3p \;\Rightarrow\; \hat{p} = \mathbf{0.7}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3489731"/>
            <a:ext cx="10234879" cy="669798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42416" y="4306214"/>
            <a:ext cx="10234879" cy="13770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The answer is what intuition says — the observed fraction — but the method is general: the same argument gives the least-squares line of Chapter 5 and the cross-entropy loss of Chapter 6, and the EM algorithm of Chapter 17 is a way of doing it when some data is missing.</a:t>
            </a:r>
          </a:p>
        </p:txBody>
      </p:sp>
      <p:sp>
        <p:nvSpPr>
          <p:cNvPr id="1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56475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Maximum Likelihood Trusts Small Samples Too Much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§2.8  ·  Handout p. 15     </a:t>
            </a:r>
            <a:fld id="{16DA402C-F3EF-4AE5-9888-ABE2C9F07D66}" type="slidenum">
              <a:rPr lang="en-GB" sz="1000">
                <a:solidFill>
                  <a:srgbClr val="8795A1"/>
                </a:solidFill>
                <a:latin typeface="Segoe UI"/>
              </a:rPr>
              <a:t>29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079955"/>
          </a:xfrm>
          <a:prstGeom prst="roundRect">
            <a:avLst>
              <a:gd name="adj" fmla="val 4396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079955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One sprint, one success: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p̂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ML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1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a team that can never miss. A word that never appeared in the training tickets gets probability zero, and a single zero makes a whole product zero. Chapter 10 fixes this with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Laplace smoothing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: add one imaginary observation of every outcome.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79921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Information and Entropy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9 OF 9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2.9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2.1   Four Kinds of Mathematics, Four Jobs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2.2   Vectors and the Dot Product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2.3   Matrices: A Whole Dataset at Once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2.4   Derivatives and Gradients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2.5   Gradient Descent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2.6   Probability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2.7   Expectation, Variance and the Gaussian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2.8   Maximum Likelihood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§2.9     </a:t>
            </a:r>
            <a:fld id="{77C4BDC4-7679-4786-9E83-017BE61BF0E3}" type="slidenum">
              <a:rPr lang="en-GB" sz="1000">
                <a:solidFill>
                  <a:srgbClr val="8795A1"/>
                </a:solidFill>
                <a:latin typeface="Segoe UI"/>
              </a:rPr>
              <a:t>30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03367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Entropy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72CA8D1E-A821-4503-AFB0-CF1D77034F7A}" type="slidenum">
              <a:rPr lang="en-GB" sz="1000">
                <a:solidFill>
                  <a:srgbClr val="8795A1"/>
                </a:solidFill>
                <a:latin typeface="Segoe UI"/>
              </a:rPr>
              <a:t>31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059115"/>
          </a:xfrm>
          <a:prstGeom prst="roundRect">
            <a:avLst>
              <a:gd name="adj" fmla="val 2989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059115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entropy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of a distribution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, …,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measures its uncertainty, in bits:</a:t>
            </a:r>
          </a:p>
        </p:txBody>
      </p:sp>
      <p:pic>
        <p:nvPicPr>
          <p:cNvPr id="10" name="body-1" descr="H = -\sum_{i=1}^{k} p_i \log_2 p_i \qquad (\text{with } 0 \log_2 0 = 0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573451"/>
            <a:ext cx="10161727" cy="1022390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3756497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It is 0 when one outcome is certain, and largest —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log</a:t>
            </a:r>
            <a:r>
              <a:rPr sz="23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bits — when all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outcomes are equally likely.</a:t>
            </a:r>
          </a:p>
        </p:txBody>
      </p:sp>
      <p:sp>
        <p:nvSpPr>
          <p:cNvPr id="1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26812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Entropy of a Set of Examples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B66F1B9B-50E1-48C4-A631-8266AD73121B}" type="slidenum">
              <a:rPr lang="en-GB" sz="1000">
                <a:solidFill>
                  <a:srgbClr val="8795A1"/>
                </a:solidFill>
                <a:latin typeface="Segoe UI"/>
              </a:rPr>
              <a:t>32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626187"/>
          </a:xfrm>
          <a:prstGeom prst="roundRect">
            <a:avLst>
              <a:gd name="adj" fmla="val 3481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626187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37856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Fourteen past sprints, of which 9 met their sprint goal and 5 did not:</a:t>
            </a:r>
          </a:p>
        </p:txBody>
      </p:sp>
      <p:pic>
        <p:nvPicPr>
          <p:cNvPr id="10" name="body-1" descr="H = -\tfrac{9}{14}\log_2\tfrac{9}{14} - \tfrac{5}{14}\log_2\tfrac{5}{14} = 0.410 + 0.531 = \mathbf{0.940} \text{ bits}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2491206"/>
            <a:ext cx="10234879" cy="452810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42416" y="3090702"/>
            <a:ext cx="10234879" cy="10442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A 7–7 split would give exactly 1 bit; a 14–0 split, 0 bits. A decision tree (Chapter 9) chooses the question that lowers this number the most — that is, the question whose answer leaves the least uncertainty behind.</a:t>
            </a:r>
          </a:p>
        </p:txBody>
      </p:sp>
      <p:sp>
        <p:nvSpPr>
          <p:cNvPr id="1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50258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Common pitfalls</a:t>
            </a:r>
          </a:p>
        </p:txBody>
      </p:sp>
      <p:pic>
        <p:nvPicPr>
          <p:cNvPr id="3" name="!!kicker-icon" descr="exclamation-circ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2672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COMMON PITFALLS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FE468B62-9456-4698-ACD3-6D64844C85F3}" type="slidenum">
              <a:rPr lang="en-GB" sz="1000">
                <a:solidFill>
                  <a:srgbClr val="8795A1"/>
                </a:solidFill>
                <a:latin typeface="Segoe UI"/>
              </a:rPr>
              <a:t>33</a:t>
            </a:fld>
          </a:p>
        </p:txBody>
      </p:sp>
      <p:sp>
        <p:nvSpPr>
          <p:cNvPr id="7" name="!!p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px0"/>
          <p:cNvSpPr txBox="1"/>
          <p:nvPr/>
        </p:nvSpPr>
        <p:spPr>
          <a:xfrm>
            <a:off x="658368" y="177850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9" name="!!pt0"/>
          <p:cNvSpPr txBox="1"/>
          <p:nvPr/>
        </p:nvSpPr>
        <p:spPr>
          <a:xfrm>
            <a:off x="1261872" y="1737360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Forgetting the minus sign in gradient descent.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w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+ α∇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climbs the loss. The update subtracts.</a:t>
            </a:r>
          </a:p>
        </p:txBody>
      </p:sp>
      <p:sp>
        <p:nvSpPr>
          <p:cNvPr id="10" name="!!p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622499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x1"/>
          <p:cNvSpPr txBox="1"/>
          <p:nvPr/>
        </p:nvSpPr>
        <p:spPr>
          <a:xfrm>
            <a:off x="658368" y="264535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2" name="!!pt1"/>
          <p:cNvSpPr txBox="1"/>
          <p:nvPr/>
        </p:nvSpPr>
        <p:spPr>
          <a:xfrm>
            <a:off x="1261872" y="2604211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Reading a diverging loss as “needs more steps”.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If the loss grows, the learning rate is too large; more steps make it worse.</a:t>
            </a:r>
          </a:p>
        </p:txBody>
      </p:sp>
      <p:sp>
        <p:nvSpPr>
          <p:cNvPr id="13" name="!!p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489350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x2"/>
          <p:cNvSpPr txBox="1"/>
          <p:nvPr/>
        </p:nvSpPr>
        <p:spPr>
          <a:xfrm>
            <a:off x="658368" y="351221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5" name="!!pt2"/>
          <p:cNvSpPr txBox="1"/>
          <p:nvPr/>
        </p:nvSpPr>
        <p:spPr>
          <a:xfrm>
            <a:off x="1261872" y="3471062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Confusing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A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 ∣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B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 with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B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 ∣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A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“The check catches 99% of broken builds” is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blocked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broken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; the release manager wants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broken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blocked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which was 9%.</a:t>
            </a:r>
          </a:p>
        </p:txBody>
      </p:sp>
      <p:sp>
        <p:nvSpPr>
          <p:cNvPr id="16" name="!!p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356201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x3"/>
          <p:cNvSpPr txBox="1"/>
          <p:nvPr/>
        </p:nvSpPr>
        <p:spPr>
          <a:xfrm>
            <a:off x="658368" y="437906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8" name="!!pt3"/>
          <p:cNvSpPr txBox="1"/>
          <p:nvPr/>
        </p:nvSpPr>
        <p:spPr>
          <a:xfrm>
            <a:off x="1261872" y="4337913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Computing distances on unscaled features.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feature with the largest units decides the answer.</a:t>
            </a:r>
          </a:p>
        </p:txBody>
      </p:sp>
      <p:sp>
        <p:nvSpPr>
          <p:cNvPr id="19" name="!!p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23052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px4"/>
          <p:cNvSpPr txBox="1"/>
          <p:nvPr/>
        </p:nvSpPr>
        <p:spPr>
          <a:xfrm>
            <a:off x="658368" y="524591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21" name="!!pt4"/>
          <p:cNvSpPr txBox="1"/>
          <p:nvPr/>
        </p:nvSpPr>
        <p:spPr>
          <a:xfrm>
            <a:off x="1261872" y="5204764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Multiplying many small probabilities.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product underflows to zero on a computer; add log-probabilities instead.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73703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Try it yourself: The Chapter in NumPy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TRY IT YOURSELF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0F43F688-98F9-4AA1-AFD4-F612A0A0FC4D}" type="slidenum">
              <a:rPr lang="en-GB" sz="1000">
                <a:solidFill>
                  <a:srgbClr val="8795A1"/>
                </a:solidFill>
                <a:latin typeface="Segoe UI"/>
              </a:rPr>
              <a:t>34</a:t>
            </a:fld>
          </a:p>
        </p:txBody>
      </p:sp>
      <p:sp>
        <p:nvSpPr>
          <p:cNvPr id="7" name="!!labsteps-h"/>
          <p:cNvSpPr txBox="1"/>
          <p:nvPr/>
        </p:nvSpPr>
        <p:spPr>
          <a:xfrm>
            <a:off x="658368" y="17373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0E6655"/>
                </a:solidFill>
                <a:latin typeface="Segoe UI"/>
              </a:rPr>
              <a:t>WHAT YOU WILL DO</a:t>
            </a:r>
          </a:p>
        </p:txBody>
      </p:sp>
      <p:sp>
        <p:nvSpPr>
          <p:cNvPr id="8" name="!!labsteps"/>
          <p:cNvSpPr txBox="1"/>
          <p:nvPr/>
        </p:nvSpPr>
        <p:spPr>
          <a:xfrm>
            <a:off x="658368" y="2121408"/>
            <a:ext cx="10874959" cy="18287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1.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Vectors and the dot product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2.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A whole dataset at once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3.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Gradient descent on L(w) = (w - 3)^2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4.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Bayes by simulation: how many blocked builds are broken?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5.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Entropy</a:t>
            </a:r>
          </a:p>
        </p:txBody>
      </p:sp>
      <p:sp>
        <p:nvSpPr>
          <p:cNvPr id="29" name="!!lfTHI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lfbTHI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!!lflTHIS"/>
          <p:cNvSpPr txBox="1"/>
          <p:nvPr/>
        </p:nvSpPr>
        <p:spPr>
          <a:xfrm>
            <a:off x="932688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THIS WEEK'S LAB</a:t>
            </a:r>
          </a:p>
        </p:txBody>
      </p:sp>
      <p:sp>
        <p:nvSpPr>
          <p:cNvPr id="32" name="!!lfvTHIS"/>
          <p:cNvSpPr txBox="1"/>
          <p:nvPr/>
        </p:nvSpPr>
        <p:spPr>
          <a:xfrm>
            <a:off x="932688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Week 1: A rule against a learned model; the chapter in NumPy</a:t>
            </a:r>
          </a:p>
        </p:txBody>
      </p:sp>
      <p:sp>
        <p:nvSpPr>
          <p:cNvPr id="33" name="!!lfWHA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4794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lfbWHA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4794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!!lflWHAT"/>
          <p:cNvSpPr txBox="1"/>
          <p:nvPr/>
        </p:nvSpPr>
        <p:spPr>
          <a:xfrm>
            <a:off x="4649114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WHAT YOU WILL RUN</a:t>
            </a:r>
          </a:p>
        </p:txBody>
      </p:sp>
      <p:sp>
        <p:nvSpPr>
          <p:cNvPr id="36" name="!!lfvWHAT"/>
          <p:cNvSpPr txBox="1"/>
          <p:nvPr/>
        </p:nvSpPr>
        <p:spPr>
          <a:xfrm>
            <a:off x="4649114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1 listing, 38 lines of Python</a:t>
            </a:r>
          </a:p>
        </p:txBody>
      </p:sp>
      <p:sp>
        <p:nvSpPr>
          <p:cNvPr id="37" name="!!lfRUN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1220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lfbRUN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1220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lflRUNN"/>
          <p:cNvSpPr txBox="1"/>
          <p:nvPr/>
        </p:nvSpPr>
        <p:spPr>
          <a:xfrm>
            <a:off x="8365540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RUNNABLE COPY</a:t>
            </a:r>
          </a:p>
        </p:txBody>
      </p:sp>
      <p:sp>
        <p:nvSpPr>
          <p:cNvPr id="40" name="!!lfvRUNN"/>
          <p:cNvSpPr txBox="1"/>
          <p:nvPr/>
        </p:nvSpPr>
        <p:spPr>
          <a:xfrm>
            <a:off x="8365540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Consolas"/>
              </a:rPr>
              <a:t>code/ch02_chapter_numpy.py</a:t>
            </a:r>
          </a:p>
        </p:txBody>
      </p:sp>
      <p:sp>
        <p:nvSpPr>
          <p:cNvPr id="4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97149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The Chapter in NumPy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1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EAFE8643-207D-4CEE-8EE4-68F1D49A2C2B}" type="slidenum">
              <a:rPr lang="en-GB" sz="1000">
                <a:solidFill>
                  <a:srgbClr val="8795A1"/>
                </a:solidFill>
                <a:latin typeface="Segoe UI"/>
              </a:rPr>
              <a:t>35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Vectors and the dot product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2798063"/>
          </a:xfrm>
          <a:prstGeom prst="roundRect">
            <a:avLst>
              <a:gd name="adj" fmla="val 3267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code/ch02_chapter_numpy.py</a:t>
            </a:r>
          </a:p>
        </p:txBody>
      </p:sp>
      <p:sp>
        <p:nvSpPr>
          <p:cNvPr id="14" name="!!code-text" descr="import numpy as np # --- vectors and the dot product ----------------------------------------- x = np.array([0.9, 0.6, 4.0]) w = np.array([2.0, 3.0, 0.25]) print(&quot;score w.x + b :&quot;, round(w @ x - 3, 2)) # 1.6 z = np.array([0.5, 0.4, 1.0]) print(&quot;distance :&quot;, round(np.linalg.norm(x - z), 2)) # 3.03"/>
          <p:cNvSpPr txBox="1"/>
          <p:nvPr/>
        </p:nvSpPr>
        <p:spPr>
          <a:xfrm>
            <a:off x="1362456" y="2523744"/>
            <a:ext cx="9987991" cy="23042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5DADE2"/>
                </a:solidFill>
                <a:latin typeface="Consolas"/>
              </a:rPr>
              <a:t>import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6D7C4"/>
                </a:solidFill>
                <a:latin typeface="Consolas"/>
              </a:rPr>
              <a:t>numpy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as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6D7C4"/>
                </a:solidFill>
                <a:latin typeface="Consolas"/>
              </a:rPr>
              <a:t>np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1">
                <a:solidFill>
                  <a:srgbClr val="8795A1"/>
                </a:solidFill>
                <a:latin typeface="Consolas"/>
              </a:rPr>
              <a:t># --- vectors and the dot product -----------------------------------------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array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0.9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0.6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4.0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w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array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2.0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3.0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0.25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score w.x + b 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round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w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@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-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2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    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1.6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z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array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0.5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0.4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1.0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distance      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round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linalg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norm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-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z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2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3.03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23042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4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5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6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7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8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9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20594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The Chapter in NumPy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2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9C0874B8-C9B9-4387-BB5F-CFD2657523F4}" type="slidenum">
              <a:rPr lang="en-GB" sz="1000">
                <a:solidFill>
                  <a:srgbClr val="8795A1"/>
                </a:solidFill>
                <a:latin typeface="Segoe UI"/>
              </a:rPr>
              <a:t>36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A whole dataset at once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1426463"/>
          </a:xfrm>
          <a:prstGeom prst="roundRect">
            <a:avLst>
              <a:gd name="adj" fmla="val 6410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code/ch02_chapter_numpy.py</a:t>
            </a:r>
          </a:p>
        </p:txBody>
      </p:sp>
      <p:sp>
        <p:nvSpPr>
          <p:cNvPr id="14" name="!!code-text" descr="# --- a whole dataset at once --------------------------------------------- X = np.array([[0.9, 0.6, 4], [0.5, 0.4, 1], [0.7, 0.9, 6]]) print(&quot;X w + b :&quot;, X @ w - 3) # [1.6 -0.55 2.6]"/>
          <p:cNvSpPr txBox="1"/>
          <p:nvPr/>
        </p:nvSpPr>
        <p:spPr>
          <a:xfrm>
            <a:off x="1362456" y="2523744"/>
            <a:ext cx="9987991" cy="9326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1">
                <a:solidFill>
                  <a:srgbClr val="8795A1"/>
                </a:solidFill>
                <a:latin typeface="Consolas"/>
              </a:rPr>
              <a:t># --- a whole dataset at once ---------------------------------------------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array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0.9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0.6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4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0.5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0.4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1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0.7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0.9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6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X w + b       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@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w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-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              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[1.6 -0.55 2.6]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9326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11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12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13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4040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The Chapter in NumPy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3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C58657FD-7F6B-4446-903A-B61E631C66CE}" type="slidenum">
              <a:rPr lang="en-GB" sz="1000">
                <a:solidFill>
                  <a:srgbClr val="8795A1"/>
                </a:solidFill>
                <a:latin typeface="Segoe UI"/>
              </a:rPr>
              <a:t>37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Gradient descent on L(w) = (w - 3)^2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3072383"/>
          </a:xfrm>
          <a:prstGeom prst="roundRect">
            <a:avLst>
              <a:gd name="adj" fmla="val 2976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code/ch02_chapter_numpy.py</a:t>
            </a:r>
          </a:p>
        </p:txBody>
      </p:sp>
      <p:sp>
        <p:nvSpPr>
          <p:cNvPr id="14" name="!!code-text" descr="# --- gradient descent on L(w) = (w - 3)^2 -------------------------------- for alpha in (0.1, 0.5, 1.1): wt = 0.0 path = [wt] for step in range(4): grad = 2 * (wt - 3) wt = wt - alpha * grad path.append(round(wt, 3)) print(f&quot;alpha={alpha}: {path}&quot;)"/>
          <p:cNvSpPr txBox="1"/>
          <p:nvPr/>
        </p:nvSpPr>
        <p:spPr>
          <a:xfrm>
            <a:off x="1362456" y="2523744"/>
            <a:ext cx="9987991" cy="25786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1">
                <a:solidFill>
                  <a:srgbClr val="8795A1"/>
                </a:solidFill>
                <a:latin typeface="Consolas"/>
              </a:rPr>
              <a:t># --- gradient descent on L(w) = (w - 3)^2 --------------------------------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alpha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F7DC6F"/>
                </a:solidFill>
                <a:latin typeface="Consolas"/>
              </a:rPr>
              <a:t>0.1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0.5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1.1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wt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path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wt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step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range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F7DC6F"/>
                </a:solidFill>
                <a:latin typeface="Consolas"/>
              </a:rPr>
              <a:t>4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grad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2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*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wt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-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wt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wt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-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alpha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*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grad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path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append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C39BD3"/>
                </a:solidFill>
                <a:latin typeface="Consolas"/>
              </a:rPr>
              <a:t>round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wt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f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alpha=</a:t>
            </a:r>
            <a:r>
              <a:rPr sz="1800" i="0">
                <a:solidFill>
                  <a:srgbClr val="7DCEA0"/>
                </a:solidFill>
                <a:latin typeface="Consolas"/>
              </a:rPr>
              <a:t>{</a:t>
            </a:r>
            <a:r>
              <a:rPr sz="1800" i="0">
                <a:solidFill>
                  <a:srgbClr val="E8EDF2"/>
                </a:solidFill>
                <a:latin typeface="Consolas"/>
              </a:rPr>
              <a:t>alpha</a:t>
            </a:r>
            <a:r>
              <a:rPr sz="1800" i="0">
                <a:solidFill>
                  <a:srgbClr val="7DCEA0"/>
                </a:solidFill>
                <a:latin typeface="Consolas"/>
              </a:rPr>
              <a:t>}</a:t>
            </a:r>
            <a:r>
              <a:rPr sz="1800" i="0">
                <a:solidFill>
                  <a:srgbClr val="7DCEA0"/>
                </a:solidFill>
                <a:latin typeface="Consolas"/>
              </a:rPr>
              <a:t>: </a:t>
            </a:r>
            <a:r>
              <a:rPr sz="1800" i="0">
                <a:solidFill>
                  <a:srgbClr val="7DCEA0"/>
                </a:solidFill>
                <a:latin typeface="Consolas"/>
              </a:rPr>
              <a:t>{</a:t>
            </a:r>
            <a:r>
              <a:rPr sz="1800" i="0">
                <a:solidFill>
                  <a:srgbClr val="E8EDF2"/>
                </a:solidFill>
                <a:latin typeface="Consolas"/>
              </a:rPr>
              <a:t>path</a:t>
            </a:r>
            <a:r>
              <a:rPr sz="1800" i="0">
                <a:solidFill>
                  <a:srgbClr val="7DCEA0"/>
                </a:solidFill>
                <a:latin typeface="Consolas"/>
              </a:rPr>
              <a:t>}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25786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15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16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17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18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19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20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21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22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23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67486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The Chapter in NumPy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4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6AE52055-7C9F-413E-93E1-55DD572DF7FD}" type="slidenum">
              <a:rPr lang="en-GB" sz="1000">
                <a:solidFill>
                  <a:srgbClr val="8795A1"/>
                </a:solidFill>
                <a:latin typeface="Segoe UI"/>
              </a:rPr>
              <a:t>38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Bayes by simulation: how many blocked builds are broken?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2523744"/>
          </a:xfrm>
          <a:prstGeom prst="roundRect">
            <a:avLst>
              <a:gd name="adj" fmla="val 3623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code/ch02_chapter_numpy.py</a:t>
            </a:r>
          </a:p>
        </p:txBody>
      </p:sp>
      <p:sp>
        <p:nvSpPr>
          <p:cNvPr id="14" name="!!code-text" descr="# --- Bayes by simulation: how many blocked builds are broken? ------------ rng = np.random.default_rng(0) n = 1_000_000 broken = rng.random(n) &lt; 0.001 blocked = np.where(broken, rng.random(n) &lt; 0.99, rng.random(n) &lt; 0.01) print(&quot;P(broken | blocked), simulated:&quot;, round(broken[blocked].mean(), 3)) # about 0.09"/>
          <p:cNvSpPr txBox="1"/>
          <p:nvPr/>
        </p:nvSpPr>
        <p:spPr>
          <a:xfrm>
            <a:off x="1362456" y="2523744"/>
            <a:ext cx="9987991" cy="2029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1">
                <a:solidFill>
                  <a:srgbClr val="8795A1"/>
                </a:solidFill>
                <a:latin typeface="Consolas"/>
              </a:rPr>
              <a:t># --- Bayes by simulation: how many blocked builds are broken? 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rng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random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default_rng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F7DC6F"/>
                </a:solidFill>
                <a:latin typeface="Consolas"/>
              </a:rPr>
              <a:t>0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1_000_000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broken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rng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random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n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&lt;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0.001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blocked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where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broken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rng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random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n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&lt;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0.99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rng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random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n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&lt;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0.01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P(broken | blocked), simulated: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  </a:t>
            </a:r>
            <a:r>
              <a:rPr sz="1800" i="0">
                <a:solidFill>
                  <a:srgbClr val="C39BD3"/>
                </a:solidFill>
                <a:latin typeface="Consolas"/>
              </a:rPr>
              <a:t>round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broken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blocked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mean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              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about 0.09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2029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25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26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27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28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29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30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31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90931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The Chapter in NumPy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5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3B00F132-5A1F-43FA-BC84-E9A215ED3DD9}" type="slidenum">
              <a:rPr lang="en-GB" sz="1000">
                <a:solidFill>
                  <a:srgbClr val="8795A1"/>
                </a:solidFill>
                <a:latin typeface="Segoe UI"/>
              </a:rPr>
              <a:t>39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Entropy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2523744"/>
          </a:xfrm>
          <a:prstGeom prst="roundRect">
            <a:avLst>
              <a:gd name="adj" fmla="val 3623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code/ch02_chapter_numpy.py</a:t>
            </a:r>
          </a:p>
        </p:txBody>
      </p:sp>
      <p:sp>
        <p:nvSpPr>
          <p:cNvPr id="14" name="!!code-text" descr="# --- entropy ------------------------------------------------------------- def entropy(counts): p = np.array(counts) / np.sum(counts) p = p[p &gt; 0] return -(p * np.log2(p)).sum() print(&quot;H(9 yes, 5 no) :&quot;, round(entropy([9, 5]), 3)) # 0.94 print(&quot;H(7 yes, 7 no) :&quot;, round(entropy([7, 7]), 3)) # 1.0"/>
          <p:cNvSpPr txBox="1"/>
          <p:nvPr/>
        </p:nvSpPr>
        <p:spPr>
          <a:xfrm>
            <a:off x="1362456" y="2523744"/>
            <a:ext cx="9987991" cy="2029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1">
                <a:solidFill>
                  <a:srgbClr val="8795A1"/>
                </a:solidFill>
                <a:latin typeface="Consolas"/>
              </a:rPr>
              <a:t># --- entropy -------------------------------------------------------------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5DADE2"/>
                </a:solidFill>
                <a:latin typeface="Consolas"/>
              </a:rPr>
              <a:t>def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entropy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counts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array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counts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/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sum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counts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&gt;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0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return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-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*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np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log2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.</a:t>
            </a:r>
            <a:r>
              <a:rPr sz="1800" i="0">
                <a:solidFill>
                  <a:srgbClr val="E8EDF2"/>
                </a:solidFill>
                <a:latin typeface="Consolas"/>
              </a:rPr>
              <a:t>sum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H(9 yes, 5 no) 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round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entropy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9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5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0.94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H(7 yes, 7 no) 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round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entropy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F7DC6F"/>
                </a:solidFill>
                <a:latin typeface="Consolas"/>
              </a:rPr>
              <a:t>7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7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3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1.0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2029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33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34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35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36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37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38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39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77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the lab shows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TRY IT YOURSELF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§2.9  ·  Handout p. 16     </a:t>
            </a:r>
            <a:fld id="{CAC9B25C-7DD4-47B2-AF36-42B993CE388C}" type="slidenum">
              <a:rPr lang="en-GB" sz="1000">
                <a:solidFill>
                  <a:srgbClr val="8795A1"/>
                </a:solidFill>
                <a:latin typeface="Segoe UI"/>
              </a:rPr>
              <a:t>40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350873"/>
          </a:xfrm>
          <a:prstGeom prst="roundRect">
            <a:avLst>
              <a:gd name="adj" fmla="val 6768"/>
            </a:avLst>
          </a:prstGeom>
          <a:solidFill>
            <a:srgbClr val="EEF6F4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350873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Change </a:t>
            </a:r>
            <a:r>
              <a:rPr sz="2150" b="0" i="0">
                <a:solidFill>
                  <a:srgbClr val="1F4E79"/>
                </a:solidFill>
                <a:latin typeface="Consolas"/>
              </a:rPr>
              <a:t>0.001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in the simulation to </a:t>
            </a:r>
            <a:r>
              <a:rPr sz="2150" b="0" i="0">
                <a:solidFill>
                  <a:srgbClr val="1F4E79"/>
                </a:solidFill>
                <a:latin typeface="Consolas"/>
              </a:rPr>
              <a:t>0.05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a codebase where broken builds are common — and predict the new answer before you run it.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37822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Compute the Euclidean distance between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(1, 2)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 and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(4, 6)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1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18  ·  answers in Appendix D     </a:t>
            </a:r>
            <a:fld id="{B4935903-4DBA-48A8-A695-D57FDF6A227A}" type="slidenum">
              <a:rPr lang="en-GB" sz="1000">
                <a:solidFill>
                  <a:srgbClr val="D5DEE5"/>
                </a:solidFill>
                <a:latin typeface="Segoe UI"/>
              </a:rPr>
              <a:t>41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Compute the Euclidean distance between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(1, 2)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 and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(4, 6)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1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Cambria"/>
              </a:rPr>
              <a:t>√((4−1)</a:t>
            </a:r>
            <a:r>
              <a:rPr sz="22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+ (6−2)</a:t>
            </a:r>
            <a:r>
              <a:rPr sz="22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) = √(9 + 16) = 5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·  answers in Appendix D     </a:t>
            </a:r>
            <a:fld id="{574E2278-8E8E-458C-B6F3-424E9E287703}" type="slidenum">
              <a:rPr lang="en-GB" sz="1000">
                <a:solidFill>
                  <a:srgbClr val="8795A1"/>
                </a:solidFill>
                <a:latin typeface="Segoe UI"/>
              </a:rPr>
              <a:t>42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84713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Take one gradient descent step on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L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(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w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) = (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w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+1)</a:t>
            </a:r>
            <a:r>
              <a:rPr sz="3400" b="0" i="0" baseline="30000">
                <a:solidFill>
                  <a:srgbClr val="FFFFFF"/>
                </a:solidFill>
                <a:latin typeface="Cambria"/>
              </a:rPr>
              <a:t>2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 from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w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 = 2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 with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α = 0.25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. Is the new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w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 closer to the minimum?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2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18  ·  answers in Appendix D     </a:t>
            </a:r>
            <a:fld id="{1A29C361-4F39-41E7-8B18-64C6F0FE5ECD}" type="slidenum">
              <a:rPr lang="en-GB" sz="1000">
                <a:solidFill>
                  <a:srgbClr val="D5DEE5"/>
                </a:solidFill>
                <a:latin typeface="Segoe UI"/>
              </a:rPr>
              <a:t>43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747979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Take one gradient descent step on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L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(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w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) = (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w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+1)</a:t>
            </a:r>
            <a:r>
              <a:rPr sz="2400" b="0" i="0" baseline="30000">
                <a:solidFill>
                  <a:srgbClr val="1A5276"/>
                </a:solidFill>
                <a:latin typeface="Cambria"/>
              </a:rPr>
              <a:t>2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 from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w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 = 2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 with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α = 0.25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. Is the new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w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 closer to the minimum?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2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62963"/>
            <a:ext cx="64008" cy="697382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762963"/>
            <a:ext cx="10509199" cy="74310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′(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) = 2(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+ 1) = 6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at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2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so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← 2 − 0.25 × 6 = 0.5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The minimum is at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−1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: the gap fell from 3 to 1.5, so yes, closer.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·  answers in Appendix D     </a:t>
            </a:r>
            <a:fld id="{7ACC39C7-E11C-4D5D-921C-38A89C10896D}" type="slidenum">
              <a:rPr lang="en-GB" sz="1000">
                <a:solidFill>
                  <a:srgbClr val="8795A1"/>
                </a:solidFill>
                <a:latin typeface="Segoe UI"/>
              </a:rPr>
              <a:t>44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31604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Compute the entropy of the distribution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(0.5, 0.25, 0.25)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3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18  ·  answers in Appendix D     </a:t>
            </a:r>
            <a:fld id="{80710D88-5DA9-4910-81E0-3854A2C51AA4}" type="slidenum">
              <a:rPr lang="en-GB" sz="1000">
                <a:solidFill>
                  <a:srgbClr val="D5DEE5"/>
                </a:solidFill>
                <a:latin typeface="Segoe UI"/>
              </a:rPr>
              <a:t>45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Compute the entropy of the distribution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(0.5, 0.25, 0.25)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3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−(0.5log</a:t>
            </a:r>
            <a:r>
              <a:rPr sz="22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0.5 + 2 × 0.25log</a:t>
            </a:r>
            <a:r>
              <a:rPr sz="22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0.25) = 0.5 + 0.5 + 0.5 = 1.5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bits.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·  answers in Appendix D     </a:t>
            </a:r>
            <a:fld id="{70A39012-3451-4CFE-A180-8CEFAA92E1ED}" type="slidenum">
              <a:rPr lang="en-GB" sz="1000">
                <a:solidFill>
                  <a:srgbClr val="8795A1"/>
                </a:solidFill>
                <a:latin typeface="Segoe UI"/>
              </a:rPr>
              <a:t>46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78496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to take away</a:t>
            </a:r>
          </a:p>
        </p:txBody>
      </p:sp>
      <p:pic>
        <p:nvPicPr>
          <p:cNvPr id="3" name="!!kicker-icon" descr="clipboard-check-15425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5425E"/>
                </a:solidFill>
                <a:latin typeface="Segoe UI"/>
              </a:rPr>
              <a:t>CHAPTER SUMMARY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   </a:t>
            </a:r>
            <a:fld id="{EC284E1C-5F2C-4065-B358-188AF86F19E3}" type="slidenum">
              <a:rPr lang="en-GB" sz="1000">
                <a:solidFill>
                  <a:srgbClr val="8795A1"/>
                </a:solidFill>
                <a:latin typeface="Segoe UI"/>
              </a:rPr>
              <a:t>47</a:t>
            </a:fld>
          </a:p>
        </p:txBody>
      </p:sp>
      <p:sp>
        <p:nvSpPr>
          <p:cNvPr id="7" name="!!s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sbn0"/>
          <p:cNvSpPr txBox="1"/>
          <p:nvPr/>
        </p:nvSpPr>
        <p:spPr>
          <a:xfrm>
            <a:off x="658368" y="180136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!!st0"/>
          <p:cNvSpPr txBox="1"/>
          <p:nvPr/>
        </p:nvSpPr>
        <p:spPr>
          <a:xfrm>
            <a:off x="1298448" y="1737360"/>
            <a:ext cx="102348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An example is a vector, a dataset is a matrix, and a linear model is a dot product plus a bias;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scores every example at once.</a:t>
            </a:r>
          </a:p>
        </p:txBody>
      </p:sp>
      <p:sp>
        <p:nvSpPr>
          <p:cNvPr id="10" name="!!s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316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sbn1"/>
          <p:cNvSpPr txBox="1"/>
          <p:nvPr/>
        </p:nvSpPr>
        <p:spPr>
          <a:xfrm>
            <a:off x="658368" y="258653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!!st1"/>
          <p:cNvSpPr txBox="1"/>
          <p:nvPr/>
        </p:nvSpPr>
        <p:spPr>
          <a:xfrm>
            <a:off x="1298448" y="2522524"/>
            <a:ext cx="102348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Distances are dominated by the features with the largest units, so scale features before comparing examples.</a:t>
            </a:r>
          </a:p>
        </p:txBody>
      </p:sp>
      <p:sp>
        <p:nvSpPr>
          <p:cNvPr id="13" name="!!s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31683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sbn2"/>
          <p:cNvSpPr txBox="1"/>
          <p:nvPr/>
        </p:nvSpPr>
        <p:spPr>
          <a:xfrm>
            <a:off x="658368" y="3371697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5" name="!!st2"/>
          <p:cNvSpPr txBox="1"/>
          <p:nvPr/>
        </p:nvSpPr>
        <p:spPr>
          <a:xfrm>
            <a:off x="1298448" y="3307689"/>
            <a:ext cx="102348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The gradient points uphill; gradient descent steps against it. Too small a learning rate is slow, too large diverges.</a:t>
            </a:r>
          </a:p>
        </p:txBody>
      </p:sp>
      <p:sp>
        <p:nvSpPr>
          <p:cNvPr id="16" name="!!s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10199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sbn3"/>
          <p:cNvSpPr txBox="1"/>
          <p:nvPr/>
        </p:nvSpPr>
        <p:spPr>
          <a:xfrm>
            <a:off x="658368" y="415686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8" name="!!st3"/>
          <p:cNvSpPr txBox="1"/>
          <p:nvPr/>
        </p:nvSpPr>
        <p:spPr>
          <a:xfrm>
            <a:off x="1298448" y="4092854"/>
            <a:ext cx="102348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Bayes’ theorem reverses a conditional probability. When the prior is small, even an accurate test produces mostly false alarms.</a:t>
            </a:r>
          </a:p>
        </p:txBody>
      </p:sp>
      <p:sp>
        <p:nvSpPr>
          <p:cNvPr id="19" name="!!s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8871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sbn4"/>
          <p:cNvSpPr txBox="1"/>
          <p:nvPr/>
        </p:nvSpPr>
        <p:spPr>
          <a:xfrm>
            <a:off x="658368" y="4942027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1" name="!!st4"/>
          <p:cNvSpPr txBox="1"/>
          <p:nvPr/>
        </p:nvSpPr>
        <p:spPr>
          <a:xfrm>
            <a:off x="1298448" y="4878019"/>
            <a:ext cx="102348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Maximum likelihood chooses the parameters that make the data most probable; work with the log-likelihood.</a:t>
            </a:r>
          </a:p>
        </p:txBody>
      </p:sp>
      <p:sp>
        <p:nvSpPr>
          <p:cNvPr id="22" name="!!sb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67232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sbn5"/>
          <p:cNvSpPr txBox="1"/>
          <p:nvPr/>
        </p:nvSpPr>
        <p:spPr>
          <a:xfrm>
            <a:off x="658368" y="572719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4" name="!!st5"/>
          <p:cNvSpPr txBox="1"/>
          <p:nvPr/>
        </p:nvSpPr>
        <p:spPr>
          <a:xfrm>
            <a:off x="1298448" y="5663184"/>
            <a:ext cx="102348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Entropy measures uncertainty in bits: zero when the outcome is certain, largest when every outcome is equally likely.</a:t>
            </a:r>
          </a:p>
        </p:txBody>
      </p:sp>
      <p:sp>
        <p:nvSpPr>
          <p:cNvPr id="7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01941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63" dur="2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1 of 3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   </a:t>
            </a:r>
            <a:fld id="{86F53CE1-C54A-4B09-882F-2D9B5CE10280}" type="slidenum">
              <a:rPr lang="en-GB" sz="1000">
                <a:solidFill>
                  <a:srgbClr val="8795A1"/>
                </a:solidFill>
                <a:latin typeface="Segoe UI"/>
              </a:rPr>
              <a:t>48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4578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252B"/>
                </a:solidFill>
                <a:latin typeface="Segoe UI"/>
              </a:rPr>
              <a:t>The dot product of </a:t>
            </a:r>
            <a:r>
              <a:rPr sz="2600" b="0" i="0">
                <a:solidFill>
                  <a:srgbClr val="1C252B"/>
                </a:solidFill>
                <a:latin typeface="Cambria"/>
              </a:rPr>
              <a:t>(1, −1, 2)</a:t>
            </a:r>
            <a:r>
              <a:rPr sz="26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600" b="0" i="0">
                <a:solidFill>
                  <a:srgbClr val="1C252B"/>
                </a:solidFill>
                <a:latin typeface="Cambria"/>
              </a:rPr>
              <a:t>(3, 1, 1)</a:t>
            </a:r>
            <a:r>
              <a:rPr sz="2600" b="0" i="0">
                <a:solidFill>
                  <a:srgbClr val="1C252B"/>
                </a:solidFill>
                <a:latin typeface="Segoe UI"/>
              </a:rPr>
              <a:t> is: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2</a:t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4</a:t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6</a:t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0</a:t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25387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2 of 3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   </a:t>
            </a:r>
            <a:fld id="{6CF0E5AB-A01D-48B2-B296-0BBD5CFAAD01}" type="slidenum">
              <a:rPr lang="en-GB" sz="1000">
                <a:solidFill>
                  <a:srgbClr val="8795A1"/>
                </a:solidFill>
                <a:latin typeface="Segoe UI"/>
              </a:rPr>
              <a:t>49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8698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252B"/>
                </a:solidFill>
                <a:latin typeface="Segoe UI"/>
              </a:rPr>
              <a:t>If the loss increases after every gradient descent step, the most likely cause is: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92729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2016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328391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327781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too few steps</a:t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92729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2016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328391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327781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learning rate that is too large</a:t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11601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439033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47263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46653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too much data</a:t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411601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439033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47263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46653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learning rate that is too small</a:t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48832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3 of 3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   </a:t>
            </a:r>
            <a:fld id="{9D769C26-F803-4380-B0E5-A9ECDBE6857C}" type="slidenum">
              <a:rPr lang="en-GB" sz="1000">
                <a:solidFill>
                  <a:srgbClr val="8795A1"/>
                </a:solidFill>
                <a:latin typeface="Segoe UI"/>
              </a:rPr>
              <a:t>50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8698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252B"/>
                </a:solidFill>
                <a:latin typeface="Segoe UI"/>
              </a:rPr>
              <a:t>A new ticket is equally likely to belong to any of six categories. The entropy of its category is: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92729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2016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328391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327781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1 bit</a:t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92729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2016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328391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327781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Cambria"/>
              </a:rPr>
              <a:t>log</a:t>
            </a:r>
            <a:r>
              <a:rPr sz="20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6 ≈ 2.58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bits</a:t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11601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439033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47263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46653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6 bits</a:t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411601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439033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47263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46653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0 bits</a:t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72278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For your notebook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QUESTIONS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18     </a:t>
            </a:r>
            <a:fld id="{CD535A8F-4FB1-46B7-B042-A41BB92BE814}" type="slidenum">
              <a:rPr lang="en-GB" sz="1000">
                <a:solidFill>
                  <a:srgbClr val="8795A1"/>
                </a:solidFill>
                <a:latin typeface="Segoe UI"/>
              </a:rPr>
              <a:t>51</a:t>
            </a:fld>
          </a:p>
        </p:txBody>
      </p:sp>
      <p:sp>
        <p:nvSpPr>
          <p:cNvPr id="7" name="!!r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rtt0"/>
          <p:cNvSpPr txBox="1"/>
          <p:nvPr/>
        </p:nvSpPr>
        <p:spPr>
          <a:xfrm>
            <a:off x="658368" y="179679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9" name="!!rq0"/>
          <p:cNvSpPr txBox="1"/>
          <p:nvPr/>
        </p:nvSpPr>
        <p:spPr>
          <a:xfrm>
            <a:off x="1892807" y="1737360"/>
            <a:ext cx="95490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Explain in words what the gradient of a loss function tells you, and why gradient descent subtracts it.</a:t>
            </a:r>
          </a:p>
        </p:txBody>
      </p:sp>
      <p:sp>
        <p:nvSpPr>
          <p:cNvPr id="10" name="!!r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7738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tt1"/>
          <p:cNvSpPr txBox="1"/>
          <p:nvPr/>
        </p:nvSpPr>
        <p:spPr>
          <a:xfrm>
            <a:off x="658368" y="2618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12" name="!!rq1"/>
          <p:cNvSpPr txBox="1"/>
          <p:nvPr/>
        </p:nvSpPr>
        <p:spPr>
          <a:xfrm>
            <a:off x="1892807" y="2559100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Why do we maximise the log-likelihood rather than the likelihood?</a:t>
            </a:r>
          </a:p>
        </p:txBody>
      </p:sp>
      <p:sp>
        <p:nvSpPr>
          <p:cNvPr id="13" name="!!r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97987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rtt2"/>
          <p:cNvSpPr txBox="1"/>
          <p:nvPr/>
        </p:nvSpPr>
        <p:spPr>
          <a:xfrm>
            <a:off x="658368" y="313913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15" name="!!rq2"/>
          <p:cNvSpPr txBox="1"/>
          <p:nvPr/>
        </p:nvSpPr>
        <p:spPr>
          <a:xfrm>
            <a:off x="1892807" y="3079699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Give an example, not from this chapter, where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P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∣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are very different.</a:t>
            </a:r>
          </a:p>
        </p:txBody>
      </p:sp>
      <p:sp>
        <p:nvSpPr>
          <p:cNvPr id="16" name="!!r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18585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tt3"/>
          <p:cNvSpPr txBox="1"/>
          <p:nvPr/>
        </p:nvSpPr>
        <p:spPr>
          <a:xfrm>
            <a:off x="658368" y="365973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18" name="!!rq3"/>
          <p:cNvSpPr txBox="1"/>
          <p:nvPr/>
        </p:nvSpPr>
        <p:spPr>
          <a:xfrm>
            <a:off x="1892807" y="3600297"/>
            <a:ext cx="9549079" cy="12045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 code-review bot flags 2% of clean pull requests and 95% of those that contain a critical defect; 0.2% of pull requests contain one. Compute the probability that a flagged pull request contains a critical defect, and state what this means for the reviewers.</a:t>
            </a:r>
          </a:p>
        </p:txBody>
      </p:sp>
      <p:sp>
        <p:nvSpPr>
          <p:cNvPr id="19" name="!!r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042611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rtt4"/>
          <p:cNvSpPr txBox="1"/>
          <p:nvPr/>
        </p:nvSpPr>
        <p:spPr>
          <a:xfrm>
            <a:off x="658368" y="508375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21" name="!!rq4"/>
          <p:cNvSpPr txBox="1"/>
          <p:nvPr/>
        </p:nvSpPr>
        <p:spPr>
          <a:xfrm>
            <a:off x="1892807" y="5024323"/>
            <a:ext cx="9549079" cy="90342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Perform three gradient descent steps on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 = 2(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−5)</a:t>
            </a:r>
            <a:r>
              <a:rPr sz="19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from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w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with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α = 0.1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Find the factor by which the gap to the minimum shrinks each step, and the largest learning rate for which descent still converges.</a:t>
            </a:r>
          </a:p>
        </p:txBody>
      </p:sp>
      <p:sp>
        <p:nvSpPr>
          <p:cNvPr id="2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95723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2C6081"/>
                </a:solidFill>
                <a:latin typeface="Segoe UI Black"/>
              </a:rPr>
              <a:t>02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1243584"/>
            <a:ext cx="8229600" cy="82296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000" b="0">
                <a:solidFill>
                  <a:srgbClr val="FFFFFF"/>
                </a:solidFill>
                <a:latin typeface="Segoe UI Semibold"/>
              </a:rPr>
              <a:t>End of Chapter 2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02412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c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cll0"/>
          <p:cNvSpPr txBox="1"/>
          <p:nvPr/>
        </p:nvSpPr>
        <p:spPr>
          <a:xfrm>
            <a:off x="932688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NEXT</a:t>
            </a:r>
          </a:p>
        </p:txBody>
      </p:sp>
      <p:sp>
        <p:nvSpPr>
          <p:cNvPr id="7" name="!!clv0"/>
          <p:cNvSpPr txBox="1"/>
          <p:nvPr/>
        </p:nvSpPr>
        <p:spPr>
          <a:xfrm>
            <a:off x="932688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Chapter 3 — The Machine Learning Workflow and Toolkit</a:t>
            </a:r>
          </a:p>
        </p:txBody>
      </p:sp>
      <p:sp>
        <p:nvSpPr>
          <p:cNvPr id="8" name="!!c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ll1"/>
          <p:cNvSpPr txBox="1"/>
          <p:nvPr/>
        </p:nvSpPr>
        <p:spPr>
          <a:xfrm>
            <a:off x="6507327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READ</a:t>
            </a:r>
          </a:p>
        </p:txBody>
      </p:sp>
      <p:sp>
        <p:nvSpPr>
          <p:cNvPr id="10" name="!!clv1"/>
          <p:cNvSpPr txBox="1"/>
          <p:nvPr/>
        </p:nvSpPr>
        <p:spPr>
          <a:xfrm>
            <a:off x="6507327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Handout Chapter 2, pages 11–18</a:t>
            </a:r>
          </a:p>
        </p:txBody>
      </p:sp>
      <p:sp>
        <p:nvSpPr>
          <p:cNvPr id="11" name="!!c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ll2"/>
          <p:cNvSpPr txBox="1"/>
          <p:nvPr/>
        </p:nvSpPr>
        <p:spPr>
          <a:xfrm>
            <a:off x="932688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THIS WEEK'S LAB</a:t>
            </a:r>
          </a:p>
        </p:txBody>
      </p:sp>
      <p:sp>
        <p:nvSpPr>
          <p:cNvPr id="13" name="!!clv2"/>
          <p:cNvSpPr txBox="1"/>
          <p:nvPr/>
        </p:nvSpPr>
        <p:spPr>
          <a:xfrm>
            <a:off x="932688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A rule against a learned model; the chapter in NumPy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2  ·  Mathematics for Machine Learning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fld id="{7DD8F332-2B08-4902-BFAC-ED74515E68E0}" type="slidenum">
              <a:rPr lang="en-GB" sz="1000">
                <a:solidFill>
                  <a:srgbClr val="D5DEE5"/>
                </a:solidFill>
                <a:latin typeface="Segoe UI"/>
              </a:rPr>
              <a:t>52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chine Learning Fall 2026">
  <a:themeElements>
    <a:clrScheme name="Machine Learning Fall 2026">
      <a:dk1>
        <a:srgbClr val="1C252B"/>
      </a:dk1>
      <a:lt1>
        <a:srgbClr val="FFFFFF"/>
      </a:lt1>
      <a:dk2>
        <a:srgbClr val="1A5276"/>
      </a:dk2>
      <a:lt2>
        <a:srgbClr val="EBF5FB"/>
      </a:lt2>
      <a:accent1>
        <a:srgbClr val="1A5276"/>
      </a:accent1>
      <a:accent2>
        <a:srgbClr val="2E86C1"/>
      </a:accent2>
      <a:accent3>
        <a:srgbClr val="E74C3C"/>
      </a:accent3>
      <a:accent4>
        <a:srgbClr val="27AE60"/>
      </a:accent4>
      <a:accent5>
        <a:srgbClr val="8E44AD"/>
      </a:accent5>
      <a:accent6>
        <a:srgbClr val="B7950B"/>
      </a:accent6>
      <a:hlink>
        <a:srgbClr val="2E86C1"/>
      </a:hlink>
      <a:folHlink>
        <a:srgbClr val="8E44AD"/>
      </a:folHlink>
    </a:clrScheme>
    <a:fontScheme name="Machine Learning Fall 2026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Mathematics for Machine Learning</dc:title>
  <dc:subject>Machine Learning — From Hypotheses to Decisions · BSIT · Fall 2026</dc:subject>
  <dc:creator>Dr. Mustafa Hameed</dc:creator>
  <cp:keywords>machine learning; lecture slides; BSIT; HEC; Fall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Lecture slides</cp:category>
</cp:coreProperties>
</file>