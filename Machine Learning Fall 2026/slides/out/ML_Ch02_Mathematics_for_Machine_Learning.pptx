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00.svg" ContentType="image/svg+xml"/>
  <Override PartName="/ppt/media/image101.svg" ContentType="image/svg+xml"/>
  <Override PartName="/ppt/media/image102.svg" ContentType="image/svg+xml"/>
  <Override PartName="/ppt/media/image103.svg" ContentType="image/svg+xml"/>
  <Override PartName="/ppt/media/image104.svg" ContentType="image/svg+xml"/>
  <Override PartName="/ppt/media/image106.svg" ContentType="image/svg+xml"/>
  <Override PartName="/ppt/media/image107.svg" ContentType="image/svg+xml"/>
  <Override PartName="/ppt/media/image108.svg" ContentType="image/svg+xml"/>
  <Override PartName="/ppt/media/image109.svg" ContentType="image/svg+xml"/>
  <Override PartName="/ppt/media/image110.svg" ContentType="image/svg+xml"/>
  <Override PartName="/ppt/media/image112.svg" ContentType="image/svg+xml"/>
  <Override PartName="/ppt/media/image113.svg" ContentType="image/svg+xml"/>
  <Override PartName="/ppt/media/image114.svg" ContentType="image/svg+xml"/>
  <Override PartName="/ppt/media/image115.svg" ContentType="image/svg+xml"/>
  <Override PartName="/ppt/media/image116.svg" ContentType="image/svg+xml"/>
  <Override PartName="/ppt/media/image117.svg" ContentType="image/svg+xml"/>
  <Override PartName="/ppt/media/image118.svg" ContentType="image/svg+xml"/>
  <Override PartName="/ppt/media/image12.svg" ContentType="image/svg+xml"/>
  <Override PartName="/ppt/media/image120.svg" ContentType="image/svg+xml"/>
  <Override PartName="/ppt/media/image122.svg" ContentType="image/svg+xml"/>
  <Override PartName="/ppt/media/image123.svg" ContentType="image/svg+xml"/>
  <Override PartName="/ppt/media/image124.svg" ContentType="image/svg+xml"/>
  <Override PartName="/ppt/media/image125.svg" ContentType="image/svg+xml"/>
  <Override PartName="/ppt/media/image126.svg" ContentType="image/svg+xml"/>
  <Override PartName="/ppt/media/image128.svg" ContentType="image/svg+xml"/>
  <Override PartName="/ppt/media/image130.svg" ContentType="image/svg+xml"/>
  <Override PartName="/ppt/media/image131.svg" ContentType="image/svg+xml"/>
  <Override PartName="/ppt/media/image132.svg" ContentType="image/svg+xml"/>
  <Override PartName="/ppt/media/image133.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7.svg" ContentType="image/svg+xml"/>
  <Override PartName="/ppt/media/image29.svg" ContentType="image/svg+xml"/>
  <Override PartName="/ppt/media/image30.svg" ContentType="image/svg+xml"/>
  <Override PartName="/ppt/media/image32.svg" ContentType="image/svg+xml"/>
  <Override PartName="/ppt/media/image34.svg" ContentType="image/svg+xml"/>
  <Override PartName="/ppt/media/image35.svg" ContentType="image/svg+xml"/>
  <Override PartName="/ppt/media/image37.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7.svg" ContentType="image/svg+xml"/>
  <Override PartName="/ppt/media/image49.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3.svg" ContentType="image/svg+xml"/>
  <Override PartName="/ppt/media/image64.svg" ContentType="image/svg+xml"/>
  <Override PartName="/ppt/media/image66.svg" ContentType="image/svg+xml"/>
  <Override PartName="/ppt/media/image68.svg" ContentType="image/svg+xml"/>
  <Override PartName="/ppt/media/image69.svg" ContentType="image/svg+xml"/>
  <Override PartName="/ppt/media/image71.svg" ContentType="image/svg+xml"/>
  <Override PartName="/ppt/media/image72.svg" ContentType="image/svg+xml"/>
  <Override PartName="/ppt/media/image74.svg" ContentType="image/svg+xml"/>
  <Override PartName="/ppt/media/image76.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media/image89.svg" ContentType="image/svg+xml"/>
  <Override PartName="/ppt/media/image90.svg" ContentType="image/svg+xml"/>
  <Override PartName="/ppt/media/image91.svg" ContentType="image/svg+xml"/>
  <Override PartName="/ppt/media/image92.svg" ContentType="image/svg+xml"/>
  <Override PartName="/ppt/media/image94.svg" ContentType="image/svg+xml"/>
  <Override PartName="/ppt/media/image95.svg" ContentType="image/svg+xml"/>
  <Override PartName="/ppt/media/image96.svg" ContentType="image/svg+xml"/>
  <Override PartName="/ppt/media/image97.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FDD55DC-80CB-4B49-B0EA-0DC600F2D1A7}">
          <p14:sldIdLst>
            <p14:sldId id="256"/>
            <p14:sldId id="257"/>
            <p14:sldId id="258"/>
            <p14:sldId id="259"/>
            <p14:sldId id="260"/>
          </p14:sldIdLst>
        </p14:section>
        <p14:section name="2.1 Four Kinds of Mathematics, Four Jobs" id="{EC118C81-8E91-449A-AA01-3E53CED19C12}">
          <p14:sldIdLst>
            <p14:sldId id="261"/>
          </p14:sldIdLst>
        </p14:section>
        <p14:section name="2.2 Vectors and the Dot Product" id="{98D9A8AB-7DB7-4FBB-B869-EE2C3D5B16CB}">
          <p14:sldIdLst>
            <p14:sldId id="262"/>
            <p14:sldId id="263"/>
            <p14:sldId id="264"/>
            <p14:sldId id="265"/>
          </p14:sldIdLst>
        </p14:section>
        <p14:section name="2.3 Matrices: A Whole Dataset at Once" id="{85565359-21EE-4319-A943-AE7F079E7E44}">
          <p14:sldIdLst>
            <p14:sldId id="266"/>
            <p14:sldId id="267"/>
            <p14:sldId id="268"/>
          </p14:sldIdLst>
        </p14:section>
        <p14:section name="2.4 Derivatives and Gradients" id="{1774D4C2-5561-4E59-9154-A5CDA3FEB434}">
          <p14:sldIdLst>
            <p14:sldId id="269"/>
            <p14:sldId id="270"/>
          </p14:sldIdLst>
        </p14:section>
        <p14:section name="2.5 Gradient Descent" id="{9550F9A4-2FD6-403B-BD5F-547286A6A110}">
          <p14:sldIdLst>
            <p14:sldId id="271"/>
            <p14:sldId id="272"/>
            <p14:sldId id="273"/>
            <p14:sldId id="274"/>
            <p14:sldId id="275"/>
          </p14:sldIdLst>
        </p14:section>
        <p14:section name="2.6 Probability" id="{B1B2A9EB-5DB0-48C1-864B-A99C15D33517}">
          <p14:sldIdLst>
            <p14:sldId id="276"/>
            <p14:sldId id="277"/>
            <p14:sldId id="278"/>
          </p14:sldIdLst>
        </p14:section>
        <p14:section name="2.7 Expectation, Variance and the Gaussian" id="{03EDC7FC-0D75-4B77-999C-B40CA2B4B4E7}">
          <p14:sldIdLst>
            <p14:sldId id="279"/>
          </p14:sldIdLst>
        </p14:section>
        <p14:section name="2.8 Maximum Likelihood" id="{2922B0E7-0314-4FC3-B3B1-0FEFBCCA1A66}">
          <p14:sldIdLst>
            <p14:sldId id="280"/>
            <p14:sldId id="281"/>
            <p14:sldId id="282"/>
            <p14:sldId id="283"/>
            <p14:sldId id="284"/>
          </p14:sldIdLst>
        </p14:section>
        <p14:section name="2.9 Information and Entropy" id="{B412F0A7-1DE9-48A3-B0E0-44C41F4371D0}">
          <p14:sldIdLst>
            <p14:sldId id="285"/>
            <p14:sldId id="286"/>
            <p14:sldId id="287"/>
          </p14:sldIdLst>
        </p14:section>
        <p14:section name="Pitfalls" id="{EBC638FC-3BA6-4DE1-A99A-F6C09B50E93C}">
          <p14:sldIdLst>
            <p14:sldId id="288"/>
          </p14:sldIdLst>
        </p14:section>
        <p14:section name="Four lenses" id="{DFBB35C4-3546-4323-92A4-5F55B30CD482}">
          <p14:sldIdLst>
            <p14:sldId id="289"/>
            <p14:sldId id="290"/>
            <p14:sldId id="291"/>
            <p14:sldId id="292"/>
            <p14:sldId id="293"/>
          </p14:sldIdLst>
        </p14:section>
        <p14:section name="Lab" id="{A446FB72-F851-46B1-8B03-82A21423CEFC}">
          <p14:sldIdLst>
            <p14:sldId id="294"/>
            <p14:sldId id="295"/>
            <p14:sldId id="296"/>
            <p14:sldId id="297"/>
            <p14:sldId id="298"/>
            <p14:sldId id="299"/>
            <p14:sldId id="300"/>
          </p14:sldIdLst>
        </p14:section>
        <p14:section name="Checkpoint" id="{B623AF24-97EA-4A47-96D2-F2F9FDD439ED}">
          <p14:sldIdLst>
            <p14:sldId id="301"/>
            <p14:sldId id="302"/>
            <p14:sldId id="303"/>
            <p14:sldId id="304"/>
            <p14:sldId id="305"/>
            <p14:sldId id="306"/>
          </p14:sldIdLst>
        </p14:section>
        <p14:section name="Wrap-up" id="{2B09F657-2A9B-4EA4-9416-779D94FB48F8}">
          <p14:sldIdLst>
            <p14:sldId id="307"/>
            <p14:sldId id="308"/>
            <p14:sldId id="309"/>
            <p14:sldId id="310"/>
            <p14:sldId id="311"/>
            <p14:sldId id="31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Mathematics for Machine Learning. Part 1 — Foundations. Week 1: What machine learning is; its mathematics. Handout pages 11–19.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School algebra, and the probability you used in Artificial Intelligence. Chapter 1 for the idea of a model with weights w0, …, wd. Appendix B collects every formula in this chapter on one page.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vector; dot product; norm; Euclidean distance; cosine similarity; matrix; transpose; derivative; partial derivative; gradient; chain rule; gradient descent; learning rate; conditional probability; Bayes’ theorem; expectation; variance; Gaussian; likelihood; maximum likelihood; entropy.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 learning uses four pieces of mathematics, and each does one job. It is worth knowing which is which, because when a formula appears later you will know what it is for before you know what it says.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dot product is the most important operation in this course. A linear model — linear regression, logistic regression, a perceptron, an SVM — computes one dot product and adds a bias: ŷ = w·x + b. Each weight says how much its feature pushes the prediction up or down.</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2.1 (handout p. 13): A matrix–vector product scores every example in one operation. Each row of X is one example; each entry of ŷ is that row’s dot product with the weights.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will meet one more matrix operation, in Chapter 5: the inverse A−1 of a square matrix, which undoes multiplication by A the way dividing by 3 undoes multiplying by 3. You will never compute one by hand; NumPy does.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a model means finding weights that make a loss L(w) small. For most models there is no formula for the best weights, so we walk downhill instead.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2.2 (handout p. 14): Gradient descent on L(w)=(w−3)2 from w=0. With a small learning rate each step closes a fixed fraction of the gap; with one that is too large, each step jumps past the minimum by more than the last, and the weights diverge.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learning algorithms can be read as answering one question: which parameters make the observed data most probable?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2.3 (handout p. 16): The likelihood of seven heads in ten tosses, as a function of the coin’s bias. It is largest at p=0.7 — the observed proportion, which is what maximum likelihood gives for any coin.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A student is a vector of engagement features, and “students like this one” means “students at a small distance” — once attendance, marks and logins have been put on the same scale. Without that, the student who logs in most is automatically the most different from everyone.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Fitting an effort model to past stories is gradient descent on the mean squared error of the estimates. With forty completed stories the loss surface is bumpy and the learning rate matters: too large and the fitted hours-per-point swings wildly from one run to the next.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Sensor noise is usually close to Gaussian, so a reading three standard deviations from its recent mean has a likelihood below one in three hundred under “normal operation”. That is the simplest anomaly detector there is, and it is a likelihood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The base-rate calculation is the most important piece of arithmetic in security analytics. Before deploying any detector, multiply its false-positive rate by the daily volume of benign events: that number of alerts, not the detection rate, decides whether the analysts will trust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Vectors and the dot product.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A whole dataset at once.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Gradient descent on L(w) = (w - 3)^2.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Bayes by simulation: how many alarms are real?.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Entropy.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√((4−1)2 + (6−2)2) = √(9 + 16) = 5.</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L′(w) = 2(w + 1) = 6 at w = 2, so w ← 2 − 0.25 × 6 = 0.5. The minimum is at −1: the gap fell from 3 to 1.5, so yes, closer.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H = −(0.5log2 0.5 + 2 × 0.25log2 0.25) = 0.5 + 0.5 + 0.5 = 1.5 bits.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3 — The Machine Learning Workflow and Toolkit. READ: Handout Chapter 2, pages 11–19. THIS WEEK'S LAB: A rule against a learned model; the chapter in NumPy.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1.xml"/><Relationship Id="rId8" Type="http://schemas.openxmlformats.org/officeDocument/2006/relationships/slide" Target="slide14.xml"/><Relationship Id="rId9" Type="http://schemas.openxmlformats.org/officeDocument/2006/relationships/slide" Target="slide16.xml"/><Relationship Id="rId10" Type="http://schemas.openxmlformats.org/officeDocument/2006/relationships/slide" Target="slide21.xml"/><Relationship Id="rId11" Type="http://schemas.openxmlformats.org/officeDocument/2006/relationships/slide" Target="slide24.xml"/><Relationship Id="rId12" Type="http://schemas.openxmlformats.org/officeDocument/2006/relationships/slide" Target="slide25.xml"/><Relationship Id="rId13" Type="http://schemas.openxmlformats.org/officeDocument/2006/relationships/slide" Target="slide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image" Target="../media/image17.png"/><Relationship Id="rId7" Type="http://schemas.openxmlformats.org/officeDocument/2006/relationships/image" Target="../media/image18.svg"/><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image" Target="../media/image21.png"/><Relationship Id="rId5" Type="http://schemas.openxmlformats.org/officeDocument/2006/relationships/image" Target="../media/image22.sv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image" Target="../media/image25.png"/><Relationship Id="rId5" Type="http://schemas.openxmlformats.org/officeDocument/2006/relationships/image" Target="../media/image26.sv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7.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0.svg"/><Relationship Id="rId4" Type="http://schemas.openxmlformats.org/officeDocument/2006/relationships/image" Target="../media/image31.png"/><Relationship Id="rId5" Type="http://schemas.openxmlformats.org/officeDocument/2006/relationships/image" Target="../media/image32.svg"/><Relationship Id="rId6" Type="http://schemas.openxmlformats.org/officeDocument/2006/relationships/image" Target="../media/image33.png"/><Relationship Id="rId7" Type="http://schemas.openxmlformats.org/officeDocument/2006/relationships/image" Target="../media/image34.sv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35.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8.svg"/><Relationship Id="rId4" Type="http://schemas.openxmlformats.org/officeDocument/2006/relationships/image" Target="../media/image39.png"/><Relationship Id="rId5" Type="http://schemas.openxmlformats.org/officeDocument/2006/relationships/image" Target="../media/image40.sv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43.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44.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45.svg"/><Relationship Id="rId4" Type="http://schemas.openxmlformats.org/officeDocument/2006/relationships/image" Target="../media/image46.png"/><Relationship Id="rId5" Type="http://schemas.openxmlformats.org/officeDocument/2006/relationships/image" Target="../media/image47.svg"/><Relationship Id="rId6" Type="http://schemas.openxmlformats.org/officeDocument/2006/relationships/image" Target="../media/image48.png"/><Relationship Id="rId7" Type="http://schemas.openxmlformats.org/officeDocument/2006/relationships/image" Target="../media/image49.svg"/><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50.svg"/><Relationship Id="rId4" Type="http://schemas.openxmlformats.org/officeDocument/2006/relationships/image" Target="../media/image51.png"/><Relationship Id="rId5" Type="http://schemas.openxmlformats.org/officeDocument/2006/relationships/image" Target="../media/image52.svg"/><Relationship Id="rId6" Type="http://schemas.openxmlformats.org/officeDocument/2006/relationships/image" Target="../media/image53.png"/><Relationship Id="rId7" Type="http://schemas.openxmlformats.org/officeDocument/2006/relationships/image" Target="../media/image54.svg"/><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image" Target="../media/image57.png"/><Relationship Id="rId5" Type="http://schemas.openxmlformats.org/officeDocument/2006/relationships/image" Target="../media/image58.svg"/><Relationship Id="rId6" Type="http://schemas.openxmlformats.org/officeDocument/2006/relationships/image" Target="../media/image59.png"/><Relationship Id="rId7" Type="http://schemas.openxmlformats.org/officeDocument/2006/relationships/image" Target="../media/image60.svg"/><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61.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64.svg"/><Relationship Id="rId4" Type="http://schemas.openxmlformats.org/officeDocument/2006/relationships/image" Target="../media/image65.png"/><Relationship Id="rId5" Type="http://schemas.openxmlformats.org/officeDocument/2006/relationships/image" Target="../media/image66.svg"/><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68.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69.svg"/><Relationship Id="rId4" Type="http://schemas.openxmlformats.org/officeDocument/2006/relationships/image" Target="../media/image70.png"/><Relationship Id="rId5" Type="http://schemas.openxmlformats.org/officeDocument/2006/relationships/image" Target="../media/image71.svg"/><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72.svg"/><Relationship Id="rId4" Type="http://schemas.openxmlformats.org/officeDocument/2006/relationships/image" Target="../media/image73.png"/><Relationship Id="rId5" Type="http://schemas.openxmlformats.org/officeDocument/2006/relationships/image" Target="../media/image74.svg"/><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76.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image" Target="../media/image78.svg"/><Relationship Id="rId4" Type="http://schemas.openxmlformats.org/officeDocument/2006/relationships/image" Target="../media/image79.png"/><Relationship Id="rId5" Type="http://schemas.openxmlformats.org/officeDocument/2006/relationships/image" Target="../media/image80.svg"/><Relationship Id="rId6" Type="http://schemas.openxmlformats.org/officeDocument/2006/relationships/image" Target="../media/image81.png"/><Relationship Id="rId7" Type="http://schemas.openxmlformats.org/officeDocument/2006/relationships/image" Target="../media/image82.svg"/><Relationship Id="rId8" Type="http://schemas.openxmlformats.org/officeDocument/2006/relationships/image" Target="../media/image83.png"/><Relationship Id="rId9" Type="http://schemas.openxmlformats.org/officeDocument/2006/relationships/image" Target="../media/image84.svg"/><Relationship Id="rId10" Type="http://schemas.openxmlformats.org/officeDocument/2006/relationships/image" Target="../media/image85.png"/><Relationship Id="rId11" Type="http://schemas.openxmlformats.org/officeDocument/2006/relationships/image" Target="../media/image86.svg"/><Relationship Id="rId1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 Id="rId3" Type="http://schemas.openxmlformats.org/officeDocument/2006/relationships/image" Target="../media/image88.svg"/><Relationship Id="rId4" Type="http://schemas.openxmlformats.org/officeDocument/2006/relationships/image" Target="../media/image79.png"/><Relationship Id="rId5" Type="http://schemas.openxmlformats.org/officeDocument/2006/relationships/image" Target="../media/image89.svg"/><Relationship Id="rId6" Type="http://schemas.openxmlformats.org/officeDocument/2006/relationships/image" Target="../media/image81.png"/><Relationship Id="rId7" Type="http://schemas.openxmlformats.org/officeDocument/2006/relationships/image" Target="../media/image90.svg"/><Relationship Id="rId8" Type="http://schemas.openxmlformats.org/officeDocument/2006/relationships/image" Target="../media/image83.png"/><Relationship Id="rId9" Type="http://schemas.openxmlformats.org/officeDocument/2006/relationships/image" Target="../media/image91.svg"/><Relationship Id="rId10" Type="http://schemas.openxmlformats.org/officeDocument/2006/relationships/image" Target="../media/image85.png"/><Relationship Id="rId11" Type="http://schemas.openxmlformats.org/officeDocument/2006/relationships/image" Target="../media/image92.svg"/><Relationship Id="rId1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3.png"/><Relationship Id="rId3" Type="http://schemas.openxmlformats.org/officeDocument/2006/relationships/image" Target="../media/image94.svg"/><Relationship Id="rId4" Type="http://schemas.openxmlformats.org/officeDocument/2006/relationships/image" Target="../media/image81.png"/><Relationship Id="rId5" Type="http://schemas.openxmlformats.org/officeDocument/2006/relationships/image" Target="../media/image95.svg"/><Relationship Id="rId6" Type="http://schemas.openxmlformats.org/officeDocument/2006/relationships/image" Target="../media/image79.png"/><Relationship Id="rId7" Type="http://schemas.openxmlformats.org/officeDocument/2006/relationships/image" Target="../media/image96.svg"/><Relationship Id="rId8" Type="http://schemas.openxmlformats.org/officeDocument/2006/relationships/image" Target="../media/image83.png"/><Relationship Id="rId9" Type="http://schemas.openxmlformats.org/officeDocument/2006/relationships/image" Target="../media/image97.svg"/><Relationship Id="rId10" Type="http://schemas.openxmlformats.org/officeDocument/2006/relationships/image" Target="../media/image85.png"/><Relationship Id="rId11" Type="http://schemas.openxmlformats.org/officeDocument/2006/relationships/image" Target="../media/image98.svg"/><Relationship Id="rId1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9.png"/><Relationship Id="rId3" Type="http://schemas.openxmlformats.org/officeDocument/2006/relationships/image" Target="../media/image100.svg"/><Relationship Id="rId4" Type="http://schemas.openxmlformats.org/officeDocument/2006/relationships/image" Target="../media/image83.png"/><Relationship Id="rId5" Type="http://schemas.openxmlformats.org/officeDocument/2006/relationships/image" Target="../media/image101.svg"/><Relationship Id="rId6" Type="http://schemas.openxmlformats.org/officeDocument/2006/relationships/image" Target="../media/image79.png"/><Relationship Id="rId7" Type="http://schemas.openxmlformats.org/officeDocument/2006/relationships/image" Target="../media/image102.svg"/><Relationship Id="rId8" Type="http://schemas.openxmlformats.org/officeDocument/2006/relationships/image" Target="../media/image81.png"/><Relationship Id="rId9" Type="http://schemas.openxmlformats.org/officeDocument/2006/relationships/image" Target="../media/image103.svg"/><Relationship Id="rId10" Type="http://schemas.openxmlformats.org/officeDocument/2006/relationships/image" Target="../media/image85.png"/><Relationship Id="rId11" Type="http://schemas.openxmlformats.org/officeDocument/2006/relationships/image" Target="../media/image104.svg"/><Relationship Id="rId1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5.png"/><Relationship Id="rId3" Type="http://schemas.openxmlformats.org/officeDocument/2006/relationships/image" Target="../media/image106.svg"/><Relationship Id="rId4" Type="http://schemas.openxmlformats.org/officeDocument/2006/relationships/image" Target="../media/image85.png"/><Relationship Id="rId5" Type="http://schemas.openxmlformats.org/officeDocument/2006/relationships/image" Target="../media/image107.svg"/><Relationship Id="rId6" Type="http://schemas.openxmlformats.org/officeDocument/2006/relationships/image" Target="../media/image79.png"/><Relationship Id="rId7" Type="http://schemas.openxmlformats.org/officeDocument/2006/relationships/image" Target="../media/image108.svg"/><Relationship Id="rId8" Type="http://schemas.openxmlformats.org/officeDocument/2006/relationships/image" Target="../media/image81.png"/><Relationship Id="rId9" Type="http://schemas.openxmlformats.org/officeDocument/2006/relationships/image" Target="../media/image109.svg"/><Relationship Id="rId10" Type="http://schemas.openxmlformats.org/officeDocument/2006/relationships/image" Target="../media/image83.png"/><Relationship Id="rId11" Type="http://schemas.openxmlformats.org/officeDocument/2006/relationships/image" Target="../media/image110.svg"/><Relationship Id="rId1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1.png"/><Relationship Id="rId3" Type="http://schemas.openxmlformats.org/officeDocument/2006/relationships/image" Target="../media/image112.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1.png"/><Relationship Id="rId3" Type="http://schemas.openxmlformats.org/officeDocument/2006/relationships/image" Target="../media/image113.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1.png"/><Relationship Id="rId3" Type="http://schemas.openxmlformats.org/officeDocument/2006/relationships/image" Target="../media/image114.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1.png"/><Relationship Id="rId3" Type="http://schemas.openxmlformats.org/officeDocument/2006/relationships/image" Target="../media/image115.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1.png"/><Relationship Id="rId3" Type="http://schemas.openxmlformats.org/officeDocument/2006/relationships/image" Target="../media/image116.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1.png"/><Relationship Id="rId3" Type="http://schemas.openxmlformats.org/officeDocument/2006/relationships/image" Target="../media/image117.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1.png"/><Relationship Id="rId3" Type="http://schemas.openxmlformats.org/officeDocument/2006/relationships/image" Target="../media/image118.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9.png"/><Relationship Id="rId3" Type="http://schemas.openxmlformats.org/officeDocument/2006/relationships/image" Target="../media/image120.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1.png"/><Relationship Id="rId3" Type="http://schemas.openxmlformats.org/officeDocument/2006/relationships/image" Target="../media/image122.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9.png"/><Relationship Id="rId3" Type="http://schemas.openxmlformats.org/officeDocument/2006/relationships/image" Target="../media/image123.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1.png"/><Relationship Id="rId3" Type="http://schemas.openxmlformats.org/officeDocument/2006/relationships/image" Target="../media/image124.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9.png"/><Relationship Id="rId3" Type="http://schemas.openxmlformats.org/officeDocument/2006/relationships/image" Target="../media/image125.sv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1.png"/><Relationship Id="rId3" Type="http://schemas.openxmlformats.org/officeDocument/2006/relationships/image" Target="../media/image126.sv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7.png"/><Relationship Id="rId3" Type="http://schemas.openxmlformats.org/officeDocument/2006/relationships/image" Target="../media/image128.sv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9.png"/><Relationship Id="rId3" Type="http://schemas.openxmlformats.org/officeDocument/2006/relationships/image" Target="../media/image130.sv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9.png"/><Relationship Id="rId3" Type="http://schemas.openxmlformats.org/officeDocument/2006/relationships/image" Target="../media/image131.sv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9.png"/><Relationship Id="rId3" Type="http://schemas.openxmlformats.org/officeDocument/2006/relationships/image" Target="../media/image132.sv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9.png"/><Relationship Id="rId3" Type="http://schemas.openxmlformats.org/officeDocument/2006/relationships/image" Target="../media/image133.sv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02</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Mathematics for Machine Learning</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PART I  ·  FOUNDATIONS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CHAPTER 2  ·  WEEK 1</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DCE4"/>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     </a:t>
            </a:r>
            <a:fld id="{F7FE24C9-9375-440E-B24B-BFD079EEDB36}" type="slidenum">
              <a:rPr lang="en-GB" sz="1000">
                <a:solidFill>
                  <a:srgbClr val="8795A1"/>
                </a:solidFill>
                <a:latin typeface="Segoe UI"/>
              </a:rPr>
              <a:t>2</a:t>
            </a:fld>
          </a:p>
        </p:txBody>
      </p:sp>
      <p:sp>
        <p:nvSpPr>
          <p:cNvPr id="7" name="!!rp1"/>
          <p:cNvSpPr txBox="1"/>
          <p:nvPr/>
        </p:nvSpPr>
        <p:spPr>
          <a:xfrm>
            <a:off x="777239" y="1755648"/>
            <a:ext cx="189413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A5276"/>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894138" cy="457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3000562"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3000562"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912988"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912988"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644467"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644467"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9147366"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9147366"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36081" y="2112264"/>
            <a:ext cx="566928" cy="566928"/>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236081"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23" name="!!dot3">
            <a:extLst>
              <a:ext uri="{C183D7F6-B498-43B3-948B-1728B52AA6E4}">
                <adec:decorative xmlns:adec="http://schemas.microsoft.com/office/drawing/2017/decorative" val="1"/>
              </a:ext>
            </a:extLst>
          </p:cNvPr>
          <p:cNvSpPr/>
          <p:nvPr/>
        </p:nvSpPr>
        <p:spPr>
          <a:xfrm>
            <a:off x="1947360"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85592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356886"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2654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3040733"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9492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450259"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3588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859786"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768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269312"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1778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953159"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8617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36268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2712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77221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6807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181738"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0902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59126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49982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007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09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68463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5931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4164"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27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503691"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4122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18753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0960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59706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5056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A5276"/>
                </a:solidFill>
                <a:latin typeface="Segoe UI"/>
              </a:rPr>
              <a:t>Mathematics for Machine Learning</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1">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1">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1"/>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1  </a:t>
            </a:r>
            <a:r>
              <a:rPr sz="1400" b="0" i="0">
                <a:solidFill>
                  <a:srgbClr val="1C252B"/>
                </a:solidFill>
                <a:latin typeface="Segoe UI"/>
              </a:rPr>
              <a:t>What Machine Learning Is</a:t>
            </a:r>
          </a:p>
        </p:txBody>
      </p:sp>
      <p:sp>
        <p:nvSpPr>
          <p:cNvPr id="68"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69" name="!!chipUS3">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bUS3">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tUS3"/>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The Machine Learning Workflow and Toolkit</a:t>
            </a:r>
          </a:p>
        </p:txBody>
      </p:sp>
      <p:sp>
        <p:nvSpPr>
          <p:cNvPr id="72" name="!!chipUS5">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bUS5">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tUS5"/>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5  </a:t>
            </a:r>
            <a:r>
              <a:rPr sz="1400" b="0" i="0">
                <a:solidFill>
                  <a:srgbClr val="1C252B"/>
                </a:solidFill>
                <a:latin typeface="Segoe UI"/>
              </a:rPr>
              <a:t>Linear Regression</a:t>
            </a:r>
          </a:p>
        </p:txBody>
      </p:sp>
      <p:sp>
        <p:nvSpPr>
          <p:cNvPr id="75" name="!!chipUS6">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6">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6"/>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Logistic Regression</a:t>
            </a:r>
          </a:p>
        </p:txBody>
      </p:sp>
      <p:sp>
        <p:nvSpPr>
          <p:cNvPr id="78" name="!!chipUS8">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8">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8"/>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8  </a:t>
            </a:r>
            <a:r>
              <a:rPr sz="1400" b="0" i="0">
                <a:solidFill>
                  <a:srgbClr val="1C252B"/>
                </a:solidFill>
                <a:latin typeface="Segoe UI"/>
              </a:rPr>
              <a:t>Measuring Classifier Performance</a:t>
            </a:r>
          </a:p>
        </p:txBody>
      </p:sp>
      <p:sp>
        <p:nvSpPr>
          <p:cNvPr id="81" name="!!chipUS9">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bUS9">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chiptUS9"/>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9  </a:t>
            </a:r>
            <a:r>
              <a:rPr sz="1400" b="0" i="0">
                <a:solidFill>
                  <a:srgbClr val="1C252B"/>
                </a:solidFill>
                <a:latin typeface="Segoe UI"/>
              </a:rPr>
              <a:t>Decision Tree Learning</a:t>
            </a:r>
          </a:p>
        </p:txBody>
      </p:sp>
      <p:sp>
        <p:nvSpPr>
          <p:cNvPr id="8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pfill">
            <a:extLst>
              <a:ext uri="{C183D7F6-B498-43B3-948B-1728B52AA6E4}">
                <adec:decorative xmlns:adec="http://schemas.microsoft.com/office/drawing/2017/decorative" val="1"/>
              </a:ext>
            </a:extLst>
          </p:cNvPr>
          <p:cNvSpPr/>
          <p:nvPr/>
        </p:nvSpPr>
        <p:spPr>
          <a:xfrm>
            <a:off x="0" y="0"/>
            <a:ext cx="42777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     </a:t>
            </a:r>
            <a:fld id="{D64A6F09-0B8E-44D7-B42B-8C423DE1E797}"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Compute</a:t>
            </a:r>
            <a:r>
              <a:rPr sz="2100" b="0" i="0">
                <a:solidFill>
                  <a:srgbClr val="1C252B"/>
                </a:solidFill>
                <a:latin typeface="Segoe UI"/>
              </a:rPr>
              <a:t> dot products, norms and distances, and write a linear model as a dot product.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Explain</a:t>
            </a:r>
            <a:r>
              <a:rPr sz="2100" b="0" i="0">
                <a:solidFill>
                  <a:srgbClr val="1C252B"/>
                </a:solidFill>
                <a:latin typeface="Segoe UI"/>
              </a:rPr>
              <a:t> what the product </a:t>
            </a:r>
            <a:r>
              <a:rPr sz="2100" b="0" i="1">
                <a:solidFill>
                  <a:srgbClr val="1C252B"/>
                </a:solidFill>
                <a:latin typeface="Cambria"/>
              </a:rPr>
              <a:t>X</a:t>
            </a:r>
            <a:r>
              <a:rPr sz="2100" b="1" i="1">
                <a:solidFill>
                  <a:srgbClr val="1C252B"/>
                </a:solidFill>
                <a:latin typeface="Cambria"/>
              </a:rPr>
              <a:t>w</a:t>
            </a:r>
            <a:r>
              <a:rPr sz="2100" b="0" i="0">
                <a:solidFill>
                  <a:srgbClr val="1C252B"/>
                </a:solidFill>
                <a:latin typeface="Segoe UI"/>
              </a:rPr>
              <a:t> computes for a whole dataset at once.</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664915"/>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Differentiate</a:t>
            </a:r>
            <a:r>
              <a:rPr sz="2100" b="0" i="0">
                <a:solidFill>
                  <a:srgbClr val="1C252B"/>
                </a:solidFill>
                <a:latin typeface="Segoe UI"/>
              </a:rPr>
              <a:t> a simple loss function and </a:t>
            </a:r>
            <a:r>
              <a:rPr sz="2100" b="1" i="0">
                <a:solidFill>
                  <a:srgbClr val="1C252B"/>
                </a:solidFill>
                <a:latin typeface="Segoe UI"/>
              </a:rPr>
              <a:t>perform</a:t>
            </a:r>
            <a:r>
              <a:rPr sz="2100" b="0" i="0">
                <a:solidFill>
                  <a:srgbClr val="1C252B"/>
                </a:solidFill>
                <a:latin typeface="Segoe UI"/>
              </a:rPr>
              <a:t> gradient descent steps by hand, including choosing a learning rate.</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6377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Apply</a:t>
            </a:r>
            <a:r>
              <a:rPr sz="2100" b="0" i="0">
                <a:solidFill>
                  <a:srgbClr val="1C252B"/>
                </a:solidFill>
                <a:latin typeface="Segoe UI"/>
              </a:rPr>
              <a:t> Bayes’ theorem to a base-rate problem.</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1698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Estimate</a:t>
            </a:r>
            <a:r>
              <a:rPr sz="2100" b="0" i="0">
                <a:solidFill>
                  <a:srgbClr val="1C252B"/>
                </a:solidFill>
                <a:latin typeface="Segoe UI"/>
              </a:rPr>
              <a:t> a parameter by maximum likelihood, and </a:t>
            </a:r>
            <a:r>
              <a:rPr sz="2100" b="1" i="0">
                <a:solidFill>
                  <a:srgbClr val="1C252B"/>
                </a:solidFill>
                <a:latin typeface="Segoe UI"/>
              </a:rPr>
              <a:t>compute</a:t>
            </a:r>
            <a:r>
              <a:rPr sz="2100" b="0" i="0">
                <a:solidFill>
                  <a:srgbClr val="1C252B"/>
                </a:solidFill>
                <a:latin typeface="Segoe UI"/>
              </a:rPr>
              <a:t> the entropy of a distribution.</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4166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11     </a:t>
            </a:r>
            <a:fld id="{DEC9DFFF-DE70-46E8-AB50-D3B7845BE9E5}" type="slidenum">
              <a:rPr lang="en-GB" sz="1000">
                <a:solidFill>
                  <a:srgbClr val="8795A1"/>
                </a:solidFill>
                <a:latin typeface="Segoe UI"/>
              </a:rPr>
              <a:t>4</a:t>
            </a:fld>
          </a:p>
        </p:txBody>
      </p:sp>
      <p:sp>
        <p:nvSpPr>
          <p:cNvPr id="7" name="!!term-vector">
            <a:extLst>
              <a:ext uri="{C183D7F6-B498-43B3-948B-1728B52AA6E4}">
                <adec:decorative xmlns:adec="http://schemas.microsoft.com/office/drawing/2017/decorative" val="1"/>
              </a:ext>
            </a:extLst>
          </p:cNvPr>
          <p:cNvSpPr/>
          <p:nvPr/>
        </p:nvSpPr>
        <p:spPr>
          <a:xfrm>
            <a:off x="658368" y="1847088"/>
            <a:ext cx="9706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vector">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vector"/>
          <p:cNvSpPr txBox="1"/>
          <p:nvPr/>
        </p:nvSpPr>
        <p:spPr>
          <a:xfrm>
            <a:off x="950976" y="1970532"/>
            <a:ext cx="78781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vector</a:t>
            </a:r>
          </a:p>
        </p:txBody>
      </p:sp>
      <p:sp>
        <p:nvSpPr>
          <p:cNvPr id="10" name="!!term-dot product">
            <a:extLst>
              <a:ext uri="{C183D7F6-B498-43B3-948B-1728B52AA6E4}">
                <adec:decorative xmlns:adec="http://schemas.microsoft.com/office/drawing/2017/decorative" val="1"/>
              </a:ext>
            </a:extLst>
          </p:cNvPr>
          <p:cNvSpPr/>
          <p:nvPr/>
        </p:nvSpPr>
        <p:spPr>
          <a:xfrm>
            <a:off x="1775367" y="1847088"/>
            <a:ext cx="146210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dot product">
            <a:extLst>
              <a:ext uri="{C183D7F6-B498-43B3-948B-1728B52AA6E4}">
                <adec:decorative xmlns:adec="http://schemas.microsoft.com/office/drawing/2017/decorative" val="1"/>
              </a:ext>
            </a:extLst>
          </p:cNvPr>
          <p:cNvSpPr/>
          <p:nvPr/>
        </p:nvSpPr>
        <p:spPr>
          <a:xfrm>
            <a:off x="190338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dot product"/>
          <p:cNvSpPr txBox="1"/>
          <p:nvPr/>
        </p:nvSpPr>
        <p:spPr>
          <a:xfrm>
            <a:off x="2067975" y="1970532"/>
            <a:ext cx="127922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dot product</a:t>
            </a:r>
          </a:p>
        </p:txBody>
      </p:sp>
      <p:sp>
        <p:nvSpPr>
          <p:cNvPr id="13" name="!!term-norm">
            <a:extLst>
              <a:ext uri="{C183D7F6-B498-43B3-948B-1728B52AA6E4}">
                <adec:decorative xmlns:adec="http://schemas.microsoft.com/office/drawing/2017/decorative" val="1"/>
              </a:ext>
            </a:extLst>
          </p:cNvPr>
          <p:cNvSpPr/>
          <p:nvPr/>
        </p:nvSpPr>
        <p:spPr>
          <a:xfrm>
            <a:off x="3383780" y="1847088"/>
            <a:ext cx="8976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norm">
            <a:extLst>
              <a:ext uri="{C183D7F6-B498-43B3-948B-1728B52AA6E4}">
                <adec:decorative xmlns:adec="http://schemas.microsoft.com/office/drawing/2017/decorative" val="1"/>
              </a:ext>
            </a:extLst>
          </p:cNvPr>
          <p:cNvSpPr/>
          <p:nvPr/>
        </p:nvSpPr>
        <p:spPr>
          <a:xfrm>
            <a:off x="351179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norm"/>
          <p:cNvSpPr txBox="1"/>
          <p:nvPr/>
        </p:nvSpPr>
        <p:spPr>
          <a:xfrm>
            <a:off x="3676388" y="1970532"/>
            <a:ext cx="71479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norm</a:t>
            </a:r>
          </a:p>
        </p:txBody>
      </p:sp>
      <p:sp>
        <p:nvSpPr>
          <p:cNvPr id="16" name="!!term-Euclidean dist">
            <a:extLst>
              <a:ext uri="{C183D7F6-B498-43B3-948B-1728B52AA6E4}">
                <adec:decorative xmlns:adec="http://schemas.microsoft.com/office/drawing/2017/decorative" val="1"/>
              </a:ext>
            </a:extLst>
          </p:cNvPr>
          <p:cNvSpPr/>
          <p:nvPr/>
        </p:nvSpPr>
        <p:spPr>
          <a:xfrm>
            <a:off x="4427756" y="1847088"/>
            <a:ext cx="201923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Euclidean dist">
            <a:extLst>
              <a:ext uri="{C183D7F6-B498-43B3-948B-1728B52AA6E4}">
                <adec:decorative xmlns:adec="http://schemas.microsoft.com/office/drawing/2017/decorative" val="1"/>
              </a:ext>
            </a:extLst>
          </p:cNvPr>
          <p:cNvSpPr/>
          <p:nvPr/>
        </p:nvSpPr>
        <p:spPr>
          <a:xfrm>
            <a:off x="455577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Euclidean dist"/>
          <p:cNvSpPr txBox="1"/>
          <p:nvPr/>
        </p:nvSpPr>
        <p:spPr>
          <a:xfrm>
            <a:off x="4720364" y="1970532"/>
            <a:ext cx="183635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Euclidean distance</a:t>
            </a:r>
          </a:p>
        </p:txBody>
      </p:sp>
      <p:sp>
        <p:nvSpPr>
          <p:cNvPr id="19" name="!!term-cosine similar">
            <a:extLst>
              <a:ext uri="{C183D7F6-B498-43B3-948B-1728B52AA6E4}">
                <adec:decorative xmlns:adec="http://schemas.microsoft.com/office/drawing/2017/decorative" val="1"/>
              </a:ext>
            </a:extLst>
          </p:cNvPr>
          <p:cNvSpPr/>
          <p:nvPr/>
        </p:nvSpPr>
        <p:spPr>
          <a:xfrm>
            <a:off x="6593296" y="1847088"/>
            <a:ext cx="180102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cosine similar">
            <a:extLst>
              <a:ext uri="{C183D7F6-B498-43B3-948B-1728B52AA6E4}">
                <adec:decorative xmlns:adec="http://schemas.microsoft.com/office/drawing/2017/decorative" val="1"/>
              </a:ext>
            </a:extLst>
          </p:cNvPr>
          <p:cNvSpPr/>
          <p:nvPr/>
        </p:nvSpPr>
        <p:spPr>
          <a:xfrm>
            <a:off x="672131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cosine similar"/>
          <p:cNvSpPr txBox="1"/>
          <p:nvPr/>
        </p:nvSpPr>
        <p:spPr>
          <a:xfrm>
            <a:off x="6885904" y="1970532"/>
            <a:ext cx="161814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cosine similarity</a:t>
            </a:r>
          </a:p>
        </p:txBody>
      </p:sp>
      <p:sp>
        <p:nvSpPr>
          <p:cNvPr id="22" name="!!term-matrix">
            <a:extLst>
              <a:ext uri="{C183D7F6-B498-43B3-948B-1728B52AA6E4}">
                <adec:decorative xmlns:adec="http://schemas.microsoft.com/office/drawing/2017/decorative" val="1"/>
              </a:ext>
            </a:extLst>
          </p:cNvPr>
          <p:cNvSpPr/>
          <p:nvPr/>
        </p:nvSpPr>
        <p:spPr>
          <a:xfrm>
            <a:off x="8540625" y="1847088"/>
            <a:ext cx="97481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matrix">
            <a:extLst>
              <a:ext uri="{C183D7F6-B498-43B3-948B-1728B52AA6E4}">
                <adec:decorative xmlns:adec="http://schemas.microsoft.com/office/drawing/2017/decorative" val="1"/>
              </a:ext>
            </a:extLst>
          </p:cNvPr>
          <p:cNvSpPr/>
          <p:nvPr/>
        </p:nvSpPr>
        <p:spPr>
          <a:xfrm>
            <a:off x="866864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matrix"/>
          <p:cNvSpPr txBox="1"/>
          <p:nvPr/>
        </p:nvSpPr>
        <p:spPr>
          <a:xfrm>
            <a:off x="8833233" y="1970532"/>
            <a:ext cx="79193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matrix</a:t>
            </a:r>
          </a:p>
        </p:txBody>
      </p:sp>
      <p:sp>
        <p:nvSpPr>
          <p:cNvPr id="25" name="!!term-transpose">
            <a:extLst>
              <a:ext uri="{C183D7F6-B498-43B3-948B-1728B52AA6E4}">
                <adec:decorative xmlns:adec="http://schemas.microsoft.com/office/drawing/2017/decorative" val="1"/>
              </a:ext>
            </a:extLst>
          </p:cNvPr>
          <p:cNvSpPr/>
          <p:nvPr/>
        </p:nvSpPr>
        <p:spPr>
          <a:xfrm>
            <a:off x="9661748" y="1847088"/>
            <a:ext cx="127580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transpose">
            <a:extLst>
              <a:ext uri="{C183D7F6-B498-43B3-948B-1728B52AA6E4}">
                <adec:decorative xmlns:adec="http://schemas.microsoft.com/office/drawing/2017/decorative" val="1"/>
              </a:ext>
            </a:extLst>
          </p:cNvPr>
          <p:cNvSpPr/>
          <p:nvPr/>
        </p:nvSpPr>
        <p:spPr>
          <a:xfrm>
            <a:off x="978976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transpose"/>
          <p:cNvSpPr txBox="1"/>
          <p:nvPr/>
        </p:nvSpPr>
        <p:spPr>
          <a:xfrm>
            <a:off x="9954356" y="1970532"/>
            <a:ext cx="109292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transpose</a:t>
            </a:r>
          </a:p>
        </p:txBody>
      </p:sp>
      <p:sp>
        <p:nvSpPr>
          <p:cNvPr id="28" name="!!term-derivative">
            <a:extLst>
              <a:ext uri="{C183D7F6-B498-43B3-948B-1728B52AA6E4}">
                <adec:decorative xmlns:adec="http://schemas.microsoft.com/office/drawing/2017/decorative" val="1"/>
              </a:ext>
            </a:extLst>
          </p:cNvPr>
          <p:cNvSpPr/>
          <p:nvPr/>
        </p:nvSpPr>
        <p:spPr>
          <a:xfrm>
            <a:off x="658368" y="2468880"/>
            <a:ext cx="126912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derivative">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derivative"/>
          <p:cNvSpPr txBox="1"/>
          <p:nvPr/>
        </p:nvSpPr>
        <p:spPr>
          <a:xfrm>
            <a:off x="950976" y="2592324"/>
            <a:ext cx="108624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derivative</a:t>
            </a:r>
          </a:p>
        </p:txBody>
      </p:sp>
      <p:sp>
        <p:nvSpPr>
          <p:cNvPr id="31" name="!!term-partial deriva">
            <a:extLst>
              <a:ext uri="{C183D7F6-B498-43B3-948B-1728B52AA6E4}">
                <adec:decorative xmlns:adec="http://schemas.microsoft.com/office/drawing/2017/decorative" val="1"/>
              </a:ext>
            </a:extLst>
          </p:cNvPr>
          <p:cNvSpPr/>
          <p:nvPr/>
        </p:nvSpPr>
        <p:spPr>
          <a:xfrm>
            <a:off x="2073797" y="2468880"/>
            <a:ext cx="186201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partial deriva">
            <a:extLst>
              <a:ext uri="{C183D7F6-B498-43B3-948B-1728B52AA6E4}">
                <adec:decorative xmlns:adec="http://schemas.microsoft.com/office/drawing/2017/decorative" val="1"/>
              </a:ext>
            </a:extLst>
          </p:cNvPr>
          <p:cNvSpPr/>
          <p:nvPr/>
        </p:nvSpPr>
        <p:spPr>
          <a:xfrm>
            <a:off x="220181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partial deriva"/>
          <p:cNvSpPr txBox="1"/>
          <p:nvPr/>
        </p:nvSpPr>
        <p:spPr>
          <a:xfrm>
            <a:off x="2366405" y="2592324"/>
            <a:ext cx="167913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partial derivative</a:t>
            </a:r>
          </a:p>
        </p:txBody>
      </p:sp>
      <p:sp>
        <p:nvSpPr>
          <p:cNvPr id="34" name="!!term-gradient">
            <a:extLst>
              <a:ext uri="{C183D7F6-B498-43B3-948B-1728B52AA6E4}">
                <adec:decorative xmlns:adec="http://schemas.microsoft.com/office/drawing/2017/decorative" val="1"/>
              </a:ext>
            </a:extLst>
          </p:cNvPr>
          <p:cNvSpPr/>
          <p:nvPr/>
        </p:nvSpPr>
        <p:spPr>
          <a:xfrm>
            <a:off x="4082115" y="2468880"/>
            <a:ext cx="115883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gradient">
            <a:extLst>
              <a:ext uri="{C183D7F6-B498-43B3-948B-1728B52AA6E4}">
                <adec:decorative xmlns:adec="http://schemas.microsoft.com/office/drawing/2017/decorative" val="1"/>
              </a:ext>
            </a:extLst>
          </p:cNvPr>
          <p:cNvSpPr/>
          <p:nvPr/>
        </p:nvSpPr>
        <p:spPr>
          <a:xfrm>
            <a:off x="421013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gradient"/>
          <p:cNvSpPr txBox="1"/>
          <p:nvPr/>
        </p:nvSpPr>
        <p:spPr>
          <a:xfrm>
            <a:off x="4374723" y="2592324"/>
            <a:ext cx="97595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gradient</a:t>
            </a:r>
          </a:p>
        </p:txBody>
      </p:sp>
      <p:sp>
        <p:nvSpPr>
          <p:cNvPr id="37" name="!!term-chain rule">
            <a:extLst>
              <a:ext uri="{C183D7F6-B498-43B3-948B-1728B52AA6E4}">
                <adec:decorative xmlns:adec="http://schemas.microsoft.com/office/drawing/2017/decorative" val="1"/>
              </a:ext>
            </a:extLst>
          </p:cNvPr>
          <p:cNvSpPr/>
          <p:nvPr/>
        </p:nvSpPr>
        <p:spPr>
          <a:xfrm>
            <a:off x="5387250" y="2468880"/>
            <a:ext cx="127405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chain rule">
            <a:extLst>
              <a:ext uri="{C183D7F6-B498-43B3-948B-1728B52AA6E4}">
                <adec:decorative xmlns:adec="http://schemas.microsoft.com/office/drawing/2017/decorative" val="1"/>
              </a:ext>
            </a:extLst>
          </p:cNvPr>
          <p:cNvSpPr/>
          <p:nvPr/>
        </p:nvSpPr>
        <p:spPr>
          <a:xfrm>
            <a:off x="551526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chain rule"/>
          <p:cNvSpPr txBox="1"/>
          <p:nvPr/>
        </p:nvSpPr>
        <p:spPr>
          <a:xfrm>
            <a:off x="5679858" y="2592324"/>
            <a:ext cx="109117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chain rule</a:t>
            </a:r>
          </a:p>
        </p:txBody>
      </p:sp>
      <p:sp>
        <p:nvSpPr>
          <p:cNvPr id="40" name="!!term-gradient desce">
            <a:extLst>
              <a:ext uri="{C183D7F6-B498-43B3-948B-1728B52AA6E4}">
                <adec:decorative xmlns:adec="http://schemas.microsoft.com/office/drawing/2017/decorative" val="1"/>
              </a:ext>
            </a:extLst>
          </p:cNvPr>
          <p:cNvSpPr/>
          <p:nvPr/>
        </p:nvSpPr>
        <p:spPr>
          <a:xfrm>
            <a:off x="6807610" y="2468880"/>
            <a:ext cx="18777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gradient desce">
            <a:extLst>
              <a:ext uri="{C183D7F6-B498-43B3-948B-1728B52AA6E4}">
                <adec:decorative xmlns:adec="http://schemas.microsoft.com/office/drawing/2017/decorative" val="1"/>
              </a:ext>
            </a:extLst>
          </p:cNvPr>
          <p:cNvSpPr/>
          <p:nvPr/>
        </p:nvSpPr>
        <p:spPr>
          <a:xfrm>
            <a:off x="693562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gradient desce"/>
          <p:cNvSpPr txBox="1"/>
          <p:nvPr/>
        </p:nvSpPr>
        <p:spPr>
          <a:xfrm>
            <a:off x="7100218" y="2592324"/>
            <a:ext cx="169489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gradient descent</a:t>
            </a:r>
          </a:p>
        </p:txBody>
      </p:sp>
      <p:sp>
        <p:nvSpPr>
          <p:cNvPr id="43" name="!!term-learning rate">
            <a:extLst>
              <a:ext uri="{C183D7F6-B498-43B3-948B-1728B52AA6E4}">
                <adec:decorative xmlns:adec="http://schemas.microsoft.com/office/drawing/2017/decorative" val="1"/>
              </a:ext>
            </a:extLst>
          </p:cNvPr>
          <p:cNvSpPr/>
          <p:nvPr/>
        </p:nvSpPr>
        <p:spPr>
          <a:xfrm>
            <a:off x="8831692" y="2468880"/>
            <a:ext cx="152274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learning rate">
            <a:extLst>
              <a:ext uri="{C183D7F6-B498-43B3-948B-1728B52AA6E4}">
                <adec:decorative xmlns:adec="http://schemas.microsoft.com/office/drawing/2017/decorative" val="1"/>
              </a:ext>
            </a:extLst>
          </p:cNvPr>
          <p:cNvSpPr/>
          <p:nvPr/>
        </p:nvSpPr>
        <p:spPr>
          <a:xfrm>
            <a:off x="895970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learning rate"/>
          <p:cNvSpPr txBox="1"/>
          <p:nvPr/>
        </p:nvSpPr>
        <p:spPr>
          <a:xfrm>
            <a:off x="9124300" y="2592324"/>
            <a:ext cx="133986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learning rate</a:t>
            </a:r>
          </a:p>
        </p:txBody>
      </p:sp>
      <p:sp>
        <p:nvSpPr>
          <p:cNvPr id="46" name="!!term-conditional pr">
            <a:extLst>
              <a:ext uri="{C183D7F6-B498-43B3-948B-1728B52AA6E4}">
                <adec:decorative xmlns:adec="http://schemas.microsoft.com/office/drawing/2017/decorative" val="1"/>
              </a:ext>
            </a:extLst>
          </p:cNvPr>
          <p:cNvSpPr/>
          <p:nvPr/>
        </p:nvSpPr>
        <p:spPr>
          <a:xfrm>
            <a:off x="658368" y="3090672"/>
            <a:ext cx="23739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conditional pr">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conditional pr"/>
          <p:cNvSpPr txBox="1"/>
          <p:nvPr/>
        </p:nvSpPr>
        <p:spPr>
          <a:xfrm>
            <a:off x="950976" y="3214116"/>
            <a:ext cx="219108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conditional probability</a:t>
            </a:r>
          </a:p>
        </p:txBody>
      </p:sp>
      <p:sp>
        <p:nvSpPr>
          <p:cNvPr id="49" name="!!term-Bayes’ theorem">
            <a:extLst>
              <a:ext uri="{C183D7F6-B498-43B3-948B-1728B52AA6E4}">
                <adec:decorative xmlns:adec="http://schemas.microsoft.com/office/drawing/2017/decorative" val="1"/>
              </a:ext>
            </a:extLst>
          </p:cNvPr>
          <p:cNvSpPr/>
          <p:nvPr/>
        </p:nvSpPr>
        <p:spPr>
          <a:xfrm>
            <a:off x="3178638" y="3090672"/>
            <a:ext cx="175278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Bayes’ theorem">
            <a:extLst>
              <a:ext uri="{C183D7F6-B498-43B3-948B-1728B52AA6E4}">
                <adec:decorative xmlns:adec="http://schemas.microsoft.com/office/drawing/2017/decorative" val="1"/>
              </a:ext>
            </a:extLst>
          </p:cNvPr>
          <p:cNvSpPr/>
          <p:nvPr/>
        </p:nvSpPr>
        <p:spPr>
          <a:xfrm>
            <a:off x="330665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Bayes’ theorem"/>
          <p:cNvSpPr txBox="1"/>
          <p:nvPr/>
        </p:nvSpPr>
        <p:spPr>
          <a:xfrm>
            <a:off x="3471246" y="3214116"/>
            <a:ext cx="156990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Bayes’ theorem</a:t>
            </a:r>
          </a:p>
        </p:txBody>
      </p:sp>
      <p:sp>
        <p:nvSpPr>
          <p:cNvPr id="52" name="!!term-expectation">
            <a:extLst>
              <a:ext uri="{C183D7F6-B498-43B3-948B-1728B52AA6E4}">
                <adec:decorative xmlns:adec="http://schemas.microsoft.com/office/drawing/2017/decorative" val="1"/>
              </a:ext>
            </a:extLst>
          </p:cNvPr>
          <p:cNvSpPr/>
          <p:nvPr/>
        </p:nvSpPr>
        <p:spPr>
          <a:xfrm>
            <a:off x="5077723" y="3090672"/>
            <a:ext cx="143688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expectation">
            <a:extLst>
              <a:ext uri="{C183D7F6-B498-43B3-948B-1728B52AA6E4}">
                <adec:decorative xmlns:adec="http://schemas.microsoft.com/office/drawing/2017/decorative" val="1"/>
              </a:ext>
            </a:extLst>
          </p:cNvPr>
          <p:cNvSpPr/>
          <p:nvPr/>
        </p:nvSpPr>
        <p:spPr>
          <a:xfrm>
            <a:off x="520573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expectation"/>
          <p:cNvSpPr txBox="1"/>
          <p:nvPr/>
        </p:nvSpPr>
        <p:spPr>
          <a:xfrm>
            <a:off x="5370331" y="3214116"/>
            <a:ext cx="125400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expectation</a:t>
            </a:r>
          </a:p>
        </p:txBody>
      </p:sp>
      <p:sp>
        <p:nvSpPr>
          <p:cNvPr id="55" name="!!term-variance">
            <a:extLst>
              <a:ext uri="{C183D7F6-B498-43B3-948B-1728B52AA6E4}">
                <adec:decorative xmlns:adec="http://schemas.microsoft.com/office/drawing/2017/decorative" val="1"/>
              </a:ext>
            </a:extLst>
          </p:cNvPr>
          <p:cNvSpPr/>
          <p:nvPr/>
        </p:nvSpPr>
        <p:spPr>
          <a:xfrm>
            <a:off x="6660916" y="3090672"/>
            <a:ext cx="11457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variance">
            <a:extLst>
              <a:ext uri="{C183D7F6-B498-43B3-948B-1728B52AA6E4}">
                <adec:decorative xmlns:adec="http://schemas.microsoft.com/office/drawing/2017/decorative" val="1"/>
              </a:ext>
            </a:extLst>
          </p:cNvPr>
          <p:cNvSpPr/>
          <p:nvPr/>
        </p:nvSpPr>
        <p:spPr>
          <a:xfrm>
            <a:off x="678893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variance"/>
          <p:cNvSpPr txBox="1"/>
          <p:nvPr/>
        </p:nvSpPr>
        <p:spPr>
          <a:xfrm>
            <a:off x="6953524" y="3214116"/>
            <a:ext cx="96287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variance</a:t>
            </a:r>
          </a:p>
        </p:txBody>
      </p:sp>
      <p:sp>
        <p:nvSpPr>
          <p:cNvPr id="58" name="!!term-Gaussian">
            <a:extLst>
              <a:ext uri="{C183D7F6-B498-43B3-948B-1728B52AA6E4}">
                <adec:decorative xmlns:adec="http://schemas.microsoft.com/office/drawing/2017/decorative" val="1"/>
              </a:ext>
            </a:extLst>
          </p:cNvPr>
          <p:cNvSpPr/>
          <p:nvPr/>
        </p:nvSpPr>
        <p:spPr>
          <a:xfrm>
            <a:off x="7952977" y="3090672"/>
            <a:ext cx="120177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Gaussian">
            <a:extLst>
              <a:ext uri="{C183D7F6-B498-43B3-948B-1728B52AA6E4}">
                <adec:decorative xmlns:adec="http://schemas.microsoft.com/office/drawing/2017/decorative" val="1"/>
              </a:ext>
            </a:extLst>
          </p:cNvPr>
          <p:cNvSpPr/>
          <p:nvPr/>
        </p:nvSpPr>
        <p:spPr>
          <a:xfrm>
            <a:off x="808099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Gaussian"/>
          <p:cNvSpPr txBox="1"/>
          <p:nvPr/>
        </p:nvSpPr>
        <p:spPr>
          <a:xfrm>
            <a:off x="8245585" y="3214116"/>
            <a:ext cx="101889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Gaussian</a:t>
            </a:r>
          </a:p>
        </p:txBody>
      </p:sp>
      <p:sp>
        <p:nvSpPr>
          <p:cNvPr id="61" name="!!term-likelihood">
            <a:extLst>
              <a:ext uri="{C183D7F6-B498-43B3-948B-1728B52AA6E4}">
                <adec:decorative xmlns:adec="http://schemas.microsoft.com/office/drawing/2017/decorative" val="1"/>
              </a:ext>
            </a:extLst>
          </p:cNvPr>
          <p:cNvSpPr/>
          <p:nvPr/>
        </p:nvSpPr>
        <p:spPr>
          <a:xfrm>
            <a:off x="9301054" y="3090672"/>
            <a:ext cx="127729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likelihood">
            <a:extLst>
              <a:ext uri="{C183D7F6-B498-43B3-948B-1728B52AA6E4}">
                <adec:decorative xmlns:adec="http://schemas.microsoft.com/office/drawing/2017/decorative" val="1"/>
              </a:ext>
            </a:extLst>
          </p:cNvPr>
          <p:cNvSpPr/>
          <p:nvPr/>
        </p:nvSpPr>
        <p:spPr>
          <a:xfrm>
            <a:off x="942907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likelihood"/>
          <p:cNvSpPr txBox="1"/>
          <p:nvPr/>
        </p:nvSpPr>
        <p:spPr>
          <a:xfrm>
            <a:off x="9593662" y="3214116"/>
            <a:ext cx="109441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likelihood</a:t>
            </a:r>
          </a:p>
        </p:txBody>
      </p:sp>
      <p:sp>
        <p:nvSpPr>
          <p:cNvPr id="64" name="!!term-maximum likeli">
            <a:extLst>
              <a:ext uri="{C183D7F6-B498-43B3-948B-1728B52AA6E4}">
                <adec:decorative xmlns:adec="http://schemas.microsoft.com/office/drawing/2017/decorative" val="1"/>
              </a:ext>
            </a:extLst>
          </p:cNvPr>
          <p:cNvSpPr/>
          <p:nvPr/>
        </p:nvSpPr>
        <p:spPr>
          <a:xfrm>
            <a:off x="658368" y="3712464"/>
            <a:ext cx="21775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maximum likeli">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maximum likeli"/>
          <p:cNvSpPr txBox="1"/>
          <p:nvPr/>
        </p:nvSpPr>
        <p:spPr>
          <a:xfrm>
            <a:off x="950976" y="3835908"/>
            <a:ext cx="199465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maximum likelihood</a:t>
            </a:r>
          </a:p>
        </p:txBody>
      </p:sp>
      <p:sp>
        <p:nvSpPr>
          <p:cNvPr id="67" name="!!term-entropy">
            <a:extLst>
              <a:ext uri="{C183D7F6-B498-43B3-948B-1728B52AA6E4}">
                <adec:decorative xmlns:adec="http://schemas.microsoft.com/office/drawing/2017/decorative" val="1"/>
              </a:ext>
            </a:extLst>
          </p:cNvPr>
          <p:cNvSpPr/>
          <p:nvPr/>
        </p:nvSpPr>
        <p:spPr>
          <a:xfrm>
            <a:off x="2982209" y="3712464"/>
            <a:ext cx="110613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termd-entropy">
            <a:extLst>
              <a:ext uri="{C183D7F6-B498-43B3-948B-1728B52AA6E4}">
                <adec:decorative xmlns:adec="http://schemas.microsoft.com/office/drawing/2017/decorative" val="1"/>
              </a:ext>
            </a:extLst>
          </p:cNvPr>
          <p:cNvSpPr/>
          <p:nvPr/>
        </p:nvSpPr>
        <p:spPr>
          <a:xfrm>
            <a:off x="3110225"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termt-entropy"/>
          <p:cNvSpPr txBox="1"/>
          <p:nvPr/>
        </p:nvSpPr>
        <p:spPr>
          <a:xfrm>
            <a:off x="3274817" y="3835908"/>
            <a:ext cx="92325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entropy</a:t>
            </a:r>
          </a:p>
        </p:txBody>
      </p:sp>
      <p:sp>
        <p:nvSpPr>
          <p:cNvPr id="70"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7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pfill">
            <a:extLst>
              <a:ext uri="{C183D7F6-B498-43B3-948B-1728B52AA6E4}">
                <adec:decorative xmlns:adec="http://schemas.microsoft.com/office/drawing/2017/decorative" val="1"/>
              </a:ext>
            </a:extLst>
          </p:cNvPr>
          <p:cNvSpPr/>
          <p:nvPr/>
        </p:nvSpPr>
        <p:spPr>
          <a:xfrm>
            <a:off x="0" y="0"/>
            <a:ext cx="85555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11–19     </a:t>
            </a:r>
            <a:fld id="{DEBD7E13-86F9-49CF-9AF3-B3940EB6569E}" type="slidenum">
              <a:rPr lang="en-GB" sz="1000">
                <a:solidFill>
                  <a:srgbClr val="8795A1"/>
                </a:solidFill>
                <a:latin typeface="Segoe UI"/>
              </a:rPr>
              <a:t>5</a:t>
            </a:fld>
          </a:p>
        </p:txBody>
      </p:sp>
      <p:sp>
        <p:nvSpPr>
          <p:cNvPr id="7" name="!!ag0" descr="Go to section 2.1 Four Kinds of Mathematics, Four Jobs">
            <a:hlinkClick action="ppaction://hlinksldjump" r:id="rId5"/>
          </p:cNvPr>
          <p:cNvSpPr/>
          <p:nvPr/>
        </p:nvSpPr>
        <p:spPr>
          <a:xfrm>
            <a:off x="658368" y="1773936"/>
            <a:ext cx="10874959" cy="424688"/>
          </a:xfrm>
          <a:prstGeom prst="roundRect">
            <a:avLst>
              <a:gd name="adj" fmla="val 12918"/>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4246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864359"/>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1A5276"/>
                </a:solidFill>
                <a:latin typeface="Segoe UI Semibold"/>
              </a:rPr>
              <a:t>2.1</a:t>
            </a:r>
          </a:p>
        </p:txBody>
      </p:sp>
      <p:sp>
        <p:nvSpPr>
          <p:cNvPr id="10" name="!!agt0"/>
          <p:cNvSpPr txBox="1"/>
          <p:nvPr/>
        </p:nvSpPr>
        <p:spPr>
          <a:xfrm>
            <a:off x="1847088" y="1864359"/>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Four Kinds of Mathematics, Four Jobs</a:t>
            </a:r>
          </a:p>
        </p:txBody>
      </p:sp>
      <p:sp>
        <p:nvSpPr>
          <p:cNvPr id="11" name="!!agp0"/>
          <p:cNvSpPr txBox="1"/>
          <p:nvPr/>
        </p:nvSpPr>
        <p:spPr>
          <a:xfrm>
            <a:off x="9795967" y="189179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11  ›</a:t>
            </a:r>
          </a:p>
        </p:txBody>
      </p:sp>
      <p:sp>
        <p:nvSpPr>
          <p:cNvPr id="12" name="!!ag1" descr="Go to section 2.2 Vectors and the Dot Product">
            <a:hlinkClick action="ppaction://hlinksldjump" r:id="rId6"/>
          </p:cNvPr>
          <p:cNvSpPr/>
          <p:nvPr/>
        </p:nvSpPr>
        <p:spPr>
          <a:xfrm>
            <a:off x="658368" y="2271776"/>
            <a:ext cx="10874959" cy="424688"/>
          </a:xfrm>
          <a:prstGeom prst="roundRect">
            <a:avLst>
              <a:gd name="adj" fmla="val 12918"/>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271776"/>
            <a:ext cx="64008" cy="4246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3622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1A5276"/>
                </a:solidFill>
                <a:latin typeface="Segoe UI Semibold"/>
              </a:rPr>
              <a:t>2.2</a:t>
            </a:r>
          </a:p>
        </p:txBody>
      </p:sp>
      <p:sp>
        <p:nvSpPr>
          <p:cNvPr id="15" name="!!agt1"/>
          <p:cNvSpPr txBox="1"/>
          <p:nvPr/>
        </p:nvSpPr>
        <p:spPr>
          <a:xfrm>
            <a:off x="1847088" y="23622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Vectors and the Dot Product</a:t>
            </a:r>
          </a:p>
        </p:txBody>
      </p:sp>
      <p:sp>
        <p:nvSpPr>
          <p:cNvPr id="16" name="!!agp1"/>
          <p:cNvSpPr txBox="1"/>
          <p:nvPr/>
        </p:nvSpPr>
        <p:spPr>
          <a:xfrm>
            <a:off x="9795967" y="23896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12  ›</a:t>
            </a:r>
          </a:p>
        </p:txBody>
      </p:sp>
      <p:sp>
        <p:nvSpPr>
          <p:cNvPr id="17" name="!!ag2" descr="Go to section 2.3 Matrices: A Whole Dataset at Once">
            <a:hlinkClick action="ppaction://hlinksldjump" r:id="rId7"/>
          </p:cNvPr>
          <p:cNvSpPr/>
          <p:nvPr/>
        </p:nvSpPr>
        <p:spPr>
          <a:xfrm>
            <a:off x="658368" y="2769616"/>
            <a:ext cx="10874959" cy="424688"/>
          </a:xfrm>
          <a:prstGeom prst="roundRect">
            <a:avLst>
              <a:gd name="adj" fmla="val 12918"/>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2769616"/>
            <a:ext cx="64008" cy="4246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28600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1A5276"/>
                </a:solidFill>
                <a:latin typeface="Segoe UI Semibold"/>
              </a:rPr>
              <a:t>2.3</a:t>
            </a:r>
          </a:p>
        </p:txBody>
      </p:sp>
      <p:sp>
        <p:nvSpPr>
          <p:cNvPr id="20" name="!!agt2"/>
          <p:cNvSpPr txBox="1"/>
          <p:nvPr/>
        </p:nvSpPr>
        <p:spPr>
          <a:xfrm>
            <a:off x="1847088" y="28600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Matrices: A Whole Dataset at Once</a:t>
            </a:r>
          </a:p>
        </p:txBody>
      </p:sp>
      <p:sp>
        <p:nvSpPr>
          <p:cNvPr id="21" name="!!agp2"/>
          <p:cNvSpPr txBox="1"/>
          <p:nvPr/>
        </p:nvSpPr>
        <p:spPr>
          <a:xfrm>
            <a:off x="9795967" y="28874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12  ›</a:t>
            </a:r>
          </a:p>
        </p:txBody>
      </p:sp>
      <p:sp>
        <p:nvSpPr>
          <p:cNvPr id="22" name="!!ag3" descr="Go to section 2.4 Derivatives and Gradients">
            <a:hlinkClick action="ppaction://hlinksldjump" r:id="rId8"/>
          </p:cNvPr>
          <p:cNvSpPr/>
          <p:nvPr/>
        </p:nvSpPr>
        <p:spPr>
          <a:xfrm>
            <a:off x="658368" y="3267456"/>
            <a:ext cx="10874959" cy="424688"/>
          </a:xfrm>
          <a:prstGeom prst="roundRect">
            <a:avLst>
              <a:gd name="adj" fmla="val 12918"/>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267456"/>
            <a:ext cx="64008" cy="4246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3578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1A5276"/>
                </a:solidFill>
                <a:latin typeface="Segoe UI Semibold"/>
              </a:rPr>
              <a:t>2.4</a:t>
            </a:r>
          </a:p>
        </p:txBody>
      </p:sp>
      <p:sp>
        <p:nvSpPr>
          <p:cNvPr id="25" name="!!agt3"/>
          <p:cNvSpPr txBox="1"/>
          <p:nvPr/>
        </p:nvSpPr>
        <p:spPr>
          <a:xfrm>
            <a:off x="1847088" y="33578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Derivatives and Gradients</a:t>
            </a:r>
          </a:p>
        </p:txBody>
      </p:sp>
      <p:sp>
        <p:nvSpPr>
          <p:cNvPr id="26" name="!!agp3"/>
          <p:cNvSpPr txBox="1"/>
          <p:nvPr/>
        </p:nvSpPr>
        <p:spPr>
          <a:xfrm>
            <a:off x="9795967" y="338531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13  ›</a:t>
            </a:r>
          </a:p>
        </p:txBody>
      </p:sp>
      <p:sp>
        <p:nvSpPr>
          <p:cNvPr id="27" name="!!ag4" descr="Go to section 2.5 Gradient Descent">
            <a:hlinkClick action="ppaction://hlinksldjump" r:id="rId9"/>
          </p:cNvPr>
          <p:cNvSpPr/>
          <p:nvPr/>
        </p:nvSpPr>
        <p:spPr>
          <a:xfrm>
            <a:off x="658368" y="3765296"/>
            <a:ext cx="10874959" cy="424688"/>
          </a:xfrm>
          <a:prstGeom prst="roundRect">
            <a:avLst>
              <a:gd name="adj" fmla="val 12918"/>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3765296"/>
            <a:ext cx="64008" cy="4246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38557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1A5276"/>
                </a:solidFill>
                <a:latin typeface="Segoe UI Semibold"/>
              </a:rPr>
              <a:t>2.5</a:t>
            </a:r>
          </a:p>
        </p:txBody>
      </p:sp>
      <p:sp>
        <p:nvSpPr>
          <p:cNvPr id="30" name="!!agt4"/>
          <p:cNvSpPr txBox="1"/>
          <p:nvPr/>
        </p:nvSpPr>
        <p:spPr>
          <a:xfrm>
            <a:off x="1847088" y="38557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Gradient Descent</a:t>
            </a:r>
          </a:p>
        </p:txBody>
      </p:sp>
      <p:sp>
        <p:nvSpPr>
          <p:cNvPr id="31" name="!!agp4"/>
          <p:cNvSpPr txBox="1"/>
          <p:nvPr/>
        </p:nvSpPr>
        <p:spPr>
          <a:xfrm>
            <a:off x="9795967" y="388315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13  ›</a:t>
            </a:r>
          </a:p>
        </p:txBody>
      </p:sp>
      <p:sp>
        <p:nvSpPr>
          <p:cNvPr id="32" name="!!ag5" descr="Go to section 2.6 Probability">
            <a:hlinkClick action="ppaction://hlinksldjump" r:id="rId10"/>
          </p:cNvPr>
          <p:cNvSpPr/>
          <p:nvPr/>
        </p:nvSpPr>
        <p:spPr>
          <a:xfrm>
            <a:off x="658368" y="4263136"/>
            <a:ext cx="10874959" cy="424688"/>
          </a:xfrm>
          <a:prstGeom prst="roundRect">
            <a:avLst>
              <a:gd name="adj" fmla="val 12918"/>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263136"/>
            <a:ext cx="64008" cy="4246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4353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1A5276"/>
                </a:solidFill>
                <a:latin typeface="Segoe UI Semibold"/>
              </a:rPr>
              <a:t>2.6</a:t>
            </a:r>
          </a:p>
        </p:txBody>
      </p:sp>
      <p:sp>
        <p:nvSpPr>
          <p:cNvPr id="35" name="!!agt5"/>
          <p:cNvSpPr txBox="1"/>
          <p:nvPr/>
        </p:nvSpPr>
        <p:spPr>
          <a:xfrm>
            <a:off x="1847088" y="4353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Probability</a:t>
            </a:r>
          </a:p>
        </p:txBody>
      </p:sp>
      <p:sp>
        <p:nvSpPr>
          <p:cNvPr id="36" name="!!agp5"/>
          <p:cNvSpPr txBox="1"/>
          <p:nvPr/>
        </p:nvSpPr>
        <p:spPr>
          <a:xfrm>
            <a:off x="9795967" y="4380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14  ›</a:t>
            </a:r>
          </a:p>
        </p:txBody>
      </p:sp>
      <p:sp>
        <p:nvSpPr>
          <p:cNvPr id="37" name="!!ag6" descr="Go to section 2.7 Expectation, Variance and the Gaussian">
            <a:hlinkClick action="ppaction://hlinksldjump" r:id="rId11"/>
          </p:cNvPr>
          <p:cNvSpPr/>
          <p:nvPr/>
        </p:nvSpPr>
        <p:spPr>
          <a:xfrm>
            <a:off x="658368" y="4760975"/>
            <a:ext cx="10874959" cy="424688"/>
          </a:xfrm>
          <a:prstGeom prst="roundRect">
            <a:avLst>
              <a:gd name="adj" fmla="val 12918"/>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agb6">
            <a:extLst>
              <a:ext uri="{C183D7F6-B498-43B3-948B-1728B52AA6E4}">
                <adec:decorative xmlns:adec="http://schemas.microsoft.com/office/drawing/2017/decorative" val="1"/>
              </a:ext>
            </a:extLst>
          </p:cNvPr>
          <p:cNvSpPr/>
          <p:nvPr/>
        </p:nvSpPr>
        <p:spPr>
          <a:xfrm>
            <a:off x="658368" y="4760975"/>
            <a:ext cx="64008" cy="4246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agn6"/>
          <p:cNvSpPr txBox="1"/>
          <p:nvPr/>
        </p:nvSpPr>
        <p:spPr>
          <a:xfrm>
            <a:off x="932688" y="4851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1A5276"/>
                </a:solidFill>
                <a:latin typeface="Segoe UI Semibold"/>
              </a:rPr>
              <a:t>2.7</a:t>
            </a:r>
          </a:p>
        </p:txBody>
      </p:sp>
      <p:sp>
        <p:nvSpPr>
          <p:cNvPr id="40" name="!!agt6"/>
          <p:cNvSpPr txBox="1"/>
          <p:nvPr/>
        </p:nvSpPr>
        <p:spPr>
          <a:xfrm>
            <a:off x="1847088" y="4851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Expectation, Variance and the Gaussian</a:t>
            </a:r>
          </a:p>
        </p:txBody>
      </p:sp>
      <p:sp>
        <p:nvSpPr>
          <p:cNvPr id="41" name="!!agp6"/>
          <p:cNvSpPr txBox="1"/>
          <p:nvPr/>
        </p:nvSpPr>
        <p:spPr>
          <a:xfrm>
            <a:off x="9795967" y="4878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15  ›</a:t>
            </a:r>
          </a:p>
        </p:txBody>
      </p:sp>
      <p:sp>
        <p:nvSpPr>
          <p:cNvPr id="42" name="!!ag7" descr="Go to section 2.8 Maximum Likelihood">
            <a:hlinkClick action="ppaction://hlinksldjump" r:id="rId12"/>
          </p:cNvPr>
          <p:cNvSpPr/>
          <p:nvPr/>
        </p:nvSpPr>
        <p:spPr>
          <a:xfrm>
            <a:off x="658368" y="5258815"/>
            <a:ext cx="10874959" cy="424688"/>
          </a:xfrm>
          <a:prstGeom prst="roundRect">
            <a:avLst>
              <a:gd name="adj" fmla="val 12918"/>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agb7">
            <a:extLst>
              <a:ext uri="{C183D7F6-B498-43B3-948B-1728B52AA6E4}">
                <adec:decorative xmlns:adec="http://schemas.microsoft.com/office/drawing/2017/decorative" val="1"/>
              </a:ext>
            </a:extLst>
          </p:cNvPr>
          <p:cNvSpPr/>
          <p:nvPr/>
        </p:nvSpPr>
        <p:spPr>
          <a:xfrm>
            <a:off x="658368" y="5258815"/>
            <a:ext cx="64008" cy="4246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agn7"/>
          <p:cNvSpPr txBox="1"/>
          <p:nvPr/>
        </p:nvSpPr>
        <p:spPr>
          <a:xfrm>
            <a:off x="932688" y="5349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1A5276"/>
                </a:solidFill>
                <a:latin typeface="Segoe UI Semibold"/>
              </a:rPr>
              <a:t>2.8</a:t>
            </a:r>
          </a:p>
        </p:txBody>
      </p:sp>
      <p:sp>
        <p:nvSpPr>
          <p:cNvPr id="45" name="!!agt7"/>
          <p:cNvSpPr txBox="1"/>
          <p:nvPr/>
        </p:nvSpPr>
        <p:spPr>
          <a:xfrm>
            <a:off x="1847088" y="5349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Maximum Likelihood</a:t>
            </a:r>
          </a:p>
        </p:txBody>
      </p:sp>
      <p:sp>
        <p:nvSpPr>
          <p:cNvPr id="46" name="!!agp7"/>
          <p:cNvSpPr txBox="1"/>
          <p:nvPr/>
        </p:nvSpPr>
        <p:spPr>
          <a:xfrm>
            <a:off x="9795967" y="5376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15  ›</a:t>
            </a:r>
          </a:p>
        </p:txBody>
      </p:sp>
      <p:sp>
        <p:nvSpPr>
          <p:cNvPr id="47" name="!!ag8" descr="Go to section 2.9 Information and Entropy">
            <a:hlinkClick action="ppaction://hlinksldjump" r:id="rId13"/>
          </p:cNvPr>
          <p:cNvSpPr/>
          <p:nvPr/>
        </p:nvSpPr>
        <p:spPr>
          <a:xfrm>
            <a:off x="658368" y="5756655"/>
            <a:ext cx="10874959" cy="424688"/>
          </a:xfrm>
          <a:prstGeom prst="roundRect">
            <a:avLst>
              <a:gd name="adj" fmla="val 12918"/>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agb8">
            <a:extLst>
              <a:ext uri="{C183D7F6-B498-43B3-948B-1728B52AA6E4}">
                <adec:decorative xmlns:adec="http://schemas.microsoft.com/office/drawing/2017/decorative" val="1"/>
              </a:ext>
            </a:extLst>
          </p:cNvPr>
          <p:cNvSpPr/>
          <p:nvPr/>
        </p:nvSpPr>
        <p:spPr>
          <a:xfrm>
            <a:off x="658368" y="5756655"/>
            <a:ext cx="64008" cy="42468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agn8"/>
          <p:cNvSpPr txBox="1"/>
          <p:nvPr/>
        </p:nvSpPr>
        <p:spPr>
          <a:xfrm>
            <a:off x="932688" y="5847079"/>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1A5276"/>
                </a:solidFill>
                <a:latin typeface="Segoe UI Semibold"/>
              </a:rPr>
              <a:t>2.9</a:t>
            </a:r>
          </a:p>
        </p:txBody>
      </p:sp>
      <p:sp>
        <p:nvSpPr>
          <p:cNvPr id="50" name="!!agt8"/>
          <p:cNvSpPr txBox="1"/>
          <p:nvPr/>
        </p:nvSpPr>
        <p:spPr>
          <a:xfrm>
            <a:off x="1847088" y="5847079"/>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Information and Entropy</a:t>
            </a:r>
          </a:p>
        </p:txBody>
      </p:sp>
      <p:sp>
        <p:nvSpPr>
          <p:cNvPr id="51" name="!!agp8"/>
          <p:cNvSpPr txBox="1"/>
          <p:nvPr/>
        </p:nvSpPr>
        <p:spPr>
          <a:xfrm>
            <a:off x="9795967" y="58745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300" b="0" i="0">
                <a:solidFill>
                  <a:srgbClr val="5F6F7B"/>
                </a:solidFill>
                <a:latin typeface="Segoe UI"/>
              </a:rPr>
              <a:t>p. 16  ›</a:t>
            </a:r>
          </a:p>
        </p:txBody>
      </p:sp>
      <p:sp>
        <p:nvSpPr>
          <p:cNvPr id="5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pfill">
            <a:extLst>
              <a:ext uri="{C183D7F6-B498-43B3-948B-1728B52AA6E4}">
                <adec:decorative xmlns:adec="http://schemas.microsoft.com/office/drawing/2017/decorative" val="1"/>
              </a:ext>
            </a:extLst>
          </p:cNvPr>
          <p:cNvSpPr/>
          <p:nvPr/>
        </p:nvSpPr>
        <p:spPr>
          <a:xfrm>
            <a:off x="0" y="0"/>
            <a:ext cx="106944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Kinds of Mathematics, Four Jobs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  ·  Handout p. 11     </a:t>
            </a:r>
            <a:fld id="{85DB5FD5-6295-4A70-B118-26125D8928A8}" type="slidenum">
              <a:rPr lang="en-GB" sz="1000">
                <a:solidFill>
                  <a:srgbClr val="8795A1"/>
                </a:solidFill>
                <a:latin typeface="Segoe UI"/>
              </a:rPr>
              <a:t>6</a:t>
            </a:fld>
          </a:p>
        </p:txBody>
      </p:sp>
      <p:graphicFrame>
        <p:nvGraphicFramePr>
          <p:cNvPr id="7" name="!!table"/>
          <p:cNvGraphicFramePr>
            <a:graphicFrameLocks noGrp="1"/>
          </p:cNvGraphicFramePr>
          <p:nvPr/>
        </p:nvGraphicFramePr>
        <p:xfrm>
          <a:off x="658368" y="1737360"/>
          <a:ext cx="10874958" cy="3322320"/>
        </p:xfrm>
        <a:graphic>
          <a:graphicData uri="http://schemas.openxmlformats.org/drawingml/2006/table">
            <a:tbl>
              <a:tblPr firstRow="0" bandRow="0" firstCol="0" lastRow="0" lastCol="0" bandCol="0">
                <a:tableStyleId>{2D5ABB26-0587-4C30-8999-92F81FD0307C}</a:tableStyleId>
              </a:tblPr>
              <a:tblGrid>
                <a:gridCol w="2174991"/>
                <a:gridCol w="3914985"/>
                <a:gridCol w="4784982"/>
              </a:tblGrid>
              <a:tr h="405384">
                <a:tc>
                  <a:txBody>
                    <a:bodyPr wrap="square"/>
                    <a:lstStyle/>
                    <a:p>
                      <a:pPr algn="l"/>
                      <a:r>
                        <a:rPr sz="1700" b="1" i="0">
                          <a:solidFill>
                            <a:srgbClr val="1A5276"/>
                          </a:solidFill>
                          <a:latin typeface="Segoe UI"/>
                        </a:rPr>
                        <a:t>Mathematics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Its job</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Where it appears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923544">
                <a:tc>
                  <a:txBody>
                    <a:bodyPr wrap="square"/>
                    <a:lstStyle/>
                    <a:p>
                      <a:pPr algn="l"/>
                      <a:r>
                        <a:rPr sz="1700" b="0" i="0">
                          <a:solidFill>
                            <a:srgbClr val="1C252B"/>
                          </a:solidFill>
                          <a:latin typeface="Segoe UI"/>
                        </a:rPr>
                        <a:t>Linear algebra</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1">
                          <a:solidFill>
                            <a:srgbClr val="1C252B"/>
                          </a:solidFill>
                          <a:latin typeface="Segoe UI"/>
                        </a:rPr>
                        <a:t>Represent</a:t>
                      </a:r>
                      <a:r>
                        <a:rPr sz="1700" b="0" i="0">
                          <a:solidFill>
                            <a:srgbClr val="1C252B"/>
                          </a:solidFill>
                          <a:latin typeface="Segoe UI"/>
                        </a:rPr>
                        <a:t> examples and models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Every model: an example is a vector, a dataset is a matrix, a linear model is a dot product (Chs 5, 6, 12, 13, 16)</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Calculus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1">
                          <a:solidFill>
                            <a:srgbClr val="1C252B"/>
                          </a:solidFill>
                          <a:latin typeface="Segoe UI"/>
                        </a:rPr>
                        <a:t>Optimise</a:t>
                      </a:r>
                      <a:r>
                        <a:rPr sz="1700" b="0" i="0">
                          <a:solidFill>
                            <a:srgbClr val="1C252B"/>
                          </a:solidFill>
                          <a:latin typeface="Segoe UI"/>
                        </a:rPr>
                        <a:t>: find the weights that minimise a loss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Gradient descent in Chs 5, 6 and 13; backpropagation is the chain rule</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Probability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1">
                          <a:solidFill>
                            <a:srgbClr val="1C252B"/>
                          </a:solidFill>
                          <a:latin typeface="Segoe UI"/>
                        </a:rPr>
                        <a:t>Reason under uncertainty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Naive Bayes (Ch 10), EM (Ch 17), HMMs (Ch 18), every stochastic environment in Part V</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Information theory</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1">
                          <a:solidFill>
                            <a:srgbClr val="1C252B"/>
                          </a:solidFill>
                          <a:latin typeface="Segoe UI"/>
                        </a:rPr>
                        <a:t>Measure surprise</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Decision-tree splits (Ch 9) and the cross-entropy loss (Ch 6)</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128333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Vectors and the Dot Product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2 OF 9</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   Four Kinds of Mathematics, Four Jobs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2.2   Vectors and the Dot Product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   Matrices: A Whole Dataset at Once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2.4   Derivatives and Gradients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   Gradient Descent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   Probability</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   Expectation, Variance and the Gaussian</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   Maximum Likelihood</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     </a:t>
            </a:r>
            <a:fld id="{2FA31005-7F9F-4A1B-B477-8FA48B7BDE94}" type="slidenum">
              <a:rPr lang="en-GB" sz="1000">
                <a:solidFill>
                  <a:srgbClr val="8795A1"/>
                </a:solidFill>
                <a:latin typeface="Segoe UI"/>
              </a:rPr>
              <a:t>7</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149722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Vector, Dot Product and Norm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12     </a:t>
            </a:r>
            <a:fld id="{1359886D-C820-4752-A35D-DD5B96927952}"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99305"/>
          </a:xfrm>
          <a:prstGeom prst="roundRect">
            <a:avLst>
              <a:gd name="adj" fmla="val 203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9930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a:t>
            </a:r>
            <a:r>
              <a:rPr sz="2200" b="1" i="0">
                <a:solidFill>
                  <a:srgbClr val="1A5276"/>
                </a:solidFill>
                <a:latin typeface="Segoe UI"/>
              </a:rPr>
              <a:t>vector</a:t>
            </a:r>
            <a:r>
              <a:rPr sz="2200" b="0" i="0">
                <a:solidFill>
                  <a:srgbClr val="1C252B"/>
                </a:solidFill>
                <a:latin typeface="Segoe UI"/>
              </a:rPr>
              <a:t> </a:t>
            </a:r>
            <a:r>
              <a:rPr sz="2200" b="1" i="1">
                <a:solidFill>
                  <a:srgbClr val="1C252B"/>
                </a:solidFill>
                <a:latin typeface="Cambria"/>
              </a:rPr>
              <a:t>x</a:t>
            </a:r>
            <a:r>
              <a:rPr sz="2200" b="0" i="0">
                <a:solidFill>
                  <a:srgbClr val="1C252B"/>
                </a:solidFill>
                <a:latin typeface="Cambria"/>
              </a:rPr>
              <a:t> = (</a:t>
            </a:r>
            <a:r>
              <a:rPr sz="2200" b="0" i="1">
                <a:solidFill>
                  <a:srgbClr val="1C252B"/>
                </a:solidFill>
                <a:latin typeface="Cambria"/>
              </a:rPr>
              <a:t>x</a:t>
            </a:r>
            <a:r>
              <a:rPr sz="2200" b="0" i="0" baseline="-25000">
                <a:solidFill>
                  <a:srgbClr val="1C252B"/>
                </a:solidFill>
                <a:latin typeface="Cambria"/>
              </a:rPr>
              <a:t>1</a:t>
            </a:r>
            <a:r>
              <a:rPr sz="2200" b="0" i="0">
                <a:solidFill>
                  <a:srgbClr val="1C252B"/>
                </a:solidFill>
                <a:latin typeface="Cambria"/>
              </a:rPr>
              <a:t>, …, </a:t>
            </a:r>
            <a:r>
              <a:rPr sz="2200" b="0" i="1">
                <a:solidFill>
                  <a:srgbClr val="1C252B"/>
                </a:solidFill>
                <a:latin typeface="Cambria"/>
              </a:rPr>
              <a:t>x</a:t>
            </a:r>
            <a:r>
              <a:rPr sz="2200" b="0" i="1" baseline="-25000">
                <a:solidFill>
                  <a:srgbClr val="1C252B"/>
                </a:solidFill>
                <a:latin typeface="Cambria"/>
              </a:rPr>
              <a:t>d</a:t>
            </a:r>
            <a:r>
              <a:rPr sz="2200" b="0" i="0">
                <a:solidFill>
                  <a:srgbClr val="1C252B"/>
                </a:solidFill>
                <a:latin typeface="Cambria"/>
              </a:rPr>
              <a:t>)</a:t>
            </a:r>
            <a:r>
              <a:rPr sz="2200" b="0" i="0">
                <a:solidFill>
                  <a:srgbClr val="1C252B"/>
                </a:solidFill>
                <a:latin typeface="Segoe UI"/>
              </a:rPr>
              <a:t> is an ordered list of </a:t>
            </a:r>
            <a:r>
              <a:rPr sz="2200" b="0" i="1">
                <a:solidFill>
                  <a:srgbClr val="1C252B"/>
                </a:solidFill>
                <a:latin typeface="Cambria"/>
              </a:rPr>
              <a:t>d</a:t>
            </a:r>
            <a:r>
              <a:rPr sz="2200" b="0" i="0">
                <a:solidFill>
                  <a:srgbClr val="1C252B"/>
                </a:solidFill>
                <a:latin typeface="Segoe UI"/>
              </a:rPr>
              <a:t> numbers — in this course, usually the features of one example.</a:t>
            </a:r>
          </a:p>
        </p:txBody>
      </p:sp>
      <p:sp>
        <p:nvSpPr>
          <p:cNvPr id="10" name="body-1"/>
          <p:cNvSpPr txBox="1"/>
          <p:nvPr/>
        </p:nvSpPr>
        <p:spPr>
          <a:xfrm>
            <a:off x="1060704" y="2899308"/>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a:t>
            </a:r>
            <a:r>
              <a:rPr sz="2200" b="1" i="0">
                <a:solidFill>
                  <a:srgbClr val="1A5276"/>
                </a:solidFill>
                <a:latin typeface="Segoe UI"/>
              </a:rPr>
              <a:t>dot product</a:t>
            </a:r>
            <a:r>
              <a:rPr sz="2200" b="0" i="0">
                <a:solidFill>
                  <a:srgbClr val="1C252B"/>
                </a:solidFill>
                <a:latin typeface="Segoe UI"/>
              </a:rPr>
              <a:t> of two vectors of the same length multiplies them element by element and adds up:</a:t>
            </a:r>
          </a:p>
        </p:txBody>
      </p:sp>
      <p:pic>
        <p:nvPicPr>
          <p:cNvPr id="11" name="body-2" descr="\mathbf{w} \cdot \mathbf{x} = \mathbf{w}^{\top}\mathbf{x} = \sum_{j=1}^{d} w_j x_j"/>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750360"/>
            <a:ext cx="10161727" cy="1022207"/>
          </a:xfrm>
          <a:prstGeom prst="rect">
            <a:avLst/>
          </a:prstGeom>
        </p:spPr>
      </p:pic>
      <p:pic>
        <p:nvPicPr>
          <p:cNvPr id="12" name="body-3" descr="The norm (length) of a vector is ‖x‖ = √(x·x) = √(Σj xj2), and the Euclidean distance between two vectors is the norm of their difference, ‖x − z‖."/>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0704" y="4926238"/>
            <a:ext cx="10161727" cy="999530"/>
          </a:xfrm>
          <a:prstGeom prst="rect">
            <a:avLst/>
          </a:prstGeom>
        </p:spPr>
      </p:pic>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71111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Student as a Vector</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12     </a:t>
            </a:r>
            <a:fld id="{56FB4B1E-9B33-4A9E-B885-C1B129FE2BAA}"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3918"/>
          </a:xfrm>
          <a:prstGeom prst="roundRect">
            <a:avLst>
              <a:gd name="adj" fmla="val 208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391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student has attendance </a:t>
            </a:r>
            <a:r>
              <a:rPr sz="2000" b="0" i="0">
                <a:solidFill>
                  <a:srgbClr val="1C252B"/>
                </a:solidFill>
                <a:latin typeface="Cambria"/>
              </a:rPr>
              <a:t>0.9</a:t>
            </a:r>
            <a:r>
              <a:rPr sz="2000" b="0" i="0">
                <a:solidFill>
                  <a:srgbClr val="1C252B"/>
                </a:solidFill>
                <a:latin typeface="Segoe UI"/>
              </a:rPr>
              <a:t>, quiz average </a:t>
            </a:r>
            <a:r>
              <a:rPr sz="2000" b="0" i="0">
                <a:solidFill>
                  <a:srgbClr val="1C252B"/>
                </a:solidFill>
                <a:latin typeface="Cambria"/>
              </a:rPr>
              <a:t>0.6</a:t>
            </a:r>
            <a:r>
              <a:rPr sz="2000" b="0" i="0">
                <a:solidFill>
                  <a:srgbClr val="1C252B"/>
                </a:solidFill>
                <a:latin typeface="Segoe UI"/>
              </a:rPr>
              <a:t> and </a:t>
            </a:r>
            <a:r>
              <a:rPr sz="2000" b="0" i="0">
                <a:solidFill>
                  <a:srgbClr val="1C252B"/>
                </a:solidFill>
                <a:latin typeface="Cambria"/>
              </a:rPr>
              <a:t>4</a:t>
            </a:r>
            <a:r>
              <a:rPr sz="2000" b="0" i="0">
                <a:solidFill>
                  <a:srgbClr val="1C252B"/>
                </a:solidFill>
                <a:latin typeface="Segoe UI"/>
              </a:rPr>
              <a:t> logins per week: </a:t>
            </a:r>
            <a:r>
              <a:rPr sz="2000" b="1" i="1">
                <a:solidFill>
                  <a:srgbClr val="1C252B"/>
                </a:solidFill>
                <a:latin typeface="Cambria"/>
              </a:rPr>
              <a:t>x</a:t>
            </a:r>
            <a:r>
              <a:rPr sz="2000" b="0" i="0">
                <a:solidFill>
                  <a:srgbClr val="1C252B"/>
                </a:solidFill>
                <a:latin typeface="Cambria"/>
              </a:rPr>
              <a:t> = (0.9, 0.6, 4)</a:t>
            </a:r>
            <a:r>
              <a:rPr sz="2000" b="0" i="0">
                <a:solidFill>
                  <a:srgbClr val="1C252B"/>
                </a:solidFill>
                <a:latin typeface="Segoe UI"/>
              </a:rPr>
              <a:t>. A model has weights </a:t>
            </a:r>
            <a:r>
              <a:rPr sz="2000" b="1" i="1">
                <a:solidFill>
                  <a:srgbClr val="1C252B"/>
                </a:solidFill>
                <a:latin typeface="Cambria"/>
              </a:rPr>
              <a:t>w</a:t>
            </a:r>
            <a:r>
              <a:rPr sz="2000" b="0" i="0">
                <a:solidFill>
                  <a:srgbClr val="1C252B"/>
                </a:solidFill>
                <a:latin typeface="Cambria"/>
              </a:rPr>
              <a:t> = (2, 3, 0.25)</a:t>
            </a:r>
            <a:r>
              <a:rPr sz="2000" b="0" i="0">
                <a:solidFill>
                  <a:srgbClr val="1C252B"/>
                </a:solidFill>
                <a:latin typeface="Segoe UI"/>
              </a:rPr>
              <a:t> and bias </a:t>
            </a:r>
            <a:r>
              <a:rPr sz="2000" b="0" i="1">
                <a:solidFill>
                  <a:srgbClr val="1C252B"/>
                </a:solidFill>
                <a:latin typeface="Cambria"/>
              </a:rPr>
              <a:t>b</a:t>
            </a:r>
            <a:r>
              <a:rPr sz="2000" b="0" i="0">
                <a:solidFill>
                  <a:srgbClr val="1C252B"/>
                </a:solidFill>
                <a:latin typeface="Cambria"/>
              </a:rPr>
              <a:t> = −3</a:t>
            </a:r>
            <a:r>
              <a:rPr sz="2000" b="0" i="0">
                <a:solidFill>
                  <a:srgbClr val="1C252B"/>
                </a:solidFill>
                <a:latin typeface="Segoe UI"/>
              </a:rPr>
              <a:t>.</a:t>
            </a:r>
          </a:p>
        </p:txBody>
      </p:sp>
      <p:sp>
        <p:nvSpPr>
          <p:cNvPr id="10" name="body-1"/>
          <p:cNvSpPr txBox="1"/>
          <p:nvPr/>
        </p:nvSpPr>
        <p:spPr>
          <a:xfrm>
            <a:off x="1042416" y="2785363"/>
            <a:ext cx="10234879" cy="362712"/>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7D6608"/>
                </a:solidFill>
                <a:latin typeface="Segoe UI"/>
              </a:rPr>
              <a:t>Score:</a:t>
            </a:r>
            <a:r>
              <a:rPr sz="2000" b="0" i="0">
                <a:solidFill>
                  <a:srgbClr val="1C252B"/>
                </a:solidFill>
                <a:latin typeface="Segoe UI"/>
              </a:rPr>
              <a:t> </a:t>
            </a:r>
            <a:r>
              <a:rPr sz="2000" b="1" i="1">
                <a:solidFill>
                  <a:srgbClr val="1C252B"/>
                </a:solidFill>
                <a:latin typeface="Cambria"/>
              </a:rPr>
              <a:t>w</a:t>
            </a:r>
            <a:r>
              <a:rPr sz="2000" b="0" i="0">
                <a:solidFill>
                  <a:srgbClr val="1C252B"/>
                </a:solidFill>
                <a:latin typeface="Cambria"/>
              </a:rPr>
              <a:t>·</a:t>
            </a:r>
            <a:r>
              <a:rPr sz="2000" b="1" i="1">
                <a:solidFill>
                  <a:srgbClr val="1C252B"/>
                </a:solidFill>
                <a:latin typeface="Cambria"/>
              </a:rPr>
              <a:t>x</a:t>
            </a:r>
            <a:r>
              <a:rPr sz="2000" b="0" i="0">
                <a:solidFill>
                  <a:srgbClr val="1C252B"/>
                </a:solidFill>
                <a:latin typeface="Cambria"/>
              </a:rPr>
              <a:t> + </a:t>
            </a:r>
            <a:r>
              <a:rPr sz="2000" b="0" i="1">
                <a:solidFill>
                  <a:srgbClr val="1C252B"/>
                </a:solidFill>
                <a:latin typeface="Cambria"/>
              </a:rPr>
              <a:t>b</a:t>
            </a:r>
            <a:r>
              <a:rPr sz="2000" b="0" i="0">
                <a:solidFill>
                  <a:srgbClr val="1C252B"/>
                </a:solidFill>
                <a:latin typeface="Cambria"/>
              </a:rPr>
              <a:t> = (2)(0.9) + (3)(0.6) + (0.25)(4) − 3 = 1.8 + 1.8 + 1.0 − 3 = </a:t>
            </a:r>
            <a:r>
              <a:rPr sz="2000" b="1" i="0">
                <a:solidFill>
                  <a:srgbClr val="1C252B"/>
                </a:solidFill>
                <a:latin typeface="Cambria"/>
              </a:rPr>
              <a:t>1.6</a:t>
            </a:r>
            <a:r>
              <a:rPr sz="2000" b="0" i="0">
                <a:solidFill>
                  <a:srgbClr val="1C252B"/>
                </a:solidFill>
                <a:latin typeface="Segoe UI"/>
              </a:rPr>
              <a:t>.</a:t>
            </a:r>
          </a:p>
        </p:txBody>
      </p:sp>
      <p:sp>
        <p:nvSpPr>
          <p:cNvPr id="11" name="body-2"/>
          <p:cNvSpPr txBox="1"/>
          <p:nvPr/>
        </p:nvSpPr>
        <p:spPr>
          <a:xfrm>
            <a:off x="1042416" y="3242055"/>
            <a:ext cx="10234879" cy="362712"/>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7D6608"/>
                </a:solidFill>
                <a:latin typeface="Segoe UI"/>
              </a:rPr>
              <a:t>Distance to a second student</a:t>
            </a:r>
            <a:r>
              <a:rPr sz="2000" b="0" i="0">
                <a:solidFill>
                  <a:srgbClr val="1C252B"/>
                </a:solidFill>
                <a:latin typeface="Segoe UI"/>
              </a:rPr>
              <a:t> </a:t>
            </a:r>
            <a:r>
              <a:rPr sz="2000" b="1" i="1">
                <a:solidFill>
                  <a:srgbClr val="1C252B"/>
                </a:solidFill>
                <a:latin typeface="Cambria"/>
              </a:rPr>
              <a:t>z</a:t>
            </a:r>
            <a:r>
              <a:rPr sz="2000" b="0" i="0">
                <a:solidFill>
                  <a:srgbClr val="1C252B"/>
                </a:solidFill>
                <a:latin typeface="Cambria"/>
              </a:rPr>
              <a:t> = (0.5, 0.4, 1)</a:t>
            </a:r>
            <a:r>
              <a:rPr sz="2000" b="0" i="0">
                <a:solidFill>
                  <a:srgbClr val="1C252B"/>
                </a:solidFill>
                <a:latin typeface="Segoe UI"/>
              </a:rPr>
              <a:t>:</a:t>
            </a:r>
          </a:p>
        </p:txBody>
      </p:sp>
      <p:pic>
        <p:nvPicPr>
          <p:cNvPr id="12" name="body-3" descr="\|\mathbf{x}-\mathbf{z}\| = \sqrt{0.4^2 + 0.2^2 + 3^2} = \sqrt{0.16 + 0.04 + 9} = \sqrt{9.2} \approx \mathbf{3.0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698748"/>
            <a:ext cx="10234879" cy="423550"/>
          </a:xfrm>
          <a:prstGeom prst="rect">
            <a:avLst/>
          </a:prstGeom>
        </p:spPr>
      </p:pic>
      <p:sp>
        <p:nvSpPr>
          <p:cNvPr id="13" name="body-4"/>
          <p:cNvSpPr txBox="1"/>
          <p:nvPr/>
        </p:nvSpPr>
        <p:spPr>
          <a:xfrm>
            <a:off x="1042416" y="4261998"/>
            <a:ext cx="10234879" cy="1630680"/>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7D6608"/>
                </a:solidFill>
                <a:latin typeface="Segoe UI"/>
              </a:rPr>
              <a:t>Look at where the distance came from.</a:t>
            </a:r>
            <a:r>
              <a:rPr sz="2000" b="0" i="0">
                <a:solidFill>
                  <a:srgbClr val="1C252B"/>
                </a:solidFill>
                <a:latin typeface="Segoe UI"/>
              </a:rPr>
              <a:t> Of the </a:t>
            </a:r>
            <a:r>
              <a:rPr sz="2000" b="0" i="0">
                <a:solidFill>
                  <a:srgbClr val="1C252B"/>
                </a:solidFill>
                <a:latin typeface="Cambria"/>
              </a:rPr>
              <a:t>9.2</a:t>
            </a:r>
            <a:r>
              <a:rPr sz="2000" b="0" i="0">
                <a:solidFill>
                  <a:srgbClr val="1C252B"/>
                </a:solidFill>
                <a:latin typeface="Segoe UI"/>
              </a:rPr>
              <a:t> under the root, </a:t>
            </a:r>
            <a:r>
              <a:rPr sz="2000" b="0" i="0">
                <a:solidFill>
                  <a:srgbClr val="1C252B"/>
                </a:solidFill>
                <a:latin typeface="Cambria"/>
              </a:rPr>
              <a:t>9</a:t>
            </a:r>
            <a:r>
              <a:rPr sz="2000" b="0" i="0">
                <a:solidFill>
                  <a:srgbClr val="1C252B"/>
                </a:solidFill>
                <a:latin typeface="Segoe UI"/>
              </a:rPr>
              <a:t> is logins. Attendance and quiz marks — arguably the more important differences — contribute almost nothing, simply because they are measured on a scale of 0 to 1 and logins are not. Any method built on distance (Chapter 11, Chapter 15) needs the features put on a common scale first (Chapter 3).</a:t>
            </a:r>
          </a:p>
        </p:txBody>
      </p:sp>
      <p:sp>
        <p:nvSpPr>
          <p:cNvPr id="14" name="body-4bar">
            <a:extLst>
              <a:ext uri="{C183D7F6-B498-43B3-948B-1728B52AA6E4}">
                <adec:decorative xmlns:adec="http://schemas.microsoft.com/office/drawing/2017/decorative" val="1"/>
              </a:ext>
            </a:extLst>
          </p:cNvPr>
          <p:cNvSpPr/>
          <p:nvPr/>
        </p:nvSpPr>
        <p:spPr>
          <a:xfrm>
            <a:off x="841248" y="4280286"/>
            <a:ext cx="54864" cy="156667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92500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right)">
                                      <p:cBhvr>
                                        <p:cTn id="23" dur="42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Cosine Similarity: Direction Without Length</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12     </a:t>
            </a:r>
            <a:fld id="{9EA8D085-C019-4210-951C-11281C557A52}"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646913"/>
          </a:xfrm>
          <a:prstGeom prst="roundRect">
            <a:avLst>
              <a:gd name="adj" fmla="val 345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64691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Sometimes length is a nuisance. Two documents on the same topic, one ten times longer, have word-count vectors pointing the same way but of very different lengths. Cosine similarity compares directions only: cosθ = (x·z)/‖x‖ ‖z‖, which is 1 for vectors pointing the same way, 0 for perpendicular ones and −1 for opposite on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2025121"/>
          </a:xfrm>
          <a:prstGeom prst="rect">
            <a:avLst/>
          </a:prstGeom>
        </p:spPr>
      </p:pic>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13889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Matrices: A Whole Dataset at Once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3 OF 9</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   Four Kinds of Mathematics, Four Jobs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   Vectors and the Dot Product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2.3   Matrices: A Whole Dataset at Once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2.4   Derivatives and Gradients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   Gradient Descent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   Probability</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   Expectation, Variance and the Gaussian</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   Maximum Likelihood</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     </a:t>
            </a:r>
            <a:fld id="{C30A2EE5-B8FD-48F0-B869-5D49DF79D785}" type="slidenum">
              <a:rPr lang="en-GB" sz="1000">
                <a:solidFill>
                  <a:srgbClr val="8795A1"/>
                </a:solidFill>
                <a:latin typeface="Segoe UI"/>
              </a:rPr>
              <a:t>11</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235278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Data Matrix and Matrix–Vector Product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12     </a:t>
            </a:r>
            <a:fld id="{A6D54742-C99F-4FAA-9104-14426B7FA31B}"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Stack </a:t>
            </a:r>
            <a:r>
              <a:rPr sz="2300" b="0" i="1">
                <a:solidFill>
                  <a:srgbClr val="1C252B"/>
                </a:solidFill>
                <a:latin typeface="Cambria"/>
              </a:rPr>
              <a:t>n</a:t>
            </a:r>
            <a:r>
              <a:rPr sz="2300" b="0" i="0">
                <a:solidFill>
                  <a:srgbClr val="1C252B"/>
                </a:solidFill>
                <a:latin typeface="Segoe UI"/>
              </a:rPr>
              <a:t> examples as the rows of a </a:t>
            </a:r>
            <a:r>
              <a:rPr sz="2300" b="1" i="0">
                <a:solidFill>
                  <a:srgbClr val="1A5276"/>
                </a:solidFill>
                <a:latin typeface="Segoe UI"/>
              </a:rPr>
              <a:t>matrix</a:t>
            </a:r>
            <a:r>
              <a:rPr sz="2300" b="0" i="0">
                <a:solidFill>
                  <a:srgbClr val="1C252B"/>
                </a:solidFill>
                <a:latin typeface="Segoe UI"/>
              </a:rPr>
              <a:t> </a:t>
            </a:r>
            <a:r>
              <a:rPr sz="2300" b="0" i="1">
                <a:solidFill>
                  <a:srgbClr val="1C252B"/>
                </a:solidFill>
                <a:latin typeface="Cambria"/>
              </a:rPr>
              <a:t>X</a:t>
            </a:r>
            <a:r>
              <a:rPr sz="2300" b="0" i="0">
                <a:solidFill>
                  <a:srgbClr val="1C252B"/>
                </a:solidFill>
                <a:latin typeface="Segoe UI"/>
              </a:rPr>
              <a:t> with </a:t>
            </a:r>
            <a:r>
              <a:rPr sz="2300" b="0" i="1">
                <a:solidFill>
                  <a:srgbClr val="1C252B"/>
                </a:solidFill>
                <a:latin typeface="Cambria"/>
              </a:rPr>
              <a:t>n</a:t>
            </a:r>
            <a:r>
              <a:rPr sz="2300" b="0" i="0">
                <a:solidFill>
                  <a:srgbClr val="1C252B"/>
                </a:solidFill>
                <a:latin typeface="Segoe UI"/>
              </a:rPr>
              <a:t> rows and </a:t>
            </a:r>
            <a:r>
              <a:rPr sz="2300" b="0" i="1">
                <a:solidFill>
                  <a:srgbClr val="1C252B"/>
                </a:solidFill>
                <a:latin typeface="Cambria"/>
              </a:rPr>
              <a:t>d</a:t>
            </a:r>
            <a:r>
              <a:rPr sz="2300" b="0" i="0">
                <a:solidFill>
                  <a:srgbClr val="1C252B"/>
                </a:solidFill>
                <a:latin typeface="Segoe UI"/>
              </a:rPr>
              <a:t> columns. Then </a:t>
            </a:r>
            <a:r>
              <a:rPr sz="2300" b="0" i="1">
                <a:solidFill>
                  <a:srgbClr val="1C252B"/>
                </a:solidFill>
                <a:latin typeface="Cambria"/>
              </a:rPr>
              <a:t>X</a:t>
            </a:r>
            <a:r>
              <a:rPr sz="2300" b="1" i="1">
                <a:solidFill>
                  <a:srgbClr val="1C252B"/>
                </a:solidFill>
                <a:latin typeface="Cambria"/>
              </a:rPr>
              <a:t>w</a:t>
            </a:r>
            <a:r>
              <a:rPr sz="2300" b="0" i="0">
                <a:solidFill>
                  <a:srgbClr val="1C252B"/>
                </a:solidFill>
                <a:latin typeface="Segoe UI"/>
              </a:rPr>
              <a:t> is a vector of </a:t>
            </a:r>
            <a:r>
              <a:rPr sz="2300" b="0" i="1">
                <a:solidFill>
                  <a:srgbClr val="1C252B"/>
                </a:solidFill>
                <a:latin typeface="Cambria"/>
              </a:rPr>
              <a:t>n</a:t>
            </a:r>
            <a:r>
              <a:rPr sz="2300" b="0" i="0">
                <a:solidFill>
                  <a:srgbClr val="1C252B"/>
                </a:solidFill>
                <a:latin typeface="Segoe UI"/>
              </a:rPr>
              <a:t> numbers: row </a:t>
            </a:r>
            <a:r>
              <a:rPr sz="2300" b="0" i="1">
                <a:solidFill>
                  <a:srgbClr val="1C252B"/>
                </a:solidFill>
                <a:latin typeface="Cambria"/>
              </a:rPr>
              <a:t>i</a:t>
            </a:r>
            <a:r>
              <a:rPr sz="2300" b="0" i="0">
                <a:solidFill>
                  <a:srgbClr val="1C252B"/>
                </a:solidFill>
                <a:latin typeface="Segoe UI"/>
              </a:rPr>
              <a:t> of the result is the dot product of example </a:t>
            </a:r>
            <a:r>
              <a:rPr sz="2300" b="0" i="1">
                <a:solidFill>
                  <a:srgbClr val="1C252B"/>
                </a:solidFill>
                <a:latin typeface="Cambria"/>
              </a:rPr>
              <a:t>i</a:t>
            </a:r>
            <a:r>
              <a:rPr sz="2300" b="0" i="0">
                <a:solidFill>
                  <a:srgbClr val="1C252B"/>
                </a:solidFill>
                <a:latin typeface="Segoe UI"/>
              </a:rPr>
              <a:t> with </a:t>
            </a:r>
            <a:r>
              <a:rPr sz="2300" b="1" i="1">
                <a:solidFill>
                  <a:srgbClr val="1C252B"/>
                </a:solidFill>
                <a:latin typeface="Cambria"/>
              </a:rPr>
              <a:t>w</a:t>
            </a:r>
            <a:r>
              <a:rPr sz="2300" b="0" i="0">
                <a:solidFill>
                  <a:srgbClr val="1C252B"/>
                </a:solidFill>
                <a:latin typeface="Segoe UI"/>
              </a:rPr>
              <a:t>. The </a:t>
            </a:r>
            <a:r>
              <a:rPr sz="2300" b="1" i="0">
                <a:solidFill>
                  <a:srgbClr val="1A5276"/>
                </a:solidFill>
                <a:latin typeface="Segoe UI"/>
              </a:rPr>
              <a:t>transpose</a:t>
            </a:r>
            <a:r>
              <a:rPr sz="2300" b="0" i="0">
                <a:solidFill>
                  <a:srgbClr val="1C252B"/>
                </a:solidFill>
                <a:latin typeface="Segoe UI"/>
              </a:rPr>
              <a:t> </a:t>
            </a:r>
            <a:r>
              <a:rPr sz="2300" b="0" i="1">
                <a:solidFill>
                  <a:srgbClr val="1C252B"/>
                </a:solidFill>
                <a:latin typeface="Cambria"/>
              </a:rPr>
              <a:t>X</a:t>
            </a:r>
            <a:r>
              <a:rPr sz="2300" b="0" i="0">
                <a:solidFill>
                  <a:srgbClr val="1C252B"/>
                </a:solidFill>
                <a:latin typeface="Segoe UI"/>
              </a:rPr>
              <a:t> swaps rows and columns.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56667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matrix–vector product scores every example in one operation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2.1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12     </a:t>
            </a:r>
            <a:fld id="{EC4511D5-CED8-4732-8686-75A2EFDB184F}" type="slidenum">
              <a:rPr lang="en-GB" sz="1000">
                <a:solidFill>
                  <a:srgbClr val="8795A1"/>
                </a:solidFill>
                <a:latin typeface="Segoe UI"/>
              </a:rPr>
              <a:t>13</a:t>
            </a:fld>
          </a:p>
        </p:txBody>
      </p:sp>
      <p:pic>
        <p:nvPicPr>
          <p:cNvPr id="6" name="!!figure" descr="Figure 2.1. A matrix–vector product scores every example in one operation. Each row of X is one example; each entry of ŷ is that row’s dot product with the weight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2086306"/>
            <a:ext cx="10874959" cy="201596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Each row of X is one example; each entry of ŷ is that row’s dot product with the weights.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78056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Derivative, Partial Derivative, Gradient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§2.4  ·  Handout p. 13     </a:t>
            </a:r>
            <a:fld id="{930B6D04-8C73-4372-852B-82EBB08A68A1}"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69074"/>
          </a:xfrm>
          <a:prstGeom prst="roundRect">
            <a:avLst>
              <a:gd name="adj" fmla="val 2193"/>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6907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The derivative dL/dw of a function L(w) is its slope: how much L changes per unit increase in w. For a function of several weights, the partial derivative (∂ L)/(∂ wj) is the slope in the direction of wj alone, holding the others fixed. The gradient collects them into a vecto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2060051"/>
          </a:xfrm>
          <a:prstGeom prst="rect">
            <a:avLst/>
          </a:prstGeom>
        </p:spPr>
      </p:pic>
      <p:pic>
        <p:nvPicPr>
          <p:cNvPr id="10" name="body-1" descr="\nabla L = \left(\frac{\partial L}{\partial w_1}, \dots, \frac{\partial L}{\partial w_d}\righ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0704" y="4268962"/>
            <a:ext cx="10161727" cy="801380"/>
          </a:xfrm>
          <a:prstGeom prst="rect">
            <a:avLst/>
          </a:prstGeom>
        </p:spPr>
      </p:pic>
      <p:sp>
        <p:nvSpPr>
          <p:cNvPr id="11" name="body-2"/>
          <p:cNvSpPr txBox="1"/>
          <p:nvPr/>
        </p:nvSpPr>
        <p:spPr>
          <a:xfrm>
            <a:off x="1060704" y="5230997"/>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gradient points in the direction in which </a:t>
            </a:r>
            <a:r>
              <a:rPr sz="2300" b="0" i="1">
                <a:solidFill>
                  <a:srgbClr val="1C252B"/>
                </a:solidFill>
                <a:latin typeface="Cambria"/>
              </a:rPr>
              <a:t>L</a:t>
            </a:r>
            <a:r>
              <a:rPr sz="2300" b="0" i="0">
                <a:solidFill>
                  <a:srgbClr val="1C252B"/>
                </a:solidFill>
                <a:latin typeface="Segoe UI"/>
              </a:rPr>
              <a:t> increases fastest.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99445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Derivatives and Gradients</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§2.4  ·  Handout p. 13     </a:t>
            </a:r>
            <a:fld id="{30596731-29AC-4B39-A52A-4E98EBF90A4B}"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20227"/>
          </a:xfrm>
          <a:prstGeom prst="roundRect">
            <a:avLst>
              <a:gd name="adj" fmla="val 3131"/>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20227"/>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You need only four rules, and Appendix B lists them: the derivative of wk is k wk−1; of a constant is 0; of a sum is the sum of the derivatives; and the chain rule: if L = f(g(w)) then dL/dw = f′(g(w))· g′(w). For example, L(w) = (w−3)2 has outer function u2 and inner function u = w − 3, so dL/dw = 2(w−3)· 1 = 2(w−3). The chain rule is the whole of backpropagation (Chapter 1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2298435"/>
          </a:xfrm>
          <a:prstGeom prst="rect">
            <a:avLst/>
          </a:prstGeom>
        </p:spPr>
      </p:pic>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20834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Gradient Descent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5 OF 9</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   Four Kinds of Mathematics, Four Jobs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   Vectors and the Dot Product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   Matrices: A Whole Dataset at Once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2.4   Derivatives and Gradients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2.5   Gradient Descent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   Probability</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   Expectation, Variance and the Gaussian</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   Maximum Likelihood</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§2.5     </a:t>
            </a:r>
            <a:fld id="{44034FCE-79A9-4E46-9236-1BDF4256017C}" type="slidenum">
              <a:rPr lang="en-GB" sz="1000">
                <a:solidFill>
                  <a:srgbClr val="8795A1"/>
                </a:solidFill>
                <a:latin typeface="Segoe UI"/>
              </a:rPr>
              <a:t>16</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342223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Gradient Descent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13     </a:t>
            </a:r>
            <a:fld id="{2775F503-F749-4BD3-A838-CF3A6AE66C27}"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29550"/>
          </a:xfrm>
          <a:prstGeom prst="roundRect">
            <a:avLst>
              <a:gd name="adj" fmla="val 3763"/>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29550"/>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Start from any weights. Repeatedly take a small step against the gradient:</a:t>
            </a:r>
          </a:p>
        </p:txBody>
      </p:sp>
      <p:pic>
        <p:nvPicPr>
          <p:cNvPr id="10" name="body-1" descr="\mathbf{w} \leftarrow \mathbf{w} - \alpha\, \nabla L(\mathbf{w})"/>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73451"/>
            <a:ext cx="10161727" cy="392826"/>
          </a:xfrm>
          <a:prstGeom prst="rect">
            <a:avLst/>
          </a:prstGeom>
        </p:spPr>
      </p:pic>
      <p:sp>
        <p:nvSpPr>
          <p:cNvPr id="11" name="body-2"/>
          <p:cNvSpPr txBox="1"/>
          <p:nvPr/>
        </p:nvSpPr>
        <p:spPr>
          <a:xfrm>
            <a:off x="1060704" y="3126933"/>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learning rate</a:t>
            </a:r>
            <a:r>
              <a:rPr sz="2300" b="0" i="0">
                <a:solidFill>
                  <a:srgbClr val="1C252B"/>
                </a:solidFill>
                <a:latin typeface="Segoe UI"/>
              </a:rPr>
              <a:t> </a:t>
            </a:r>
            <a:r>
              <a:rPr sz="2300" b="0" i="0">
                <a:solidFill>
                  <a:srgbClr val="1C252B"/>
                </a:solidFill>
                <a:latin typeface="Cambria"/>
              </a:rPr>
              <a:t>α &gt; 0</a:t>
            </a:r>
            <a:r>
              <a:rPr sz="2300" b="0" i="0">
                <a:solidFill>
                  <a:srgbClr val="1C252B"/>
                </a:solidFill>
                <a:latin typeface="Segoe UI"/>
              </a:rPr>
              <a:t> sets the step size. Stop when the loss stops decreasing.</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63611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Gradient descent on L(w)=(w−3)2 from w=0</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2.2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13     </a:t>
            </a:r>
            <a:fld id="{8C6B7065-950C-48BE-A5A0-299F128B016C}" type="slidenum">
              <a:rPr lang="en-GB" sz="1000">
                <a:solidFill>
                  <a:srgbClr val="8795A1"/>
                </a:solidFill>
                <a:latin typeface="Segoe UI"/>
              </a:rPr>
              <a:t>18</a:t>
            </a:fld>
          </a:p>
        </p:txBody>
      </p:sp>
      <p:pic>
        <p:nvPicPr>
          <p:cNvPr id="6" name="!!figure" descr="Figure 2.2. Gradient descent on L(w)=(w−3)2 from w=0. With a small learning rate each step closes a fixed fraction of the gap; with one that is too large, each step jumps past the minimum by more than the last, and the weights diverg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05052" y="1737360"/>
            <a:ext cx="9581590"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With a small learning rate each step closes a fixed fraction of the gap; with one that is too large, each step jumps past the minimum by more than the last, and the weights diverge.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85000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Steps of Gradient Descent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13     </a:t>
            </a:r>
            <a:fld id="{C5E7588B-A319-4365-8921-EF644011BF42}"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87672"/>
          </a:xfrm>
          <a:prstGeom prst="roundRect">
            <a:avLst>
              <a:gd name="adj" fmla="val 203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8767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Minimise </a:t>
            </a:r>
            <a:r>
              <a:rPr sz="1900" b="0" i="1">
                <a:solidFill>
                  <a:srgbClr val="1C252B"/>
                </a:solidFill>
                <a:latin typeface="Cambria"/>
              </a:rPr>
              <a:t>L</a:t>
            </a:r>
            <a:r>
              <a:rPr sz="1900" b="0" i="0">
                <a:solidFill>
                  <a:srgbClr val="1C252B"/>
                </a:solidFill>
                <a:latin typeface="Cambria"/>
              </a:rPr>
              <a:t>(</a:t>
            </a:r>
            <a:r>
              <a:rPr sz="1900" b="0" i="1">
                <a:solidFill>
                  <a:srgbClr val="1C252B"/>
                </a:solidFill>
                <a:latin typeface="Cambria"/>
              </a:rPr>
              <a:t>w</a:t>
            </a:r>
            <a:r>
              <a:rPr sz="1900" b="0" i="0">
                <a:solidFill>
                  <a:srgbClr val="1C252B"/>
                </a:solidFill>
                <a:latin typeface="Cambria"/>
              </a:rPr>
              <a:t>) = (</a:t>
            </a:r>
            <a:r>
              <a:rPr sz="1900" b="0" i="1">
                <a:solidFill>
                  <a:srgbClr val="1C252B"/>
                </a:solidFill>
                <a:latin typeface="Cambria"/>
              </a:rPr>
              <a:t>w</a:t>
            </a:r>
            <a:r>
              <a:rPr sz="1900" b="0" i="0">
                <a:solidFill>
                  <a:srgbClr val="1C252B"/>
                </a:solidFill>
                <a:latin typeface="Cambria"/>
              </a:rPr>
              <a:t>−3)</a:t>
            </a:r>
            <a:r>
              <a:rPr sz="1900" b="0" i="0" baseline="30000">
                <a:solidFill>
                  <a:srgbClr val="1C252B"/>
                </a:solidFill>
                <a:latin typeface="Cambria"/>
              </a:rPr>
              <a:t>2</a:t>
            </a:r>
            <a:r>
              <a:rPr sz="1900" b="0" i="0">
                <a:solidFill>
                  <a:srgbClr val="1C252B"/>
                </a:solidFill>
                <a:latin typeface="Segoe UI"/>
              </a:rPr>
              <a:t> starting from </a:t>
            </a:r>
            <a:r>
              <a:rPr sz="1900" b="0" i="1">
                <a:solidFill>
                  <a:srgbClr val="1C252B"/>
                </a:solidFill>
                <a:latin typeface="Cambria"/>
              </a:rPr>
              <a:t>w</a:t>
            </a:r>
            <a:r>
              <a:rPr sz="1900" b="0" i="0">
                <a:solidFill>
                  <a:srgbClr val="1C252B"/>
                </a:solidFill>
                <a:latin typeface="Cambria"/>
              </a:rPr>
              <a:t> = 0</a:t>
            </a:r>
            <a:r>
              <a:rPr sz="1900" b="0" i="0">
                <a:solidFill>
                  <a:srgbClr val="1C252B"/>
                </a:solidFill>
                <a:latin typeface="Segoe UI"/>
              </a:rPr>
              <a:t> with </a:t>
            </a:r>
            <a:r>
              <a:rPr sz="1900" b="0" i="0">
                <a:solidFill>
                  <a:srgbClr val="1C252B"/>
                </a:solidFill>
                <a:latin typeface="Cambria"/>
              </a:rPr>
              <a:t>α = 0.1</a:t>
            </a:r>
            <a:r>
              <a:rPr sz="1900" b="0" i="0">
                <a:solidFill>
                  <a:srgbClr val="1C252B"/>
                </a:solidFill>
                <a:latin typeface="Segoe UI"/>
              </a:rPr>
              <a:t>. The gradient is </a:t>
            </a:r>
            <a:r>
              <a:rPr sz="1900" b="0" i="1">
                <a:solidFill>
                  <a:srgbClr val="1C252B"/>
                </a:solidFill>
                <a:latin typeface="Cambria"/>
              </a:rPr>
              <a:t>L</a:t>
            </a:r>
            <a:r>
              <a:rPr sz="1900" b="0" i="0">
                <a:solidFill>
                  <a:srgbClr val="1C252B"/>
                </a:solidFill>
                <a:latin typeface="Cambria"/>
              </a:rPr>
              <a:t>′(</a:t>
            </a:r>
            <a:r>
              <a:rPr sz="1900" b="0" i="1">
                <a:solidFill>
                  <a:srgbClr val="1C252B"/>
                </a:solidFill>
                <a:latin typeface="Cambria"/>
              </a:rPr>
              <a:t>w</a:t>
            </a:r>
            <a:r>
              <a:rPr sz="1900" b="0" i="0">
                <a:solidFill>
                  <a:srgbClr val="1C252B"/>
                </a:solidFill>
                <a:latin typeface="Cambria"/>
              </a:rPr>
              <a:t>) = 2(</a:t>
            </a:r>
            <a:r>
              <a:rPr sz="1900" b="0" i="1">
                <a:solidFill>
                  <a:srgbClr val="1C252B"/>
                </a:solidFill>
                <a:latin typeface="Cambria"/>
              </a:rPr>
              <a:t>w</a:t>
            </a:r>
            <a:r>
              <a:rPr sz="1900" b="0" i="0">
                <a:solidFill>
                  <a:srgbClr val="1C252B"/>
                </a:solidFill>
                <a:latin typeface="Cambria"/>
              </a:rPr>
              <a:t>−3)</a:t>
            </a:r>
            <a:r>
              <a:rPr sz="1900" b="0" i="0">
                <a:solidFill>
                  <a:srgbClr val="1C252B"/>
                </a:solidFill>
                <a:latin typeface="Segoe UI"/>
              </a:rPr>
              <a:t>.</a:t>
            </a:r>
          </a:p>
        </p:txBody>
      </p:sp>
      <p:graphicFrame>
        <p:nvGraphicFramePr>
          <p:cNvPr id="10" name="body-1"/>
          <p:cNvGraphicFramePr>
            <a:graphicFrameLocks noGrp="1"/>
          </p:cNvGraphicFramePr>
          <p:nvPr/>
        </p:nvGraphicFramePr>
        <p:xfrm>
          <a:off x="1042416" y="2445537"/>
          <a:ext cx="5507774" cy="1950720"/>
        </p:xfrm>
        <a:graphic>
          <a:graphicData uri="http://schemas.openxmlformats.org/drawingml/2006/table">
            <a:tbl>
              <a:tblPr firstRow="0" bandRow="0" firstCol="0" lastRow="0" lastCol="0" bandCol="0">
                <a:tableStyleId>{2D5ABB26-0587-4C30-8999-92F81FD0307C}</a:tableStyleId>
              </a:tblPr>
              <a:tblGrid>
                <a:gridCol w="693472"/>
                <a:gridCol w="747869"/>
                <a:gridCol w="1663354"/>
                <a:gridCol w="2403079"/>
              </a:tblGrid>
              <a:tr h="390144">
                <a:tc>
                  <a:txBody>
                    <a:bodyPr wrap="square"/>
                    <a:lstStyle/>
                    <a:p>
                      <a:pPr algn="ctr"/>
                      <a:r>
                        <a:rPr sz="1600" b="1" i="0">
                          <a:solidFill>
                            <a:srgbClr val="1A5276"/>
                          </a:solidFill>
                          <a:latin typeface="Segoe UI"/>
                        </a:rPr>
                        <a:t>Step</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ctr"/>
                      <a:r>
                        <a:rPr sz="1600" b="1" i="1">
                          <a:solidFill>
                            <a:srgbClr val="1A5276"/>
                          </a:solidFill>
                          <a:latin typeface="Cambria"/>
                        </a:rPr>
                        <a:t>w</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ctr"/>
                      <a:r>
                        <a:rPr sz="1600" b="1" i="1">
                          <a:solidFill>
                            <a:srgbClr val="1A5276"/>
                          </a:solidFill>
                          <a:latin typeface="Cambria"/>
                        </a:rPr>
                        <a:t>L</a:t>
                      </a:r>
                      <a:r>
                        <a:rPr sz="1600" b="1" i="0">
                          <a:solidFill>
                            <a:srgbClr val="1A5276"/>
                          </a:solidFill>
                          <a:latin typeface="Cambria"/>
                        </a:rPr>
                        <a:t>′(</a:t>
                      </a:r>
                      <a:r>
                        <a:rPr sz="1600" b="1" i="1">
                          <a:solidFill>
                            <a:srgbClr val="1A5276"/>
                          </a:solidFill>
                          <a:latin typeface="Cambria"/>
                        </a:rPr>
                        <a:t>w</a:t>
                      </a:r>
                      <a:r>
                        <a:rPr sz="1600" b="1" i="0">
                          <a:solidFill>
                            <a:srgbClr val="1A5276"/>
                          </a:solidFill>
                          <a:latin typeface="Cambria"/>
                        </a:rPr>
                        <a:t>) = 2(</a:t>
                      </a:r>
                      <a:r>
                        <a:rPr sz="1600" b="1" i="1">
                          <a:solidFill>
                            <a:srgbClr val="1A5276"/>
                          </a:solidFill>
                          <a:latin typeface="Cambria"/>
                        </a:rPr>
                        <a:t>w</a:t>
                      </a:r>
                      <a:r>
                        <a:rPr sz="1600" b="1" i="0">
                          <a:solidFill>
                            <a:srgbClr val="1A5276"/>
                          </a:solidFill>
                          <a:latin typeface="Cambria"/>
                        </a:rPr>
                        <a:t>−3)</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ctr"/>
                      <a:r>
                        <a:rPr sz="1600" b="1" i="1">
                          <a:solidFill>
                            <a:srgbClr val="1A5276"/>
                          </a:solidFill>
                          <a:latin typeface="Cambria"/>
                        </a:rPr>
                        <a:t>w</a:t>
                      </a:r>
                      <a:r>
                        <a:rPr sz="1600" b="1" i="0">
                          <a:solidFill>
                            <a:srgbClr val="1A5276"/>
                          </a:solidFill>
                          <a:latin typeface="Cambria"/>
                        </a:rPr>
                        <a:t> − 0.1 </a:t>
                      </a:r>
                      <a:r>
                        <a:rPr sz="1600" b="1" i="1">
                          <a:solidFill>
                            <a:srgbClr val="1A5276"/>
                          </a:solidFill>
                          <a:latin typeface="Cambria"/>
                        </a:rPr>
                        <a:t>L</a:t>
                      </a:r>
                      <a:r>
                        <a:rPr sz="1600" b="1" i="0">
                          <a:solidFill>
                            <a:srgbClr val="1A5276"/>
                          </a:solidFill>
                          <a:latin typeface="Cambria"/>
                        </a:rPr>
                        <a:t>′(</a:t>
                      </a:r>
                      <a:r>
                        <a:rPr sz="1600" b="1" i="1">
                          <a:solidFill>
                            <a:srgbClr val="1A5276"/>
                          </a:solidFill>
                          <a:latin typeface="Cambria"/>
                        </a:rPr>
                        <a:t>w</a:t>
                      </a:r>
                      <a:r>
                        <a:rPr sz="1600" b="1" i="0">
                          <a:solidFill>
                            <a:srgbClr val="1A5276"/>
                          </a:solidFill>
                          <a:latin typeface="Cambria"/>
                        </a:rPr>
                        <a: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ctr"/>
                      <a:r>
                        <a:rPr sz="1600" b="0" i="0">
                          <a:solidFill>
                            <a:srgbClr val="1C252B"/>
                          </a:solidFill>
                          <a:latin typeface="Segoe UI"/>
                        </a:rPr>
                        <a:t>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ctr"/>
                      <a:r>
                        <a:rPr sz="1600" b="0" i="0">
                          <a:solidFill>
                            <a:srgbClr val="1C252B"/>
                          </a:solidFill>
                          <a:latin typeface="Segoe UI"/>
                        </a:rPr>
                        <a:t>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ctr"/>
                      <a:r>
                        <a:rPr sz="1600" b="0" i="0">
                          <a:solidFill>
                            <a:srgbClr val="1C252B"/>
                          </a:solidFill>
                          <a:latin typeface="Cambria"/>
                        </a:rPr>
                        <a:t>−6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ctr"/>
                      <a:r>
                        <a:rPr sz="1600" b="0" i="0">
                          <a:solidFill>
                            <a:srgbClr val="1C252B"/>
                          </a:solidFill>
                          <a:latin typeface="Cambria"/>
                        </a:rPr>
                        <a:t>0 + 0.6 = 0.6</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ctr"/>
                      <a:r>
                        <a:rPr sz="1600" b="0" i="0">
                          <a:solidFill>
                            <a:srgbClr val="1C252B"/>
                          </a:solidFill>
                          <a:latin typeface="Segoe UI"/>
                        </a:rPr>
                        <a:t>1</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1600" b="0" i="0">
                          <a:solidFill>
                            <a:srgbClr val="1C252B"/>
                          </a:solidFill>
                          <a:latin typeface="Segoe UI"/>
                        </a:rPr>
                        <a:t>0.6</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1600" b="0" i="0">
                          <a:solidFill>
                            <a:srgbClr val="1C252B"/>
                          </a:solidFill>
                          <a:latin typeface="Cambria"/>
                        </a:rPr>
                        <a:t>−4.8</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ctr"/>
                      <a:r>
                        <a:rPr sz="1600" b="0" i="0">
                          <a:solidFill>
                            <a:srgbClr val="1C252B"/>
                          </a:solidFill>
                          <a:latin typeface="Cambria"/>
                        </a:rPr>
                        <a:t>0.6 + 0.48 = 1.08</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ctr"/>
                      <a:r>
                        <a:rPr sz="1600" b="0" i="0">
                          <a:solidFill>
                            <a:srgbClr val="1C252B"/>
                          </a:solidFill>
                          <a:latin typeface="Segoe UI"/>
                        </a:rPr>
                        <a:t>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ctr"/>
                      <a:r>
                        <a:rPr sz="1600" b="0" i="0">
                          <a:solidFill>
                            <a:srgbClr val="1C252B"/>
                          </a:solidFill>
                          <a:latin typeface="Segoe UI"/>
                        </a:rPr>
                        <a:t>1.08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ctr"/>
                      <a:r>
                        <a:rPr sz="1600" b="0" i="0">
                          <a:solidFill>
                            <a:srgbClr val="1C252B"/>
                          </a:solidFill>
                          <a:latin typeface="Cambria"/>
                        </a:rPr>
                        <a:t>−3.84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ctr"/>
                      <a:r>
                        <a:rPr sz="1600" b="0" i="0">
                          <a:solidFill>
                            <a:srgbClr val="1C252B"/>
                          </a:solidFill>
                          <a:latin typeface="Cambria"/>
                        </a:rPr>
                        <a:t>1.08 + 0.384 = 1.464</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ctr"/>
                      <a:r>
                        <a:rPr sz="1600" b="0" i="0">
                          <a:solidFill>
                            <a:srgbClr val="1C252B"/>
                          </a:solidFill>
                          <a:latin typeface="Segoe UI"/>
                        </a:rPr>
                        <a:t>3</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ctr"/>
                      <a:r>
                        <a:rPr sz="1600" b="0" i="0">
                          <a:solidFill>
                            <a:srgbClr val="1C252B"/>
                          </a:solidFill>
                          <a:latin typeface="Segoe UI"/>
                        </a:rPr>
                        <a:t>1.464</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ctr"/>
                      <a:r>
                        <a:rPr sz="1600" b="0" i="0">
                          <a:solidFill>
                            <a:srgbClr val="1C252B"/>
                          </a:solidFill>
                          <a:latin typeface="Cambria"/>
                        </a:rPr>
                        <a:t>−3.072</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ctr"/>
                      <a:r>
                        <a:rPr sz="1600" b="0" i="0">
                          <a:solidFill>
                            <a:srgbClr val="1C252B"/>
                          </a:solidFill>
                          <a:latin typeface="Cambria"/>
                        </a:rPr>
                        <a:t>1.464 + 0.3072 = 1.7712</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4528972"/>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pattern.</a:t>
            </a:r>
            <a:r>
              <a:rPr sz="1900" b="0" i="0">
                <a:solidFill>
                  <a:srgbClr val="1C252B"/>
                </a:solidFill>
                <a:latin typeface="Segoe UI"/>
              </a:rPr>
              <a:t> The gap to the minimum goes </a:t>
            </a:r>
            <a:r>
              <a:rPr sz="1900" b="0" i="0">
                <a:solidFill>
                  <a:srgbClr val="1C252B"/>
                </a:solidFill>
                <a:latin typeface="Cambria"/>
              </a:rPr>
              <a:t>3 → 2.4 → 1.92 → 1.536 → 1.2288</a:t>
            </a:r>
            <a:r>
              <a:rPr sz="1900" b="0" i="0">
                <a:solidFill>
                  <a:srgbClr val="1C252B"/>
                </a:solidFill>
                <a:latin typeface="Segoe UI"/>
              </a:rPr>
              <a:t>: every step multiplies it by </a:t>
            </a:r>
            <a:r>
              <a:rPr sz="1900" b="0" i="0">
                <a:solidFill>
                  <a:srgbClr val="1C252B"/>
                </a:solidFill>
                <a:latin typeface="Cambria"/>
              </a:rPr>
              <a:t>1 − 2α = 0.8</a:t>
            </a:r>
            <a:r>
              <a:rPr sz="1900" b="0" i="0">
                <a:solidFill>
                  <a:srgbClr val="1C252B"/>
                </a:solidFill>
                <a:latin typeface="Segoe UI"/>
              </a:rPr>
              <a:t>. So</a:t>
            </a:r>
          </a:p>
        </p:txBody>
      </p:sp>
      <p:sp>
        <p:nvSpPr>
          <p:cNvPr id="12" name="body-2bar">
            <a:extLst>
              <a:ext uri="{C183D7F6-B498-43B3-948B-1728B52AA6E4}">
                <adec:decorative xmlns:adec="http://schemas.microsoft.com/office/drawing/2017/decorative" val="1"/>
              </a:ext>
            </a:extLst>
          </p:cNvPr>
          <p:cNvSpPr/>
          <p:nvPr/>
        </p:nvSpPr>
        <p:spPr>
          <a:xfrm>
            <a:off x="841248" y="4547260"/>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3"/>
          <p:cNvSpPr txBox="1"/>
          <p:nvPr/>
        </p:nvSpPr>
        <p:spPr>
          <a:xfrm>
            <a:off x="1042416" y="5263972"/>
            <a:ext cx="10234879" cy="73245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Cambria"/>
              </a:rPr>
              <a:t>α = 0.1</a:t>
            </a:r>
            <a:r>
              <a:rPr sz="1900" b="0" i="0">
                <a:solidFill>
                  <a:srgbClr val="1C252B"/>
                </a:solidFill>
                <a:latin typeface="Segoe UI"/>
              </a:rPr>
              <a:t>: the gap shrinks by 20% a step — steady.</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Cambria"/>
              </a:rPr>
              <a:t>α = 0.5</a:t>
            </a:r>
            <a:r>
              <a:rPr sz="1900" b="0" i="0">
                <a:solidFill>
                  <a:srgbClr val="1C252B"/>
                </a:solidFill>
                <a:latin typeface="Segoe UI"/>
              </a:rPr>
              <a:t>: the factor is 0, so one step lands exactly on 3.</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xEl>
                                              <p:pRg st="0" end="0"/>
                                            </p:txEl>
                                          </p:spTgt>
                                        </p:tgtEl>
                                        <p:attrNameLst>
                                          <p:attrName>style.visibility</p:attrName>
                                        </p:attrNameLst>
                                      </p:cBhvr>
                                      <p:to>
                                        <p:strVal val="visible"/>
                                      </p:to>
                                    </p:set>
                                    <p:animEffect transition="in" filter="fade">
                                      <p:cBhvr>
                                        <p:cTn id="21" dur="350"/>
                                        <p:tgtEl>
                                          <p:spTgt spid="1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
                                            <p:txEl>
                                              <p:pRg st="1" end="1"/>
                                            </p:txEl>
                                          </p:spTgt>
                                        </p:tgtEl>
                                        <p:attrNameLst>
                                          <p:attrName>style.visibility</p:attrName>
                                        </p:attrNameLst>
                                      </p:cBhvr>
                                      <p:to>
                                        <p:strVal val="visible"/>
                                      </p:to>
                                    </p:set>
                                    <p:animEffect transition="in" filter="fade">
                                      <p:cBhvr>
                                        <p:cTn id="26" dur="35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Steps of Gradient Descent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§2.5  ·  Handout p. 13     </a:t>
            </a:r>
            <a:fld id="{94EB66C7-5996-4C1B-9113-8047DF70A10D}"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885924"/>
          </a:xfrm>
          <a:prstGeom prst="roundRect">
            <a:avLst>
              <a:gd name="adj" fmla="val 484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8859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Cambria"/>
              </a:rPr>
              <a:t>α = 1.1</a:t>
            </a:r>
            <a:r>
              <a:rPr sz="1900" b="0" i="0">
                <a:solidFill>
                  <a:srgbClr val="1C252B"/>
                </a:solidFill>
                <a:latin typeface="Segoe UI"/>
              </a:rPr>
              <a:t>: the factor is </a:t>
            </a:r>
            <a:r>
              <a:rPr sz="1900" b="0" i="0">
                <a:solidFill>
                  <a:srgbClr val="1C252B"/>
                </a:solidFill>
                <a:latin typeface="Cambria"/>
              </a:rPr>
              <a:t>−1.2</a:t>
            </a:r>
            <a:r>
              <a:rPr sz="1900" b="0" i="0">
                <a:solidFill>
                  <a:srgbClr val="1C252B"/>
                </a:solidFill>
                <a:latin typeface="Segoe UI"/>
              </a:rPr>
              <a:t> — the weight flips to the far side and lands further away each time: </a:t>
            </a:r>
            <a:r>
              <a:rPr sz="1900" b="0" i="0">
                <a:solidFill>
                  <a:srgbClr val="1C252B"/>
                </a:solidFill>
                <a:latin typeface="Cambria"/>
              </a:rPr>
              <a:t>0 → 6.6 → −1.32 → 8.18</a:t>
            </a:r>
            <a:r>
              <a:rPr sz="1900" b="0" i="0">
                <a:solidFill>
                  <a:srgbClr val="1C252B"/>
                </a:solidFill>
                <a:latin typeface="Segoe UI"/>
              </a:rPr>
              <a:t>. It diverges (Figure 2.2, right).</a:t>
            </a:r>
          </a:p>
        </p:txBody>
      </p:sp>
      <p:sp>
        <p:nvSpPr>
          <p:cNvPr id="10" name="body-1"/>
          <p:cNvSpPr txBox="1"/>
          <p:nvPr/>
        </p:nvSpPr>
        <p:spPr>
          <a:xfrm>
            <a:off x="1042416" y="2746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Real losses are not this simple, and the right </a:t>
            </a:r>
            <a:r>
              <a:rPr sz="1900" b="0" i="0">
                <a:solidFill>
                  <a:srgbClr val="1C252B"/>
                </a:solidFill>
                <a:latin typeface="Cambria"/>
              </a:rPr>
              <a:t>α</a:t>
            </a:r>
            <a:r>
              <a:rPr sz="1900" b="0" i="0">
                <a:solidFill>
                  <a:srgbClr val="1C252B"/>
                </a:solidFill>
                <a:latin typeface="Segoe UI"/>
              </a:rPr>
              <a:t> is found by trying several (Chapter 7), but the three behaviours — slow, just right, divergent — are exactly the ones you will see.</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27778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Probability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6 OF 9</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   Four Kinds of Mathematics, Four Jobs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   Vectors and the Dot Product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   Matrices: A Whole Dataset at Once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2.4   Derivatives and Gradients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   Gradient Descent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2.6   Probability</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   Expectation, Variance and the Gaussian</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   Maximum Likelihood</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§2.6     </a:t>
            </a:r>
            <a:fld id="{C1B62DC1-D62B-4882-821A-5E05232EC973}" type="slidenum">
              <a:rPr lang="en-GB" sz="1000">
                <a:solidFill>
                  <a:srgbClr val="8795A1"/>
                </a:solidFill>
                <a:latin typeface="Segoe UI"/>
              </a:rPr>
              <a:t>21</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449167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Conditional Probability and Bayes’ Theorem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  ·  Handout p. 14     </a:t>
            </a:r>
            <a:fld id="{033216BF-CA21-4646-AAFD-D051EA593B35}"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451514"/>
          </a:xfrm>
          <a:prstGeom prst="roundRect">
            <a:avLst>
              <a:gd name="adj" fmla="val 2649"/>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4515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The conditional probability of A given B is P(A ∣ B) = (P(A and B))/P(B). Reversing the condition gives Bayes’ theorem:"/>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1070945"/>
          </a:xfrm>
          <a:prstGeom prst="rect">
            <a:avLst/>
          </a:prstGeom>
        </p:spPr>
      </p:pic>
      <p:pic>
        <p:nvPicPr>
          <p:cNvPr id="10" name="body-1" descr="P(A \mid B) = \frac{P(B \mid A)\, P(A)}{P(B)}, \qquad P(B) = P(B\mid A)P(A) + P(B \mid \text{not }A)\,P(\text{not }A)"/>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0704" y="3279856"/>
            <a:ext cx="10161727" cy="708385"/>
          </a:xfrm>
          <a:prstGeom prst="rect">
            <a:avLst/>
          </a:prstGeom>
        </p:spPr>
      </p:pic>
      <p:sp>
        <p:nvSpPr>
          <p:cNvPr id="11" name="body-2"/>
          <p:cNvSpPr txBox="1"/>
          <p:nvPr/>
        </p:nvSpPr>
        <p:spPr>
          <a:xfrm>
            <a:off x="1060704" y="4148896"/>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 is the </a:t>
            </a:r>
            <a:r>
              <a:rPr sz="2300" b="1" i="0">
                <a:solidFill>
                  <a:srgbClr val="1A5276"/>
                </a:solidFill>
                <a:latin typeface="Segoe UI"/>
              </a:rPr>
              <a:t>prior</a:t>
            </a:r>
            <a:r>
              <a:rPr sz="2300" b="0" i="0">
                <a:solidFill>
                  <a:srgbClr val="1C252B"/>
                </a:solidFill>
                <a:latin typeface="Segoe UI"/>
              </a:rPr>
              <a:t>,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B</a:t>
            </a:r>
            <a:r>
              <a:rPr sz="2300" b="0" i="0">
                <a:solidFill>
                  <a:srgbClr val="1C252B"/>
                </a:solidFill>
                <a:latin typeface="Cambria"/>
              </a:rPr>
              <a:t> ∣ </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 the </a:t>
            </a:r>
            <a:r>
              <a:rPr sz="2300" b="1" i="0">
                <a:solidFill>
                  <a:srgbClr val="1A5276"/>
                </a:solidFill>
                <a:latin typeface="Segoe UI"/>
              </a:rPr>
              <a:t>likelihood</a:t>
            </a:r>
            <a:r>
              <a:rPr sz="2300" b="0" i="0">
                <a:solidFill>
                  <a:srgbClr val="1C252B"/>
                </a:solidFill>
                <a:latin typeface="Segoe UI"/>
              </a:rPr>
              <a:t> and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 ∣ </a:t>
            </a:r>
            <a:r>
              <a:rPr sz="2300" b="0" i="1">
                <a:solidFill>
                  <a:srgbClr val="1C252B"/>
                </a:solidFill>
                <a:latin typeface="Cambria"/>
              </a:rPr>
              <a:t>B</a:t>
            </a:r>
            <a:r>
              <a:rPr sz="2300" b="0" i="0">
                <a:solidFill>
                  <a:srgbClr val="1C252B"/>
                </a:solidFill>
                <a:latin typeface="Cambria"/>
              </a:rPr>
              <a:t>)</a:t>
            </a:r>
            <a:r>
              <a:rPr sz="2300" b="0" i="0">
                <a:solidFill>
                  <a:srgbClr val="1C252B"/>
                </a:solidFill>
                <a:latin typeface="Segoe UI"/>
              </a:rPr>
              <a:t> the </a:t>
            </a:r>
            <a:r>
              <a:rPr sz="2300" b="1" i="0">
                <a:solidFill>
                  <a:srgbClr val="1A5276"/>
                </a:solidFill>
                <a:latin typeface="Segoe UI"/>
              </a:rPr>
              <a:t>posterior</a:t>
            </a:r>
            <a:r>
              <a:rPr sz="2300" b="0" i="0">
                <a:solidFill>
                  <a:srgbClr val="1C252B"/>
                </a:solidFill>
                <a:latin typeface="Segoe UI"/>
              </a:rPr>
              <a:t>. Two events are </a:t>
            </a:r>
            <a:r>
              <a:rPr sz="2300" b="1" i="0">
                <a:solidFill>
                  <a:srgbClr val="1A5276"/>
                </a:solidFill>
                <a:latin typeface="Segoe UI"/>
              </a:rPr>
              <a:t>independent</a:t>
            </a:r>
            <a:r>
              <a:rPr sz="2300" b="0" i="0">
                <a:solidFill>
                  <a:srgbClr val="1C252B"/>
                </a:solidFill>
                <a:latin typeface="Segoe UI"/>
              </a:rPr>
              <a:t> if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 </a:t>
            </a:r>
            <a:r>
              <a:rPr sz="2300" b="0" i="0">
                <a:solidFill>
                  <a:srgbClr val="1C252B"/>
                </a:solidFill>
                <a:latin typeface="Segoe UI"/>
              </a:rPr>
              <a:t>and</a:t>
            </a:r>
            <a:r>
              <a:rPr sz="2300" b="0" i="0">
                <a:solidFill>
                  <a:srgbClr val="1C252B"/>
                </a:solidFill>
                <a:latin typeface="Cambria"/>
              </a:rPr>
              <a:t> </a:t>
            </a:r>
            <a:r>
              <a:rPr sz="2300" b="0" i="1">
                <a:solidFill>
                  <a:srgbClr val="1C252B"/>
                </a:solidFill>
                <a:latin typeface="Cambria"/>
              </a:rPr>
              <a:t>B</a:t>
            </a:r>
            <a:r>
              <a:rPr sz="2300" b="0" i="0">
                <a:solidFill>
                  <a:srgbClr val="1C252B"/>
                </a:solidFill>
                <a:latin typeface="Cambria"/>
              </a:rPr>
              <a:t>) =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A</a:t>
            </a:r>
            <a:r>
              <a:rPr sz="2300" b="0" i="0">
                <a:solidFill>
                  <a:srgbClr val="1C252B"/>
                </a:solidFill>
                <a:latin typeface="Cambria"/>
              </a:rPr>
              <a:t>)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B</a:t>
            </a:r>
            <a:r>
              <a:rPr sz="2300" b="0" i="0">
                <a:solidFill>
                  <a:srgbClr val="1C252B"/>
                </a:solidFill>
                <a:latin typeface="Cambria"/>
              </a:rPr>
              <a:t>)</a:t>
            </a:r>
            <a:r>
              <a:rPr sz="2300" b="0" i="0">
                <a:solidFill>
                  <a:srgbClr val="1C252B"/>
                </a:solidFill>
                <a:latin typeface="Segoe UI"/>
              </a:rPr>
              <a: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70556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An Alarm You Should Not Panic About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§2.6  ·  Handout p. 14     </a:t>
            </a:r>
            <a:fld id="{2FCD2DB5-1B59-4389-B1CA-2989A8C97128}"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61067"/>
          </a:xfrm>
          <a:prstGeom prst="roundRect">
            <a:avLst>
              <a:gd name="adj" fmla="val 200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6106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An intrusion detector catches 99% of attacks and raises a false alarm on 1% of benign connections. One connection in a thousand is an attack. An alarm sounds. What is the probability of an attack?</a:t>
            </a:r>
          </a:p>
        </p:txBody>
      </p:sp>
      <p:sp>
        <p:nvSpPr>
          <p:cNvPr id="10" name="body-1"/>
          <p:cNvSpPr txBox="1"/>
          <p:nvPr/>
        </p:nvSpPr>
        <p:spPr>
          <a:xfrm>
            <a:off x="1042416" y="3102355"/>
            <a:ext cx="10234879"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Let </a:t>
            </a:r>
            <a:r>
              <a:rPr sz="2000" b="0" i="1">
                <a:solidFill>
                  <a:srgbClr val="1C252B"/>
                </a:solidFill>
                <a:latin typeface="Cambria"/>
              </a:rPr>
              <a:t>A</a:t>
            </a:r>
            <a:r>
              <a:rPr sz="2000" b="0" i="0">
                <a:solidFill>
                  <a:srgbClr val="1C252B"/>
                </a:solidFill>
                <a:latin typeface="Segoe UI"/>
              </a:rPr>
              <a:t> = attack, </a:t>
            </a:r>
            <a:r>
              <a:rPr sz="2000" b="0" i="1">
                <a:solidFill>
                  <a:srgbClr val="1C252B"/>
                </a:solidFill>
                <a:latin typeface="Cambria"/>
              </a:rPr>
              <a:t>B</a:t>
            </a:r>
            <a:r>
              <a:rPr sz="2000" b="0" i="0">
                <a:solidFill>
                  <a:srgbClr val="1C252B"/>
                </a:solidFill>
                <a:latin typeface="Segoe UI"/>
              </a:rPr>
              <a:t> = alarm. </a:t>
            </a:r>
            <a:r>
              <a:rPr sz="2000" b="0" i="1">
                <a:solidFill>
                  <a:srgbClr val="1C252B"/>
                </a:solidFill>
                <a:latin typeface="Cambria"/>
              </a:rPr>
              <a:t>P</a:t>
            </a:r>
            <a:r>
              <a:rPr sz="2000" b="0" i="0">
                <a:solidFill>
                  <a:srgbClr val="1C252B"/>
                </a:solidFill>
                <a:latin typeface="Cambria"/>
              </a:rPr>
              <a:t>(</a:t>
            </a:r>
            <a:r>
              <a:rPr sz="2000" b="0" i="1">
                <a:solidFill>
                  <a:srgbClr val="1C252B"/>
                </a:solidFill>
                <a:latin typeface="Cambria"/>
              </a:rPr>
              <a:t>A</a:t>
            </a:r>
            <a:r>
              <a:rPr sz="2000" b="0" i="0">
                <a:solidFill>
                  <a:srgbClr val="1C252B"/>
                </a:solidFill>
                <a:latin typeface="Cambria"/>
              </a:rPr>
              <a:t>) = 0.001</a:t>
            </a:r>
            <a:r>
              <a:rPr sz="2000" b="0" i="0">
                <a:solidFill>
                  <a:srgbClr val="1C252B"/>
                </a:solidFill>
                <a:latin typeface="Segoe UI"/>
              </a:rPr>
              <a:t>, </a:t>
            </a:r>
            <a:r>
              <a:rPr sz="2000" b="0" i="1">
                <a:solidFill>
                  <a:srgbClr val="1C252B"/>
                </a:solidFill>
                <a:latin typeface="Cambria"/>
              </a:rPr>
              <a:t>P</a:t>
            </a:r>
            <a:r>
              <a:rPr sz="2000" b="0" i="0">
                <a:solidFill>
                  <a:srgbClr val="1C252B"/>
                </a:solidFill>
                <a:latin typeface="Cambria"/>
              </a:rPr>
              <a:t>(</a:t>
            </a:r>
            <a:r>
              <a:rPr sz="2000" b="0" i="1">
                <a:solidFill>
                  <a:srgbClr val="1C252B"/>
                </a:solidFill>
                <a:latin typeface="Cambria"/>
              </a:rPr>
              <a:t>B</a:t>
            </a:r>
            <a:r>
              <a:rPr sz="2000" b="0" i="0">
                <a:solidFill>
                  <a:srgbClr val="1C252B"/>
                </a:solidFill>
                <a:latin typeface="Cambria"/>
              </a:rPr>
              <a:t> ∣ </a:t>
            </a:r>
            <a:r>
              <a:rPr sz="2000" b="0" i="1">
                <a:solidFill>
                  <a:srgbClr val="1C252B"/>
                </a:solidFill>
                <a:latin typeface="Cambria"/>
              </a:rPr>
              <a:t>A</a:t>
            </a:r>
            <a:r>
              <a:rPr sz="2000" b="0" i="0">
                <a:solidFill>
                  <a:srgbClr val="1C252B"/>
                </a:solidFill>
                <a:latin typeface="Cambria"/>
              </a:rPr>
              <a:t>) = 0.99</a:t>
            </a:r>
            <a:r>
              <a:rPr sz="2000" b="0" i="0">
                <a:solidFill>
                  <a:srgbClr val="1C252B"/>
                </a:solidFill>
                <a:latin typeface="Segoe UI"/>
              </a:rPr>
              <a:t>, </a:t>
            </a:r>
            <a:r>
              <a:rPr sz="2000" b="0" i="1">
                <a:solidFill>
                  <a:srgbClr val="1C252B"/>
                </a:solidFill>
                <a:latin typeface="Cambria"/>
              </a:rPr>
              <a:t>P</a:t>
            </a:r>
            <a:r>
              <a:rPr sz="2000" b="0" i="0">
                <a:solidFill>
                  <a:srgbClr val="1C252B"/>
                </a:solidFill>
                <a:latin typeface="Cambria"/>
              </a:rPr>
              <a:t>(</a:t>
            </a:r>
            <a:r>
              <a:rPr sz="2000" b="0" i="1">
                <a:solidFill>
                  <a:srgbClr val="1C252B"/>
                </a:solidFill>
                <a:latin typeface="Cambria"/>
              </a:rPr>
              <a:t>B</a:t>
            </a:r>
            <a:r>
              <a:rPr sz="2000" b="0" i="0">
                <a:solidFill>
                  <a:srgbClr val="1C252B"/>
                </a:solidFill>
                <a:latin typeface="Cambria"/>
              </a:rPr>
              <a:t> ∣ </a:t>
            </a:r>
            <a:r>
              <a:rPr sz="2000" b="0" i="0">
                <a:solidFill>
                  <a:srgbClr val="1C252B"/>
                </a:solidFill>
                <a:latin typeface="Segoe UI"/>
              </a:rPr>
              <a:t>not</a:t>
            </a:r>
            <a:r>
              <a:rPr sz="2000" b="0" i="1">
                <a:solidFill>
                  <a:srgbClr val="1C252B"/>
                </a:solidFill>
                <a:latin typeface="Cambria"/>
              </a:rPr>
              <a:t>A</a:t>
            </a:r>
            <a:r>
              <a:rPr sz="2000" b="0" i="0">
                <a:solidFill>
                  <a:srgbClr val="1C252B"/>
                </a:solidFill>
                <a:latin typeface="Cambria"/>
              </a:rPr>
              <a:t>) = 0.01</a:t>
            </a:r>
            <a:r>
              <a:rPr sz="2000" b="0" i="0">
                <a:solidFill>
                  <a:srgbClr val="1C252B"/>
                </a:solidFill>
                <a:latin typeface="Segoe UI"/>
              </a:rPr>
              <a:t>.</a:t>
            </a:r>
          </a:p>
        </p:txBody>
      </p:sp>
      <p:pic>
        <p:nvPicPr>
          <p:cNvPr id="11" name="body-2" descr="P(B) = (0.99)(0.001) + (0.01)(0.999) = 0.00099 + 0.00999 = 0.0109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559047"/>
            <a:ext cx="10234879" cy="341619"/>
          </a:xfrm>
          <a:prstGeom prst="rect">
            <a:avLst/>
          </a:prstGeom>
        </p:spPr>
      </p:pic>
      <p:pic>
        <p:nvPicPr>
          <p:cNvPr id="12" name="body-3" descr="P(A \mid B) = \frac{0.00099}{0.01098} \approx \mathbf{0.090}"/>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4040367"/>
            <a:ext cx="10234879" cy="576072"/>
          </a:xfrm>
          <a:prstGeom prst="rect">
            <a:avLst/>
          </a:prstGeom>
        </p:spPr>
      </p:pic>
      <p:sp>
        <p:nvSpPr>
          <p:cNvPr id="13" name="body-4"/>
          <p:cNvSpPr txBox="1"/>
          <p:nvPr/>
        </p:nvSpPr>
        <p:spPr>
          <a:xfrm>
            <a:off x="1042416" y="4756139"/>
            <a:ext cx="10234879"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7D6608"/>
                </a:solidFill>
                <a:latin typeface="Segoe UI"/>
              </a:rPr>
              <a:t>Only 9% of alarms are attacks</a:t>
            </a:r>
            <a:r>
              <a:rPr sz="2000" b="0" i="0">
                <a:solidFill>
                  <a:srgbClr val="1C252B"/>
                </a:solidFill>
                <a:latin typeface="Segoe UI"/>
              </a:rPr>
              <a:t>, from a detector that is “99% accurate”. There are so many more benign connections that their 1% of false alarms outnumbers the real attacks ten to one. This is the </a:t>
            </a:r>
            <a:r>
              <a:rPr sz="2000" b="1" i="0">
                <a:solidFill>
                  <a:srgbClr val="1A5276"/>
                </a:solidFill>
                <a:latin typeface="Segoe UI"/>
              </a:rPr>
              <a:t>base-rate</a:t>
            </a:r>
            <a:r>
              <a:rPr sz="2000" b="0" i="0">
                <a:solidFill>
                  <a:srgbClr val="1C252B"/>
                </a:solidFill>
                <a:latin typeface="Segoe UI"/>
              </a:rPr>
              <a:t> effect, and it is why Chapter 8 insists on precision rather than accuracy. Naive Bayes (Chapter 10) is this calculation, done for every class.</a:t>
            </a:r>
          </a:p>
        </p:txBody>
      </p:sp>
      <p:sp>
        <p:nvSpPr>
          <p:cNvPr id="14" name="body-4bar">
            <a:extLst>
              <a:ext uri="{C183D7F6-B498-43B3-948B-1728B52AA6E4}">
                <adec:decorative xmlns:adec="http://schemas.microsoft.com/office/drawing/2017/decorative" val="1"/>
              </a:ext>
            </a:extLst>
          </p:cNvPr>
          <p:cNvSpPr/>
          <p:nvPr/>
        </p:nvSpPr>
        <p:spPr>
          <a:xfrm>
            <a:off x="841248" y="4774427"/>
            <a:ext cx="54864" cy="124968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491945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right)">
                                      <p:cBhvr>
                                        <p:cTn id="23" dur="42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Expectation, Variance and the Gaussian</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§2.7  ·  Handout p. 15     </a:t>
            </a:r>
            <a:fld id="{BDD02963-BAF7-4EE8-A2EE-E3056A9622D2}" type="slidenum">
              <a:rPr lang="en-GB" sz="1000">
                <a:solidFill>
                  <a:srgbClr val="8795A1"/>
                </a:solidFill>
                <a:latin typeface="Segoe UI"/>
              </a:rPr>
              <a:t>24</a:t>
            </a:fld>
          </a:p>
        </p:txBody>
      </p:sp>
      <p:sp>
        <p:nvSpPr>
          <p:cNvPr id="7" name="!!stbar">
            <a:extLst>
              <a:ext uri="{C183D7F6-B498-43B3-948B-1728B52AA6E4}">
                <adec:decorative xmlns:adec="http://schemas.microsoft.com/office/drawing/2017/decorative" val="1"/>
              </a:ext>
            </a:extLst>
          </p:cNvPr>
          <p:cNvSpPr/>
          <p:nvPr/>
        </p:nvSpPr>
        <p:spPr>
          <a:xfrm>
            <a:off x="658368" y="1810512"/>
            <a:ext cx="73152" cy="433581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8" name="body-0" descr="The expectation (mean) of a random variable is its probability-weighted average, E[X] = Σx x P(x); from a sample it is estimated by the sample mean x̄. The variance is the expected squared distance from the mean, Var(X) = E[(X − E[X])2], and its square root is the standard deviation σ. For the values 2, 4, 4, 4, 5, 5, 7, 9 the mean is 5, the squared deviations sum to 32, the variance is 32/8 = 4 and σ = 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5" y="1792224"/>
            <a:ext cx="10417759" cy="1739737"/>
          </a:xfrm>
          <a:prstGeom prst="rect">
            <a:avLst/>
          </a:prstGeom>
        </p:spPr>
      </p:pic>
      <p:sp>
        <p:nvSpPr>
          <p:cNvPr id="9" name="body-1"/>
          <p:cNvSpPr txBox="1"/>
          <p:nvPr/>
        </p:nvSpPr>
        <p:spPr>
          <a:xfrm>
            <a:off x="1042415" y="3685631"/>
            <a:ext cx="1041775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a:t>
            </a:r>
            <a:r>
              <a:rPr sz="2200" b="1" i="0">
                <a:solidFill>
                  <a:srgbClr val="1A5276"/>
                </a:solidFill>
                <a:latin typeface="Segoe UI"/>
              </a:rPr>
              <a:t>Gaussian</a:t>
            </a:r>
            <a:r>
              <a:rPr sz="2200" b="0" i="0">
                <a:solidFill>
                  <a:srgbClr val="1C252B"/>
                </a:solidFill>
                <a:latin typeface="Segoe UI"/>
              </a:rPr>
              <a:t> (normal) distribution with mean </a:t>
            </a:r>
            <a:r>
              <a:rPr sz="2200" b="0" i="0">
                <a:solidFill>
                  <a:srgbClr val="1C252B"/>
                </a:solidFill>
                <a:latin typeface="Cambria"/>
              </a:rPr>
              <a:t>μ</a:t>
            </a:r>
            <a:r>
              <a:rPr sz="2200" b="0" i="0">
                <a:solidFill>
                  <a:srgbClr val="1C252B"/>
                </a:solidFill>
                <a:latin typeface="Segoe UI"/>
              </a:rPr>
              <a:t> and variance </a:t>
            </a:r>
            <a:r>
              <a:rPr sz="2200" b="0" i="0">
                <a:solidFill>
                  <a:srgbClr val="1C252B"/>
                </a:solidFill>
                <a:latin typeface="Cambria"/>
              </a:rPr>
              <a:t>σ</a:t>
            </a:r>
            <a:r>
              <a:rPr sz="2200" b="0" i="0" baseline="30000">
                <a:solidFill>
                  <a:srgbClr val="1C252B"/>
                </a:solidFill>
                <a:latin typeface="Cambria"/>
              </a:rPr>
              <a:t>2</a:t>
            </a:r>
            <a:r>
              <a:rPr sz="2200" b="0" i="0">
                <a:solidFill>
                  <a:srgbClr val="1C252B"/>
                </a:solidFill>
                <a:latin typeface="Segoe UI"/>
              </a:rPr>
              <a:t> has density</a:t>
            </a:r>
          </a:p>
        </p:txBody>
      </p:sp>
      <p:pic>
        <p:nvPicPr>
          <p:cNvPr id="10" name="body-2" descr="p(x) = \frac{1}{\sqrt{2\pi\sigma^2}} \exp\!\left(-\frac{(x-\mu)^2}{2\sigma^2}\righ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5" y="4187992"/>
            <a:ext cx="10417759" cy="776874"/>
          </a:xfrm>
          <a:prstGeom prst="rect">
            <a:avLst/>
          </a:prstGeom>
        </p:spPr>
      </p:pic>
      <p:sp>
        <p:nvSpPr>
          <p:cNvPr id="11" name="body-3"/>
          <p:cNvSpPr txBox="1"/>
          <p:nvPr/>
        </p:nvSpPr>
        <p:spPr>
          <a:xfrm>
            <a:off x="1042415" y="5118536"/>
            <a:ext cx="1041775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It appears in Gaussian naive Bayes (Chapter 10) and Gaussian mixtures (Chapter 17), and whenever a model assumes that its errors are small, symmetric and unsurprising.</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513334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Maximum Likelihood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8 OF 9</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2.8</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   Four Kinds of Mathematics, Four Jobs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   Vectors and the Dot Product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   Matrices: A Whole Dataset at Once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2.4   Derivatives and Gradients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   Gradient Descent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   Probability</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   Expectation, Variance and the Gaussian</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2.8   Maximum Likelihood</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§2.8     </a:t>
            </a:r>
            <a:fld id="{87976105-EC39-4785-B650-4EB5A1B7E758}" type="slidenum">
              <a:rPr lang="en-GB" sz="1000">
                <a:solidFill>
                  <a:srgbClr val="8795A1"/>
                </a:solidFill>
                <a:latin typeface="Segoe UI"/>
              </a:rPr>
              <a:t>25</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534723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Likelihood and Maximum Likelihood Estimation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  ·  Handout p. 15     </a:t>
            </a:r>
            <a:fld id="{009A2485-6363-48D4-89A0-6CC56388BFF3}" type="slidenum">
              <a:rPr lang="en-GB" sz="1000">
                <a:solidFill>
                  <a:srgbClr val="8795A1"/>
                </a:solidFill>
                <a:latin typeface="Segoe UI"/>
              </a:rPr>
              <a:t>26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For data </a:t>
            </a:r>
            <a:r>
              <a:rPr sz="2300" b="0" i="1">
                <a:solidFill>
                  <a:srgbClr val="1C252B"/>
                </a:solidFill>
                <a:latin typeface="Cambria"/>
              </a:rPr>
              <a:t>D</a:t>
            </a:r>
            <a:r>
              <a:rPr sz="2300" b="0" i="0">
                <a:solidFill>
                  <a:srgbClr val="1C252B"/>
                </a:solidFill>
                <a:latin typeface="Segoe UI"/>
              </a:rPr>
              <a:t> and parameters </a:t>
            </a:r>
            <a:r>
              <a:rPr sz="2300" b="0" i="0">
                <a:solidFill>
                  <a:srgbClr val="1C252B"/>
                </a:solidFill>
                <a:latin typeface="Cambria"/>
              </a:rPr>
              <a:t>θ</a:t>
            </a:r>
            <a:r>
              <a:rPr sz="2300" b="0" i="0">
                <a:solidFill>
                  <a:srgbClr val="1C252B"/>
                </a:solidFill>
                <a:latin typeface="Segoe UI"/>
              </a:rPr>
              <a:t>, the </a:t>
            </a:r>
            <a:r>
              <a:rPr sz="2300" b="1" i="0">
                <a:solidFill>
                  <a:srgbClr val="1A5276"/>
                </a:solidFill>
                <a:latin typeface="Segoe UI"/>
              </a:rPr>
              <a:t>likelihood</a:t>
            </a:r>
            <a:r>
              <a:rPr sz="2300" b="0" i="0">
                <a:solidFill>
                  <a:srgbClr val="1C252B"/>
                </a:solidFill>
                <a:latin typeface="Segoe UI"/>
              </a:rPr>
              <a:t> </a:t>
            </a:r>
            <a:r>
              <a:rPr sz="2300" b="0" i="1">
                <a:solidFill>
                  <a:srgbClr val="1C252B"/>
                </a:solidFill>
                <a:latin typeface="Cambria"/>
              </a:rPr>
              <a:t>L</a:t>
            </a:r>
            <a:r>
              <a:rPr sz="2300" b="0" i="0">
                <a:solidFill>
                  <a:srgbClr val="1C252B"/>
                </a:solidFill>
                <a:latin typeface="Cambria"/>
              </a:rPr>
              <a:t>(θ) =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D</a:t>
            </a:r>
            <a:r>
              <a:rPr sz="2300" b="0" i="0">
                <a:solidFill>
                  <a:srgbClr val="1C252B"/>
                </a:solidFill>
                <a:latin typeface="Cambria"/>
              </a:rPr>
              <a:t> ∣ θ)</a:t>
            </a:r>
            <a:r>
              <a:rPr sz="2300" b="0" i="0">
                <a:solidFill>
                  <a:srgbClr val="1C252B"/>
                </a:solidFill>
                <a:latin typeface="Segoe UI"/>
              </a:rPr>
              <a:t> is the probability of the data under those parameters, read as a function of </a:t>
            </a:r>
            <a:r>
              <a:rPr sz="2300" b="0" i="0">
                <a:solidFill>
                  <a:srgbClr val="1C252B"/>
                </a:solidFill>
                <a:latin typeface="Cambria"/>
              </a:rPr>
              <a:t>θ</a:t>
            </a:r>
            <a:r>
              <a:rPr sz="2300" b="0" i="0">
                <a:solidFill>
                  <a:srgbClr val="1C252B"/>
                </a:solidFill>
                <a:latin typeface="Segoe UI"/>
              </a:rPr>
              <a:t>. The </a:t>
            </a:r>
            <a:r>
              <a:rPr sz="2300" b="1" i="0">
                <a:solidFill>
                  <a:srgbClr val="1A5276"/>
                </a:solidFill>
                <a:latin typeface="Segoe UI"/>
              </a:rPr>
              <a:t>maximum likelihood estimate</a:t>
            </a:r>
            <a:r>
              <a:rPr sz="2300" b="0" i="0">
                <a:solidFill>
                  <a:srgbClr val="1C252B"/>
                </a:solidFill>
                <a:latin typeface="Segoe UI"/>
              </a:rPr>
              <a:t> </a:t>
            </a:r>
            <a:r>
              <a:rPr sz="2300" b="0" i="0">
                <a:solidFill>
                  <a:srgbClr val="1C252B"/>
                </a:solidFill>
                <a:latin typeface="Cambria"/>
              </a:rPr>
              <a:t>θ̂</a:t>
            </a:r>
            <a:r>
              <a:rPr sz="2300" b="0" i="1" baseline="-25000">
                <a:solidFill>
                  <a:srgbClr val="1C252B"/>
                </a:solidFill>
                <a:latin typeface="Cambria"/>
              </a:rPr>
              <a:t>ML</a:t>
            </a:r>
            <a:r>
              <a:rPr sz="2300" b="0" i="0">
                <a:solidFill>
                  <a:srgbClr val="1C252B"/>
                </a:solidFill>
                <a:latin typeface="Segoe UI"/>
              </a:rPr>
              <a:t> is the </a:t>
            </a:r>
            <a:r>
              <a:rPr sz="2300" b="0" i="0">
                <a:solidFill>
                  <a:srgbClr val="1C252B"/>
                </a:solidFill>
                <a:latin typeface="Cambria"/>
              </a:rPr>
              <a:t>θ</a:t>
            </a:r>
            <a:r>
              <a:rPr sz="2300" b="0" i="0">
                <a:solidFill>
                  <a:srgbClr val="1C252B"/>
                </a:solidFill>
                <a:latin typeface="Segoe UI"/>
              </a:rPr>
              <a:t> that maximises it. In practice one maximises the </a:t>
            </a:r>
            <a:r>
              <a:rPr sz="2300" b="1" i="0">
                <a:solidFill>
                  <a:srgbClr val="1A5276"/>
                </a:solidFill>
                <a:latin typeface="Segoe UI"/>
              </a:rPr>
              <a:t>log-likelihood</a:t>
            </a:r>
            <a:r>
              <a:rPr sz="2300" b="0" i="0">
                <a:solidFill>
                  <a:srgbClr val="1C252B"/>
                </a:solidFill>
                <a:latin typeface="Segoe UI"/>
              </a:rPr>
              <a:t> </a:t>
            </a:r>
            <a:r>
              <a:rPr sz="2300" b="0" i="0">
                <a:solidFill>
                  <a:srgbClr val="1C252B"/>
                </a:solidFill>
                <a:latin typeface="Cambria"/>
              </a:rPr>
              <a:t>log </a:t>
            </a:r>
            <a:r>
              <a:rPr sz="2300" b="0" i="1">
                <a:solidFill>
                  <a:srgbClr val="1C252B"/>
                </a:solidFill>
                <a:latin typeface="Cambria"/>
              </a:rPr>
              <a:t>L</a:t>
            </a:r>
            <a:r>
              <a:rPr sz="2300" b="0" i="0">
                <a:solidFill>
                  <a:srgbClr val="1C252B"/>
                </a:solidFill>
                <a:latin typeface="Cambria"/>
              </a:rPr>
              <a:t>(θ)</a:t>
            </a:r>
            <a:r>
              <a:rPr sz="2300" b="0" i="0">
                <a:solidFill>
                  <a:srgbClr val="1C252B"/>
                </a:solidFill>
                <a:latin typeface="Segoe UI"/>
              </a:rPr>
              <a:t> instead: the logarithm turns products into sums and has the same maximum.</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56112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likelihood of seven heads in ten tosses, as a function of the coin’s bias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2.3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  ·  Handout p. 15     </a:t>
            </a:r>
            <a:fld id="{A48DE868-6C14-4309-A32F-555CDC903CFB}" type="slidenum">
              <a:rPr lang="en-GB" sz="1000">
                <a:solidFill>
                  <a:srgbClr val="8795A1"/>
                </a:solidFill>
                <a:latin typeface="Segoe UI"/>
              </a:rPr>
              <a:t>27</a:t>
            </a:fld>
          </a:p>
        </p:txBody>
      </p:sp>
      <p:pic>
        <p:nvPicPr>
          <p:cNvPr id="6" name="!!figure" descr="Figure 2.3. The likelihood of seven heads in ten tosses, as a function of the coin’s bias. It is largest at p=0.7 — the observed proportion, which is what maximum likelihood gives for any coi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13339" y="1737360"/>
            <a:ext cx="8365016"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It is largest at p=0.7 — the observed proportion, which is what maximum likelihood gives for any coin.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77501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Maximum Likelihood Coin</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  ·  Handout p. 15     </a:t>
            </a:r>
            <a:fld id="{821ECF98-6631-4E76-B9FC-94EFE1DAB520}" type="slidenum">
              <a:rPr lang="en-GB" sz="1000">
                <a:solidFill>
                  <a:srgbClr val="8795A1"/>
                </a:solidFill>
                <a:latin typeface="Segoe UI"/>
              </a:rPr>
              <a:t>28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08857"/>
          </a:xfrm>
          <a:prstGeom prst="roundRect">
            <a:avLst>
              <a:gd name="adj" fmla="val 260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0885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coin gives 7 heads in 10 tosses. The likelihood of that sequence is </a:t>
            </a:r>
            <a:r>
              <a:rPr sz="2100" b="0" i="1">
                <a:solidFill>
                  <a:srgbClr val="1C252B"/>
                </a:solidFill>
                <a:latin typeface="Cambria"/>
              </a:rPr>
              <a:t>L</a:t>
            </a:r>
            <a:r>
              <a:rPr sz="2100" b="0" i="0">
                <a:solidFill>
                  <a:srgbClr val="1C252B"/>
                </a:solidFill>
                <a:latin typeface="Cambria"/>
              </a:rPr>
              <a:t>(</a:t>
            </a:r>
            <a:r>
              <a:rPr sz="2100" b="0" i="1">
                <a:solidFill>
                  <a:srgbClr val="1C252B"/>
                </a:solidFill>
                <a:latin typeface="Cambria"/>
              </a:rPr>
              <a:t>p</a:t>
            </a:r>
            <a:r>
              <a:rPr sz="2100" b="0" i="0">
                <a:solidFill>
                  <a:srgbClr val="1C252B"/>
                </a:solidFill>
                <a:latin typeface="Cambria"/>
              </a:rPr>
              <a:t>) = </a:t>
            </a:r>
            <a:r>
              <a:rPr sz="2100" b="0" i="1">
                <a:solidFill>
                  <a:srgbClr val="1C252B"/>
                </a:solidFill>
                <a:latin typeface="Cambria"/>
              </a:rPr>
              <a:t>p</a:t>
            </a:r>
            <a:r>
              <a:rPr sz="2100" b="0" i="0" baseline="30000">
                <a:solidFill>
                  <a:srgbClr val="1C252B"/>
                </a:solidFill>
                <a:latin typeface="Cambria"/>
              </a:rPr>
              <a:t>7</a:t>
            </a:r>
            <a:r>
              <a:rPr sz="2100" b="0" i="0">
                <a:solidFill>
                  <a:srgbClr val="1C252B"/>
                </a:solidFill>
                <a:latin typeface="Cambria"/>
              </a:rPr>
              <a:t>(1−</a:t>
            </a:r>
            <a:r>
              <a:rPr sz="2100" b="0" i="1">
                <a:solidFill>
                  <a:srgbClr val="1C252B"/>
                </a:solidFill>
                <a:latin typeface="Cambria"/>
              </a:rPr>
              <a:t>p</a:t>
            </a:r>
            <a:r>
              <a:rPr sz="2100" b="0" i="0">
                <a:solidFill>
                  <a:srgbClr val="1C252B"/>
                </a:solidFill>
                <a:latin typeface="Cambria"/>
              </a:rPr>
              <a:t>)</a:t>
            </a:r>
            <a:r>
              <a:rPr sz="2100" b="0" i="0" baseline="30000">
                <a:solidFill>
                  <a:srgbClr val="1C252B"/>
                </a:solidFill>
                <a:latin typeface="Cambria"/>
              </a:rPr>
              <a:t>3</a:t>
            </a:r>
            <a:r>
              <a:rPr sz="2100" b="0" i="0">
                <a:solidFill>
                  <a:srgbClr val="1C252B"/>
                </a:solidFill>
                <a:latin typeface="Segoe UI"/>
              </a:rPr>
              <a:t>, and the log-likelihood is </a:t>
            </a:r>
            <a:r>
              <a:rPr sz="2100" b="0" i="0">
                <a:solidFill>
                  <a:srgbClr val="1C252B"/>
                </a:solidFill>
                <a:latin typeface="Cambria"/>
              </a:rPr>
              <a:t>(</a:t>
            </a:r>
            <a:r>
              <a:rPr sz="2100" b="0" i="1">
                <a:solidFill>
                  <a:srgbClr val="1C252B"/>
                </a:solidFill>
                <a:latin typeface="Cambria"/>
              </a:rPr>
              <a:t>p</a:t>
            </a:r>
            <a:r>
              <a:rPr sz="2100" b="0" i="0">
                <a:solidFill>
                  <a:srgbClr val="1C252B"/>
                </a:solidFill>
                <a:latin typeface="Cambria"/>
              </a:rPr>
              <a:t>) = 7ln </a:t>
            </a:r>
            <a:r>
              <a:rPr sz="2100" b="0" i="1">
                <a:solidFill>
                  <a:srgbClr val="1C252B"/>
                </a:solidFill>
                <a:latin typeface="Cambria"/>
              </a:rPr>
              <a:t>p</a:t>
            </a:r>
            <a:r>
              <a:rPr sz="2100" b="0" i="0">
                <a:solidFill>
                  <a:srgbClr val="1C252B"/>
                </a:solidFill>
                <a:latin typeface="Cambria"/>
              </a:rPr>
              <a:t> + 3ln(1−</a:t>
            </a:r>
            <a:r>
              <a:rPr sz="2100" b="0" i="1">
                <a:solidFill>
                  <a:srgbClr val="1C252B"/>
                </a:solidFill>
                <a:latin typeface="Cambria"/>
              </a:rPr>
              <a:t>p</a:t>
            </a:r>
            <a:r>
              <a:rPr sz="2100" b="0" i="0">
                <a:solidFill>
                  <a:srgbClr val="1C252B"/>
                </a:solidFill>
                <a:latin typeface="Cambria"/>
              </a:rPr>
              <a:t>)</a:t>
            </a:r>
            <a:r>
              <a:rPr sz="2100" b="0" i="0">
                <a:solidFill>
                  <a:srgbClr val="1C252B"/>
                </a:solidFill>
                <a:latin typeface="Segoe UI"/>
              </a:rPr>
              <a:t>. Set its derivative to zero:</a:t>
            </a:r>
          </a:p>
        </p:txBody>
      </p:sp>
      <p:pic>
        <p:nvPicPr>
          <p:cNvPr id="10" name="body-1" descr="\frac{d\ell}{dp} = \frac{7}{p} - \frac{3}{1-p} = 0 \;\Rightarrow\; 7(1-p) = 3p \;\Rightarrow\; \hat{p} = \mathbf{0.7}"/>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824048"/>
            <a:ext cx="10234879" cy="669798"/>
          </a:xfrm>
          <a:prstGeom prst="rect">
            <a:avLst/>
          </a:prstGeom>
        </p:spPr>
      </p:pic>
      <p:sp>
        <p:nvSpPr>
          <p:cNvPr id="11" name="body-2"/>
          <p:cNvSpPr txBox="1"/>
          <p:nvPr/>
        </p:nvSpPr>
        <p:spPr>
          <a:xfrm>
            <a:off x="1042416" y="3640531"/>
            <a:ext cx="10234879"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answer is what intuition says — the observed fraction — but the method is general: the same argument gives the least-squares line of Chapter 5 and the cross-entropy loss of Chapter 6, and the EM algorithm of Chapter 17 is a way of doing it when some data is missing.</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98890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Maximum Likelihood Trusts Small Samples Too Much</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§2.8  ·  Handout p. 15     </a:t>
            </a:r>
            <a:fld id="{BAB6128A-72AB-4D91-A0D3-F8B4412ABDE1}" type="slidenum">
              <a:rPr lang="en-GB" sz="1000">
                <a:solidFill>
                  <a:srgbClr val="8795A1"/>
                </a:solidFill>
                <a:latin typeface="Segoe UI"/>
              </a:rPr>
              <a:t>29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One toss, one head: </a:t>
            </a:r>
            <a:r>
              <a:rPr sz="2300" b="0" i="1">
                <a:solidFill>
                  <a:srgbClr val="1C252B"/>
                </a:solidFill>
                <a:latin typeface="Cambria"/>
              </a:rPr>
              <a:t>p̂</a:t>
            </a:r>
            <a:r>
              <a:rPr sz="2300" b="0" i="1" baseline="-25000">
                <a:solidFill>
                  <a:srgbClr val="1C252B"/>
                </a:solidFill>
                <a:latin typeface="Cambria"/>
              </a:rPr>
              <a:t>ML</a:t>
            </a:r>
            <a:r>
              <a:rPr sz="2300" b="0" i="0">
                <a:solidFill>
                  <a:srgbClr val="1C252B"/>
                </a:solidFill>
                <a:latin typeface="Cambria"/>
              </a:rPr>
              <a:t> = 1</a:t>
            </a:r>
            <a:r>
              <a:rPr sz="2300" b="0" i="0">
                <a:solidFill>
                  <a:srgbClr val="1C252B"/>
                </a:solidFill>
                <a:latin typeface="Segoe UI"/>
              </a:rPr>
              <a:t>, a coin that can never land tails. A word that never appeared in the training e-mails gets probability zero, and a single zero makes a whole product zero. Chapter 10 fixes this with </a:t>
            </a:r>
            <a:r>
              <a:rPr sz="2300" b="1" i="0">
                <a:solidFill>
                  <a:srgbClr val="1A5276"/>
                </a:solidFill>
                <a:latin typeface="Segoe UI"/>
              </a:rPr>
              <a:t>Laplace smoothing</a:t>
            </a:r>
            <a:r>
              <a:rPr sz="2300" b="0" i="0">
                <a:solidFill>
                  <a:srgbClr val="1C252B"/>
                </a:solidFill>
                <a:latin typeface="Segoe UI"/>
              </a:rPr>
              <a:t>: add one imaginary observation of every outcome.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20279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Information and Entropy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9 OF 9</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2.9</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   Four Kinds of Mathematics, Four Jobs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   Vectors and the Dot Product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   Matrices: A Whole Dataset at Once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2.4   Derivatives and Gradients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2.5   Gradient Descent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2.6   Probability</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2.7   Expectation, Variance and the Gaussian</a:t>
            </a:r>
          </a:p>
        </p:txBody>
      </p:sp>
      <p:sp>
        <p:nvSpPr>
          <p:cNvPr id="13" name="!!dl7"/>
          <p:cNvSpPr txBox="1"/>
          <p:nvPr/>
        </p:nvSpPr>
        <p:spPr>
          <a:xfrm>
            <a:off x="4846320" y="60807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2.8   Maximum Likelihood</a:t>
            </a:r>
          </a:p>
        </p:txBody>
      </p:sp>
      <p:sp>
        <p:nvSpPr>
          <p:cNvPr id="14"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§2.9     </a:t>
            </a:r>
            <a:fld id="{98EEB3FB-5CF6-460E-8EFB-2E4B8C055828}" type="slidenum">
              <a:rPr lang="en-GB" sz="1000">
                <a:solidFill>
                  <a:srgbClr val="8795A1"/>
                </a:solidFill>
                <a:latin typeface="Segoe UI"/>
              </a:rPr>
              <a:t>30</a:t>
            </a:fld>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41668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Entropy</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  ·  Handout p. 16     </a:t>
            </a:r>
            <a:fld id="{17C9E85D-80FC-434B-B97C-FCA86E485F83}" type="slidenum">
              <a:rPr lang="en-GB" sz="1000">
                <a:solidFill>
                  <a:srgbClr val="8795A1"/>
                </a:solidFill>
                <a:latin typeface="Segoe UI"/>
              </a:rPr>
              <a:t>31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59115"/>
          </a:xfrm>
          <a:prstGeom prst="roundRect">
            <a:avLst>
              <a:gd name="adj" fmla="val 2989"/>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5911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entropy</a:t>
            </a:r>
            <a:r>
              <a:rPr sz="2300" b="0" i="0">
                <a:solidFill>
                  <a:srgbClr val="1C252B"/>
                </a:solidFill>
                <a:latin typeface="Segoe UI"/>
              </a:rPr>
              <a:t> of a distribution </a:t>
            </a:r>
            <a:r>
              <a:rPr sz="2300" b="0" i="0">
                <a:solidFill>
                  <a:srgbClr val="1C252B"/>
                </a:solidFill>
                <a:latin typeface="Cambria"/>
              </a:rPr>
              <a:t>(</a:t>
            </a:r>
            <a:r>
              <a:rPr sz="2300" b="0" i="1">
                <a:solidFill>
                  <a:srgbClr val="1C252B"/>
                </a:solidFill>
                <a:latin typeface="Cambria"/>
              </a:rPr>
              <a:t>p</a:t>
            </a:r>
            <a:r>
              <a:rPr sz="2300" b="0" i="0" baseline="-25000">
                <a:solidFill>
                  <a:srgbClr val="1C252B"/>
                </a:solidFill>
                <a:latin typeface="Cambria"/>
              </a:rPr>
              <a:t>1</a:t>
            </a:r>
            <a:r>
              <a:rPr sz="2300" b="0" i="0">
                <a:solidFill>
                  <a:srgbClr val="1C252B"/>
                </a:solidFill>
                <a:latin typeface="Cambria"/>
              </a:rPr>
              <a:t>, …, </a:t>
            </a:r>
            <a:r>
              <a:rPr sz="2300" b="0" i="1">
                <a:solidFill>
                  <a:srgbClr val="1C252B"/>
                </a:solidFill>
                <a:latin typeface="Cambria"/>
              </a:rPr>
              <a:t>p</a:t>
            </a:r>
            <a:r>
              <a:rPr sz="2300" b="0" i="1" baseline="-25000">
                <a:solidFill>
                  <a:srgbClr val="1C252B"/>
                </a:solidFill>
                <a:latin typeface="Cambria"/>
              </a:rPr>
              <a:t>k</a:t>
            </a:r>
            <a:r>
              <a:rPr sz="2300" b="0" i="0">
                <a:solidFill>
                  <a:srgbClr val="1C252B"/>
                </a:solidFill>
                <a:latin typeface="Cambria"/>
              </a:rPr>
              <a:t>)</a:t>
            </a:r>
            <a:r>
              <a:rPr sz="2300" b="0" i="0">
                <a:solidFill>
                  <a:srgbClr val="1C252B"/>
                </a:solidFill>
                <a:latin typeface="Segoe UI"/>
              </a:rPr>
              <a:t> measures its uncertainty, in bits:</a:t>
            </a:r>
          </a:p>
        </p:txBody>
      </p:sp>
      <p:pic>
        <p:nvPicPr>
          <p:cNvPr id="10" name="body-1" descr="H = -\sum_{i=1}^{k} p_i \log_2 p_i \qquad (\text{with } 0 \log_2 0 = 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73451"/>
            <a:ext cx="10161727" cy="1022390"/>
          </a:xfrm>
          <a:prstGeom prst="rect">
            <a:avLst/>
          </a:prstGeom>
        </p:spPr>
      </p:pic>
      <p:sp>
        <p:nvSpPr>
          <p:cNvPr id="11" name="body-2"/>
          <p:cNvSpPr txBox="1"/>
          <p:nvPr/>
        </p:nvSpPr>
        <p:spPr>
          <a:xfrm>
            <a:off x="1060704" y="3756497"/>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It is 0 when one outcome is certain, and largest — </a:t>
            </a:r>
            <a:r>
              <a:rPr sz="2300" b="0" i="0">
                <a:solidFill>
                  <a:srgbClr val="1C252B"/>
                </a:solidFill>
                <a:latin typeface="Cambria"/>
              </a:rPr>
              <a:t>log</a:t>
            </a:r>
            <a:r>
              <a:rPr sz="2300" b="0" i="0" baseline="-25000">
                <a:solidFill>
                  <a:srgbClr val="1C252B"/>
                </a:solidFill>
                <a:latin typeface="Cambria"/>
              </a:rPr>
              <a:t>2</a:t>
            </a:r>
            <a:r>
              <a:rPr sz="2300" b="0" i="0">
                <a:solidFill>
                  <a:srgbClr val="1C252B"/>
                </a:solidFill>
                <a:latin typeface="Cambria"/>
              </a:rPr>
              <a:t> </a:t>
            </a:r>
            <a:r>
              <a:rPr sz="2300" b="0" i="1">
                <a:solidFill>
                  <a:srgbClr val="1C252B"/>
                </a:solidFill>
                <a:latin typeface="Cambria"/>
              </a:rPr>
              <a:t>k</a:t>
            </a:r>
            <a:r>
              <a:rPr sz="2300" b="0" i="0">
                <a:solidFill>
                  <a:srgbClr val="1C252B"/>
                </a:solidFill>
                <a:latin typeface="Segoe UI"/>
              </a:rPr>
              <a:t> bits — when all </a:t>
            </a:r>
            <a:r>
              <a:rPr sz="2300" b="0" i="1">
                <a:solidFill>
                  <a:srgbClr val="1C252B"/>
                </a:solidFill>
                <a:latin typeface="Cambria"/>
              </a:rPr>
              <a:t>k</a:t>
            </a:r>
            <a:r>
              <a:rPr sz="2300" b="0" i="0">
                <a:solidFill>
                  <a:srgbClr val="1C252B"/>
                </a:solidFill>
                <a:latin typeface="Segoe UI"/>
              </a:rPr>
              <a:t> outcomes are equally likely.</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663057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Entropy of a Set of Examples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  ·  Handout p. 16     </a:t>
            </a:r>
            <a:fld id="{29511D74-9662-41DD-BA9B-11C3F084701B}" type="slidenum">
              <a:rPr lang="en-GB" sz="1000">
                <a:solidFill>
                  <a:srgbClr val="8795A1"/>
                </a:solidFill>
                <a:latin typeface="Segoe UI"/>
              </a:rPr>
              <a:t>32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626187"/>
          </a:xfrm>
          <a:prstGeom prst="roundRect">
            <a:avLst>
              <a:gd name="adj" fmla="val 348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62618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Fourteen days, of which 9 were suitable for tennis and 5 were not:</a:t>
            </a:r>
          </a:p>
        </p:txBody>
      </p:sp>
      <p:pic>
        <p:nvPicPr>
          <p:cNvPr id="10" name="body-1" descr="H = -\tfrac{9}{14}\log_2\tfrac{9}{14} - \tfrac{5}{14}\log_2\tfrac{5}{14} = 0.410 + 0.531 = \mathbf{0.940} \text{ bit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491206"/>
            <a:ext cx="10234879" cy="452810"/>
          </a:xfrm>
          <a:prstGeom prst="rect">
            <a:avLst/>
          </a:prstGeom>
        </p:spPr>
      </p:pic>
      <p:sp>
        <p:nvSpPr>
          <p:cNvPr id="11" name="body-2"/>
          <p:cNvSpPr txBox="1"/>
          <p:nvPr/>
        </p:nvSpPr>
        <p:spPr>
          <a:xfrm>
            <a:off x="1042416" y="3090702"/>
            <a:ext cx="10234879"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7–7 split would give exactly 1 bit; a 14–0 split, 0 bits. A decision tree (Chapter 9) chooses the question that lowers this number the most — that is, the question whose answer leaves the least uncertainty behind.</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684446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  ·  Handout p. 16     </a:t>
            </a:r>
            <a:fld id="{D0A46D08-4871-4780-8F35-20E100BF2C77}" type="slidenum">
              <a:rPr lang="en-GB" sz="1000">
                <a:solidFill>
                  <a:srgbClr val="8795A1"/>
                </a:solidFill>
                <a:latin typeface="Segoe UI"/>
              </a:rPr>
              <a:t>33</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Forgetting the minus sign in gradient descent.</a:t>
            </a:r>
            <a:r>
              <a:rPr sz="2100" b="0" i="0">
                <a:solidFill>
                  <a:srgbClr val="1C252B"/>
                </a:solidFill>
                <a:latin typeface="Segoe UI"/>
              </a:rPr>
              <a:t> </a:t>
            </a:r>
            <a:r>
              <a:rPr sz="2100" b="1" i="1">
                <a:solidFill>
                  <a:srgbClr val="1C252B"/>
                </a:solidFill>
                <a:latin typeface="Cambria"/>
              </a:rPr>
              <a:t>w</a:t>
            </a:r>
            <a:r>
              <a:rPr sz="2100" b="0" i="0">
                <a:solidFill>
                  <a:srgbClr val="1C252B"/>
                </a:solidFill>
                <a:latin typeface="Cambria"/>
              </a:rPr>
              <a:t> + α∇ </a:t>
            </a:r>
            <a:r>
              <a:rPr sz="2100" b="0" i="1">
                <a:solidFill>
                  <a:srgbClr val="1C252B"/>
                </a:solidFill>
                <a:latin typeface="Cambria"/>
              </a:rPr>
              <a:t>L</a:t>
            </a:r>
            <a:r>
              <a:rPr sz="2100" b="0" i="0">
                <a:solidFill>
                  <a:srgbClr val="1C252B"/>
                </a:solidFill>
                <a:latin typeface="Segoe UI"/>
              </a:rPr>
              <a:t> climbs the loss. The update subtracts.</a:t>
            </a:r>
          </a:p>
        </p:txBody>
      </p:sp>
      <p:sp>
        <p:nvSpPr>
          <p:cNvPr id="10" name="!!pb1">
            <a:extLst>
              <a:ext uri="{C183D7F6-B498-43B3-948B-1728B52AA6E4}">
                <adec:decorative xmlns:adec="http://schemas.microsoft.com/office/drawing/2017/decorative" val="1"/>
              </a:ext>
            </a:extLst>
          </p:cNvPr>
          <p:cNvSpPr/>
          <p:nvPr/>
        </p:nvSpPr>
        <p:spPr>
          <a:xfrm>
            <a:off x="658368" y="26224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453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604211"/>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Reading a diverging loss as “needs more steps”.</a:t>
            </a:r>
            <a:r>
              <a:rPr sz="2100" b="0" i="0">
                <a:solidFill>
                  <a:srgbClr val="1C252B"/>
                </a:solidFill>
                <a:latin typeface="Segoe UI"/>
              </a:rPr>
              <a:t> If the loss grows, the learning rate is too large; more steps make it worse.</a:t>
            </a:r>
          </a:p>
        </p:txBody>
      </p:sp>
      <p:sp>
        <p:nvSpPr>
          <p:cNvPr id="13" name="!!pb2">
            <a:extLst>
              <a:ext uri="{C183D7F6-B498-43B3-948B-1728B52AA6E4}">
                <adec:decorative xmlns:adec="http://schemas.microsoft.com/office/drawing/2017/decorative" val="1"/>
              </a:ext>
            </a:extLst>
          </p:cNvPr>
          <p:cNvSpPr/>
          <p:nvPr/>
        </p:nvSpPr>
        <p:spPr>
          <a:xfrm>
            <a:off x="658368" y="348935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51221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71062"/>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Confusing </a:t>
            </a:r>
            <a:r>
              <a:rPr sz="2100" b="1" i="1">
                <a:solidFill>
                  <a:srgbClr val="1C252B"/>
                </a:solidFill>
                <a:latin typeface="Cambria"/>
              </a:rPr>
              <a:t>P</a:t>
            </a:r>
            <a:r>
              <a:rPr sz="2100" b="1" i="0">
                <a:solidFill>
                  <a:srgbClr val="1C252B"/>
                </a:solidFill>
                <a:latin typeface="Cambria"/>
              </a:rPr>
              <a:t>(</a:t>
            </a:r>
            <a:r>
              <a:rPr sz="2100" b="1" i="1">
                <a:solidFill>
                  <a:srgbClr val="1C252B"/>
                </a:solidFill>
                <a:latin typeface="Cambria"/>
              </a:rPr>
              <a:t>A</a:t>
            </a:r>
            <a:r>
              <a:rPr sz="2100" b="1" i="0">
                <a:solidFill>
                  <a:srgbClr val="1C252B"/>
                </a:solidFill>
                <a:latin typeface="Cambria"/>
              </a:rPr>
              <a:t> ∣ </a:t>
            </a:r>
            <a:r>
              <a:rPr sz="2100" b="1" i="1">
                <a:solidFill>
                  <a:srgbClr val="1C252B"/>
                </a:solidFill>
                <a:latin typeface="Cambria"/>
              </a:rPr>
              <a:t>B</a:t>
            </a:r>
            <a:r>
              <a:rPr sz="2100" b="1" i="0">
                <a:solidFill>
                  <a:srgbClr val="1C252B"/>
                </a:solidFill>
                <a:latin typeface="Cambria"/>
              </a:rPr>
              <a:t>)</a:t>
            </a:r>
            <a:r>
              <a:rPr sz="2100" b="1" i="0">
                <a:solidFill>
                  <a:srgbClr val="1C252B"/>
                </a:solidFill>
                <a:latin typeface="Segoe UI"/>
              </a:rPr>
              <a:t> with </a:t>
            </a:r>
            <a:r>
              <a:rPr sz="2100" b="1" i="1">
                <a:solidFill>
                  <a:srgbClr val="1C252B"/>
                </a:solidFill>
                <a:latin typeface="Cambria"/>
              </a:rPr>
              <a:t>P</a:t>
            </a:r>
            <a:r>
              <a:rPr sz="2100" b="1" i="0">
                <a:solidFill>
                  <a:srgbClr val="1C252B"/>
                </a:solidFill>
                <a:latin typeface="Cambria"/>
              </a:rPr>
              <a:t>(</a:t>
            </a:r>
            <a:r>
              <a:rPr sz="2100" b="1" i="1">
                <a:solidFill>
                  <a:srgbClr val="1C252B"/>
                </a:solidFill>
                <a:latin typeface="Cambria"/>
              </a:rPr>
              <a:t>B</a:t>
            </a:r>
            <a:r>
              <a:rPr sz="2100" b="1" i="0">
                <a:solidFill>
                  <a:srgbClr val="1C252B"/>
                </a:solidFill>
                <a:latin typeface="Cambria"/>
              </a:rPr>
              <a:t> ∣ </a:t>
            </a:r>
            <a:r>
              <a:rPr sz="2100" b="1" i="1">
                <a:solidFill>
                  <a:srgbClr val="1C252B"/>
                </a:solidFill>
                <a:latin typeface="Cambria"/>
              </a:rPr>
              <a:t>A</a:t>
            </a:r>
            <a:r>
              <a:rPr sz="2100" b="1" i="0">
                <a:solidFill>
                  <a:srgbClr val="1C252B"/>
                </a:solidFill>
                <a:latin typeface="Cambria"/>
              </a:rPr>
              <a:t>)</a:t>
            </a:r>
            <a:r>
              <a:rPr sz="2100" b="1" i="0">
                <a:solidFill>
                  <a:srgbClr val="1C252B"/>
                </a:solidFill>
                <a:latin typeface="Segoe UI"/>
              </a:rPr>
              <a:t>.</a:t>
            </a:r>
            <a:r>
              <a:rPr sz="2100" b="0" i="0">
                <a:solidFill>
                  <a:srgbClr val="1C252B"/>
                </a:solidFill>
                <a:latin typeface="Segoe UI"/>
              </a:rPr>
              <a:t> “The detector catches 99% of attacks” is </a:t>
            </a:r>
            <a:r>
              <a:rPr sz="2100" b="0" i="1">
                <a:solidFill>
                  <a:srgbClr val="1C252B"/>
                </a:solidFill>
                <a:latin typeface="Cambria"/>
              </a:rPr>
              <a:t>P</a:t>
            </a:r>
            <a:r>
              <a:rPr sz="2100" b="0" i="0">
                <a:solidFill>
                  <a:srgbClr val="1C252B"/>
                </a:solidFill>
                <a:latin typeface="Cambria"/>
              </a:rPr>
              <a:t>(</a:t>
            </a:r>
            <a:r>
              <a:rPr sz="2100" b="0" i="0">
                <a:solidFill>
                  <a:srgbClr val="1C252B"/>
                </a:solidFill>
                <a:latin typeface="Segoe UI"/>
              </a:rPr>
              <a:t>alarm</a:t>
            </a:r>
            <a:r>
              <a:rPr sz="2100" b="0" i="0">
                <a:solidFill>
                  <a:srgbClr val="1C252B"/>
                </a:solidFill>
                <a:latin typeface="Cambria"/>
              </a:rPr>
              <a:t> ∣ </a:t>
            </a:r>
            <a:r>
              <a:rPr sz="2100" b="0" i="0">
                <a:solidFill>
                  <a:srgbClr val="1C252B"/>
                </a:solidFill>
                <a:latin typeface="Segoe UI"/>
              </a:rPr>
              <a:t>attack</a:t>
            </a:r>
            <a:r>
              <a:rPr sz="2100" b="0" i="0">
                <a:solidFill>
                  <a:srgbClr val="1C252B"/>
                </a:solidFill>
                <a:latin typeface="Cambria"/>
              </a:rPr>
              <a:t>)</a:t>
            </a:r>
            <a:r>
              <a:rPr sz="2100" b="0" i="0">
                <a:solidFill>
                  <a:srgbClr val="1C252B"/>
                </a:solidFill>
                <a:latin typeface="Segoe UI"/>
              </a:rPr>
              <a:t>; the analyst wants </a:t>
            </a:r>
            <a:r>
              <a:rPr sz="2100" b="0" i="1">
                <a:solidFill>
                  <a:srgbClr val="1C252B"/>
                </a:solidFill>
                <a:latin typeface="Cambria"/>
              </a:rPr>
              <a:t>P</a:t>
            </a:r>
            <a:r>
              <a:rPr sz="2100" b="0" i="0">
                <a:solidFill>
                  <a:srgbClr val="1C252B"/>
                </a:solidFill>
                <a:latin typeface="Cambria"/>
              </a:rPr>
              <a:t>(</a:t>
            </a:r>
            <a:r>
              <a:rPr sz="2100" b="0" i="0">
                <a:solidFill>
                  <a:srgbClr val="1C252B"/>
                </a:solidFill>
                <a:latin typeface="Segoe UI"/>
              </a:rPr>
              <a:t>attack</a:t>
            </a:r>
            <a:r>
              <a:rPr sz="2100" b="0" i="0">
                <a:solidFill>
                  <a:srgbClr val="1C252B"/>
                </a:solidFill>
                <a:latin typeface="Cambria"/>
              </a:rPr>
              <a:t> ∣ </a:t>
            </a:r>
            <a:r>
              <a:rPr sz="2100" b="0" i="0">
                <a:solidFill>
                  <a:srgbClr val="1C252B"/>
                </a:solidFill>
                <a:latin typeface="Segoe UI"/>
              </a:rPr>
              <a:t>alarm</a:t>
            </a:r>
            <a:r>
              <a:rPr sz="2100" b="0" i="0">
                <a:solidFill>
                  <a:srgbClr val="1C252B"/>
                </a:solidFill>
                <a:latin typeface="Cambria"/>
              </a:rPr>
              <a:t>)</a:t>
            </a:r>
            <a:r>
              <a:rPr sz="2100" b="0" i="0">
                <a:solidFill>
                  <a:srgbClr val="1C252B"/>
                </a:solidFill>
                <a:latin typeface="Segoe UI"/>
              </a:rPr>
              <a:t>, which was 9%.</a:t>
            </a:r>
          </a:p>
        </p:txBody>
      </p:sp>
      <p:sp>
        <p:nvSpPr>
          <p:cNvPr id="16" name="!!pb3">
            <a:extLst>
              <a:ext uri="{C183D7F6-B498-43B3-948B-1728B52AA6E4}">
                <adec:decorative xmlns:adec="http://schemas.microsoft.com/office/drawing/2017/decorative" val="1"/>
              </a:ext>
            </a:extLst>
          </p:cNvPr>
          <p:cNvSpPr/>
          <p:nvPr/>
        </p:nvSpPr>
        <p:spPr>
          <a:xfrm>
            <a:off x="658368" y="435620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37906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337913"/>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Computing distances on unscaled features.</a:t>
            </a:r>
            <a:r>
              <a:rPr sz="2100" b="0" i="0">
                <a:solidFill>
                  <a:srgbClr val="1C252B"/>
                </a:solidFill>
                <a:latin typeface="Segoe UI"/>
              </a:rPr>
              <a:t> The feature with the largest units decides the answer.</a:t>
            </a:r>
          </a:p>
        </p:txBody>
      </p:sp>
      <p:sp>
        <p:nvSpPr>
          <p:cNvPr id="19" name="!!pb4">
            <a:extLst>
              <a:ext uri="{C183D7F6-B498-43B3-948B-1728B52AA6E4}">
                <adec:decorative xmlns:adec="http://schemas.microsoft.com/office/drawing/2017/decorative" val="1"/>
              </a:ext>
            </a:extLst>
          </p:cNvPr>
          <p:cNvSpPr/>
          <p:nvPr/>
        </p:nvSpPr>
        <p:spPr>
          <a:xfrm>
            <a:off x="658368" y="522305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24591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5204764"/>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Multiplying many small probabilities.</a:t>
            </a:r>
            <a:r>
              <a:rPr sz="2100" b="0" i="0">
                <a:solidFill>
                  <a:srgbClr val="1C252B"/>
                </a:solidFill>
                <a:latin typeface="Segoe UI"/>
              </a:rPr>
              <a:t> The product underflows to zero on a computer; add log-probabilities instead.</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05834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The Mathematics at Work</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a:t>
            </a:r>
            <a:fld id="{DE74A9E5-B543-4E5E-AFDB-8E363D69FFB6}" type="slidenum">
              <a:rPr lang="en-GB" sz="1000">
                <a:solidFill>
                  <a:srgbClr val="8795A1"/>
                </a:solidFill>
                <a:latin typeface="Segoe UI"/>
              </a:rPr>
              <a:t>34</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student is a vector of engagement features, and “students like this one” means “students at a small distance” — once attendance, marks and logins have been put on the same scale.</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Fitting an effort model to past stories is gradient descent on the mean squared error of the estimates.</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Sensor noise is usually close to Gaussian, so a reading three standard deviations from its recent mean has a likelihood below one in three hundred under “normal operation”.</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base-rate calculation is the most important piece of arithmetic in security analytics.</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727223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The Mathematics at Work</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a:t>
            </a:r>
            <a:fld id="{D448789B-F114-4E89-B799-06C2FFB1C7E4}" type="slidenum">
              <a:rPr lang="en-GB" sz="1000">
                <a:solidFill>
                  <a:srgbClr val="8795A1"/>
                </a:solidFill>
                <a:latin typeface="Segoe UI"/>
              </a:rPr>
              <a:t>35</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student is a vector of engagement features, and “students like this one” means “students at a small distance” — once attendance, marks and logins have been put on the same scale. Without that, the student who logs in most is automatically the most different from everyone.</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48612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The Mathematics at Work</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a:t>
            </a:r>
            <a:fld id="{13C5ED21-4CC6-4372-80EC-531E223ED79F}" type="slidenum">
              <a:rPr lang="en-GB" sz="1000">
                <a:solidFill>
                  <a:srgbClr val="8795A1"/>
                </a:solidFill>
                <a:latin typeface="Segoe UI"/>
              </a:rPr>
              <a:t>36</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Fitting an effort model to past stories is gradient descent on the mean squared error of the estimates. With forty completed stories the loss surface is bumpy and the learning rate matters: too large and the fitted hours-per-point swings wildly from one run to the next.</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70001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The Mathematics at Work</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a:t>
            </a:r>
            <a:fld id="{746D6C8B-D174-4456-8909-EA3E1DA45F64}" type="slidenum">
              <a:rPr lang="en-GB" sz="1000">
                <a:solidFill>
                  <a:srgbClr val="8795A1"/>
                </a:solidFill>
                <a:latin typeface="Segoe UI"/>
              </a:rPr>
              <a:t>37</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Sensor noise is usually close to Gaussian, so a reading three standard deviations from its recent mean has a likelihood below one in three hundred under “normal operation”. That is the simplest anomaly detector there is, and it is a likelihood calculation.</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91390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The Mathematics at Work</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a:t>
            </a:r>
            <a:fld id="{C53DF981-68F8-4988-B0AA-91FC3D0D479D}" type="slidenum">
              <a:rPr lang="en-GB" sz="1000">
                <a:solidFill>
                  <a:srgbClr val="8795A1"/>
                </a:solidFill>
                <a:latin typeface="Segoe UI"/>
              </a:rPr>
              <a:t>38</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base-rate calculation is the most important piece of arithmetic in security analytics. Before deploying any detector, multiply its false-positive rate by the daily volume of benign events: that number of alerts, not the detection rate, decides whether the analysts will trust it.</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The Chapter in NumPy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  ·  Handout p. 16     </a:t>
            </a:r>
            <a:fld id="{32B19E5F-86B5-448A-8B6B-86C13A6FDEE0}" type="slidenum">
              <a:rPr lang="en-GB" sz="1000">
                <a:solidFill>
                  <a:srgbClr val="8795A1"/>
                </a:solidFill>
                <a:latin typeface="Segoe UI"/>
              </a:rPr>
              <a:t>39</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82879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Vectors and the dot product</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A whole dataset at once</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Gradient descent on L(w) = (w - 3)^2</a:t>
            </a:r>
          </a:p>
          <a:p>
            <a:pPr algn="l" marL="459473" indent="-459473">
              <a:lnSpc>
                <a:spcPct val="100000"/>
              </a:lnSpc>
              <a:spcBef>
                <a:spcPts val="0"/>
              </a:spcBef>
              <a:spcAft>
                <a:spcPts val="570"/>
              </a:spcAft>
            </a:pPr>
            <a:r>
              <a:rPr sz="1900" b="1">
                <a:solidFill>
                  <a:srgbClr val="117A65"/>
                </a:solidFill>
                <a:latin typeface="Segoe UI"/>
              </a:rPr>
              <a:t>4.	</a:t>
            </a:r>
            <a:r>
              <a:rPr sz="1900" b="0" i="0">
                <a:solidFill>
                  <a:srgbClr val="1C252B"/>
                </a:solidFill>
                <a:latin typeface="Segoe UI"/>
              </a:rPr>
              <a:t>Bayes by simulation: how many alarms are real?</a:t>
            </a:r>
          </a:p>
          <a:p>
            <a:pPr algn="l" marL="459473" indent="-459473">
              <a:lnSpc>
                <a:spcPct val="100000"/>
              </a:lnSpc>
              <a:spcBef>
                <a:spcPts val="0"/>
              </a:spcBef>
              <a:spcAft>
                <a:spcPts val="0"/>
              </a:spcAft>
            </a:pPr>
            <a:r>
              <a:rPr sz="1900" b="1">
                <a:solidFill>
                  <a:srgbClr val="117A65"/>
                </a:solidFill>
                <a:latin typeface="Segoe UI"/>
              </a:rPr>
              <a:t>5.	</a:t>
            </a:r>
            <a:r>
              <a:rPr sz="1900" b="0" i="0">
                <a:solidFill>
                  <a:srgbClr val="1C252B"/>
                </a:solidFill>
                <a:latin typeface="Segoe UI"/>
              </a:rPr>
              <a:t>Entropy</a:t>
            </a:r>
          </a:p>
        </p:txBody>
      </p:sp>
      <p:sp>
        <p:nvSpPr>
          <p:cNvPr id="2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3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Week 1: A rule against a learned model; the chapter in NumPy</a:t>
            </a:r>
          </a:p>
        </p:txBody>
      </p:sp>
      <p:sp>
        <p:nvSpPr>
          <p:cNvPr id="3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37 lines of Python</a:t>
            </a:r>
          </a:p>
        </p:txBody>
      </p:sp>
      <p:sp>
        <p:nvSpPr>
          <p:cNvPr id="3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4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code/ch02_chapter_numpy.py</a:t>
            </a:r>
          </a:p>
        </p:txBody>
      </p:sp>
      <p:sp>
        <p:nvSpPr>
          <p:cNvPr id="4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pfill">
            <a:extLst>
              <a:ext uri="{C183D7F6-B498-43B3-948B-1728B52AA6E4}">
                <adec:decorative xmlns:adec="http://schemas.microsoft.com/office/drawing/2017/decorative" val="1"/>
              </a:ext>
            </a:extLst>
          </p:cNvPr>
          <p:cNvSpPr/>
          <p:nvPr/>
        </p:nvSpPr>
        <p:spPr>
          <a:xfrm>
            <a:off x="0" y="0"/>
            <a:ext cx="834168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Effect transition="in" filter="fade">
                                      <p:cBhvr>
                                        <p:cTn id="23" dur="300"/>
                                        <p:tgtEl>
                                          <p:spTgt spid="8">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3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Chapter in NumPy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  ·  Handout p. 16     </a:t>
            </a:r>
            <a:fld id="{5D5348DF-0305-4080-A09E-60B0B20D9C81}" type="slidenum">
              <a:rPr lang="en-GB" sz="1000">
                <a:solidFill>
                  <a:srgbClr val="8795A1"/>
                </a:solidFill>
                <a:latin typeface="Segoe UI"/>
              </a:rPr>
              <a:t>40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Vectors and the dot product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98063"/>
          </a:xfrm>
          <a:prstGeom prst="roundRect">
            <a:avLst>
              <a:gd name="adj" fmla="val 3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code/ch02_chapter_numpy.py</a:t>
            </a:r>
          </a:p>
        </p:txBody>
      </p:sp>
      <p:sp>
        <p:nvSpPr>
          <p:cNvPr id="14" name="!!code-text" descr="import numpy as np # --- vectors and the dot product ----------------------------------------- x = np.array([0.9, 0.6, 4.0]) w = np.array([2.0, 3.0, 0.25]) print(&quot;score w.x + b :&quot;, round(w @ x - 3, 2)) # 1.6 z = np.array([0.5, 0.4, 1.0]) print(&quot;distance :&quot;, round(np.linalg.norm(x - z), 2)) # 3.03"/>
          <p:cNvSpPr txBox="1"/>
          <p:nvPr/>
        </p:nvSpPr>
        <p:spPr>
          <a:xfrm>
            <a:off x="1362456" y="2523744"/>
            <a:ext cx="9987991" cy="2304287"/>
          </a:xfrm>
          <a:prstGeom prst="rect">
            <a:avLst/>
          </a:prstGeom>
          <a:noFill/>
        </p:spPr>
        <p:txBody>
          <a:bodyPr wrap="none" anchor="t" lIns="0" rIns="0" tIns="0" bIns="0">
            <a:noAutofit/>
          </a:bodyPr>
          <a:lstStyle/>
          <a:p>
            <a:pPr>
              <a:lnSpc>
                <a:spcPct val="100000"/>
              </a:lnSpc>
              <a:spcAft>
                <a:spcPts val="0"/>
              </a:spcAft>
            </a:pPr>
            <a:r>
              <a:rPr sz="1800" i="0">
                <a:solidFill>
                  <a:srgbClr val="5DADE2"/>
                </a:solidFill>
                <a:latin typeface="Consolas"/>
              </a:rPr>
              <a:t>import</a:t>
            </a:r>
            <a:r>
              <a:rPr sz="1800" i="0">
                <a:solidFill>
                  <a:srgbClr val="E8EDF2"/>
                </a:solidFill>
                <a:latin typeface="Consolas"/>
              </a:rPr>
              <a:t> </a:t>
            </a:r>
            <a:r>
              <a:rPr sz="1800" i="0">
                <a:solidFill>
                  <a:srgbClr val="76D7C4"/>
                </a:solidFill>
                <a:latin typeface="Consolas"/>
              </a:rPr>
              <a:t>numpy</a:t>
            </a:r>
            <a:r>
              <a:rPr sz="1800" i="0">
                <a:solidFill>
                  <a:srgbClr val="E8EDF2"/>
                </a:solidFill>
                <a:latin typeface="Consolas"/>
              </a:rPr>
              <a:t> </a:t>
            </a:r>
            <a:r>
              <a:rPr sz="1800" i="0">
                <a:solidFill>
                  <a:srgbClr val="5DADE2"/>
                </a:solidFill>
                <a:latin typeface="Consolas"/>
              </a:rPr>
              <a:t>as</a:t>
            </a:r>
            <a:r>
              <a:rPr sz="1800" i="0">
                <a:solidFill>
                  <a:srgbClr val="E8EDF2"/>
                </a:solidFill>
                <a:latin typeface="Consolas"/>
              </a:rPr>
              <a:t> </a:t>
            </a:r>
            <a:r>
              <a:rPr sz="1800" i="0">
                <a:solidFill>
                  <a:srgbClr val="76D7C4"/>
                </a:solidFill>
                <a:latin typeface="Consolas"/>
              </a:rPr>
              <a:t>np</a:t>
            </a:r>
          </a:p>
          <a:p>
            <a:pPr>
              <a:lnSpc>
                <a:spcPct val="100000"/>
              </a:lnSpc>
              <a:spcAft>
                <a:spcPts val="0"/>
              </a:spcAft>
            </a:pPr>
            <a:r>
              <a:rPr sz="1800">
                <a:latin typeface="Consolas"/>
              </a:rPr>
              <a:t> </a:t>
            </a:r>
          </a:p>
          <a:p>
            <a:pPr>
              <a:lnSpc>
                <a:spcPct val="100000"/>
              </a:lnSpc>
              <a:spcAft>
                <a:spcPts val="0"/>
              </a:spcAft>
            </a:pPr>
            <a:r>
              <a:rPr sz="1800" i="1">
                <a:solidFill>
                  <a:srgbClr val="8795A1"/>
                </a:solidFill>
                <a:latin typeface="Consolas"/>
              </a:rPr>
              <a:t># --- vectors and the dot product -----------------------------------------</a:t>
            </a:r>
          </a:p>
          <a:p>
            <a:pPr>
              <a:lnSpc>
                <a:spcPct val="100000"/>
              </a:lnSpc>
              <a:spcAft>
                <a:spcPts val="0"/>
              </a:spcAft>
            </a:pP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0.9</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0.6</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4.0</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w</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2.0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0.25</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score w.x + b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round</a:t>
            </a:r>
            <a:r>
              <a:rPr sz="1800" i="0">
                <a:solidFill>
                  <a:srgbClr val="AEB6BF"/>
                </a:solidFill>
                <a:latin typeface="Consolas"/>
              </a:rPr>
              <a:t>(</a:t>
            </a:r>
            <a:r>
              <a:rPr sz="1800" i="0">
                <a:solidFill>
                  <a:srgbClr val="E8EDF2"/>
                </a:solidFill>
                <a:latin typeface="Consolas"/>
              </a:rPr>
              <a:t>w</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1.6</a:t>
            </a:r>
          </a:p>
          <a:p>
            <a:pPr>
              <a:lnSpc>
                <a:spcPct val="100000"/>
              </a:lnSpc>
              <a:spcAft>
                <a:spcPts val="0"/>
              </a:spcAft>
            </a:pPr>
            <a:r>
              <a:rPr sz="1800" i="0">
                <a:solidFill>
                  <a:srgbClr val="E8EDF2"/>
                </a:solidFill>
                <a:latin typeface="Consolas"/>
              </a:rPr>
              <a:t>z</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0.4</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distance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round</a:t>
            </a:r>
            <a:r>
              <a:rPr sz="1800" i="0">
                <a:solidFill>
                  <a:srgbClr val="AEB6BF"/>
                </a:solidFill>
                <a:latin typeface="Consolas"/>
              </a:rPr>
              <a:t>(</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linalg</a:t>
            </a:r>
            <a:r>
              <a:rPr sz="1800" i="0">
                <a:solidFill>
                  <a:srgbClr val="AEB6BF"/>
                </a:solidFill>
                <a:latin typeface="Consolas"/>
              </a:rPr>
              <a:t>.</a:t>
            </a:r>
            <a:r>
              <a:rPr sz="1800" i="0">
                <a:solidFill>
                  <a:srgbClr val="E8EDF2"/>
                </a:solidFill>
                <a:latin typeface="Consolas"/>
              </a:rPr>
              <a:t>norm</a:t>
            </a:r>
            <a:r>
              <a:rPr sz="1800" i="0">
                <a:solidFill>
                  <a:srgbClr val="AEB6BF"/>
                </a:solidFill>
                <a:latin typeface="Consolas"/>
              </a:rPr>
              <a:t>(</a:t>
            </a: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z</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3.03</a:t>
            </a:r>
          </a:p>
        </p:txBody>
      </p:sp>
      <p:sp>
        <p:nvSpPr>
          <p:cNvPr id="15" name="!!code-num"/>
          <p:cNvSpPr txBox="1"/>
          <p:nvPr/>
        </p:nvSpPr>
        <p:spPr>
          <a:xfrm>
            <a:off x="768096" y="2523744"/>
            <a:ext cx="393192" cy="23042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5557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Chapter in NumPy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  ·  Handout p. 16     </a:t>
            </a:r>
            <a:fld id="{B408C484-0696-4FBB-A640-261CC102648A}" type="slidenum">
              <a:rPr lang="en-GB" sz="1000">
                <a:solidFill>
                  <a:srgbClr val="8795A1"/>
                </a:solidFill>
                <a:latin typeface="Segoe UI"/>
              </a:rPr>
              <a:t>41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whole dataset at once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26463"/>
          </a:xfrm>
          <a:prstGeom prst="roundRect">
            <a:avLst>
              <a:gd name="adj" fmla="val 641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code/ch02_chapter_numpy.py</a:t>
            </a:r>
          </a:p>
        </p:txBody>
      </p:sp>
      <p:sp>
        <p:nvSpPr>
          <p:cNvPr id="14" name="!!code-text" descr="# --- a whole dataset at once --------------------------------------------- X = np.array([[0.9, 0.6, 4], [0.5, 0.4, 1], [0.7, 0.9, 6]]) print(&quot;X w + b :&quot;, X @ w - 3) # [1.6 -0.55 2.6]"/>
          <p:cNvSpPr txBox="1"/>
          <p:nvPr/>
        </p:nvSpPr>
        <p:spPr>
          <a:xfrm>
            <a:off x="1362456" y="2523744"/>
            <a:ext cx="9987991" cy="9326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a whole dataset at once ---------------------------------------------</a:t>
            </a:r>
          </a:p>
          <a:p>
            <a:pPr>
              <a:lnSpc>
                <a:spcPct val="100000"/>
              </a:lnSpc>
              <a:spcAft>
                <a:spcPts val="0"/>
              </a:spcAft>
            </a:pP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0.9</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0.6</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4</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0.4</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0.7</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0.9</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6</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X w + b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[1.6 -0.55 2.6]</a:t>
            </a:r>
          </a:p>
        </p:txBody>
      </p:sp>
      <p:sp>
        <p:nvSpPr>
          <p:cNvPr id="15" name="!!code-num"/>
          <p:cNvSpPr txBox="1"/>
          <p:nvPr/>
        </p:nvSpPr>
        <p:spPr>
          <a:xfrm>
            <a:off x="768096" y="2523744"/>
            <a:ext cx="393192" cy="9326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6946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Chapter in NumPy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  ·  Handout p. 16     </a:t>
            </a:r>
            <a:fld id="{3B964B46-0730-49FE-A045-5CCC0B6B45E4}" type="slidenum">
              <a:rPr lang="en-GB" sz="1000">
                <a:solidFill>
                  <a:srgbClr val="8795A1"/>
                </a:solidFill>
                <a:latin typeface="Segoe UI"/>
              </a:rPr>
              <a:t>42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Gradient descent on L(w) = (w - 3)^2</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72383"/>
          </a:xfrm>
          <a:prstGeom prst="roundRect">
            <a:avLst>
              <a:gd name="adj" fmla="val 29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code/ch02_chapter_numpy.py</a:t>
            </a:r>
          </a:p>
        </p:txBody>
      </p:sp>
      <p:sp>
        <p:nvSpPr>
          <p:cNvPr id="14" name="!!code-text" descr="# --- gradient descent on L(w) = (w - 3)^2 -------------------------------- for alpha in (0.1, 0.5, 1.1): wt = 0.0 path = [wt] for step in range(4): grad = 2 * (wt - 3) wt = wt - alpha * grad path.append(round(wt, 3)) print(f&quot;alpha={alpha}: {path}&quot;)"/>
          <p:cNvSpPr txBox="1"/>
          <p:nvPr/>
        </p:nvSpPr>
        <p:spPr>
          <a:xfrm>
            <a:off x="1362456" y="2523744"/>
            <a:ext cx="9987991" cy="257860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gradient descent on L(w) = (w - 3)^2 --------------------------------</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alpha</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1.1</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wt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0.0</a:t>
            </a:r>
          </a:p>
          <a:p>
            <a:pPr>
              <a:lnSpc>
                <a:spcPct val="100000"/>
              </a:lnSpc>
              <a:spcAft>
                <a:spcPts val="0"/>
              </a:spcAft>
            </a:pPr>
            <a:r>
              <a:rPr sz="1800" i="0">
                <a:solidFill>
                  <a:srgbClr val="E8EDF2"/>
                </a:solidFill>
                <a:latin typeface="Consolas"/>
              </a:rPr>
              <a:t>    </a:t>
            </a:r>
            <a:r>
              <a:rPr sz="1800" i="0">
                <a:solidFill>
                  <a:srgbClr val="E8EDF2"/>
                </a:solidFill>
                <a:latin typeface="Consolas"/>
              </a:rPr>
              <a:t>path</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wt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step</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C39BD3"/>
                </a:solidFill>
                <a:latin typeface="Consolas"/>
              </a:rPr>
              <a:t>range</a:t>
            </a:r>
            <a:r>
              <a:rPr sz="1800" i="0">
                <a:solidFill>
                  <a:srgbClr val="AEB6BF"/>
                </a:solidFill>
                <a:latin typeface="Consolas"/>
              </a:rPr>
              <a:t>(</a:t>
            </a:r>
            <a:r>
              <a:rPr sz="1800" i="0">
                <a:solidFill>
                  <a:srgbClr val="F7DC6F"/>
                </a:solidFill>
                <a:latin typeface="Consolas"/>
              </a:rPr>
              <a:t>4</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grad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wt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wt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alpha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grad</a:t>
            </a:r>
          </a:p>
          <a:p>
            <a:pPr>
              <a:lnSpc>
                <a:spcPct val="100000"/>
              </a:lnSpc>
              <a:spcAft>
                <a:spcPts val="0"/>
              </a:spcAft>
            </a:pPr>
            <a:r>
              <a:rPr sz="1800" i="0">
                <a:solidFill>
                  <a:srgbClr val="E8EDF2"/>
                </a:solidFill>
                <a:latin typeface="Consolas"/>
              </a:rPr>
              <a:t>        </a:t>
            </a:r>
            <a:r>
              <a:rPr sz="1800" i="0">
                <a:solidFill>
                  <a:srgbClr val="E8EDF2"/>
                </a:solidFill>
                <a:latin typeface="Consolas"/>
              </a:rPr>
              <a:t>path</a:t>
            </a:r>
            <a:r>
              <a:rPr sz="1800" i="0">
                <a:solidFill>
                  <a:srgbClr val="AEB6BF"/>
                </a:solidFill>
                <a:latin typeface="Consolas"/>
              </a:rPr>
              <a:t>.</a:t>
            </a:r>
            <a:r>
              <a:rPr sz="1800" i="0">
                <a:solidFill>
                  <a:srgbClr val="E8EDF2"/>
                </a:solidFill>
                <a:latin typeface="Consolas"/>
              </a:rPr>
              <a:t>append</a:t>
            </a:r>
            <a:r>
              <a:rPr sz="1800" i="0">
                <a:solidFill>
                  <a:srgbClr val="AEB6BF"/>
                </a:solidFill>
                <a:latin typeface="Consolas"/>
              </a:rPr>
              <a:t>(</a:t>
            </a:r>
            <a:r>
              <a:rPr sz="1800" i="0">
                <a:solidFill>
                  <a:srgbClr val="C39BD3"/>
                </a:solidFill>
                <a:latin typeface="Consolas"/>
              </a:rPr>
              <a:t>round</a:t>
            </a:r>
            <a:r>
              <a:rPr sz="1800" i="0">
                <a:solidFill>
                  <a:srgbClr val="AEB6BF"/>
                </a:solidFill>
                <a:latin typeface="Consolas"/>
              </a:rPr>
              <a:t>(</a:t>
            </a:r>
            <a:r>
              <a:rPr sz="1800" i="0">
                <a:solidFill>
                  <a:srgbClr val="E8EDF2"/>
                </a:solidFill>
                <a:latin typeface="Consolas"/>
              </a:rPr>
              <a:t>wt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alpha=</a:t>
            </a:r>
            <a:r>
              <a:rPr sz="1800" i="0">
                <a:solidFill>
                  <a:srgbClr val="7DCEA0"/>
                </a:solidFill>
                <a:latin typeface="Consolas"/>
              </a:rPr>
              <a:t>{</a:t>
            </a:r>
            <a:r>
              <a:rPr sz="1800" i="0">
                <a:solidFill>
                  <a:srgbClr val="E8EDF2"/>
                </a:solidFill>
                <a:latin typeface="Consolas"/>
              </a:rPr>
              <a:t>alpha</a:t>
            </a:r>
            <a:r>
              <a:rPr sz="1800" i="0">
                <a:solidFill>
                  <a:srgbClr val="7DCEA0"/>
                </a:solidFill>
                <a:latin typeface="Consolas"/>
              </a:rPr>
              <a:t>}</a:t>
            </a:r>
            <a:r>
              <a:rPr sz="1800" i="0">
                <a:solidFill>
                  <a:srgbClr val="7DCEA0"/>
                </a:solidFill>
                <a:latin typeface="Consolas"/>
              </a:rPr>
              <a:t>: </a:t>
            </a:r>
            <a:r>
              <a:rPr sz="1800" i="0">
                <a:solidFill>
                  <a:srgbClr val="7DCEA0"/>
                </a:solidFill>
                <a:latin typeface="Consolas"/>
              </a:rPr>
              <a:t>{</a:t>
            </a:r>
            <a:r>
              <a:rPr sz="1800" i="0">
                <a:solidFill>
                  <a:srgbClr val="E8EDF2"/>
                </a:solidFill>
                <a:latin typeface="Consolas"/>
              </a:rPr>
              <a:t>path</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257860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98335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Chapter in NumPy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  ·  Handout p. 16     </a:t>
            </a:r>
            <a:fld id="{22394079-33D6-4CCE-8CD2-1B89DF637291}" type="slidenum">
              <a:rPr lang="en-GB" sz="1000">
                <a:solidFill>
                  <a:srgbClr val="8795A1"/>
                </a:solidFill>
                <a:latin typeface="Segoe UI"/>
              </a:rPr>
              <a:t>43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Bayes by simulation: how many alarms are real?</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249424"/>
          </a:xfrm>
          <a:prstGeom prst="roundRect">
            <a:avLst>
              <a:gd name="adj" fmla="val 406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code/ch02_chapter_numpy.py</a:t>
            </a:r>
          </a:p>
        </p:txBody>
      </p:sp>
      <p:sp>
        <p:nvSpPr>
          <p:cNvPr id="14" name="!!code-text" descr="# --- Bayes by simulation: how many alarms are real? ---------------------- rng = np.random.default_rng(0) n = 1_000_000 attack = rng.random(n) &lt; 0.001 alarm = np.where(attack, rng.random(n) &lt; 0.99, rng.random(n) &lt; 0.01) print(&quot;P(attack | alarm), simulated:&quot;, attack[alarm].mean()) # about 0.09"/>
          <p:cNvSpPr txBox="1"/>
          <p:nvPr/>
        </p:nvSpPr>
        <p:spPr>
          <a:xfrm>
            <a:off x="1362456" y="2523744"/>
            <a:ext cx="9987991" cy="17556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Bayes by simulation: how many alarms are real? ----------------------</a:t>
            </a:r>
          </a:p>
          <a:p>
            <a:pPr>
              <a:lnSpc>
                <a:spcPct val="100000"/>
              </a:lnSpc>
              <a:spcAft>
                <a:spcPts val="0"/>
              </a:spcAft>
            </a:pPr>
            <a:r>
              <a:rPr sz="1800" i="0">
                <a:solidFill>
                  <a:srgbClr val="E8EDF2"/>
                </a:solidFill>
                <a:latin typeface="Consolas"/>
              </a:rPr>
              <a:t>rng</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random</a:t>
            </a:r>
            <a:r>
              <a:rPr sz="1800" i="0">
                <a:solidFill>
                  <a:srgbClr val="AEB6BF"/>
                </a:solidFill>
                <a:latin typeface="Consolas"/>
              </a:rPr>
              <a:t>.</a:t>
            </a:r>
            <a:r>
              <a:rPr sz="1800" i="0">
                <a:solidFill>
                  <a:srgbClr val="E8EDF2"/>
                </a:solidFill>
                <a:latin typeface="Consolas"/>
              </a:rPr>
              <a:t>default_rng</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i="0">
                <a:solidFill>
                  <a:srgbClr val="E8EDF2"/>
                </a:solidFill>
                <a:latin typeface="Consolas"/>
              </a:rPr>
              <a:t>n</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1_000_000</a:t>
            </a:r>
          </a:p>
          <a:p>
            <a:pPr>
              <a:lnSpc>
                <a:spcPct val="100000"/>
              </a:lnSpc>
              <a:spcAft>
                <a:spcPts val="0"/>
              </a:spcAft>
            </a:pPr>
            <a:r>
              <a:rPr sz="1800" i="0">
                <a:solidFill>
                  <a:srgbClr val="E8EDF2"/>
                </a:solidFill>
                <a:latin typeface="Consolas"/>
              </a:rPr>
              <a:t>attack</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rng</a:t>
            </a:r>
            <a:r>
              <a:rPr sz="1800" i="0">
                <a:solidFill>
                  <a:srgbClr val="AEB6BF"/>
                </a:solidFill>
                <a:latin typeface="Consolas"/>
              </a:rPr>
              <a:t>.</a:t>
            </a:r>
            <a:r>
              <a:rPr sz="1800" i="0">
                <a:solidFill>
                  <a:srgbClr val="E8EDF2"/>
                </a:solidFill>
                <a:latin typeface="Consolas"/>
              </a:rPr>
              <a:t>random</a:t>
            </a:r>
            <a:r>
              <a:rPr sz="1800" i="0">
                <a:solidFill>
                  <a:srgbClr val="AEB6BF"/>
                </a:solidFill>
                <a:latin typeface="Consolas"/>
              </a:rPr>
              <a:t>(</a:t>
            </a:r>
            <a:r>
              <a:rPr sz="1800" i="0">
                <a:solidFill>
                  <a:srgbClr val="E8EDF2"/>
                </a:solidFill>
                <a:latin typeface="Consolas"/>
              </a:rPr>
              <a:t>n</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F7DC6F"/>
                </a:solidFill>
                <a:latin typeface="Consolas"/>
              </a:rPr>
              <a:t>0.001</a:t>
            </a:r>
          </a:p>
          <a:p>
            <a:pPr>
              <a:lnSpc>
                <a:spcPct val="100000"/>
              </a:lnSpc>
              <a:spcAft>
                <a:spcPts val="0"/>
              </a:spcAft>
            </a:pPr>
            <a:r>
              <a:rPr sz="1800" i="0">
                <a:solidFill>
                  <a:srgbClr val="E8EDF2"/>
                </a:solidFill>
                <a:latin typeface="Consolas"/>
              </a:rPr>
              <a:t>alarm</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where</a:t>
            </a:r>
            <a:r>
              <a:rPr sz="1800" i="0">
                <a:solidFill>
                  <a:srgbClr val="AEB6BF"/>
                </a:solidFill>
                <a:latin typeface="Consolas"/>
              </a:rPr>
              <a:t>(</a:t>
            </a:r>
            <a:r>
              <a:rPr sz="1800" i="0">
                <a:solidFill>
                  <a:srgbClr val="E8EDF2"/>
                </a:solidFill>
                <a:latin typeface="Consolas"/>
              </a:rPr>
              <a:t>attack</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rng</a:t>
            </a:r>
            <a:r>
              <a:rPr sz="1800" i="0">
                <a:solidFill>
                  <a:srgbClr val="AEB6BF"/>
                </a:solidFill>
                <a:latin typeface="Consolas"/>
              </a:rPr>
              <a:t>.</a:t>
            </a:r>
            <a:r>
              <a:rPr sz="1800" i="0">
                <a:solidFill>
                  <a:srgbClr val="E8EDF2"/>
                </a:solidFill>
                <a:latin typeface="Consolas"/>
              </a:rPr>
              <a:t>random</a:t>
            </a:r>
            <a:r>
              <a:rPr sz="1800" i="0">
                <a:solidFill>
                  <a:srgbClr val="AEB6BF"/>
                </a:solidFill>
                <a:latin typeface="Consolas"/>
              </a:rPr>
              <a:t>(</a:t>
            </a:r>
            <a:r>
              <a:rPr sz="1800" i="0">
                <a:solidFill>
                  <a:srgbClr val="E8EDF2"/>
                </a:solidFill>
                <a:latin typeface="Consolas"/>
              </a:rPr>
              <a:t>n</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F7DC6F"/>
                </a:solidFill>
                <a:latin typeface="Consolas"/>
              </a:rPr>
              <a:t>0.99</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rng</a:t>
            </a:r>
            <a:r>
              <a:rPr sz="1800" i="0">
                <a:solidFill>
                  <a:srgbClr val="AEB6BF"/>
                </a:solidFill>
                <a:latin typeface="Consolas"/>
              </a:rPr>
              <a:t>.</a:t>
            </a:r>
            <a:r>
              <a:rPr sz="1800" i="0">
                <a:solidFill>
                  <a:srgbClr val="E8EDF2"/>
                </a:solidFill>
                <a:latin typeface="Consolas"/>
              </a:rPr>
              <a:t>random</a:t>
            </a:r>
            <a:r>
              <a:rPr sz="1800" i="0">
                <a:solidFill>
                  <a:srgbClr val="AEB6BF"/>
                </a:solidFill>
                <a:latin typeface="Consolas"/>
              </a:rPr>
              <a:t>(</a:t>
            </a:r>
            <a:r>
              <a:rPr sz="1800" i="0">
                <a:solidFill>
                  <a:srgbClr val="E8EDF2"/>
                </a:solidFill>
                <a:latin typeface="Consolas"/>
              </a:rPr>
              <a:t>n</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&lt;</a:t>
            </a:r>
            <a:r>
              <a:rPr sz="1800" i="0">
                <a:solidFill>
                  <a:srgbClr val="E8EDF2"/>
                </a:solidFill>
                <a:latin typeface="Consolas"/>
              </a:rPr>
              <a:t> </a:t>
            </a:r>
            <a:r>
              <a:rPr sz="1800" i="0">
                <a:solidFill>
                  <a:srgbClr val="F7DC6F"/>
                </a:solidFill>
                <a:latin typeface="Consolas"/>
              </a:rPr>
              <a:t>0.01</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P(attack | alarm), simulated: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attack</a:t>
            </a:r>
            <a:r>
              <a:rPr sz="1800" i="0">
                <a:solidFill>
                  <a:srgbClr val="AEB6BF"/>
                </a:solidFill>
                <a:latin typeface="Consolas"/>
              </a:rPr>
              <a:t>[</a:t>
            </a:r>
            <a:r>
              <a:rPr sz="1800" i="0">
                <a:solidFill>
                  <a:srgbClr val="E8EDF2"/>
                </a:solidFill>
                <a:latin typeface="Consolas"/>
              </a:rPr>
              <a:t>alarm</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about 0.09</a:t>
            </a:r>
          </a:p>
        </p:txBody>
      </p:sp>
      <p:sp>
        <p:nvSpPr>
          <p:cNvPr id="15" name="!!code-num"/>
          <p:cNvSpPr txBox="1"/>
          <p:nvPr/>
        </p:nvSpPr>
        <p:spPr>
          <a:xfrm>
            <a:off x="768096" y="2523744"/>
            <a:ext cx="393192" cy="17556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25</a:t>
            </a:r>
          </a:p>
          <a:p>
            <a:pPr algn="r">
              <a:lnSpc>
                <a:spcPct val="100000"/>
              </a:lnSpc>
            </a:pPr>
            <a:r>
              <a:rPr sz="1800">
                <a:solidFill>
                  <a:srgbClr val="4F5D6A"/>
                </a:solidFill>
                <a:latin typeface="Consolas"/>
              </a:rPr>
              <a:t>26</a:t>
            </a:r>
          </a:p>
          <a:p>
            <a:pPr algn="r">
              <a:lnSpc>
                <a:spcPct val="100000"/>
              </a:lnSpc>
            </a:pPr>
            <a:r>
              <a:rPr sz="1800">
                <a:solidFill>
                  <a:srgbClr val="4F5D6A"/>
                </a:solidFill>
                <a:latin typeface="Consolas"/>
              </a:rPr>
              <a:t>27</a:t>
            </a:r>
          </a:p>
          <a:p>
            <a:pPr algn="r">
              <a:lnSpc>
                <a:spcPct val="100000"/>
              </a:lnSpc>
            </a:pPr>
            <a:r>
              <a:rPr sz="1800">
                <a:solidFill>
                  <a:srgbClr val="4F5D6A"/>
                </a:solidFill>
                <a:latin typeface="Consolas"/>
              </a:rPr>
              <a:t>28</a:t>
            </a:r>
          </a:p>
          <a:p>
            <a:pPr algn="r">
              <a:lnSpc>
                <a:spcPct val="100000"/>
              </a:lnSpc>
            </a:pPr>
            <a:r>
              <a:rPr sz="1800">
                <a:solidFill>
                  <a:srgbClr val="4F5D6A"/>
                </a:solidFill>
                <a:latin typeface="Consolas"/>
              </a:rPr>
              <a:t>29</a:t>
            </a:r>
          </a:p>
          <a:p>
            <a:pPr algn="r">
              <a:lnSpc>
                <a:spcPct val="100000"/>
              </a:lnSpc>
            </a:pPr>
            <a:r>
              <a:rPr sz="1800">
                <a:solidFill>
                  <a:srgbClr val="4F5D6A"/>
                </a:solidFill>
                <a:latin typeface="Consolas"/>
              </a:rPr>
              <a:t>30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19724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Chapter in NumPy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  ·  Handout p. 16     </a:t>
            </a:r>
            <a:fld id="{111A1F88-BB2C-4E21-B415-8D033D2C33D6}" type="slidenum">
              <a:rPr lang="en-GB" sz="1000">
                <a:solidFill>
                  <a:srgbClr val="8795A1"/>
                </a:solidFill>
                <a:latin typeface="Segoe UI"/>
              </a:rPr>
              <a:t>44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Entropy</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523744"/>
          </a:xfrm>
          <a:prstGeom prst="roundRect">
            <a:avLst>
              <a:gd name="adj" fmla="val 362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code/ch02_chapter_numpy.py</a:t>
            </a:r>
          </a:p>
        </p:txBody>
      </p:sp>
      <p:sp>
        <p:nvSpPr>
          <p:cNvPr id="14" name="!!code-text" descr="# --- entropy ------------------------------------------------------------- def entropy(counts): p = np.array(counts) / np.sum(counts) p = p[p &gt; 0] return -(p * np.log2(p)).sum() print(&quot;H(9 yes, 5 no) :&quot;, round(entropy([9, 5]), 3)) # 0.94 print(&quot;H(7 yes, 7 no) :&quot;, round(entropy([7, 7]), 3)) # 1.0"/>
          <p:cNvSpPr txBox="1"/>
          <p:nvPr/>
        </p:nvSpPr>
        <p:spPr>
          <a:xfrm>
            <a:off x="1362456" y="2523744"/>
            <a:ext cx="9987991" cy="20299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entropy -------------------------------------------------------------</a:t>
            </a:r>
          </a:p>
          <a:p>
            <a:pPr>
              <a:lnSpc>
                <a:spcPct val="100000"/>
              </a:lnSpc>
              <a:spcAft>
                <a:spcPts val="0"/>
              </a:spcAft>
            </a:pPr>
            <a:r>
              <a:rPr sz="1800" i="0">
                <a:solidFill>
                  <a:srgbClr val="5DADE2"/>
                </a:solidFill>
                <a:latin typeface="Consolas"/>
              </a:rPr>
              <a:t>def</a:t>
            </a:r>
            <a:r>
              <a:rPr sz="1800" i="0">
                <a:solidFill>
                  <a:srgbClr val="E8EDF2"/>
                </a:solidFill>
                <a:latin typeface="Consolas"/>
              </a:rPr>
              <a:t> </a:t>
            </a:r>
            <a:r>
              <a:rPr sz="1800" i="0">
                <a:solidFill>
                  <a:srgbClr val="C39BD3"/>
                </a:solidFill>
                <a:latin typeface="Consolas"/>
              </a:rPr>
              <a:t>entropy</a:t>
            </a:r>
            <a:r>
              <a:rPr sz="1800" i="0">
                <a:solidFill>
                  <a:srgbClr val="AEB6BF"/>
                </a:solidFill>
                <a:latin typeface="Consolas"/>
              </a:rPr>
              <a:t>(</a:t>
            </a:r>
            <a:r>
              <a:rPr sz="1800" i="0">
                <a:solidFill>
                  <a:srgbClr val="E8EDF2"/>
                </a:solidFill>
                <a:latin typeface="Consolas"/>
              </a:rPr>
              <a:t>counts</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E8EDF2"/>
                </a:solidFill>
                <a:latin typeface="Consolas"/>
              </a:rPr>
              <a:t>counts</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E8EDF2"/>
                </a:solidFill>
                <a:latin typeface="Consolas"/>
              </a:rPr>
              <a:t>counts</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a:t>
            </a:r>
            <a:r>
              <a:rPr sz="1800" i="0">
                <a:solidFill>
                  <a:srgbClr val="AEB6BF"/>
                </a:solidFill>
                <a:latin typeface="Consolas"/>
              </a:rPr>
              <a:t>[</a:t>
            </a:r>
            <a:r>
              <a:rPr sz="1800" i="0">
                <a:solidFill>
                  <a:srgbClr val="E8EDF2"/>
                </a:solidFill>
                <a:latin typeface="Consolas"/>
              </a:rPr>
              <a:t>p</a:t>
            </a:r>
            <a:r>
              <a:rPr sz="1800" i="0">
                <a:solidFill>
                  <a:srgbClr val="E8EDF2"/>
                </a:solidFill>
                <a:latin typeface="Consolas"/>
              </a:rPr>
              <a:t> </a:t>
            </a:r>
            <a:r>
              <a:rPr sz="1800" i="0">
                <a:solidFill>
                  <a:srgbClr val="AEB6BF"/>
                </a:solidFill>
                <a:latin typeface="Consolas"/>
              </a:rPr>
              <a:t>&gt;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log2</a:t>
            </a:r>
            <a:r>
              <a:rPr sz="1800" i="0">
                <a:solidFill>
                  <a:srgbClr val="AEB6BF"/>
                </a:solidFill>
                <a:latin typeface="Consolas"/>
              </a:rPr>
              <a:t>(</a:t>
            </a:r>
            <a:r>
              <a:rPr sz="1800" i="0">
                <a:solidFill>
                  <a:srgbClr val="E8EDF2"/>
                </a:solidFill>
                <a:latin typeface="Consolas"/>
              </a:rPr>
              <a:t>p</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H(9 yes, 5 no)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round</a:t>
            </a:r>
            <a:r>
              <a:rPr sz="1800" i="0">
                <a:solidFill>
                  <a:srgbClr val="AEB6BF"/>
                </a:solidFill>
                <a:latin typeface="Consolas"/>
              </a:rPr>
              <a:t>(</a:t>
            </a:r>
            <a:r>
              <a:rPr sz="1800" i="0">
                <a:solidFill>
                  <a:srgbClr val="E8EDF2"/>
                </a:solidFill>
                <a:latin typeface="Consolas"/>
              </a:rPr>
              <a:t>entropy</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9</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5</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0.94</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H(7 yes, 7 no)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round</a:t>
            </a:r>
            <a:r>
              <a:rPr sz="1800" i="0">
                <a:solidFill>
                  <a:srgbClr val="AEB6BF"/>
                </a:solidFill>
                <a:latin typeface="Consolas"/>
              </a:rPr>
              <a:t>(</a:t>
            </a:r>
            <a:r>
              <a:rPr sz="1800" i="0">
                <a:solidFill>
                  <a:srgbClr val="E8EDF2"/>
                </a:solidFill>
                <a:latin typeface="Consolas"/>
              </a:rPr>
              <a:t>entropy</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7</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7</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1.0</a:t>
            </a:r>
          </a:p>
        </p:txBody>
      </p:sp>
      <p:sp>
        <p:nvSpPr>
          <p:cNvPr id="15" name="!!code-num"/>
          <p:cNvSpPr txBox="1"/>
          <p:nvPr/>
        </p:nvSpPr>
        <p:spPr>
          <a:xfrm>
            <a:off x="768096" y="2523744"/>
            <a:ext cx="393192" cy="20299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32</a:t>
            </a:r>
          </a:p>
          <a:p>
            <a:pPr algn="r">
              <a:lnSpc>
                <a:spcPct val="100000"/>
              </a:lnSpc>
            </a:pPr>
            <a:r>
              <a:rPr sz="1800">
                <a:solidFill>
                  <a:srgbClr val="4F5D6A"/>
                </a:solidFill>
                <a:latin typeface="Consolas"/>
              </a:rPr>
              <a:t>33</a:t>
            </a:r>
          </a:p>
          <a:p>
            <a:pPr algn="r">
              <a:lnSpc>
                <a:spcPct val="100000"/>
              </a:lnSpc>
            </a:pPr>
            <a:r>
              <a:rPr sz="1800">
                <a:solidFill>
                  <a:srgbClr val="4F5D6A"/>
                </a:solidFill>
                <a:latin typeface="Consolas"/>
              </a:rPr>
              <a:t>34</a:t>
            </a:r>
          </a:p>
          <a:p>
            <a:pPr algn="r">
              <a:lnSpc>
                <a:spcPct val="100000"/>
              </a:lnSpc>
            </a:pPr>
            <a:r>
              <a:rPr sz="1800">
                <a:solidFill>
                  <a:srgbClr val="4F5D6A"/>
                </a:solidFill>
                <a:latin typeface="Consolas"/>
              </a:rPr>
              <a:t>35</a:t>
            </a:r>
          </a:p>
          <a:p>
            <a:pPr algn="r">
              <a:lnSpc>
                <a:spcPct val="100000"/>
              </a:lnSpc>
            </a:pPr>
            <a:r>
              <a:rPr sz="1800">
                <a:solidFill>
                  <a:srgbClr val="4F5D6A"/>
                </a:solidFill>
                <a:latin typeface="Consolas"/>
              </a:rPr>
              <a:t>36</a:t>
            </a:r>
          </a:p>
          <a:p>
            <a:pPr algn="r">
              <a:lnSpc>
                <a:spcPct val="100000"/>
              </a:lnSpc>
            </a:pPr>
            <a:r>
              <a:rPr sz="1800">
                <a:solidFill>
                  <a:srgbClr val="4F5D6A"/>
                </a:solidFill>
                <a:latin typeface="Consolas"/>
              </a:rPr>
              <a:t>37</a:t>
            </a:r>
          </a:p>
          <a:p>
            <a:pPr algn="r">
              <a:lnSpc>
                <a:spcPct val="100000"/>
              </a:lnSpc>
            </a:pPr>
            <a:r>
              <a:rPr sz="1800">
                <a:solidFill>
                  <a:srgbClr val="4F5D6A"/>
                </a:solidFill>
                <a:latin typeface="Consolas"/>
              </a:rPr>
              <a:t>38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41113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§2.9  ·  Handout p. 16     </a:t>
            </a:r>
            <a:fld id="{3AA7CF4F-04DE-49D0-81C4-A7F1E002B29F}" type="slidenum">
              <a:rPr lang="en-GB" sz="1000">
                <a:solidFill>
                  <a:srgbClr val="8795A1"/>
                </a:solidFill>
                <a:latin typeface="Segoe UI"/>
              </a:rPr>
              <a:t>45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Change </a:t>
            </a:r>
            <a:r>
              <a:rPr sz="2150" b="0" i="0">
                <a:solidFill>
                  <a:srgbClr val="1F4E79"/>
                </a:solidFill>
                <a:latin typeface="Consolas"/>
              </a:rPr>
              <a:t>0.001</a:t>
            </a:r>
            <a:r>
              <a:rPr sz="2300" b="0" i="0">
                <a:solidFill>
                  <a:srgbClr val="1C252B"/>
                </a:solidFill>
                <a:latin typeface="Segoe UI"/>
              </a:rPr>
              <a:t> in the simulation to </a:t>
            </a:r>
            <a:r>
              <a:rPr sz="2150" b="0" i="0">
                <a:solidFill>
                  <a:srgbClr val="1F4E79"/>
                </a:solidFill>
                <a:latin typeface="Consolas"/>
              </a:rPr>
              <a:t>0.05</a:t>
            </a:r>
            <a:r>
              <a:rPr sz="2300" b="0" i="0">
                <a:solidFill>
                  <a:srgbClr val="1C252B"/>
                </a:solidFill>
                <a:latin typeface="Segoe UI"/>
              </a:rPr>
              <a:t> — an environment where attacks are common — and predict the new answer before you run it.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62502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Compute the Euclidean distance between </a:t>
            </a:r>
            <a:r>
              <a:rPr sz="3400" b="0" i="0">
                <a:solidFill>
                  <a:srgbClr val="FFFFFF"/>
                </a:solidFill>
                <a:latin typeface="Cambria"/>
              </a:rPr>
              <a:t>(1, 2)</a:t>
            </a:r>
            <a:r>
              <a:rPr sz="3400" b="0" i="0">
                <a:solidFill>
                  <a:srgbClr val="FFFFFF"/>
                </a:solidFill>
                <a:latin typeface="Segoe UI Semibold"/>
              </a:rPr>
              <a:t> and </a:t>
            </a:r>
            <a:r>
              <a:rPr sz="3400" b="0" i="0">
                <a:solidFill>
                  <a:srgbClr val="FFFFFF"/>
                </a:solidFill>
                <a:latin typeface="Cambria"/>
              </a:rPr>
              <a:t>(4, 6)</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2  ·  Mathematics for Machine Learning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19  ·  answers in Appendix D     </a:t>
            </a:r>
            <a:fld id="{A679F868-AD38-4B37-8245-27B4A2EA4C07}" type="slidenum">
              <a:rPr lang="en-GB" sz="1000">
                <a:solidFill>
                  <a:srgbClr val="D5DEE5"/>
                </a:solidFill>
                <a:latin typeface="Segoe UI"/>
              </a:rPr>
              <a:t>46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Compute the Euclidean distance between </a:t>
            </a:r>
            <a:r>
              <a:rPr sz="2400" b="0" i="0">
                <a:solidFill>
                  <a:srgbClr val="1A5276"/>
                </a:solidFill>
                <a:latin typeface="Cambria"/>
              </a:rPr>
              <a:t>(1, 2)</a:t>
            </a:r>
            <a:r>
              <a:rPr sz="2400" b="0" i="0">
                <a:solidFill>
                  <a:srgbClr val="1A5276"/>
                </a:solidFill>
                <a:latin typeface="Segoe UI Semibold"/>
              </a:rPr>
              <a:t> and </a:t>
            </a:r>
            <a:r>
              <a:rPr sz="2400" b="0" i="0">
                <a:solidFill>
                  <a:srgbClr val="1A5276"/>
                </a:solidFill>
                <a:latin typeface="Cambria"/>
              </a:rPr>
              <a:t>(4, 6)</a:t>
            </a:r>
            <a:r>
              <a:rPr sz="2400" b="0" i="0">
                <a:solidFill>
                  <a:srgbClr val="1A5276"/>
                </a:solidFill>
                <a:latin typeface="Segoe UI Semibold"/>
              </a:rPr>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√((4−1)</a:t>
            </a:r>
            <a:r>
              <a:rPr sz="2200" b="0" i="0" baseline="30000">
                <a:solidFill>
                  <a:srgbClr val="1C252B"/>
                </a:solidFill>
                <a:latin typeface="Cambria"/>
              </a:rPr>
              <a:t>2</a:t>
            </a:r>
            <a:r>
              <a:rPr sz="2200" b="0" i="0">
                <a:solidFill>
                  <a:srgbClr val="1C252B"/>
                </a:solidFill>
                <a:latin typeface="Cambria"/>
              </a:rPr>
              <a:t> + (6−2)</a:t>
            </a:r>
            <a:r>
              <a:rPr sz="2200" b="0" i="0" baseline="30000">
                <a:solidFill>
                  <a:srgbClr val="1C252B"/>
                </a:solidFill>
                <a:latin typeface="Cambria"/>
              </a:rPr>
              <a:t>2</a:t>
            </a:r>
            <a:r>
              <a:rPr sz="2200" b="0" i="0">
                <a:solidFill>
                  <a:srgbClr val="1C252B"/>
                </a:solidFill>
                <a:latin typeface="Cambria"/>
              </a:rPr>
              <a:t>) = √(9 + 16) = 5</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  answers in Appendix D     </a:t>
            </a:r>
            <a:fld id="{1BC3D0EC-AB5B-4EF3-BC51-59D1D1DE0E70}" type="slidenum">
              <a:rPr lang="en-GB" sz="1000">
                <a:solidFill>
                  <a:srgbClr val="8795A1"/>
                </a:solidFill>
                <a:latin typeface="Segoe UI"/>
              </a:rPr>
              <a:t>47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05280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Take one gradient descent step on </a:t>
            </a:r>
            <a:r>
              <a:rPr sz="3400" b="0" i="1">
                <a:solidFill>
                  <a:srgbClr val="FFFFFF"/>
                </a:solidFill>
                <a:latin typeface="Cambria"/>
              </a:rPr>
              <a:t>L</a:t>
            </a:r>
            <a:r>
              <a:rPr sz="3400" b="0" i="0">
                <a:solidFill>
                  <a:srgbClr val="FFFFFF"/>
                </a:solidFill>
                <a:latin typeface="Cambria"/>
              </a:rPr>
              <a:t>(</a:t>
            </a:r>
            <a:r>
              <a:rPr sz="3400" b="0" i="1">
                <a:solidFill>
                  <a:srgbClr val="FFFFFF"/>
                </a:solidFill>
                <a:latin typeface="Cambria"/>
              </a:rPr>
              <a:t>w</a:t>
            </a:r>
            <a:r>
              <a:rPr sz="3400" b="0" i="0">
                <a:solidFill>
                  <a:srgbClr val="FFFFFF"/>
                </a:solidFill>
                <a:latin typeface="Cambria"/>
              </a:rPr>
              <a:t>) = (</a:t>
            </a:r>
            <a:r>
              <a:rPr sz="3400" b="0" i="1">
                <a:solidFill>
                  <a:srgbClr val="FFFFFF"/>
                </a:solidFill>
                <a:latin typeface="Cambria"/>
              </a:rPr>
              <a:t>w</a:t>
            </a:r>
            <a:r>
              <a:rPr sz="3400" b="0" i="0">
                <a:solidFill>
                  <a:srgbClr val="FFFFFF"/>
                </a:solidFill>
                <a:latin typeface="Cambria"/>
              </a:rPr>
              <a:t>+1)</a:t>
            </a:r>
            <a:r>
              <a:rPr sz="3400" b="0" i="0" baseline="30000">
                <a:solidFill>
                  <a:srgbClr val="FFFFFF"/>
                </a:solidFill>
                <a:latin typeface="Cambria"/>
              </a:rPr>
              <a:t>2</a:t>
            </a:r>
            <a:r>
              <a:rPr sz="3400" b="0" i="0">
                <a:solidFill>
                  <a:srgbClr val="FFFFFF"/>
                </a:solidFill>
                <a:latin typeface="Segoe UI Semibold"/>
              </a:rPr>
              <a:t> from </a:t>
            </a:r>
            <a:r>
              <a:rPr sz="3400" b="0" i="1">
                <a:solidFill>
                  <a:srgbClr val="FFFFFF"/>
                </a:solidFill>
                <a:latin typeface="Cambria"/>
              </a:rPr>
              <a:t>w</a:t>
            </a:r>
            <a:r>
              <a:rPr sz="3400" b="0" i="0">
                <a:solidFill>
                  <a:srgbClr val="FFFFFF"/>
                </a:solidFill>
                <a:latin typeface="Cambria"/>
              </a:rPr>
              <a:t> = 2</a:t>
            </a:r>
            <a:r>
              <a:rPr sz="3400" b="0" i="0">
                <a:solidFill>
                  <a:srgbClr val="FFFFFF"/>
                </a:solidFill>
                <a:latin typeface="Segoe UI Semibold"/>
              </a:rPr>
              <a:t> with </a:t>
            </a:r>
            <a:r>
              <a:rPr sz="3400" b="0" i="0">
                <a:solidFill>
                  <a:srgbClr val="FFFFFF"/>
                </a:solidFill>
                <a:latin typeface="Cambria"/>
              </a:rPr>
              <a:t>α = 0.25</a:t>
            </a:r>
            <a:r>
              <a:rPr sz="3400" b="0" i="0">
                <a:solidFill>
                  <a:srgbClr val="FFFFFF"/>
                </a:solidFill>
                <a:latin typeface="Segoe UI Semibold"/>
              </a:rPr>
              <a:t>. Is the new </a:t>
            </a:r>
            <a:r>
              <a:rPr sz="3400" b="0" i="1">
                <a:solidFill>
                  <a:srgbClr val="FFFFFF"/>
                </a:solidFill>
                <a:latin typeface="Cambria"/>
              </a:rPr>
              <a:t>w</a:t>
            </a:r>
            <a:r>
              <a:rPr sz="3400" b="0" i="0">
                <a:solidFill>
                  <a:srgbClr val="FFFFFF"/>
                </a:solidFill>
                <a:latin typeface="Segoe UI Semibold"/>
              </a:rPr>
              <a:t> closer to the minimum?</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2  ·  Mathematics for Machine Learning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19  ·  answers in Appendix D     </a:t>
            </a:r>
            <a:fld id="{0D8ED5DF-F67C-4AAC-AD6F-E77D5C59439B}" type="slidenum">
              <a:rPr lang="en-GB" sz="1000">
                <a:solidFill>
                  <a:srgbClr val="D5DEE5"/>
                </a:solidFill>
                <a:latin typeface="Segoe UI"/>
              </a:rPr>
              <a:t>48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Take one gradient descent step on </a:t>
            </a:r>
            <a:r>
              <a:rPr sz="2400" b="0" i="1">
                <a:solidFill>
                  <a:srgbClr val="1A5276"/>
                </a:solidFill>
                <a:latin typeface="Cambria"/>
              </a:rPr>
              <a:t>L</a:t>
            </a:r>
            <a:r>
              <a:rPr sz="2400" b="0" i="0">
                <a:solidFill>
                  <a:srgbClr val="1A5276"/>
                </a:solidFill>
                <a:latin typeface="Cambria"/>
              </a:rPr>
              <a:t>(</a:t>
            </a:r>
            <a:r>
              <a:rPr sz="2400" b="0" i="1">
                <a:solidFill>
                  <a:srgbClr val="1A5276"/>
                </a:solidFill>
                <a:latin typeface="Cambria"/>
              </a:rPr>
              <a:t>w</a:t>
            </a:r>
            <a:r>
              <a:rPr sz="2400" b="0" i="0">
                <a:solidFill>
                  <a:srgbClr val="1A5276"/>
                </a:solidFill>
                <a:latin typeface="Cambria"/>
              </a:rPr>
              <a:t>) = (</a:t>
            </a:r>
            <a:r>
              <a:rPr sz="2400" b="0" i="1">
                <a:solidFill>
                  <a:srgbClr val="1A5276"/>
                </a:solidFill>
                <a:latin typeface="Cambria"/>
              </a:rPr>
              <a:t>w</a:t>
            </a:r>
            <a:r>
              <a:rPr sz="2400" b="0" i="0">
                <a:solidFill>
                  <a:srgbClr val="1A5276"/>
                </a:solidFill>
                <a:latin typeface="Cambria"/>
              </a:rPr>
              <a:t>+1)</a:t>
            </a:r>
            <a:r>
              <a:rPr sz="2400" b="0" i="0" baseline="30000">
                <a:solidFill>
                  <a:srgbClr val="1A5276"/>
                </a:solidFill>
                <a:latin typeface="Cambria"/>
              </a:rPr>
              <a:t>2</a:t>
            </a:r>
            <a:r>
              <a:rPr sz="2400" b="0" i="0">
                <a:solidFill>
                  <a:srgbClr val="1A5276"/>
                </a:solidFill>
                <a:latin typeface="Segoe UI Semibold"/>
              </a:rPr>
              <a:t> from </a:t>
            </a:r>
            <a:r>
              <a:rPr sz="2400" b="0" i="1">
                <a:solidFill>
                  <a:srgbClr val="1A5276"/>
                </a:solidFill>
                <a:latin typeface="Cambria"/>
              </a:rPr>
              <a:t>w</a:t>
            </a:r>
            <a:r>
              <a:rPr sz="2400" b="0" i="0">
                <a:solidFill>
                  <a:srgbClr val="1A5276"/>
                </a:solidFill>
                <a:latin typeface="Cambria"/>
              </a:rPr>
              <a:t> = 2</a:t>
            </a:r>
            <a:r>
              <a:rPr sz="2400" b="0" i="0">
                <a:solidFill>
                  <a:srgbClr val="1A5276"/>
                </a:solidFill>
                <a:latin typeface="Segoe UI Semibold"/>
              </a:rPr>
              <a:t> with </a:t>
            </a:r>
            <a:r>
              <a:rPr sz="2400" b="0" i="0">
                <a:solidFill>
                  <a:srgbClr val="1A5276"/>
                </a:solidFill>
                <a:latin typeface="Cambria"/>
              </a:rPr>
              <a:t>α = 0.25</a:t>
            </a:r>
            <a:r>
              <a:rPr sz="2400" b="0" i="0">
                <a:solidFill>
                  <a:srgbClr val="1A5276"/>
                </a:solidFill>
                <a:latin typeface="Segoe UI Semibold"/>
              </a:rPr>
              <a:t>. Is the new </a:t>
            </a:r>
            <a:r>
              <a:rPr sz="2400" b="0" i="1">
                <a:solidFill>
                  <a:srgbClr val="1A5276"/>
                </a:solidFill>
                <a:latin typeface="Cambria"/>
              </a:rPr>
              <a:t>w</a:t>
            </a:r>
            <a:r>
              <a:rPr sz="2400" b="0" i="0">
                <a:solidFill>
                  <a:srgbClr val="1A5276"/>
                </a:solidFill>
                <a:latin typeface="Segoe UI Semibold"/>
              </a:rPr>
              <a:t> closer to the minimum?</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L</a:t>
            </a:r>
            <a:r>
              <a:rPr sz="2200" b="0" i="0">
                <a:solidFill>
                  <a:srgbClr val="1C252B"/>
                </a:solidFill>
                <a:latin typeface="Cambria"/>
              </a:rPr>
              <a:t>′(</a:t>
            </a:r>
            <a:r>
              <a:rPr sz="2200" b="0" i="1">
                <a:solidFill>
                  <a:srgbClr val="1C252B"/>
                </a:solidFill>
                <a:latin typeface="Cambria"/>
              </a:rPr>
              <a:t>w</a:t>
            </a:r>
            <a:r>
              <a:rPr sz="2200" b="0" i="0">
                <a:solidFill>
                  <a:srgbClr val="1C252B"/>
                </a:solidFill>
                <a:latin typeface="Cambria"/>
              </a:rPr>
              <a:t>) = 2(</a:t>
            </a:r>
            <a:r>
              <a:rPr sz="2200" b="0" i="1">
                <a:solidFill>
                  <a:srgbClr val="1C252B"/>
                </a:solidFill>
                <a:latin typeface="Cambria"/>
              </a:rPr>
              <a:t>w</a:t>
            </a:r>
            <a:r>
              <a:rPr sz="2200" b="0" i="0">
                <a:solidFill>
                  <a:srgbClr val="1C252B"/>
                </a:solidFill>
                <a:latin typeface="Cambria"/>
              </a:rPr>
              <a:t> + 1) = 6</a:t>
            </a:r>
            <a:r>
              <a:rPr sz="2200" b="0" i="0">
                <a:solidFill>
                  <a:srgbClr val="1C252B"/>
                </a:solidFill>
                <a:latin typeface="Segoe UI"/>
              </a:rPr>
              <a:t> at </a:t>
            </a:r>
            <a:r>
              <a:rPr sz="2200" b="0" i="1">
                <a:solidFill>
                  <a:srgbClr val="1C252B"/>
                </a:solidFill>
                <a:latin typeface="Cambria"/>
              </a:rPr>
              <a:t>w</a:t>
            </a:r>
            <a:r>
              <a:rPr sz="2200" b="0" i="0">
                <a:solidFill>
                  <a:srgbClr val="1C252B"/>
                </a:solidFill>
                <a:latin typeface="Cambria"/>
              </a:rPr>
              <a:t> = 2</a:t>
            </a:r>
            <a:r>
              <a:rPr sz="2200" b="0" i="0">
                <a:solidFill>
                  <a:srgbClr val="1C252B"/>
                </a:solidFill>
                <a:latin typeface="Segoe UI"/>
              </a:rPr>
              <a:t>, so </a:t>
            </a:r>
            <a:r>
              <a:rPr sz="2200" b="0" i="1">
                <a:solidFill>
                  <a:srgbClr val="1C252B"/>
                </a:solidFill>
                <a:latin typeface="Cambria"/>
              </a:rPr>
              <a:t>w</a:t>
            </a:r>
            <a:r>
              <a:rPr sz="2200" b="0" i="0">
                <a:solidFill>
                  <a:srgbClr val="1C252B"/>
                </a:solidFill>
                <a:latin typeface="Cambria"/>
              </a:rPr>
              <a:t> ← 2 − 0.25 × 6 = 0.5</a:t>
            </a:r>
            <a:r>
              <a:rPr sz="2200" b="0" i="0">
                <a:solidFill>
                  <a:srgbClr val="1C252B"/>
                </a:solidFill>
                <a:latin typeface="Segoe UI"/>
              </a:rPr>
              <a:t>. The minimum is at </a:t>
            </a:r>
            <a:r>
              <a:rPr sz="2200" b="0" i="0">
                <a:solidFill>
                  <a:srgbClr val="1C252B"/>
                </a:solidFill>
                <a:latin typeface="Cambria"/>
              </a:rPr>
              <a:t>−1</a:t>
            </a:r>
            <a:r>
              <a:rPr sz="2200" b="0" i="0">
                <a:solidFill>
                  <a:srgbClr val="1C252B"/>
                </a:solidFill>
                <a:latin typeface="Segoe UI"/>
              </a:rPr>
              <a:t>: the gap fell from 3 to 1.5, so yes, closer.</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  answers in Appendix D     </a:t>
            </a:r>
            <a:fld id="{ACB4D01B-EA4F-457D-9EA3-75F00B09E5FF}" type="slidenum">
              <a:rPr lang="en-GB" sz="1000">
                <a:solidFill>
                  <a:srgbClr val="8795A1"/>
                </a:solidFill>
                <a:latin typeface="Segoe UI"/>
              </a:rPr>
              <a:t>49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48058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Compute the entropy of the distribution </a:t>
            </a:r>
            <a:r>
              <a:rPr sz="3400" b="0" i="0">
                <a:solidFill>
                  <a:srgbClr val="FFFFFF"/>
                </a:solidFill>
                <a:latin typeface="Cambria"/>
              </a:rPr>
              <a:t>(0.5, 0.25, 0.25)</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2  ·  Mathematics for Machine Learning</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19  ·  answers in Appendix D     </a:t>
            </a:r>
            <a:fld id="{919B43D9-6399-4D14-91F3-E92CBACD9142}" type="slidenum">
              <a:rPr lang="en-GB" sz="1000">
                <a:solidFill>
                  <a:srgbClr val="D5DEE5"/>
                </a:solidFill>
                <a:latin typeface="Segoe UI"/>
              </a:rPr>
              <a:t>50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Compute the entropy of the distribution </a:t>
            </a:r>
            <a:r>
              <a:rPr sz="2400" b="0" i="0">
                <a:solidFill>
                  <a:srgbClr val="1A5276"/>
                </a:solidFill>
                <a:latin typeface="Cambria"/>
              </a:rPr>
              <a:t>(0.5, 0.25, 0.25)</a:t>
            </a:r>
            <a:r>
              <a:rPr sz="2400" b="0" i="0">
                <a:solidFill>
                  <a:srgbClr val="1A5276"/>
                </a:solidFill>
                <a:latin typeface="Segoe UI Semibold"/>
              </a:rPr>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H</a:t>
            </a:r>
            <a:r>
              <a:rPr sz="2200" b="0" i="0">
                <a:solidFill>
                  <a:srgbClr val="1C252B"/>
                </a:solidFill>
                <a:latin typeface="Cambria"/>
              </a:rPr>
              <a:t> = −(0.5log</a:t>
            </a:r>
            <a:r>
              <a:rPr sz="2200" b="0" i="0" baseline="-25000">
                <a:solidFill>
                  <a:srgbClr val="1C252B"/>
                </a:solidFill>
                <a:latin typeface="Cambria"/>
              </a:rPr>
              <a:t>2</a:t>
            </a:r>
            <a:r>
              <a:rPr sz="2200" b="0" i="0">
                <a:solidFill>
                  <a:srgbClr val="1C252B"/>
                </a:solidFill>
                <a:latin typeface="Cambria"/>
              </a:rPr>
              <a:t> 0.5 + 2 × 0.25log</a:t>
            </a:r>
            <a:r>
              <a:rPr sz="2200" b="0" i="0" baseline="-25000">
                <a:solidFill>
                  <a:srgbClr val="1C252B"/>
                </a:solidFill>
                <a:latin typeface="Cambria"/>
              </a:rPr>
              <a:t>2</a:t>
            </a:r>
            <a:r>
              <a:rPr sz="2200" b="0" i="0">
                <a:solidFill>
                  <a:srgbClr val="1C252B"/>
                </a:solidFill>
                <a:latin typeface="Cambria"/>
              </a:rPr>
              <a:t> 0.25) = 0.5 + 0.5 + 0.5 = 1.5</a:t>
            </a:r>
            <a:r>
              <a:rPr sz="2200" b="0" i="0">
                <a:solidFill>
                  <a:srgbClr val="1C252B"/>
                </a:solidFill>
                <a:latin typeface="Segoe UI"/>
              </a:rPr>
              <a:t> bits.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  answers in Appendix D     </a:t>
            </a:r>
            <a:fld id="{DF359AD0-17B5-49FF-8177-93AD0F4D0284}" type="slidenum">
              <a:rPr lang="en-GB" sz="1000">
                <a:solidFill>
                  <a:srgbClr val="8795A1"/>
                </a:solidFill>
                <a:latin typeface="Segoe UI"/>
              </a:rPr>
              <a:t>51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90835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a:t>
            </a:r>
            <a:fld id="{A0C30900-775B-4678-96F4-17305BA33943}" type="slidenum">
              <a:rPr lang="en-GB" sz="1000">
                <a:solidFill>
                  <a:srgbClr val="8795A1"/>
                </a:solidFill>
                <a:latin typeface="Segoe UI"/>
              </a:rPr>
              <a:t>52</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 example is a vector, a dataset is a matrix, and a linear model is a dot product plus a bias; </a:t>
            </a:r>
            <a:r>
              <a:rPr sz="1900" b="0" i="1">
                <a:solidFill>
                  <a:srgbClr val="1C252B"/>
                </a:solidFill>
                <a:latin typeface="Cambria"/>
              </a:rPr>
              <a:t>X</a:t>
            </a:r>
            <a:r>
              <a:rPr sz="1900" b="1" i="1">
                <a:solidFill>
                  <a:srgbClr val="1C252B"/>
                </a:solidFill>
                <a:latin typeface="Cambria"/>
              </a:rPr>
              <a:t>w</a:t>
            </a:r>
            <a:r>
              <a:rPr sz="1900" b="0" i="0">
                <a:solidFill>
                  <a:srgbClr val="1C252B"/>
                </a:solidFill>
                <a:latin typeface="Segoe UI"/>
              </a:rPr>
              <a:t> scores every example at once.</a:t>
            </a:r>
          </a:p>
        </p:txBody>
      </p:sp>
      <p:sp>
        <p:nvSpPr>
          <p:cNvPr id="10" name="!!sb1">
            <a:extLst>
              <a:ext uri="{C183D7F6-B498-43B3-948B-1728B52AA6E4}">
                <adec:decorative xmlns:adec="http://schemas.microsoft.com/office/drawing/2017/decorative" val="1"/>
              </a:ext>
            </a:extLst>
          </p:cNvPr>
          <p:cNvSpPr/>
          <p:nvPr/>
        </p:nvSpPr>
        <p:spPr>
          <a:xfrm>
            <a:off x="658368" y="253166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8653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2252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Distances are dominated by the features with the largest units, so scale features before comparing examples.</a:t>
            </a:r>
          </a:p>
        </p:txBody>
      </p:sp>
      <p:sp>
        <p:nvSpPr>
          <p:cNvPr id="13" name="!!sb2">
            <a:extLst>
              <a:ext uri="{C183D7F6-B498-43B3-948B-1728B52AA6E4}">
                <adec:decorative xmlns:adec="http://schemas.microsoft.com/office/drawing/2017/decorative" val="1"/>
              </a:ext>
            </a:extLst>
          </p:cNvPr>
          <p:cNvSpPr/>
          <p:nvPr/>
        </p:nvSpPr>
        <p:spPr>
          <a:xfrm>
            <a:off x="658368" y="331683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37169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07689"/>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gradient points uphill; gradient descent steps against it. Too small a learning rate is slow, too large diverges.</a:t>
            </a:r>
          </a:p>
        </p:txBody>
      </p:sp>
      <p:sp>
        <p:nvSpPr>
          <p:cNvPr id="16" name="!!sb3">
            <a:extLst>
              <a:ext uri="{C183D7F6-B498-43B3-948B-1728B52AA6E4}">
                <adec:decorative xmlns:adec="http://schemas.microsoft.com/office/drawing/2017/decorative" val="1"/>
              </a:ext>
            </a:extLst>
          </p:cNvPr>
          <p:cNvSpPr/>
          <p:nvPr/>
        </p:nvSpPr>
        <p:spPr>
          <a:xfrm>
            <a:off x="658368" y="410199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15686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9285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Bayes’ theorem reverses a conditional probability. When the prior is small, even an accurate test produces mostly false alarms.</a:t>
            </a:r>
          </a:p>
        </p:txBody>
      </p:sp>
      <p:sp>
        <p:nvSpPr>
          <p:cNvPr id="19" name="!!sb4">
            <a:extLst>
              <a:ext uri="{C183D7F6-B498-43B3-948B-1728B52AA6E4}">
                <adec:decorative xmlns:adec="http://schemas.microsoft.com/office/drawing/2017/decorative" val="1"/>
              </a:ext>
            </a:extLst>
          </p:cNvPr>
          <p:cNvSpPr/>
          <p:nvPr/>
        </p:nvSpPr>
        <p:spPr>
          <a:xfrm>
            <a:off x="658368" y="488716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4202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78019"/>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Maximum likelihood chooses the parameters that make the data most probable; work with the log-likelihood.</a:t>
            </a:r>
          </a:p>
        </p:txBody>
      </p:sp>
      <p:sp>
        <p:nvSpPr>
          <p:cNvPr id="22" name="!!sb5">
            <a:extLst>
              <a:ext uri="{C183D7F6-B498-43B3-948B-1728B52AA6E4}">
                <adec:decorative xmlns:adec="http://schemas.microsoft.com/office/drawing/2017/decorative" val="1"/>
              </a:ext>
            </a:extLst>
          </p:cNvPr>
          <p:cNvSpPr/>
          <p:nvPr/>
        </p:nvSpPr>
        <p:spPr>
          <a:xfrm>
            <a:off x="658368" y="567232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72719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66318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Entropy measures uncertainty in bits: zero when the outcome is certain, largest when every outcome is equally likely.</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12224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a:t>
            </a:r>
            <a:fld id="{28146C04-4A3E-431A-B551-80B18311C96B}" type="slidenum">
              <a:rPr lang="en-GB" sz="1000">
                <a:solidFill>
                  <a:srgbClr val="8795A1"/>
                </a:solidFill>
                <a:latin typeface="Segoe UI"/>
              </a:rPr>
              <a:t>53</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dot product of </a:t>
            </a:r>
            <a:r>
              <a:rPr sz="2600" b="0" i="0">
                <a:solidFill>
                  <a:srgbClr val="1C252B"/>
                </a:solidFill>
                <a:latin typeface="Cambria"/>
              </a:rPr>
              <a:t>(1, −1, 2)</a:t>
            </a:r>
            <a:r>
              <a:rPr sz="2600" b="0" i="0">
                <a:solidFill>
                  <a:srgbClr val="1C252B"/>
                </a:solidFill>
                <a:latin typeface="Segoe UI"/>
              </a:rPr>
              <a:t> and </a:t>
            </a:r>
            <a:r>
              <a:rPr sz="2600" b="0" i="0">
                <a:solidFill>
                  <a:srgbClr val="1C252B"/>
                </a:solidFill>
                <a:latin typeface="Cambria"/>
              </a:rPr>
              <a:t>(3, 1, 1)</a:t>
            </a:r>
            <a:r>
              <a:rPr sz="2600" b="0" i="0">
                <a:solidFill>
                  <a:srgbClr val="1C252B"/>
                </a:solidFill>
                <a:latin typeface="Segoe UI"/>
              </a:rPr>
              <a:t>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2</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4</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6</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0</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3613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a:t>
            </a:r>
            <a:fld id="{099F7C07-1EB5-4795-836E-4A6B662EC67E}" type="slidenum">
              <a:rPr lang="en-GB" sz="1000">
                <a:solidFill>
                  <a:srgbClr val="8795A1"/>
                </a:solidFill>
                <a:latin typeface="Segoe UI"/>
              </a:rPr>
              <a:t>54</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If the loss increases after every gradient descent step, the most likely cause is:</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too few steps</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learning rate that is too large</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too much data</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learning rate that is too small</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5002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a:t>
            </a:r>
            <a:fld id="{972234B0-B569-4FA1-A955-EAFFF50E332A}" type="slidenum">
              <a:rPr lang="en-GB" sz="1000">
                <a:solidFill>
                  <a:srgbClr val="8795A1"/>
                </a:solidFill>
                <a:latin typeface="Segoe UI"/>
              </a:rPr>
              <a:t>55</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entropy of a fair six-sided die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1 bit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log</a:t>
            </a:r>
            <a:r>
              <a:rPr sz="2000" b="0" i="0" baseline="-25000">
                <a:solidFill>
                  <a:srgbClr val="1C252B"/>
                </a:solidFill>
                <a:latin typeface="Cambria"/>
              </a:rPr>
              <a:t>2</a:t>
            </a:r>
            <a:r>
              <a:rPr sz="2000" b="0" i="0">
                <a:solidFill>
                  <a:srgbClr val="1C252B"/>
                </a:solidFill>
                <a:latin typeface="Cambria"/>
              </a:rPr>
              <a:t> 6 ≈ 2.58</a:t>
            </a:r>
            <a:r>
              <a:rPr sz="2000" b="0" i="0">
                <a:solidFill>
                  <a:srgbClr val="1C252B"/>
                </a:solidFill>
                <a:latin typeface="Segoe UI"/>
              </a:rPr>
              <a:t> bits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6 bits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0 bits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6391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2  ·  Mathematics for Machine Learning</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a:t>
            </a:r>
            <a:fld id="{F230F7BD-7BC1-4BA4-AE7D-C571822826C4}" type="slidenum">
              <a:rPr lang="en-GB" sz="1000">
                <a:solidFill>
                  <a:srgbClr val="8795A1"/>
                </a:solidFill>
                <a:latin typeface="Segoe UI"/>
              </a:rPr>
              <a:t>56</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in words what the gradient of a loss function tells you, and why gradient descent subtracts it.</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do we maximise the log-likelihood rather than the likelihood?</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an example, not from this chapter, where </a:t>
            </a:r>
            <a:r>
              <a:rPr sz="1900" b="0" i="1">
                <a:solidFill>
                  <a:srgbClr val="1C252B"/>
                </a:solidFill>
                <a:latin typeface="Cambria"/>
              </a:rPr>
              <a:t>P</a:t>
            </a:r>
            <a:r>
              <a:rPr sz="1900" b="0" i="0">
                <a:solidFill>
                  <a:srgbClr val="1C252B"/>
                </a:solidFill>
                <a:latin typeface="Cambria"/>
              </a:rPr>
              <a:t>(</a:t>
            </a:r>
            <a:r>
              <a:rPr sz="1900" b="0" i="1">
                <a:solidFill>
                  <a:srgbClr val="1C252B"/>
                </a:solidFill>
                <a:latin typeface="Cambria"/>
              </a:rPr>
              <a:t>A</a:t>
            </a:r>
            <a:r>
              <a:rPr sz="1900" b="0" i="0">
                <a:solidFill>
                  <a:srgbClr val="1C252B"/>
                </a:solidFill>
                <a:latin typeface="Cambria"/>
              </a:rPr>
              <a:t> ∣ </a:t>
            </a:r>
            <a:r>
              <a:rPr sz="1900" b="0" i="1">
                <a:solidFill>
                  <a:srgbClr val="1C252B"/>
                </a:solidFill>
                <a:latin typeface="Cambria"/>
              </a:rPr>
              <a:t>B</a:t>
            </a:r>
            <a:r>
              <a:rPr sz="1900" b="0" i="0">
                <a:solidFill>
                  <a:srgbClr val="1C252B"/>
                </a:solidFill>
                <a:latin typeface="Cambria"/>
              </a:rPr>
              <a:t>)</a:t>
            </a:r>
            <a:r>
              <a:rPr sz="1900" b="0" i="0">
                <a:solidFill>
                  <a:srgbClr val="1C252B"/>
                </a:solidFill>
                <a:latin typeface="Segoe UI"/>
              </a:rPr>
              <a:t> and </a:t>
            </a:r>
            <a:r>
              <a:rPr sz="1900" b="0" i="1">
                <a:solidFill>
                  <a:srgbClr val="1C252B"/>
                </a:solidFill>
                <a:latin typeface="Cambria"/>
              </a:rPr>
              <a:t>P</a:t>
            </a:r>
            <a:r>
              <a:rPr sz="1900" b="0" i="0">
                <a:solidFill>
                  <a:srgbClr val="1C252B"/>
                </a:solidFill>
                <a:latin typeface="Cambria"/>
              </a:rPr>
              <a:t>(</a:t>
            </a:r>
            <a:r>
              <a:rPr sz="1900" b="0" i="1">
                <a:solidFill>
                  <a:srgbClr val="1C252B"/>
                </a:solidFill>
                <a:latin typeface="Cambria"/>
              </a:rPr>
              <a:t>B</a:t>
            </a:r>
            <a:r>
              <a:rPr sz="1900" b="0" i="0">
                <a:solidFill>
                  <a:srgbClr val="1C252B"/>
                </a:solidFill>
                <a:latin typeface="Cambria"/>
              </a:rPr>
              <a:t> ∣ </a:t>
            </a:r>
            <a:r>
              <a:rPr sz="1900" b="0" i="1">
                <a:solidFill>
                  <a:srgbClr val="1C252B"/>
                </a:solidFill>
                <a:latin typeface="Cambria"/>
              </a:rPr>
              <a:t>A</a:t>
            </a:r>
            <a:r>
              <a:rPr sz="1900" b="0" i="0">
                <a:solidFill>
                  <a:srgbClr val="1C252B"/>
                </a:solidFill>
                <a:latin typeface="Cambria"/>
              </a:rPr>
              <a:t>)</a:t>
            </a:r>
            <a:r>
              <a:rPr sz="1900" b="0" i="0">
                <a:solidFill>
                  <a:srgbClr val="1C252B"/>
                </a:solidFill>
                <a:latin typeface="Segoe UI"/>
              </a:rPr>
              <a:t> are very different.</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fraud model flags 2% of legitimate transactions and 95% of fraudulent ones; 0.2% of transactions are fraudulent. Compute the probability that a flagged transaction is fraud, and state what this means for the team reviewing flags.</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Perform three gradient descent steps on </a:t>
            </a:r>
            <a:r>
              <a:rPr sz="1900" b="0" i="1">
                <a:solidFill>
                  <a:srgbClr val="1C252B"/>
                </a:solidFill>
                <a:latin typeface="Cambria"/>
              </a:rPr>
              <a:t>L</a:t>
            </a:r>
            <a:r>
              <a:rPr sz="1900" b="0" i="0">
                <a:solidFill>
                  <a:srgbClr val="1C252B"/>
                </a:solidFill>
                <a:latin typeface="Cambria"/>
              </a:rPr>
              <a:t>(</a:t>
            </a:r>
            <a:r>
              <a:rPr sz="1900" b="0" i="1">
                <a:solidFill>
                  <a:srgbClr val="1C252B"/>
                </a:solidFill>
                <a:latin typeface="Cambria"/>
              </a:rPr>
              <a:t>w</a:t>
            </a:r>
            <a:r>
              <a:rPr sz="1900" b="0" i="0">
                <a:solidFill>
                  <a:srgbClr val="1C252B"/>
                </a:solidFill>
                <a:latin typeface="Cambria"/>
              </a:rPr>
              <a:t>) = 2(</a:t>
            </a:r>
            <a:r>
              <a:rPr sz="1900" b="0" i="1">
                <a:solidFill>
                  <a:srgbClr val="1C252B"/>
                </a:solidFill>
                <a:latin typeface="Cambria"/>
              </a:rPr>
              <a:t>w</a:t>
            </a:r>
            <a:r>
              <a:rPr sz="1900" b="0" i="0">
                <a:solidFill>
                  <a:srgbClr val="1C252B"/>
                </a:solidFill>
                <a:latin typeface="Cambria"/>
              </a:rPr>
              <a:t>−5)</a:t>
            </a:r>
            <a:r>
              <a:rPr sz="1900" b="0" i="0" baseline="30000">
                <a:solidFill>
                  <a:srgbClr val="1C252B"/>
                </a:solidFill>
                <a:latin typeface="Cambria"/>
              </a:rPr>
              <a:t>2</a:t>
            </a:r>
            <a:r>
              <a:rPr sz="1900" b="0" i="0">
                <a:solidFill>
                  <a:srgbClr val="1C252B"/>
                </a:solidFill>
                <a:latin typeface="Segoe UI"/>
              </a:rPr>
              <a:t> from </a:t>
            </a:r>
            <a:r>
              <a:rPr sz="1900" b="0" i="1">
                <a:solidFill>
                  <a:srgbClr val="1C252B"/>
                </a:solidFill>
                <a:latin typeface="Cambria"/>
              </a:rPr>
              <a:t>w</a:t>
            </a:r>
            <a:r>
              <a:rPr sz="1900" b="0" i="0">
                <a:solidFill>
                  <a:srgbClr val="1C252B"/>
                </a:solidFill>
                <a:latin typeface="Cambria"/>
              </a:rPr>
              <a:t> = 1</a:t>
            </a:r>
            <a:r>
              <a:rPr sz="1900" b="0" i="0">
                <a:solidFill>
                  <a:srgbClr val="1C252B"/>
                </a:solidFill>
                <a:latin typeface="Segoe UI"/>
              </a:rPr>
              <a:t> with </a:t>
            </a:r>
            <a:r>
              <a:rPr sz="1900" b="0" i="0">
                <a:solidFill>
                  <a:srgbClr val="1C252B"/>
                </a:solidFill>
                <a:latin typeface="Cambria"/>
              </a:rPr>
              <a:t>α = 0.1</a:t>
            </a:r>
            <a:r>
              <a:rPr sz="1900" b="0" i="0">
                <a:solidFill>
                  <a:srgbClr val="1C252B"/>
                </a:solidFill>
                <a:latin typeface="Segoe UI"/>
              </a:rPr>
              <a:t>. Find the factor by which the gap to the minimum shrinks each step, and the largest learning rate for which descent still converges.</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7780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02</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3 — The Machine Learning Workflow and Toolkit</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 pages 11–19</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A rule against a learned model; the chapter in NumPy</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2  ·  Mathematics for Machine Learning</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F732FA1E-7CAA-41BC-9E39-3E60CA6024C0}" type="slidenum">
              <a:rPr lang="en-GB" sz="1000">
                <a:solidFill>
                  <a:srgbClr val="D5DEE5"/>
                </a:solidFill>
                <a:latin typeface="Segoe UI"/>
              </a:rPr>
              <a:t>57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Mathematics for Machine Learning</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