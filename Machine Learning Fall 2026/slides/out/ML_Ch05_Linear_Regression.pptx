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01.svg" ContentType="image/svg+xml"/>
  <Override PartName="/ppt/media/image102.svg" ContentType="image/svg+xml"/>
  <Override PartName="/ppt/media/image103.svg" ContentType="image/svg+xml"/>
  <Override PartName="/ppt/media/image104.svg" ContentType="image/svg+xml"/>
  <Override PartName="/ppt/media/image105.svg" ContentType="image/svg+xml"/>
  <Override PartName="/ppt/media/image107.svg" ContentType="image/svg+xml"/>
  <Override PartName="/ppt/media/image109.svg" ContentType="image/svg+xml"/>
  <Override PartName="/ppt/media/image110.svg" ContentType="image/svg+xml"/>
  <Override PartName="/ppt/media/image111.svg" ContentType="image/svg+xml"/>
  <Override PartName="/ppt/media/image112.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5.svg" ContentType="image/svg+xml"/>
  <Override PartName="/ppt/media/image37.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50.svg" ContentType="image/svg+xml"/>
  <Override PartName="/ppt/media/image51.svg" ContentType="image/svg+xml"/>
  <Override PartName="/ppt/media/image53.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6.svg" ContentType="image/svg+xml"/>
  <Override PartName="/ppt/media/image87.svg" ContentType="image/svg+xml"/>
  <Override PartName="/ppt/media/image88.svg" ContentType="image/svg+xml"/>
  <Override PartName="/ppt/media/image89.svg" ContentType="image/svg+xml"/>
  <Override PartName="/ppt/media/image90.svg" ContentType="image/svg+xml"/>
  <Override PartName="/ppt/media/image92.svg" ContentType="image/svg+xml"/>
  <Override PartName="/ppt/media/image93.svg" ContentType="image/svg+xml"/>
  <Override PartName="/ppt/media/image94.svg" ContentType="image/svg+xml"/>
  <Override PartName="/ppt/media/image95.svg" ContentType="image/svg+xml"/>
  <Override PartName="/ppt/media/image96.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4CD362E-FB78-4894-8232-BF0A67C15D74}">
          <p14:sldIdLst>
            <p14:sldId id="256"/>
            <p14:sldId id="257"/>
            <p14:sldId id="258"/>
            <p14:sldId id="259"/>
            <p14:sldId id="260"/>
          </p14:sldIdLst>
        </p14:section>
        <p14:section name="5.1 The Model" id="{063774AB-B12A-4650-BC44-D554B1FAFC29}">
          <p14:sldIdLst>
            <p14:sldId id="261"/>
          </p14:sldIdLst>
        </p14:section>
        <p14:section name="5.2 The Loss: Mean Squared Error" id="{C4A179E6-046B-4B6E-B1B8-5D054631C0F9}">
          <p14:sldIdLst>
            <p14:sldId id="262"/>
            <p14:sldId id="263"/>
            <p14:sldId id="264"/>
            <p14:sldId id="265"/>
          </p14:sldIdLst>
        </p14:section>
        <p14:section name="5.3 Least Squares by Formula" id="{23216C19-8BE0-499C-A0A9-0DB93F5F32AC}">
          <p14:sldIdLst>
            <p14:sldId id="266"/>
            <p14:sldId id="267"/>
            <p14:sldId id="268"/>
            <p14:sldId id="269"/>
          </p14:sldIdLst>
        </p14:section>
        <p14:section name="5.4 Fitting by Gradient Descent" id="{D76C187C-D386-48EA-8FED-8A4B35F0648C}">
          <p14:sldIdLst>
            <p14:sldId id="270"/>
            <p14:sldId id="271"/>
            <p14:sldId id="272"/>
            <p14:sldId id="273"/>
            <p14:sldId id="274"/>
          </p14:sldIdLst>
        </p14:section>
        <p14:section name="5.5 Multiple and Polynomial Features" id="{F7CAFCE2-052A-4F90-9918-75C6F31AC790}">
          <p14:sldIdLst>
            <p14:sldId id="275"/>
          </p14:sldIdLst>
        </p14:section>
        <p14:section name="5.6 Measuring a Regression Model" id="{C393EA4E-E66B-4978-9B46-7C1C6C9E5849}">
          <p14:sldIdLst>
            <p14:sldId id="276"/>
            <p14:sldId id="277"/>
            <p14:sldId id="278"/>
            <p14:sldId id="279"/>
            <p14:sldId id="280"/>
          </p14:sldIdLst>
        </p14:section>
        <p14:section name="Pitfalls" id="{D2F75A4C-11EE-4B7F-8AB9-5DBFB4003BE3}">
          <p14:sldIdLst>
            <p14:sldId id="281"/>
          </p14:sldIdLst>
        </p14:section>
        <p14:section name="Four lenses" id="{28418874-F48E-41FA-AD8A-1840E017F67B}">
          <p14:sldIdLst>
            <p14:sldId id="282"/>
            <p14:sldId id="283"/>
            <p14:sldId id="284"/>
            <p14:sldId id="285"/>
            <p14:sldId id="286"/>
          </p14:sldIdLst>
        </p14:section>
        <p14:section name="Lab" id="{394B9F7F-925B-485C-93C9-B195AE5D8D0D}">
          <p14:sldIdLst>
            <p14:sldId id="287"/>
            <p14:sldId id="288"/>
            <p14:sldId id="289"/>
            <p14:sldId id="290"/>
            <p14:sldId id="291"/>
            <p14:sldId id="292"/>
          </p14:sldIdLst>
        </p14:section>
        <p14:section name="Checkpoint" id="{B337A1B5-E014-417B-A4B6-ED3F0ED161BB}">
          <p14:sldIdLst>
            <p14:sldId id="293"/>
            <p14:sldId id="294"/>
            <p14:sldId id="295"/>
            <p14:sldId id="296"/>
            <p14:sldId id="297"/>
            <p14:sldId id="298"/>
          </p14:sldIdLst>
        </p14:section>
        <p14:section name="Wrap-up" id="{E05F5864-9A99-4618-891B-B688E2121F74}">
          <p14:sldIdLst>
            <p14:sldId id="299"/>
            <p14:sldId id="300"/>
            <p14:sldId id="301"/>
            <p14:sldId id="302"/>
            <p14:sldId id="303"/>
            <p14:sldId id="30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Linear Regression. Part 2 — Linear Models and Generalization. Week 4: Linear regression. Handout pages 38–44.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(dot products, derivatives, gradient descent, maximum likelihood) and Chapter 3 (splits, scaling, baselines).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regression; linear model; weight; bias (intercept); residual; mean squared error; least squares; normal equation; batch, stochastic and mini-batch gradient descent; multiple regression; polynomial features; MAE; RMSE; R2; residual plot.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5.1 (handout p. 39): The least-squares line through five user stories. Each red segment is a residual; the line is the one that makes the sum of their squares smallest.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 feature, setting the derivatives of the MSE with respect to w and b to zero gives a closed-form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always passes through the point of means (x̄, ȳ).</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normal equation is exact and needs no learning rate, but inverting a d × d matrix costs roughly d3 operations, and it fails outright when two features are perfect copies of each other (XX has no inverse). For many features, or data that does not fit in memory, gradient descent is used instead. Differentiating the MSE with the chain rule gives the gradient: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in words: each weight moves in proportion to the average of (error) × (its feature). A feature that is large exactly when the model under-predicts has its weight pushed up.</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5.2 (handout p. 42): Residual plots. Left: residuals scattered evenly around zero, as they should be. Right: a U-shape, meaning the true relationship is curved; adding an x2 feature would remove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Predict a final mark from coursework. The weights are the attraction: “each extra lab submitted is worth 1.8 marks” is something an adviser can say to a student. The danger is reading it causally — students who submit labs differ in many ways from those who do not.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Effort estimation is the textbook regression problem, and the story-point example is real practice. Report RMSE in hours, compare with “hours per point” from last quarter as the baseline, and refit every few sprints: teams change, and so does the slope.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Predict energy use from outdoor temperature and occupancy. The residual plot matters: consumption is U-shaped in temperature (heating when cold, cooling when hot), so a straight line leaves exactly the pattern of Figure 5.2; a squared temperature feature removes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Predict normal outbound traffic per host from time of day and number of users, then treat a large positive residual as suspicious. The regression is not the detector; its residuals are. This is regression used for anomaly detection, and it works only if the training period was clean.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worked example by formula, then by gradient descent, then a real dataset: disease progression in 442 diabetes patients from ten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worked example, by formula.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same line by gradient descent.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A real dataset, against the mean baseline.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x̄ = 1, ȳ = 3; w = ((−1)(−2) + 0 + (1)(2))/(1 + 0 + 1) = 2; b = 3 − 2 = 1. So ŷ = 2x + 1, which passes through all three points.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model’s squared error on the test set is 20% larger than that of simply predicting the training mean: it is worse than the baseline.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ŷ is a weighted sum of its features — here x and x2 — so it is linear in the weights, and least squares applies unchanged.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6 — Logistic Regression. READ: Handout Chapter 5, pages 38–44. THIS WEEK'S LAB: Least squares three ways.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1.xml"/><Relationship Id="rId8" Type="http://schemas.openxmlformats.org/officeDocument/2006/relationships/slide" Target="slide15.xml"/><Relationship Id="rId9" Type="http://schemas.openxmlformats.org/officeDocument/2006/relationships/slide" Target="slide20.xml"/><Relationship Id="rId10" Type="http://schemas.openxmlformats.org/officeDocument/2006/relationships/slide" Target="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17.png"/><Relationship Id="rId5" Type="http://schemas.openxmlformats.org/officeDocument/2006/relationships/image" Target="../media/image18.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38.sv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image" Target="../media/image41.png"/><Relationship Id="rId7" Type="http://schemas.openxmlformats.org/officeDocument/2006/relationships/image" Target="../media/image42.sv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47.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48.svg"/><Relationship Id="rId4" Type="http://schemas.openxmlformats.org/officeDocument/2006/relationships/image" Target="../media/image49.png"/><Relationship Id="rId5" Type="http://schemas.openxmlformats.org/officeDocument/2006/relationships/image" Target="../media/image50.sv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51.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image" Target="../media/image59.png"/><Relationship Id="rId5" Type="http://schemas.openxmlformats.org/officeDocument/2006/relationships/image" Target="../media/image60.svg"/><Relationship Id="rId6" Type="http://schemas.openxmlformats.org/officeDocument/2006/relationships/image" Target="../media/image61.png"/><Relationship Id="rId7" Type="http://schemas.openxmlformats.org/officeDocument/2006/relationships/image" Target="../media/image62.svg"/><Relationship Id="rId8" Type="http://schemas.openxmlformats.org/officeDocument/2006/relationships/image" Target="../media/image63.png"/><Relationship Id="rId9" Type="http://schemas.openxmlformats.org/officeDocument/2006/relationships/image" Target="../media/image64.svg"/><Relationship Id="rId10" Type="http://schemas.openxmlformats.org/officeDocument/2006/relationships/image" Target="../media/image65.png"/><Relationship Id="rId11" Type="http://schemas.openxmlformats.org/officeDocument/2006/relationships/image" Target="../media/image66.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image" Target="../media/image59.png"/><Relationship Id="rId5" Type="http://schemas.openxmlformats.org/officeDocument/2006/relationships/image" Target="../media/image69.svg"/><Relationship Id="rId6" Type="http://schemas.openxmlformats.org/officeDocument/2006/relationships/image" Target="../media/image61.png"/><Relationship Id="rId7" Type="http://schemas.openxmlformats.org/officeDocument/2006/relationships/image" Target="../media/image70.svg"/><Relationship Id="rId8" Type="http://schemas.openxmlformats.org/officeDocument/2006/relationships/image" Target="../media/image63.png"/><Relationship Id="rId9" Type="http://schemas.openxmlformats.org/officeDocument/2006/relationships/image" Target="../media/image71.svg"/><Relationship Id="rId10" Type="http://schemas.openxmlformats.org/officeDocument/2006/relationships/image" Target="../media/image65.png"/><Relationship Id="rId11" Type="http://schemas.openxmlformats.org/officeDocument/2006/relationships/image" Target="../media/image72.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image" Target="../media/image61.png"/><Relationship Id="rId5" Type="http://schemas.openxmlformats.org/officeDocument/2006/relationships/image" Target="../media/image75.svg"/><Relationship Id="rId6" Type="http://schemas.openxmlformats.org/officeDocument/2006/relationships/image" Target="../media/image59.png"/><Relationship Id="rId7" Type="http://schemas.openxmlformats.org/officeDocument/2006/relationships/image" Target="../media/image76.svg"/><Relationship Id="rId8" Type="http://schemas.openxmlformats.org/officeDocument/2006/relationships/image" Target="../media/image63.png"/><Relationship Id="rId9" Type="http://schemas.openxmlformats.org/officeDocument/2006/relationships/image" Target="../media/image77.svg"/><Relationship Id="rId10" Type="http://schemas.openxmlformats.org/officeDocument/2006/relationships/image" Target="../media/image65.png"/><Relationship Id="rId11" Type="http://schemas.openxmlformats.org/officeDocument/2006/relationships/image" Target="../media/image78.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svg"/><Relationship Id="rId4" Type="http://schemas.openxmlformats.org/officeDocument/2006/relationships/image" Target="../media/image63.png"/><Relationship Id="rId5" Type="http://schemas.openxmlformats.org/officeDocument/2006/relationships/image" Target="../media/image81.svg"/><Relationship Id="rId6" Type="http://schemas.openxmlformats.org/officeDocument/2006/relationships/image" Target="../media/image59.png"/><Relationship Id="rId7" Type="http://schemas.openxmlformats.org/officeDocument/2006/relationships/image" Target="../media/image82.svg"/><Relationship Id="rId8" Type="http://schemas.openxmlformats.org/officeDocument/2006/relationships/image" Target="../media/image61.png"/><Relationship Id="rId9" Type="http://schemas.openxmlformats.org/officeDocument/2006/relationships/image" Target="../media/image83.svg"/><Relationship Id="rId10" Type="http://schemas.openxmlformats.org/officeDocument/2006/relationships/image" Target="../media/image65.png"/><Relationship Id="rId11" Type="http://schemas.openxmlformats.org/officeDocument/2006/relationships/image" Target="../media/image84.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6.svg"/><Relationship Id="rId4" Type="http://schemas.openxmlformats.org/officeDocument/2006/relationships/image" Target="../media/image65.png"/><Relationship Id="rId5" Type="http://schemas.openxmlformats.org/officeDocument/2006/relationships/image" Target="../media/image87.svg"/><Relationship Id="rId6" Type="http://schemas.openxmlformats.org/officeDocument/2006/relationships/image" Target="../media/image59.png"/><Relationship Id="rId7" Type="http://schemas.openxmlformats.org/officeDocument/2006/relationships/image" Target="../media/image88.svg"/><Relationship Id="rId8" Type="http://schemas.openxmlformats.org/officeDocument/2006/relationships/image" Target="../media/image61.png"/><Relationship Id="rId9" Type="http://schemas.openxmlformats.org/officeDocument/2006/relationships/image" Target="../media/image89.svg"/><Relationship Id="rId10" Type="http://schemas.openxmlformats.org/officeDocument/2006/relationships/image" Target="../media/image63.png"/><Relationship Id="rId11" Type="http://schemas.openxmlformats.org/officeDocument/2006/relationships/image" Target="../media/image90.svg"/><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8.png"/><Relationship Id="rId3" Type="http://schemas.openxmlformats.org/officeDocument/2006/relationships/image" Target="../media/image99.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0.png"/><Relationship Id="rId3" Type="http://schemas.openxmlformats.org/officeDocument/2006/relationships/image" Target="../media/image101.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8.png"/><Relationship Id="rId3" Type="http://schemas.openxmlformats.org/officeDocument/2006/relationships/image" Target="../media/image102.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0.png"/><Relationship Id="rId3" Type="http://schemas.openxmlformats.org/officeDocument/2006/relationships/image" Target="../media/image103.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8.png"/><Relationship Id="rId3" Type="http://schemas.openxmlformats.org/officeDocument/2006/relationships/image" Target="../media/image104.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0.png"/><Relationship Id="rId3" Type="http://schemas.openxmlformats.org/officeDocument/2006/relationships/image" Target="../media/image105.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6.png"/><Relationship Id="rId3" Type="http://schemas.openxmlformats.org/officeDocument/2006/relationships/image" Target="../media/image107.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8.png"/><Relationship Id="rId3" Type="http://schemas.openxmlformats.org/officeDocument/2006/relationships/image" Target="../media/image109.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8.png"/><Relationship Id="rId3" Type="http://schemas.openxmlformats.org/officeDocument/2006/relationships/image" Target="../media/image110.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8.png"/><Relationship Id="rId3" Type="http://schemas.openxmlformats.org/officeDocument/2006/relationships/image" Target="../media/image111.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8.png"/><Relationship Id="rId3" Type="http://schemas.openxmlformats.org/officeDocument/2006/relationships/image" Target="../media/image112.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05</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Linear Regression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LINEAR MODELS AND GENERALIZATION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5  ·  WEEK 4</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38     </a:t>
            </a:r>
            <a:fld id="{AF38691E-1233-4825-95BA-8BBF40A3CD65}"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845114" y="1755648"/>
            <a:ext cx="173869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845114" y="2029967"/>
            <a:ext cx="1738690"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912988"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912988"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38981"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738981"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9" name="!!dot6">
            <a:extLst>
              <a:ext uri="{C183D7F6-B498-43B3-948B-1728B52AA6E4}">
                <adec:decorative xmlns:adec="http://schemas.microsoft.com/office/drawing/2017/decorative" val="1"/>
              </a:ext>
            </a:extLst>
          </p:cNvPr>
          <p:cNvSpPr/>
          <p:nvPr/>
        </p:nvSpPr>
        <p:spPr>
          <a:xfrm>
            <a:off x="345025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3588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859786"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768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269312"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778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36268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712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722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807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81738"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902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Linear Regression</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3">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3">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3"/>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Machine Learning Workflow and Toolkit</a:t>
            </a:r>
          </a:p>
        </p:txBody>
      </p:sp>
      <p:sp>
        <p:nvSpPr>
          <p:cNvPr id="7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2" name="!!chipUS6">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6">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6"/>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Logistic Regression</a:t>
            </a:r>
          </a:p>
        </p:txBody>
      </p:sp>
      <p:sp>
        <p:nvSpPr>
          <p:cNvPr id="75" name="!!chipUS7">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7">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7"/>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Overfitting, Bias–Variance and Regularisation</a:t>
            </a:r>
          </a:p>
        </p:txBody>
      </p:sp>
      <p:sp>
        <p:nvSpPr>
          <p:cNvPr id="78" name="!!chipUS10">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10">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10"/>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10  </a:t>
            </a:r>
            <a:r>
              <a:rPr sz="1400" b="0" i="0">
                <a:solidFill>
                  <a:srgbClr val="1C252B"/>
                </a:solidFill>
                <a:latin typeface="Segoe UI"/>
              </a:rPr>
              <a:t>Bayesian Learning and Naive Bayes</a:t>
            </a:r>
          </a:p>
        </p:txBody>
      </p:sp>
      <p:sp>
        <p:nvSpPr>
          <p:cNvPr id="81" name="!!chipUS12">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12">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12"/>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12  </a:t>
            </a:r>
            <a:r>
              <a:rPr sz="1400" b="0" i="0">
                <a:solidFill>
                  <a:srgbClr val="1C252B"/>
                </a:solidFill>
                <a:latin typeface="Segoe UI"/>
              </a:rPr>
              <a:t>Support Vector Machines</a:t>
            </a:r>
          </a:p>
        </p:txBody>
      </p:sp>
      <p:sp>
        <p:nvSpPr>
          <p:cNvPr id="84" name="!!chipUS13">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bUS13">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tUS13"/>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Artificial Neural Networks</a:t>
            </a:r>
          </a:p>
        </p:txBody>
      </p:sp>
      <p:sp>
        <p:nvSpPr>
          <p:cNvPr id="8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pfill">
            <a:extLst>
              <a:ext uri="{C183D7F6-B498-43B3-948B-1728B52AA6E4}">
                <adec:decorative xmlns:adec="http://schemas.microsoft.com/office/drawing/2017/decorative" val="1"/>
              </a:ext>
            </a:extLst>
          </p:cNvPr>
          <p:cNvSpPr/>
          <p:nvPr/>
        </p:nvSpPr>
        <p:spPr>
          <a:xfrm>
            <a:off x="0" y="0"/>
            <a:ext cx="49762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38     </a:t>
            </a:r>
            <a:fld id="{E7FEC0DF-28EC-4CEB-964A-D959D9D369B7}"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Write</a:t>
            </a:r>
            <a:r>
              <a:rPr sz="2100" b="0" i="0">
                <a:solidFill>
                  <a:srgbClr val="1C252B"/>
                </a:solidFill>
                <a:latin typeface="Segoe UI"/>
              </a:rPr>
              <a:t> the linear regression model and its mean squared error loss, and </a:t>
            </a:r>
            <a:r>
              <a:rPr sz="2100" b="1" i="0">
                <a:solidFill>
                  <a:srgbClr val="1C252B"/>
                </a:solidFill>
                <a:latin typeface="Segoe UI"/>
              </a:rPr>
              <a:t>interpret</a:t>
            </a:r>
            <a:r>
              <a:rPr sz="2100" b="0" i="0">
                <a:solidFill>
                  <a:srgbClr val="1C252B"/>
                </a:solidFill>
                <a:latin typeface="Segoe UI"/>
              </a:rPr>
              <a:t> each weight.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Fit</a:t>
            </a:r>
            <a:r>
              <a:rPr sz="2100" b="0" i="0">
                <a:solidFill>
                  <a:srgbClr val="1C252B"/>
                </a:solidFill>
                <a:latin typeface="Segoe UI"/>
              </a:rPr>
              <a:t> a simple linear regression by hand with the least-squares formulas, and </a:t>
            </a:r>
            <a:r>
              <a:rPr sz="2100" b="1" i="0">
                <a:solidFill>
                  <a:srgbClr val="1C252B"/>
                </a:solidFill>
                <a:latin typeface="Segoe UI"/>
              </a:rPr>
              <a:t>state</a:t>
            </a:r>
            <a:r>
              <a:rPr sz="2100" b="0" i="0">
                <a:solidFill>
                  <a:srgbClr val="1C252B"/>
                </a:solidFill>
                <a:latin typeface="Segoe UI"/>
              </a:rPr>
              <a:t> the normal equation for many features.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Derive</a:t>
            </a:r>
            <a:r>
              <a:rPr sz="2100" b="0" i="0">
                <a:solidFill>
                  <a:srgbClr val="1C252B"/>
                </a:solidFill>
                <a:latin typeface="Segoe UI"/>
              </a:rPr>
              <a:t> the gradient descent update for linear regression and </a:t>
            </a:r>
            <a:r>
              <a:rPr sz="2100" b="1" i="0">
                <a:solidFill>
                  <a:srgbClr val="1C252B"/>
                </a:solidFill>
                <a:latin typeface="Segoe UI"/>
              </a:rPr>
              <a:t>perform</a:t>
            </a:r>
            <a:r>
              <a:rPr sz="2100" b="0" i="0">
                <a:solidFill>
                  <a:srgbClr val="1C252B"/>
                </a:solidFill>
                <a:latin typeface="Segoe UI"/>
              </a:rPr>
              <a:t> a step by hand.</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08829"/>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Extend</a:t>
            </a:r>
            <a:r>
              <a:rPr sz="2100" b="0" i="0">
                <a:solidFill>
                  <a:srgbClr val="1C252B"/>
                </a:solidFill>
                <a:latin typeface="Segoe UI"/>
              </a:rPr>
              <a:t> the model with multiple and polynomial features.</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Evaluate</a:t>
            </a:r>
            <a:r>
              <a:rPr sz="2100" b="0" i="0">
                <a:solidFill>
                  <a:srgbClr val="1C252B"/>
                </a:solidFill>
                <a:latin typeface="Segoe UI"/>
              </a:rPr>
              <a:t> a regression model with MAE, RMSE and </a:t>
            </a:r>
            <a:r>
              <a:rPr sz="2100" b="0" i="1">
                <a:solidFill>
                  <a:srgbClr val="1C252B"/>
                </a:solidFill>
                <a:latin typeface="Cambria"/>
              </a:rPr>
              <a:t>R</a:t>
            </a:r>
            <a:r>
              <a:rPr sz="2100" b="0" i="0" baseline="30000">
                <a:solidFill>
                  <a:srgbClr val="1C252B"/>
                </a:solidFill>
                <a:latin typeface="Cambria"/>
              </a:rPr>
              <a:t>2</a:t>
            </a:r>
            <a:r>
              <a:rPr sz="2100" b="0" i="0">
                <a:solidFill>
                  <a:srgbClr val="1C252B"/>
                </a:solidFill>
                <a:latin typeface="Segoe UI"/>
              </a:rPr>
              <a:t> against a baseline, and </a:t>
            </a:r>
            <a:r>
              <a:rPr sz="2100" b="1" i="0">
                <a:solidFill>
                  <a:srgbClr val="1C252B"/>
                </a:solidFill>
                <a:latin typeface="Segoe UI"/>
              </a:rPr>
              <a:t>read</a:t>
            </a:r>
            <a:r>
              <a:rPr sz="2100" b="0" i="0">
                <a:solidFill>
                  <a:srgbClr val="1C252B"/>
                </a:solidFill>
                <a:latin typeface="Segoe UI"/>
              </a:rPr>
              <a:t> a residual plot.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4643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38     </a:t>
            </a:r>
            <a:fld id="{34879799-D264-4B7B-ADE5-C41D447802C3}" type="slidenum">
              <a:rPr lang="en-GB" sz="1000">
                <a:solidFill>
                  <a:srgbClr val="8795A1"/>
                </a:solidFill>
                <a:latin typeface="Segoe UI"/>
              </a:rPr>
              <a:t>4</a:t>
            </a:fld>
          </a:p>
        </p:txBody>
      </p:sp>
      <p:sp>
        <p:nvSpPr>
          <p:cNvPr id="7" name="!!term-regression">
            <a:extLst>
              <a:ext uri="{C183D7F6-B498-43B3-948B-1728B52AA6E4}">
                <adec:decorative xmlns:adec="http://schemas.microsoft.com/office/drawing/2017/decorative" val="1"/>
              </a:ext>
            </a:extLst>
          </p:cNvPr>
          <p:cNvSpPr/>
          <p:nvPr/>
        </p:nvSpPr>
        <p:spPr>
          <a:xfrm>
            <a:off x="658368" y="1847088"/>
            <a:ext cx="13866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regressi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regression"/>
          <p:cNvSpPr txBox="1"/>
          <p:nvPr/>
        </p:nvSpPr>
        <p:spPr>
          <a:xfrm>
            <a:off x="950976" y="1962911"/>
            <a:ext cx="120376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regression</a:t>
            </a:r>
          </a:p>
        </p:txBody>
      </p:sp>
      <p:sp>
        <p:nvSpPr>
          <p:cNvPr id="10" name="!!term-linear model">
            <a:extLst>
              <a:ext uri="{C183D7F6-B498-43B3-948B-1728B52AA6E4}">
                <adec:decorative xmlns:adec="http://schemas.microsoft.com/office/drawing/2017/decorative" val="1"/>
              </a:ext>
            </a:extLst>
          </p:cNvPr>
          <p:cNvSpPr/>
          <p:nvPr/>
        </p:nvSpPr>
        <p:spPr>
          <a:xfrm>
            <a:off x="2191318" y="1847088"/>
            <a:ext cx="15799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linear model">
            <a:extLst>
              <a:ext uri="{C183D7F6-B498-43B3-948B-1728B52AA6E4}">
                <adec:decorative xmlns:adec="http://schemas.microsoft.com/office/drawing/2017/decorative" val="1"/>
              </a:ext>
            </a:extLst>
          </p:cNvPr>
          <p:cNvSpPr/>
          <p:nvPr/>
        </p:nvSpPr>
        <p:spPr>
          <a:xfrm>
            <a:off x="231933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linear model"/>
          <p:cNvSpPr txBox="1"/>
          <p:nvPr/>
        </p:nvSpPr>
        <p:spPr>
          <a:xfrm>
            <a:off x="2483926" y="1962911"/>
            <a:ext cx="139702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linear model</a:t>
            </a:r>
          </a:p>
        </p:txBody>
      </p:sp>
      <p:sp>
        <p:nvSpPr>
          <p:cNvPr id="13" name="!!term-weight">
            <a:extLst>
              <a:ext uri="{C183D7F6-B498-43B3-948B-1728B52AA6E4}">
                <adec:decorative xmlns:adec="http://schemas.microsoft.com/office/drawing/2017/decorative" val="1"/>
              </a:ext>
            </a:extLst>
          </p:cNvPr>
          <p:cNvSpPr/>
          <p:nvPr/>
        </p:nvSpPr>
        <p:spPr>
          <a:xfrm>
            <a:off x="3917522" y="1847088"/>
            <a:ext cx="10569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weight">
            <a:extLst>
              <a:ext uri="{C183D7F6-B498-43B3-948B-1728B52AA6E4}">
                <adec:decorative xmlns:adec="http://schemas.microsoft.com/office/drawing/2017/decorative" val="1"/>
              </a:ext>
            </a:extLst>
          </p:cNvPr>
          <p:cNvSpPr/>
          <p:nvPr/>
        </p:nvSpPr>
        <p:spPr>
          <a:xfrm>
            <a:off x="404553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weight"/>
          <p:cNvSpPr txBox="1"/>
          <p:nvPr/>
        </p:nvSpPr>
        <p:spPr>
          <a:xfrm>
            <a:off x="4210130" y="1962911"/>
            <a:ext cx="87407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weight</a:t>
            </a:r>
          </a:p>
        </p:txBody>
      </p:sp>
      <p:sp>
        <p:nvSpPr>
          <p:cNvPr id="16" name="!!term-bias (intercep">
            <a:extLst>
              <a:ext uri="{C183D7F6-B498-43B3-948B-1728B52AA6E4}">
                <adec:decorative xmlns:adec="http://schemas.microsoft.com/office/drawing/2017/decorative" val="1"/>
              </a:ext>
            </a:extLst>
          </p:cNvPr>
          <p:cNvSpPr/>
          <p:nvPr/>
        </p:nvSpPr>
        <p:spPr>
          <a:xfrm>
            <a:off x="5120783" y="1847088"/>
            <a:ext cx="18007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bias (intercep">
            <a:extLst>
              <a:ext uri="{C183D7F6-B498-43B3-948B-1728B52AA6E4}">
                <adec:decorative xmlns:adec="http://schemas.microsoft.com/office/drawing/2017/decorative" val="1"/>
              </a:ext>
            </a:extLst>
          </p:cNvPr>
          <p:cNvSpPr/>
          <p:nvPr/>
        </p:nvSpPr>
        <p:spPr>
          <a:xfrm>
            <a:off x="524879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bias (intercep"/>
          <p:cNvSpPr txBox="1"/>
          <p:nvPr/>
        </p:nvSpPr>
        <p:spPr>
          <a:xfrm>
            <a:off x="5413391" y="1962911"/>
            <a:ext cx="161789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bias (intercept)</a:t>
            </a:r>
          </a:p>
        </p:txBody>
      </p:sp>
      <p:sp>
        <p:nvSpPr>
          <p:cNvPr id="19" name="!!term-residual">
            <a:extLst>
              <a:ext uri="{C183D7F6-B498-43B3-948B-1728B52AA6E4}">
                <adec:decorative xmlns:adec="http://schemas.microsoft.com/office/drawing/2017/decorative" val="1"/>
              </a:ext>
            </a:extLst>
          </p:cNvPr>
          <p:cNvSpPr/>
          <p:nvPr/>
        </p:nvSpPr>
        <p:spPr>
          <a:xfrm>
            <a:off x="7067863" y="1847088"/>
            <a:ext cx="11524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esidual">
            <a:extLst>
              <a:ext uri="{C183D7F6-B498-43B3-948B-1728B52AA6E4}">
                <adec:decorative xmlns:adec="http://schemas.microsoft.com/office/drawing/2017/decorative" val="1"/>
              </a:ext>
            </a:extLst>
          </p:cNvPr>
          <p:cNvSpPr/>
          <p:nvPr/>
        </p:nvSpPr>
        <p:spPr>
          <a:xfrm>
            <a:off x="719587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esidual"/>
          <p:cNvSpPr txBox="1"/>
          <p:nvPr/>
        </p:nvSpPr>
        <p:spPr>
          <a:xfrm>
            <a:off x="7360471" y="1962911"/>
            <a:ext cx="96959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residual</a:t>
            </a:r>
          </a:p>
        </p:txBody>
      </p:sp>
      <p:sp>
        <p:nvSpPr>
          <p:cNvPr id="22" name="!!term-mean squared e">
            <a:extLst>
              <a:ext uri="{C183D7F6-B498-43B3-948B-1728B52AA6E4}">
                <adec:decorative xmlns:adec="http://schemas.microsoft.com/office/drawing/2017/decorative" val="1"/>
              </a:ext>
            </a:extLst>
          </p:cNvPr>
          <p:cNvSpPr/>
          <p:nvPr/>
        </p:nvSpPr>
        <p:spPr>
          <a:xfrm>
            <a:off x="8366647" y="1847088"/>
            <a:ext cx="22436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ean squared e">
            <a:extLst>
              <a:ext uri="{C183D7F6-B498-43B3-948B-1728B52AA6E4}">
                <adec:decorative xmlns:adec="http://schemas.microsoft.com/office/drawing/2017/decorative" val="1"/>
              </a:ext>
            </a:extLst>
          </p:cNvPr>
          <p:cNvSpPr/>
          <p:nvPr/>
        </p:nvSpPr>
        <p:spPr>
          <a:xfrm>
            <a:off x="849466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ean squared e"/>
          <p:cNvSpPr txBox="1"/>
          <p:nvPr/>
        </p:nvSpPr>
        <p:spPr>
          <a:xfrm>
            <a:off x="8659255" y="1962911"/>
            <a:ext cx="206080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mean squared error</a:t>
            </a:r>
          </a:p>
        </p:txBody>
      </p:sp>
      <p:sp>
        <p:nvSpPr>
          <p:cNvPr id="25" name="!!term-least squares">
            <a:extLst>
              <a:ext uri="{C183D7F6-B498-43B3-948B-1728B52AA6E4}">
                <adec:decorative xmlns:adec="http://schemas.microsoft.com/office/drawing/2017/decorative" val="1"/>
              </a:ext>
            </a:extLst>
          </p:cNvPr>
          <p:cNvSpPr/>
          <p:nvPr/>
        </p:nvSpPr>
        <p:spPr>
          <a:xfrm>
            <a:off x="658368" y="2468880"/>
            <a:ext cx="16190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least squares">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least squares"/>
          <p:cNvSpPr txBox="1"/>
          <p:nvPr/>
        </p:nvSpPr>
        <p:spPr>
          <a:xfrm>
            <a:off x="950976" y="2584704"/>
            <a:ext cx="143615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least squares</a:t>
            </a:r>
          </a:p>
        </p:txBody>
      </p:sp>
      <p:sp>
        <p:nvSpPr>
          <p:cNvPr id="28" name="!!term-normal equatio">
            <a:extLst>
              <a:ext uri="{C183D7F6-B498-43B3-948B-1728B52AA6E4}">
                <adec:decorative xmlns:adec="http://schemas.microsoft.com/office/drawing/2017/decorative" val="1"/>
              </a:ext>
            </a:extLst>
          </p:cNvPr>
          <p:cNvSpPr/>
          <p:nvPr/>
        </p:nvSpPr>
        <p:spPr>
          <a:xfrm>
            <a:off x="2423703" y="2468880"/>
            <a:ext cx="19531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normal equatio">
            <a:extLst>
              <a:ext uri="{C183D7F6-B498-43B3-948B-1728B52AA6E4}">
                <adec:decorative xmlns:adec="http://schemas.microsoft.com/office/drawing/2017/decorative" val="1"/>
              </a:ext>
            </a:extLst>
          </p:cNvPr>
          <p:cNvSpPr/>
          <p:nvPr/>
        </p:nvSpPr>
        <p:spPr>
          <a:xfrm>
            <a:off x="255171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normal equatio"/>
          <p:cNvSpPr txBox="1"/>
          <p:nvPr/>
        </p:nvSpPr>
        <p:spPr>
          <a:xfrm>
            <a:off x="2716311" y="2584704"/>
            <a:ext cx="177029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normal equation</a:t>
            </a:r>
          </a:p>
        </p:txBody>
      </p:sp>
      <p:sp>
        <p:nvSpPr>
          <p:cNvPr id="31" name="!!term-batch, stochas">
            <a:extLst>
              <a:ext uri="{C183D7F6-B498-43B3-948B-1728B52AA6E4}">
                <adec:decorative xmlns:adec="http://schemas.microsoft.com/office/drawing/2017/decorative" val="1"/>
              </a:ext>
            </a:extLst>
          </p:cNvPr>
          <p:cNvSpPr/>
          <p:nvPr/>
        </p:nvSpPr>
        <p:spPr>
          <a:xfrm>
            <a:off x="4523183" y="2468880"/>
            <a:ext cx="49931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batch, stochas">
            <a:extLst>
              <a:ext uri="{C183D7F6-B498-43B3-948B-1728B52AA6E4}">
                <adec:decorative xmlns:adec="http://schemas.microsoft.com/office/drawing/2017/decorative" val="1"/>
              </a:ext>
            </a:extLst>
          </p:cNvPr>
          <p:cNvSpPr/>
          <p:nvPr/>
        </p:nvSpPr>
        <p:spPr>
          <a:xfrm>
            <a:off x="465119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batch, stochas"/>
          <p:cNvSpPr txBox="1"/>
          <p:nvPr/>
        </p:nvSpPr>
        <p:spPr>
          <a:xfrm>
            <a:off x="4815791" y="2584704"/>
            <a:ext cx="481025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batch, stochastic and mini-batch gradient descent</a:t>
            </a:r>
          </a:p>
        </p:txBody>
      </p:sp>
      <p:sp>
        <p:nvSpPr>
          <p:cNvPr id="34" name="!!term-multiple regre">
            <a:extLst>
              <a:ext uri="{C183D7F6-B498-43B3-948B-1728B52AA6E4}">
                <adec:decorative xmlns:adec="http://schemas.microsoft.com/office/drawing/2017/decorative" val="1"/>
              </a:ext>
            </a:extLst>
          </p:cNvPr>
          <p:cNvSpPr/>
          <p:nvPr/>
        </p:nvSpPr>
        <p:spPr>
          <a:xfrm>
            <a:off x="658368" y="3090672"/>
            <a:ext cx="21902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multiple regre">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multiple regre"/>
          <p:cNvSpPr txBox="1"/>
          <p:nvPr/>
        </p:nvSpPr>
        <p:spPr>
          <a:xfrm>
            <a:off x="950976" y="3206496"/>
            <a:ext cx="200732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multiple regression</a:t>
            </a:r>
          </a:p>
        </p:txBody>
      </p:sp>
      <p:sp>
        <p:nvSpPr>
          <p:cNvPr id="37" name="!!term-polynomial fea">
            <a:extLst>
              <a:ext uri="{C183D7F6-B498-43B3-948B-1728B52AA6E4}">
                <adec:decorative xmlns:adec="http://schemas.microsoft.com/office/drawing/2017/decorative" val="1"/>
              </a:ext>
            </a:extLst>
          </p:cNvPr>
          <p:cNvSpPr/>
          <p:nvPr/>
        </p:nvSpPr>
        <p:spPr>
          <a:xfrm>
            <a:off x="2994880" y="3090672"/>
            <a:ext cx="22472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olynomial fea">
            <a:extLst>
              <a:ext uri="{C183D7F6-B498-43B3-948B-1728B52AA6E4}">
                <adec:decorative xmlns:adec="http://schemas.microsoft.com/office/drawing/2017/decorative" val="1"/>
              </a:ext>
            </a:extLst>
          </p:cNvPr>
          <p:cNvSpPr/>
          <p:nvPr/>
        </p:nvSpPr>
        <p:spPr>
          <a:xfrm>
            <a:off x="312289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olynomial fea"/>
          <p:cNvSpPr txBox="1"/>
          <p:nvPr/>
        </p:nvSpPr>
        <p:spPr>
          <a:xfrm>
            <a:off x="3287488" y="3206496"/>
            <a:ext cx="20643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polynomial features</a:t>
            </a:r>
          </a:p>
        </p:txBody>
      </p:sp>
      <p:sp>
        <p:nvSpPr>
          <p:cNvPr id="40" name="!!term-MAE">
            <a:extLst>
              <a:ext uri="{C183D7F6-B498-43B3-948B-1728B52AA6E4}">
                <adec:decorative xmlns:adec="http://schemas.microsoft.com/office/drawing/2017/decorative" val="1"/>
              </a:ext>
            </a:extLst>
          </p:cNvPr>
          <p:cNvSpPr/>
          <p:nvPr/>
        </p:nvSpPr>
        <p:spPr>
          <a:xfrm>
            <a:off x="5388432" y="3090672"/>
            <a:ext cx="8635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MAE">
            <a:extLst>
              <a:ext uri="{C183D7F6-B498-43B3-948B-1728B52AA6E4}">
                <adec:decorative xmlns:adec="http://schemas.microsoft.com/office/drawing/2017/decorative" val="1"/>
              </a:ext>
            </a:extLst>
          </p:cNvPr>
          <p:cNvSpPr/>
          <p:nvPr/>
        </p:nvSpPr>
        <p:spPr>
          <a:xfrm>
            <a:off x="551644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MAE"/>
          <p:cNvSpPr txBox="1"/>
          <p:nvPr/>
        </p:nvSpPr>
        <p:spPr>
          <a:xfrm>
            <a:off x="5681040" y="3206496"/>
            <a:ext cx="68071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MAE</a:t>
            </a:r>
          </a:p>
        </p:txBody>
      </p:sp>
      <p:sp>
        <p:nvSpPr>
          <p:cNvPr id="43" name="!!term-RMSE">
            <a:extLst>
              <a:ext uri="{C183D7F6-B498-43B3-948B-1728B52AA6E4}">
                <adec:decorative xmlns:adec="http://schemas.microsoft.com/office/drawing/2017/decorative" val="1"/>
              </a:ext>
            </a:extLst>
          </p:cNvPr>
          <p:cNvSpPr/>
          <p:nvPr/>
        </p:nvSpPr>
        <p:spPr>
          <a:xfrm>
            <a:off x="6398332" y="3090672"/>
            <a:ext cx="9639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RMSE">
            <a:extLst>
              <a:ext uri="{C183D7F6-B498-43B3-948B-1728B52AA6E4}">
                <adec:decorative xmlns:adec="http://schemas.microsoft.com/office/drawing/2017/decorative" val="1"/>
              </a:ext>
            </a:extLst>
          </p:cNvPr>
          <p:cNvSpPr/>
          <p:nvPr/>
        </p:nvSpPr>
        <p:spPr>
          <a:xfrm>
            <a:off x="652634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RMSE"/>
          <p:cNvSpPr txBox="1"/>
          <p:nvPr/>
        </p:nvSpPr>
        <p:spPr>
          <a:xfrm>
            <a:off x="6690940" y="3206496"/>
            <a:ext cx="78103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RMSE</a:t>
            </a:r>
          </a:p>
        </p:txBody>
      </p:sp>
      <p:sp>
        <p:nvSpPr>
          <p:cNvPr id="46" name="!!term-R2">
            <a:extLst>
              <a:ext uri="{C183D7F6-B498-43B3-948B-1728B52AA6E4}">
                <adec:decorative xmlns:adec="http://schemas.microsoft.com/office/drawing/2017/decorative" val="1"/>
              </a:ext>
            </a:extLst>
          </p:cNvPr>
          <p:cNvSpPr/>
          <p:nvPr/>
        </p:nvSpPr>
        <p:spPr>
          <a:xfrm>
            <a:off x="7508548" y="3090672"/>
            <a:ext cx="6745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R2">
            <a:extLst>
              <a:ext uri="{C183D7F6-B498-43B3-948B-1728B52AA6E4}">
                <adec:decorative xmlns:adec="http://schemas.microsoft.com/office/drawing/2017/decorative" val="1"/>
              </a:ext>
            </a:extLst>
          </p:cNvPr>
          <p:cNvSpPr/>
          <p:nvPr/>
        </p:nvSpPr>
        <p:spPr>
          <a:xfrm>
            <a:off x="763656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R2"/>
          <p:cNvSpPr txBox="1"/>
          <p:nvPr/>
        </p:nvSpPr>
        <p:spPr>
          <a:xfrm>
            <a:off x="7801156" y="3206496"/>
            <a:ext cx="49169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R2</a:t>
            </a:r>
          </a:p>
        </p:txBody>
      </p:sp>
      <p:sp>
        <p:nvSpPr>
          <p:cNvPr id="49" name="!!term-residual plot">
            <a:extLst>
              <a:ext uri="{C183D7F6-B498-43B3-948B-1728B52AA6E4}">
                <adec:decorative xmlns:adec="http://schemas.microsoft.com/office/drawing/2017/decorative" val="1"/>
              </a:ext>
            </a:extLst>
          </p:cNvPr>
          <p:cNvSpPr/>
          <p:nvPr/>
        </p:nvSpPr>
        <p:spPr>
          <a:xfrm>
            <a:off x="8329423" y="3090672"/>
            <a:ext cx="15730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residual plot">
            <a:extLst>
              <a:ext uri="{C183D7F6-B498-43B3-948B-1728B52AA6E4}">
                <adec:decorative xmlns:adec="http://schemas.microsoft.com/office/drawing/2017/decorative" val="1"/>
              </a:ext>
            </a:extLst>
          </p:cNvPr>
          <p:cNvSpPr/>
          <p:nvPr/>
        </p:nvSpPr>
        <p:spPr>
          <a:xfrm>
            <a:off x="845743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residual plot"/>
          <p:cNvSpPr txBox="1"/>
          <p:nvPr/>
        </p:nvSpPr>
        <p:spPr>
          <a:xfrm>
            <a:off x="8622031" y="3206496"/>
            <a:ext cx="139013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residual plot</a:t>
            </a:r>
          </a:p>
        </p:txBody>
      </p:sp>
      <p:sp>
        <p:nvSpPr>
          <p:cNvPr id="52"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pfill">
            <a:extLst>
              <a:ext uri="{C183D7F6-B498-43B3-948B-1728B52AA6E4}">
                <adec:decorative xmlns:adec="http://schemas.microsoft.com/office/drawing/2017/decorative" val="1"/>
              </a:ext>
            </a:extLst>
          </p:cNvPr>
          <p:cNvSpPr/>
          <p:nvPr/>
        </p:nvSpPr>
        <p:spPr>
          <a:xfrm>
            <a:off x="0" y="0"/>
            <a:ext cx="99524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38–44     </a:t>
            </a:r>
            <a:fld id="{F1BED389-95D9-41C8-9D0F-2AB485CB6D2E}" type="slidenum">
              <a:rPr lang="en-GB" sz="1000">
                <a:solidFill>
                  <a:srgbClr val="8795A1"/>
                </a:solidFill>
                <a:latin typeface="Segoe UI"/>
              </a:rPr>
              <a:t>5</a:t>
            </a:fld>
          </a:p>
        </p:txBody>
      </p:sp>
      <p:sp>
        <p:nvSpPr>
          <p:cNvPr id="7" name="!!ag0" descr="Go to section 5.1 The Model">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Model</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38  ›</a:t>
            </a:r>
          </a:p>
        </p:txBody>
      </p:sp>
      <p:sp>
        <p:nvSpPr>
          <p:cNvPr id="12" name="!!ag1" descr="Go to section 5.2 The Loss: Mean Squared Error">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Loss: Mean Squared Error</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38  ›</a:t>
            </a:r>
          </a:p>
        </p:txBody>
      </p:sp>
      <p:sp>
        <p:nvSpPr>
          <p:cNvPr id="17" name="!!ag2" descr="Go to section 5.3 Least Squares by Formula">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Least Squares by Formula</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39  ›</a:t>
            </a:r>
          </a:p>
        </p:txBody>
      </p:sp>
      <p:sp>
        <p:nvSpPr>
          <p:cNvPr id="22" name="!!ag3" descr="Go to section 5.4 Fitting by Gradient Descent">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Fitting by Gradient Descent</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40  ›</a:t>
            </a:r>
          </a:p>
        </p:txBody>
      </p:sp>
      <p:sp>
        <p:nvSpPr>
          <p:cNvPr id="27" name="!!ag4" descr="Go to section 5.5 Multiple and Polynomial Feature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Multiple and Polynomial Features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41  ›</a:t>
            </a:r>
          </a:p>
        </p:txBody>
      </p:sp>
      <p:sp>
        <p:nvSpPr>
          <p:cNvPr id="32" name="!!ag5" descr="Go to section 5.6 Measuring a Regression Model">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Measuring a Regression Model</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41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24405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Model</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§5.1  ·  Handout p. 38     </a:t>
            </a:r>
            <a:fld id="{49E5EC24-5D00-457C-9F6B-E46E55B94AFD}"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42871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Linear regression predicts a number as a weighted sum of the features plus a constant:</a:t>
            </a:r>
          </a:p>
        </p:txBody>
      </p:sp>
      <p:pic>
        <p:nvPicPr>
          <p:cNvPr id="9" name="body-1" descr="\hat{y} = w_1 x_1 + w_2 x_2 + \dots + w_d x_d + b = \mathbf{w}\cdot\mathbf{x} + 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5" y="2643276"/>
            <a:ext cx="10417759" cy="375818"/>
          </a:xfrm>
          <a:prstGeom prst="rect">
            <a:avLst/>
          </a:prstGeom>
        </p:spPr>
      </p:pic>
      <p:sp>
        <p:nvSpPr>
          <p:cNvPr id="10" name="body-2"/>
          <p:cNvSpPr txBox="1"/>
          <p:nvPr/>
        </p:nvSpPr>
        <p:spPr>
          <a:xfrm>
            <a:off x="1042415" y="3172764"/>
            <a:ext cx="1041775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With one feature this is the straight line </a:t>
            </a:r>
            <a:r>
              <a:rPr sz="2200" b="0" i="1">
                <a:solidFill>
                  <a:srgbClr val="1C252B"/>
                </a:solidFill>
                <a:latin typeface="Cambria"/>
              </a:rPr>
              <a:t>ŷ</a:t>
            </a:r>
            <a:r>
              <a:rPr sz="2200" b="0" i="0">
                <a:solidFill>
                  <a:srgbClr val="1C252B"/>
                </a:solidFill>
                <a:latin typeface="Cambria"/>
              </a:rPr>
              <a:t> = </a:t>
            </a:r>
            <a:r>
              <a:rPr sz="2200" b="0" i="1">
                <a:solidFill>
                  <a:srgbClr val="1C252B"/>
                </a:solidFill>
                <a:latin typeface="Cambria"/>
              </a:rPr>
              <a:t>wx</a:t>
            </a:r>
            <a:r>
              <a:rPr sz="2200" b="0" i="0">
                <a:solidFill>
                  <a:srgbClr val="1C252B"/>
                </a:solidFill>
                <a:latin typeface="Cambria"/>
              </a:rPr>
              <a:t> + </a:t>
            </a:r>
            <a:r>
              <a:rPr sz="2200" b="0" i="1">
                <a:solidFill>
                  <a:srgbClr val="1C252B"/>
                </a:solidFill>
                <a:latin typeface="Cambria"/>
              </a:rPr>
              <a:t>b</a:t>
            </a:r>
            <a:r>
              <a:rPr sz="2200" b="0" i="0">
                <a:solidFill>
                  <a:srgbClr val="1C252B"/>
                </a:solidFill>
                <a:latin typeface="Segoe UI"/>
              </a:rPr>
              <a:t> of school algebra. The </a:t>
            </a:r>
            <a:r>
              <a:rPr sz="2200" b="1" i="0">
                <a:solidFill>
                  <a:srgbClr val="1A5276"/>
                </a:solidFill>
                <a:latin typeface="Segoe UI"/>
              </a:rPr>
              <a:t>weight</a:t>
            </a:r>
            <a:r>
              <a:rPr sz="2200" b="0" i="0">
                <a:solidFill>
                  <a:srgbClr val="1C252B"/>
                </a:solidFill>
                <a:latin typeface="Segoe UI"/>
              </a:rPr>
              <a:t> </a:t>
            </a:r>
            <a:r>
              <a:rPr sz="2200" b="0" i="1">
                <a:solidFill>
                  <a:srgbClr val="1C252B"/>
                </a:solidFill>
                <a:latin typeface="Cambria"/>
              </a:rPr>
              <a:t>w</a:t>
            </a:r>
            <a:r>
              <a:rPr sz="2200" b="0" i="1" baseline="-25000">
                <a:solidFill>
                  <a:srgbClr val="1C252B"/>
                </a:solidFill>
                <a:latin typeface="Cambria"/>
              </a:rPr>
              <a:t>j</a:t>
            </a:r>
            <a:r>
              <a:rPr sz="2200" b="0" i="0">
                <a:solidFill>
                  <a:srgbClr val="1C252B"/>
                </a:solidFill>
                <a:latin typeface="Segoe UI"/>
              </a:rPr>
              <a:t> is the change in the prediction for a one-unit increase in feature </a:t>
            </a:r>
            <a:r>
              <a:rPr sz="2200" b="0" i="1">
                <a:solidFill>
                  <a:srgbClr val="1C252B"/>
                </a:solidFill>
                <a:latin typeface="Cambria"/>
              </a:rPr>
              <a:t>j</a:t>
            </a:r>
            <a:r>
              <a:rPr sz="2200" b="0" i="0">
                <a:solidFill>
                  <a:srgbClr val="1C252B"/>
                </a:solidFill>
                <a:latin typeface="Segoe UI"/>
              </a:rPr>
              <a:t> with the other features held fixed; the </a:t>
            </a:r>
            <a:r>
              <a:rPr sz="2200" b="1" i="0">
                <a:solidFill>
                  <a:srgbClr val="1A5276"/>
                </a:solidFill>
                <a:latin typeface="Segoe UI"/>
              </a:rPr>
              <a:t>bias</a:t>
            </a:r>
            <a:r>
              <a:rPr sz="2200" b="0" i="0">
                <a:solidFill>
                  <a:srgbClr val="1C252B"/>
                </a:solidFill>
                <a:latin typeface="Segoe UI"/>
              </a:rPr>
              <a:t> (or intercept) </a:t>
            </a:r>
            <a:r>
              <a:rPr sz="2200" b="0" i="1">
                <a:solidFill>
                  <a:srgbClr val="1C252B"/>
                </a:solidFill>
                <a:latin typeface="Cambria"/>
              </a:rPr>
              <a:t>b</a:t>
            </a:r>
            <a:r>
              <a:rPr sz="2200" b="0" i="0">
                <a:solidFill>
                  <a:srgbClr val="1C252B"/>
                </a:solidFill>
                <a:latin typeface="Segoe UI"/>
              </a:rPr>
              <a:t> is the prediction when every feature is zero.</a:t>
            </a:r>
          </a:p>
        </p:txBody>
      </p:sp>
      <p:sp>
        <p:nvSpPr>
          <p:cNvPr id="11" name="body-3"/>
          <p:cNvSpPr txBox="1"/>
          <p:nvPr/>
        </p:nvSpPr>
        <p:spPr>
          <a:xfrm>
            <a:off x="1042415" y="4721199"/>
            <a:ext cx="1041775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Linear regression is the first model in the course because every later model either extends it (logistic regression, the perceptron, the SVM, a neural network’s output layer) or is compared against it. It is also, very often, the right answer: fast, stable, and explainable in one sentence per feature.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4928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Loss: Mean Squared Error</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5.2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5.1   The Model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5.2   The Loss: Mean Squared Error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5.3   Least Squares by Formula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5.4   Fitting by Gradient Descent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5.5   Multiple and Polynomial Features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5.6   Measuring a Regression Model</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§5.2     </a:t>
            </a:r>
            <a:fld id="{40E565C6-56A2-49DD-B7E8-DA91CBE98178}"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Residual and Mean Squared Error</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§5.2  ·  Handout p. 38     </a:t>
            </a:r>
            <a:fld id="{A9867FE1-9BCD-4EBA-AE80-35A819BC21F0}"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39093"/>
          </a:xfrm>
          <a:prstGeom prst="roundRect">
            <a:avLst>
              <a:gd name="adj" fmla="val 244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3909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residual</a:t>
            </a:r>
            <a:r>
              <a:rPr sz="2300" b="0" i="0">
                <a:solidFill>
                  <a:srgbClr val="1C252B"/>
                </a:solidFill>
                <a:latin typeface="Segoe UI"/>
              </a:rPr>
              <a:t> of example </a:t>
            </a:r>
            <a:r>
              <a:rPr sz="2300" b="0" i="1">
                <a:solidFill>
                  <a:srgbClr val="1C252B"/>
                </a:solidFill>
                <a:latin typeface="Cambria"/>
              </a:rPr>
              <a:t>i</a:t>
            </a:r>
            <a:r>
              <a:rPr sz="2300" b="0" i="0">
                <a:solidFill>
                  <a:srgbClr val="1C252B"/>
                </a:solidFill>
                <a:latin typeface="Segoe UI"/>
              </a:rPr>
              <a:t> is </a:t>
            </a:r>
            <a:r>
              <a:rPr sz="2300" b="0" i="1">
                <a:solidFill>
                  <a:srgbClr val="1C252B"/>
                </a:solidFill>
                <a:latin typeface="Cambria"/>
              </a:rPr>
              <a:t>e</a:t>
            </a:r>
            <a:r>
              <a:rPr sz="2300" b="0" i="1" baseline="-25000">
                <a:solidFill>
                  <a:srgbClr val="1C252B"/>
                </a:solidFill>
                <a:latin typeface="Cambria"/>
              </a:rPr>
              <a:t>i</a:t>
            </a:r>
            <a:r>
              <a:rPr sz="2300" b="0" i="0">
                <a:solidFill>
                  <a:srgbClr val="1C252B"/>
                </a:solidFill>
                <a:latin typeface="Cambria"/>
              </a:rPr>
              <a:t> = </a:t>
            </a:r>
            <a:r>
              <a:rPr sz="2300" b="0" i="1">
                <a:solidFill>
                  <a:srgbClr val="1C252B"/>
                </a:solidFill>
                <a:latin typeface="Cambria"/>
              </a:rPr>
              <a:t>y</a:t>
            </a:r>
            <a:r>
              <a:rPr sz="2300" b="0" i="1" baseline="-25000">
                <a:solidFill>
                  <a:srgbClr val="1C252B"/>
                </a:solidFill>
                <a:latin typeface="Cambria"/>
              </a:rPr>
              <a:t>i</a:t>
            </a:r>
            <a:r>
              <a:rPr sz="2300" b="0" i="0">
                <a:solidFill>
                  <a:srgbClr val="1C252B"/>
                </a:solidFill>
                <a:latin typeface="Cambria"/>
              </a:rPr>
              <a:t> − </a:t>
            </a:r>
            <a:r>
              <a:rPr sz="2300" b="0" i="1">
                <a:solidFill>
                  <a:srgbClr val="1C252B"/>
                </a:solidFill>
                <a:latin typeface="Cambria"/>
              </a:rPr>
              <a:t>ŷ</a:t>
            </a:r>
            <a:r>
              <a:rPr sz="2300" b="0" i="1" baseline="-25000">
                <a:solidFill>
                  <a:srgbClr val="1C252B"/>
                </a:solidFill>
                <a:latin typeface="Cambria"/>
              </a:rPr>
              <a:t>i</a:t>
            </a:r>
            <a:r>
              <a:rPr sz="2300" b="0" i="0">
                <a:solidFill>
                  <a:srgbClr val="1C252B"/>
                </a:solidFill>
                <a:latin typeface="Segoe UI"/>
              </a:rPr>
              <a:t>, the vertical gap between the observed value and the prediction. The </a:t>
            </a:r>
            <a:r>
              <a:rPr sz="2300" b="1" i="0">
                <a:solidFill>
                  <a:srgbClr val="1A5276"/>
                </a:solidFill>
                <a:latin typeface="Segoe UI"/>
              </a:rPr>
              <a:t>mean squared error</a:t>
            </a:r>
            <a:r>
              <a:rPr sz="2300" b="0" i="0">
                <a:solidFill>
                  <a:srgbClr val="1C252B"/>
                </a:solidFill>
                <a:latin typeface="Segoe UI"/>
              </a:rPr>
              <a:t> of the model on </a:t>
            </a:r>
            <a:r>
              <a:rPr sz="2300" b="0" i="1">
                <a:solidFill>
                  <a:srgbClr val="1C252B"/>
                </a:solidFill>
                <a:latin typeface="Cambria"/>
              </a:rPr>
              <a:t>n</a:t>
            </a:r>
            <a:r>
              <a:rPr sz="2300" b="0" i="0">
                <a:solidFill>
                  <a:srgbClr val="1C252B"/>
                </a:solidFill>
                <a:latin typeface="Segoe UI"/>
              </a:rPr>
              <a:t> examples is</a:t>
            </a:r>
          </a:p>
        </p:txBody>
      </p:sp>
      <p:pic>
        <p:nvPicPr>
          <p:cNvPr id="10" name="body-1" descr="\text{MSE}(\mathbf{w}, b) = \frac{1}{n}\sum_{i=1}^{n}\left(y_i - \hat{y}_i\right)^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02533"/>
            <a:ext cx="10161727" cy="973287"/>
          </a:xfrm>
          <a:prstGeom prst="rect">
            <a:avLst/>
          </a:prstGeom>
        </p:spPr>
      </p:pic>
      <p:sp>
        <p:nvSpPr>
          <p:cNvPr id="11" name="body-2"/>
          <p:cNvSpPr txBox="1"/>
          <p:nvPr/>
        </p:nvSpPr>
        <p:spPr>
          <a:xfrm>
            <a:off x="1060704" y="443647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Fitting a linear regression means choosing </a:t>
            </a:r>
            <a:r>
              <a:rPr sz="2300" b="1" i="1">
                <a:solidFill>
                  <a:srgbClr val="1C252B"/>
                </a:solidFill>
                <a:latin typeface="Cambria"/>
              </a:rPr>
              <a:t>w</a:t>
            </a:r>
            <a:r>
              <a:rPr sz="2300" b="0" i="0">
                <a:solidFill>
                  <a:srgbClr val="1C252B"/>
                </a:solidFill>
                <a:latin typeface="Segoe UI"/>
              </a:rPr>
              <a:t> and </a:t>
            </a:r>
            <a:r>
              <a:rPr sz="2300" b="0" i="1">
                <a:solidFill>
                  <a:srgbClr val="1C252B"/>
                </a:solidFill>
                <a:latin typeface="Cambria"/>
              </a:rPr>
              <a:t>b</a:t>
            </a:r>
            <a:r>
              <a:rPr sz="2300" b="0" i="0">
                <a:solidFill>
                  <a:srgbClr val="1C252B"/>
                </a:solidFill>
                <a:latin typeface="Segoe UI"/>
              </a:rPr>
              <a:t> to make the MSE as small as possible — the method of </a:t>
            </a:r>
            <a:r>
              <a:rPr sz="2300" b="1" i="0">
                <a:solidFill>
                  <a:srgbClr val="1A5276"/>
                </a:solidFill>
                <a:latin typeface="Segoe UI"/>
              </a:rPr>
              <a:t>least squares</a:t>
            </a:r>
            <a:r>
              <a:rPr sz="2300" b="0" i="0">
                <a:solidFill>
                  <a:srgbClr val="1C252B"/>
                </a:solidFill>
                <a:latin typeface="Segoe UI"/>
              </a:rPr>
              <a: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99048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least-squares line through five user stories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5.1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§5.2  ·  Handout p. 38     </a:t>
            </a:r>
            <a:fld id="{197CED1D-D1CE-46BB-9CAB-A8F57E0A3E72}" type="slidenum">
              <a:rPr lang="en-GB" sz="1000">
                <a:solidFill>
                  <a:srgbClr val="8795A1"/>
                </a:solidFill>
                <a:latin typeface="Segoe UI"/>
              </a:rPr>
              <a:t>9</a:t>
            </a:fld>
          </a:p>
        </p:txBody>
      </p:sp>
      <p:pic>
        <p:nvPicPr>
          <p:cNvPr id="6" name="!!figure" descr="Figure 5.1. The least-squares line through five user stories. Each red segment is a residual; the line is the one that makes the sum of their squares smalles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75439" y="1737360"/>
            <a:ext cx="644081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Each red segment is a residual; the line is the one that makes the sum of their squares smallest.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23929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Square the Residuals?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§5.2  ·  Handout p. 38     </a:t>
            </a:r>
            <a:fld id="{2CD20CF9-91DF-4C7F-92A9-CEC6CBD86FFF}"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73577"/>
          </a:xfrm>
          <a:prstGeom prst="roundRect">
            <a:avLst>
              <a:gd name="adj" fmla="val 288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73577"/>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Three reasons. Squaring makes every error positive, so over- and under-predictions cannot cancel. It makes the loss smooth, so it has a derivative everywhere and a single minimum that a formula can find. And it is what maximum likelihood gives (Chapter 2): if the noise around the true line is Gaussian, the most likely line is exactly the least-squares line. The price is that one large error counts a great deal — an error of 10 costs a hundred times an error of 1 — so least squares is pulled hard by outliers.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48810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Least Squares by Formula</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5.3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5.1   The Model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5.2   The Loss: Mean Squared Error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5.3   Least Squares by Formula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5.4   Fitting by Gradient Descent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5.5   Multiple and Polynomial Features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5.6   Measuring a Regression Model</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§5.3     </a:t>
            </a:r>
            <a:fld id="{BC895CB9-E4D2-4F39-8570-3ABEFB847EF4}" type="slidenum">
              <a:rPr lang="en-GB" sz="1000">
                <a:solidFill>
                  <a:srgbClr val="8795A1"/>
                </a:solidFill>
                <a:latin typeface="Segoe UI"/>
              </a:rPr>
              <a:t>11</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73691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Least Squares by Formula</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§5.3  ·  Handout p. 39     </a:t>
            </a:r>
            <a:fld id="{1BF122B7-5F57-4E83-AA42-54C2ED1BEA7C}"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301935"/>
          </a:xfrm>
          <a:prstGeom prst="roundRect">
            <a:avLst>
              <a:gd name="adj" fmla="val 3972"/>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30193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one feature, setting the derivatives of the MSE with respect to </a:t>
            </a:r>
            <a:r>
              <a:rPr sz="2300" b="0" i="1">
                <a:solidFill>
                  <a:srgbClr val="1C252B"/>
                </a:solidFill>
                <a:latin typeface="Cambria"/>
              </a:rPr>
              <a:t>w</a:t>
            </a:r>
            <a:r>
              <a:rPr sz="2300" b="0" i="0">
                <a:solidFill>
                  <a:srgbClr val="1C252B"/>
                </a:solidFill>
                <a:latin typeface="Segoe UI"/>
              </a:rPr>
              <a:t> and </a:t>
            </a:r>
            <a:r>
              <a:rPr sz="2300" b="0" i="1">
                <a:solidFill>
                  <a:srgbClr val="1C252B"/>
                </a:solidFill>
                <a:latin typeface="Cambria"/>
              </a:rPr>
              <a:t>b</a:t>
            </a:r>
            <a:r>
              <a:rPr sz="2300" b="0" i="0">
                <a:solidFill>
                  <a:srgbClr val="1C252B"/>
                </a:solidFill>
                <a:latin typeface="Segoe UI"/>
              </a:rPr>
              <a:t> to zero gives a closed-form answer:</a:t>
            </a:r>
          </a:p>
        </p:txBody>
      </p:sp>
      <p:pic>
        <p:nvPicPr>
          <p:cNvPr id="10" name="body-1" descr="w = \frac{\sum_i (x_i - \bar{x})(y_i - \bar{y})}{\sum_i (x_i - \bar{x})^2}, \qquad b = \bar{y} - w\bar{x}"/>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790407"/>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98572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Fitting Hours to Story Points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§5.3  ·  Handout p. 39     </a:t>
            </a:r>
            <a:fld id="{D7D0A975-8E8F-4FC6-AEC8-569226D71BD2}"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39000"/>
          </a:xfrm>
          <a:prstGeom prst="roundRect">
            <a:avLst>
              <a:gd name="adj" fmla="val 210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390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Five completed user stories: story points </a:t>
            </a:r>
            <a:r>
              <a:rPr sz="1600" b="0" i="1">
                <a:solidFill>
                  <a:srgbClr val="1C252B"/>
                </a:solidFill>
                <a:latin typeface="Cambria"/>
              </a:rPr>
              <a:t>x</a:t>
            </a:r>
            <a:r>
              <a:rPr sz="1600" b="0" i="0">
                <a:solidFill>
                  <a:srgbClr val="1C252B"/>
                </a:solidFill>
                <a:latin typeface="Cambria"/>
              </a:rPr>
              <a:t> = 1, 2, 3, 4, 5</a:t>
            </a:r>
            <a:r>
              <a:rPr sz="1600" b="0" i="0">
                <a:solidFill>
                  <a:srgbClr val="1C252B"/>
                </a:solidFill>
                <a:latin typeface="Segoe UI"/>
              </a:rPr>
              <a:t> took </a:t>
            </a:r>
            <a:r>
              <a:rPr sz="1600" b="0" i="1">
                <a:solidFill>
                  <a:srgbClr val="1C252B"/>
                </a:solidFill>
                <a:latin typeface="Cambria"/>
              </a:rPr>
              <a:t>y</a:t>
            </a:r>
            <a:r>
              <a:rPr sz="1600" b="0" i="0">
                <a:solidFill>
                  <a:srgbClr val="1C252B"/>
                </a:solidFill>
                <a:latin typeface="Cambria"/>
              </a:rPr>
              <a:t> = 3, 5, 6, 9, 12</a:t>
            </a:r>
            <a:r>
              <a:rPr sz="1600" b="0" i="0">
                <a:solidFill>
                  <a:srgbClr val="1C252B"/>
                </a:solidFill>
                <a:latin typeface="Segoe UI"/>
              </a:rPr>
              <a:t> hours.</a:t>
            </a:r>
          </a:p>
        </p:txBody>
      </p:sp>
      <p:sp>
        <p:nvSpPr>
          <p:cNvPr id="10" name="body-1"/>
          <p:cNvSpPr txBox="1"/>
          <p:nvPr/>
        </p:nvSpPr>
        <p:spPr>
          <a:xfrm>
            <a:off x="1042416" y="2377033"/>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Means:</a:t>
            </a:r>
            <a:r>
              <a:rPr sz="1600" b="0" i="0">
                <a:solidFill>
                  <a:srgbClr val="1C252B"/>
                </a:solidFill>
                <a:latin typeface="Segoe UI"/>
              </a:rPr>
              <a:t> </a:t>
            </a:r>
            <a:r>
              <a:rPr sz="1600" b="0" i="1">
                <a:solidFill>
                  <a:srgbClr val="1C252B"/>
                </a:solidFill>
                <a:latin typeface="Cambria"/>
              </a:rPr>
              <a:t>x̄</a:t>
            </a:r>
            <a:r>
              <a:rPr sz="1600" b="0" i="0">
                <a:solidFill>
                  <a:srgbClr val="1C252B"/>
                </a:solidFill>
                <a:latin typeface="Cambria"/>
              </a:rPr>
              <a:t> = 3</a:t>
            </a:r>
            <a:r>
              <a:rPr sz="1600" b="0" i="0">
                <a:solidFill>
                  <a:srgbClr val="1C252B"/>
                </a:solidFill>
                <a:latin typeface="Segoe UI"/>
              </a:rPr>
              <a:t>, </a:t>
            </a:r>
            <a:r>
              <a:rPr sz="1600" b="0" i="1">
                <a:solidFill>
                  <a:srgbClr val="1C252B"/>
                </a:solidFill>
                <a:latin typeface="Cambria"/>
              </a:rPr>
              <a:t>ȳ</a:t>
            </a:r>
            <a:r>
              <a:rPr sz="1600" b="0" i="0">
                <a:solidFill>
                  <a:srgbClr val="1C252B"/>
                </a:solidFill>
                <a:latin typeface="Cambria"/>
              </a:rPr>
              <a:t> = 35/5 = 7</a:t>
            </a:r>
            <a:r>
              <a:rPr sz="1600" b="0" i="0">
                <a:solidFill>
                  <a:srgbClr val="1C252B"/>
                </a:solidFill>
                <a:latin typeface="Segoe UI"/>
              </a:rPr>
              <a:t>.</a:t>
            </a:r>
          </a:p>
        </p:txBody>
      </p:sp>
      <p:sp>
        <p:nvSpPr>
          <p:cNvPr id="11" name="body-2"/>
          <p:cNvSpPr txBox="1"/>
          <p:nvPr/>
        </p:nvSpPr>
        <p:spPr>
          <a:xfrm>
            <a:off x="1042416" y="2742387"/>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Deviations:</a:t>
            </a:r>
            <a:r>
              <a:rPr sz="1600" b="0" i="0">
                <a:solidFill>
                  <a:srgbClr val="1C252B"/>
                </a:solidFill>
                <a:latin typeface="Segoe UI"/>
              </a:rPr>
              <a:t> </a:t>
            </a:r>
            <a:r>
              <a:rPr sz="1600" b="0" i="1">
                <a:solidFill>
                  <a:srgbClr val="1C252B"/>
                </a:solidFill>
                <a:latin typeface="Cambria"/>
              </a:rPr>
              <a:t>x</a:t>
            </a:r>
            <a:r>
              <a:rPr sz="1600" b="0" i="0">
                <a:solidFill>
                  <a:srgbClr val="1C252B"/>
                </a:solidFill>
                <a:latin typeface="Cambria"/>
              </a:rPr>
              <a:t> − </a:t>
            </a:r>
            <a:r>
              <a:rPr sz="1600" b="0" i="1">
                <a:solidFill>
                  <a:srgbClr val="1C252B"/>
                </a:solidFill>
                <a:latin typeface="Cambria"/>
              </a:rPr>
              <a:t>x̄</a:t>
            </a:r>
            <a:r>
              <a:rPr sz="1600" b="0" i="0">
                <a:solidFill>
                  <a:srgbClr val="1C252B"/>
                </a:solidFill>
                <a:latin typeface="Cambria"/>
              </a:rPr>
              <a:t> = −2, −1, 0, 1, 2</a:t>
            </a:r>
            <a:r>
              <a:rPr sz="1600" b="0" i="0">
                <a:solidFill>
                  <a:srgbClr val="1C252B"/>
                </a:solidFill>
                <a:latin typeface="Segoe UI"/>
              </a:rPr>
              <a:t> and </a:t>
            </a:r>
            <a:r>
              <a:rPr sz="1600" b="0" i="1">
                <a:solidFill>
                  <a:srgbClr val="1C252B"/>
                </a:solidFill>
                <a:latin typeface="Cambria"/>
              </a:rPr>
              <a:t>y</a:t>
            </a:r>
            <a:r>
              <a:rPr sz="1600" b="0" i="0">
                <a:solidFill>
                  <a:srgbClr val="1C252B"/>
                </a:solidFill>
                <a:latin typeface="Cambria"/>
              </a:rPr>
              <a:t> − </a:t>
            </a:r>
            <a:r>
              <a:rPr sz="1600" b="0" i="1">
                <a:solidFill>
                  <a:srgbClr val="1C252B"/>
                </a:solidFill>
                <a:latin typeface="Cambria"/>
              </a:rPr>
              <a:t>ȳ</a:t>
            </a:r>
            <a:r>
              <a:rPr sz="1600" b="0" i="0">
                <a:solidFill>
                  <a:srgbClr val="1C252B"/>
                </a:solidFill>
                <a:latin typeface="Cambria"/>
              </a:rPr>
              <a:t> = −4, −2, −1, 2, 5</a:t>
            </a:r>
            <a:r>
              <a:rPr sz="1600" b="0" i="0">
                <a:solidFill>
                  <a:srgbClr val="1C252B"/>
                </a:solidFill>
                <a:latin typeface="Segoe UI"/>
              </a:rPr>
              <a:t>.</a:t>
            </a:r>
          </a:p>
        </p:txBody>
      </p:sp>
      <p:sp>
        <p:nvSpPr>
          <p:cNvPr id="12" name="body-3"/>
          <p:cNvSpPr txBox="1"/>
          <p:nvPr/>
        </p:nvSpPr>
        <p:spPr>
          <a:xfrm>
            <a:off x="1042416" y="3107740"/>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Slope:</a:t>
            </a:r>
          </a:p>
        </p:txBody>
      </p:sp>
      <p:pic>
        <p:nvPicPr>
          <p:cNvPr id="13" name="body-4" descr="w = \frac{(-2)(-4) + (-1)(-2) + (0)(-1) + (1)(2) + (2)(5)}{4 + 1 + 0 + 1 + 4} = \frac{8 + 2 + 0 + 2 + 10}{10} = \mathbf{2.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73094"/>
            <a:ext cx="10234879" cy="472104"/>
          </a:xfrm>
          <a:prstGeom prst="rect">
            <a:avLst/>
          </a:prstGeom>
        </p:spPr>
      </p:pic>
      <p:sp>
        <p:nvSpPr>
          <p:cNvPr id="14" name="body-5"/>
          <p:cNvSpPr txBox="1"/>
          <p:nvPr/>
        </p:nvSpPr>
        <p:spPr>
          <a:xfrm>
            <a:off x="1042416" y="405695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Intercept:</a:t>
            </a:r>
            <a:r>
              <a:rPr sz="1600" b="0" i="0">
                <a:solidFill>
                  <a:srgbClr val="1C252B"/>
                </a:solidFill>
                <a:latin typeface="Segoe UI"/>
              </a:rPr>
              <a:t> </a:t>
            </a:r>
            <a:r>
              <a:rPr sz="1600" b="0" i="1">
                <a:solidFill>
                  <a:srgbClr val="1C252B"/>
                </a:solidFill>
                <a:latin typeface="Cambria"/>
              </a:rPr>
              <a:t>b</a:t>
            </a:r>
            <a:r>
              <a:rPr sz="1600" b="0" i="0">
                <a:solidFill>
                  <a:srgbClr val="1C252B"/>
                </a:solidFill>
                <a:latin typeface="Cambria"/>
              </a:rPr>
              <a:t> = 7 − 2.2 × 3 = </a:t>
            </a:r>
            <a:r>
              <a:rPr sz="1600" b="1" i="0">
                <a:solidFill>
                  <a:srgbClr val="1C252B"/>
                </a:solidFill>
                <a:latin typeface="Cambria"/>
              </a:rPr>
              <a:t>0.4</a:t>
            </a:r>
            <a:r>
              <a:rPr sz="1600" b="0" i="0">
                <a:solidFill>
                  <a:srgbClr val="1C252B"/>
                </a:solidFill>
                <a:latin typeface="Segoe UI"/>
              </a:rPr>
              <a:t>.</a:t>
            </a:r>
          </a:p>
        </p:txBody>
      </p:sp>
      <p:sp>
        <p:nvSpPr>
          <p:cNvPr id="15" name="body-5bar">
            <a:extLst>
              <a:ext uri="{C183D7F6-B498-43B3-948B-1728B52AA6E4}">
                <adec:decorative xmlns:adec="http://schemas.microsoft.com/office/drawing/2017/decorative" val="1"/>
              </a:ext>
            </a:extLst>
          </p:cNvPr>
          <p:cNvSpPr/>
          <p:nvPr/>
        </p:nvSpPr>
        <p:spPr>
          <a:xfrm>
            <a:off x="841248" y="4075247"/>
            <a:ext cx="54864" cy="23530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body-6"/>
          <p:cNvSpPr txBox="1"/>
          <p:nvPr/>
        </p:nvSpPr>
        <p:spPr>
          <a:xfrm>
            <a:off x="1042416" y="4422312"/>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Reading it:</a:t>
            </a:r>
            <a:r>
              <a:rPr sz="1600" b="0" i="0">
                <a:solidFill>
                  <a:srgbClr val="1C252B"/>
                </a:solidFill>
                <a:latin typeface="Segoe UI"/>
              </a:rPr>
              <a:t> each extra story point adds 2.2 hours; the intercept, 0.4 hours, is the fixed overhead of any story. A new 6-point story is predicted to take </a:t>
            </a:r>
            <a:r>
              <a:rPr sz="1600" b="0" i="0">
                <a:solidFill>
                  <a:srgbClr val="1C252B"/>
                </a:solidFill>
                <a:latin typeface="Cambria"/>
              </a:rPr>
              <a:t>2.2 × 6 + 0.4 = 13.6</a:t>
            </a:r>
            <a:r>
              <a:rPr sz="1600" b="0" i="0">
                <a:solidFill>
                  <a:srgbClr val="1C252B"/>
                </a:solidFill>
                <a:latin typeface="Segoe UI"/>
              </a:rPr>
              <a:t> hours.</a:t>
            </a:r>
          </a:p>
        </p:txBody>
      </p:sp>
      <p:sp>
        <p:nvSpPr>
          <p:cNvPr id="17" name="body-6bar">
            <a:extLst>
              <a:ext uri="{C183D7F6-B498-43B3-948B-1728B52AA6E4}">
                <adec:decorative xmlns:adec="http://schemas.microsoft.com/office/drawing/2017/decorative" val="1"/>
              </a:ext>
            </a:extLst>
          </p:cNvPr>
          <p:cNvSpPr/>
          <p:nvPr/>
        </p:nvSpPr>
        <p:spPr>
          <a:xfrm>
            <a:off x="841248" y="4440600"/>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body-7"/>
          <p:cNvSpPr txBox="1"/>
          <p:nvPr/>
        </p:nvSpPr>
        <p:spPr>
          <a:xfrm>
            <a:off x="1042416" y="5041259"/>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Residuals:</a:t>
            </a:r>
            <a:r>
              <a:rPr sz="1600" b="0" i="0">
                <a:solidFill>
                  <a:srgbClr val="1C252B"/>
                </a:solidFill>
                <a:latin typeface="Segoe UI"/>
              </a:rPr>
              <a:t> predictions </a:t>
            </a:r>
            <a:r>
              <a:rPr sz="1600" b="0" i="0">
                <a:solidFill>
                  <a:srgbClr val="1C252B"/>
                </a:solidFill>
                <a:latin typeface="Cambria"/>
              </a:rPr>
              <a:t>2.6, 4.8, 7.0, 9.2, 11.4</a:t>
            </a:r>
            <a:r>
              <a:rPr sz="1600" b="0" i="0">
                <a:solidFill>
                  <a:srgbClr val="1C252B"/>
                </a:solidFill>
                <a:latin typeface="Segoe UI"/>
              </a:rPr>
              <a:t> give residuals </a:t>
            </a:r>
            <a:r>
              <a:rPr sz="1600" b="0" i="0">
                <a:solidFill>
                  <a:srgbClr val="1C252B"/>
                </a:solidFill>
                <a:latin typeface="Cambria"/>
              </a:rPr>
              <a:t>0.4, 0.2, −1.0, −0.2, 0.6</a:t>
            </a:r>
            <a:r>
              <a:rPr sz="1600" b="0" i="0">
                <a:solidFill>
                  <a:srgbClr val="1C252B"/>
                </a:solidFill>
                <a:latin typeface="Segoe UI"/>
              </a:rPr>
              <a:t>, which sum to zero — they always do for a least-squares line with an intercept. The sum of squares is </a:t>
            </a:r>
            <a:r>
              <a:rPr sz="1600" b="0" i="0">
                <a:solidFill>
                  <a:srgbClr val="1C252B"/>
                </a:solidFill>
                <a:latin typeface="Cambria"/>
              </a:rPr>
              <a:t>0.16 + 0.04 + 1 + 0.04 + 0.36 = 1.6</a:t>
            </a:r>
            <a:r>
              <a:rPr sz="1600" b="0" i="0">
                <a:solidFill>
                  <a:srgbClr val="1C252B"/>
                </a:solidFill>
                <a:latin typeface="Segoe UI"/>
              </a:rPr>
              <a:t>, so MSE</a:t>
            </a:r>
            <a:r>
              <a:rPr sz="1600" b="0" i="0">
                <a:solidFill>
                  <a:srgbClr val="1C252B"/>
                </a:solidFill>
                <a:latin typeface="Cambria"/>
              </a:rPr>
              <a:t> = 0.32</a:t>
            </a:r>
            <a:r>
              <a:rPr sz="1600" b="0" i="0">
                <a:solidFill>
                  <a:srgbClr val="1C252B"/>
                </a:solidFill>
                <a:latin typeface="Segoe UI"/>
              </a:rPr>
              <a:t>.</a:t>
            </a:r>
          </a:p>
        </p:txBody>
      </p:sp>
      <p:sp>
        <p:nvSpPr>
          <p:cNvPr id="19" name="body-7bar">
            <a:extLst>
              <a:ext uri="{C183D7F6-B498-43B3-948B-1728B52AA6E4}">
                <adec:decorative xmlns:adec="http://schemas.microsoft.com/office/drawing/2017/decorative" val="1"/>
              </a:ext>
            </a:extLst>
          </p:cNvPr>
          <p:cNvSpPr/>
          <p:nvPr/>
        </p:nvSpPr>
        <p:spPr>
          <a:xfrm>
            <a:off x="841248" y="5059547"/>
            <a:ext cx="54864" cy="74249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pfill">
            <a:extLst>
              <a:ext uri="{C183D7F6-B498-43B3-948B-1728B52AA6E4}">
                <adec:decorative xmlns:adec="http://schemas.microsoft.com/office/drawing/2017/decorative" val="1"/>
              </a:ext>
            </a:extLst>
          </p:cNvPr>
          <p:cNvSpPr/>
          <p:nvPr/>
        </p:nvSpPr>
        <p:spPr>
          <a:xfrm>
            <a:off x="0" y="0"/>
            <a:ext cx="323453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42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right)">
                                      <p:cBhvr>
                                        <p:cTn id="36" dur="42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2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right)">
                                      <p:cBhvr>
                                        <p:cTn id="44" dur="42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Normal Equation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§5.3  ·  Handout p. 39     </a:t>
            </a:r>
            <a:fld id="{0FDF6B06-F51F-4881-9758-D1B7ED591792}"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16781"/>
          </a:xfrm>
          <a:prstGeom prst="roundRect">
            <a:avLst>
              <a:gd name="adj" fmla="val 233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1678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With </a:t>
            </a:r>
            <a:r>
              <a:rPr sz="2300" b="0" i="1">
                <a:solidFill>
                  <a:srgbClr val="1C252B"/>
                </a:solidFill>
                <a:latin typeface="Cambria"/>
              </a:rPr>
              <a:t>d</a:t>
            </a:r>
            <a:r>
              <a:rPr sz="2300" b="0" i="0">
                <a:solidFill>
                  <a:srgbClr val="1C252B"/>
                </a:solidFill>
                <a:latin typeface="Segoe UI"/>
              </a:rPr>
              <a:t> features, put a column of ones in front of </a:t>
            </a:r>
            <a:r>
              <a:rPr sz="2300" b="0" i="1">
                <a:solidFill>
                  <a:srgbClr val="1C252B"/>
                </a:solidFill>
                <a:latin typeface="Cambria"/>
              </a:rPr>
              <a:t>X</a:t>
            </a:r>
            <a:r>
              <a:rPr sz="2300" b="0" i="0">
                <a:solidFill>
                  <a:srgbClr val="1C252B"/>
                </a:solidFill>
                <a:latin typeface="Segoe UI"/>
              </a:rPr>
              <a:t> to absorb the bias, so the model is </a:t>
            </a:r>
            <a:r>
              <a:rPr sz="2300" b="1" i="1">
                <a:solidFill>
                  <a:srgbClr val="1C252B"/>
                </a:solidFill>
                <a:latin typeface="Cambria"/>
              </a:rPr>
              <a:t>ŷ</a:t>
            </a:r>
            <a:r>
              <a:rPr sz="2300" b="0" i="0">
                <a:solidFill>
                  <a:srgbClr val="1C252B"/>
                </a:solidFill>
                <a:latin typeface="Cambria"/>
              </a:rPr>
              <a:t> = </a:t>
            </a:r>
            <a:r>
              <a:rPr sz="2300" b="0" i="1">
                <a:solidFill>
                  <a:srgbClr val="1C252B"/>
                </a:solidFill>
                <a:latin typeface="Cambria"/>
              </a:rPr>
              <a:t>X</a:t>
            </a:r>
            <a:r>
              <a:rPr sz="2300" b="1" i="0">
                <a:solidFill>
                  <a:srgbClr val="1C252B"/>
                </a:solidFill>
                <a:latin typeface="Cambria"/>
              </a:rPr>
              <a:t>θ</a:t>
            </a:r>
            <a:r>
              <a:rPr sz="2300" b="0" i="0">
                <a:solidFill>
                  <a:srgbClr val="1C252B"/>
                </a:solidFill>
                <a:latin typeface="Segoe UI"/>
              </a:rPr>
              <a:t>. The least-squares parameters solve the </a:t>
            </a:r>
            <a:r>
              <a:rPr sz="2300" b="1" i="0">
                <a:solidFill>
                  <a:srgbClr val="1A5276"/>
                </a:solidFill>
                <a:latin typeface="Segoe UI"/>
              </a:rPr>
              <a:t>normal equation</a:t>
            </a:r>
          </a:p>
        </p:txBody>
      </p:sp>
      <p:pic>
        <p:nvPicPr>
          <p:cNvPr id="10" name="body-1" descr="X^{\top}X\,\boldsymbol{\theta} = X^{\top}\mathbf{y} \quad\Longrightarrow\quad \boldsymbol{\theta} = (X^{\top}X)^{-1}X^{\top}\mathbf{y}"/>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392826"/>
          </a:xfrm>
          <a:prstGeom prst="rect">
            <a:avLst/>
          </a:prstGeom>
        </p:spPr>
      </p:pic>
      <p:sp>
        <p:nvSpPr>
          <p:cNvPr id="11" name="body-2"/>
          <p:cNvSpPr txBox="1"/>
          <p:nvPr/>
        </p:nvSpPr>
        <p:spPr>
          <a:xfrm>
            <a:off x="1060704" y="3491473"/>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the five stories,</a:t>
            </a:r>
          </a:p>
        </p:txBody>
      </p:sp>
      <p:pic>
        <p:nvPicPr>
          <p:cNvPr id="12" name="body-3" descr="X^{\top}X = \begin{pmatrix} 5 &amp; 15 \\ 15 &amp; 55\end{pmatrix}, \qquad X^{\top}\mathbf{y} = \begin{pmatrix} 35 \\ 127 \end{pmatrix},"/>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4016669"/>
            <a:ext cx="10161727" cy="801380"/>
          </a:xfrm>
          <a:prstGeom prst="rect">
            <a:avLst/>
          </a:prstGeom>
        </p:spPr>
      </p:pic>
      <p:sp>
        <p:nvSpPr>
          <p:cNvPr id="13" name="body-4"/>
          <p:cNvSpPr txBox="1"/>
          <p:nvPr/>
        </p:nvSpPr>
        <p:spPr>
          <a:xfrm>
            <a:off x="1060704" y="4978704"/>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whose solution is </a:t>
            </a:r>
            <a:r>
              <a:rPr sz="2300" b="0" i="1">
                <a:solidFill>
                  <a:srgbClr val="1C252B"/>
                </a:solidFill>
                <a:latin typeface="Cambria"/>
              </a:rPr>
              <a:t>b</a:t>
            </a:r>
            <a:r>
              <a:rPr sz="2300" b="0" i="0">
                <a:solidFill>
                  <a:srgbClr val="1C252B"/>
                </a:solidFill>
                <a:latin typeface="Cambria"/>
              </a:rPr>
              <a:t> = 0.4</a:t>
            </a:r>
            <a:r>
              <a:rPr sz="2300" b="0" i="0">
                <a:solidFill>
                  <a:srgbClr val="1C252B"/>
                </a:solidFill>
                <a:latin typeface="Segoe UI"/>
              </a:rPr>
              <a:t>, </a:t>
            </a:r>
            <a:r>
              <a:rPr sz="2300" b="0" i="1">
                <a:solidFill>
                  <a:srgbClr val="1C252B"/>
                </a:solidFill>
                <a:latin typeface="Cambria"/>
              </a:rPr>
              <a:t>w</a:t>
            </a:r>
            <a:r>
              <a:rPr sz="2300" b="0" i="0">
                <a:solidFill>
                  <a:srgbClr val="1C252B"/>
                </a:solidFill>
                <a:latin typeface="Cambria"/>
              </a:rPr>
              <a:t> = 2.2</a:t>
            </a:r>
            <a:r>
              <a:rPr sz="2300" b="0" i="0">
                <a:solidFill>
                  <a:srgbClr val="1C252B"/>
                </a:solidFill>
                <a:latin typeface="Segoe UI"/>
              </a:rPr>
              <a:t> as before.</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Fitting by Gradient Descent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5.4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5.1   The Model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5.2   The Loss: Mean Squared Error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5.3   Least Squares by Formula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5.4   Fitting by Gradient Descent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5.5   Multiple and Polynomial Features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5.6   Measuring a Regression Model</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§5.4     </a:t>
            </a:r>
            <a:fld id="{9910D28F-A13C-40B4-8753-E18888AC2CCB}" type="slidenum">
              <a:rPr lang="en-GB" sz="1000">
                <a:solidFill>
                  <a:srgbClr val="8795A1"/>
                </a:solidFill>
                <a:latin typeface="Segoe UI"/>
              </a:rPr>
              <a:t>15</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73215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Fitting by Gradient Descent</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  ·  Handout p. 40     </a:t>
            </a:r>
            <a:fld id="{1B46A7E0-56DF-4452-8492-9A21DFFDCC8C}"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120275"/>
          </a:xfrm>
          <a:prstGeom prst="roundRect">
            <a:avLst>
              <a:gd name="adj" fmla="val 4312"/>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12027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Differentiating the MSE with the chain rule gives the gradient:</a:t>
            </a:r>
          </a:p>
        </p:txBody>
      </p:sp>
      <p:pic>
        <p:nvPicPr>
          <p:cNvPr id="10" name="body-1" descr="\frac{\partial\,\text{MSE}}{\partial w_j} = \frac{2}{n}\sum_{i=1}^{n}(\hat{y}_i - y_i)\,x_{ij}, \qquad \frac{\partial\,\text{MSE}}{\partial b} = \frac{2}{n}\sum_{i=1}^{n}(\hat{y}_i - y_i)"/>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973287"/>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98096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Gradient Descent Step</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  ·  Handout p. 40     </a:t>
            </a:r>
            <a:fld id="{CA2B28B3-CEE1-4F0D-A31D-0B9D03EB719E}"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41266"/>
          </a:xfrm>
          <a:prstGeom prst="roundRect">
            <a:avLst>
              <a:gd name="adj" fmla="val 210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4126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Start from </a:t>
            </a:r>
            <a:r>
              <a:rPr sz="2100" b="0" i="1">
                <a:solidFill>
                  <a:srgbClr val="1C252B"/>
                </a:solidFill>
                <a:latin typeface="Cambria"/>
              </a:rPr>
              <a:t>w</a:t>
            </a:r>
            <a:r>
              <a:rPr sz="2100" b="0" i="0">
                <a:solidFill>
                  <a:srgbClr val="1C252B"/>
                </a:solidFill>
                <a:latin typeface="Cambria"/>
              </a:rPr>
              <a:t> = 0</a:t>
            </a:r>
            <a:r>
              <a:rPr sz="2100" b="0" i="0">
                <a:solidFill>
                  <a:srgbClr val="1C252B"/>
                </a:solidFill>
                <a:latin typeface="Segoe UI"/>
              </a:rPr>
              <a:t>, </a:t>
            </a:r>
            <a:r>
              <a:rPr sz="2100" b="0" i="1">
                <a:solidFill>
                  <a:srgbClr val="1C252B"/>
                </a:solidFill>
                <a:latin typeface="Cambria"/>
              </a:rPr>
              <a:t>b</a:t>
            </a:r>
            <a:r>
              <a:rPr sz="2100" b="0" i="0">
                <a:solidFill>
                  <a:srgbClr val="1C252B"/>
                </a:solidFill>
                <a:latin typeface="Cambria"/>
              </a:rPr>
              <a:t> = 0</a:t>
            </a:r>
            <a:r>
              <a:rPr sz="2100" b="0" i="0">
                <a:solidFill>
                  <a:srgbClr val="1C252B"/>
                </a:solidFill>
                <a:latin typeface="Segoe UI"/>
              </a:rPr>
              <a:t> on the five stories, with </a:t>
            </a:r>
            <a:r>
              <a:rPr sz="2100" b="0" i="0">
                <a:solidFill>
                  <a:srgbClr val="1C252B"/>
                </a:solidFill>
                <a:latin typeface="Cambria"/>
              </a:rPr>
              <a:t>α = 0.05</a:t>
            </a:r>
            <a:r>
              <a:rPr sz="2100" b="0" i="0">
                <a:solidFill>
                  <a:srgbClr val="1C252B"/>
                </a:solidFill>
                <a:latin typeface="Segoe UI"/>
              </a:rPr>
              <a:t>. Every prediction is 0, so the errors </a:t>
            </a:r>
            <a:r>
              <a:rPr sz="2100" b="0" i="1">
                <a:solidFill>
                  <a:srgbClr val="1C252B"/>
                </a:solidFill>
                <a:latin typeface="Cambria"/>
              </a:rPr>
              <a:t>ŷ</a:t>
            </a:r>
            <a:r>
              <a:rPr sz="2100" b="0" i="0">
                <a:solidFill>
                  <a:srgbClr val="1C252B"/>
                </a:solidFill>
                <a:latin typeface="Cambria"/>
              </a:rPr>
              <a:t> − </a:t>
            </a:r>
            <a:r>
              <a:rPr sz="2100" b="0" i="1">
                <a:solidFill>
                  <a:srgbClr val="1C252B"/>
                </a:solidFill>
                <a:latin typeface="Cambria"/>
              </a:rPr>
              <a:t>y</a:t>
            </a:r>
            <a:r>
              <a:rPr sz="2100" b="0" i="0">
                <a:solidFill>
                  <a:srgbClr val="1C252B"/>
                </a:solidFill>
                <a:latin typeface="Segoe UI"/>
              </a:rPr>
              <a:t> are </a:t>
            </a:r>
            <a:r>
              <a:rPr sz="2100" b="0" i="0">
                <a:solidFill>
                  <a:srgbClr val="1C252B"/>
                </a:solidFill>
                <a:latin typeface="Cambria"/>
              </a:rPr>
              <a:t>−3, −5, −6, −9, −12</a:t>
            </a:r>
            <a:r>
              <a:rPr sz="2100" b="0" i="0">
                <a:solidFill>
                  <a:srgbClr val="1C252B"/>
                </a:solidFill>
                <a:latin typeface="Segoe UI"/>
              </a:rPr>
              <a:t> and the MSE is </a:t>
            </a:r>
            <a:r>
              <a:rPr sz="2100" b="0" i="0">
                <a:solidFill>
                  <a:srgbClr val="1C252B"/>
                </a:solidFill>
                <a:latin typeface="Cambria"/>
              </a:rPr>
              <a:t>(9 + 25 + 36 + 81 + 144)/5 = 59</a:t>
            </a:r>
            <a:r>
              <a:rPr sz="2100" b="0" i="0">
                <a:solidFill>
                  <a:srgbClr val="1C252B"/>
                </a:solidFill>
                <a:latin typeface="Segoe UI"/>
              </a:rPr>
              <a:t>.</a:t>
            </a:r>
          </a:p>
        </p:txBody>
      </p:sp>
      <p:pic>
        <p:nvPicPr>
          <p:cNvPr id="10" name="body-1" descr="\frac{\partial}{\partial w} = \frac{2}{5}\big[(-3)(1) + (-5)(2) + (-6)(3) + (-9)(4) + (-12)(5)\big] = \frac{2}{5}(-127) = -50.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824048"/>
            <a:ext cx="10234879" cy="596097"/>
          </a:xfrm>
          <a:prstGeom prst="rect">
            <a:avLst/>
          </a:prstGeom>
        </p:spPr>
      </p:pic>
      <p:pic>
        <p:nvPicPr>
          <p:cNvPr id="11" name="body-2" descr="\frac{\partial}{\partial b} = \frac{2}{5}(-3 - 5 - 6 - 9 - 12) = \frac{2}{5}(-35) = -1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566830"/>
            <a:ext cx="10234879" cy="612739"/>
          </a:xfrm>
          <a:prstGeom prst="rect">
            <a:avLst/>
          </a:prstGeom>
        </p:spPr>
      </p:pic>
      <p:sp>
        <p:nvSpPr>
          <p:cNvPr id="12" name="body-3"/>
          <p:cNvSpPr txBox="1"/>
          <p:nvPr/>
        </p:nvSpPr>
        <p:spPr>
          <a:xfrm>
            <a:off x="1042416" y="4326255"/>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Update:</a:t>
            </a:r>
            <a:r>
              <a:rPr sz="2100" b="0" i="0">
                <a:solidFill>
                  <a:srgbClr val="1C252B"/>
                </a:solidFill>
                <a:latin typeface="Segoe UI"/>
              </a:rPr>
              <a:t> </a:t>
            </a:r>
            <a:r>
              <a:rPr sz="2100" b="0" i="1">
                <a:solidFill>
                  <a:srgbClr val="1C252B"/>
                </a:solidFill>
                <a:latin typeface="Cambria"/>
              </a:rPr>
              <a:t>w</a:t>
            </a:r>
            <a:r>
              <a:rPr sz="2100" b="0" i="0">
                <a:solidFill>
                  <a:srgbClr val="1C252B"/>
                </a:solidFill>
                <a:latin typeface="Cambria"/>
              </a:rPr>
              <a:t> ← 0 − 0.05(−50.8) = 2.54</a:t>
            </a:r>
            <a:r>
              <a:rPr sz="2100" b="0" i="0">
                <a:solidFill>
                  <a:srgbClr val="1C252B"/>
                </a:solidFill>
                <a:latin typeface="Segoe UI"/>
              </a:rPr>
              <a:t>, </a:t>
            </a:r>
            <a:r>
              <a:rPr sz="2100" b="0" i="1">
                <a:solidFill>
                  <a:srgbClr val="1C252B"/>
                </a:solidFill>
                <a:latin typeface="Cambria"/>
              </a:rPr>
              <a:t>b</a:t>
            </a:r>
            <a:r>
              <a:rPr sz="2100" b="0" i="0">
                <a:solidFill>
                  <a:srgbClr val="1C252B"/>
                </a:solidFill>
                <a:latin typeface="Cambria"/>
              </a:rPr>
              <a:t> ← 0 − 0.05(−14) = 0.70</a:t>
            </a:r>
            <a:r>
              <a:rPr sz="2100" b="0" i="0">
                <a:solidFill>
                  <a:srgbClr val="1C252B"/>
                </a:solidFill>
                <a:latin typeface="Segoe UI"/>
              </a:rPr>
              <a:t>.</a:t>
            </a:r>
          </a:p>
        </p:txBody>
      </p:sp>
      <p:sp>
        <p:nvSpPr>
          <p:cNvPr id="13" name="body-3bar">
            <a:extLst>
              <a:ext uri="{C183D7F6-B498-43B3-948B-1728B52AA6E4}">
                <adec:decorative xmlns:adec="http://schemas.microsoft.com/office/drawing/2017/decorative" val="1"/>
              </a:ext>
            </a:extLst>
          </p:cNvPr>
          <p:cNvSpPr/>
          <p:nvPr/>
        </p:nvSpPr>
        <p:spPr>
          <a:xfrm>
            <a:off x="841248" y="4344543"/>
            <a:ext cx="54864" cy="31455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4"/>
          <p:cNvSpPr txBox="1"/>
          <p:nvPr/>
        </p:nvSpPr>
        <p:spPr>
          <a:xfrm>
            <a:off x="1042416" y="4805781"/>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new predictions </a:t>
            </a:r>
            <a:r>
              <a:rPr sz="2100" b="0" i="0">
                <a:solidFill>
                  <a:srgbClr val="1C252B"/>
                </a:solidFill>
                <a:latin typeface="Cambria"/>
              </a:rPr>
              <a:t>3.24, 5.78, 8.32, 10.86, 13.40</a:t>
            </a:r>
            <a:r>
              <a:rPr sz="2100" b="0" i="0">
                <a:solidFill>
                  <a:srgbClr val="1C252B"/>
                </a:solidFill>
                <a:latin typeface="Segoe UI"/>
              </a:rPr>
              <a:t> give an MSE of </a:t>
            </a:r>
            <a:r>
              <a:rPr sz="2100" b="0" i="0">
                <a:solidFill>
                  <a:srgbClr val="1C252B"/>
                </a:solidFill>
                <a:latin typeface="Cambria"/>
              </a:rPr>
              <a:t>2.29</a:t>
            </a:r>
            <a:r>
              <a:rPr sz="2100" b="0" i="0">
                <a:solidFill>
                  <a:srgbClr val="1C252B"/>
                </a:solidFill>
                <a:latin typeface="Segoe UI"/>
              </a:rPr>
              <a:t> — down from 59 in one step. Repeating the update converges to </a:t>
            </a:r>
            <a:r>
              <a:rPr sz="2100" b="0" i="1">
                <a:solidFill>
                  <a:srgbClr val="1C252B"/>
                </a:solidFill>
                <a:latin typeface="Cambria"/>
              </a:rPr>
              <a:t>w</a:t>
            </a:r>
            <a:r>
              <a:rPr sz="2100" b="0" i="0">
                <a:solidFill>
                  <a:srgbClr val="1C252B"/>
                </a:solidFill>
                <a:latin typeface="Cambria"/>
              </a:rPr>
              <a:t> = 2.2</a:t>
            </a:r>
            <a:r>
              <a:rPr sz="2100" b="0" i="0">
                <a:solidFill>
                  <a:srgbClr val="1C252B"/>
                </a:solidFill>
                <a:latin typeface="Segoe UI"/>
              </a:rPr>
              <a:t>, </a:t>
            </a:r>
            <a:r>
              <a:rPr sz="2100" b="0" i="1">
                <a:solidFill>
                  <a:srgbClr val="1C252B"/>
                </a:solidFill>
                <a:latin typeface="Cambria"/>
              </a:rPr>
              <a:t>b</a:t>
            </a:r>
            <a:r>
              <a:rPr sz="2100" b="0" i="0">
                <a:solidFill>
                  <a:srgbClr val="1C252B"/>
                </a:solidFill>
                <a:latin typeface="Cambria"/>
              </a:rPr>
              <a:t> = 0.4</a:t>
            </a:r>
            <a:r>
              <a:rPr sz="2100" b="0" i="0">
                <a:solidFill>
                  <a:srgbClr val="1C252B"/>
                </a:solidFill>
                <a:latin typeface="Segoe UI"/>
              </a:rPr>
              <a:t>, the same answer as the formula.</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422977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Fitting by Gradient Descent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  ·  Handout p. 40     </a:t>
            </a:r>
            <a:fld id="{1515FD31-830F-419C-B469-E72DF2FFBDE2}"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8" cy="2139696"/>
        </p:xfrm>
        <a:graphic>
          <a:graphicData uri="http://schemas.openxmlformats.org/drawingml/2006/table">
            <a:tbl>
              <a:tblPr firstRow="0" bandRow="0" firstCol="0" lastRow="0" lastCol="0" bandCol="0">
                <a:tableStyleId>{2D5ABB26-0587-4C30-8999-92F81FD0307C}</a:tableStyleId>
              </a:tblPr>
              <a:tblGrid>
                <a:gridCol w="2392491"/>
                <a:gridCol w="3914985"/>
                <a:gridCol w="4567482"/>
              </a:tblGrid>
              <a:tr h="405384">
                <a:tc>
                  <a:txBody>
                    <a:bodyPr wrap="square"/>
                    <a:lstStyle/>
                    <a:p>
                      <a:pPr algn="l"/>
                      <a:r>
                        <a:rPr sz="1700" b="1" i="0">
                          <a:solidFill>
                            <a:srgbClr val="1A5276"/>
                          </a:solidFill>
                          <a:latin typeface="Segoe UI"/>
                        </a:rPr>
                        <a:t>Variant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Each step uses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Trade-off</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Batch</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All </a:t>
                      </a:r>
                      <a:r>
                        <a:rPr sz="1700" b="0" i="1">
                          <a:solidFill>
                            <a:srgbClr val="1C252B"/>
                          </a:solidFill>
                          <a:latin typeface="Cambria"/>
                        </a:rPr>
                        <a:t>n</a:t>
                      </a:r>
                      <a:r>
                        <a:rPr sz="1700" b="0" i="0">
                          <a:solidFill>
                            <a:srgbClr val="1C252B"/>
                          </a:solidFill>
                          <a:latin typeface="Segoe UI"/>
                        </a:rPr>
                        <a:t> examples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Smooth, exact steps; slow when </a:t>
                      </a:r>
                      <a:r>
                        <a:rPr sz="1700" b="0" i="1">
                          <a:solidFill>
                            <a:srgbClr val="1C252B"/>
                          </a:solidFill>
                          <a:latin typeface="Cambria"/>
                        </a:rPr>
                        <a:t>n</a:t>
                      </a:r>
                      <a:r>
                        <a:rPr sz="1700" b="0" i="0">
                          <a:solidFill>
                            <a:srgbClr val="1C252B"/>
                          </a:solidFill>
                          <a:latin typeface="Segoe UI"/>
                        </a:rPr>
                        <a:t> is large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Stochastic (SGD)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One example, chosen at random</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Very cheap steps; noisy path that jitters around the minimum</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Mini-batch</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A batch of, say, 32–256 examples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The practical default; what neural networks use (Chapter 13)</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47858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Scale the Features Before Gradient Descent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  ·  Handout p. 40     </a:t>
            </a:r>
            <a:fld id="{9482B8BB-D137-4E95-AAB1-3E9C3679904C}"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one feature is measured in thousands and another in fractions, the MSE surface is a long narrow valley: a learning rate small enough for the steep direction crawls along the shallow one. Standardising the features (Chapter 3) makes the valley round and gradient descent converge in far fewer steps. The normal equation does not care.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72739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Multiple and Polynomial Features</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41     </a:t>
            </a:r>
            <a:fld id="{2B73C1A7-656D-4C59-B991-DCF226A38DF5}" type="slidenum">
              <a:rPr lang="en-GB" sz="1000">
                <a:solidFill>
                  <a:srgbClr val="8795A1"/>
                </a:solidFill>
                <a:latin typeface="Segoe UI"/>
              </a:rPr>
              <a:t>20</a:t>
            </a:fld>
          </a:p>
        </p:txBody>
      </p:sp>
      <p:sp>
        <p:nvSpPr>
          <p:cNvPr id="7" name="!!stbar">
            <a:extLst>
              <a:ext uri="{C183D7F6-B498-43B3-948B-1728B52AA6E4}">
                <adec:decorative xmlns:adec="http://schemas.microsoft.com/office/drawing/2017/decorative" val="1"/>
              </a:ext>
            </a:extLst>
          </p:cNvPr>
          <p:cNvSpPr/>
          <p:nvPr/>
        </p:nvSpPr>
        <p:spPr>
          <a:xfrm>
            <a:off x="658368" y="1810512"/>
            <a:ext cx="73152" cy="426592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1694078"/>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With several features each weight is a </a:t>
            </a:r>
            <a:r>
              <a:rPr sz="2600" b="0" i="1">
                <a:solidFill>
                  <a:srgbClr val="1C252B"/>
                </a:solidFill>
                <a:latin typeface="Segoe UI"/>
              </a:rPr>
              <a:t>partial</a:t>
            </a:r>
            <a:r>
              <a:rPr sz="2600" b="0" i="0">
                <a:solidFill>
                  <a:srgbClr val="1C252B"/>
                </a:solidFill>
                <a:latin typeface="Segoe UI"/>
              </a:rPr>
              <a:t> effect: the change in </a:t>
            </a:r>
            <a:r>
              <a:rPr sz="2600" b="0" i="1">
                <a:solidFill>
                  <a:srgbClr val="1C252B"/>
                </a:solidFill>
                <a:latin typeface="Cambria"/>
              </a:rPr>
              <a:t>ŷ</a:t>
            </a:r>
            <a:r>
              <a:rPr sz="2600" b="0" i="0">
                <a:solidFill>
                  <a:srgbClr val="1C252B"/>
                </a:solidFill>
                <a:latin typeface="Segoe UI"/>
              </a:rPr>
              <a:t> for one more unit of </a:t>
            </a:r>
            <a:r>
              <a:rPr sz="2600" b="0" i="1">
                <a:solidFill>
                  <a:srgbClr val="1C252B"/>
                </a:solidFill>
                <a:latin typeface="Cambria"/>
              </a:rPr>
              <a:t>x</a:t>
            </a:r>
            <a:r>
              <a:rPr sz="2600" b="0" i="1" baseline="-25000">
                <a:solidFill>
                  <a:srgbClr val="1C252B"/>
                </a:solidFill>
                <a:latin typeface="Cambria"/>
              </a:rPr>
              <a:t>j</a:t>
            </a:r>
            <a:r>
              <a:rPr sz="2600" b="0" i="0">
                <a:solidFill>
                  <a:srgbClr val="1C252B"/>
                </a:solidFill>
                <a:latin typeface="Segoe UI"/>
              </a:rPr>
              <a:t> </a:t>
            </a:r>
            <a:r>
              <a:rPr sz="2600" b="0" i="1">
                <a:solidFill>
                  <a:srgbClr val="1C252B"/>
                </a:solidFill>
                <a:latin typeface="Segoe UI"/>
              </a:rPr>
              <a:t>with the other features held fixed</a:t>
            </a:r>
            <a:r>
              <a:rPr sz="2600" b="0" i="0">
                <a:solidFill>
                  <a:srgbClr val="1C252B"/>
                </a:solidFill>
                <a:latin typeface="Segoe UI"/>
              </a:rPr>
              <a:t>. That is why the weight of a feature can change sign when another, correlated feature is added.</a:t>
            </a:r>
          </a:p>
        </p:txBody>
      </p:sp>
      <p:sp>
        <p:nvSpPr>
          <p:cNvPr id="9" name="body-1"/>
          <p:cNvSpPr txBox="1"/>
          <p:nvPr/>
        </p:nvSpPr>
        <p:spPr>
          <a:xfrm>
            <a:off x="1042415" y="3622192"/>
            <a:ext cx="10417759" cy="2518257"/>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linear model can also fit curves. Add powers of a feature as new features — </a:t>
            </a:r>
            <a:r>
              <a:rPr sz="2600" b="0" i="1">
                <a:solidFill>
                  <a:srgbClr val="1C252B"/>
                </a:solidFill>
                <a:latin typeface="Cambria"/>
              </a:rPr>
              <a:t>x</a:t>
            </a:r>
            <a:r>
              <a:rPr sz="2600" b="0" i="0">
                <a:solidFill>
                  <a:srgbClr val="1C252B"/>
                </a:solidFill>
                <a:latin typeface="Segoe UI"/>
              </a:rPr>
              <a:t>, </a:t>
            </a:r>
            <a:r>
              <a:rPr sz="2600" b="0" i="1">
                <a:solidFill>
                  <a:srgbClr val="1C252B"/>
                </a:solidFill>
                <a:latin typeface="Cambria"/>
              </a:rPr>
              <a:t>x</a:t>
            </a:r>
            <a:r>
              <a:rPr sz="2600" b="0" i="0" baseline="30000">
                <a:solidFill>
                  <a:srgbClr val="1C252B"/>
                </a:solidFill>
                <a:latin typeface="Cambria"/>
              </a:rPr>
              <a:t>2</a:t>
            </a:r>
            <a:r>
              <a:rPr sz="2600" b="0" i="0">
                <a:solidFill>
                  <a:srgbClr val="1C252B"/>
                </a:solidFill>
                <a:latin typeface="Segoe UI"/>
              </a:rPr>
              <a:t>, </a:t>
            </a:r>
            <a:r>
              <a:rPr sz="2600" b="0" i="1">
                <a:solidFill>
                  <a:srgbClr val="1C252B"/>
                </a:solidFill>
                <a:latin typeface="Cambria"/>
              </a:rPr>
              <a:t>x</a:t>
            </a:r>
            <a:r>
              <a:rPr sz="2600" b="0" i="0" baseline="30000">
                <a:solidFill>
                  <a:srgbClr val="1C252B"/>
                </a:solidFill>
                <a:latin typeface="Cambria"/>
              </a:rPr>
              <a:t>3</a:t>
            </a:r>
            <a:r>
              <a:rPr sz="2600" b="0" i="0">
                <a:solidFill>
                  <a:srgbClr val="1C252B"/>
                </a:solidFill>
                <a:latin typeface="Segoe UI"/>
              </a:rPr>
              <a:t> — and fit </a:t>
            </a:r>
            <a:r>
              <a:rPr sz="2600" b="0" i="1">
                <a:solidFill>
                  <a:srgbClr val="1C252B"/>
                </a:solidFill>
                <a:latin typeface="Cambria"/>
              </a:rPr>
              <a:t>ŷ</a:t>
            </a:r>
            <a:r>
              <a:rPr sz="2600" b="0" i="0">
                <a:solidFill>
                  <a:srgbClr val="1C252B"/>
                </a:solidFill>
                <a:latin typeface="Cambria"/>
              </a:rPr>
              <a:t> = </a:t>
            </a:r>
            <a:r>
              <a:rPr sz="2600" b="0" i="1">
                <a:solidFill>
                  <a:srgbClr val="1C252B"/>
                </a:solidFill>
                <a:latin typeface="Cambria"/>
              </a:rPr>
              <a:t>w</a:t>
            </a:r>
            <a:r>
              <a:rPr sz="2600" b="0" i="0" baseline="-25000">
                <a:solidFill>
                  <a:srgbClr val="1C252B"/>
                </a:solidFill>
                <a:latin typeface="Cambria"/>
              </a:rPr>
              <a:t>1</a:t>
            </a:r>
            <a:r>
              <a:rPr sz="2600" b="0" i="0">
                <a:solidFill>
                  <a:srgbClr val="1C252B"/>
                </a:solidFill>
                <a:latin typeface="Cambria"/>
              </a:rPr>
              <a:t> </a:t>
            </a:r>
            <a:r>
              <a:rPr sz="2600" b="0" i="1">
                <a:solidFill>
                  <a:srgbClr val="1C252B"/>
                </a:solidFill>
                <a:latin typeface="Cambria"/>
              </a:rPr>
              <a:t>x</a:t>
            </a:r>
            <a:r>
              <a:rPr sz="2600" b="0" i="0">
                <a:solidFill>
                  <a:srgbClr val="1C252B"/>
                </a:solidFill>
                <a:latin typeface="Cambria"/>
              </a:rPr>
              <a:t> + </a:t>
            </a:r>
            <a:r>
              <a:rPr sz="2600" b="0" i="1">
                <a:solidFill>
                  <a:srgbClr val="1C252B"/>
                </a:solidFill>
                <a:latin typeface="Cambria"/>
              </a:rPr>
              <a:t>w</a:t>
            </a:r>
            <a:r>
              <a:rPr sz="2600" b="0" i="0" baseline="-25000">
                <a:solidFill>
                  <a:srgbClr val="1C252B"/>
                </a:solidFill>
                <a:latin typeface="Cambria"/>
              </a:rPr>
              <a:t>2</a:t>
            </a:r>
            <a:r>
              <a:rPr sz="2600" b="0" i="0">
                <a:solidFill>
                  <a:srgbClr val="1C252B"/>
                </a:solidFill>
                <a:latin typeface="Cambria"/>
              </a:rPr>
              <a:t> </a:t>
            </a:r>
            <a:r>
              <a:rPr sz="2600" b="0" i="1">
                <a:solidFill>
                  <a:srgbClr val="1C252B"/>
                </a:solidFill>
                <a:latin typeface="Cambria"/>
              </a:rPr>
              <a:t>x</a:t>
            </a:r>
            <a:r>
              <a:rPr sz="2600" b="0" i="0" baseline="30000">
                <a:solidFill>
                  <a:srgbClr val="1C252B"/>
                </a:solidFill>
                <a:latin typeface="Cambria"/>
              </a:rPr>
              <a:t>2</a:t>
            </a:r>
            <a:r>
              <a:rPr sz="2600" b="0" i="0">
                <a:solidFill>
                  <a:srgbClr val="1C252B"/>
                </a:solidFill>
                <a:latin typeface="Cambria"/>
              </a:rPr>
              <a:t> + </a:t>
            </a:r>
            <a:r>
              <a:rPr sz="2600" b="0" i="1">
                <a:solidFill>
                  <a:srgbClr val="1C252B"/>
                </a:solidFill>
                <a:latin typeface="Cambria"/>
              </a:rPr>
              <a:t>w</a:t>
            </a:r>
            <a:r>
              <a:rPr sz="2600" b="0" i="0" baseline="-25000">
                <a:solidFill>
                  <a:srgbClr val="1C252B"/>
                </a:solidFill>
                <a:latin typeface="Cambria"/>
              </a:rPr>
              <a:t>3</a:t>
            </a:r>
            <a:r>
              <a:rPr sz="2600" b="0" i="0">
                <a:solidFill>
                  <a:srgbClr val="1C252B"/>
                </a:solidFill>
                <a:latin typeface="Cambria"/>
              </a:rPr>
              <a:t> </a:t>
            </a:r>
            <a:r>
              <a:rPr sz="2600" b="0" i="1">
                <a:solidFill>
                  <a:srgbClr val="1C252B"/>
                </a:solidFill>
                <a:latin typeface="Cambria"/>
              </a:rPr>
              <a:t>x</a:t>
            </a:r>
            <a:r>
              <a:rPr sz="2600" b="0" i="0" baseline="30000">
                <a:solidFill>
                  <a:srgbClr val="1C252B"/>
                </a:solidFill>
                <a:latin typeface="Cambria"/>
              </a:rPr>
              <a:t>3</a:t>
            </a:r>
            <a:r>
              <a:rPr sz="2600" b="0" i="0">
                <a:solidFill>
                  <a:srgbClr val="1C252B"/>
                </a:solidFill>
                <a:latin typeface="Cambria"/>
              </a:rPr>
              <a:t> + </a:t>
            </a:r>
            <a:r>
              <a:rPr sz="2600" b="0" i="1">
                <a:solidFill>
                  <a:srgbClr val="1C252B"/>
                </a:solidFill>
                <a:latin typeface="Cambria"/>
              </a:rPr>
              <a:t>b</a:t>
            </a:r>
            <a:r>
              <a:rPr sz="2600" b="0" i="0">
                <a:solidFill>
                  <a:srgbClr val="1C252B"/>
                </a:solidFill>
                <a:latin typeface="Segoe UI"/>
              </a:rPr>
              <a:t>. The model is still </a:t>
            </a:r>
            <a:r>
              <a:rPr sz="2600" b="0" i="1">
                <a:solidFill>
                  <a:srgbClr val="1C252B"/>
                </a:solidFill>
                <a:latin typeface="Segoe UI"/>
              </a:rPr>
              <a:t>linear in the weights</a:t>
            </a:r>
            <a:r>
              <a:rPr sz="2600" b="0" i="0">
                <a:solidFill>
                  <a:srgbClr val="1C252B"/>
                </a:solidFill>
                <a:latin typeface="Segoe UI"/>
              </a:rPr>
              <a:t>, so everything in this chapter applies unchanged; only the features are new. The danger is obvious as soon as it is said: with enough powers, the curve can pass through every training point. Chapter 7 begins exactly there.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97620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Measuring a Regression Model</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5.6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5.1   The Model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5.2   The Loss: Mean Squared Error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5.3   Least Squares by Formula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5.4   Fitting by Gradient Descent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5.5   Multiple and Polynomial Features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5.6   Measuring a Regression Model</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§5.6     </a:t>
            </a:r>
            <a:fld id="{77506203-FCFA-43B2-A649-9221F8F11899}" type="slidenum">
              <a:rPr lang="en-GB" sz="1000">
                <a:solidFill>
                  <a:srgbClr val="8795A1"/>
                </a:solidFill>
                <a:latin typeface="Segoe UI"/>
              </a:rPr>
              <a:t>21</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MAE, RMSE and R2</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B2E83498-44F1-4C1F-874E-340202CC7785}"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28460"/>
          </a:xfrm>
          <a:prstGeom prst="roundRect">
            <a:avLst>
              <a:gd name="adj" fmla="val 238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2846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Mean absolute error</a:t>
            </a:r>
            <a:r>
              <a:rPr sz="2300" b="0" i="0">
                <a:solidFill>
                  <a:srgbClr val="1C252B"/>
                </a:solidFill>
                <a:latin typeface="Segoe UI"/>
              </a:rPr>
              <a:t>: MAE</a:t>
            </a:r>
            <a:r>
              <a:rPr sz="2300" b="0" i="0">
                <a:solidFill>
                  <a:srgbClr val="1C252B"/>
                </a:solidFill>
                <a:latin typeface="Cambria"/>
              </a:rPr>
              <a:t> = 1/</a:t>
            </a:r>
            <a:r>
              <a:rPr sz="2300" b="0" i="1">
                <a:solidFill>
                  <a:srgbClr val="1C252B"/>
                </a:solidFill>
                <a:latin typeface="Cambria"/>
              </a:rPr>
              <a:t>n</a:t>
            </a:r>
            <a:r>
              <a:rPr sz="2300" b="0" i="0">
                <a:solidFill>
                  <a:srgbClr val="1C252B"/>
                </a:solidFill>
                <a:latin typeface="Cambria"/>
              </a:rPr>
              <a:t>Σ|</a:t>
            </a:r>
            <a:r>
              <a:rPr sz="2300" b="0" i="1">
                <a:solidFill>
                  <a:srgbClr val="1C252B"/>
                </a:solidFill>
                <a:latin typeface="Cambria"/>
              </a:rPr>
              <a:t>y</a:t>
            </a:r>
            <a:r>
              <a:rPr sz="2300" b="0" i="1" baseline="-25000">
                <a:solidFill>
                  <a:srgbClr val="1C252B"/>
                </a:solidFill>
                <a:latin typeface="Cambria"/>
              </a:rPr>
              <a:t>i</a:t>
            </a:r>
            <a:r>
              <a:rPr sz="2300" b="0" i="0">
                <a:solidFill>
                  <a:srgbClr val="1C252B"/>
                </a:solidFill>
                <a:latin typeface="Cambria"/>
              </a:rPr>
              <a:t> − </a:t>
            </a:r>
            <a:r>
              <a:rPr sz="2300" b="0" i="1">
                <a:solidFill>
                  <a:srgbClr val="1C252B"/>
                </a:solidFill>
                <a:latin typeface="Cambria"/>
              </a:rPr>
              <a:t>ŷ</a:t>
            </a:r>
            <a:r>
              <a:rPr sz="2300" b="0" i="1" baseline="-25000">
                <a:solidFill>
                  <a:srgbClr val="1C252B"/>
                </a:solidFill>
                <a:latin typeface="Cambria"/>
              </a:rPr>
              <a:t>i</a:t>
            </a:r>
            <a:r>
              <a:rPr sz="2300" b="0" i="0">
                <a:solidFill>
                  <a:srgbClr val="1C252B"/>
                </a:solidFill>
                <a:latin typeface="Cambria"/>
              </a:rPr>
              <a:t>|</a:t>
            </a:r>
            <a:r>
              <a:rPr sz="2300" b="0" i="0">
                <a:solidFill>
                  <a:srgbClr val="1C252B"/>
                </a:solidFill>
                <a:latin typeface="Segoe UI"/>
              </a:rPr>
              <a:t> — the typical size of an error, in the units of </a:t>
            </a:r>
            <a:r>
              <a:rPr sz="2300" b="0" i="1">
                <a:solidFill>
                  <a:srgbClr val="1C252B"/>
                </a:solidFill>
                <a:latin typeface="Cambria"/>
              </a:rPr>
              <a:t>y</a:t>
            </a:r>
            <a:r>
              <a:rPr sz="2300" b="0" i="0">
                <a:solidFill>
                  <a:srgbClr val="1C252B"/>
                </a:solidFill>
                <a:latin typeface="Segoe UI"/>
              </a:rPr>
              <a:t>.</a:t>
            </a:r>
          </a:p>
        </p:txBody>
      </p:sp>
      <p:sp>
        <p:nvSpPr>
          <p:cNvPr id="10" name="body-1"/>
          <p:cNvSpPr txBox="1"/>
          <p:nvPr/>
        </p:nvSpPr>
        <p:spPr>
          <a:xfrm>
            <a:off x="1060704" y="2937992"/>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Root mean squared error</a:t>
            </a:r>
            <a:r>
              <a:rPr sz="2300" b="0" i="0">
                <a:solidFill>
                  <a:srgbClr val="1C252B"/>
                </a:solidFill>
                <a:latin typeface="Segoe UI"/>
              </a:rPr>
              <a:t>: RMSE</a:t>
            </a:r>
            <a:r>
              <a:rPr sz="2300" b="0" i="0">
                <a:solidFill>
                  <a:srgbClr val="1C252B"/>
                </a:solidFill>
                <a:latin typeface="Cambria"/>
              </a:rPr>
              <a:t> = √(</a:t>
            </a:r>
            <a:r>
              <a:rPr sz="2300" b="0" i="0">
                <a:solidFill>
                  <a:srgbClr val="1C252B"/>
                </a:solidFill>
                <a:latin typeface="Segoe UI"/>
              </a:rPr>
              <a:t>MSE</a:t>
            </a:r>
            <a:r>
              <a:rPr sz="2300" b="0" i="0">
                <a:solidFill>
                  <a:srgbClr val="1C252B"/>
                </a:solidFill>
                <a:latin typeface="Cambria"/>
              </a:rPr>
              <a:t>)</a:t>
            </a:r>
            <a:r>
              <a:rPr sz="2300" b="0" i="0">
                <a:solidFill>
                  <a:srgbClr val="1C252B"/>
                </a:solidFill>
                <a:latin typeface="Segoe UI"/>
              </a:rPr>
              <a:t> — also in the units of </a:t>
            </a:r>
            <a:r>
              <a:rPr sz="2300" b="0" i="1">
                <a:solidFill>
                  <a:srgbClr val="1C252B"/>
                </a:solidFill>
                <a:latin typeface="Cambria"/>
              </a:rPr>
              <a:t>y</a:t>
            </a:r>
            <a:r>
              <a:rPr sz="2300" b="0" i="0">
                <a:solidFill>
                  <a:srgbClr val="1C252B"/>
                </a:solidFill>
                <a:latin typeface="Segoe UI"/>
              </a:rPr>
              <a:t>, but weighting large errors more.</a:t>
            </a:r>
          </a:p>
        </p:txBody>
      </p:sp>
      <p:pic>
        <p:nvPicPr>
          <p:cNvPr id="11" name="body-2" descr="Coefficient of determination: R2 = 1 − (Σ(yi − ŷi)2)/(Σ(yi − ȳ)2) — the fraction of the variance in y the model explains. 1 is perfect; 0 is no better than always predicting the mean; on test data it can be negativ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827729"/>
            <a:ext cx="10161727" cy="1427195"/>
          </a:xfrm>
          <a:prstGeom prst="rect">
            <a:avLst/>
          </a:prstGeom>
        </p:spPr>
      </p:pic>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47382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Scoring the Story-Point Model</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4EE75CC5-DB58-49DD-A28E-63330157836D}"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58591"/>
          </a:xfrm>
          <a:prstGeom prst="roundRect">
            <a:avLst>
              <a:gd name="adj" fmla="val 272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5859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Residuals </a:t>
            </a:r>
            <a:r>
              <a:rPr sz="2100" b="0" i="0">
                <a:solidFill>
                  <a:srgbClr val="1C252B"/>
                </a:solidFill>
                <a:latin typeface="Cambria"/>
              </a:rPr>
              <a:t>0.4, 0.2, −1.0, −0.2, 0.6</a:t>
            </a:r>
            <a:r>
              <a:rPr sz="2100" b="0" i="0">
                <a:solidFill>
                  <a:srgbClr val="1C252B"/>
                </a:solidFill>
                <a:latin typeface="Segoe UI"/>
              </a:rPr>
              <a:t>.</a:t>
            </a:r>
          </a:p>
        </p:txBody>
      </p:sp>
      <p:sp>
        <p:nvSpPr>
          <p:cNvPr id="10" name="body-1"/>
          <p:cNvSpPr txBox="1"/>
          <p:nvPr/>
        </p:nvSpPr>
        <p:spPr>
          <a:xfrm>
            <a:off x="1042416" y="2491206"/>
            <a:ext cx="10234879" cy="1230934"/>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7D6608"/>
                </a:solidFill>
                <a:latin typeface="Segoe UI"/>
              </a:rPr>
              <a:t>•	</a:t>
            </a:r>
            <a:r>
              <a:rPr sz="2100" b="0" i="0">
                <a:solidFill>
                  <a:srgbClr val="1C252B"/>
                </a:solidFill>
                <a:latin typeface="Segoe UI"/>
              </a:rPr>
              <a:t>MAE</a:t>
            </a:r>
            <a:r>
              <a:rPr sz="2100" b="0" i="0">
                <a:solidFill>
                  <a:srgbClr val="1C252B"/>
                </a:solidFill>
                <a:latin typeface="Cambria"/>
              </a:rPr>
              <a:t> = (0.4 + 0.2 + 1.0 + 0.2 + 0.6)/5 = </a:t>
            </a:r>
            <a:r>
              <a:rPr sz="2100" b="1" i="0">
                <a:solidFill>
                  <a:srgbClr val="1C252B"/>
                </a:solidFill>
                <a:latin typeface="Cambria"/>
              </a:rPr>
              <a:t>0.48</a:t>
            </a:r>
            <a:r>
              <a:rPr sz="2100" b="0" i="0">
                <a:solidFill>
                  <a:srgbClr val="1C252B"/>
                </a:solidFill>
                <a:latin typeface="Segoe UI"/>
              </a:rPr>
              <a:t> hours.</a:t>
            </a:r>
          </a:p>
          <a:p>
            <a:pPr algn="l" marL="234813" indent="-234813">
              <a:lnSpc>
                <a:spcPct val="104000"/>
              </a:lnSpc>
              <a:spcBef>
                <a:spcPts val="0"/>
              </a:spcBef>
              <a:spcAft>
                <a:spcPts val="735"/>
              </a:spcAft>
            </a:pPr>
            <a:r>
              <a:rPr sz="2100" b="1">
                <a:solidFill>
                  <a:srgbClr val="7D6608"/>
                </a:solidFill>
                <a:latin typeface="Segoe UI"/>
              </a:rPr>
              <a:t>•	</a:t>
            </a:r>
            <a:r>
              <a:rPr sz="2100" b="0" i="0">
                <a:solidFill>
                  <a:srgbClr val="1C252B"/>
                </a:solidFill>
                <a:latin typeface="Segoe UI"/>
              </a:rPr>
              <a:t>RMSE</a:t>
            </a:r>
            <a:r>
              <a:rPr sz="2100" b="0" i="0">
                <a:solidFill>
                  <a:srgbClr val="1C252B"/>
                </a:solidFill>
                <a:latin typeface="Cambria"/>
              </a:rPr>
              <a:t> = √(1.6/5) = √(0.32) = </a:t>
            </a:r>
            <a:r>
              <a:rPr sz="2100" b="1" i="0">
                <a:solidFill>
                  <a:srgbClr val="1C252B"/>
                </a:solidFill>
                <a:latin typeface="Cambria"/>
              </a:rPr>
              <a:t>0.57</a:t>
            </a:r>
            <a:r>
              <a:rPr sz="2100" b="0" i="0">
                <a:solidFill>
                  <a:srgbClr val="1C252B"/>
                </a:solidFill>
                <a:latin typeface="Segoe UI"/>
              </a:rPr>
              <a:t> hours.</a:t>
            </a:r>
          </a:p>
          <a:p>
            <a:pPr algn="l" marL="234813" indent="-234813">
              <a:lnSpc>
                <a:spcPct val="104000"/>
              </a:lnSpc>
              <a:spcBef>
                <a:spcPts val="0"/>
              </a:spcBef>
              <a:spcAft>
                <a:spcPts val="0"/>
              </a:spcAft>
            </a:pPr>
            <a:r>
              <a:rPr sz="2100" b="1">
                <a:solidFill>
                  <a:srgbClr val="7D6608"/>
                </a:solidFill>
                <a:latin typeface="Segoe UI"/>
              </a:rPr>
              <a:t>•	</a:t>
            </a:r>
            <a:r>
              <a:rPr sz="2100" b="0" i="0">
                <a:solidFill>
                  <a:srgbClr val="1C252B"/>
                </a:solidFill>
                <a:latin typeface="Cambria"/>
              </a:rPr>
              <a:t>Σ(</a:t>
            </a:r>
            <a:r>
              <a:rPr sz="2100" b="0" i="1">
                <a:solidFill>
                  <a:srgbClr val="1C252B"/>
                </a:solidFill>
                <a:latin typeface="Cambria"/>
              </a:rPr>
              <a:t>y</a:t>
            </a:r>
            <a:r>
              <a:rPr sz="2100" b="0" i="0">
                <a:solidFill>
                  <a:srgbClr val="1C252B"/>
                </a:solidFill>
                <a:latin typeface="Cambria"/>
              </a:rPr>
              <a:t> − </a:t>
            </a:r>
            <a:r>
              <a:rPr sz="2100" b="0" i="1">
                <a:solidFill>
                  <a:srgbClr val="1C252B"/>
                </a:solidFill>
                <a:latin typeface="Cambria"/>
              </a:rPr>
              <a:t>ȳ</a:t>
            </a:r>
            <a:r>
              <a:rPr sz="2100" b="0" i="0">
                <a:solidFill>
                  <a:srgbClr val="1C252B"/>
                </a:solidFill>
                <a:latin typeface="Cambria"/>
              </a:rPr>
              <a:t>)</a:t>
            </a:r>
            <a:r>
              <a:rPr sz="2100" b="0" i="0" baseline="30000">
                <a:solidFill>
                  <a:srgbClr val="1C252B"/>
                </a:solidFill>
                <a:latin typeface="Cambria"/>
              </a:rPr>
              <a:t>2</a:t>
            </a:r>
            <a:r>
              <a:rPr sz="2100" b="0" i="0">
                <a:solidFill>
                  <a:srgbClr val="1C252B"/>
                </a:solidFill>
                <a:latin typeface="Cambria"/>
              </a:rPr>
              <a:t> = 16 + 4 + 1 + 4 + 25 = 50</a:t>
            </a:r>
            <a:r>
              <a:rPr sz="2100" b="0" i="0">
                <a:solidFill>
                  <a:srgbClr val="1C252B"/>
                </a:solidFill>
                <a:latin typeface="Segoe UI"/>
              </a:rPr>
              <a:t>, so </a:t>
            </a:r>
            <a:r>
              <a:rPr sz="2100" b="0" i="1">
                <a:solidFill>
                  <a:srgbClr val="1C252B"/>
                </a:solidFill>
                <a:latin typeface="Cambria"/>
              </a:rPr>
              <a:t>R</a:t>
            </a:r>
            <a:r>
              <a:rPr sz="2100" b="0" i="0" baseline="30000">
                <a:solidFill>
                  <a:srgbClr val="1C252B"/>
                </a:solidFill>
                <a:latin typeface="Cambria"/>
              </a:rPr>
              <a:t>2</a:t>
            </a:r>
            <a:r>
              <a:rPr sz="2100" b="0" i="0">
                <a:solidFill>
                  <a:srgbClr val="1C252B"/>
                </a:solidFill>
                <a:latin typeface="Cambria"/>
              </a:rPr>
              <a:t> = 1 − 1.6/50 = </a:t>
            </a:r>
            <a:r>
              <a:rPr sz="2100" b="1" i="0">
                <a:solidFill>
                  <a:srgbClr val="1C252B"/>
                </a:solidFill>
                <a:latin typeface="Cambria"/>
              </a:rPr>
              <a:t>0.968</a:t>
            </a:r>
            <a:r>
              <a:rPr sz="2100" b="0" i="0">
                <a:solidFill>
                  <a:srgbClr val="1C252B"/>
                </a:solidFill>
                <a:latin typeface="Segoe UI"/>
              </a:rPr>
              <a:t>.</a:t>
            </a:r>
          </a:p>
        </p:txBody>
      </p:sp>
      <p:sp>
        <p:nvSpPr>
          <p:cNvPr id="11" name="body-2"/>
          <p:cNvSpPr txBox="1"/>
          <p:nvPr/>
        </p:nvSpPr>
        <p:spPr>
          <a:xfrm>
            <a:off x="1042416" y="3823106"/>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Caution.</a:t>
            </a:r>
            <a:r>
              <a:rPr sz="2100" b="0" i="0">
                <a:solidFill>
                  <a:srgbClr val="1C252B"/>
                </a:solidFill>
                <a:latin typeface="Segoe UI"/>
              </a:rPr>
              <a:t> These are </a:t>
            </a:r>
            <a:r>
              <a:rPr sz="2100" b="0" i="1">
                <a:solidFill>
                  <a:srgbClr val="1C252B"/>
                </a:solidFill>
                <a:latin typeface="Segoe UI"/>
              </a:rPr>
              <a:t>training</a:t>
            </a:r>
            <a:r>
              <a:rPr sz="2100" b="0" i="0">
                <a:solidFill>
                  <a:srgbClr val="1C252B"/>
                </a:solidFill>
                <a:latin typeface="Segoe UI"/>
              </a:rPr>
              <a:t> scores on five points fitted by two parameters. They say the line describes these five stories well. Whether it predicts the next story well can only be answered on stories it has not seen.</a:t>
            </a:r>
          </a:p>
        </p:txBody>
      </p:sp>
      <p:sp>
        <p:nvSpPr>
          <p:cNvPr id="12" name="body-2bar">
            <a:extLst>
              <a:ext uri="{C183D7F6-B498-43B3-948B-1728B52AA6E4}">
                <adec:decorative xmlns:adec="http://schemas.microsoft.com/office/drawing/2017/decorative" val="1"/>
              </a:ext>
            </a:extLst>
          </p:cNvPr>
          <p:cNvSpPr/>
          <p:nvPr/>
        </p:nvSpPr>
        <p:spPr>
          <a:xfrm>
            <a:off x="841248" y="3841394"/>
            <a:ext cx="54864" cy="9802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72263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wipe(right)">
                                      <p:cBhvr>
                                        <p:cTn id="8" dur="42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Residual plots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5.2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FC8929BF-CB01-4A44-9D77-706CE8A5D9A6}" type="slidenum">
              <a:rPr lang="en-GB" sz="1000">
                <a:solidFill>
                  <a:srgbClr val="8795A1"/>
                </a:solidFill>
                <a:latin typeface="Segoe UI"/>
              </a:rPr>
              <a:t>24</a:t>
            </a:fld>
          </a:p>
        </p:txBody>
      </p:sp>
      <p:pic>
        <p:nvPicPr>
          <p:cNvPr id="6" name="!!figure" descr="Figure 5.2. Residual plots. Left: residuals scattered evenly around zero, as they should be. Right: a U-shape, meaning the true relationship is curved; adding an x2 feature would remove 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9656" y="1737360"/>
            <a:ext cx="1019238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Left: residuals scattered evenly around zero, as they should be. Right: a U-shape, meaning the true relationship is curved; adding an x2 feature would remove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9714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Always Compare With the Mean</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F9F17879-D098-41EC-8FE7-C2A9907D5345}"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baseline for regression is “predict the training mean for everyone”, which has </a:t>
            </a:r>
            <a:r>
              <a:rPr sz="2300" b="0" i="1">
                <a:solidFill>
                  <a:srgbClr val="1C252B"/>
                </a:solidFill>
                <a:latin typeface="Cambria"/>
              </a:rPr>
              <a:t>R</a:t>
            </a:r>
            <a:r>
              <a:rPr sz="2300" b="0" i="0" baseline="30000">
                <a:solidFill>
                  <a:srgbClr val="1C252B"/>
                </a:solidFill>
                <a:latin typeface="Cambria"/>
              </a:rPr>
              <a:t>2</a:t>
            </a:r>
            <a:r>
              <a:rPr sz="2300" b="0" i="0">
                <a:solidFill>
                  <a:srgbClr val="1C252B"/>
                </a:solidFill>
                <a:latin typeface="Cambria"/>
              </a:rPr>
              <a:t> = 0</a:t>
            </a:r>
            <a:r>
              <a:rPr sz="2300" b="0" i="0">
                <a:solidFill>
                  <a:srgbClr val="1C252B"/>
                </a:solidFill>
                <a:latin typeface="Segoe UI"/>
              </a:rPr>
              <a:t>. On the diabetes data of this chapter’s lab it has an RMSE of 70; linear regression brings that to 56. Whether that improvement is worth having is a question about the application, not the algorithm — but without the baseline nobody could even ask it.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22025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60BEF905-DC72-4C0A-9CE7-94939D12F11D}" type="slidenum">
              <a:rPr lang="en-GB" sz="1000">
                <a:solidFill>
                  <a:srgbClr val="8795A1"/>
                </a:solidFill>
                <a:latin typeface="Segoe UI"/>
              </a:rPr>
              <a:t>26</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Reading a weight as a cause.</a:t>
            </a:r>
            <a:r>
              <a:rPr sz="2100" b="0" i="0">
                <a:solidFill>
                  <a:srgbClr val="1C252B"/>
                </a:solidFill>
                <a:latin typeface="Segoe UI"/>
              </a:rPr>
              <a:t> </a:t>
            </a:r>
            <a:r>
              <a:rPr sz="2100" b="0" i="1">
                <a:solidFill>
                  <a:srgbClr val="1C252B"/>
                </a:solidFill>
                <a:latin typeface="Cambria"/>
              </a:rPr>
              <a:t>w</a:t>
            </a:r>
            <a:r>
              <a:rPr sz="2100" b="0" i="0">
                <a:solidFill>
                  <a:srgbClr val="1C252B"/>
                </a:solidFill>
                <a:latin typeface="Cambria"/>
              </a:rPr>
              <a:t> = 2.2</a:t>
            </a:r>
            <a:r>
              <a:rPr sz="2100" b="0" i="0">
                <a:solidFill>
                  <a:srgbClr val="1C252B"/>
                </a:solidFill>
                <a:latin typeface="Segoe UI"/>
              </a:rPr>
              <a:t> hours per point describes the data; it does not say that adding points to a story would add hours. Chapter 21 returns to this.</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Comparing raw weights across features.</a:t>
            </a:r>
            <a:r>
              <a:rPr sz="2100" b="0" i="0">
                <a:solidFill>
                  <a:srgbClr val="1C252B"/>
                </a:solidFill>
                <a:latin typeface="Segoe UI"/>
              </a:rPr>
              <a:t> A weight’s size depends on its feature’s units. Standardise first, then compare.</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Extrapolating.</a:t>
            </a:r>
            <a:r>
              <a:rPr sz="2100" b="0" i="0">
                <a:solidFill>
                  <a:srgbClr val="1C252B"/>
                </a:solidFill>
                <a:latin typeface="Segoe UI"/>
              </a:rPr>
              <a:t> The line was fitted on 1–5 points; a 40-point epic is outside anything it has seen.</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Ignoring the residual plot.</a:t>
            </a:r>
            <a:r>
              <a:rPr sz="2100" b="0" i="0">
                <a:solidFill>
                  <a:srgbClr val="1C252B"/>
                </a:solidFill>
                <a:latin typeface="Segoe UI"/>
              </a:rPr>
              <a:t> A good </a:t>
            </a:r>
            <a:r>
              <a:rPr sz="2100" b="0" i="1">
                <a:solidFill>
                  <a:srgbClr val="1C252B"/>
                </a:solidFill>
                <a:latin typeface="Cambria"/>
              </a:rPr>
              <a:t>R</a:t>
            </a:r>
            <a:r>
              <a:rPr sz="2100" b="0" i="0" baseline="30000">
                <a:solidFill>
                  <a:srgbClr val="1C252B"/>
                </a:solidFill>
                <a:latin typeface="Cambria"/>
              </a:rPr>
              <a:t>2</a:t>
            </a:r>
            <a:r>
              <a:rPr sz="2100" b="0" i="0">
                <a:solidFill>
                  <a:srgbClr val="1C252B"/>
                </a:solidFill>
                <a:latin typeface="Segoe UI"/>
              </a:rPr>
              <a:t> with a curved residual pattern means a better model is available.</a:t>
            </a:r>
          </a:p>
        </p:txBody>
      </p:sp>
      <p:sp>
        <p:nvSpPr>
          <p:cNvPr id="19" name="!!pb4">
            <a:extLst>
              <a:ext uri="{C183D7F6-B498-43B3-948B-1728B52AA6E4}">
                <adec:decorative xmlns:adec="http://schemas.microsoft.com/office/drawing/2017/decorative" val="1"/>
              </a:ext>
            </a:extLst>
          </p:cNvPr>
          <p:cNvSpPr/>
          <p:nvPr/>
        </p:nvSpPr>
        <p:spPr>
          <a:xfrm>
            <a:off x="658368" y="522305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24591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204764"/>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Letting one outlier drive the fit.</a:t>
            </a:r>
            <a:r>
              <a:rPr sz="2100" b="0" i="0">
                <a:solidFill>
                  <a:srgbClr val="1C252B"/>
                </a:solidFill>
                <a:latin typeface="Segoe UI"/>
              </a:rPr>
              <a:t> Squared loss gives a single wild point enormous influence. Look at the data first.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46906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Linear Regression</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2E199D45-A02F-4288-90E7-E98501909B99}" type="slidenum">
              <a:rPr lang="en-GB" sz="1000">
                <a:solidFill>
                  <a:srgbClr val="8795A1"/>
                </a:solidFill>
                <a:latin typeface="Segoe UI"/>
              </a:rPr>
              <a:t>27</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Predict a final mark from coursework.</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Effort estimation is the textbook regression problem, and the story-point example is real practice.</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Predict energy use from outdoor temperature and occupancy.</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Predict normal outbound traffic per host from time of day and number of users, then treat a large positive residual as suspicious.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71787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Linear Regression</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0E4E3D18-3279-4659-A684-3584A02061A9}" type="slidenum">
              <a:rPr lang="en-GB" sz="1000">
                <a:solidFill>
                  <a:srgbClr val="8795A1"/>
                </a:solidFill>
                <a:latin typeface="Segoe UI"/>
              </a:rPr>
              <a:t>28</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Predict a final mark from coursework. The weights are the attraction: “each extra lab submitted is worth 1.8 marks” is something an adviser can say to a student. The danger is reading it causally — students who submit labs differ in many ways from those who do not.</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Linear Regression</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29F20CD7-FEC6-4E7E-B51A-A14C380AF0D8}" type="slidenum">
              <a:rPr lang="en-GB" sz="1000">
                <a:solidFill>
                  <a:srgbClr val="8795A1"/>
                </a:solidFill>
                <a:latin typeface="Segoe UI"/>
              </a:rPr>
              <a:t>29</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Effort estimation is the textbook regression problem, and the story-point example is real practice. Report RMSE in hours, compare with “hours per point” from last quarter as the baseline, and refit every few sprints: teams change, and so does the slope.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21549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Linear Regression</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804AB08F-7146-4E2A-A1E0-8F14057AC297}" type="slidenum">
              <a:rPr lang="en-GB" sz="1000">
                <a:solidFill>
                  <a:srgbClr val="8795A1"/>
                </a:solidFill>
                <a:latin typeface="Segoe UI"/>
              </a:rPr>
              <a:t>30</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Predict energy use from outdoor temperature and occupancy. The residual plot matters: consumption is U-shaped in temperature (heating when cold, cooling when hot), so a straight line leaves exactly the pattern of Figure 5.2; a squared temperature feature removes it.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46430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Linear Regression</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681EF7AB-6686-4CDB-B046-5EB942498F23}" type="slidenum">
              <a:rPr lang="en-GB" sz="1000">
                <a:solidFill>
                  <a:srgbClr val="8795A1"/>
                </a:solidFill>
                <a:latin typeface="Segoe UI"/>
              </a:rPr>
              <a:t>31</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Predict normal outbound traffic per host from time of day and number of users, then treat a large positive residual as suspicious. The regression is not the detector; its residuals are. This is regression used for anomaly detection, and it works only if the training period was clean.</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71311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Least Squares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B79593D7-92D7-409C-BAB6-230780D578DD}" type="slidenum">
              <a:rPr lang="en-GB" sz="1000">
                <a:solidFill>
                  <a:srgbClr val="8795A1"/>
                </a:solidFill>
                <a:latin typeface="Segoe UI"/>
              </a:rPr>
              <a:t>32</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worked example by formula, then by gradient descent, then a real dataset: disease progression in 442 diabetes patients from ten measurements.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The worked example, by formula</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The same line by gradient descent</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A real dataset, against the mean baseline</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4: Least squares three ways</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37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code/ch05_least_squares_three.py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96192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Least Squares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600842FB-35DB-49A7-8C85-CADB1E846DC2}"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157984"/>
          </a:xfrm>
          <a:prstGeom prst="roundRect">
            <a:avLst>
              <a:gd name="adj" fmla="val 42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code/ch05_least_squares_three.py</a:t>
            </a:r>
          </a:p>
        </p:txBody>
      </p:sp>
      <p:sp>
        <p:nvSpPr>
          <p:cNvPr id="14" name="!!code-text" descr="import numpy as np from sklearn.datasets import load_diabetes from sklearn.model_selection import train_test_split from sklearn.preprocessing import StandardScaler from sklearn.linear_model import LinearRegression from sklearn.metrics import mean_absolute_error, mean_squared_error, r2_score"/>
          <p:cNvSpPr txBox="1"/>
          <p:nvPr/>
        </p:nvSpPr>
        <p:spPr>
          <a:xfrm>
            <a:off x="1362456" y="2523744"/>
            <a:ext cx="9987991" cy="1664208"/>
          </a:xfrm>
          <a:prstGeom prst="rect">
            <a:avLst/>
          </a:prstGeom>
          <a:noFill/>
        </p:spPr>
        <p:txBody>
          <a:bodyPr wrap="none" anchor="t" lIns="0" rIns="0" tIns="0" bIns="0">
            <a:noAutofit/>
          </a:bodyPr>
          <a:lstStyle/>
          <a:p>
            <a:pPr>
              <a:lnSpc>
                <a:spcPct val="100000"/>
              </a:lnSpc>
              <a:spcAft>
                <a:spcPts val="0"/>
              </a:spcAft>
            </a:pPr>
            <a:r>
              <a:rPr sz="1700" i="0">
                <a:solidFill>
                  <a:srgbClr val="5DADE2"/>
                </a:solidFill>
                <a:latin typeface="Consolas"/>
              </a:rPr>
              <a:t>import</a:t>
            </a:r>
            <a:r>
              <a:rPr sz="1700" i="0">
                <a:solidFill>
                  <a:srgbClr val="E8EDF2"/>
                </a:solidFill>
                <a:latin typeface="Consolas"/>
              </a:rPr>
              <a:t> </a:t>
            </a:r>
            <a:r>
              <a:rPr sz="1700" i="0">
                <a:solidFill>
                  <a:srgbClr val="76D7C4"/>
                </a:solidFill>
                <a:latin typeface="Consolas"/>
              </a:rPr>
              <a:t>numpy</a:t>
            </a:r>
            <a:r>
              <a:rPr sz="1700" i="0">
                <a:solidFill>
                  <a:srgbClr val="E8EDF2"/>
                </a:solidFill>
                <a:latin typeface="Consolas"/>
              </a:rPr>
              <a:t> </a:t>
            </a:r>
            <a:r>
              <a:rPr sz="1700" i="0">
                <a:solidFill>
                  <a:srgbClr val="5DADE2"/>
                </a:solidFill>
                <a:latin typeface="Consolas"/>
              </a:rPr>
              <a:t>as</a:t>
            </a:r>
            <a:r>
              <a:rPr sz="1700" i="0">
                <a:solidFill>
                  <a:srgbClr val="E8EDF2"/>
                </a:solidFill>
                <a:latin typeface="Consolas"/>
              </a:rPr>
              <a:t> </a:t>
            </a:r>
            <a:r>
              <a:rPr sz="1700" i="0">
                <a:solidFill>
                  <a:srgbClr val="76D7C4"/>
                </a:solidFill>
                <a:latin typeface="Consolas"/>
              </a:rPr>
              <a:t>np</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datasets</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load_diabetes</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model_selection</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train_test_split</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preprocessing</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StandardScaler</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linear_model</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LinearRegression</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metrics</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mean_absolute_error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mean_squared_error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r2_score</a:t>
            </a:r>
          </a:p>
        </p:txBody>
      </p:sp>
      <p:sp>
        <p:nvSpPr>
          <p:cNvPr id="15" name="!!code-num"/>
          <p:cNvSpPr txBox="1"/>
          <p:nvPr/>
        </p:nvSpPr>
        <p:spPr>
          <a:xfrm>
            <a:off x="768096" y="2523744"/>
            <a:ext cx="393192" cy="166420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a:t>
            </a:r>
          </a:p>
          <a:p>
            <a:pPr algn="r">
              <a:lnSpc>
                <a:spcPct val="100000"/>
              </a:lnSpc>
            </a:pPr>
            <a:r>
              <a:rPr sz="1700">
                <a:solidFill>
                  <a:srgbClr val="4F5D6A"/>
                </a:solidFill>
                <a:latin typeface="Consolas"/>
              </a:rPr>
              <a:t>3</a:t>
            </a:r>
          </a:p>
          <a:p>
            <a:pPr algn="r">
              <a:lnSpc>
                <a:spcPct val="100000"/>
              </a:lnSpc>
            </a:pPr>
            <a:r>
              <a:rPr sz="1700">
                <a:solidFill>
                  <a:srgbClr val="4F5D6A"/>
                </a:solidFill>
                <a:latin typeface="Consolas"/>
              </a:rPr>
              <a:t>4</a:t>
            </a:r>
          </a:p>
          <a:p>
            <a:pPr algn="r">
              <a:lnSpc>
                <a:spcPct val="100000"/>
              </a:lnSpc>
            </a:pPr>
            <a:r>
              <a:rPr sz="1700">
                <a:solidFill>
                  <a:srgbClr val="4F5D6A"/>
                </a:solidFill>
                <a:latin typeface="Consolas"/>
              </a:rPr>
              <a:t>5</a:t>
            </a:r>
          </a:p>
          <a:p>
            <a:pPr algn="r">
              <a:lnSpc>
                <a:spcPct val="100000"/>
              </a:lnSpc>
            </a:pPr>
            <a:r>
              <a:rPr sz="1700">
                <a:solidFill>
                  <a:srgbClr val="4F5D6A"/>
                </a:solidFill>
                <a:latin typeface="Consolas"/>
              </a:rPr>
              <a:t>6</a:t>
            </a:r>
          </a:p>
          <a:p>
            <a:pPr algn="r">
              <a:lnSpc>
                <a:spcPct val="100000"/>
              </a:lnSpc>
            </a:pPr>
            <a:r>
              <a:rPr sz="1700">
                <a:solidFill>
                  <a:srgbClr val="4F5D6A"/>
                </a:solidFill>
                <a:latin typeface="Consolas"/>
              </a:rPr>
              <a:t>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1073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Least Squares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5B716D4F-3E37-40D8-83F0-07DA8405829E}"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worked example, by formula</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code/ch05_least_squares_three.py</a:t>
            </a:r>
          </a:p>
        </p:txBody>
      </p:sp>
      <p:sp>
        <p:nvSpPr>
          <p:cNvPr id="14" name="!!code-text" descr="# --- 1. the worked example, by formula ----------------------------------- x = np.array([1, 2, 3, 4, 5.0]) # story points y = np.array([3, 5, 6, 9, 12.0]) # hours w = ((x - x.mean()) * (y - y.mean())).sum() / ((x - x.mean()) ** 2).sum() b = y.mean() - w * x.mean() print(f&quot;least squares: w = {w:.2f}, b = {b:.2f}&quot;)"/>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the worked example, by formula -----------------------------------</a:t>
            </a:r>
          </a:p>
          <a:p>
            <a:pPr>
              <a:lnSpc>
                <a:spcPct val="100000"/>
              </a:lnSpc>
              <a:spcAft>
                <a:spcPts val="0"/>
              </a:spcAft>
            </a:pP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story points</a:t>
            </a:r>
          </a:p>
          <a:p>
            <a:pPr>
              <a:lnSpc>
                <a:spcPct val="100000"/>
              </a:lnSpc>
              <a:spcAft>
                <a:spcPts val="0"/>
              </a:spcAft>
            </a:pPr>
            <a:r>
              <a:rPr sz="1800" i="0">
                <a:solidFill>
                  <a:srgbClr val="E8EDF2"/>
                </a:solidFill>
                <a:latin typeface="Consolas"/>
              </a:rPr>
              <a:t>y</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6</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9</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12.0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hours</a:t>
            </a:r>
          </a:p>
          <a:p>
            <a:pPr>
              <a:lnSpc>
                <a:spcPct val="100000"/>
              </a:lnSpc>
              <a:spcAft>
                <a:spcPts val="0"/>
              </a:spcAft>
            </a:pP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y</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least squares:    w = </a:t>
            </a:r>
            <a:r>
              <a:rPr sz="1800" i="0">
                <a:solidFill>
                  <a:srgbClr val="7DCEA0"/>
                </a:solidFill>
                <a:latin typeface="Consolas"/>
              </a:rPr>
              <a:t>{</a:t>
            </a:r>
            <a:r>
              <a:rPr sz="1800" i="0">
                <a:solidFill>
                  <a:srgbClr val="E8EDF2"/>
                </a:solidFill>
                <a:latin typeface="Consolas"/>
              </a:rPr>
              <a:t>w</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 b = </a:t>
            </a:r>
            <a:r>
              <a:rPr sz="1800" i="0">
                <a:solidFill>
                  <a:srgbClr val="7DCEA0"/>
                </a:solidFill>
                <a:latin typeface="Consolas"/>
              </a:rPr>
              <a:t>{</a:t>
            </a:r>
            <a:r>
              <a:rPr sz="1800" i="0">
                <a:solidFill>
                  <a:srgbClr val="E8EDF2"/>
                </a:solidFill>
                <a:latin typeface="Consolas"/>
              </a:rPr>
              <a:t>b</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5954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Least Squares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0842CB56-9F8F-495B-9062-E758F8F3D846}"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line by gradient descent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code/ch05_least_squares_three.py</a:t>
            </a:r>
          </a:p>
        </p:txBody>
      </p:sp>
      <p:sp>
        <p:nvSpPr>
          <p:cNvPr id="14" name="!!code-text" descr="# --- 2. the same line by gradient descent -------------------------------- wg, bg, alpha = 0.0, 0.0, 0.05 for step in range(2000): err = (wg * x + bg) - y # y_hat - y wg -= alpha * 2 * (err * x).mean() bg -= alpha * 2 * err.mean() print(f&quot;gradient descent: w = {wg:.2f}, b = {bg:.2f}&quot;)"/>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the same line by gradient descent --------------------------------</a:t>
            </a:r>
          </a:p>
          <a:p>
            <a:pPr>
              <a:lnSpc>
                <a:spcPct val="100000"/>
              </a:lnSpc>
              <a:spcAft>
                <a:spcPts val="0"/>
              </a:spcAft>
            </a:pPr>
            <a:r>
              <a:rPr sz="1800" i="0">
                <a:solidFill>
                  <a:srgbClr val="E8EDF2"/>
                </a:solidFill>
                <a:latin typeface="Consolas"/>
              </a:rPr>
              <a:t>wg</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bg</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alpha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0.05</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step</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F7DC6F"/>
                </a:solidFill>
                <a:latin typeface="Consolas"/>
              </a:rPr>
              <a:t>2000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err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wg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bg</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E8EDF2"/>
                </a:solidFill>
                <a:latin typeface="Consolas"/>
              </a:rPr>
              <a:t>              </a:t>
            </a:r>
            <a:r>
              <a:rPr sz="1800" i="1">
                <a:solidFill>
                  <a:srgbClr val="8795A1"/>
                </a:solidFill>
                <a:latin typeface="Consolas"/>
              </a:rPr>
              <a:t># y_hat - y</a:t>
            </a:r>
          </a:p>
          <a:p>
            <a:pPr>
              <a:lnSpc>
                <a:spcPct val="100000"/>
              </a:lnSpc>
              <a:spcAft>
                <a:spcPts val="0"/>
              </a:spcAft>
            </a:pPr>
            <a:r>
              <a:rPr sz="1800" i="0">
                <a:solidFill>
                  <a:srgbClr val="E8EDF2"/>
                </a:solidFill>
                <a:latin typeface="Consolas"/>
              </a:rPr>
              <a:t>    </a:t>
            </a:r>
            <a:r>
              <a:rPr sz="1800" i="0">
                <a:solidFill>
                  <a:srgbClr val="E8EDF2"/>
                </a:solidFill>
                <a:latin typeface="Consolas"/>
              </a:rPr>
              <a:t>wg</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alpha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err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bg</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alpha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err</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gradient descent: w = </a:t>
            </a:r>
            <a:r>
              <a:rPr sz="1800" i="0">
                <a:solidFill>
                  <a:srgbClr val="7DCEA0"/>
                </a:solidFill>
                <a:latin typeface="Consolas"/>
              </a:rPr>
              <a:t>{</a:t>
            </a:r>
            <a:r>
              <a:rPr sz="1800" i="0">
                <a:solidFill>
                  <a:srgbClr val="E8EDF2"/>
                </a:solidFill>
                <a:latin typeface="Consolas"/>
              </a:rPr>
              <a:t>wg</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 b = </a:t>
            </a:r>
            <a:r>
              <a:rPr sz="1800" i="0">
                <a:solidFill>
                  <a:srgbClr val="7DCEA0"/>
                </a:solidFill>
                <a:latin typeface="Consolas"/>
              </a:rPr>
              <a:t>{</a:t>
            </a:r>
            <a:r>
              <a:rPr sz="1800" i="0">
                <a:solidFill>
                  <a:srgbClr val="E8EDF2"/>
                </a:solidFill>
                <a:latin typeface="Consolas"/>
              </a:rPr>
              <a:t>bg</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Least Squares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BB65A6BC-6FA4-473A-AC0C-32B50153C09A}"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real dataset, against the mean baseline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code/ch05_least_squares_three.py</a:t>
            </a:r>
          </a:p>
        </p:txBody>
      </p:sp>
      <p:sp>
        <p:nvSpPr>
          <p:cNvPr id="14" name="!!code-text" descr="# --- 3. a real dataset, against the mean baseline ------------------------ X, t = load_diabetes(return_X_y=True) X_tr, X_te, t_tr, t_te = train_test_split(X, t, test_size=0.25, random_state=0) scaler = StandardScaler().fit(X_tr) model = LinearRegression().fit(scaler.transform(X_tr), t_tr) pred = model.predict(scaler.transform(X_te)) base = np.full_like(t_te, t_tr.mean()) # always predict the mean for name, p in [(&quot;baseline (mean)&quot;, base), (&quot;linear regression&quot;, pred)]: print(f&quot;{name:18s} MAE {mean_absolute_error(t_te, p):5.1f} &quot; f&quot;RMSE {mean_squared_error(t_te, p) ** 0.5:5.1f} &quot; f&quot;R2 {r2_score(t_te, p):5.2f}&quot;) names = load_diabetes().feature_names for i in np.argsort(-np.abs(model.coef_))[:3]: print(f&quot; weight on {names[i]:4s}: {float(model.coef_[i]):6.1f}&quot;)"/>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--- 3. a real dataset, against the mean baseline ------------------------</a:t>
            </a:r>
          </a:p>
          <a:p>
            <a:pPr>
              <a:lnSpc>
                <a:spcPct val="100000"/>
              </a:lnSpc>
              <a:spcAft>
                <a:spcPts val="0"/>
              </a:spcAft>
            </a:pPr>
            <a:r>
              <a:rPr sz="1500" i="0">
                <a:solidFill>
                  <a:srgbClr val="E8EDF2"/>
                </a:solidFill>
                <a:latin typeface="Consolas"/>
              </a:rPr>
              <a:t>X</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load_diabetes</a:t>
            </a:r>
            <a:r>
              <a:rPr sz="1500" i="0">
                <a:solidFill>
                  <a:srgbClr val="AEB6BF"/>
                </a:solidFill>
                <a:latin typeface="Consolas"/>
              </a:rPr>
              <a:t>(</a:t>
            </a:r>
            <a:r>
              <a:rPr sz="1500" i="0">
                <a:solidFill>
                  <a:srgbClr val="E8EDF2"/>
                </a:solidFill>
                <a:latin typeface="Consolas"/>
              </a:rPr>
              <a:t>return_X_y</a:t>
            </a:r>
            <a:r>
              <a:rPr sz="1500" i="0">
                <a:solidFill>
                  <a:srgbClr val="AEB6BF"/>
                </a:solidFill>
                <a:latin typeface="Consolas"/>
              </a:rPr>
              <a:t>=</a:t>
            </a:r>
            <a:r>
              <a:rPr sz="1500" i="0">
                <a:solidFill>
                  <a:srgbClr val="5DADE2"/>
                </a:solidFill>
                <a:latin typeface="Consolas"/>
              </a:rPr>
              <a:t>True</a:t>
            </a:r>
            <a:r>
              <a:rPr sz="1500" i="0">
                <a:solidFill>
                  <a:srgbClr val="AEB6BF"/>
                </a:solidFill>
                <a:latin typeface="Consolas"/>
              </a:rPr>
              <a:t>)</a:t>
            </a:r>
          </a:p>
          <a:p>
            <a:pPr>
              <a:lnSpc>
                <a:spcPct val="100000"/>
              </a:lnSpc>
              <a:spcAft>
                <a:spcPts val="0"/>
              </a:spcAft>
            </a:pPr>
            <a:r>
              <a:rPr sz="1500" i="0">
                <a:solidFill>
                  <a:srgbClr val="E8EDF2"/>
                </a:solidFill>
                <a:latin typeface="Consolas"/>
              </a:rPr>
              <a:t>X_tr</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X_te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t_tr</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t_te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train_test_split</a:t>
            </a:r>
            <a:r>
              <a:rPr sz="1500" i="0">
                <a:solidFill>
                  <a:srgbClr val="AEB6BF"/>
                </a:solidFill>
                <a:latin typeface="Consolas"/>
              </a:rPr>
              <a:t>(</a:t>
            </a:r>
            <a:r>
              <a:rPr sz="1500" i="0">
                <a:solidFill>
                  <a:srgbClr val="E8EDF2"/>
                </a:solidFill>
                <a:latin typeface="Consolas"/>
              </a:rPr>
              <a:t>X</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test_size</a:t>
            </a:r>
            <a:r>
              <a:rPr sz="1500" i="0">
                <a:solidFill>
                  <a:srgbClr val="AEB6BF"/>
                </a:solidFill>
                <a:latin typeface="Consolas"/>
              </a:rPr>
              <a:t>=</a:t>
            </a:r>
            <a:r>
              <a:rPr sz="1500" i="0">
                <a:solidFill>
                  <a:srgbClr val="F7DC6F"/>
                </a:solidFill>
                <a:latin typeface="Consolas"/>
              </a:rPr>
              <a:t>0.25</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random_state</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p>
          <a:p>
            <a:pPr>
              <a:lnSpc>
                <a:spcPct val="100000"/>
              </a:lnSpc>
              <a:spcAft>
                <a:spcPts val="0"/>
              </a:spcAft>
            </a:pPr>
            <a:r>
              <a:rPr sz="1500" i="0">
                <a:solidFill>
                  <a:srgbClr val="E8EDF2"/>
                </a:solidFill>
                <a:latin typeface="Consolas"/>
              </a:rPr>
              <a:t>scaler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StandardScaler</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fit</a:t>
            </a:r>
            <a:r>
              <a:rPr sz="1500" i="0">
                <a:solidFill>
                  <a:srgbClr val="AEB6BF"/>
                </a:solidFill>
                <a:latin typeface="Consolas"/>
              </a:rPr>
              <a:t>(</a:t>
            </a:r>
            <a:r>
              <a:rPr sz="1500" i="0">
                <a:solidFill>
                  <a:srgbClr val="E8EDF2"/>
                </a:solidFill>
                <a:latin typeface="Consolas"/>
              </a:rPr>
              <a:t>X_tr</a:t>
            </a:r>
            <a:r>
              <a:rPr sz="1500" i="0">
                <a:solidFill>
                  <a:srgbClr val="AEB6BF"/>
                </a:solidFill>
                <a:latin typeface="Consolas"/>
              </a:rPr>
              <a:t>)</a:t>
            </a:r>
          </a:p>
          <a:p>
            <a:pPr>
              <a:lnSpc>
                <a:spcPct val="100000"/>
              </a:lnSpc>
              <a:spcAft>
                <a:spcPts val="0"/>
              </a:spcAft>
            </a:pPr>
            <a:r>
              <a:rPr sz="1500" i="0">
                <a:solidFill>
                  <a:srgbClr val="E8EDF2"/>
                </a:solidFill>
                <a:latin typeface="Consolas"/>
              </a:rPr>
              <a:t>model</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LinearRegression</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fit</a:t>
            </a:r>
            <a:r>
              <a:rPr sz="1500" i="0">
                <a:solidFill>
                  <a:srgbClr val="AEB6BF"/>
                </a:solidFill>
                <a:latin typeface="Consolas"/>
              </a:rPr>
              <a:t>(</a:t>
            </a:r>
            <a:r>
              <a:rPr sz="1500" i="0">
                <a:solidFill>
                  <a:srgbClr val="E8EDF2"/>
                </a:solidFill>
                <a:latin typeface="Consolas"/>
              </a:rPr>
              <a:t>scaler</a:t>
            </a:r>
            <a:r>
              <a:rPr sz="1500" i="0">
                <a:solidFill>
                  <a:srgbClr val="AEB6BF"/>
                </a:solidFill>
                <a:latin typeface="Consolas"/>
              </a:rPr>
              <a:t>.</a:t>
            </a:r>
            <a:r>
              <a:rPr sz="1500" i="0">
                <a:solidFill>
                  <a:srgbClr val="E8EDF2"/>
                </a:solidFill>
                <a:latin typeface="Consolas"/>
              </a:rPr>
              <a:t>transform</a:t>
            </a:r>
            <a:r>
              <a:rPr sz="1500" i="0">
                <a:solidFill>
                  <a:srgbClr val="AEB6BF"/>
                </a:solidFill>
                <a:latin typeface="Consolas"/>
              </a:rPr>
              <a:t>(</a:t>
            </a:r>
            <a:r>
              <a:rPr sz="1500" i="0">
                <a:solidFill>
                  <a:srgbClr val="E8EDF2"/>
                </a:solidFill>
                <a:latin typeface="Consolas"/>
              </a:rPr>
              <a:t>X_tr</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t_tr</a:t>
            </a:r>
            <a:r>
              <a:rPr sz="1500" i="0">
                <a:solidFill>
                  <a:srgbClr val="AEB6BF"/>
                </a:solidFill>
                <a:latin typeface="Consolas"/>
              </a:rPr>
              <a:t>)</a:t>
            </a:r>
          </a:p>
          <a:p>
            <a:pPr>
              <a:lnSpc>
                <a:spcPct val="100000"/>
              </a:lnSpc>
              <a:spcAft>
                <a:spcPts val="0"/>
              </a:spcAft>
            </a:pPr>
            <a:r>
              <a:rPr sz="1500" i="0">
                <a:solidFill>
                  <a:srgbClr val="E8EDF2"/>
                </a:solidFill>
                <a:latin typeface="Consolas"/>
              </a:rPr>
              <a:t>pred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model</a:t>
            </a:r>
            <a:r>
              <a:rPr sz="1500" i="0">
                <a:solidFill>
                  <a:srgbClr val="AEB6BF"/>
                </a:solidFill>
                <a:latin typeface="Consolas"/>
              </a:rPr>
              <a:t>.</a:t>
            </a:r>
            <a:r>
              <a:rPr sz="1500" i="0">
                <a:solidFill>
                  <a:srgbClr val="E8EDF2"/>
                </a:solidFill>
                <a:latin typeface="Consolas"/>
              </a:rPr>
              <a:t>predict</a:t>
            </a:r>
            <a:r>
              <a:rPr sz="1500" i="0">
                <a:solidFill>
                  <a:srgbClr val="AEB6BF"/>
                </a:solidFill>
                <a:latin typeface="Consolas"/>
              </a:rPr>
              <a:t>(</a:t>
            </a:r>
            <a:r>
              <a:rPr sz="1500" i="0">
                <a:solidFill>
                  <a:srgbClr val="E8EDF2"/>
                </a:solidFill>
                <a:latin typeface="Consolas"/>
              </a:rPr>
              <a:t>scaler</a:t>
            </a:r>
            <a:r>
              <a:rPr sz="1500" i="0">
                <a:solidFill>
                  <a:srgbClr val="AEB6BF"/>
                </a:solidFill>
                <a:latin typeface="Consolas"/>
              </a:rPr>
              <a:t>.</a:t>
            </a:r>
            <a:r>
              <a:rPr sz="1500" i="0">
                <a:solidFill>
                  <a:srgbClr val="E8EDF2"/>
                </a:solidFill>
                <a:latin typeface="Consolas"/>
              </a:rPr>
              <a:t>transform</a:t>
            </a:r>
            <a:r>
              <a:rPr sz="1500" i="0">
                <a:solidFill>
                  <a:srgbClr val="AEB6BF"/>
                </a:solidFill>
                <a:latin typeface="Consolas"/>
              </a:rPr>
              <a:t>(</a:t>
            </a:r>
            <a:r>
              <a:rPr sz="1500" i="0">
                <a:solidFill>
                  <a:srgbClr val="E8EDF2"/>
                </a:solidFill>
                <a:latin typeface="Consolas"/>
              </a:rPr>
              <a:t>X_te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base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np</a:t>
            </a:r>
            <a:r>
              <a:rPr sz="1500" i="0">
                <a:solidFill>
                  <a:srgbClr val="AEB6BF"/>
                </a:solidFill>
                <a:latin typeface="Consolas"/>
              </a:rPr>
              <a:t>.</a:t>
            </a:r>
            <a:r>
              <a:rPr sz="1500" i="0">
                <a:solidFill>
                  <a:srgbClr val="E8EDF2"/>
                </a:solidFill>
                <a:latin typeface="Consolas"/>
              </a:rPr>
              <a:t>full_like</a:t>
            </a:r>
            <a:r>
              <a:rPr sz="1500" i="0">
                <a:solidFill>
                  <a:srgbClr val="AEB6BF"/>
                </a:solidFill>
                <a:latin typeface="Consolas"/>
              </a:rPr>
              <a:t>(</a:t>
            </a:r>
            <a:r>
              <a:rPr sz="1500" i="0">
                <a:solidFill>
                  <a:srgbClr val="E8EDF2"/>
                </a:solidFill>
                <a:latin typeface="Consolas"/>
              </a:rPr>
              <a:t>t_te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t_tr</a:t>
            </a:r>
            <a:r>
              <a:rPr sz="1500" i="0">
                <a:solidFill>
                  <a:srgbClr val="AEB6BF"/>
                </a:solidFill>
                <a:latin typeface="Consolas"/>
              </a:rPr>
              <a:t>.</a:t>
            </a:r>
            <a:r>
              <a:rPr sz="1500" i="0">
                <a:solidFill>
                  <a:srgbClr val="E8EDF2"/>
                </a:solidFill>
                <a:latin typeface="Consolas"/>
              </a:rPr>
              <a:t>mean</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always predict the mean</a:t>
            </a:r>
          </a:p>
          <a:p>
            <a:pPr>
              <a:lnSpc>
                <a:spcPct val="100000"/>
              </a:lnSpc>
              <a:spcAft>
                <a:spcPts val="0"/>
              </a:spcAft>
            </a:pP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name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baseline (mean)</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base</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linear regression</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pred</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f</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name</a:t>
            </a:r>
            <a:r>
              <a:rPr sz="1500" i="0">
                <a:solidFill>
                  <a:srgbClr val="7DCEA0"/>
                </a:solidFill>
                <a:latin typeface="Consolas"/>
              </a:rPr>
              <a:t>:</a:t>
            </a:r>
            <a:r>
              <a:rPr sz="1500" i="0">
                <a:solidFill>
                  <a:srgbClr val="7DCEA0"/>
                </a:solidFill>
                <a:latin typeface="Consolas"/>
              </a:rPr>
              <a:t>18s</a:t>
            </a:r>
            <a:r>
              <a:rPr sz="1500" i="0">
                <a:solidFill>
                  <a:srgbClr val="7DCEA0"/>
                </a:solidFill>
                <a:latin typeface="Consolas"/>
              </a:rPr>
              <a:t>}</a:t>
            </a:r>
            <a:r>
              <a:rPr sz="1500" i="0">
                <a:solidFill>
                  <a:srgbClr val="7DCEA0"/>
                </a:solidFill>
                <a:latin typeface="Consolas"/>
              </a:rPr>
              <a:t> MAE </a:t>
            </a:r>
            <a:r>
              <a:rPr sz="1500" i="0">
                <a:solidFill>
                  <a:srgbClr val="7DCEA0"/>
                </a:solidFill>
                <a:latin typeface="Consolas"/>
              </a:rPr>
              <a:t>{</a:t>
            </a:r>
            <a:r>
              <a:rPr sz="1500" i="0">
                <a:solidFill>
                  <a:srgbClr val="E8EDF2"/>
                </a:solidFill>
                <a:latin typeface="Consolas"/>
              </a:rPr>
              <a:t>mean_absolute_error</a:t>
            </a:r>
            <a:r>
              <a:rPr sz="1500" i="0">
                <a:solidFill>
                  <a:srgbClr val="AEB6BF"/>
                </a:solidFill>
                <a:latin typeface="Consolas"/>
              </a:rPr>
              <a:t>(</a:t>
            </a:r>
            <a:r>
              <a:rPr sz="1500" i="0">
                <a:solidFill>
                  <a:srgbClr val="E8EDF2"/>
                </a:solidFill>
                <a:latin typeface="Consolas"/>
              </a:rPr>
              <a:t>t_te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5.1f</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f</a:t>
            </a:r>
            <a:r>
              <a:rPr sz="1500" i="0">
                <a:solidFill>
                  <a:srgbClr val="7DCEA0"/>
                </a:solidFill>
                <a:latin typeface="Consolas"/>
              </a:rPr>
              <a:t>"</a:t>
            </a:r>
            <a:r>
              <a:rPr sz="1500" i="0">
                <a:solidFill>
                  <a:srgbClr val="7DCEA0"/>
                </a:solidFill>
                <a:latin typeface="Consolas"/>
              </a:rPr>
              <a:t>RMSE </a:t>
            </a:r>
            <a:r>
              <a:rPr sz="1500" i="0">
                <a:solidFill>
                  <a:srgbClr val="7DCEA0"/>
                </a:solidFill>
                <a:latin typeface="Consolas"/>
              </a:rPr>
              <a:t>{</a:t>
            </a:r>
            <a:r>
              <a:rPr sz="1500" i="0">
                <a:solidFill>
                  <a:srgbClr val="E8EDF2"/>
                </a:solidFill>
                <a:latin typeface="Consolas"/>
              </a:rPr>
              <a:t>mean_squared_error</a:t>
            </a:r>
            <a:r>
              <a:rPr sz="1500" i="0">
                <a:solidFill>
                  <a:srgbClr val="AEB6BF"/>
                </a:solidFill>
                <a:latin typeface="Consolas"/>
              </a:rPr>
              <a:t>(</a:t>
            </a:r>
            <a:r>
              <a:rPr sz="1500" i="0">
                <a:solidFill>
                  <a:srgbClr val="E8EDF2"/>
                </a:solidFill>
                <a:latin typeface="Consolas"/>
              </a:rPr>
              <a:t>t_te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0.5</a:t>
            </a:r>
            <a:r>
              <a:rPr sz="1500" i="0">
                <a:solidFill>
                  <a:srgbClr val="7DCEA0"/>
                </a:solidFill>
                <a:latin typeface="Consolas"/>
              </a:rPr>
              <a:t>:</a:t>
            </a:r>
            <a:r>
              <a:rPr sz="1500" i="0">
                <a:solidFill>
                  <a:srgbClr val="7DCEA0"/>
                </a:solidFill>
                <a:latin typeface="Consolas"/>
              </a:rPr>
              <a:t>5.1f</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f</a:t>
            </a:r>
            <a:r>
              <a:rPr sz="1500" i="0">
                <a:solidFill>
                  <a:srgbClr val="7DCEA0"/>
                </a:solidFill>
                <a:latin typeface="Consolas"/>
              </a:rPr>
              <a:t>"</a:t>
            </a:r>
            <a:r>
              <a:rPr sz="1500" i="0">
                <a:solidFill>
                  <a:srgbClr val="7DCEA0"/>
                </a:solidFill>
                <a:latin typeface="Consolas"/>
              </a:rPr>
              <a:t>R2 </a:t>
            </a:r>
            <a:r>
              <a:rPr sz="1500" i="0">
                <a:solidFill>
                  <a:srgbClr val="7DCEA0"/>
                </a:solidFill>
                <a:latin typeface="Consolas"/>
              </a:rPr>
              <a:t>{</a:t>
            </a:r>
            <a:r>
              <a:rPr sz="1500" i="0">
                <a:solidFill>
                  <a:srgbClr val="E8EDF2"/>
                </a:solidFill>
                <a:latin typeface="Consolas"/>
              </a:rPr>
              <a:t>r2_score</a:t>
            </a:r>
            <a:r>
              <a:rPr sz="1500" i="0">
                <a:solidFill>
                  <a:srgbClr val="AEB6BF"/>
                </a:solidFill>
                <a:latin typeface="Consolas"/>
              </a:rPr>
              <a:t>(</a:t>
            </a:r>
            <a:r>
              <a:rPr sz="1500" i="0">
                <a:solidFill>
                  <a:srgbClr val="E8EDF2"/>
                </a:solidFill>
                <a:latin typeface="Consolas"/>
              </a:rPr>
              <a:t>t_te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5.2f</a:t>
            </a:r>
            <a:r>
              <a:rPr sz="1500" i="0">
                <a:solidFill>
                  <a:srgbClr val="7DCEA0"/>
                </a:solidFill>
                <a:latin typeface="Consolas"/>
              </a:rPr>
              <a:t>}</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names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load_diabetes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feature_names</a:t>
            </a:r>
          </a:p>
          <a:p>
            <a:pPr>
              <a:lnSpc>
                <a:spcPct val="100000"/>
              </a:lnSpc>
              <a:spcAft>
                <a:spcPts val="0"/>
              </a:spcAft>
            </a:pP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i</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np</a:t>
            </a:r>
            <a:r>
              <a:rPr sz="1500" i="0">
                <a:solidFill>
                  <a:srgbClr val="AEB6BF"/>
                </a:solidFill>
                <a:latin typeface="Consolas"/>
              </a:rPr>
              <a:t>.</a:t>
            </a:r>
            <a:r>
              <a:rPr sz="1500" i="0">
                <a:solidFill>
                  <a:srgbClr val="E8EDF2"/>
                </a:solidFill>
                <a:latin typeface="Consolas"/>
              </a:rPr>
              <a:t>argsort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np</a:t>
            </a:r>
            <a:r>
              <a:rPr sz="1500" i="0">
                <a:solidFill>
                  <a:srgbClr val="AEB6BF"/>
                </a:solidFill>
                <a:latin typeface="Consolas"/>
              </a:rPr>
              <a:t>.</a:t>
            </a:r>
            <a:r>
              <a:rPr sz="1500" i="0">
                <a:solidFill>
                  <a:srgbClr val="E8EDF2"/>
                </a:solidFill>
                <a:latin typeface="Consolas"/>
              </a:rPr>
              <a:t>abs</a:t>
            </a:r>
            <a:r>
              <a:rPr sz="1500" i="0">
                <a:solidFill>
                  <a:srgbClr val="AEB6BF"/>
                </a:solidFill>
                <a:latin typeface="Consolas"/>
              </a:rPr>
              <a:t>(</a:t>
            </a:r>
            <a:r>
              <a:rPr sz="1500" i="0">
                <a:solidFill>
                  <a:srgbClr val="E8EDF2"/>
                </a:solidFill>
                <a:latin typeface="Consolas"/>
              </a:rPr>
              <a:t>model</a:t>
            </a:r>
            <a:r>
              <a:rPr sz="1500" i="0">
                <a:solidFill>
                  <a:srgbClr val="AEB6BF"/>
                </a:solidFill>
                <a:latin typeface="Consolas"/>
              </a:rPr>
              <a:t>.</a:t>
            </a:r>
            <a:r>
              <a:rPr sz="1500" i="0">
                <a:solidFill>
                  <a:srgbClr val="E8EDF2"/>
                </a:solidFill>
                <a:latin typeface="Consolas"/>
              </a:rPr>
              <a:t>coef_</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F7DC6F"/>
                </a:solidFill>
                <a:latin typeface="Consolas"/>
              </a:rPr>
              <a:t>3</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f</a:t>
            </a:r>
            <a:r>
              <a:rPr sz="1500" i="0">
                <a:solidFill>
                  <a:srgbClr val="7DCEA0"/>
                </a:solidFill>
                <a:latin typeface="Consolas"/>
              </a:rPr>
              <a:t>"</a:t>
            </a:r>
            <a:r>
              <a:rPr sz="1500" i="0">
                <a:solidFill>
                  <a:srgbClr val="7DCEA0"/>
                </a:solidFill>
                <a:latin typeface="Consolas"/>
              </a:rPr>
              <a:t>  weight on </a:t>
            </a:r>
            <a:r>
              <a:rPr sz="1500" i="0">
                <a:solidFill>
                  <a:srgbClr val="7DCEA0"/>
                </a:solidFill>
                <a:latin typeface="Consolas"/>
              </a:rPr>
              <a:t>{</a:t>
            </a:r>
            <a:r>
              <a:rPr sz="1500" i="0">
                <a:solidFill>
                  <a:srgbClr val="E8EDF2"/>
                </a:solidFill>
                <a:latin typeface="Consolas"/>
              </a:rPr>
              <a:t>names</a:t>
            </a:r>
            <a:r>
              <a:rPr sz="1500" i="0">
                <a:solidFill>
                  <a:srgbClr val="AEB6BF"/>
                </a:solidFill>
                <a:latin typeface="Consolas"/>
              </a:rPr>
              <a:t>[</a:t>
            </a:r>
            <a:r>
              <a:rPr sz="1500" i="0">
                <a:solidFill>
                  <a:srgbClr val="E8EDF2"/>
                </a:solidFill>
                <a:latin typeface="Consolas"/>
              </a:rPr>
              <a:t>i</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4s</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a:t>
            </a:r>
            <a:r>
              <a:rPr sz="1500" i="0">
                <a:solidFill>
                  <a:srgbClr val="C39BD3"/>
                </a:solidFill>
                <a:latin typeface="Consolas"/>
              </a:rPr>
              <a:t>float</a:t>
            </a:r>
            <a:r>
              <a:rPr sz="1500" i="0">
                <a:solidFill>
                  <a:srgbClr val="AEB6BF"/>
                </a:solidFill>
                <a:latin typeface="Consolas"/>
              </a:rPr>
              <a:t>(</a:t>
            </a:r>
            <a:r>
              <a:rPr sz="1500" i="0">
                <a:solidFill>
                  <a:srgbClr val="E8EDF2"/>
                </a:solidFill>
                <a:latin typeface="Consolas"/>
              </a:rPr>
              <a:t>model</a:t>
            </a:r>
            <a:r>
              <a:rPr sz="1500" i="0">
                <a:solidFill>
                  <a:srgbClr val="AEB6BF"/>
                </a:solidFill>
                <a:latin typeface="Consolas"/>
              </a:rPr>
              <a:t>.</a:t>
            </a:r>
            <a:r>
              <a:rPr sz="1500" i="0">
                <a:solidFill>
                  <a:srgbClr val="E8EDF2"/>
                </a:solidFill>
                <a:latin typeface="Consolas"/>
              </a:rPr>
              <a:t>coef_</a:t>
            </a:r>
            <a:r>
              <a:rPr sz="1500" i="0">
                <a:solidFill>
                  <a:srgbClr val="AEB6BF"/>
                </a:solidFill>
                <a:latin typeface="Consolas"/>
              </a:rPr>
              <a:t>[</a:t>
            </a:r>
            <a:r>
              <a:rPr sz="1500" i="0">
                <a:solidFill>
                  <a:srgbClr val="E8EDF2"/>
                </a:solidFill>
                <a:latin typeface="Consolas"/>
              </a:rPr>
              <a:t>i</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6.1f</a:t>
            </a:r>
            <a:r>
              <a:rPr sz="1500" i="0">
                <a:solidFill>
                  <a:srgbClr val="7DCEA0"/>
                </a:solidFill>
                <a:latin typeface="Consolas"/>
              </a:rPr>
              <a:t>}</a:t>
            </a:r>
            <a:r>
              <a:rPr sz="1500" i="0">
                <a:solidFill>
                  <a:srgbClr val="7DCEA0"/>
                </a:solidFill>
                <a:latin typeface="Consolas"/>
              </a:rPr>
              <a:t>"</a:t>
            </a:r>
            <a:r>
              <a:rPr sz="1500" i="0">
                <a:solidFill>
                  <a:srgbClr val="AEB6BF"/>
                </a:solidFill>
                <a:latin typeface="Consolas"/>
              </a:rPr>
              <a:t>)</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24</a:t>
            </a:r>
          </a:p>
          <a:p>
            <a:pPr algn="r">
              <a:lnSpc>
                <a:spcPct val="100000"/>
              </a:lnSpc>
            </a:pPr>
            <a:r>
              <a:rPr sz="1500">
                <a:solidFill>
                  <a:srgbClr val="4F5D6A"/>
                </a:solidFill>
                <a:latin typeface="Consolas"/>
              </a:rPr>
              <a:t>25</a:t>
            </a:r>
          </a:p>
          <a:p>
            <a:pPr algn="r">
              <a:lnSpc>
                <a:spcPct val="100000"/>
              </a:lnSpc>
            </a:pPr>
            <a:r>
              <a:rPr sz="1500">
                <a:solidFill>
                  <a:srgbClr val="4F5D6A"/>
                </a:solidFill>
                <a:latin typeface="Consolas"/>
              </a:rPr>
              <a:t>26</a:t>
            </a:r>
          </a:p>
          <a:p>
            <a:pPr algn="r">
              <a:lnSpc>
                <a:spcPct val="100000"/>
              </a:lnSpc>
            </a:pPr>
            <a:r>
              <a:rPr sz="1500">
                <a:solidFill>
                  <a:srgbClr val="4F5D6A"/>
                </a:solidFill>
                <a:latin typeface="Consolas"/>
              </a:rPr>
              <a:t>27</a:t>
            </a:r>
          </a:p>
          <a:p>
            <a:pPr algn="r">
              <a:lnSpc>
                <a:spcPct val="100000"/>
              </a:lnSpc>
            </a:pPr>
            <a:r>
              <a:rPr sz="1500">
                <a:solidFill>
                  <a:srgbClr val="4F5D6A"/>
                </a:solidFill>
                <a:latin typeface="Consolas"/>
              </a:rPr>
              <a:t>28</a:t>
            </a:r>
          </a:p>
          <a:p>
            <a:pPr algn="r">
              <a:lnSpc>
                <a:spcPct val="100000"/>
              </a:lnSpc>
            </a:pPr>
            <a:r>
              <a:rPr sz="1500">
                <a:solidFill>
                  <a:srgbClr val="4F5D6A"/>
                </a:solidFill>
                <a:latin typeface="Consolas"/>
              </a:rPr>
              <a:t>29</a:t>
            </a:r>
          </a:p>
          <a:p>
            <a:pPr algn="r">
              <a:lnSpc>
                <a:spcPct val="100000"/>
              </a:lnSpc>
            </a:pPr>
            <a:r>
              <a:rPr sz="1500">
                <a:solidFill>
                  <a:srgbClr val="4F5D6A"/>
                </a:solidFill>
                <a:latin typeface="Consolas"/>
              </a:rPr>
              <a:t>30</a:t>
            </a:r>
          </a:p>
          <a:p>
            <a:pPr algn="r">
              <a:lnSpc>
                <a:spcPct val="100000"/>
              </a:lnSpc>
            </a:pPr>
            <a:r>
              <a:rPr sz="1500">
                <a:solidFill>
                  <a:srgbClr val="4F5D6A"/>
                </a:solidFill>
                <a:latin typeface="Consolas"/>
              </a:rPr>
              <a:t>31</a:t>
            </a:r>
          </a:p>
          <a:p>
            <a:pPr algn="r">
              <a:lnSpc>
                <a:spcPct val="100000"/>
              </a:lnSpc>
            </a:pPr>
            <a:r>
              <a:rPr sz="1500">
                <a:solidFill>
                  <a:srgbClr val="4F5D6A"/>
                </a:solidFill>
                <a:latin typeface="Consolas"/>
              </a:rPr>
              <a:t>32</a:t>
            </a:r>
          </a:p>
          <a:p>
            <a:pPr algn="r">
              <a:lnSpc>
                <a:spcPct val="100000"/>
              </a:lnSpc>
            </a:pPr>
            <a:r>
              <a:rPr sz="1500">
                <a:solidFill>
                  <a:srgbClr val="4F5D6A"/>
                </a:solidFill>
                <a:latin typeface="Consolas"/>
              </a:rPr>
              <a:t>33</a:t>
            </a:r>
          </a:p>
          <a:p>
            <a:pPr algn="r">
              <a:lnSpc>
                <a:spcPct val="100000"/>
              </a:lnSpc>
            </a:pPr>
            <a:r>
              <a:rPr sz="1500">
                <a:solidFill>
                  <a:srgbClr val="4F5D6A"/>
                </a:solidFill>
                <a:latin typeface="Consolas"/>
              </a:rPr>
              <a:t>34</a:t>
            </a:r>
          </a:p>
          <a:p>
            <a:pPr algn="r">
              <a:lnSpc>
                <a:spcPct val="100000"/>
              </a:lnSpc>
            </a:pPr>
            <a:r>
              <a:rPr sz="1500">
                <a:solidFill>
                  <a:srgbClr val="4F5D6A"/>
                </a:solidFill>
                <a:latin typeface="Consolas"/>
              </a:rPr>
              <a:t>35</a:t>
            </a:r>
          </a:p>
          <a:p>
            <a:pPr algn="r">
              <a:lnSpc>
                <a:spcPct val="100000"/>
              </a:lnSpc>
            </a:pPr>
            <a:r>
              <a:rPr sz="1500">
                <a:solidFill>
                  <a:srgbClr val="4F5D6A"/>
                </a:solidFill>
                <a:latin typeface="Consolas"/>
              </a:rPr>
              <a:t>36</a:t>
            </a:r>
          </a:p>
          <a:p>
            <a:pPr algn="r">
              <a:lnSpc>
                <a:spcPct val="100000"/>
              </a:lnSpc>
            </a:pPr>
            <a:r>
              <a:rPr sz="1500">
                <a:solidFill>
                  <a:srgbClr val="4F5D6A"/>
                </a:solidFill>
                <a:latin typeface="Consolas"/>
              </a:rPr>
              <a:t>37</a:t>
            </a:r>
          </a:p>
          <a:p>
            <a:pPr algn="r">
              <a:lnSpc>
                <a:spcPct val="100000"/>
              </a:lnSpc>
            </a:pPr>
            <a:r>
              <a:rPr sz="1500">
                <a:solidFill>
                  <a:srgbClr val="4F5D6A"/>
                </a:solidFill>
                <a:latin typeface="Consolas"/>
              </a:rPr>
              <a:t>38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5716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454709B8-8007-4AC6-834C-D5C29A469A18}" type="slidenum">
              <a:rPr lang="en-GB" sz="1000">
                <a:solidFill>
                  <a:srgbClr val="8795A1"/>
                </a:solidFill>
                <a:latin typeface="Segoe UI"/>
              </a:rPr>
              <a:t>37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Change </a:t>
            </a:r>
            <a:r>
              <a:rPr sz="2150" b="0" i="0">
                <a:solidFill>
                  <a:srgbClr val="1F4E79"/>
                </a:solidFill>
                <a:latin typeface="Consolas"/>
              </a:rPr>
              <a:t>alpha</a:t>
            </a:r>
            <a:r>
              <a:rPr sz="2300" b="0" i="0">
                <a:solidFill>
                  <a:srgbClr val="1C252B"/>
                </a:solidFill>
                <a:latin typeface="Segoe UI"/>
              </a:rPr>
              <a:t> to </a:t>
            </a:r>
            <a:r>
              <a:rPr sz="2150" b="0" i="0">
                <a:solidFill>
                  <a:srgbClr val="1F4E79"/>
                </a:solidFill>
                <a:latin typeface="Consolas"/>
              </a:rPr>
              <a:t>0.2</a:t>
            </a:r>
            <a:r>
              <a:rPr sz="2300" b="0" i="0">
                <a:solidFill>
                  <a:srgbClr val="1C252B"/>
                </a:solidFill>
                <a:latin typeface="Segoe UI"/>
              </a:rPr>
              <a:t> in part 2 and run it again. Explain what you see using the worked example of Chapter 2.</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20597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Fit </a:t>
            </a:r>
            <a:r>
              <a:rPr sz="3400" b="0" i="1">
                <a:solidFill>
                  <a:srgbClr val="FFFFFF"/>
                </a:solidFill>
                <a:latin typeface="Cambria"/>
              </a:rPr>
              <a:t>ŷ</a:t>
            </a:r>
            <a:r>
              <a:rPr sz="3400" b="0" i="0">
                <a:solidFill>
                  <a:srgbClr val="FFFFFF"/>
                </a:solidFill>
                <a:latin typeface="Cambria"/>
              </a:rPr>
              <a:t> = </a:t>
            </a:r>
            <a:r>
              <a:rPr sz="3400" b="0" i="1">
                <a:solidFill>
                  <a:srgbClr val="FFFFFF"/>
                </a:solidFill>
                <a:latin typeface="Cambria"/>
              </a:rPr>
              <a:t>wx</a:t>
            </a:r>
            <a:r>
              <a:rPr sz="3400" b="0" i="0">
                <a:solidFill>
                  <a:srgbClr val="FFFFFF"/>
                </a:solidFill>
                <a:latin typeface="Cambria"/>
              </a:rPr>
              <a:t> + </a:t>
            </a:r>
            <a:r>
              <a:rPr sz="3400" b="0" i="1">
                <a:solidFill>
                  <a:srgbClr val="FFFFFF"/>
                </a:solidFill>
                <a:latin typeface="Cambria"/>
              </a:rPr>
              <a:t>b</a:t>
            </a:r>
            <a:r>
              <a:rPr sz="3400" b="0" i="0">
                <a:solidFill>
                  <a:srgbClr val="FFFFFF"/>
                </a:solidFill>
                <a:latin typeface="Segoe UI Semibold"/>
              </a:rPr>
              <a:t> to the points </a:t>
            </a:r>
            <a:r>
              <a:rPr sz="3400" b="0" i="0">
                <a:solidFill>
                  <a:srgbClr val="FFFFFF"/>
                </a:solidFill>
                <a:latin typeface="Cambria"/>
              </a:rPr>
              <a:t>(0, 1)</a:t>
            </a:r>
            <a:r>
              <a:rPr sz="3400" b="0" i="0">
                <a:solidFill>
                  <a:srgbClr val="FFFFFF"/>
                </a:solidFill>
                <a:latin typeface="Segoe UI Semibold"/>
              </a:rPr>
              <a:t>, </a:t>
            </a:r>
            <a:r>
              <a:rPr sz="3400" b="0" i="0">
                <a:solidFill>
                  <a:srgbClr val="FFFFFF"/>
                </a:solidFill>
                <a:latin typeface="Cambria"/>
              </a:rPr>
              <a:t>(1, 3)</a:t>
            </a:r>
            <a:r>
              <a:rPr sz="3400" b="0" i="0">
                <a:solidFill>
                  <a:srgbClr val="FFFFFF"/>
                </a:solidFill>
                <a:latin typeface="Segoe UI Semibold"/>
              </a:rPr>
              <a:t>, </a:t>
            </a:r>
            <a:r>
              <a:rPr sz="3400" b="0" i="0">
                <a:solidFill>
                  <a:srgbClr val="FFFFFF"/>
                </a:solidFill>
                <a:latin typeface="Cambria"/>
              </a:rPr>
              <a:t>(2, 5)</a:t>
            </a:r>
            <a:r>
              <a:rPr sz="3400" b="0" i="0">
                <a:solidFill>
                  <a:srgbClr val="FFFFFF"/>
                </a:solidFill>
                <a:latin typeface="Segoe UI Semibold"/>
              </a:rPr>
              <a:t> by the least-squares formulas.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5  ·  Linear Regression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44  ·  answers in Appendix D     </a:t>
            </a:r>
            <a:fld id="{93834B05-C0D3-4697-A496-19619C7408D6}"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Fit </a:t>
            </a:r>
            <a:r>
              <a:rPr sz="2400" b="0" i="1">
                <a:solidFill>
                  <a:srgbClr val="1A5276"/>
                </a:solidFill>
                <a:latin typeface="Cambria"/>
              </a:rPr>
              <a:t>ŷ</a:t>
            </a:r>
            <a:r>
              <a:rPr sz="2400" b="0" i="0">
                <a:solidFill>
                  <a:srgbClr val="1A5276"/>
                </a:solidFill>
                <a:latin typeface="Cambria"/>
              </a:rPr>
              <a:t> = </a:t>
            </a:r>
            <a:r>
              <a:rPr sz="2400" b="0" i="1">
                <a:solidFill>
                  <a:srgbClr val="1A5276"/>
                </a:solidFill>
                <a:latin typeface="Cambria"/>
              </a:rPr>
              <a:t>wx</a:t>
            </a:r>
            <a:r>
              <a:rPr sz="2400" b="0" i="0">
                <a:solidFill>
                  <a:srgbClr val="1A5276"/>
                </a:solidFill>
                <a:latin typeface="Cambria"/>
              </a:rPr>
              <a:t> + </a:t>
            </a:r>
            <a:r>
              <a:rPr sz="2400" b="0" i="1">
                <a:solidFill>
                  <a:srgbClr val="1A5276"/>
                </a:solidFill>
                <a:latin typeface="Cambria"/>
              </a:rPr>
              <a:t>b</a:t>
            </a:r>
            <a:r>
              <a:rPr sz="2400" b="0" i="0">
                <a:solidFill>
                  <a:srgbClr val="1A5276"/>
                </a:solidFill>
                <a:latin typeface="Segoe UI Semibold"/>
              </a:rPr>
              <a:t> to the points </a:t>
            </a:r>
            <a:r>
              <a:rPr sz="2400" b="0" i="0">
                <a:solidFill>
                  <a:srgbClr val="1A5276"/>
                </a:solidFill>
                <a:latin typeface="Cambria"/>
              </a:rPr>
              <a:t>(0, 1)</a:t>
            </a:r>
            <a:r>
              <a:rPr sz="2400" b="0" i="0">
                <a:solidFill>
                  <a:srgbClr val="1A5276"/>
                </a:solidFill>
                <a:latin typeface="Segoe UI Semibold"/>
              </a:rPr>
              <a:t>, </a:t>
            </a:r>
            <a:r>
              <a:rPr sz="2400" b="0" i="0">
                <a:solidFill>
                  <a:srgbClr val="1A5276"/>
                </a:solidFill>
                <a:latin typeface="Cambria"/>
              </a:rPr>
              <a:t>(1, 3)</a:t>
            </a:r>
            <a:r>
              <a:rPr sz="2400" b="0" i="0">
                <a:solidFill>
                  <a:srgbClr val="1A5276"/>
                </a:solidFill>
                <a:latin typeface="Segoe UI Semibold"/>
              </a:rPr>
              <a:t>, </a:t>
            </a:r>
            <a:r>
              <a:rPr sz="2400" b="0" i="0">
                <a:solidFill>
                  <a:srgbClr val="1A5276"/>
                </a:solidFill>
                <a:latin typeface="Cambria"/>
              </a:rPr>
              <a:t>(2, 5)</a:t>
            </a:r>
            <a:r>
              <a:rPr sz="2400" b="0" i="0">
                <a:solidFill>
                  <a:srgbClr val="1A5276"/>
                </a:solidFill>
                <a:latin typeface="Segoe UI Semibold"/>
              </a:rPr>
              <a:t> by the least-squares formulas.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x̄</a:t>
            </a:r>
            <a:r>
              <a:rPr sz="2200" b="0" i="0">
                <a:solidFill>
                  <a:srgbClr val="1C252B"/>
                </a:solidFill>
                <a:latin typeface="Cambria"/>
              </a:rPr>
              <a:t> = 1</a:t>
            </a:r>
            <a:r>
              <a:rPr sz="2200" b="0" i="0">
                <a:solidFill>
                  <a:srgbClr val="1C252B"/>
                </a:solidFill>
                <a:latin typeface="Segoe UI"/>
              </a:rPr>
              <a:t>, </a:t>
            </a:r>
            <a:r>
              <a:rPr sz="2200" b="0" i="1">
                <a:solidFill>
                  <a:srgbClr val="1C252B"/>
                </a:solidFill>
                <a:latin typeface="Cambria"/>
              </a:rPr>
              <a:t>ȳ</a:t>
            </a:r>
            <a:r>
              <a:rPr sz="2200" b="0" i="0">
                <a:solidFill>
                  <a:srgbClr val="1C252B"/>
                </a:solidFill>
                <a:latin typeface="Cambria"/>
              </a:rPr>
              <a:t> = 3</a:t>
            </a:r>
            <a:r>
              <a:rPr sz="2200" b="0" i="0">
                <a:solidFill>
                  <a:srgbClr val="1C252B"/>
                </a:solidFill>
                <a:latin typeface="Segoe UI"/>
              </a:rPr>
              <a:t>; </a:t>
            </a:r>
            <a:r>
              <a:rPr sz="2200" b="0" i="1">
                <a:solidFill>
                  <a:srgbClr val="1C252B"/>
                </a:solidFill>
                <a:latin typeface="Cambria"/>
              </a:rPr>
              <a:t>w</a:t>
            </a:r>
            <a:r>
              <a:rPr sz="2200" b="0" i="0">
                <a:solidFill>
                  <a:srgbClr val="1C252B"/>
                </a:solidFill>
                <a:latin typeface="Cambria"/>
              </a:rPr>
              <a:t> = ((−1)(−2) + 0 + (1)(2))/(1 + 0 + 1) = 2</a:t>
            </a:r>
            <a:r>
              <a:rPr sz="2200" b="0" i="0">
                <a:solidFill>
                  <a:srgbClr val="1C252B"/>
                </a:solidFill>
                <a:latin typeface="Segoe UI"/>
              </a:rPr>
              <a:t>; </a:t>
            </a:r>
            <a:r>
              <a:rPr sz="2200" b="0" i="1">
                <a:solidFill>
                  <a:srgbClr val="1C252B"/>
                </a:solidFill>
                <a:latin typeface="Cambria"/>
              </a:rPr>
              <a:t>b</a:t>
            </a:r>
            <a:r>
              <a:rPr sz="2200" b="0" i="0">
                <a:solidFill>
                  <a:srgbClr val="1C252B"/>
                </a:solidFill>
                <a:latin typeface="Cambria"/>
              </a:rPr>
              <a:t> = 3 − 2 = 1</a:t>
            </a:r>
            <a:r>
              <a:rPr sz="2200" b="0" i="0">
                <a:solidFill>
                  <a:srgbClr val="1C252B"/>
                </a:solidFill>
                <a:latin typeface="Segoe UI"/>
              </a:rPr>
              <a:t>. So </a:t>
            </a:r>
            <a:r>
              <a:rPr sz="2200" b="0" i="1">
                <a:solidFill>
                  <a:srgbClr val="1C252B"/>
                </a:solidFill>
                <a:latin typeface="Cambria"/>
              </a:rPr>
              <a:t>ŷ</a:t>
            </a:r>
            <a:r>
              <a:rPr sz="2200" b="0" i="0">
                <a:solidFill>
                  <a:srgbClr val="1C252B"/>
                </a:solidFill>
                <a:latin typeface="Cambria"/>
              </a:rPr>
              <a:t> = 2</a:t>
            </a:r>
            <a:r>
              <a:rPr sz="2200" b="0" i="1">
                <a:solidFill>
                  <a:srgbClr val="1C252B"/>
                </a:solidFill>
                <a:latin typeface="Cambria"/>
              </a:rPr>
              <a:t>x</a:t>
            </a:r>
            <a:r>
              <a:rPr sz="2200" b="0" i="0">
                <a:solidFill>
                  <a:srgbClr val="1C252B"/>
                </a:solidFill>
                <a:latin typeface="Cambria"/>
              </a:rPr>
              <a:t> + 1</a:t>
            </a:r>
            <a:r>
              <a:rPr sz="2200" b="0" i="0">
                <a:solidFill>
                  <a:srgbClr val="1C252B"/>
                </a:solidFill>
                <a:latin typeface="Segoe UI"/>
              </a:rPr>
              <a:t>, which passes through all three points.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  answers in Appendix D     </a:t>
            </a:r>
            <a:fld id="{D12ADA6C-3FC9-43EE-988E-1C2B6529607D}"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0359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model has </a:t>
            </a:r>
            <a:r>
              <a:rPr sz="3400" b="0" i="1">
                <a:solidFill>
                  <a:srgbClr val="FFFFFF"/>
                </a:solidFill>
                <a:latin typeface="Cambria"/>
              </a:rPr>
              <a:t>R</a:t>
            </a:r>
            <a:r>
              <a:rPr sz="3400" b="0" i="0" baseline="30000">
                <a:solidFill>
                  <a:srgbClr val="FFFFFF"/>
                </a:solidFill>
                <a:latin typeface="Cambria"/>
              </a:rPr>
              <a:t>2</a:t>
            </a:r>
            <a:r>
              <a:rPr sz="3400" b="0" i="0">
                <a:solidFill>
                  <a:srgbClr val="FFFFFF"/>
                </a:solidFill>
                <a:latin typeface="Cambria"/>
              </a:rPr>
              <a:t> = −0.2</a:t>
            </a:r>
            <a:r>
              <a:rPr sz="3400" b="0" i="0">
                <a:solidFill>
                  <a:srgbClr val="FFFFFF"/>
                </a:solidFill>
                <a:latin typeface="Segoe UI Semibold"/>
              </a:rPr>
              <a:t> on the test set. What does that mean?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5  ·  Linear Regression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44  ·  answers in Appendix D     </a:t>
            </a:r>
            <a:fld id="{55AF3828-16D5-4D1A-A9EA-1B1E3A6100BD}"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A model has </a:t>
            </a:r>
            <a:r>
              <a:rPr sz="2400" b="0" i="1">
                <a:solidFill>
                  <a:srgbClr val="1A5276"/>
                </a:solidFill>
                <a:latin typeface="Cambria"/>
              </a:rPr>
              <a:t>R</a:t>
            </a:r>
            <a:r>
              <a:rPr sz="2400" b="0" i="0" baseline="30000">
                <a:solidFill>
                  <a:srgbClr val="1A5276"/>
                </a:solidFill>
                <a:latin typeface="Cambria"/>
              </a:rPr>
              <a:t>2</a:t>
            </a:r>
            <a:r>
              <a:rPr sz="2400" b="0" i="0">
                <a:solidFill>
                  <a:srgbClr val="1A5276"/>
                </a:solidFill>
                <a:latin typeface="Cambria"/>
              </a:rPr>
              <a:t> = −0.2</a:t>
            </a:r>
            <a:r>
              <a:rPr sz="2400" b="0" i="0">
                <a:solidFill>
                  <a:srgbClr val="1A5276"/>
                </a:solidFill>
                <a:latin typeface="Segoe UI Semibold"/>
              </a:rPr>
              <a:t> on the test set. What does that mean?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model’s squared error on the test set is 20% larger than that of simply predicting the training mean: it is worse than the baseline.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  answers in Appendix D     </a:t>
            </a:r>
            <a:fld id="{C60C72AA-4F53-46D0-BD39-039E7C92517E}"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0121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is </a:t>
            </a:r>
            <a:r>
              <a:rPr sz="3400" b="0" i="1">
                <a:solidFill>
                  <a:srgbClr val="FFFFFF"/>
                </a:solidFill>
                <a:latin typeface="Cambria"/>
              </a:rPr>
              <a:t>ŷ</a:t>
            </a:r>
            <a:r>
              <a:rPr sz="3400" b="0" i="0">
                <a:solidFill>
                  <a:srgbClr val="FFFFFF"/>
                </a:solidFill>
                <a:latin typeface="Cambria"/>
              </a:rPr>
              <a:t> = </a:t>
            </a:r>
            <a:r>
              <a:rPr sz="3400" b="0" i="1">
                <a:solidFill>
                  <a:srgbClr val="FFFFFF"/>
                </a:solidFill>
                <a:latin typeface="Cambria"/>
              </a:rPr>
              <a:t>w</a:t>
            </a:r>
            <a:r>
              <a:rPr sz="3400" b="0" i="0" baseline="-25000">
                <a:solidFill>
                  <a:srgbClr val="FFFFFF"/>
                </a:solidFill>
                <a:latin typeface="Cambria"/>
              </a:rPr>
              <a:t>1</a:t>
            </a:r>
            <a:r>
              <a:rPr sz="3400" b="0" i="0">
                <a:solidFill>
                  <a:srgbClr val="FFFFFF"/>
                </a:solidFill>
                <a:latin typeface="Cambria"/>
              </a:rPr>
              <a:t> </a:t>
            </a:r>
            <a:r>
              <a:rPr sz="3400" b="0" i="1">
                <a:solidFill>
                  <a:srgbClr val="FFFFFF"/>
                </a:solidFill>
                <a:latin typeface="Cambria"/>
              </a:rPr>
              <a:t>x</a:t>
            </a:r>
            <a:r>
              <a:rPr sz="3400" b="0" i="0">
                <a:solidFill>
                  <a:srgbClr val="FFFFFF"/>
                </a:solidFill>
                <a:latin typeface="Cambria"/>
              </a:rPr>
              <a:t> + </a:t>
            </a:r>
            <a:r>
              <a:rPr sz="3400" b="0" i="1">
                <a:solidFill>
                  <a:srgbClr val="FFFFFF"/>
                </a:solidFill>
                <a:latin typeface="Cambria"/>
              </a:rPr>
              <a:t>w</a:t>
            </a:r>
            <a:r>
              <a:rPr sz="3400" b="0" i="0" baseline="-25000">
                <a:solidFill>
                  <a:srgbClr val="FFFFFF"/>
                </a:solidFill>
                <a:latin typeface="Cambria"/>
              </a:rPr>
              <a:t>2</a:t>
            </a:r>
            <a:r>
              <a:rPr sz="3400" b="0" i="0">
                <a:solidFill>
                  <a:srgbClr val="FFFFFF"/>
                </a:solidFill>
                <a:latin typeface="Cambria"/>
              </a:rPr>
              <a:t> </a:t>
            </a:r>
            <a:r>
              <a:rPr sz="3400" b="0" i="1">
                <a:solidFill>
                  <a:srgbClr val="FFFFFF"/>
                </a:solidFill>
                <a:latin typeface="Cambria"/>
              </a:rPr>
              <a:t>x</a:t>
            </a:r>
            <a:r>
              <a:rPr sz="3400" b="0" i="0" baseline="30000">
                <a:solidFill>
                  <a:srgbClr val="FFFFFF"/>
                </a:solidFill>
                <a:latin typeface="Cambria"/>
              </a:rPr>
              <a:t>2</a:t>
            </a:r>
            <a:r>
              <a:rPr sz="3400" b="0" i="0">
                <a:solidFill>
                  <a:srgbClr val="FFFFFF"/>
                </a:solidFill>
                <a:latin typeface="Cambria"/>
              </a:rPr>
              <a:t> + </a:t>
            </a:r>
            <a:r>
              <a:rPr sz="3400" b="0" i="1">
                <a:solidFill>
                  <a:srgbClr val="FFFFFF"/>
                </a:solidFill>
                <a:latin typeface="Cambria"/>
              </a:rPr>
              <a:t>b</a:t>
            </a:r>
            <a:r>
              <a:rPr sz="3400" b="0" i="0">
                <a:solidFill>
                  <a:srgbClr val="FFFFFF"/>
                </a:solidFill>
                <a:latin typeface="Segoe UI Semibold"/>
              </a:rPr>
              <a:t> still called a </a:t>
            </a:r>
            <a:r>
              <a:rPr sz="3400" b="0" i="1">
                <a:solidFill>
                  <a:srgbClr val="FFFFFF"/>
                </a:solidFill>
                <a:latin typeface="Segoe UI Semibold"/>
              </a:rPr>
              <a:t>linear</a:t>
            </a:r>
            <a:r>
              <a:rPr sz="3400" b="0" i="0">
                <a:solidFill>
                  <a:srgbClr val="FFFFFF"/>
                </a:solidFill>
                <a:latin typeface="Segoe UI Semibold"/>
              </a:rPr>
              <a:t> model?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5  ·  Linear Regression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44  ·  answers in Appendix D     </a:t>
            </a:r>
            <a:fld id="{A8C118D0-AC14-4E79-AAB2-6CD4F670158E}"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Why is </a:t>
            </a:r>
            <a:r>
              <a:rPr sz="2400" b="0" i="1">
                <a:solidFill>
                  <a:srgbClr val="1A5276"/>
                </a:solidFill>
                <a:latin typeface="Cambria"/>
              </a:rPr>
              <a:t>ŷ</a:t>
            </a:r>
            <a:r>
              <a:rPr sz="2400" b="0" i="0">
                <a:solidFill>
                  <a:srgbClr val="1A5276"/>
                </a:solidFill>
                <a:latin typeface="Cambria"/>
              </a:rPr>
              <a:t> = </a:t>
            </a:r>
            <a:r>
              <a:rPr sz="2400" b="0" i="1">
                <a:solidFill>
                  <a:srgbClr val="1A5276"/>
                </a:solidFill>
                <a:latin typeface="Cambria"/>
              </a:rPr>
              <a:t>w</a:t>
            </a:r>
            <a:r>
              <a:rPr sz="2400" b="0" i="0" baseline="-25000">
                <a:solidFill>
                  <a:srgbClr val="1A5276"/>
                </a:solidFill>
                <a:latin typeface="Cambria"/>
              </a:rPr>
              <a:t>1</a:t>
            </a:r>
            <a:r>
              <a:rPr sz="2400" b="0" i="0">
                <a:solidFill>
                  <a:srgbClr val="1A5276"/>
                </a:solidFill>
                <a:latin typeface="Cambria"/>
              </a:rPr>
              <a:t> </a:t>
            </a:r>
            <a:r>
              <a:rPr sz="2400" b="0" i="1">
                <a:solidFill>
                  <a:srgbClr val="1A5276"/>
                </a:solidFill>
                <a:latin typeface="Cambria"/>
              </a:rPr>
              <a:t>x</a:t>
            </a:r>
            <a:r>
              <a:rPr sz="2400" b="0" i="0">
                <a:solidFill>
                  <a:srgbClr val="1A5276"/>
                </a:solidFill>
                <a:latin typeface="Cambria"/>
              </a:rPr>
              <a:t> + </a:t>
            </a:r>
            <a:r>
              <a:rPr sz="2400" b="0" i="1">
                <a:solidFill>
                  <a:srgbClr val="1A5276"/>
                </a:solidFill>
                <a:latin typeface="Cambria"/>
              </a:rPr>
              <a:t>w</a:t>
            </a:r>
            <a:r>
              <a:rPr sz="2400" b="0" i="0" baseline="-25000">
                <a:solidFill>
                  <a:srgbClr val="1A5276"/>
                </a:solidFill>
                <a:latin typeface="Cambria"/>
              </a:rPr>
              <a:t>2</a:t>
            </a:r>
            <a:r>
              <a:rPr sz="2400" b="0" i="0">
                <a:solidFill>
                  <a:srgbClr val="1A5276"/>
                </a:solidFill>
                <a:latin typeface="Cambria"/>
              </a:rPr>
              <a:t> </a:t>
            </a:r>
            <a:r>
              <a:rPr sz="2400" b="0" i="1">
                <a:solidFill>
                  <a:srgbClr val="1A5276"/>
                </a:solidFill>
                <a:latin typeface="Cambria"/>
              </a:rPr>
              <a:t>x</a:t>
            </a:r>
            <a:r>
              <a:rPr sz="2400" b="0" i="0" baseline="30000">
                <a:solidFill>
                  <a:srgbClr val="1A5276"/>
                </a:solidFill>
                <a:latin typeface="Cambria"/>
              </a:rPr>
              <a:t>2</a:t>
            </a:r>
            <a:r>
              <a:rPr sz="2400" b="0" i="0">
                <a:solidFill>
                  <a:srgbClr val="1A5276"/>
                </a:solidFill>
                <a:latin typeface="Cambria"/>
              </a:rPr>
              <a:t> + </a:t>
            </a:r>
            <a:r>
              <a:rPr sz="2400" b="0" i="1">
                <a:solidFill>
                  <a:srgbClr val="1A5276"/>
                </a:solidFill>
                <a:latin typeface="Cambria"/>
              </a:rPr>
              <a:t>b</a:t>
            </a:r>
            <a:r>
              <a:rPr sz="2400" b="0" i="0">
                <a:solidFill>
                  <a:srgbClr val="1A5276"/>
                </a:solidFill>
                <a:latin typeface="Segoe UI Semibold"/>
              </a:rPr>
              <a:t> still called a </a:t>
            </a:r>
            <a:r>
              <a:rPr sz="2400" b="0" i="1">
                <a:solidFill>
                  <a:srgbClr val="1A5276"/>
                </a:solidFill>
                <a:latin typeface="Segoe UI Semibold"/>
              </a:rPr>
              <a:t>linear</a:t>
            </a:r>
            <a:r>
              <a:rPr sz="2400" b="0" i="0">
                <a:solidFill>
                  <a:srgbClr val="1A5276"/>
                </a:solidFill>
                <a:latin typeface="Segoe UI Semibold"/>
              </a:rPr>
              <a:t> model?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a:t>
            </a:r>
            <a:r>
              <a:rPr sz="2200" b="0" i="1">
                <a:solidFill>
                  <a:srgbClr val="1C252B"/>
                </a:solidFill>
                <a:latin typeface="Cambria"/>
              </a:rPr>
              <a:t>ŷ</a:t>
            </a:r>
            <a:r>
              <a:rPr sz="2200" b="0" i="0">
                <a:solidFill>
                  <a:srgbClr val="1C252B"/>
                </a:solidFill>
                <a:latin typeface="Segoe UI"/>
              </a:rPr>
              <a:t> is a weighted sum of its features — here </a:t>
            </a:r>
            <a:r>
              <a:rPr sz="2200" b="0" i="1">
                <a:solidFill>
                  <a:srgbClr val="1C252B"/>
                </a:solidFill>
                <a:latin typeface="Cambria"/>
              </a:rPr>
              <a:t>x</a:t>
            </a:r>
            <a:r>
              <a:rPr sz="2200" b="0" i="0">
                <a:solidFill>
                  <a:srgbClr val="1C252B"/>
                </a:solidFill>
                <a:latin typeface="Segoe UI"/>
              </a:rPr>
              <a:t> and </a:t>
            </a:r>
            <a:r>
              <a:rPr sz="2200" b="0" i="1">
                <a:solidFill>
                  <a:srgbClr val="1C252B"/>
                </a:solidFill>
                <a:latin typeface="Cambria"/>
              </a:rPr>
              <a:t>x</a:t>
            </a:r>
            <a:r>
              <a:rPr sz="2200" b="0" i="0" baseline="30000">
                <a:solidFill>
                  <a:srgbClr val="1C252B"/>
                </a:solidFill>
                <a:latin typeface="Cambria"/>
              </a:rPr>
              <a:t>2</a:t>
            </a:r>
            <a:r>
              <a:rPr sz="2200" b="0" i="0">
                <a:solidFill>
                  <a:srgbClr val="1C252B"/>
                </a:solidFill>
                <a:latin typeface="Segoe UI"/>
              </a:rPr>
              <a:t> — so it is linear in the weights, and least squares applies unchanged.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  answers in Appendix D     </a:t>
            </a:r>
            <a:fld id="{333E16D5-7D09-42BE-A664-DF1453C36FEF}" type="slidenum">
              <a:rPr lang="en-GB" sz="1000">
                <a:solidFill>
                  <a:srgbClr val="8795A1"/>
                </a:solidFill>
                <a:latin typeface="Segoe UI"/>
              </a:rPr>
              <a:t>43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9883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1623FBEC-1574-4350-B454-34C71A8568CB}" type="slidenum">
              <a:rPr lang="en-GB" sz="1000">
                <a:solidFill>
                  <a:srgbClr val="8795A1"/>
                </a:solidFill>
                <a:latin typeface="Segoe UI"/>
              </a:rPr>
              <a:t>44</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Linear regression predicts </a:t>
            </a:r>
            <a:r>
              <a:rPr sz="2100" b="0" i="1">
                <a:solidFill>
                  <a:srgbClr val="1C252B"/>
                </a:solidFill>
                <a:latin typeface="Cambria"/>
              </a:rPr>
              <a:t>ŷ</a:t>
            </a:r>
            <a:r>
              <a:rPr sz="2100" b="0" i="0">
                <a:solidFill>
                  <a:srgbClr val="1C252B"/>
                </a:solidFill>
                <a:latin typeface="Cambria"/>
              </a:rPr>
              <a:t> = </a:t>
            </a:r>
            <a:r>
              <a:rPr sz="2100" b="1" i="1">
                <a:solidFill>
                  <a:srgbClr val="1C252B"/>
                </a:solidFill>
                <a:latin typeface="Cambria"/>
              </a:rPr>
              <a:t>w</a:t>
            </a:r>
            <a:r>
              <a:rPr sz="2100" b="0" i="0">
                <a:solidFill>
                  <a:srgbClr val="1C252B"/>
                </a:solidFill>
                <a:latin typeface="Cambria"/>
              </a:rPr>
              <a:t>·</a:t>
            </a:r>
            <a:r>
              <a:rPr sz="2100" b="1" i="1">
                <a:solidFill>
                  <a:srgbClr val="1C252B"/>
                </a:solidFill>
                <a:latin typeface="Cambria"/>
              </a:rPr>
              <a:t>x</a:t>
            </a:r>
            <a:r>
              <a:rPr sz="2100" b="0" i="0">
                <a:solidFill>
                  <a:srgbClr val="1C252B"/>
                </a:solidFill>
                <a:latin typeface="Cambria"/>
              </a:rPr>
              <a:t> + </a:t>
            </a:r>
            <a:r>
              <a:rPr sz="2100" b="0" i="1">
                <a:solidFill>
                  <a:srgbClr val="1C252B"/>
                </a:solidFill>
                <a:latin typeface="Cambria"/>
              </a:rPr>
              <a:t>b</a:t>
            </a:r>
            <a:r>
              <a:rPr sz="2100" b="0" i="0">
                <a:solidFill>
                  <a:srgbClr val="1C252B"/>
                </a:solidFill>
                <a:latin typeface="Segoe UI"/>
              </a:rPr>
              <a:t>; each weight is the effect of one more unit of its feature, others held fixed.</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Least squares minimises the mean squared error; it is the maximum likelihood fit under Gaussian noise, and it is sensitive to outliers.</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One feature: </a:t>
            </a:r>
            <a:r>
              <a:rPr sz="2100" b="0" i="1">
                <a:solidFill>
                  <a:srgbClr val="1C252B"/>
                </a:solidFill>
                <a:latin typeface="Cambria"/>
              </a:rPr>
              <a:t>w</a:t>
            </a:r>
            <a:r>
              <a:rPr sz="2100" b="0" i="0">
                <a:solidFill>
                  <a:srgbClr val="1C252B"/>
                </a:solidFill>
                <a:latin typeface="Cambria"/>
              </a:rPr>
              <a:t> = Σ(</a:t>
            </a:r>
            <a:r>
              <a:rPr sz="2100" b="0" i="1">
                <a:solidFill>
                  <a:srgbClr val="1C252B"/>
                </a:solidFill>
                <a:latin typeface="Cambria"/>
              </a:rPr>
              <a:t>x</a:t>
            </a:r>
            <a:r>
              <a:rPr sz="2100" b="0" i="0">
                <a:solidFill>
                  <a:srgbClr val="1C252B"/>
                </a:solidFill>
                <a:latin typeface="Cambria"/>
              </a:rPr>
              <a:t>−</a:t>
            </a:r>
            <a:r>
              <a:rPr sz="2100" b="0" i="1">
                <a:solidFill>
                  <a:srgbClr val="1C252B"/>
                </a:solidFill>
                <a:latin typeface="Cambria"/>
              </a:rPr>
              <a:t>x̄</a:t>
            </a:r>
            <a:r>
              <a:rPr sz="2100" b="0" i="0">
                <a:solidFill>
                  <a:srgbClr val="1C252B"/>
                </a:solidFill>
                <a:latin typeface="Cambria"/>
              </a:rPr>
              <a:t>)(</a:t>
            </a:r>
            <a:r>
              <a:rPr sz="2100" b="0" i="1">
                <a:solidFill>
                  <a:srgbClr val="1C252B"/>
                </a:solidFill>
                <a:latin typeface="Cambria"/>
              </a:rPr>
              <a:t>y</a:t>
            </a:r>
            <a:r>
              <a:rPr sz="2100" b="0" i="0">
                <a:solidFill>
                  <a:srgbClr val="1C252B"/>
                </a:solidFill>
                <a:latin typeface="Cambria"/>
              </a:rPr>
              <a:t>−</a:t>
            </a:r>
            <a:r>
              <a:rPr sz="2100" b="0" i="1">
                <a:solidFill>
                  <a:srgbClr val="1C252B"/>
                </a:solidFill>
                <a:latin typeface="Cambria"/>
              </a:rPr>
              <a:t>ȳ</a:t>
            </a:r>
            <a:r>
              <a:rPr sz="2100" b="0" i="0">
                <a:solidFill>
                  <a:srgbClr val="1C252B"/>
                </a:solidFill>
                <a:latin typeface="Cambria"/>
              </a:rPr>
              <a:t>) / Σ(</a:t>
            </a:r>
            <a:r>
              <a:rPr sz="2100" b="0" i="1">
                <a:solidFill>
                  <a:srgbClr val="1C252B"/>
                </a:solidFill>
                <a:latin typeface="Cambria"/>
              </a:rPr>
              <a:t>x</a:t>
            </a:r>
            <a:r>
              <a:rPr sz="2100" b="0" i="0">
                <a:solidFill>
                  <a:srgbClr val="1C252B"/>
                </a:solidFill>
                <a:latin typeface="Cambria"/>
              </a:rPr>
              <a:t>−</a:t>
            </a:r>
            <a:r>
              <a:rPr sz="2100" b="0" i="1">
                <a:solidFill>
                  <a:srgbClr val="1C252B"/>
                </a:solidFill>
                <a:latin typeface="Cambria"/>
              </a:rPr>
              <a:t>x̄</a:t>
            </a:r>
            <a:r>
              <a:rPr sz="2100" b="0" i="0">
                <a:solidFill>
                  <a:srgbClr val="1C252B"/>
                </a:solidFill>
                <a:latin typeface="Cambria"/>
              </a:rPr>
              <a:t>)</a:t>
            </a:r>
            <a:r>
              <a:rPr sz="2100" b="0" i="0" baseline="30000">
                <a:solidFill>
                  <a:srgbClr val="1C252B"/>
                </a:solidFill>
                <a:latin typeface="Cambria"/>
              </a:rPr>
              <a:t>2</a:t>
            </a:r>
            <a:r>
              <a:rPr sz="2100" b="0" i="0">
                <a:solidFill>
                  <a:srgbClr val="1C252B"/>
                </a:solidFill>
                <a:latin typeface="Segoe UI"/>
              </a:rPr>
              <a:t>, </a:t>
            </a:r>
            <a:r>
              <a:rPr sz="2100" b="0" i="1">
                <a:solidFill>
                  <a:srgbClr val="1C252B"/>
                </a:solidFill>
                <a:latin typeface="Cambria"/>
              </a:rPr>
              <a:t>b</a:t>
            </a:r>
            <a:r>
              <a:rPr sz="2100" b="0" i="0">
                <a:solidFill>
                  <a:srgbClr val="1C252B"/>
                </a:solidFill>
                <a:latin typeface="Cambria"/>
              </a:rPr>
              <a:t> = </a:t>
            </a:r>
            <a:r>
              <a:rPr sz="2100" b="0" i="1">
                <a:solidFill>
                  <a:srgbClr val="1C252B"/>
                </a:solidFill>
                <a:latin typeface="Cambria"/>
              </a:rPr>
              <a:t>ȳ</a:t>
            </a:r>
            <a:r>
              <a:rPr sz="2100" b="0" i="0">
                <a:solidFill>
                  <a:srgbClr val="1C252B"/>
                </a:solidFill>
                <a:latin typeface="Cambria"/>
              </a:rPr>
              <a:t> − </a:t>
            </a:r>
            <a:r>
              <a:rPr sz="2100" b="0" i="1">
                <a:solidFill>
                  <a:srgbClr val="1C252B"/>
                </a:solidFill>
                <a:latin typeface="Cambria"/>
              </a:rPr>
              <a:t>wx̄</a:t>
            </a:r>
            <a:r>
              <a:rPr sz="2100" b="0" i="0">
                <a:solidFill>
                  <a:srgbClr val="1C252B"/>
                </a:solidFill>
                <a:latin typeface="Segoe UI"/>
              </a:rPr>
              <a:t>. Many: the normal equation.</a:t>
            </a:r>
          </a:p>
        </p:txBody>
      </p:sp>
      <p:sp>
        <p:nvSpPr>
          <p:cNvPr id="16" name="!!sb3">
            <a:extLst>
              <a:ext uri="{C183D7F6-B498-43B3-948B-1728B52AA6E4}">
                <adec:decorative xmlns:adec="http://schemas.microsoft.com/office/drawing/2017/decorative" val="1"/>
              </a:ext>
            </a:extLst>
          </p:cNvPr>
          <p:cNvSpPr/>
          <p:nvPr/>
        </p:nvSpPr>
        <p:spPr>
          <a:xfrm>
            <a:off x="658368" y="40288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837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19702"/>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Gradient descent moves each weight by the average of error times feature; scale features first. Mini-batch is the practical default.</a:t>
            </a:r>
          </a:p>
        </p:txBody>
      </p:sp>
      <p:sp>
        <p:nvSpPr>
          <p:cNvPr id="19" name="!!sb4">
            <a:extLst>
              <a:ext uri="{C183D7F6-B498-43B3-948B-1728B52AA6E4}">
                <adec:decorative xmlns:adec="http://schemas.microsoft.com/office/drawing/2017/decorative" val="1"/>
              </a:ext>
            </a:extLst>
          </p:cNvPr>
          <p:cNvSpPr/>
          <p:nvPr/>
        </p:nvSpPr>
        <p:spPr>
          <a:xfrm>
            <a:off x="658368" y="487740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3227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6826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Polynomial features let a linear model fit curves — and overfit.</a:t>
            </a:r>
          </a:p>
        </p:txBody>
      </p:sp>
      <p:sp>
        <p:nvSpPr>
          <p:cNvPr id="22" name="!!sb5">
            <a:extLst>
              <a:ext uri="{C183D7F6-B498-43B3-948B-1728B52AA6E4}">
                <adec:decorative xmlns:adec="http://schemas.microsoft.com/office/drawing/2017/decorative" val="1"/>
              </a:ext>
            </a:extLst>
          </p:cNvPr>
          <p:cNvSpPr/>
          <p:nvPr/>
        </p:nvSpPr>
        <p:spPr>
          <a:xfrm>
            <a:off x="658368" y="546262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1748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453481"/>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Report MAE or RMSE in the units of </a:t>
            </a:r>
            <a:r>
              <a:rPr sz="2100" b="0" i="1">
                <a:solidFill>
                  <a:srgbClr val="1C252B"/>
                </a:solidFill>
                <a:latin typeface="Cambria"/>
              </a:rPr>
              <a:t>y</a:t>
            </a:r>
            <a:r>
              <a:rPr sz="2100" b="0" i="0">
                <a:solidFill>
                  <a:srgbClr val="1C252B"/>
                </a:solidFill>
                <a:latin typeface="Segoe UI"/>
              </a:rPr>
              <a:t>, and </a:t>
            </a:r>
            <a:r>
              <a:rPr sz="2100" b="0" i="1">
                <a:solidFill>
                  <a:srgbClr val="1C252B"/>
                </a:solidFill>
                <a:latin typeface="Cambria"/>
              </a:rPr>
              <a:t>R</a:t>
            </a:r>
            <a:r>
              <a:rPr sz="2100" b="0" i="0" baseline="30000">
                <a:solidFill>
                  <a:srgbClr val="1C252B"/>
                </a:solidFill>
                <a:latin typeface="Cambria"/>
              </a:rPr>
              <a:t>2</a:t>
            </a:r>
            <a:r>
              <a:rPr sz="2100" b="0" i="0">
                <a:solidFill>
                  <a:srgbClr val="1C252B"/>
                </a:solidFill>
                <a:latin typeface="Segoe UI"/>
              </a:rPr>
              <a:t>, beside the mean baseline; check the residual plot for patterns.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4764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26B0500D-4C02-43C4-9689-38DA75F2A375}"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least-squares line always passes through:</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origin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a:t>
            </a:r>
            <a:r>
              <a:rPr sz="2000" b="0" i="1">
                <a:solidFill>
                  <a:srgbClr val="1C252B"/>
                </a:solidFill>
                <a:latin typeface="Cambria"/>
              </a:rPr>
              <a:t>x̄</a:t>
            </a:r>
            <a:r>
              <a:rPr sz="2000" b="0" i="0">
                <a:solidFill>
                  <a:srgbClr val="1C252B"/>
                </a:solidFill>
                <a:latin typeface="Cambria"/>
              </a:rPr>
              <a:t>, </a:t>
            </a:r>
            <a:r>
              <a:rPr sz="2000" b="0" i="1">
                <a:solidFill>
                  <a:srgbClr val="1C252B"/>
                </a:solidFill>
                <a:latin typeface="Cambria"/>
              </a:rPr>
              <a:t>ȳ</a:t>
            </a:r>
            <a:r>
              <a:rPr sz="2000" b="0" i="0">
                <a:solidFill>
                  <a:srgbClr val="1C252B"/>
                </a:solidFill>
                <a:latin typeface="Cambria"/>
              </a:rPr>
              <a: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first data point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largest residual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19645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6E0EFD7B-F188-4C3F-8450-11E00D8C3C23}" type="slidenum">
              <a:rPr lang="en-GB" sz="1000">
                <a:solidFill>
                  <a:srgbClr val="8795A1"/>
                </a:solidFill>
                <a:latin typeface="Segoe UI"/>
              </a:rPr>
              <a:t>46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metric is most affected by one very large error?</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MAE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RMSE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median absolute error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all equally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4526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FB5B29DD-8C28-4D05-BCDF-6EDD05CEC6C8}" type="slidenum">
              <a:rPr lang="en-GB" sz="1000">
                <a:solidFill>
                  <a:srgbClr val="8795A1"/>
                </a:solidFill>
                <a:latin typeface="Segoe UI"/>
              </a:rPr>
              <a:t>47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1">
                <a:solidFill>
                  <a:srgbClr val="1C252B"/>
                </a:solidFill>
                <a:latin typeface="Cambria"/>
              </a:rPr>
              <a:t>R</a:t>
            </a:r>
            <a:r>
              <a:rPr sz="2600" b="0" i="0" baseline="30000">
                <a:solidFill>
                  <a:srgbClr val="1C252B"/>
                </a:solidFill>
                <a:latin typeface="Cambria"/>
              </a:rPr>
              <a:t>2</a:t>
            </a:r>
            <a:r>
              <a:rPr sz="2600" b="0" i="0">
                <a:solidFill>
                  <a:srgbClr val="1C252B"/>
                </a:solidFill>
                <a:latin typeface="Cambria"/>
              </a:rPr>
              <a:t> = 0</a:t>
            </a:r>
            <a:r>
              <a:rPr sz="2600" b="0" i="0">
                <a:solidFill>
                  <a:srgbClr val="1C252B"/>
                </a:solidFill>
                <a:latin typeface="Segoe UI"/>
              </a:rPr>
              <a:t> means the model:</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perfect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does no better than predicting the mean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has no bias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overfitted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9407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5  ·  Linear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FBF2B76D-45E6-40C6-A6B4-A1332C048A17}" type="slidenum">
              <a:rPr lang="en-GB" sz="1000">
                <a:solidFill>
                  <a:srgbClr val="8795A1"/>
                </a:solidFill>
                <a:latin typeface="Segoe UI"/>
              </a:rPr>
              <a:t>48</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in words the gradient of the MSE with respect to one weight.</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two situations where you would use gradient descent rather than the normal equation.</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can the weight of a feature change sign when another feature is added to the model?</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points </a:t>
            </a:r>
            <a:r>
              <a:rPr sz="1900" b="0" i="0">
                <a:solidFill>
                  <a:srgbClr val="1C252B"/>
                </a:solidFill>
                <a:latin typeface="Cambria"/>
              </a:rPr>
              <a:t>(1, 2)</a:t>
            </a:r>
            <a:r>
              <a:rPr sz="1900" b="0" i="0">
                <a:solidFill>
                  <a:srgbClr val="1C252B"/>
                </a:solidFill>
                <a:latin typeface="Segoe UI"/>
              </a:rPr>
              <a:t>, </a:t>
            </a:r>
            <a:r>
              <a:rPr sz="1900" b="0" i="0">
                <a:solidFill>
                  <a:srgbClr val="1C252B"/>
                </a:solidFill>
                <a:latin typeface="Cambria"/>
              </a:rPr>
              <a:t>(2, 2)</a:t>
            </a:r>
            <a:r>
              <a:rPr sz="1900" b="0" i="0">
                <a:solidFill>
                  <a:srgbClr val="1C252B"/>
                </a:solidFill>
                <a:latin typeface="Segoe UI"/>
              </a:rPr>
              <a:t>, </a:t>
            </a:r>
            <a:r>
              <a:rPr sz="1900" b="0" i="0">
                <a:solidFill>
                  <a:srgbClr val="1C252B"/>
                </a:solidFill>
                <a:latin typeface="Cambria"/>
              </a:rPr>
              <a:t>(3, 5)</a:t>
            </a:r>
            <a:r>
              <a:rPr sz="1900" b="0" i="0">
                <a:solidFill>
                  <a:srgbClr val="1C252B"/>
                </a:solidFill>
                <a:latin typeface="Segoe UI"/>
              </a:rPr>
              <a:t>, </a:t>
            </a:r>
            <a:r>
              <a:rPr sz="1900" b="0" i="0">
                <a:solidFill>
                  <a:srgbClr val="1C252B"/>
                </a:solidFill>
                <a:latin typeface="Cambria"/>
              </a:rPr>
              <a:t>(4, 6)</a:t>
            </a:r>
            <a:r>
              <a:rPr sz="1900" b="0" i="0">
                <a:solidFill>
                  <a:srgbClr val="1C252B"/>
                </a:solidFill>
                <a:latin typeface="Segoe UI"/>
              </a:rPr>
              <a:t>, compute the least-squares line, the residuals, the MAE, the RMSE and </a:t>
            </a:r>
            <a:r>
              <a:rPr sz="1900" b="0" i="1">
                <a:solidFill>
                  <a:srgbClr val="1C252B"/>
                </a:solidFill>
                <a:latin typeface="Cambria"/>
              </a:rPr>
              <a:t>R</a:t>
            </a:r>
            <a:r>
              <a:rPr sz="1900" b="0" i="0" baseline="30000">
                <a:solidFill>
                  <a:srgbClr val="1C252B"/>
                </a:solidFill>
                <a:latin typeface="Cambria"/>
              </a:rPr>
              <a:t>2</a:t>
            </a:r>
            <a:r>
              <a:rPr sz="1900" b="0" i="0">
                <a:solidFill>
                  <a:srgbClr val="1C252B"/>
                </a:solidFill>
                <a:latin typeface="Segoe UI"/>
              </a:rPr>
              <a:t>.</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Starting from </a:t>
            </a:r>
            <a:r>
              <a:rPr sz="1900" b="0" i="1">
                <a:solidFill>
                  <a:srgbClr val="1C252B"/>
                </a:solidFill>
                <a:latin typeface="Cambria"/>
              </a:rPr>
              <a:t>w</a:t>
            </a:r>
            <a:r>
              <a:rPr sz="1900" b="0" i="0">
                <a:solidFill>
                  <a:srgbClr val="1C252B"/>
                </a:solidFill>
                <a:latin typeface="Cambria"/>
              </a:rPr>
              <a:t> = 0</a:t>
            </a:r>
            <a:r>
              <a:rPr sz="1900" b="0" i="0">
                <a:solidFill>
                  <a:srgbClr val="1C252B"/>
                </a:solidFill>
                <a:latin typeface="Segoe UI"/>
              </a:rPr>
              <a:t>, </a:t>
            </a:r>
            <a:r>
              <a:rPr sz="1900" b="0" i="1">
                <a:solidFill>
                  <a:srgbClr val="1C252B"/>
                </a:solidFill>
                <a:latin typeface="Cambria"/>
              </a:rPr>
              <a:t>b</a:t>
            </a:r>
            <a:r>
              <a:rPr sz="1900" b="0" i="0">
                <a:solidFill>
                  <a:srgbClr val="1C252B"/>
                </a:solidFill>
                <a:latin typeface="Cambria"/>
              </a:rPr>
              <a:t> = 0</a:t>
            </a:r>
            <a:r>
              <a:rPr sz="1900" b="0" i="0">
                <a:solidFill>
                  <a:srgbClr val="1C252B"/>
                </a:solidFill>
                <a:latin typeface="Segoe UI"/>
              </a:rPr>
              <a:t> with </a:t>
            </a:r>
            <a:r>
              <a:rPr sz="1900" b="0" i="0">
                <a:solidFill>
                  <a:srgbClr val="1C252B"/>
                </a:solidFill>
                <a:latin typeface="Cambria"/>
              </a:rPr>
              <a:t>α = 0.1</a:t>
            </a:r>
            <a:r>
              <a:rPr sz="1900" b="0" i="0">
                <a:solidFill>
                  <a:srgbClr val="1C252B"/>
                </a:solidFill>
                <a:latin typeface="Segoe UI"/>
              </a:rPr>
              <a:t>, perform one gradient descent step on the data of the previous question and compute the MSE before and after.</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4288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05</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5</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6 — Logistic Regression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5, pages 38–44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Least squares three ways</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5  ·  Linear Regression</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9E7E4B0D-32BC-4E2F-8065-E9AAEFC9159B}" type="slidenum">
              <a:rPr lang="en-GB" sz="1000">
                <a:solidFill>
                  <a:srgbClr val="D5DEE5"/>
                </a:solidFill>
                <a:latin typeface="Segoe UI"/>
              </a:rPr>
              <a:t>49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Linear Regression</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