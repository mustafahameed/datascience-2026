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20.svg" ContentType="image/svg+xml"/>
  <Override PartName="/ppt/media/image22.svg" ContentType="image/svg+xml"/>
  <Override PartName="/ppt/media/image23.svg" ContentType="image/svg+xml"/>
  <Override PartName="/ppt/media/image25.svg" ContentType="image/svg+xml"/>
  <Override PartName="/ppt/media/image27.svg" ContentType="image/svg+xml"/>
  <Override PartName="/ppt/media/image29.svg" ContentType="image/svg+xml"/>
  <Override PartName="/ppt/media/image30.svg" ContentType="image/svg+xml"/>
  <Override PartName="/ppt/media/image31.svg" ContentType="image/svg+xml"/>
  <Override PartName="/ppt/media/image32.svg" ContentType="image/svg+xml"/>
  <Override PartName="/ppt/media/image34.svg" ContentType="image/svg+xml"/>
  <Override PartName="/ppt/media/image35.svg" ContentType="image/svg+xml"/>
  <Override PartName="/ppt/media/image36.svg" ContentType="image/svg+xml"/>
  <Override PartName="/ppt/media/image38.svg" ContentType="image/svg+xml"/>
  <Override PartName="/ppt/media/image4.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0.svg" ContentType="image/svg+xml"/>
  <Override PartName="/ppt/media/image51.svg" ContentType="image/svg+xml"/>
  <Override PartName="/ppt/media/image52.svg" ContentType="image/svg+xml"/>
  <Override PartName="/ppt/media/image53.svg" ContentType="image/svg+xml"/>
  <Override PartName="/ppt/media/image54.svg" ContentType="image/svg+xml"/>
  <Override PartName="/ppt/media/image56.svg" ContentType="image/svg+xml"/>
  <Override PartName="/ppt/media/image57.svg" ContentType="image/svg+xml"/>
  <Override PartName="/ppt/media/image58.svg" ContentType="image/svg+xml"/>
  <Override PartName="/ppt/media/image59.svg" ContentType="image/svg+xml"/>
  <Override PartName="/ppt/media/image6.svg" ContentType="image/svg+xml"/>
  <Override PartName="/ppt/media/image60.svg" ContentType="image/svg+xml"/>
  <Override PartName="/ppt/media/image62.svg" ContentType="image/svg+xml"/>
  <Override PartName="/ppt/media/image63.svg" ContentType="image/svg+xml"/>
  <Override PartName="/ppt/media/image64.svg" ContentType="image/svg+xml"/>
  <Override PartName="/ppt/media/image65.svg" ContentType="image/svg+xml"/>
  <Override PartName="/ppt/media/image66.svg" ContentType="image/svg+xml"/>
  <Override PartName="/ppt/media/image68.svg" ContentType="image/svg+xml"/>
  <Override PartName="/ppt/media/image69.svg" ContentType="image/svg+xml"/>
  <Override PartName="/ppt/media/image70.svg" ContentType="image/svg+xml"/>
  <Override PartName="/ppt/media/image71.svg" ContentType="image/svg+xml"/>
  <Override PartName="/ppt/media/image72.svg" ContentType="image/svg+xml"/>
  <Override PartName="/ppt/media/image74.svg" ContentType="image/svg+xml"/>
  <Override PartName="/ppt/media/image75.svg" ContentType="image/svg+xml"/>
  <Override PartName="/ppt/media/image76.svg" ContentType="image/svg+xml"/>
  <Override PartName="/ppt/media/image77.svg" ContentType="image/svg+xml"/>
  <Override PartName="/ppt/media/image78.svg" ContentType="image/svg+xml"/>
  <Override PartName="/ppt/media/image79.svg" ContentType="image/svg+xml"/>
  <Override PartName="/ppt/media/image8.svg" ContentType="image/svg+xml"/>
  <Override PartName="/ppt/media/image80.svg" ContentType="image/svg+xml"/>
  <Override PartName="/ppt/media/image81.svg" ContentType="image/svg+xml"/>
  <Override PartName="/ppt/media/image83.svg" ContentType="image/svg+xml"/>
  <Override PartName="/ppt/media/image85.svg" ContentType="image/svg+xml"/>
  <Override PartName="/ppt/media/image86.svg" ContentType="image/svg+xml"/>
  <Override PartName="/ppt/media/image87.svg" ContentType="image/svg+xml"/>
  <Override PartName="/ppt/media/image88.svg" ContentType="image/svg+xml"/>
  <Override PartName="/ppt/media/image89.svg" ContentType="image/svg+xml"/>
  <Override PartName="/ppt/media/image91.svg" ContentType="image/svg+xml"/>
  <Override PartName="/ppt/media/image93.svg" ContentType="image/svg+xml"/>
  <Override PartName="/ppt/media/image94.svg" ContentType="image/svg+xml"/>
  <Override PartName="/ppt/media/image95.svg" ContentType="image/svg+xml"/>
  <Override PartName="/ppt/media/image9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7F3F42E-CBF3-4929-BC01-7E6D3147AF18}">
          <p14:sldIdLst>
            <p14:sldId id="256"/>
            <p14:sldId id="257"/>
            <p14:sldId id="258"/>
            <p14:sldId id="259"/>
            <p14:sldId id="260"/>
          </p14:sldIdLst>
        </p14:section>
        <p14:section name="3.1 One Experiment, Start to Finish" id="{1D1AEB47-F4FA-49B0-9C60-14111D21BCDE}">
          <p14:sldIdLst>
            <p14:sldId id="261"/>
            <p14:sldId id="262"/>
            <p14:sldId id="263"/>
          </p14:sldIdLst>
        </p14:section>
        <p14:section name="3.2 Examples, Features and Labels" id="{FDC68C66-202D-4AB9-A67D-BB73937D43AC}">
          <p14:sldIdLst>
            <p14:sldId id="264"/>
          </p14:sldIdLst>
        </p14:section>
        <p14:section name="3.3 Splitting the Data" id="{8C345FA6-A36A-4E17-8093-DB1406F300CE}">
          <p14:sldIdLst>
            <p14:sldId id="265"/>
            <p14:sldId id="266"/>
            <p14:sldId id="267"/>
            <p14:sldId id="268"/>
          </p14:sldIdLst>
        </p14:section>
        <p14:section name="3.4 Preparing Features" id="{FDE31584-3A2D-4B8B-AC90-1682BFDEA51A}">
          <p14:sldIdLst>
            <p14:sldId id="269"/>
            <p14:sldId id="270"/>
          </p14:sldIdLst>
        </p14:section>
        <p14:section name="3.5 The scikit-learn Interface" id="{B4150F24-A1DE-4BC5-9B61-3974CA70B7A1}">
          <p14:sldIdLst>
            <p14:sldId id="271"/>
            <p14:sldId id="272"/>
            <p14:sldId id="273"/>
          </p14:sldIdLst>
        </p14:section>
        <p14:section name="3.6 Pipelines and Data Leakage" id="{18E04865-B711-45E7-B525-73CE8EF0F6D3}">
          <p14:sldIdLst>
            <p14:sldId id="274"/>
            <p14:sldId id="275"/>
            <p14:sldId id="276"/>
            <p14:sldId id="277"/>
          </p14:sldIdLst>
        </p14:section>
        <p14:section name="3.7 Baselines" id="{79BC1FF6-A471-421F-BB01-A23C5E81493F}">
          <p14:sldIdLst>
            <p14:sldId id="278"/>
          </p14:sldIdLst>
        </p14:section>
        <p14:section name="Pitfalls" id="{0C0FFB97-8C1B-4A04-80A7-74D347C8F215}">
          <p14:sldIdLst>
            <p14:sldId id="279"/>
          </p14:sldIdLst>
        </p14:section>
        <p14:section name="Four lenses" id="{5F0580AA-4016-4691-9B3C-AFD73882D38C}">
          <p14:sldIdLst>
            <p14:sldId id="280"/>
            <p14:sldId id="281"/>
            <p14:sldId id="282"/>
            <p14:sldId id="283"/>
            <p14:sldId id="284"/>
          </p14:sldIdLst>
        </p14:section>
        <p14:section name="Lab" id="{6894E607-CA3A-4E54-A7D8-ED2975F92CC6}">
          <p14:sldIdLst>
            <p14:sldId id="285"/>
            <p14:sldId id="286"/>
            <p14:sldId id="287"/>
            <p14:sldId id="288"/>
            <p14:sldId id="289"/>
            <p14:sldId id="290"/>
            <p14:sldId id="291"/>
            <p14:sldId id="292"/>
          </p14:sldIdLst>
        </p14:section>
        <p14:section name="Checkpoint" id="{FC14B95E-6E59-44FA-979C-2EF3EA56069C}">
          <p14:sldIdLst>
            <p14:sldId id="293"/>
            <p14:sldId id="294"/>
            <p14:sldId id="295"/>
            <p14:sldId id="296"/>
            <p14:sldId id="297"/>
            <p14:sldId id="298"/>
          </p14:sldIdLst>
        </p14:section>
        <p14:section name="Wrap-up" id="{BA961EBD-F7AD-4E45-BA29-3D613EFBB2AA}">
          <p14:sldIdLst>
            <p14:sldId id="299"/>
            <p14:sldId id="300"/>
            <p14:sldId id="301"/>
            <p14:sldId id="302"/>
            <p14:sldId id="303"/>
            <p14:sldId id="30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3: The Machine Learning Workflow and Toolkit. Part 1 — Foundations. Week 2: The workflow and the toolkit. Handout pages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1 (examples, features, labels, the paradigms) and Chapter 2 (vectors, distance, and why feature scale matters). Basic Python; Appendix A is a reference for every library call used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workflow; feature types; training set; validation set; test set; stratified split; imputation; one-hot encoding; standardisation; min–max scaling; estimator; transformer; fit / predict / transform; pipeline; data leakage; baseline.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chapter from here on teaches a new algorithm, and every lab runs it inside the same sequence of steps. Learn the sequence once, here, and the algorithms become interchangeable parts. Figure 3.1 shows it.</a:t>
            </a:r>
          </a:p>
          <a:p/>
          <a:p>
            <a:r>
              <a:t>Figure 3.1 (handout p. 20): The workflow every lab follows. The loop between training and validation may run dozens of times; the test set, split off in step 3, is used exactly once, in step 8.</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dataset for supervised learning is a table: one row per example, one column per feature, and one column for the label. Before choosing any algorithm, decide what type each feature is, because the type decides how it must be prepared.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3.2 (handout p. 21): The three-way split. Only the test score is an honest estimate of performance on new data, and it stays honest only if it is looked at once.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Missing values. Most algorithms cannot accept a blank. Either drop the rows (wasteful, and biased if the gaps are not random) or impute: fill each gap with the median of that feature in the training data. When a value is missing for a reason — a sensor that fails when it overheats, a student who never opened the quiz — add a yes/no column recording that it was missing; the absence is itself informative. Categories. One-hot encoding replaces a categorical feature with one 0/1 column per category. programme ∈ {BSIT, BSCS, BSSE} becomes three columns, exactly one of which is 1 in each row. Coding the programmes as 1, 2 and 3 instead would tell the model that BSSE is “three times” BSIT, which is nonsense that a linear model will happily use. Scaling. Chapter 2 showed a distance dominated by the feature with the largest units. Standardisation rescales each feature to mean 0 and standard deviation 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Min–max scaling maps each feature onto [0, 1] instead: x′ = (x − min)/(max − min). Tree-based models (Chapter 9, Chapter 14) do not need scaling; nearest neighbours, SVMs, neural networks, k-means, PCA and anything trained by gradient descent do.</a:t>
            </a:r>
          </a:p>
          <a:p/>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algorithm in this course is available in scikit-learn, and every one of them is used in the same way. That uniformity is the reason the labs can swap a decision tree for an SVM by changing one line.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table row by row: pick the row the room is most likely to get wrong and ask why.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Leakage comes in two forms. Target leakage is a feature that is recorded after, or because of, the outcome: days_until_account_closed in a model of which customers will leave. Train–test contamination is subtler: preparing the data using statistics that include the test rows. Fit a scaler on the full dataset and then split, and the training data has been shifted by the test data’s mean — the model has seen a summary of the exam.</a:t>
            </a:r>
          </a:p>
          <a:p/>
          <a:p>
            <a:r>
              <a:t>Figure 3.3 (handout p. 23): Train–test contamination. Fitting any preparation step before the split lets the test rows influence training; a pipeline fitted on the training data alone cannot make this mistake.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Baselines are humbling. On the breast-cancer data of Chapter 1’s lab, “always benign” already scores 63%. On intrusion data where 99% of connections are benign, “always benign” scores 99% — which is why a detector’s accuracy means nothing until it is set beside the baseline (Chapter 8).</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method, four domains. Each of the next four slides opens one lens in full.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Analytics. Missing quiz marks are not random: the students who skip quizzes are the ones at risk. Impute, but add a quiz_missing column, and it will often be one of the strongest features in the model. Split by student, never by row, if a student has several records.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Management. Project data is small and full of categories — team, project type, technology stack. One-hot encoding thirty technologies across two hundred projects gives most columns only a handful of ones; group the rare categories into “other” before encoding.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Internet of Things. Sensor data is ordered in time, so split by time: train on January to September, validate on October, test on November. A random split puts readings from the same minute on both sides, and the test score measures interpolation, not forecasting.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Cybersecurity. The classic security leak is a feature derived from the analyst’s verdict — a “ticket escalated” flag, a signature name — that exists only because the event was already known to be malicious. Ask of every feature: would this value exist, with this value, at the moment the model has to decide?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synthetic cohort of 600 students with a missing-value problem and one categorical feature. The whole workflow, in the order of Figure 3.1.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Set-up.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A synthetic cohort of 600 students, with gaps.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Split FIRST; the test set is locked away.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Every preparation step lives inside the pipeline.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A baseline first, then the model.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Look inside: the scaler learned from training rows only.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At prediction time only the training data is known. Statistics computed with test rows leak information about the test set into training and make the evaluation optimistic; new data must be transformed with the stored training statistics.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One-hot encode it into three 0/1 columns. Codes 1, 2, 3 would tell a model that ICMP is “three times” TCP and that UDP lies between them — an order and distances that do not exist.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The majority-class baseline: if 97% of machines never fail, predicting “no failure” is 97% accurate. Then ask for recall on the failures.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4 — Concept Learning and the Version Space. READ: Handout Chapter 3, pages 20–26. THIS WEEK'S LAB: A leak-proof pipeline.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9.xml"/><Relationship Id="rId7" Type="http://schemas.openxmlformats.org/officeDocument/2006/relationships/slide" Target="slide10.xml"/><Relationship Id="rId8" Type="http://schemas.openxmlformats.org/officeDocument/2006/relationships/slide" Target="slide15.xml"/><Relationship Id="rId9" Type="http://schemas.openxmlformats.org/officeDocument/2006/relationships/slide" Target="slide16.xml"/><Relationship Id="rId10" Type="http://schemas.openxmlformats.org/officeDocument/2006/relationships/slide" Target="slide19.xml"/><Relationship Id="rId11" Type="http://schemas.openxmlformats.org/officeDocument/2006/relationships/slide" Target="slide2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20.sv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image" Target="../media/image22.sv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23.svg"/><Relationship Id="rId4" Type="http://schemas.openxmlformats.org/officeDocument/2006/relationships/image" Target="../media/image24.png"/><Relationship Id="rId5" Type="http://schemas.openxmlformats.org/officeDocument/2006/relationships/image" Target="../media/image25.sv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image" Target="../media/image27.svg"/><Relationship Id="rId4" Type="http://schemas.openxmlformats.org/officeDocument/2006/relationships/image" Target="../media/image28.png"/><Relationship Id="rId5" Type="http://schemas.openxmlformats.org/officeDocument/2006/relationships/image" Target="../media/image29.sv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30.sv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31.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32.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image" Target="../media/image34.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35.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36.sv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7.png"/><Relationship Id="rId3" Type="http://schemas.openxmlformats.org/officeDocument/2006/relationships/image" Target="../media/image38.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image" Target="../media/image40.svg"/><Relationship Id="rId4" Type="http://schemas.openxmlformats.org/officeDocument/2006/relationships/image" Target="../media/image41.png"/><Relationship Id="rId5" Type="http://schemas.openxmlformats.org/officeDocument/2006/relationships/image" Target="../media/image42.svg"/><Relationship Id="rId6" Type="http://schemas.openxmlformats.org/officeDocument/2006/relationships/image" Target="../media/image43.png"/><Relationship Id="rId7" Type="http://schemas.openxmlformats.org/officeDocument/2006/relationships/image" Target="../media/image44.svg"/><Relationship Id="rId8" Type="http://schemas.openxmlformats.org/officeDocument/2006/relationships/image" Target="../media/image45.png"/><Relationship Id="rId9" Type="http://schemas.openxmlformats.org/officeDocument/2006/relationships/image" Target="../media/image46.svg"/><Relationship Id="rId10" Type="http://schemas.openxmlformats.org/officeDocument/2006/relationships/image" Target="../media/image47.png"/><Relationship Id="rId11" Type="http://schemas.openxmlformats.org/officeDocument/2006/relationships/image" Target="../media/image48.svg"/><Relationship Id="rId1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9.png"/><Relationship Id="rId3" Type="http://schemas.openxmlformats.org/officeDocument/2006/relationships/image" Target="../media/image50.svg"/><Relationship Id="rId4" Type="http://schemas.openxmlformats.org/officeDocument/2006/relationships/image" Target="../media/image41.png"/><Relationship Id="rId5" Type="http://schemas.openxmlformats.org/officeDocument/2006/relationships/image" Target="../media/image51.svg"/><Relationship Id="rId6" Type="http://schemas.openxmlformats.org/officeDocument/2006/relationships/image" Target="../media/image43.png"/><Relationship Id="rId7" Type="http://schemas.openxmlformats.org/officeDocument/2006/relationships/image" Target="../media/image52.svg"/><Relationship Id="rId8" Type="http://schemas.openxmlformats.org/officeDocument/2006/relationships/image" Target="../media/image45.png"/><Relationship Id="rId9" Type="http://schemas.openxmlformats.org/officeDocument/2006/relationships/image" Target="../media/image53.svg"/><Relationship Id="rId10" Type="http://schemas.openxmlformats.org/officeDocument/2006/relationships/image" Target="../media/image47.png"/><Relationship Id="rId11" Type="http://schemas.openxmlformats.org/officeDocument/2006/relationships/image" Target="../media/image54.svg"/><Relationship Id="rId1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5.png"/><Relationship Id="rId3" Type="http://schemas.openxmlformats.org/officeDocument/2006/relationships/image" Target="../media/image56.svg"/><Relationship Id="rId4" Type="http://schemas.openxmlformats.org/officeDocument/2006/relationships/image" Target="../media/image43.png"/><Relationship Id="rId5" Type="http://schemas.openxmlformats.org/officeDocument/2006/relationships/image" Target="../media/image57.svg"/><Relationship Id="rId6" Type="http://schemas.openxmlformats.org/officeDocument/2006/relationships/image" Target="../media/image41.png"/><Relationship Id="rId7" Type="http://schemas.openxmlformats.org/officeDocument/2006/relationships/image" Target="../media/image58.svg"/><Relationship Id="rId8" Type="http://schemas.openxmlformats.org/officeDocument/2006/relationships/image" Target="../media/image45.png"/><Relationship Id="rId9" Type="http://schemas.openxmlformats.org/officeDocument/2006/relationships/image" Target="../media/image59.svg"/><Relationship Id="rId10" Type="http://schemas.openxmlformats.org/officeDocument/2006/relationships/image" Target="../media/image47.png"/><Relationship Id="rId11" Type="http://schemas.openxmlformats.org/officeDocument/2006/relationships/image" Target="../media/image60.svg"/><Relationship Id="rId1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1.png"/><Relationship Id="rId3" Type="http://schemas.openxmlformats.org/officeDocument/2006/relationships/image" Target="../media/image62.svg"/><Relationship Id="rId4" Type="http://schemas.openxmlformats.org/officeDocument/2006/relationships/image" Target="../media/image45.png"/><Relationship Id="rId5" Type="http://schemas.openxmlformats.org/officeDocument/2006/relationships/image" Target="../media/image63.svg"/><Relationship Id="rId6" Type="http://schemas.openxmlformats.org/officeDocument/2006/relationships/image" Target="../media/image41.png"/><Relationship Id="rId7" Type="http://schemas.openxmlformats.org/officeDocument/2006/relationships/image" Target="../media/image64.svg"/><Relationship Id="rId8" Type="http://schemas.openxmlformats.org/officeDocument/2006/relationships/image" Target="../media/image43.png"/><Relationship Id="rId9" Type="http://schemas.openxmlformats.org/officeDocument/2006/relationships/image" Target="../media/image65.svg"/><Relationship Id="rId10" Type="http://schemas.openxmlformats.org/officeDocument/2006/relationships/image" Target="../media/image47.png"/><Relationship Id="rId11" Type="http://schemas.openxmlformats.org/officeDocument/2006/relationships/image" Target="../media/image66.svg"/><Relationship Id="rId1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7.png"/><Relationship Id="rId3" Type="http://schemas.openxmlformats.org/officeDocument/2006/relationships/image" Target="../media/image68.svg"/><Relationship Id="rId4" Type="http://schemas.openxmlformats.org/officeDocument/2006/relationships/image" Target="../media/image47.png"/><Relationship Id="rId5" Type="http://schemas.openxmlformats.org/officeDocument/2006/relationships/image" Target="../media/image69.svg"/><Relationship Id="rId6" Type="http://schemas.openxmlformats.org/officeDocument/2006/relationships/image" Target="../media/image41.png"/><Relationship Id="rId7" Type="http://schemas.openxmlformats.org/officeDocument/2006/relationships/image" Target="../media/image70.svg"/><Relationship Id="rId8" Type="http://schemas.openxmlformats.org/officeDocument/2006/relationships/image" Target="../media/image43.png"/><Relationship Id="rId9" Type="http://schemas.openxmlformats.org/officeDocument/2006/relationships/image" Target="../media/image71.svg"/><Relationship Id="rId10" Type="http://schemas.openxmlformats.org/officeDocument/2006/relationships/image" Target="../media/image45.png"/><Relationship Id="rId11" Type="http://schemas.openxmlformats.org/officeDocument/2006/relationships/image" Target="../media/image72.svg"/><Relationship Id="rId1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image" Target="../media/image74.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image" Target="../media/image75.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image" Target="../media/image76.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image" Target="../media/image77.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image" Target="../media/image78.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image" Target="../media/image79.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image" Target="../media/image80.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image" Target="../media/image81.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2.png"/><Relationship Id="rId3" Type="http://schemas.openxmlformats.org/officeDocument/2006/relationships/image" Target="../media/image83.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4.png"/><Relationship Id="rId3" Type="http://schemas.openxmlformats.org/officeDocument/2006/relationships/image" Target="../media/image85.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2.png"/><Relationship Id="rId3" Type="http://schemas.openxmlformats.org/officeDocument/2006/relationships/image" Target="../media/image86.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4.png"/><Relationship Id="rId3" Type="http://schemas.openxmlformats.org/officeDocument/2006/relationships/image" Target="../media/image87.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2.png"/><Relationship Id="rId3" Type="http://schemas.openxmlformats.org/officeDocument/2006/relationships/image" Target="../media/image88.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4.png"/><Relationship Id="rId3" Type="http://schemas.openxmlformats.org/officeDocument/2006/relationships/image" Target="../media/image89.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0.png"/><Relationship Id="rId3" Type="http://schemas.openxmlformats.org/officeDocument/2006/relationships/image" Target="../media/image91.sv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2.png"/><Relationship Id="rId3" Type="http://schemas.openxmlformats.org/officeDocument/2006/relationships/image" Target="../media/image93.sv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2.png"/><Relationship Id="rId3" Type="http://schemas.openxmlformats.org/officeDocument/2006/relationships/image" Target="../media/image94.sv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2.png"/><Relationship Id="rId3" Type="http://schemas.openxmlformats.org/officeDocument/2006/relationships/image" Target="../media/image95.sv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2.png"/><Relationship Id="rId3" Type="http://schemas.openxmlformats.org/officeDocument/2006/relationships/image" Target="../media/image96.sv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16384"/>
                </a:solidFill>
                <a:latin typeface="Segoe UI Black"/>
              </a:rPr>
              <a:t>03</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The Machine Learning Workflow and Toolkit</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CFD9"/>
                </a:solidFill>
                <a:latin typeface="Segoe UI"/>
              </a:rPr>
              <a:t>PART I  ·  FOUNDATIONS</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CFD9"/>
                </a:solidFill>
                <a:latin typeface="Segoe UI"/>
              </a:rPr>
              <a:t>CHAPTER 3  ·  WEEK 2</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D1DCE4"/>
                </a:solidFill>
                <a:latin typeface="Segoe UI"/>
              </a:rPr>
              <a:t>Machine Learning — From Hypotheses to Decisions</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133B5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A5B5BE"/>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BDC8CF"/>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A5B5BE"/>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20     </a:t>
            </a:r>
            <a:fld id="{32C6DFF8-4F3C-42BC-99A6-C337DF1100CD}" type="slidenum">
              <a:rPr lang="en-GB" sz="1000">
                <a:solidFill>
                  <a:srgbClr val="8795A1"/>
                </a:solidFill>
                <a:latin typeface="Segoe UI"/>
              </a:rPr>
              <a:t>2</a:t>
            </a:fld>
          </a:p>
        </p:txBody>
      </p:sp>
      <p:sp>
        <p:nvSpPr>
          <p:cNvPr id="7" name="!!rp1"/>
          <p:cNvSpPr txBox="1"/>
          <p:nvPr/>
        </p:nvSpPr>
        <p:spPr>
          <a:xfrm>
            <a:off x="777239" y="1755648"/>
            <a:ext cx="1894138"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A5276"/>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894138" cy="4572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3000562"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3000562"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4912988" y="1755648"/>
            <a:ext cx="240229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4912988" y="2029967"/>
            <a:ext cx="240229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7644467"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7644467"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9147366"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9147366"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10650266" y="1755648"/>
            <a:ext cx="764189"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10650266" y="2029967"/>
            <a:ext cx="764189"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45608" y="2112264"/>
            <a:ext cx="566928" cy="566928"/>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645608"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25" name="!!dot4">
            <a:extLst>
              <a:ext uri="{C183D7F6-B498-43B3-948B-1728B52AA6E4}">
                <adec:decorative xmlns:adec="http://schemas.microsoft.com/office/drawing/2017/decorative" val="1"/>
              </a:ext>
            </a:extLst>
          </p:cNvPr>
          <p:cNvSpPr/>
          <p:nvPr/>
        </p:nvSpPr>
        <p:spPr>
          <a:xfrm>
            <a:off x="2356886" y="2258568"/>
            <a:ext cx="274320" cy="274320"/>
          </a:xfrm>
          <a:prstGeom prst="ellipse">
            <a:avLst/>
          </a:prstGeom>
          <a:solidFill>
            <a:srgbClr val="FFFFFF"/>
          </a:solidFill>
          <a:ln w="15875">
            <a:solidFill>
              <a:srgbClr val="81A0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226544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A4967"/>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3040733"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94929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450259"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35881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859786"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76834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4269312"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417787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953159"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86171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362685"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527124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5772212"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68077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6181738"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609029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591265"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49982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7000791"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690935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684638"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59319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8094164"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80027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8503691"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41225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187537"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0960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597064"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5056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006590"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99151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658368"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1A5276"/>
                </a:solidFill>
                <a:latin typeface="Segoe UI"/>
              </a:rPr>
              <a:t>The Machine Learning Workflow and Toolkit</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1">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1">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1"/>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1  </a:t>
            </a:r>
            <a:r>
              <a:rPr sz="1400" b="0" i="0">
                <a:solidFill>
                  <a:srgbClr val="1C252B"/>
                </a:solidFill>
                <a:latin typeface="Segoe UI"/>
              </a:rPr>
              <a:t>What Machine Learning Is</a:t>
            </a:r>
          </a:p>
        </p:txBody>
      </p:sp>
      <p:sp>
        <p:nvSpPr>
          <p:cNvPr id="68" name="!!chipBU2">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2">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2"/>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2  </a:t>
            </a:r>
            <a:r>
              <a:rPr sz="1400" b="0" i="0">
                <a:solidFill>
                  <a:srgbClr val="1C252B"/>
                </a:solidFill>
                <a:latin typeface="Segoe UI"/>
              </a:rPr>
              <a:t>Mathematics for Machine Learning</a:t>
            </a:r>
          </a:p>
        </p:txBody>
      </p:sp>
      <p:sp>
        <p:nvSpPr>
          <p:cNvPr id="71"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2" name="!!chipUS5">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bUS5">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chiptUS5"/>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5  </a:t>
            </a:r>
            <a:r>
              <a:rPr sz="1400" b="0" i="0">
                <a:solidFill>
                  <a:srgbClr val="1C252B"/>
                </a:solidFill>
                <a:latin typeface="Segoe UI"/>
              </a:rPr>
              <a:t>Linear Regression</a:t>
            </a:r>
          </a:p>
        </p:txBody>
      </p:sp>
      <p:sp>
        <p:nvSpPr>
          <p:cNvPr id="75" name="!!chipUS7">
            <a:extLst>
              <a:ext uri="{C183D7F6-B498-43B3-948B-1728B52AA6E4}">
                <adec:decorative xmlns:adec="http://schemas.microsoft.com/office/drawing/2017/decorative" val="1"/>
              </a:ext>
            </a:extLst>
          </p:cNvPr>
          <p:cNvSpPr/>
          <p:nvPr/>
        </p:nvSpPr>
        <p:spPr>
          <a:xfrm>
            <a:off x="6324447" y="4297680"/>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bUS7">
            <a:extLst>
              <a:ext uri="{C183D7F6-B498-43B3-948B-1728B52AA6E4}">
                <adec:decorative xmlns:adec="http://schemas.microsoft.com/office/drawing/2017/decorative" val="1"/>
              </a:ext>
            </a:extLst>
          </p:cNvPr>
          <p:cNvSpPr/>
          <p:nvPr/>
        </p:nvSpPr>
        <p:spPr>
          <a:xfrm>
            <a:off x="6324447" y="4297680"/>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7" name="!!chiptUS7"/>
          <p:cNvSpPr txBox="1"/>
          <p:nvPr/>
        </p:nvSpPr>
        <p:spPr>
          <a:xfrm>
            <a:off x="6525615"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7  </a:t>
            </a:r>
            <a:r>
              <a:rPr sz="1400" b="0" i="0">
                <a:solidFill>
                  <a:srgbClr val="1C252B"/>
                </a:solidFill>
                <a:latin typeface="Segoe UI"/>
              </a:rPr>
              <a:t>Overfitting, Bias–Variance and Regularisation</a:t>
            </a:r>
          </a:p>
        </p:txBody>
      </p:sp>
      <p:sp>
        <p:nvSpPr>
          <p:cNvPr id="78" name="!!chipUS11">
            <a:extLst>
              <a:ext uri="{C183D7F6-B498-43B3-948B-1728B52AA6E4}">
                <adec:decorative xmlns:adec="http://schemas.microsoft.com/office/drawing/2017/decorative" val="1"/>
              </a:ext>
            </a:extLst>
          </p:cNvPr>
          <p:cNvSpPr/>
          <p:nvPr/>
        </p:nvSpPr>
        <p:spPr>
          <a:xfrm>
            <a:off x="6324447" y="4809744"/>
            <a:ext cx="5208879" cy="420624"/>
          </a:xfrm>
          <a:prstGeom prst="roundRect">
            <a:avLst>
              <a:gd name="adj" fmla="val 17391"/>
            </a:avLst>
          </a:prstGeom>
          <a:solidFill>
            <a:srgbClr val="E8F2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chipbUS11">
            <a:extLst>
              <a:ext uri="{C183D7F6-B498-43B3-948B-1728B52AA6E4}">
                <adec:decorative xmlns:adec="http://schemas.microsoft.com/office/drawing/2017/decorative" val="1"/>
              </a:ext>
            </a:extLst>
          </p:cNvPr>
          <p:cNvSpPr/>
          <p:nvPr/>
        </p:nvSpPr>
        <p:spPr>
          <a:xfrm>
            <a:off x="6324447" y="4809744"/>
            <a:ext cx="64008" cy="420624"/>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chiptUS11"/>
          <p:cNvSpPr txBox="1"/>
          <p:nvPr/>
        </p:nvSpPr>
        <p:spPr>
          <a:xfrm>
            <a:off x="6525615"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B7A43"/>
                </a:solidFill>
                <a:latin typeface="Segoe UI"/>
              </a:rPr>
              <a:t>Ch 11  </a:t>
            </a:r>
            <a:r>
              <a:rPr sz="1400" b="0" i="0">
                <a:solidFill>
                  <a:srgbClr val="1C252B"/>
                </a:solidFill>
                <a:latin typeface="Segoe UI"/>
              </a:rPr>
              <a:t>Instance-Based Learning: k-Nearest Neighbours</a:t>
            </a:r>
          </a:p>
        </p:txBody>
      </p:sp>
      <p:sp>
        <p:nvSpPr>
          <p:cNvPr id="81" name="!!chipUS15">
            <a:extLst>
              <a:ext uri="{C183D7F6-B498-43B3-948B-1728B52AA6E4}">
                <adec:decorative xmlns:adec="http://schemas.microsoft.com/office/drawing/2017/decorative" val="1"/>
              </a:ext>
            </a:extLst>
          </p:cNvPr>
          <p:cNvSpPr/>
          <p:nvPr/>
        </p:nvSpPr>
        <p:spPr>
          <a:xfrm>
            <a:off x="6324447" y="5321808"/>
            <a:ext cx="5208879" cy="420624"/>
          </a:xfrm>
          <a:prstGeom prst="roundRect">
            <a:avLst>
              <a:gd name="adj" fmla="val 17391"/>
            </a:avLst>
          </a:prstGeom>
          <a:solidFill>
            <a:srgbClr val="F2EB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2" name="!!chipbUS15">
            <a:extLst>
              <a:ext uri="{C183D7F6-B498-43B3-948B-1728B52AA6E4}">
                <adec:decorative xmlns:adec="http://schemas.microsoft.com/office/drawing/2017/decorative" val="1"/>
              </a:ext>
            </a:extLst>
          </p:cNvPr>
          <p:cNvSpPr/>
          <p:nvPr/>
        </p:nvSpPr>
        <p:spPr>
          <a:xfrm>
            <a:off x="6324447" y="5321808"/>
            <a:ext cx="64008" cy="420624"/>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3" name="!!chiptUS15"/>
          <p:cNvSpPr txBox="1"/>
          <p:nvPr/>
        </p:nvSpPr>
        <p:spPr>
          <a:xfrm>
            <a:off x="6525615" y="5413248"/>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A3A95"/>
                </a:solidFill>
                <a:latin typeface="Segoe UI"/>
              </a:rPr>
              <a:t>Ch 15  </a:t>
            </a:r>
            <a:r>
              <a:rPr sz="1400" b="0" i="0">
                <a:solidFill>
                  <a:srgbClr val="1C252B"/>
                </a:solidFill>
                <a:latin typeface="Segoe UI"/>
              </a:rPr>
              <a:t>Clustering</a:t>
            </a:r>
          </a:p>
        </p:txBody>
      </p:sp>
      <p:sp>
        <p:nvSpPr>
          <p:cNvPr id="84" name="!!chipUS21">
            <a:extLst>
              <a:ext uri="{C183D7F6-B498-43B3-948B-1728B52AA6E4}">
                <adec:decorative xmlns:adec="http://schemas.microsoft.com/office/drawing/2017/decorative" val="1"/>
              </a:ext>
            </a:extLst>
          </p:cNvPr>
          <p:cNvSpPr/>
          <p:nvPr/>
        </p:nvSpPr>
        <p:spPr>
          <a:xfrm>
            <a:off x="6324447" y="5833872"/>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5" name="!!chipbUS21">
            <a:extLst>
              <a:ext uri="{C183D7F6-B498-43B3-948B-1728B52AA6E4}">
                <adec:decorative xmlns:adec="http://schemas.microsoft.com/office/drawing/2017/decorative" val="1"/>
              </a:ext>
            </a:extLst>
          </p:cNvPr>
          <p:cNvSpPr/>
          <p:nvPr/>
        </p:nvSpPr>
        <p:spPr>
          <a:xfrm>
            <a:off x="6324447" y="5833872"/>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6" name="!!chiptUS21"/>
          <p:cNvSpPr txBox="1"/>
          <p:nvPr/>
        </p:nvSpPr>
        <p:spPr>
          <a:xfrm>
            <a:off x="6525615" y="5925312"/>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21  </a:t>
            </a:r>
            <a:r>
              <a:rPr sz="1400" b="0" i="0">
                <a:solidFill>
                  <a:srgbClr val="1C252B"/>
                </a:solidFill>
                <a:latin typeface="Segoe UI"/>
              </a:rPr>
              <a:t>Responsible and Ethical Machine Learning</a:t>
            </a:r>
          </a:p>
        </p:txBody>
      </p:sp>
      <p:sp>
        <p:nvSpPr>
          <p:cNvPr id="8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8" name="!!pfill">
            <a:extLst>
              <a:ext uri="{C183D7F6-B498-43B3-948B-1728B52AA6E4}">
                <adec:decorative xmlns:adec="http://schemas.microsoft.com/office/drawing/2017/decorative" val="1"/>
              </a:ext>
            </a:extLst>
          </p:cNvPr>
          <p:cNvSpPr/>
          <p:nvPr/>
        </p:nvSpPr>
        <p:spPr>
          <a:xfrm>
            <a:off x="0" y="0"/>
            <a:ext cx="497620"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20     </a:t>
            </a:r>
            <a:fld id="{720DCFFC-CCD4-4109-B5CE-6CE4D3895577}"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Describe</a:t>
            </a:r>
            <a:r>
              <a:rPr sz="2100" b="0" i="0">
                <a:solidFill>
                  <a:srgbClr val="1C252B"/>
                </a:solidFill>
                <a:latin typeface="Segoe UI"/>
              </a:rPr>
              <a:t> the stages of a machine learning experiment, from framing the problem to reporting the result.</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111703"/>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Split</a:t>
            </a:r>
            <a:r>
              <a:rPr sz="2100" b="0" i="0">
                <a:solidFill>
                  <a:srgbClr val="1C252B"/>
                </a:solidFill>
                <a:latin typeface="Segoe UI"/>
              </a:rPr>
              <a:t> data into training, validation and test sets, and </a:t>
            </a:r>
            <a:r>
              <a:rPr sz="2100" b="1" i="0">
                <a:solidFill>
                  <a:srgbClr val="1C252B"/>
                </a:solidFill>
                <a:latin typeface="Segoe UI"/>
              </a:rPr>
              <a:t>explain</a:t>
            </a:r>
            <a:r>
              <a:rPr sz="2100" b="0" i="0">
                <a:solidFill>
                  <a:srgbClr val="1C252B"/>
                </a:solidFill>
                <a:latin typeface="Segoe UI"/>
              </a:rPr>
              <a:t> what each one is for.</a:t>
            </a:r>
          </a:p>
        </p:txBody>
      </p:sp>
      <p:sp>
        <p:nvSpPr>
          <p:cNvPr id="14" name="!!ob2">
            <a:extLst>
              <a:ext uri="{C183D7F6-B498-43B3-948B-1728B52AA6E4}">
                <adec:decorative xmlns:adec="http://schemas.microsoft.com/office/drawing/2017/decorative" val="1"/>
              </a:ext>
            </a:extLst>
          </p:cNvPr>
          <p:cNvSpPr/>
          <p:nvPr/>
        </p:nvSpPr>
        <p:spPr>
          <a:xfrm>
            <a:off x="658368" y="3674059"/>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733495"/>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715207"/>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Prepare</a:t>
            </a:r>
            <a:r>
              <a:rPr sz="2100" b="0" i="0">
                <a:solidFill>
                  <a:srgbClr val="1C252B"/>
                </a:solidFill>
                <a:latin typeface="Segoe UI"/>
              </a:rPr>
              <a:t> features: impute missing values, encode categories and scale numbers.</a:t>
            </a:r>
          </a:p>
        </p:txBody>
      </p:sp>
      <p:sp>
        <p:nvSpPr>
          <p:cNvPr id="17" name="!!ob3">
            <a:extLst>
              <a:ext uri="{C183D7F6-B498-43B3-948B-1728B52AA6E4}">
                <adec:decorative xmlns:adec="http://schemas.microsoft.com/office/drawing/2017/decorative" val="1"/>
              </a:ext>
            </a:extLst>
          </p:cNvPr>
          <p:cNvSpPr/>
          <p:nvPr/>
        </p:nvSpPr>
        <p:spPr>
          <a:xfrm>
            <a:off x="658368" y="4277563"/>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336999"/>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268419"/>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Use</a:t>
            </a:r>
            <a:r>
              <a:rPr sz="2100" b="0" i="0">
                <a:solidFill>
                  <a:srgbClr val="1C252B"/>
                </a:solidFill>
                <a:latin typeface="Segoe UI"/>
              </a:rPr>
              <a:t> the scikit-learn estimator interface and </a:t>
            </a:r>
            <a:r>
              <a:rPr sz="2100" b="1" i="0">
                <a:solidFill>
                  <a:srgbClr val="1C252B"/>
                </a:solidFill>
                <a:latin typeface="Segoe UI"/>
              </a:rPr>
              <a:t>combine</a:t>
            </a:r>
            <a:r>
              <a:rPr sz="2100" b="0" i="0">
                <a:solidFill>
                  <a:srgbClr val="1C252B"/>
                </a:solidFill>
                <a:latin typeface="Segoe UI"/>
              </a:rPr>
              <a:t> preparation and model in a pipeline.</a:t>
            </a:r>
          </a:p>
        </p:txBody>
      </p:sp>
      <p:sp>
        <p:nvSpPr>
          <p:cNvPr id="20" name="!!ob4">
            <a:extLst>
              <a:ext uri="{C183D7F6-B498-43B3-948B-1728B52AA6E4}">
                <adec:decorative xmlns:adec="http://schemas.microsoft.com/office/drawing/2017/decorative" val="1"/>
              </a:ext>
            </a:extLst>
          </p:cNvPr>
          <p:cNvSpPr/>
          <p:nvPr/>
        </p:nvSpPr>
        <p:spPr>
          <a:xfrm>
            <a:off x="658368" y="5126126"/>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185562"/>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116982"/>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Recognise</a:t>
            </a:r>
            <a:r>
              <a:rPr sz="2100" b="0" i="0">
                <a:solidFill>
                  <a:srgbClr val="1C252B"/>
                </a:solidFill>
                <a:latin typeface="Segoe UI"/>
              </a:rPr>
              <a:t> and </a:t>
            </a:r>
            <a:r>
              <a:rPr sz="2100" b="1" i="0">
                <a:solidFill>
                  <a:srgbClr val="1C252B"/>
                </a:solidFill>
                <a:latin typeface="Segoe UI"/>
              </a:rPr>
              <a:t>prevent</a:t>
            </a:r>
            <a:r>
              <a:rPr sz="2100" b="0" i="0">
                <a:solidFill>
                  <a:srgbClr val="1C252B"/>
                </a:solidFill>
                <a:latin typeface="Segoe UI"/>
              </a:rPr>
              <a:t> data leakage, and </a:t>
            </a:r>
            <a:r>
              <a:rPr sz="2100" b="1" i="0">
                <a:solidFill>
                  <a:srgbClr val="1C252B"/>
                </a:solidFill>
                <a:latin typeface="Segoe UI"/>
              </a:rPr>
              <a:t>establish</a:t>
            </a:r>
            <a:r>
              <a:rPr sz="2100" b="0" i="0">
                <a:solidFill>
                  <a:srgbClr val="1C252B"/>
                </a:solidFill>
                <a:latin typeface="Segoe UI"/>
              </a:rPr>
              <a:t> a baseline before building any model.</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746430"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20     </a:t>
            </a:r>
            <a:fld id="{54FFD945-E0C8-43B0-BE19-54CA95E96272}" type="slidenum">
              <a:rPr lang="en-GB" sz="1000">
                <a:solidFill>
                  <a:srgbClr val="8795A1"/>
                </a:solidFill>
                <a:latin typeface="Segoe UI"/>
              </a:rPr>
              <a:t>4</a:t>
            </a:fld>
          </a:p>
        </p:txBody>
      </p:sp>
      <p:sp>
        <p:nvSpPr>
          <p:cNvPr id="7" name="!!term-workflow">
            <a:extLst>
              <a:ext uri="{C183D7F6-B498-43B3-948B-1728B52AA6E4}">
                <adec:decorative xmlns:adec="http://schemas.microsoft.com/office/drawing/2017/decorative" val="1"/>
              </a:ext>
            </a:extLst>
          </p:cNvPr>
          <p:cNvSpPr/>
          <p:nvPr/>
        </p:nvSpPr>
        <p:spPr>
          <a:xfrm>
            <a:off x="658368" y="1847088"/>
            <a:ext cx="127168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workflow">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workflow"/>
          <p:cNvSpPr txBox="1"/>
          <p:nvPr/>
        </p:nvSpPr>
        <p:spPr>
          <a:xfrm>
            <a:off x="950976" y="1962911"/>
            <a:ext cx="108880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workflow</a:t>
            </a:r>
          </a:p>
        </p:txBody>
      </p:sp>
      <p:sp>
        <p:nvSpPr>
          <p:cNvPr id="10" name="!!term-feature types">
            <a:extLst>
              <a:ext uri="{C183D7F6-B498-43B3-948B-1728B52AA6E4}">
                <adec:decorative xmlns:adec="http://schemas.microsoft.com/office/drawing/2017/decorative" val="1"/>
              </a:ext>
            </a:extLst>
          </p:cNvPr>
          <p:cNvSpPr/>
          <p:nvPr/>
        </p:nvSpPr>
        <p:spPr>
          <a:xfrm>
            <a:off x="2076361" y="1847088"/>
            <a:ext cx="163125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feature types">
            <a:extLst>
              <a:ext uri="{C183D7F6-B498-43B3-948B-1728B52AA6E4}">
                <adec:decorative xmlns:adec="http://schemas.microsoft.com/office/drawing/2017/decorative" val="1"/>
              </a:ext>
            </a:extLst>
          </p:cNvPr>
          <p:cNvSpPr/>
          <p:nvPr/>
        </p:nvSpPr>
        <p:spPr>
          <a:xfrm>
            <a:off x="2204377"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feature types"/>
          <p:cNvSpPr txBox="1"/>
          <p:nvPr/>
        </p:nvSpPr>
        <p:spPr>
          <a:xfrm>
            <a:off x="2368969" y="1962911"/>
            <a:ext cx="144837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feature types</a:t>
            </a:r>
          </a:p>
        </p:txBody>
      </p:sp>
      <p:sp>
        <p:nvSpPr>
          <p:cNvPr id="13" name="!!term-training set">
            <a:extLst>
              <a:ext uri="{C183D7F6-B498-43B3-948B-1728B52AA6E4}">
                <adec:decorative xmlns:adec="http://schemas.microsoft.com/office/drawing/2017/decorative" val="1"/>
              </a:ext>
            </a:extLst>
          </p:cNvPr>
          <p:cNvSpPr/>
          <p:nvPr/>
        </p:nvSpPr>
        <p:spPr>
          <a:xfrm>
            <a:off x="3853924" y="1847088"/>
            <a:ext cx="146714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training set">
            <a:extLst>
              <a:ext uri="{C183D7F6-B498-43B3-948B-1728B52AA6E4}">
                <adec:decorative xmlns:adec="http://schemas.microsoft.com/office/drawing/2017/decorative" val="1"/>
              </a:ext>
            </a:extLst>
          </p:cNvPr>
          <p:cNvSpPr/>
          <p:nvPr/>
        </p:nvSpPr>
        <p:spPr>
          <a:xfrm>
            <a:off x="3981940"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training set"/>
          <p:cNvSpPr txBox="1"/>
          <p:nvPr/>
        </p:nvSpPr>
        <p:spPr>
          <a:xfrm>
            <a:off x="4146532" y="1962911"/>
            <a:ext cx="128426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training set</a:t>
            </a:r>
          </a:p>
        </p:txBody>
      </p:sp>
      <p:sp>
        <p:nvSpPr>
          <p:cNvPr id="16" name="!!term-validation set">
            <a:extLst>
              <a:ext uri="{C183D7F6-B498-43B3-948B-1728B52AA6E4}">
                <adec:decorative xmlns:adec="http://schemas.microsoft.com/office/drawing/2017/decorative" val="1"/>
              </a:ext>
            </a:extLst>
          </p:cNvPr>
          <p:cNvSpPr/>
          <p:nvPr/>
        </p:nvSpPr>
        <p:spPr>
          <a:xfrm>
            <a:off x="5467377" y="1847088"/>
            <a:ext cx="165404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validation set">
            <a:extLst>
              <a:ext uri="{C183D7F6-B498-43B3-948B-1728B52AA6E4}">
                <adec:decorative xmlns:adec="http://schemas.microsoft.com/office/drawing/2017/decorative" val="1"/>
              </a:ext>
            </a:extLst>
          </p:cNvPr>
          <p:cNvSpPr/>
          <p:nvPr/>
        </p:nvSpPr>
        <p:spPr>
          <a:xfrm>
            <a:off x="5595393"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validation set"/>
          <p:cNvSpPr txBox="1"/>
          <p:nvPr/>
        </p:nvSpPr>
        <p:spPr>
          <a:xfrm>
            <a:off x="5759985" y="1962911"/>
            <a:ext cx="1471162"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validation set</a:t>
            </a:r>
          </a:p>
        </p:txBody>
      </p:sp>
      <p:sp>
        <p:nvSpPr>
          <p:cNvPr id="19" name="!!term-test set">
            <a:extLst>
              <a:ext uri="{C183D7F6-B498-43B3-948B-1728B52AA6E4}">
                <adec:decorative xmlns:adec="http://schemas.microsoft.com/office/drawing/2017/decorative" val="1"/>
              </a:ext>
            </a:extLst>
          </p:cNvPr>
          <p:cNvSpPr/>
          <p:nvPr/>
        </p:nvSpPr>
        <p:spPr>
          <a:xfrm>
            <a:off x="7267723" y="1847088"/>
            <a:ext cx="109902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test set">
            <a:extLst>
              <a:ext uri="{C183D7F6-B498-43B3-948B-1728B52AA6E4}">
                <adec:decorative xmlns:adec="http://schemas.microsoft.com/office/drawing/2017/decorative" val="1"/>
              </a:ext>
            </a:extLst>
          </p:cNvPr>
          <p:cNvSpPr/>
          <p:nvPr/>
        </p:nvSpPr>
        <p:spPr>
          <a:xfrm>
            <a:off x="7395739"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test set"/>
          <p:cNvSpPr txBox="1"/>
          <p:nvPr/>
        </p:nvSpPr>
        <p:spPr>
          <a:xfrm>
            <a:off x="7560331" y="1962911"/>
            <a:ext cx="91614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test set</a:t>
            </a:r>
          </a:p>
        </p:txBody>
      </p:sp>
      <p:sp>
        <p:nvSpPr>
          <p:cNvPr id="22" name="!!term-stratified spl">
            <a:extLst>
              <a:ext uri="{C183D7F6-B498-43B3-948B-1728B52AA6E4}">
                <adec:decorative xmlns:adec="http://schemas.microsoft.com/office/drawing/2017/decorative" val="1"/>
              </a:ext>
            </a:extLst>
          </p:cNvPr>
          <p:cNvSpPr/>
          <p:nvPr/>
        </p:nvSpPr>
        <p:spPr>
          <a:xfrm>
            <a:off x="8513049" y="1847088"/>
            <a:ext cx="167772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stratified spl">
            <a:extLst>
              <a:ext uri="{C183D7F6-B498-43B3-948B-1728B52AA6E4}">
                <adec:decorative xmlns:adec="http://schemas.microsoft.com/office/drawing/2017/decorative" val="1"/>
              </a:ext>
            </a:extLst>
          </p:cNvPr>
          <p:cNvSpPr/>
          <p:nvPr/>
        </p:nvSpPr>
        <p:spPr>
          <a:xfrm>
            <a:off x="8641065"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stratified spl"/>
          <p:cNvSpPr txBox="1"/>
          <p:nvPr/>
        </p:nvSpPr>
        <p:spPr>
          <a:xfrm>
            <a:off x="8805657" y="1962911"/>
            <a:ext cx="149484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stratified split</a:t>
            </a:r>
          </a:p>
        </p:txBody>
      </p:sp>
      <p:sp>
        <p:nvSpPr>
          <p:cNvPr id="25" name="!!term-imputation">
            <a:extLst>
              <a:ext uri="{C183D7F6-B498-43B3-948B-1728B52AA6E4}">
                <adec:decorative xmlns:adec="http://schemas.microsoft.com/office/drawing/2017/decorative" val="1"/>
              </a:ext>
            </a:extLst>
          </p:cNvPr>
          <p:cNvSpPr/>
          <p:nvPr/>
        </p:nvSpPr>
        <p:spPr>
          <a:xfrm>
            <a:off x="658368" y="2468880"/>
            <a:ext cx="144165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imputation">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imputation"/>
          <p:cNvSpPr txBox="1"/>
          <p:nvPr/>
        </p:nvSpPr>
        <p:spPr>
          <a:xfrm>
            <a:off x="950976" y="2584704"/>
            <a:ext cx="125877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imputation</a:t>
            </a:r>
          </a:p>
        </p:txBody>
      </p:sp>
      <p:sp>
        <p:nvSpPr>
          <p:cNvPr id="28" name="!!term-one-hot encodi">
            <a:extLst>
              <a:ext uri="{C183D7F6-B498-43B3-948B-1728B52AA6E4}">
                <adec:decorative xmlns:adec="http://schemas.microsoft.com/office/drawing/2017/decorative" val="1"/>
              </a:ext>
            </a:extLst>
          </p:cNvPr>
          <p:cNvSpPr/>
          <p:nvPr/>
        </p:nvSpPr>
        <p:spPr>
          <a:xfrm>
            <a:off x="2246327" y="2468880"/>
            <a:ext cx="208935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one-hot encodi">
            <a:extLst>
              <a:ext uri="{C183D7F6-B498-43B3-948B-1728B52AA6E4}">
                <adec:decorative xmlns:adec="http://schemas.microsoft.com/office/drawing/2017/decorative" val="1"/>
              </a:ext>
            </a:extLst>
          </p:cNvPr>
          <p:cNvSpPr/>
          <p:nvPr/>
        </p:nvSpPr>
        <p:spPr>
          <a:xfrm>
            <a:off x="2374343"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one-hot encodi"/>
          <p:cNvSpPr txBox="1"/>
          <p:nvPr/>
        </p:nvSpPr>
        <p:spPr>
          <a:xfrm>
            <a:off x="2538935" y="2584704"/>
            <a:ext cx="190647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one-hot encoding</a:t>
            </a:r>
          </a:p>
        </p:txBody>
      </p:sp>
      <p:sp>
        <p:nvSpPr>
          <p:cNvPr id="31" name="!!term-standardisatio">
            <a:extLst>
              <a:ext uri="{C183D7F6-B498-43B3-948B-1728B52AA6E4}">
                <adec:decorative xmlns:adec="http://schemas.microsoft.com/office/drawing/2017/decorative" val="1"/>
              </a:ext>
            </a:extLst>
          </p:cNvPr>
          <p:cNvSpPr/>
          <p:nvPr/>
        </p:nvSpPr>
        <p:spPr>
          <a:xfrm>
            <a:off x="4481986" y="2468880"/>
            <a:ext cx="184432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standardisatio">
            <a:extLst>
              <a:ext uri="{C183D7F6-B498-43B3-948B-1728B52AA6E4}">
                <adec:decorative xmlns:adec="http://schemas.microsoft.com/office/drawing/2017/decorative" val="1"/>
              </a:ext>
            </a:extLst>
          </p:cNvPr>
          <p:cNvSpPr/>
          <p:nvPr/>
        </p:nvSpPr>
        <p:spPr>
          <a:xfrm>
            <a:off x="4610002"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standardisatio"/>
          <p:cNvSpPr txBox="1"/>
          <p:nvPr/>
        </p:nvSpPr>
        <p:spPr>
          <a:xfrm>
            <a:off x="4774594" y="2584704"/>
            <a:ext cx="166144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standardisation</a:t>
            </a:r>
          </a:p>
        </p:txBody>
      </p:sp>
      <p:sp>
        <p:nvSpPr>
          <p:cNvPr id="34" name="!!term-min–max scalin">
            <a:extLst>
              <a:ext uri="{C183D7F6-B498-43B3-948B-1728B52AA6E4}">
                <adec:decorative xmlns:adec="http://schemas.microsoft.com/office/drawing/2017/decorative" val="1"/>
              </a:ext>
            </a:extLst>
          </p:cNvPr>
          <p:cNvSpPr/>
          <p:nvPr/>
        </p:nvSpPr>
        <p:spPr>
          <a:xfrm>
            <a:off x="6472617" y="2468880"/>
            <a:ext cx="195318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min–max scalin">
            <a:extLst>
              <a:ext uri="{C183D7F6-B498-43B3-948B-1728B52AA6E4}">
                <adec:decorative xmlns:adec="http://schemas.microsoft.com/office/drawing/2017/decorative" val="1"/>
              </a:ext>
            </a:extLst>
          </p:cNvPr>
          <p:cNvSpPr/>
          <p:nvPr/>
        </p:nvSpPr>
        <p:spPr>
          <a:xfrm>
            <a:off x="6600633"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min–max scalin"/>
          <p:cNvSpPr txBox="1"/>
          <p:nvPr/>
        </p:nvSpPr>
        <p:spPr>
          <a:xfrm>
            <a:off x="6765225" y="2584704"/>
            <a:ext cx="1770302"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min–max scaling</a:t>
            </a:r>
          </a:p>
        </p:txBody>
      </p:sp>
      <p:sp>
        <p:nvSpPr>
          <p:cNvPr id="37" name="!!term-estimator">
            <a:extLst>
              <a:ext uri="{C183D7F6-B498-43B3-948B-1728B52AA6E4}">
                <adec:decorative xmlns:adec="http://schemas.microsoft.com/office/drawing/2017/decorative" val="1"/>
              </a:ext>
            </a:extLst>
          </p:cNvPr>
          <p:cNvSpPr/>
          <p:nvPr/>
        </p:nvSpPr>
        <p:spPr>
          <a:xfrm>
            <a:off x="8572104" y="2468880"/>
            <a:ext cx="130338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estimator">
            <a:extLst>
              <a:ext uri="{C183D7F6-B498-43B3-948B-1728B52AA6E4}">
                <adec:decorative xmlns:adec="http://schemas.microsoft.com/office/drawing/2017/decorative" val="1"/>
              </a:ext>
            </a:extLst>
          </p:cNvPr>
          <p:cNvSpPr/>
          <p:nvPr/>
        </p:nvSpPr>
        <p:spPr>
          <a:xfrm>
            <a:off x="8700120"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estimator"/>
          <p:cNvSpPr txBox="1"/>
          <p:nvPr/>
        </p:nvSpPr>
        <p:spPr>
          <a:xfrm>
            <a:off x="8864712" y="2584704"/>
            <a:ext cx="112050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estimator</a:t>
            </a:r>
          </a:p>
        </p:txBody>
      </p:sp>
      <p:sp>
        <p:nvSpPr>
          <p:cNvPr id="40" name="!!term-transformer">
            <a:extLst>
              <a:ext uri="{C183D7F6-B498-43B3-948B-1728B52AA6E4}">
                <adec:decorative xmlns:adec="http://schemas.microsoft.com/office/drawing/2017/decorative" val="1"/>
              </a:ext>
            </a:extLst>
          </p:cNvPr>
          <p:cNvSpPr/>
          <p:nvPr/>
        </p:nvSpPr>
        <p:spPr>
          <a:xfrm>
            <a:off x="10021792" y="2468880"/>
            <a:ext cx="150942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transformer">
            <a:extLst>
              <a:ext uri="{C183D7F6-B498-43B3-948B-1728B52AA6E4}">
                <adec:decorative xmlns:adec="http://schemas.microsoft.com/office/drawing/2017/decorative" val="1"/>
              </a:ext>
            </a:extLst>
          </p:cNvPr>
          <p:cNvSpPr/>
          <p:nvPr/>
        </p:nvSpPr>
        <p:spPr>
          <a:xfrm>
            <a:off x="10149808"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transformer"/>
          <p:cNvSpPr txBox="1"/>
          <p:nvPr/>
        </p:nvSpPr>
        <p:spPr>
          <a:xfrm>
            <a:off x="10314400" y="2584704"/>
            <a:ext cx="132654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transformer</a:t>
            </a:r>
          </a:p>
        </p:txBody>
      </p:sp>
      <p:sp>
        <p:nvSpPr>
          <p:cNvPr id="43" name="!!term-fit / predict ">
            <a:extLst>
              <a:ext uri="{C183D7F6-B498-43B3-948B-1728B52AA6E4}">
                <adec:decorative xmlns:adec="http://schemas.microsoft.com/office/drawing/2017/decorative" val="1"/>
              </a:ext>
            </a:extLst>
          </p:cNvPr>
          <p:cNvSpPr/>
          <p:nvPr/>
        </p:nvSpPr>
        <p:spPr>
          <a:xfrm>
            <a:off x="658368" y="3090672"/>
            <a:ext cx="254362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fit / predict ">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fit / predict "/>
          <p:cNvSpPr txBox="1"/>
          <p:nvPr/>
        </p:nvSpPr>
        <p:spPr>
          <a:xfrm>
            <a:off x="950976" y="3206496"/>
            <a:ext cx="236074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fit / predict / transform</a:t>
            </a:r>
          </a:p>
        </p:txBody>
      </p:sp>
      <p:sp>
        <p:nvSpPr>
          <p:cNvPr id="46" name="!!term-pipeline">
            <a:extLst>
              <a:ext uri="{C183D7F6-B498-43B3-948B-1728B52AA6E4}">
                <adec:decorative xmlns:adec="http://schemas.microsoft.com/office/drawing/2017/decorative" val="1"/>
              </a:ext>
            </a:extLst>
          </p:cNvPr>
          <p:cNvSpPr/>
          <p:nvPr/>
        </p:nvSpPr>
        <p:spPr>
          <a:xfrm>
            <a:off x="3348301" y="3090672"/>
            <a:ext cx="116723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pipeline">
            <a:extLst>
              <a:ext uri="{C183D7F6-B498-43B3-948B-1728B52AA6E4}">
                <adec:decorative xmlns:adec="http://schemas.microsoft.com/office/drawing/2017/decorative" val="1"/>
              </a:ext>
            </a:extLst>
          </p:cNvPr>
          <p:cNvSpPr/>
          <p:nvPr/>
        </p:nvSpPr>
        <p:spPr>
          <a:xfrm>
            <a:off x="3476317"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pipeline"/>
          <p:cNvSpPr txBox="1"/>
          <p:nvPr/>
        </p:nvSpPr>
        <p:spPr>
          <a:xfrm>
            <a:off x="3640909" y="3206496"/>
            <a:ext cx="98435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pipeline</a:t>
            </a:r>
          </a:p>
        </p:txBody>
      </p:sp>
      <p:sp>
        <p:nvSpPr>
          <p:cNvPr id="49" name="!!term-data leakage">
            <a:extLst>
              <a:ext uri="{C183D7F6-B498-43B3-948B-1728B52AA6E4}">
                <adec:decorative xmlns:adec="http://schemas.microsoft.com/office/drawing/2017/decorative" val="1"/>
              </a:ext>
            </a:extLst>
          </p:cNvPr>
          <p:cNvSpPr/>
          <p:nvPr/>
        </p:nvSpPr>
        <p:spPr>
          <a:xfrm>
            <a:off x="4661843" y="3090672"/>
            <a:ext cx="160207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rmd-data leakage">
            <a:extLst>
              <a:ext uri="{C183D7F6-B498-43B3-948B-1728B52AA6E4}">
                <adec:decorative xmlns:adec="http://schemas.microsoft.com/office/drawing/2017/decorative" val="1"/>
              </a:ext>
            </a:extLst>
          </p:cNvPr>
          <p:cNvSpPr/>
          <p:nvPr/>
        </p:nvSpPr>
        <p:spPr>
          <a:xfrm>
            <a:off x="4789859"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rmt-data leakage"/>
          <p:cNvSpPr txBox="1"/>
          <p:nvPr/>
        </p:nvSpPr>
        <p:spPr>
          <a:xfrm>
            <a:off x="4954451" y="3206496"/>
            <a:ext cx="141919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data leakage</a:t>
            </a:r>
          </a:p>
        </p:txBody>
      </p:sp>
      <p:sp>
        <p:nvSpPr>
          <p:cNvPr id="52" name="!!term-baseline">
            <a:extLst>
              <a:ext uri="{C183D7F6-B498-43B3-948B-1728B52AA6E4}">
                <adec:decorative xmlns:adec="http://schemas.microsoft.com/office/drawing/2017/decorative" val="1"/>
              </a:ext>
            </a:extLst>
          </p:cNvPr>
          <p:cNvSpPr/>
          <p:nvPr/>
        </p:nvSpPr>
        <p:spPr>
          <a:xfrm>
            <a:off x="6410224" y="3090672"/>
            <a:ext cx="118854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rmd-baseline">
            <a:extLst>
              <a:ext uri="{C183D7F6-B498-43B3-948B-1728B52AA6E4}">
                <adec:decorative xmlns:adec="http://schemas.microsoft.com/office/drawing/2017/decorative" val="1"/>
              </a:ext>
            </a:extLst>
          </p:cNvPr>
          <p:cNvSpPr/>
          <p:nvPr/>
        </p:nvSpPr>
        <p:spPr>
          <a:xfrm>
            <a:off x="6538240"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rmt-baseline"/>
          <p:cNvSpPr txBox="1"/>
          <p:nvPr/>
        </p:nvSpPr>
        <p:spPr>
          <a:xfrm>
            <a:off x="6702832" y="3206496"/>
            <a:ext cx="1005663"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baseline</a:t>
            </a:r>
          </a:p>
        </p:txBody>
      </p:sp>
      <p:sp>
        <p:nvSpPr>
          <p:cNvPr id="55" name="!!termnote"/>
          <p:cNvSpPr txBox="1"/>
          <p:nvPr/>
        </p:nvSpPr>
        <p:spPr>
          <a:xfrm>
            <a:off x="658368" y="3913632"/>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5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pfill">
            <a:extLst>
              <a:ext uri="{C183D7F6-B498-43B3-948B-1728B52AA6E4}">
                <adec:decorative xmlns:adec="http://schemas.microsoft.com/office/drawing/2017/decorative" val="1"/>
              </a:ext>
            </a:extLst>
          </p:cNvPr>
          <p:cNvSpPr/>
          <p:nvPr/>
        </p:nvSpPr>
        <p:spPr>
          <a:xfrm>
            <a:off x="0" y="0"/>
            <a:ext cx="995240"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20–26     </a:t>
            </a:r>
            <a:fld id="{333F0B0A-40C6-44AE-9BFC-E7E2922587C3}" type="slidenum">
              <a:rPr lang="en-GB" sz="1000">
                <a:solidFill>
                  <a:srgbClr val="8795A1"/>
                </a:solidFill>
                <a:latin typeface="Segoe UI"/>
              </a:rPr>
              <a:t>5</a:t>
            </a:fld>
          </a:p>
        </p:txBody>
      </p:sp>
      <p:sp>
        <p:nvSpPr>
          <p:cNvPr id="7" name="!!ag0" descr="Go to section 3.1 One Experiment, Start to Finish">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3.1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One Experiment, Start to Finish</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20  ›</a:t>
            </a:r>
          </a:p>
        </p:txBody>
      </p:sp>
      <p:sp>
        <p:nvSpPr>
          <p:cNvPr id="12" name="!!ag1" descr="Go to section 3.2 Examples, Features and Labels">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3.2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Examples, Features and Labels</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21  ›</a:t>
            </a:r>
          </a:p>
        </p:txBody>
      </p:sp>
      <p:sp>
        <p:nvSpPr>
          <p:cNvPr id="17" name="!!ag2" descr="Go to section 3.3 Splitting the Data">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3.3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Splitting the Data</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21  ›</a:t>
            </a:r>
          </a:p>
        </p:txBody>
      </p:sp>
      <p:sp>
        <p:nvSpPr>
          <p:cNvPr id="22" name="!!ag3" descr="Go to section 3.4 Preparing Features">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3.4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Preparing Features</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22  ›</a:t>
            </a:r>
          </a:p>
        </p:txBody>
      </p:sp>
      <p:sp>
        <p:nvSpPr>
          <p:cNvPr id="27" name="!!ag4" descr="Go to section 3.5 The scikit-learn Interface">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3.5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scikit-learn Interface</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22  ›</a:t>
            </a:r>
          </a:p>
        </p:txBody>
      </p:sp>
      <p:sp>
        <p:nvSpPr>
          <p:cNvPr id="32" name="!!ag5" descr="Go to section 3.6 Pipelines and Data Leakage">
            <a:hlinkClick action="ppaction://hlinksldjump" r:id="rId10"/>
          </p:cNvPr>
          <p:cNvSpPr/>
          <p:nvPr/>
        </p:nvSpPr>
        <p:spPr>
          <a:xfrm>
            <a:off x="658368" y="49743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agb5">
            <a:extLst>
              <a:ext uri="{C183D7F6-B498-43B3-948B-1728B52AA6E4}">
                <adec:decorative xmlns:adec="http://schemas.microsoft.com/office/drawing/2017/decorative" val="1"/>
              </a:ext>
            </a:extLst>
          </p:cNvPr>
          <p:cNvSpPr/>
          <p:nvPr/>
        </p:nvSpPr>
        <p:spPr>
          <a:xfrm>
            <a:off x="658368" y="497433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agn5"/>
          <p:cNvSpPr txBox="1"/>
          <p:nvPr/>
        </p:nvSpPr>
        <p:spPr>
          <a:xfrm>
            <a:off x="932688" y="51206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3.6</a:t>
            </a:r>
          </a:p>
        </p:txBody>
      </p:sp>
      <p:sp>
        <p:nvSpPr>
          <p:cNvPr id="35" name="!!agt5"/>
          <p:cNvSpPr txBox="1"/>
          <p:nvPr/>
        </p:nvSpPr>
        <p:spPr>
          <a:xfrm>
            <a:off x="1847088" y="51206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Pipelines and Data Leakage</a:t>
            </a:r>
          </a:p>
        </p:txBody>
      </p:sp>
      <p:sp>
        <p:nvSpPr>
          <p:cNvPr id="36" name="!!agp5"/>
          <p:cNvSpPr txBox="1"/>
          <p:nvPr/>
        </p:nvSpPr>
        <p:spPr>
          <a:xfrm>
            <a:off x="9795967" y="51480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23  ›</a:t>
            </a:r>
          </a:p>
        </p:txBody>
      </p:sp>
      <p:sp>
        <p:nvSpPr>
          <p:cNvPr id="37" name="!!ag6" descr="Go to section 3.7 Baselines">
            <a:hlinkClick action="ppaction://hlinksldjump" r:id="rId11"/>
          </p:cNvPr>
          <p:cNvSpPr/>
          <p:nvPr/>
        </p:nvSpPr>
        <p:spPr>
          <a:xfrm>
            <a:off x="658368" y="561441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agb6">
            <a:extLst>
              <a:ext uri="{C183D7F6-B498-43B3-948B-1728B52AA6E4}">
                <adec:decorative xmlns:adec="http://schemas.microsoft.com/office/drawing/2017/decorative" val="1"/>
              </a:ext>
            </a:extLst>
          </p:cNvPr>
          <p:cNvSpPr/>
          <p:nvPr/>
        </p:nvSpPr>
        <p:spPr>
          <a:xfrm>
            <a:off x="658368" y="561441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agn6"/>
          <p:cNvSpPr txBox="1"/>
          <p:nvPr/>
        </p:nvSpPr>
        <p:spPr>
          <a:xfrm>
            <a:off x="932688" y="57607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3.7</a:t>
            </a:r>
          </a:p>
        </p:txBody>
      </p:sp>
      <p:sp>
        <p:nvSpPr>
          <p:cNvPr id="40" name="!!agt6"/>
          <p:cNvSpPr txBox="1"/>
          <p:nvPr/>
        </p:nvSpPr>
        <p:spPr>
          <a:xfrm>
            <a:off x="1847088" y="57607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Baselines</a:t>
            </a:r>
          </a:p>
        </p:txBody>
      </p:sp>
      <p:sp>
        <p:nvSpPr>
          <p:cNvPr id="41" name="!!agp6"/>
          <p:cNvSpPr txBox="1"/>
          <p:nvPr/>
        </p:nvSpPr>
        <p:spPr>
          <a:xfrm>
            <a:off x="9795967" y="578815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24  ›</a:t>
            </a:r>
          </a:p>
        </p:txBody>
      </p:sp>
      <p:sp>
        <p:nvSpPr>
          <p:cNvPr id="4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pfill">
            <a:extLst>
              <a:ext uri="{C183D7F6-B498-43B3-948B-1728B52AA6E4}">
                <adec:decorative xmlns:adec="http://schemas.microsoft.com/office/drawing/2017/decorative" val="1"/>
              </a:ext>
            </a:extLst>
          </p:cNvPr>
          <p:cNvSpPr/>
          <p:nvPr/>
        </p:nvSpPr>
        <p:spPr>
          <a:xfrm>
            <a:off x="0" y="0"/>
            <a:ext cx="1244050"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One Experiment, Start to Finish</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ACBD6"/>
                </a:solidFill>
                <a:latin typeface="Segoe UI"/>
              </a:rPr>
              <a:t>SECTION 1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3.1</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A5276"/>
                </a:solidFill>
                <a:latin typeface="Segoe UI"/>
              </a:rPr>
              <a:t>3.1   One Experiment, Start to Finish</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3.2   Examples, Features and Labels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3.3   Splitting the Data</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3.4   Preparing Features</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3.5   The scikit-learn Interface</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3.6   Pipelines and Data Leakage</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3.7   Baselines</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§3.1     </a:t>
            </a:r>
            <a:fld id="{5F694F5F-D557-4EE0-A5B7-60BB99A52D15}" type="slidenum">
              <a:rPr lang="en-GB" sz="1000">
                <a:solidFill>
                  <a:srgbClr val="8795A1"/>
                </a:solidFill>
                <a:latin typeface="Segoe UI"/>
              </a:rPr>
              <a:t>6</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1492860"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workflow every lab follows</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FIGURE 3.1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§3.1  ·  Handout p. 20     </a:t>
            </a:r>
            <a:fld id="{769F1F50-F707-48EF-A1D0-C3AB95E0DCB2}" type="slidenum">
              <a:rPr lang="en-GB" sz="1000">
                <a:solidFill>
                  <a:srgbClr val="8795A1"/>
                </a:solidFill>
                <a:latin typeface="Segoe UI"/>
              </a:rPr>
              <a:t>7</a:t>
            </a:fld>
          </a:p>
        </p:txBody>
      </p:sp>
      <p:pic>
        <p:nvPicPr>
          <p:cNvPr id="6" name="!!figure" descr="Figure 3.1. The workflow every lab follows. The loop between training and validation may run dozens of times; the test set, split off in step 3, is used exactly once, in step 8."/>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829450"/>
            <a:ext cx="10874959" cy="3214273"/>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loop between training and validation may run dozens of times; the test set, split off in step 3, is used exactly once, in step 8.</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741670"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Why the Order Matters</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§3.1  ·  Handout p. 20     </a:t>
            </a:r>
            <a:fld id="{CBEFE816-32BD-449F-9D49-62F160A80CA9}" type="slidenum">
              <a:rPr lang="en-GB" sz="1000">
                <a:solidFill>
                  <a:srgbClr val="8795A1"/>
                </a:solidFill>
                <a:latin typeface="Segoe UI"/>
              </a:rPr>
              <a:t>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809036"/>
          </a:xfrm>
          <a:prstGeom prst="roundRect">
            <a:avLst>
              <a:gd name="adj" fmla="val 3255"/>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809036"/>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Steps 3 and 8 are the only two that touch the test set, and they are placed as far apart as possible on purpose. Everything between them — every choice of feature, algorithm and setting — is made while looking only at training and validation data. If any of those choices is made while looking at the test set, the final number measures how well you fitted the test set, not how well the model will do on the next student, e-mail or sensor reading.</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1990480"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Examples, Features and Labels</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§3.2  ·  Handout p. 21     </a:t>
            </a:r>
            <a:fld id="{4A4CBFF2-948D-4DF5-A86F-2018B62F29FB}" type="slidenum">
              <a:rPr lang="en-GB" sz="1000">
                <a:solidFill>
                  <a:srgbClr val="8795A1"/>
                </a:solidFill>
                <a:latin typeface="Segoe UI"/>
              </a:rPr>
              <a:t>9</a:t>
            </a:fld>
          </a:p>
        </p:txBody>
      </p:sp>
      <p:graphicFrame>
        <p:nvGraphicFramePr>
          <p:cNvPr id="7" name="!!table"/>
          <p:cNvGraphicFramePr>
            <a:graphicFrameLocks noGrp="1"/>
          </p:cNvGraphicFramePr>
          <p:nvPr/>
        </p:nvGraphicFramePr>
        <p:xfrm>
          <a:off x="658368" y="1737360"/>
          <a:ext cx="10874957" cy="4133088"/>
        </p:xfrm>
        <a:graphic>
          <a:graphicData uri="http://schemas.openxmlformats.org/drawingml/2006/table">
            <a:tbl>
              <a:tblPr firstRow="0" bandRow="0" firstCol="0" lastRow="0" lastCol="0" bandCol="0">
                <a:tableStyleId>{2D5ABB26-0587-4C30-8999-92F81FD0307C}</a:tableStyleId>
              </a:tblPr>
              <a:tblGrid>
                <a:gridCol w="2174991"/>
                <a:gridCol w="3624986"/>
                <a:gridCol w="5074980"/>
              </a:tblGrid>
              <a:tr h="405384">
                <a:tc>
                  <a:txBody>
                    <a:bodyPr wrap="square"/>
                    <a:lstStyle/>
                    <a:p>
                      <a:pPr algn="l"/>
                      <a:r>
                        <a:rPr sz="1700" b="1" i="0">
                          <a:solidFill>
                            <a:srgbClr val="1A5276"/>
                          </a:solidFill>
                          <a:latin typeface="Segoe UI"/>
                        </a:rPr>
                        <a:t>Feature type</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Examples</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Preparation</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664464">
                <a:tc>
                  <a:txBody>
                    <a:bodyPr wrap="square"/>
                    <a:lstStyle/>
                    <a:p>
                      <a:pPr algn="l"/>
                      <a:r>
                        <a:rPr sz="1700" b="0" i="0">
                          <a:solidFill>
                            <a:srgbClr val="1C252B"/>
                          </a:solidFill>
                          <a:latin typeface="Segoe UI"/>
                        </a:rPr>
                        <a:t>Numeric, continuous</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Attendance rate, CPU load, bytes sent</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Impute gaps; scale for distance- and gradient-based models</a:t>
                      </a:r>
                      <a:endParaRPr sz="1700"/>
                    </a:p>
                  </a:txBody>
                  <a:tcPr marL="109728" marR="109728" marT="64008" marB="45720" anchor="t">
                    <a:lnL w="0" cmpd="sng">
                      <a:noFill/>
                    </a:lnL>
                    <a:lnR w="0" cmpd="sng">
                      <a:noFill/>
                    </a:lnR>
                    <a:lnT w="9525" cmpd="sng">
                      <a:noFill/>
                    </a:lnT>
                    <a:lnB w="9525" cmpd="sng">
                      <a:noFill/>
                    </a:lnB>
                    <a:solidFill>
                      <a:srgbClr val="FFFFFF"/>
                    </a:solidFill>
                  </a:tcPr>
                </a:tc>
              </a:tr>
              <a:tr h="664464">
                <a:tc>
                  <a:txBody>
                    <a:bodyPr wrap="square"/>
                    <a:lstStyle/>
                    <a:p>
                      <a:pPr algn="l"/>
                      <a:r>
                        <a:rPr sz="1700" b="0" i="0">
                          <a:solidFill>
                            <a:srgbClr val="1C252B"/>
                          </a:solidFill>
                          <a:latin typeface="Segoe UI"/>
                        </a:rPr>
                        <a:t>Numeric, count</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Logins per week, failed login attempts</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As above; a log transform often helps with long tails</a:t>
                      </a:r>
                      <a:endParaRPr sz="1700"/>
                    </a:p>
                  </a:txBody>
                  <a:tcPr marL="109728" marR="109728" marT="64008" marB="45720" anchor="t">
                    <a:lnL w="0" cmpd="sng">
                      <a:noFill/>
                    </a:lnL>
                    <a:lnR w="0" cmpd="sng">
                      <a:noFill/>
                    </a:lnR>
                    <a:lnT w="9525" cmpd="sng">
                      <a:noFill/>
                    </a:lnT>
                    <a:lnB w="9525" cmpd="sng">
                      <a:noFill/>
                    </a:lnB>
                    <a:solidFill>
                      <a:srgbClr val="F2F8FC"/>
                    </a:solidFill>
                  </a:tcPr>
                </a:tc>
              </a:tr>
              <a:tr h="664464">
                <a:tc>
                  <a:txBody>
                    <a:bodyPr wrap="square"/>
                    <a:lstStyle/>
                    <a:p>
                      <a:pPr algn="l"/>
                      <a:r>
                        <a:rPr sz="1700" b="0" i="0">
                          <a:solidFill>
                            <a:srgbClr val="1C252B"/>
                          </a:solidFill>
                          <a:latin typeface="Segoe UI"/>
                        </a:rPr>
                        <a:t>Categorical, nominal</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Programme, protocol, device type</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One-hot encode; never treat the codes as numbers</a:t>
                      </a:r>
                      <a:endParaRPr sz="1700"/>
                    </a:p>
                  </a:txBody>
                  <a:tcPr marL="109728" marR="109728" marT="64008" marB="45720" anchor="t">
                    <a:lnL w="0" cmpd="sng">
                      <a:noFill/>
                    </a:lnL>
                    <a:lnR w="0" cmpd="sng">
                      <a:noFill/>
                    </a:lnR>
                    <a:lnT w="9525" cmpd="sng">
                      <a:noFill/>
                    </a:lnT>
                    <a:lnB w="9525" cmpd="sng">
                      <a:noFill/>
                    </a:lnB>
                    <a:solidFill>
                      <a:srgbClr val="FFFFFF"/>
                    </a:solidFill>
                  </a:tcPr>
                </a:tc>
              </a:tr>
              <a:tr h="664464">
                <a:tc>
                  <a:txBody>
                    <a:bodyPr wrap="square"/>
                    <a:lstStyle/>
                    <a:p>
                      <a:pPr algn="l"/>
                      <a:r>
                        <a:rPr sz="1700" b="0" i="0">
                          <a:solidFill>
                            <a:srgbClr val="1C252B"/>
                          </a:solidFill>
                          <a:latin typeface="Segoe UI"/>
                        </a:rPr>
                        <a:t>Categorical, ordinal</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Grade band, severity level</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Map to ordered integers, or one-hot if the gaps are not equal</a:t>
                      </a:r>
                      <a:endParaRPr sz="1700"/>
                    </a:p>
                  </a:txBody>
                  <a:tcPr marL="109728" marR="109728" marT="64008" marB="45720" anchor="t">
                    <a:lnL w="0" cmpd="sng">
                      <a:noFill/>
                    </a:lnL>
                    <a:lnR w="0" cmpd="sng">
                      <a:noFill/>
                    </a:lnR>
                    <a:lnT w="9525" cmpd="sng">
                      <a:noFill/>
                    </a:lnT>
                    <a:lnB w="9525" cmpd="sng">
                      <a:noFill/>
                    </a:lnB>
                    <a:solidFill>
                      <a:srgbClr val="F2F8FC"/>
                    </a:solidFill>
                  </a:tcPr>
                </a:tc>
              </a:tr>
              <a:tr h="405384">
                <a:tc>
                  <a:txBody>
                    <a:bodyPr wrap="square"/>
                    <a:lstStyle/>
                    <a:p>
                      <a:pPr algn="l"/>
                      <a:r>
                        <a:rPr sz="1700" b="0" i="0">
                          <a:solidFill>
                            <a:srgbClr val="1C252B"/>
                          </a:solidFill>
                          <a:latin typeface="Segoe UI"/>
                        </a:rPr>
                        <a:t>Text</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E-mail body, commit message</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Turn into counts or weights of words (Chapter 10)</a:t>
                      </a:r>
                      <a:endParaRPr sz="1700"/>
                    </a:p>
                  </a:txBody>
                  <a:tcPr marL="109728" marR="109728" marT="64008" marB="45720" anchor="t">
                    <a:lnL w="0" cmpd="sng">
                      <a:noFill/>
                    </a:lnL>
                    <a:lnR w="0" cmpd="sng">
                      <a:noFill/>
                    </a:lnR>
                    <a:lnT w="9525" cmpd="sng">
                      <a:noFill/>
                    </a:lnT>
                    <a:lnB w="9525" cmpd="sng">
                      <a:noFill/>
                    </a:lnB>
                    <a:solidFill>
                      <a:srgbClr val="FFFFFF"/>
                    </a:solidFill>
                  </a:tcPr>
                </a:tc>
              </a:tr>
              <a:tr h="664464">
                <a:tc>
                  <a:txBody>
                    <a:bodyPr wrap="square"/>
                    <a:lstStyle/>
                    <a:p>
                      <a:pPr algn="l"/>
                      <a:r>
                        <a:rPr sz="1700" b="0" i="0">
                          <a:solidFill>
                            <a:srgbClr val="1C252B"/>
                          </a:solidFill>
                          <a:latin typeface="Segoe UI"/>
                        </a:rPr>
                        <a:t>Identifier</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0" i="0">
                          <a:solidFill>
                            <a:srgbClr val="1C252B"/>
                          </a:solidFill>
                          <a:latin typeface="Segoe UI"/>
                        </a:rPr>
                        <a:t>Student ID, IP address, serial number</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0" i="0">
                          <a:solidFill>
                            <a:srgbClr val="1C252B"/>
                          </a:solidFill>
                          <a:latin typeface="Segoe UI"/>
                        </a:rPr>
                        <a:t>Usually drop. An ID that predicts the label is a leak, not a pattern</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2239290"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Splitting the Data</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ACBD6"/>
                </a:solidFill>
                <a:latin typeface="Segoe UI"/>
              </a:rPr>
              <a:t>SECTION 3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3.3</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3.1   One Experiment, Start to Finish</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3.2   Examples, Features and Labels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A5276"/>
                </a:solidFill>
                <a:latin typeface="Segoe UI"/>
              </a:rPr>
              <a:t>3.3   Splitting the Data</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3.4   Preparing Features</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3.5   The scikit-learn Interface</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3.6   Pipelines and Data Leakage</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3.7   Baselines</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§3.3     </a:t>
            </a:r>
            <a:fld id="{28C20E50-A6C1-4395-9264-C76E1C66E69E}" type="slidenum">
              <a:rPr lang="en-GB" sz="1000">
                <a:solidFill>
                  <a:srgbClr val="8795A1"/>
                </a:solidFill>
                <a:latin typeface="Segoe UI"/>
              </a:rPr>
              <a:t>10</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248810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Training, Validation and Test Sets</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§3.3  ·  Handout p. 21     </a:t>
            </a:r>
            <a:fld id="{BCB4818E-9E1D-4B4C-9CA5-5DD402152CDB}" type="slidenum">
              <a:rPr lang="en-GB" sz="1000">
                <a:solidFill>
                  <a:srgbClr val="8795A1"/>
                </a:solidFill>
                <a:latin typeface="Segoe UI"/>
              </a:rPr>
              <a:t>11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444496"/>
          </a:xfrm>
          <a:prstGeom prst="roundRect">
            <a:avLst>
              <a:gd name="adj" fmla="val 3740"/>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444496"/>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86842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a:t>
            </a:r>
            <a:r>
              <a:rPr sz="2300" b="1" i="0">
                <a:solidFill>
                  <a:srgbClr val="1A5276"/>
                </a:solidFill>
                <a:latin typeface="Segoe UI"/>
              </a:rPr>
              <a:t>training set</a:t>
            </a:r>
            <a:r>
              <a:rPr sz="2300" b="0" i="0">
                <a:solidFill>
                  <a:srgbClr val="1C252B"/>
                </a:solidFill>
                <a:latin typeface="Segoe UI"/>
              </a:rPr>
              <a:t> is what the algorithm learns from. The </a:t>
            </a:r>
            <a:r>
              <a:rPr sz="2300" b="1" i="0">
                <a:solidFill>
                  <a:srgbClr val="1A5276"/>
                </a:solidFill>
                <a:latin typeface="Segoe UI"/>
              </a:rPr>
              <a:t>validation set</a:t>
            </a:r>
            <a:r>
              <a:rPr sz="2300" b="0" i="0">
                <a:solidFill>
                  <a:srgbClr val="1C252B"/>
                </a:solidFill>
                <a:latin typeface="Segoe UI"/>
              </a:rPr>
              <a:t> is used to compare models and choose settings. The </a:t>
            </a:r>
            <a:r>
              <a:rPr sz="2300" b="1" i="0">
                <a:solidFill>
                  <a:srgbClr val="1A5276"/>
                </a:solidFill>
                <a:latin typeface="Segoe UI"/>
              </a:rPr>
              <a:t>test set</a:t>
            </a:r>
            <a:r>
              <a:rPr sz="2300" b="0" i="0">
                <a:solidFill>
                  <a:srgbClr val="1C252B"/>
                </a:solidFill>
                <a:latin typeface="Segoe UI"/>
              </a:rPr>
              <a:t> is held back and used once, at the end, to estimate performance on new data. A typical split is 60/20/20; with little data, the training and validation roles are combined by cross-validation (Chapter 7).</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273691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three-way split</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FIGURE 3.2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§3.3  ·  Handout p. 21     </a:t>
            </a:r>
            <a:fld id="{0EA957BF-F325-4D6D-8A65-87EDDA863380}" type="slidenum">
              <a:rPr lang="en-GB" sz="1000">
                <a:solidFill>
                  <a:srgbClr val="8795A1"/>
                </a:solidFill>
                <a:latin typeface="Segoe UI"/>
              </a:rPr>
              <a:t>12</a:t>
            </a:fld>
          </a:p>
        </p:txBody>
      </p:sp>
      <p:pic>
        <p:nvPicPr>
          <p:cNvPr id="6" name="!!figure" descr="Figure 3.2. The three-way split. Only the test score is an honest estimate of performance on new data, and it stays honest only if it is looked at once."/>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2040182"/>
            <a:ext cx="10874959" cy="2010092"/>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Only the test score is an honest estimate of performance on new data, and it stays honest only if it is looked at once.</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298572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Split Before You Do Anything Else</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§3.3  ·  Handout p. 21     </a:t>
            </a:r>
            <a:fld id="{F4A07E78-5353-4AC7-B535-0D8879AECCBC}" type="slidenum">
              <a:rPr lang="en-GB" sz="1000">
                <a:solidFill>
                  <a:srgbClr val="8795A1"/>
                </a:solidFill>
                <a:latin typeface="Segoe UI"/>
              </a:rPr>
              <a:t>13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809036"/>
          </a:xfrm>
          <a:prstGeom prst="roundRect">
            <a:avLst>
              <a:gd name="adj" fmla="val 3255"/>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809036"/>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Split first, and stratify: </a:t>
            </a:r>
            <a:r>
              <a:rPr sz="2150" b="0" i="0">
                <a:solidFill>
                  <a:srgbClr val="1F4E79"/>
                </a:solidFill>
                <a:latin typeface="Consolas"/>
              </a:rPr>
              <a:t>train_test_split(..., stratify=y)</a:t>
            </a:r>
            <a:r>
              <a:rPr sz="2300" b="0" i="0">
                <a:solidFill>
                  <a:srgbClr val="1C252B"/>
                </a:solidFill>
                <a:latin typeface="Segoe UI"/>
              </a:rPr>
              <a:t> keeps the proportion of each class the same in every part, which matters when one class is rare. Two further rules apply to data with structure. If there are several rows per person, machine or account, keep all of an entity’s rows on the same side of the split. If the data is ordered in time, train on the past and test on the future — a random split lets the model peek at tomorrow.</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323453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Preparing Features</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§3.4  ·  Handout p. 22     </a:t>
            </a:r>
            <a:fld id="{7F3FAA8F-BB55-4E1A-A4DD-40DA86BC49FE}" type="slidenum">
              <a:rPr lang="en-GB" sz="1000">
                <a:solidFill>
                  <a:srgbClr val="8795A1"/>
                </a:solidFill>
                <a:latin typeface="Segoe UI"/>
              </a:rPr>
              <a:t>14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540198"/>
          </a:xfrm>
          <a:prstGeom prst="roundRect">
            <a:avLst>
              <a:gd name="adj" fmla="val 3599"/>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54019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1" i="0">
                <a:solidFill>
                  <a:srgbClr val="1A5276"/>
                </a:solidFill>
                <a:latin typeface="Segoe UI"/>
              </a:rPr>
              <a:t>Scaling.</a:t>
            </a:r>
            <a:r>
              <a:rPr sz="2300" b="0" i="0">
                <a:solidFill>
                  <a:srgbClr val="1C252B"/>
                </a:solidFill>
                <a:latin typeface="Segoe UI"/>
              </a:rPr>
              <a:t> Chapter 2 showed a distance dominated by the feature with the largest units. </a:t>
            </a:r>
            <a:r>
              <a:rPr sz="2300" b="1" i="0">
                <a:solidFill>
                  <a:srgbClr val="1A5276"/>
                </a:solidFill>
                <a:latin typeface="Segoe UI"/>
              </a:rPr>
              <a:t>Standardisation</a:t>
            </a:r>
            <a:r>
              <a:rPr sz="2300" b="0" i="0">
                <a:solidFill>
                  <a:srgbClr val="1C252B"/>
                </a:solidFill>
                <a:latin typeface="Segoe UI"/>
              </a:rPr>
              <a:t> rescales each feature to mean 0 and standard deviation 1:</a:t>
            </a:r>
          </a:p>
        </p:txBody>
      </p:sp>
      <p:pic>
        <p:nvPicPr>
          <p:cNvPr id="10" name="body-1" descr="z = \frac{x - \mu_{\text{train}}}{\sigma_{\text{train}}}"/>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3302533"/>
            <a:ext cx="10161727" cy="664128"/>
          </a:xfrm>
          <a:prstGeom prst="rect">
            <a:avLst/>
          </a:prstGeom>
        </p:spPr>
      </p:pic>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348334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Standardising with Training Statistics</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§3.4  ·  Handout p. 22     </a:t>
            </a:r>
            <a:fld id="{87D59EBD-29BF-4DFA-BBD9-11AB17C9FEA2}" type="slidenum">
              <a:rPr lang="en-GB" sz="1000">
                <a:solidFill>
                  <a:srgbClr val="8795A1"/>
                </a:solidFill>
                <a:latin typeface="Segoe UI"/>
              </a:rPr>
              <a:t>15</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174931"/>
          </a:xfrm>
          <a:prstGeom prst="roundRect">
            <a:avLst>
              <a:gd name="adj" fmla="val 2190"/>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17493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Four training students have attendance </a:t>
            </a:r>
            <a:r>
              <a:rPr sz="1900" b="0" i="0">
                <a:solidFill>
                  <a:srgbClr val="1C252B"/>
                </a:solidFill>
                <a:latin typeface="Cambria"/>
              </a:rPr>
              <a:t>0.6, 0.8, 0.9, 0.7</a:t>
            </a:r>
            <a:r>
              <a:rPr sz="1900" b="0" i="0">
                <a:solidFill>
                  <a:srgbClr val="1C252B"/>
                </a:solidFill>
                <a:latin typeface="Segoe UI"/>
              </a:rPr>
              <a:t> and logins </a:t>
            </a:r>
            <a:r>
              <a:rPr sz="1900" b="0" i="0">
                <a:solidFill>
                  <a:srgbClr val="1C252B"/>
                </a:solidFill>
                <a:latin typeface="Cambria"/>
              </a:rPr>
              <a:t>2, 4, 6, 8</a:t>
            </a:r>
            <a:r>
              <a:rPr sz="1900" b="0" i="0">
                <a:solidFill>
                  <a:srgbClr val="1C252B"/>
                </a:solidFill>
                <a:latin typeface="Segoe UI"/>
              </a:rPr>
              <a:t>.</a:t>
            </a:r>
          </a:p>
        </p:txBody>
      </p:sp>
      <p:sp>
        <p:nvSpPr>
          <p:cNvPr id="10" name="body-1"/>
          <p:cNvSpPr txBox="1"/>
          <p:nvPr/>
        </p:nvSpPr>
        <p:spPr>
          <a:xfrm>
            <a:off x="1042416" y="2445537"/>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Attendance:</a:t>
            </a:r>
            <a:r>
              <a:rPr sz="1900" b="0" i="0">
                <a:solidFill>
                  <a:srgbClr val="1C252B"/>
                </a:solidFill>
                <a:latin typeface="Segoe UI"/>
              </a:rPr>
              <a:t> </a:t>
            </a:r>
            <a:r>
              <a:rPr sz="1900" b="0" i="0">
                <a:solidFill>
                  <a:srgbClr val="1C252B"/>
                </a:solidFill>
                <a:latin typeface="Cambria"/>
              </a:rPr>
              <a:t>μ = 0.75</a:t>
            </a:r>
            <a:r>
              <a:rPr sz="1900" b="0" i="0">
                <a:solidFill>
                  <a:srgbClr val="1C252B"/>
                </a:solidFill>
                <a:latin typeface="Segoe UI"/>
              </a:rPr>
              <a:t>; </a:t>
            </a:r>
            <a:r>
              <a:rPr sz="1900" b="0" i="0">
                <a:solidFill>
                  <a:srgbClr val="1C252B"/>
                </a:solidFill>
                <a:latin typeface="Cambria"/>
              </a:rPr>
              <a:t>σ = √((0.15</a:t>
            </a:r>
            <a:r>
              <a:rPr sz="1900" b="0" i="0" baseline="30000">
                <a:solidFill>
                  <a:srgbClr val="1C252B"/>
                </a:solidFill>
                <a:latin typeface="Cambria"/>
              </a:rPr>
              <a:t>2</a:t>
            </a:r>
            <a:r>
              <a:rPr sz="1900" b="0" i="0">
                <a:solidFill>
                  <a:srgbClr val="1C252B"/>
                </a:solidFill>
                <a:latin typeface="Cambria"/>
              </a:rPr>
              <a:t> + 0.05</a:t>
            </a:r>
            <a:r>
              <a:rPr sz="1900" b="0" i="0" baseline="30000">
                <a:solidFill>
                  <a:srgbClr val="1C252B"/>
                </a:solidFill>
                <a:latin typeface="Cambria"/>
              </a:rPr>
              <a:t>2</a:t>
            </a:r>
            <a:r>
              <a:rPr sz="1900" b="0" i="0">
                <a:solidFill>
                  <a:srgbClr val="1C252B"/>
                </a:solidFill>
                <a:latin typeface="Cambria"/>
              </a:rPr>
              <a:t> + 0.15</a:t>
            </a:r>
            <a:r>
              <a:rPr sz="1900" b="0" i="0" baseline="30000">
                <a:solidFill>
                  <a:srgbClr val="1C252B"/>
                </a:solidFill>
                <a:latin typeface="Cambria"/>
              </a:rPr>
              <a:t>2</a:t>
            </a:r>
            <a:r>
              <a:rPr sz="1900" b="0" i="0">
                <a:solidFill>
                  <a:srgbClr val="1C252B"/>
                </a:solidFill>
                <a:latin typeface="Cambria"/>
              </a:rPr>
              <a:t> + 0.05</a:t>
            </a:r>
            <a:r>
              <a:rPr sz="1900" b="0" i="0" baseline="30000">
                <a:solidFill>
                  <a:srgbClr val="1C252B"/>
                </a:solidFill>
                <a:latin typeface="Cambria"/>
              </a:rPr>
              <a:t>2</a:t>
            </a:r>
            <a:r>
              <a:rPr sz="1900" b="0" i="0">
                <a:solidFill>
                  <a:srgbClr val="1C252B"/>
                </a:solidFill>
                <a:latin typeface="Cambria"/>
              </a:rPr>
              <a:t>)/4) = √(0.0125) = 0.112</a:t>
            </a:r>
            <a:r>
              <a:rPr sz="1900" b="0" i="0">
                <a:solidFill>
                  <a:srgbClr val="1C252B"/>
                </a:solidFill>
                <a:latin typeface="Segoe UI"/>
              </a:rPr>
              <a:t>.</a:t>
            </a:r>
          </a:p>
        </p:txBody>
      </p:sp>
      <p:sp>
        <p:nvSpPr>
          <p:cNvPr id="11" name="body-2"/>
          <p:cNvSpPr txBox="1"/>
          <p:nvPr/>
        </p:nvSpPr>
        <p:spPr>
          <a:xfrm>
            <a:off x="1042416" y="2879394"/>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Logins:</a:t>
            </a:r>
            <a:r>
              <a:rPr sz="1900" b="0" i="0">
                <a:solidFill>
                  <a:srgbClr val="1C252B"/>
                </a:solidFill>
                <a:latin typeface="Segoe UI"/>
              </a:rPr>
              <a:t> </a:t>
            </a:r>
            <a:r>
              <a:rPr sz="1900" b="0" i="0">
                <a:solidFill>
                  <a:srgbClr val="1C252B"/>
                </a:solidFill>
                <a:latin typeface="Cambria"/>
              </a:rPr>
              <a:t>μ = 5</a:t>
            </a:r>
            <a:r>
              <a:rPr sz="1900" b="0" i="0">
                <a:solidFill>
                  <a:srgbClr val="1C252B"/>
                </a:solidFill>
                <a:latin typeface="Segoe UI"/>
              </a:rPr>
              <a:t>; </a:t>
            </a:r>
            <a:r>
              <a:rPr sz="1900" b="0" i="0">
                <a:solidFill>
                  <a:srgbClr val="1C252B"/>
                </a:solidFill>
                <a:latin typeface="Cambria"/>
              </a:rPr>
              <a:t>σ = √((9 + 1 + 1 + 9)/4) = √5 = 2.236</a:t>
            </a:r>
            <a:r>
              <a:rPr sz="1900" b="0" i="0">
                <a:solidFill>
                  <a:srgbClr val="1C252B"/>
                </a:solidFill>
                <a:latin typeface="Segoe UI"/>
              </a:rPr>
              <a:t>.</a:t>
            </a:r>
          </a:p>
        </p:txBody>
      </p:sp>
      <p:sp>
        <p:nvSpPr>
          <p:cNvPr id="12" name="body-3"/>
          <p:cNvSpPr txBox="1"/>
          <p:nvPr/>
        </p:nvSpPr>
        <p:spPr>
          <a:xfrm>
            <a:off x="1042416" y="3313252"/>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A new student arrives with attendance </a:t>
            </a:r>
            <a:r>
              <a:rPr sz="1900" b="0" i="0">
                <a:solidFill>
                  <a:srgbClr val="1C252B"/>
                </a:solidFill>
                <a:latin typeface="Cambria"/>
              </a:rPr>
              <a:t>0.5</a:t>
            </a:r>
            <a:r>
              <a:rPr sz="1900" b="0" i="0">
                <a:solidFill>
                  <a:srgbClr val="1C252B"/>
                </a:solidFill>
                <a:latin typeface="Segoe UI"/>
              </a:rPr>
              <a:t> and 10 logins:</a:t>
            </a:r>
          </a:p>
        </p:txBody>
      </p:sp>
      <p:pic>
        <p:nvPicPr>
          <p:cNvPr id="13" name="body-4" descr="z_{\text{att}} = \frac{0.5 - 0.75}{0.112} = -2.24, \qquad z_{\text{log}} = \frac{10 - 5}{2.236} = +2.24"/>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3747109"/>
            <a:ext cx="10234879" cy="553577"/>
          </a:xfrm>
          <a:prstGeom prst="rect">
            <a:avLst/>
          </a:prstGeom>
        </p:spPr>
      </p:pic>
      <p:sp>
        <p:nvSpPr>
          <p:cNvPr id="14" name="body-5"/>
          <p:cNvSpPr txBox="1"/>
          <p:nvPr/>
        </p:nvSpPr>
        <p:spPr>
          <a:xfrm>
            <a:off x="1042416" y="4433402"/>
            <a:ext cx="10234879" cy="1250289"/>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Both are now equally unusual</a:t>
            </a:r>
            <a:r>
              <a:rPr sz="1900" b="0" i="0">
                <a:solidFill>
                  <a:srgbClr val="1C252B"/>
                </a:solidFill>
                <a:latin typeface="Segoe UI"/>
              </a:rPr>
              <a:t> — 2.24 standard deviations from the training mean, in opposite directions — where before the logins difference (5) was twenty times the attendance difference (0.25). Note that </a:t>
            </a:r>
            <a:r>
              <a:rPr sz="1900" b="0" i="0">
                <a:solidFill>
                  <a:srgbClr val="1C252B"/>
                </a:solidFill>
                <a:latin typeface="Cambria"/>
              </a:rPr>
              <a:t>μ</a:t>
            </a:r>
            <a:r>
              <a:rPr sz="1900" b="0" i="0">
                <a:solidFill>
                  <a:srgbClr val="1C252B"/>
                </a:solidFill>
                <a:latin typeface="Segoe UI"/>
              </a:rPr>
              <a:t> and </a:t>
            </a:r>
            <a:r>
              <a:rPr sz="1900" b="0" i="0">
                <a:solidFill>
                  <a:srgbClr val="1C252B"/>
                </a:solidFill>
                <a:latin typeface="Cambria"/>
              </a:rPr>
              <a:t>σ</a:t>
            </a:r>
            <a:r>
              <a:rPr sz="1900" b="0" i="0">
                <a:solidFill>
                  <a:srgbClr val="1C252B"/>
                </a:solidFill>
                <a:latin typeface="Segoe UI"/>
              </a:rPr>
              <a:t> came from the </a:t>
            </a:r>
            <a:r>
              <a:rPr sz="1900" b="0" i="1">
                <a:solidFill>
                  <a:srgbClr val="1C252B"/>
                </a:solidFill>
                <a:latin typeface="Segoe UI"/>
              </a:rPr>
              <a:t>training</a:t>
            </a:r>
            <a:r>
              <a:rPr sz="1900" b="0" i="0">
                <a:solidFill>
                  <a:srgbClr val="1C252B"/>
                </a:solidFill>
                <a:latin typeface="Segoe UI"/>
              </a:rPr>
              <a:t> students only. The new student is transformed with the training statistics, never with statistics that include the new student.</a:t>
            </a:r>
          </a:p>
        </p:txBody>
      </p:sp>
      <p:sp>
        <p:nvSpPr>
          <p:cNvPr id="15" name="body-5bar">
            <a:extLst>
              <a:ext uri="{C183D7F6-B498-43B3-948B-1728B52AA6E4}">
                <adec:decorative xmlns:adec="http://schemas.microsoft.com/office/drawing/2017/decorative" val="1"/>
              </a:ext>
            </a:extLst>
          </p:cNvPr>
          <p:cNvSpPr/>
          <p:nvPr/>
        </p:nvSpPr>
        <p:spPr>
          <a:xfrm>
            <a:off x="841248" y="4451690"/>
            <a:ext cx="54864" cy="118628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pfill">
            <a:extLst>
              <a:ext uri="{C183D7F6-B498-43B3-948B-1728B52AA6E4}">
                <adec:decorative xmlns:adec="http://schemas.microsoft.com/office/drawing/2017/decorative" val="1"/>
              </a:ext>
            </a:extLst>
          </p:cNvPr>
          <p:cNvSpPr/>
          <p:nvPr/>
        </p:nvSpPr>
        <p:spPr>
          <a:xfrm>
            <a:off x="0" y="0"/>
            <a:ext cx="373215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right)">
                                      <p:cBhvr>
                                        <p:cTn id="18" dur="42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wipe(right)">
                                      <p:cBhvr>
                                        <p:cTn id="23" dur="420"/>
                                        <p:tgtEl>
                                          <p:spTgt spid="13"/>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wipe(right)">
                                      <p:cBhvr>
                                        <p:cTn id="28" dur="420"/>
                                        <p:tgtEl>
                                          <p:spTgt spid="1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42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The scikit-learn Interface</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ACBD6"/>
                </a:solidFill>
                <a:latin typeface="Segoe UI"/>
              </a:rPr>
              <a:t>SECTION 5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3.5</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3.1   One Experiment, Start to Finish</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3.2   Examples, Features and Labels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3.3   Splitting the Data</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3.4   Preparing Features</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A5276"/>
                </a:solidFill>
                <a:latin typeface="Segoe UI"/>
              </a:rPr>
              <a:t>3.5   The scikit-learn Interface</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3.6   Pipelines and Data Leakage</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3.7   Baselines</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§3.5     </a:t>
            </a:r>
            <a:fld id="{2B25AAFD-1A6D-4CF3-AF0E-A07B58291DAD}" type="slidenum">
              <a:rPr lang="en-GB" sz="1000">
                <a:solidFill>
                  <a:srgbClr val="8795A1"/>
                </a:solidFill>
                <a:latin typeface="Segoe UI"/>
              </a:rPr>
              <a:t>16</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398096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Estimator and Transformer</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§3.5  ·  Handout p. 22     </a:t>
            </a:r>
            <a:fld id="{1A3C27EE-2F86-41DA-A378-792203107333}" type="slidenum">
              <a:rPr lang="en-GB" sz="1000">
                <a:solidFill>
                  <a:srgbClr val="8795A1"/>
                </a:solidFill>
                <a:latin typeface="Segoe UI"/>
              </a:rPr>
              <a:t>17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809036"/>
          </a:xfrm>
          <a:prstGeom prst="roundRect">
            <a:avLst>
              <a:gd name="adj" fmla="val 3255"/>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809036"/>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An </a:t>
            </a:r>
            <a:r>
              <a:rPr sz="2300" b="1" i="0">
                <a:solidFill>
                  <a:srgbClr val="1A5276"/>
                </a:solidFill>
                <a:latin typeface="Segoe UI"/>
              </a:rPr>
              <a:t>estimator</a:t>
            </a:r>
            <a:r>
              <a:rPr sz="2300" b="0" i="0">
                <a:solidFill>
                  <a:srgbClr val="1C252B"/>
                </a:solidFill>
                <a:latin typeface="Segoe UI"/>
              </a:rPr>
              <a:t> learns from data with </a:t>
            </a:r>
            <a:r>
              <a:rPr sz="2150" b="0" i="0">
                <a:solidFill>
                  <a:srgbClr val="1F4E79"/>
                </a:solidFill>
                <a:latin typeface="Consolas"/>
              </a:rPr>
              <a:t>fit(X, y)</a:t>
            </a:r>
            <a:r>
              <a:rPr sz="2300" b="0" i="0">
                <a:solidFill>
                  <a:srgbClr val="1C252B"/>
                </a:solidFill>
                <a:latin typeface="Segoe UI"/>
              </a:rPr>
              <a:t> and then makes predictions with </a:t>
            </a:r>
            <a:r>
              <a:rPr sz="2150" b="0" i="0">
                <a:solidFill>
                  <a:srgbClr val="1F4E79"/>
                </a:solidFill>
                <a:latin typeface="Consolas"/>
              </a:rPr>
              <a:t>predict(X)</a:t>
            </a:r>
            <a:r>
              <a:rPr sz="2300" b="0" i="0">
                <a:solidFill>
                  <a:srgbClr val="1C252B"/>
                </a:solidFill>
                <a:latin typeface="Segoe UI"/>
              </a:rPr>
              <a:t> (and, for classifiers, </a:t>
            </a:r>
            <a:r>
              <a:rPr sz="2150" b="0" i="0">
                <a:solidFill>
                  <a:srgbClr val="1F4E79"/>
                </a:solidFill>
                <a:latin typeface="Consolas"/>
              </a:rPr>
              <a:t>predict_proba(X)</a:t>
            </a:r>
            <a:r>
              <a:rPr sz="2300" b="0" i="0">
                <a:solidFill>
                  <a:srgbClr val="1C252B"/>
                </a:solidFill>
                <a:latin typeface="Segoe UI"/>
              </a:rPr>
              <a:t> for probabilities). A </a:t>
            </a:r>
            <a:r>
              <a:rPr sz="2300" b="1" i="0">
                <a:solidFill>
                  <a:srgbClr val="1A5276"/>
                </a:solidFill>
                <a:latin typeface="Segoe UI"/>
              </a:rPr>
              <a:t>transformer</a:t>
            </a:r>
            <a:r>
              <a:rPr sz="2300" b="0" i="0">
                <a:solidFill>
                  <a:srgbClr val="1C252B"/>
                </a:solidFill>
                <a:latin typeface="Segoe UI"/>
              </a:rPr>
              <a:t> learns with </a:t>
            </a:r>
            <a:r>
              <a:rPr sz="2150" b="0" i="0">
                <a:solidFill>
                  <a:srgbClr val="1F4E79"/>
                </a:solidFill>
                <a:latin typeface="Consolas"/>
              </a:rPr>
              <a:t>fit(X)</a:t>
            </a:r>
            <a:r>
              <a:rPr sz="2300" b="0" i="0">
                <a:solidFill>
                  <a:srgbClr val="1C252B"/>
                </a:solidFill>
                <a:latin typeface="Segoe UI"/>
              </a:rPr>
              <a:t> and changes data with </a:t>
            </a:r>
            <a:r>
              <a:rPr sz="2150" b="0" i="0">
                <a:solidFill>
                  <a:srgbClr val="1F4E79"/>
                </a:solidFill>
                <a:latin typeface="Consolas"/>
              </a:rPr>
              <a:t>transform(X)</a:t>
            </a:r>
            <a:r>
              <a:rPr sz="2300" b="0" i="0">
                <a:solidFill>
                  <a:srgbClr val="1C252B"/>
                </a:solidFill>
                <a:latin typeface="Segoe UI"/>
              </a:rPr>
              <a:t>; a scaler learns </a:t>
            </a:r>
            <a:r>
              <a:rPr sz="2300" b="0" i="0">
                <a:solidFill>
                  <a:srgbClr val="1C252B"/>
                </a:solidFill>
                <a:latin typeface="Cambria"/>
              </a:rPr>
              <a:t>μ</a:t>
            </a:r>
            <a:r>
              <a:rPr sz="2300" b="0" i="0">
                <a:solidFill>
                  <a:srgbClr val="1C252B"/>
                </a:solidFill>
                <a:latin typeface="Segoe UI"/>
              </a:rPr>
              <a:t> and </a:t>
            </a:r>
            <a:r>
              <a:rPr sz="2300" b="0" i="0">
                <a:solidFill>
                  <a:srgbClr val="1C252B"/>
                </a:solidFill>
                <a:latin typeface="Cambria"/>
              </a:rPr>
              <a:t>σ</a:t>
            </a:r>
            <a:r>
              <a:rPr sz="2300" b="0" i="0">
                <a:solidFill>
                  <a:srgbClr val="1C252B"/>
                </a:solidFill>
                <a:latin typeface="Segoe UI"/>
              </a:rPr>
              <a:t> in </a:t>
            </a:r>
            <a:r>
              <a:rPr sz="2150" b="0" i="0">
                <a:solidFill>
                  <a:srgbClr val="1F4E79"/>
                </a:solidFill>
                <a:latin typeface="Consolas"/>
              </a:rPr>
              <a:t>fit</a:t>
            </a:r>
            <a:r>
              <a:rPr sz="2300" b="0" i="0">
                <a:solidFill>
                  <a:srgbClr val="1C252B"/>
                </a:solidFill>
                <a:latin typeface="Segoe UI"/>
              </a:rPr>
              <a:t> and applies them in </a:t>
            </a:r>
            <a:r>
              <a:rPr sz="2150" b="0" i="0">
                <a:solidFill>
                  <a:srgbClr val="1F4E79"/>
                </a:solidFill>
                <a:latin typeface="Consolas"/>
              </a:rPr>
              <a:t>transform</a:t>
            </a:r>
            <a:r>
              <a:rPr sz="2300" b="0" i="0">
                <a:solidFill>
                  <a:srgbClr val="1C252B"/>
                </a:solidFill>
                <a:latin typeface="Segoe UI"/>
              </a:rPr>
              <a:t>. Anything learned during </a:t>
            </a:r>
            <a:r>
              <a:rPr sz="2150" b="0" i="0">
                <a:solidFill>
                  <a:srgbClr val="1F4E79"/>
                </a:solidFill>
                <a:latin typeface="Consolas"/>
              </a:rPr>
              <a:t>fit</a:t>
            </a:r>
            <a:r>
              <a:rPr sz="2300" b="0" i="0">
                <a:solidFill>
                  <a:srgbClr val="1C252B"/>
                </a:solidFill>
                <a:latin typeface="Segoe UI"/>
              </a:rPr>
              <a:t> is stored in attributes ending in an underscore, such as </a:t>
            </a:r>
            <a:r>
              <a:rPr sz="2150" b="0" i="0">
                <a:solidFill>
                  <a:srgbClr val="1F4E79"/>
                </a:solidFill>
                <a:latin typeface="Consolas"/>
              </a:rPr>
              <a:t>coef_</a:t>
            </a:r>
            <a:r>
              <a:rPr sz="2300" b="0" i="0">
                <a:solidFill>
                  <a:srgbClr val="1C252B"/>
                </a:solidFill>
                <a:latin typeface="Segoe UI"/>
              </a:rPr>
              <a:t> or </a:t>
            </a:r>
            <a:r>
              <a:rPr sz="2150" b="0" i="0">
                <a:solidFill>
                  <a:srgbClr val="1F4E79"/>
                </a:solidFill>
                <a:latin typeface="Consolas"/>
              </a:rPr>
              <a:t>mean_</a:t>
            </a:r>
            <a:r>
              <a:rPr sz="2300" b="0" i="0">
                <a:solidFill>
                  <a:srgbClr val="1C252B"/>
                </a:solidFill>
                <a:latin typeface="Segoe UI"/>
              </a:rPr>
              <a:t>.</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422977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scikit-learn Interface</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§3.5  ·  Handout p. 22     </a:t>
            </a:r>
            <a:fld id="{941E5EC3-745A-491B-AEE6-606F92185B9D}" type="slidenum">
              <a:rPr lang="en-GB" sz="1000">
                <a:solidFill>
                  <a:srgbClr val="8795A1"/>
                </a:solidFill>
                <a:latin typeface="Segoe UI"/>
              </a:rPr>
              <a:t>18</a:t>
            </a:fld>
          </a:p>
        </p:txBody>
      </p:sp>
      <p:graphicFrame>
        <p:nvGraphicFramePr>
          <p:cNvPr id="7" name="!!table"/>
          <p:cNvGraphicFramePr>
            <a:graphicFrameLocks noGrp="1"/>
          </p:cNvGraphicFramePr>
          <p:nvPr/>
        </p:nvGraphicFramePr>
        <p:xfrm>
          <a:off x="658368" y="1737360"/>
          <a:ext cx="9844725" cy="4315968"/>
        </p:xfrm>
        <a:graphic>
          <a:graphicData uri="http://schemas.openxmlformats.org/drawingml/2006/table">
            <a:tbl>
              <a:tblPr firstRow="0" bandRow="0" firstCol="0" lastRow="0" lastCol="0" bandCol="0">
                <a:tableStyleId>{2D5ABB26-0587-4C30-8999-92F81FD0307C}</a:tableStyleId>
              </a:tblPr>
              <a:tblGrid>
                <a:gridCol w="4095519"/>
                <a:gridCol w="1200383"/>
                <a:gridCol w="4548823"/>
              </a:tblGrid>
              <a:tr h="359664">
                <a:tc>
                  <a:txBody>
                    <a:bodyPr wrap="square"/>
                    <a:lstStyle/>
                    <a:p>
                      <a:pPr algn="l"/>
                      <a:r>
                        <a:rPr sz="1400" b="1" i="0">
                          <a:solidFill>
                            <a:srgbClr val="1A5276"/>
                          </a:solidFill>
                          <a:latin typeface="Segoe UI"/>
                        </a:rPr>
                        <a:t>Class</a:t>
                      </a:r>
                      <a:endParaRPr sz="14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400" b="1" i="0">
                          <a:solidFill>
                            <a:srgbClr val="1A5276"/>
                          </a:solidFill>
                          <a:latin typeface="Segoe UI"/>
                        </a:rPr>
                        <a:t>Chapter</a:t>
                      </a:r>
                      <a:endParaRPr sz="14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400" b="1" i="0">
                          <a:solidFill>
                            <a:srgbClr val="1A5276"/>
                          </a:solidFill>
                          <a:latin typeface="Segoe UI"/>
                        </a:rPr>
                        <a:t>What it is</a:t>
                      </a:r>
                      <a:endParaRPr sz="14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359664">
                <a:tc>
                  <a:txBody>
                    <a:bodyPr wrap="square"/>
                    <a:lstStyle/>
                    <a:p>
                      <a:pPr algn="l"/>
                      <a:r>
                        <a:rPr sz="1300" b="0" i="0">
                          <a:solidFill>
                            <a:srgbClr val="1F4E79"/>
                          </a:solidFill>
                          <a:latin typeface="Consolas"/>
                        </a:rPr>
                        <a:t>LinearRegression</a:t>
                      </a:r>
                      <a:r>
                        <a:rPr sz="1400" b="0" i="0">
                          <a:solidFill>
                            <a:srgbClr val="1C252B"/>
                          </a:solidFill>
                          <a:latin typeface="Segoe UI"/>
                        </a:rPr>
                        <a:t>, </a:t>
                      </a:r>
                      <a:r>
                        <a:rPr sz="1300" b="0" i="0">
                          <a:solidFill>
                            <a:srgbClr val="1F4E79"/>
                          </a:solidFill>
                          <a:latin typeface="Consolas"/>
                        </a:rPr>
                        <a:t>Ridge</a:t>
                      </a:r>
                      <a:r>
                        <a:rPr sz="1400" b="0" i="0">
                          <a:solidFill>
                            <a:srgbClr val="1C252B"/>
                          </a:solidFill>
                          <a:latin typeface="Segoe UI"/>
                        </a:rPr>
                        <a:t>, </a:t>
                      </a:r>
                      <a:r>
                        <a:rPr sz="1300" b="0" i="0">
                          <a:solidFill>
                            <a:srgbClr val="1F4E79"/>
                          </a:solidFill>
                          <a:latin typeface="Consolas"/>
                        </a:rPr>
                        <a:t>Lasso</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0" i="0">
                          <a:solidFill>
                            <a:srgbClr val="1C252B"/>
                          </a:solidFill>
                          <a:latin typeface="Segoe UI"/>
                        </a:rPr>
                        <a:t>5, 7</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0" i="0">
                          <a:solidFill>
                            <a:srgbClr val="1C252B"/>
                          </a:solidFill>
                          <a:latin typeface="Segoe UI"/>
                        </a:rPr>
                        <a:t>Least-squares regression, with and without a penalty</a:t>
                      </a:r>
                      <a:endParaRPr sz="1400"/>
                    </a:p>
                  </a:txBody>
                  <a:tcPr marL="109728" marR="109728" marT="64008" marB="45720" anchor="t">
                    <a:lnL w="0" cmpd="sng">
                      <a:noFill/>
                    </a:lnL>
                    <a:lnR w="0" cmpd="sng">
                      <a:noFill/>
                    </a:lnR>
                    <a:lnT w="9525" cmpd="sng">
                      <a:noFill/>
                    </a:lnT>
                    <a:lnB w="9525" cmpd="sng">
                      <a:noFill/>
                    </a:lnB>
                    <a:solidFill>
                      <a:srgbClr val="FFFFFF"/>
                    </a:solidFill>
                  </a:tcPr>
                </a:tc>
              </a:tr>
              <a:tr h="359664">
                <a:tc>
                  <a:txBody>
                    <a:bodyPr wrap="square"/>
                    <a:lstStyle/>
                    <a:p>
                      <a:pPr algn="l"/>
                      <a:r>
                        <a:rPr sz="1300" b="0" i="0">
                          <a:solidFill>
                            <a:srgbClr val="1F4E79"/>
                          </a:solidFill>
                          <a:latin typeface="Consolas"/>
                        </a:rPr>
                        <a:t>LogisticRegression</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400" b="0" i="0">
                          <a:solidFill>
                            <a:srgbClr val="1C252B"/>
                          </a:solidFill>
                          <a:latin typeface="Segoe UI"/>
                        </a:rPr>
                        <a:t>6</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400" b="0" i="0">
                          <a:solidFill>
                            <a:srgbClr val="1C252B"/>
                          </a:solidFill>
                          <a:latin typeface="Segoe UI"/>
                        </a:rPr>
                        <a:t>Linear classifier with probabilities</a:t>
                      </a:r>
                      <a:endParaRPr sz="1400"/>
                    </a:p>
                  </a:txBody>
                  <a:tcPr marL="109728" marR="109728" marT="64008" marB="45720" anchor="t">
                    <a:lnL w="0" cmpd="sng">
                      <a:noFill/>
                    </a:lnL>
                    <a:lnR w="0" cmpd="sng">
                      <a:noFill/>
                    </a:lnR>
                    <a:lnT w="9525" cmpd="sng">
                      <a:noFill/>
                    </a:lnT>
                    <a:lnB w="9525" cmpd="sng">
                      <a:noFill/>
                    </a:lnB>
                    <a:solidFill>
                      <a:srgbClr val="F2F8FC"/>
                    </a:solidFill>
                  </a:tcPr>
                </a:tc>
              </a:tr>
              <a:tr h="359664">
                <a:tc>
                  <a:txBody>
                    <a:bodyPr wrap="square"/>
                    <a:lstStyle/>
                    <a:p>
                      <a:pPr algn="l"/>
                      <a:r>
                        <a:rPr sz="1300" b="0" i="0">
                          <a:solidFill>
                            <a:srgbClr val="1F4E79"/>
                          </a:solidFill>
                          <a:latin typeface="Consolas"/>
                        </a:rPr>
                        <a:t>DecisionTreeClassifier</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0" i="0">
                          <a:solidFill>
                            <a:srgbClr val="1C252B"/>
                          </a:solidFill>
                          <a:latin typeface="Segoe UI"/>
                        </a:rPr>
                        <a:t>9</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0" i="0">
                          <a:solidFill>
                            <a:srgbClr val="1C252B"/>
                          </a:solidFill>
                          <a:latin typeface="Segoe UI"/>
                        </a:rPr>
                        <a:t>ID3/CART-style tree</a:t>
                      </a:r>
                      <a:endParaRPr sz="1400"/>
                    </a:p>
                  </a:txBody>
                  <a:tcPr marL="109728" marR="109728" marT="64008" marB="45720" anchor="t">
                    <a:lnL w="0" cmpd="sng">
                      <a:noFill/>
                    </a:lnL>
                    <a:lnR w="0" cmpd="sng">
                      <a:noFill/>
                    </a:lnR>
                    <a:lnT w="9525" cmpd="sng">
                      <a:noFill/>
                    </a:lnT>
                    <a:lnB w="9525" cmpd="sng">
                      <a:noFill/>
                    </a:lnB>
                    <a:solidFill>
                      <a:srgbClr val="FFFFFF"/>
                    </a:solidFill>
                  </a:tcPr>
                </a:tc>
              </a:tr>
              <a:tr h="359664">
                <a:tc>
                  <a:txBody>
                    <a:bodyPr wrap="square"/>
                    <a:lstStyle/>
                    <a:p>
                      <a:pPr algn="l"/>
                      <a:r>
                        <a:rPr sz="1300" b="0" i="0">
                          <a:solidFill>
                            <a:srgbClr val="1F4E79"/>
                          </a:solidFill>
                          <a:latin typeface="Consolas"/>
                        </a:rPr>
                        <a:t>GaussianNB</a:t>
                      </a:r>
                      <a:r>
                        <a:rPr sz="1400" b="0" i="0">
                          <a:solidFill>
                            <a:srgbClr val="1C252B"/>
                          </a:solidFill>
                          <a:latin typeface="Segoe UI"/>
                        </a:rPr>
                        <a:t>, </a:t>
                      </a:r>
                      <a:r>
                        <a:rPr sz="1300" b="0" i="0">
                          <a:solidFill>
                            <a:srgbClr val="1F4E79"/>
                          </a:solidFill>
                          <a:latin typeface="Consolas"/>
                        </a:rPr>
                        <a:t>MultinomialNB</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400" b="0" i="0">
                          <a:solidFill>
                            <a:srgbClr val="1C252B"/>
                          </a:solidFill>
                          <a:latin typeface="Segoe UI"/>
                        </a:rPr>
                        <a:t>10</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400" b="0" i="0">
                          <a:solidFill>
                            <a:srgbClr val="1C252B"/>
                          </a:solidFill>
                          <a:latin typeface="Segoe UI"/>
                        </a:rPr>
                        <a:t>Naive Bayes</a:t>
                      </a:r>
                      <a:endParaRPr sz="1400"/>
                    </a:p>
                  </a:txBody>
                  <a:tcPr marL="109728" marR="109728" marT="64008" marB="45720" anchor="t">
                    <a:lnL w="0" cmpd="sng">
                      <a:noFill/>
                    </a:lnL>
                    <a:lnR w="0" cmpd="sng">
                      <a:noFill/>
                    </a:lnR>
                    <a:lnT w="9525" cmpd="sng">
                      <a:noFill/>
                    </a:lnT>
                    <a:lnB w="9525" cmpd="sng">
                      <a:noFill/>
                    </a:lnB>
                    <a:solidFill>
                      <a:srgbClr val="F2F8FC"/>
                    </a:solidFill>
                  </a:tcPr>
                </a:tc>
              </a:tr>
              <a:tr h="359664">
                <a:tc>
                  <a:txBody>
                    <a:bodyPr wrap="square"/>
                    <a:lstStyle/>
                    <a:p>
                      <a:pPr algn="l"/>
                      <a:r>
                        <a:rPr sz="1300" b="0" i="0">
                          <a:solidFill>
                            <a:srgbClr val="1F4E79"/>
                          </a:solidFill>
                          <a:latin typeface="Consolas"/>
                        </a:rPr>
                        <a:t>KNeighborsClassifier</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0" i="0">
                          <a:solidFill>
                            <a:srgbClr val="1C252B"/>
                          </a:solidFill>
                          <a:latin typeface="Segoe UI"/>
                        </a:rPr>
                        <a:t>11</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0" i="1">
                          <a:solidFill>
                            <a:srgbClr val="1C252B"/>
                          </a:solidFill>
                          <a:latin typeface="Cambria"/>
                        </a:rPr>
                        <a:t>k</a:t>
                      </a:r>
                      <a:r>
                        <a:rPr sz="1400" b="0" i="0">
                          <a:solidFill>
                            <a:srgbClr val="1C252B"/>
                          </a:solidFill>
                          <a:latin typeface="Segoe UI"/>
                        </a:rPr>
                        <a:t>-nearest neighbours</a:t>
                      </a:r>
                      <a:endParaRPr sz="1400"/>
                    </a:p>
                  </a:txBody>
                  <a:tcPr marL="109728" marR="109728" marT="64008" marB="45720" anchor="t">
                    <a:lnL w="0" cmpd="sng">
                      <a:noFill/>
                    </a:lnL>
                    <a:lnR w="0" cmpd="sng">
                      <a:noFill/>
                    </a:lnR>
                    <a:lnT w="9525" cmpd="sng">
                      <a:noFill/>
                    </a:lnT>
                    <a:lnB w="9525" cmpd="sng">
                      <a:noFill/>
                    </a:lnB>
                    <a:solidFill>
                      <a:srgbClr val="FFFFFF"/>
                    </a:solidFill>
                  </a:tcPr>
                </a:tc>
              </a:tr>
              <a:tr h="359664">
                <a:tc>
                  <a:txBody>
                    <a:bodyPr wrap="square"/>
                    <a:lstStyle/>
                    <a:p>
                      <a:pPr algn="l"/>
                      <a:r>
                        <a:rPr sz="1300" b="0" i="0">
                          <a:solidFill>
                            <a:srgbClr val="1F4E79"/>
                          </a:solidFill>
                          <a:latin typeface="Consolas"/>
                        </a:rPr>
                        <a:t>SVC</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400" b="0" i="0">
                          <a:solidFill>
                            <a:srgbClr val="1C252B"/>
                          </a:solidFill>
                          <a:latin typeface="Segoe UI"/>
                        </a:rPr>
                        <a:t>12</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400" b="0" i="0">
                          <a:solidFill>
                            <a:srgbClr val="1C252B"/>
                          </a:solidFill>
                          <a:latin typeface="Segoe UI"/>
                        </a:rPr>
                        <a:t>Support vector machine</a:t>
                      </a:r>
                      <a:endParaRPr sz="1400"/>
                    </a:p>
                  </a:txBody>
                  <a:tcPr marL="109728" marR="109728" marT="64008" marB="45720" anchor="t">
                    <a:lnL w="0" cmpd="sng">
                      <a:noFill/>
                    </a:lnL>
                    <a:lnR w="0" cmpd="sng">
                      <a:noFill/>
                    </a:lnR>
                    <a:lnT w="9525" cmpd="sng">
                      <a:noFill/>
                    </a:lnT>
                    <a:lnB w="9525" cmpd="sng">
                      <a:noFill/>
                    </a:lnB>
                    <a:solidFill>
                      <a:srgbClr val="F2F8FC"/>
                    </a:solidFill>
                  </a:tcPr>
                </a:tc>
              </a:tr>
              <a:tr h="359664">
                <a:tc>
                  <a:txBody>
                    <a:bodyPr wrap="square"/>
                    <a:lstStyle/>
                    <a:p>
                      <a:pPr algn="l"/>
                      <a:r>
                        <a:rPr sz="1300" b="0" i="0">
                          <a:solidFill>
                            <a:srgbClr val="1F4E79"/>
                          </a:solidFill>
                          <a:latin typeface="Consolas"/>
                        </a:rPr>
                        <a:t>MLPClassifier</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0" i="0">
                          <a:solidFill>
                            <a:srgbClr val="1C252B"/>
                          </a:solidFill>
                          <a:latin typeface="Segoe UI"/>
                        </a:rPr>
                        <a:t>13</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0" i="0">
                          <a:solidFill>
                            <a:srgbClr val="1C252B"/>
                          </a:solidFill>
                          <a:latin typeface="Segoe UI"/>
                        </a:rPr>
                        <a:t>Multilayer neural network</a:t>
                      </a:r>
                      <a:endParaRPr sz="1400"/>
                    </a:p>
                  </a:txBody>
                  <a:tcPr marL="109728" marR="109728" marT="64008" marB="45720" anchor="t">
                    <a:lnL w="0" cmpd="sng">
                      <a:noFill/>
                    </a:lnL>
                    <a:lnR w="0" cmpd="sng">
                      <a:noFill/>
                    </a:lnR>
                    <a:lnT w="9525" cmpd="sng">
                      <a:noFill/>
                    </a:lnT>
                    <a:lnB w="9525" cmpd="sng">
                      <a:noFill/>
                    </a:lnB>
                    <a:solidFill>
                      <a:srgbClr val="FFFFFF"/>
                    </a:solidFill>
                  </a:tcPr>
                </a:tc>
              </a:tr>
              <a:tr h="359664">
                <a:tc>
                  <a:txBody>
                    <a:bodyPr wrap="square"/>
                    <a:lstStyle/>
                    <a:p>
                      <a:pPr algn="l"/>
                      <a:r>
                        <a:rPr sz="1300" b="0" i="0">
                          <a:solidFill>
                            <a:srgbClr val="1F4E79"/>
                          </a:solidFill>
                          <a:latin typeface="Consolas"/>
                        </a:rPr>
                        <a:t>RandomForestClassifier</a:t>
                      </a:r>
                      <a:r>
                        <a:rPr sz="1400" b="0" i="0">
                          <a:solidFill>
                            <a:srgbClr val="1C252B"/>
                          </a:solidFill>
                          <a:latin typeface="Segoe UI"/>
                        </a:rPr>
                        <a:t>, </a:t>
                      </a:r>
                      <a:r>
                        <a:rPr sz="1300" b="0" i="0">
                          <a:solidFill>
                            <a:srgbClr val="1F4E79"/>
                          </a:solidFill>
                          <a:latin typeface="Consolas"/>
                        </a:rPr>
                        <a:t>AdaBoostClassifier</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400" b="0" i="0">
                          <a:solidFill>
                            <a:srgbClr val="1C252B"/>
                          </a:solidFill>
                          <a:latin typeface="Segoe UI"/>
                        </a:rPr>
                        <a:t>14</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400" b="0" i="0">
                          <a:solidFill>
                            <a:srgbClr val="1C252B"/>
                          </a:solidFill>
                          <a:latin typeface="Segoe UI"/>
                        </a:rPr>
                        <a:t>Ensembles</a:t>
                      </a:r>
                      <a:endParaRPr sz="1400"/>
                    </a:p>
                  </a:txBody>
                  <a:tcPr marL="109728" marR="109728" marT="64008" marB="45720" anchor="t">
                    <a:lnL w="0" cmpd="sng">
                      <a:noFill/>
                    </a:lnL>
                    <a:lnR w="0" cmpd="sng">
                      <a:noFill/>
                    </a:lnR>
                    <a:lnT w="9525" cmpd="sng">
                      <a:noFill/>
                    </a:lnT>
                    <a:lnB w="9525" cmpd="sng">
                      <a:noFill/>
                    </a:lnB>
                    <a:solidFill>
                      <a:srgbClr val="F2F8FC"/>
                    </a:solidFill>
                  </a:tcPr>
                </a:tc>
              </a:tr>
              <a:tr h="359664">
                <a:tc>
                  <a:txBody>
                    <a:bodyPr wrap="square"/>
                    <a:lstStyle/>
                    <a:p>
                      <a:pPr algn="l"/>
                      <a:r>
                        <a:rPr sz="1300" b="0" i="0">
                          <a:solidFill>
                            <a:srgbClr val="1F4E79"/>
                          </a:solidFill>
                          <a:latin typeface="Consolas"/>
                        </a:rPr>
                        <a:t>KMeans</a:t>
                      </a:r>
                      <a:r>
                        <a:rPr sz="1400" b="0" i="0">
                          <a:solidFill>
                            <a:srgbClr val="1C252B"/>
                          </a:solidFill>
                          <a:latin typeface="Segoe UI"/>
                        </a:rPr>
                        <a:t>, </a:t>
                      </a:r>
                      <a:r>
                        <a:rPr sz="1300" b="0" i="0">
                          <a:solidFill>
                            <a:srgbClr val="1F4E79"/>
                          </a:solidFill>
                          <a:latin typeface="Consolas"/>
                        </a:rPr>
                        <a:t>AgglomerativeClustering</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0" i="0">
                          <a:solidFill>
                            <a:srgbClr val="1C252B"/>
                          </a:solidFill>
                          <a:latin typeface="Segoe UI"/>
                        </a:rPr>
                        <a:t>15</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400" b="0" i="0">
                          <a:solidFill>
                            <a:srgbClr val="1C252B"/>
                          </a:solidFill>
                          <a:latin typeface="Segoe UI"/>
                        </a:rPr>
                        <a:t>Clustering</a:t>
                      </a:r>
                      <a:endParaRPr sz="1400"/>
                    </a:p>
                  </a:txBody>
                  <a:tcPr marL="109728" marR="109728" marT="64008" marB="45720" anchor="t">
                    <a:lnL w="0" cmpd="sng">
                      <a:noFill/>
                    </a:lnL>
                    <a:lnR w="0" cmpd="sng">
                      <a:noFill/>
                    </a:lnR>
                    <a:lnT w="9525" cmpd="sng">
                      <a:noFill/>
                    </a:lnT>
                    <a:lnB w="9525" cmpd="sng">
                      <a:noFill/>
                    </a:lnB>
                    <a:solidFill>
                      <a:srgbClr val="FFFFFF"/>
                    </a:solidFill>
                  </a:tcPr>
                </a:tc>
              </a:tr>
              <a:tr h="359664">
                <a:tc>
                  <a:txBody>
                    <a:bodyPr wrap="square"/>
                    <a:lstStyle/>
                    <a:p>
                      <a:pPr algn="l"/>
                      <a:r>
                        <a:rPr sz="1300" b="0" i="0">
                          <a:solidFill>
                            <a:srgbClr val="1F4E79"/>
                          </a:solidFill>
                          <a:latin typeface="Consolas"/>
                        </a:rPr>
                        <a:t>PCA</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400" b="0" i="0">
                          <a:solidFill>
                            <a:srgbClr val="1C252B"/>
                          </a:solidFill>
                          <a:latin typeface="Segoe UI"/>
                        </a:rPr>
                        <a:t>16</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400" b="0" i="0">
                          <a:solidFill>
                            <a:srgbClr val="1C252B"/>
                          </a:solidFill>
                          <a:latin typeface="Segoe UI"/>
                        </a:rPr>
                        <a:t>Principal component analysis</a:t>
                      </a:r>
                      <a:endParaRPr sz="1400"/>
                    </a:p>
                  </a:txBody>
                  <a:tcPr marL="109728" marR="109728" marT="64008" marB="45720" anchor="t">
                    <a:lnL w="0" cmpd="sng">
                      <a:noFill/>
                    </a:lnL>
                    <a:lnR w="0" cmpd="sng">
                      <a:noFill/>
                    </a:lnR>
                    <a:lnT w="9525" cmpd="sng">
                      <a:noFill/>
                    </a:lnT>
                    <a:lnB w="9525" cmpd="sng">
                      <a:noFill/>
                    </a:lnB>
                    <a:solidFill>
                      <a:srgbClr val="F2F8FC"/>
                    </a:solidFill>
                  </a:tcPr>
                </a:tc>
              </a:tr>
              <a:tr h="359664">
                <a:tc>
                  <a:txBody>
                    <a:bodyPr wrap="square"/>
                    <a:lstStyle/>
                    <a:p>
                      <a:pPr algn="l"/>
                      <a:r>
                        <a:rPr sz="1300" b="0" i="0">
                          <a:solidFill>
                            <a:srgbClr val="1F4E79"/>
                          </a:solidFill>
                          <a:latin typeface="Consolas"/>
                        </a:rPr>
                        <a:t>GaussianMixture</a:t>
                      </a:r>
                      <a:r>
                        <a:rPr sz="1400" b="0" i="0">
                          <a:solidFill>
                            <a:srgbClr val="1C252B"/>
                          </a:solidFill>
                          <a:latin typeface="Segoe UI"/>
                        </a:rPr>
                        <a:t>, </a:t>
                      </a:r>
                      <a:r>
                        <a:rPr sz="1300" b="0" i="0">
                          <a:solidFill>
                            <a:srgbClr val="1F4E79"/>
                          </a:solidFill>
                          <a:latin typeface="Consolas"/>
                        </a:rPr>
                        <a:t>SelfTrainingClassifier</a:t>
                      </a:r>
                      <a:endParaRPr sz="14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400" b="0" i="0">
                          <a:solidFill>
                            <a:srgbClr val="1C252B"/>
                          </a:solidFill>
                          <a:latin typeface="Segoe UI"/>
                        </a:rPr>
                        <a:t>17</a:t>
                      </a:r>
                      <a:endParaRPr sz="14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400" b="0" i="0">
                          <a:solidFill>
                            <a:srgbClr val="1C252B"/>
                          </a:solidFill>
                          <a:latin typeface="Segoe UI"/>
                        </a:rPr>
                        <a:t>EM mixtures; semi-supervised wrapper</a:t>
                      </a:r>
                      <a:endParaRPr sz="14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447858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Pipelines and Data Leakage</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ACBD6"/>
                </a:solidFill>
                <a:latin typeface="Segoe UI"/>
              </a:rPr>
              <a:t>SECTION 6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3.6</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3.1   One Experiment, Start to Finish</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3.2   Examples, Features and Labels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3.3   Splitting the Data</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3.4   Preparing Features</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3.5   The scikit-learn Interface</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A5276"/>
                </a:solidFill>
                <a:latin typeface="Segoe UI"/>
              </a:rPr>
              <a:t>3.6   Pipelines and Data Leakage</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3.7   Baselines</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§3.6     </a:t>
            </a:r>
            <a:fld id="{62EC6018-20B1-46E2-A4A5-C1D8FDD182D4}" type="slidenum">
              <a:rPr lang="en-GB" sz="1000">
                <a:solidFill>
                  <a:srgbClr val="8795A1"/>
                </a:solidFill>
                <a:latin typeface="Segoe UI"/>
              </a:rPr>
              <a:t>19</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4727392"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Data Leakage</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§3.6  ·  Handout p. 23     </a:t>
            </a:r>
            <a:fld id="{BE6252E7-3809-4B7E-B5F3-2B4B25F7EB18}" type="slidenum">
              <a:rPr lang="en-GB" sz="1000">
                <a:solidFill>
                  <a:srgbClr val="8795A1"/>
                </a:solidFill>
                <a:latin typeface="Segoe UI"/>
              </a:rPr>
              <a:t>20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079955"/>
          </a:xfrm>
          <a:prstGeom prst="roundRect">
            <a:avLst>
              <a:gd name="adj" fmla="val 4396"/>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079955"/>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1" i="0">
                <a:solidFill>
                  <a:srgbClr val="1A5276"/>
                </a:solidFill>
                <a:latin typeface="Segoe UI"/>
              </a:rPr>
              <a:t>Data leakage</a:t>
            </a:r>
            <a:r>
              <a:rPr sz="2300" b="0" i="0">
                <a:solidFill>
                  <a:srgbClr val="1C252B"/>
                </a:solidFill>
                <a:latin typeface="Segoe UI"/>
              </a:rPr>
              <a:t> is any route by which information that will not be available at prediction time reaches the model during training or evaluation. Leakage makes evaluation scores optimistic, sometimes spectacularly so, and the model then fails in use.</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4976202"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Train–test contamination</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FIGURE 3.3</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§3.6  ·  Handout p. 23     </a:t>
            </a:r>
            <a:fld id="{A512C678-56FC-47AB-95DB-390B1FDC08D6}" type="slidenum">
              <a:rPr lang="en-GB" sz="1000">
                <a:solidFill>
                  <a:srgbClr val="8795A1"/>
                </a:solidFill>
                <a:latin typeface="Segoe UI"/>
              </a:rPr>
              <a:t>21</a:t>
            </a:fld>
          </a:p>
        </p:txBody>
      </p:sp>
      <p:pic>
        <p:nvPicPr>
          <p:cNvPr id="6" name="!!figure" descr="Figure 3.3. Train–test contamination. Fitting any preparation step before the split lets the test rows influence training; a pipeline fitted on the training data alone cannot make this mistake."/>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738391"/>
            <a:ext cx="10874959" cy="3734609"/>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Fitting any preparation step before the split lets the test rows influence training; a pipeline fitted on the training data alone cannot make this mistake.</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5225012"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Pipeline</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§3.6  ·  Handout p. 23     </a:t>
            </a:r>
            <a:fld id="{57727FA4-46CA-42CC-8106-D392706855D1}" type="slidenum">
              <a:rPr lang="en-GB" sz="1000">
                <a:solidFill>
                  <a:srgbClr val="8795A1"/>
                </a:solidFill>
                <a:latin typeface="Segoe UI"/>
              </a:rPr>
              <a:t>22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809036"/>
          </a:xfrm>
          <a:prstGeom prst="roundRect">
            <a:avLst>
              <a:gd name="adj" fmla="val 3255"/>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809036"/>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 scikit-learn </a:t>
            </a:r>
            <a:r>
              <a:rPr sz="2300" b="1" i="0">
                <a:solidFill>
                  <a:srgbClr val="1A5276"/>
                </a:solidFill>
                <a:latin typeface="Segoe UI"/>
              </a:rPr>
              <a:t>pipeline</a:t>
            </a:r>
            <a:r>
              <a:rPr sz="2300" b="0" i="0">
                <a:solidFill>
                  <a:srgbClr val="1C252B"/>
                </a:solidFill>
                <a:latin typeface="Segoe UI"/>
              </a:rPr>
              <a:t> chains transformers and a final estimator into one object with a single </a:t>
            </a:r>
            <a:r>
              <a:rPr sz="2150" b="0" i="0">
                <a:solidFill>
                  <a:srgbClr val="1F4E79"/>
                </a:solidFill>
                <a:latin typeface="Consolas"/>
              </a:rPr>
              <a:t>fit</a:t>
            </a:r>
            <a:r>
              <a:rPr sz="2300" b="0" i="0">
                <a:solidFill>
                  <a:srgbClr val="1C252B"/>
                </a:solidFill>
                <a:latin typeface="Segoe UI"/>
              </a:rPr>
              <a:t> and </a:t>
            </a:r>
            <a:r>
              <a:rPr sz="2150" b="0" i="0">
                <a:solidFill>
                  <a:srgbClr val="1F4E79"/>
                </a:solidFill>
                <a:latin typeface="Consolas"/>
              </a:rPr>
              <a:t>predict</a:t>
            </a:r>
            <a:r>
              <a:rPr sz="2300" b="0" i="0">
                <a:solidFill>
                  <a:srgbClr val="1C252B"/>
                </a:solidFill>
                <a:latin typeface="Segoe UI"/>
              </a:rPr>
              <a:t>. Because every step is fitted only when the pipeline is fitted, and only on the data passed to it, a pipeline used inside a split or a cross-validation loop cannot leak. A </a:t>
            </a:r>
            <a:r>
              <a:rPr sz="2150" b="0" i="0">
                <a:solidFill>
                  <a:srgbClr val="1F4E79"/>
                </a:solidFill>
                <a:latin typeface="Consolas"/>
              </a:rPr>
              <a:t>ColumnTransformer</a:t>
            </a:r>
            <a:r>
              <a:rPr sz="2300" b="0" i="0">
                <a:solidFill>
                  <a:srgbClr val="1C252B"/>
                </a:solidFill>
                <a:latin typeface="Segoe UI"/>
              </a:rPr>
              <a:t> applies different preparation to different columns — scaling to the numbers, one-hot encoding to the categories.</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5473822"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Baseline</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§3.7  ·  Handout p. 24     </a:t>
            </a:r>
            <a:fld id="{8E363817-7B8D-4368-84F1-3D3ED3C77114}" type="slidenum">
              <a:rPr lang="en-GB" sz="1000">
                <a:solidFill>
                  <a:srgbClr val="8795A1"/>
                </a:solidFill>
                <a:latin typeface="Segoe UI"/>
              </a:rPr>
              <a:t>23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079955"/>
          </a:xfrm>
          <a:prstGeom prst="roundRect">
            <a:avLst>
              <a:gd name="adj" fmla="val 4396"/>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079955"/>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 </a:t>
            </a:r>
            <a:r>
              <a:rPr sz="2300" b="1" i="0">
                <a:solidFill>
                  <a:srgbClr val="1A5276"/>
                </a:solidFill>
                <a:latin typeface="Segoe UI"/>
              </a:rPr>
              <a:t>baseline</a:t>
            </a:r>
            <a:r>
              <a:rPr sz="2300" b="0" i="0">
                <a:solidFill>
                  <a:srgbClr val="1C252B"/>
                </a:solidFill>
                <a:latin typeface="Segoe UI"/>
              </a:rPr>
              <a:t> is the score of the simplest possible predictor: always predict the most common class (classification) or always predict the training mean (regression). Every model must be compared with it, and a model that does not beat it clearly has learned nothing useful.</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5722632"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§3.7  ·  Handout p. 24     </a:t>
            </a:r>
            <a:fld id="{2B0BD3E6-804B-4999-91F2-174019DE54BD}" type="slidenum">
              <a:rPr lang="en-GB" sz="1000">
                <a:solidFill>
                  <a:srgbClr val="8795A1"/>
                </a:solidFill>
                <a:latin typeface="Segoe UI"/>
              </a:rPr>
              <a:t>24</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Preparing before splitting.</a:t>
            </a:r>
            <a:r>
              <a:rPr sz="2100" b="0" i="0">
                <a:solidFill>
                  <a:srgbClr val="1C252B"/>
                </a:solidFill>
                <a:latin typeface="Segoe UI"/>
              </a:rPr>
              <a:t> Imputing, scaling or selecting features on the full dataset leaks the test set into training. Put every step in a pipeline.</a:t>
            </a:r>
          </a:p>
        </p:txBody>
      </p:sp>
      <p:sp>
        <p:nvSpPr>
          <p:cNvPr id="10" name="!!pb1">
            <a:extLst>
              <a:ext uri="{C183D7F6-B498-43B3-948B-1728B52AA6E4}">
                <adec:decorative xmlns:adec="http://schemas.microsoft.com/office/drawing/2017/decorative" val="1"/>
              </a:ext>
            </a:extLst>
          </p:cNvPr>
          <p:cNvSpPr/>
          <p:nvPr/>
        </p:nvSpPr>
        <p:spPr>
          <a:xfrm>
            <a:off x="658368" y="2622499"/>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645359"/>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604211"/>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Using the test set to choose.</a:t>
            </a:r>
            <a:r>
              <a:rPr sz="2100" b="0" i="0">
                <a:solidFill>
                  <a:srgbClr val="1C252B"/>
                </a:solidFill>
                <a:latin typeface="Segoe UI"/>
              </a:rPr>
              <a:t> Every look at the test set that changes a decision turns it into a validation set. Use it once.</a:t>
            </a:r>
          </a:p>
        </p:txBody>
      </p:sp>
      <p:sp>
        <p:nvSpPr>
          <p:cNvPr id="13" name="!!pb2">
            <a:extLst>
              <a:ext uri="{C183D7F6-B498-43B3-948B-1728B52AA6E4}">
                <adec:decorative xmlns:adec="http://schemas.microsoft.com/office/drawing/2017/decorative" val="1"/>
              </a:ext>
            </a:extLst>
          </p:cNvPr>
          <p:cNvSpPr/>
          <p:nvPr/>
        </p:nvSpPr>
        <p:spPr>
          <a:xfrm>
            <a:off x="658368" y="3489350"/>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512210"/>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471062"/>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Label-encoding a nominal feature.</a:t>
            </a:r>
            <a:r>
              <a:rPr sz="2100" b="0" i="0">
                <a:solidFill>
                  <a:srgbClr val="1C252B"/>
                </a:solidFill>
                <a:latin typeface="Segoe UI"/>
              </a:rPr>
              <a:t> Programme codes 1, 2, 3 impose an order that does not exist. One-hot encode.</a:t>
            </a:r>
          </a:p>
        </p:txBody>
      </p:sp>
      <p:sp>
        <p:nvSpPr>
          <p:cNvPr id="16" name="!!pb3">
            <a:extLst>
              <a:ext uri="{C183D7F6-B498-43B3-948B-1728B52AA6E4}">
                <adec:decorative xmlns:adec="http://schemas.microsoft.com/office/drawing/2017/decorative" val="1"/>
              </a:ext>
            </a:extLst>
          </p:cNvPr>
          <p:cNvSpPr/>
          <p:nvPr/>
        </p:nvSpPr>
        <p:spPr>
          <a:xfrm>
            <a:off x="658368" y="4356201"/>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4379061"/>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4337913"/>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Keeping an identifier.</a:t>
            </a:r>
            <a:r>
              <a:rPr sz="2100" b="0" i="0">
                <a:solidFill>
                  <a:srgbClr val="1C252B"/>
                </a:solidFill>
                <a:latin typeface="Segoe UI"/>
              </a:rPr>
              <a:t> If </a:t>
            </a:r>
            <a:r>
              <a:rPr sz="1950" b="0" i="0">
                <a:solidFill>
                  <a:srgbClr val="1F4E79"/>
                </a:solidFill>
                <a:latin typeface="Consolas"/>
              </a:rPr>
              <a:t>student_id</a:t>
            </a:r>
            <a:r>
              <a:rPr sz="2100" b="0" i="0">
                <a:solidFill>
                  <a:srgbClr val="1C252B"/>
                </a:solidFill>
                <a:latin typeface="Segoe UI"/>
              </a:rPr>
              <a:t> improves accuracy, IDs were assigned in a way that encodes the outcome — a leak.</a:t>
            </a:r>
          </a:p>
        </p:txBody>
      </p:sp>
      <p:sp>
        <p:nvSpPr>
          <p:cNvPr id="19" name="!!pb4">
            <a:extLst>
              <a:ext uri="{C183D7F6-B498-43B3-948B-1728B52AA6E4}">
                <adec:decorative xmlns:adec="http://schemas.microsoft.com/office/drawing/2017/decorative" val="1"/>
              </a:ext>
            </a:extLst>
          </p:cNvPr>
          <p:cNvSpPr/>
          <p:nvPr/>
        </p:nvSpPr>
        <p:spPr>
          <a:xfrm>
            <a:off x="658368" y="5223052"/>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5245912"/>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5204764"/>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Reporting a score without the baseline.</a:t>
            </a:r>
            <a:r>
              <a:rPr sz="2100" b="0" i="0">
                <a:solidFill>
                  <a:srgbClr val="1C252B"/>
                </a:solidFill>
                <a:latin typeface="Segoe UI"/>
              </a:rPr>
              <a:t> “92% accurate” is meaningless until you know that “always no” scores 90%.</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5971442"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Four lenses: Preparing the Data</a:t>
            </a:r>
          </a:p>
        </p:txBody>
      </p:sp>
      <p:pic>
        <p:nvPicPr>
          <p:cNvPr id="3" name="!!kicker-icon" descr="compass-123953.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23953"/>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26     </a:t>
            </a:r>
            <a:fld id="{DB03EFE6-0070-4EE7-B092-9C62F02E4211}" type="slidenum">
              <a:rPr lang="en-GB" sz="1000">
                <a:solidFill>
                  <a:srgbClr val="8795A1"/>
                </a:solidFill>
                <a:latin typeface="Segoe UI"/>
              </a:rPr>
              <a:t>25</a:t>
            </a:fld>
          </a:p>
        </p:txBody>
      </p:sp>
      <p:sp>
        <p:nvSpPr>
          <p:cNvPr id="7" name="!!lens-LA">
            <a:extLst>
              <a:ext uri="{C183D7F6-B498-43B3-948B-1728B52AA6E4}">
                <adec:decorative xmlns:adec="http://schemas.microsoft.com/office/drawing/2017/decorative" val="1"/>
              </a:ext>
            </a:extLst>
          </p:cNvPr>
          <p:cNvSpPr/>
          <p:nvPr/>
        </p:nvSpPr>
        <p:spPr>
          <a:xfrm>
            <a:off x="658368" y="1737360"/>
            <a:ext cx="5318607" cy="2176272"/>
          </a:xfrm>
          <a:prstGeom prst="roundRect">
            <a:avLst>
              <a:gd name="adj" fmla="val 4201"/>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LA">
            <a:extLst>
              <a:ext uri="{C183D7F6-B498-43B3-948B-1728B52AA6E4}">
                <adec:decorative xmlns:adec="http://schemas.microsoft.com/office/drawing/2017/decorative" val="1"/>
              </a:ext>
            </a:extLst>
          </p:cNvPr>
          <p:cNvSpPr/>
          <p:nvPr/>
        </p:nvSpPr>
        <p:spPr>
          <a:xfrm>
            <a:off x="658368" y="1737360"/>
            <a:ext cx="5318607"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LA">
            <a:extLst>
              <a:ext uri="{C183D7F6-B498-43B3-948B-1728B52AA6E4}">
                <adec:decorative xmlns:adec="http://schemas.microsoft.com/office/drawing/2017/decorative" val="1"/>
              </a:ext>
            </a:extLst>
          </p:cNvPr>
          <p:cNvSpPr/>
          <p:nvPr/>
        </p:nvSpPr>
        <p:spPr>
          <a:xfrm>
            <a:off x="658368" y="2121408"/>
            <a:ext cx="5318607"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LA" descr="graduation-ca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419498" cy="256032"/>
          </a:xfrm>
          <a:prstGeom prst="rect">
            <a:avLst/>
          </a:prstGeom>
        </p:spPr>
      </p:pic>
      <p:sp>
        <p:nvSpPr>
          <p:cNvPr id="11" name="!!lensn-LA"/>
          <p:cNvSpPr txBox="1"/>
          <p:nvPr/>
        </p:nvSpPr>
        <p:spPr>
          <a:xfrm>
            <a:off x="1425337" y="1837943"/>
            <a:ext cx="4460197"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LEARNING ANALYTICS</a:t>
            </a:r>
          </a:p>
        </p:txBody>
      </p:sp>
      <p:sp>
        <p:nvSpPr>
          <p:cNvPr id="12" name="!!lensb-LA-0"/>
          <p:cNvSpPr txBox="1"/>
          <p:nvPr/>
        </p:nvSpPr>
        <p:spPr>
          <a:xfrm>
            <a:off x="896112" y="2414016"/>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Missing quiz marks are not random: the students who skip quizzes are the ones at risk.</a:t>
            </a:r>
          </a:p>
        </p:txBody>
      </p:sp>
      <p:sp>
        <p:nvSpPr>
          <p:cNvPr id="13" name="!!lens-PM">
            <a:extLst>
              <a:ext uri="{C183D7F6-B498-43B3-948B-1728B52AA6E4}">
                <adec:decorative xmlns:adec="http://schemas.microsoft.com/office/drawing/2017/decorative" val="1"/>
              </a:ext>
            </a:extLst>
          </p:cNvPr>
          <p:cNvSpPr/>
          <p:nvPr/>
        </p:nvSpPr>
        <p:spPr>
          <a:xfrm>
            <a:off x="6214719" y="1737360"/>
            <a:ext cx="5318607" cy="2176272"/>
          </a:xfrm>
          <a:prstGeom prst="roundRect">
            <a:avLst>
              <a:gd name="adj" fmla="val 4201"/>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PM">
            <a:extLst>
              <a:ext uri="{C183D7F6-B498-43B3-948B-1728B52AA6E4}">
                <adec:decorative xmlns:adec="http://schemas.microsoft.com/office/drawing/2017/decorative" val="1"/>
              </a:ext>
            </a:extLst>
          </p:cNvPr>
          <p:cNvSpPr/>
          <p:nvPr/>
        </p:nvSpPr>
        <p:spPr>
          <a:xfrm>
            <a:off x="6214719" y="1737360"/>
            <a:ext cx="5318607"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PM">
            <a:extLst>
              <a:ext uri="{C183D7F6-B498-43B3-948B-1728B52AA6E4}">
                <adec:decorative xmlns:adec="http://schemas.microsoft.com/office/drawing/2017/decorative" val="1"/>
              </a:ext>
            </a:extLst>
          </p:cNvPr>
          <p:cNvSpPr/>
          <p:nvPr/>
        </p:nvSpPr>
        <p:spPr>
          <a:xfrm>
            <a:off x="6214719" y="2121408"/>
            <a:ext cx="5318607"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PM" descr="tasks-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415887" y="1856231"/>
            <a:ext cx="301783" cy="256032"/>
          </a:xfrm>
          <a:prstGeom prst="rect">
            <a:avLst/>
          </a:prstGeom>
        </p:spPr>
      </p:pic>
      <p:sp>
        <p:nvSpPr>
          <p:cNvPr id="17" name="!!lensn-PM"/>
          <p:cNvSpPr txBox="1"/>
          <p:nvPr/>
        </p:nvSpPr>
        <p:spPr>
          <a:xfrm>
            <a:off x="6863974" y="1837943"/>
            <a:ext cx="4577912"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PROJECT MANAGEMENT</a:t>
            </a:r>
          </a:p>
        </p:txBody>
      </p:sp>
      <p:sp>
        <p:nvSpPr>
          <p:cNvPr id="18" name="!!lensb-PM-0"/>
          <p:cNvSpPr txBox="1"/>
          <p:nvPr/>
        </p:nvSpPr>
        <p:spPr>
          <a:xfrm>
            <a:off x="6452463" y="2414016"/>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Project data is small and full of categories — team, project type, technology stack.</a:t>
            </a:r>
          </a:p>
        </p:txBody>
      </p:sp>
      <p:sp>
        <p:nvSpPr>
          <p:cNvPr id="19" name="!!lens-IOT">
            <a:extLst>
              <a:ext uri="{C183D7F6-B498-43B3-948B-1728B52AA6E4}">
                <adec:decorative xmlns:adec="http://schemas.microsoft.com/office/drawing/2017/decorative" val="1"/>
              </a:ext>
            </a:extLst>
          </p:cNvPr>
          <p:cNvSpPr/>
          <p:nvPr/>
        </p:nvSpPr>
        <p:spPr>
          <a:xfrm>
            <a:off x="658368" y="4133087"/>
            <a:ext cx="5318607" cy="2176272"/>
          </a:xfrm>
          <a:prstGeom prst="roundRect">
            <a:avLst>
              <a:gd name="adj" fmla="val 4201"/>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IOT">
            <a:extLst>
              <a:ext uri="{C183D7F6-B498-43B3-948B-1728B52AA6E4}">
                <adec:decorative xmlns:adec="http://schemas.microsoft.com/office/drawing/2017/decorative" val="1"/>
              </a:ext>
            </a:extLst>
          </p:cNvPr>
          <p:cNvSpPr/>
          <p:nvPr/>
        </p:nvSpPr>
        <p:spPr>
          <a:xfrm>
            <a:off x="658368" y="4133087"/>
            <a:ext cx="5318607"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lensh2-IOT">
            <a:extLst>
              <a:ext uri="{C183D7F6-B498-43B3-948B-1728B52AA6E4}">
                <adec:decorative xmlns:adec="http://schemas.microsoft.com/office/drawing/2017/decorative" val="1"/>
              </a:ext>
            </a:extLst>
          </p:cNvPr>
          <p:cNvSpPr/>
          <p:nvPr/>
        </p:nvSpPr>
        <p:spPr>
          <a:xfrm>
            <a:off x="658368" y="4517136"/>
            <a:ext cx="5318607"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2"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59536" y="4251959"/>
            <a:ext cx="256032" cy="256032"/>
          </a:xfrm>
          <a:prstGeom prst="rect">
            <a:avLst/>
          </a:prstGeom>
        </p:spPr>
      </p:pic>
      <p:sp>
        <p:nvSpPr>
          <p:cNvPr id="23" name="!!lensn-IOT"/>
          <p:cNvSpPr txBox="1"/>
          <p:nvPr/>
        </p:nvSpPr>
        <p:spPr>
          <a:xfrm>
            <a:off x="1261872" y="4233672"/>
            <a:ext cx="4623663"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INTERNET OF THINGS</a:t>
            </a:r>
          </a:p>
        </p:txBody>
      </p:sp>
      <p:sp>
        <p:nvSpPr>
          <p:cNvPr id="24" name="!!lensb-IOT-0"/>
          <p:cNvSpPr txBox="1"/>
          <p:nvPr/>
        </p:nvSpPr>
        <p:spPr>
          <a:xfrm>
            <a:off x="896112" y="4809744"/>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Sensor data is ordered in time, so split by time: train on January to September, validate on October, test on November.</a:t>
            </a:r>
          </a:p>
        </p:txBody>
      </p:sp>
      <p:sp>
        <p:nvSpPr>
          <p:cNvPr id="25" name="!!lens-SEC">
            <a:extLst>
              <a:ext uri="{C183D7F6-B498-43B3-948B-1728B52AA6E4}">
                <adec:decorative xmlns:adec="http://schemas.microsoft.com/office/drawing/2017/decorative" val="1"/>
              </a:ext>
            </a:extLst>
          </p:cNvPr>
          <p:cNvSpPr/>
          <p:nvPr/>
        </p:nvSpPr>
        <p:spPr>
          <a:xfrm>
            <a:off x="6214719" y="4133087"/>
            <a:ext cx="5318607" cy="2176272"/>
          </a:xfrm>
          <a:prstGeom prst="roundRect">
            <a:avLst>
              <a:gd name="adj" fmla="val 4201"/>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lensh-SEC">
            <a:extLst>
              <a:ext uri="{C183D7F6-B498-43B3-948B-1728B52AA6E4}">
                <adec:decorative xmlns:adec="http://schemas.microsoft.com/office/drawing/2017/decorative" val="1"/>
              </a:ext>
            </a:extLst>
          </p:cNvPr>
          <p:cNvSpPr/>
          <p:nvPr/>
        </p:nvSpPr>
        <p:spPr>
          <a:xfrm>
            <a:off x="6214719" y="4133087"/>
            <a:ext cx="5318607"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lensh2-SEC">
            <a:extLst>
              <a:ext uri="{C183D7F6-B498-43B3-948B-1728B52AA6E4}">
                <adec:decorative xmlns:adec="http://schemas.microsoft.com/office/drawing/2017/decorative" val="1"/>
              </a:ext>
            </a:extLst>
          </p:cNvPr>
          <p:cNvSpPr/>
          <p:nvPr/>
        </p:nvSpPr>
        <p:spPr>
          <a:xfrm>
            <a:off x="6214719" y="4517136"/>
            <a:ext cx="5318607"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8"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415887" y="4251959"/>
            <a:ext cx="256032" cy="256032"/>
          </a:xfrm>
          <a:prstGeom prst="rect">
            <a:avLst/>
          </a:prstGeom>
        </p:spPr>
      </p:pic>
      <p:sp>
        <p:nvSpPr>
          <p:cNvPr id="29" name="!!lensn-SEC"/>
          <p:cNvSpPr txBox="1"/>
          <p:nvPr/>
        </p:nvSpPr>
        <p:spPr>
          <a:xfrm>
            <a:off x="6818223" y="4233672"/>
            <a:ext cx="4623663"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CYBERSECURITY</a:t>
            </a:r>
          </a:p>
        </p:txBody>
      </p:sp>
      <p:sp>
        <p:nvSpPr>
          <p:cNvPr id="30" name="!!lensb-SEC-0"/>
          <p:cNvSpPr txBox="1"/>
          <p:nvPr/>
        </p:nvSpPr>
        <p:spPr>
          <a:xfrm>
            <a:off x="6452463" y="4809744"/>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The classic security leak is a feature derived from the analyst’s verdict — a “ticket escalated” flag, a signature name — that exists only because the event was already known to be malicious.</a:t>
            </a:r>
          </a:p>
        </p:txBody>
      </p:sp>
      <p:sp>
        <p:nvSpPr>
          <p:cNvPr id="3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pfill">
            <a:extLst>
              <a:ext uri="{C183D7F6-B498-43B3-948B-1728B52AA6E4}">
                <adec:decorative xmlns:adec="http://schemas.microsoft.com/office/drawing/2017/decorative" val="1"/>
              </a:ext>
            </a:extLst>
          </p:cNvPr>
          <p:cNvSpPr/>
          <p:nvPr/>
        </p:nvSpPr>
        <p:spPr>
          <a:xfrm>
            <a:off x="0" y="0"/>
            <a:ext cx="6220252"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Learning Analytics: Preparing the Data</a:t>
            </a:r>
          </a:p>
        </p:txBody>
      </p:sp>
      <p:pic>
        <p:nvPicPr>
          <p:cNvPr id="3" name="!!kicker-icon" descr="compass-6C3483.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6C3483"/>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26     </a:t>
            </a:r>
            <a:fld id="{E575B923-157C-4F19-B9A1-DD1E448D3636}" type="slidenum">
              <a:rPr lang="en-GB" sz="1000">
                <a:solidFill>
                  <a:srgbClr val="8795A1"/>
                </a:solidFill>
                <a:latin typeface="Segoe UI"/>
              </a:rPr>
              <a:t>26</a:t>
            </a:fld>
          </a:p>
        </p:txBody>
      </p:sp>
      <p:sp>
        <p:nvSpPr>
          <p:cNvPr id="7" name="!!lens-LA">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6F3F8"/>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LA">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LA">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LA" descr="graduation-ca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419498" cy="256032"/>
          </a:xfrm>
          <a:prstGeom prst="rect">
            <a:avLst/>
          </a:prstGeom>
        </p:spPr>
      </p:pic>
      <p:sp>
        <p:nvSpPr>
          <p:cNvPr id="11" name="!!lensn-LA"/>
          <p:cNvSpPr txBox="1"/>
          <p:nvPr/>
        </p:nvSpPr>
        <p:spPr>
          <a:xfrm>
            <a:off x="1425337" y="1837943"/>
            <a:ext cx="7181909"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LEARNING ANALYTICS</a:t>
            </a:r>
          </a:p>
        </p:txBody>
      </p:sp>
      <p:sp>
        <p:nvSpPr>
          <p:cNvPr id="12" name="!!lensb-LA-0"/>
          <p:cNvSpPr txBox="1"/>
          <p:nvPr/>
        </p:nvSpPr>
        <p:spPr>
          <a:xfrm>
            <a:off x="896112" y="2432304"/>
            <a:ext cx="758311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Missing quiz marks are not random: the students who skip quizzes are the ones at risk. Impute, but add a </a:t>
            </a:r>
            <a:r>
              <a:rPr sz="2050" b="0" i="0">
                <a:solidFill>
                  <a:srgbClr val="1F4E79"/>
                </a:solidFill>
                <a:latin typeface="Consolas"/>
              </a:rPr>
              <a:t>quiz_missing</a:t>
            </a:r>
            <a:r>
              <a:rPr sz="2200" b="0" i="0">
                <a:solidFill>
                  <a:srgbClr val="1C252B"/>
                </a:solidFill>
                <a:latin typeface="Segoe UI"/>
              </a:rPr>
              <a:t> column, and it will often be one of the strongest features in the model. Split by student, never by row, if a student has several records.</a:t>
            </a:r>
          </a:p>
        </p:txBody>
      </p:sp>
      <p:sp>
        <p:nvSpPr>
          <p:cNvPr id="13" name="!!lens-PM">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PM">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PM">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PM" descr="tasks-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301783" cy="256032"/>
          </a:xfrm>
          <a:prstGeom prst="rect">
            <a:avLst/>
          </a:prstGeom>
        </p:spPr>
      </p:pic>
      <p:sp>
        <p:nvSpPr>
          <p:cNvPr id="17" name="!!lensn-PM"/>
          <p:cNvSpPr txBox="1"/>
          <p:nvPr/>
        </p:nvSpPr>
        <p:spPr>
          <a:xfrm>
            <a:off x="9585686" y="1837943"/>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18" name="!!lens-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IOT">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256032" cy="256032"/>
          </a:xfrm>
          <a:prstGeom prst="rect">
            <a:avLst/>
          </a:prstGeom>
        </p:spPr>
      </p:pic>
      <p:sp>
        <p:nvSpPr>
          <p:cNvPr id="22" name="!!lensn-IOT"/>
          <p:cNvSpPr txBox="1"/>
          <p:nvPr/>
        </p:nvSpPr>
        <p:spPr>
          <a:xfrm>
            <a:off x="9539935" y="2496312"/>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6469062"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Project Management: Preparing the Data</a:t>
            </a:r>
          </a:p>
        </p:txBody>
      </p:sp>
      <p:pic>
        <p:nvPicPr>
          <p:cNvPr id="3" name="!!kicker-icon" descr="compass-1F618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F618D"/>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26     </a:t>
            </a:r>
            <a:fld id="{B22A32B1-6B50-468F-AA95-2642F1E18BE5}" type="slidenum">
              <a:rPr lang="en-GB" sz="1000">
                <a:solidFill>
                  <a:srgbClr val="8795A1"/>
                </a:solidFill>
                <a:latin typeface="Segoe UI"/>
              </a:rPr>
              <a:t>27</a:t>
            </a:fld>
          </a:p>
        </p:txBody>
      </p:sp>
      <p:sp>
        <p:nvSpPr>
          <p:cNvPr id="7" name="!!lens-PM">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2F6F8"/>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PM">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PM">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PM" descr="tasks-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301783" cy="256032"/>
          </a:xfrm>
          <a:prstGeom prst="rect">
            <a:avLst/>
          </a:prstGeom>
        </p:spPr>
      </p:pic>
      <p:sp>
        <p:nvSpPr>
          <p:cNvPr id="11" name="!!lensn-PM"/>
          <p:cNvSpPr txBox="1"/>
          <p:nvPr/>
        </p:nvSpPr>
        <p:spPr>
          <a:xfrm>
            <a:off x="1307622" y="1837943"/>
            <a:ext cx="7299624"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PROJECT MANAGEMENT</a:t>
            </a:r>
          </a:p>
        </p:txBody>
      </p:sp>
      <p:sp>
        <p:nvSpPr>
          <p:cNvPr id="12" name="!!lensb-PM-0"/>
          <p:cNvSpPr txBox="1"/>
          <p:nvPr/>
        </p:nvSpPr>
        <p:spPr>
          <a:xfrm>
            <a:off x="896112" y="2432304"/>
            <a:ext cx="758311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Project data is small and full of categories — team, project type, technology stack. One-hot encoding thirty technologies across two hundred projects gives most columns only a handful of ones; group the rare categories into “other” before encoding.</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IOT">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256032" cy="256032"/>
          </a:xfrm>
          <a:prstGeom prst="rect">
            <a:avLst/>
          </a:prstGeom>
        </p:spPr>
      </p:pic>
      <p:sp>
        <p:nvSpPr>
          <p:cNvPr id="22" name="!!lensn-IOT"/>
          <p:cNvSpPr txBox="1"/>
          <p:nvPr/>
        </p:nvSpPr>
        <p:spPr>
          <a:xfrm>
            <a:off x="9539935" y="2496312"/>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6717872"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Internet of Things: Preparing the Data</a:t>
            </a:r>
          </a:p>
        </p:txBody>
      </p:sp>
      <p:pic>
        <p:nvPicPr>
          <p:cNvPr id="3" name="!!kicker-icon" descr="compass-117864.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864"/>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26     </a:t>
            </a:r>
            <a:fld id="{7286B2BA-0E90-4945-81E7-43B24341550E}" type="slidenum">
              <a:rPr lang="en-GB" sz="1000">
                <a:solidFill>
                  <a:srgbClr val="8795A1"/>
                </a:solidFill>
                <a:latin typeface="Segoe UI"/>
              </a:rPr>
              <a:t>28</a:t>
            </a:fld>
          </a:p>
        </p:txBody>
      </p:sp>
      <p:sp>
        <p:nvSpPr>
          <p:cNvPr id="7" name="!!lens-IOT">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1F7F6"/>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IOT">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IOT">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IOT" descr="microchi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256032" cy="256032"/>
          </a:xfrm>
          <a:prstGeom prst="rect">
            <a:avLst/>
          </a:prstGeom>
        </p:spPr>
      </p:pic>
      <p:sp>
        <p:nvSpPr>
          <p:cNvPr id="11" name="!!lensn-IOT"/>
          <p:cNvSpPr txBox="1"/>
          <p:nvPr/>
        </p:nvSpPr>
        <p:spPr>
          <a:xfrm>
            <a:off x="1261872" y="1837943"/>
            <a:ext cx="7345375"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INTERNET OF THINGS</a:t>
            </a:r>
          </a:p>
        </p:txBody>
      </p:sp>
      <p:sp>
        <p:nvSpPr>
          <p:cNvPr id="12" name="!!lensb-IOT-0"/>
          <p:cNvSpPr txBox="1"/>
          <p:nvPr/>
        </p:nvSpPr>
        <p:spPr>
          <a:xfrm>
            <a:off x="896112" y="2432304"/>
            <a:ext cx="758311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Sensor data is ordered in time, so split by time: train on January to September, validate on October, test on November. A random split puts readings from the same minute on both sides, and the test score measures interpolation, not forecasting.</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PM">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PM" descr="tasks-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301783" cy="256032"/>
          </a:xfrm>
          <a:prstGeom prst="rect">
            <a:avLst/>
          </a:prstGeom>
        </p:spPr>
      </p:pic>
      <p:sp>
        <p:nvSpPr>
          <p:cNvPr id="22" name="!!lensn-PM"/>
          <p:cNvSpPr txBox="1"/>
          <p:nvPr/>
        </p:nvSpPr>
        <p:spPr>
          <a:xfrm>
            <a:off x="9585686" y="2496312"/>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6966682"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Cybersecurity: Preparing the Data</a:t>
            </a:r>
          </a:p>
        </p:txBody>
      </p:sp>
      <p:pic>
        <p:nvPicPr>
          <p:cNvPr id="3" name="!!kicker-icon" descr="compass-922B2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922B21"/>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26     </a:t>
            </a:r>
            <a:fld id="{9BF9D76F-C817-4E1A-8B78-52EA657D0F12}" type="slidenum">
              <a:rPr lang="en-GB" sz="1000">
                <a:solidFill>
                  <a:srgbClr val="8795A1"/>
                </a:solidFill>
                <a:latin typeface="Segoe UI"/>
              </a:rPr>
              <a:t>29</a:t>
            </a:fld>
          </a:p>
        </p:txBody>
      </p:sp>
      <p:sp>
        <p:nvSpPr>
          <p:cNvPr id="7" name="!!lens-SEC">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8F2F2"/>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SEC">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SEC">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SEC" descr="shield-alt-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256032" cy="256032"/>
          </a:xfrm>
          <a:prstGeom prst="rect">
            <a:avLst/>
          </a:prstGeom>
        </p:spPr>
      </p:pic>
      <p:sp>
        <p:nvSpPr>
          <p:cNvPr id="11" name="!!lensn-SEC"/>
          <p:cNvSpPr txBox="1"/>
          <p:nvPr/>
        </p:nvSpPr>
        <p:spPr>
          <a:xfrm>
            <a:off x="1261872" y="1837943"/>
            <a:ext cx="7345375"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CYBERSECURITY</a:t>
            </a:r>
          </a:p>
        </p:txBody>
      </p:sp>
      <p:sp>
        <p:nvSpPr>
          <p:cNvPr id="12" name="!!lensb-SEC-0"/>
          <p:cNvSpPr txBox="1"/>
          <p:nvPr/>
        </p:nvSpPr>
        <p:spPr>
          <a:xfrm>
            <a:off x="896112" y="2432304"/>
            <a:ext cx="7583119" cy="2137867"/>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The classic security leak is a feature derived from the analyst’s verdict — a “ticket escalated” flag, a signature name — that exists only because the event was already known to be malicious. Ask of every feature: would this value exist, with this value, at the moment the model has to decide?</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PM">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PM" descr="tasks-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301783" cy="256032"/>
          </a:xfrm>
          <a:prstGeom prst="rect">
            <a:avLst/>
          </a:prstGeom>
        </p:spPr>
      </p:pic>
      <p:sp>
        <p:nvSpPr>
          <p:cNvPr id="22" name="!!lensn-PM"/>
          <p:cNvSpPr txBox="1"/>
          <p:nvPr/>
        </p:nvSpPr>
        <p:spPr>
          <a:xfrm>
            <a:off x="9585686" y="2496312"/>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23" name="!!lens-IOT">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IOT">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IOT">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IOT" descr="microchip-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IOT"/>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721549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A Leak-Proof Pipeline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§3.7  ·  Handout p. 24     </a:t>
            </a:r>
            <a:fld id="{2241AA49-2941-4CC7-8D30-B4E098389E6F}" type="slidenum">
              <a:rPr lang="en-GB" sz="1000">
                <a:solidFill>
                  <a:srgbClr val="8795A1"/>
                </a:solidFill>
                <a:latin typeface="Segoe UI"/>
              </a:rPr>
              <a:t>30</a:t>
            </a:fld>
          </a:p>
        </p:txBody>
      </p:sp>
      <p:sp>
        <p:nvSpPr>
          <p:cNvPr id="7" name="body-0"/>
          <p:cNvSpPr txBox="1"/>
          <p:nvPr/>
        </p:nvSpPr>
        <p:spPr>
          <a:xfrm>
            <a:off x="658368" y="1737360"/>
            <a:ext cx="10874959"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A synthetic cohort of 600 students with a missing-value problem and one categorical feature. The whole workflow, in the order of Figure 3.1.</a:t>
            </a:r>
          </a:p>
        </p:txBody>
      </p:sp>
      <p:sp>
        <p:nvSpPr>
          <p:cNvPr id="8" name="!!labsteps-h"/>
          <p:cNvSpPr txBox="1"/>
          <p:nvPr/>
        </p:nvSpPr>
        <p:spPr>
          <a:xfrm>
            <a:off x="658368" y="2682240"/>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9" name="!!labsteps"/>
          <p:cNvSpPr txBox="1"/>
          <p:nvPr/>
        </p:nvSpPr>
        <p:spPr>
          <a:xfrm>
            <a:off x="658368" y="3066288"/>
            <a:ext cx="10874959" cy="1828799"/>
          </a:xfrm>
          <a:prstGeom prst="rect">
            <a:avLst/>
          </a:prstGeom>
          <a:noFill/>
        </p:spPr>
        <p:txBody>
          <a:bodyPr wrap="square" anchor="t" lIns="0" rIns="0" tIns="0" bIns="0">
            <a:noAutofit/>
          </a:bodyPr>
          <a:lstStyle/>
          <a:p>
            <a:pPr algn="l" marL="459473" indent="-459473">
              <a:lnSpc>
                <a:spcPct val="100000"/>
              </a:lnSpc>
              <a:spcBef>
                <a:spcPts val="0"/>
              </a:spcBef>
              <a:spcAft>
                <a:spcPts val="570"/>
              </a:spcAft>
            </a:pPr>
            <a:r>
              <a:rPr sz="1900" b="1">
                <a:solidFill>
                  <a:srgbClr val="117A65"/>
                </a:solidFill>
                <a:latin typeface="Segoe UI"/>
              </a:rPr>
              <a:t>1.	</a:t>
            </a:r>
            <a:r>
              <a:rPr sz="1900" b="0" i="0">
                <a:solidFill>
                  <a:srgbClr val="1C252B"/>
                </a:solidFill>
                <a:latin typeface="Segoe UI"/>
              </a:rPr>
              <a:t>A synthetic cohort of 600 students, with gaps</a:t>
            </a:r>
          </a:p>
          <a:p>
            <a:pPr algn="l" marL="459473" indent="-459473">
              <a:lnSpc>
                <a:spcPct val="100000"/>
              </a:lnSpc>
              <a:spcBef>
                <a:spcPts val="0"/>
              </a:spcBef>
              <a:spcAft>
                <a:spcPts val="570"/>
              </a:spcAft>
            </a:pPr>
            <a:r>
              <a:rPr sz="1900" b="1">
                <a:solidFill>
                  <a:srgbClr val="117A65"/>
                </a:solidFill>
                <a:latin typeface="Segoe UI"/>
              </a:rPr>
              <a:t>2.	</a:t>
            </a:r>
            <a:r>
              <a:rPr sz="1900" b="0" i="0">
                <a:solidFill>
                  <a:srgbClr val="1C252B"/>
                </a:solidFill>
                <a:latin typeface="Segoe UI"/>
              </a:rPr>
              <a:t>Split FIRST; the test set is locked away</a:t>
            </a:r>
          </a:p>
          <a:p>
            <a:pPr algn="l" marL="459473" indent="-459473">
              <a:lnSpc>
                <a:spcPct val="100000"/>
              </a:lnSpc>
              <a:spcBef>
                <a:spcPts val="0"/>
              </a:spcBef>
              <a:spcAft>
                <a:spcPts val="570"/>
              </a:spcAft>
            </a:pPr>
            <a:r>
              <a:rPr sz="1900" b="1">
                <a:solidFill>
                  <a:srgbClr val="117A65"/>
                </a:solidFill>
                <a:latin typeface="Segoe UI"/>
              </a:rPr>
              <a:t>3.	</a:t>
            </a:r>
            <a:r>
              <a:rPr sz="1900" b="0" i="0">
                <a:solidFill>
                  <a:srgbClr val="1C252B"/>
                </a:solidFill>
                <a:latin typeface="Segoe UI"/>
              </a:rPr>
              <a:t>Every preparation step lives inside the pipeline</a:t>
            </a:r>
          </a:p>
          <a:p>
            <a:pPr algn="l" marL="459473" indent="-459473">
              <a:lnSpc>
                <a:spcPct val="100000"/>
              </a:lnSpc>
              <a:spcBef>
                <a:spcPts val="0"/>
              </a:spcBef>
              <a:spcAft>
                <a:spcPts val="570"/>
              </a:spcAft>
            </a:pPr>
            <a:r>
              <a:rPr sz="1900" b="1">
                <a:solidFill>
                  <a:srgbClr val="117A65"/>
                </a:solidFill>
                <a:latin typeface="Segoe UI"/>
              </a:rPr>
              <a:t>4.	</a:t>
            </a:r>
            <a:r>
              <a:rPr sz="1900" b="0" i="0">
                <a:solidFill>
                  <a:srgbClr val="1C252B"/>
                </a:solidFill>
                <a:latin typeface="Segoe UI"/>
              </a:rPr>
              <a:t>A baseline first, then the model</a:t>
            </a:r>
          </a:p>
          <a:p>
            <a:pPr algn="l" marL="459473" indent="-459473">
              <a:lnSpc>
                <a:spcPct val="100000"/>
              </a:lnSpc>
              <a:spcBef>
                <a:spcPts val="0"/>
              </a:spcBef>
              <a:spcAft>
                <a:spcPts val="0"/>
              </a:spcAft>
            </a:pPr>
            <a:r>
              <a:rPr sz="1900" b="1">
                <a:solidFill>
                  <a:srgbClr val="117A65"/>
                </a:solidFill>
                <a:latin typeface="Segoe UI"/>
              </a:rPr>
              <a:t>5.	</a:t>
            </a:r>
            <a:r>
              <a:rPr sz="1900" b="0" i="0">
                <a:solidFill>
                  <a:srgbClr val="1C252B"/>
                </a:solidFill>
                <a:latin typeface="Segoe UI"/>
              </a:rPr>
              <a:t>Look inside: the scaler learned from training rows only</a:t>
            </a:r>
          </a:p>
        </p:txBody>
      </p:sp>
      <p:sp>
        <p:nvSpPr>
          <p:cNvPr id="29" name="!!lfTHIS">
            <a:extLst>
              <a:ext uri="{C183D7F6-B498-43B3-948B-1728B52AA6E4}">
                <adec:decorative xmlns:adec="http://schemas.microsoft.com/office/drawing/2017/decorative" val="1"/>
              </a:ext>
            </a:extLst>
          </p:cNvPr>
          <p:cNvSpPr/>
          <p:nvPr/>
        </p:nvSpPr>
        <p:spPr>
          <a:xfrm>
            <a:off x="658368"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lflTHIS"/>
          <p:cNvSpPr txBox="1"/>
          <p:nvPr/>
        </p:nvSpPr>
        <p:spPr>
          <a:xfrm>
            <a:off x="932688"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32" name="!!lfvTHIS"/>
          <p:cNvSpPr txBox="1"/>
          <p:nvPr/>
        </p:nvSpPr>
        <p:spPr>
          <a:xfrm>
            <a:off x="932688"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Week 2: A leak-proof pipeline</a:t>
            </a:r>
          </a:p>
        </p:txBody>
      </p:sp>
      <p:sp>
        <p:nvSpPr>
          <p:cNvPr id="33" name="!!lfWHAT">
            <a:extLst>
              <a:ext uri="{C183D7F6-B498-43B3-948B-1728B52AA6E4}">
                <adec:decorative xmlns:adec="http://schemas.microsoft.com/office/drawing/2017/decorative" val="1"/>
              </a:ext>
            </a:extLst>
          </p:cNvPr>
          <p:cNvSpPr/>
          <p:nvPr/>
        </p:nvSpPr>
        <p:spPr>
          <a:xfrm>
            <a:off x="4374794"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lfbWHAT">
            <a:extLst>
              <a:ext uri="{C183D7F6-B498-43B3-948B-1728B52AA6E4}">
                <adec:decorative xmlns:adec="http://schemas.microsoft.com/office/drawing/2017/decorative" val="1"/>
              </a:ext>
            </a:extLst>
          </p:cNvPr>
          <p:cNvSpPr/>
          <p:nvPr/>
        </p:nvSpPr>
        <p:spPr>
          <a:xfrm>
            <a:off x="4374794"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lflWHAT"/>
          <p:cNvSpPr txBox="1"/>
          <p:nvPr/>
        </p:nvSpPr>
        <p:spPr>
          <a:xfrm>
            <a:off x="4649114"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36" name="!!lfvWHAT"/>
          <p:cNvSpPr txBox="1"/>
          <p:nvPr/>
        </p:nvSpPr>
        <p:spPr>
          <a:xfrm>
            <a:off x="4649114"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48 lines of Python</a:t>
            </a:r>
          </a:p>
        </p:txBody>
      </p:sp>
      <p:sp>
        <p:nvSpPr>
          <p:cNvPr id="37" name="!!lfRUNN">
            <a:extLst>
              <a:ext uri="{C183D7F6-B498-43B3-948B-1728B52AA6E4}">
                <adec:decorative xmlns:adec="http://schemas.microsoft.com/office/drawing/2017/decorative" val="1"/>
              </a:ext>
            </a:extLst>
          </p:cNvPr>
          <p:cNvSpPr/>
          <p:nvPr/>
        </p:nvSpPr>
        <p:spPr>
          <a:xfrm>
            <a:off x="8091220"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lfbRUNN">
            <a:extLst>
              <a:ext uri="{C183D7F6-B498-43B3-948B-1728B52AA6E4}">
                <adec:decorative xmlns:adec="http://schemas.microsoft.com/office/drawing/2017/decorative" val="1"/>
              </a:ext>
            </a:extLst>
          </p:cNvPr>
          <p:cNvSpPr/>
          <p:nvPr/>
        </p:nvSpPr>
        <p:spPr>
          <a:xfrm>
            <a:off x="8091220"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lflRUNN"/>
          <p:cNvSpPr txBox="1"/>
          <p:nvPr/>
        </p:nvSpPr>
        <p:spPr>
          <a:xfrm>
            <a:off x="8365540"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40" name="!!lfvRUNN"/>
          <p:cNvSpPr txBox="1"/>
          <p:nvPr/>
        </p:nvSpPr>
        <p:spPr>
          <a:xfrm>
            <a:off x="8365540"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code/ch03_leak_proof_pipeline.py</a:t>
            </a:r>
          </a:p>
        </p:txBody>
      </p:sp>
      <p:sp>
        <p:nvSpPr>
          <p:cNvPr id="4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pfill">
            <a:extLst>
              <a:ext uri="{C183D7F6-B498-43B3-948B-1728B52AA6E4}">
                <adec:decorative xmlns:adec="http://schemas.microsoft.com/office/drawing/2017/decorative" val="1"/>
              </a:ext>
            </a:extLst>
          </p:cNvPr>
          <p:cNvSpPr/>
          <p:nvPr/>
        </p:nvSpPr>
        <p:spPr>
          <a:xfrm>
            <a:off x="0" y="0"/>
            <a:ext cx="746430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0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0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00"/>
                                        <p:tgtEl>
                                          <p:spTgt spid="9">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xEl>
                                              <p:pRg st="3" end="3"/>
                                            </p:txEl>
                                          </p:spTgt>
                                        </p:tgtEl>
                                        <p:attrNameLst>
                                          <p:attrName>style.visibility</p:attrName>
                                        </p:attrNameLst>
                                      </p:cBhvr>
                                      <p:to>
                                        <p:strVal val="visible"/>
                                      </p:to>
                                    </p:set>
                                    <p:animEffect transition="in" filter="fade">
                                      <p:cBhvr>
                                        <p:cTn id="23" dur="300"/>
                                        <p:tgtEl>
                                          <p:spTgt spid="9">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9">
                                            <p:txEl>
                                              <p:pRg st="4" end="4"/>
                                            </p:txEl>
                                          </p:spTgt>
                                        </p:tgtEl>
                                        <p:attrNameLst>
                                          <p:attrName>style.visibility</p:attrName>
                                        </p:attrNameLst>
                                      </p:cBhvr>
                                      <p:to>
                                        <p:strVal val="visible"/>
                                      </p:to>
                                    </p:set>
                                    <p:animEffect transition="in" filter="fade">
                                      <p:cBhvr>
                                        <p:cTn id="28" dur="3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Leak-Proof Pipeline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6</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§3.7  ·  Handout p. 24     </a:t>
            </a:r>
            <a:fld id="{710172C2-5073-4DE6-BB76-8ECAFE52502B}" type="slidenum">
              <a:rPr lang="en-GB" sz="1000">
                <a:solidFill>
                  <a:srgbClr val="8795A1"/>
                </a:solidFill>
                <a:latin typeface="Segoe UI"/>
              </a:rPr>
              <a:t>31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346703"/>
          </a:xfrm>
          <a:prstGeom prst="roundRect">
            <a:avLst>
              <a:gd name="adj" fmla="val 273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code/ch03_leak_proof_pipeline.py</a:t>
            </a:r>
          </a:p>
        </p:txBody>
      </p:sp>
      <p:sp>
        <p:nvSpPr>
          <p:cNvPr id="14" name="!!code-text" descr="import numpy as np import pandas as pd from sklearn.model_selection import train_test_split from sklearn.compose import ColumnTransformer from sklearn.pipeline import Pipeline, make_pipeline from sklearn.impute import SimpleImputer from sklearn.preprocessing import StandardScaler, OneHotEncoder from sklearn.linear_model import LogisticRegression from sklearn.dummy import DummyClassifier"/>
          <p:cNvSpPr txBox="1"/>
          <p:nvPr/>
        </p:nvSpPr>
        <p:spPr>
          <a:xfrm>
            <a:off x="1362456" y="2523744"/>
            <a:ext cx="9987991" cy="2852927"/>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import</a:t>
            </a:r>
            <a:r>
              <a:rPr sz="2000" i="0">
                <a:solidFill>
                  <a:srgbClr val="E8EDF2"/>
                </a:solidFill>
                <a:latin typeface="Consolas"/>
              </a:rPr>
              <a:t> </a:t>
            </a:r>
            <a:r>
              <a:rPr sz="2000" i="0">
                <a:solidFill>
                  <a:srgbClr val="76D7C4"/>
                </a:solidFill>
                <a:latin typeface="Consolas"/>
              </a:rPr>
              <a:t>numpy</a:t>
            </a:r>
            <a:r>
              <a:rPr sz="2000" i="0">
                <a:solidFill>
                  <a:srgbClr val="E8EDF2"/>
                </a:solidFill>
                <a:latin typeface="Consolas"/>
              </a:rPr>
              <a:t> </a:t>
            </a:r>
            <a:r>
              <a:rPr sz="2000" i="0">
                <a:solidFill>
                  <a:srgbClr val="5DADE2"/>
                </a:solidFill>
                <a:latin typeface="Consolas"/>
              </a:rPr>
              <a:t>as</a:t>
            </a:r>
            <a:r>
              <a:rPr sz="2000" i="0">
                <a:solidFill>
                  <a:srgbClr val="E8EDF2"/>
                </a:solidFill>
                <a:latin typeface="Consolas"/>
              </a:rPr>
              <a:t> </a:t>
            </a:r>
            <a:r>
              <a:rPr sz="2000" i="0">
                <a:solidFill>
                  <a:srgbClr val="76D7C4"/>
                </a:solidFill>
                <a:latin typeface="Consolas"/>
              </a:rPr>
              <a:t>np</a:t>
            </a:r>
          </a:p>
          <a:p>
            <a:pPr>
              <a:lnSpc>
                <a:spcPct val="100000"/>
              </a:lnSpc>
              <a:spcAft>
                <a:spcPts val="0"/>
              </a:spcAft>
            </a:pPr>
            <a:r>
              <a:rPr sz="2000" i="0">
                <a:solidFill>
                  <a:srgbClr val="5DADE2"/>
                </a:solidFill>
                <a:latin typeface="Consolas"/>
              </a:rPr>
              <a:t>import</a:t>
            </a:r>
            <a:r>
              <a:rPr sz="2000" i="0">
                <a:solidFill>
                  <a:srgbClr val="E8EDF2"/>
                </a:solidFill>
                <a:latin typeface="Consolas"/>
              </a:rPr>
              <a:t> </a:t>
            </a:r>
            <a:r>
              <a:rPr sz="2000" i="0">
                <a:solidFill>
                  <a:srgbClr val="76D7C4"/>
                </a:solidFill>
                <a:latin typeface="Consolas"/>
              </a:rPr>
              <a:t>pandas</a:t>
            </a:r>
            <a:r>
              <a:rPr sz="2000" i="0">
                <a:solidFill>
                  <a:srgbClr val="E8EDF2"/>
                </a:solidFill>
                <a:latin typeface="Consolas"/>
              </a:rPr>
              <a:t> </a:t>
            </a:r>
            <a:r>
              <a:rPr sz="2000" i="0">
                <a:solidFill>
                  <a:srgbClr val="5DADE2"/>
                </a:solidFill>
                <a:latin typeface="Consolas"/>
              </a:rPr>
              <a:t>as</a:t>
            </a:r>
            <a:r>
              <a:rPr sz="2000" i="0">
                <a:solidFill>
                  <a:srgbClr val="E8EDF2"/>
                </a:solidFill>
                <a:latin typeface="Consolas"/>
              </a:rPr>
              <a:t> </a:t>
            </a:r>
            <a:r>
              <a:rPr sz="2000" i="0">
                <a:solidFill>
                  <a:srgbClr val="76D7C4"/>
                </a:solidFill>
                <a:latin typeface="Consolas"/>
              </a:rPr>
              <a:t>pd</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model_selection</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train_test_split</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compose</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ColumnTransformer</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pipeline</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Pipeline</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make_pipeline</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impute</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SimpleImputer</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preprocessing</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StandardScaler</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OneHotEncoder</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linear_model</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LogisticRegression</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dummy</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DummyClassifier</a:t>
            </a:r>
          </a:p>
        </p:txBody>
      </p:sp>
      <p:sp>
        <p:nvSpPr>
          <p:cNvPr id="15" name="!!code-num"/>
          <p:cNvSpPr txBox="1"/>
          <p:nvPr/>
        </p:nvSpPr>
        <p:spPr>
          <a:xfrm>
            <a:off x="768096" y="2523744"/>
            <a:ext cx="393192" cy="28529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a:t>
            </a:r>
          </a:p>
          <a:p>
            <a:pPr algn="r">
              <a:lnSpc>
                <a:spcPct val="100000"/>
              </a:lnSpc>
            </a:pPr>
            <a:r>
              <a:rPr sz="2000">
                <a:solidFill>
                  <a:srgbClr val="4F5D6A"/>
                </a:solidFill>
                <a:latin typeface="Consolas"/>
              </a:rPr>
              <a:t>3</a:t>
            </a:r>
          </a:p>
          <a:p>
            <a:pPr algn="r">
              <a:lnSpc>
                <a:spcPct val="100000"/>
              </a:lnSpc>
            </a:pPr>
            <a:r>
              <a:rPr sz="2000">
                <a:solidFill>
                  <a:srgbClr val="4F5D6A"/>
                </a:solidFill>
                <a:latin typeface="Consolas"/>
              </a:rPr>
              <a:t>4</a:t>
            </a:r>
          </a:p>
          <a:p>
            <a:pPr algn="r">
              <a:lnSpc>
                <a:spcPct val="100000"/>
              </a:lnSpc>
            </a:pPr>
            <a:r>
              <a:rPr sz="2000">
                <a:solidFill>
                  <a:srgbClr val="4F5D6A"/>
                </a:solidFill>
                <a:latin typeface="Consolas"/>
              </a:rPr>
              <a:t>5</a:t>
            </a:r>
          </a:p>
          <a:p>
            <a:pPr algn="r">
              <a:lnSpc>
                <a:spcPct val="100000"/>
              </a:lnSpc>
            </a:pPr>
            <a:r>
              <a:rPr sz="2000">
                <a:solidFill>
                  <a:srgbClr val="4F5D6A"/>
                </a:solidFill>
                <a:latin typeface="Consolas"/>
              </a:rPr>
              <a:t>6</a:t>
            </a:r>
          </a:p>
          <a:p>
            <a:pPr algn="r">
              <a:lnSpc>
                <a:spcPct val="100000"/>
              </a:lnSpc>
            </a:pPr>
            <a:r>
              <a:rPr sz="2000">
                <a:solidFill>
                  <a:srgbClr val="4F5D6A"/>
                </a:solidFill>
                <a:latin typeface="Consolas"/>
              </a:rPr>
              <a:t>7</a:t>
            </a:r>
          </a:p>
          <a:p>
            <a:pPr algn="r">
              <a:lnSpc>
                <a:spcPct val="100000"/>
              </a:lnSpc>
            </a:pPr>
            <a:r>
              <a:rPr sz="2000">
                <a:solidFill>
                  <a:srgbClr val="4F5D6A"/>
                </a:solidFill>
                <a:latin typeface="Consolas"/>
              </a:rPr>
              <a:t>8</a:t>
            </a:r>
          </a:p>
          <a:p>
            <a:pPr algn="r">
              <a:lnSpc>
                <a:spcPct val="100000"/>
              </a:lnSpc>
            </a:pPr>
            <a:r>
              <a:rPr sz="2000">
                <a:solidFill>
                  <a:srgbClr val="4F5D6A"/>
                </a:solidFill>
                <a:latin typeface="Consolas"/>
              </a:rPr>
              <a:t>9</a:t>
            </a:r>
          </a:p>
          <a:p>
            <a:pPr algn="r">
              <a:lnSpc>
                <a:spcPct val="100000"/>
              </a:lnSpc>
            </a:pPr>
            <a:r>
              <a:rPr sz="2000">
                <a:solidFill>
                  <a:srgbClr val="4F5D6A"/>
                </a:solidFill>
                <a:latin typeface="Consolas"/>
              </a:rPr>
              <a:t>10</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71311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Leak-Proof Pipeline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6</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§3.7  ·  Handout p. 24     </a:t>
            </a:r>
            <a:fld id="{CAE3AB99-BF30-42C9-A43E-7C0A45C9A597}" type="slidenum">
              <a:rPr lang="en-GB" sz="1000">
                <a:solidFill>
                  <a:srgbClr val="8795A1"/>
                </a:solidFill>
                <a:latin typeface="Segoe UI"/>
              </a:rPr>
              <a:t>32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 synthetic cohort of 600 students, with gaps</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32504"/>
          </a:xfrm>
          <a:prstGeom prst="roundRect">
            <a:avLst>
              <a:gd name="adj" fmla="val 226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code/ch03_leak_proof_pipeline.py</a:t>
            </a:r>
          </a:p>
        </p:txBody>
      </p:sp>
      <p:sp>
        <p:nvSpPr>
          <p:cNvPr id="14" name="!!code-text" descr="# --- a synthetic cohort of 600 students, with gaps ---------------------- rng = np.random.default_rng(0) n = 600 df = pd.DataFrame({ &quot;attendance&quot;: rng.uniform(0.3, 1.0, n), &quot;quiz_avg&quot;: rng.uniform(0.0, 1.0, n), &quot;logins&quot;: rng.poisson(5, n).astype(float), &quot;programme&quot;: rng.choice([&quot;BSIT&quot;, &quot;BSCS&quot;, &quot;BSSE&quot;], n), }) risk = 3.6 - 4 * df.attendance - 2 * df.quiz_avg - 0.1 * df.logins df[&quot;fail&quot;] = (risk + rng.normal(0, 0.5, n) &gt; 0).astype(int) df.loc[rng.random(n) &lt; 0.1, &quot;quiz_avg&quot;] = np.nan # 10% missing print(&quot;fail rate:&quot;, df.fail.mean().round(3)) X, y = df.drop(columns=&quot;fail&quot;), df[&quot;fail&quot;]"/>
          <p:cNvSpPr txBox="1"/>
          <p:nvPr/>
        </p:nvSpPr>
        <p:spPr>
          <a:xfrm>
            <a:off x="1362456" y="2523744"/>
            <a:ext cx="9987991" cy="3538727"/>
          </a:xfrm>
          <a:prstGeom prst="rect">
            <a:avLst/>
          </a:prstGeom>
          <a:noFill/>
        </p:spPr>
        <p:txBody>
          <a:bodyPr wrap="none" anchor="t" lIns="0" rIns="0" tIns="0" bIns="0">
            <a:noAutofit/>
          </a:bodyPr>
          <a:lstStyle/>
          <a:p>
            <a:pPr>
              <a:lnSpc>
                <a:spcPct val="100000"/>
              </a:lnSpc>
              <a:spcAft>
                <a:spcPts val="0"/>
              </a:spcAft>
            </a:pPr>
            <a:r>
              <a:rPr sz="1500" i="1">
                <a:solidFill>
                  <a:srgbClr val="8795A1"/>
                </a:solidFill>
                <a:latin typeface="Consolas"/>
              </a:rPr>
              <a:t># --- a synthetic cohort of 600 students, with gaps ----------------------</a:t>
            </a:r>
          </a:p>
          <a:p>
            <a:pPr>
              <a:lnSpc>
                <a:spcPct val="100000"/>
              </a:lnSpc>
              <a:spcAft>
                <a:spcPts val="0"/>
              </a:spcAft>
            </a:pPr>
            <a:r>
              <a:rPr sz="1500" i="0">
                <a:solidFill>
                  <a:srgbClr val="E8EDF2"/>
                </a:solidFill>
                <a:latin typeface="Consolas"/>
              </a:rPr>
              <a:t>rng</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np</a:t>
            </a:r>
            <a:r>
              <a:rPr sz="1500" i="0">
                <a:solidFill>
                  <a:srgbClr val="AEB6BF"/>
                </a:solidFill>
                <a:latin typeface="Consolas"/>
              </a:rPr>
              <a:t>.</a:t>
            </a:r>
            <a:r>
              <a:rPr sz="1500" i="0">
                <a:solidFill>
                  <a:srgbClr val="E8EDF2"/>
                </a:solidFill>
                <a:latin typeface="Consolas"/>
              </a:rPr>
              <a:t>random</a:t>
            </a:r>
            <a:r>
              <a:rPr sz="1500" i="0">
                <a:solidFill>
                  <a:srgbClr val="AEB6BF"/>
                </a:solidFill>
                <a:latin typeface="Consolas"/>
              </a:rPr>
              <a:t>.</a:t>
            </a:r>
            <a:r>
              <a:rPr sz="1500" i="0">
                <a:solidFill>
                  <a:srgbClr val="E8EDF2"/>
                </a:solidFill>
                <a:latin typeface="Consolas"/>
              </a:rPr>
              <a:t>default_rng</a:t>
            </a:r>
            <a:r>
              <a:rPr sz="1500" i="0">
                <a:solidFill>
                  <a:srgbClr val="AEB6BF"/>
                </a:solidFill>
                <a:latin typeface="Consolas"/>
              </a:rPr>
              <a:t>(</a:t>
            </a:r>
            <a:r>
              <a:rPr sz="1500" i="0">
                <a:solidFill>
                  <a:srgbClr val="F7DC6F"/>
                </a:solidFill>
                <a:latin typeface="Consolas"/>
              </a:rPr>
              <a:t>0</a:t>
            </a:r>
            <a:r>
              <a:rPr sz="1500" i="0">
                <a:solidFill>
                  <a:srgbClr val="AEB6BF"/>
                </a:solidFill>
                <a:latin typeface="Consolas"/>
              </a:rPr>
              <a:t>)</a:t>
            </a:r>
          </a:p>
          <a:p>
            <a:pPr>
              <a:lnSpc>
                <a:spcPct val="100000"/>
              </a:lnSpc>
              <a:spcAft>
                <a:spcPts val="0"/>
              </a:spcAft>
            </a:pPr>
            <a:r>
              <a:rPr sz="1500" i="0">
                <a:solidFill>
                  <a:srgbClr val="E8EDF2"/>
                </a:solidFill>
                <a:latin typeface="Consolas"/>
              </a:rPr>
              <a:t>n</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600</a:t>
            </a:r>
          </a:p>
          <a:p>
            <a:pPr>
              <a:lnSpc>
                <a:spcPct val="100000"/>
              </a:lnSpc>
              <a:spcAft>
                <a:spcPts val="0"/>
              </a:spcAft>
            </a:pPr>
            <a:r>
              <a:rPr sz="1500" i="0">
                <a:solidFill>
                  <a:srgbClr val="E8EDF2"/>
                </a:solidFill>
                <a:latin typeface="Consolas"/>
              </a:rPr>
              <a:t>df</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pd</a:t>
            </a:r>
            <a:r>
              <a:rPr sz="1500" i="0">
                <a:solidFill>
                  <a:srgbClr val="AEB6BF"/>
                </a:solidFill>
                <a:latin typeface="Consolas"/>
              </a:rPr>
              <a:t>.</a:t>
            </a:r>
            <a:r>
              <a:rPr sz="1500" i="0">
                <a:solidFill>
                  <a:srgbClr val="E8EDF2"/>
                </a:solidFill>
                <a:latin typeface="Consolas"/>
              </a:rPr>
              <a:t>DataFrame</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attendance</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rng</a:t>
            </a:r>
            <a:r>
              <a:rPr sz="1500" i="0">
                <a:solidFill>
                  <a:srgbClr val="AEB6BF"/>
                </a:solidFill>
                <a:latin typeface="Consolas"/>
              </a:rPr>
              <a:t>.</a:t>
            </a:r>
            <a:r>
              <a:rPr sz="1500" i="0">
                <a:solidFill>
                  <a:srgbClr val="E8EDF2"/>
                </a:solidFill>
                <a:latin typeface="Consolas"/>
              </a:rPr>
              <a:t>uniform</a:t>
            </a:r>
            <a:r>
              <a:rPr sz="1500" i="0">
                <a:solidFill>
                  <a:srgbClr val="AEB6BF"/>
                </a:solidFill>
                <a:latin typeface="Consolas"/>
              </a:rPr>
              <a:t>(</a:t>
            </a:r>
            <a:r>
              <a:rPr sz="1500" i="0">
                <a:solidFill>
                  <a:srgbClr val="F7DC6F"/>
                </a:solidFill>
                <a:latin typeface="Consolas"/>
              </a:rPr>
              <a:t>0.3</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1.0</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n</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quiz_avg</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rng</a:t>
            </a:r>
            <a:r>
              <a:rPr sz="1500" i="0">
                <a:solidFill>
                  <a:srgbClr val="AEB6BF"/>
                </a:solidFill>
                <a:latin typeface="Consolas"/>
              </a:rPr>
              <a:t>.</a:t>
            </a:r>
            <a:r>
              <a:rPr sz="1500" i="0">
                <a:solidFill>
                  <a:srgbClr val="E8EDF2"/>
                </a:solidFill>
                <a:latin typeface="Consolas"/>
              </a:rPr>
              <a:t>uniform</a:t>
            </a:r>
            <a:r>
              <a:rPr sz="1500" i="0">
                <a:solidFill>
                  <a:srgbClr val="AEB6BF"/>
                </a:solidFill>
                <a:latin typeface="Consolas"/>
              </a:rPr>
              <a:t>(</a:t>
            </a:r>
            <a:r>
              <a:rPr sz="1500" i="0">
                <a:solidFill>
                  <a:srgbClr val="F7DC6F"/>
                </a:solidFill>
                <a:latin typeface="Consolas"/>
              </a:rPr>
              <a:t>0.0</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1.0</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n</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logins</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rng</a:t>
            </a:r>
            <a:r>
              <a:rPr sz="1500" i="0">
                <a:solidFill>
                  <a:srgbClr val="AEB6BF"/>
                </a:solidFill>
                <a:latin typeface="Consolas"/>
              </a:rPr>
              <a:t>.</a:t>
            </a:r>
            <a:r>
              <a:rPr sz="1500" i="0">
                <a:solidFill>
                  <a:srgbClr val="E8EDF2"/>
                </a:solidFill>
                <a:latin typeface="Consolas"/>
              </a:rPr>
              <a:t>poisson</a:t>
            </a:r>
            <a:r>
              <a:rPr sz="1500" i="0">
                <a:solidFill>
                  <a:srgbClr val="AEB6BF"/>
                </a:solidFill>
                <a:latin typeface="Consolas"/>
              </a:rPr>
              <a:t>(</a:t>
            </a:r>
            <a:r>
              <a:rPr sz="1500" i="0">
                <a:solidFill>
                  <a:srgbClr val="F7DC6F"/>
                </a:solidFill>
                <a:latin typeface="Consolas"/>
              </a:rPr>
              <a:t>5</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n</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astype</a:t>
            </a:r>
            <a:r>
              <a:rPr sz="1500" i="0">
                <a:solidFill>
                  <a:srgbClr val="AEB6BF"/>
                </a:solidFill>
                <a:latin typeface="Consolas"/>
              </a:rPr>
              <a:t>(</a:t>
            </a:r>
            <a:r>
              <a:rPr sz="1500" i="0">
                <a:solidFill>
                  <a:srgbClr val="C39BD3"/>
                </a:solidFill>
                <a:latin typeface="Consolas"/>
              </a:rPr>
              <a:t>float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programme</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rng</a:t>
            </a:r>
            <a:r>
              <a:rPr sz="1500" i="0">
                <a:solidFill>
                  <a:srgbClr val="AEB6BF"/>
                </a:solidFill>
                <a:latin typeface="Consolas"/>
              </a:rPr>
              <a:t>.</a:t>
            </a:r>
            <a:r>
              <a:rPr sz="1500" i="0">
                <a:solidFill>
                  <a:srgbClr val="E8EDF2"/>
                </a:solidFill>
                <a:latin typeface="Consolas"/>
              </a:rPr>
              <a:t>choice</a:t>
            </a:r>
            <a:r>
              <a:rPr sz="1500" i="0">
                <a:solidFill>
                  <a:srgbClr val="AEB6BF"/>
                </a:solidFill>
                <a:latin typeface="Consolas"/>
              </a:rPr>
              <a: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BSIT</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BSCS</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BSSE</a:t>
            </a:r>
            <a:r>
              <a:rPr sz="1500" i="0">
                <a:solidFill>
                  <a:srgbClr val="7DCEA0"/>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n</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risk</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3.6</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4</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df</a:t>
            </a:r>
            <a:r>
              <a:rPr sz="1500" i="0">
                <a:solidFill>
                  <a:srgbClr val="AEB6BF"/>
                </a:solidFill>
                <a:latin typeface="Consolas"/>
              </a:rPr>
              <a:t>.</a:t>
            </a:r>
            <a:r>
              <a:rPr sz="1500" i="0">
                <a:solidFill>
                  <a:srgbClr val="E8EDF2"/>
                </a:solidFill>
                <a:latin typeface="Consolas"/>
              </a:rPr>
              <a:t>attendance</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2</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df</a:t>
            </a:r>
            <a:r>
              <a:rPr sz="1500" i="0">
                <a:solidFill>
                  <a:srgbClr val="AEB6BF"/>
                </a:solidFill>
                <a:latin typeface="Consolas"/>
              </a:rPr>
              <a:t>.</a:t>
            </a:r>
            <a:r>
              <a:rPr sz="1500" i="0">
                <a:solidFill>
                  <a:srgbClr val="E8EDF2"/>
                </a:solidFill>
                <a:latin typeface="Consolas"/>
              </a:rPr>
              <a:t>quiz_avg</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0.1</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df</a:t>
            </a:r>
            <a:r>
              <a:rPr sz="1500" i="0">
                <a:solidFill>
                  <a:srgbClr val="AEB6BF"/>
                </a:solidFill>
                <a:latin typeface="Consolas"/>
              </a:rPr>
              <a:t>.</a:t>
            </a:r>
            <a:r>
              <a:rPr sz="1500" i="0">
                <a:solidFill>
                  <a:srgbClr val="E8EDF2"/>
                </a:solidFill>
                <a:latin typeface="Consolas"/>
              </a:rPr>
              <a:t>logins</a:t>
            </a:r>
          </a:p>
          <a:p>
            <a:pPr>
              <a:lnSpc>
                <a:spcPct val="100000"/>
              </a:lnSpc>
              <a:spcAft>
                <a:spcPts val="0"/>
              </a:spcAft>
            </a:pPr>
            <a:r>
              <a:rPr sz="1500" i="0">
                <a:solidFill>
                  <a:srgbClr val="E8EDF2"/>
                </a:solidFill>
                <a:latin typeface="Consolas"/>
              </a:rPr>
              <a:t>df</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fail</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risk</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rng</a:t>
            </a:r>
            <a:r>
              <a:rPr sz="1500" i="0">
                <a:solidFill>
                  <a:srgbClr val="AEB6BF"/>
                </a:solidFill>
                <a:latin typeface="Consolas"/>
              </a:rPr>
              <a:t>.</a:t>
            </a:r>
            <a:r>
              <a:rPr sz="1500" i="0">
                <a:solidFill>
                  <a:srgbClr val="E8EDF2"/>
                </a:solidFill>
                <a:latin typeface="Consolas"/>
              </a:rPr>
              <a:t>normal</a:t>
            </a:r>
            <a:r>
              <a:rPr sz="1500" i="0">
                <a:solidFill>
                  <a:srgbClr val="AEB6BF"/>
                </a:solidFill>
                <a:latin typeface="Consolas"/>
              </a:rPr>
              <a:t>(</a:t>
            </a:r>
            <a:r>
              <a:rPr sz="1500" i="0">
                <a:solidFill>
                  <a:srgbClr val="F7DC6F"/>
                </a:solidFill>
                <a:latin typeface="Consolas"/>
              </a:rPr>
              <a:t>0</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0.5</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n</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&gt;</a:t>
            </a:r>
            <a:r>
              <a:rPr sz="1500" i="0">
                <a:solidFill>
                  <a:srgbClr val="E8EDF2"/>
                </a:solidFill>
                <a:latin typeface="Consolas"/>
              </a:rPr>
              <a:t> </a:t>
            </a:r>
            <a:r>
              <a:rPr sz="1500" i="0">
                <a:solidFill>
                  <a:srgbClr val="F7DC6F"/>
                </a:solidFill>
                <a:latin typeface="Consolas"/>
              </a:rPr>
              <a:t>0</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astype</a:t>
            </a:r>
            <a:r>
              <a:rPr sz="1500" i="0">
                <a:solidFill>
                  <a:srgbClr val="AEB6BF"/>
                </a:solidFill>
                <a:latin typeface="Consolas"/>
              </a:rPr>
              <a:t>(</a:t>
            </a:r>
            <a:r>
              <a:rPr sz="1500" i="0">
                <a:solidFill>
                  <a:srgbClr val="C39BD3"/>
                </a:solidFill>
                <a:latin typeface="Consolas"/>
              </a:rPr>
              <a:t>int</a:t>
            </a:r>
            <a:r>
              <a:rPr sz="1500" i="0">
                <a:solidFill>
                  <a:srgbClr val="AEB6BF"/>
                </a:solidFill>
                <a:latin typeface="Consolas"/>
              </a:rPr>
              <a:t>)</a:t>
            </a:r>
          </a:p>
          <a:p>
            <a:pPr>
              <a:lnSpc>
                <a:spcPct val="100000"/>
              </a:lnSpc>
              <a:spcAft>
                <a:spcPts val="0"/>
              </a:spcAft>
            </a:pPr>
            <a:r>
              <a:rPr sz="1500" i="0">
                <a:solidFill>
                  <a:srgbClr val="E8EDF2"/>
                </a:solidFill>
                <a:latin typeface="Consolas"/>
              </a:rPr>
              <a:t>df</a:t>
            </a:r>
            <a:r>
              <a:rPr sz="1500" i="0">
                <a:solidFill>
                  <a:srgbClr val="AEB6BF"/>
                </a:solidFill>
                <a:latin typeface="Consolas"/>
              </a:rPr>
              <a:t>.</a:t>
            </a:r>
            <a:r>
              <a:rPr sz="1500" i="0">
                <a:solidFill>
                  <a:srgbClr val="E8EDF2"/>
                </a:solidFill>
                <a:latin typeface="Consolas"/>
              </a:rPr>
              <a:t>loc</a:t>
            </a:r>
            <a:r>
              <a:rPr sz="1500" i="0">
                <a:solidFill>
                  <a:srgbClr val="AEB6BF"/>
                </a:solidFill>
                <a:latin typeface="Consolas"/>
              </a:rPr>
              <a:t>[</a:t>
            </a:r>
            <a:r>
              <a:rPr sz="1500" i="0">
                <a:solidFill>
                  <a:srgbClr val="E8EDF2"/>
                </a:solidFill>
                <a:latin typeface="Consolas"/>
              </a:rPr>
              <a:t>rng</a:t>
            </a:r>
            <a:r>
              <a:rPr sz="1500" i="0">
                <a:solidFill>
                  <a:srgbClr val="AEB6BF"/>
                </a:solidFill>
                <a:latin typeface="Consolas"/>
              </a:rPr>
              <a:t>.</a:t>
            </a:r>
            <a:r>
              <a:rPr sz="1500" i="0">
                <a:solidFill>
                  <a:srgbClr val="E8EDF2"/>
                </a:solidFill>
                <a:latin typeface="Consolas"/>
              </a:rPr>
              <a:t>random</a:t>
            </a:r>
            <a:r>
              <a:rPr sz="1500" i="0">
                <a:solidFill>
                  <a:srgbClr val="AEB6BF"/>
                </a:solidFill>
                <a:latin typeface="Consolas"/>
              </a:rPr>
              <a:t>(</a:t>
            </a:r>
            <a:r>
              <a:rPr sz="1500" i="0">
                <a:solidFill>
                  <a:srgbClr val="E8EDF2"/>
                </a:solidFill>
                <a:latin typeface="Consolas"/>
              </a:rPr>
              <a:t>n</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&lt;</a:t>
            </a:r>
            <a:r>
              <a:rPr sz="1500" i="0">
                <a:solidFill>
                  <a:srgbClr val="E8EDF2"/>
                </a:solidFill>
                <a:latin typeface="Consolas"/>
              </a:rPr>
              <a:t> </a:t>
            </a:r>
            <a:r>
              <a:rPr sz="1500" i="0">
                <a:solidFill>
                  <a:srgbClr val="F7DC6F"/>
                </a:solidFill>
                <a:latin typeface="Consolas"/>
              </a:rPr>
              <a:t>0.1</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quiz_avg</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np</a:t>
            </a:r>
            <a:r>
              <a:rPr sz="1500" i="0">
                <a:solidFill>
                  <a:srgbClr val="AEB6BF"/>
                </a:solidFill>
                <a:latin typeface="Consolas"/>
              </a:rPr>
              <a:t>.</a:t>
            </a:r>
            <a:r>
              <a:rPr sz="1500" i="0">
                <a:solidFill>
                  <a:srgbClr val="E8EDF2"/>
                </a:solidFill>
                <a:latin typeface="Consolas"/>
              </a:rPr>
              <a:t>nan</a:t>
            </a:r>
            <a:r>
              <a:rPr sz="1500" i="0">
                <a:solidFill>
                  <a:srgbClr val="E8EDF2"/>
                </a:solidFill>
                <a:latin typeface="Consolas"/>
              </a:rPr>
              <a:t>        </a:t>
            </a:r>
            <a:r>
              <a:rPr sz="1500" i="1">
                <a:solidFill>
                  <a:srgbClr val="8795A1"/>
                </a:solidFill>
                <a:latin typeface="Consolas"/>
              </a:rPr>
              <a:t># 10% missing</a:t>
            </a:r>
          </a:p>
          <a:p>
            <a:pPr>
              <a:lnSpc>
                <a:spcPct val="100000"/>
              </a:lnSpc>
              <a:spcAft>
                <a:spcPts val="0"/>
              </a:spcAft>
            </a:pPr>
            <a:r>
              <a:rPr sz="1500" i="0">
                <a:solidFill>
                  <a:srgbClr val="C39BD3"/>
                </a:solidFill>
                <a:latin typeface="Consolas"/>
              </a:rPr>
              <a:t>print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fail rate:</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df</a:t>
            </a:r>
            <a:r>
              <a:rPr sz="1500" i="0">
                <a:solidFill>
                  <a:srgbClr val="AEB6BF"/>
                </a:solidFill>
                <a:latin typeface="Consolas"/>
              </a:rPr>
              <a:t>.</a:t>
            </a:r>
            <a:r>
              <a:rPr sz="1500" i="0">
                <a:solidFill>
                  <a:srgbClr val="E8EDF2"/>
                </a:solidFill>
                <a:latin typeface="Consolas"/>
              </a:rPr>
              <a:t>fail</a:t>
            </a:r>
            <a:r>
              <a:rPr sz="1500" i="0">
                <a:solidFill>
                  <a:srgbClr val="AEB6BF"/>
                </a:solidFill>
                <a:latin typeface="Consolas"/>
              </a:rPr>
              <a:t>.</a:t>
            </a:r>
            <a:r>
              <a:rPr sz="1500" i="0">
                <a:solidFill>
                  <a:srgbClr val="E8EDF2"/>
                </a:solidFill>
                <a:latin typeface="Consolas"/>
              </a:rPr>
              <a:t>mean</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round</a:t>
            </a:r>
            <a:r>
              <a:rPr sz="1500" i="0">
                <a:solidFill>
                  <a:srgbClr val="AEB6BF"/>
                </a:solidFill>
                <a:latin typeface="Consolas"/>
              </a:rPr>
              <a:t>(</a:t>
            </a:r>
            <a:r>
              <a:rPr sz="1500" i="0">
                <a:solidFill>
                  <a:srgbClr val="F7DC6F"/>
                </a:solidFill>
                <a:latin typeface="Consolas"/>
              </a:rPr>
              <a:t>3</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a:latin typeface="Consolas"/>
              </a:rPr>
              <a:t> </a:t>
            </a:r>
          </a:p>
          <a:p>
            <a:pPr>
              <a:lnSpc>
                <a:spcPct val="100000"/>
              </a:lnSpc>
              <a:spcAft>
                <a:spcPts val="0"/>
              </a:spcAft>
            </a:pPr>
            <a:r>
              <a:rPr sz="1500" i="0">
                <a:solidFill>
                  <a:srgbClr val="E8EDF2"/>
                </a:solidFill>
                <a:latin typeface="Consolas"/>
              </a:rPr>
              <a:t>X</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y</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df</a:t>
            </a:r>
            <a:r>
              <a:rPr sz="1500" i="0">
                <a:solidFill>
                  <a:srgbClr val="AEB6BF"/>
                </a:solidFill>
                <a:latin typeface="Consolas"/>
              </a:rPr>
              <a:t>.</a:t>
            </a:r>
            <a:r>
              <a:rPr sz="1500" i="0">
                <a:solidFill>
                  <a:srgbClr val="E8EDF2"/>
                </a:solidFill>
                <a:latin typeface="Consolas"/>
              </a:rPr>
              <a:t>drop</a:t>
            </a:r>
            <a:r>
              <a:rPr sz="1500" i="0">
                <a:solidFill>
                  <a:srgbClr val="AEB6BF"/>
                </a:solidFill>
                <a:latin typeface="Consolas"/>
              </a:rPr>
              <a:t>(</a:t>
            </a:r>
            <a:r>
              <a:rPr sz="1500" i="0">
                <a:solidFill>
                  <a:srgbClr val="E8EDF2"/>
                </a:solidFill>
                <a:latin typeface="Consolas"/>
              </a:rPr>
              <a:t>columns</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fail</a:t>
            </a:r>
            <a:r>
              <a:rPr sz="1500" i="0">
                <a:solidFill>
                  <a:srgbClr val="7DCEA0"/>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df</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fail</a:t>
            </a:r>
            <a:r>
              <a:rPr sz="1500" i="0">
                <a:solidFill>
                  <a:srgbClr val="7DCEA0"/>
                </a:solidFill>
                <a:latin typeface="Consolas"/>
              </a:rPr>
              <a:t>"</a:t>
            </a:r>
            <a:r>
              <a:rPr sz="1500" i="0">
                <a:solidFill>
                  <a:srgbClr val="AEB6BF"/>
                </a:solidFill>
                <a:latin typeface="Consolas"/>
              </a:rPr>
              <a:t>]</a:t>
            </a:r>
          </a:p>
        </p:txBody>
      </p:sp>
      <p:sp>
        <p:nvSpPr>
          <p:cNvPr id="15" name="!!code-num"/>
          <p:cNvSpPr txBox="1"/>
          <p:nvPr/>
        </p:nvSpPr>
        <p:spPr>
          <a:xfrm>
            <a:off x="768096" y="2523744"/>
            <a:ext cx="393192" cy="3538727"/>
          </a:xfrm>
          <a:prstGeom prst="rect">
            <a:avLst/>
          </a:prstGeom>
          <a:noFill/>
        </p:spPr>
        <p:txBody>
          <a:bodyPr wrap="none" anchor="t" lIns="0" rIns="0" tIns="0" bIns="0">
            <a:noAutofit/>
          </a:bodyPr>
          <a:lstStyle/>
          <a:p>
            <a:pPr algn="r">
              <a:lnSpc>
                <a:spcPct val="100000"/>
              </a:lnSpc>
            </a:pPr>
            <a:r>
              <a:rPr sz="1500">
                <a:solidFill>
                  <a:srgbClr val="4F5D6A"/>
                </a:solidFill>
                <a:latin typeface="Consolas"/>
              </a:rPr>
              <a:t>12</a:t>
            </a:r>
          </a:p>
          <a:p>
            <a:pPr algn="r">
              <a:lnSpc>
                <a:spcPct val="100000"/>
              </a:lnSpc>
            </a:pPr>
            <a:r>
              <a:rPr sz="1500">
                <a:solidFill>
                  <a:srgbClr val="4F5D6A"/>
                </a:solidFill>
                <a:latin typeface="Consolas"/>
              </a:rPr>
              <a:t>13</a:t>
            </a:r>
          </a:p>
          <a:p>
            <a:pPr algn="r">
              <a:lnSpc>
                <a:spcPct val="100000"/>
              </a:lnSpc>
            </a:pPr>
            <a:r>
              <a:rPr sz="1500">
                <a:solidFill>
                  <a:srgbClr val="4F5D6A"/>
                </a:solidFill>
                <a:latin typeface="Consolas"/>
              </a:rPr>
              <a:t>14</a:t>
            </a:r>
          </a:p>
          <a:p>
            <a:pPr algn="r">
              <a:lnSpc>
                <a:spcPct val="100000"/>
              </a:lnSpc>
            </a:pPr>
            <a:r>
              <a:rPr sz="1500">
                <a:solidFill>
                  <a:srgbClr val="4F5D6A"/>
                </a:solidFill>
                <a:latin typeface="Consolas"/>
              </a:rPr>
              <a:t>15</a:t>
            </a:r>
          </a:p>
          <a:p>
            <a:pPr algn="r">
              <a:lnSpc>
                <a:spcPct val="100000"/>
              </a:lnSpc>
            </a:pPr>
            <a:r>
              <a:rPr sz="1500">
                <a:solidFill>
                  <a:srgbClr val="4F5D6A"/>
                </a:solidFill>
                <a:latin typeface="Consolas"/>
              </a:rPr>
              <a:t>16</a:t>
            </a:r>
          </a:p>
          <a:p>
            <a:pPr algn="r">
              <a:lnSpc>
                <a:spcPct val="100000"/>
              </a:lnSpc>
            </a:pPr>
            <a:r>
              <a:rPr sz="1500">
                <a:solidFill>
                  <a:srgbClr val="4F5D6A"/>
                </a:solidFill>
                <a:latin typeface="Consolas"/>
              </a:rPr>
              <a:t>17</a:t>
            </a:r>
          </a:p>
          <a:p>
            <a:pPr algn="r">
              <a:lnSpc>
                <a:spcPct val="100000"/>
              </a:lnSpc>
            </a:pPr>
            <a:r>
              <a:rPr sz="1500">
                <a:solidFill>
                  <a:srgbClr val="4F5D6A"/>
                </a:solidFill>
                <a:latin typeface="Consolas"/>
              </a:rPr>
              <a:t>18</a:t>
            </a:r>
          </a:p>
          <a:p>
            <a:pPr algn="r">
              <a:lnSpc>
                <a:spcPct val="100000"/>
              </a:lnSpc>
            </a:pPr>
            <a:r>
              <a:rPr sz="1500">
                <a:solidFill>
                  <a:srgbClr val="4F5D6A"/>
                </a:solidFill>
                <a:latin typeface="Consolas"/>
              </a:rPr>
              <a:t>19</a:t>
            </a:r>
          </a:p>
          <a:p>
            <a:pPr algn="r">
              <a:lnSpc>
                <a:spcPct val="100000"/>
              </a:lnSpc>
            </a:pPr>
            <a:r>
              <a:rPr sz="1500">
                <a:solidFill>
                  <a:srgbClr val="4F5D6A"/>
                </a:solidFill>
                <a:latin typeface="Consolas"/>
              </a:rPr>
              <a:t>20</a:t>
            </a:r>
          </a:p>
          <a:p>
            <a:pPr algn="r">
              <a:lnSpc>
                <a:spcPct val="100000"/>
              </a:lnSpc>
            </a:pPr>
            <a:r>
              <a:rPr sz="1500">
                <a:solidFill>
                  <a:srgbClr val="4F5D6A"/>
                </a:solidFill>
                <a:latin typeface="Consolas"/>
              </a:rPr>
              <a:t>21</a:t>
            </a:r>
          </a:p>
          <a:p>
            <a:pPr algn="r">
              <a:lnSpc>
                <a:spcPct val="100000"/>
              </a:lnSpc>
            </a:pPr>
            <a:r>
              <a:rPr sz="1500">
                <a:solidFill>
                  <a:srgbClr val="4F5D6A"/>
                </a:solidFill>
                <a:latin typeface="Consolas"/>
              </a:rPr>
              <a:t>22</a:t>
            </a:r>
          </a:p>
          <a:p>
            <a:pPr algn="r">
              <a:lnSpc>
                <a:spcPct val="100000"/>
              </a:lnSpc>
            </a:pPr>
            <a:r>
              <a:rPr sz="1500">
                <a:solidFill>
                  <a:srgbClr val="4F5D6A"/>
                </a:solidFill>
                <a:latin typeface="Consolas"/>
              </a:rPr>
              <a:t>23</a:t>
            </a:r>
          </a:p>
          <a:p>
            <a:pPr algn="r">
              <a:lnSpc>
                <a:spcPct val="100000"/>
              </a:lnSpc>
            </a:pPr>
            <a:r>
              <a:rPr sz="1500">
                <a:solidFill>
                  <a:srgbClr val="4F5D6A"/>
                </a:solidFill>
                <a:latin typeface="Consolas"/>
              </a:rPr>
              <a:t>24</a:t>
            </a:r>
          </a:p>
          <a:p>
            <a:pPr algn="r">
              <a:lnSpc>
                <a:spcPct val="100000"/>
              </a:lnSpc>
            </a:pPr>
            <a:r>
              <a:rPr sz="1500">
                <a:solidFill>
                  <a:srgbClr val="4F5D6A"/>
                </a:solidFill>
                <a:latin typeface="Consolas"/>
              </a:rPr>
              <a:t>25</a:t>
            </a:r>
          </a:p>
          <a:p>
            <a:pPr algn="r">
              <a:lnSpc>
                <a:spcPct val="100000"/>
              </a:lnSpc>
            </a:pPr>
            <a:r>
              <a:rPr sz="1500">
                <a:solidFill>
                  <a:srgbClr val="4F5D6A"/>
                </a:solidFill>
                <a:latin typeface="Consolas"/>
              </a:rPr>
              <a:t>26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96192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Leak-Proof Pipeline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6</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§3.7  ·  Handout p. 24     </a:t>
            </a:r>
            <a:fld id="{5C9B25F0-55EE-4CAD-97EC-826B64EED92A}" type="slidenum">
              <a:rPr lang="en-GB" sz="1000">
                <a:solidFill>
                  <a:srgbClr val="8795A1"/>
                </a:solidFill>
                <a:latin typeface="Segoe UI"/>
              </a:rPr>
              <a:t>33</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Split FIRST; the test set is locked away</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426463"/>
          </a:xfrm>
          <a:prstGeom prst="roundRect">
            <a:avLst>
              <a:gd name="adj" fmla="val 6410"/>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code/ch03_leak_proof_pipeline.py</a:t>
            </a:r>
          </a:p>
        </p:txBody>
      </p:sp>
      <p:sp>
        <p:nvSpPr>
          <p:cNvPr id="14" name="!!code-text" descr="# --- 1. split FIRST; the test set is locked away ------------------------ X_tr, X_te, y_tr, y_te = train_test_split( X, y, test_size=0.2, stratify=y, random_state=0)"/>
          <p:cNvSpPr txBox="1"/>
          <p:nvPr/>
        </p:nvSpPr>
        <p:spPr>
          <a:xfrm>
            <a:off x="1362456" y="2523744"/>
            <a:ext cx="9987991" cy="932687"/>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--- 1. split FIRST; the test set is locked away ------------------------</a:t>
            </a:r>
          </a:p>
          <a:p>
            <a:pPr>
              <a:lnSpc>
                <a:spcPct val="100000"/>
              </a:lnSpc>
              <a:spcAft>
                <a:spcPts val="0"/>
              </a:spcAft>
            </a:pPr>
            <a:r>
              <a:rPr sz="1800" i="0">
                <a:solidFill>
                  <a:srgbClr val="E8EDF2"/>
                </a:solidFill>
                <a:latin typeface="Consolas"/>
              </a:rPr>
              <a:t>X_tr</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X_te</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y_tr</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y_te</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train_test_split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X</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test_size</a:t>
            </a:r>
            <a:r>
              <a:rPr sz="1800" i="0">
                <a:solidFill>
                  <a:srgbClr val="AEB6BF"/>
                </a:solidFill>
                <a:latin typeface="Consolas"/>
              </a:rPr>
              <a:t>=</a:t>
            </a:r>
            <a:r>
              <a:rPr sz="1800" i="0">
                <a:solidFill>
                  <a:srgbClr val="F7DC6F"/>
                </a:solidFill>
                <a:latin typeface="Consolas"/>
              </a:rPr>
              <a:t>0.2</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stratify</a:t>
            </a:r>
            <a:r>
              <a:rPr sz="1800" i="0">
                <a:solidFill>
                  <a:srgbClr val="AEB6BF"/>
                </a:solidFill>
                <a:latin typeface="Consolas"/>
              </a:rPr>
              <a:t>=</a:t>
            </a:r>
            <a:r>
              <a:rPr sz="1800" i="0">
                <a:solidFill>
                  <a:srgbClr val="E8EDF2"/>
                </a:solidFill>
                <a:latin typeface="Consolas"/>
              </a:rPr>
              <a:t>y</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random_state</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p>
        </p:txBody>
      </p:sp>
      <p:sp>
        <p:nvSpPr>
          <p:cNvPr id="15" name="!!code-num"/>
          <p:cNvSpPr txBox="1"/>
          <p:nvPr/>
        </p:nvSpPr>
        <p:spPr>
          <a:xfrm>
            <a:off x="768096" y="2523744"/>
            <a:ext cx="393192" cy="932687"/>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28</a:t>
            </a:r>
          </a:p>
          <a:p>
            <a:pPr algn="r">
              <a:lnSpc>
                <a:spcPct val="100000"/>
              </a:lnSpc>
            </a:pPr>
            <a:r>
              <a:rPr sz="1800">
                <a:solidFill>
                  <a:srgbClr val="4F5D6A"/>
                </a:solidFill>
                <a:latin typeface="Consolas"/>
              </a:rPr>
              <a:t>29</a:t>
            </a:r>
          </a:p>
          <a:p>
            <a:pPr algn="r">
              <a:lnSpc>
                <a:spcPct val="100000"/>
              </a:lnSpc>
            </a:pPr>
            <a:r>
              <a:rPr sz="1800">
                <a:solidFill>
                  <a:srgbClr val="4F5D6A"/>
                </a:solidFill>
                <a:latin typeface="Consolas"/>
              </a:rPr>
              <a:t>30</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21073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Leak-Proof Pipeline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6</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§3.7  ·  Handout p. 24     </a:t>
            </a:r>
            <a:fld id="{E9E0D6DD-53CA-4946-A4F1-C2B7A4DAF0B1}" type="slidenum">
              <a:rPr lang="en-GB" sz="1000">
                <a:solidFill>
                  <a:srgbClr val="8795A1"/>
                </a:solidFill>
                <a:latin typeface="Segoe UI"/>
              </a:rPr>
              <a:t>34</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Every preparation step lives inside the pipeline</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798063"/>
          </a:xfrm>
          <a:prstGeom prst="roundRect">
            <a:avLst>
              <a:gd name="adj" fmla="val 326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code/ch03_leak_proof_pipeline.py</a:t>
            </a:r>
          </a:p>
        </p:txBody>
      </p:sp>
      <p:sp>
        <p:nvSpPr>
          <p:cNvPr id="14" name="!!code-text" descr="# --- 2. every preparation step lives inside the pipeline ---------------- num = [&quot;attendance&quot;, &quot;quiz_avg&quot;, &quot;logins&quot;] prep = ColumnTransformer([ (&quot;num&quot;, make_pipeline(SimpleImputer(strategy=&quot;median&quot;), StandardScaler()), num), (&quot;cat&quot;, OneHotEncoder(handle_unknown=&quot;ignore&quot;), [&quot;programme&quot;]), ]) model = Pipeline([(&quot;prep&quot;, prep), (&quot;clf&quot;, LogisticRegression())])"/>
          <p:cNvSpPr txBox="1"/>
          <p:nvPr/>
        </p:nvSpPr>
        <p:spPr>
          <a:xfrm>
            <a:off x="1362456" y="2523744"/>
            <a:ext cx="9987991" cy="2304287"/>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--- 2. every preparation step lives inside the pipeline ----------------</a:t>
            </a:r>
          </a:p>
          <a:p>
            <a:pPr>
              <a:lnSpc>
                <a:spcPct val="100000"/>
              </a:lnSpc>
              <a:spcAft>
                <a:spcPts val="0"/>
              </a:spcAft>
            </a:pPr>
            <a:r>
              <a:rPr sz="1800" i="0">
                <a:solidFill>
                  <a:srgbClr val="E8EDF2"/>
                </a:solidFill>
                <a:latin typeface="Consolas"/>
              </a:rPr>
              <a:t>num</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attendance</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quiz_avg</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logins</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prep</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ColumnTransformer</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num</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make_pipeline</a:t>
            </a:r>
            <a:r>
              <a:rPr sz="1800" i="0">
                <a:solidFill>
                  <a:srgbClr val="AEB6BF"/>
                </a:solidFill>
                <a:latin typeface="Consolas"/>
              </a:rPr>
              <a:t>(</a:t>
            </a:r>
            <a:r>
              <a:rPr sz="1800" i="0">
                <a:solidFill>
                  <a:srgbClr val="E8EDF2"/>
                </a:solidFill>
                <a:latin typeface="Consolas"/>
              </a:rPr>
              <a:t>SimpleImputer</a:t>
            </a:r>
            <a:r>
              <a:rPr sz="1800" i="0">
                <a:solidFill>
                  <a:srgbClr val="AEB6BF"/>
                </a:solidFill>
                <a:latin typeface="Consolas"/>
              </a:rPr>
              <a:t>(</a:t>
            </a:r>
            <a:r>
              <a:rPr sz="1800" i="0">
                <a:solidFill>
                  <a:srgbClr val="E8EDF2"/>
                </a:solidFill>
                <a:latin typeface="Consolas"/>
              </a:rPr>
              <a:t>strategy</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median</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StandardScaler</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num</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cat</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OneHotEncoder</a:t>
            </a:r>
            <a:r>
              <a:rPr sz="1800" i="0">
                <a:solidFill>
                  <a:srgbClr val="AEB6BF"/>
                </a:solidFill>
                <a:latin typeface="Consolas"/>
              </a:rPr>
              <a:t>(</a:t>
            </a:r>
            <a:r>
              <a:rPr sz="1800" i="0">
                <a:solidFill>
                  <a:srgbClr val="E8EDF2"/>
                </a:solidFill>
                <a:latin typeface="Consolas"/>
              </a:rPr>
              <a:t>handle_unknown</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ignore</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programme</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model</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Pipeline</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prep</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prep</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clf</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LogisticRegression</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p:txBody>
      </p:sp>
      <p:sp>
        <p:nvSpPr>
          <p:cNvPr id="15" name="!!code-num"/>
          <p:cNvSpPr txBox="1"/>
          <p:nvPr/>
        </p:nvSpPr>
        <p:spPr>
          <a:xfrm>
            <a:off x="768096" y="2523744"/>
            <a:ext cx="393192" cy="2304287"/>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32</a:t>
            </a:r>
          </a:p>
          <a:p>
            <a:pPr algn="r">
              <a:lnSpc>
                <a:spcPct val="100000"/>
              </a:lnSpc>
            </a:pPr>
            <a:r>
              <a:rPr sz="1800">
                <a:solidFill>
                  <a:srgbClr val="4F5D6A"/>
                </a:solidFill>
                <a:latin typeface="Consolas"/>
              </a:rPr>
              <a:t>33</a:t>
            </a:r>
          </a:p>
          <a:p>
            <a:pPr algn="r">
              <a:lnSpc>
                <a:spcPct val="100000"/>
              </a:lnSpc>
            </a:pPr>
            <a:r>
              <a:rPr sz="1800">
                <a:solidFill>
                  <a:srgbClr val="4F5D6A"/>
                </a:solidFill>
                <a:latin typeface="Consolas"/>
              </a:rPr>
              <a:t>34</a:t>
            </a:r>
          </a:p>
          <a:p>
            <a:pPr algn="r">
              <a:lnSpc>
                <a:spcPct val="100000"/>
              </a:lnSpc>
            </a:pPr>
            <a:r>
              <a:rPr sz="1800">
                <a:solidFill>
                  <a:srgbClr val="4F5D6A"/>
                </a:solidFill>
                <a:latin typeface="Consolas"/>
              </a:rPr>
              <a:t>35</a:t>
            </a:r>
          </a:p>
          <a:p>
            <a:pPr algn="r">
              <a:lnSpc>
                <a:spcPct val="100000"/>
              </a:lnSpc>
            </a:pPr>
            <a:r>
              <a:rPr sz="1800">
                <a:solidFill>
                  <a:srgbClr val="4F5D6A"/>
                </a:solidFill>
                <a:latin typeface="Consolas"/>
              </a:rPr>
              <a:t>36</a:t>
            </a:r>
          </a:p>
          <a:p>
            <a:pPr algn="r">
              <a:lnSpc>
                <a:spcPct val="100000"/>
              </a:lnSpc>
            </a:pPr>
            <a:r>
              <a:rPr sz="1800">
                <a:solidFill>
                  <a:srgbClr val="4F5D6A"/>
                </a:solidFill>
                <a:latin typeface="Consolas"/>
              </a:rPr>
              <a:t>37</a:t>
            </a:r>
          </a:p>
          <a:p>
            <a:pPr algn="r">
              <a:lnSpc>
                <a:spcPct val="100000"/>
              </a:lnSpc>
            </a:pPr>
            <a:r>
              <a:rPr sz="1800">
                <a:solidFill>
                  <a:srgbClr val="4F5D6A"/>
                </a:solidFill>
                <a:latin typeface="Consolas"/>
              </a:rPr>
              <a:t>38</a:t>
            </a:r>
          </a:p>
          <a:p>
            <a:pPr algn="r">
              <a:lnSpc>
                <a:spcPct val="100000"/>
              </a:lnSpc>
            </a:pPr>
            <a:r>
              <a:rPr sz="1800">
                <a:solidFill>
                  <a:srgbClr val="4F5D6A"/>
                </a:solidFill>
                <a:latin typeface="Consolas"/>
              </a:rPr>
              <a:t>39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45954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Leak-Proof Pipeline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6</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§3.7  ·  Handout p. 24     </a:t>
            </a:r>
            <a:fld id="{7E008838-94C0-4371-8A89-3A3E1147EF6E}" type="slidenum">
              <a:rPr lang="en-GB" sz="1000">
                <a:solidFill>
                  <a:srgbClr val="8795A1"/>
                </a:solidFill>
                <a:latin typeface="Segoe UI"/>
              </a:rPr>
              <a:t>35</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 baseline first, then the model</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975104"/>
          </a:xfrm>
          <a:prstGeom prst="roundRect">
            <a:avLst>
              <a:gd name="adj" fmla="val 4629"/>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code/ch03_leak_proof_pipeline.py</a:t>
            </a:r>
          </a:p>
        </p:txBody>
      </p:sp>
      <p:sp>
        <p:nvSpPr>
          <p:cNvPr id="14" name="!!code-text" descr="# --- 3. a baseline first, then the model -------------------------------- base = DummyClassifier(strategy=&quot;most_frequent&quot;).fit(X_tr, y_tr) print(&quot;baseline accuracy:&quot;, round(base.score(X_te, y_te), 3)) model.fit(X_tr, y_tr) print(&quot;model accuracy :&quot;, round(model.score(X_te, y_te), 3))"/>
          <p:cNvSpPr txBox="1"/>
          <p:nvPr/>
        </p:nvSpPr>
        <p:spPr>
          <a:xfrm>
            <a:off x="1362456" y="2523744"/>
            <a:ext cx="9987991" cy="1481328"/>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--- 3. a baseline first, then the model --------------------------------</a:t>
            </a:r>
          </a:p>
          <a:p>
            <a:pPr>
              <a:lnSpc>
                <a:spcPct val="100000"/>
              </a:lnSpc>
              <a:spcAft>
                <a:spcPts val="0"/>
              </a:spcAft>
            </a:pPr>
            <a:r>
              <a:rPr sz="1800" i="0">
                <a:solidFill>
                  <a:srgbClr val="E8EDF2"/>
                </a:solidFill>
                <a:latin typeface="Consolas"/>
              </a:rPr>
              <a:t>base</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DummyClassifier</a:t>
            </a:r>
            <a:r>
              <a:rPr sz="1800" i="0">
                <a:solidFill>
                  <a:srgbClr val="AEB6BF"/>
                </a:solidFill>
                <a:latin typeface="Consolas"/>
              </a:rPr>
              <a:t>(</a:t>
            </a:r>
            <a:r>
              <a:rPr sz="1800" i="0">
                <a:solidFill>
                  <a:srgbClr val="E8EDF2"/>
                </a:solidFill>
                <a:latin typeface="Consolas"/>
              </a:rPr>
              <a:t>strategy</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most_frequent</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fit</a:t>
            </a:r>
            <a:r>
              <a:rPr sz="1800" i="0">
                <a:solidFill>
                  <a:srgbClr val="AEB6BF"/>
                </a:solidFill>
                <a:latin typeface="Consolas"/>
              </a:rPr>
              <a:t>(</a:t>
            </a:r>
            <a:r>
              <a:rPr sz="1800" i="0">
                <a:solidFill>
                  <a:srgbClr val="E8EDF2"/>
                </a:solidFill>
                <a:latin typeface="Consolas"/>
              </a:rPr>
              <a:t>X_tr</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y_tr</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baseline accuracy:</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round</a:t>
            </a:r>
            <a:r>
              <a:rPr sz="1800" i="0">
                <a:solidFill>
                  <a:srgbClr val="AEB6BF"/>
                </a:solidFill>
                <a:latin typeface="Consolas"/>
              </a:rPr>
              <a:t>(</a:t>
            </a:r>
            <a:r>
              <a:rPr sz="1800" i="0">
                <a:solidFill>
                  <a:srgbClr val="E8EDF2"/>
                </a:solidFill>
                <a:latin typeface="Consolas"/>
              </a:rPr>
              <a:t>base</a:t>
            </a:r>
            <a:r>
              <a:rPr sz="1800" i="0">
                <a:solidFill>
                  <a:srgbClr val="AEB6BF"/>
                </a:solidFill>
                <a:latin typeface="Consolas"/>
              </a:rPr>
              <a:t>.</a:t>
            </a:r>
            <a:r>
              <a:rPr sz="1800" i="0">
                <a:solidFill>
                  <a:srgbClr val="E8EDF2"/>
                </a:solidFill>
                <a:latin typeface="Consolas"/>
              </a:rPr>
              <a:t>score</a:t>
            </a:r>
            <a:r>
              <a:rPr sz="1800" i="0">
                <a:solidFill>
                  <a:srgbClr val="AEB6BF"/>
                </a:solidFill>
                <a:latin typeface="Consolas"/>
              </a:rPr>
              <a:t>(</a:t>
            </a:r>
            <a:r>
              <a:rPr sz="1800" i="0">
                <a:solidFill>
                  <a:srgbClr val="E8EDF2"/>
                </a:solidFill>
                <a:latin typeface="Consolas"/>
              </a:rPr>
              <a:t>X_te</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y_te</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3</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model</a:t>
            </a:r>
            <a:r>
              <a:rPr sz="1800" i="0">
                <a:solidFill>
                  <a:srgbClr val="AEB6BF"/>
                </a:solidFill>
                <a:latin typeface="Consolas"/>
              </a:rPr>
              <a:t>.</a:t>
            </a:r>
            <a:r>
              <a:rPr sz="1800" i="0">
                <a:solidFill>
                  <a:srgbClr val="E8EDF2"/>
                </a:solidFill>
                <a:latin typeface="Consolas"/>
              </a:rPr>
              <a:t>fit</a:t>
            </a:r>
            <a:r>
              <a:rPr sz="1800" i="0">
                <a:solidFill>
                  <a:srgbClr val="AEB6BF"/>
                </a:solidFill>
                <a:latin typeface="Consolas"/>
              </a:rPr>
              <a:t>(</a:t>
            </a:r>
            <a:r>
              <a:rPr sz="1800" i="0">
                <a:solidFill>
                  <a:srgbClr val="E8EDF2"/>
                </a:solidFill>
                <a:latin typeface="Consolas"/>
              </a:rPr>
              <a:t>X_tr</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y_tr</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model accuracy   :</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round</a:t>
            </a:r>
            <a:r>
              <a:rPr sz="1800" i="0">
                <a:solidFill>
                  <a:srgbClr val="AEB6BF"/>
                </a:solidFill>
                <a:latin typeface="Consolas"/>
              </a:rPr>
              <a:t>(</a:t>
            </a:r>
            <a:r>
              <a:rPr sz="1800" i="0">
                <a:solidFill>
                  <a:srgbClr val="E8EDF2"/>
                </a:solidFill>
                <a:latin typeface="Consolas"/>
              </a:rPr>
              <a:t>model</a:t>
            </a:r>
            <a:r>
              <a:rPr sz="1800" i="0">
                <a:solidFill>
                  <a:srgbClr val="AEB6BF"/>
                </a:solidFill>
                <a:latin typeface="Consolas"/>
              </a:rPr>
              <a:t>.</a:t>
            </a:r>
            <a:r>
              <a:rPr sz="1800" i="0">
                <a:solidFill>
                  <a:srgbClr val="E8EDF2"/>
                </a:solidFill>
                <a:latin typeface="Consolas"/>
              </a:rPr>
              <a:t>score</a:t>
            </a:r>
            <a:r>
              <a:rPr sz="1800" i="0">
                <a:solidFill>
                  <a:srgbClr val="AEB6BF"/>
                </a:solidFill>
                <a:latin typeface="Consolas"/>
              </a:rPr>
              <a:t>(</a:t>
            </a:r>
            <a:r>
              <a:rPr sz="1800" i="0">
                <a:solidFill>
                  <a:srgbClr val="E8EDF2"/>
                </a:solidFill>
                <a:latin typeface="Consolas"/>
              </a:rPr>
              <a:t>X_te</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y_te</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3</a:t>
            </a:r>
            <a:r>
              <a:rPr sz="1800" i="0">
                <a:solidFill>
                  <a:srgbClr val="AEB6BF"/>
                </a:solidFill>
                <a:latin typeface="Consolas"/>
              </a:rPr>
              <a:t>)</a:t>
            </a:r>
            <a:r>
              <a:rPr sz="1800" i="0">
                <a:solidFill>
                  <a:srgbClr val="AEB6BF"/>
                </a:solidFill>
                <a:latin typeface="Consolas"/>
              </a:rPr>
              <a:t>)</a:t>
            </a:r>
          </a:p>
        </p:txBody>
      </p:sp>
      <p:sp>
        <p:nvSpPr>
          <p:cNvPr id="15" name="!!code-num"/>
          <p:cNvSpPr txBox="1"/>
          <p:nvPr/>
        </p:nvSpPr>
        <p:spPr>
          <a:xfrm>
            <a:off x="768096" y="2523744"/>
            <a:ext cx="393192" cy="148132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41</a:t>
            </a:r>
          </a:p>
          <a:p>
            <a:pPr algn="r">
              <a:lnSpc>
                <a:spcPct val="100000"/>
              </a:lnSpc>
            </a:pPr>
            <a:r>
              <a:rPr sz="1800">
                <a:solidFill>
                  <a:srgbClr val="4F5D6A"/>
                </a:solidFill>
                <a:latin typeface="Consolas"/>
              </a:rPr>
              <a:t>42</a:t>
            </a:r>
          </a:p>
          <a:p>
            <a:pPr algn="r">
              <a:lnSpc>
                <a:spcPct val="100000"/>
              </a:lnSpc>
            </a:pPr>
            <a:r>
              <a:rPr sz="1800">
                <a:solidFill>
                  <a:srgbClr val="4F5D6A"/>
                </a:solidFill>
                <a:latin typeface="Consolas"/>
              </a:rPr>
              <a:t>43</a:t>
            </a:r>
          </a:p>
          <a:p>
            <a:pPr algn="r">
              <a:lnSpc>
                <a:spcPct val="100000"/>
              </a:lnSpc>
            </a:pPr>
            <a:r>
              <a:rPr sz="1800">
                <a:solidFill>
                  <a:srgbClr val="4F5D6A"/>
                </a:solidFill>
                <a:latin typeface="Consolas"/>
              </a:rPr>
              <a:t>44</a:t>
            </a:r>
          </a:p>
          <a:p>
            <a:pPr algn="r">
              <a:lnSpc>
                <a:spcPct val="100000"/>
              </a:lnSpc>
            </a:pPr>
            <a:r>
              <a:rPr sz="1800">
                <a:solidFill>
                  <a:srgbClr val="4F5D6A"/>
                </a:solidFill>
                <a:latin typeface="Consolas"/>
              </a:rPr>
              <a:t>45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70835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Leak-Proof Pipeline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6 OF 6</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§3.7  ·  Handout p. 24     </a:t>
            </a:r>
            <a:fld id="{A610CC8A-58C3-416F-9A03-CB0BBCB4F494}" type="slidenum">
              <a:rPr lang="en-GB" sz="1000">
                <a:solidFill>
                  <a:srgbClr val="8795A1"/>
                </a:solidFill>
                <a:latin typeface="Segoe UI"/>
              </a:rPr>
              <a:t>36</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Look inside: the scaler learned from training rows only</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426463"/>
          </a:xfrm>
          <a:prstGeom prst="roundRect">
            <a:avLst>
              <a:gd name="adj" fmla="val 6410"/>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code/ch03_leak_proof_pipeline.py</a:t>
            </a:r>
          </a:p>
        </p:txBody>
      </p:sp>
      <p:sp>
        <p:nvSpPr>
          <p:cNvPr id="14" name="!!code-text" descr="# --- 4. look inside: the scaler learned from training rows only --------- scaler = model.named_steps[&quot;prep&quot;].named_transformers_[&quot;num&quot;][-1] print(&quot;scaler means:&quot;, scaler.mean_.round(2))"/>
          <p:cNvSpPr txBox="1"/>
          <p:nvPr/>
        </p:nvSpPr>
        <p:spPr>
          <a:xfrm>
            <a:off x="1362456" y="2523744"/>
            <a:ext cx="9987991" cy="932687"/>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--- 4. look inside: the scaler learned from training rows only ---------</a:t>
            </a:r>
          </a:p>
          <a:p>
            <a:pPr>
              <a:lnSpc>
                <a:spcPct val="100000"/>
              </a:lnSpc>
              <a:spcAft>
                <a:spcPts val="0"/>
              </a:spcAft>
            </a:pPr>
            <a:r>
              <a:rPr sz="1800" i="0">
                <a:solidFill>
                  <a:srgbClr val="E8EDF2"/>
                </a:solidFill>
                <a:latin typeface="Consolas"/>
              </a:rPr>
              <a:t>scaler</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model</a:t>
            </a:r>
            <a:r>
              <a:rPr sz="1800" i="0">
                <a:solidFill>
                  <a:srgbClr val="AEB6BF"/>
                </a:solidFill>
                <a:latin typeface="Consolas"/>
              </a:rPr>
              <a:t>.</a:t>
            </a:r>
            <a:r>
              <a:rPr sz="1800" i="0">
                <a:solidFill>
                  <a:srgbClr val="E8EDF2"/>
                </a:solidFill>
                <a:latin typeface="Consolas"/>
              </a:rPr>
              <a:t>named_steps</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prep</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named_transformers_</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num</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scaler means:</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scaler</a:t>
            </a:r>
            <a:r>
              <a:rPr sz="1800" i="0">
                <a:solidFill>
                  <a:srgbClr val="AEB6BF"/>
                </a:solidFill>
                <a:latin typeface="Consolas"/>
              </a:rPr>
              <a:t>.</a:t>
            </a:r>
            <a:r>
              <a:rPr sz="1800" i="0">
                <a:solidFill>
                  <a:srgbClr val="E8EDF2"/>
                </a:solidFill>
                <a:latin typeface="Consolas"/>
              </a:rPr>
              <a:t>mean_</a:t>
            </a:r>
            <a:r>
              <a:rPr sz="1800" i="0">
                <a:solidFill>
                  <a:srgbClr val="AEB6BF"/>
                </a:solidFill>
                <a:latin typeface="Consolas"/>
              </a:rPr>
              <a:t>.</a:t>
            </a:r>
            <a:r>
              <a:rPr sz="1800" i="0">
                <a:solidFill>
                  <a:srgbClr val="E8EDF2"/>
                </a:solidFill>
                <a:latin typeface="Consolas"/>
              </a:rPr>
              <a:t>round</a:t>
            </a:r>
            <a:r>
              <a:rPr sz="1800" i="0">
                <a:solidFill>
                  <a:srgbClr val="AEB6BF"/>
                </a:solidFill>
                <a:latin typeface="Consolas"/>
              </a:rPr>
              <a:t>(</a:t>
            </a:r>
            <a:r>
              <a:rPr sz="1800" i="0">
                <a:solidFill>
                  <a:srgbClr val="F7DC6F"/>
                </a:solidFill>
                <a:latin typeface="Consolas"/>
              </a:rPr>
              <a:t>2</a:t>
            </a:r>
            <a:r>
              <a:rPr sz="1800" i="0">
                <a:solidFill>
                  <a:srgbClr val="AEB6BF"/>
                </a:solidFill>
                <a:latin typeface="Consolas"/>
              </a:rPr>
              <a:t>)</a:t>
            </a:r>
            <a:r>
              <a:rPr sz="1800" i="0">
                <a:solidFill>
                  <a:srgbClr val="AEB6BF"/>
                </a:solidFill>
                <a:latin typeface="Consolas"/>
              </a:rPr>
              <a:t>)</a:t>
            </a:r>
          </a:p>
        </p:txBody>
      </p:sp>
      <p:sp>
        <p:nvSpPr>
          <p:cNvPr id="15" name="!!code-num"/>
          <p:cNvSpPr txBox="1"/>
          <p:nvPr/>
        </p:nvSpPr>
        <p:spPr>
          <a:xfrm>
            <a:off x="768096" y="2523744"/>
            <a:ext cx="393192" cy="932687"/>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47</a:t>
            </a:r>
          </a:p>
          <a:p>
            <a:pPr algn="r">
              <a:lnSpc>
                <a:spcPct val="100000"/>
              </a:lnSpc>
            </a:pPr>
            <a:r>
              <a:rPr sz="1800">
                <a:solidFill>
                  <a:srgbClr val="4F5D6A"/>
                </a:solidFill>
                <a:latin typeface="Consolas"/>
              </a:rPr>
              <a:t>48</a:t>
            </a:r>
          </a:p>
          <a:p>
            <a:pPr algn="r">
              <a:lnSpc>
                <a:spcPct val="100000"/>
              </a:lnSpc>
            </a:pPr>
            <a:r>
              <a:rPr sz="1800">
                <a:solidFill>
                  <a:srgbClr val="4F5D6A"/>
                </a:solidFill>
                <a:latin typeface="Consolas"/>
              </a:rPr>
              <a:t>49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95716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§3.7  ·  Handout p. 24     </a:t>
            </a:r>
            <a:fld id="{52E8B4F4-9199-437D-AE29-7FD5935C961A}" type="slidenum">
              <a:rPr lang="en-GB" sz="1000">
                <a:solidFill>
                  <a:srgbClr val="8795A1"/>
                </a:solidFill>
                <a:latin typeface="Segoe UI"/>
              </a:rPr>
              <a:t>37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079955"/>
          </a:xfrm>
          <a:prstGeom prst="roundRect">
            <a:avLst>
              <a:gd name="adj" fmla="val 4396"/>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079955"/>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baseline scores about 0.68 and the model about 0.84. Now swap the model: import </a:t>
            </a:r>
            <a:r>
              <a:rPr sz="2150" b="0" i="0">
                <a:solidFill>
                  <a:srgbClr val="1F4E79"/>
                </a:solidFill>
                <a:latin typeface="Consolas"/>
              </a:rPr>
              <a:t>DecisionTreeClassifier</a:t>
            </a:r>
            <a:r>
              <a:rPr sz="2300" b="0" i="0">
                <a:solidFill>
                  <a:srgbClr val="1C252B"/>
                </a:solidFill>
                <a:latin typeface="Segoe UI"/>
              </a:rPr>
              <a:t> from </a:t>
            </a:r>
            <a:r>
              <a:rPr sz="2150" b="0" i="0">
                <a:solidFill>
                  <a:srgbClr val="1F4E79"/>
                </a:solidFill>
                <a:latin typeface="Consolas"/>
              </a:rPr>
              <a:t>sklearn.tree</a:t>
            </a:r>
            <a:r>
              <a:rPr sz="2300" b="0" i="0">
                <a:solidFill>
                  <a:srgbClr val="1C252B"/>
                </a:solidFill>
                <a:latin typeface="Segoe UI"/>
              </a:rPr>
              <a:t> and put it where </a:t>
            </a:r>
            <a:r>
              <a:rPr sz="2150" b="0" i="0">
                <a:solidFill>
                  <a:srgbClr val="1F4E79"/>
                </a:solidFill>
                <a:latin typeface="Consolas"/>
              </a:rPr>
              <a:t>LogisticRegression()</a:t>
            </a:r>
            <a:r>
              <a:rPr sz="2300" b="0" i="0">
                <a:solidFill>
                  <a:srgbClr val="1C252B"/>
                </a:solidFill>
                <a:latin typeface="Segoe UI"/>
              </a:rPr>
              <a:t> was. Nothing else changes — that is the point of the interface.</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920597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Why must the scaler’s mean and standard deviation be computed from the training set only?</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3  ·  The Machine Learning Workflow and Toolkit</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26  ·  answers in Appendix D     </a:t>
            </a:r>
            <a:fld id="{EF830BFA-AC86-4EBF-A823-41079654109F}" type="slidenum">
              <a:rPr lang="en-GB" sz="1000">
                <a:solidFill>
                  <a:srgbClr val="D5DEE5"/>
                </a:solidFill>
                <a:latin typeface="Segoe UI"/>
              </a:rPr>
              <a:t>38</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Why must the scaler’s mean and standard deviation be computed from the training set only?</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1046073"/>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At prediction time only the training data is known. Statistics computed with test rows leak information about the test set into training and make the evaluation optimistic; new data must be transformed with the stored training statistics.</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26  ·  answers in Appendix D     </a:t>
            </a:r>
            <a:fld id="{F433AD63-BF95-4C2B-9D69-0302BFD4EB3E}" type="slidenum">
              <a:rPr lang="en-GB" sz="1000">
                <a:solidFill>
                  <a:srgbClr val="8795A1"/>
                </a:solidFill>
                <a:latin typeface="Segoe UI"/>
              </a:rPr>
              <a:t>39</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703594"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dataset has a column </a:t>
            </a:r>
            <a:r>
              <a:rPr sz="3200" b="0" i="0">
                <a:solidFill>
                  <a:srgbClr val="FFFFFF"/>
                </a:solidFill>
                <a:latin typeface="Consolas"/>
              </a:rPr>
              <a:t>protocol</a:t>
            </a:r>
            <a:r>
              <a:rPr sz="3400" b="0" i="0">
                <a:solidFill>
                  <a:srgbClr val="FFFFFF"/>
                </a:solidFill>
                <a:latin typeface="Segoe UI Semibold"/>
              </a:rPr>
              <a:t> with values TCP, UDP and ICMP. How should it be encoded, and why not as 1, 2, 3?</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3  ·  The Machine Learning Workflow and Toolkit</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26  ·  answers in Appendix D     </a:t>
            </a:r>
            <a:fld id="{DEB17632-1E4D-4AF8-A65C-8197F104B447}" type="slidenum">
              <a:rPr lang="en-GB" sz="1000">
                <a:solidFill>
                  <a:srgbClr val="D5DEE5"/>
                </a:solidFill>
                <a:latin typeface="Segoe UI"/>
              </a:rPr>
              <a:t>40</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A dataset has a column </a:t>
            </a:r>
            <a:r>
              <a:rPr sz="2250" b="0" i="0">
                <a:solidFill>
                  <a:srgbClr val="1A5276"/>
                </a:solidFill>
                <a:latin typeface="Consolas"/>
              </a:rPr>
              <a:t>protocol</a:t>
            </a:r>
            <a:r>
              <a:rPr sz="2400" b="0" i="0">
                <a:solidFill>
                  <a:srgbClr val="1A5276"/>
                </a:solidFill>
                <a:latin typeface="Segoe UI Semibold"/>
              </a:rPr>
              <a:t> with values TCP, UDP and ICMP. How should it be encoded, and why not as 1, 2, 3?</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1046073"/>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One-hot encode it into three 0/1 columns. Codes 1, 2, 3 would tell a model that ICMP is “three times” TCP and that UDP lies between them — an order and distances that do not exist.</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26  ·  answers in Appendix D     </a:t>
            </a:r>
            <a:fld id="{2D148E62-BA25-4E11-AE11-BC75043DF305}" type="slidenum">
              <a:rPr lang="en-GB" sz="1000">
                <a:solidFill>
                  <a:srgbClr val="8795A1"/>
                </a:solidFill>
                <a:latin typeface="Segoe UI"/>
              </a:rPr>
              <a:t>41</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201214"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model predicting equipment failure scores 97% accuracy. What single number do you ask for before you are impressed?</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3  ·  The Machine Learning Workflow and Toolkit</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26  ·  answers in Appendix D     </a:t>
            </a:r>
            <a:fld id="{CA791AD9-5EA8-415F-8F2A-74E784AEB775}" type="slidenum">
              <a:rPr lang="en-GB" sz="1000">
                <a:solidFill>
                  <a:srgbClr val="D5DEE5"/>
                </a:solidFill>
                <a:latin typeface="Segoe UI"/>
              </a:rPr>
              <a:t>42</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A model predicting equipment failure scores 97% accuracy. What single number do you ask for before you are impressed?</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69738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The majority-class baseline: if 97% of machines never fail, predicting “no failure” is 97% accurate. Then ask for recall on the failures.</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26  ·  answers in Appendix D     </a:t>
            </a:r>
            <a:fld id="{BD74F177-6C51-49BF-9883-29F6FD4C38B4}" type="slidenum">
              <a:rPr lang="en-GB" sz="1000">
                <a:solidFill>
                  <a:srgbClr val="8795A1"/>
                </a:solidFill>
                <a:latin typeface="Segoe UI"/>
              </a:rPr>
              <a:t>43</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698834"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26     </a:t>
            </a:r>
            <a:fld id="{B15AB455-6731-4CD3-9EB4-DA47D8F067A8}" type="slidenum">
              <a:rPr lang="en-GB" sz="1000">
                <a:solidFill>
                  <a:srgbClr val="8795A1"/>
                </a:solidFill>
                <a:latin typeface="Segoe UI"/>
              </a:rPr>
              <a:t>44</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570585"/>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Every experiment follows the same workflow: frame, collect, split, prepare, baseline, train, validate, test once, report.</a:t>
            </a:r>
          </a:p>
        </p:txBody>
      </p:sp>
      <p:sp>
        <p:nvSpPr>
          <p:cNvPr id="10" name="!!sb1">
            <a:extLst>
              <a:ext uri="{C183D7F6-B498-43B3-948B-1728B52AA6E4}">
                <adec:decorative xmlns:adec="http://schemas.microsoft.com/office/drawing/2017/decorative" val="1"/>
              </a:ext>
            </a:extLst>
          </p:cNvPr>
          <p:cNvSpPr/>
          <p:nvPr/>
        </p:nvSpPr>
        <p:spPr>
          <a:xfrm>
            <a:off x="658368" y="2499969"/>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554833"/>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490825"/>
            <a:ext cx="10234879" cy="570585"/>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The training set fits the model, the validation set chooses between models, and the test set — used once — estimates performance on new data.</a:t>
            </a:r>
          </a:p>
        </p:txBody>
      </p:sp>
      <p:sp>
        <p:nvSpPr>
          <p:cNvPr id="13" name="!!sb2">
            <a:extLst>
              <a:ext uri="{C183D7F6-B498-43B3-948B-1728B52AA6E4}">
                <adec:decorative xmlns:adec="http://schemas.microsoft.com/office/drawing/2017/decorative" val="1"/>
              </a:ext>
            </a:extLst>
          </p:cNvPr>
          <p:cNvSpPr/>
          <p:nvPr/>
        </p:nvSpPr>
        <p:spPr>
          <a:xfrm>
            <a:off x="658368" y="3253435"/>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308299"/>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244291"/>
            <a:ext cx="10234879" cy="570585"/>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Impute gaps (and record that they were gaps), one-hot encode nominal categories, and scale numbers for any method based on distance or gradients.</a:t>
            </a:r>
          </a:p>
        </p:txBody>
      </p:sp>
      <p:sp>
        <p:nvSpPr>
          <p:cNvPr id="16" name="!!sb3">
            <a:extLst>
              <a:ext uri="{C183D7F6-B498-43B3-948B-1728B52AA6E4}">
                <adec:decorative xmlns:adec="http://schemas.microsoft.com/office/drawing/2017/decorative" val="1"/>
              </a:ext>
            </a:extLst>
          </p:cNvPr>
          <p:cNvSpPr/>
          <p:nvPr/>
        </p:nvSpPr>
        <p:spPr>
          <a:xfrm>
            <a:off x="658368" y="400690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06176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3997756"/>
            <a:ext cx="10234879" cy="570585"/>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Every scikit-learn estimator has </a:t>
            </a:r>
            <a:r>
              <a:rPr sz="1700" b="0" i="0">
                <a:solidFill>
                  <a:srgbClr val="1F4E79"/>
                </a:solidFill>
                <a:latin typeface="Consolas"/>
              </a:rPr>
              <a:t>fit</a:t>
            </a:r>
            <a:r>
              <a:rPr sz="1800" b="0" i="0">
                <a:solidFill>
                  <a:srgbClr val="1C252B"/>
                </a:solidFill>
                <a:latin typeface="Segoe UI"/>
              </a:rPr>
              <a:t> and </a:t>
            </a:r>
            <a:r>
              <a:rPr sz="1700" b="0" i="0">
                <a:solidFill>
                  <a:srgbClr val="1F4E79"/>
                </a:solidFill>
                <a:latin typeface="Consolas"/>
              </a:rPr>
              <a:t>predict</a:t>
            </a:r>
            <a:r>
              <a:rPr sz="1800" b="0" i="0">
                <a:solidFill>
                  <a:srgbClr val="1C252B"/>
                </a:solidFill>
                <a:latin typeface="Segoe UI"/>
              </a:rPr>
              <a:t>; every transformer has </a:t>
            </a:r>
            <a:r>
              <a:rPr sz="1700" b="0" i="0">
                <a:solidFill>
                  <a:srgbClr val="1F4E79"/>
                </a:solidFill>
                <a:latin typeface="Consolas"/>
              </a:rPr>
              <a:t>fit</a:t>
            </a:r>
            <a:r>
              <a:rPr sz="1800" b="0" i="0">
                <a:solidFill>
                  <a:srgbClr val="1C252B"/>
                </a:solidFill>
                <a:latin typeface="Segoe UI"/>
              </a:rPr>
              <a:t> and </a:t>
            </a:r>
            <a:r>
              <a:rPr sz="1700" b="0" i="0">
                <a:solidFill>
                  <a:srgbClr val="1F4E79"/>
                </a:solidFill>
                <a:latin typeface="Consolas"/>
              </a:rPr>
              <a:t>transform</a:t>
            </a:r>
            <a:r>
              <a:rPr sz="1800" b="0" i="0">
                <a:solidFill>
                  <a:srgbClr val="1C252B"/>
                </a:solidFill>
                <a:latin typeface="Segoe UI"/>
              </a:rPr>
              <a:t>. Pipelines chain them.</a:t>
            </a:r>
          </a:p>
        </p:txBody>
      </p:sp>
      <p:sp>
        <p:nvSpPr>
          <p:cNvPr id="19" name="!!sb4">
            <a:extLst>
              <a:ext uri="{C183D7F6-B498-43B3-948B-1728B52AA6E4}">
                <adec:decorative xmlns:adec="http://schemas.microsoft.com/office/drawing/2017/decorative" val="1"/>
              </a:ext>
            </a:extLst>
          </p:cNvPr>
          <p:cNvSpPr/>
          <p:nvPr/>
        </p:nvSpPr>
        <p:spPr>
          <a:xfrm>
            <a:off x="658368" y="476036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481523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4751222"/>
            <a:ext cx="10234879" cy="570585"/>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Leakage — through a feature recorded after the outcome or through preparation fitted on test rows — produces scores the model cannot reproduce in use. Pipelines prevent the second kind.</a:t>
            </a:r>
          </a:p>
        </p:txBody>
      </p:sp>
      <p:sp>
        <p:nvSpPr>
          <p:cNvPr id="22" name="!!sb5">
            <a:extLst>
              <a:ext uri="{C183D7F6-B498-43B3-948B-1728B52AA6E4}">
                <adec:decorative xmlns:adec="http://schemas.microsoft.com/office/drawing/2017/decorative" val="1"/>
              </a:ext>
            </a:extLst>
          </p:cNvPr>
          <p:cNvSpPr/>
          <p:nvPr/>
        </p:nvSpPr>
        <p:spPr>
          <a:xfrm>
            <a:off x="658368" y="5513831"/>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sbn5"/>
          <p:cNvSpPr txBox="1"/>
          <p:nvPr/>
        </p:nvSpPr>
        <p:spPr>
          <a:xfrm>
            <a:off x="658368" y="5568696"/>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24" name="!!st5"/>
          <p:cNvSpPr txBox="1"/>
          <p:nvPr/>
        </p:nvSpPr>
        <p:spPr>
          <a:xfrm>
            <a:off x="1298448" y="5504688"/>
            <a:ext cx="10234879" cy="402336"/>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Always report the baseline beside the model.</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10947644"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26     </a:t>
            </a:r>
            <a:fld id="{32CDE51C-F226-4E55-A1D9-011C69A95F0D}" type="slidenum">
              <a:rPr lang="en-GB" sz="1000">
                <a:solidFill>
                  <a:srgbClr val="8795A1"/>
                </a:solidFill>
                <a:latin typeface="Segoe UI"/>
              </a:rPr>
              <a:t>45</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Which set is used to choose between a decision tree and an SVM?</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training</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validation</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test</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all three</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196454"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26     </a:t>
            </a:r>
            <a:fld id="{4385BB4F-E35D-40D0-B724-ED94EB209AB1}" type="slidenum">
              <a:rPr lang="en-GB" sz="1000">
                <a:solidFill>
                  <a:srgbClr val="8795A1"/>
                </a:solidFill>
                <a:latin typeface="Segoe UI"/>
              </a:rPr>
              <a:t>46</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Which model does </a:t>
            </a:r>
            <a:r>
              <a:rPr sz="2600" b="0" i="1">
                <a:solidFill>
                  <a:srgbClr val="1C252B"/>
                </a:solidFill>
                <a:latin typeface="Segoe UI"/>
              </a:rPr>
              <a:t>not</a:t>
            </a:r>
            <a:r>
              <a:rPr sz="2600" b="0" i="0">
                <a:solidFill>
                  <a:srgbClr val="1C252B"/>
                </a:solidFill>
                <a:latin typeface="Segoe UI"/>
              </a:rPr>
              <a:t> need its features scaled?</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k</a:t>
            </a:r>
            <a:r>
              <a:rPr sz="2000" b="0" i="0">
                <a:solidFill>
                  <a:srgbClr val="1C252B"/>
                </a:solidFill>
                <a:latin typeface="Segoe UI"/>
              </a:rPr>
              <a:t>-nearest neighbours</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SVM</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decision tree</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k</a:t>
            </a:r>
            <a:r>
              <a:rPr sz="2000" b="0" i="0">
                <a:solidFill>
                  <a:srgbClr val="1C252B"/>
                </a:solidFill>
                <a:latin typeface="Segoe UI"/>
              </a:rPr>
              <a:t>-means</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445264"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26     </a:t>
            </a:r>
            <a:fld id="{7E364DFD-7495-4A12-AF93-6ADAC40483B7}" type="slidenum">
              <a:rPr lang="en-GB" sz="1000">
                <a:solidFill>
                  <a:srgbClr val="8795A1"/>
                </a:solidFill>
                <a:latin typeface="Segoe UI"/>
              </a:rPr>
              <a:t>47</a:t>
            </a:fld>
          </a:p>
        </p:txBody>
      </p:sp>
      <p:sp>
        <p:nvSpPr>
          <p:cNvPr id="7" name="!!mstem"/>
          <p:cNvSpPr txBox="1"/>
          <p:nvPr/>
        </p:nvSpPr>
        <p:spPr>
          <a:xfrm>
            <a:off x="658368" y="1737360"/>
            <a:ext cx="10874959" cy="86989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A column recording the date a loan was written off, in a model predicting default, is an example of:</a:t>
            </a:r>
          </a:p>
        </p:txBody>
      </p:sp>
      <p:sp>
        <p:nvSpPr>
          <p:cNvPr id="8" name="!!mo0">
            <a:extLst>
              <a:ext uri="{C183D7F6-B498-43B3-948B-1728B52AA6E4}">
                <adec:decorative xmlns:adec="http://schemas.microsoft.com/office/drawing/2017/decorative" val="1"/>
              </a:ext>
            </a:extLst>
          </p:cNvPr>
          <p:cNvSpPr/>
          <p:nvPr/>
        </p:nvSpPr>
        <p:spPr>
          <a:xfrm>
            <a:off x="658368" y="292729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320161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328391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327781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target leakage</a:t>
            </a:r>
          </a:p>
        </p:txBody>
      </p:sp>
      <p:sp>
        <p:nvSpPr>
          <p:cNvPr id="12" name="!!mo1">
            <a:extLst>
              <a:ext uri="{C183D7F6-B498-43B3-948B-1728B52AA6E4}">
                <adec:decorative xmlns:adec="http://schemas.microsoft.com/office/drawing/2017/decorative" val="1"/>
              </a:ext>
            </a:extLst>
          </p:cNvPr>
          <p:cNvSpPr/>
          <p:nvPr/>
        </p:nvSpPr>
        <p:spPr>
          <a:xfrm>
            <a:off x="6214719" y="292729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320161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328391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327781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stratification</a:t>
            </a:r>
          </a:p>
        </p:txBody>
      </p:sp>
      <p:sp>
        <p:nvSpPr>
          <p:cNvPr id="16" name="!!mo2">
            <a:extLst>
              <a:ext uri="{C183D7F6-B498-43B3-948B-1728B52AA6E4}">
                <adec:decorative xmlns:adec="http://schemas.microsoft.com/office/drawing/2017/decorative" val="1"/>
              </a:ext>
            </a:extLst>
          </p:cNvPr>
          <p:cNvSpPr/>
          <p:nvPr/>
        </p:nvSpPr>
        <p:spPr>
          <a:xfrm>
            <a:off x="658368" y="411601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439033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47263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46653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imputation</a:t>
            </a:r>
          </a:p>
        </p:txBody>
      </p:sp>
      <p:sp>
        <p:nvSpPr>
          <p:cNvPr id="20" name="!!mo3">
            <a:extLst>
              <a:ext uri="{C183D7F6-B498-43B3-948B-1728B52AA6E4}">
                <adec:decorative xmlns:adec="http://schemas.microsoft.com/office/drawing/2017/decorative" val="1"/>
              </a:ext>
            </a:extLst>
          </p:cNvPr>
          <p:cNvSpPr/>
          <p:nvPr/>
        </p:nvSpPr>
        <p:spPr>
          <a:xfrm>
            <a:off x="6214719" y="411601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439033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47263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46653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baseline</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694074"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3  ·  The Machine Learning Workflow and Toolkit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26     </a:t>
            </a:r>
            <a:fld id="{678673C2-6A52-4E5F-9F1D-4BA64D165B3B}" type="slidenum">
              <a:rPr lang="en-GB" sz="1000">
                <a:solidFill>
                  <a:srgbClr val="8795A1"/>
                </a:solidFill>
                <a:latin typeface="Segoe UI"/>
              </a:rPr>
              <a:t>48</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the difference between </a:t>
            </a:r>
            <a:r>
              <a:rPr sz="1800" b="0" i="0">
                <a:solidFill>
                  <a:srgbClr val="1F4E79"/>
                </a:solidFill>
                <a:latin typeface="Consolas"/>
              </a:rPr>
              <a:t>fit</a:t>
            </a:r>
            <a:r>
              <a:rPr sz="1900" b="0" i="0">
                <a:solidFill>
                  <a:srgbClr val="1C252B"/>
                </a:solidFill>
                <a:latin typeface="Segoe UI"/>
              </a:rPr>
              <a:t>, </a:t>
            </a:r>
            <a:r>
              <a:rPr sz="1800" b="0" i="0">
                <a:solidFill>
                  <a:srgbClr val="1F4E79"/>
                </a:solidFill>
                <a:latin typeface="Consolas"/>
              </a:rPr>
              <a:t>transform</a:t>
            </a:r>
            <a:r>
              <a:rPr sz="1900" b="0" i="0">
                <a:solidFill>
                  <a:srgbClr val="1C252B"/>
                </a:solidFill>
                <a:latin typeface="Segoe UI"/>
              </a:rPr>
              <a:t> and </a:t>
            </a:r>
            <a:r>
              <a:rPr sz="1800" b="0" i="0">
                <a:solidFill>
                  <a:srgbClr val="1F4E79"/>
                </a:solidFill>
                <a:latin typeface="Consolas"/>
              </a:rPr>
              <a:t>predict</a:t>
            </a:r>
            <a:r>
              <a:rPr sz="1900" b="0" i="0">
                <a:solidFill>
                  <a:srgbClr val="1C252B"/>
                </a:solidFill>
                <a:latin typeface="Segoe UI"/>
              </a:rPr>
              <a:t>.</a:t>
            </a:r>
          </a:p>
        </p:txBody>
      </p:sp>
      <p:sp>
        <p:nvSpPr>
          <p:cNvPr id="10" name="!!rt1">
            <a:extLst>
              <a:ext uri="{C183D7F6-B498-43B3-948B-1728B52AA6E4}">
                <adec:decorative xmlns:adec="http://schemas.microsoft.com/office/drawing/2017/decorative" val="1"/>
              </a:ext>
            </a:extLst>
          </p:cNvPr>
          <p:cNvSpPr/>
          <p:nvPr/>
        </p:nvSpPr>
        <p:spPr>
          <a:xfrm>
            <a:off x="658368" y="2276246"/>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317394"/>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257958"/>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should a time-ordered dataset not be split at random?</a:t>
            </a:r>
          </a:p>
        </p:txBody>
      </p:sp>
      <p:sp>
        <p:nvSpPr>
          <p:cNvPr id="13" name="!!rt2">
            <a:extLst>
              <a:ext uri="{C183D7F6-B498-43B3-948B-1728B52AA6E4}">
                <adec:decorative xmlns:adec="http://schemas.microsoft.com/office/drawing/2017/decorative" val="1"/>
              </a:ext>
            </a:extLst>
          </p:cNvPr>
          <p:cNvSpPr/>
          <p:nvPr/>
        </p:nvSpPr>
        <p:spPr>
          <a:xfrm>
            <a:off x="658368" y="2796844"/>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2837992"/>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2778556"/>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When is it worth adding a “value was missing” column alongside an imputed feature?</a:t>
            </a:r>
          </a:p>
        </p:txBody>
      </p:sp>
      <p:sp>
        <p:nvSpPr>
          <p:cNvPr id="16" name="!!rt3">
            <a:extLst>
              <a:ext uri="{C183D7F6-B498-43B3-948B-1728B52AA6E4}">
                <adec:decorative xmlns:adec="http://schemas.microsoft.com/office/drawing/2017/decorative" val="1"/>
              </a:ext>
            </a:extLst>
          </p:cNvPr>
          <p:cNvSpPr/>
          <p:nvPr/>
        </p:nvSpPr>
        <p:spPr>
          <a:xfrm>
            <a:off x="658368" y="3317443"/>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3358591"/>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3299155"/>
            <a:ext cx="9549079" cy="90342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Training values of a feature are </a:t>
            </a:r>
            <a:r>
              <a:rPr sz="1900" b="0" i="0">
                <a:solidFill>
                  <a:srgbClr val="1C252B"/>
                </a:solidFill>
                <a:latin typeface="Cambria"/>
              </a:rPr>
              <a:t>10, 20, 30, 40</a:t>
            </a:r>
            <a:r>
              <a:rPr sz="1900" b="0" i="0">
                <a:solidFill>
                  <a:srgbClr val="1C252B"/>
                </a:solidFill>
                <a:latin typeface="Segoe UI"/>
              </a:rPr>
              <a:t>. Compute the standardised value of a new observation of </a:t>
            </a:r>
            <a:r>
              <a:rPr sz="1900" b="0" i="0">
                <a:solidFill>
                  <a:srgbClr val="1C252B"/>
                </a:solidFill>
                <a:latin typeface="Cambria"/>
              </a:rPr>
              <a:t>45</a:t>
            </a:r>
            <a:r>
              <a:rPr sz="1900" b="0" i="0">
                <a:solidFill>
                  <a:srgbClr val="1C252B"/>
                </a:solidFill>
                <a:latin typeface="Segoe UI"/>
              </a:rPr>
              <a:t>, showing </a:t>
            </a:r>
            <a:r>
              <a:rPr sz="1900" b="0" i="0">
                <a:solidFill>
                  <a:srgbClr val="1C252B"/>
                </a:solidFill>
                <a:latin typeface="Cambria"/>
              </a:rPr>
              <a:t>μ</a:t>
            </a:r>
            <a:r>
              <a:rPr sz="1900" b="0" i="0">
                <a:solidFill>
                  <a:srgbClr val="1C252B"/>
                </a:solidFill>
                <a:latin typeface="Segoe UI"/>
              </a:rPr>
              <a:t> and </a:t>
            </a:r>
            <a:r>
              <a:rPr sz="1900" b="0" i="0">
                <a:solidFill>
                  <a:srgbClr val="1C252B"/>
                </a:solidFill>
                <a:latin typeface="Cambria"/>
              </a:rPr>
              <a:t>σ</a:t>
            </a:r>
            <a:r>
              <a:rPr sz="1900" b="0" i="0">
                <a:solidFill>
                  <a:srgbClr val="1C252B"/>
                </a:solidFill>
                <a:latin typeface="Segoe UI"/>
              </a:rPr>
              <a:t>. Then compute its min–max scaled value, and say what is unusual about the result.</a:t>
            </a:r>
          </a:p>
        </p:txBody>
      </p:sp>
      <p:sp>
        <p:nvSpPr>
          <p:cNvPr id="19" name="!!rt4">
            <a:extLst>
              <a:ext uri="{C183D7F6-B498-43B3-948B-1728B52AA6E4}">
                <adec:decorative xmlns:adec="http://schemas.microsoft.com/office/drawing/2017/decorative" val="1"/>
              </a:ext>
            </a:extLst>
          </p:cNvPr>
          <p:cNvSpPr/>
          <p:nvPr/>
        </p:nvSpPr>
        <p:spPr>
          <a:xfrm>
            <a:off x="658368" y="4440326"/>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rtt4"/>
          <p:cNvSpPr txBox="1"/>
          <p:nvPr/>
        </p:nvSpPr>
        <p:spPr>
          <a:xfrm>
            <a:off x="658368" y="4481474"/>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21" name="!!rq4"/>
          <p:cNvSpPr txBox="1"/>
          <p:nvPr/>
        </p:nvSpPr>
        <p:spPr>
          <a:xfrm>
            <a:off x="1892807" y="4422038"/>
            <a:ext cx="9549079" cy="90342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A colleague scales the whole dataset, selects the ten features most correlated with the label, then runs 5-fold cross-validation and reports 94%. Identify every leak in this procedure and rewrite it so that it cannot leak.</a:t>
            </a: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1194288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2C6081"/>
                </a:solidFill>
                <a:latin typeface="Segoe UI Black"/>
              </a:rPr>
              <a:t>03</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3</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144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BDCB"/>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Chapter 4 — Concept Learning and the Version Space</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144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BDCB"/>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3, pages 20–26</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144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BDCB"/>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A leak-proof pipeline</a:t>
            </a:r>
          </a:p>
        </p:txBody>
      </p:sp>
      <p:sp>
        <p:nvSpPr>
          <p:cNvPr id="1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3  ·  The Machine Learning Workflow and Toolkit</a:t>
            </a:r>
          </a:p>
        </p:txBody>
      </p:sp>
      <p:sp>
        <p:nvSpPr>
          <p:cNvPr id="15" name="!!footR"/>
          <p:cNvSpPr txBox="1"/>
          <p:nvPr/>
        </p:nvSpPr>
        <p:spPr>
          <a:xfrm>
            <a:off x="6639595" y="6437376"/>
            <a:ext cx="4893731" cy="237744"/>
          </a:xfrm>
          <a:prstGeom prst="rect">
            <a:avLst/>
          </a:prstGeom>
          <a:noFill/>
        </p:spPr>
        <p:txBody>
          <a:bodyPr wrap="square" anchor="t" lIns="0" rIns="0" tIns="0" bIns="0">
            <a:noAutofit/>
          </a:bodyPr>
          <a:lstStyle/>
          <a:p>
            <a:pPr algn="r"/>
            <a:fld id="{896B0AFC-5A19-4E7B-80BC-5A30A81394F2}" type="slidenum">
              <a:rPr lang="en-GB" sz="1000">
                <a:solidFill>
                  <a:srgbClr val="D5DEE5"/>
                </a:solidFill>
                <a:latin typeface="Segoe UI"/>
              </a:rPr>
              <a:t>49</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Machine Learning Fall 2026">
  <a:themeElements>
    <a:clrScheme name="Machine Learning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Machine Learning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3: The Machine Learning Workflow and Toolkit</dc:title>
  <dc:subject>Machine Learning — From Hypotheses to Decisions · BSIT · Fall 2026</dc:subject>
  <dc:creator>Dr. Mustafa Hameed</dc:creator>
  <cp:keywords>machine learning;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