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9.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475297-B57B-4CC7-A01B-71EE646A0C63}">
          <p14:sldIdLst>
            <p14:sldId id="256"/>
            <p14:sldId id="257"/>
            <p14:sldId id="258"/>
            <p14:sldId id="259"/>
            <p14:sldId id="260"/>
          </p14:sldIdLst>
        </p14:section>
        <p14:section name="3.1 One Experiment, Start to Finish" id="{DBD7236F-CEFC-4DA4-A05F-05A61546BBD8}">
          <p14:sldIdLst>
            <p14:sldId id="261"/>
            <p14:sldId id="262"/>
            <p14:sldId id="263"/>
          </p14:sldIdLst>
        </p14:section>
        <p14:section name="3.2 Examples, Features and Labels" id="{7CD1FF51-9062-4ED6-849D-D0EE972A2C56}">
          <p14:sldIdLst>
            <p14:sldId id="264"/>
          </p14:sldIdLst>
        </p14:section>
        <p14:section name="3.3 Splitting the Data" id="{20E71ACE-1701-450D-BC81-5AEE8B2CE6E4}">
          <p14:sldIdLst>
            <p14:sldId id="265"/>
            <p14:sldId id="266"/>
            <p14:sldId id="267"/>
            <p14:sldId id="268"/>
          </p14:sldIdLst>
        </p14:section>
        <p14:section name="3.4 Preparing Features" id="{3684BB72-FA58-4730-8166-5EEDD7F634E9}">
          <p14:sldIdLst>
            <p14:sldId id="269"/>
            <p14:sldId id="270"/>
          </p14:sldIdLst>
        </p14:section>
        <p14:section name="3.5 The scikit-learn Interface" id="{B92571EB-37BA-4C8B-8A86-E1ADEABD2121}">
          <p14:sldIdLst>
            <p14:sldId id="271"/>
            <p14:sldId id="272"/>
            <p14:sldId id="273"/>
          </p14:sldIdLst>
        </p14:section>
        <p14:section name="3.6 Pipelines and Data Leakage" id="{6F68C63F-38A7-4BFA-AC7B-3BD88040DB54}">
          <p14:sldIdLst>
            <p14:sldId id="274"/>
            <p14:sldId id="275"/>
            <p14:sldId id="276"/>
            <p14:sldId id="277"/>
          </p14:sldIdLst>
        </p14:section>
        <p14:section name="3.7 Baselines" id="{8014D4E8-38B1-4C9F-8B60-A283F1A53FE9}">
          <p14:sldIdLst>
            <p14:sldId id="278"/>
          </p14:sldIdLst>
        </p14:section>
        <p14:section name="Pitfalls" id="{978625CD-7724-43DF-B3B5-7729E214D8A2}">
          <p14:sldIdLst>
            <p14:sldId id="279"/>
          </p14:sldIdLst>
        </p14:section>
        <p14:section name="Lab" id="{D7BA2CCE-FF12-485C-BEF5-D6A8F24A7ED6}">
          <p14:sldIdLst>
            <p14:sldId id="280"/>
            <p14:sldId id="281"/>
            <p14:sldId id="282"/>
            <p14:sldId id="283"/>
            <p14:sldId id="284"/>
            <p14:sldId id="285"/>
            <p14:sldId id="286"/>
            <p14:sldId id="287"/>
          </p14:sldIdLst>
        </p14:section>
        <p14:section name="Checkpoint" id="{2F948992-C531-4CB0-8E68-995FE9CAB14E}">
          <p14:sldIdLst>
            <p14:sldId id="288"/>
            <p14:sldId id="289"/>
            <p14:sldId id="290"/>
            <p14:sldId id="291"/>
            <p14:sldId id="292"/>
            <p14:sldId id="293"/>
          </p14:sldIdLst>
        </p14:section>
        <p14:section name="Wrap-up" id="{EA79B2FB-64DC-4636-BD7D-5D72152C546D}">
          <p14:sldIdLst>
            <p14:sldId id="294"/>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The Machine Learning Workflow and Toolkit. Part 1 — Foundations. Week 2: The workflow and the toolkit. Handout pages 19–25.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(examples, features, labels, the paradigms) and Chapter 2 (vectors, distance, and why feature scale matters). Basic Python; Appendix A is a reference for every library call used in the labs.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workflow; feature types; training set; validation set; test set; stratified split; imputation; one-hot encoding; standardisation; min–max scaling; estimator; transformer; fit / predict / transform; pipeline; data leakage; baseline.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from here on teaches a new algorithm, and every lab runs it inside the same sequence of steps. Learn the sequence once, here, and the algorithms become interchangeable parts. Figure 3.1 shows it.</a:t>
            </a:r>
          </a:p>
          <a:p/>
          <a:p>
            <a:r>
              <a:t>Figure 3.1 (handout p. 19): The workflow every lab follows. The loop between training and validation may run dozens of times; the test set, split off in step 3, is used exactly once, in step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for supervised learning is a table: one row per example, one column per feature, and one column for the label. Before choosing any algorithm, decide what type each feature is, because the type decides how it must be prepared.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3.2 (handout p. 20): The three-way split. Only the test score is an honest estimate of performance on new data, and it stays honest only if it is looked at once.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values. Most algorithms cannot accept a blank. Either drop the rows (wasteful, and biased if the gaps are not random) or impute: fill each gap with the median of that feature in the training data. When a value is missing for a reason — a timesheet never filled in during a crunch, a project that never kept a risk register — add a yes/no column recording that it was missing; the absence is itself informative. Categories. One-hot encoding replaces a categorical feature with one 0/1 column per category. ptype ∈ {Web, Mobile, Data} becomes three columns, exactly one of which is 1 in each row. Coding the project types as 1, 2 and 3 instead would tell the model that a Data project is “three times” a Web project, which is nonsense that a linear model will happily use. Scaling. Chapter 2 showed a distance dominated by the feature with the largest units. Standardisation rescales each feature to mean 0 and standard deviation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Min–max scaling maps each feature onto [0, 1] instead: x′ = (x − min)/(max − min). Tree-based models (Chapter 9, Chapter 14) do not need scaling; nearest neighbours, SVMs, neural networks, k-means, PCA and anything trained by gradient descent do.</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algorithm in this course is available in scikit-learn, and every one of them is used in the same way. That uniformity is the reason the labs can swap a decision tree for an SVM by changing one line.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comes in two forms. Target leakage is a feature that is recorded after, or because of, the outcome: days_overdue in a model of which tasks will finish late. Train–test contamination is subtler: preparing the data using statistics that include the test rows. Fit a scaler on the full dataset and then split, and the training data has been shifted by the test data’s mean — the model has seen a summary of the exam.</a:t>
            </a:r>
          </a:p>
          <a:p/>
          <a:p>
            <a:r>
              <a:t>Figure 3.3 (handout p. 22): Train–test contamination. Fitting any preparation step before the split lets the test rows influence training; a pipeline fitted on the training data alone cannot make this mistake.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Baselines are humbling. On the late-task data of Chapter 1’s lab, “always on time” already scores 66% — more than the hand-written rule. On commit data where 99% of commits are clean, “always clean” scores 99% — which is why a defect predictor’s accuracy means nothing until it is set beside the baseline (Chapter 8).</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hundred synthetic past projects with a missing-value problem and one categorical feature; the label is whether the project finished late. The whole workflow, in the order of Figure 3.1.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600 past projects, with gaps.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Split FIRST; the test set is locked away.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Every preparation step lives inside the pipeline.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A baseline first, then the model.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Look inside: the scaler learned from training rows only.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At prediction time only the training data is known. Statistics computed with test rows leak information about the test set into training and make the evaluation optimistic; new data must be transformed with the stored training statistics.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One-hot encode it into three 0/1 columns. Codes 1, 2, 3 would tell a model that Waterfall is “three times” Scrum and that Kanban lies between them — an order and distances that do not exist.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majority-class baseline: if 97% of projects are never cancelled, predicting “not cancelled” is 97% accurate. Then ask for recall on the cancelled projects.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4 — Concept Learning and the Version Space. READ: Handout Chapter 3, pages 19–25. THIS WEEK'S LAB: A leak-proof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9.xml"/><Relationship Id="rId11"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0.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1.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2.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5.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1.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2.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3.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4.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5.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6.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7.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2.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3.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54.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5.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1.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2.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Machine Learning Workflow and Toolkit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3  ·  WEEK 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2D3CB9E2-FBAD-405F-8368-D4F51CD361ED}" type="slidenum">
              <a:rPr lang="en-GB" sz="1000">
                <a:solidFill>
                  <a:srgbClr val="8795A1"/>
                </a:solidFill>
                <a:latin typeface="Segoe UI"/>
              </a:rPr>
              <a:t>2</a:t>
            </a:fld>
          </a:p>
        </p:txBody>
      </p:sp>
      <p:sp>
        <p:nvSpPr>
          <p:cNvPr id="7" name="!!rp1"/>
          <p:cNvSpPr txBox="1"/>
          <p:nvPr/>
        </p:nvSpPr>
        <p:spPr>
          <a:xfrm>
            <a:off x="777239" y="1755648"/>
            <a:ext cx="189413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894138"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3000562"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3000562"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912988"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912988"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45608"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64560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25" name="!!dot4">
            <a:extLst>
              <a:ext uri="{C183D7F6-B498-43B3-948B-1728B52AA6E4}">
                <adec:decorative xmlns:adec="http://schemas.microsoft.com/office/drawing/2017/decorative" val="1"/>
              </a:ext>
            </a:extLst>
          </p:cNvPr>
          <p:cNvSpPr/>
          <p:nvPr/>
        </p:nvSpPr>
        <p:spPr>
          <a:xfrm>
            <a:off x="235688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654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5978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68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69312"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778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6268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712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722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807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The Machine Learning Workflow and Toolkit</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Machine Learning Is</a:t>
            </a:r>
          </a:p>
        </p:txBody>
      </p:sp>
      <p:sp>
        <p:nvSpPr>
          <p:cNvPr id="68" name="!!chipBU2">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2">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2"/>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7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2" name="!!chipUS5">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5">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5"/>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Linear Regression</a:t>
            </a:r>
          </a:p>
        </p:txBody>
      </p:sp>
      <p:sp>
        <p:nvSpPr>
          <p:cNvPr id="75" name="!!chipUS7">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7">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7"/>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8" name="!!chipUS1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Instance-Based Learning: k-Nearest Neighbours</a:t>
            </a:r>
          </a:p>
        </p:txBody>
      </p:sp>
      <p:sp>
        <p:nvSpPr>
          <p:cNvPr id="81" name="!!chipUS15">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5">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5"/>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Clustering</a:t>
            </a:r>
          </a:p>
        </p:txBody>
      </p:sp>
      <p:sp>
        <p:nvSpPr>
          <p:cNvPr id="84" name="!!chipUS21">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bUS21">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tUS21"/>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Responsible and Ethical Machine Learning</a:t>
            </a:r>
          </a:p>
        </p:txBody>
      </p:sp>
      <p:sp>
        <p:nvSpPr>
          <p:cNvPr id="8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8F102709-5CC0-450D-8EB9-8E6E4FEF2A6A}"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Describe</a:t>
            </a:r>
            <a:r>
              <a:rPr sz="2100" b="0" i="0">
                <a:solidFill>
                  <a:srgbClr val="1C252B"/>
                </a:solidFill>
                <a:latin typeface="Segoe UI"/>
              </a:rPr>
              <a:t> the stages of a machine learning experiment, from framing the problem to reporting the result.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Split</a:t>
            </a:r>
            <a:r>
              <a:rPr sz="2100" b="0" i="0">
                <a:solidFill>
                  <a:srgbClr val="1C252B"/>
                </a:solidFill>
                <a:latin typeface="Segoe UI"/>
              </a:rPr>
              <a:t> data into training, validation and test sets, and </a:t>
            </a:r>
            <a:r>
              <a:rPr sz="2100" b="1" i="0">
                <a:solidFill>
                  <a:srgbClr val="1C252B"/>
                </a:solidFill>
                <a:latin typeface="Segoe UI"/>
              </a:rPr>
              <a:t>explain</a:t>
            </a:r>
            <a:r>
              <a:rPr sz="2100" b="0" i="0">
                <a:solidFill>
                  <a:srgbClr val="1C252B"/>
                </a:solidFill>
                <a:latin typeface="Segoe UI"/>
              </a:rPr>
              <a:t> what each one is for.</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Prepare</a:t>
            </a:r>
            <a:r>
              <a:rPr sz="2100" b="0" i="0">
                <a:solidFill>
                  <a:srgbClr val="1C252B"/>
                </a:solidFill>
                <a:latin typeface="Segoe UI"/>
              </a:rPr>
              <a:t> features: impute missing values, encode categories and scale numbers.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268419"/>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Use</a:t>
            </a:r>
            <a:r>
              <a:rPr sz="2100" b="0" i="0">
                <a:solidFill>
                  <a:srgbClr val="1C252B"/>
                </a:solidFill>
                <a:latin typeface="Segoe UI"/>
              </a:rPr>
              <a:t> the scikit-learn estimator interface and </a:t>
            </a:r>
            <a:r>
              <a:rPr sz="2100" b="1" i="0">
                <a:solidFill>
                  <a:srgbClr val="1C252B"/>
                </a:solidFill>
                <a:latin typeface="Segoe UI"/>
              </a:rPr>
              <a:t>combine</a:t>
            </a:r>
            <a:r>
              <a:rPr sz="2100" b="0" i="0">
                <a:solidFill>
                  <a:srgbClr val="1C252B"/>
                </a:solidFill>
                <a:latin typeface="Segoe UI"/>
              </a:rPr>
              <a:t> preparation and model in a pipeline.</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1698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Recognise</a:t>
            </a:r>
            <a:r>
              <a:rPr sz="2100" b="0" i="0">
                <a:solidFill>
                  <a:srgbClr val="1C252B"/>
                </a:solidFill>
                <a:latin typeface="Segoe UI"/>
              </a:rPr>
              <a:t> and </a:t>
            </a:r>
            <a:r>
              <a:rPr sz="2100" b="1" i="0">
                <a:solidFill>
                  <a:srgbClr val="1C252B"/>
                </a:solidFill>
                <a:latin typeface="Segoe UI"/>
              </a:rPr>
              <a:t>prevent</a:t>
            </a:r>
            <a:r>
              <a:rPr sz="2100" b="0" i="0">
                <a:solidFill>
                  <a:srgbClr val="1C252B"/>
                </a:solidFill>
                <a:latin typeface="Segoe UI"/>
              </a:rPr>
              <a:t> data leakage, and </a:t>
            </a:r>
            <a:r>
              <a:rPr sz="2100" b="1" i="0">
                <a:solidFill>
                  <a:srgbClr val="1C252B"/>
                </a:solidFill>
                <a:latin typeface="Segoe UI"/>
              </a:rPr>
              <a:t>establish</a:t>
            </a:r>
            <a:r>
              <a:rPr sz="2100" b="0" i="0">
                <a:solidFill>
                  <a:srgbClr val="1C252B"/>
                </a:solidFill>
                <a:latin typeface="Segoe UI"/>
              </a:rPr>
              <a:t> a baseline before building any model.</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18FD21BF-17C0-44DA-9BA0-2DFD8CD99E3C}" type="slidenum">
              <a:rPr lang="en-GB" sz="1000">
                <a:solidFill>
                  <a:srgbClr val="8795A1"/>
                </a:solidFill>
                <a:latin typeface="Segoe UI"/>
              </a:rPr>
              <a:t>4</a:t>
            </a:fld>
          </a:p>
        </p:txBody>
      </p:sp>
      <p:sp>
        <p:nvSpPr>
          <p:cNvPr id="7" name="!!term-workflow">
            <a:extLst>
              <a:ext uri="{C183D7F6-B498-43B3-948B-1728B52AA6E4}">
                <adec:decorative xmlns:adec="http://schemas.microsoft.com/office/drawing/2017/decorative" val="1"/>
              </a:ext>
            </a:extLst>
          </p:cNvPr>
          <p:cNvSpPr/>
          <p:nvPr/>
        </p:nvSpPr>
        <p:spPr>
          <a:xfrm>
            <a:off x="658368" y="1847088"/>
            <a:ext cx="12716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workflow">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workflow"/>
          <p:cNvSpPr txBox="1"/>
          <p:nvPr/>
        </p:nvSpPr>
        <p:spPr>
          <a:xfrm>
            <a:off x="950976" y="1962911"/>
            <a:ext cx="108880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workflow</a:t>
            </a:r>
          </a:p>
        </p:txBody>
      </p:sp>
      <p:sp>
        <p:nvSpPr>
          <p:cNvPr id="10" name="!!term-feature types">
            <a:extLst>
              <a:ext uri="{C183D7F6-B498-43B3-948B-1728B52AA6E4}">
                <adec:decorative xmlns:adec="http://schemas.microsoft.com/office/drawing/2017/decorative" val="1"/>
              </a:ext>
            </a:extLst>
          </p:cNvPr>
          <p:cNvSpPr/>
          <p:nvPr/>
        </p:nvSpPr>
        <p:spPr>
          <a:xfrm>
            <a:off x="2076361" y="1847088"/>
            <a:ext cx="16312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eature types">
            <a:extLst>
              <a:ext uri="{C183D7F6-B498-43B3-948B-1728B52AA6E4}">
                <adec:decorative xmlns:adec="http://schemas.microsoft.com/office/drawing/2017/decorative" val="1"/>
              </a:ext>
            </a:extLst>
          </p:cNvPr>
          <p:cNvSpPr/>
          <p:nvPr/>
        </p:nvSpPr>
        <p:spPr>
          <a:xfrm>
            <a:off x="22043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eature types"/>
          <p:cNvSpPr txBox="1"/>
          <p:nvPr/>
        </p:nvSpPr>
        <p:spPr>
          <a:xfrm>
            <a:off x="2368969" y="1962911"/>
            <a:ext cx="144837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feature types</a:t>
            </a:r>
          </a:p>
        </p:txBody>
      </p:sp>
      <p:sp>
        <p:nvSpPr>
          <p:cNvPr id="13" name="!!term-training set">
            <a:extLst>
              <a:ext uri="{C183D7F6-B498-43B3-948B-1728B52AA6E4}">
                <adec:decorative xmlns:adec="http://schemas.microsoft.com/office/drawing/2017/decorative" val="1"/>
              </a:ext>
            </a:extLst>
          </p:cNvPr>
          <p:cNvSpPr/>
          <p:nvPr/>
        </p:nvSpPr>
        <p:spPr>
          <a:xfrm>
            <a:off x="3853924" y="1847088"/>
            <a:ext cx="14671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raining set">
            <a:extLst>
              <a:ext uri="{C183D7F6-B498-43B3-948B-1728B52AA6E4}">
                <adec:decorative xmlns:adec="http://schemas.microsoft.com/office/drawing/2017/decorative" val="1"/>
              </a:ext>
            </a:extLst>
          </p:cNvPr>
          <p:cNvSpPr/>
          <p:nvPr/>
        </p:nvSpPr>
        <p:spPr>
          <a:xfrm>
            <a:off x="398194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raining set"/>
          <p:cNvSpPr txBox="1"/>
          <p:nvPr/>
        </p:nvSpPr>
        <p:spPr>
          <a:xfrm>
            <a:off x="4146532" y="1962911"/>
            <a:ext cx="128426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training set</a:t>
            </a:r>
          </a:p>
        </p:txBody>
      </p:sp>
      <p:sp>
        <p:nvSpPr>
          <p:cNvPr id="16" name="!!term-validation set">
            <a:extLst>
              <a:ext uri="{C183D7F6-B498-43B3-948B-1728B52AA6E4}">
                <adec:decorative xmlns:adec="http://schemas.microsoft.com/office/drawing/2017/decorative" val="1"/>
              </a:ext>
            </a:extLst>
          </p:cNvPr>
          <p:cNvSpPr/>
          <p:nvPr/>
        </p:nvSpPr>
        <p:spPr>
          <a:xfrm>
            <a:off x="5467377" y="1847088"/>
            <a:ext cx="165404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validation set">
            <a:extLst>
              <a:ext uri="{C183D7F6-B498-43B3-948B-1728B52AA6E4}">
                <adec:decorative xmlns:adec="http://schemas.microsoft.com/office/drawing/2017/decorative" val="1"/>
              </a:ext>
            </a:extLst>
          </p:cNvPr>
          <p:cNvSpPr/>
          <p:nvPr/>
        </p:nvSpPr>
        <p:spPr>
          <a:xfrm>
            <a:off x="55953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validation set"/>
          <p:cNvSpPr txBox="1"/>
          <p:nvPr/>
        </p:nvSpPr>
        <p:spPr>
          <a:xfrm>
            <a:off x="5759985" y="1962911"/>
            <a:ext cx="147116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validation set</a:t>
            </a:r>
          </a:p>
        </p:txBody>
      </p:sp>
      <p:sp>
        <p:nvSpPr>
          <p:cNvPr id="19" name="!!term-test set">
            <a:extLst>
              <a:ext uri="{C183D7F6-B498-43B3-948B-1728B52AA6E4}">
                <adec:decorative xmlns:adec="http://schemas.microsoft.com/office/drawing/2017/decorative" val="1"/>
              </a:ext>
            </a:extLst>
          </p:cNvPr>
          <p:cNvSpPr/>
          <p:nvPr/>
        </p:nvSpPr>
        <p:spPr>
          <a:xfrm>
            <a:off x="7267723" y="1847088"/>
            <a:ext cx="10990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test set">
            <a:extLst>
              <a:ext uri="{C183D7F6-B498-43B3-948B-1728B52AA6E4}">
                <adec:decorative xmlns:adec="http://schemas.microsoft.com/office/drawing/2017/decorative" val="1"/>
              </a:ext>
            </a:extLst>
          </p:cNvPr>
          <p:cNvSpPr/>
          <p:nvPr/>
        </p:nvSpPr>
        <p:spPr>
          <a:xfrm>
            <a:off x="739573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test set"/>
          <p:cNvSpPr txBox="1"/>
          <p:nvPr/>
        </p:nvSpPr>
        <p:spPr>
          <a:xfrm>
            <a:off x="7560331" y="1962911"/>
            <a:ext cx="91614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test set</a:t>
            </a:r>
          </a:p>
        </p:txBody>
      </p:sp>
      <p:sp>
        <p:nvSpPr>
          <p:cNvPr id="22" name="!!term-stratified spl">
            <a:extLst>
              <a:ext uri="{C183D7F6-B498-43B3-948B-1728B52AA6E4}">
                <adec:decorative xmlns:adec="http://schemas.microsoft.com/office/drawing/2017/decorative" val="1"/>
              </a:ext>
            </a:extLst>
          </p:cNvPr>
          <p:cNvSpPr/>
          <p:nvPr/>
        </p:nvSpPr>
        <p:spPr>
          <a:xfrm>
            <a:off x="8513049" y="1847088"/>
            <a:ext cx="16777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tratified spl">
            <a:extLst>
              <a:ext uri="{C183D7F6-B498-43B3-948B-1728B52AA6E4}">
                <adec:decorative xmlns:adec="http://schemas.microsoft.com/office/drawing/2017/decorative" val="1"/>
              </a:ext>
            </a:extLst>
          </p:cNvPr>
          <p:cNvSpPr/>
          <p:nvPr/>
        </p:nvSpPr>
        <p:spPr>
          <a:xfrm>
            <a:off x="864106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tratified spl"/>
          <p:cNvSpPr txBox="1"/>
          <p:nvPr/>
        </p:nvSpPr>
        <p:spPr>
          <a:xfrm>
            <a:off x="8805657" y="1962911"/>
            <a:ext cx="149484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stratified split</a:t>
            </a:r>
          </a:p>
        </p:txBody>
      </p:sp>
      <p:sp>
        <p:nvSpPr>
          <p:cNvPr id="25" name="!!term-imputation">
            <a:extLst>
              <a:ext uri="{C183D7F6-B498-43B3-948B-1728B52AA6E4}">
                <adec:decorative xmlns:adec="http://schemas.microsoft.com/office/drawing/2017/decorative" val="1"/>
              </a:ext>
            </a:extLst>
          </p:cNvPr>
          <p:cNvSpPr/>
          <p:nvPr/>
        </p:nvSpPr>
        <p:spPr>
          <a:xfrm>
            <a:off x="658368" y="2468880"/>
            <a:ext cx="14416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imputa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imputation"/>
          <p:cNvSpPr txBox="1"/>
          <p:nvPr/>
        </p:nvSpPr>
        <p:spPr>
          <a:xfrm>
            <a:off x="950976" y="2584704"/>
            <a:ext cx="12587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imputation</a:t>
            </a:r>
          </a:p>
        </p:txBody>
      </p:sp>
      <p:sp>
        <p:nvSpPr>
          <p:cNvPr id="28" name="!!term-one-hot encodi">
            <a:extLst>
              <a:ext uri="{C183D7F6-B498-43B3-948B-1728B52AA6E4}">
                <adec:decorative xmlns:adec="http://schemas.microsoft.com/office/drawing/2017/decorative" val="1"/>
              </a:ext>
            </a:extLst>
          </p:cNvPr>
          <p:cNvSpPr/>
          <p:nvPr/>
        </p:nvSpPr>
        <p:spPr>
          <a:xfrm>
            <a:off x="2246327" y="2468880"/>
            <a:ext cx="20893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one-hot encodi">
            <a:extLst>
              <a:ext uri="{C183D7F6-B498-43B3-948B-1728B52AA6E4}">
                <adec:decorative xmlns:adec="http://schemas.microsoft.com/office/drawing/2017/decorative" val="1"/>
              </a:ext>
            </a:extLst>
          </p:cNvPr>
          <p:cNvSpPr/>
          <p:nvPr/>
        </p:nvSpPr>
        <p:spPr>
          <a:xfrm>
            <a:off x="23743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one-hot encodi"/>
          <p:cNvSpPr txBox="1"/>
          <p:nvPr/>
        </p:nvSpPr>
        <p:spPr>
          <a:xfrm>
            <a:off x="2538935" y="2584704"/>
            <a:ext cx="190647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one-hot encoding</a:t>
            </a:r>
          </a:p>
        </p:txBody>
      </p:sp>
      <p:sp>
        <p:nvSpPr>
          <p:cNvPr id="31" name="!!term-standardisatio">
            <a:extLst>
              <a:ext uri="{C183D7F6-B498-43B3-948B-1728B52AA6E4}">
                <adec:decorative xmlns:adec="http://schemas.microsoft.com/office/drawing/2017/decorative" val="1"/>
              </a:ext>
            </a:extLst>
          </p:cNvPr>
          <p:cNvSpPr/>
          <p:nvPr/>
        </p:nvSpPr>
        <p:spPr>
          <a:xfrm>
            <a:off x="4481986" y="2468880"/>
            <a:ext cx="18443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standardisatio">
            <a:extLst>
              <a:ext uri="{C183D7F6-B498-43B3-948B-1728B52AA6E4}">
                <adec:decorative xmlns:adec="http://schemas.microsoft.com/office/drawing/2017/decorative" val="1"/>
              </a:ext>
            </a:extLst>
          </p:cNvPr>
          <p:cNvSpPr/>
          <p:nvPr/>
        </p:nvSpPr>
        <p:spPr>
          <a:xfrm>
            <a:off x="4610002"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standardisatio"/>
          <p:cNvSpPr txBox="1"/>
          <p:nvPr/>
        </p:nvSpPr>
        <p:spPr>
          <a:xfrm>
            <a:off x="4774594" y="2584704"/>
            <a:ext cx="166144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standardisation</a:t>
            </a:r>
          </a:p>
        </p:txBody>
      </p:sp>
      <p:sp>
        <p:nvSpPr>
          <p:cNvPr id="34" name="!!term-min–max scalin">
            <a:extLst>
              <a:ext uri="{C183D7F6-B498-43B3-948B-1728B52AA6E4}">
                <adec:decorative xmlns:adec="http://schemas.microsoft.com/office/drawing/2017/decorative" val="1"/>
              </a:ext>
            </a:extLst>
          </p:cNvPr>
          <p:cNvSpPr/>
          <p:nvPr/>
        </p:nvSpPr>
        <p:spPr>
          <a:xfrm>
            <a:off x="6472617" y="2468880"/>
            <a:ext cx="19531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min–max scalin">
            <a:extLst>
              <a:ext uri="{C183D7F6-B498-43B3-948B-1728B52AA6E4}">
                <adec:decorative xmlns:adec="http://schemas.microsoft.com/office/drawing/2017/decorative" val="1"/>
              </a:ext>
            </a:extLst>
          </p:cNvPr>
          <p:cNvSpPr/>
          <p:nvPr/>
        </p:nvSpPr>
        <p:spPr>
          <a:xfrm>
            <a:off x="660063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min–max scalin"/>
          <p:cNvSpPr txBox="1"/>
          <p:nvPr/>
        </p:nvSpPr>
        <p:spPr>
          <a:xfrm>
            <a:off x="6765225" y="2584704"/>
            <a:ext cx="177030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min–max scaling</a:t>
            </a:r>
          </a:p>
        </p:txBody>
      </p:sp>
      <p:sp>
        <p:nvSpPr>
          <p:cNvPr id="37" name="!!term-estimator">
            <a:extLst>
              <a:ext uri="{C183D7F6-B498-43B3-948B-1728B52AA6E4}">
                <adec:decorative xmlns:adec="http://schemas.microsoft.com/office/drawing/2017/decorative" val="1"/>
              </a:ext>
            </a:extLst>
          </p:cNvPr>
          <p:cNvSpPr/>
          <p:nvPr/>
        </p:nvSpPr>
        <p:spPr>
          <a:xfrm>
            <a:off x="8572104" y="2468880"/>
            <a:ext cx="13033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estimator">
            <a:extLst>
              <a:ext uri="{C183D7F6-B498-43B3-948B-1728B52AA6E4}">
                <adec:decorative xmlns:adec="http://schemas.microsoft.com/office/drawing/2017/decorative" val="1"/>
              </a:ext>
            </a:extLst>
          </p:cNvPr>
          <p:cNvSpPr/>
          <p:nvPr/>
        </p:nvSpPr>
        <p:spPr>
          <a:xfrm>
            <a:off x="870012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estimator"/>
          <p:cNvSpPr txBox="1"/>
          <p:nvPr/>
        </p:nvSpPr>
        <p:spPr>
          <a:xfrm>
            <a:off x="8864712" y="2584704"/>
            <a:ext cx="112050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estimator</a:t>
            </a:r>
          </a:p>
        </p:txBody>
      </p:sp>
      <p:sp>
        <p:nvSpPr>
          <p:cNvPr id="40" name="!!term-transformer">
            <a:extLst>
              <a:ext uri="{C183D7F6-B498-43B3-948B-1728B52AA6E4}">
                <adec:decorative xmlns:adec="http://schemas.microsoft.com/office/drawing/2017/decorative" val="1"/>
              </a:ext>
            </a:extLst>
          </p:cNvPr>
          <p:cNvSpPr/>
          <p:nvPr/>
        </p:nvSpPr>
        <p:spPr>
          <a:xfrm>
            <a:off x="10021792" y="2468880"/>
            <a:ext cx="15094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ransformer">
            <a:extLst>
              <a:ext uri="{C183D7F6-B498-43B3-948B-1728B52AA6E4}">
                <adec:decorative xmlns:adec="http://schemas.microsoft.com/office/drawing/2017/decorative" val="1"/>
              </a:ext>
            </a:extLst>
          </p:cNvPr>
          <p:cNvSpPr/>
          <p:nvPr/>
        </p:nvSpPr>
        <p:spPr>
          <a:xfrm>
            <a:off x="1014980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ransformer"/>
          <p:cNvSpPr txBox="1"/>
          <p:nvPr/>
        </p:nvSpPr>
        <p:spPr>
          <a:xfrm>
            <a:off x="10314400" y="2584704"/>
            <a:ext cx="132654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transformer</a:t>
            </a:r>
          </a:p>
        </p:txBody>
      </p:sp>
      <p:sp>
        <p:nvSpPr>
          <p:cNvPr id="43" name="!!term-fit / predict ">
            <a:extLst>
              <a:ext uri="{C183D7F6-B498-43B3-948B-1728B52AA6E4}">
                <adec:decorative xmlns:adec="http://schemas.microsoft.com/office/drawing/2017/decorative" val="1"/>
              </a:ext>
            </a:extLst>
          </p:cNvPr>
          <p:cNvSpPr/>
          <p:nvPr/>
        </p:nvSpPr>
        <p:spPr>
          <a:xfrm>
            <a:off x="658368" y="3090672"/>
            <a:ext cx="25436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fit / predict ">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fit / predict "/>
          <p:cNvSpPr txBox="1"/>
          <p:nvPr/>
        </p:nvSpPr>
        <p:spPr>
          <a:xfrm>
            <a:off x="950976" y="3206496"/>
            <a:ext cx="236074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fit / predict / transform</a:t>
            </a:r>
          </a:p>
        </p:txBody>
      </p:sp>
      <p:sp>
        <p:nvSpPr>
          <p:cNvPr id="46" name="!!term-pipeline">
            <a:extLst>
              <a:ext uri="{C183D7F6-B498-43B3-948B-1728B52AA6E4}">
                <adec:decorative xmlns:adec="http://schemas.microsoft.com/office/drawing/2017/decorative" val="1"/>
              </a:ext>
            </a:extLst>
          </p:cNvPr>
          <p:cNvSpPr/>
          <p:nvPr/>
        </p:nvSpPr>
        <p:spPr>
          <a:xfrm>
            <a:off x="3348301" y="3090672"/>
            <a:ext cx="11672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pipeline">
            <a:extLst>
              <a:ext uri="{C183D7F6-B498-43B3-948B-1728B52AA6E4}">
                <adec:decorative xmlns:adec="http://schemas.microsoft.com/office/drawing/2017/decorative" val="1"/>
              </a:ext>
            </a:extLst>
          </p:cNvPr>
          <p:cNvSpPr/>
          <p:nvPr/>
        </p:nvSpPr>
        <p:spPr>
          <a:xfrm>
            <a:off x="347631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pipeline"/>
          <p:cNvSpPr txBox="1"/>
          <p:nvPr/>
        </p:nvSpPr>
        <p:spPr>
          <a:xfrm>
            <a:off x="3640909" y="3206496"/>
            <a:ext cx="98435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pipeline</a:t>
            </a:r>
          </a:p>
        </p:txBody>
      </p:sp>
      <p:sp>
        <p:nvSpPr>
          <p:cNvPr id="49" name="!!term-data leakage">
            <a:extLst>
              <a:ext uri="{C183D7F6-B498-43B3-948B-1728B52AA6E4}">
                <adec:decorative xmlns:adec="http://schemas.microsoft.com/office/drawing/2017/decorative" val="1"/>
              </a:ext>
            </a:extLst>
          </p:cNvPr>
          <p:cNvSpPr/>
          <p:nvPr/>
        </p:nvSpPr>
        <p:spPr>
          <a:xfrm>
            <a:off x="4661843" y="3090672"/>
            <a:ext cx="16020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ata leakage">
            <a:extLst>
              <a:ext uri="{C183D7F6-B498-43B3-948B-1728B52AA6E4}">
                <adec:decorative xmlns:adec="http://schemas.microsoft.com/office/drawing/2017/decorative" val="1"/>
              </a:ext>
            </a:extLst>
          </p:cNvPr>
          <p:cNvSpPr/>
          <p:nvPr/>
        </p:nvSpPr>
        <p:spPr>
          <a:xfrm>
            <a:off x="478985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ata leakage"/>
          <p:cNvSpPr txBox="1"/>
          <p:nvPr/>
        </p:nvSpPr>
        <p:spPr>
          <a:xfrm>
            <a:off x="4954451" y="3206496"/>
            <a:ext cx="141919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data leakage</a:t>
            </a:r>
          </a:p>
        </p:txBody>
      </p:sp>
      <p:sp>
        <p:nvSpPr>
          <p:cNvPr id="52" name="!!term-baseline">
            <a:extLst>
              <a:ext uri="{C183D7F6-B498-43B3-948B-1728B52AA6E4}">
                <adec:decorative xmlns:adec="http://schemas.microsoft.com/office/drawing/2017/decorative" val="1"/>
              </a:ext>
            </a:extLst>
          </p:cNvPr>
          <p:cNvSpPr/>
          <p:nvPr/>
        </p:nvSpPr>
        <p:spPr>
          <a:xfrm>
            <a:off x="6410224" y="3090672"/>
            <a:ext cx="11885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baseline">
            <a:extLst>
              <a:ext uri="{C183D7F6-B498-43B3-948B-1728B52AA6E4}">
                <adec:decorative xmlns:adec="http://schemas.microsoft.com/office/drawing/2017/decorative" val="1"/>
              </a:ext>
            </a:extLst>
          </p:cNvPr>
          <p:cNvSpPr/>
          <p:nvPr/>
        </p:nvSpPr>
        <p:spPr>
          <a:xfrm>
            <a:off x="653824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baseline"/>
          <p:cNvSpPr txBox="1"/>
          <p:nvPr/>
        </p:nvSpPr>
        <p:spPr>
          <a:xfrm>
            <a:off x="6702832" y="3206496"/>
            <a:ext cx="1005663"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baseline</a:t>
            </a:r>
          </a:p>
        </p:txBody>
      </p:sp>
      <p:sp>
        <p:nvSpPr>
          <p:cNvPr id="55"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19–25     </a:t>
            </a:r>
            <a:fld id="{4F8E12DA-63F0-4244-BF26-2808DE50FC27}" type="slidenum">
              <a:rPr lang="en-GB" sz="1000">
                <a:solidFill>
                  <a:srgbClr val="8795A1"/>
                </a:solidFill>
                <a:latin typeface="Segoe UI"/>
              </a:rPr>
              <a:t>5</a:t>
            </a:fld>
          </a:p>
        </p:txBody>
      </p:sp>
      <p:sp>
        <p:nvSpPr>
          <p:cNvPr id="7" name="!!ag0" descr="Go to section 3.1 One Experiment, Start to Finish">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One Experiment, Start to Finish</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19  ›</a:t>
            </a:r>
          </a:p>
        </p:txBody>
      </p:sp>
      <p:sp>
        <p:nvSpPr>
          <p:cNvPr id="12" name="!!ag1" descr="Go to section 3.2 Examples, Features and Label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Examples, Features and Labels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  ›</a:t>
            </a:r>
          </a:p>
        </p:txBody>
      </p:sp>
      <p:sp>
        <p:nvSpPr>
          <p:cNvPr id="17" name="!!ag2" descr="Go to section 3.3 Splitting the Data">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Splitting the Data</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  ›</a:t>
            </a:r>
          </a:p>
        </p:txBody>
      </p:sp>
      <p:sp>
        <p:nvSpPr>
          <p:cNvPr id="22" name="!!ag3" descr="Go to section 3.4 Preparing Featur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Preparing Features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21  ›</a:t>
            </a:r>
          </a:p>
        </p:txBody>
      </p:sp>
      <p:sp>
        <p:nvSpPr>
          <p:cNvPr id="27" name="!!ag4" descr="Go to section 3.5 The scikit-learn Interface">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scikit-learn Interface</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21  ›</a:t>
            </a:r>
          </a:p>
        </p:txBody>
      </p:sp>
      <p:sp>
        <p:nvSpPr>
          <p:cNvPr id="32" name="!!ag5" descr="Go to section 3.6 Pipelines and Data Leakage">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Pipelines and Data Leakage</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  ›</a:t>
            </a:r>
          </a:p>
        </p:txBody>
      </p:sp>
      <p:sp>
        <p:nvSpPr>
          <p:cNvPr id="37" name="!!ag6" descr="Go to section 3.7 Baselines">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Baselines</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One Experiment, Start to Finish</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3.1   One Experiment, Start to Finish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Examples, Features and Labels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Splitting the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Preparing Features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The scikit-learn Interface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Pipelines and Data Leakage</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3.7   Baselines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§3.1     </a:t>
            </a:r>
            <a:fld id="{05306C6C-4ED8-40FB-8EAC-F6BED9902654}" type="slidenum">
              <a:rPr lang="en-GB" sz="1000">
                <a:solidFill>
                  <a:srgbClr val="8795A1"/>
                </a:solidFill>
                <a:latin typeface="Segoe UI"/>
              </a:rPr>
              <a:t>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workflow every lab follows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  ·  Handout p. 19     </a:t>
            </a:r>
            <a:fld id="{3546D04B-B98C-47C9-98D0-59A39A25874F}" type="slidenum">
              <a:rPr lang="en-GB" sz="1000">
                <a:solidFill>
                  <a:srgbClr val="8795A1"/>
                </a:solidFill>
                <a:latin typeface="Segoe UI"/>
              </a:rPr>
              <a:t>7</a:t>
            </a:fld>
          </a:p>
        </p:txBody>
      </p:sp>
      <p:pic>
        <p:nvPicPr>
          <p:cNvPr id="6" name="!!figure" descr="Figure 3.1. The workflow every lab follows. The loop between training and validation may run dozens of times; the test set, split off in step 3, is used exactly once, in step 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29450"/>
            <a:ext cx="10874959" cy="3214273"/>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loop between training and validation may run dozens of times; the test set, split off in step 3, is used exactly once, in step 8.</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Order Matters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  ·  Handout p. 19     </a:t>
            </a:r>
            <a:fld id="{3C67953C-298C-4775-96A5-9C14BFC21365}"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Steps 3 and 8 are the only two that touch the test set, and they are placed as far apart as possible on purpose. Everything between them — every choice of feature, algorithm and setting — is made while looking only at training and validation data. If any of those choices is made while looking at the test set, the final number measures how well you fitted the test set, not how well the model will do on the next task, ticket or project.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Examples, Features and Labels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20     </a:t>
            </a:r>
            <a:fld id="{2EF0B54D-7E15-49F7-AE9F-DC3D399E240E}" type="slidenum">
              <a:rPr lang="en-GB" sz="1000">
                <a:solidFill>
                  <a:srgbClr val="8795A1"/>
                </a:solidFill>
                <a:latin typeface="Segoe UI"/>
              </a:rPr>
              <a:t>9</a:t>
            </a:fld>
          </a:p>
        </p:txBody>
      </p:sp>
      <p:graphicFrame>
        <p:nvGraphicFramePr>
          <p:cNvPr id="7" name="!!table"/>
          <p:cNvGraphicFramePr>
            <a:graphicFrameLocks noGrp="1"/>
          </p:cNvGraphicFramePr>
          <p:nvPr/>
        </p:nvGraphicFramePr>
        <p:xfrm>
          <a:off x="658368" y="1737360"/>
          <a:ext cx="10874957" cy="3462528"/>
        </p:xfrm>
        <a:graphic>
          <a:graphicData uri="http://schemas.openxmlformats.org/drawingml/2006/table">
            <a:tbl>
              <a:tblPr firstRow="0" bandRow="0" firstCol="0" lastRow="0" lastCol="0" bandCol="0">
                <a:tableStyleId>{2D5ABB26-0587-4C30-8999-92F81FD0307C}</a:tableStyleId>
              </a:tblPr>
              <a:tblGrid>
                <a:gridCol w="2174991"/>
                <a:gridCol w="3624986"/>
                <a:gridCol w="5074980"/>
              </a:tblGrid>
              <a:tr h="390144">
                <a:tc>
                  <a:txBody>
                    <a:bodyPr wrap="square"/>
                    <a:lstStyle/>
                    <a:p>
                      <a:pPr algn="l"/>
                      <a:r>
                        <a:rPr sz="1600" b="1" i="0">
                          <a:solidFill>
                            <a:srgbClr val="1A5276"/>
                          </a:solidFill>
                          <a:latin typeface="Segoe UI"/>
                        </a:rPr>
                        <a:t>Feature type</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Examples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Preparation</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Numeric, continuous</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Budget spent, hours logged, test coverage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Impute gaps; scale for distance- and gradient-based models</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Numeric, count</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Open bugs, change requests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As above; a log transform often helps with long tails</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Categorical, nominal</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Team, project type, technology stack</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One-hot encode; never treat the codes as numbers</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Categorical, ordinal</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Priority (low to critical), severity level</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Map to ordered integers, or one-hot if the gaps are not equal</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Text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Ticket description, commit message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Turn into counts or weights of words (Chapter 10)</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Identifier</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Task ID, ticket number, employee number</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Usually drop. An ID that predicts the label is a leak, not a pattern</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Splitting the Data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One Experiment, Start to Finish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Examples, Features and Labels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3.3   Splitting the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Preparing Features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The scikit-learn Interface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Pipelines and Data Leakage</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3.7   Baselines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§3.3     </a:t>
            </a:r>
            <a:fld id="{1A7D50BD-B151-43A8-BA2C-437A4E2EF645}" type="slidenum">
              <a:rPr lang="en-GB" sz="1000">
                <a:solidFill>
                  <a:srgbClr val="8795A1"/>
                </a:solidFill>
                <a:latin typeface="Segoe UI"/>
              </a:rPr>
              <a:t>10</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Training, Validation and Test Sets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20     </a:t>
            </a:r>
            <a:fld id="{AEFBB485-3DE3-46F3-BC64-56CA04D61FBF}"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t>
            </a:r>
            <a:r>
              <a:rPr sz="2300" b="1" i="0">
                <a:solidFill>
                  <a:srgbClr val="1A5276"/>
                </a:solidFill>
                <a:latin typeface="Segoe UI"/>
              </a:rPr>
              <a:t>training set</a:t>
            </a:r>
            <a:r>
              <a:rPr sz="2300" b="0" i="0">
                <a:solidFill>
                  <a:srgbClr val="1C252B"/>
                </a:solidFill>
                <a:latin typeface="Segoe UI"/>
              </a:rPr>
              <a:t> is what the algorithm learns from. The </a:t>
            </a:r>
            <a:r>
              <a:rPr sz="2300" b="1" i="0">
                <a:solidFill>
                  <a:srgbClr val="1A5276"/>
                </a:solidFill>
                <a:latin typeface="Segoe UI"/>
              </a:rPr>
              <a:t>validation set</a:t>
            </a:r>
            <a:r>
              <a:rPr sz="2300" b="0" i="0">
                <a:solidFill>
                  <a:srgbClr val="1C252B"/>
                </a:solidFill>
                <a:latin typeface="Segoe UI"/>
              </a:rPr>
              <a:t> is used to compare models and choose settings. The </a:t>
            </a:r>
            <a:r>
              <a:rPr sz="2300" b="1" i="0">
                <a:solidFill>
                  <a:srgbClr val="1A5276"/>
                </a:solidFill>
                <a:latin typeface="Segoe UI"/>
              </a:rPr>
              <a:t>test set</a:t>
            </a:r>
            <a:r>
              <a:rPr sz="2300" b="0" i="0">
                <a:solidFill>
                  <a:srgbClr val="1C252B"/>
                </a:solidFill>
                <a:latin typeface="Segoe UI"/>
              </a:rPr>
              <a:t> is held back and used once, at the end, to estimate performance on new data. A typical split is 60/20/20; with little data, the training and validation roles are combined by cross-validation (Chapter 7).</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three-way split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20     </a:t>
            </a:r>
            <a:fld id="{C2EE73AD-76B5-479A-A015-DDD47E52ED7D}" type="slidenum">
              <a:rPr lang="en-GB" sz="1000">
                <a:solidFill>
                  <a:srgbClr val="8795A1"/>
                </a:solidFill>
                <a:latin typeface="Segoe UI"/>
              </a:rPr>
              <a:t>12</a:t>
            </a:fld>
          </a:p>
        </p:txBody>
      </p:sp>
      <p:pic>
        <p:nvPicPr>
          <p:cNvPr id="6" name="!!figure" descr="Figure 3.2. The three-way split. Only the test score is an honest estimate of performance on new data, and it stays honest only if it is looked at on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2040182"/>
            <a:ext cx="10874959" cy="201009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the test score is an honest estimate of performance on new data, and it stays honest only if it is looked at once.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Split Before You Do Anything Else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20     </a:t>
            </a:r>
            <a:fld id="{8D379DF9-2100-45AB-A773-34F60C519AAC}"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Split first, and stratify: </a:t>
            </a:r>
            <a:r>
              <a:rPr sz="2150" b="0" i="0">
                <a:solidFill>
                  <a:srgbClr val="1F4E79"/>
                </a:solidFill>
                <a:latin typeface="Consolas"/>
              </a:rPr>
              <a:t>train_test_split(..., stratify=y)</a:t>
            </a:r>
            <a:r>
              <a:rPr sz="2300" b="0" i="0">
                <a:solidFill>
                  <a:srgbClr val="1C252B"/>
                </a:solidFill>
                <a:latin typeface="Segoe UI"/>
              </a:rPr>
              <a:t> keeps the proportion of each class the same in every part, which matters when one class is rare. Two further rules apply to data with structure. If there are several rows per project or per developer, keep all of an entity’s rows on the same side of the split. If the data is ordered in time, train on the past and test on the future — a random split lets the model peek at tomorrow.</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Preparing Features</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  ·  Handout p. 21     </a:t>
            </a:r>
            <a:fld id="{0AE379BC-2327-4FDA-BE49-8A1935872D91}"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540198"/>
          </a:xfrm>
          <a:prstGeom prst="roundRect">
            <a:avLst>
              <a:gd name="adj" fmla="val 3599"/>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54019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Scaling.</a:t>
            </a:r>
            <a:r>
              <a:rPr sz="2300" b="0" i="0">
                <a:solidFill>
                  <a:srgbClr val="1C252B"/>
                </a:solidFill>
                <a:latin typeface="Segoe UI"/>
              </a:rPr>
              <a:t> Chapter 2 showed a distance dominated by the feature with the largest units. </a:t>
            </a:r>
            <a:r>
              <a:rPr sz="2300" b="1" i="0">
                <a:solidFill>
                  <a:srgbClr val="1A5276"/>
                </a:solidFill>
                <a:latin typeface="Segoe UI"/>
              </a:rPr>
              <a:t>Standardisation</a:t>
            </a:r>
            <a:r>
              <a:rPr sz="2300" b="0" i="0">
                <a:solidFill>
                  <a:srgbClr val="1C252B"/>
                </a:solidFill>
                <a:latin typeface="Segoe UI"/>
              </a:rPr>
              <a:t> rescales each feature to mean 0 and standard deviation 1:</a:t>
            </a:r>
          </a:p>
        </p:txBody>
      </p:sp>
      <p:pic>
        <p:nvPicPr>
          <p:cNvPr id="10" name="body-1" descr="z = \frac{x - \mu_{\text{train}}}{\sigma_{\text{trai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0704" y="3302533"/>
            <a:ext cx="10161727" cy="664128"/>
          </a:xfrm>
          <a:prstGeom prst="rect">
            <a:avLst/>
          </a:prstGeom>
        </p:spPr>
      </p:pic>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Standardising with Training Statistics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  ·  Handout p. 21     </a:t>
            </a:r>
            <a:fld id="{59BBA4B8-27A6-475B-9214-827B33FC70D5}"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74931"/>
          </a:xfrm>
          <a:prstGeom prst="roundRect">
            <a:avLst>
              <a:gd name="adj" fmla="val 219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7493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Four past releases had test coverage </a:t>
            </a:r>
            <a:r>
              <a:rPr sz="1900" b="0" i="0">
                <a:solidFill>
                  <a:srgbClr val="1C252B"/>
                </a:solidFill>
                <a:latin typeface="Cambria"/>
              </a:rPr>
              <a:t>0.6, 0.8, 0.9, 0.7</a:t>
            </a:r>
            <a:r>
              <a:rPr sz="1900" b="0" i="0">
                <a:solidFill>
                  <a:srgbClr val="1C252B"/>
                </a:solidFill>
                <a:latin typeface="Segoe UI"/>
              </a:rPr>
              <a:t> and </a:t>
            </a:r>
            <a:r>
              <a:rPr sz="1900" b="0" i="0">
                <a:solidFill>
                  <a:srgbClr val="1C252B"/>
                </a:solidFill>
                <a:latin typeface="Cambria"/>
              </a:rPr>
              <a:t>2, 4, 6, 8</a:t>
            </a:r>
            <a:r>
              <a:rPr sz="1900" b="0" i="0">
                <a:solidFill>
                  <a:srgbClr val="1C252B"/>
                </a:solidFill>
                <a:latin typeface="Segoe UI"/>
              </a:rPr>
              <a:t> open bugs.</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Coverage:</a:t>
            </a:r>
            <a:r>
              <a:rPr sz="1900" b="0" i="0">
                <a:solidFill>
                  <a:srgbClr val="1C252B"/>
                </a:solidFill>
                <a:latin typeface="Segoe UI"/>
              </a:rPr>
              <a:t> </a:t>
            </a:r>
            <a:r>
              <a:rPr sz="1900" b="0" i="0">
                <a:solidFill>
                  <a:srgbClr val="1C252B"/>
                </a:solidFill>
                <a:latin typeface="Cambria"/>
              </a:rPr>
              <a:t>μ = 0.75</a:t>
            </a:r>
            <a:r>
              <a:rPr sz="1900" b="0" i="0">
                <a:solidFill>
                  <a:srgbClr val="1C252B"/>
                </a:solidFill>
                <a:latin typeface="Segoe UI"/>
              </a:rPr>
              <a:t>; </a:t>
            </a:r>
            <a:r>
              <a:rPr sz="1900" b="0" i="0">
                <a:solidFill>
                  <a:srgbClr val="1C252B"/>
                </a:solidFill>
                <a:latin typeface="Cambria"/>
              </a:rPr>
              <a:t>σ = √((0.15</a:t>
            </a:r>
            <a:r>
              <a:rPr sz="1900" b="0" i="0" baseline="30000">
                <a:solidFill>
                  <a:srgbClr val="1C252B"/>
                </a:solidFill>
                <a:latin typeface="Cambria"/>
              </a:rPr>
              <a:t>2</a:t>
            </a:r>
            <a:r>
              <a:rPr sz="1900" b="0" i="0">
                <a:solidFill>
                  <a:srgbClr val="1C252B"/>
                </a:solidFill>
                <a:latin typeface="Cambria"/>
              </a:rPr>
              <a:t> + 0.05</a:t>
            </a:r>
            <a:r>
              <a:rPr sz="1900" b="0" i="0" baseline="30000">
                <a:solidFill>
                  <a:srgbClr val="1C252B"/>
                </a:solidFill>
                <a:latin typeface="Cambria"/>
              </a:rPr>
              <a:t>2</a:t>
            </a:r>
            <a:r>
              <a:rPr sz="1900" b="0" i="0">
                <a:solidFill>
                  <a:srgbClr val="1C252B"/>
                </a:solidFill>
                <a:latin typeface="Cambria"/>
              </a:rPr>
              <a:t> + 0.15</a:t>
            </a:r>
            <a:r>
              <a:rPr sz="1900" b="0" i="0" baseline="30000">
                <a:solidFill>
                  <a:srgbClr val="1C252B"/>
                </a:solidFill>
                <a:latin typeface="Cambria"/>
              </a:rPr>
              <a:t>2</a:t>
            </a:r>
            <a:r>
              <a:rPr sz="1900" b="0" i="0">
                <a:solidFill>
                  <a:srgbClr val="1C252B"/>
                </a:solidFill>
                <a:latin typeface="Cambria"/>
              </a:rPr>
              <a:t> + 0.05</a:t>
            </a:r>
            <a:r>
              <a:rPr sz="1900" b="0" i="0" baseline="30000">
                <a:solidFill>
                  <a:srgbClr val="1C252B"/>
                </a:solidFill>
                <a:latin typeface="Cambria"/>
              </a:rPr>
              <a:t>2</a:t>
            </a:r>
            <a:r>
              <a:rPr sz="1900" b="0" i="0">
                <a:solidFill>
                  <a:srgbClr val="1C252B"/>
                </a:solidFill>
                <a:latin typeface="Cambria"/>
              </a:rPr>
              <a:t>)/4) = √(0.0125) = 0.112</a:t>
            </a:r>
            <a:r>
              <a:rPr sz="1900" b="0" i="0">
                <a:solidFill>
                  <a:srgbClr val="1C252B"/>
                </a:solidFill>
                <a:latin typeface="Segoe UI"/>
              </a:rPr>
              <a:t>.</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Open bugs:</a:t>
            </a:r>
            <a:r>
              <a:rPr sz="1900" b="0" i="0">
                <a:solidFill>
                  <a:srgbClr val="1C252B"/>
                </a:solidFill>
                <a:latin typeface="Segoe UI"/>
              </a:rPr>
              <a:t> </a:t>
            </a:r>
            <a:r>
              <a:rPr sz="1900" b="0" i="0">
                <a:solidFill>
                  <a:srgbClr val="1C252B"/>
                </a:solidFill>
                <a:latin typeface="Cambria"/>
              </a:rPr>
              <a:t>μ = 5</a:t>
            </a:r>
            <a:r>
              <a:rPr sz="1900" b="0" i="0">
                <a:solidFill>
                  <a:srgbClr val="1C252B"/>
                </a:solidFill>
                <a:latin typeface="Segoe UI"/>
              </a:rPr>
              <a:t>; </a:t>
            </a:r>
            <a:r>
              <a:rPr sz="1900" b="0" i="0">
                <a:solidFill>
                  <a:srgbClr val="1C252B"/>
                </a:solidFill>
                <a:latin typeface="Cambria"/>
              </a:rPr>
              <a:t>σ = √((9 + 1 + 1 + 9)/4) = √5 = 2.236</a:t>
            </a:r>
            <a:r>
              <a:rPr sz="1900" b="0" i="0">
                <a:solidFill>
                  <a:srgbClr val="1C252B"/>
                </a:solidFill>
                <a:latin typeface="Segoe UI"/>
              </a:rPr>
              <a:t>.</a:t>
            </a:r>
          </a:p>
        </p:txBody>
      </p:sp>
      <p:sp>
        <p:nvSpPr>
          <p:cNvPr id="12" name="body-3"/>
          <p:cNvSpPr txBox="1"/>
          <p:nvPr/>
        </p:nvSpPr>
        <p:spPr>
          <a:xfrm>
            <a:off x="1042416" y="3313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new release arrives with coverage </a:t>
            </a:r>
            <a:r>
              <a:rPr sz="1900" b="0" i="0">
                <a:solidFill>
                  <a:srgbClr val="1C252B"/>
                </a:solidFill>
                <a:latin typeface="Cambria"/>
              </a:rPr>
              <a:t>0.5</a:t>
            </a:r>
            <a:r>
              <a:rPr sz="1900" b="0" i="0">
                <a:solidFill>
                  <a:srgbClr val="1C252B"/>
                </a:solidFill>
                <a:latin typeface="Segoe UI"/>
              </a:rPr>
              <a:t> and 10 open bugs:</a:t>
            </a:r>
          </a:p>
        </p:txBody>
      </p:sp>
      <p:pic>
        <p:nvPicPr>
          <p:cNvPr id="13" name="body-4" descr="z_{\text{cov}} = \frac{0.5 - 0.75}{0.112} = -2.24, \qquad z_{\text{bugs}} = \frac{10 - 5}{2.236} = +2.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747109"/>
            <a:ext cx="10234879" cy="553577"/>
          </a:xfrm>
          <a:prstGeom prst="rect">
            <a:avLst/>
          </a:prstGeom>
        </p:spPr>
      </p:pic>
      <p:sp>
        <p:nvSpPr>
          <p:cNvPr id="14" name="body-5"/>
          <p:cNvSpPr txBox="1"/>
          <p:nvPr/>
        </p:nvSpPr>
        <p:spPr>
          <a:xfrm>
            <a:off x="1042416" y="443340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Both are now equally unusual</a:t>
            </a:r>
            <a:r>
              <a:rPr sz="1900" b="0" i="0">
                <a:solidFill>
                  <a:srgbClr val="1C252B"/>
                </a:solidFill>
                <a:latin typeface="Segoe UI"/>
              </a:rPr>
              <a:t> — 2.24 standard deviations from the training mean, in opposite directions — where before the bug difference (5) was twenty times the coverage difference (0.25). Note that </a:t>
            </a:r>
            <a:r>
              <a:rPr sz="1900" b="0" i="0">
                <a:solidFill>
                  <a:srgbClr val="1C252B"/>
                </a:solidFill>
                <a:latin typeface="Cambria"/>
              </a:rPr>
              <a:t>μ</a:t>
            </a:r>
            <a:r>
              <a:rPr sz="1900" b="0" i="0">
                <a:solidFill>
                  <a:srgbClr val="1C252B"/>
                </a:solidFill>
                <a:latin typeface="Segoe UI"/>
              </a:rPr>
              <a:t> and </a:t>
            </a:r>
            <a:r>
              <a:rPr sz="1900" b="0" i="0">
                <a:solidFill>
                  <a:srgbClr val="1C252B"/>
                </a:solidFill>
                <a:latin typeface="Cambria"/>
              </a:rPr>
              <a:t>σ</a:t>
            </a:r>
            <a:r>
              <a:rPr sz="1900" b="0" i="0">
                <a:solidFill>
                  <a:srgbClr val="1C252B"/>
                </a:solidFill>
                <a:latin typeface="Segoe UI"/>
              </a:rPr>
              <a:t> came from the </a:t>
            </a:r>
            <a:r>
              <a:rPr sz="1900" b="0" i="1">
                <a:solidFill>
                  <a:srgbClr val="1C252B"/>
                </a:solidFill>
                <a:latin typeface="Segoe UI"/>
              </a:rPr>
              <a:t>training</a:t>
            </a:r>
            <a:r>
              <a:rPr sz="1900" b="0" i="0">
                <a:solidFill>
                  <a:srgbClr val="1C252B"/>
                </a:solidFill>
                <a:latin typeface="Segoe UI"/>
              </a:rPr>
              <a:t> releases only. The new release is transformed with the training statistics, never with statistics that include the new release.</a:t>
            </a:r>
          </a:p>
        </p:txBody>
      </p:sp>
      <p:sp>
        <p:nvSpPr>
          <p:cNvPr id="15" name="body-5bar">
            <a:extLst>
              <a:ext uri="{C183D7F6-B498-43B3-948B-1728B52AA6E4}">
                <adec:decorative xmlns:adec="http://schemas.microsoft.com/office/drawing/2017/decorative" val="1"/>
              </a:ext>
            </a:extLst>
          </p:cNvPr>
          <p:cNvSpPr/>
          <p:nvPr/>
        </p:nvSpPr>
        <p:spPr>
          <a:xfrm>
            <a:off x="841248" y="4451690"/>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right)">
                                      <p:cBhvr>
                                        <p:cTn id="28" dur="4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scikit-learn Interface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5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One Experiment, Start to Finish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Examples, Features and Labels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Splitting the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Preparing Features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3.5   The scikit-learn Interface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Pipelines and Data Leakage</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3.7   Baselines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§3.5     </a:t>
            </a:r>
            <a:fld id="{DA3A57EB-7BAB-4BE8-B51A-533C89D37CC3}" type="slidenum">
              <a:rPr lang="en-GB" sz="1000">
                <a:solidFill>
                  <a:srgbClr val="8795A1"/>
                </a:solidFill>
                <a:latin typeface="Segoe UI"/>
              </a:rPr>
              <a:t>16</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Estimator and Transformer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§3.5  ·  Handout p. 21     </a:t>
            </a:r>
            <a:fld id="{8EDFADFC-2E76-4193-ACAA-118F9DA05267}"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An </a:t>
            </a:r>
            <a:r>
              <a:rPr sz="2300" b="1" i="0">
                <a:solidFill>
                  <a:srgbClr val="1A5276"/>
                </a:solidFill>
                <a:latin typeface="Segoe UI"/>
              </a:rPr>
              <a:t>estimator</a:t>
            </a:r>
            <a:r>
              <a:rPr sz="2300" b="0" i="0">
                <a:solidFill>
                  <a:srgbClr val="1C252B"/>
                </a:solidFill>
                <a:latin typeface="Segoe UI"/>
              </a:rPr>
              <a:t> learns from data with </a:t>
            </a:r>
            <a:r>
              <a:rPr sz="2150" b="0" i="0">
                <a:solidFill>
                  <a:srgbClr val="1F4E79"/>
                </a:solidFill>
                <a:latin typeface="Consolas"/>
              </a:rPr>
              <a:t>fit(X, y)</a:t>
            </a:r>
            <a:r>
              <a:rPr sz="2300" b="0" i="0">
                <a:solidFill>
                  <a:srgbClr val="1C252B"/>
                </a:solidFill>
                <a:latin typeface="Segoe UI"/>
              </a:rPr>
              <a:t> and then makes predictions with </a:t>
            </a:r>
            <a:r>
              <a:rPr sz="2150" b="0" i="0">
                <a:solidFill>
                  <a:srgbClr val="1F4E79"/>
                </a:solidFill>
                <a:latin typeface="Consolas"/>
              </a:rPr>
              <a:t>predict(X)</a:t>
            </a:r>
            <a:r>
              <a:rPr sz="2300" b="0" i="0">
                <a:solidFill>
                  <a:srgbClr val="1C252B"/>
                </a:solidFill>
                <a:latin typeface="Segoe UI"/>
              </a:rPr>
              <a:t> (and, for classifiers, </a:t>
            </a:r>
            <a:r>
              <a:rPr sz="2150" b="0" i="0">
                <a:solidFill>
                  <a:srgbClr val="1F4E79"/>
                </a:solidFill>
                <a:latin typeface="Consolas"/>
              </a:rPr>
              <a:t>predict_proba(X)</a:t>
            </a:r>
            <a:r>
              <a:rPr sz="2300" b="0" i="0">
                <a:solidFill>
                  <a:srgbClr val="1C252B"/>
                </a:solidFill>
                <a:latin typeface="Segoe UI"/>
              </a:rPr>
              <a:t> for probabilities). A </a:t>
            </a:r>
            <a:r>
              <a:rPr sz="2300" b="1" i="0">
                <a:solidFill>
                  <a:srgbClr val="1A5276"/>
                </a:solidFill>
                <a:latin typeface="Segoe UI"/>
              </a:rPr>
              <a:t>transformer</a:t>
            </a:r>
            <a:r>
              <a:rPr sz="2300" b="0" i="0">
                <a:solidFill>
                  <a:srgbClr val="1C252B"/>
                </a:solidFill>
                <a:latin typeface="Segoe UI"/>
              </a:rPr>
              <a:t> learns with </a:t>
            </a:r>
            <a:r>
              <a:rPr sz="2150" b="0" i="0">
                <a:solidFill>
                  <a:srgbClr val="1F4E79"/>
                </a:solidFill>
                <a:latin typeface="Consolas"/>
              </a:rPr>
              <a:t>fit(X)</a:t>
            </a:r>
            <a:r>
              <a:rPr sz="2300" b="0" i="0">
                <a:solidFill>
                  <a:srgbClr val="1C252B"/>
                </a:solidFill>
                <a:latin typeface="Segoe UI"/>
              </a:rPr>
              <a:t> and changes data with </a:t>
            </a:r>
            <a:r>
              <a:rPr sz="2150" b="0" i="0">
                <a:solidFill>
                  <a:srgbClr val="1F4E79"/>
                </a:solidFill>
                <a:latin typeface="Consolas"/>
              </a:rPr>
              <a:t>transform(X)</a:t>
            </a:r>
            <a:r>
              <a:rPr sz="2300" b="0" i="0">
                <a:solidFill>
                  <a:srgbClr val="1C252B"/>
                </a:solidFill>
                <a:latin typeface="Segoe UI"/>
              </a:rPr>
              <a:t>; a scaler learns </a:t>
            </a:r>
            <a:r>
              <a:rPr sz="2300" b="0" i="0">
                <a:solidFill>
                  <a:srgbClr val="1C252B"/>
                </a:solidFill>
                <a:latin typeface="Cambria"/>
              </a:rPr>
              <a:t>μ</a:t>
            </a:r>
            <a:r>
              <a:rPr sz="2300" b="0" i="0">
                <a:solidFill>
                  <a:srgbClr val="1C252B"/>
                </a:solidFill>
                <a:latin typeface="Segoe UI"/>
              </a:rPr>
              <a:t> and </a:t>
            </a:r>
            <a:r>
              <a:rPr sz="2300" b="0" i="0">
                <a:solidFill>
                  <a:srgbClr val="1C252B"/>
                </a:solidFill>
                <a:latin typeface="Cambria"/>
              </a:rPr>
              <a:t>σ</a:t>
            </a:r>
            <a:r>
              <a:rPr sz="2300" b="0" i="0">
                <a:solidFill>
                  <a:srgbClr val="1C252B"/>
                </a:solidFill>
                <a:latin typeface="Segoe UI"/>
              </a:rPr>
              <a:t> in </a:t>
            </a:r>
            <a:r>
              <a:rPr sz="2150" b="0" i="0">
                <a:solidFill>
                  <a:srgbClr val="1F4E79"/>
                </a:solidFill>
                <a:latin typeface="Consolas"/>
              </a:rPr>
              <a:t>fit</a:t>
            </a:r>
            <a:r>
              <a:rPr sz="2300" b="0" i="0">
                <a:solidFill>
                  <a:srgbClr val="1C252B"/>
                </a:solidFill>
                <a:latin typeface="Segoe UI"/>
              </a:rPr>
              <a:t> and applies them in </a:t>
            </a:r>
            <a:r>
              <a:rPr sz="2150" b="0" i="0">
                <a:solidFill>
                  <a:srgbClr val="1F4E79"/>
                </a:solidFill>
                <a:latin typeface="Consolas"/>
              </a:rPr>
              <a:t>transform</a:t>
            </a:r>
            <a:r>
              <a:rPr sz="2300" b="0" i="0">
                <a:solidFill>
                  <a:srgbClr val="1C252B"/>
                </a:solidFill>
                <a:latin typeface="Segoe UI"/>
              </a:rPr>
              <a:t>. Anything learned during </a:t>
            </a:r>
            <a:r>
              <a:rPr sz="2150" b="0" i="0">
                <a:solidFill>
                  <a:srgbClr val="1F4E79"/>
                </a:solidFill>
                <a:latin typeface="Consolas"/>
              </a:rPr>
              <a:t>fit</a:t>
            </a:r>
            <a:r>
              <a:rPr sz="2300" b="0" i="0">
                <a:solidFill>
                  <a:srgbClr val="1C252B"/>
                </a:solidFill>
                <a:latin typeface="Segoe UI"/>
              </a:rPr>
              <a:t> is stored in attributes ending in an underscore, such as </a:t>
            </a:r>
            <a:r>
              <a:rPr sz="2150" b="0" i="0">
                <a:solidFill>
                  <a:srgbClr val="1F4E79"/>
                </a:solidFill>
                <a:latin typeface="Consolas"/>
              </a:rPr>
              <a:t>coef_</a:t>
            </a:r>
            <a:r>
              <a:rPr sz="2300" b="0" i="0">
                <a:solidFill>
                  <a:srgbClr val="1C252B"/>
                </a:solidFill>
                <a:latin typeface="Segoe UI"/>
              </a:rPr>
              <a:t> or </a:t>
            </a:r>
            <a:r>
              <a:rPr sz="2150" b="0" i="0">
                <a:solidFill>
                  <a:srgbClr val="1F4E79"/>
                </a:solidFill>
                <a:latin typeface="Consolas"/>
              </a:rPr>
              <a:t>mean_</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scikit-learn Interface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§3.5  ·  Handout p. 21     </a:t>
            </a:r>
            <a:fld id="{435116E4-4AAA-4538-8CEC-EDC14AE07030}"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9844725" cy="4315968"/>
        </p:xfrm>
        <a:graphic>
          <a:graphicData uri="http://schemas.openxmlformats.org/drawingml/2006/table">
            <a:tbl>
              <a:tblPr firstRow="0" bandRow="0" firstCol="0" lastRow="0" lastCol="0" bandCol="0">
                <a:tableStyleId>{2D5ABB26-0587-4C30-8999-92F81FD0307C}</a:tableStyleId>
              </a:tblPr>
              <a:tblGrid>
                <a:gridCol w="4095519"/>
                <a:gridCol w="1200383"/>
                <a:gridCol w="4548823"/>
              </a:tblGrid>
              <a:tr h="359664">
                <a:tc>
                  <a:txBody>
                    <a:bodyPr wrap="square"/>
                    <a:lstStyle/>
                    <a:p>
                      <a:pPr algn="l"/>
                      <a:r>
                        <a:rPr sz="1400" b="1" i="0">
                          <a:solidFill>
                            <a:srgbClr val="1A5276"/>
                          </a:solidFill>
                          <a:latin typeface="Segoe UI"/>
                        </a:rPr>
                        <a:t>Class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Chapter</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What it is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300" b="0" i="0">
                          <a:solidFill>
                            <a:srgbClr val="1F4E79"/>
                          </a:solidFill>
                          <a:latin typeface="Consolas"/>
                        </a:rPr>
                        <a:t>LinearRegression</a:t>
                      </a:r>
                      <a:r>
                        <a:rPr sz="1400" b="0" i="0">
                          <a:solidFill>
                            <a:srgbClr val="1C252B"/>
                          </a:solidFill>
                          <a:latin typeface="Segoe UI"/>
                        </a:rPr>
                        <a:t>, </a:t>
                      </a:r>
                      <a:r>
                        <a:rPr sz="1300" b="0" i="0">
                          <a:solidFill>
                            <a:srgbClr val="1F4E79"/>
                          </a:solidFill>
                          <a:latin typeface="Consolas"/>
                        </a:rPr>
                        <a:t>Ridge</a:t>
                      </a:r>
                      <a:r>
                        <a:rPr sz="1400" b="0" i="0">
                          <a:solidFill>
                            <a:srgbClr val="1C252B"/>
                          </a:solidFill>
                          <a:latin typeface="Segoe UI"/>
                        </a:rPr>
                        <a:t>, </a:t>
                      </a:r>
                      <a:r>
                        <a:rPr sz="1300" b="0" i="0">
                          <a:solidFill>
                            <a:srgbClr val="1F4E79"/>
                          </a:solidFill>
                          <a:latin typeface="Consolas"/>
                        </a:rPr>
                        <a:t>Lasso</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5, 7</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Least-squares regression, with and without a penalty</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300" b="0" i="0">
                          <a:solidFill>
                            <a:srgbClr val="1F4E79"/>
                          </a:solidFill>
                          <a:latin typeface="Consolas"/>
                        </a:rPr>
                        <a:t>LogisticRegression</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6</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Linear classifier with probabilities</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300" b="0" i="0">
                          <a:solidFill>
                            <a:srgbClr val="1F4E79"/>
                          </a:solidFill>
                          <a:latin typeface="Consolas"/>
                        </a:rPr>
                        <a:t>DecisionTreeClassifier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9</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ID3/CART-style tree</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300" b="0" i="0">
                          <a:solidFill>
                            <a:srgbClr val="1F4E79"/>
                          </a:solidFill>
                          <a:latin typeface="Consolas"/>
                        </a:rPr>
                        <a:t>GaussianNB</a:t>
                      </a:r>
                      <a:r>
                        <a:rPr sz="1400" b="0" i="0">
                          <a:solidFill>
                            <a:srgbClr val="1C252B"/>
                          </a:solidFill>
                          <a:latin typeface="Segoe UI"/>
                        </a:rPr>
                        <a:t>, </a:t>
                      </a:r>
                      <a:r>
                        <a:rPr sz="1300" b="0" i="0">
                          <a:solidFill>
                            <a:srgbClr val="1F4E79"/>
                          </a:solidFill>
                          <a:latin typeface="Consolas"/>
                        </a:rPr>
                        <a:t>MultinomialNB</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10</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Naive Bayes</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300" b="0" i="0">
                          <a:solidFill>
                            <a:srgbClr val="1F4E79"/>
                          </a:solidFill>
                          <a:latin typeface="Consolas"/>
                        </a:rPr>
                        <a:t>KNeighborsClassifier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11</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1">
                          <a:solidFill>
                            <a:srgbClr val="1C252B"/>
                          </a:solidFill>
                          <a:latin typeface="Cambria"/>
                        </a:rPr>
                        <a:t>k</a:t>
                      </a:r>
                      <a:r>
                        <a:rPr sz="1400" b="0" i="0">
                          <a:solidFill>
                            <a:srgbClr val="1C252B"/>
                          </a:solidFill>
                          <a:latin typeface="Segoe UI"/>
                        </a:rPr>
                        <a:t>-nearest neighbours</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300" b="0" i="0">
                          <a:solidFill>
                            <a:srgbClr val="1F4E79"/>
                          </a:solidFill>
                          <a:latin typeface="Consolas"/>
                        </a:rPr>
                        <a:t>SVC</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12</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Support vector machine</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300" b="0" i="0">
                          <a:solidFill>
                            <a:srgbClr val="1F4E79"/>
                          </a:solidFill>
                          <a:latin typeface="Consolas"/>
                        </a:rPr>
                        <a:t>MLPClassifier</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13</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Multilayer neural network</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300" b="0" i="0">
                          <a:solidFill>
                            <a:srgbClr val="1F4E79"/>
                          </a:solidFill>
                          <a:latin typeface="Consolas"/>
                        </a:rPr>
                        <a:t>RandomForestClassifier</a:t>
                      </a:r>
                      <a:r>
                        <a:rPr sz="1400" b="0" i="0">
                          <a:solidFill>
                            <a:srgbClr val="1C252B"/>
                          </a:solidFill>
                          <a:latin typeface="Segoe UI"/>
                        </a:rPr>
                        <a:t>, </a:t>
                      </a:r>
                      <a:r>
                        <a:rPr sz="1300" b="0" i="0">
                          <a:solidFill>
                            <a:srgbClr val="1F4E79"/>
                          </a:solidFill>
                          <a:latin typeface="Consolas"/>
                        </a:rPr>
                        <a:t>AdaBoostClassifier</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14</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Ensembles</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300" b="0" i="0">
                          <a:solidFill>
                            <a:srgbClr val="1F4E79"/>
                          </a:solidFill>
                          <a:latin typeface="Consolas"/>
                        </a:rPr>
                        <a:t>KMeans</a:t>
                      </a:r>
                      <a:r>
                        <a:rPr sz="1400" b="0" i="0">
                          <a:solidFill>
                            <a:srgbClr val="1C252B"/>
                          </a:solidFill>
                          <a:latin typeface="Segoe UI"/>
                        </a:rPr>
                        <a:t>, </a:t>
                      </a:r>
                      <a:r>
                        <a:rPr sz="1300" b="0" i="0">
                          <a:solidFill>
                            <a:srgbClr val="1F4E79"/>
                          </a:solidFill>
                          <a:latin typeface="Consolas"/>
                        </a:rPr>
                        <a:t>AgglomerativeClustering</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15</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Clustering</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300" b="0" i="0">
                          <a:solidFill>
                            <a:srgbClr val="1F4E79"/>
                          </a:solidFill>
                          <a:latin typeface="Consolas"/>
                        </a:rPr>
                        <a:t>PCA</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16</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Principal component analysis</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300" b="0" i="0">
                          <a:solidFill>
                            <a:srgbClr val="1F4E79"/>
                          </a:solidFill>
                          <a:latin typeface="Consolas"/>
                        </a:rPr>
                        <a:t>GaussianMixture</a:t>
                      </a:r>
                      <a:r>
                        <a:rPr sz="1400" b="0" i="0">
                          <a:solidFill>
                            <a:srgbClr val="1C252B"/>
                          </a:solidFill>
                          <a:latin typeface="Segoe UI"/>
                        </a:rPr>
                        <a:t>, </a:t>
                      </a:r>
                      <a:r>
                        <a:rPr sz="1300" b="0" i="0">
                          <a:solidFill>
                            <a:srgbClr val="1F4E79"/>
                          </a:solidFill>
                          <a:latin typeface="Consolas"/>
                        </a:rPr>
                        <a:t>SelfTrainingClassifier</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17</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400" b="0" i="0">
                          <a:solidFill>
                            <a:srgbClr val="1C252B"/>
                          </a:solidFill>
                          <a:latin typeface="Segoe UI"/>
                        </a:rPr>
                        <a:t>EM mixtures; semi-supervised wrapper</a:t>
                      </a:r>
                      <a:endParaRPr sz="14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Pipelines and Data Leakage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6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One Experiment, Start to Finish</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Examples, Features and Labels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Splitting the Data</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Preparing Features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The scikit-learn Interface</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3.6   Pipelines and Data Leakage</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3.7   Baselines</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§3.6     </a:t>
            </a:r>
            <a:fld id="{46B22870-5B09-488D-8C39-709C4CCA1B2A}" type="slidenum">
              <a:rPr lang="en-GB" sz="1000">
                <a:solidFill>
                  <a:srgbClr val="8795A1"/>
                </a:solidFill>
                <a:latin typeface="Segoe UI"/>
              </a:rPr>
              <a:t>19</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Data Leakage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22     </a:t>
            </a:r>
            <a:fld id="{5D576ECD-277B-4C1E-9BC1-CC232BCAE2BA}"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Data leakage</a:t>
            </a:r>
            <a:r>
              <a:rPr sz="2300" b="0" i="0">
                <a:solidFill>
                  <a:srgbClr val="1C252B"/>
                </a:solidFill>
                <a:latin typeface="Segoe UI"/>
              </a:rPr>
              <a:t> is any route by which information that will not be available at prediction time reaches the model during training or evaluation. Leakage makes evaluation scores optimistic, sometimes spectacularly so, and the model then fails in use.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Train–test contamination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22     </a:t>
            </a:r>
            <a:fld id="{D12DF7CD-CB12-47F2-9B15-D8F0C2BB3D27}" type="slidenum">
              <a:rPr lang="en-GB" sz="1000">
                <a:solidFill>
                  <a:srgbClr val="8795A1"/>
                </a:solidFill>
                <a:latin typeface="Segoe UI"/>
              </a:rPr>
              <a:t>21</a:t>
            </a:fld>
          </a:p>
        </p:txBody>
      </p:sp>
      <p:pic>
        <p:nvPicPr>
          <p:cNvPr id="6" name="!!figure" descr="Figure 3.3. Train–test contamination. Fitting any preparation step before the split lets the test rows influence training; a pipeline fitted on the training data alone cannot make this mistak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38391"/>
            <a:ext cx="10874959" cy="3734609"/>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Fitting any preparation step before the split lets the test rows influence training; a pipeline fitted on the training data alone cannot make this mistake.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Pipeline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22     </a:t>
            </a:r>
            <a:fld id="{0519E544-B643-418E-8591-B046833BF499}"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scikit-learn </a:t>
            </a:r>
            <a:r>
              <a:rPr sz="2300" b="1" i="0">
                <a:solidFill>
                  <a:srgbClr val="1A5276"/>
                </a:solidFill>
                <a:latin typeface="Segoe UI"/>
              </a:rPr>
              <a:t>pipeline</a:t>
            </a:r>
            <a:r>
              <a:rPr sz="2300" b="0" i="0">
                <a:solidFill>
                  <a:srgbClr val="1C252B"/>
                </a:solidFill>
                <a:latin typeface="Segoe UI"/>
              </a:rPr>
              <a:t> chains transformers and a final estimator into one object with a single </a:t>
            </a:r>
            <a:r>
              <a:rPr sz="2150" b="0" i="0">
                <a:solidFill>
                  <a:srgbClr val="1F4E79"/>
                </a:solidFill>
                <a:latin typeface="Consolas"/>
              </a:rPr>
              <a:t>fit</a:t>
            </a:r>
            <a:r>
              <a:rPr sz="2300" b="0" i="0">
                <a:solidFill>
                  <a:srgbClr val="1C252B"/>
                </a:solidFill>
                <a:latin typeface="Segoe UI"/>
              </a:rPr>
              <a:t> and </a:t>
            </a:r>
            <a:r>
              <a:rPr sz="2150" b="0" i="0">
                <a:solidFill>
                  <a:srgbClr val="1F4E79"/>
                </a:solidFill>
                <a:latin typeface="Consolas"/>
              </a:rPr>
              <a:t>predict</a:t>
            </a:r>
            <a:r>
              <a:rPr sz="2300" b="0" i="0">
                <a:solidFill>
                  <a:srgbClr val="1C252B"/>
                </a:solidFill>
                <a:latin typeface="Segoe UI"/>
              </a:rPr>
              <a:t>. Because every step is fitted only when the pipeline is fitted, and only on the data passed to it, a pipeline used inside a split or a cross-validation loop cannot leak. A </a:t>
            </a:r>
            <a:r>
              <a:rPr sz="2150" b="0" i="0">
                <a:solidFill>
                  <a:srgbClr val="1F4E79"/>
                </a:solidFill>
                <a:latin typeface="Consolas"/>
              </a:rPr>
              <a:t>ColumnTransformer</a:t>
            </a:r>
            <a:r>
              <a:rPr sz="2300" b="0" i="0">
                <a:solidFill>
                  <a:srgbClr val="1C252B"/>
                </a:solidFill>
                <a:latin typeface="Segoe UI"/>
              </a:rPr>
              <a:t> applies different preparation to different columns — scaling to the numbers, one-hot encoding to the categories.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Baseline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F301D949-E173-417A-8F53-999EAD82FB9C}" type="slidenum">
              <a:rPr lang="en-GB" sz="1000">
                <a:solidFill>
                  <a:srgbClr val="8795A1"/>
                </a:solidFill>
                <a:latin typeface="Segoe UI"/>
              </a:rPr>
              <a:t>23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baseline</a:t>
            </a:r>
            <a:r>
              <a:rPr sz="2300" b="0" i="0">
                <a:solidFill>
                  <a:srgbClr val="1C252B"/>
                </a:solidFill>
                <a:latin typeface="Segoe UI"/>
              </a:rPr>
              <a:t> is the score of the simplest possible predictor: always predict the most common class (classification) or always predict the training mean (regression). Every model must be compared with it, and a model that does not beat it clearly has learned nothing useful.</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C67D6D5F-8F61-4522-AE10-B5958C6EB7D6}" type="slidenum">
              <a:rPr lang="en-GB" sz="1000">
                <a:solidFill>
                  <a:srgbClr val="8795A1"/>
                </a:solidFill>
                <a:latin typeface="Segoe UI"/>
              </a:rPr>
              <a:t>24</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Preparing before splitting.</a:t>
            </a:r>
            <a:r>
              <a:rPr sz="2100" b="0" i="0">
                <a:solidFill>
                  <a:srgbClr val="1C252B"/>
                </a:solidFill>
                <a:latin typeface="Segoe UI"/>
              </a:rPr>
              <a:t> Imputing, scaling or selecting features on the full dataset leaks the test set into training. Put every step in a pipeline.</a:t>
            </a:r>
          </a:p>
        </p:txBody>
      </p:sp>
      <p:sp>
        <p:nvSpPr>
          <p:cNvPr id="10" name="!!pb1">
            <a:extLst>
              <a:ext uri="{C183D7F6-B498-43B3-948B-1728B52AA6E4}">
                <adec:decorative xmlns:adec="http://schemas.microsoft.com/office/drawing/2017/decorative" val="1"/>
              </a:ext>
            </a:extLst>
          </p:cNvPr>
          <p:cNvSpPr/>
          <p:nvPr/>
        </p:nvSpPr>
        <p:spPr>
          <a:xfrm>
            <a:off x="658368" y="262249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4535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604211"/>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the test set to choose.</a:t>
            </a:r>
            <a:r>
              <a:rPr sz="2100" b="0" i="0">
                <a:solidFill>
                  <a:srgbClr val="1C252B"/>
                </a:solidFill>
                <a:latin typeface="Segoe UI"/>
              </a:rPr>
              <a:t> Every look at the test set that changes a decision turns it into a validation set. Use it once.</a:t>
            </a:r>
          </a:p>
        </p:txBody>
      </p:sp>
      <p:sp>
        <p:nvSpPr>
          <p:cNvPr id="13" name="!!pb2">
            <a:extLst>
              <a:ext uri="{C183D7F6-B498-43B3-948B-1728B52AA6E4}">
                <adec:decorative xmlns:adec="http://schemas.microsoft.com/office/drawing/2017/decorative" val="1"/>
              </a:ext>
            </a:extLst>
          </p:cNvPr>
          <p:cNvSpPr/>
          <p:nvPr/>
        </p:nvSpPr>
        <p:spPr>
          <a:xfrm>
            <a:off x="658368" y="348935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51221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71062"/>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Label-encoding a nominal feature.</a:t>
            </a:r>
            <a:r>
              <a:rPr sz="2100" b="0" i="0">
                <a:solidFill>
                  <a:srgbClr val="1C252B"/>
                </a:solidFill>
                <a:latin typeface="Segoe UI"/>
              </a:rPr>
              <a:t> Project-type codes 1, 2, 3 impose an order that does not exist. One-hot encode.</a:t>
            </a:r>
          </a:p>
        </p:txBody>
      </p:sp>
      <p:sp>
        <p:nvSpPr>
          <p:cNvPr id="16" name="!!pb3">
            <a:extLst>
              <a:ext uri="{C183D7F6-B498-43B3-948B-1728B52AA6E4}">
                <adec:decorative xmlns:adec="http://schemas.microsoft.com/office/drawing/2017/decorative" val="1"/>
              </a:ext>
            </a:extLst>
          </p:cNvPr>
          <p:cNvSpPr/>
          <p:nvPr/>
        </p:nvSpPr>
        <p:spPr>
          <a:xfrm>
            <a:off x="658368" y="43562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3790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337913"/>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Keeping an identifier.</a:t>
            </a:r>
            <a:r>
              <a:rPr sz="2100" b="0" i="0">
                <a:solidFill>
                  <a:srgbClr val="1C252B"/>
                </a:solidFill>
                <a:latin typeface="Segoe UI"/>
              </a:rPr>
              <a:t> If </a:t>
            </a:r>
            <a:r>
              <a:rPr sz="1950" b="0" i="0">
                <a:solidFill>
                  <a:srgbClr val="1F4E79"/>
                </a:solidFill>
                <a:latin typeface="Consolas"/>
              </a:rPr>
              <a:t>task_id</a:t>
            </a:r>
            <a:r>
              <a:rPr sz="2100" b="0" i="0">
                <a:solidFill>
                  <a:srgbClr val="1C252B"/>
                </a:solidFill>
                <a:latin typeface="Segoe UI"/>
              </a:rPr>
              <a:t> improves accuracy, IDs were assigned in a way that encodes the outcome — a leak.</a:t>
            </a:r>
          </a:p>
        </p:txBody>
      </p:sp>
      <p:sp>
        <p:nvSpPr>
          <p:cNvPr id="19" name="!!pb4">
            <a:extLst>
              <a:ext uri="{C183D7F6-B498-43B3-948B-1728B52AA6E4}">
                <adec:decorative xmlns:adec="http://schemas.microsoft.com/office/drawing/2017/decorative" val="1"/>
              </a:ext>
            </a:extLst>
          </p:cNvPr>
          <p:cNvSpPr/>
          <p:nvPr/>
        </p:nvSpPr>
        <p:spPr>
          <a:xfrm>
            <a:off x="658368" y="52230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459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0476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Reporting a score without the baseline.</a:t>
            </a:r>
            <a:r>
              <a:rPr sz="2100" b="0" i="0">
                <a:solidFill>
                  <a:srgbClr val="1C252B"/>
                </a:solidFill>
                <a:latin typeface="Segoe UI"/>
              </a:rPr>
              <a:t> “92% accurate” is meaningless until you know that “always no” scores 90%.</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066B0EAD-CB79-4115-A9FD-EDF8137B7271}" type="slidenum">
              <a:rPr lang="en-GB" sz="1000">
                <a:solidFill>
                  <a:srgbClr val="8795A1"/>
                </a:solidFill>
                <a:latin typeface="Segoe UI"/>
              </a:rPr>
              <a:t>25</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Six hundred synthetic past projects with a missing-value problem and one categorical feature; the label is whether the project finished late. The whole workflow, in the order of Figure 3.1.</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600 past projects, with gaps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Split FIRST; the test set is locked away</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Every preparation step lives inside the pipeline</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A baseline first, then the model</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Look inside: the scaler learned from training rows only</a:t>
            </a:r>
          </a:p>
        </p:txBody>
      </p:sp>
      <p:sp>
        <p:nvSpPr>
          <p:cNvPr id="29"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2: A leak-proof pipeline</a:t>
            </a:r>
          </a:p>
        </p:txBody>
      </p:sp>
      <p:sp>
        <p:nvSpPr>
          <p:cNvPr id="33"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48 lines of Python</a:t>
            </a:r>
          </a:p>
        </p:txBody>
      </p:sp>
      <p:sp>
        <p:nvSpPr>
          <p:cNvPr id="37"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40"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code/ch03_leak_proof_pipeline.py</a:t>
            </a:r>
          </a:p>
        </p:txBody>
      </p:sp>
      <p:sp>
        <p:nvSpPr>
          <p:cNvPr id="4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32198BE5-DFBE-42C7-82FE-9D7AC1FBDF0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import numpy as np import pandas as pd from sklearn.model_selection import train_test_split from sklearn.compose import ColumnTransformer from sklearn.pipeline import Pipeline, make_pipeline from sklearn.impute import SimpleImputer from sklearn.preprocessing import StandardScaler, OneHotEncoder from sklearn.linear_model import LogisticRegression from sklearn.dummy import DummyClassifier"/>
          <p:cNvSpPr txBox="1"/>
          <p:nvPr/>
        </p:nvSpPr>
        <p:spPr>
          <a:xfrm>
            <a:off x="1362456" y="2523744"/>
            <a:ext cx="9987991" cy="28529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pandas</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pd</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train_test_split</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compose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ColumnTransformer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Pipeline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impute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SimpleImputer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OneHotEncoder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linear_model</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LogisticRegression</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dummy</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DummyClassifier</a:t>
            </a:r>
          </a:p>
        </p:txBody>
      </p:sp>
      <p:sp>
        <p:nvSpPr>
          <p:cNvPr id="15" name="!!code-num"/>
          <p:cNvSpPr txBox="1"/>
          <p:nvPr/>
        </p:nvSpPr>
        <p:spPr>
          <a:xfrm>
            <a:off x="768096" y="2523744"/>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4615E043-7A15-47EF-B624-F65BB7D70CF0}"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600 past projects, with gaps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 --- 600 past projects, with gaps --------------------------------------- rng = np.random.default_rng(0) n = 600 df = pd.DataFrame({ &quot;clarity&quot;: rng.uniform(0.3, 1.0, n), # requirement clarity &quot;coverage&quot;: rng.uniform(0.0, 1.0, n), # test coverage &quot;changes&quot;: rng.poisson(5, n).astype(float), # change requests &quot;ptype&quot;: rng.choice([&quot;Web&quot;, &quot;Mobile&quot;, &quot;Data&quot;], n), }) risk = 2.6 - 4 * df.clarity - 2 * df.coverage + 0.1 * df.changes df[&quot;late&quot;] = (risk + rng.normal(0, 0.5, n) &gt; 0).astype(int) df.loc[rng.random(n) &lt; 0.1, &quot;coverage&quot;] = np.nan # 10% missing print(&quot;late rate:&quot;, df.late.mean().round(3)) X, y = df.drop(columns=&quot;late&quot;), df[&quot;late&quot;]"/>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--- 600 past projects, with gaps ---------------------------------------</a:t>
            </a:r>
          </a:p>
          <a:p>
            <a:pPr>
              <a:lnSpc>
                <a:spcPct val="100000"/>
              </a:lnSpc>
              <a:spcAft>
                <a:spcPts val="0"/>
              </a:spcAft>
            </a:pPr>
            <a:r>
              <a:rPr sz="1500" i="0">
                <a:solidFill>
                  <a:srgbClr val="E8EDF2"/>
                </a:solidFill>
                <a:latin typeface="Consolas"/>
              </a:rPr>
              <a:t>rng</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random</a:t>
            </a:r>
            <a:r>
              <a:rPr sz="1500" i="0">
                <a:solidFill>
                  <a:srgbClr val="AEB6BF"/>
                </a:solidFill>
                <a:latin typeface="Consolas"/>
              </a:rPr>
              <a:t>.</a:t>
            </a:r>
            <a:r>
              <a:rPr sz="1500" i="0">
                <a:solidFill>
                  <a:srgbClr val="E8EDF2"/>
                </a:solidFill>
                <a:latin typeface="Consolas"/>
              </a:rPr>
              <a:t>default_rng</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p>
          <a:p>
            <a:pPr>
              <a:lnSpc>
                <a:spcPct val="100000"/>
              </a:lnSpc>
              <a:spcAft>
                <a:spcPts val="0"/>
              </a:spcAft>
            </a:pPr>
            <a:r>
              <a:rPr sz="1500" i="0">
                <a:solidFill>
                  <a:srgbClr val="E8EDF2"/>
                </a:solidFill>
                <a:latin typeface="Consolas"/>
              </a:rPr>
              <a:t>n</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600</a:t>
            </a:r>
          </a:p>
          <a:p>
            <a:pPr>
              <a:lnSpc>
                <a:spcPct val="100000"/>
              </a:lnSpc>
              <a:spcAft>
                <a:spcPts val="0"/>
              </a:spcAft>
            </a:pPr>
            <a:r>
              <a:rPr sz="1500" i="0">
                <a:solidFill>
                  <a:srgbClr val="E8EDF2"/>
                </a:solidFill>
                <a:latin typeface="Consolas"/>
              </a:rPr>
              <a:t>df</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pd</a:t>
            </a:r>
            <a:r>
              <a:rPr sz="1500" i="0">
                <a:solidFill>
                  <a:srgbClr val="AEB6BF"/>
                </a:solidFill>
                <a:latin typeface="Consolas"/>
              </a:rPr>
              <a:t>.</a:t>
            </a:r>
            <a:r>
              <a:rPr sz="1500" i="0">
                <a:solidFill>
                  <a:srgbClr val="E8EDF2"/>
                </a:solidFill>
                <a:latin typeface="Consolas"/>
              </a:rPr>
              <a:t>DataFrame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clarity</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uniform</a:t>
            </a:r>
            <a:r>
              <a:rPr sz="1500" i="0">
                <a:solidFill>
                  <a:srgbClr val="AEB6BF"/>
                </a:solidFill>
                <a:latin typeface="Consolas"/>
              </a:rPr>
              <a:t>(</a:t>
            </a:r>
            <a:r>
              <a:rPr sz="1500" i="0">
                <a:solidFill>
                  <a:srgbClr val="F7DC6F"/>
                </a:solidFill>
                <a:latin typeface="Consolas"/>
              </a:rPr>
              <a:t>0.3</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1.0</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requirement clarity</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coverage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uniform</a:t>
            </a:r>
            <a:r>
              <a:rPr sz="1500" i="0">
                <a:solidFill>
                  <a:srgbClr val="AEB6BF"/>
                </a:solidFill>
                <a:latin typeface="Consolas"/>
              </a:rPr>
              <a:t>(</a:t>
            </a:r>
            <a:r>
              <a:rPr sz="1500" i="0">
                <a:solidFill>
                  <a:srgbClr val="F7DC6F"/>
                </a:solidFill>
                <a:latin typeface="Consolas"/>
              </a:rPr>
              <a:t>0.0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1.0</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test coverage</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changes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poisson</a:t>
            </a:r>
            <a:r>
              <a:rPr sz="1500" i="0">
                <a:solidFill>
                  <a:srgbClr val="AEB6BF"/>
                </a:solidFill>
                <a:latin typeface="Consolas"/>
              </a:rPr>
              <a:t>(</a:t>
            </a:r>
            <a:r>
              <a:rPr sz="1500" i="0">
                <a:solidFill>
                  <a:srgbClr val="F7DC6F"/>
                </a:solidFill>
                <a:latin typeface="Consolas"/>
              </a:rPr>
              <a:t>5</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astype</a:t>
            </a:r>
            <a:r>
              <a:rPr sz="1500" i="0">
                <a:solidFill>
                  <a:srgbClr val="AEB6BF"/>
                </a:solidFill>
                <a:latin typeface="Consolas"/>
              </a:rPr>
              <a:t>(</a:t>
            </a:r>
            <a:r>
              <a:rPr sz="1500" i="0">
                <a:solidFill>
                  <a:srgbClr val="C39BD3"/>
                </a:solidFill>
                <a:latin typeface="Consolas"/>
              </a:rPr>
              <a:t>float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1">
                <a:solidFill>
                  <a:srgbClr val="8795A1"/>
                </a:solidFill>
                <a:latin typeface="Consolas"/>
              </a:rPr>
              <a:t># change requests</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ptype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choice</a:t>
            </a:r>
            <a:r>
              <a:rPr sz="1500" i="0">
                <a:solidFill>
                  <a:srgbClr val="AEB6BF"/>
                </a:solidFill>
                <a:latin typeface="Consolas"/>
              </a:rPr>
              <a: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Web</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Mobile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Data</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risk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2.6</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4</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clarity</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coverage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0.1</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changes</a:t>
            </a:r>
          </a:p>
          <a:p>
            <a:pPr>
              <a:lnSpc>
                <a:spcPct val="100000"/>
              </a:lnSpc>
              <a:spcAft>
                <a:spcPts val="0"/>
              </a:spcAft>
            </a:pPr>
            <a:r>
              <a:rPr sz="1500" i="0">
                <a:solidFill>
                  <a:srgbClr val="E8EDF2"/>
                </a:solidFill>
                <a:latin typeface="Consolas"/>
              </a:rPr>
              <a:t>df</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late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risk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normal</a:t>
            </a:r>
            <a:r>
              <a:rPr sz="1500" i="0">
                <a:solidFill>
                  <a:srgbClr val="AEB6BF"/>
                </a:solidFill>
                <a:latin typeface="Consolas"/>
              </a:rPr>
              <a:t>(</a:t>
            </a:r>
            <a:r>
              <a:rPr sz="1500" i="0">
                <a:solidFill>
                  <a:srgbClr val="F7DC6F"/>
                </a:solidFill>
                <a:latin typeface="Consolas"/>
              </a:rPr>
              <a:t>0</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0.5</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F7DC6F"/>
                </a:solidFill>
                <a:latin typeface="Consolas"/>
              </a:rPr>
              <a:t>0</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astype</a:t>
            </a:r>
            <a:r>
              <a:rPr sz="1500" i="0">
                <a:solidFill>
                  <a:srgbClr val="AEB6BF"/>
                </a:solidFill>
                <a:latin typeface="Consolas"/>
              </a:rPr>
              <a:t>(</a:t>
            </a:r>
            <a:r>
              <a:rPr sz="1500" i="0">
                <a:solidFill>
                  <a:srgbClr val="C39BD3"/>
                </a:solidFill>
                <a:latin typeface="Consolas"/>
              </a:rPr>
              <a:t>int</a:t>
            </a:r>
            <a:r>
              <a:rPr sz="1500" i="0">
                <a:solidFill>
                  <a:srgbClr val="AEB6BF"/>
                </a:solidFill>
                <a:latin typeface="Consolas"/>
              </a:rPr>
              <a:t>)</a:t>
            </a:r>
          </a:p>
          <a:p>
            <a:pPr>
              <a:lnSpc>
                <a:spcPct val="100000"/>
              </a:lnSpc>
              <a:spcAft>
                <a:spcPts val="0"/>
              </a:spcAft>
            </a:pP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loc</a:t>
            </a:r>
            <a:r>
              <a:rPr sz="1500" i="0">
                <a:solidFill>
                  <a:srgbClr val="AEB6BF"/>
                </a:solidFill>
                <a:latin typeface="Consolas"/>
              </a:rPr>
              <a:t>[</a:t>
            </a:r>
            <a:r>
              <a:rPr sz="1500" i="0">
                <a:solidFill>
                  <a:srgbClr val="E8EDF2"/>
                </a:solidFill>
                <a:latin typeface="Consolas"/>
              </a:rPr>
              <a:t>rng</a:t>
            </a:r>
            <a:r>
              <a:rPr sz="1500" i="0">
                <a:solidFill>
                  <a:srgbClr val="AEB6BF"/>
                </a:solidFill>
                <a:latin typeface="Consolas"/>
              </a:rPr>
              <a:t>.</a:t>
            </a:r>
            <a:r>
              <a:rPr sz="1500" i="0">
                <a:solidFill>
                  <a:srgbClr val="E8EDF2"/>
                </a:solidFill>
                <a:latin typeface="Consolas"/>
              </a:rPr>
              <a:t>random</a:t>
            </a:r>
            <a:r>
              <a:rPr sz="1500" i="0">
                <a:solidFill>
                  <a:srgbClr val="AEB6BF"/>
                </a:solidFill>
                <a:latin typeface="Consolas"/>
              </a:rPr>
              <a:t>(</a:t>
            </a:r>
            <a:r>
              <a:rPr sz="1500" i="0">
                <a:solidFill>
                  <a:srgbClr val="E8EDF2"/>
                </a:solidFill>
                <a:latin typeface="Consolas"/>
              </a:rPr>
              <a:t>n</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F7DC6F"/>
                </a:solidFill>
                <a:latin typeface="Consolas"/>
              </a:rPr>
              <a:t>0.1</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coverage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np</a:t>
            </a:r>
            <a:r>
              <a:rPr sz="1500" i="0">
                <a:solidFill>
                  <a:srgbClr val="AEB6BF"/>
                </a:solidFill>
                <a:latin typeface="Consolas"/>
              </a:rPr>
              <a:t>.</a:t>
            </a:r>
            <a:r>
              <a:rPr sz="1500" i="0">
                <a:solidFill>
                  <a:srgbClr val="E8EDF2"/>
                </a:solidFill>
                <a:latin typeface="Consolas"/>
              </a:rPr>
              <a:t>nan</a:t>
            </a:r>
            <a:r>
              <a:rPr sz="1500" i="0">
                <a:solidFill>
                  <a:srgbClr val="E8EDF2"/>
                </a:solidFill>
                <a:latin typeface="Consolas"/>
              </a:rPr>
              <a:t>        </a:t>
            </a:r>
            <a:r>
              <a:rPr sz="1500" i="1">
                <a:solidFill>
                  <a:srgbClr val="8795A1"/>
                </a:solidFill>
                <a:latin typeface="Consolas"/>
              </a:rPr>
              <a:t># 10% missing</a:t>
            </a:r>
          </a:p>
          <a:p>
            <a:pPr>
              <a:lnSpc>
                <a:spcPct val="100000"/>
              </a:lnSpc>
              <a:spcAft>
                <a:spcPts val="0"/>
              </a:spcAft>
            </a:pP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late rate: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late</a:t>
            </a:r>
            <a:r>
              <a:rPr sz="1500" i="0">
                <a:solidFill>
                  <a:srgbClr val="AEB6BF"/>
                </a:solidFill>
                <a:latin typeface="Consolas"/>
              </a:rPr>
              <a:t>.</a:t>
            </a:r>
            <a:r>
              <a:rPr sz="1500" i="0">
                <a:solidFill>
                  <a:srgbClr val="E8EDF2"/>
                </a:solidFill>
                <a:latin typeface="Consolas"/>
              </a:rPr>
              <a:t>mean</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round</a:t>
            </a:r>
            <a:r>
              <a:rPr sz="1500" i="0">
                <a:solidFill>
                  <a:srgbClr val="AEB6BF"/>
                </a:solidFill>
                <a:latin typeface="Consolas"/>
              </a:rPr>
              <a:t>(</a:t>
            </a:r>
            <a:r>
              <a:rPr sz="1500" i="0">
                <a:solidFill>
                  <a:srgbClr val="F7DC6F"/>
                </a:solidFill>
                <a:latin typeface="Consolas"/>
              </a:rPr>
              <a:t>3</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X</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y</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E8EDF2"/>
                </a:solidFill>
                <a:latin typeface="Consolas"/>
              </a:rPr>
              <a:t>drop</a:t>
            </a:r>
            <a:r>
              <a:rPr sz="1500" i="0">
                <a:solidFill>
                  <a:srgbClr val="AEB6BF"/>
                </a:solidFill>
                <a:latin typeface="Consolas"/>
              </a:rPr>
              <a:t>(</a:t>
            </a:r>
            <a:r>
              <a:rPr sz="1500" i="0">
                <a:solidFill>
                  <a:srgbClr val="E8EDF2"/>
                </a:solidFill>
                <a:latin typeface="Consolas"/>
              </a:rPr>
              <a:t>columns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late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df</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late</a:t>
            </a:r>
            <a:r>
              <a:rPr sz="1500" i="0">
                <a:solidFill>
                  <a:srgbClr val="7DCEA0"/>
                </a:solidFill>
                <a:latin typeface="Consolas"/>
              </a:rPr>
              <a:t>"</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12</a:t>
            </a:r>
          </a:p>
          <a:p>
            <a:pPr algn="r">
              <a:lnSpc>
                <a:spcPct val="100000"/>
              </a:lnSpc>
            </a:pPr>
            <a:r>
              <a:rPr sz="1500">
                <a:solidFill>
                  <a:srgbClr val="4F5D6A"/>
                </a:solidFill>
                <a:latin typeface="Consolas"/>
              </a:rPr>
              <a:t>13</a:t>
            </a:r>
          </a:p>
          <a:p>
            <a:pPr algn="r">
              <a:lnSpc>
                <a:spcPct val="100000"/>
              </a:lnSpc>
            </a:pPr>
            <a:r>
              <a:rPr sz="1500">
                <a:solidFill>
                  <a:srgbClr val="4F5D6A"/>
                </a:solidFill>
                <a:latin typeface="Consolas"/>
              </a:rPr>
              <a:t>14</a:t>
            </a:r>
          </a:p>
          <a:p>
            <a:pPr algn="r">
              <a:lnSpc>
                <a:spcPct val="100000"/>
              </a:lnSpc>
            </a:pPr>
            <a:r>
              <a:rPr sz="1500">
                <a:solidFill>
                  <a:srgbClr val="4F5D6A"/>
                </a:solidFill>
                <a:latin typeface="Consolas"/>
              </a:rPr>
              <a:t>15</a:t>
            </a:r>
          </a:p>
          <a:p>
            <a:pPr algn="r">
              <a:lnSpc>
                <a:spcPct val="100000"/>
              </a:lnSpc>
            </a:pPr>
            <a:r>
              <a:rPr sz="1500">
                <a:solidFill>
                  <a:srgbClr val="4F5D6A"/>
                </a:solidFill>
                <a:latin typeface="Consolas"/>
              </a:rPr>
              <a:t>16</a:t>
            </a:r>
          </a:p>
          <a:p>
            <a:pPr algn="r">
              <a:lnSpc>
                <a:spcPct val="100000"/>
              </a:lnSpc>
            </a:pPr>
            <a:r>
              <a:rPr sz="1500">
                <a:solidFill>
                  <a:srgbClr val="4F5D6A"/>
                </a:solidFill>
                <a:latin typeface="Consolas"/>
              </a:rPr>
              <a:t>17</a:t>
            </a:r>
          </a:p>
          <a:p>
            <a:pPr algn="r">
              <a:lnSpc>
                <a:spcPct val="100000"/>
              </a:lnSpc>
            </a:pPr>
            <a:r>
              <a:rPr sz="1500">
                <a:solidFill>
                  <a:srgbClr val="4F5D6A"/>
                </a:solidFill>
                <a:latin typeface="Consolas"/>
              </a:rPr>
              <a:t>18</a:t>
            </a:r>
          </a:p>
          <a:p>
            <a:pPr algn="r">
              <a:lnSpc>
                <a:spcPct val="100000"/>
              </a:lnSpc>
            </a:pPr>
            <a:r>
              <a:rPr sz="1500">
                <a:solidFill>
                  <a:srgbClr val="4F5D6A"/>
                </a:solidFill>
                <a:latin typeface="Consolas"/>
              </a:rPr>
              <a:t>19</a:t>
            </a:r>
          </a:p>
          <a:p>
            <a:pPr algn="r">
              <a:lnSpc>
                <a:spcPct val="100000"/>
              </a:lnSpc>
            </a:pPr>
            <a:r>
              <a:rPr sz="1500">
                <a:solidFill>
                  <a:srgbClr val="4F5D6A"/>
                </a:solidFill>
                <a:latin typeface="Consolas"/>
              </a:rPr>
              <a:t>20</a:t>
            </a:r>
          </a:p>
          <a:p>
            <a:pPr algn="r">
              <a:lnSpc>
                <a:spcPct val="100000"/>
              </a:lnSpc>
            </a:pPr>
            <a:r>
              <a:rPr sz="1500">
                <a:solidFill>
                  <a:srgbClr val="4F5D6A"/>
                </a:solidFill>
                <a:latin typeface="Consolas"/>
              </a:rPr>
              <a:t>21</a:t>
            </a:r>
          </a:p>
          <a:p>
            <a:pPr algn="r">
              <a:lnSpc>
                <a:spcPct val="100000"/>
              </a:lnSpc>
            </a:pPr>
            <a:r>
              <a:rPr sz="1500">
                <a:solidFill>
                  <a:srgbClr val="4F5D6A"/>
                </a:solidFill>
                <a:latin typeface="Consolas"/>
              </a:rPr>
              <a:t>22</a:t>
            </a:r>
          </a:p>
          <a:p>
            <a:pPr algn="r">
              <a:lnSpc>
                <a:spcPct val="100000"/>
              </a:lnSpc>
            </a:pPr>
            <a:r>
              <a:rPr sz="1500">
                <a:solidFill>
                  <a:srgbClr val="4F5D6A"/>
                </a:solidFill>
                <a:latin typeface="Consolas"/>
              </a:rPr>
              <a:t>23</a:t>
            </a:r>
          </a:p>
          <a:p>
            <a:pPr algn="r">
              <a:lnSpc>
                <a:spcPct val="100000"/>
              </a:lnSpc>
            </a:pPr>
            <a:r>
              <a:rPr sz="1500">
                <a:solidFill>
                  <a:srgbClr val="4F5D6A"/>
                </a:solidFill>
                <a:latin typeface="Consolas"/>
              </a:rPr>
              <a:t>24</a:t>
            </a:r>
          </a:p>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E5C9C950-6903-4C5E-AD0C-CE426F485668}"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Split FIRST; the test set is locked away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 --- 1. split FIRST; the test set is locked away ------------------------ X_tr, X_te, y_tr, y_te = train_test_split( X, y, test_size=0.2, stratify=y, random_state=0)"/>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split FIRST; the test set is locked away ------------------------</a:t>
            </a:r>
          </a:p>
          <a:p>
            <a:pPr>
              <a:lnSpc>
                <a:spcPct val="100000"/>
              </a:lnSpc>
              <a:spcAft>
                <a:spcPts val="0"/>
              </a:spcAft>
            </a:pP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train_test_split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X</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test_size</a:t>
            </a:r>
            <a:r>
              <a:rPr sz="1800" i="0">
                <a:solidFill>
                  <a:srgbClr val="AEB6BF"/>
                </a:solidFill>
                <a:latin typeface="Consolas"/>
              </a:rPr>
              <a:t>=</a:t>
            </a:r>
            <a:r>
              <a:rPr sz="1800" i="0">
                <a:solidFill>
                  <a:srgbClr val="F7DC6F"/>
                </a:solidFill>
                <a:latin typeface="Consolas"/>
              </a:rPr>
              <a:t>0.2</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stratify</a:t>
            </a:r>
            <a:r>
              <a:rPr sz="1800" i="0">
                <a:solidFill>
                  <a:srgbClr val="AEB6BF"/>
                </a:solidFill>
                <a:latin typeface="Consolas"/>
              </a:rPr>
              <a:t>=</a:t>
            </a:r>
            <a:r>
              <a:rPr sz="1800" i="0">
                <a:solidFill>
                  <a:srgbClr val="E8EDF2"/>
                </a:solidFill>
                <a:latin typeface="Consolas"/>
              </a:rPr>
              <a:t>y</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random_state</a:t>
            </a:r>
            <a:r>
              <a:rPr sz="1800" i="0">
                <a:solidFill>
                  <a:srgbClr val="AEB6BF"/>
                </a:solidFill>
                <a:latin typeface="Consolas"/>
              </a:rPr>
              <a:t>=</a:t>
            </a:r>
            <a:r>
              <a:rPr sz="1800" i="0">
                <a:solidFill>
                  <a:srgbClr val="F7DC6F"/>
                </a:solidFill>
                <a:latin typeface="Consolas"/>
              </a:rPr>
              <a:t>0</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69D5A317-A71F-466C-9689-B4C5349C0893}"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Every preparation step lives inside the pipeline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 --- 2. every preparation step lives inside the pipeline ---------------- num = [&quot;clarity&quot;, &quot;coverage&quot;, &quot;changes&quot;] prep = ColumnTransformer([ (&quot;num&quot;, make_pipeline(SimpleImputer(strategy=&quot;median&quot;), StandardScaler()), num), (&quot;cat&quot;, OneHotEncoder(handle_unknown=&quot;ignore&quot;), [&quot;ptype&quot;]), ]) model = Pipeline([(&quot;prep&quot;, prep), (&quot;clf&quot;, LogisticRegression())])"/>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every preparation step lives inside the pipeline ----------------</a:t>
            </a:r>
          </a:p>
          <a:p>
            <a:pPr>
              <a:lnSpc>
                <a:spcPct val="100000"/>
              </a:lnSpc>
              <a:spcAft>
                <a:spcPts val="0"/>
              </a:spcAft>
            </a:pPr>
            <a:r>
              <a:rPr sz="1800" i="0">
                <a:solidFill>
                  <a:srgbClr val="E8EDF2"/>
                </a:solidFill>
                <a:latin typeface="Consolas"/>
              </a:rPr>
              <a:t>num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clarity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coverage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changes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prep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ColumnTransformer</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num</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SimpleImputer</a:t>
            </a:r>
            <a:r>
              <a:rPr sz="1800" i="0">
                <a:solidFill>
                  <a:srgbClr val="AEB6BF"/>
                </a:solidFill>
                <a:latin typeface="Consolas"/>
              </a:rPr>
              <a:t>(</a:t>
            </a:r>
            <a:r>
              <a:rPr sz="1800" i="0">
                <a:solidFill>
                  <a:srgbClr val="E8EDF2"/>
                </a:solidFill>
                <a:latin typeface="Consolas"/>
              </a:rPr>
              <a:t>strategy</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median</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num</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OneHotEncoder</a:t>
            </a:r>
            <a:r>
              <a:rPr sz="1800" i="0">
                <a:solidFill>
                  <a:srgbClr val="AEB6BF"/>
                </a:solidFill>
                <a:latin typeface="Consolas"/>
              </a:rPr>
              <a:t>(</a:t>
            </a:r>
            <a:r>
              <a:rPr sz="1800" i="0">
                <a:solidFill>
                  <a:srgbClr val="E8EDF2"/>
                </a:solidFill>
                <a:latin typeface="Consolas"/>
              </a:rPr>
              <a:t>handle_unknown</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ignore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ptype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model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Pipeline</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prep</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prep</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clf</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LogisticRegression</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BB644ED0-1E61-45EB-B3FF-DF04F7E49C90}"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baseline first, then the model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 --- 3. a baseline first, then the model -------------------------------- base = DummyClassifier(strategy=&quot;most_frequent&quot;).fit(X_tr, y_tr) print(&quot;baseline accuracy:&quot;, round(base.score(X_te, y_te), 3)) model.fit(X_tr, y_tr) print(&quot;model accuracy :&quot;, round(model.score(X_te, y_te), 3))"/>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baseline first, then the model --------------------------------</a:t>
            </a:r>
          </a:p>
          <a:p>
            <a:pPr>
              <a:lnSpc>
                <a:spcPct val="100000"/>
              </a:lnSpc>
              <a:spcAft>
                <a:spcPts val="0"/>
              </a:spcAft>
            </a:pPr>
            <a:r>
              <a:rPr sz="1800" i="0">
                <a:solidFill>
                  <a:srgbClr val="E8EDF2"/>
                </a:solidFill>
                <a:latin typeface="Consolas"/>
              </a:rPr>
              <a:t>base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DummyClassifier</a:t>
            </a:r>
            <a:r>
              <a:rPr sz="1800" i="0">
                <a:solidFill>
                  <a:srgbClr val="AEB6BF"/>
                </a:solidFill>
                <a:latin typeface="Consolas"/>
              </a:rPr>
              <a:t>(</a:t>
            </a:r>
            <a:r>
              <a:rPr sz="1800" i="0">
                <a:solidFill>
                  <a:srgbClr val="E8EDF2"/>
                </a:solidFill>
                <a:latin typeface="Consolas"/>
              </a:rPr>
              <a:t>strategy</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most_frequent</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baseline accuracy:</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base</a:t>
            </a:r>
            <a:r>
              <a:rPr sz="1800" i="0">
                <a:solidFill>
                  <a:srgbClr val="AEB6BF"/>
                </a:solidFill>
                <a:latin typeface="Consolas"/>
              </a:rPr>
              <a:t>.</a:t>
            </a:r>
            <a:r>
              <a:rPr sz="1800" i="0">
                <a:solidFill>
                  <a:srgbClr val="E8EDF2"/>
                </a:solidFill>
                <a:latin typeface="Consolas"/>
              </a:rPr>
              <a:t>score</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X_tr</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y_tr</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model accuracy   :</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round</a:t>
            </a:r>
            <a:r>
              <a:rPr sz="1800" i="0">
                <a:solidFill>
                  <a:srgbClr val="AEB6BF"/>
                </a:solidFill>
                <a:latin typeface="Consolas"/>
              </a:rPr>
              <a:t>(</a:t>
            </a: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score</a:t>
            </a:r>
            <a:r>
              <a:rPr sz="1800" i="0">
                <a:solidFill>
                  <a:srgbClr val="AEB6BF"/>
                </a:solidFill>
                <a:latin typeface="Consolas"/>
              </a:rPr>
              <a:t>(</a:t>
            </a:r>
            <a:r>
              <a:rPr sz="1800" i="0">
                <a:solidFill>
                  <a:srgbClr val="E8EDF2"/>
                </a:solidFill>
                <a:latin typeface="Consolas"/>
              </a:rPr>
              <a:t>X_te</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y_te</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Leak-Proof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ADF8F0F3-163F-4E23-A86D-BFDE4927A57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Look inside: the scaler learned from training rows only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code/ch03_leak_proof_pipeline.py</a:t>
            </a:r>
          </a:p>
        </p:txBody>
      </p:sp>
      <p:sp>
        <p:nvSpPr>
          <p:cNvPr id="14" name="!!code-text" descr="# --- 4. look inside: the scaler learned from training rows only --------- scaler = model.named_steps[&quot;prep&quot;].named_transformers_[&quot;num&quot;][-1] print(&quot;scaler means:&quot;, scaler.mean_.round(2))"/>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look inside: the scaler learned from training rows only ---------</a:t>
            </a:r>
          </a:p>
          <a:p>
            <a:pPr>
              <a:lnSpc>
                <a:spcPct val="100000"/>
              </a:lnSpc>
              <a:spcAft>
                <a:spcPts val="0"/>
              </a:spcAft>
            </a:pPr>
            <a:r>
              <a:rPr sz="1800" i="0">
                <a:solidFill>
                  <a:srgbClr val="E8EDF2"/>
                </a:solidFill>
                <a:latin typeface="Consolas"/>
              </a:rPr>
              <a:t>scaler</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model</a:t>
            </a:r>
            <a:r>
              <a:rPr sz="1800" i="0">
                <a:solidFill>
                  <a:srgbClr val="AEB6BF"/>
                </a:solidFill>
                <a:latin typeface="Consolas"/>
              </a:rPr>
              <a:t>.</a:t>
            </a:r>
            <a:r>
              <a:rPr sz="1800" i="0">
                <a:solidFill>
                  <a:srgbClr val="E8EDF2"/>
                </a:solidFill>
                <a:latin typeface="Consolas"/>
              </a:rPr>
              <a:t>named_steps</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prep</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named_transformers_</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num</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p>
          <a:p>
            <a:pPr>
              <a:lnSpc>
                <a:spcPct val="100000"/>
              </a:lnSpc>
              <a:spcAft>
                <a:spcPts val="0"/>
              </a:spcAft>
            </a:pP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scaler means: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scaler</a:t>
            </a:r>
            <a:r>
              <a:rPr sz="1800" i="0">
                <a:solidFill>
                  <a:srgbClr val="AEB6BF"/>
                </a:solidFill>
                <a:latin typeface="Consolas"/>
              </a:rPr>
              <a:t>.</a:t>
            </a:r>
            <a:r>
              <a:rPr sz="1800" i="0">
                <a:solidFill>
                  <a:srgbClr val="E8EDF2"/>
                </a:solidFill>
                <a:latin typeface="Consolas"/>
              </a:rPr>
              <a:t>mean_</a:t>
            </a:r>
            <a:r>
              <a:rPr sz="1800" i="0">
                <a:solidFill>
                  <a:srgbClr val="AEB6BF"/>
                </a:solidFill>
                <a:latin typeface="Consolas"/>
              </a:rPr>
              <a:t>.</a:t>
            </a:r>
            <a:r>
              <a:rPr sz="1800" i="0">
                <a:solidFill>
                  <a:srgbClr val="E8EDF2"/>
                </a:solidFill>
                <a:latin typeface="Consolas"/>
              </a:rPr>
              <a:t>round</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AEB6BF"/>
                </a:solidFill>
                <a:latin typeface="Consolas"/>
              </a:rPr>
              <a:t>)</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§3.7  ·  Handout p. 23     </a:t>
            </a:r>
            <a:fld id="{70667195-DE22-440C-96B2-2FA046A7E31D}"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baseline scores about 0.68 and the model about 0.84. Now swap the model: import </a:t>
            </a:r>
            <a:r>
              <a:rPr sz="2150" b="0" i="0">
                <a:solidFill>
                  <a:srgbClr val="1F4E79"/>
                </a:solidFill>
                <a:latin typeface="Consolas"/>
              </a:rPr>
              <a:t>DecisionTreeClassifier</a:t>
            </a:r>
            <a:r>
              <a:rPr sz="2300" b="0" i="0">
                <a:solidFill>
                  <a:srgbClr val="1C252B"/>
                </a:solidFill>
                <a:latin typeface="Segoe UI"/>
              </a:rPr>
              <a:t> from </a:t>
            </a:r>
            <a:r>
              <a:rPr sz="2150" b="0" i="0">
                <a:solidFill>
                  <a:srgbClr val="1F4E79"/>
                </a:solidFill>
                <a:latin typeface="Consolas"/>
              </a:rPr>
              <a:t>sklearn.tree</a:t>
            </a:r>
            <a:r>
              <a:rPr sz="2300" b="0" i="0">
                <a:solidFill>
                  <a:srgbClr val="1C252B"/>
                </a:solidFill>
                <a:latin typeface="Segoe UI"/>
              </a:rPr>
              <a:t> and put it where </a:t>
            </a:r>
            <a:r>
              <a:rPr sz="2150" b="0" i="0">
                <a:solidFill>
                  <a:srgbClr val="1F4E79"/>
                </a:solidFill>
                <a:latin typeface="Consolas"/>
              </a:rPr>
              <a:t>LogisticRegression()</a:t>
            </a:r>
            <a:r>
              <a:rPr sz="2300" b="0" i="0">
                <a:solidFill>
                  <a:srgbClr val="1C252B"/>
                </a:solidFill>
                <a:latin typeface="Segoe UI"/>
              </a:rPr>
              <a:t> was. Nothing else changes — that is the point of the interface.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must the scaler’s mean and standard deviation be computed from the training set only?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3  ·  The Machine Learning Workflow and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25  ·  answers in Appendix D     </a:t>
            </a:r>
            <a:fld id="{093260D1-CCE5-4D0F-887A-5B3B5FDB64CB}"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must the scaler’s mean and standard deviation be computed from the training set only?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At prediction time only the training data is known. Statistics computed with test rows leak information about the test set into training and make the evaluation optimistic; new data must be transformed with the stored training statistics.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  answers in Appendix D     </a:t>
            </a:r>
            <a:fld id="{F9D0E890-AEA3-4D10-A0E2-E798E6E0681C}"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2085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dataset has a column </a:t>
            </a:r>
            <a:r>
              <a:rPr sz="3200" b="0" i="0">
                <a:solidFill>
                  <a:srgbClr val="FFFFFF"/>
                </a:solidFill>
                <a:latin typeface="Consolas"/>
              </a:rPr>
              <a:t>method</a:t>
            </a:r>
            <a:r>
              <a:rPr sz="3400" b="0" i="0">
                <a:solidFill>
                  <a:srgbClr val="FFFFFF"/>
                </a:solidFill>
                <a:latin typeface="Segoe UI Semibold"/>
              </a:rPr>
              <a:t> with values Scrum, Kanban and Waterfall. How should it be encoded, and why not as 1, 2, 3?</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3  ·  The Machine Learning Workflow and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25  ·  answers in Appendix D     </a:t>
            </a:r>
            <a:fld id="{9B2B86AB-DB08-4CE1-9E54-556FBC9E9480}"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dataset has a column </a:t>
            </a:r>
            <a:r>
              <a:rPr sz="2250" b="0" i="0">
                <a:solidFill>
                  <a:srgbClr val="1A5276"/>
                </a:solidFill>
                <a:latin typeface="Consolas"/>
              </a:rPr>
              <a:t>method</a:t>
            </a:r>
            <a:r>
              <a:rPr sz="2400" b="0" i="0">
                <a:solidFill>
                  <a:srgbClr val="1A5276"/>
                </a:solidFill>
                <a:latin typeface="Segoe UI Semibold"/>
              </a:rPr>
              <a:t> with values Scrum, Kanban and Waterfall. How should it be encoded, and why not as 1, 2, 3?</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One-hot encode it into three 0/1 columns. Codes 1, 2, 3 would tell a model that Waterfall is “three times” Scrum and that Kanban lies between them — an order and distances that do not exist.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  answers in Appendix D     </a:t>
            </a:r>
            <a:fld id="{007DE8B8-DBEE-4F31-8B16-5C9570757E1A}"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750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model predicting which projects will be cancelled scores 97% accuracy. What single number do you ask for before you are impressed?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3  ·  The Machine Learning Workflow and Toolkit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25  ·  answers in Appendix D     </a:t>
            </a:r>
            <a:fld id="{5DC37EB8-27BB-49AF-86D6-8A4A3A63BED0}"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model predicting which projects will be cancelled scores 97% accuracy. What single number do you ask for before you are impressed?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majority-class baseline: if 97% of projects are never cancelled, predicting “not cancelled” is 97% accurate. Then ask for recall on the cancelled projects.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  answers in Appendix D     </a:t>
            </a:r>
            <a:fld id="{4777FBD5-F73F-4825-9137-20B2E2E78651}"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52919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a:t>
            </a:r>
            <a:fld id="{6BE655F5-D484-47A3-A5ED-36866FE64F00}"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Every experiment follows the same workflow: frame, collect, split, prepare, baseline, train, validate, test once, report.</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training set fits the model, the validation set chooses between models, and the test set — used once — estimates performance on new data.</a:t>
            </a:r>
          </a:p>
        </p:txBody>
      </p:sp>
      <p:sp>
        <p:nvSpPr>
          <p:cNvPr id="13" name="!!sb2">
            <a:extLst>
              <a:ext uri="{C183D7F6-B498-43B3-948B-1728B52AA6E4}">
                <adec:decorative xmlns:adec="http://schemas.microsoft.com/office/drawing/2017/decorative" val="1"/>
              </a:ext>
            </a:extLst>
          </p:cNvPr>
          <p:cNvSpPr/>
          <p:nvPr/>
        </p:nvSpPr>
        <p:spPr>
          <a:xfrm>
            <a:off x="658368" y="325343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0829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24429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Impute gaps (and record that they were gaps), one-hot encode nominal categories, and scale numbers for any method based on distance or gradients.</a:t>
            </a:r>
          </a:p>
        </p:txBody>
      </p:sp>
      <p:sp>
        <p:nvSpPr>
          <p:cNvPr id="16" name="!!sb3">
            <a:extLst>
              <a:ext uri="{C183D7F6-B498-43B3-948B-1728B52AA6E4}">
                <adec:decorative xmlns:adec="http://schemas.microsoft.com/office/drawing/2017/decorative" val="1"/>
              </a:ext>
            </a:extLst>
          </p:cNvPr>
          <p:cNvSpPr/>
          <p:nvPr/>
        </p:nvSpPr>
        <p:spPr>
          <a:xfrm>
            <a:off x="658368" y="400690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6176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97756"/>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Every scikit-learn estimator has </a:t>
            </a:r>
            <a:r>
              <a:rPr sz="1700" b="0" i="0">
                <a:solidFill>
                  <a:srgbClr val="1F4E79"/>
                </a:solidFill>
                <a:latin typeface="Consolas"/>
              </a:rPr>
              <a:t>fit</a:t>
            </a:r>
            <a:r>
              <a:rPr sz="1800" b="0" i="0">
                <a:solidFill>
                  <a:srgbClr val="1C252B"/>
                </a:solidFill>
                <a:latin typeface="Segoe UI"/>
              </a:rPr>
              <a:t> and </a:t>
            </a:r>
            <a:r>
              <a:rPr sz="1700" b="0" i="0">
                <a:solidFill>
                  <a:srgbClr val="1F4E79"/>
                </a:solidFill>
                <a:latin typeface="Consolas"/>
              </a:rPr>
              <a:t>predict</a:t>
            </a:r>
            <a:r>
              <a:rPr sz="1800" b="0" i="0">
                <a:solidFill>
                  <a:srgbClr val="1C252B"/>
                </a:solidFill>
                <a:latin typeface="Segoe UI"/>
              </a:rPr>
              <a:t>; every transformer has </a:t>
            </a:r>
            <a:r>
              <a:rPr sz="1700" b="0" i="0">
                <a:solidFill>
                  <a:srgbClr val="1F4E79"/>
                </a:solidFill>
                <a:latin typeface="Consolas"/>
              </a:rPr>
              <a:t>fit</a:t>
            </a:r>
            <a:r>
              <a:rPr sz="1800" b="0" i="0">
                <a:solidFill>
                  <a:srgbClr val="1C252B"/>
                </a:solidFill>
                <a:latin typeface="Segoe UI"/>
              </a:rPr>
              <a:t> and </a:t>
            </a:r>
            <a:r>
              <a:rPr sz="1700" b="0" i="0">
                <a:solidFill>
                  <a:srgbClr val="1F4E79"/>
                </a:solidFill>
                <a:latin typeface="Consolas"/>
              </a:rPr>
              <a:t>transform</a:t>
            </a:r>
            <a:r>
              <a:rPr sz="1800" b="0" i="0">
                <a:solidFill>
                  <a:srgbClr val="1C252B"/>
                </a:solidFill>
                <a:latin typeface="Segoe UI"/>
              </a:rPr>
              <a:t>. Pipelines chain them.</a:t>
            </a:r>
          </a:p>
        </p:txBody>
      </p:sp>
      <p:sp>
        <p:nvSpPr>
          <p:cNvPr id="19" name="!!sb4">
            <a:extLst>
              <a:ext uri="{C183D7F6-B498-43B3-948B-1728B52AA6E4}">
                <adec:decorative xmlns:adec="http://schemas.microsoft.com/office/drawing/2017/decorative" val="1"/>
              </a:ext>
            </a:extLst>
          </p:cNvPr>
          <p:cNvSpPr/>
          <p:nvPr/>
        </p:nvSpPr>
        <p:spPr>
          <a:xfrm>
            <a:off x="658368" y="476036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1523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51222"/>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Leakage — through a feature recorded after the outcome or through preparation fitted on test rows — produces scores the model cannot reproduce in use. Pipelines prevent the second kind.</a:t>
            </a:r>
          </a:p>
        </p:txBody>
      </p:sp>
      <p:sp>
        <p:nvSpPr>
          <p:cNvPr id="22" name="!!sb5">
            <a:extLst>
              <a:ext uri="{C183D7F6-B498-43B3-948B-1728B52AA6E4}">
                <adec:decorative xmlns:adec="http://schemas.microsoft.com/office/drawing/2017/decorative" val="1"/>
              </a:ext>
            </a:extLst>
          </p:cNvPr>
          <p:cNvSpPr/>
          <p:nvPr/>
        </p:nvSpPr>
        <p:spPr>
          <a:xfrm>
            <a:off x="658368" y="55138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5686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0468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Always report the baseline beside the model.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a:t>
            </a:r>
            <a:fld id="{DA53B073-EFFD-48C1-B944-139FAD5AB887}"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set is used to choose between a decision tree and an SVM?</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training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validation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test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 three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a:t>
            </a:r>
            <a:fld id="{37DF17B0-9AB6-4D82-9AAC-61B4A517BD6A}"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model does </a:t>
            </a:r>
            <a:r>
              <a:rPr sz="2600" b="0" i="1">
                <a:solidFill>
                  <a:srgbClr val="1C252B"/>
                </a:solidFill>
                <a:latin typeface="Segoe UI"/>
              </a:rPr>
              <a:t>not</a:t>
            </a:r>
            <a:r>
              <a:rPr sz="2600" b="0" i="0">
                <a:solidFill>
                  <a:srgbClr val="1C252B"/>
                </a:solidFill>
                <a:latin typeface="Segoe UI"/>
              </a:rPr>
              <a:t> need its features scaled?</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a:t>
            </a:r>
            <a:r>
              <a:rPr sz="2000" b="0" i="0">
                <a:solidFill>
                  <a:srgbClr val="1C252B"/>
                </a:solidFill>
                <a:latin typeface="Segoe UI"/>
              </a:rPr>
              <a:t>-nearest neighbours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SVM</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decision tree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1">
                <a:solidFill>
                  <a:srgbClr val="1C252B"/>
                </a:solidFill>
                <a:latin typeface="Cambria"/>
              </a:rPr>
              <a:t>k</a:t>
            </a:r>
            <a:r>
              <a:rPr sz="2000" b="0" i="0">
                <a:solidFill>
                  <a:srgbClr val="1C252B"/>
                </a:solidFill>
                <a:latin typeface="Segoe UI"/>
              </a:rPr>
              <a:t>-means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a:t>
            </a:r>
            <a:fld id="{9FA92CBF-AF19-4DF4-BC3A-A3F30CD1773B}" type="slidenum">
              <a:rPr lang="en-GB" sz="1000">
                <a:solidFill>
                  <a:srgbClr val="8795A1"/>
                </a:solidFill>
                <a:latin typeface="Segoe UI"/>
              </a:rPr>
              <a:t>42</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column recording the date a project was formally closed as failed, in a model predicting project failure, is an example of:</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target leakage</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stratification</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imputation</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baseline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3  ·  The Machine Learning Workflow and Toolkit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25     </a:t>
            </a:r>
            <a:fld id="{AA428B58-69EC-4F02-9228-4E54F10A3E8F}"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difference between </a:t>
            </a:r>
            <a:r>
              <a:rPr sz="1800" b="0" i="0">
                <a:solidFill>
                  <a:srgbClr val="1F4E79"/>
                </a:solidFill>
                <a:latin typeface="Consolas"/>
              </a:rPr>
              <a:t>fit</a:t>
            </a:r>
            <a:r>
              <a:rPr sz="1900" b="0" i="0">
                <a:solidFill>
                  <a:srgbClr val="1C252B"/>
                </a:solidFill>
                <a:latin typeface="Segoe UI"/>
              </a:rPr>
              <a:t>, </a:t>
            </a:r>
            <a:r>
              <a:rPr sz="1800" b="0" i="0">
                <a:solidFill>
                  <a:srgbClr val="1F4E79"/>
                </a:solidFill>
                <a:latin typeface="Consolas"/>
              </a:rPr>
              <a:t>transform</a:t>
            </a:r>
            <a:r>
              <a:rPr sz="1900" b="0" i="0">
                <a:solidFill>
                  <a:srgbClr val="1C252B"/>
                </a:solidFill>
                <a:latin typeface="Segoe UI"/>
              </a:rPr>
              <a:t> and </a:t>
            </a:r>
            <a:r>
              <a:rPr sz="1800" b="0" i="0">
                <a:solidFill>
                  <a:srgbClr val="1F4E79"/>
                </a:solidFill>
                <a:latin typeface="Consolas"/>
              </a:rPr>
              <a:t>predict</a:t>
            </a:r>
            <a:r>
              <a:rPr sz="1900" b="0" i="0">
                <a:solidFill>
                  <a:srgbClr val="1C252B"/>
                </a:solidFill>
                <a:latin typeface="Segoe UI"/>
              </a:rPr>
              <a:t>.</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should a time-ordered dataset not be split at random?</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When is it worth adding a “value was missing” column alongside an imputed feature?</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Training values of a feature are </a:t>
            </a:r>
            <a:r>
              <a:rPr sz="1900" b="0" i="0">
                <a:solidFill>
                  <a:srgbClr val="1C252B"/>
                </a:solidFill>
                <a:latin typeface="Cambria"/>
              </a:rPr>
              <a:t>10, 20, 30, 40</a:t>
            </a:r>
            <a:r>
              <a:rPr sz="1900" b="0" i="0">
                <a:solidFill>
                  <a:srgbClr val="1C252B"/>
                </a:solidFill>
                <a:latin typeface="Segoe UI"/>
              </a:rPr>
              <a:t>. Compute the standardised value of a new observation of </a:t>
            </a:r>
            <a:r>
              <a:rPr sz="1900" b="0" i="0">
                <a:solidFill>
                  <a:srgbClr val="1C252B"/>
                </a:solidFill>
                <a:latin typeface="Cambria"/>
              </a:rPr>
              <a:t>45</a:t>
            </a:r>
            <a:r>
              <a:rPr sz="1900" b="0" i="0">
                <a:solidFill>
                  <a:srgbClr val="1C252B"/>
                </a:solidFill>
                <a:latin typeface="Segoe UI"/>
              </a:rPr>
              <a:t>, showing </a:t>
            </a:r>
            <a:r>
              <a:rPr sz="1900" b="0" i="0">
                <a:solidFill>
                  <a:srgbClr val="1C252B"/>
                </a:solidFill>
                <a:latin typeface="Cambria"/>
              </a:rPr>
              <a:t>μ</a:t>
            </a:r>
            <a:r>
              <a:rPr sz="1900" b="0" i="0">
                <a:solidFill>
                  <a:srgbClr val="1C252B"/>
                </a:solidFill>
                <a:latin typeface="Segoe UI"/>
              </a:rPr>
              <a:t> and </a:t>
            </a:r>
            <a:r>
              <a:rPr sz="1900" b="0" i="0">
                <a:solidFill>
                  <a:srgbClr val="1C252B"/>
                </a:solidFill>
                <a:latin typeface="Cambria"/>
              </a:rPr>
              <a:t>σ</a:t>
            </a:r>
            <a:r>
              <a:rPr sz="1900" b="0" i="0">
                <a:solidFill>
                  <a:srgbClr val="1C252B"/>
                </a:solidFill>
                <a:latin typeface="Segoe UI"/>
              </a:rPr>
              <a:t>. Then compute its min–max scaled value, and say what is unusual about the result.</a:t>
            </a:r>
          </a:p>
        </p:txBody>
      </p:sp>
      <p:sp>
        <p:nvSpPr>
          <p:cNvPr id="19" name="!!rt4">
            <a:extLst>
              <a:ext uri="{C183D7F6-B498-43B3-948B-1728B52AA6E4}">
                <adec:decorative xmlns:adec="http://schemas.microsoft.com/office/drawing/2017/decorative" val="1"/>
              </a:ext>
            </a:extLst>
          </p:cNvPr>
          <p:cNvSpPr/>
          <p:nvPr/>
        </p:nvSpPr>
        <p:spPr>
          <a:xfrm>
            <a:off x="658368" y="4440326"/>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48147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422038"/>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colleague scales the whole dataset, selects the ten features most correlated with the label, then runs 5-fold cross-validation and reports 94%. Identify every leak in this procedure and rewrite it so that it cannot leak.</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4 — Concept Learning and the Version Space</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 pages 19–25</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 leak-proof pipeline</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3  ·  The Machine Learning Workflow and Toolkit</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7D5F6BA6-11CE-426D-8965-1AB085743C14}"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The Machine Learning Workflow and Toolkit</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