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3.svg" ContentType="image/svg+xml"/>
  <Override PartName="/ppt/media/image24.svg" ContentType="image/svg+xml"/>
  <Override PartName="/ppt/media/image25.svg" ContentType="image/svg+xml"/>
  <Override PartName="/ppt/media/image27.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4.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media/image85.svg" ContentType="image/svg+xml"/>
  <Override PartName="/ppt/media/image86.svg" ContentType="image/svg+xml"/>
  <Override PartName="/ppt/media/image8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CDC6697-FB6D-4A60-8F2C-12978FDCF764}">
          <p14:sldIdLst>
            <p14:sldId id="256"/>
            <p14:sldId id="257"/>
            <p14:sldId id="258"/>
            <p14:sldId id="259"/>
            <p14:sldId id="260"/>
          </p14:sldIdLst>
        </p14:section>
        <p14:section name="21.1 Why a Machine Learning Course Has an Ethics Chapter" id="{42496664-CDF7-4470-ABF3-1091C0D0155A}">
          <p14:sldIdLst>
            <p14:sldId id="261"/>
          </p14:sldIdLst>
        </p14:section>
        <p14:section name="21.2 Where Bias Enters" id="{A5FF2872-9B03-483D-8AA7-330938A84EF1}">
          <p14:sldIdLst>
            <p14:sldId id="262"/>
          </p14:sldIdLst>
        </p14:section>
        <p14:section name="21.3 Measuring Fairness" id="{163DF1BD-E846-4654-A831-249177823D3F}">
          <p14:sldIdLst>
            <p14:sldId id="263"/>
            <p14:sldId id="264"/>
            <p14:sldId id="265"/>
            <p14:sldId id="266"/>
            <p14:sldId id="267"/>
            <p14:sldId id="268"/>
          </p14:sldIdLst>
        </p14:section>
        <p14:section name="21.4 Privacy" id="{25AB3075-5C21-46F2-9F49-D97D4848A4D5}">
          <p14:sldIdLst>
            <p14:sldId id="269"/>
          </p14:sldIdLst>
        </p14:section>
        <p14:section name="21.5 Transparency and Explainability" id="{6F037D57-81FD-4431-A833-3A7F140B2A42}">
          <p14:sldIdLst>
            <p14:sldId id="270"/>
            <p14:sldId id="271"/>
            <p14:sldId id="272"/>
          </p14:sldIdLst>
        </p14:section>
        <p14:section name="21.6 Accountability and Security" id="{288172C1-7902-4D75-A4F1-1FDFED703FAF}">
          <p14:sldIdLst>
            <p14:sldId id="273"/>
          </p14:sldIdLst>
        </p14:section>
        <p14:section name="Pitfalls" id="{25A68D90-08F9-4503-AAA8-0EFECBDF04D0}">
          <p14:sldIdLst>
            <p14:sldId id="274"/>
          </p14:sldIdLst>
        </p14:section>
        <p14:section name="Four lenses" id="{53946BB0-E58E-404B-B5EE-720FADCE3C47}">
          <p14:sldIdLst>
            <p14:sldId id="275"/>
            <p14:sldId id="276"/>
            <p14:sldId id="277"/>
            <p14:sldId id="278"/>
            <p14:sldId id="279"/>
          </p14:sldIdLst>
        </p14:section>
        <p14:section name="Lab" id="{85C641D6-DD5F-4C29-8CCD-13BA270C8E1A}">
          <p14:sldIdLst>
            <p14:sldId id="280"/>
            <p14:sldId id="281"/>
            <p14:sldId id="282"/>
            <p14:sldId id="283"/>
            <p14:sldId id="284"/>
            <p14:sldId id="285"/>
            <p14:sldId id="286"/>
          </p14:sldIdLst>
        </p14:section>
        <p14:section name="Checkpoint" id="{D802917A-046B-4436-8E57-B5D3E4EFF13B}">
          <p14:sldIdLst>
            <p14:sldId id="287"/>
            <p14:sldId id="288"/>
            <p14:sldId id="289"/>
            <p14:sldId id="290"/>
            <p14:sldId id="291"/>
            <p14:sldId id="292"/>
          </p14:sldIdLst>
        </p14:section>
        <p14:section name="Wrap-up" id="{0A0DBED5-1BF9-4DA3-9962-FCF87A92D94F}">
          <p14:sldIdLst>
            <p14:sldId id="293"/>
            <p14:sldId id="294"/>
            <p14:sldId id="295"/>
            <p14:sldId id="296"/>
            <p14:sldId id="297"/>
            <p14:sldId id="29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21: Responsible and Ethical Machine Learning. Part 6 — Responsible Practice. Week 16: Responsible machine learning; project presentations. Handout pages 162–168.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8 (confusion matrices, precision, recall, thresholds) and Chapter 3 (data and features). This chapter delivers the HEC 2025 outcome “discuss ethical considerations while applying ML to societal problems”; every Four Lenses panel in the handout has been practice for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algorithmic bias; historical, representation and measurement bias; proxy variable; feedback loop; protected attribute; demographic parity; disparate impact (four-fifths rule); equal opportunity; equalised odds; predictive parity; impossibility of fairness; privacy; re-identification; explainability; model card; accountability; adversarial example; data poisoning.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21.1 (handout p. 163): Five places bias enters a machine learning system. Removing a protected attribute addresses none of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points from Figure 21.1 catch almost every team. First, a model does not need to see a protected attribute (gender, religion, ethnicity, region) to discriminate on it. Other features act as proxy variables: home district, school, name, even the time of day someone applies. In this chapter’s lab, three ordinary features recover group membership with 97% accuracy. Second, feedback loops: a model that sends more patrols to one district records more incidents there, which becomes next year’s training data, which sends more patrols. The model’s prediction makes itself come true. Fairness cannot be measured without choosing what to compare. Four group criteria are in common use, each a comparison of confusion-matrix quantities between groups: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21.2 (handout p. 164): The worked audit. Every criterion shows a gap, but they mean different things: the selection gap partly reflects different base rates; the TPR gap is unequal treatment of equally qualified applicants.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explanation of what the model uses is not an explanation of what causes the outcome (Chapter 5); say which one you are giving.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Accountability means that a person, not “the algorithm”, is responsible for a decision, and that the people affected can contest it. Keep a human in the loop for consequential decisions; log what the model predicted and why; and provide a route for appeal that can actually overturn the prediction. Security is an ethical issue too, because a model that can be manipulated will be. Adversarial examples — inputs changed slightly and deliberately — flip a model’s output (Chapter 13). Data poisoning inserts crafted examples into the training data, a particular risk for models retrained on user-supplied data and for self-training (Chapter 17). A model deployed where someone benefits from fooling it must be tested against someone trying.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An early-warning model that flags students from one region more often may be measuring unequal preparation, not ability; and a flag seen by a teacher can lower expectations and cause the failure it predicted. Use flags to offer support, never to restrict opportunity, and audit TPR by group every term.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Models that score employees’ productivity from commit counts or ticket throughput measure what is easy to count. They reward gaming, and penalise the people doing the unglamorous work — reviews, mentoring, documentation — that keeps a team functioning.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Sensor data from homes and vehicles reveals when people are in, asleep or travelling. Process on the device where possible, send aggregates rather than raw streams, and treat a smart-meter dataset as the personal data it is.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Security models are the most adversarial setting of all: the people they classify are actively trying to defeat them. Test against evasion and poisoning, and remember that a false positive may lock an innocent user out of an account — give them a fast route back 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synthetic admissions dataset in which group B had fewer chances to build a strong record. The group is never given to the model as a feature.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A synthetic admissions dataset with a protected group.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A synthetic admissions dataset with a protected group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The model, group column excluded (it was never a feature).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Removing the group column does not remove the group.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Equalise the true positive rate with a group-specific threshold.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30/45 = 0.67 &lt; 0.8: it fails the four-fifths rule.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Other features act as proxies and let the model reconstruct the attribute, and the labels themselves may encode past unfairness.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Equal opportunity; it compares true positive rates (recall) across groups.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22 — The Machine Learning Project. READ: Handout Chapter 21, pages 162–168. THIS WEEK'S LAB: Auditing a model for fairness. ASSESSMENT: Project report and presentation.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9.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4.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5.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8.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image" Target="../media/image33.png"/><Relationship Id="rId5" Type="http://schemas.openxmlformats.org/officeDocument/2006/relationships/image" Target="../media/image34.svg"/><Relationship Id="rId6" Type="http://schemas.openxmlformats.org/officeDocument/2006/relationships/image" Target="../media/image35.png"/><Relationship Id="rId7" Type="http://schemas.openxmlformats.org/officeDocument/2006/relationships/image" Target="../media/image36.svg"/><Relationship Id="rId8" Type="http://schemas.openxmlformats.org/officeDocument/2006/relationships/image" Target="../media/image37.png"/><Relationship Id="rId9" Type="http://schemas.openxmlformats.org/officeDocument/2006/relationships/image" Target="../media/image38.svg"/><Relationship Id="rId10" Type="http://schemas.openxmlformats.org/officeDocument/2006/relationships/image" Target="../media/image39.png"/><Relationship Id="rId11" Type="http://schemas.openxmlformats.org/officeDocument/2006/relationships/image" Target="../media/image40.svg"/><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image" Target="../media/image33.png"/><Relationship Id="rId5" Type="http://schemas.openxmlformats.org/officeDocument/2006/relationships/image" Target="../media/image43.svg"/><Relationship Id="rId6" Type="http://schemas.openxmlformats.org/officeDocument/2006/relationships/image" Target="../media/image35.png"/><Relationship Id="rId7" Type="http://schemas.openxmlformats.org/officeDocument/2006/relationships/image" Target="../media/image44.svg"/><Relationship Id="rId8" Type="http://schemas.openxmlformats.org/officeDocument/2006/relationships/image" Target="../media/image37.png"/><Relationship Id="rId9" Type="http://schemas.openxmlformats.org/officeDocument/2006/relationships/image" Target="../media/image45.svg"/><Relationship Id="rId10" Type="http://schemas.openxmlformats.org/officeDocument/2006/relationships/image" Target="../media/image39.png"/><Relationship Id="rId11" Type="http://schemas.openxmlformats.org/officeDocument/2006/relationships/image" Target="../media/image46.svg"/><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8.svg"/><Relationship Id="rId4" Type="http://schemas.openxmlformats.org/officeDocument/2006/relationships/image" Target="../media/image35.png"/><Relationship Id="rId5" Type="http://schemas.openxmlformats.org/officeDocument/2006/relationships/image" Target="../media/image49.svg"/><Relationship Id="rId6" Type="http://schemas.openxmlformats.org/officeDocument/2006/relationships/image" Target="../media/image33.png"/><Relationship Id="rId7" Type="http://schemas.openxmlformats.org/officeDocument/2006/relationships/image" Target="../media/image50.svg"/><Relationship Id="rId8" Type="http://schemas.openxmlformats.org/officeDocument/2006/relationships/image" Target="../media/image37.png"/><Relationship Id="rId9" Type="http://schemas.openxmlformats.org/officeDocument/2006/relationships/image" Target="../media/image51.svg"/><Relationship Id="rId10" Type="http://schemas.openxmlformats.org/officeDocument/2006/relationships/image" Target="../media/image39.png"/><Relationship Id="rId11" Type="http://schemas.openxmlformats.org/officeDocument/2006/relationships/image" Target="../media/image52.svg"/><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image" Target="../media/image37.png"/><Relationship Id="rId5" Type="http://schemas.openxmlformats.org/officeDocument/2006/relationships/image" Target="../media/image55.svg"/><Relationship Id="rId6" Type="http://schemas.openxmlformats.org/officeDocument/2006/relationships/image" Target="../media/image33.png"/><Relationship Id="rId7" Type="http://schemas.openxmlformats.org/officeDocument/2006/relationships/image" Target="../media/image56.svg"/><Relationship Id="rId8" Type="http://schemas.openxmlformats.org/officeDocument/2006/relationships/image" Target="../media/image35.png"/><Relationship Id="rId9" Type="http://schemas.openxmlformats.org/officeDocument/2006/relationships/image" Target="../media/image57.svg"/><Relationship Id="rId10" Type="http://schemas.openxmlformats.org/officeDocument/2006/relationships/image" Target="../media/image39.png"/><Relationship Id="rId11" Type="http://schemas.openxmlformats.org/officeDocument/2006/relationships/image" Target="../media/image58.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image" Target="../media/image39.png"/><Relationship Id="rId5" Type="http://schemas.openxmlformats.org/officeDocument/2006/relationships/image" Target="../media/image61.svg"/><Relationship Id="rId6" Type="http://schemas.openxmlformats.org/officeDocument/2006/relationships/image" Target="../media/image33.png"/><Relationship Id="rId7" Type="http://schemas.openxmlformats.org/officeDocument/2006/relationships/image" Target="../media/image62.svg"/><Relationship Id="rId8" Type="http://schemas.openxmlformats.org/officeDocument/2006/relationships/image" Target="../media/image35.png"/><Relationship Id="rId9" Type="http://schemas.openxmlformats.org/officeDocument/2006/relationships/image" Target="../media/image63.svg"/><Relationship Id="rId10" Type="http://schemas.openxmlformats.org/officeDocument/2006/relationships/image" Target="../media/image37.png"/><Relationship Id="rId11" Type="http://schemas.openxmlformats.org/officeDocument/2006/relationships/image" Target="../media/image64.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6.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7.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8.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9.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70.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71.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72.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4.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76.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7.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78.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9.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80.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2.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4.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5.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6.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7.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E6B1F"/>
                </a:solidFill>
                <a:latin typeface="Segoe UI Black"/>
              </a:rPr>
              <a:t>21</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Responsible and Ethical Machine Learning</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PART VI  ·  RESPONSIBLE PRACTICE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CHAPTER 21  ·  WEEK 16</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2DECD"/>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142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BDB7A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CECAB9"/>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BDB7A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162     </a:t>
            </a:r>
            <a:fld id="{984E0C1D-5973-4E9A-89AF-012B71D37D85}" type="slidenum">
              <a:rPr lang="en-GB" sz="1000">
                <a:solidFill>
                  <a:srgbClr val="8795A1"/>
                </a:solidFill>
                <a:latin typeface="Segoe UI"/>
              </a:rPr>
              <a:t>2</a:t>
            </a:fld>
          </a:p>
        </p:txBody>
      </p:sp>
      <p:sp>
        <p:nvSpPr>
          <p:cNvPr id="7" name="!!rp1"/>
          <p:cNvSpPr txBox="1"/>
          <p:nvPr/>
        </p:nvSpPr>
        <p:spPr>
          <a:xfrm>
            <a:off x="777239"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89666"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89666"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602092"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602092"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333571"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333571"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836470"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836470"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494818" y="1755648"/>
            <a:ext cx="919637"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05B06"/>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494818" y="2029967"/>
            <a:ext cx="919637" cy="4572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4599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545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54889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457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95841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8669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642263"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5508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05178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9603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4613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3698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870842"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77940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28036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1889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6898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5984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37374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28230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783268"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691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192795"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1013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6641"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52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86168"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947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695694"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60425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88685" y="2112264"/>
            <a:ext cx="566928" cy="566928"/>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388685"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568116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05B06"/>
                </a:solidFill>
                <a:latin typeface="Segoe UI"/>
              </a:rPr>
              <a:t>Responsible and Ethical Machine Learning</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3">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3">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3"/>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The Machine Learning Workflow and Toolkit</a:t>
            </a:r>
          </a:p>
        </p:txBody>
      </p:sp>
      <p:sp>
        <p:nvSpPr>
          <p:cNvPr id="68" name="!!chipBU8">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8">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8"/>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8  </a:t>
            </a:r>
            <a:r>
              <a:rPr sz="1400" b="0" i="0">
                <a:solidFill>
                  <a:srgbClr val="1C252B"/>
                </a:solidFill>
                <a:latin typeface="Segoe UI"/>
              </a:rPr>
              <a:t>Measuring Classifier Performance</a:t>
            </a:r>
          </a:p>
        </p:txBody>
      </p:sp>
      <p:sp>
        <p:nvSpPr>
          <p:cNvPr id="7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2" name="!!chipUS22">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bUS22">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tUS22"/>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22  </a:t>
            </a:r>
            <a:r>
              <a:rPr sz="1400" b="0" i="0">
                <a:solidFill>
                  <a:srgbClr val="1C252B"/>
                </a:solidFill>
                <a:latin typeface="Segoe UI"/>
              </a:rPr>
              <a:t>The Machine Learning Project</a:t>
            </a:r>
          </a:p>
        </p:txBody>
      </p:sp>
      <p:sp>
        <p:nvSpPr>
          <p:cNvPr id="7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pfill">
            <a:extLst>
              <a:ext uri="{C183D7F6-B498-43B3-948B-1728B52AA6E4}">
                <adec:decorative xmlns:adec="http://schemas.microsoft.com/office/drawing/2017/decorative" val="1"/>
              </a:ext>
            </a:extLst>
          </p:cNvPr>
          <p:cNvSpPr/>
          <p:nvPr/>
        </p:nvSpPr>
        <p:spPr>
          <a:xfrm>
            <a:off x="0" y="0"/>
            <a:ext cx="56705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162     </a:t>
            </a:r>
            <a:fld id="{3BFB66C0-4400-4498-84CD-91F0F661DA7E}"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Identify</a:t>
            </a:r>
            <a:r>
              <a:rPr sz="2100" b="0" i="0">
                <a:solidFill>
                  <a:srgbClr val="1C252B"/>
                </a:solidFill>
                <a:latin typeface="Segoe UI"/>
              </a:rPr>
              <a:t> where bias can enter a machine learning system, from data collection to deployment.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Compute</a:t>
            </a:r>
            <a:r>
              <a:rPr sz="2100" b="0" i="0">
                <a:solidFill>
                  <a:srgbClr val="1C252B"/>
                </a:solidFill>
                <a:latin typeface="Segoe UI"/>
              </a:rPr>
              <a:t> and </a:t>
            </a:r>
            <a:r>
              <a:rPr sz="2100" b="1" i="0">
                <a:solidFill>
                  <a:srgbClr val="1C252B"/>
                </a:solidFill>
                <a:latin typeface="Segoe UI"/>
              </a:rPr>
              <a:t>compare</a:t>
            </a:r>
            <a:r>
              <a:rPr sz="2100" b="0" i="0">
                <a:solidFill>
                  <a:srgbClr val="1C252B"/>
                </a:solidFill>
                <a:latin typeface="Segoe UI"/>
              </a:rPr>
              <a:t> group fairness measures — selection rate, equal opportunity and predictive parity — from confusion matrices.</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Explain</a:t>
            </a:r>
            <a:r>
              <a:rPr sz="2100" b="0" i="0">
                <a:solidFill>
                  <a:srgbClr val="1C252B"/>
                </a:solidFill>
                <a:latin typeface="Segoe UI"/>
              </a:rPr>
              <a:t> why the common fairness criteria cannot all be satisfied at once when base rates differ.</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Discuss</a:t>
            </a:r>
            <a:r>
              <a:rPr sz="2100" b="0" i="0">
                <a:solidFill>
                  <a:srgbClr val="1C252B"/>
                </a:solidFill>
                <a:latin typeface="Segoe UI"/>
              </a:rPr>
              <a:t> privacy, transparency, accountability and security as obligations of anyone who deploys a model.</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57392"/>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Apply</a:t>
            </a:r>
            <a:r>
              <a:rPr sz="2100" b="0" i="0">
                <a:solidFill>
                  <a:srgbClr val="1C252B"/>
                </a:solidFill>
                <a:latin typeface="Segoe UI"/>
              </a:rPr>
              <a:t> a responsible-ML checklist to a project, and </a:t>
            </a:r>
            <a:r>
              <a:rPr sz="2100" b="1" i="0">
                <a:solidFill>
                  <a:srgbClr val="1C252B"/>
                </a:solidFill>
                <a:latin typeface="Segoe UI"/>
              </a:rPr>
              <a:t>write</a:t>
            </a:r>
            <a:r>
              <a:rPr sz="2100" b="0" i="0">
                <a:solidFill>
                  <a:srgbClr val="1C252B"/>
                </a:solidFill>
                <a:latin typeface="Segoe UI"/>
              </a:rPr>
              <a:t> a model card.</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5058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162     </a:t>
            </a:r>
            <a:fld id="{BF3F2E8C-83EA-4ADC-ABA3-25BF377C252A}" type="slidenum">
              <a:rPr lang="en-GB" sz="1000">
                <a:solidFill>
                  <a:srgbClr val="8795A1"/>
                </a:solidFill>
                <a:latin typeface="Segoe UI"/>
              </a:rPr>
              <a:t>4</a:t>
            </a:fld>
          </a:p>
        </p:txBody>
      </p:sp>
      <p:sp>
        <p:nvSpPr>
          <p:cNvPr id="7" name="!!term-algorithmic bi">
            <a:extLst>
              <a:ext uri="{C183D7F6-B498-43B3-948B-1728B52AA6E4}">
                <adec:decorative xmlns:adec="http://schemas.microsoft.com/office/drawing/2017/decorative" val="1"/>
              </a:ext>
            </a:extLst>
          </p:cNvPr>
          <p:cNvSpPr/>
          <p:nvPr/>
        </p:nvSpPr>
        <p:spPr>
          <a:xfrm>
            <a:off x="658368" y="1847088"/>
            <a:ext cx="180355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algorithmic bi">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algorithmic bi"/>
          <p:cNvSpPr txBox="1"/>
          <p:nvPr/>
        </p:nvSpPr>
        <p:spPr>
          <a:xfrm>
            <a:off x="950976" y="1970532"/>
            <a:ext cx="162067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algorithmic bias</a:t>
            </a:r>
          </a:p>
        </p:txBody>
      </p:sp>
      <p:sp>
        <p:nvSpPr>
          <p:cNvPr id="10" name="!!term-historical, re">
            <a:extLst>
              <a:ext uri="{C183D7F6-B498-43B3-948B-1728B52AA6E4}">
                <adec:decorative xmlns:adec="http://schemas.microsoft.com/office/drawing/2017/decorative" val="1"/>
              </a:ext>
            </a:extLst>
          </p:cNvPr>
          <p:cNvSpPr/>
          <p:nvPr/>
        </p:nvSpPr>
        <p:spPr>
          <a:xfrm>
            <a:off x="2608223" y="1847088"/>
            <a:ext cx="45517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historical, re">
            <a:extLst>
              <a:ext uri="{C183D7F6-B498-43B3-948B-1728B52AA6E4}">
                <adec:decorative xmlns:adec="http://schemas.microsoft.com/office/drawing/2017/decorative" val="1"/>
              </a:ext>
            </a:extLst>
          </p:cNvPr>
          <p:cNvSpPr/>
          <p:nvPr/>
        </p:nvSpPr>
        <p:spPr>
          <a:xfrm>
            <a:off x="273623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historical, re"/>
          <p:cNvSpPr txBox="1"/>
          <p:nvPr/>
        </p:nvSpPr>
        <p:spPr>
          <a:xfrm>
            <a:off x="2900831" y="1970532"/>
            <a:ext cx="436884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historical, representation and measurement bias</a:t>
            </a:r>
          </a:p>
        </p:txBody>
      </p:sp>
      <p:sp>
        <p:nvSpPr>
          <p:cNvPr id="13" name="!!term-proxy variable">
            <a:extLst>
              <a:ext uri="{C183D7F6-B498-43B3-948B-1728B52AA6E4}">
                <adec:decorative xmlns:adec="http://schemas.microsoft.com/office/drawing/2017/decorative" val="1"/>
              </a:ext>
            </a:extLst>
          </p:cNvPr>
          <p:cNvSpPr/>
          <p:nvPr/>
        </p:nvSpPr>
        <p:spPr>
          <a:xfrm>
            <a:off x="7306256" y="1847088"/>
            <a:ext cx="163942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proxy variable">
            <a:extLst>
              <a:ext uri="{C183D7F6-B498-43B3-948B-1728B52AA6E4}">
                <adec:decorative xmlns:adec="http://schemas.microsoft.com/office/drawing/2017/decorative" val="1"/>
              </a:ext>
            </a:extLst>
          </p:cNvPr>
          <p:cNvSpPr/>
          <p:nvPr/>
        </p:nvSpPr>
        <p:spPr>
          <a:xfrm>
            <a:off x="743427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proxy variable"/>
          <p:cNvSpPr txBox="1"/>
          <p:nvPr/>
        </p:nvSpPr>
        <p:spPr>
          <a:xfrm>
            <a:off x="7598864" y="1970532"/>
            <a:ext cx="145654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proxy variable</a:t>
            </a:r>
          </a:p>
        </p:txBody>
      </p:sp>
      <p:sp>
        <p:nvSpPr>
          <p:cNvPr id="16" name="!!term-feedback loop">
            <a:extLst>
              <a:ext uri="{C183D7F6-B498-43B3-948B-1728B52AA6E4}">
                <adec:decorative xmlns:adec="http://schemas.microsoft.com/office/drawing/2017/decorative" val="1"/>
              </a:ext>
            </a:extLst>
          </p:cNvPr>
          <p:cNvSpPr/>
          <p:nvPr/>
        </p:nvSpPr>
        <p:spPr>
          <a:xfrm>
            <a:off x="9091983" y="1847088"/>
            <a:ext cx="165913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feedback loop">
            <a:extLst>
              <a:ext uri="{C183D7F6-B498-43B3-948B-1728B52AA6E4}">
                <adec:decorative xmlns:adec="http://schemas.microsoft.com/office/drawing/2017/decorative" val="1"/>
              </a:ext>
            </a:extLst>
          </p:cNvPr>
          <p:cNvSpPr/>
          <p:nvPr/>
        </p:nvSpPr>
        <p:spPr>
          <a:xfrm>
            <a:off x="921999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feedback loop"/>
          <p:cNvSpPr txBox="1"/>
          <p:nvPr/>
        </p:nvSpPr>
        <p:spPr>
          <a:xfrm>
            <a:off x="9384591" y="1970532"/>
            <a:ext cx="147625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feedback loop</a:t>
            </a:r>
          </a:p>
        </p:txBody>
      </p:sp>
      <p:sp>
        <p:nvSpPr>
          <p:cNvPr id="19" name="!!term-protected attr">
            <a:extLst>
              <a:ext uri="{C183D7F6-B498-43B3-948B-1728B52AA6E4}">
                <adec:decorative xmlns:adec="http://schemas.microsoft.com/office/drawing/2017/decorative" val="1"/>
              </a:ext>
            </a:extLst>
          </p:cNvPr>
          <p:cNvSpPr/>
          <p:nvPr/>
        </p:nvSpPr>
        <p:spPr>
          <a:xfrm>
            <a:off x="658368" y="2468880"/>
            <a:ext cx="206400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protected attr">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protected attr"/>
          <p:cNvSpPr txBox="1"/>
          <p:nvPr/>
        </p:nvSpPr>
        <p:spPr>
          <a:xfrm>
            <a:off x="950976" y="2592324"/>
            <a:ext cx="188112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protected attribute</a:t>
            </a:r>
          </a:p>
        </p:txBody>
      </p:sp>
      <p:sp>
        <p:nvSpPr>
          <p:cNvPr id="22" name="!!term-demographic pa">
            <a:extLst>
              <a:ext uri="{C183D7F6-B498-43B3-948B-1728B52AA6E4}">
                <adec:decorative xmlns:adec="http://schemas.microsoft.com/office/drawing/2017/decorative" val="1"/>
              </a:ext>
            </a:extLst>
          </p:cNvPr>
          <p:cNvSpPr/>
          <p:nvPr/>
        </p:nvSpPr>
        <p:spPr>
          <a:xfrm>
            <a:off x="2868680" y="2468880"/>
            <a:ext cx="21190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demographic pa">
            <a:extLst>
              <a:ext uri="{C183D7F6-B498-43B3-948B-1728B52AA6E4}">
                <adec:decorative xmlns:adec="http://schemas.microsoft.com/office/drawing/2017/decorative" val="1"/>
              </a:ext>
            </a:extLst>
          </p:cNvPr>
          <p:cNvSpPr/>
          <p:nvPr/>
        </p:nvSpPr>
        <p:spPr>
          <a:xfrm>
            <a:off x="299669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demographic pa"/>
          <p:cNvSpPr txBox="1"/>
          <p:nvPr/>
        </p:nvSpPr>
        <p:spPr>
          <a:xfrm>
            <a:off x="3161288" y="2592324"/>
            <a:ext cx="193619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demographic parity</a:t>
            </a:r>
          </a:p>
        </p:txBody>
      </p:sp>
      <p:sp>
        <p:nvSpPr>
          <p:cNvPr id="25" name="!!term-disparate impa">
            <a:extLst>
              <a:ext uri="{C183D7F6-B498-43B3-948B-1728B52AA6E4}">
                <adec:decorative xmlns:adec="http://schemas.microsoft.com/office/drawing/2017/decorative" val="1"/>
              </a:ext>
            </a:extLst>
          </p:cNvPr>
          <p:cNvSpPr/>
          <p:nvPr/>
        </p:nvSpPr>
        <p:spPr>
          <a:xfrm>
            <a:off x="5134055" y="2468880"/>
            <a:ext cx="327307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disparate impa">
            <a:extLst>
              <a:ext uri="{C183D7F6-B498-43B3-948B-1728B52AA6E4}">
                <adec:decorative xmlns:adec="http://schemas.microsoft.com/office/drawing/2017/decorative" val="1"/>
              </a:ext>
            </a:extLst>
          </p:cNvPr>
          <p:cNvSpPr/>
          <p:nvPr/>
        </p:nvSpPr>
        <p:spPr>
          <a:xfrm>
            <a:off x="526207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disparate impa"/>
          <p:cNvSpPr txBox="1"/>
          <p:nvPr/>
        </p:nvSpPr>
        <p:spPr>
          <a:xfrm>
            <a:off x="5426663" y="2592324"/>
            <a:ext cx="309019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disparate impact (four-fifths rule)</a:t>
            </a:r>
          </a:p>
        </p:txBody>
      </p:sp>
      <p:sp>
        <p:nvSpPr>
          <p:cNvPr id="28" name="!!term-equal opportun">
            <a:extLst>
              <a:ext uri="{C183D7F6-B498-43B3-948B-1728B52AA6E4}">
                <adec:decorative xmlns:adec="http://schemas.microsoft.com/office/drawing/2017/decorative" val="1"/>
              </a:ext>
            </a:extLst>
          </p:cNvPr>
          <p:cNvSpPr/>
          <p:nvPr/>
        </p:nvSpPr>
        <p:spPr>
          <a:xfrm>
            <a:off x="8553431" y="2468880"/>
            <a:ext cx="198084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equal opportun">
            <a:extLst>
              <a:ext uri="{C183D7F6-B498-43B3-948B-1728B52AA6E4}">
                <adec:decorative xmlns:adec="http://schemas.microsoft.com/office/drawing/2017/decorative" val="1"/>
              </a:ext>
            </a:extLst>
          </p:cNvPr>
          <p:cNvSpPr/>
          <p:nvPr/>
        </p:nvSpPr>
        <p:spPr>
          <a:xfrm>
            <a:off x="868144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equal opportun"/>
          <p:cNvSpPr txBox="1"/>
          <p:nvPr/>
        </p:nvSpPr>
        <p:spPr>
          <a:xfrm>
            <a:off x="8846039" y="2592324"/>
            <a:ext cx="179796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equal opportunity</a:t>
            </a:r>
          </a:p>
        </p:txBody>
      </p:sp>
      <p:sp>
        <p:nvSpPr>
          <p:cNvPr id="31" name="!!term-equalised odds">
            <a:extLst>
              <a:ext uri="{C183D7F6-B498-43B3-948B-1728B52AA6E4}">
                <adec:decorative xmlns:adec="http://schemas.microsoft.com/office/drawing/2017/decorative" val="1"/>
              </a:ext>
            </a:extLst>
          </p:cNvPr>
          <p:cNvSpPr/>
          <p:nvPr/>
        </p:nvSpPr>
        <p:spPr>
          <a:xfrm>
            <a:off x="658368" y="3090672"/>
            <a:ext cx="173476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equalised odds">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equalised odds"/>
          <p:cNvSpPr txBox="1"/>
          <p:nvPr/>
        </p:nvSpPr>
        <p:spPr>
          <a:xfrm>
            <a:off x="950976" y="3214116"/>
            <a:ext cx="155188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equalised odds</a:t>
            </a:r>
          </a:p>
        </p:txBody>
      </p:sp>
      <p:sp>
        <p:nvSpPr>
          <p:cNvPr id="34" name="!!term-predictive par">
            <a:extLst>
              <a:ext uri="{C183D7F6-B498-43B3-948B-1728B52AA6E4}">
                <adec:decorative xmlns:adec="http://schemas.microsoft.com/office/drawing/2017/decorative" val="1"/>
              </a:ext>
            </a:extLst>
          </p:cNvPr>
          <p:cNvSpPr/>
          <p:nvPr/>
        </p:nvSpPr>
        <p:spPr>
          <a:xfrm>
            <a:off x="2539437" y="3090672"/>
            <a:ext cx="182210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predictive par">
            <a:extLst>
              <a:ext uri="{C183D7F6-B498-43B3-948B-1728B52AA6E4}">
                <adec:decorative xmlns:adec="http://schemas.microsoft.com/office/drawing/2017/decorative" val="1"/>
              </a:ext>
            </a:extLst>
          </p:cNvPr>
          <p:cNvSpPr/>
          <p:nvPr/>
        </p:nvSpPr>
        <p:spPr>
          <a:xfrm>
            <a:off x="266745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predictive par"/>
          <p:cNvSpPr txBox="1"/>
          <p:nvPr/>
        </p:nvSpPr>
        <p:spPr>
          <a:xfrm>
            <a:off x="2832045" y="3214116"/>
            <a:ext cx="163922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predictive parity</a:t>
            </a:r>
          </a:p>
        </p:txBody>
      </p:sp>
      <p:sp>
        <p:nvSpPr>
          <p:cNvPr id="37" name="!!term-impossibility ">
            <a:extLst>
              <a:ext uri="{C183D7F6-B498-43B3-948B-1728B52AA6E4}">
                <adec:decorative xmlns:adec="http://schemas.microsoft.com/office/drawing/2017/decorative" val="1"/>
              </a:ext>
            </a:extLst>
          </p:cNvPr>
          <p:cNvSpPr/>
          <p:nvPr/>
        </p:nvSpPr>
        <p:spPr>
          <a:xfrm>
            <a:off x="4507849" y="3090672"/>
            <a:ext cx="24402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impossibility ">
            <a:extLst>
              <a:ext uri="{C183D7F6-B498-43B3-948B-1728B52AA6E4}">
                <adec:decorative xmlns:adec="http://schemas.microsoft.com/office/drawing/2017/decorative" val="1"/>
              </a:ext>
            </a:extLst>
          </p:cNvPr>
          <p:cNvSpPr/>
          <p:nvPr/>
        </p:nvSpPr>
        <p:spPr>
          <a:xfrm>
            <a:off x="463586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impossibility "/>
          <p:cNvSpPr txBox="1"/>
          <p:nvPr/>
        </p:nvSpPr>
        <p:spPr>
          <a:xfrm>
            <a:off x="4800457" y="3214116"/>
            <a:ext cx="225736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impossibility of fairness</a:t>
            </a:r>
          </a:p>
        </p:txBody>
      </p:sp>
      <p:sp>
        <p:nvSpPr>
          <p:cNvPr id="40" name="!!term-privacy">
            <a:extLst>
              <a:ext uri="{C183D7F6-B498-43B3-948B-1728B52AA6E4}">
                <adec:decorative xmlns:adec="http://schemas.microsoft.com/office/drawing/2017/decorative" val="1"/>
              </a:ext>
            </a:extLst>
          </p:cNvPr>
          <p:cNvSpPr/>
          <p:nvPr/>
        </p:nvSpPr>
        <p:spPr>
          <a:xfrm>
            <a:off x="7094397" y="3090672"/>
            <a:ext cx="104355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privacy">
            <a:extLst>
              <a:ext uri="{C183D7F6-B498-43B3-948B-1728B52AA6E4}">
                <adec:decorative xmlns:adec="http://schemas.microsoft.com/office/drawing/2017/decorative" val="1"/>
              </a:ext>
            </a:extLst>
          </p:cNvPr>
          <p:cNvSpPr/>
          <p:nvPr/>
        </p:nvSpPr>
        <p:spPr>
          <a:xfrm>
            <a:off x="722241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privacy"/>
          <p:cNvSpPr txBox="1"/>
          <p:nvPr/>
        </p:nvSpPr>
        <p:spPr>
          <a:xfrm>
            <a:off x="7387005" y="3214116"/>
            <a:ext cx="86067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privacy</a:t>
            </a:r>
          </a:p>
        </p:txBody>
      </p:sp>
      <p:sp>
        <p:nvSpPr>
          <p:cNvPr id="43" name="!!term-re-identificat">
            <a:extLst>
              <a:ext uri="{C183D7F6-B498-43B3-948B-1728B52AA6E4}">
                <adec:decorative xmlns:adec="http://schemas.microsoft.com/office/drawing/2017/decorative" val="1"/>
              </a:ext>
            </a:extLst>
          </p:cNvPr>
          <p:cNvSpPr/>
          <p:nvPr/>
        </p:nvSpPr>
        <p:spPr>
          <a:xfrm>
            <a:off x="8284251" y="3090672"/>
            <a:ext cx="18050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re-identificat">
            <a:extLst>
              <a:ext uri="{C183D7F6-B498-43B3-948B-1728B52AA6E4}">
                <adec:decorative xmlns:adec="http://schemas.microsoft.com/office/drawing/2017/decorative" val="1"/>
              </a:ext>
            </a:extLst>
          </p:cNvPr>
          <p:cNvSpPr/>
          <p:nvPr/>
        </p:nvSpPr>
        <p:spPr>
          <a:xfrm>
            <a:off x="841226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re-identificat"/>
          <p:cNvSpPr txBox="1"/>
          <p:nvPr/>
        </p:nvSpPr>
        <p:spPr>
          <a:xfrm>
            <a:off x="8576859" y="3214116"/>
            <a:ext cx="162218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re-identification</a:t>
            </a:r>
          </a:p>
        </p:txBody>
      </p:sp>
      <p:sp>
        <p:nvSpPr>
          <p:cNvPr id="46" name="!!term-explainability">
            <a:extLst>
              <a:ext uri="{C183D7F6-B498-43B3-948B-1728B52AA6E4}">
                <adec:decorative xmlns:adec="http://schemas.microsoft.com/office/drawing/2017/decorative" val="1"/>
              </a:ext>
            </a:extLst>
          </p:cNvPr>
          <p:cNvSpPr/>
          <p:nvPr/>
        </p:nvSpPr>
        <p:spPr>
          <a:xfrm>
            <a:off x="658368" y="3712464"/>
            <a:ext cx="156105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explainability">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explainability"/>
          <p:cNvSpPr txBox="1"/>
          <p:nvPr/>
        </p:nvSpPr>
        <p:spPr>
          <a:xfrm>
            <a:off x="950976" y="3835908"/>
            <a:ext cx="137817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explainability</a:t>
            </a:r>
          </a:p>
        </p:txBody>
      </p:sp>
      <p:sp>
        <p:nvSpPr>
          <p:cNvPr id="49" name="!!term-model card">
            <a:extLst>
              <a:ext uri="{C183D7F6-B498-43B3-948B-1728B52AA6E4}">
                <adec:decorative xmlns:adec="http://schemas.microsoft.com/office/drawing/2017/decorative" val="1"/>
              </a:ext>
            </a:extLst>
          </p:cNvPr>
          <p:cNvSpPr/>
          <p:nvPr/>
        </p:nvSpPr>
        <p:spPr>
          <a:xfrm>
            <a:off x="2365724" y="3712464"/>
            <a:ext cx="14071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model card">
            <a:extLst>
              <a:ext uri="{C183D7F6-B498-43B3-948B-1728B52AA6E4}">
                <adec:decorative xmlns:adec="http://schemas.microsoft.com/office/drawing/2017/decorative" val="1"/>
              </a:ext>
            </a:extLst>
          </p:cNvPr>
          <p:cNvSpPr/>
          <p:nvPr/>
        </p:nvSpPr>
        <p:spPr>
          <a:xfrm>
            <a:off x="2493740"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model card"/>
          <p:cNvSpPr txBox="1"/>
          <p:nvPr/>
        </p:nvSpPr>
        <p:spPr>
          <a:xfrm>
            <a:off x="2658332" y="3835908"/>
            <a:ext cx="122423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model card</a:t>
            </a:r>
          </a:p>
        </p:txBody>
      </p:sp>
      <p:sp>
        <p:nvSpPr>
          <p:cNvPr id="52" name="!!term-accountability">
            <a:extLst>
              <a:ext uri="{C183D7F6-B498-43B3-948B-1728B52AA6E4}">
                <adec:decorative xmlns:adec="http://schemas.microsoft.com/office/drawing/2017/decorative" val="1"/>
              </a:ext>
            </a:extLst>
          </p:cNvPr>
          <p:cNvSpPr/>
          <p:nvPr/>
        </p:nvSpPr>
        <p:spPr>
          <a:xfrm>
            <a:off x="3919147" y="3712464"/>
            <a:ext cx="163119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accountability">
            <a:extLst>
              <a:ext uri="{C183D7F6-B498-43B3-948B-1728B52AA6E4}">
                <adec:decorative xmlns:adec="http://schemas.microsoft.com/office/drawing/2017/decorative" val="1"/>
              </a:ext>
            </a:extLst>
          </p:cNvPr>
          <p:cNvSpPr/>
          <p:nvPr/>
        </p:nvSpPr>
        <p:spPr>
          <a:xfrm>
            <a:off x="4047163"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accountability"/>
          <p:cNvSpPr txBox="1"/>
          <p:nvPr/>
        </p:nvSpPr>
        <p:spPr>
          <a:xfrm>
            <a:off x="4211755" y="3835908"/>
            <a:ext cx="144831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accountability</a:t>
            </a:r>
          </a:p>
        </p:txBody>
      </p:sp>
      <p:sp>
        <p:nvSpPr>
          <p:cNvPr id="55" name="!!term-adversarial ex">
            <a:extLst>
              <a:ext uri="{C183D7F6-B498-43B3-948B-1728B52AA6E4}">
                <adec:decorative xmlns:adec="http://schemas.microsoft.com/office/drawing/2017/decorative" val="1"/>
              </a:ext>
            </a:extLst>
          </p:cNvPr>
          <p:cNvSpPr/>
          <p:nvPr/>
        </p:nvSpPr>
        <p:spPr>
          <a:xfrm>
            <a:off x="5696649" y="3712464"/>
            <a:ext cx="212960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adversarial ex">
            <a:extLst>
              <a:ext uri="{C183D7F6-B498-43B3-948B-1728B52AA6E4}">
                <adec:decorative xmlns:adec="http://schemas.microsoft.com/office/drawing/2017/decorative" val="1"/>
              </a:ext>
            </a:extLst>
          </p:cNvPr>
          <p:cNvSpPr/>
          <p:nvPr/>
        </p:nvSpPr>
        <p:spPr>
          <a:xfrm>
            <a:off x="5824665"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adversarial ex"/>
          <p:cNvSpPr txBox="1"/>
          <p:nvPr/>
        </p:nvSpPr>
        <p:spPr>
          <a:xfrm>
            <a:off x="5989257" y="3835908"/>
            <a:ext cx="194672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adversarial example</a:t>
            </a:r>
          </a:p>
        </p:txBody>
      </p:sp>
      <p:sp>
        <p:nvSpPr>
          <p:cNvPr id="58" name="!!term-data poisoning">
            <a:extLst>
              <a:ext uri="{C183D7F6-B498-43B3-948B-1728B52AA6E4}">
                <adec:decorative xmlns:adec="http://schemas.microsoft.com/office/drawing/2017/decorative" val="1"/>
              </a:ext>
            </a:extLst>
          </p:cNvPr>
          <p:cNvSpPr/>
          <p:nvPr/>
        </p:nvSpPr>
        <p:spPr>
          <a:xfrm>
            <a:off x="7972560" y="3712464"/>
            <a:ext cx="172310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data poisoning">
            <a:extLst>
              <a:ext uri="{C183D7F6-B498-43B3-948B-1728B52AA6E4}">
                <adec:decorative xmlns:adec="http://schemas.microsoft.com/office/drawing/2017/decorative" val="1"/>
              </a:ext>
            </a:extLst>
          </p:cNvPr>
          <p:cNvSpPr/>
          <p:nvPr/>
        </p:nvSpPr>
        <p:spPr>
          <a:xfrm>
            <a:off x="8100576"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data poisoning"/>
          <p:cNvSpPr txBox="1"/>
          <p:nvPr/>
        </p:nvSpPr>
        <p:spPr>
          <a:xfrm>
            <a:off x="8265168" y="3835908"/>
            <a:ext cx="154022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data poisoning</a:t>
            </a:r>
          </a:p>
        </p:txBody>
      </p:sp>
      <p:sp>
        <p:nvSpPr>
          <p:cNvPr id="61"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6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pfill">
            <a:extLst>
              <a:ext uri="{C183D7F6-B498-43B3-948B-1728B52AA6E4}">
                <adec:decorative xmlns:adec="http://schemas.microsoft.com/office/drawing/2017/decorative" val="1"/>
              </a:ext>
            </a:extLst>
          </p:cNvPr>
          <p:cNvSpPr/>
          <p:nvPr/>
        </p:nvSpPr>
        <p:spPr>
          <a:xfrm>
            <a:off x="0" y="0"/>
            <a:ext cx="113411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162–168     </a:t>
            </a:r>
            <a:fld id="{0D45B8F6-7077-41A4-BB53-FBD6FC4DF7A9}" type="slidenum">
              <a:rPr lang="en-GB" sz="1000">
                <a:solidFill>
                  <a:srgbClr val="8795A1"/>
                </a:solidFill>
                <a:latin typeface="Segoe UI"/>
              </a:rPr>
              <a:t>5</a:t>
            </a:fld>
          </a:p>
        </p:txBody>
      </p:sp>
      <p:sp>
        <p:nvSpPr>
          <p:cNvPr id="7" name="!!ag0" descr="Go to section 21.1 Why a Machine Learning Course Has an Ethics Chapter">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21.1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a Machine Learning Course Has an Ethics Chapter</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162  ›</a:t>
            </a:r>
          </a:p>
        </p:txBody>
      </p:sp>
      <p:sp>
        <p:nvSpPr>
          <p:cNvPr id="12" name="!!ag1" descr="Go to section 21.2 Where Bias Enter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21.2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Where Bias Enters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163  ›</a:t>
            </a:r>
          </a:p>
        </p:txBody>
      </p:sp>
      <p:sp>
        <p:nvSpPr>
          <p:cNvPr id="17" name="!!ag2" descr="Go to section 21.3 Measuring Fairnes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21.3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Measuring Fairness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163  ›</a:t>
            </a:r>
          </a:p>
        </p:txBody>
      </p:sp>
      <p:sp>
        <p:nvSpPr>
          <p:cNvPr id="22" name="!!ag3" descr="Go to section 21.4 Privacy">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21.4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Privacy</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164  ›</a:t>
            </a:r>
          </a:p>
        </p:txBody>
      </p:sp>
      <p:sp>
        <p:nvSpPr>
          <p:cNvPr id="27" name="!!ag4" descr="Go to section 21.5 Transparency and Explainability">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21.5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Transparency and Explainability</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165  ›</a:t>
            </a:r>
          </a:p>
        </p:txBody>
      </p:sp>
      <p:sp>
        <p:nvSpPr>
          <p:cNvPr id="32" name="!!ag5" descr="Go to section 21.6 Accountability and Security">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21.6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Accountability and Security</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165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41763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a Machine Learning Course Has an Ethics Chapter</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§21.1  ·  Handout p. 162     </a:t>
            </a:r>
            <a:fld id="{1F16B7F2-6949-4BDD-B623-18C8C0F032DF}" type="slidenum">
              <a:rPr lang="en-GB" sz="1000">
                <a:solidFill>
                  <a:srgbClr val="8795A1"/>
                </a:solidFill>
                <a:latin typeface="Segoe UI"/>
              </a:rPr>
              <a:t>6</a:t>
            </a:fld>
          </a:p>
        </p:txBody>
      </p:sp>
      <p:sp>
        <p:nvSpPr>
          <p:cNvPr id="7" name="!!stbar">
            <a:extLst>
              <a:ext uri="{C183D7F6-B498-43B3-948B-1728B52AA6E4}">
                <adec:decorative xmlns:adec="http://schemas.microsoft.com/office/drawing/2017/decorative" val="1"/>
              </a:ext>
            </a:extLst>
          </p:cNvPr>
          <p:cNvSpPr/>
          <p:nvPr/>
        </p:nvSpPr>
        <p:spPr>
          <a:xfrm>
            <a:off x="658368" y="1810512"/>
            <a:ext cx="73152" cy="408432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4166616"/>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model is a decision procedure applied at scale. A biased admissions officer affects the applicants they meet; a biased admissions model affects every applicant, the same way, every year, and looks objective while doing it. The earlier chapters taught how to make a model accurate. This one asks the questions an accurate model does not answer: accurate for whom, measured how, used to decide what, and with what recourse for the people it gets wrong? None of these questions is a matter of opinion to be left to someone else. Each has technical content, and the engineer who built the model is often the only person who can answer it.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70116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Five places bias enters a machine learning system</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05B06"/>
                </a:solidFill>
                <a:latin typeface="Segoe UI"/>
              </a:rPr>
              <a:t>FIGURE 21.1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§21.2  ·  Handout p. 163     </a:t>
            </a:r>
            <a:fld id="{D4066A04-314C-4571-B332-D64C0DA88961}" type="slidenum">
              <a:rPr lang="en-GB" sz="1000">
                <a:solidFill>
                  <a:srgbClr val="8795A1"/>
                </a:solidFill>
                <a:latin typeface="Segoe UI"/>
              </a:rPr>
              <a:t>7</a:t>
            </a:fld>
          </a:p>
        </p:txBody>
      </p:sp>
      <p:pic>
        <p:nvPicPr>
          <p:cNvPr id="6" name="!!figure" descr="Figure 21.1. Five places bias enters a machine learning system. Removing a protected attribute addresses none of them."/>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45785"/>
            <a:ext cx="10874959" cy="2818947"/>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Removing a protected attribute addresses none of them.</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98469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Measuring Fairness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3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21.3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21.1   Why a Machine Learning Course Has an Ethics Chapter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21.2   Where Bias Enters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21.3   Measuring Fairness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21.4   Privacy</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21.5   Transparency and Explainability</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21.6   Accountability and Security</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§21.3     </a:t>
            </a:r>
            <a:fld id="{E05DA5F9-FEC0-412F-BEA3-3178BC968F26}" type="slidenum">
              <a:rPr lang="en-GB" sz="1000">
                <a:solidFill>
                  <a:srgbClr val="8795A1"/>
                </a:solidFill>
                <a:latin typeface="Segoe UI"/>
              </a:rPr>
              <a:t>8</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26822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Measuring Fairness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163     </a:t>
            </a:r>
            <a:fld id="{73D3D4C3-7A92-490E-B58A-5787E7DC25FF}" type="slidenum">
              <a:rPr lang="en-GB" sz="1000">
                <a:solidFill>
                  <a:srgbClr val="8795A1"/>
                </a:solidFill>
                <a:latin typeface="Segoe UI"/>
              </a:rPr>
              <a:t>9</a:t>
            </a:fld>
          </a:p>
        </p:txBody>
      </p:sp>
      <p:graphicFrame>
        <p:nvGraphicFramePr>
          <p:cNvPr id="7" name="!!table"/>
          <p:cNvGraphicFramePr>
            <a:graphicFrameLocks noGrp="1"/>
          </p:cNvGraphicFramePr>
          <p:nvPr/>
        </p:nvGraphicFramePr>
        <p:xfrm>
          <a:off x="658368" y="1737360"/>
          <a:ext cx="10874958" cy="3322320"/>
        </p:xfrm>
        <a:graphic>
          <a:graphicData uri="http://schemas.openxmlformats.org/drawingml/2006/table">
            <a:tbl>
              <a:tblPr firstRow="0" bandRow="0" firstCol="0" lastRow="0" lastCol="0" bandCol="0">
                <a:tableStyleId>{2D5ABB26-0587-4C30-8999-92F81FD0307C}</a:tableStyleId>
              </a:tblPr>
              <a:tblGrid>
                <a:gridCol w="2392491"/>
                <a:gridCol w="3334987"/>
                <a:gridCol w="5147480"/>
              </a:tblGrid>
              <a:tr h="405384">
                <a:tc>
                  <a:txBody>
                    <a:bodyPr wrap="square"/>
                    <a:lstStyle/>
                    <a:p>
                      <a:pPr algn="l"/>
                      <a:r>
                        <a:rPr sz="1700" b="1" i="0">
                          <a:solidFill>
                            <a:srgbClr val="1A5276"/>
                          </a:solidFill>
                          <a:latin typeface="Segoe UI"/>
                        </a:rPr>
                        <a:t>Criterion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Equal across groups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Meaning</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923544">
                <a:tc>
                  <a:txBody>
                    <a:bodyPr wrap="square"/>
                    <a:lstStyle/>
                    <a:p>
                      <a:pPr algn="l"/>
                      <a:r>
                        <a:rPr sz="1700" b="0" i="0">
                          <a:solidFill>
                            <a:srgbClr val="1C252B"/>
                          </a:solidFill>
                          <a:latin typeface="Segoe UI"/>
                        </a:rPr>
                        <a:t>Demographic parity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Selection rate </a:t>
                      </a:r>
                      <a:r>
                        <a:rPr sz="1700" b="0" i="1">
                          <a:solidFill>
                            <a:srgbClr val="1C252B"/>
                          </a:solidFill>
                          <a:latin typeface="Cambria"/>
                        </a:rPr>
                        <a:t>P</a:t>
                      </a:r>
                      <a:r>
                        <a:rPr sz="1700" b="0" i="0">
                          <a:solidFill>
                            <a:srgbClr val="1C252B"/>
                          </a:solidFill>
                          <a:latin typeface="Cambria"/>
                        </a:rPr>
                        <a:t>(</a:t>
                      </a:r>
                      <a:r>
                        <a:rPr sz="1700" b="0" i="1">
                          <a:solidFill>
                            <a:srgbClr val="1C252B"/>
                          </a:solidFill>
                          <a:latin typeface="Cambria"/>
                        </a:rPr>
                        <a:t>ŷ</a:t>
                      </a:r>
                      <a:r>
                        <a:rPr sz="1700" b="0" i="0">
                          <a:solidFill>
                            <a:srgbClr val="1C252B"/>
                          </a:solidFill>
                          <a:latin typeface="Cambria"/>
                        </a:rPr>
                        <a:t> = 1)</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Each group is selected in the same proportion. The </a:t>
                      </a:r>
                      <a:r>
                        <a:rPr sz="1700" b="1" i="0">
                          <a:solidFill>
                            <a:srgbClr val="1A5276"/>
                          </a:solidFill>
                          <a:latin typeface="Segoe UI"/>
                        </a:rPr>
                        <a:t>four-fifths rule</a:t>
                      </a:r>
                      <a:r>
                        <a:rPr sz="1700" b="0" i="0">
                          <a:solidFill>
                            <a:srgbClr val="1C252B"/>
                          </a:solidFill>
                          <a:latin typeface="Segoe UI"/>
                        </a:rPr>
                        <a:t> of US employment law flags a ratio below 0.8 as </a:t>
                      </a:r>
                      <a:r>
                        <a:rPr sz="1700" b="1" i="0">
                          <a:solidFill>
                            <a:srgbClr val="1A5276"/>
                          </a:solidFill>
                          <a:latin typeface="Segoe UI"/>
                        </a:rPr>
                        <a:t>disparate impact</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Equal opportunity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True positive rate (recall)</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Qualified people are selected at the same rate in every group</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Equalised odds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TPR and FPR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As above, and unqualified people are wrongly selected at the same rate</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Predictive parity</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Precision </a:t>
                      </a:r>
                      <a:r>
                        <a:rPr sz="1700" b="0" i="1">
                          <a:solidFill>
                            <a:srgbClr val="1C252B"/>
                          </a:solidFill>
                          <a:latin typeface="Cambria"/>
                        </a:rPr>
                        <a:t>P</a:t>
                      </a:r>
                      <a:r>
                        <a:rPr sz="1700" b="0" i="0">
                          <a:solidFill>
                            <a:srgbClr val="1C252B"/>
                          </a:solidFill>
                          <a:latin typeface="Cambria"/>
                        </a:rPr>
                        <a:t>(</a:t>
                      </a:r>
                      <a:r>
                        <a:rPr sz="1700" b="0" i="1">
                          <a:solidFill>
                            <a:srgbClr val="1C252B"/>
                          </a:solidFill>
                          <a:latin typeface="Cambria"/>
                        </a:rPr>
                        <a:t>y</a:t>
                      </a:r>
                      <a:r>
                        <a:rPr sz="1700" b="0" i="0">
                          <a:solidFill>
                            <a:srgbClr val="1C252B"/>
                          </a:solidFill>
                          <a:latin typeface="Cambria"/>
                        </a:rPr>
                        <a:t> = 1 ∣ </a:t>
                      </a:r>
                      <a:r>
                        <a:rPr sz="1700" b="0" i="1">
                          <a:solidFill>
                            <a:srgbClr val="1C252B"/>
                          </a:solidFill>
                          <a:latin typeface="Cambria"/>
                        </a:rPr>
                        <a:t>ŷ</a:t>
                      </a:r>
                      <a:r>
                        <a:rPr sz="1700" b="0" i="0">
                          <a:solidFill>
                            <a:srgbClr val="1C252B"/>
                          </a:solidFill>
                          <a:latin typeface="Cambria"/>
                        </a:rPr>
                        <a:t> = 1)</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A positive prediction means the same in every group</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55175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Auditing an Admissions Model</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163     </a:t>
            </a:r>
            <a:fld id="{D13EC14A-BA55-4E9B-A005-9A6D8CACCAA4}"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61408"/>
          </a:xfrm>
          <a:prstGeom prst="roundRect">
            <a:avLst>
              <a:gd name="adj" fmla="val 214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6140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model screens 1,000 applicants from each of two groups. Group A has 400 truly qualified applicants; group B, whose members had fewer chances to build a strong record, has 200.</a:t>
            </a:r>
          </a:p>
        </p:txBody>
      </p:sp>
      <p:graphicFrame>
        <p:nvGraphicFramePr>
          <p:cNvPr id="10" name="body-1"/>
          <p:cNvGraphicFramePr>
            <a:graphicFrameLocks noGrp="1"/>
          </p:cNvGraphicFramePr>
          <p:nvPr/>
        </p:nvGraphicFramePr>
        <p:xfrm>
          <a:off x="1042416" y="2746679"/>
          <a:ext cx="4185424" cy="1170432"/>
        </p:xfrm>
        <a:graphic>
          <a:graphicData uri="http://schemas.openxmlformats.org/drawingml/2006/table">
            <a:tbl>
              <a:tblPr firstRow="0" bandRow="0" firstCol="0" lastRow="0" lastCol="0" bandCol="0">
                <a:tableStyleId>{2D5ABB26-0587-4C30-8999-92F81FD0307C}</a:tableStyleId>
              </a:tblPr>
              <a:tblGrid>
                <a:gridCol w="866411"/>
                <a:gridCol w="591177"/>
                <a:gridCol w="530352"/>
                <a:gridCol w="530352"/>
                <a:gridCol w="591177"/>
                <a:gridCol w="1075955"/>
              </a:tblGrid>
              <a:tr h="390144">
                <a:tc>
                  <a:txBody>
                    <a:bodyPr wrap="square"/>
                    <a:lstStyle/>
                    <a:p>
                      <a:pPr algn="l"/>
                      <a:r>
                        <a:rPr sz="1600" b="1" i="0">
                          <a:solidFill>
                            <a:srgbClr val="1A5276"/>
                          </a:solidFill>
                          <a:latin typeface="Segoe UI"/>
                        </a:rPr>
                        <a:t>Group</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TP</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FN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FP</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Selected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l"/>
                      <a:r>
                        <a:rPr sz="1600" b="0" i="0">
                          <a:solidFill>
                            <a:srgbClr val="1C252B"/>
                          </a:solidFill>
                          <a:latin typeface="Segoe UI"/>
                        </a:rPr>
                        <a:t>A</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320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80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60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540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380</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B</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120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80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40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760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160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4049826"/>
            <a:ext cx="10234879" cy="1720342"/>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1" i="0">
                <a:solidFill>
                  <a:srgbClr val="7D6608"/>
                </a:solidFill>
                <a:latin typeface="Segoe UI"/>
              </a:rPr>
              <a:t>Selection rate:</a:t>
            </a:r>
            <a:r>
              <a:rPr sz="1900" b="0" i="0">
                <a:solidFill>
                  <a:srgbClr val="1C252B"/>
                </a:solidFill>
                <a:latin typeface="Segoe UI"/>
              </a:rPr>
              <a:t> A </a:t>
            </a:r>
            <a:r>
              <a:rPr sz="1900" b="0" i="0">
                <a:solidFill>
                  <a:srgbClr val="1C252B"/>
                </a:solidFill>
                <a:latin typeface="Cambria"/>
              </a:rPr>
              <a:t>380/1000 = 38%</a:t>
            </a:r>
            <a:r>
              <a:rPr sz="1900" b="0" i="0">
                <a:solidFill>
                  <a:srgbClr val="1C252B"/>
                </a:solidFill>
                <a:latin typeface="Segoe UI"/>
              </a:rPr>
              <a:t>; B </a:t>
            </a:r>
            <a:r>
              <a:rPr sz="1900" b="0" i="0">
                <a:solidFill>
                  <a:srgbClr val="1C252B"/>
                </a:solidFill>
                <a:latin typeface="Cambria"/>
              </a:rPr>
              <a:t>160/1000 = 16%</a:t>
            </a:r>
            <a:r>
              <a:rPr sz="1900" b="0" i="0">
                <a:solidFill>
                  <a:srgbClr val="1C252B"/>
                </a:solidFill>
                <a:latin typeface="Segoe UI"/>
              </a:rPr>
              <a:t>. Ratio </a:t>
            </a:r>
            <a:r>
              <a:rPr sz="1900" b="0" i="0">
                <a:solidFill>
                  <a:srgbClr val="1C252B"/>
                </a:solidFill>
                <a:latin typeface="Cambria"/>
              </a:rPr>
              <a:t>0.16/0.38 = </a:t>
            </a:r>
            <a:r>
              <a:rPr sz="1900" b="1" i="0">
                <a:solidFill>
                  <a:srgbClr val="1C252B"/>
                </a:solidFill>
                <a:latin typeface="Cambria"/>
              </a:rPr>
              <a:t>0.42</a:t>
            </a:r>
            <a:r>
              <a:rPr sz="1900" b="0" i="0">
                <a:solidFill>
                  <a:srgbClr val="1C252B"/>
                </a:solidFill>
                <a:latin typeface="Segoe UI"/>
              </a:rPr>
              <a:t> — far below 0.8: disparate impact.</a:t>
            </a:r>
          </a:p>
          <a:p>
            <a:pPr algn="l" marL="212450" indent="-212450">
              <a:lnSpc>
                <a:spcPct val="104000"/>
              </a:lnSpc>
              <a:spcBef>
                <a:spcPts val="0"/>
              </a:spcBef>
              <a:spcAft>
                <a:spcPts val="665"/>
              </a:spcAft>
            </a:pPr>
            <a:r>
              <a:rPr sz="1900" b="1">
                <a:solidFill>
                  <a:srgbClr val="7D6608"/>
                </a:solidFill>
                <a:latin typeface="Segoe UI"/>
              </a:rPr>
              <a:t>•	</a:t>
            </a:r>
            <a:r>
              <a:rPr sz="1900" b="1" i="0">
                <a:solidFill>
                  <a:srgbClr val="7D6608"/>
                </a:solidFill>
                <a:latin typeface="Segoe UI"/>
              </a:rPr>
              <a:t>True positive rate:</a:t>
            </a:r>
            <a:r>
              <a:rPr sz="1900" b="0" i="0">
                <a:solidFill>
                  <a:srgbClr val="1C252B"/>
                </a:solidFill>
                <a:latin typeface="Segoe UI"/>
              </a:rPr>
              <a:t> A </a:t>
            </a:r>
            <a:r>
              <a:rPr sz="1900" b="0" i="0">
                <a:solidFill>
                  <a:srgbClr val="1C252B"/>
                </a:solidFill>
                <a:latin typeface="Cambria"/>
              </a:rPr>
              <a:t>320/400 = 0.80</a:t>
            </a:r>
            <a:r>
              <a:rPr sz="1900" b="0" i="0">
                <a:solidFill>
                  <a:srgbClr val="1C252B"/>
                </a:solidFill>
                <a:latin typeface="Segoe UI"/>
              </a:rPr>
              <a:t>; B </a:t>
            </a:r>
            <a:r>
              <a:rPr sz="1900" b="0" i="0">
                <a:solidFill>
                  <a:srgbClr val="1C252B"/>
                </a:solidFill>
                <a:latin typeface="Cambria"/>
              </a:rPr>
              <a:t>120/200 = </a:t>
            </a:r>
            <a:r>
              <a:rPr sz="1900" b="1" i="0">
                <a:solidFill>
                  <a:srgbClr val="1C252B"/>
                </a:solidFill>
                <a:latin typeface="Cambria"/>
              </a:rPr>
              <a:t>0.60</a:t>
            </a:r>
            <a:r>
              <a:rPr sz="1900" b="0" i="0">
                <a:solidFill>
                  <a:srgbClr val="1C252B"/>
                </a:solidFill>
                <a:latin typeface="Segoe UI"/>
              </a:rPr>
              <a:t>. A qualified B applicant is rejected 40% of the time, twice as often as a qualified A applicant (20%). Equal opportunity fails.</a:t>
            </a:r>
          </a:p>
          <a:p>
            <a:pPr algn="l" marL="212450" indent="-212450">
              <a:lnSpc>
                <a:spcPct val="104000"/>
              </a:lnSpc>
              <a:spcBef>
                <a:spcPts val="0"/>
              </a:spcBef>
              <a:spcAft>
                <a:spcPts val="0"/>
              </a:spcAft>
            </a:pPr>
            <a:r>
              <a:rPr sz="1900" b="1">
                <a:solidFill>
                  <a:srgbClr val="7D6608"/>
                </a:solidFill>
                <a:latin typeface="Segoe UI"/>
              </a:rPr>
              <a:t>•	</a:t>
            </a:r>
            <a:r>
              <a:rPr sz="1900" b="1" i="0">
                <a:solidFill>
                  <a:srgbClr val="7D6608"/>
                </a:solidFill>
                <a:latin typeface="Segoe UI"/>
              </a:rPr>
              <a:t>False positive rate:</a:t>
            </a:r>
            <a:r>
              <a:rPr sz="1900" b="0" i="0">
                <a:solidFill>
                  <a:srgbClr val="1C252B"/>
                </a:solidFill>
                <a:latin typeface="Segoe UI"/>
              </a:rPr>
              <a:t> A </a:t>
            </a:r>
            <a:r>
              <a:rPr sz="1900" b="0" i="0">
                <a:solidFill>
                  <a:srgbClr val="1C252B"/>
                </a:solidFill>
                <a:latin typeface="Cambria"/>
              </a:rPr>
              <a:t>60/600 = 0.10</a:t>
            </a:r>
            <a:r>
              <a:rPr sz="1900" b="0" i="0">
                <a:solidFill>
                  <a:srgbClr val="1C252B"/>
                </a:solidFill>
                <a:latin typeface="Segoe UI"/>
              </a:rPr>
              <a:t>; B </a:t>
            </a:r>
            <a:r>
              <a:rPr sz="1900" b="0" i="0">
                <a:solidFill>
                  <a:srgbClr val="1C252B"/>
                </a:solidFill>
                <a:latin typeface="Cambria"/>
              </a:rPr>
              <a:t>40/800 = 0.05</a:t>
            </a:r>
            <a:r>
              <a:rPr sz="1900" b="0" i="0">
                <a:solidFill>
                  <a:srgbClr val="1C252B"/>
                </a:solidFill>
                <a:latin typeface="Segoe UI"/>
              </a:rPr>
              <a: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283527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35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35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animEffect transition="in" filter="fade">
                                      <p:cBhvr>
                                        <p:cTn id="23" dur="35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Auditing an Admissions Model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163     </a:t>
            </a:r>
            <a:fld id="{DAB8A94B-5E25-4CDB-81B2-2C045F5C3AB0}"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885924"/>
          </a:xfrm>
          <a:prstGeom prst="roundRect">
            <a:avLst>
              <a:gd name="adj" fmla="val 484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8859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7D6608"/>
                </a:solidFill>
                <a:latin typeface="Segoe UI"/>
              </a:rPr>
              <a:t>•	</a:t>
            </a:r>
            <a:r>
              <a:rPr sz="1900" b="1" i="0">
                <a:solidFill>
                  <a:srgbClr val="7D6608"/>
                </a:solidFill>
                <a:latin typeface="Segoe UI"/>
              </a:rPr>
              <a:t>Precision:</a:t>
            </a:r>
            <a:r>
              <a:rPr sz="1900" b="0" i="0">
                <a:solidFill>
                  <a:srgbClr val="1C252B"/>
                </a:solidFill>
                <a:latin typeface="Segoe UI"/>
              </a:rPr>
              <a:t> A </a:t>
            </a:r>
            <a:r>
              <a:rPr sz="1900" b="0" i="0">
                <a:solidFill>
                  <a:srgbClr val="1C252B"/>
                </a:solidFill>
                <a:latin typeface="Cambria"/>
              </a:rPr>
              <a:t>320/380 = 0.84</a:t>
            </a:r>
            <a:r>
              <a:rPr sz="1900" b="0" i="0">
                <a:solidFill>
                  <a:srgbClr val="1C252B"/>
                </a:solidFill>
                <a:latin typeface="Segoe UI"/>
              </a:rPr>
              <a:t>; B </a:t>
            </a:r>
            <a:r>
              <a:rPr sz="1900" b="0" i="0">
                <a:solidFill>
                  <a:srgbClr val="1C252B"/>
                </a:solidFill>
                <a:latin typeface="Cambria"/>
              </a:rPr>
              <a:t>120/160 = 0.75</a:t>
            </a:r>
            <a:r>
              <a:rPr sz="1900" b="0" i="0">
                <a:solidFill>
                  <a:srgbClr val="1C252B"/>
                </a:solidFill>
                <a:latin typeface="Segoe UI"/>
              </a:rPr>
              <a:t>.</a:t>
            </a:r>
          </a:p>
        </p:txBody>
      </p:sp>
      <p:sp>
        <p:nvSpPr>
          <p:cNvPr id="10" name="body-1"/>
          <p:cNvSpPr txBox="1"/>
          <p:nvPr/>
        </p:nvSpPr>
        <p:spPr>
          <a:xfrm>
            <a:off x="1042416" y="2445537"/>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Reading it.</a:t>
            </a:r>
            <a:r>
              <a:rPr sz="1900" b="0" i="0">
                <a:solidFill>
                  <a:srgbClr val="1C252B"/>
                </a:solidFill>
                <a:latin typeface="Segoe UI"/>
              </a:rPr>
              <a:t> Part of the gap in selection reflects a real difference in base rates (40% against 20% qualified); but the gap in </a:t>
            </a:r>
            <a:r>
              <a:rPr sz="1900" b="0" i="1">
                <a:solidFill>
                  <a:srgbClr val="1C252B"/>
                </a:solidFill>
                <a:latin typeface="Segoe UI"/>
              </a:rPr>
              <a:t>true positive rate</a:t>
            </a:r>
            <a:r>
              <a:rPr sz="1900" b="0" i="0">
                <a:solidFill>
                  <a:srgbClr val="1C252B"/>
                </a:solidFill>
                <a:latin typeface="Segoe UI"/>
              </a:rPr>
              <a:t> does not — it is the model treating equally qualified people differently. That is the finding to act on first.</a:t>
            </a:r>
          </a:p>
        </p:txBody>
      </p:sp>
      <p:sp>
        <p:nvSpPr>
          <p:cNvPr id="11" name="body-1bar">
            <a:extLst>
              <a:ext uri="{C183D7F6-B498-43B3-948B-1728B52AA6E4}">
                <adec:decorative xmlns:adec="http://schemas.microsoft.com/office/drawing/2017/decorative" val="1"/>
              </a:ext>
            </a:extLst>
          </p:cNvPr>
          <p:cNvSpPr/>
          <p:nvPr/>
        </p:nvSpPr>
        <p:spPr>
          <a:xfrm>
            <a:off x="841248" y="2463825"/>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311880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worked audit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05B06"/>
                </a:solidFill>
                <a:latin typeface="Segoe UI"/>
              </a:rPr>
              <a:t>FIGURE 21.2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163     </a:t>
            </a:r>
            <a:fld id="{F0A007A3-1EDF-46B7-8F24-CC0ECDD08EFA}" type="slidenum">
              <a:rPr lang="en-GB" sz="1000">
                <a:solidFill>
                  <a:srgbClr val="8795A1"/>
                </a:solidFill>
                <a:latin typeface="Segoe UI"/>
              </a:rPr>
              <a:t>12</a:t>
            </a:fld>
          </a:p>
        </p:txBody>
      </p:sp>
      <p:pic>
        <p:nvPicPr>
          <p:cNvPr id="6" name="!!figure" descr="Figure 21.2. The worked audit. Every criterion shows a gap, but they mean different things: the selection gap partly reflects different base rates; the TPR gap is unequal treatment of equally qualified applicant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28278" y="1737360"/>
            <a:ext cx="8735137"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Every criterion shows a gap, but they mean different things: the selection gap partly reflects different base rates; the TPR gap is unequal treatment of equally qualified applicants.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40233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Impossibility of Fairness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163     </a:t>
            </a:r>
            <a:fld id="{240840D6-4B78-4EAF-8AD9-570AA5FEF41A}"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38118"/>
          </a:xfrm>
          <a:prstGeom prst="roundRect">
            <a:avLst>
              <a:gd name="adj" fmla="val 2584"/>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38118"/>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962046"/>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When two groups have different base rates, no classifier that makes any errors can satisfy equal TPR, equal FPR and equal precision at the same time (Chouldechova, 2017; Kleinberg, Mullainathan and Raghavan, 2016). Choosing a fairness criterion is therefore a </a:t>
            </a:r>
            <a:r>
              <a:rPr sz="2300" b="0" i="1">
                <a:solidFill>
                  <a:srgbClr val="1C252B"/>
                </a:solidFill>
                <a:latin typeface="Segoe UI"/>
              </a:rPr>
              <a:t>decision</a:t>
            </a:r>
            <a:r>
              <a:rPr sz="2300" b="0" i="0">
                <a:solidFill>
                  <a:srgbClr val="1C252B"/>
                </a:solidFill>
                <a:latin typeface="Segoe UI"/>
              </a:rPr>
              <a:t>, not a calculation: equal opportunity protects qualified applicants; predictive parity protects the meaning of a positive score. In the lab, lowering group B’s threshold to 0.26 equalises the TPR at 0.93 — and B’s precision falls from 0.83 to 0.63. Say which criterion you chose, why, and who pays for it.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68586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Privacy</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164     </a:t>
            </a:r>
            <a:fld id="{86211EF8-6F91-4573-97C3-35ED29BD0C6E}" type="slidenum">
              <a:rPr lang="en-GB" sz="1000">
                <a:solidFill>
                  <a:srgbClr val="8795A1"/>
                </a:solidFill>
                <a:latin typeface="Segoe UI"/>
              </a:rPr>
              <a:t>14</a:t>
            </a:fld>
          </a:p>
        </p:txBody>
      </p:sp>
      <p:sp>
        <p:nvSpPr>
          <p:cNvPr id="7" name="!!stbar">
            <a:extLst>
              <a:ext uri="{C183D7F6-B498-43B3-948B-1728B52AA6E4}">
                <adec:decorative xmlns:adec="http://schemas.microsoft.com/office/drawing/2017/decorative" val="1"/>
              </a:ext>
            </a:extLst>
          </p:cNvPr>
          <p:cNvSpPr/>
          <p:nvPr/>
        </p:nvSpPr>
        <p:spPr>
          <a:xfrm>
            <a:off x="658368" y="1810512"/>
            <a:ext cx="73152" cy="414771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423001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Training data often describes people, and a model can leak it. Removing names is not anonymisation: a small number of attributes — postcode, date of birth and gender — identifies most individuals in a population, and linking a “de-identified” dataset to a public one </a:t>
            </a:r>
            <a:r>
              <a:rPr sz="2200" b="1" i="0">
                <a:solidFill>
                  <a:srgbClr val="1A5276"/>
                </a:solidFill>
                <a:latin typeface="Segoe UI"/>
              </a:rPr>
              <a:t>re-identifies</a:t>
            </a:r>
            <a:r>
              <a:rPr sz="2200" b="0" i="0">
                <a:solidFill>
                  <a:srgbClr val="1C252B"/>
                </a:solidFill>
                <a:latin typeface="Segoe UI"/>
              </a:rPr>
              <a:t> them. Models themselves can memorise and reveal rare training examples. Good practice: collect only what the task needs; keep identifiers out of features; aggregate or add noise where exact values are not needed (</a:t>
            </a:r>
            <a:r>
              <a:rPr sz="2200" b="0" i="1">
                <a:solidFill>
                  <a:srgbClr val="1C252B"/>
                </a:solidFill>
                <a:latin typeface="Segoe UI"/>
              </a:rPr>
              <a:t>differential privacy</a:t>
            </a:r>
            <a:r>
              <a:rPr sz="2200" b="0" i="0">
                <a:solidFill>
                  <a:srgbClr val="1C252B"/>
                </a:solidFill>
                <a:latin typeface="Segoe UI"/>
              </a:rPr>
              <a:t> makes that noise mathematically rigorous); and control who can query a model trained on sensitive data. Legal duties vary by jurisdiction — Pakistan’s Prevention of Electronic Crimes Act 2016, the Personal Data Protection Bill drafted by the Ministry of IT and Telecommunication, the EU’s GDPR for data about European residents — and a project handling personal data should identify which apply before collecting anything.</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96938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Transparency and Explainability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5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21.5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21.1   Why a Machine Learning Course Has an Ethics Chapter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21.2   Where Bias Enters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21.3   Measuring Fairness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21.4   Privacy</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21.5   Transparency and Explainability</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21.6   Accountability and Security</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§21.5     </a:t>
            </a:r>
            <a:fld id="{12113AE5-5C3B-41D4-AB79-4561AD889F5F}" type="slidenum">
              <a:rPr lang="en-GB" sz="1000">
                <a:solidFill>
                  <a:srgbClr val="8795A1"/>
                </a:solidFill>
                <a:latin typeface="Segoe UI"/>
              </a:rPr>
              <a:t>15</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25291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Transparency and Explainability</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§21.5  ·  Handout p. 165     </a:t>
            </a:r>
            <a:fld id="{BFA1CCFF-4C6F-4126-A38D-A2127973AB97}"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57953"/>
          </a:xfrm>
          <a:prstGeom prst="roundRect">
            <a:avLst>
              <a:gd name="adj" fmla="val 2051"/>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5795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People affected by a decision are entitled to an explanation they can act on, and the people deploying a model need to know when it is relying on something it should not. Three levels help:</a:t>
            </a:r>
          </a:p>
        </p:txBody>
      </p:sp>
      <p:sp>
        <p:nvSpPr>
          <p:cNvPr id="10" name="body-1"/>
          <p:cNvSpPr txBox="1"/>
          <p:nvPr/>
        </p:nvSpPr>
        <p:spPr>
          <a:xfrm>
            <a:off x="1060704" y="3247999"/>
            <a:ext cx="10161727" cy="2682138"/>
          </a:xfrm>
          <a:prstGeom prst="rect">
            <a:avLst/>
          </a:prstGeom>
          <a:noFill/>
        </p:spPr>
        <p:txBody>
          <a:bodyPr wrap="square" anchor="t" lIns="0" rIns="0" tIns="0" bIns="0">
            <a:noAutofit/>
          </a:bodyPr>
          <a:lstStyle/>
          <a:p>
            <a:pPr algn="l" marL="245994" indent="-245994">
              <a:lnSpc>
                <a:spcPct val="104000"/>
              </a:lnSpc>
              <a:spcBef>
                <a:spcPts val="0"/>
              </a:spcBef>
              <a:spcAft>
                <a:spcPts val="769"/>
              </a:spcAft>
            </a:pPr>
            <a:r>
              <a:rPr sz="2200" b="1">
                <a:solidFill>
                  <a:srgbClr val="1A5276"/>
                </a:solidFill>
                <a:latin typeface="Segoe UI"/>
              </a:rPr>
              <a:t>•	</a:t>
            </a:r>
            <a:r>
              <a:rPr sz="2200" b="1" i="0">
                <a:solidFill>
                  <a:srgbClr val="1A5276"/>
                </a:solidFill>
                <a:latin typeface="Segoe UI"/>
              </a:rPr>
              <a:t>Interpretable models</a:t>
            </a:r>
            <a:r>
              <a:rPr sz="2200" b="0" i="0">
                <a:solidFill>
                  <a:srgbClr val="1C252B"/>
                </a:solidFill>
                <a:latin typeface="Segoe UI"/>
              </a:rPr>
              <a:t> where the stakes justify the accuracy cost: logistic regression’s odds ratios (Chapter 6), a shallow tree’s rules (Chapter 9).</a:t>
            </a:r>
          </a:p>
          <a:p>
            <a:pPr algn="l" marL="245994" indent="-245994">
              <a:lnSpc>
                <a:spcPct val="104000"/>
              </a:lnSpc>
              <a:spcBef>
                <a:spcPts val="0"/>
              </a:spcBef>
              <a:spcAft>
                <a:spcPts val="769"/>
              </a:spcAft>
            </a:pPr>
            <a:r>
              <a:rPr sz="2200" b="1">
                <a:solidFill>
                  <a:srgbClr val="1A5276"/>
                </a:solidFill>
                <a:latin typeface="Segoe UI"/>
              </a:rPr>
              <a:t>•	</a:t>
            </a:r>
            <a:r>
              <a:rPr sz="2200" b="1" i="0">
                <a:solidFill>
                  <a:srgbClr val="1A5276"/>
                </a:solidFill>
                <a:latin typeface="Segoe UI"/>
              </a:rPr>
              <a:t>Global explanations</a:t>
            </a:r>
            <a:r>
              <a:rPr sz="2200" b="0" i="0">
                <a:solidFill>
                  <a:srgbClr val="1C252B"/>
                </a:solidFill>
                <a:latin typeface="Segoe UI"/>
              </a:rPr>
              <a:t> of complex models: permutation importance — how much does performance drop when one feature is shuffled? — and partial dependence.</a:t>
            </a:r>
          </a:p>
          <a:p>
            <a:pPr algn="l" marL="245994" indent="-245994">
              <a:lnSpc>
                <a:spcPct val="104000"/>
              </a:lnSpc>
              <a:spcBef>
                <a:spcPts val="0"/>
              </a:spcBef>
              <a:spcAft>
                <a:spcPts val="0"/>
              </a:spcAft>
            </a:pPr>
            <a:r>
              <a:rPr sz="2200" b="1">
                <a:solidFill>
                  <a:srgbClr val="1A5276"/>
                </a:solidFill>
                <a:latin typeface="Segoe UI"/>
              </a:rPr>
              <a:t>•	</a:t>
            </a:r>
            <a:r>
              <a:rPr sz="2200" b="1" i="0">
                <a:solidFill>
                  <a:srgbClr val="1A5276"/>
                </a:solidFill>
                <a:latin typeface="Segoe UI"/>
              </a:rPr>
              <a:t>Local explanations</a:t>
            </a:r>
            <a:r>
              <a:rPr sz="2200" b="0" i="0">
                <a:solidFill>
                  <a:srgbClr val="1C252B"/>
                </a:solidFill>
                <a:latin typeface="Segoe UI"/>
              </a:rPr>
              <a:t> of a single prediction: which features pushed </a:t>
            </a:r>
            <a:r>
              <a:rPr sz="2200" b="0" i="1">
                <a:solidFill>
                  <a:srgbClr val="1C252B"/>
                </a:solidFill>
                <a:latin typeface="Segoe UI"/>
              </a:rPr>
              <a:t>this</a:t>
            </a:r>
            <a:r>
              <a:rPr sz="2200" b="0" i="0">
                <a:solidFill>
                  <a:srgbClr val="1C252B"/>
                </a:solidFill>
                <a:latin typeface="Segoe UI"/>
              </a:rPr>
              <a:t> applicant’s score down (SHAP values and LIME are the common tools).</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453644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Model Card</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§21.5  ·  Handout p. 165     </a:t>
            </a:r>
            <a:fld id="{5240C836-F4FD-4384-89B3-4A14C249DFD4}"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model card</a:t>
            </a:r>
            <a:r>
              <a:rPr sz="2300" b="0" i="0">
                <a:solidFill>
                  <a:srgbClr val="1C252B"/>
                </a:solidFill>
                <a:latin typeface="Segoe UI"/>
              </a:rPr>
              <a:t> is a short document published with a model: what it is for, and what it must not be used for; the data it was trained on; its performance overall </a:t>
            </a:r>
            <a:r>
              <a:rPr sz="2300" b="0" i="1">
                <a:solidFill>
                  <a:srgbClr val="1C252B"/>
                </a:solidFill>
                <a:latin typeface="Segoe UI"/>
              </a:rPr>
              <a:t>and for each relevant group</a:t>
            </a:r>
            <a:r>
              <a:rPr sz="2300" b="0" i="0">
                <a:solidFill>
                  <a:srgbClr val="1C252B"/>
                </a:solidFill>
                <a:latin typeface="Segoe UI"/>
              </a:rPr>
              <a:t>; the fairness criterion chosen and the result; known limitations; and who is responsible for it. The project of Chapter 22 must include one.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81997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Accountability and Security</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§21.6  ·  Handout p. 165     </a:t>
            </a:r>
            <a:fld id="{6119D365-D36E-457F-B284-A1B966E1A5A2}" type="slidenum">
              <a:rPr lang="en-GB" sz="1000">
                <a:solidFill>
                  <a:srgbClr val="8795A1"/>
                </a:solidFill>
                <a:latin typeface="Segoe UI"/>
              </a:rPr>
              <a:t>18</a:t>
            </a:fld>
          </a:p>
        </p:txBody>
      </p:sp>
      <p:graphicFrame>
        <p:nvGraphicFramePr>
          <p:cNvPr id="7" name="!!table"/>
          <p:cNvGraphicFramePr>
            <a:graphicFrameLocks noGrp="1"/>
          </p:cNvGraphicFramePr>
          <p:nvPr/>
        </p:nvGraphicFramePr>
        <p:xfrm>
          <a:off x="658368" y="1737360"/>
          <a:ext cx="10874958" cy="3874008"/>
        </p:xfrm>
        <a:graphic>
          <a:graphicData uri="http://schemas.openxmlformats.org/drawingml/2006/table">
            <a:tbl>
              <a:tblPr firstRow="0" bandRow="0" firstCol="0" lastRow="0" lastCol="0" bandCol="0">
                <a:tableStyleId>{2D5ABB26-0587-4C30-8999-92F81FD0307C}</a:tableStyleId>
              </a:tblPr>
              <a:tblGrid>
                <a:gridCol w="2609990"/>
                <a:gridCol w="8264968"/>
              </a:tblGrid>
              <a:tr h="405384">
                <a:tc>
                  <a:txBody>
                    <a:bodyPr wrap="square"/>
                    <a:lstStyle/>
                    <a:p>
                      <a:pPr algn="l"/>
                      <a:r>
                        <a:rPr sz="1700" b="1" i="0">
                          <a:solidFill>
                            <a:srgbClr val="1A5276"/>
                          </a:solidFill>
                          <a:latin typeface="Segoe UI"/>
                        </a:rPr>
                        <a:t>Stage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Questions to answer before deployment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Purpose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What decision will this support? Who is affected? Would a simpler rule, or no model, be better?</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Data</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Who is missing or under-represented? What is the label really measuring? Was it collected with consent, and may it be used this way?</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Features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Could any feature be a proxy for a protected attribute? Does any exist only because of the outcome (Chapter 3)?</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Evaluation</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Performance for each group, not only overall. Which fairness criterion, and why?</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Deployment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Who reviews the model’s decisions? How can they be contested? How will drift and feedback loops be detected?</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Security</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Who benefits from fooling it? Has it been tested against them?</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10350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§21.6  ·  Handout p. 165     </a:t>
            </a:r>
            <a:fld id="{A641475B-E71A-48D7-BC03-25FCB41F055C}" type="slidenum">
              <a:rPr lang="en-GB" sz="1000">
                <a:solidFill>
                  <a:srgbClr val="8795A1"/>
                </a:solidFill>
                <a:latin typeface="Segoe UI"/>
              </a:rPr>
              <a:t>19</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“We removed the protected attribute, so the model is fair.”</a:t>
            </a:r>
            <a:r>
              <a:rPr sz="2100" b="0" i="0">
                <a:solidFill>
                  <a:srgbClr val="1C252B"/>
                </a:solidFill>
                <a:latin typeface="Segoe UI"/>
              </a:rPr>
              <a:t> Proxies carry it back in.</a:t>
            </a:r>
          </a:p>
        </p:txBody>
      </p:sp>
      <p:sp>
        <p:nvSpPr>
          <p:cNvPr id="10" name="!!pb1">
            <a:extLst>
              <a:ext uri="{C183D7F6-B498-43B3-948B-1728B52AA6E4}">
                <adec:decorative xmlns:adec="http://schemas.microsoft.com/office/drawing/2017/decorative" val="1"/>
              </a:ext>
            </a:extLst>
          </p:cNvPr>
          <p:cNvSpPr/>
          <p:nvPr/>
        </p:nvSpPr>
        <p:spPr>
          <a:xfrm>
            <a:off x="658368" y="26224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453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604211"/>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Reporting only overall accuracy.</a:t>
            </a:r>
            <a:r>
              <a:rPr sz="2100" b="0" i="0">
                <a:solidFill>
                  <a:srgbClr val="1C252B"/>
                </a:solidFill>
                <a:latin typeface="Segoe UI"/>
              </a:rPr>
              <a:t> A model can be accurate on average and poor for a minority group; report per group.</a:t>
            </a:r>
          </a:p>
        </p:txBody>
      </p:sp>
      <p:sp>
        <p:nvSpPr>
          <p:cNvPr id="13" name="!!pb2">
            <a:extLst>
              <a:ext uri="{C183D7F6-B498-43B3-948B-1728B52AA6E4}">
                <adec:decorative xmlns:adec="http://schemas.microsoft.com/office/drawing/2017/decorative" val="1"/>
              </a:ext>
            </a:extLst>
          </p:cNvPr>
          <p:cNvSpPr/>
          <p:nvPr/>
        </p:nvSpPr>
        <p:spPr>
          <a:xfrm>
            <a:off x="658368" y="348935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51221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71062"/>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Picking the fairness metric the model happens to pass.</a:t>
            </a:r>
            <a:r>
              <a:rPr sz="2100" b="0" i="0">
                <a:solidFill>
                  <a:srgbClr val="1C252B"/>
                </a:solidFill>
                <a:latin typeface="Segoe UI"/>
              </a:rPr>
              <a:t> Choose it from the harm you want to prevent, before looking.</a:t>
            </a:r>
          </a:p>
        </p:txBody>
      </p:sp>
      <p:sp>
        <p:nvSpPr>
          <p:cNvPr id="16" name="!!pb3">
            <a:extLst>
              <a:ext uri="{C183D7F6-B498-43B3-948B-1728B52AA6E4}">
                <adec:decorative xmlns:adec="http://schemas.microsoft.com/office/drawing/2017/decorative" val="1"/>
              </a:ext>
            </a:extLst>
          </p:cNvPr>
          <p:cNvSpPr/>
          <p:nvPr/>
        </p:nvSpPr>
        <p:spPr>
          <a:xfrm>
            <a:off x="658368" y="435620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37906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337913"/>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Treating anonymised data as safe.</a:t>
            </a:r>
            <a:r>
              <a:rPr sz="2100" b="0" i="0">
                <a:solidFill>
                  <a:srgbClr val="1C252B"/>
                </a:solidFill>
                <a:latin typeface="Segoe UI"/>
              </a:rPr>
              <a:t> Linking attributes re-identifies people.</a:t>
            </a:r>
          </a:p>
        </p:txBody>
      </p:sp>
      <p:sp>
        <p:nvSpPr>
          <p:cNvPr id="19" name="!!pb4">
            <a:extLst>
              <a:ext uri="{C183D7F6-B498-43B3-948B-1728B52AA6E4}">
                <adec:decorative xmlns:adec="http://schemas.microsoft.com/office/drawing/2017/decorative" val="1"/>
              </a:ext>
            </a:extLst>
          </p:cNvPr>
          <p:cNvSpPr/>
          <p:nvPr/>
        </p:nvSpPr>
        <p:spPr>
          <a:xfrm>
            <a:off x="658368" y="492312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94598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904841"/>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Deploying without a way to be wrong.</a:t>
            </a:r>
            <a:r>
              <a:rPr sz="2100" b="0" i="0">
                <a:solidFill>
                  <a:srgbClr val="1C252B"/>
                </a:solidFill>
                <a:latin typeface="Segoe UI"/>
              </a:rPr>
              <a:t> Every model errs; the question is what happens to the person it errs about.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538702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Responsible Machine Learning</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168     </a:t>
            </a:r>
            <a:fld id="{FF5EFD8C-A4B5-4543-B8C5-7241DCC7F90B}" type="slidenum">
              <a:rPr lang="en-GB" sz="1000">
                <a:solidFill>
                  <a:srgbClr val="8795A1"/>
                </a:solidFill>
                <a:latin typeface="Segoe UI"/>
              </a:rPr>
              <a:t>20</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An early-warning model that flags students from one region more often may be measuring unequal preparation, not ability; and a flag seen by a teacher can lower expectations and cause the failure it predicted.</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Models that score employees’ productivity from commit counts or ticket throughput measure what is easy to count.</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Sensor data from homes and vehicles reveals when people are in, asleep or travelling.</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Security models are the most adversarial setting of all: the people they classify are actively trying to defeat them.</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567055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Responsible Machine Learning</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168     </a:t>
            </a:r>
            <a:fld id="{4CC49D1C-150D-477C-B30C-61C28EAE73C5}" type="slidenum">
              <a:rPr lang="en-GB" sz="1000">
                <a:solidFill>
                  <a:srgbClr val="8795A1"/>
                </a:solidFill>
                <a:latin typeface="Segoe UI"/>
              </a:rPr>
              <a:t>21</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An early-warning model that flags students from one region more often may be measuring unequal preparation, not ability; and a flag seen by a teacher can lower expectations and cause the failure it predicted. Use flags to offer support, never to restrict opportunity, and audit TPR by group every term.</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595408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Responsible Machine Learning</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168     </a:t>
            </a:r>
            <a:fld id="{DD8DA9DD-A493-4A72-A427-28B0ED59587F}" type="slidenum">
              <a:rPr lang="en-GB" sz="1000">
                <a:solidFill>
                  <a:srgbClr val="8795A1"/>
                </a:solidFill>
                <a:latin typeface="Segoe UI"/>
              </a:rPr>
              <a:t>22</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Models that score employees’ productivity from commit counts or ticket throughput measure what is easy to count. They reward gaming, and penalise the people doing the unglamorous work — reviews, mentoring, documentation — that keeps a team functioning.</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23761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Responsible Machine Learning</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168     </a:t>
            </a:r>
            <a:fld id="{54F993ED-C405-4E93-BE13-15B02534E493}" type="slidenum">
              <a:rPr lang="en-GB" sz="1000">
                <a:solidFill>
                  <a:srgbClr val="8795A1"/>
                </a:solidFill>
                <a:latin typeface="Segoe UI"/>
              </a:rPr>
              <a:t>23</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Sensor data from homes and vehicles reveals when people are in, asleep or travelling. Process on the device where possible, send aggregates rather than raw streams, and treat a smart-meter dataset as the personal data it is.</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52113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Responsible Machine Learning</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168     </a:t>
            </a:r>
            <a:fld id="{3EA1D16A-2D76-45B7-8748-A4EA9ABEEB0D}" type="slidenum">
              <a:rPr lang="en-GB" sz="1000">
                <a:solidFill>
                  <a:srgbClr val="8795A1"/>
                </a:solidFill>
                <a:latin typeface="Segoe UI"/>
              </a:rPr>
              <a:t>24</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Security models are the most adversarial setting of all: the people they classify are actively trying to defeat them. Test against evasion and poisoning, and remember that a false positive may lock an innocent user out of an account — give them a fast route back in.</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80466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Auditing a Model for Fairness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§21.6  ·  Handout p. 165     </a:t>
            </a:r>
            <a:fld id="{4F242169-4D7E-4ECA-B6DF-B569EB5CCBB7}" type="slidenum">
              <a:rPr lang="en-GB" sz="1000">
                <a:solidFill>
                  <a:srgbClr val="8795A1"/>
                </a:solidFill>
                <a:latin typeface="Segoe UI"/>
              </a:rPr>
              <a:t>25</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synthetic admissions dataset in which group B had fewer chances to build a strong record. The group is never given to the model as a feature.</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4668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A synthetic admissions dataset with a protected group</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The model, group column excluded (it was never a feature)</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Removing the group column does not remove the group</a:t>
            </a:r>
          </a:p>
          <a:p>
            <a:pPr algn="l" marL="459473" indent="-459473">
              <a:lnSpc>
                <a:spcPct val="100000"/>
              </a:lnSpc>
              <a:spcBef>
                <a:spcPts val="0"/>
              </a:spcBef>
              <a:spcAft>
                <a:spcPts val="0"/>
              </a:spcAft>
            </a:pPr>
            <a:r>
              <a:rPr sz="1900" b="1">
                <a:solidFill>
                  <a:srgbClr val="117A65"/>
                </a:solidFill>
                <a:latin typeface="Segoe UI"/>
              </a:rPr>
              <a:t>4.	</a:t>
            </a:r>
            <a:r>
              <a:rPr sz="1900" b="0" i="0">
                <a:solidFill>
                  <a:srgbClr val="1C252B"/>
                </a:solidFill>
                <a:latin typeface="Segoe UI"/>
              </a:rPr>
              <a:t>Equalise the true positive rate with a group-specific threshold</a:t>
            </a:r>
          </a:p>
        </p:txBody>
      </p:sp>
      <p:sp>
        <p:nvSpPr>
          <p:cNvPr id="24"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7"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16: Auditing a model for fairness</a:t>
            </a:r>
          </a:p>
        </p:txBody>
      </p:sp>
      <p:sp>
        <p:nvSpPr>
          <p:cNvPr id="28"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1"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48 lines of Python</a:t>
            </a:r>
          </a:p>
        </p:txBody>
      </p:sp>
      <p:sp>
        <p:nvSpPr>
          <p:cNvPr id="32"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5"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code/ch21_auditing_model.py</a:t>
            </a:r>
          </a:p>
        </p:txBody>
      </p:sp>
      <p:sp>
        <p:nvSpPr>
          <p:cNvPr id="3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pfill">
            <a:extLst>
              <a:ext uri="{C183D7F6-B498-43B3-948B-1728B52AA6E4}">
                <adec:decorative xmlns:adec="http://schemas.microsoft.com/office/drawing/2017/decorative" val="1"/>
              </a:ext>
            </a:extLst>
          </p:cNvPr>
          <p:cNvSpPr/>
          <p:nvPr/>
        </p:nvSpPr>
        <p:spPr>
          <a:xfrm>
            <a:off x="0" y="0"/>
            <a:ext cx="708819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Auditing a Model for Fairness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§21.6  ·  Handout p. 165     </a:t>
            </a:r>
            <a:fld id="{C89E9E1D-2294-4EF4-889F-CAD37265C2F9}"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synthetic admissions dataset with a protected group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code/ch21_auditing_model.py</a:t>
            </a:r>
          </a:p>
        </p:txBody>
      </p:sp>
      <p:sp>
        <p:nvSpPr>
          <p:cNvPr id="14" name="!!code-text" descr="import numpy as np from sklearn.linear_model import LogisticRegression from sklearn.model_selection import train_test_split, cross_val_score # --- a synthetic admissions dataset with a protected group --------------- rng = np.random.default_rng(0) n = 6000 group = rng.integers(0, 2, n) # 0 = group A, 1 = group B # group B had fewer chances to build a strong record (historical bias) record = rng.normal(0.6 - 0.25 * group, 0.15, n) aptitude = rng.normal(0.5, 0.15, n) # equal in both groups district = group + rng.normal(0, 0.3, n) # a proxy for the group qualified = (0.5 * record + 0.5 * aptitude + rng.normal(0, 0.05, n) &gt; 0.5).astype(int) X = np.column_stack([record, aptitude, district]) X_tr, X_te, y_tr, y_te, g_tr, g_te = train_test_split( X, qualified, group, test_size=0.5, random_state=0)"/>
          <p:cNvSpPr txBox="1"/>
          <p:nvPr/>
        </p:nvSpPr>
        <p:spPr>
          <a:xfrm>
            <a:off x="1362456" y="2523744"/>
            <a:ext cx="9987991" cy="3477767"/>
          </a:xfrm>
          <a:prstGeom prst="rect">
            <a:avLst/>
          </a:prstGeom>
          <a:noFill/>
        </p:spPr>
        <p:txBody>
          <a:bodyPr wrap="none" anchor="t" lIns="0" rIns="0" tIns="0" bIns="0">
            <a:noAutofit/>
          </a:bodyPr>
          <a:lstStyle/>
          <a:p>
            <a:pPr>
              <a:lnSpc>
                <a:spcPct val="100000"/>
              </a:lnSpc>
              <a:spcAft>
                <a:spcPts val="0"/>
              </a:spcAft>
            </a:pPr>
            <a:r>
              <a:rPr sz="1300" i="0">
                <a:solidFill>
                  <a:srgbClr val="5DADE2"/>
                </a:solidFill>
                <a:latin typeface="Consolas"/>
              </a:rPr>
              <a:t>import</a:t>
            </a:r>
            <a:r>
              <a:rPr sz="1300" i="0">
                <a:solidFill>
                  <a:srgbClr val="E8EDF2"/>
                </a:solidFill>
                <a:latin typeface="Consolas"/>
              </a:rPr>
              <a:t> </a:t>
            </a:r>
            <a:r>
              <a:rPr sz="1300" i="0">
                <a:solidFill>
                  <a:srgbClr val="76D7C4"/>
                </a:solidFill>
                <a:latin typeface="Consolas"/>
              </a:rPr>
              <a:t>numpy</a:t>
            </a:r>
            <a:r>
              <a:rPr sz="1300" i="0">
                <a:solidFill>
                  <a:srgbClr val="E8EDF2"/>
                </a:solidFill>
                <a:latin typeface="Consolas"/>
              </a:rPr>
              <a:t> </a:t>
            </a:r>
            <a:r>
              <a:rPr sz="1300" i="0">
                <a:solidFill>
                  <a:srgbClr val="5DADE2"/>
                </a:solidFill>
                <a:latin typeface="Consolas"/>
              </a:rPr>
              <a:t>as</a:t>
            </a:r>
            <a:r>
              <a:rPr sz="1300" i="0">
                <a:solidFill>
                  <a:srgbClr val="E8EDF2"/>
                </a:solidFill>
                <a:latin typeface="Consolas"/>
              </a:rPr>
              <a:t> </a:t>
            </a:r>
            <a:r>
              <a:rPr sz="1300" i="0">
                <a:solidFill>
                  <a:srgbClr val="76D7C4"/>
                </a:solidFill>
                <a:latin typeface="Consolas"/>
              </a:rPr>
              <a:t>np</a:t>
            </a:r>
          </a:p>
          <a:p>
            <a:pPr>
              <a:lnSpc>
                <a:spcPct val="100000"/>
              </a:lnSpc>
              <a:spcAft>
                <a:spcPts val="0"/>
              </a:spcAft>
            </a:pPr>
            <a:r>
              <a:rPr sz="1300" i="0">
                <a:solidFill>
                  <a:srgbClr val="5DADE2"/>
                </a:solidFill>
                <a:latin typeface="Consolas"/>
              </a:rPr>
              <a:t>from</a:t>
            </a:r>
            <a:r>
              <a:rPr sz="1300" i="0">
                <a:solidFill>
                  <a:srgbClr val="E8EDF2"/>
                </a:solidFill>
                <a:latin typeface="Consolas"/>
              </a:rPr>
              <a:t> </a:t>
            </a:r>
            <a:r>
              <a:rPr sz="1300" i="0">
                <a:solidFill>
                  <a:srgbClr val="76D7C4"/>
                </a:solidFill>
                <a:latin typeface="Consolas"/>
              </a:rPr>
              <a:t>sklearn</a:t>
            </a:r>
            <a:r>
              <a:rPr sz="1300" i="0">
                <a:solidFill>
                  <a:srgbClr val="76D7C4"/>
                </a:solidFill>
                <a:latin typeface="Consolas"/>
              </a:rPr>
              <a:t>.</a:t>
            </a:r>
            <a:r>
              <a:rPr sz="1300" i="0">
                <a:solidFill>
                  <a:srgbClr val="76D7C4"/>
                </a:solidFill>
                <a:latin typeface="Consolas"/>
              </a:rPr>
              <a:t>linear_model</a:t>
            </a:r>
            <a:r>
              <a:rPr sz="1300" i="0">
                <a:solidFill>
                  <a:srgbClr val="E8EDF2"/>
                </a:solidFill>
                <a:latin typeface="Consolas"/>
              </a:rPr>
              <a:t> </a:t>
            </a:r>
            <a:r>
              <a:rPr sz="1300" i="0">
                <a:solidFill>
                  <a:srgbClr val="5DADE2"/>
                </a:solidFill>
                <a:latin typeface="Consolas"/>
              </a:rPr>
              <a:t>import</a:t>
            </a:r>
            <a:r>
              <a:rPr sz="1300" i="0">
                <a:solidFill>
                  <a:srgbClr val="E8EDF2"/>
                </a:solidFill>
                <a:latin typeface="Consolas"/>
              </a:rPr>
              <a:t> </a:t>
            </a:r>
            <a:r>
              <a:rPr sz="1300" i="0">
                <a:solidFill>
                  <a:srgbClr val="E8EDF2"/>
                </a:solidFill>
                <a:latin typeface="Consolas"/>
              </a:rPr>
              <a:t>LogisticRegression</a:t>
            </a:r>
          </a:p>
          <a:p>
            <a:pPr>
              <a:lnSpc>
                <a:spcPct val="100000"/>
              </a:lnSpc>
              <a:spcAft>
                <a:spcPts val="0"/>
              </a:spcAft>
            </a:pPr>
            <a:r>
              <a:rPr sz="1300" i="0">
                <a:solidFill>
                  <a:srgbClr val="5DADE2"/>
                </a:solidFill>
                <a:latin typeface="Consolas"/>
              </a:rPr>
              <a:t>from</a:t>
            </a:r>
            <a:r>
              <a:rPr sz="1300" i="0">
                <a:solidFill>
                  <a:srgbClr val="E8EDF2"/>
                </a:solidFill>
                <a:latin typeface="Consolas"/>
              </a:rPr>
              <a:t> </a:t>
            </a:r>
            <a:r>
              <a:rPr sz="1300" i="0">
                <a:solidFill>
                  <a:srgbClr val="76D7C4"/>
                </a:solidFill>
                <a:latin typeface="Consolas"/>
              </a:rPr>
              <a:t>sklearn</a:t>
            </a:r>
            <a:r>
              <a:rPr sz="1300" i="0">
                <a:solidFill>
                  <a:srgbClr val="76D7C4"/>
                </a:solidFill>
                <a:latin typeface="Consolas"/>
              </a:rPr>
              <a:t>.</a:t>
            </a:r>
            <a:r>
              <a:rPr sz="1300" i="0">
                <a:solidFill>
                  <a:srgbClr val="76D7C4"/>
                </a:solidFill>
                <a:latin typeface="Consolas"/>
              </a:rPr>
              <a:t>model_selection</a:t>
            </a:r>
            <a:r>
              <a:rPr sz="1300" i="0">
                <a:solidFill>
                  <a:srgbClr val="E8EDF2"/>
                </a:solidFill>
                <a:latin typeface="Consolas"/>
              </a:rPr>
              <a:t> </a:t>
            </a:r>
            <a:r>
              <a:rPr sz="1300" i="0">
                <a:solidFill>
                  <a:srgbClr val="5DADE2"/>
                </a:solidFill>
                <a:latin typeface="Consolas"/>
              </a:rPr>
              <a:t>import</a:t>
            </a:r>
            <a:r>
              <a:rPr sz="1300" i="0">
                <a:solidFill>
                  <a:srgbClr val="E8EDF2"/>
                </a:solidFill>
                <a:latin typeface="Consolas"/>
              </a:rPr>
              <a:t> </a:t>
            </a:r>
            <a:r>
              <a:rPr sz="1300" i="0">
                <a:solidFill>
                  <a:srgbClr val="E8EDF2"/>
                </a:solidFill>
                <a:latin typeface="Consolas"/>
              </a:rPr>
              <a:t>train_test_split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cross_val_score</a:t>
            </a:r>
          </a:p>
          <a:p>
            <a:pPr>
              <a:lnSpc>
                <a:spcPct val="100000"/>
              </a:lnSpc>
              <a:spcAft>
                <a:spcPts val="0"/>
              </a:spcAft>
            </a:pPr>
            <a:r>
              <a:rPr sz="1300">
                <a:latin typeface="Consolas"/>
              </a:rPr>
              <a:t> </a:t>
            </a:r>
          </a:p>
          <a:p>
            <a:pPr>
              <a:lnSpc>
                <a:spcPct val="100000"/>
              </a:lnSpc>
              <a:spcAft>
                <a:spcPts val="0"/>
              </a:spcAft>
            </a:pPr>
            <a:r>
              <a:rPr sz="1300" i="1">
                <a:solidFill>
                  <a:srgbClr val="8795A1"/>
                </a:solidFill>
                <a:latin typeface="Consolas"/>
              </a:rPr>
              <a:t># --- a synthetic admissions dataset with a protected group ---------------</a:t>
            </a:r>
          </a:p>
          <a:p>
            <a:pPr>
              <a:lnSpc>
                <a:spcPct val="100000"/>
              </a:lnSpc>
              <a:spcAft>
                <a:spcPts val="0"/>
              </a:spcAft>
            </a:pPr>
            <a:r>
              <a:rPr sz="1300" i="0">
                <a:solidFill>
                  <a:srgbClr val="E8EDF2"/>
                </a:solidFill>
                <a:latin typeface="Consolas"/>
              </a:rPr>
              <a:t>rng</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np</a:t>
            </a:r>
            <a:r>
              <a:rPr sz="1300" i="0">
                <a:solidFill>
                  <a:srgbClr val="AEB6BF"/>
                </a:solidFill>
                <a:latin typeface="Consolas"/>
              </a:rPr>
              <a:t>.</a:t>
            </a:r>
            <a:r>
              <a:rPr sz="1300" i="0">
                <a:solidFill>
                  <a:srgbClr val="E8EDF2"/>
                </a:solidFill>
                <a:latin typeface="Consolas"/>
              </a:rPr>
              <a:t>random</a:t>
            </a:r>
            <a:r>
              <a:rPr sz="1300" i="0">
                <a:solidFill>
                  <a:srgbClr val="AEB6BF"/>
                </a:solidFill>
                <a:latin typeface="Consolas"/>
              </a:rPr>
              <a:t>.</a:t>
            </a:r>
            <a:r>
              <a:rPr sz="1300" i="0">
                <a:solidFill>
                  <a:srgbClr val="E8EDF2"/>
                </a:solidFill>
                <a:latin typeface="Consolas"/>
              </a:rPr>
              <a:t>default_rng</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p>
          <a:p>
            <a:pPr>
              <a:lnSpc>
                <a:spcPct val="100000"/>
              </a:lnSpc>
              <a:spcAft>
                <a:spcPts val="0"/>
              </a:spcAft>
            </a:pPr>
            <a:r>
              <a:rPr sz="1300" i="0">
                <a:solidFill>
                  <a:srgbClr val="E8EDF2"/>
                </a:solidFill>
                <a:latin typeface="Consolas"/>
              </a:rPr>
              <a:t>n</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6000</a:t>
            </a:r>
          </a:p>
          <a:p>
            <a:pPr>
              <a:lnSpc>
                <a:spcPct val="100000"/>
              </a:lnSpc>
              <a:spcAft>
                <a:spcPts val="0"/>
              </a:spcAft>
            </a:pPr>
            <a:r>
              <a:rPr sz="1300" i="0">
                <a:solidFill>
                  <a:srgbClr val="E8EDF2"/>
                </a:solidFill>
                <a:latin typeface="Consolas"/>
              </a:rPr>
              <a:t>group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rng</a:t>
            </a:r>
            <a:r>
              <a:rPr sz="1300" i="0">
                <a:solidFill>
                  <a:srgbClr val="AEB6BF"/>
                </a:solidFill>
                <a:latin typeface="Consolas"/>
              </a:rPr>
              <a:t>.</a:t>
            </a:r>
            <a:r>
              <a:rPr sz="1300" i="0">
                <a:solidFill>
                  <a:srgbClr val="E8EDF2"/>
                </a:solidFill>
                <a:latin typeface="Consolas"/>
              </a:rPr>
              <a:t>integers</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2</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0 = group A, 1 = group B</a:t>
            </a:r>
          </a:p>
          <a:p>
            <a:pPr>
              <a:lnSpc>
                <a:spcPct val="100000"/>
              </a:lnSpc>
              <a:spcAft>
                <a:spcPts val="0"/>
              </a:spcAft>
            </a:pPr>
            <a:r>
              <a:rPr sz="1300" i="1">
                <a:solidFill>
                  <a:srgbClr val="8795A1"/>
                </a:solidFill>
                <a:latin typeface="Consolas"/>
              </a:rPr>
              <a:t># group B had fewer chances to build a strong record (historical bias)</a:t>
            </a:r>
          </a:p>
          <a:p>
            <a:pPr>
              <a:lnSpc>
                <a:spcPct val="100000"/>
              </a:lnSpc>
              <a:spcAft>
                <a:spcPts val="0"/>
              </a:spcAft>
            </a:pPr>
            <a:r>
              <a:rPr sz="1300" i="0">
                <a:solidFill>
                  <a:srgbClr val="E8EDF2"/>
                </a:solidFill>
                <a:latin typeface="Consolas"/>
              </a:rPr>
              <a:t>record</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rng</a:t>
            </a:r>
            <a:r>
              <a:rPr sz="1300" i="0">
                <a:solidFill>
                  <a:srgbClr val="AEB6BF"/>
                </a:solidFill>
                <a:latin typeface="Consolas"/>
              </a:rPr>
              <a:t>.</a:t>
            </a:r>
            <a:r>
              <a:rPr sz="1300" i="0">
                <a:solidFill>
                  <a:srgbClr val="E8EDF2"/>
                </a:solidFill>
                <a:latin typeface="Consolas"/>
              </a:rPr>
              <a:t>normal</a:t>
            </a:r>
            <a:r>
              <a:rPr sz="1300" i="0">
                <a:solidFill>
                  <a:srgbClr val="AEB6BF"/>
                </a:solidFill>
                <a:latin typeface="Consolas"/>
              </a:rPr>
              <a:t>(</a:t>
            </a:r>
            <a:r>
              <a:rPr sz="1300" i="0">
                <a:solidFill>
                  <a:srgbClr val="F7DC6F"/>
                </a:solidFill>
                <a:latin typeface="Consolas"/>
              </a:rPr>
              <a:t>0.6</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0.25</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group</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0.15</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a:t>
            </a:r>
            <a:r>
              <a:rPr sz="1300" i="0">
                <a:solidFill>
                  <a:srgbClr val="AEB6BF"/>
                </a:solidFill>
                <a:latin typeface="Consolas"/>
              </a:rPr>
              <a:t>)</a:t>
            </a:r>
          </a:p>
          <a:p>
            <a:pPr>
              <a:lnSpc>
                <a:spcPct val="100000"/>
              </a:lnSpc>
              <a:spcAft>
                <a:spcPts val="0"/>
              </a:spcAft>
            </a:pPr>
            <a:r>
              <a:rPr sz="1300" i="0">
                <a:solidFill>
                  <a:srgbClr val="E8EDF2"/>
                </a:solidFill>
                <a:latin typeface="Consolas"/>
              </a:rPr>
              <a:t>aptitude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rng</a:t>
            </a:r>
            <a:r>
              <a:rPr sz="1300" i="0">
                <a:solidFill>
                  <a:srgbClr val="AEB6BF"/>
                </a:solidFill>
                <a:latin typeface="Consolas"/>
              </a:rPr>
              <a:t>.</a:t>
            </a:r>
            <a:r>
              <a:rPr sz="1300" i="0">
                <a:solidFill>
                  <a:srgbClr val="E8EDF2"/>
                </a:solidFill>
                <a:latin typeface="Consolas"/>
              </a:rPr>
              <a:t>normal</a:t>
            </a:r>
            <a:r>
              <a:rPr sz="1300" i="0">
                <a:solidFill>
                  <a:srgbClr val="AEB6BF"/>
                </a:solidFill>
                <a:latin typeface="Consolas"/>
              </a:rPr>
              <a:t>(</a:t>
            </a:r>
            <a:r>
              <a:rPr sz="1300" i="0">
                <a:solidFill>
                  <a:srgbClr val="F7DC6F"/>
                </a:solidFill>
                <a:latin typeface="Consolas"/>
              </a:rPr>
              <a:t>0.5</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0.15</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equal in both groups</a:t>
            </a:r>
          </a:p>
          <a:p>
            <a:pPr>
              <a:lnSpc>
                <a:spcPct val="100000"/>
              </a:lnSpc>
              <a:spcAft>
                <a:spcPts val="0"/>
              </a:spcAft>
            </a:pPr>
            <a:r>
              <a:rPr sz="1300" i="0">
                <a:solidFill>
                  <a:srgbClr val="E8EDF2"/>
                </a:solidFill>
                <a:latin typeface="Consolas"/>
              </a:rPr>
              <a:t>district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group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rng</a:t>
            </a:r>
            <a:r>
              <a:rPr sz="1300" i="0">
                <a:solidFill>
                  <a:srgbClr val="AEB6BF"/>
                </a:solidFill>
                <a:latin typeface="Consolas"/>
              </a:rPr>
              <a:t>.</a:t>
            </a:r>
            <a:r>
              <a:rPr sz="1300" i="0">
                <a:solidFill>
                  <a:srgbClr val="E8EDF2"/>
                </a:solidFill>
                <a:latin typeface="Consolas"/>
              </a:rPr>
              <a:t>normal</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0.3</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a proxy for the group</a:t>
            </a:r>
          </a:p>
          <a:p>
            <a:pPr>
              <a:lnSpc>
                <a:spcPct val="100000"/>
              </a:lnSpc>
              <a:spcAft>
                <a:spcPts val="0"/>
              </a:spcAft>
            </a:pPr>
            <a:r>
              <a:rPr sz="1300" i="0">
                <a:solidFill>
                  <a:srgbClr val="E8EDF2"/>
                </a:solidFill>
                <a:latin typeface="Consolas"/>
              </a:rPr>
              <a:t>qualified</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0.5</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record</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0.5</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aptitude</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rng</a:t>
            </a:r>
            <a:r>
              <a:rPr sz="1300" i="0">
                <a:solidFill>
                  <a:srgbClr val="AEB6BF"/>
                </a:solidFill>
                <a:latin typeface="Consolas"/>
              </a:rPr>
              <a:t>.</a:t>
            </a:r>
            <a:r>
              <a:rPr sz="1300" i="0">
                <a:solidFill>
                  <a:srgbClr val="E8EDF2"/>
                </a:solidFill>
                <a:latin typeface="Consolas"/>
              </a:rPr>
              <a:t>normal</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0.05</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&gt;</a:t>
            </a:r>
            <a:r>
              <a:rPr sz="1300" i="0">
                <a:solidFill>
                  <a:srgbClr val="E8EDF2"/>
                </a:solidFill>
                <a:latin typeface="Consolas"/>
              </a:rPr>
              <a:t> </a:t>
            </a:r>
            <a:r>
              <a:rPr sz="1300" i="0">
                <a:solidFill>
                  <a:srgbClr val="F7DC6F"/>
                </a:solidFill>
                <a:latin typeface="Consolas"/>
              </a:rPr>
              <a:t>0.5</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astype</a:t>
            </a:r>
            <a:r>
              <a:rPr sz="1300" i="0">
                <a:solidFill>
                  <a:srgbClr val="AEB6BF"/>
                </a:solidFill>
                <a:latin typeface="Consolas"/>
              </a:rPr>
              <a:t>(</a:t>
            </a:r>
            <a:r>
              <a:rPr sz="1300" i="0">
                <a:solidFill>
                  <a:srgbClr val="C39BD3"/>
                </a:solidFill>
                <a:latin typeface="Consolas"/>
              </a:rPr>
              <a:t>int</a:t>
            </a:r>
            <a:r>
              <a:rPr sz="1300" i="0">
                <a:solidFill>
                  <a:srgbClr val="AEB6BF"/>
                </a:solidFill>
                <a:latin typeface="Consolas"/>
              </a:rPr>
              <a:t>)</a:t>
            </a:r>
          </a:p>
          <a:p>
            <a:pPr>
              <a:lnSpc>
                <a:spcPct val="100000"/>
              </a:lnSpc>
              <a:spcAft>
                <a:spcPts val="0"/>
              </a:spcAft>
            </a:pPr>
            <a:r>
              <a:rPr sz="1300" i="0">
                <a:solidFill>
                  <a:srgbClr val="E8EDF2"/>
                </a:solidFill>
                <a:latin typeface="Consolas"/>
              </a:rPr>
              <a:t>X</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np</a:t>
            </a:r>
            <a:r>
              <a:rPr sz="1300" i="0">
                <a:solidFill>
                  <a:srgbClr val="AEB6BF"/>
                </a:solidFill>
                <a:latin typeface="Consolas"/>
              </a:rPr>
              <a:t>.</a:t>
            </a:r>
            <a:r>
              <a:rPr sz="1300" i="0">
                <a:solidFill>
                  <a:srgbClr val="E8EDF2"/>
                </a:solidFill>
                <a:latin typeface="Consolas"/>
              </a:rPr>
              <a:t>column_stack</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record</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aptitude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district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X_tr</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X_te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y_tr</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y_te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g_tr</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g_te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train_test_split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X</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qualified</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group</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test_size</a:t>
            </a:r>
            <a:r>
              <a:rPr sz="1300" i="0">
                <a:solidFill>
                  <a:srgbClr val="AEB6BF"/>
                </a:solidFill>
                <a:latin typeface="Consolas"/>
              </a:rPr>
              <a:t>=</a:t>
            </a:r>
            <a:r>
              <a:rPr sz="1300" i="0">
                <a:solidFill>
                  <a:srgbClr val="F7DC6F"/>
                </a:solidFill>
                <a:latin typeface="Consolas"/>
              </a:rPr>
              <a:t>0.5</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random_state</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p>
        </p:txBody>
      </p:sp>
      <p:sp>
        <p:nvSpPr>
          <p:cNvPr id="15" name="!!code-num"/>
          <p:cNvSpPr txBox="1"/>
          <p:nvPr/>
        </p:nvSpPr>
        <p:spPr>
          <a:xfrm>
            <a:off x="768096" y="2523744"/>
            <a:ext cx="393192" cy="347776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2</a:t>
            </a:r>
          </a:p>
          <a:p>
            <a:pPr algn="r">
              <a:lnSpc>
                <a:spcPct val="100000"/>
              </a:lnSpc>
            </a:pPr>
            <a:r>
              <a:rPr sz="1300">
                <a:solidFill>
                  <a:srgbClr val="4F5D6A"/>
                </a:solidFill>
                <a:latin typeface="Consolas"/>
              </a:rPr>
              <a:t>3</a:t>
            </a:r>
          </a:p>
          <a:p>
            <a:pPr algn="r">
              <a:lnSpc>
                <a:spcPct val="100000"/>
              </a:lnSpc>
            </a:pPr>
            <a:r>
              <a:rPr sz="1300">
                <a:solidFill>
                  <a:srgbClr val="4F5D6A"/>
                </a:solidFill>
                <a:latin typeface="Consolas"/>
              </a:rPr>
              <a:t>4</a:t>
            </a:r>
          </a:p>
          <a:p>
            <a:pPr algn="r">
              <a:lnSpc>
                <a:spcPct val="100000"/>
              </a:lnSpc>
            </a:pPr>
            <a:r>
              <a:rPr sz="1300">
                <a:solidFill>
                  <a:srgbClr val="4F5D6A"/>
                </a:solidFill>
                <a:latin typeface="Consolas"/>
              </a:rPr>
              <a:t>5</a:t>
            </a:r>
          </a:p>
          <a:p>
            <a:pPr algn="r">
              <a:lnSpc>
                <a:spcPct val="100000"/>
              </a:lnSpc>
            </a:pPr>
            <a:r>
              <a:rPr sz="1300">
                <a:solidFill>
                  <a:srgbClr val="4F5D6A"/>
                </a:solidFill>
                <a:latin typeface="Consolas"/>
              </a:rPr>
              <a:t>6</a:t>
            </a:r>
          </a:p>
          <a:p>
            <a:pPr algn="r">
              <a:lnSpc>
                <a:spcPct val="100000"/>
              </a:lnSpc>
            </a:pPr>
            <a:r>
              <a:rPr sz="1300">
                <a:solidFill>
                  <a:srgbClr val="4F5D6A"/>
                </a:solidFill>
                <a:latin typeface="Consolas"/>
              </a:rPr>
              <a:t>7</a:t>
            </a:r>
          </a:p>
          <a:p>
            <a:pPr algn="r">
              <a:lnSpc>
                <a:spcPct val="100000"/>
              </a:lnSpc>
            </a:pPr>
            <a:r>
              <a:rPr sz="1300">
                <a:solidFill>
                  <a:srgbClr val="4F5D6A"/>
                </a:solidFill>
                <a:latin typeface="Consolas"/>
              </a:rPr>
              <a:t>8</a:t>
            </a:r>
          </a:p>
          <a:p>
            <a:pPr algn="r">
              <a:lnSpc>
                <a:spcPct val="100000"/>
              </a:lnSpc>
            </a:pPr>
            <a:r>
              <a:rPr sz="1300">
                <a:solidFill>
                  <a:srgbClr val="4F5D6A"/>
                </a:solidFill>
                <a:latin typeface="Consolas"/>
              </a:rPr>
              <a:t>9</a:t>
            </a:r>
          </a:p>
          <a:p>
            <a:pPr algn="r">
              <a:lnSpc>
                <a:spcPct val="100000"/>
              </a:lnSpc>
            </a:pPr>
            <a:r>
              <a:rPr sz="1300">
                <a:solidFill>
                  <a:srgbClr val="4F5D6A"/>
                </a:solidFill>
                <a:latin typeface="Consolas"/>
              </a:rPr>
              <a:t>10</a:t>
            </a:r>
          </a:p>
          <a:p>
            <a:pPr algn="r">
              <a:lnSpc>
                <a:spcPct val="100000"/>
              </a:lnSpc>
            </a:pPr>
            <a:r>
              <a:rPr sz="1300">
                <a:solidFill>
                  <a:srgbClr val="4F5D6A"/>
                </a:solidFill>
                <a:latin typeface="Consolas"/>
              </a:rPr>
              <a:t>11</a:t>
            </a:r>
          </a:p>
          <a:p>
            <a:pPr algn="r">
              <a:lnSpc>
                <a:spcPct val="100000"/>
              </a:lnSpc>
            </a:pPr>
            <a:r>
              <a:rPr sz="1300">
                <a:solidFill>
                  <a:srgbClr val="4F5D6A"/>
                </a:solidFill>
                <a:latin typeface="Consolas"/>
              </a:rPr>
              <a:t>12</a:t>
            </a:r>
          </a:p>
          <a:p>
            <a:pPr algn="r">
              <a:lnSpc>
                <a:spcPct val="100000"/>
              </a:lnSpc>
            </a:pPr>
            <a:r>
              <a:rPr sz="1300">
                <a:solidFill>
                  <a:srgbClr val="4F5D6A"/>
                </a:solidFill>
                <a:latin typeface="Consolas"/>
              </a:rPr>
              <a:t>13</a:t>
            </a:r>
          </a:p>
          <a:p>
            <a:pPr algn="r">
              <a:lnSpc>
                <a:spcPct val="100000"/>
              </a:lnSpc>
            </a:pPr>
            <a:r>
              <a:rPr sz="1300">
                <a:solidFill>
                  <a:srgbClr val="4F5D6A"/>
                </a:solidFill>
                <a:latin typeface="Consolas"/>
              </a:rPr>
              <a:t>14</a:t>
            </a:r>
          </a:p>
          <a:p>
            <a:pPr algn="r">
              <a:lnSpc>
                <a:spcPct val="100000"/>
              </a:lnSpc>
            </a:pPr>
            <a:r>
              <a:rPr sz="1300">
                <a:solidFill>
                  <a:srgbClr val="4F5D6A"/>
                </a:solidFill>
                <a:latin typeface="Consolas"/>
              </a:rPr>
              <a:t>15</a:t>
            </a:r>
          </a:p>
          <a:p>
            <a:pPr algn="r">
              <a:lnSpc>
                <a:spcPct val="100000"/>
              </a:lnSpc>
            </a:pPr>
            <a:r>
              <a:rPr sz="1300">
                <a:solidFill>
                  <a:srgbClr val="4F5D6A"/>
                </a:solidFill>
                <a:latin typeface="Consolas"/>
              </a:rPr>
              <a:t>16</a:t>
            </a:r>
          </a:p>
          <a:p>
            <a:pPr algn="r">
              <a:lnSpc>
                <a:spcPct val="100000"/>
              </a:lnSpc>
            </a:pPr>
            <a:r>
              <a:rPr sz="1300">
                <a:solidFill>
                  <a:srgbClr val="4F5D6A"/>
                </a:solidFill>
                <a:latin typeface="Consolas"/>
              </a:rPr>
              <a:t>17</a:t>
            </a:r>
          </a:p>
          <a:p>
            <a:pPr algn="r">
              <a:lnSpc>
                <a:spcPct val="100000"/>
              </a:lnSpc>
            </a:pPr>
            <a:r>
              <a:rPr sz="1300">
                <a:solidFill>
                  <a:srgbClr val="4F5D6A"/>
                </a:solidFill>
                <a:latin typeface="Consolas"/>
              </a:rPr>
              <a:t>18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37172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Auditing a Model for Fairness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§21.6  ·  Handout p. 165     </a:t>
            </a:r>
            <a:fld id="{D361D929-0FB2-43C2-A74F-8D8AEF602E6A}"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synthetic admissions dataset with a protected group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621024"/>
          </a:xfrm>
          <a:prstGeom prst="roundRect">
            <a:avLst>
              <a:gd name="adj" fmla="val 252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code/ch21_auditing_model.py</a:t>
            </a:r>
          </a:p>
        </p:txBody>
      </p:sp>
      <p:sp>
        <p:nvSpPr>
          <p:cNvPr id="14" name="!!code-text" descr="def report(name, pred): print(name) for g, label in ((0, &quot;A&quot;), (1, &quot;B&quot;)): m = g_te == g sel = pred[m].mean() # selection rate tpr = pred[m][y_te[m] == 1].mean() # recall fpr = pred[m][y_te[m] == 0].mean() prec = y_te[m][pred[m] == 1].mean() print(f&quot; group {label}: base rate {y_te[m].mean():.2f} &quot; f&quot;selected {sel:.2f} TPR {tpr:.2f} FPR {fpr:.2f} &quot; f&quot;precision {prec:.2f}&quot;)"/>
          <p:cNvSpPr txBox="1"/>
          <p:nvPr/>
        </p:nvSpPr>
        <p:spPr>
          <a:xfrm>
            <a:off x="1362456" y="2523744"/>
            <a:ext cx="9987991" cy="3127248"/>
          </a:xfrm>
          <a:prstGeom prst="rect">
            <a:avLst/>
          </a:prstGeom>
          <a:noFill/>
        </p:spPr>
        <p:txBody>
          <a:bodyPr wrap="none" anchor="t" lIns="0" rIns="0" tIns="0" bIns="0">
            <a:noAutofit/>
          </a:bodyPr>
          <a:lstStyle/>
          <a:p>
            <a:pPr>
              <a:lnSpc>
                <a:spcPct val="100000"/>
              </a:lnSpc>
              <a:spcAft>
                <a:spcPts val="0"/>
              </a:spcAft>
            </a:pPr>
            <a:r>
              <a:rPr sz="1800" i="0">
                <a:solidFill>
                  <a:srgbClr val="5DADE2"/>
                </a:solidFill>
                <a:latin typeface="Consolas"/>
              </a:rPr>
              <a:t>def</a:t>
            </a:r>
            <a:r>
              <a:rPr sz="1800" i="0">
                <a:solidFill>
                  <a:srgbClr val="E8EDF2"/>
                </a:solidFill>
                <a:latin typeface="Consolas"/>
              </a:rPr>
              <a:t> </a:t>
            </a:r>
            <a:r>
              <a:rPr sz="1800" i="0">
                <a:solidFill>
                  <a:srgbClr val="C39BD3"/>
                </a:solidFill>
                <a:latin typeface="Consolas"/>
              </a:rPr>
              <a:t>report</a:t>
            </a:r>
            <a:r>
              <a:rPr sz="1800" i="0">
                <a:solidFill>
                  <a:srgbClr val="AEB6BF"/>
                </a:solidFill>
                <a:latin typeface="Consolas"/>
              </a:rPr>
              <a:t>(</a:t>
            </a:r>
            <a:r>
              <a:rPr sz="1800" i="0">
                <a:solidFill>
                  <a:srgbClr val="E8EDF2"/>
                </a:solidFill>
                <a:latin typeface="Consolas"/>
              </a:rPr>
              <a:t>name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pred</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E8EDF2"/>
                </a:solidFill>
                <a:latin typeface="Consolas"/>
              </a:rPr>
              <a:t>name</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g</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label</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B</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m</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g_te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a:t>
            </a:r>
          </a:p>
          <a:p>
            <a:pPr>
              <a:lnSpc>
                <a:spcPct val="100000"/>
              </a:lnSpc>
              <a:spcAft>
                <a:spcPts val="0"/>
              </a:spcAft>
            </a:pPr>
            <a:r>
              <a:rPr sz="1800" i="0">
                <a:solidFill>
                  <a:srgbClr val="E8EDF2"/>
                </a:solidFill>
                <a:latin typeface="Consolas"/>
              </a:rPr>
              <a:t>        </a:t>
            </a:r>
            <a:r>
              <a:rPr sz="1800" i="0">
                <a:solidFill>
                  <a:srgbClr val="E8EDF2"/>
                </a:solidFill>
                <a:latin typeface="Consolas"/>
              </a:rPr>
              <a:t>sel</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pred</a:t>
            </a:r>
            <a:r>
              <a:rPr sz="1800" i="0">
                <a:solidFill>
                  <a:srgbClr val="AEB6BF"/>
                </a:solidFill>
                <a:latin typeface="Consolas"/>
              </a:rPr>
              <a:t>[</a:t>
            </a:r>
            <a:r>
              <a:rPr sz="1800" i="0">
                <a:solidFill>
                  <a:srgbClr val="E8EDF2"/>
                </a:solidFill>
                <a:latin typeface="Consolas"/>
              </a:rPr>
              <a:t>m</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selection rate</a:t>
            </a:r>
          </a:p>
          <a:p>
            <a:pPr>
              <a:lnSpc>
                <a:spcPct val="100000"/>
              </a:lnSpc>
              <a:spcAft>
                <a:spcPts val="0"/>
              </a:spcAft>
            </a:pPr>
            <a:r>
              <a:rPr sz="1800" i="0">
                <a:solidFill>
                  <a:srgbClr val="E8EDF2"/>
                </a:solidFill>
                <a:latin typeface="Consolas"/>
              </a:rPr>
              <a:t>        </a:t>
            </a:r>
            <a:r>
              <a:rPr sz="1800" i="0">
                <a:solidFill>
                  <a:srgbClr val="E8EDF2"/>
                </a:solidFill>
                <a:latin typeface="Consolas"/>
              </a:rPr>
              <a:t>tpr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pred</a:t>
            </a:r>
            <a:r>
              <a:rPr sz="1800" i="0">
                <a:solidFill>
                  <a:srgbClr val="AEB6BF"/>
                </a:solidFill>
                <a:latin typeface="Consolas"/>
              </a:rPr>
              <a:t>[</a:t>
            </a:r>
            <a:r>
              <a:rPr sz="1800" i="0">
                <a:solidFill>
                  <a:srgbClr val="E8EDF2"/>
                </a:solidFill>
                <a:latin typeface="Consolas"/>
              </a:rPr>
              <a:t>m</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y_te</a:t>
            </a:r>
            <a:r>
              <a:rPr sz="1800" i="0">
                <a:solidFill>
                  <a:srgbClr val="AEB6BF"/>
                </a:solidFill>
                <a:latin typeface="Consolas"/>
              </a:rPr>
              <a:t>[</a:t>
            </a:r>
            <a:r>
              <a:rPr sz="1800" i="0">
                <a:solidFill>
                  <a:srgbClr val="E8EDF2"/>
                </a:solidFill>
                <a:latin typeface="Consolas"/>
              </a:rPr>
              <a:t>m</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recall</a:t>
            </a:r>
          </a:p>
          <a:p>
            <a:pPr>
              <a:lnSpc>
                <a:spcPct val="100000"/>
              </a:lnSpc>
              <a:spcAft>
                <a:spcPts val="0"/>
              </a:spcAft>
            </a:pPr>
            <a:r>
              <a:rPr sz="1800" i="0">
                <a:solidFill>
                  <a:srgbClr val="E8EDF2"/>
                </a:solidFill>
                <a:latin typeface="Consolas"/>
              </a:rPr>
              <a:t>        </a:t>
            </a:r>
            <a:r>
              <a:rPr sz="1800" i="0">
                <a:solidFill>
                  <a:srgbClr val="E8EDF2"/>
                </a:solidFill>
                <a:latin typeface="Consolas"/>
              </a:rPr>
              <a:t>fpr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pred</a:t>
            </a:r>
            <a:r>
              <a:rPr sz="1800" i="0">
                <a:solidFill>
                  <a:srgbClr val="AEB6BF"/>
                </a:solidFill>
                <a:latin typeface="Consolas"/>
              </a:rPr>
              <a:t>[</a:t>
            </a:r>
            <a:r>
              <a:rPr sz="1800" i="0">
                <a:solidFill>
                  <a:srgbClr val="E8EDF2"/>
                </a:solidFill>
                <a:latin typeface="Consolas"/>
              </a:rPr>
              <a:t>m</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y_te</a:t>
            </a:r>
            <a:r>
              <a:rPr sz="1800" i="0">
                <a:solidFill>
                  <a:srgbClr val="AEB6BF"/>
                </a:solidFill>
                <a:latin typeface="Consolas"/>
              </a:rPr>
              <a:t>[</a:t>
            </a:r>
            <a:r>
              <a:rPr sz="1800" i="0">
                <a:solidFill>
                  <a:srgbClr val="E8EDF2"/>
                </a:solidFill>
                <a:latin typeface="Consolas"/>
              </a:rPr>
              <a:t>m</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prec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y_te</a:t>
            </a:r>
            <a:r>
              <a:rPr sz="1800" i="0">
                <a:solidFill>
                  <a:srgbClr val="AEB6BF"/>
                </a:solidFill>
                <a:latin typeface="Consolas"/>
              </a:rPr>
              <a:t>[</a:t>
            </a:r>
            <a:r>
              <a:rPr sz="1800" i="0">
                <a:solidFill>
                  <a:srgbClr val="E8EDF2"/>
                </a:solidFill>
                <a:latin typeface="Consolas"/>
              </a:rPr>
              <a:t>m</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pred</a:t>
            </a:r>
            <a:r>
              <a:rPr sz="1800" i="0">
                <a:solidFill>
                  <a:srgbClr val="AEB6BF"/>
                </a:solidFill>
                <a:latin typeface="Consolas"/>
              </a:rPr>
              <a:t>[</a:t>
            </a:r>
            <a:r>
              <a:rPr sz="1800" i="0">
                <a:solidFill>
                  <a:srgbClr val="E8EDF2"/>
                </a:solidFill>
                <a:latin typeface="Consolas"/>
              </a:rPr>
              <a:t>m</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  group </a:t>
            </a:r>
            <a:r>
              <a:rPr sz="1800" i="0">
                <a:solidFill>
                  <a:srgbClr val="7DCEA0"/>
                </a:solidFill>
                <a:latin typeface="Consolas"/>
              </a:rPr>
              <a:t>{</a:t>
            </a:r>
            <a:r>
              <a:rPr sz="1800" i="0">
                <a:solidFill>
                  <a:srgbClr val="E8EDF2"/>
                </a:solidFill>
                <a:latin typeface="Consolas"/>
              </a:rPr>
              <a:t>label</a:t>
            </a:r>
            <a:r>
              <a:rPr sz="1800" i="0">
                <a:solidFill>
                  <a:srgbClr val="7DCEA0"/>
                </a:solidFill>
                <a:latin typeface="Consolas"/>
              </a:rPr>
              <a:t>}</a:t>
            </a:r>
            <a:r>
              <a:rPr sz="1800" i="0">
                <a:solidFill>
                  <a:srgbClr val="7DCEA0"/>
                </a:solidFill>
                <a:latin typeface="Consolas"/>
              </a:rPr>
              <a:t>: base rate </a:t>
            </a:r>
            <a:r>
              <a:rPr sz="1800" i="0">
                <a:solidFill>
                  <a:srgbClr val="7DCEA0"/>
                </a:solidFill>
                <a:latin typeface="Consolas"/>
              </a:rPr>
              <a:t>{</a:t>
            </a:r>
            <a:r>
              <a:rPr sz="1800" i="0">
                <a:solidFill>
                  <a:srgbClr val="E8EDF2"/>
                </a:solidFill>
                <a:latin typeface="Consolas"/>
              </a:rPr>
              <a:t>y_te</a:t>
            </a:r>
            <a:r>
              <a:rPr sz="1800" i="0">
                <a:solidFill>
                  <a:srgbClr val="AEB6BF"/>
                </a:solidFill>
                <a:latin typeface="Consolas"/>
              </a:rPr>
              <a:t>[</a:t>
            </a:r>
            <a:r>
              <a:rPr sz="1800" i="0">
                <a:solidFill>
                  <a:srgbClr val="E8EDF2"/>
                </a:solidFill>
                <a:latin typeface="Consolas"/>
              </a:rPr>
              <a:t>m</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.2f</a:t>
            </a:r>
            <a:r>
              <a:rPr sz="1800" i="0">
                <a:solidFill>
                  <a:srgbClr val="7DCEA0"/>
                </a:solidFill>
                <a:latin typeface="Consolas"/>
              </a:rPr>
              <a:t>}</a:t>
            </a:r>
            <a:r>
              <a:rPr sz="1800" i="0">
                <a:solidFill>
                  <a:srgbClr val="7DCEA0"/>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selected </a:t>
            </a:r>
            <a:r>
              <a:rPr sz="1800" i="0">
                <a:solidFill>
                  <a:srgbClr val="7DCEA0"/>
                </a:solidFill>
                <a:latin typeface="Consolas"/>
              </a:rPr>
              <a:t>{</a:t>
            </a:r>
            <a:r>
              <a:rPr sz="1800" i="0">
                <a:solidFill>
                  <a:srgbClr val="E8EDF2"/>
                </a:solidFill>
                <a:latin typeface="Consolas"/>
              </a:rPr>
              <a:t>sel</a:t>
            </a:r>
            <a:r>
              <a:rPr sz="1800" i="0">
                <a:solidFill>
                  <a:srgbClr val="7DCEA0"/>
                </a:solidFill>
                <a:latin typeface="Consolas"/>
              </a:rPr>
              <a:t>:</a:t>
            </a:r>
            <a:r>
              <a:rPr sz="1800" i="0">
                <a:solidFill>
                  <a:srgbClr val="7DCEA0"/>
                </a:solidFill>
                <a:latin typeface="Consolas"/>
              </a:rPr>
              <a:t>.2f</a:t>
            </a:r>
            <a:r>
              <a:rPr sz="1800" i="0">
                <a:solidFill>
                  <a:srgbClr val="7DCEA0"/>
                </a:solidFill>
                <a:latin typeface="Consolas"/>
              </a:rPr>
              <a:t>}</a:t>
            </a:r>
            <a:r>
              <a:rPr sz="1800" i="0">
                <a:solidFill>
                  <a:srgbClr val="7DCEA0"/>
                </a:solidFill>
                <a:latin typeface="Consolas"/>
              </a:rPr>
              <a:t>  TPR </a:t>
            </a:r>
            <a:r>
              <a:rPr sz="1800" i="0">
                <a:solidFill>
                  <a:srgbClr val="7DCEA0"/>
                </a:solidFill>
                <a:latin typeface="Consolas"/>
              </a:rPr>
              <a:t>{</a:t>
            </a:r>
            <a:r>
              <a:rPr sz="1800" i="0">
                <a:solidFill>
                  <a:srgbClr val="E8EDF2"/>
                </a:solidFill>
                <a:latin typeface="Consolas"/>
              </a:rPr>
              <a:t>tpr</a:t>
            </a:r>
            <a:r>
              <a:rPr sz="1800" i="0">
                <a:solidFill>
                  <a:srgbClr val="7DCEA0"/>
                </a:solidFill>
                <a:latin typeface="Consolas"/>
              </a:rPr>
              <a:t>:</a:t>
            </a:r>
            <a:r>
              <a:rPr sz="1800" i="0">
                <a:solidFill>
                  <a:srgbClr val="7DCEA0"/>
                </a:solidFill>
                <a:latin typeface="Consolas"/>
              </a:rPr>
              <a:t>.2f</a:t>
            </a:r>
            <a:r>
              <a:rPr sz="1800" i="0">
                <a:solidFill>
                  <a:srgbClr val="7DCEA0"/>
                </a:solidFill>
                <a:latin typeface="Consolas"/>
              </a:rPr>
              <a:t>}</a:t>
            </a:r>
            <a:r>
              <a:rPr sz="1800" i="0">
                <a:solidFill>
                  <a:srgbClr val="7DCEA0"/>
                </a:solidFill>
                <a:latin typeface="Consolas"/>
              </a:rPr>
              <a:t>  FPR </a:t>
            </a:r>
            <a:r>
              <a:rPr sz="1800" i="0">
                <a:solidFill>
                  <a:srgbClr val="7DCEA0"/>
                </a:solidFill>
                <a:latin typeface="Consolas"/>
              </a:rPr>
              <a:t>{</a:t>
            </a:r>
            <a:r>
              <a:rPr sz="1800" i="0">
                <a:solidFill>
                  <a:srgbClr val="E8EDF2"/>
                </a:solidFill>
                <a:latin typeface="Consolas"/>
              </a:rPr>
              <a:t>fpr</a:t>
            </a:r>
            <a:r>
              <a:rPr sz="1800" i="0">
                <a:solidFill>
                  <a:srgbClr val="7DCEA0"/>
                </a:solidFill>
                <a:latin typeface="Consolas"/>
              </a:rPr>
              <a:t>:</a:t>
            </a:r>
            <a:r>
              <a:rPr sz="1800" i="0">
                <a:solidFill>
                  <a:srgbClr val="7DCEA0"/>
                </a:solidFill>
                <a:latin typeface="Consolas"/>
              </a:rPr>
              <a:t>.2f</a:t>
            </a:r>
            <a:r>
              <a:rPr sz="1800" i="0">
                <a:solidFill>
                  <a:srgbClr val="7DCEA0"/>
                </a:solidFill>
                <a:latin typeface="Consolas"/>
              </a:rPr>
              <a:t>}</a:t>
            </a:r>
            <a:r>
              <a:rPr sz="1800" i="0">
                <a:solidFill>
                  <a:srgbClr val="7DCEA0"/>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precision </a:t>
            </a:r>
            <a:r>
              <a:rPr sz="1800" i="0">
                <a:solidFill>
                  <a:srgbClr val="7DCEA0"/>
                </a:solidFill>
                <a:latin typeface="Consolas"/>
              </a:rPr>
              <a:t>{</a:t>
            </a:r>
            <a:r>
              <a:rPr sz="1800" i="0">
                <a:solidFill>
                  <a:srgbClr val="E8EDF2"/>
                </a:solidFill>
                <a:latin typeface="Consolas"/>
              </a:rPr>
              <a:t>prec</a:t>
            </a:r>
            <a:r>
              <a:rPr sz="1800" i="0">
                <a:solidFill>
                  <a:srgbClr val="7DCEA0"/>
                </a:solidFill>
                <a:latin typeface="Consolas"/>
              </a:rPr>
              <a:t>:</a:t>
            </a:r>
            <a:r>
              <a:rPr sz="1800" i="0">
                <a:solidFill>
                  <a:srgbClr val="7DCEA0"/>
                </a:solidFill>
                <a:latin typeface="Consolas"/>
              </a:rPr>
              <a:t>.2f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31272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a:p>
            <a:pPr algn="r">
              <a:lnSpc>
                <a:spcPct val="100000"/>
              </a:lnSpc>
            </a:pPr>
            <a:r>
              <a:rPr sz="1800">
                <a:solidFill>
                  <a:srgbClr val="4F5D6A"/>
                </a:solidFill>
                <a:latin typeface="Consolas"/>
              </a:rPr>
              <a:t>24</a:t>
            </a:r>
          </a:p>
          <a:p>
            <a:pPr algn="r">
              <a:lnSpc>
                <a:spcPct val="100000"/>
              </a:lnSpc>
            </a:pPr>
            <a:r>
              <a:rPr sz="1800">
                <a:solidFill>
                  <a:srgbClr val="4F5D6A"/>
                </a:solidFill>
                <a:latin typeface="Consolas"/>
              </a:rPr>
              <a:t>25</a:t>
            </a:r>
          </a:p>
          <a:p>
            <a:pPr algn="r">
              <a:lnSpc>
                <a:spcPct val="100000"/>
              </a:lnSpc>
            </a:pPr>
            <a:r>
              <a:rPr sz="1800">
                <a:solidFill>
                  <a:srgbClr val="4F5D6A"/>
                </a:solidFill>
                <a:latin typeface="Consolas"/>
              </a:rPr>
              <a:t>26</a:t>
            </a:r>
          </a:p>
          <a:p>
            <a:pPr algn="r">
              <a:lnSpc>
                <a:spcPct val="100000"/>
              </a:lnSpc>
            </a:pPr>
            <a:r>
              <a:rPr sz="1800">
                <a:solidFill>
                  <a:srgbClr val="4F5D6A"/>
                </a:solidFill>
                <a:latin typeface="Consolas"/>
              </a:rPr>
              <a:t>27</a:t>
            </a:r>
          </a:p>
          <a:p>
            <a:pPr algn="r">
              <a:lnSpc>
                <a:spcPct val="100000"/>
              </a:lnSpc>
            </a:pPr>
            <a:r>
              <a:rPr sz="1800">
                <a:solidFill>
                  <a:srgbClr val="4F5D6A"/>
                </a:solidFill>
                <a:latin typeface="Consolas"/>
              </a:rPr>
              <a:t>28</a:t>
            </a:r>
          </a:p>
          <a:p>
            <a:pPr algn="r">
              <a:lnSpc>
                <a:spcPct val="100000"/>
              </a:lnSpc>
            </a:pPr>
            <a:r>
              <a:rPr sz="1800">
                <a:solidFill>
                  <a:srgbClr val="4F5D6A"/>
                </a:solidFill>
                <a:latin typeface="Consolas"/>
              </a:rPr>
              <a:t>29</a:t>
            </a:r>
          </a:p>
          <a:p>
            <a:pPr algn="r">
              <a:lnSpc>
                <a:spcPct val="100000"/>
              </a:lnSpc>
            </a:pPr>
            <a:r>
              <a:rPr sz="1800">
                <a:solidFill>
                  <a:srgbClr val="4F5D6A"/>
                </a:solidFill>
                <a:latin typeface="Consolas"/>
              </a:rPr>
              <a:t>30</a:t>
            </a:r>
          </a:p>
          <a:p>
            <a:pPr algn="r">
              <a:lnSpc>
                <a:spcPct val="100000"/>
              </a:lnSpc>
            </a:pPr>
            <a:r>
              <a:rPr sz="1800">
                <a:solidFill>
                  <a:srgbClr val="4F5D6A"/>
                </a:solidFill>
                <a:latin typeface="Consolas"/>
              </a:rPr>
              <a:t>31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5525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Auditing a Model for Fairness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§21.6  ·  Handout p. 165     </a:t>
            </a:r>
            <a:fld id="{73C1CB11-EE25-491A-875D-4A2681DE0566}"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model, group column excluded (it was never a feature)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00784"/>
          </a:xfrm>
          <a:prstGeom prst="roundRect">
            <a:avLst>
              <a:gd name="adj" fmla="val 53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code/ch21_auditing_model.py</a:t>
            </a:r>
          </a:p>
        </p:txBody>
      </p:sp>
      <p:sp>
        <p:nvSpPr>
          <p:cNvPr id="14" name="!!code-text" descr="# --- 1. the model, group column excluded (it was never a feature) -------- model = LogisticRegression().fit(X_tr, y_tr) p = model.predict_proba(X_te)[:, 1] report(&quot;threshold 0.5 for everyone:&quot;, (p &gt; 0.5).astype(int))"/>
          <p:cNvSpPr txBox="1"/>
          <p:nvPr/>
        </p:nvSpPr>
        <p:spPr>
          <a:xfrm>
            <a:off x="1362456" y="2523744"/>
            <a:ext cx="9987991" cy="120700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the model, group column excluded (it was never a feature) --------</a:t>
            </a:r>
          </a:p>
          <a:p>
            <a:pPr>
              <a:lnSpc>
                <a:spcPct val="100000"/>
              </a:lnSpc>
              <a:spcAft>
                <a:spcPts val="0"/>
              </a:spcAft>
            </a:pPr>
            <a:r>
              <a:rPr sz="1800" i="0">
                <a:solidFill>
                  <a:srgbClr val="E8EDF2"/>
                </a:solidFill>
                <a:latin typeface="Consolas"/>
              </a:rPr>
              <a:t>model</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LogisticRegression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p>
          <a:p>
            <a:pPr>
              <a:lnSpc>
                <a:spcPct val="100000"/>
              </a:lnSpc>
              <a:spcAft>
                <a:spcPts val="0"/>
              </a:spcAft>
            </a:pPr>
            <a:r>
              <a:rPr sz="1800" i="0">
                <a:solidFill>
                  <a:srgbClr val="E8EDF2"/>
                </a:solidFill>
                <a:latin typeface="Consolas"/>
              </a:rPr>
              <a:t>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model</a:t>
            </a:r>
            <a:r>
              <a:rPr sz="1800" i="0">
                <a:solidFill>
                  <a:srgbClr val="AEB6BF"/>
                </a:solidFill>
                <a:latin typeface="Consolas"/>
              </a:rPr>
              <a:t>.</a:t>
            </a:r>
            <a:r>
              <a:rPr sz="1800" i="0">
                <a:solidFill>
                  <a:srgbClr val="E8EDF2"/>
                </a:solidFill>
                <a:latin typeface="Consolas"/>
              </a:rPr>
              <a:t>predict_proba</a:t>
            </a:r>
            <a:r>
              <a:rPr sz="1800" i="0">
                <a:solidFill>
                  <a:srgbClr val="AEB6BF"/>
                </a:solidFill>
                <a:latin typeface="Consolas"/>
              </a:rPr>
              <a:t>(</a:t>
            </a:r>
            <a:r>
              <a:rPr sz="1800" i="0">
                <a:solidFill>
                  <a:srgbClr val="E8EDF2"/>
                </a:solidFill>
                <a:latin typeface="Consolas"/>
              </a:rPr>
              <a:t>X_te</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p>
          <a:p>
            <a:pPr>
              <a:lnSpc>
                <a:spcPct val="100000"/>
              </a:lnSpc>
              <a:spcAft>
                <a:spcPts val="0"/>
              </a:spcAft>
            </a:pPr>
            <a:r>
              <a:rPr sz="1800" i="0">
                <a:solidFill>
                  <a:srgbClr val="E8EDF2"/>
                </a:solidFill>
                <a:latin typeface="Consolas"/>
              </a:rPr>
              <a:t>report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threshold 0.5 for everyone: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p</a:t>
            </a:r>
            <a:r>
              <a:rPr sz="1800" i="0">
                <a:solidFill>
                  <a:srgbClr val="E8EDF2"/>
                </a:solidFill>
                <a:latin typeface="Consolas"/>
              </a:rPr>
              <a:t> </a:t>
            </a:r>
            <a:r>
              <a:rPr sz="1800" i="0">
                <a:solidFill>
                  <a:srgbClr val="AEB6BF"/>
                </a:solidFill>
                <a:latin typeface="Consolas"/>
              </a:rPr>
              <a:t>&gt;</a:t>
            </a:r>
            <a:r>
              <a:rPr sz="1800" i="0">
                <a:solidFill>
                  <a:srgbClr val="E8EDF2"/>
                </a:solidFill>
                <a:latin typeface="Consolas"/>
              </a:rPr>
              <a:t> </a:t>
            </a:r>
            <a:r>
              <a:rPr sz="1800" i="0">
                <a:solidFill>
                  <a:srgbClr val="F7DC6F"/>
                </a:solidFill>
                <a:latin typeface="Consolas"/>
              </a:rPr>
              <a:t>0.5</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astype</a:t>
            </a:r>
            <a:r>
              <a:rPr sz="1800" i="0">
                <a:solidFill>
                  <a:srgbClr val="AEB6BF"/>
                </a:solidFill>
                <a:latin typeface="Consolas"/>
              </a:rPr>
              <a:t>(</a:t>
            </a:r>
            <a:r>
              <a:rPr sz="1800" i="0">
                <a:solidFill>
                  <a:srgbClr val="C39BD3"/>
                </a:solidFill>
                <a:latin typeface="Consolas"/>
              </a:rPr>
              <a:t>int</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120700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34</a:t>
            </a:r>
          </a:p>
          <a:p>
            <a:pPr algn="r">
              <a:lnSpc>
                <a:spcPct val="100000"/>
              </a:lnSpc>
            </a:pPr>
            <a:r>
              <a:rPr sz="1800">
                <a:solidFill>
                  <a:srgbClr val="4F5D6A"/>
                </a:solidFill>
                <a:latin typeface="Consolas"/>
              </a:rPr>
              <a:t>35</a:t>
            </a:r>
          </a:p>
          <a:p>
            <a:pPr algn="r">
              <a:lnSpc>
                <a:spcPct val="100000"/>
              </a:lnSpc>
            </a:pPr>
            <a:r>
              <a:rPr sz="1800">
                <a:solidFill>
                  <a:srgbClr val="4F5D6A"/>
                </a:solidFill>
                <a:latin typeface="Consolas"/>
              </a:rPr>
              <a:t>36</a:t>
            </a:r>
          </a:p>
          <a:p>
            <a:pPr algn="r">
              <a:lnSpc>
                <a:spcPct val="100000"/>
              </a:lnSpc>
            </a:pPr>
            <a:r>
              <a:rPr sz="1800">
                <a:solidFill>
                  <a:srgbClr val="4F5D6A"/>
                </a:solidFill>
                <a:latin typeface="Consolas"/>
              </a:rPr>
              <a:t>37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3877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Auditing a Model for Fairness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§21.6  ·  Handout p. 165     </a:t>
            </a:r>
            <a:fld id="{0CAB4E2A-5F15-400D-9DAA-11023B2B4CF8}"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Removing the group column does not remove the group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26463"/>
          </a:xfrm>
          <a:prstGeom prst="roundRect">
            <a:avLst>
              <a:gd name="adj" fmla="val 641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code/ch21_auditing_model.py</a:t>
            </a:r>
          </a:p>
        </p:txBody>
      </p:sp>
      <p:sp>
        <p:nvSpPr>
          <p:cNvPr id="14" name="!!code-text" descr="# --- 2. removing the group column does not remove the group -------------- acc = cross_val_score(LogisticRegression(), X, group, cv=5).mean() print(f&quot;the features recover group membership with accuracy {acc:.2f}&quot;)"/>
          <p:cNvSpPr txBox="1"/>
          <p:nvPr/>
        </p:nvSpPr>
        <p:spPr>
          <a:xfrm>
            <a:off x="1362456" y="2523744"/>
            <a:ext cx="9987991" cy="9326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removing the group column does not remove the group --------------</a:t>
            </a:r>
          </a:p>
          <a:p>
            <a:pPr>
              <a:lnSpc>
                <a:spcPct val="100000"/>
              </a:lnSpc>
              <a:spcAft>
                <a:spcPts val="0"/>
              </a:spcAft>
            </a:pPr>
            <a:r>
              <a:rPr sz="1800" i="0">
                <a:solidFill>
                  <a:srgbClr val="E8EDF2"/>
                </a:solidFill>
                <a:latin typeface="Consolas"/>
              </a:rPr>
              <a:t>acc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cross_val_score</a:t>
            </a:r>
            <a:r>
              <a:rPr sz="1800" i="0">
                <a:solidFill>
                  <a:srgbClr val="AEB6BF"/>
                </a:solidFill>
                <a:latin typeface="Consolas"/>
              </a:rPr>
              <a:t>(</a:t>
            </a:r>
            <a:r>
              <a:rPr sz="1800" i="0">
                <a:solidFill>
                  <a:srgbClr val="E8EDF2"/>
                </a:solidFill>
                <a:latin typeface="Consolas"/>
              </a:rPr>
              <a:t>LogisticRegression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group</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cv</a:t>
            </a:r>
            <a:r>
              <a:rPr sz="1800" i="0">
                <a:solidFill>
                  <a:srgbClr val="AEB6BF"/>
                </a:solidFill>
                <a:latin typeface="Consolas"/>
              </a:rPr>
              <a:t>=</a:t>
            </a:r>
            <a:r>
              <a:rPr sz="1800" i="0">
                <a:solidFill>
                  <a:srgbClr val="F7DC6F"/>
                </a:solidFill>
                <a:latin typeface="Consolas"/>
              </a:rPr>
              <a:t>5</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the features recover group membership with accuracy </a:t>
            </a:r>
            <a:r>
              <a:rPr sz="1800" i="0">
                <a:solidFill>
                  <a:srgbClr val="7DCEA0"/>
                </a:solidFill>
                <a:latin typeface="Consolas"/>
              </a:rPr>
              <a:t>{</a:t>
            </a:r>
            <a:r>
              <a:rPr sz="1800" i="0">
                <a:solidFill>
                  <a:srgbClr val="E8EDF2"/>
                </a:solidFill>
                <a:latin typeface="Consolas"/>
              </a:rPr>
              <a:t>acc</a:t>
            </a:r>
            <a:r>
              <a:rPr sz="1800" i="0">
                <a:solidFill>
                  <a:srgbClr val="7DCEA0"/>
                </a:solidFill>
                <a:latin typeface="Consolas"/>
              </a:rPr>
              <a:t>:</a:t>
            </a:r>
            <a:r>
              <a:rPr sz="1800" i="0">
                <a:solidFill>
                  <a:srgbClr val="7DCEA0"/>
                </a:solidFill>
                <a:latin typeface="Consolas"/>
              </a:rPr>
              <a:t>.2f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9326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39</a:t>
            </a:r>
          </a:p>
          <a:p>
            <a:pPr algn="r">
              <a:lnSpc>
                <a:spcPct val="100000"/>
              </a:lnSpc>
            </a:pPr>
            <a:r>
              <a:rPr sz="1800">
                <a:solidFill>
                  <a:srgbClr val="4F5D6A"/>
                </a:solidFill>
                <a:latin typeface="Consolas"/>
              </a:rPr>
              <a:t>40</a:t>
            </a:r>
          </a:p>
          <a:p>
            <a:pPr algn="r">
              <a:lnSpc>
                <a:spcPct val="100000"/>
              </a:lnSpc>
            </a:pPr>
            <a:r>
              <a:rPr sz="1800">
                <a:solidFill>
                  <a:srgbClr val="4F5D6A"/>
                </a:solidFill>
                <a:latin typeface="Consolas"/>
              </a:rPr>
              <a:t>41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2230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Auditing a Model for Fairness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§21.6  ·  Handout p. 165     </a:t>
            </a:r>
            <a:fld id="{E7E1E649-E7E4-4C87-97D0-6A125E46E572}"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Equalise the true positive rate with a group-specific threshold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523744"/>
          </a:xfrm>
          <a:prstGeom prst="roundRect">
            <a:avLst>
              <a:gd name="adj" fmla="val 362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code/ch21_auditing_model.py</a:t>
            </a:r>
          </a:p>
        </p:txBody>
      </p:sp>
      <p:sp>
        <p:nvSpPr>
          <p:cNvPr id="14" name="!!code-text" descr="# --- 3. equalise the true positive rate with a group-specific threshold -- t_b = 0.5 tpr_a = (p[(g_te == 0) &amp; (y_te == 1)] &gt; 0.5).mean() while (p[(g_te == 1) &amp; (y_te == 1)] &gt; t_b).mean() &lt; tpr_a: t_b -= 0.01 pred = np.where(g_te == 1, p &gt; t_b, p &gt; 0.5).astype(int) report(f&quot;threshold 0.5 for A, {t_b:.2f} for B (equal opportunity):&quot;, pred)"/>
          <p:cNvSpPr txBox="1"/>
          <p:nvPr/>
        </p:nvSpPr>
        <p:spPr>
          <a:xfrm>
            <a:off x="1362456" y="2523744"/>
            <a:ext cx="9987991" cy="20299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equalise the true positive rate with a group-specific threshold --</a:t>
            </a:r>
          </a:p>
          <a:p>
            <a:pPr>
              <a:lnSpc>
                <a:spcPct val="100000"/>
              </a:lnSpc>
              <a:spcAft>
                <a:spcPts val="0"/>
              </a:spcAft>
            </a:pPr>
            <a:r>
              <a:rPr sz="1800" i="0">
                <a:solidFill>
                  <a:srgbClr val="E8EDF2"/>
                </a:solidFill>
                <a:latin typeface="Consolas"/>
              </a:rPr>
              <a:t>t_b</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0.5</a:t>
            </a:r>
          </a:p>
          <a:p>
            <a:pPr>
              <a:lnSpc>
                <a:spcPct val="100000"/>
              </a:lnSpc>
              <a:spcAft>
                <a:spcPts val="0"/>
              </a:spcAft>
            </a:pPr>
            <a:r>
              <a:rPr sz="1800" i="0">
                <a:solidFill>
                  <a:srgbClr val="E8EDF2"/>
                </a:solidFill>
                <a:latin typeface="Consolas"/>
              </a:rPr>
              <a:t>tpr_a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p</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g_te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&amp;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y_te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&gt;</a:t>
            </a:r>
            <a:r>
              <a:rPr sz="1800" i="0">
                <a:solidFill>
                  <a:srgbClr val="E8EDF2"/>
                </a:solidFill>
                <a:latin typeface="Consolas"/>
              </a:rPr>
              <a:t> </a:t>
            </a:r>
            <a:r>
              <a:rPr sz="1800" i="0">
                <a:solidFill>
                  <a:srgbClr val="F7DC6F"/>
                </a:solidFill>
                <a:latin typeface="Consolas"/>
              </a:rPr>
              <a:t>0.5</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5DADE2"/>
                </a:solidFill>
                <a:latin typeface="Consolas"/>
              </a:rPr>
              <a:t>while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p</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g_te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&amp;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y_te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&gt;</a:t>
            </a:r>
            <a:r>
              <a:rPr sz="1800" i="0">
                <a:solidFill>
                  <a:srgbClr val="E8EDF2"/>
                </a:solidFill>
                <a:latin typeface="Consolas"/>
              </a:rPr>
              <a:t> </a:t>
            </a:r>
            <a:r>
              <a:rPr sz="1800" i="0">
                <a:solidFill>
                  <a:srgbClr val="E8EDF2"/>
                </a:solidFill>
                <a:latin typeface="Consolas"/>
              </a:rPr>
              <a:t>t_b</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E8EDF2"/>
                </a:solidFill>
                <a:latin typeface="Consolas"/>
              </a:rPr>
              <a:t>tpr_a</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t_b</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0.01</a:t>
            </a:r>
          </a:p>
          <a:p>
            <a:pPr>
              <a:lnSpc>
                <a:spcPct val="100000"/>
              </a:lnSpc>
              <a:spcAft>
                <a:spcPts val="0"/>
              </a:spcAft>
            </a:pPr>
            <a:r>
              <a:rPr sz="1800" i="0">
                <a:solidFill>
                  <a:srgbClr val="E8EDF2"/>
                </a:solidFill>
                <a:latin typeface="Consolas"/>
              </a:rPr>
              <a:t>pred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where</a:t>
            </a:r>
            <a:r>
              <a:rPr sz="1800" i="0">
                <a:solidFill>
                  <a:srgbClr val="AEB6BF"/>
                </a:solidFill>
                <a:latin typeface="Consolas"/>
              </a:rPr>
              <a:t>(</a:t>
            </a:r>
            <a:r>
              <a:rPr sz="1800" i="0">
                <a:solidFill>
                  <a:srgbClr val="E8EDF2"/>
                </a:solidFill>
                <a:latin typeface="Consolas"/>
              </a:rPr>
              <a:t>g_te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a:t>
            </a:r>
            <a:r>
              <a:rPr sz="1800" i="0">
                <a:solidFill>
                  <a:srgbClr val="E8EDF2"/>
                </a:solidFill>
                <a:latin typeface="Consolas"/>
              </a:rPr>
              <a:t> </a:t>
            </a:r>
            <a:r>
              <a:rPr sz="1800" i="0">
                <a:solidFill>
                  <a:srgbClr val="AEB6BF"/>
                </a:solidFill>
                <a:latin typeface="Consolas"/>
              </a:rPr>
              <a:t>&gt;</a:t>
            </a:r>
            <a:r>
              <a:rPr sz="1800" i="0">
                <a:solidFill>
                  <a:srgbClr val="E8EDF2"/>
                </a:solidFill>
                <a:latin typeface="Consolas"/>
              </a:rPr>
              <a:t> </a:t>
            </a:r>
            <a:r>
              <a:rPr sz="1800" i="0">
                <a:solidFill>
                  <a:srgbClr val="E8EDF2"/>
                </a:solidFill>
                <a:latin typeface="Consolas"/>
              </a:rPr>
              <a:t>t_b</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a:t>
            </a:r>
            <a:r>
              <a:rPr sz="1800" i="0">
                <a:solidFill>
                  <a:srgbClr val="E8EDF2"/>
                </a:solidFill>
                <a:latin typeface="Consolas"/>
              </a:rPr>
              <a:t> </a:t>
            </a:r>
            <a:r>
              <a:rPr sz="1800" i="0">
                <a:solidFill>
                  <a:srgbClr val="AEB6BF"/>
                </a:solidFill>
                <a:latin typeface="Consolas"/>
              </a:rPr>
              <a:t>&gt;</a:t>
            </a:r>
            <a:r>
              <a:rPr sz="1800" i="0">
                <a:solidFill>
                  <a:srgbClr val="E8EDF2"/>
                </a:solidFill>
                <a:latin typeface="Consolas"/>
              </a:rPr>
              <a:t> </a:t>
            </a:r>
            <a:r>
              <a:rPr sz="1800" i="0">
                <a:solidFill>
                  <a:srgbClr val="F7DC6F"/>
                </a:solidFill>
                <a:latin typeface="Consolas"/>
              </a:rPr>
              <a:t>0.5</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astype</a:t>
            </a:r>
            <a:r>
              <a:rPr sz="1800" i="0">
                <a:solidFill>
                  <a:srgbClr val="AEB6BF"/>
                </a:solidFill>
                <a:latin typeface="Consolas"/>
              </a:rPr>
              <a:t>(</a:t>
            </a:r>
            <a:r>
              <a:rPr sz="1800" i="0">
                <a:solidFill>
                  <a:srgbClr val="C39BD3"/>
                </a:solidFill>
                <a:latin typeface="Consolas"/>
              </a:rPr>
              <a:t>int</a:t>
            </a:r>
            <a:r>
              <a:rPr sz="1800" i="0">
                <a:solidFill>
                  <a:srgbClr val="AEB6BF"/>
                </a:solidFill>
                <a:latin typeface="Consolas"/>
              </a:rPr>
              <a:t>)</a:t>
            </a:r>
          </a:p>
          <a:p>
            <a:pPr>
              <a:lnSpc>
                <a:spcPct val="100000"/>
              </a:lnSpc>
              <a:spcAft>
                <a:spcPts val="0"/>
              </a:spcAft>
            </a:pPr>
            <a:r>
              <a:rPr sz="1800" i="0">
                <a:solidFill>
                  <a:srgbClr val="E8EDF2"/>
                </a:solidFill>
                <a:latin typeface="Consolas"/>
              </a:rPr>
              <a:t>report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threshold 0.5 for A, </a:t>
            </a:r>
            <a:r>
              <a:rPr sz="1800" i="0">
                <a:solidFill>
                  <a:srgbClr val="7DCEA0"/>
                </a:solidFill>
                <a:latin typeface="Consolas"/>
              </a:rPr>
              <a:t>{</a:t>
            </a:r>
            <a:r>
              <a:rPr sz="1800" i="0">
                <a:solidFill>
                  <a:srgbClr val="E8EDF2"/>
                </a:solidFill>
                <a:latin typeface="Consolas"/>
              </a:rPr>
              <a:t>t_b</a:t>
            </a:r>
            <a:r>
              <a:rPr sz="1800" i="0">
                <a:solidFill>
                  <a:srgbClr val="7DCEA0"/>
                </a:solidFill>
                <a:latin typeface="Consolas"/>
              </a:rPr>
              <a:t>:</a:t>
            </a:r>
            <a:r>
              <a:rPr sz="1800" i="0">
                <a:solidFill>
                  <a:srgbClr val="7DCEA0"/>
                </a:solidFill>
                <a:latin typeface="Consolas"/>
              </a:rPr>
              <a:t>.2f</a:t>
            </a:r>
            <a:r>
              <a:rPr sz="1800" i="0">
                <a:solidFill>
                  <a:srgbClr val="7DCEA0"/>
                </a:solidFill>
                <a:latin typeface="Consolas"/>
              </a:rPr>
              <a:t>}</a:t>
            </a:r>
            <a:r>
              <a:rPr sz="1800" i="0">
                <a:solidFill>
                  <a:srgbClr val="7DCEA0"/>
                </a:solidFill>
                <a:latin typeface="Consolas"/>
              </a:rPr>
              <a:t> for B (equal opportunity):</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pred</a:t>
            </a:r>
            <a:r>
              <a:rPr sz="1800" i="0">
                <a:solidFill>
                  <a:srgbClr val="AEB6BF"/>
                </a:solidFill>
                <a:latin typeface="Consolas"/>
              </a:rPr>
              <a:t>)</a:t>
            </a:r>
          </a:p>
        </p:txBody>
      </p:sp>
      <p:sp>
        <p:nvSpPr>
          <p:cNvPr id="15" name="!!code-num"/>
          <p:cNvSpPr txBox="1"/>
          <p:nvPr/>
        </p:nvSpPr>
        <p:spPr>
          <a:xfrm>
            <a:off x="768096" y="2523744"/>
            <a:ext cx="393192" cy="20299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43</a:t>
            </a:r>
          </a:p>
          <a:p>
            <a:pPr algn="r">
              <a:lnSpc>
                <a:spcPct val="100000"/>
              </a:lnSpc>
            </a:pPr>
            <a:r>
              <a:rPr sz="1800">
                <a:solidFill>
                  <a:srgbClr val="4F5D6A"/>
                </a:solidFill>
                <a:latin typeface="Consolas"/>
              </a:rPr>
              <a:t>44</a:t>
            </a:r>
          </a:p>
          <a:p>
            <a:pPr algn="r">
              <a:lnSpc>
                <a:spcPct val="100000"/>
              </a:lnSpc>
            </a:pPr>
            <a:r>
              <a:rPr sz="1800">
                <a:solidFill>
                  <a:srgbClr val="4F5D6A"/>
                </a:solidFill>
                <a:latin typeface="Consolas"/>
              </a:rPr>
              <a:t>45</a:t>
            </a:r>
          </a:p>
          <a:p>
            <a:pPr algn="r">
              <a:lnSpc>
                <a:spcPct val="100000"/>
              </a:lnSpc>
            </a:pPr>
            <a:r>
              <a:rPr sz="1800">
                <a:solidFill>
                  <a:srgbClr val="4F5D6A"/>
                </a:solidFill>
                <a:latin typeface="Consolas"/>
              </a:rPr>
              <a:t>46</a:t>
            </a:r>
          </a:p>
          <a:p>
            <a:pPr algn="r">
              <a:lnSpc>
                <a:spcPct val="100000"/>
              </a:lnSpc>
            </a:pPr>
            <a:r>
              <a:rPr sz="1800">
                <a:solidFill>
                  <a:srgbClr val="4F5D6A"/>
                </a:solidFill>
                <a:latin typeface="Consolas"/>
              </a:rPr>
              <a:t>47</a:t>
            </a:r>
          </a:p>
          <a:p>
            <a:pPr algn="r">
              <a:lnSpc>
                <a:spcPct val="100000"/>
              </a:lnSpc>
            </a:pPr>
            <a:r>
              <a:rPr sz="1800">
                <a:solidFill>
                  <a:srgbClr val="4F5D6A"/>
                </a:solidFill>
                <a:latin typeface="Consolas"/>
              </a:rPr>
              <a:t>48</a:t>
            </a:r>
          </a:p>
          <a:p>
            <a:pPr algn="r">
              <a:lnSpc>
                <a:spcPct val="100000"/>
              </a:lnSpc>
            </a:pPr>
            <a:r>
              <a:rPr sz="1800">
                <a:solidFill>
                  <a:srgbClr val="4F5D6A"/>
                </a:solidFill>
                <a:latin typeface="Consolas"/>
              </a:rPr>
              <a:t>49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0583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§21.6  ·  Handout p. 165     </a:t>
            </a:r>
            <a:fld id="{43A44804-030C-49B1-A999-F36E42A55A4D}" type="slidenum">
              <a:rPr lang="en-GB" sz="1000">
                <a:solidFill>
                  <a:srgbClr val="8795A1"/>
                </a:solidFill>
                <a:latin typeface="Segoe UI"/>
              </a:rPr>
              <a:t>31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Equalising the TPR costs group B precision and raises its false positive rate — the impossibility result in action. Write two sentences, as if for the admissions committee, explaining the trade-off you would recommend.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78936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hiring model selects 45% of one group and 30% of another. Does it pass the four-fifths rule?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21  ·  Responsible and Ethical Machine Learning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168  ·  answers in Appendix D     </a:t>
            </a:r>
            <a:fld id="{B9838D74-EE84-43D4-B07B-D56B01569422}" type="slidenum">
              <a:rPr lang="en-GB" sz="1000">
                <a:solidFill>
                  <a:srgbClr val="D5DEE5"/>
                </a:solidFill>
                <a:latin typeface="Segoe UI"/>
              </a:rPr>
              <a:t>32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hiring model selects 45% of one group and 30% of another. Does it pass the four-fifths rule?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30/45 = 0.67 &lt; 0.8</a:t>
            </a:r>
            <a:r>
              <a:rPr sz="2200" b="0" i="0">
                <a:solidFill>
                  <a:srgbClr val="1C252B"/>
                </a:solidFill>
                <a:latin typeface="Segoe UI"/>
              </a:rPr>
              <a:t>: it fails the four-fifths rule.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168  ·  answers in Appendix D     </a:t>
            </a:r>
            <a:fld id="{392C9DFA-4038-4826-9049-6CE37EA5E58E}" type="slidenum">
              <a:rPr lang="en-GB" sz="1000">
                <a:solidFill>
                  <a:srgbClr val="8795A1"/>
                </a:solidFill>
                <a:latin typeface="Segoe UI"/>
              </a:rPr>
              <a:t>33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35641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does removing a protected attribute from the features not guarantee a fair model?</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21  ·  Responsible and Ethical Machine Learning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168  ·  answers in Appendix D     </a:t>
            </a:r>
            <a:fld id="{474C0F5E-52EB-4E6D-BEAA-6B5949B48D6D}"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does removing a protected attribute from the features not guarantee a fair model?</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Other features act as proxies and let the model reconstruct the attribute, and the labels themselves may encode past unfairness.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168  ·  answers in Appendix D     </a:t>
            </a:r>
            <a:fld id="{F9645BC5-8BE2-4548-A28A-8C058B6FAF9D}"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92347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Which fairness criterion protects qualified applicants from being rejected, and which confusion-matrix quantity does it compare?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21  ·  Responsible and Ethical Machine Learning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168  ·  answers in Appendix D     </a:t>
            </a:r>
            <a:fld id="{EBDDB34E-A0DD-4096-9295-B88C31F5AF2D}"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Which fairness criterion protects qualified applicants from being rejected, and which confusion-matrix quantity does it compare?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Equal opportunity; it compares true positive rates (recall) across groups.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168  ·  answers in Appendix D     </a:t>
            </a:r>
            <a:fld id="{87204723-20EA-40A1-9F50-432C49A304E9}"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49052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168     </a:t>
            </a:r>
            <a:fld id="{425FC063-4CFF-4273-9620-F18C00072D84}" type="slidenum">
              <a:rPr lang="en-GB" sz="1000">
                <a:solidFill>
                  <a:srgbClr val="8795A1"/>
                </a:solidFill>
                <a:latin typeface="Segoe UI"/>
              </a:rPr>
              <a:t>38</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Bias enters through history, representation, measurement, aggregation and use, and feedback loops can amplify it; proxies reintroduce removed attributes.</a:t>
            </a:r>
          </a:p>
        </p:txBody>
      </p:sp>
      <p:sp>
        <p:nvSpPr>
          <p:cNvPr id="10" name="!!sb1">
            <a:extLst>
              <a:ext uri="{C183D7F6-B498-43B3-948B-1728B52AA6E4}">
                <adec:decorative xmlns:adec="http://schemas.microsoft.com/office/drawing/2017/decorative" val="1"/>
              </a:ext>
            </a:extLst>
          </p:cNvPr>
          <p:cNvSpPr/>
          <p:nvPr/>
        </p:nvSpPr>
        <p:spPr>
          <a:xfrm>
            <a:off x="658368" y="25950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499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85923"/>
            <a:ext cx="10234879" cy="99852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Group fairness compares confusion-matrix rates across groups: selection (demographic parity), TPR (equal opportunity), TPR and FPR (equalised odds), precision (predictive parity).</a:t>
            </a:r>
          </a:p>
        </p:txBody>
      </p:sp>
      <p:sp>
        <p:nvSpPr>
          <p:cNvPr id="13" name="!!sb2">
            <a:extLst>
              <a:ext uri="{C183D7F6-B498-43B3-948B-1728B52AA6E4}">
                <adec:decorative xmlns:adec="http://schemas.microsoft.com/office/drawing/2017/decorative" val="1"/>
              </a:ext>
            </a:extLst>
          </p:cNvPr>
          <p:cNvSpPr/>
          <p:nvPr/>
        </p:nvSpPr>
        <p:spPr>
          <a:xfrm>
            <a:off x="658368" y="377647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83133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767327"/>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With different base rates these criteria conflict; choosing one is a decision to be justified, not computed.</a:t>
            </a:r>
          </a:p>
        </p:txBody>
      </p:sp>
      <p:sp>
        <p:nvSpPr>
          <p:cNvPr id="16" name="!!sb3">
            <a:extLst>
              <a:ext uri="{C183D7F6-B498-43B3-948B-1728B52AA6E4}">
                <adec:decorative xmlns:adec="http://schemas.microsoft.com/office/drawing/2017/decorative" val="1"/>
              </a:ext>
            </a:extLst>
          </p:cNvPr>
          <p:cNvSpPr/>
          <p:nvPr/>
        </p:nvSpPr>
        <p:spPr>
          <a:xfrm>
            <a:off x="658368" y="462503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67989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615891"/>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Protect privacy by minimising and aggregating data; explain models at the right level; keep a human accountable and a route to contest.</a:t>
            </a:r>
          </a:p>
        </p:txBody>
      </p:sp>
      <p:sp>
        <p:nvSpPr>
          <p:cNvPr id="19" name="!!sb4">
            <a:extLst>
              <a:ext uri="{C183D7F6-B498-43B3-948B-1728B52AA6E4}">
                <adec:decorative xmlns:adec="http://schemas.microsoft.com/office/drawing/2017/decorative" val="1"/>
              </a:ext>
            </a:extLst>
          </p:cNvPr>
          <p:cNvSpPr/>
          <p:nvPr/>
        </p:nvSpPr>
        <p:spPr>
          <a:xfrm>
            <a:off x="658368" y="547359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552846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5464454"/>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Document every deployed model with a model card, including per-group performance, and test it against people with a reason to fool it.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77405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168     </a:t>
            </a:r>
            <a:fld id="{EB61A73B-8636-4B67-BD92-936E7E4FB09D}" type="slidenum">
              <a:rPr lang="en-GB" sz="1000">
                <a:solidFill>
                  <a:srgbClr val="8795A1"/>
                </a:solidFill>
                <a:latin typeface="Segoe UI"/>
              </a:rPr>
              <a:t>39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Equal opportunity requires equal:</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selection rates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true positive rates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precision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accuracy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05758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168     </a:t>
            </a:r>
            <a:fld id="{A123C622-C4C7-4684-9FD7-F611C05415D0}" type="slidenum">
              <a:rPr lang="en-GB" sz="1000">
                <a:solidFill>
                  <a:srgbClr val="8795A1"/>
                </a:solidFill>
                <a:latin typeface="Segoe UI"/>
              </a:rPr>
              <a:t>40</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Using arrest records as the label for “committed a crime” is an example of:</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representation bias</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measurement bias</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feedback loop only</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data poisoning</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4111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168     </a:t>
            </a:r>
            <a:fld id="{D1F565F3-7B20-4A4C-BF2B-B302EE7BC767}" type="slidenum">
              <a:rPr lang="en-GB" sz="1000">
                <a:solidFill>
                  <a:srgbClr val="8795A1"/>
                </a:solidFill>
                <a:latin typeface="Segoe UI"/>
              </a:rPr>
              <a:t>41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selection-rate ratio of 0.42 between two groups: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passes the four-fifths rule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fails it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proves intent to discriminate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says nothing</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2463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21  ·  Responsible and Ethical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168     </a:t>
            </a:r>
            <a:fld id="{17C8D5E4-09BF-4BCE-ABC3-51AFA8C2F678}" type="slidenum">
              <a:rPr lang="en-GB" sz="1000">
                <a:solidFill>
                  <a:srgbClr val="8795A1"/>
                </a:solidFill>
                <a:latin typeface="Segoe UI"/>
              </a:rPr>
              <a:t>42</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a feedback loop with an example from a domain of your choice.</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can equal opportunity and predictive parity not both hold when base rates differ?</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List the sections of a model card and justify one of them.</a:t>
            </a:r>
          </a:p>
        </p:txBody>
      </p:sp>
      <p:sp>
        <p:nvSpPr>
          <p:cNvPr id="16" name="!!rt3">
            <a:extLst>
              <a:ext uri="{C183D7F6-B498-43B3-948B-1728B52AA6E4}">
                <adec:decorative xmlns:adec="http://schemas.microsoft.com/office/drawing/2017/decorative" val="1"/>
              </a:ext>
            </a:extLst>
          </p:cNvPr>
          <p:cNvSpPr/>
          <p:nvPr/>
        </p:nvSpPr>
        <p:spPr>
          <a:xfrm>
            <a:off x="658368" y="331744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35859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299155"/>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For the worked audit, find how many more group-B qualified applicants must be selected to equalise the TPR at 0.80, and compute B’s new selection rate if no additional false positives are admitted.</a:t>
            </a:r>
          </a:p>
        </p:txBody>
      </p:sp>
      <p:sp>
        <p:nvSpPr>
          <p:cNvPr id="19" name="!!rt4">
            <a:extLst>
              <a:ext uri="{C183D7F6-B498-43B3-948B-1728B52AA6E4}">
                <adec:decorative xmlns:adec="http://schemas.microsoft.com/office/drawing/2017/decorative" val="1"/>
              </a:ext>
            </a:extLst>
          </p:cNvPr>
          <p:cNvSpPr/>
          <p:nvPr/>
        </p:nvSpPr>
        <p:spPr>
          <a:xfrm>
            <a:off x="658368" y="4440326"/>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48147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42203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Choose one model from Chapters 5–20 and write its model card for a realistic deployment, using the checklist of this chapter.</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0816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B681A"/>
                </a:solidFill>
                <a:latin typeface="Segoe UI Black"/>
              </a:rPr>
              <a:t>21</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21</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22 — The Machine Learning Project</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21, pages 162–168</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Auditing a model for fairness</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Project report and presentation</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21  ·  Responsible and Ethical Machine Learning</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2C0D0C44-827F-455D-913E-B8FC9AA62705}"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21: Responsible and Ethical Machine Learning</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