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10.svg" ContentType="image/svg+xml"/>
  <Override PartName="/ppt/media/image12.svg" ContentType="image/svg+xml"/>
  <Override PartName="/ppt/media/image14.svg" ContentType="image/svg+xml"/>
  <Override PartName="/ppt/media/image16.svg" ContentType="image/svg+xml"/>
  <Override PartName="/ppt/media/image18.svg" ContentType="image/svg+xml"/>
  <Override PartName="/ppt/media/image19.svg" ContentType="image/svg+xml"/>
  <Override PartName="/ppt/media/image21.svg" ContentType="image/svg+xml"/>
  <Override PartName="/ppt/media/image23.svg" ContentType="image/svg+xml"/>
  <Override PartName="/ppt/media/image25.svg" ContentType="image/svg+xml"/>
  <Override PartName="/ppt/media/image26.svg" ContentType="image/svg+xml"/>
  <Override PartName="/ppt/media/image28.svg" ContentType="image/svg+xml"/>
  <Override PartName="/ppt/media/image30.svg" ContentType="image/svg+xml"/>
  <Override PartName="/ppt/media/image31.svg" ContentType="image/svg+xml"/>
  <Override PartName="/ppt/media/image32.svg" ContentType="image/svg+xml"/>
  <Override PartName="/ppt/media/image34.svg" ContentType="image/svg+xml"/>
  <Override PartName="/ppt/media/image36.svg" ContentType="image/svg+xml"/>
  <Override PartName="/ppt/media/image37.svg" ContentType="image/svg+xml"/>
  <Override PartName="/ppt/media/image38.svg" ContentType="image/svg+xml"/>
  <Override PartName="/ppt/media/image4.svg" ContentType="image/svg+xml"/>
  <Override PartName="/ppt/media/image40.svg" ContentType="image/svg+xml"/>
  <Override PartName="/ppt/media/image42.svg" ContentType="image/svg+xml"/>
  <Override PartName="/ppt/media/image44.svg" ContentType="image/svg+xml"/>
  <Override PartName="/ppt/media/image46.svg" ContentType="image/svg+xml"/>
  <Override PartName="/ppt/media/image48.svg" ContentType="image/svg+xml"/>
  <Override PartName="/ppt/media/image50.svg" ContentType="image/svg+xml"/>
  <Override PartName="/ppt/media/image51.svg" ContentType="image/svg+xml"/>
  <Override PartName="/ppt/media/image52.svg" ContentType="image/svg+xml"/>
  <Override PartName="/ppt/media/image53.svg" ContentType="image/svg+xml"/>
  <Override PartName="/ppt/media/image54.svg" ContentType="image/svg+xml"/>
  <Override PartName="/ppt/media/image55.svg" ContentType="image/svg+xml"/>
  <Override PartName="/ppt/media/image57.svg" ContentType="image/svg+xml"/>
  <Override PartName="/ppt/media/image59.svg" ContentType="image/svg+xml"/>
  <Override PartName="/ppt/media/image6.svg" ContentType="image/svg+xml"/>
  <Override PartName="/ppt/media/image60.svg" ContentType="image/svg+xml"/>
  <Override PartName="/ppt/media/image61.svg" ContentType="image/svg+xml"/>
  <Override PartName="/ppt/media/image62.svg" ContentType="image/svg+xml"/>
  <Override PartName="/ppt/media/image63.svg" ContentType="image/svg+xml"/>
  <Override PartName="/ppt/media/image65.svg" ContentType="image/svg+xml"/>
  <Override PartName="/ppt/media/image67.svg" ContentType="image/svg+xml"/>
  <Override PartName="/ppt/media/image69.svg" ContentType="image/svg+xml"/>
  <Override PartName="/ppt/media/image70.svg" ContentType="image/svg+xml"/>
  <Override PartName="/ppt/media/image71.svg" ContentType="image/svg+xml"/>
  <Override PartName="/ppt/media/image72.svg" ContentType="image/svg+xml"/>
  <Override PartName="/ppt/media/image8.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3D43A638-7824-4EF7-8366-36A900A799F1}">
          <p14:sldIdLst>
            <p14:sldId id="256"/>
            <p14:sldId id="257"/>
            <p14:sldId id="258"/>
            <p14:sldId id="259"/>
            <p14:sldId id="260"/>
          </p14:sldIdLst>
        </p14:section>
        <p14:section name="13.1 From Neurons to Units" id="{BCC3693B-2830-4528-A6FE-39166989B9E9}">
          <p14:sldIdLst>
            <p14:sldId id="261"/>
          </p14:sldIdLst>
        </p14:section>
        <p14:section name="13.2 The Perceptron" id="{5B922CC5-64DC-421C-B26B-47D0D1B5C864}">
          <p14:sldIdLst>
            <p14:sldId id="262"/>
            <p14:sldId id="263"/>
            <p14:sldId id="264"/>
            <p14:sldId id="265"/>
            <p14:sldId id="266"/>
          </p14:sldIdLst>
        </p14:section>
        <p14:section name="13.3 Linear Separability and XOR" id="{96DA29C5-ECD7-4B22-AD10-D19ADD77A659}">
          <p14:sldIdLst>
            <p14:sldId id="267"/>
          </p14:sldIdLst>
        </p14:section>
        <p14:section name="13.4 Gradient Descent and the Delta Rule" id="{C246285F-EFDB-4F23-BE11-6D7DA8081668}">
          <p14:sldIdLst>
            <p14:sldId id="268"/>
          </p14:sldIdLst>
        </p14:section>
        <p14:section name="13.5 Multilayer Networks and Backpropagation" id="{3A7A5502-6E2C-4486-AD94-DB0E36A68A65}">
          <p14:sldIdLst>
            <p14:sldId id="269"/>
            <p14:sldId id="270"/>
            <p14:sldId id="271"/>
            <p14:sldId id="272"/>
            <p14:sldId id="273"/>
            <p14:sldId id="274"/>
          </p14:sldIdLst>
        </p14:section>
        <p14:section name="13.6 Activation Functions and Outputs" id="{E9062251-853D-46F7-9C19-596941B8F332}">
          <p14:sldIdLst>
            <p14:sldId id="275"/>
          </p14:sldIdLst>
        </p14:section>
        <p14:section name="13.7 Training Well: Overfitting and Its Cures" id="{DBF9CBA6-DDA7-4806-AC9C-4D3CFC059A0C}">
          <p14:sldIdLst>
            <p14:sldId id="276"/>
            <p14:sldId id="277"/>
            <p14:sldId id="278"/>
            <p14:sldId id="279"/>
          </p14:sldIdLst>
        </p14:section>
        <p14:section name="Pitfalls" id="{A6135CE4-33ED-4A49-A26A-42939818489B}">
          <p14:sldIdLst>
            <p14:sldId id="280"/>
          </p14:sldIdLst>
        </p14:section>
        <p14:section name="Lab" id="{B9A740C3-DED7-415F-9E13-C4A71A5382AD}">
          <p14:sldIdLst>
            <p14:sldId id="281"/>
            <p14:sldId id="282"/>
            <p14:sldId id="283"/>
            <p14:sldId id="284"/>
            <p14:sldId id="285"/>
            <p14:sldId id="286"/>
          </p14:sldIdLst>
        </p14:section>
        <p14:section name="Checkpoint" id="{01AC6155-5E49-4AF5-8A34-2BFBC7C1B1E6}">
          <p14:sldIdLst>
            <p14:sldId id="287"/>
            <p14:sldId id="288"/>
            <p14:sldId id="289"/>
            <p14:sldId id="290"/>
            <p14:sldId id="291"/>
            <p14:sldId id="292"/>
          </p14:sldIdLst>
        </p14:section>
        <p14:section name="Wrap-up" id="{42C867DF-C4EC-4775-9E3D-367C97309554}">
          <p14:sldIdLst>
            <p14:sldId id="293"/>
            <p14:sldId id="294"/>
            <p14:sldId id="295"/>
            <p14:sldId id="296"/>
            <p14:sldId id="297"/>
            <p14:sldId id="298"/>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Chapter 13: Artificial Neural Networks. Part 3 — Supervised Learning Algorithms. Week 11: Neural networks; the project brief. Handout pages 95–102.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Place the chapter. Before you start: Chapter 2 (the chain rule, gradient descent), Chapter 6 (the sigmoid, the softmax, cross-entropy) and Chapter 7 (overfitting, regularisation).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these out: they are the chapter's contract with the room. Each click adds one.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define these now; they arrive one at a time. This slide is for the students' notes. Terms: artificial neuron; perceptron; threshold unit; perceptron training rule; linear separability; XOR; delta rule; sigmoid unit; multilayer perceptron; hidden layer; forward pass; backpropagation; epoch; activation function; ReLU; early stopping; weight decay; dropout.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route through the chapter. Each row is a link: click it to jump to that section in the slide show.</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this in your own words first; the slide is the handout's wording.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13.1 (handout p. 96): A perceptron: a weighted sum of the inputs, then a threshold. The bias is a weight on a constant input of 1. With the weights shown on the right it computes logical AND.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perceptron draws one straight line. AND and OR can be separated by a line; XOR — true when exactly one input is true — cannot: its two positive points (0,1) and (1,0) sit on one diagonal and its two negatives on the other. No perceptron, however trained, can represent XOR. Minsky and Papert’s 1969 book made this point so forcefully that neural network research stalled for over a decade.</a:t>
            </a:r>
          </a:p>
          <a:p/>
          <a:p>
            <a:r>
              <a:t>Figure 13.2 (handout p. 97): AND and OR are linearly separable; XOR is not. A second layer of units, each drawing its own line, is needed to represent it.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cure is a second layer. XOR is “OR but not AND”: one hidden unit computes OR, another computes NAND (not-AND), and an output unit computes AND of the two. Each unit draws one line; together they carve out the diagonal. This is why networks have hidden layers — and the only problem is how to train them, since the perceptron rule needs a target for every unit and the hidden units have none. The perceptron rule cannot be extended to hidden units because the step function has no useful derivative. The fix is to replace hard thresholds with smooth units and train by gradient descent on an error measure.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a sigmoid unit, o = σ(w·x), the chain rule adds one factor, the derivative of the sigmoid, which has the convenient form σ′(z) = σ(z) (1 − σ(z)) = o(1 − o).</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13.3 (handout p. 98): The network of the worked example, with the unit outputs of the forward pass written in each unit. Errors computed at the output are passed backwards along the same connections to assign blame to the hidden units.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click adds one step of the working. Ask for the next number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Figure 13.4 (handout p. 99): Three activation functions. The sigmoid and tanh flatten out for large |z|, where their gradients vanish; ReLU does not saturate for positive inputs, which is why it trains deep networks faster.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Pause. Name the question this section answers.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Mitchell’s networks use sigmoids throughout. Modern practice differs in two ways. Hidden layers use ReLU, max(0, z): its gradient is 1 for any positive input, so it does not shrink the error signal the way a saturated sigmoid does (the vanishing gradient that made deep sigmoid networks hard to train). And the output layer matches the task: a single sigmoid with cross-entropy for two classes (exactly logistic regression, Chapter 6), a softmax with cross-entropy for several, a linear unit with squared error for regression. A network with enough hidden units can memorise any training set, and it will if allowed to. Figure 13.5 shows the typical course: training error falls steadily, validation error falls for a while and then rises as the network begins fitting the noise.</a:t>
            </a:r>
          </a:p>
          <a:p/>
          <a:p>
            <a:r>
              <a:t>Figure 13.5 (handout p. 99): Training and validation loss of a two-hidden-layer network on data with 20% label noise. Training loss goes to zero; validation loss is lowest after five epochs and rises thereafter. Early stopping keeps the epoch-5 weights.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 not read the table row by row: pick the row the room is most likely to get wrong and ask why.</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each pitfall, ask who has seen it happen. One real story beats five bullets.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what the room will have at the end of the lab, then let them start. Circulate rather than lecture.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1: Set-up.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2: XOR: no perceptron can learn it; a 2-3-1 network can.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3: XOR: no perceptron can learn it; a 2-3-1 network can (continued).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Step 4: Staffing: too few people is late, and so is too many. Read the code aloud; ask what each line would print before running it.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Read the box aloud, then ask for an example from the room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(0, 1): −1 + 0 + 1 = 0, not greater than 0, so output 0. (1, 0): −1 + 2 + 0 = 1 &gt; 0, so output 1.</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XOR’s positive and negative points lie on opposite diagonals; no single line separates them. A hidden layer with one unit for OR and one for NAND, combined by an AND output unit, represents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Do not advance until someone commits to an answer.</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Answer (Appendix D): A hidden unit affects the error only through the output units it feeds, so by the chain rule its share of the blame is the output deltas weighted by its connections to them: δh = oh(1 − oh)Σk wkhδk.</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Ask the room to say each takeaway before you reveal it.</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Take a show of hands for each option before discussing. (The handout does not print MCQ answers.)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Set these for independent study. Model answers are not printed in the handout.</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NEXT: Chapter 14 — Ensemble Learning. READ: Handout Chapter 13, pages 95–102. THIS WEEK'S LAB: Backpropagation from scratch. ASSESSMENT: Project set; proposal due.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457200" rtl="0" eaLnBrk="1" latinLnBrk="0" hangingPunct="1">
        <a:spcBef>
          <a:spcPct val="0"/>
        </a:spcBef>
        <a:buNone/>
        <a:defRPr sz="3000" kern="1200" b="0">
          <a:solidFill>
            <a:srgbClr val="1A5276"/>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png"/><Relationship Id="rId3" Type="http://schemas.openxmlformats.org/officeDocument/2006/relationships/image" Target="../media/image4.sv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png"/><Relationship Id="rId3" Type="http://schemas.openxmlformats.org/officeDocument/2006/relationships/image" Target="../media/image6.sv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7.png"/><Relationship Id="rId3" Type="http://schemas.openxmlformats.org/officeDocument/2006/relationships/image" Target="../media/image8.sv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9.png"/><Relationship Id="rId3" Type="http://schemas.openxmlformats.org/officeDocument/2006/relationships/image" Target="../media/image10.svg"/><Relationship Id="rId4" Type="http://schemas.openxmlformats.org/officeDocument/2006/relationships/notesSlide" Target="../notesSlides/notesSlide5.xml"/><Relationship Id="rId5" Type="http://schemas.openxmlformats.org/officeDocument/2006/relationships/slide" Target="slide6.xml"/><Relationship Id="rId6" Type="http://schemas.openxmlformats.org/officeDocument/2006/relationships/slide" Target="slide7.xml"/><Relationship Id="rId7" Type="http://schemas.openxmlformats.org/officeDocument/2006/relationships/slide" Target="slide12.xml"/><Relationship Id="rId8" Type="http://schemas.openxmlformats.org/officeDocument/2006/relationships/slide" Target="slide13.xml"/><Relationship Id="rId9" Type="http://schemas.openxmlformats.org/officeDocument/2006/relationships/slide" Target="slide14.xml"/><Relationship Id="rId10" Type="http://schemas.openxmlformats.org/officeDocument/2006/relationships/slide" Target="slide20.xml"/><Relationship Id="rId11" Type="http://schemas.openxmlformats.org/officeDocument/2006/relationships/slide" Target="slide2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1.png"/><Relationship Id="rId3" Type="http://schemas.openxmlformats.org/officeDocument/2006/relationships/image" Target="../media/image12.sv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4.svg"/><Relationship Id="rId4" Type="http://schemas.openxmlformats.org/officeDocument/2006/relationships/image" Target="../media/image15.png"/><Relationship Id="rId5" Type="http://schemas.openxmlformats.org/officeDocument/2006/relationships/image" Target="../media/image16.svg"/><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7.png"/><Relationship Id="rId3" Type="http://schemas.openxmlformats.org/officeDocument/2006/relationships/image" Target="../media/image18.sv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19.svg"/><Relationship Id="rId4" Type="http://schemas.openxmlformats.org/officeDocument/2006/relationships/image" Target="../media/image20.png"/><Relationship Id="rId5" Type="http://schemas.openxmlformats.org/officeDocument/2006/relationships/image" Target="../media/image21.sv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23.sv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4.png"/><Relationship Id="rId3" Type="http://schemas.openxmlformats.org/officeDocument/2006/relationships/image" Target="../media/image25.sv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26.svg"/><Relationship Id="rId4" Type="http://schemas.openxmlformats.org/officeDocument/2006/relationships/image" Target="../media/image27.png"/><Relationship Id="rId5" Type="http://schemas.openxmlformats.org/officeDocument/2006/relationships/image" Target="../media/image28.svg"/><Relationship Id="rId6" Type="http://schemas.openxmlformats.org/officeDocument/2006/relationships/image" Target="../media/image29.png"/><Relationship Id="rId7" Type="http://schemas.openxmlformats.org/officeDocument/2006/relationships/image" Target="../media/image30.svg"/><Relationship Id="rId8"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1.sv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3.png"/><Relationship Id="rId3" Type="http://schemas.openxmlformats.org/officeDocument/2006/relationships/image" Target="../media/image32.svg"/><Relationship Id="rId4" Type="http://schemas.openxmlformats.org/officeDocument/2006/relationships/image" Target="../media/image33.png"/><Relationship Id="rId5" Type="http://schemas.openxmlformats.org/officeDocument/2006/relationships/image" Target="../media/image34.svg"/><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5.png"/><Relationship Id="rId3" Type="http://schemas.openxmlformats.org/officeDocument/2006/relationships/image" Target="../media/image36.sv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37.svg"/><Relationship Id="rId4"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22.png"/><Relationship Id="rId3" Type="http://schemas.openxmlformats.org/officeDocument/2006/relationships/image" Target="../media/image38.sv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39.png"/><Relationship Id="rId3" Type="http://schemas.openxmlformats.org/officeDocument/2006/relationships/image" Target="../media/image40.sv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1.png"/><Relationship Id="rId3" Type="http://schemas.openxmlformats.org/officeDocument/2006/relationships/image" Target="../media/image42.sv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3.png"/><Relationship Id="rId3" Type="http://schemas.openxmlformats.org/officeDocument/2006/relationships/image" Target="../media/image44.sv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5.png"/><Relationship Id="rId3" Type="http://schemas.openxmlformats.org/officeDocument/2006/relationships/image" Target="../media/image46.sv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7.png"/><Relationship Id="rId3" Type="http://schemas.openxmlformats.org/officeDocument/2006/relationships/image" Target="../media/image48.svg"/><Relationship Id="rId4"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0.svg"/><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1.sv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2.sv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3.sv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4.sv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49.png"/><Relationship Id="rId3" Type="http://schemas.openxmlformats.org/officeDocument/2006/relationships/image" Target="../media/image55.sv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57.sv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59.sv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0.sv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1.sv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6.png"/><Relationship Id="rId3" Type="http://schemas.openxmlformats.org/officeDocument/2006/relationships/image" Target="../media/image62.sv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58.png"/><Relationship Id="rId3" Type="http://schemas.openxmlformats.org/officeDocument/2006/relationships/image" Target="../media/image63.svg"/><Relationship Id="rId4" Type="http://schemas.openxmlformats.org/officeDocument/2006/relationships/image" Target="../media/image64.png"/><Relationship Id="rId5" Type="http://schemas.openxmlformats.org/officeDocument/2006/relationships/image" Target="../media/image65.svg"/><Relationship Id="rId6"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6.png"/><Relationship Id="rId3" Type="http://schemas.openxmlformats.org/officeDocument/2006/relationships/image" Target="../media/image67.sv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69.sv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0.sv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1.sv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68.png"/><Relationship Id="rId3" Type="http://schemas.openxmlformats.org/officeDocument/2006/relationships/image" Target="../media/image72.svg"/><Relationship Id="rId4"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43.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328756"/>
                </a:solidFill>
                <a:latin typeface="Segoe UI Black"/>
              </a:rPr>
              <a:t>13</a:t>
            </a:r>
          </a:p>
        </p:txBody>
      </p:sp>
      <p:sp>
        <p:nvSpPr>
          <p:cNvPr id="2" name="!!title"/>
          <p:cNvSpPr>
            <a:spLocks noGrp="1"/>
          </p:cNvSpPr>
          <p:nvPr>
            <p:ph type="title"/>
          </p:nvPr>
        </p:nvSpPr>
        <p:spPr>
          <a:xfrm>
            <a:off x="658368" y="2304288"/>
            <a:ext cx="8503920" cy="1920240"/>
          </a:xfrm>
        </p:spPr>
        <p:txBody>
          <a:bodyPr wrap="square" lIns="0" rIns="0" tIns="0" bIns="0" anchor="t">
            <a:noAutofit/>
          </a:bodyPr>
          <a:lstStyle/>
          <a:p>
            <a:pPr algn="l">
              <a:lnSpc>
                <a:spcPct val="96000"/>
              </a:lnSpc>
            </a:pPr>
            <a:r>
              <a:rPr sz="4600" b="0">
                <a:solidFill>
                  <a:srgbClr val="FFFFFF"/>
                </a:solidFill>
                <a:latin typeface="Segoe UI Semibold"/>
              </a:rPr>
              <a:t>Artificial Neural Networks</a:t>
            </a:r>
          </a:p>
        </p:txBody>
      </p:sp>
      <p:sp>
        <p:nvSpPr>
          <p:cNvPr id="4" name="!!tbar">
            <a:extLst>
              <a:ext uri="{C183D7F6-B498-43B3-948B-1728B52AA6E4}">
                <adec:decorative xmlns:adec="http://schemas.microsoft.com/office/drawing/2017/decorative" val="1"/>
              </a:ext>
            </a:extLst>
          </p:cNvPr>
          <p:cNvSpPr/>
          <p:nvPr/>
        </p:nvSpPr>
        <p:spPr>
          <a:xfrm>
            <a:off x="658368" y="129844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tpart"/>
          <p:cNvSpPr txBox="1"/>
          <p:nvPr/>
        </p:nvSpPr>
        <p:spPr>
          <a:xfrm>
            <a:off x="658368" y="1517904"/>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PART III  ·  SUPERVISED LEARNING ALGORITHMS</a:t>
            </a:r>
          </a:p>
        </p:txBody>
      </p:sp>
      <p:sp>
        <p:nvSpPr>
          <p:cNvPr id="6" name="!!tch"/>
          <p:cNvSpPr txBox="1"/>
          <p:nvPr/>
        </p:nvSpPr>
        <p:spPr>
          <a:xfrm>
            <a:off x="658368" y="1865376"/>
            <a:ext cx="8686800" cy="292608"/>
          </a:xfrm>
          <a:prstGeom prst="rect">
            <a:avLst/>
          </a:prstGeom>
          <a:noFill/>
        </p:spPr>
        <p:txBody>
          <a:bodyPr wrap="square" anchor="t" lIns="0" rIns="0" tIns="0" bIns="0">
            <a:noAutofit/>
          </a:bodyPr>
          <a:lstStyle/>
          <a:p>
            <a:pPr algn="l">
              <a:lnSpc>
                <a:spcPct val="100000"/>
              </a:lnSpc>
              <a:spcBef>
                <a:spcPts val="0"/>
              </a:spcBef>
              <a:spcAft>
                <a:spcPts val="0"/>
              </a:spcAft>
            </a:pPr>
            <a:r>
              <a:rPr sz="1300" b="1" i="0" spc="180">
                <a:solidFill>
                  <a:srgbClr val="BFDACA"/>
                </a:solidFill>
                <a:latin typeface="Segoe UI"/>
              </a:rPr>
              <a:t>CHAPTER 13  ·  WEEK 11</a:t>
            </a:r>
          </a:p>
        </p:txBody>
      </p:sp>
      <p:sp>
        <p:nvSpPr>
          <p:cNvPr id="7" name="!!tsub"/>
          <p:cNvSpPr txBox="1"/>
          <p:nvPr/>
        </p:nvSpPr>
        <p:spPr>
          <a:xfrm>
            <a:off x="658368" y="4315968"/>
            <a:ext cx="8503920"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D1E4D9"/>
                </a:solidFill>
                <a:latin typeface="Segoe UI"/>
              </a:rPr>
              <a:t>Machine Learning — From Hypotheses to Decisions</a:t>
            </a:r>
          </a:p>
        </p:txBody>
      </p:sp>
      <p:sp>
        <p:nvSpPr>
          <p:cNvPr id="8" name="!!band">
            <a:extLst>
              <a:ext uri="{C183D7F6-B498-43B3-948B-1728B52AA6E4}">
                <adec:decorative xmlns:adec="http://schemas.microsoft.com/office/drawing/2017/decorative" val="1"/>
              </a:ext>
            </a:extLst>
          </p:cNvPr>
          <p:cNvSpPr/>
          <p:nvPr/>
        </p:nvSpPr>
        <p:spPr>
          <a:xfrm>
            <a:off x="0" y="5285232"/>
            <a:ext cx="12191695" cy="1572767"/>
          </a:xfrm>
          <a:prstGeom prst="rect">
            <a:avLst/>
          </a:prstGeom>
          <a:solidFill>
            <a:srgbClr val="13583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lab"/>
          <p:cNvSpPr txBox="1"/>
          <p:nvPr/>
        </p:nvSpPr>
        <p:spPr>
          <a:xfrm>
            <a:off x="658368" y="5541264"/>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50" b="1" i="0" spc="160">
                <a:solidFill>
                  <a:srgbClr val="A5C0B0"/>
                </a:solidFill>
                <a:latin typeface="Segoe UI"/>
              </a:rPr>
              <a:t>LECTURER</a:t>
            </a:r>
          </a:p>
        </p:txBody>
      </p:sp>
      <p:sp>
        <p:nvSpPr>
          <p:cNvPr id="10" name="!!author"/>
          <p:cNvSpPr txBox="1"/>
          <p:nvPr/>
        </p:nvSpPr>
        <p:spPr>
          <a:xfrm>
            <a:off x="658368" y="5779008"/>
            <a:ext cx="5486400" cy="365760"/>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FFFFFF"/>
                </a:solidFill>
                <a:latin typeface="Segoe UI Semibold"/>
              </a:rPr>
              <a:t>Dr. Mustafa Hameed</a:t>
            </a:r>
          </a:p>
        </p:txBody>
      </p:sp>
      <p:sp>
        <p:nvSpPr>
          <p:cNvPr id="11" name="!!dept"/>
          <p:cNvSpPr txBox="1"/>
          <p:nvPr/>
        </p:nvSpPr>
        <p:spPr>
          <a:xfrm>
            <a:off x="658368" y="6181344"/>
            <a:ext cx="5852160" cy="274320"/>
          </a:xfrm>
          <a:prstGeom prst="rect">
            <a:avLst/>
          </a:prstGeom>
          <a:noFill/>
        </p:spPr>
        <p:txBody>
          <a:bodyPr wrap="square" anchor="t" lIns="0" rIns="0" tIns="0" bIns="0">
            <a:noAutofit/>
          </a:bodyPr>
          <a:lstStyle/>
          <a:p>
            <a:pPr algn="l">
              <a:lnSpc>
                <a:spcPct val="100000"/>
              </a:lnSpc>
              <a:spcBef>
                <a:spcPts val="0"/>
              </a:spcBef>
              <a:spcAft>
                <a:spcPts val="0"/>
              </a:spcAft>
            </a:pPr>
            <a:r>
              <a:rPr sz="1200" b="0" i="0">
                <a:solidFill>
                  <a:srgbClr val="BDD0C5"/>
                </a:solidFill>
                <a:latin typeface="Segoe UI"/>
              </a:rPr>
              <a:t>Department of Information Technology  ·  BSIT · Fall 2026</a:t>
            </a:r>
          </a:p>
        </p:txBody>
      </p:sp>
      <p:sp>
        <p:nvSpPr>
          <p:cNvPr id="12" name="!!uni"/>
          <p:cNvSpPr txBox="1"/>
          <p:nvPr/>
        </p:nvSpPr>
        <p:spPr>
          <a:xfrm>
            <a:off x="5205818" y="568756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150" b="1" i="0" spc="60">
                <a:solidFill>
                  <a:srgbClr val="FFFFFF"/>
                </a:solidFill>
                <a:latin typeface="Segoe UI"/>
              </a:rPr>
              <a:t>THE ISLAMIA UNIVERSITY OF BAHAWALPUR</a:t>
            </a:r>
          </a:p>
        </p:txBody>
      </p:sp>
      <p:sp>
        <p:nvSpPr>
          <p:cNvPr id="13" name="!!uni2"/>
          <p:cNvSpPr txBox="1"/>
          <p:nvPr/>
        </p:nvSpPr>
        <p:spPr>
          <a:xfrm>
            <a:off x="5205818" y="5961888"/>
            <a:ext cx="4023360" cy="274320"/>
          </a:xfrm>
          <a:prstGeom prst="rect">
            <a:avLst/>
          </a:prstGeom>
          <a:noFill/>
        </p:spPr>
        <p:txBody>
          <a:bodyPr wrap="square" anchor="t" lIns="0" rIns="0" tIns="0" bIns="0">
            <a:noAutofit/>
          </a:bodyPr>
          <a:lstStyle/>
          <a:p>
            <a:pPr algn="r">
              <a:lnSpc>
                <a:spcPct val="100000"/>
              </a:lnSpc>
              <a:spcBef>
                <a:spcPts val="0"/>
              </a:spcBef>
              <a:spcAft>
                <a:spcPts val="0"/>
              </a:spcAft>
            </a:pPr>
            <a:r>
              <a:rPr sz="1050" b="0" i="0">
                <a:solidFill>
                  <a:srgbClr val="A5C0B0"/>
                </a:solidFill>
                <a:latin typeface="Segoe UI"/>
              </a:rPr>
              <a:t>Bahawalpur, Pakistan</a:t>
            </a:r>
          </a:p>
        </p:txBody>
      </p:sp>
      <p:pic>
        <p:nvPicPr>
          <p:cNvPr id="14" name="!!logo-iub-logo-white" descr="The Islamia University of Bahawalpur"/>
          <p:cNvPicPr>
            <a:picLocks noChangeAspect="1"/>
          </p:cNvPicPr>
          <p:nvPr/>
        </p:nvPicPr>
        <p:blipFill>
          <a:blip r:embed="rId2"/>
          <a:stretch>
            <a:fillRect/>
          </a:stretch>
        </p:blipFill>
        <p:spPr>
          <a:xfrm>
            <a:off x="9503498" y="5486400"/>
            <a:ext cx="904084" cy="896112"/>
          </a:xfrm>
          <a:prstGeom prst="rect">
            <a:avLst/>
          </a:prstGeom>
        </p:spPr>
      </p:pic>
      <p:pic>
        <p:nvPicPr>
          <p:cNvPr id="15" name="!!logo-dit-logo" descr="Department of Information Technology"/>
          <p:cNvPicPr>
            <a:picLocks noChangeAspect="1"/>
          </p:cNvPicPr>
          <p:nvPr/>
        </p:nvPicPr>
        <p:blipFill>
          <a:blip r:embed="rId3"/>
          <a:stretch>
            <a:fillRect/>
          </a:stretch>
        </p:blipFill>
        <p:spPr>
          <a:xfrm>
            <a:off x="10663614" y="5486400"/>
            <a:ext cx="869712" cy="896112"/>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Where this chapter sits</a:t>
            </a:r>
          </a:p>
        </p:txBody>
      </p:sp>
      <p:pic>
        <p:nvPicPr>
          <p:cNvPr id="3" name="!!kicker-icon" descr="map-signs-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THE COURSE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95     </a:t>
            </a:r>
            <a:fld id="{B55EAF89-CBF5-4E76-9837-58901F450DDE}" type="slidenum">
              <a:rPr lang="en-GB" sz="1000">
                <a:solidFill>
                  <a:srgbClr val="8795A1"/>
                </a:solidFill>
                <a:latin typeface="Segoe UI"/>
              </a:rPr>
              <a:t>2</a:t>
            </a:fld>
          </a:p>
        </p:txBody>
      </p:sp>
      <p:sp>
        <p:nvSpPr>
          <p:cNvPr id="7" name="!!rp1"/>
          <p:cNvSpPr txBox="1"/>
          <p:nvPr/>
        </p:nvSpPr>
        <p:spPr>
          <a:xfrm>
            <a:off x="777239"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a:t>
            </a:r>
          </a:p>
        </p:txBody>
      </p:sp>
      <p:sp>
        <p:nvSpPr>
          <p:cNvPr id="8" name="!!rpl1">
            <a:extLst>
              <a:ext uri="{C183D7F6-B498-43B3-948B-1728B52AA6E4}">
                <adec:decorative xmlns:adec="http://schemas.microsoft.com/office/drawing/2017/decorative" val="1"/>
              </a:ext>
            </a:extLst>
          </p:cNvPr>
          <p:cNvSpPr/>
          <p:nvPr/>
        </p:nvSpPr>
        <p:spPr>
          <a:xfrm>
            <a:off x="777239"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rp2"/>
          <p:cNvSpPr txBox="1"/>
          <p:nvPr/>
        </p:nvSpPr>
        <p:spPr>
          <a:xfrm>
            <a:off x="2689666" y="1755648"/>
            <a:ext cx="1583242"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II</a:t>
            </a:r>
          </a:p>
        </p:txBody>
      </p:sp>
      <p:sp>
        <p:nvSpPr>
          <p:cNvPr id="10" name="!!rpl2">
            <a:extLst>
              <a:ext uri="{C183D7F6-B498-43B3-948B-1728B52AA6E4}">
                <adec:decorative xmlns:adec="http://schemas.microsoft.com/office/drawing/2017/decorative" val="1"/>
              </a:ext>
            </a:extLst>
          </p:cNvPr>
          <p:cNvSpPr/>
          <p:nvPr/>
        </p:nvSpPr>
        <p:spPr>
          <a:xfrm>
            <a:off x="2689666" y="2029967"/>
            <a:ext cx="1583242"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p3"/>
          <p:cNvSpPr txBox="1"/>
          <p:nvPr/>
        </p:nvSpPr>
        <p:spPr>
          <a:xfrm>
            <a:off x="4602092" y="1755648"/>
            <a:ext cx="2713191"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B7A43"/>
                </a:solidFill>
                <a:latin typeface="Segoe UI"/>
              </a:rPr>
              <a:t>PART III</a:t>
            </a:r>
          </a:p>
        </p:txBody>
      </p:sp>
      <p:sp>
        <p:nvSpPr>
          <p:cNvPr id="12" name="!!rpl3">
            <a:extLst>
              <a:ext uri="{C183D7F6-B498-43B3-948B-1728B52AA6E4}">
                <adec:decorative xmlns:adec="http://schemas.microsoft.com/office/drawing/2017/decorative" val="1"/>
              </a:ext>
            </a:extLst>
          </p:cNvPr>
          <p:cNvSpPr/>
          <p:nvPr/>
        </p:nvSpPr>
        <p:spPr>
          <a:xfrm>
            <a:off x="4602092" y="2029967"/>
            <a:ext cx="2713191" cy="4572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rp4"/>
          <p:cNvSpPr txBox="1"/>
          <p:nvPr/>
        </p:nvSpPr>
        <p:spPr>
          <a:xfrm>
            <a:off x="7644467"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IV</a:t>
            </a:r>
          </a:p>
        </p:txBody>
      </p:sp>
      <p:sp>
        <p:nvSpPr>
          <p:cNvPr id="14" name="!!rpl4">
            <a:extLst>
              <a:ext uri="{C183D7F6-B498-43B3-948B-1728B52AA6E4}">
                <adec:decorative xmlns:adec="http://schemas.microsoft.com/office/drawing/2017/decorative" val="1"/>
              </a:ext>
            </a:extLst>
          </p:cNvPr>
          <p:cNvSpPr/>
          <p:nvPr/>
        </p:nvSpPr>
        <p:spPr>
          <a:xfrm>
            <a:off x="7644467"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rp5"/>
          <p:cNvSpPr txBox="1"/>
          <p:nvPr/>
        </p:nvSpPr>
        <p:spPr>
          <a:xfrm>
            <a:off x="9147366" y="1755648"/>
            <a:ext cx="1173715"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a:t>
            </a:r>
          </a:p>
        </p:txBody>
      </p:sp>
      <p:sp>
        <p:nvSpPr>
          <p:cNvPr id="16" name="!!rpl5">
            <a:extLst>
              <a:ext uri="{C183D7F6-B498-43B3-948B-1728B52AA6E4}">
                <adec:decorative xmlns:adec="http://schemas.microsoft.com/office/drawing/2017/decorative" val="1"/>
              </a:ext>
            </a:extLst>
          </p:cNvPr>
          <p:cNvSpPr/>
          <p:nvPr/>
        </p:nvSpPr>
        <p:spPr>
          <a:xfrm>
            <a:off x="9147366" y="2029967"/>
            <a:ext cx="1173715"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p6"/>
          <p:cNvSpPr txBox="1"/>
          <p:nvPr/>
        </p:nvSpPr>
        <p:spPr>
          <a:xfrm>
            <a:off x="10650266" y="1755648"/>
            <a:ext cx="764189"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98A4AE"/>
                </a:solidFill>
                <a:latin typeface="Segoe UI"/>
              </a:rPr>
              <a:t>PART VI</a:t>
            </a:r>
          </a:p>
        </p:txBody>
      </p:sp>
      <p:sp>
        <p:nvSpPr>
          <p:cNvPr id="18" name="!!rpl6">
            <a:extLst>
              <a:ext uri="{C183D7F6-B498-43B3-948B-1728B52AA6E4}">
                <adec:decorative xmlns:adec="http://schemas.microsoft.com/office/drawing/2017/decorative" val="1"/>
              </a:ext>
            </a:extLst>
          </p:cNvPr>
          <p:cNvSpPr/>
          <p:nvPr/>
        </p:nvSpPr>
        <p:spPr>
          <a:xfrm>
            <a:off x="10650266" y="2029967"/>
            <a:ext cx="764189" cy="27432"/>
          </a:xfrm>
          <a:prstGeom prst="rect">
            <a:avLst/>
          </a:prstGeom>
          <a:solidFill>
            <a:srgbClr val="D9E1E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dot1">
            <a:extLst>
              <a:ext uri="{C183D7F6-B498-43B3-948B-1728B52AA6E4}">
                <adec:decorative xmlns:adec="http://schemas.microsoft.com/office/drawing/2017/decorative" val="1"/>
              </a:ext>
            </a:extLst>
          </p:cNvPr>
          <p:cNvSpPr/>
          <p:nvPr/>
        </p:nvSpPr>
        <p:spPr>
          <a:xfrm>
            <a:off x="817411"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dotn1"/>
          <p:cNvSpPr txBox="1"/>
          <p:nvPr/>
        </p:nvSpPr>
        <p:spPr>
          <a:xfrm>
            <a:off x="72597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a:t>
            </a:r>
          </a:p>
        </p:txBody>
      </p:sp>
      <p:sp>
        <p:nvSpPr>
          <p:cNvPr id="21" name="!!dot2">
            <a:extLst>
              <a:ext uri="{C183D7F6-B498-43B3-948B-1728B52AA6E4}">
                <adec:decorative xmlns:adec="http://schemas.microsoft.com/office/drawing/2017/decorative" val="1"/>
              </a:ext>
            </a:extLst>
          </p:cNvPr>
          <p:cNvSpPr/>
          <p:nvPr/>
        </p:nvSpPr>
        <p:spPr>
          <a:xfrm>
            <a:off x="1226937"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dotn2"/>
          <p:cNvSpPr txBox="1"/>
          <p:nvPr/>
        </p:nvSpPr>
        <p:spPr>
          <a:xfrm>
            <a:off x="11354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2</a:t>
            </a:r>
          </a:p>
        </p:txBody>
      </p:sp>
      <p:sp>
        <p:nvSpPr>
          <p:cNvPr id="23" name="!!dot3">
            <a:extLst>
              <a:ext uri="{C183D7F6-B498-43B3-948B-1728B52AA6E4}">
                <adec:decorative xmlns:adec="http://schemas.microsoft.com/office/drawing/2017/decorative" val="1"/>
              </a:ext>
            </a:extLst>
          </p:cNvPr>
          <p:cNvSpPr/>
          <p:nvPr/>
        </p:nvSpPr>
        <p:spPr>
          <a:xfrm>
            <a:off x="1636464"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dotn3"/>
          <p:cNvSpPr txBox="1"/>
          <p:nvPr/>
        </p:nvSpPr>
        <p:spPr>
          <a:xfrm>
            <a:off x="15450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3</a:t>
            </a:r>
          </a:p>
        </p:txBody>
      </p:sp>
      <p:sp>
        <p:nvSpPr>
          <p:cNvPr id="25" name="!!dot4">
            <a:extLst>
              <a:ext uri="{C183D7F6-B498-43B3-948B-1728B52AA6E4}">
                <adec:decorative xmlns:adec="http://schemas.microsoft.com/office/drawing/2017/decorative" val="1"/>
              </a:ext>
            </a:extLst>
          </p:cNvPr>
          <p:cNvSpPr/>
          <p:nvPr/>
        </p:nvSpPr>
        <p:spPr>
          <a:xfrm>
            <a:off x="2045990" y="2258568"/>
            <a:ext cx="274320" cy="274320"/>
          </a:xfrm>
          <a:prstGeom prst="ellipse">
            <a:avLst/>
          </a:prstGeom>
          <a:solidFill>
            <a:srgbClr val="3C6C8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dotn4"/>
          <p:cNvSpPr txBox="1"/>
          <p:nvPr/>
        </p:nvSpPr>
        <p:spPr>
          <a:xfrm>
            <a:off x="19545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4</a:t>
            </a:r>
          </a:p>
        </p:txBody>
      </p:sp>
      <p:sp>
        <p:nvSpPr>
          <p:cNvPr id="27" name="!!dot5">
            <a:extLst>
              <a:ext uri="{C183D7F6-B498-43B3-948B-1728B52AA6E4}">
                <adec:decorative xmlns:adec="http://schemas.microsoft.com/office/drawing/2017/decorative" val="1"/>
              </a:ext>
            </a:extLst>
          </p:cNvPr>
          <p:cNvSpPr/>
          <p:nvPr/>
        </p:nvSpPr>
        <p:spPr>
          <a:xfrm>
            <a:off x="2729837"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dotn5"/>
          <p:cNvSpPr txBox="1"/>
          <p:nvPr/>
        </p:nvSpPr>
        <p:spPr>
          <a:xfrm>
            <a:off x="26383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5</a:t>
            </a:r>
          </a:p>
        </p:txBody>
      </p:sp>
      <p:sp>
        <p:nvSpPr>
          <p:cNvPr id="29" name="!!dot6">
            <a:extLst>
              <a:ext uri="{C183D7F6-B498-43B3-948B-1728B52AA6E4}">
                <adec:decorative xmlns:adec="http://schemas.microsoft.com/office/drawing/2017/decorative" val="1"/>
              </a:ext>
            </a:extLst>
          </p:cNvPr>
          <p:cNvSpPr/>
          <p:nvPr/>
        </p:nvSpPr>
        <p:spPr>
          <a:xfrm>
            <a:off x="3139363"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dotn6"/>
          <p:cNvSpPr txBox="1"/>
          <p:nvPr/>
        </p:nvSpPr>
        <p:spPr>
          <a:xfrm>
            <a:off x="30479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6</a:t>
            </a:r>
          </a:p>
        </p:txBody>
      </p:sp>
      <p:sp>
        <p:nvSpPr>
          <p:cNvPr id="31" name="!!dot7">
            <a:extLst>
              <a:ext uri="{C183D7F6-B498-43B3-948B-1728B52AA6E4}">
                <adec:decorative xmlns:adec="http://schemas.microsoft.com/office/drawing/2017/decorative" val="1"/>
              </a:ext>
            </a:extLst>
          </p:cNvPr>
          <p:cNvSpPr/>
          <p:nvPr/>
        </p:nvSpPr>
        <p:spPr>
          <a:xfrm>
            <a:off x="3548890"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dotn7"/>
          <p:cNvSpPr txBox="1"/>
          <p:nvPr/>
        </p:nvSpPr>
        <p:spPr>
          <a:xfrm>
            <a:off x="34574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7</a:t>
            </a:r>
          </a:p>
        </p:txBody>
      </p:sp>
      <p:sp>
        <p:nvSpPr>
          <p:cNvPr id="33" name="!!dot8">
            <a:extLst>
              <a:ext uri="{C183D7F6-B498-43B3-948B-1728B52AA6E4}">
                <adec:decorative xmlns:adec="http://schemas.microsoft.com/office/drawing/2017/decorative" val="1"/>
              </a:ext>
            </a:extLst>
          </p:cNvPr>
          <p:cNvSpPr/>
          <p:nvPr/>
        </p:nvSpPr>
        <p:spPr>
          <a:xfrm>
            <a:off x="3958416" y="2258568"/>
            <a:ext cx="274320" cy="274320"/>
          </a:xfrm>
          <a:prstGeom prst="ellipse">
            <a:avLst/>
          </a:prstGeom>
          <a:solidFill>
            <a:srgbClr val="4D98C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dotn8"/>
          <p:cNvSpPr txBox="1"/>
          <p:nvPr/>
        </p:nvSpPr>
        <p:spPr>
          <a:xfrm>
            <a:off x="38669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8</a:t>
            </a:r>
          </a:p>
        </p:txBody>
      </p:sp>
      <p:sp>
        <p:nvSpPr>
          <p:cNvPr id="35" name="!!dot9">
            <a:extLst>
              <a:ext uri="{C183D7F6-B498-43B3-948B-1728B52AA6E4}">
                <adec:decorative xmlns:adec="http://schemas.microsoft.com/office/drawing/2017/decorative" val="1"/>
              </a:ext>
            </a:extLst>
          </p:cNvPr>
          <p:cNvSpPr/>
          <p:nvPr/>
        </p:nvSpPr>
        <p:spPr>
          <a:xfrm>
            <a:off x="4642263"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dotn9"/>
          <p:cNvSpPr txBox="1"/>
          <p:nvPr/>
        </p:nvSpPr>
        <p:spPr>
          <a:xfrm>
            <a:off x="45508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9</a:t>
            </a:r>
          </a:p>
        </p:txBody>
      </p:sp>
      <p:sp>
        <p:nvSpPr>
          <p:cNvPr id="37" name="!!dot10">
            <a:extLst>
              <a:ext uri="{C183D7F6-B498-43B3-948B-1728B52AA6E4}">
                <adec:decorative xmlns:adec="http://schemas.microsoft.com/office/drawing/2017/decorative" val="1"/>
              </a:ext>
            </a:extLst>
          </p:cNvPr>
          <p:cNvSpPr/>
          <p:nvPr/>
        </p:nvSpPr>
        <p:spPr>
          <a:xfrm>
            <a:off x="5051789"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dotn10"/>
          <p:cNvSpPr txBox="1"/>
          <p:nvPr/>
        </p:nvSpPr>
        <p:spPr>
          <a:xfrm>
            <a:off x="4960349"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10</a:t>
            </a:r>
          </a:p>
        </p:txBody>
      </p:sp>
      <p:sp>
        <p:nvSpPr>
          <p:cNvPr id="39" name="!!dot11">
            <a:extLst>
              <a:ext uri="{C183D7F6-B498-43B3-948B-1728B52AA6E4}">
                <adec:decorative xmlns:adec="http://schemas.microsoft.com/office/drawing/2017/decorative" val="1"/>
              </a:ext>
            </a:extLst>
          </p:cNvPr>
          <p:cNvSpPr/>
          <p:nvPr/>
        </p:nvSpPr>
        <p:spPr>
          <a:xfrm>
            <a:off x="5461316"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0" name="!!dotn11"/>
          <p:cNvSpPr txBox="1"/>
          <p:nvPr/>
        </p:nvSpPr>
        <p:spPr>
          <a:xfrm>
            <a:off x="5369876"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11</a:t>
            </a:r>
          </a:p>
        </p:txBody>
      </p:sp>
      <p:sp>
        <p:nvSpPr>
          <p:cNvPr id="41" name="!!dot12">
            <a:extLst>
              <a:ext uri="{C183D7F6-B498-43B3-948B-1728B52AA6E4}">
                <adec:decorative xmlns:adec="http://schemas.microsoft.com/office/drawing/2017/decorative" val="1"/>
              </a:ext>
            </a:extLst>
          </p:cNvPr>
          <p:cNvSpPr/>
          <p:nvPr/>
        </p:nvSpPr>
        <p:spPr>
          <a:xfrm>
            <a:off x="5870842" y="2258568"/>
            <a:ext cx="274320" cy="274320"/>
          </a:xfrm>
          <a:prstGeom prst="ellipse">
            <a:avLst/>
          </a:prstGeom>
          <a:solidFill>
            <a:srgbClr val="47BA7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dotn12"/>
          <p:cNvSpPr txBox="1"/>
          <p:nvPr/>
        </p:nvSpPr>
        <p:spPr>
          <a:xfrm>
            <a:off x="5779402"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FFFFFF"/>
                </a:solidFill>
                <a:latin typeface="Segoe UI"/>
              </a:rPr>
              <a:t>12</a:t>
            </a:r>
          </a:p>
        </p:txBody>
      </p:sp>
      <p:sp>
        <p:nvSpPr>
          <p:cNvPr id="43" name="!!dot13">
            <a:extLst>
              <a:ext uri="{C183D7F6-B498-43B3-948B-1728B52AA6E4}">
                <adec:decorative xmlns:adec="http://schemas.microsoft.com/office/drawing/2017/decorative" val="1"/>
              </a:ext>
            </a:extLst>
          </p:cNvPr>
          <p:cNvSpPr/>
          <p:nvPr/>
        </p:nvSpPr>
        <p:spPr>
          <a:xfrm>
            <a:off x="6289513" y="2112264"/>
            <a:ext cx="566928" cy="566928"/>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dotn13"/>
          <p:cNvSpPr txBox="1"/>
          <p:nvPr/>
        </p:nvSpPr>
        <p:spPr>
          <a:xfrm>
            <a:off x="6289513" y="2240280"/>
            <a:ext cx="566928"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13</a:t>
            </a:r>
          </a:p>
        </p:txBody>
      </p:sp>
      <p:sp>
        <p:nvSpPr>
          <p:cNvPr id="45" name="!!dot14">
            <a:extLst>
              <a:ext uri="{C183D7F6-B498-43B3-948B-1728B52AA6E4}">
                <adec:decorative xmlns:adec="http://schemas.microsoft.com/office/drawing/2017/decorative" val="1"/>
              </a:ext>
            </a:extLst>
          </p:cNvPr>
          <p:cNvSpPr/>
          <p:nvPr/>
        </p:nvSpPr>
        <p:spPr>
          <a:xfrm>
            <a:off x="7000791" y="2258568"/>
            <a:ext cx="274320" cy="274320"/>
          </a:xfrm>
          <a:prstGeom prst="ellipse">
            <a:avLst/>
          </a:prstGeom>
          <a:solidFill>
            <a:srgbClr val="FFFFFF"/>
          </a:solidFill>
          <a:ln w="15875">
            <a:solidFill>
              <a:srgbClr val="88D2A8"/>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6" name="!!dotn14"/>
          <p:cNvSpPr txBox="1"/>
          <p:nvPr/>
        </p:nvSpPr>
        <p:spPr>
          <a:xfrm>
            <a:off x="69093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259355"/>
                </a:solidFill>
                <a:latin typeface="Segoe UI"/>
              </a:rPr>
              <a:t>14</a:t>
            </a:r>
          </a:p>
        </p:txBody>
      </p:sp>
      <p:sp>
        <p:nvSpPr>
          <p:cNvPr id="47" name="!!dot15">
            <a:extLst>
              <a:ext uri="{C183D7F6-B498-43B3-948B-1728B52AA6E4}">
                <adec:decorative xmlns:adec="http://schemas.microsoft.com/office/drawing/2017/decorative" val="1"/>
              </a:ext>
            </a:extLst>
          </p:cNvPr>
          <p:cNvSpPr/>
          <p:nvPr/>
        </p:nvSpPr>
        <p:spPr>
          <a:xfrm>
            <a:off x="7684638"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dotn15"/>
          <p:cNvSpPr txBox="1"/>
          <p:nvPr/>
        </p:nvSpPr>
        <p:spPr>
          <a:xfrm>
            <a:off x="7593198"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15</a:t>
            </a:r>
          </a:p>
        </p:txBody>
      </p:sp>
      <p:sp>
        <p:nvSpPr>
          <p:cNvPr id="49" name="!!dot16">
            <a:extLst>
              <a:ext uri="{C183D7F6-B498-43B3-948B-1728B52AA6E4}">
                <adec:decorative xmlns:adec="http://schemas.microsoft.com/office/drawing/2017/decorative" val="1"/>
              </a:ext>
            </a:extLst>
          </p:cNvPr>
          <p:cNvSpPr/>
          <p:nvPr/>
        </p:nvSpPr>
        <p:spPr>
          <a:xfrm>
            <a:off x="8094164"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dotn16"/>
          <p:cNvSpPr txBox="1"/>
          <p:nvPr/>
        </p:nvSpPr>
        <p:spPr>
          <a:xfrm>
            <a:off x="80027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16</a:t>
            </a:r>
          </a:p>
        </p:txBody>
      </p:sp>
      <p:sp>
        <p:nvSpPr>
          <p:cNvPr id="51" name="!!dot17">
            <a:extLst>
              <a:ext uri="{C183D7F6-B498-43B3-948B-1728B52AA6E4}">
                <adec:decorative xmlns:adec="http://schemas.microsoft.com/office/drawing/2017/decorative" val="1"/>
              </a:ext>
            </a:extLst>
          </p:cNvPr>
          <p:cNvSpPr/>
          <p:nvPr/>
        </p:nvSpPr>
        <p:spPr>
          <a:xfrm>
            <a:off x="8503691" y="2258568"/>
            <a:ext cx="274320" cy="274320"/>
          </a:xfrm>
          <a:prstGeom prst="ellipse">
            <a:avLst/>
          </a:prstGeom>
          <a:solidFill>
            <a:srgbClr val="FFFFFF"/>
          </a:solidFill>
          <a:ln w="15875">
            <a:solidFill>
              <a:srgbClr val="C198D2"/>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2" name="!!dotn17"/>
          <p:cNvSpPr txBox="1"/>
          <p:nvPr/>
        </p:nvSpPr>
        <p:spPr>
          <a:xfrm>
            <a:off x="8412251"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773E93"/>
                </a:solidFill>
                <a:latin typeface="Segoe UI"/>
              </a:rPr>
              <a:t>17</a:t>
            </a:r>
          </a:p>
        </p:txBody>
      </p:sp>
      <p:sp>
        <p:nvSpPr>
          <p:cNvPr id="53" name="!!dot18">
            <a:extLst>
              <a:ext uri="{C183D7F6-B498-43B3-948B-1728B52AA6E4}">
                <adec:decorative xmlns:adec="http://schemas.microsoft.com/office/drawing/2017/decorative" val="1"/>
              </a:ext>
            </a:extLst>
          </p:cNvPr>
          <p:cNvSpPr/>
          <p:nvPr/>
        </p:nvSpPr>
        <p:spPr>
          <a:xfrm>
            <a:off x="9187537"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dotn18"/>
          <p:cNvSpPr txBox="1"/>
          <p:nvPr/>
        </p:nvSpPr>
        <p:spPr>
          <a:xfrm>
            <a:off x="90960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18</a:t>
            </a:r>
          </a:p>
        </p:txBody>
      </p:sp>
      <p:sp>
        <p:nvSpPr>
          <p:cNvPr id="55" name="!!dot19">
            <a:extLst>
              <a:ext uri="{C183D7F6-B498-43B3-948B-1728B52AA6E4}">
                <adec:decorative xmlns:adec="http://schemas.microsoft.com/office/drawing/2017/decorative" val="1"/>
              </a:ext>
            </a:extLst>
          </p:cNvPr>
          <p:cNvSpPr/>
          <p:nvPr/>
        </p:nvSpPr>
        <p:spPr>
          <a:xfrm>
            <a:off x="9597064"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dotn19"/>
          <p:cNvSpPr txBox="1"/>
          <p:nvPr/>
        </p:nvSpPr>
        <p:spPr>
          <a:xfrm>
            <a:off x="9505624"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19</a:t>
            </a:r>
          </a:p>
        </p:txBody>
      </p:sp>
      <p:sp>
        <p:nvSpPr>
          <p:cNvPr id="57" name="!!dot20">
            <a:extLst>
              <a:ext uri="{C183D7F6-B498-43B3-948B-1728B52AA6E4}">
                <adec:decorative xmlns:adec="http://schemas.microsoft.com/office/drawing/2017/decorative" val="1"/>
              </a:ext>
            </a:extLst>
          </p:cNvPr>
          <p:cNvSpPr/>
          <p:nvPr/>
        </p:nvSpPr>
        <p:spPr>
          <a:xfrm>
            <a:off x="10006590" y="2258568"/>
            <a:ext cx="274320" cy="274320"/>
          </a:xfrm>
          <a:prstGeom prst="ellipse">
            <a:avLst/>
          </a:prstGeom>
          <a:solidFill>
            <a:srgbClr val="FFFFFF"/>
          </a:solidFill>
          <a:ln w="15875">
            <a:solidFill>
              <a:srgbClr val="7CB6AA"/>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8" name="!!dotn20"/>
          <p:cNvSpPr txBox="1"/>
          <p:nvPr/>
        </p:nvSpPr>
        <p:spPr>
          <a:xfrm>
            <a:off x="9915150"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136959"/>
                </a:solidFill>
                <a:latin typeface="Segoe UI"/>
              </a:rPr>
              <a:t>20</a:t>
            </a:r>
          </a:p>
        </p:txBody>
      </p:sp>
      <p:sp>
        <p:nvSpPr>
          <p:cNvPr id="59" name="!!dot21">
            <a:extLst>
              <a:ext uri="{C183D7F6-B498-43B3-948B-1728B52AA6E4}">
                <adec:decorative xmlns:adec="http://schemas.microsoft.com/office/drawing/2017/decorative" val="1"/>
              </a:ext>
            </a:extLst>
          </p:cNvPr>
          <p:cNvSpPr/>
          <p:nvPr/>
        </p:nvSpPr>
        <p:spPr>
          <a:xfrm>
            <a:off x="10690437"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dotn21"/>
          <p:cNvSpPr txBox="1"/>
          <p:nvPr/>
        </p:nvSpPr>
        <p:spPr>
          <a:xfrm>
            <a:off x="10598997"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21</a:t>
            </a:r>
          </a:p>
        </p:txBody>
      </p:sp>
      <p:sp>
        <p:nvSpPr>
          <p:cNvPr id="61" name="!!dot22">
            <a:extLst>
              <a:ext uri="{C183D7F6-B498-43B3-948B-1728B52AA6E4}">
                <adec:decorative xmlns:adec="http://schemas.microsoft.com/office/drawing/2017/decorative" val="1"/>
              </a:ext>
            </a:extLst>
          </p:cNvPr>
          <p:cNvSpPr/>
          <p:nvPr/>
        </p:nvSpPr>
        <p:spPr>
          <a:xfrm>
            <a:off x="11099963" y="2258568"/>
            <a:ext cx="274320" cy="274320"/>
          </a:xfrm>
          <a:prstGeom prst="ellipse">
            <a:avLst/>
          </a:prstGeom>
          <a:solidFill>
            <a:srgbClr val="FFFFFF"/>
          </a:solidFill>
          <a:ln w="15875">
            <a:solidFill>
              <a:srgbClr val="D7C579"/>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2" name="!!dotn22"/>
          <p:cNvSpPr txBox="1"/>
          <p:nvPr/>
        </p:nvSpPr>
        <p:spPr>
          <a:xfrm>
            <a:off x="11008523" y="2295144"/>
            <a:ext cx="457200" cy="201168"/>
          </a:xfrm>
          <a:prstGeom prst="rect">
            <a:avLst/>
          </a:prstGeom>
          <a:noFill/>
        </p:spPr>
        <p:txBody>
          <a:bodyPr wrap="square" anchor="t" lIns="0" rIns="0" tIns="0" bIns="0">
            <a:noAutofit/>
          </a:bodyPr>
          <a:lstStyle/>
          <a:p>
            <a:pPr algn="ctr">
              <a:lnSpc>
                <a:spcPct val="100000"/>
              </a:lnSpc>
              <a:spcBef>
                <a:spcPts val="0"/>
              </a:spcBef>
              <a:spcAft>
                <a:spcPts val="0"/>
              </a:spcAft>
            </a:pPr>
            <a:r>
              <a:rPr sz="950" b="1" i="0">
                <a:solidFill>
                  <a:srgbClr val="987F11"/>
                </a:solidFill>
                <a:latin typeface="Segoe UI"/>
              </a:rPr>
              <a:t>22</a:t>
            </a:r>
          </a:p>
        </p:txBody>
      </p:sp>
      <p:sp>
        <p:nvSpPr>
          <p:cNvPr id="63" name="!!dotlabel"/>
          <p:cNvSpPr txBox="1"/>
          <p:nvPr/>
        </p:nvSpPr>
        <p:spPr>
          <a:xfrm>
            <a:off x="3646897" y="2798064"/>
            <a:ext cx="5852160" cy="310896"/>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1B7A43"/>
                </a:solidFill>
                <a:latin typeface="Segoe UI"/>
              </a:rPr>
              <a:t>Artificial Neural Networks</a:t>
            </a:r>
          </a:p>
        </p:txBody>
      </p:sp>
      <p:sp>
        <p:nvSpPr>
          <p:cNvPr id="64" name="!!dep-BUILD"/>
          <p:cNvSpPr txBox="1"/>
          <p:nvPr/>
        </p:nvSpPr>
        <p:spPr>
          <a:xfrm>
            <a:off x="658368"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BUILDS ON</a:t>
            </a:r>
          </a:p>
        </p:txBody>
      </p:sp>
      <p:sp>
        <p:nvSpPr>
          <p:cNvPr id="65" name="!!chipBU2">
            <a:extLst>
              <a:ext uri="{C183D7F6-B498-43B3-948B-1728B52AA6E4}">
                <adec:decorative xmlns:adec="http://schemas.microsoft.com/office/drawing/2017/decorative" val="1"/>
              </a:ext>
            </a:extLst>
          </p:cNvPr>
          <p:cNvSpPr/>
          <p:nvPr/>
        </p:nvSpPr>
        <p:spPr>
          <a:xfrm>
            <a:off x="658368" y="3785616"/>
            <a:ext cx="5208879" cy="420624"/>
          </a:xfrm>
          <a:prstGeom prst="roundRect">
            <a:avLst>
              <a:gd name="adj" fmla="val 17391"/>
            </a:avLst>
          </a:prstGeom>
          <a:solidFill>
            <a:srgbClr val="E8EEF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6" name="!!chipbBU2">
            <a:extLst>
              <a:ext uri="{C183D7F6-B498-43B3-948B-1728B52AA6E4}">
                <adec:decorative xmlns:adec="http://schemas.microsoft.com/office/drawing/2017/decorative" val="1"/>
              </a:ext>
            </a:extLst>
          </p:cNvPr>
          <p:cNvSpPr/>
          <p:nvPr/>
        </p:nvSpPr>
        <p:spPr>
          <a:xfrm>
            <a:off x="658368" y="3785616"/>
            <a:ext cx="64008" cy="420624"/>
          </a:xfrm>
          <a:prstGeom prst="rect">
            <a:avLst/>
          </a:prstGeom>
          <a:solidFill>
            <a:srgbClr val="1A527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7" name="!!chiptBU2"/>
          <p:cNvSpPr txBox="1"/>
          <p:nvPr/>
        </p:nvSpPr>
        <p:spPr>
          <a:xfrm>
            <a:off x="859536"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A5276"/>
                </a:solidFill>
                <a:latin typeface="Segoe UI"/>
              </a:rPr>
              <a:t>Ch 2  </a:t>
            </a:r>
            <a:r>
              <a:rPr sz="1400" b="0" i="0">
                <a:solidFill>
                  <a:srgbClr val="1C252B"/>
                </a:solidFill>
                <a:latin typeface="Segoe UI"/>
              </a:rPr>
              <a:t>Mathematics for Machine Learning</a:t>
            </a:r>
          </a:p>
        </p:txBody>
      </p:sp>
      <p:sp>
        <p:nvSpPr>
          <p:cNvPr id="68" name="!!chipBU6">
            <a:extLst>
              <a:ext uri="{C183D7F6-B498-43B3-948B-1728B52AA6E4}">
                <adec:decorative xmlns:adec="http://schemas.microsoft.com/office/drawing/2017/decorative" val="1"/>
              </a:ext>
            </a:extLst>
          </p:cNvPr>
          <p:cNvSpPr/>
          <p:nvPr/>
        </p:nvSpPr>
        <p:spPr>
          <a:xfrm>
            <a:off x="658368" y="4297680"/>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9" name="!!chipbBU6">
            <a:extLst>
              <a:ext uri="{C183D7F6-B498-43B3-948B-1728B52AA6E4}">
                <adec:decorative xmlns:adec="http://schemas.microsoft.com/office/drawing/2017/decorative" val="1"/>
              </a:ext>
            </a:extLst>
          </p:cNvPr>
          <p:cNvSpPr/>
          <p:nvPr/>
        </p:nvSpPr>
        <p:spPr>
          <a:xfrm>
            <a:off x="658368" y="4297680"/>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0" name="!!chiptBU6"/>
          <p:cNvSpPr txBox="1"/>
          <p:nvPr/>
        </p:nvSpPr>
        <p:spPr>
          <a:xfrm>
            <a:off x="859536"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6  </a:t>
            </a:r>
            <a:r>
              <a:rPr sz="1400" b="0" i="0">
                <a:solidFill>
                  <a:srgbClr val="1C252B"/>
                </a:solidFill>
                <a:latin typeface="Segoe UI"/>
              </a:rPr>
              <a:t>Logistic Regression</a:t>
            </a:r>
          </a:p>
        </p:txBody>
      </p:sp>
      <p:sp>
        <p:nvSpPr>
          <p:cNvPr id="71" name="!!chipBU7">
            <a:extLst>
              <a:ext uri="{C183D7F6-B498-43B3-948B-1728B52AA6E4}">
                <adec:decorative xmlns:adec="http://schemas.microsoft.com/office/drawing/2017/decorative" val="1"/>
              </a:ext>
            </a:extLst>
          </p:cNvPr>
          <p:cNvSpPr/>
          <p:nvPr/>
        </p:nvSpPr>
        <p:spPr>
          <a:xfrm>
            <a:off x="658368" y="4809744"/>
            <a:ext cx="5208879" cy="420624"/>
          </a:xfrm>
          <a:prstGeom prst="roundRect">
            <a:avLst>
              <a:gd name="adj" fmla="val 17391"/>
            </a:avLst>
          </a:prstGeom>
          <a:solidFill>
            <a:srgbClr val="E9F0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2" name="!!chipbBU7">
            <a:extLst>
              <a:ext uri="{C183D7F6-B498-43B3-948B-1728B52AA6E4}">
                <adec:decorative xmlns:adec="http://schemas.microsoft.com/office/drawing/2017/decorative" val="1"/>
              </a:ext>
            </a:extLst>
          </p:cNvPr>
          <p:cNvSpPr/>
          <p:nvPr/>
        </p:nvSpPr>
        <p:spPr>
          <a:xfrm>
            <a:off x="658368" y="4809744"/>
            <a:ext cx="64008" cy="420624"/>
          </a:xfrm>
          <a:prstGeom prst="rect">
            <a:avLst/>
          </a:prstGeom>
          <a:solidFill>
            <a:srgbClr val="23679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3" name="!!chiptBU7"/>
          <p:cNvSpPr txBox="1"/>
          <p:nvPr/>
        </p:nvSpPr>
        <p:spPr>
          <a:xfrm>
            <a:off x="859536"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236794"/>
                </a:solidFill>
                <a:latin typeface="Segoe UI"/>
              </a:rPr>
              <a:t>Ch 7  </a:t>
            </a:r>
            <a:r>
              <a:rPr sz="1400" b="0" i="0">
                <a:solidFill>
                  <a:srgbClr val="1C252B"/>
                </a:solidFill>
                <a:latin typeface="Segoe UI"/>
              </a:rPr>
              <a:t>Overfitting, Bias–Variance and Regularisation</a:t>
            </a:r>
          </a:p>
        </p:txBody>
      </p:sp>
      <p:sp>
        <p:nvSpPr>
          <p:cNvPr id="74" name="!!dep-USED "/>
          <p:cNvSpPr txBox="1"/>
          <p:nvPr/>
        </p:nvSpPr>
        <p:spPr>
          <a:xfrm>
            <a:off x="6324447" y="3419856"/>
            <a:ext cx="5208879" cy="256032"/>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5F6F7B"/>
                </a:solidFill>
                <a:latin typeface="Segoe UI"/>
              </a:rPr>
              <a:t>USED LATER IN</a:t>
            </a:r>
          </a:p>
        </p:txBody>
      </p:sp>
      <p:sp>
        <p:nvSpPr>
          <p:cNvPr id="75" name="!!chipUS16">
            <a:extLst>
              <a:ext uri="{C183D7F6-B498-43B3-948B-1728B52AA6E4}">
                <adec:decorative xmlns:adec="http://schemas.microsoft.com/office/drawing/2017/decorative" val="1"/>
              </a:ext>
            </a:extLst>
          </p:cNvPr>
          <p:cNvSpPr/>
          <p:nvPr/>
        </p:nvSpPr>
        <p:spPr>
          <a:xfrm>
            <a:off x="6324447" y="3785616"/>
            <a:ext cx="5208879" cy="420624"/>
          </a:xfrm>
          <a:prstGeom prst="roundRect">
            <a:avLst>
              <a:gd name="adj" fmla="val 17391"/>
            </a:avLst>
          </a:prstGeom>
          <a:solidFill>
            <a:srgbClr val="F2EB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6" name="!!chipbUS16">
            <a:extLst>
              <a:ext uri="{C183D7F6-B498-43B3-948B-1728B52AA6E4}">
                <adec:decorative xmlns:adec="http://schemas.microsoft.com/office/drawing/2017/decorative" val="1"/>
              </a:ext>
            </a:extLst>
          </p:cNvPr>
          <p:cNvSpPr/>
          <p:nvPr/>
        </p:nvSpPr>
        <p:spPr>
          <a:xfrm>
            <a:off x="6324447" y="3785616"/>
            <a:ext cx="64008" cy="420624"/>
          </a:xfrm>
          <a:prstGeom prst="rect">
            <a:avLst/>
          </a:prstGeom>
          <a:solidFill>
            <a:srgbClr val="7A3A9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7" name="!!chiptUS16"/>
          <p:cNvSpPr txBox="1"/>
          <p:nvPr/>
        </p:nvSpPr>
        <p:spPr>
          <a:xfrm>
            <a:off x="6525615" y="3877056"/>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A3A95"/>
                </a:solidFill>
                <a:latin typeface="Segoe UI"/>
              </a:rPr>
              <a:t>Ch 16  </a:t>
            </a:r>
            <a:r>
              <a:rPr sz="1400" b="0" i="0">
                <a:solidFill>
                  <a:srgbClr val="1C252B"/>
                </a:solidFill>
                <a:latin typeface="Segoe UI"/>
              </a:rPr>
              <a:t>Dimensionality Reduction and Self-Organizing Maps</a:t>
            </a:r>
          </a:p>
        </p:txBody>
      </p:sp>
      <p:sp>
        <p:nvSpPr>
          <p:cNvPr id="78" name="!!chipUS20">
            <a:extLst>
              <a:ext uri="{C183D7F6-B498-43B3-948B-1728B52AA6E4}">
                <adec:decorative xmlns:adec="http://schemas.microsoft.com/office/drawing/2017/decorative" val="1"/>
              </a:ext>
            </a:extLst>
          </p:cNvPr>
          <p:cNvSpPr/>
          <p:nvPr/>
        </p:nvSpPr>
        <p:spPr>
          <a:xfrm>
            <a:off x="6324447" y="4297680"/>
            <a:ext cx="5208879" cy="420624"/>
          </a:xfrm>
          <a:prstGeom prst="roundRect">
            <a:avLst>
              <a:gd name="adj" fmla="val 17391"/>
            </a:avLst>
          </a:prstGeom>
          <a:solidFill>
            <a:srgbClr val="E7F2F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9" name="!!chipbUS20">
            <a:extLst>
              <a:ext uri="{C183D7F6-B498-43B3-948B-1728B52AA6E4}">
                <adec:decorative xmlns:adec="http://schemas.microsoft.com/office/drawing/2017/decorative" val="1"/>
              </a:ext>
            </a:extLst>
          </p:cNvPr>
          <p:cNvSpPr/>
          <p:nvPr/>
        </p:nvSpPr>
        <p:spPr>
          <a:xfrm>
            <a:off x="6324447" y="4297680"/>
            <a:ext cx="64008" cy="420624"/>
          </a:xfrm>
          <a:prstGeom prst="rect">
            <a:avLst/>
          </a:prstGeom>
          <a:solidFill>
            <a:srgbClr val="10796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0" name="!!chiptUS20"/>
          <p:cNvSpPr txBox="1"/>
          <p:nvPr/>
        </p:nvSpPr>
        <p:spPr>
          <a:xfrm>
            <a:off x="6525615" y="4389120"/>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107964"/>
                </a:solidFill>
                <a:latin typeface="Segoe UI"/>
              </a:rPr>
              <a:t>Ch 20  </a:t>
            </a:r>
            <a:r>
              <a:rPr sz="1400" b="0" i="0">
                <a:solidFill>
                  <a:srgbClr val="1C252B"/>
                </a:solidFill>
                <a:latin typeface="Segoe UI"/>
              </a:rPr>
              <a:t>Reinforcement Learning</a:t>
            </a:r>
          </a:p>
        </p:txBody>
      </p:sp>
      <p:sp>
        <p:nvSpPr>
          <p:cNvPr id="81" name="!!chipUS21">
            <a:extLst>
              <a:ext uri="{C183D7F6-B498-43B3-948B-1728B52AA6E4}">
                <adec:decorative xmlns:adec="http://schemas.microsoft.com/office/drawing/2017/decorative" val="1"/>
              </a:ext>
            </a:extLst>
          </p:cNvPr>
          <p:cNvSpPr/>
          <p:nvPr/>
        </p:nvSpPr>
        <p:spPr>
          <a:xfrm>
            <a:off x="6324447" y="4809744"/>
            <a:ext cx="5208879" cy="420624"/>
          </a:xfrm>
          <a:prstGeom prst="roundRect">
            <a:avLst>
              <a:gd name="adj" fmla="val 17391"/>
            </a:avLst>
          </a:prstGeom>
          <a:solidFill>
            <a:srgbClr val="F1EFE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2" name="!!chipbUS21">
            <a:extLst>
              <a:ext uri="{C183D7F6-B498-43B3-948B-1728B52AA6E4}">
                <adec:decorative xmlns:adec="http://schemas.microsoft.com/office/drawing/2017/decorative" val="1"/>
              </a:ext>
            </a:extLst>
          </p:cNvPr>
          <p:cNvSpPr/>
          <p:nvPr/>
        </p:nvSpPr>
        <p:spPr>
          <a:xfrm>
            <a:off x="6324447" y="4809744"/>
            <a:ext cx="64008" cy="420624"/>
          </a:xfrm>
          <a:prstGeom prst="rect">
            <a:avLst/>
          </a:prstGeom>
          <a:solidFill>
            <a:srgbClr val="705B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3" name="!!chiptUS21"/>
          <p:cNvSpPr txBox="1"/>
          <p:nvPr/>
        </p:nvSpPr>
        <p:spPr>
          <a:xfrm>
            <a:off x="6525615" y="4901184"/>
            <a:ext cx="4934559" cy="274320"/>
          </a:xfrm>
          <a:prstGeom prst="rect">
            <a:avLst/>
          </a:prstGeom>
          <a:noFill/>
        </p:spPr>
        <p:txBody>
          <a:bodyPr wrap="square" anchor="t" lIns="0" rIns="0" tIns="0" bIns="0">
            <a:noAutofit/>
          </a:bodyPr>
          <a:lstStyle/>
          <a:p>
            <a:pPr algn="l">
              <a:lnSpc>
                <a:spcPct val="100000"/>
              </a:lnSpc>
              <a:spcBef>
                <a:spcPts val="0"/>
              </a:spcBef>
              <a:spcAft>
                <a:spcPts val="0"/>
              </a:spcAft>
            </a:pPr>
            <a:r>
              <a:rPr sz="1400" b="1" i="0">
                <a:solidFill>
                  <a:srgbClr val="705B06"/>
                </a:solidFill>
                <a:latin typeface="Segoe UI"/>
              </a:rPr>
              <a:t>Ch 21  </a:t>
            </a:r>
            <a:r>
              <a:rPr sz="1400" b="0" i="0">
                <a:solidFill>
                  <a:srgbClr val="1C252B"/>
                </a:solidFill>
                <a:latin typeface="Segoe UI"/>
              </a:rPr>
              <a:t>Responsible and Ethical Machine Learning</a:t>
            </a:r>
          </a:p>
        </p:txBody>
      </p:sp>
      <p:sp>
        <p:nvSpPr>
          <p:cNvPr id="8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5" name="!!pfill">
            <a:extLst>
              <a:ext uri="{C183D7F6-B498-43B3-948B-1728B52AA6E4}">
                <adec:decorative xmlns:adec="http://schemas.microsoft.com/office/drawing/2017/decorative" val="1"/>
              </a:ext>
            </a:extLst>
          </p:cNvPr>
          <p:cNvSpPr/>
          <p:nvPr/>
        </p:nvSpPr>
        <p:spPr>
          <a:xfrm>
            <a:off x="0" y="0"/>
            <a:ext cx="56705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you will be able to do</a:t>
            </a:r>
          </a:p>
        </p:txBody>
      </p:sp>
      <p:pic>
        <p:nvPicPr>
          <p:cNvPr id="3" name="!!kicker-icon" descr="bullsey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LEARNING OUTCOMES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95     </a:t>
            </a:r>
            <a:fld id="{AFB92615-9A35-4596-AB2F-AD28191CC267}" type="slidenum">
              <a:rPr lang="en-GB" sz="1000">
                <a:solidFill>
                  <a:srgbClr val="8795A1"/>
                </a:solidFill>
                <a:latin typeface="Segoe UI"/>
              </a:rPr>
              <a:t>3</a:t>
            </a:fld>
          </a:p>
        </p:txBody>
      </p:sp>
      <p:sp>
        <p:nvSpPr>
          <p:cNvPr id="7" name="!!olead"/>
          <p:cNvSpPr txBox="1"/>
          <p:nvPr/>
        </p:nvSpPr>
        <p:spPr>
          <a:xfrm>
            <a:off x="658368" y="1737360"/>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600" b="0" i="0">
                <a:solidFill>
                  <a:srgbClr val="5F6F7B"/>
                </a:solidFill>
                <a:latin typeface="Segoe UI"/>
              </a:rPr>
              <a:t>By the end of this chapter you will be able to:</a:t>
            </a:r>
          </a:p>
        </p:txBody>
      </p:sp>
      <p:sp>
        <p:nvSpPr>
          <p:cNvPr id="8" name="!!ob0">
            <a:extLst>
              <a:ext uri="{C183D7F6-B498-43B3-948B-1728B52AA6E4}">
                <adec:decorative xmlns:adec="http://schemas.microsoft.com/office/drawing/2017/decorative" val="1"/>
              </a:ext>
            </a:extLst>
          </p:cNvPr>
          <p:cNvSpPr/>
          <p:nvPr/>
        </p:nvSpPr>
        <p:spPr>
          <a:xfrm>
            <a:off x="658368" y="2221991"/>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obn0"/>
          <p:cNvSpPr txBox="1"/>
          <p:nvPr/>
        </p:nvSpPr>
        <p:spPr>
          <a:xfrm>
            <a:off x="658368" y="2281428"/>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10" name="!!ot0"/>
          <p:cNvSpPr txBox="1"/>
          <p:nvPr/>
        </p:nvSpPr>
        <p:spPr>
          <a:xfrm>
            <a:off x="1316736" y="2263140"/>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Compute</a:t>
            </a:r>
            <a:r>
              <a:rPr sz="2100" b="0" i="0">
                <a:solidFill>
                  <a:srgbClr val="1C252B"/>
                </a:solidFill>
                <a:latin typeface="Segoe UI"/>
              </a:rPr>
              <a:t> the output of a perceptron and </a:t>
            </a:r>
            <a:r>
              <a:rPr sz="2100" b="1" i="0">
                <a:solidFill>
                  <a:srgbClr val="1C252B"/>
                </a:solidFill>
                <a:latin typeface="Segoe UI"/>
              </a:rPr>
              <a:t>train</a:t>
            </a:r>
            <a:r>
              <a:rPr sz="2100" b="0" i="0">
                <a:solidFill>
                  <a:srgbClr val="1C252B"/>
                </a:solidFill>
                <a:latin typeface="Segoe UI"/>
              </a:rPr>
              <a:t> one with the perceptron rule.</a:t>
            </a:r>
          </a:p>
        </p:txBody>
      </p:sp>
      <p:sp>
        <p:nvSpPr>
          <p:cNvPr id="11" name="!!ob1">
            <a:extLst>
              <a:ext uri="{C183D7F6-B498-43B3-948B-1728B52AA6E4}">
                <adec:decorative xmlns:adec="http://schemas.microsoft.com/office/drawing/2017/decorative" val="1"/>
              </a:ext>
            </a:extLst>
          </p:cNvPr>
          <p:cNvSpPr/>
          <p:nvPr/>
        </p:nvSpPr>
        <p:spPr>
          <a:xfrm>
            <a:off x="658368" y="2825496"/>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obn1"/>
          <p:cNvSpPr txBox="1"/>
          <p:nvPr/>
        </p:nvSpPr>
        <p:spPr>
          <a:xfrm>
            <a:off x="658368" y="2884932"/>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3" name="!!ot1"/>
          <p:cNvSpPr txBox="1"/>
          <p:nvPr/>
        </p:nvSpPr>
        <p:spPr>
          <a:xfrm>
            <a:off x="1316736" y="2866644"/>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Explain</a:t>
            </a:r>
            <a:r>
              <a:rPr sz="2100" b="0" i="0">
                <a:solidFill>
                  <a:srgbClr val="1C252B"/>
                </a:solidFill>
                <a:latin typeface="Segoe UI"/>
              </a:rPr>
              <a:t> linear separability and why a single perceptron cannot learn XOR.</a:t>
            </a:r>
          </a:p>
        </p:txBody>
      </p:sp>
      <p:sp>
        <p:nvSpPr>
          <p:cNvPr id="14" name="!!ob2">
            <a:extLst>
              <a:ext uri="{C183D7F6-B498-43B3-948B-1728B52AA6E4}">
                <adec:decorative xmlns:adec="http://schemas.microsoft.com/office/drawing/2017/decorative" val="1"/>
              </a:ext>
            </a:extLst>
          </p:cNvPr>
          <p:cNvSpPr/>
          <p:nvPr/>
        </p:nvSpPr>
        <p:spPr>
          <a:xfrm>
            <a:off x="658368" y="3429000"/>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obn2"/>
          <p:cNvSpPr txBox="1"/>
          <p:nvPr/>
        </p:nvSpPr>
        <p:spPr>
          <a:xfrm>
            <a:off x="658368" y="3488436"/>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6" name="!!ot2"/>
          <p:cNvSpPr txBox="1"/>
          <p:nvPr/>
        </p:nvSpPr>
        <p:spPr>
          <a:xfrm>
            <a:off x="1316736" y="3470148"/>
            <a:ext cx="10216591" cy="420624"/>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Derive</a:t>
            </a:r>
            <a:r>
              <a:rPr sz="2100" b="0" i="0">
                <a:solidFill>
                  <a:srgbClr val="1C252B"/>
                </a:solidFill>
                <a:latin typeface="Segoe UI"/>
              </a:rPr>
              <a:t> the delta rule as gradient descent on squared error.</a:t>
            </a:r>
          </a:p>
        </p:txBody>
      </p:sp>
      <p:sp>
        <p:nvSpPr>
          <p:cNvPr id="17" name="!!ob3">
            <a:extLst>
              <a:ext uri="{C183D7F6-B498-43B3-948B-1728B52AA6E4}">
                <adec:decorative xmlns:adec="http://schemas.microsoft.com/office/drawing/2017/decorative" val="1"/>
              </a:ext>
            </a:extLst>
          </p:cNvPr>
          <p:cNvSpPr/>
          <p:nvPr/>
        </p:nvSpPr>
        <p:spPr>
          <a:xfrm>
            <a:off x="658368" y="4032504"/>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obn3"/>
          <p:cNvSpPr txBox="1"/>
          <p:nvPr/>
        </p:nvSpPr>
        <p:spPr>
          <a:xfrm>
            <a:off x="658368" y="4091940"/>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9" name="!!ot3"/>
          <p:cNvSpPr txBox="1"/>
          <p:nvPr/>
        </p:nvSpPr>
        <p:spPr>
          <a:xfrm>
            <a:off x="1316736" y="4023360"/>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Perform</a:t>
            </a:r>
            <a:r>
              <a:rPr sz="2100" b="0" i="0">
                <a:solidFill>
                  <a:srgbClr val="1C252B"/>
                </a:solidFill>
                <a:latin typeface="Segoe UI"/>
              </a:rPr>
              <a:t> one forward and backward pass of backpropagation through a small multilayer network by hand.</a:t>
            </a:r>
          </a:p>
        </p:txBody>
      </p:sp>
      <p:sp>
        <p:nvSpPr>
          <p:cNvPr id="20" name="!!ob4">
            <a:extLst>
              <a:ext uri="{C183D7F6-B498-43B3-948B-1728B52AA6E4}">
                <adec:decorative xmlns:adec="http://schemas.microsoft.com/office/drawing/2017/decorative" val="1"/>
              </a:ext>
            </a:extLst>
          </p:cNvPr>
          <p:cNvSpPr/>
          <p:nvPr/>
        </p:nvSpPr>
        <p:spPr>
          <a:xfrm>
            <a:off x="658368" y="4881067"/>
            <a:ext cx="420624" cy="420624"/>
          </a:xfrm>
          <a:prstGeom prst="ellipse">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obn4"/>
          <p:cNvSpPr txBox="1"/>
          <p:nvPr/>
        </p:nvSpPr>
        <p:spPr>
          <a:xfrm>
            <a:off x="658368" y="4940503"/>
            <a:ext cx="420624"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2" name="!!ot4"/>
          <p:cNvSpPr txBox="1"/>
          <p:nvPr/>
        </p:nvSpPr>
        <p:spPr>
          <a:xfrm>
            <a:off x="1316736" y="4871923"/>
            <a:ext cx="10216591"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1B7A43"/>
                </a:solidFill>
                <a:latin typeface="Segoe UI"/>
              </a:rPr>
              <a:t>Choose</a:t>
            </a:r>
            <a:r>
              <a:rPr sz="2100" b="0" i="0">
                <a:solidFill>
                  <a:srgbClr val="1C252B"/>
                </a:solidFill>
                <a:latin typeface="Segoe UI"/>
              </a:rPr>
              <a:t> activation functions and </a:t>
            </a:r>
            <a:r>
              <a:rPr sz="2100" b="1" i="0">
                <a:solidFill>
                  <a:srgbClr val="1C252B"/>
                </a:solidFill>
                <a:latin typeface="Segoe UI"/>
              </a:rPr>
              <a:t>apply</a:t>
            </a:r>
            <a:r>
              <a:rPr sz="2100" b="0" i="0">
                <a:solidFill>
                  <a:srgbClr val="1C252B"/>
                </a:solidFill>
                <a:latin typeface="Segoe UI"/>
              </a:rPr>
              <a:t> early stopping, weight decay and dropout against overfitting.</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85058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zoom(in)">
                                      <p:cBhvr>
                                        <p:cTn id="8" dur="300"/>
                                        <p:tgtEl>
                                          <p:spTgt spid="8"/>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300"/>
                                        <p:tgtEl>
                                          <p:spTgt spid="9"/>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10"/>
                                        </p:tgtEl>
                                        <p:attrNameLst>
                                          <p:attrName>style.visibility</p:attrName>
                                        </p:attrNameLst>
                                      </p:cBhvr>
                                      <p:to>
                                        <p:strVal val="visible"/>
                                      </p:to>
                                    </p:set>
                                    <p:animEffect transition="in" filter="wipe(right)">
                                      <p:cBhvr>
                                        <p:cTn id="14" dur="420"/>
                                        <p:tgtEl>
                                          <p:spTgt spid="10"/>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1"/>
                                        </p:tgtEl>
                                        <p:attrNameLst>
                                          <p:attrName>style.visibility</p:attrName>
                                        </p:attrNameLst>
                                      </p:cBhvr>
                                      <p:to>
                                        <p:strVal val="visible"/>
                                      </p:to>
                                    </p:set>
                                    <p:animEffect transition="in" filter="zoom(in)">
                                      <p:cBhvr>
                                        <p:cTn id="19" dur="300"/>
                                        <p:tgtEl>
                                          <p:spTgt spid="11"/>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2"/>
                                        </p:tgtEl>
                                        <p:attrNameLst>
                                          <p:attrName>style.visibility</p:attrName>
                                        </p:attrNameLst>
                                      </p:cBhvr>
                                      <p:to>
                                        <p:strVal val="visible"/>
                                      </p:to>
                                    </p:set>
                                    <p:animEffect transition="in" filter="fade">
                                      <p:cBhvr>
                                        <p:cTn id="22" dur="300"/>
                                        <p:tgtEl>
                                          <p:spTgt spid="12"/>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3"/>
                                        </p:tgtEl>
                                        <p:attrNameLst>
                                          <p:attrName>style.visibility</p:attrName>
                                        </p:attrNameLst>
                                      </p:cBhvr>
                                      <p:to>
                                        <p:strVal val="visible"/>
                                      </p:to>
                                    </p:set>
                                    <p:animEffect transition="in" filter="wipe(right)">
                                      <p:cBhvr>
                                        <p:cTn id="25" dur="420"/>
                                        <p:tgtEl>
                                          <p:spTgt spid="13"/>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4"/>
                                        </p:tgtEl>
                                        <p:attrNameLst>
                                          <p:attrName>style.visibility</p:attrName>
                                        </p:attrNameLst>
                                      </p:cBhvr>
                                      <p:to>
                                        <p:strVal val="visible"/>
                                      </p:to>
                                    </p:set>
                                    <p:animEffect transition="in" filter="zoom(in)">
                                      <p:cBhvr>
                                        <p:cTn id="30" dur="300"/>
                                        <p:tgtEl>
                                          <p:spTgt spid="14"/>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5"/>
                                        </p:tgtEl>
                                        <p:attrNameLst>
                                          <p:attrName>style.visibility</p:attrName>
                                        </p:attrNameLst>
                                      </p:cBhvr>
                                      <p:to>
                                        <p:strVal val="visible"/>
                                      </p:to>
                                    </p:set>
                                    <p:animEffect transition="in" filter="fade">
                                      <p:cBhvr>
                                        <p:cTn id="33" dur="300"/>
                                        <p:tgtEl>
                                          <p:spTgt spid="15"/>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6"/>
                                        </p:tgtEl>
                                        <p:attrNameLst>
                                          <p:attrName>style.visibility</p:attrName>
                                        </p:attrNameLst>
                                      </p:cBhvr>
                                      <p:to>
                                        <p:strVal val="visible"/>
                                      </p:to>
                                    </p:set>
                                    <p:animEffect transition="in" filter="wipe(right)">
                                      <p:cBhvr>
                                        <p:cTn id="36" dur="420"/>
                                        <p:tgtEl>
                                          <p:spTgt spid="16"/>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7"/>
                                        </p:tgtEl>
                                        <p:attrNameLst>
                                          <p:attrName>style.visibility</p:attrName>
                                        </p:attrNameLst>
                                      </p:cBhvr>
                                      <p:to>
                                        <p:strVal val="visible"/>
                                      </p:to>
                                    </p:set>
                                    <p:animEffect transition="in" filter="zoom(in)">
                                      <p:cBhvr>
                                        <p:cTn id="41" dur="300"/>
                                        <p:tgtEl>
                                          <p:spTgt spid="17"/>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8"/>
                                        </p:tgtEl>
                                        <p:attrNameLst>
                                          <p:attrName>style.visibility</p:attrName>
                                        </p:attrNameLst>
                                      </p:cBhvr>
                                      <p:to>
                                        <p:strVal val="visible"/>
                                      </p:to>
                                    </p:set>
                                    <p:animEffect transition="in" filter="fade">
                                      <p:cBhvr>
                                        <p:cTn id="44" dur="300"/>
                                        <p:tgtEl>
                                          <p:spTgt spid="18"/>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9"/>
                                        </p:tgtEl>
                                        <p:attrNameLst>
                                          <p:attrName>style.visibility</p:attrName>
                                        </p:attrNameLst>
                                      </p:cBhvr>
                                      <p:to>
                                        <p:strVal val="visible"/>
                                      </p:to>
                                    </p:set>
                                    <p:animEffect transition="in" filter="wipe(right)">
                                      <p:cBhvr>
                                        <p:cTn id="47" dur="420"/>
                                        <p:tgtEl>
                                          <p:spTgt spid="19"/>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20"/>
                                        </p:tgtEl>
                                        <p:attrNameLst>
                                          <p:attrName>style.visibility</p:attrName>
                                        </p:attrNameLst>
                                      </p:cBhvr>
                                      <p:to>
                                        <p:strVal val="visible"/>
                                      </p:to>
                                    </p:set>
                                    <p:animEffect transition="in" filter="zoom(in)">
                                      <p:cBhvr>
                                        <p:cTn id="52" dur="300"/>
                                        <p:tgtEl>
                                          <p:spTgt spid="20"/>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1"/>
                                        </p:tgtEl>
                                        <p:attrNameLst>
                                          <p:attrName>style.visibility</p:attrName>
                                        </p:attrNameLst>
                                      </p:cBhvr>
                                      <p:to>
                                        <p:strVal val="visible"/>
                                      </p:to>
                                    </p:set>
                                    <p:animEffect transition="in" filter="fade">
                                      <p:cBhvr>
                                        <p:cTn id="55" dur="300"/>
                                        <p:tgtEl>
                                          <p:spTgt spid="21"/>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2"/>
                                        </p:tgtEl>
                                        <p:attrNameLst>
                                          <p:attrName>style.visibility</p:attrName>
                                        </p:attrNameLst>
                                      </p:cBhvr>
                                      <p:to>
                                        <p:strVal val="visible"/>
                                      </p:to>
                                    </p:set>
                                    <p:animEffect transition="in" filter="wipe(right)">
                                      <p:cBhvr>
                                        <p:cTn id="58" dur="42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Vocabulary for this chapter</a:t>
            </a:r>
          </a:p>
        </p:txBody>
      </p:sp>
      <p:pic>
        <p:nvPicPr>
          <p:cNvPr id="3" name="!!kicker-icon" descr="tags-8E44AD.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7256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8E44AD"/>
                </a:solidFill>
                <a:latin typeface="Segoe UI"/>
              </a:rPr>
              <a:t>KEY TERMS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95     </a:t>
            </a:r>
            <a:fld id="{FDFFA136-4E1D-4DB0-A601-E6C8A32D1C30}" type="slidenum">
              <a:rPr lang="en-GB" sz="1000">
                <a:solidFill>
                  <a:srgbClr val="8795A1"/>
                </a:solidFill>
                <a:latin typeface="Segoe UI"/>
              </a:rPr>
              <a:t>4</a:t>
            </a:fld>
          </a:p>
        </p:txBody>
      </p:sp>
      <p:sp>
        <p:nvSpPr>
          <p:cNvPr id="7" name="!!term-artificial neu">
            <a:extLst>
              <a:ext uri="{C183D7F6-B498-43B3-948B-1728B52AA6E4}">
                <adec:decorative xmlns:adec="http://schemas.microsoft.com/office/drawing/2017/decorative" val="1"/>
              </a:ext>
            </a:extLst>
          </p:cNvPr>
          <p:cNvSpPr/>
          <p:nvPr/>
        </p:nvSpPr>
        <p:spPr>
          <a:xfrm>
            <a:off x="658368" y="1847088"/>
            <a:ext cx="177523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ermd-artificial neu">
            <a:extLst>
              <a:ext uri="{C183D7F6-B498-43B3-948B-1728B52AA6E4}">
                <adec:decorative xmlns:adec="http://schemas.microsoft.com/office/drawing/2017/decorative" val="1"/>
              </a:ext>
            </a:extLst>
          </p:cNvPr>
          <p:cNvSpPr/>
          <p:nvPr/>
        </p:nvSpPr>
        <p:spPr>
          <a:xfrm>
            <a:off x="786384"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termt-artificial neu"/>
          <p:cNvSpPr txBox="1"/>
          <p:nvPr/>
        </p:nvSpPr>
        <p:spPr>
          <a:xfrm>
            <a:off x="950976" y="1970532"/>
            <a:ext cx="159235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artificial neuron</a:t>
            </a:r>
          </a:p>
        </p:txBody>
      </p:sp>
      <p:sp>
        <p:nvSpPr>
          <p:cNvPr id="10" name="!!term-perceptron">
            <a:extLst>
              <a:ext uri="{C183D7F6-B498-43B3-948B-1728B52AA6E4}">
                <adec:decorative xmlns:adec="http://schemas.microsoft.com/office/drawing/2017/decorative" val="1"/>
              </a:ext>
            </a:extLst>
          </p:cNvPr>
          <p:cNvSpPr/>
          <p:nvPr/>
        </p:nvSpPr>
        <p:spPr>
          <a:xfrm>
            <a:off x="2579902" y="1847088"/>
            <a:ext cx="138531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termd-perceptron">
            <a:extLst>
              <a:ext uri="{C183D7F6-B498-43B3-948B-1728B52AA6E4}">
                <adec:decorative xmlns:adec="http://schemas.microsoft.com/office/drawing/2017/decorative" val="1"/>
              </a:ext>
            </a:extLst>
          </p:cNvPr>
          <p:cNvSpPr/>
          <p:nvPr/>
        </p:nvSpPr>
        <p:spPr>
          <a:xfrm>
            <a:off x="270791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termt-perceptron"/>
          <p:cNvSpPr txBox="1"/>
          <p:nvPr/>
        </p:nvSpPr>
        <p:spPr>
          <a:xfrm>
            <a:off x="2872510" y="1970532"/>
            <a:ext cx="120243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perceptron</a:t>
            </a:r>
          </a:p>
        </p:txBody>
      </p:sp>
      <p:sp>
        <p:nvSpPr>
          <p:cNvPr id="13" name="!!term-threshold unit">
            <a:extLst>
              <a:ext uri="{C183D7F6-B498-43B3-948B-1728B52AA6E4}">
                <adec:decorative xmlns:adec="http://schemas.microsoft.com/office/drawing/2017/decorative" val="1"/>
              </a:ext>
            </a:extLst>
          </p:cNvPr>
          <p:cNvSpPr/>
          <p:nvPr/>
        </p:nvSpPr>
        <p:spPr>
          <a:xfrm>
            <a:off x="4111523" y="1847088"/>
            <a:ext cx="1637765"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termd-threshold unit">
            <a:extLst>
              <a:ext uri="{C183D7F6-B498-43B3-948B-1728B52AA6E4}">
                <adec:decorative xmlns:adec="http://schemas.microsoft.com/office/drawing/2017/decorative" val="1"/>
              </a:ext>
            </a:extLst>
          </p:cNvPr>
          <p:cNvSpPr/>
          <p:nvPr/>
        </p:nvSpPr>
        <p:spPr>
          <a:xfrm>
            <a:off x="4239539"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termt-threshold unit"/>
          <p:cNvSpPr txBox="1"/>
          <p:nvPr/>
        </p:nvSpPr>
        <p:spPr>
          <a:xfrm>
            <a:off x="4404131" y="1970532"/>
            <a:ext cx="1454885"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threshold unit</a:t>
            </a:r>
          </a:p>
        </p:txBody>
      </p:sp>
      <p:sp>
        <p:nvSpPr>
          <p:cNvPr id="16" name="!!term-perceptron tra">
            <a:extLst>
              <a:ext uri="{C183D7F6-B498-43B3-948B-1728B52AA6E4}">
                <adec:decorative xmlns:adec="http://schemas.microsoft.com/office/drawing/2017/decorative" val="1"/>
              </a:ext>
            </a:extLst>
          </p:cNvPr>
          <p:cNvSpPr/>
          <p:nvPr/>
        </p:nvSpPr>
        <p:spPr>
          <a:xfrm>
            <a:off x="5895592" y="1847088"/>
            <a:ext cx="247889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termd-perceptron tra">
            <a:extLst>
              <a:ext uri="{C183D7F6-B498-43B3-948B-1728B52AA6E4}">
                <adec:decorative xmlns:adec="http://schemas.microsoft.com/office/drawing/2017/decorative" val="1"/>
              </a:ext>
            </a:extLst>
          </p:cNvPr>
          <p:cNvSpPr/>
          <p:nvPr/>
        </p:nvSpPr>
        <p:spPr>
          <a:xfrm>
            <a:off x="6023608"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termt-perceptron tra"/>
          <p:cNvSpPr txBox="1"/>
          <p:nvPr/>
        </p:nvSpPr>
        <p:spPr>
          <a:xfrm>
            <a:off x="6188200" y="1970532"/>
            <a:ext cx="229601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perceptron training rule</a:t>
            </a:r>
          </a:p>
        </p:txBody>
      </p:sp>
      <p:sp>
        <p:nvSpPr>
          <p:cNvPr id="19" name="!!term-linear separab">
            <a:extLst>
              <a:ext uri="{C183D7F6-B498-43B3-948B-1728B52AA6E4}">
                <adec:decorative xmlns:adec="http://schemas.microsoft.com/office/drawing/2017/decorative" val="1"/>
              </a:ext>
            </a:extLst>
          </p:cNvPr>
          <p:cNvSpPr/>
          <p:nvPr/>
        </p:nvSpPr>
        <p:spPr>
          <a:xfrm>
            <a:off x="8520790" y="1847088"/>
            <a:ext cx="194322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termd-linear separab">
            <a:extLst>
              <a:ext uri="{C183D7F6-B498-43B3-948B-1728B52AA6E4}">
                <adec:decorative xmlns:adec="http://schemas.microsoft.com/office/drawing/2017/decorative" val="1"/>
              </a:ext>
            </a:extLst>
          </p:cNvPr>
          <p:cNvSpPr/>
          <p:nvPr/>
        </p:nvSpPr>
        <p:spPr>
          <a:xfrm>
            <a:off x="8648806"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termt-linear separab"/>
          <p:cNvSpPr txBox="1"/>
          <p:nvPr/>
        </p:nvSpPr>
        <p:spPr>
          <a:xfrm>
            <a:off x="8813398" y="1970532"/>
            <a:ext cx="176034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linear separability</a:t>
            </a:r>
          </a:p>
        </p:txBody>
      </p:sp>
      <p:sp>
        <p:nvSpPr>
          <p:cNvPr id="22" name="!!term-XOR">
            <a:extLst>
              <a:ext uri="{C183D7F6-B498-43B3-948B-1728B52AA6E4}">
                <adec:decorative xmlns:adec="http://schemas.microsoft.com/office/drawing/2017/decorative" val="1"/>
              </a:ext>
            </a:extLst>
          </p:cNvPr>
          <p:cNvSpPr/>
          <p:nvPr/>
        </p:nvSpPr>
        <p:spPr>
          <a:xfrm>
            <a:off x="10610315" y="1847088"/>
            <a:ext cx="816228"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termd-XOR">
            <a:extLst>
              <a:ext uri="{C183D7F6-B498-43B3-948B-1728B52AA6E4}">
                <adec:decorative xmlns:adec="http://schemas.microsoft.com/office/drawing/2017/decorative" val="1"/>
              </a:ext>
            </a:extLst>
          </p:cNvPr>
          <p:cNvSpPr/>
          <p:nvPr/>
        </p:nvSpPr>
        <p:spPr>
          <a:xfrm>
            <a:off x="10738331" y="2039112"/>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termt-XOR"/>
          <p:cNvSpPr txBox="1"/>
          <p:nvPr/>
        </p:nvSpPr>
        <p:spPr>
          <a:xfrm>
            <a:off x="10902923" y="1970532"/>
            <a:ext cx="633348"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XOR</a:t>
            </a:r>
          </a:p>
        </p:txBody>
      </p:sp>
      <p:sp>
        <p:nvSpPr>
          <p:cNvPr id="25" name="!!term-delta rule">
            <a:extLst>
              <a:ext uri="{C183D7F6-B498-43B3-948B-1728B52AA6E4}">
                <adec:decorative xmlns:adec="http://schemas.microsoft.com/office/drawing/2017/decorative" val="1"/>
              </a:ext>
            </a:extLst>
          </p:cNvPr>
          <p:cNvSpPr/>
          <p:nvPr/>
        </p:nvSpPr>
        <p:spPr>
          <a:xfrm>
            <a:off x="658368" y="2468880"/>
            <a:ext cx="1246270"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6" name="!!termd-delta rule">
            <a:extLst>
              <a:ext uri="{C183D7F6-B498-43B3-948B-1728B52AA6E4}">
                <adec:decorative xmlns:adec="http://schemas.microsoft.com/office/drawing/2017/decorative" val="1"/>
              </a:ext>
            </a:extLst>
          </p:cNvPr>
          <p:cNvSpPr/>
          <p:nvPr/>
        </p:nvSpPr>
        <p:spPr>
          <a:xfrm>
            <a:off x="786384"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termt-delta rule"/>
          <p:cNvSpPr txBox="1"/>
          <p:nvPr/>
        </p:nvSpPr>
        <p:spPr>
          <a:xfrm>
            <a:off x="950976" y="2592324"/>
            <a:ext cx="1063390"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delta rule</a:t>
            </a:r>
          </a:p>
        </p:txBody>
      </p:sp>
      <p:sp>
        <p:nvSpPr>
          <p:cNvPr id="28" name="!!term-sigmoid unit">
            <a:extLst>
              <a:ext uri="{C183D7F6-B498-43B3-948B-1728B52AA6E4}">
                <adec:decorative xmlns:adec="http://schemas.microsoft.com/office/drawing/2017/decorative" val="1"/>
              </a:ext>
            </a:extLst>
          </p:cNvPr>
          <p:cNvSpPr/>
          <p:nvPr/>
        </p:nvSpPr>
        <p:spPr>
          <a:xfrm>
            <a:off x="2050942" y="2468880"/>
            <a:ext cx="151150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termd-sigmoid unit">
            <a:extLst>
              <a:ext uri="{C183D7F6-B498-43B3-948B-1728B52AA6E4}">
                <adec:decorative xmlns:adec="http://schemas.microsoft.com/office/drawing/2017/decorative" val="1"/>
              </a:ext>
            </a:extLst>
          </p:cNvPr>
          <p:cNvSpPr/>
          <p:nvPr/>
        </p:nvSpPr>
        <p:spPr>
          <a:xfrm>
            <a:off x="217895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0" name="!!termt-sigmoid unit"/>
          <p:cNvSpPr txBox="1"/>
          <p:nvPr/>
        </p:nvSpPr>
        <p:spPr>
          <a:xfrm>
            <a:off x="2343550" y="2592324"/>
            <a:ext cx="132862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sigmoid unit</a:t>
            </a:r>
          </a:p>
        </p:txBody>
      </p:sp>
      <p:sp>
        <p:nvSpPr>
          <p:cNvPr id="31" name="!!term-multilayer per">
            <a:extLst>
              <a:ext uri="{C183D7F6-B498-43B3-948B-1728B52AA6E4}">
                <adec:decorative xmlns:adec="http://schemas.microsoft.com/office/drawing/2017/decorative" val="1"/>
              </a:ext>
            </a:extLst>
          </p:cNvPr>
          <p:cNvSpPr/>
          <p:nvPr/>
        </p:nvSpPr>
        <p:spPr>
          <a:xfrm>
            <a:off x="3708749" y="2468880"/>
            <a:ext cx="22849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2" name="!!termd-multilayer per">
            <a:extLst>
              <a:ext uri="{C183D7F6-B498-43B3-948B-1728B52AA6E4}">
                <adec:decorative xmlns:adec="http://schemas.microsoft.com/office/drawing/2017/decorative" val="1"/>
              </a:ext>
            </a:extLst>
          </p:cNvPr>
          <p:cNvSpPr/>
          <p:nvPr/>
        </p:nvSpPr>
        <p:spPr>
          <a:xfrm>
            <a:off x="3836765"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termt-multilayer per"/>
          <p:cNvSpPr txBox="1"/>
          <p:nvPr/>
        </p:nvSpPr>
        <p:spPr>
          <a:xfrm>
            <a:off x="4001357" y="2592324"/>
            <a:ext cx="210207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multilayer perceptron</a:t>
            </a:r>
          </a:p>
        </p:txBody>
      </p:sp>
      <p:sp>
        <p:nvSpPr>
          <p:cNvPr id="34" name="!!term-hidden layer">
            <a:extLst>
              <a:ext uri="{C183D7F6-B498-43B3-948B-1728B52AA6E4}">
                <adec:decorative xmlns:adec="http://schemas.microsoft.com/office/drawing/2017/decorative" val="1"/>
              </a:ext>
            </a:extLst>
          </p:cNvPr>
          <p:cNvSpPr/>
          <p:nvPr/>
        </p:nvSpPr>
        <p:spPr>
          <a:xfrm>
            <a:off x="6140010" y="2468880"/>
            <a:ext cx="149885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termd-hidden layer">
            <a:extLst>
              <a:ext uri="{C183D7F6-B498-43B3-948B-1728B52AA6E4}">
                <adec:decorative xmlns:adec="http://schemas.microsoft.com/office/drawing/2017/decorative" val="1"/>
              </a:ext>
            </a:extLst>
          </p:cNvPr>
          <p:cNvSpPr/>
          <p:nvPr/>
        </p:nvSpPr>
        <p:spPr>
          <a:xfrm>
            <a:off x="6268026"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termt-hidden layer"/>
          <p:cNvSpPr txBox="1"/>
          <p:nvPr/>
        </p:nvSpPr>
        <p:spPr>
          <a:xfrm>
            <a:off x="6432618" y="2592324"/>
            <a:ext cx="131597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hidden layer</a:t>
            </a:r>
          </a:p>
        </p:txBody>
      </p:sp>
      <p:sp>
        <p:nvSpPr>
          <p:cNvPr id="37" name="!!term-forward pass">
            <a:extLst>
              <a:ext uri="{C183D7F6-B498-43B3-948B-1728B52AA6E4}">
                <adec:decorative xmlns:adec="http://schemas.microsoft.com/office/drawing/2017/decorative" val="1"/>
              </a:ext>
            </a:extLst>
          </p:cNvPr>
          <p:cNvSpPr/>
          <p:nvPr/>
        </p:nvSpPr>
        <p:spPr>
          <a:xfrm>
            <a:off x="7785172" y="2468880"/>
            <a:ext cx="1533891"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termd-forward pass">
            <a:extLst>
              <a:ext uri="{C183D7F6-B498-43B3-948B-1728B52AA6E4}">
                <adec:decorative xmlns:adec="http://schemas.microsoft.com/office/drawing/2017/decorative" val="1"/>
              </a:ext>
            </a:extLst>
          </p:cNvPr>
          <p:cNvSpPr/>
          <p:nvPr/>
        </p:nvSpPr>
        <p:spPr>
          <a:xfrm>
            <a:off x="7913188"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termt-forward pass"/>
          <p:cNvSpPr txBox="1"/>
          <p:nvPr/>
        </p:nvSpPr>
        <p:spPr>
          <a:xfrm>
            <a:off x="8077780" y="2592324"/>
            <a:ext cx="1351011"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forward pass</a:t>
            </a:r>
          </a:p>
        </p:txBody>
      </p:sp>
      <p:sp>
        <p:nvSpPr>
          <p:cNvPr id="40" name="!!term-backpropagatio">
            <a:extLst>
              <a:ext uri="{C183D7F6-B498-43B3-948B-1728B52AA6E4}">
                <adec:decorative xmlns:adec="http://schemas.microsoft.com/office/drawing/2017/decorative" val="1"/>
              </a:ext>
            </a:extLst>
          </p:cNvPr>
          <p:cNvSpPr/>
          <p:nvPr/>
        </p:nvSpPr>
        <p:spPr>
          <a:xfrm>
            <a:off x="9465367" y="2468880"/>
            <a:ext cx="1897284"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1" name="!!termd-backpropagatio">
            <a:extLst>
              <a:ext uri="{C183D7F6-B498-43B3-948B-1728B52AA6E4}">
                <adec:decorative xmlns:adec="http://schemas.microsoft.com/office/drawing/2017/decorative" val="1"/>
              </a:ext>
            </a:extLst>
          </p:cNvPr>
          <p:cNvSpPr/>
          <p:nvPr/>
        </p:nvSpPr>
        <p:spPr>
          <a:xfrm>
            <a:off x="9593383" y="2660904"/>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2" name="!!termt-backpropagatio"/>
          <p:cNvSpPr txBox="1"/>
          <p:nvPr/>
        </p:nvSpPr>
        <p:spPr>
          <a:xfrm>
            <a:off x="9757975" y="2592324"/>
            <a:ext cx="1714404"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backpropagation</a:t>
            </a:r>
          </a:p>
        </p:txBody>
      </p:sp>
      <p:sp>
        <p:nvSpPr>
          <p:cNvPr id="43" name="!!term-epoch">
            <a:extLst>
              <a:ext uri="{C183D7F6-B498-43B3-948B-1728B52AA6E4}">
                <adec:decorative xmlns:adec="http://schemas.microsoft.com/office/drawing/2017/decorative" val="1"/>
              </a:ext>
            </a:extLst>
          </p:cNvPr>
          <p:cNvSpPr/>
          <p:nvPr/>
        </p:nvSpPr>
        <p:spPr>
          <a:xfrm>
            <a:off x="658368" y="3090672"/>
            <a:ext cx="96840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4" name="!!termd-epoch">
            <a:extLst>
              <a:ext uri="{C183D7F6-B498-43B3-948B-1728B52AA6E4}">
                <adec:decorative xmlns:adec="http://schemas.microsoft.com/office/drawing/2017/decorative" val="1"/>
              </a:ext>
            </a:extLst>
          </p:cNvPr>
          <p:cNvSpPr/>
          <p:nvPr/>
        </p:nvSpPr>
        <p:spPr>
          <a:xfrm>
            <a:off x="78638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5" name="!!termt-epoch"/>
          <p:cNvSpPr txBox="1"/>
          <p:nvPr/>
        </p:nvSpPr>
        <p:spPr>
          <a:xfrm>
            <a:off x="950976" y="3214116"/>
            <a:ext cx="78552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epoch</a:t>
            </a:r>
          </a:p>
        </p:txBody>
      </p:sp>
      <p:sp>
        <p:nvSpPr>
          <p:cNvPr id="46" name="!!term-activation fun">
            <a:extLst>
              <a:ext uri="{C183D7F6-B498-43B3-948B-1728B52AA6E4}">
                <adec:decorative xmlns:adec="http://schemas.microsoft.com/office/drawing/2017/decorative" val="1"/>
              </a:ext>
            </a:extLst>
          </p:cNvPr>
          <p:cNvSpPr/>
          <p:nvPr/>
        </p:nvSpPr>
        <p:spPr>
          <a:xfrm>
            <a:off x="1773078" y="3090672"/>
            <a:ext cx="202967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7" name="!!termd-activation fun">
            <a:extLst>
              <a:ext uri="{C183D7F6-B498-43B3-948B-1728B52AA6E4}">
                <adec:decorative xmlns:adec="http://schemas.microsoft.com/office/drawing/2017/decorative" val="1"/>
              </a:ext>
            </a:extLst>
          </p:cNvPr>
          <p:cNvSpPr/>
          <p:nvPr/>
        </p:nvSpPr>
        <p:spPr>
          <a:xfrm>
            <a:off x="190109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termt-activation fun"/>
          <p:cNvSpPr txBox="1"/>
          <p:nvPr/>
        </p:nvSpPr>
        <p:spPr>
          <a:xfrm>
            <a:off x="2065686" y="3214116"/>
            <a:ext cx="184679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activation function</a:t>
            </a:r>
          </a:p>
        </p:txBody>
      </p:sp>
      <p:sp>
        <p:nvSpPr>
          <p:cNvPr id="49" name="!!term-ReLU">
            <a:extLst>
              <a:ext uri="{C183D7F6-B498-43B3-948B-1728B52AA6E4}">
                <adec:decorative xmlns:adec="http://schemas.microsoft.com/office/drawing/2017/decorative" val="1"/>
              </a:ext>
            </a:extLst>
          </p:cNvPr>
          <p:cNvSpPr/>
          <p:nvPr/>
        </p:nvSpPr>
        <p:spPr>
          <a:xfrm>
            <a:off x="3949056" y="3090672"/>
            <a:ext cx="881616"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0" name="!!termd-ReLU">
            <a:extLst>
              <a:ext uri="{C183D7F6-B498-43B3-948B-1728B52AA6E4}">
                <adec:decorative xmlns:adec="http://schemas.microsoft.com/office/drawing/2017/decorative" val="1"/>
              </a:ext>
            </a:extLst>
          </p:cNvPr>
          <p:cNvSpPr/>
          <p:nvPr/>
        </p:nvSpPr>
        <p:spPr>
          <a:xfrm>
            <a:off x="4077072"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1" name="!!termt-ReLU"/>
          <p:cNvSpPr txBox="1"/>
          <p:nvPr/>
        </p:nvSpPr>
        <p:spPr>
          <a:xfrm>
            <a:off x="4241664" y="3214116"/>
            <a:ext cx="698736"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ReLU</a:t>
            </a:r>
          </a:p>
        </p:txBody>
      </p:sp>
      <p:sp>
        <p:nvSpPr>
          <p:cNvPr id="52" name="!!term-early stopping">
            <a:extLst>
              <a:ext uri="{C183D7F6-B498-43B3-948B-1728B52AA6E4}">
                <adec:decorative xmlns:adec="http://schemas.microsoft.com/office/drawing/2017/decorative" val="1"/>
              </a:ext>
            </a:extLst>
          </p:cNvPr>
          <p:cNvSpPr/>
          <p:nvPr/>
        </p:nvSpPr>
        <p:spPr>
          <a:xfrm>
            <a:off x="4976977" y="3090672"/>
            <a:ext cx="1663429"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3" name="!!termd-early stopping">
            <a:extLst>
              <a:ext uri="{C183D7F6-B498-43B3-948B-1728B52AA6E4}">
                <adec:decorative xmlns:adec="http://schemas.microsoft.com/office/drawing/2017/decorative" val="1"/>
              </a:ext>
            </a:extLst>
          </p:cNvPr>
          <p:cNvSpPr/>
          <p:nvPr/>
        </p:nvSpPr>
        <p:spPr>
          <a:xfrm>
            <a:off x="5104993"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4" name="!!termt-early stopping"/>
          <p:cNvSpPr txBox="1"/>
          <p:nvPr/>
        </p:nvSpPr>
        <p:spPr>
          <a:xfrm>
            <a:off x="5269585" y="3214116"/>
            <a:ext cx="1480549"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early stopping</a:t>
            </a:r>
          </a:p>
        </p:txBody>
      </p:sp>
      <p:sp>
        <p:nvSpPr>
          <p:cNvPr id="55" name="!!term-weight decay">
            <a:extLst>
              <a:ext uri="{C183D7F6-B498-43B3-948B-1728B52AA6E4}">
                <adec:decorative xmlns:adec="http://schemas.microsoft.com/office/drawing/2017/decorative" val="1"/>
              </a:ext>
            </a:extLst>
          </p:cNvPr>
          <p:cNvSpPr/>
          <p:nvPr/>
        </p:nvSpPr>
        <p:spPr>
          <a:xfrm>
            <a:off x="6786710" y="3090672"/>
            <a:ext cx="1570363"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6" name="!!termd-weight decay">
            <a:extLst>
              <a:ext uri="{C183D7F6-B498-43B3-948B-1728B52AA6E4}">
                <adec:decorative xmlns:adec="http://schemas.microsoft.com/office/drawing/2017/decorative" val="1"/>
              </a:ext>
            </a:extLst>
          </p:cNvPr>
          <p:cNvSpPr/>
          <p:nvPr/>
        </p:nvSpPr>
        <p:spPr>
          <a:xfrm>
            <a:off x="6914726"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7" name="!!termt-weight decay"/>
          <p:cNvSpPr txBox="1"/>
          <p:nvPr/>
        </p:nvSpPr>
        <p:spPr>
          <a:xfrm>
            <a:off x="7079318" y="3214116"/>
            <a:ext cx="1387483"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weight decay</a:t>
            </a:r>
          </a:p>
        </p:txBody>
      </p:sp>
      <p:sp>
        <p:nvSpPr>
          <p:cNvPr id="58" name="!!term-dropout">
            <a:extLst>
              <a:ext uri="{C183D7F6-B498-43B3-948B-1728B52AA6E4}">
                <adec:decorative xmlns:adec="http://schemas.microsoft.com/office/drawing/2017/decorative" val="1"/>
              </a:ext>
            </a:extLst>
          </p:cNvPr>
          <p:cNvSpPr/>
          <p:nvPr/>
        </p:nvSpPr>
        <p:spPr>
          <a:xfrm>
            <a:off x="8503378" y="3090672"/>
            <a:ext cx="1138777" cy="475488"/>
          </a:xfrm>
          <a:prstGeom prst="roundRect">
            <a:avLst>
              <a:gd name="adj" fmla="val 50000"/>
            </a:avLst>
          </a:prstGeom>
          <a:solidFill>
            <a:srgbClr val="F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9" name="!!termd-dropout">
            <a:extLst>
              <a:ext uri="{C183D7F6-B498-43B3-948B-1728B52AA6E4}">
                <adec:decorative xmlns:adec="http://schemas.microsoft.com/office/drawing/2017/decorative" val="1"/>
              </a:ext>
            </a:extLst>
          </p:cNvPr>
          <p:cNvSpPr/>
          <p:nvPr/>
        </p:nvSpPr>
        <p:spPr>
          <a:xfrm>
            <a:off x="8631394" y="3282696"/>
            <a:ext cx="91440" cy="91440"/>
          </a:xfrm>
          <a:prstGeom prst="ellipse">
            <a:avLst/>
          </a:prstGeom>
          <a:solidFill>
            <a:srgbClr val="8E44A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termt-dropout"/>
          <p:cNvSpPr txBox="1"/>
          <p:nvPr/>
        </p:nvSpPr>
        <p:spPr>
          <a:xfrm>
            <a:off x="8795986" y="3214116"/>
            <a:ext cx="955897" cy="310896"/>
          </a:xfrm>
          <a:prstGeom prst="rect">
            <a:avLst/>
          </a:prstGeom>
          <a:noFill/>
        </p:spPr>
        <p:txBody>
          <a:bodyPr wrap="none" anchor="t" lIns="0" rIns="0" tIns="0" bIns="0">
            <a:noAutofit/>
          </a:bodyPr>
          <a:lstStyle/>
          <a:p>
            <a:pPr algn="l">
              <a:lnSpc>
                <a:spcPct val="100000"/>
              </a:lnSpc>
              <a:spcBef>
                <a:spcPts val="0"/>
              </a:spcBef>
              <a:spcAft>
                <a:spcPts val="0"/>
              </a:spcAft>
            </a:pPr>
            <a:r>
              <a:rPr sz="1500" b="0" i="0">
                <a:solidFill>
                  <a:srgbClr val="1C252B"/>
                </a:solidFill>
                <a:latin typeface="Segoe UI"/>
              </a:rPr>
              <a:t>dropout</a:t>
            </a:r>
          </a:p>
        </p:txBody>
      </p:sp>
      <p:sp>
        <p:nvSpPr>
          <p:cNvPr id="61" name="!!termnote"/>
          <p:cNvSpPr txBox="1"/>
          <p:nvPr/>
        </p:nvSpPr>
        <p:spPr>
          <a:xfrm>
            <a:off x="658368" y="3913632"/>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350" b="0" i="1">
                <a:solidFill>
                  <a:srgbClr val="5F6F7B"/>
                </a:solidFill>
                <a:latin typeface="Segoe UI"/>
              </a:rPr>
              <a:t>Each term is defined where it first matters — not here.</a:t>
            </a:r>
          </a:p>
        </p:txBody>
      </p:sp>
      <p:sp>
        <p:nvSpPr>
          <p:cNvPr id="6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3" name="!!pfill">
            <a:extLst>
              <a:ext uri="{C183D7F6-B498-43B3-948B-1728B52AA6E4}">
                <adec:decorative xmlns:adec="http://schemas.microsoft.com/office/drawing/2017/decorative" val="1"/>
              </a:ext>
            </a:extLst>
          </p:cNvPr>
          <p:cNvSpPr/>
          <p:nvPr/>
        </p:nvSpPr>
        <p:spPr>
          <a:xfrm>
            <a:off x="0" y="0"/>
            <a:ext cx="113411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In this chapter</a:t>
            </a:r>
          </a:p>
        </p:txBody>
      </p:sp>
      <p:pic>
        <p:nvPicPr>
          <p:cNvPr id="3" name="!!kicker-icon" descr="list-ul-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6883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IN THIS CHAPTER</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pp. 95–102     </a:t>
            </a:r>
            <a:fld id="{21498CE1-7BB2-4C09-96E2-D1652FA6A260}" type="slidenum">
              <a:rPr lang="en-GB" sz="1000">
                <a:solidFill>
                  <a:srgbClr val="8795A1"/>
                </a:solidFill>
                <a:latin typeface="Segoe UI"/>
              </a:rPr>
              <a:t>5</a:t>
            </a:fld>
          </a:p>
        </p:txBody>
      </p:sp>
      <p:sp>
        <p:nvSpPr>
          <p:cNvPr id="7" name="!!ag0" descr="Go to section 13.1 From Neurons to Units">
            <a:hlinkClick action="ppaction://hlinksldjump" r:id="rId5"/>
          </p:cNvPr>
          <p:cNvSpPr/>
          <p:nvPr/>
        </p:nvSpPr>
        <p:spPr>
          <a:xfrm>
            <a:off x="658368" y="17739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agb0">
            <a:extLst>
              <a:ext uri="{C183D7F6-B498-43B3-948B-1728B52AA6E4}">
                <adec:decorative xmlns:adec="http://schemas.microsoft.com/office/drawing/2017/decorative" val="1"/>
              </a:ext>
            </a:extLst>
          </p:cNvPr>
          <p:cNvSpPr/>
          <p:nvPr/>
        </p:nvSpPr>
        <p:spPr>
          <a:xfrm>
            <a:off x="658368" y="17739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agn0"/>
          <p:cNvSpPr txBox="1"/>
          <p:nvPr/>
        </p:nvSpPr>
        <p:spPr>
          <a:xfrm>
            <a:off x="932688" y="19202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13.1</a:t>
            </a:r>
          </a:p>
        </p:txBody>
      </p:sp>
      <p:sp>
        <p:nvSpPr>
          <p:cNvPr id="10" name="!!agt0"/>
          <p:cNvSpPr txBox="1"/>
          <p:nvPr/>
        </p:nvSpPr>
        <p:spPr>
          <a:xfrm>
            <a:off x="1847088" y="19202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From Neurons to Units</a:t>
            </a:r>
          </a:p>
        </p:txBody>
      </p:sp>
      <p:sp>
        <p:nvSpPr>
          <p:cNvPr id="11" name="!!agp0"/>
          <p:cNvSpPr txBox="1"/>
          <p:nvPr/>
        </p:nvSpPr>
        <p:spPr>
          <a:xfrm>
            <a:off x="9795967" y="19476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95  ›</a:t>
            </a:r>
          </a:p>
        </p:txBody>
      </p:sp>
      <p:sp>
        <p:nvSpPr>
          <p:cNvPr id="12" name="!!ag1" descr="Go to section 13.2 The Perceptron">
            <a:hlinkClick action="ppaction://hlinksldjump" r:id="rId6"/>
          </p:cNvPr>
          <p:cNvSpPr/>
          <p:nvPr/>
        </p:nvSpPr>
        <p:spPr>
          <a:xfrm>
            <a:off x="658368" y="2414015"/>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agb1">
            <a:extLst>
              <a:ext uri="{C183D7F6-B498-43B3-948B-1728B52AA6E4}">
                <adec:decorative xmlns:adec="http://schemas.microsoft.com/office/drawing/2017/decorative" val="1"/>
              </a:ext>
            </a:extLst>
          </p:cNvPr>
          <p:cNvSpPr/>
          <p:nvPr/>
        </p:nvSpPr>
        <p:spPr>
          <a:xfrm>
            <a:off x="658368" y="2414015"/>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agn1"/>
          <p:cNvSpPr txBox="1"/>
          <p:nvPr/>
        </p:nvSpPr>
        <p:spPr>
          <a:xfrm>
            <a:off x="932688" y="25603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13.2</a:t>
            </a:r>
          </a:p>
        </p:txBody>
      </p:sp>
      <p:sp>
        <p:nvSpPr>
          <p:cNvPr id="15" name="!!agt1"/>
          <p:cNvSpPr txBox="1"/>
          <p:nvPr/>
        </p:nvSpPr>
        <p:spPr>
          <a:xfrm>
            <a:off x="1847088" y="25603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The Perceptron</a:t>
            </a:r>
          </a:p>
        </p:txBody>
      </p:sp>
      <p:sp>
        <p:nvSpPr>
          <p:cNvPr id="16" name="!!agp1"/>
          <p:cNvSpPr txBox="1"/>
          <p:nvPr/>
        </p:nvSpPr>
        <p:spPr>
          <a:xfrm>
            <a:off x="9795967" y="2587751"/>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96  ›</a:t>
            </a:r>
          </a:p>
        </p:txBody>
      </p:sp>
      <p:sp>
        <p:nvSpPr>
          <p:cNvPr id="17" name="!!ag2" descr="Go to section 13.3 Linear Separability and XOR">
            <a:hlinkClick action="ppaction://hlinksldjump" r:id="rId7"/>
          </p:cNvPr>
          <p:cNvSpPr/>
          <p:nvPr/>
        </p:nvSpPr>
        <p:spPr>
          <a:xfrm>
            <a:off x="658368" y="305409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agb2">
            <a:extLst>
              <a:ext uri="{C183D7F6-B498-43B3-948B-1728B52AA6E4}">
                <adec:decorative xmlns:adec="http://schemas.microsoft.com/office/drawing/2017/decorative" val="1"/>
              </a:ext>
            </a:extLst>
          </p:cNvPr>
          <p:cNvSpPr/>
          <p:nvPr/>
        </p:nvSpPr>
        <p:spPr>
          <a:xfrm>
            <a:off x="658368" y="305409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agn2"/>
          <p:cNvSpPr txBox="1"/>
          <p:nvPr/>
        </p:nvSpPr>
        <p:spPr>
          <a:xfrm>
            <a:off x="932688" y="320040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13.3</a:t>
            </a:r>
          </a:p>
        </p:txBody>
      </p:sp>
      <p:sp>
        <p:nvSpPr>
          <p:cNvPr id="20" name="!!agt2"/>
          <p:cNvSpPr txBox="1"/>
          <p:nvPr/>
        </p:nvSpPr>
        <p:spPr>
          <a:xfrm>
            <a:off x="1847088" y="320040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Linear Separability and XOR</a:t>
            </a:r>
          </a:p>
        </p:txBody>
      </p:sp>
      <p:sp>
        <p:nvSpPr>
          <p:cNvPr id="21" name="!!agp2"/>
          <p:cNvSpPr txBox="1"/>
          <p:nvPr/>
        </p:nvSpPr>
        <p:spPr>
          <a:xfrm>
            <a:off x="9795967" y="322783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97  ›</a:t>
            </a:r>
          </a:p>
        </p:txBody>
      </p:sp>
      <p:sp>
        <p:nvSpPr>
          <p:cNvPr id="22" name="!!ag3" descr="Go to section 13.4 Gradient Descent and the Delta Rule">
            <a:hlinkClick action="ppaction://hlinksldjump" r:id="rId8"/>
          </p:cNvPr>
          <p:cNvSpPr/>
          <p:nvPr/>
        </p:nvSpPr>
        <p:spPr>
          <a:xfrm>
            <a:off x="658368" y="369417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agb3">
            <a:extLst>
              <a:ext uri="{C183D7F6-B498-43B3-948B-1728B52AA6E4}">
                <adec:decorative xmlns:adec="http://schemas.microsoft.com/office/drawing/2017/decorative" val="1"/>
              </a:ext>
            </a:extLst>
          </p:cNvPr>
          <p:cNvSpPr/>
          <p:nvPr/>
        </p:nvSpPr>
        <p:spPr>
          <a:xfrm>
            <a:off x="658368" y="369417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agn3"/>
          <p:cNvSpPr txBox="1"/>
          <p:nvPr/>
        </p:nvSpPr>
        <p:spPr>
          <a:xfrm>
            <a:off x="932688" y="384048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13.4</a:t>
            </a:r>
          </a:p>
        </p:txBody>
      </p:sp>
      <p:sp>
        <p:nvSpPr>
          <p:cNvPr id="25" name="!!agt3"/>
          <p:cNvSpPr txBox="1"/>
          <p:nvPr/>
        </p:nvSpPr>
        <p:spPr>
          <a:xfrm>
            <a:off x="1847088" y="384048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Gradient Descent and the Delta Rule</a:t>
            </a:r>
          </a:p>
        </p:txBody>
      </p:sp>
      <p:sp>
        <p:nvSpPr>
          <p:cNvPr id="26" name="!!agp3"/>
          <p:cNvSpPr txBox="1"/>
          <p:nvPr/>
        </p:nvSpPr>
        <p:spPr>
          <a:xfrm>
            <a:off x="9795967" y="386791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97  ›</a:t>
            </a:r>
          </a:p>
        </p:txBody>
      </p:sp>
      <p:sp>
        <p:nvSpPr>
          <p:cNvPr id="27" name="!!ag4" descr="Go to section 13.5 Multilayer Networks and Backpropagation">
            <a:hlinkClick action="ppaction://hlinksldjump" r:id="rId9"/>
          </p:cNvPr>
          <p:cNvSpPr/>
          <p:nvPr/>
        </p:nvSpPr>
        <p:spPr>
          <a:xfrm>
            <a:off x="658368" y="433425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8" name="!!agb4">
            <a:extLst>
              <a:ext uri="{C183D7F6-B498-43B3-948B-1728B52AA6E4}">
                <adec:decorative xmlns:adec="http://schemas.microsoft.com/office/drawing/2017/decorative" val="1"/>
              </a:ext>
            </a:extLst>
          </p:cNvPr>
          <p:cNvSpPr/>
          <p:nvPr/>
        </p:nvSpPr>
        <p:spPr>
          <a:xfrm>
            <a:off x="658368" y="433425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9" name="!!agn4"/>
          <p:cNvSpPr txBox="1"/>
          <p:nvPr/>
        </p:nvSpPr>
        <p:spPr>
          <a:xfrm>
            <a:off x="932688" y="448056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13.5</a:t>
            </a:r>
          </a:p>
        </p:txBody>
      </p:sp>
      <p:sp>
        <p:nvSpPr>
          <p:cNvPr id="30" name="!!agt4"/>
          <p:cNvSpPr txBox="1"/>
          <p:nvPr/>
        </p:nvSpPr>
        <p:spPr>
          <a:xfrm>
            <a:off x="1847088" y="448056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Multilayer Networks and Backpropagation</a:t>
            </a:r>
          </a:p>
        </p:txBody>
      </p:sp>
      <p:sp>
        <p:nvSpPr>
          <p:cNvPr id="31" name="!!agp4"/>
          <p:cNvSpPr txBox="1"/>
          <p:nvPr/>
        </p:nvSpPr>
        <p:spPr>
          <a:xfrm>
            <a:off x="9795967" y="450799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97  ›</a:t>
            </a:r>
          </a:p>
        </p:txBody>
      </p:sp>
      <p:sp>
        <p:nvSpPr>
          <p:cNvPr id="32" name="!!ag5" descr="Go to section 13.6 Activation Functions and Outputs">
            <a:hlinkClick action="ppaction://hlinksldjump" r:id="rId10"/>
          </p:cNvPr>
          <p:cNvSpPr/>
          <p:nvPr/>
        </p:nvSpPr>
        <p:spPr>
          <a:xfrm>
            <a:off x="658368" y="497433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3" name="!!agb5">
            <a:extLst>
              <a:ext uri="{C183D7F6-B498-43B3-948B-1728B52AA6E4}">
                <adec:decorative xmlns:adec="http://schemas.microsoft.com/office/drawing/2017/decorative" val="1"/>
              </a:ext>
            </a:extLst>
          </p:cNvPr>
          <p:cNvSpPr/>
          <p:nvPr/>
        </p:nvSpPr>
        <p:spPr>
          <a:xfrm>
            <a:off x="658368" y="497433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4" name="!!agn5"/>
          <p:cNvSpPr txBox="1"/>
          <p:nvPr/>
        </p:nvSpPr>
        <p:spPr>
          <a:xfrm>
            <a:off x="932688" y="512064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13.6</a:t>
            </a:r>
          </a:p>
        </p:txBody>
      </p:sp>
      <p:sp>
        <p:nvSpPr>
          <p:cNvPr id="35" name="!!agt5"/>
          <p:cNvSpPr txBox="1"/>
          <p:nvPr/>
        </p:nvSpPr>
        <p:spPr>
          <a:xfrm>
            <a:off x="1847088" y="512064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Activation Functions and Outputs</a:t>
            </a:r>
          </a:p>
        </p:txBody>
      </p:sp>
      <p:sp>
        <p:nvSpPr>
          <p:cNvPr id="36" name="!!agp5"/>
          <p:cNvSpPr txBox="1"/>
          <p:nvPr/>
        </p:nvSpPr>
        <p:spPr>
          <a:xfrm>
            <a:off x="9795967" y="514807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99  ›</a:t>
            </a:r>
          </a:p>
        </p:txBody>
      </p:sp>
      <p:sp>
        <p:nvSpPr>
          <p:cNvPr id="37" name="!!ag6" descr="Go to section 13.7 Training Well: Overfitting and Its Cures">
            <a:hlinkClick action="ppaction://hlinksldjump" r:id="rId11"/>
          </p:cNvPr>
          <p:cNvSpPr/>
          <p:nvPr/>
        </p:nvSpPr>
        <p:spPr>
          <a:xfrm>
            <a:off x="658368" y="5614416"/>
            <a:ext cx="10874959" cy="566928"/>
          </a:xfrm>
          <a:prstGeom prst="roundRect">
            <a:avLst>
              <a:gd name="adj" fmla="val 9677"/>
            </a:avLst>
          </a:prstGeom>
          <a:solidFill>
            <a:srgbClr val="F4F7F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8" name="!!agb6">
            <a:extLst>
              <a:ext uri="{C183D7F6-B498-43B3-948B-1728B52AA6E4}">
                <adec:decorative xmlns:adec="http://schemas.microsoft.com/office/drawing/2017/decorative" val="1"/>
              </a:ext>
            </a:extLst>
          </p:cNvPr>
          <p:cNvSpPr/>
          <p:nvPr/>
        </p:nvSpPr>
        <p:spPr>
          <a:xfrm>
            <a:off x="658368" y="5614416"/>
            <a:ext cx="64008" cy="566928"/>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9" name="!!agn6"/>
          <p:cNvSpPr txBox="1"/>
          <p:nvPr/>
        </p:nvSpPr>
        <p:spPr>
          <a:xfrm>
            <a:off x="932688" y="5760720"/>
            <a:ext cx="914400" cy="329184"/>
          </a:xfrm>
          <a:prstGeom prst="rect">
            <a:avLst/>
          </a:prstGeom>
          <a:noFill/>
        </p:spPr>
        <p:txBody>
          <a:bodyPr wrap="square" anchor="t" lIns="0" rIns="0" tIns="0" bIns="0">
            <a:noAutofit/>
          </a:bodyPr>
          <a:lstStyle/>
          <a:p>
            <a:pPr algn="l">
              <a:lnSpc>
                <a:spcPct val="100000"/>
              </a:lnSpc>
              <a:spcBef>
                <a:spcPts val="0"/>
              </a:spcBef>
              <a:spcAft>
                <a:spcPts val="0"/>
              </a:spcAft>
            </a:pPr>
            <a:r>
              <a:rPr sz="1800" b="1" i="0">
                <a:solidFill>
                  <a:srgbClr val="1B7A43"/>
                </a:solidFill>
                <a:latin typeface="Segoe UI Semibold"/>
              </a:rPr>
              <a:t>13.7</a:t>
            </a:r>
          </a:p>
        </p:txBody>
      </p:sp>
      <p:sp>
        <p:nvSpPr>
          <p:cNvPr id="40" name="!!agt6"/>
          <p:cNvSpPr txBox="1"/>
          <p:nvPr/>
        </p:nvSpPr>
        <p:spPr>
          <a:xfrm>
            <a:off x="1847088" y="5760720"/>
            <a:ext cx="8131759" cy="329184"/>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Training Well: Overfitting and Its Cures</a:t>
            </a:r>
          </a:p>
        </p:txBody>
      </p:sp>
      <p:sp>
        <p:nvSpPr>
          <p:cNvPr id="41" name="!!agp6"/>
          <p:cNvSpPr txBox="1"/>
          <p:nvPr/>
        </p:nvSpPr>
        <p:spPr>
          <a:xfrm>
            <a:off x="9795967" y="5788152"/>
            <a:ext cx="1554480" cy="329184"/>
          </a:xfrm>
          <a:prstGeom prst="rect">
            <a:avLst/>
          </a:prstGeom>
          <a:noFill/>
        </p:spPr>
        <p:txBody>
          <a:bodyPr wrap="square" anchor="t" lIns="0" rIns="0" tIns="0" bIns="0">
            <a:noAutofit/>
          </a:bodyPr>
          <a:lstStyle/>
          <a:p>
            <a:pPr algn="r">
              <a:lnSpc>
                <a:spcPct val="100000"/>
              </a:lnSpc>
              <a:spcBef>
                <a:spcPts val="0"/>
              </a:spcBef>
              <a:spcAft>
                <a:spcPts val="0"/>
              </a:spcAft>
            </a:pPr>
            <a:r>
              <a:rPr sz="1500" b="0" i="0">
                <a:solidFill>
                  <a:srgbClr val="5F6F7B"/>
                </a:solidFill>
                <a:latin typeface="Segoe UI"/>
              </a:rPr>
              <a:t>p. 99  ›</a:t>
            </a:r>
          </a:p>
        </p:txBody>
      </p:sp>
      <p:sp>
        <p:nvSpPr>
          <p:cNvPr id="4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3" name="!!pfill">
            <a:extLst>
              <a:ext uri="{C183D7F6-B498-43B3-948B-1728B52AA6E4}">
                <adec:decorative xmlns:adec="http://schemas.microsoft.com/office/drawing/2017/decorative" val="1"/>
              </a:ext>
            </a:extLst>
          </p:cNvPr>
          <p:cNvSpPr/>
          <p:nvPr/>
        </p:nvSpPr>
        <p:spPr>
          <a:xfrm>
            <a:off x="0" y="0"/>
            <a:ext cx="141763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From Neurons to Units</a:t>
            </a:r>
          </a:p>
        </p:txBody>
      </p:sp>
      <p:pic>
        <p:nvPicPr>
          <p:cNvPr id="3" name="!!kicker-icon" descr="quote-left-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KEY IDEA</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§13.1  ·  Handout p. 95     </a:t>
            </a:r>
            <a:fld id="{E98A3E01-178D-4120-AC4C-C0786F3B5468}" type="slidenum">
              <a:rPr lang="en-GB" sz="1000">
                <a:solidFill>
                  <a:srgbClr val="8795A1"/>
                </a:solidFill>
                <a:latin typeface="Segoe UI"/>
              </a:rPr>
              <a:t>6</a:t>
            </a:fld>
          </a:p>
        </p:txBody>
      </p:sp>
      <p:sp>
        <p:nvSpPr>
          <p:cNvPr id="7" name="!!stbar">
            <a:extLst>
              <a:ext uri="{C183D7F6-B498-43B3-948B-1728B52AA6E4}">
                <adec:decorative xmlns:adec="http://schemas.microsoft.com/office/drawing/2017/decorative" val="1"/>
              </a:ext>
            </a:extLst>
          </p:cNvPr>
          <p:cNvSpPr/>
          <p:nvPr/>
        </p:nvSpPr>
        <p:spPr>
          <a:xfrm>
            <a:off x="658368" y="1810512"/>
            <a:ext cx="73152" cy="3590036"/>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body-0"/>
          <p:cNvSpPr txBox="1"/>
          <p:nvPr/>
        </p:nvSpPr>
        <p:spPr>
          <a:xfrm>
            <a:off x="1042415" y="1792224"/>
            <a:ext cx="10417759" cy="1947672"/>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A biological neuron receives signals from thousands of others, and fires if their combined stimulation exceeds a threshold. Learning, roughly, changes the strength of the connections. An </a:t>
            </a:r>
            <a:r>
              <a:rPr sz="2000" b="1" i="0">
                <a:solidFill>
                  <a:srgbClr val="1A5276"/>
                </a:solidFill>
                <a:latin typeface="Segoe UI"/>
              </a:rPr>
              <a:t>artificial neural network</a:t>
            </a:r>
            <a:r>
              <a:rPr sz="2000" b="0" i="0">
                <a:solidFill>
                  <a:srgbClr val="1C252B"/>
                </a:solidFill>
                <a:latin typeface="Segoe UI"/>
              </a:rPr>
              <a:t> keeps just that much of the biology: many simple </a:t>
            </a:r>
            <a:r>
              <a:rPr sz="2000" b="0" i="1">
                <a:solidFill>
                  <a:srgbClr val="1C252B"/>
                </a:solidFill>
                <a:latin typeface="Segoe UI"/>
              </a:rPr>
              <a:t>units</a:t>
            </a:r>
            <a:r>
              <a:rPr sz="2000" b="0" i="0">
                <a:solidFill>
                  <a:srgbClr val="1C252B"/>
                </a:solidFill>
                <a:latin typeface="Segoe UI"/>
              </a:rPr>
              <a:t>, each computing a weighted sum of its inputs and passing it through a simple function, connected so that the outputs of some are the inputs of others. Everything the network knows is in the connection weights, and learning means adjusting them.</a:t>
            </a:r>
          </a:p>
        </p:txBody>
      </p:sp>
      <p:sp>
        <p:nvSpPr>
          <p:cNvPr id="9" name="body-1"/>
          <p:cNvSpPr txBox="1"/>
          <p:nvPr/>
        </p:nvSpPr>
        <p:spPr>
          <a:xfrm>
            <a:off x="1042415" y="3833876"/>
            <a:ext cx="10417759" cy="1630680"/>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Networks are the right tool when the input is high-dimensional and raw — in project work, the full text of tickets and commit messages, or the complete event history of every task in a tracker — when the target function is complex and unknown, when some noise is acceptable, when long training times are acceptable, and when nobody needs to read the learned function. Networks of this kind, made deep, are the whole of deep learning.</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170116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9"/>
                                        </p:tgtEl>
                                        <p:attrNameLst>
                                          <p:attrName>style.visibility</p:attrName>
                                        </p:attrNameLst>
                                      </p:cBhvr>
                                      <p:to>
                                        <p:strVal val="visible"/>
                                      </p:to>
                                    </p:set>
                                    <p:animEffect transition="in" filter="fade">
                                      <p:cBhvr>
                                        <p:cTn id="8" dur="450"/>
                                        <p:tgtEl>
                                          <p:spTgt spid="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The Perceptron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2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13.2</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13.1   From Neurons to Units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13.2   The Perceptron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13.3   Linear Separability and XOR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13.4   Gradient Descent and the Delta Rule</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13.5   Multilayer Networks and Backpropagation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13.6   Activation Functions and Outputs</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13.7   Training Well: Overfitting and Its Cures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§13.2     </a:t>
            </a:r>
            <a:fld id="{8BA48075-7236-478F-B506-DED448DA65AF}" type="slidenum">
              <a:rPr lang="en-GB" sz="1000">
                <a:solidFill>
                  <a:srgbClr val="8795A1"/>
                </a:solidFill>
                <a:latin typeface="Segoe UI"/>
              </a:rPr>
              <a:t>7</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198469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Perceptron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§13.2  ·  Handout p. 96     </a:t>
            </a:r>
            <a:fld id="{5ABA93C4-8094-492E-8DED-8D07B549599F}" type="slidenum">
              <a:rPr lang="en-GB" sz="1000">
                <a:solidFill>
                  <a:srgbClr val="8795A1"/>
                </a:solidFill>
                <a:latin typeface="Segoe UI"/>
              </a:rPr>
              <a:t>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344103"/>
          </a:xfrm>
          <a:prstGeom prst="roundRect">
            <a:avLst>
              <a:gd name="adj" fmla="val 2734"/>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344103"/>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410260"/>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perceptron</a:t>
            </a:r>
            <a:r>
              <a:rPr sz="2300" b="0" i="0">
                <a:solidFill>
                  <a:srgbClr val="1C252B"/>
                </a:solidFill>
                <a:latin typeface="Segoe UI"/>
              </a:rPr>
              <a:t> computes a weighted sum of its inputs and thresholds it:</a:t>
            </a:r>
          </a:p>
        </p:txBody>
      </p:sp>
      <p:pic>
        <p:nvPicPr>
          <p:cNvPr id="10" name="body-1" descr="o(\mathbf{x}) = \begin{cases} 1 &amp; \text{if } w_0 + w_1 x_1 + \dots + w_d x_d &gt; 0 \\ 0 &amp; \text{otherwise} \end{case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573451"/>
            <a:ext cx="10161727" cy="942837"/>
          </a:xfrm>
          <a:prstGeom prst="rect">
            <a:avLst/>
          </a:prstGeom>
        </p:spPr>
      </p:pic>
      <p:sp>
        <p:nvSpPr>
          <p:cNvPr id="11" name="body-2"/>
          <p:cNvSpPr txBox="1"/>
          <p:nvPr/>
        </p:nvSpPr>
        <p:spPr>
          <a:xfrm>
            <a:off x="1060704" y="3676944"/>
            <a:ext cx="10161727" cy="1139342"/>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With a constant input </a:t>
            </a:r>
            <a:r>
              <a:rPr sz="2300" b="0" i="1">
                <a:solidFill>
                  <a:srgbClr val="1C252B"/>
                </a:solidFill>
                <a:latin typeface="Cambria"/>
              </a:rPr>
              <a:t>x</a:t>
            </a:r>
            <a:r>
              <a:rPr sz="2300" b="0" i="0" baseline="-25000">
                <a:solidFill>
                  <a:srgbClr val="1C252B"/>
                </a:solidFill>
                <a:latin typeface="Cambria"/>
              </a:rPr>
              <a:t>0</a:t>
            </a:r>
            <a:r>
              <a:rPr sz="2300" b="0" i="0">
                <a:solidFill>
                  <a:srgbClr val="1C252B"/>
                </a:solidFill>
                <a:latin typeface="Cambria"/>
              </a:rPr>
              <a:t> = 1</a:t>
            </a:r>
            <a:r>
              <a:rPr sz="2300" b="0" i="0">
                <a:solidFill>
                  <a:srgbClr val="1C252B"/>
                </a:solidFill>
                <a:latin typeface="Segoe UI"/>
              </a:rPr>
              <a:t> the bias </a:t>
            </a:r>
            <a:r>
              <a:rPr sz="2300" b="0" i="1">
                <a:solidFill>
                  <a:srgbClr val="1C252B"/>
                </a:solidFill>
                <a:latin typeface="Cambria"/>
              </a:rPr>
              <a:t>w</a:t>
            </a:r>
            <a:r>
              <a:rPr sz="2300" b="0" i="0" baseline="-25000">
                <a:solidFill>
                  <a:srgbClr val="1C252B"/>
                </a:solidFill>
                <a:latin typeface="Cambria"/>
              </a:rPr>
              <a:t>0</a:t>
            </a:r>
            <a:r>
              <a:rPr sz="2300" b="0" i="0">
                <a:solidFill>
                  <a:srgbClr val="1C252B"/>
                </a:solidFill>
                <a:latin typeface="Segoe UI"/>
              </a:rPr>
              <a:t> is just another weight, and the unit computes step</a:t>
            </a:r>
            <a:r>
              <a:rPr sz="2300" b="0" i="0">
                <a:solidFill>
                  <a:srgbClr val="1C252B"/>
                </a:solidFill>
                <a:latin typeface="Cambria"/>
              </a:rPr>
              <a:t>(</a:t>
            </a:r>
            <a:r>
              <a:rPr sz="2300" b="1" i="1">
                <a:solidFill>
                  <a:srgbClr val="1C252B"/>
                </a:solidFill>
                <a:latin typeface="Cambria"/>
              </a:rPr>
              <a:t>w</a:t>
            </a:r>
            <a:r>
              <a:rPr sz="2300" b="0" i="0">
                <a:solidFill>
                  <a:srgbClr val="1C252B"/>
                </a:solidFill>
                <a:latin typeface="Cambria"/>
              </a:rPr>
              <a:t>·</a:t>
            </a:r>
            <a:r>
              <a:rPr sz="2300" b="1" i="1">
                <a:solidFill>
                  <a:srgbClr val="1C252B"/>
                </a:solidFill>
                <a:latin typeface="Cambria"/>
              </a:rPr>
              <a:t>x</a:t>
            </a:r>
            <a:r>
              <a:rPr sz="2300" b="0" i="0">
                <a:solidFill>
                  <a:srgbClr val="1C252B"/>
                </a:solidFill>
                <a:latin typeface="Cambria"/>
              </a:rPr>
              <a:t>)</a:t>
            </a:r>
            <a:r>
              <a:rPr sz="2300" b="0" i="0">
                <a:solidFill>
                  <a:srgbClr val="1C252B"/>
                </a:solidFill>
                <a:latin typeface="Segoe UI"/>
              </a:rPr>
              <a:t>. Its decision boundary is the hyperplane </a:t>
            </a:r>
            <a:r>
              <a:rPr sz="2300" b="1" i="1">
                <a:solidFill>
                  <a:srgbClr val="1C252B"/>
                </a:solidFill>
                <a:latin typeface="Cambria"/>
              </a:rPr>
              <a:t>w</a:t>
            </a:r>
            <a:r>
              <a:rPr sz="2300" b="0" i="0">
                <a:solidFill>
                  <a:srgbClr val="1C252B"/>
                </a:solidFill>
                <a:latin typeface="Cambria"/>
              </a:rPr>
              <a:t>·</a:t>
            </a:r>
            <a:r>
              <a:rPr sz="2300" b="1" i="1">
                <a:solidFill>
                  <a:srgbClr val="1C252B"/>
                </a:solidFill>
                <a:latin typeface="Cambria"/>
              </a:rPr>
              <a:t>x</a:t>
            </a:r>
            <a:r>
              <a:rPr sz="2300" b="0" i="0">
                <a:solidFill>
                  <a:srgbClr val="1C252B"/>
                </a:solidFill>
                <a:latin typeface="Cambria"/>
              </a:rPr>
              <a:t> = 0</a:t>
            </a:r>
            <a:r>
              <a:rPr sz="2300" b="0" i="0">
                <a:solidFill>
                  <a:srgbClr val="1C252B"/>
                </a:solidFill>
                <a:latin typeface="Segoe UI"/>
              </a:rPr>
              <a:t> — the same family as logistic regression and the linear SVM.</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26822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 perceptron: a weighted sum of the inputs, then a threshold</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13.1</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§13.2  ·  Handout p. 96     </a:t>
            </a:r>
            <a:fld id="{142EEB6C-E7C7-400E-B397-463D29CE097D}" type="slidenum">
              <a:rPr lang="en-GB" sz="1000">
                <a:solidFill>
                  <a:srgbClr val="8795A1"/>
                </a:solidFill>
                <a:latin typeface="Segoe UI"/>
              </a:rPr>
              <a:t>9</a:t>
            </a:fld>
          </a:p>
        </p:txBody>
      </p:sp>
      <p:pic>
        <p:nvPicPr>
          <p:cNvPr id="6" name="!!figure" descr="Figure 13.1. A perceptron: a weighted sum of the inputs, then a threshold. The bias is a weight on a constant input of 1. With the weights shown on the right it computes logical AND."/>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777340"/>
            <a:ext cx="10874959" cy="3781491"/>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bias is a weight on a constant input of 1. With the weights shown on the right it computes logical AND.</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255175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Perceptron Training Rule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§13.2  ·  Handout p. 96     </a:t>
            </a:r>
            <a:fld id="{D6F8FA05-C00D-4006-A12C-F3D3E75E6E91}" type="slidenum">
              <a:rPr lang="en-GB" sz="1000">
                <a:solidFill>
                  <a:srgbClr val="8795A1"/>
                </a:solidFill>
                <a:latin typeface="Segoe UI"/>
              </a:rPr>
              <a:t>10</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887713"/>
          </a:xfrm>
          <a:prstGeom prst="roundRect">
            <a:avLst>
              <a:gd name="adj" fmla="val 2352"/>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887713"/>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774801"/>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Start from small (or zero) weights. For each training example with target </a:t>
            </a:r>
            <a:r>
              <a:rPr sz="2300" b="0" i="1">
                <a:solidFill>
                  <a:srgbClr val="1C252B"/>
                </a:solidFill>
                <a:latin typeface="Cambria"/>
              </a:rPr>
              <a:t>t</a:t>
            </a:r>
            <a:r>
              <a:rPr sz="2300" b="0" i="0">
                <a:solidFill>
                  <a:srgbClr val="1C252B"/>
                </a:solidFill>
                <a:latin typeface="Segoe UI"/>
              </a:rPr>
              <a:t> and current output </a:t>
            </a:r>
            <a:r>
              <a:rPr sz="2300" b="0" i="1">
                <a:solidFill>
                  <a:srgbClr val="1C252B"/>
                </a:solidFill>
                <a:latin typeface="Cambria"/>
              </a:rPr>
              <a:t>o</a:t>
            </a:r>
            <a:r>
              <a:rPr sz="2300" b="0" i="0">
                <a:solidFill>
                  <a:srgbClr val="1C252B"/>
                </a:solidFill>
                <a:latin typeface="Segoe UI"/>
              </a:rPr>
              <a:t>, update every weight:</a:t>
            </a:r>
          </a:p>
        </p:txBody>
      </p:sp>
      <p:pic>
        <p:nvPicPr>
          <p:cNvPr id="10" name="body-1" descr="w_i \leftarrow w_i + \eta\,(t - o)\,x_i"/>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937992"/>
            <a:ext cx="10161727" cy="392826"/>
          </a:xfrm>
          <a:prstGeom prst="rect">
            <a:avLst/>
          </a:prstGeom>
        </p:spPr>
      </p:pic>
      <p:sp>
        <p:nvSpPr>
          <p:cNvPr id="11" name="body-2"/>
          <p:cNvSpPr txBox="1"/>
          <p:nvPr/>
        </p:nvSpPr>
        <p:spPr>
          <a:xfrm>
            <a:off x="1060704" y="3491473"/>
            <a:ext cx="10161727" cy="186842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Correct outputs change nothing; a missed positive pushes the weights towards the input, a false positive pushes them away. If the training examples are </a:t>
            </a:r>
            <a:r>
              <a:rPr sz="2300" b="1" i="0">
                <a:solidFill>
                  <a:srgbClr val="1A5276"/>
                </a:solidFill>
                <a:latin typeface="Segoe UI"/>
              </a:rPr>
              <a:t>linearly separable</a:t>
            </a:r>
            <a:r>
              <a:rPr sz="2300" b="0" i="0">
                <a:solidFill>
                  <a:srgbClr val="1C252B"/>
                </a:solidFill>
                <a:latin typeface="Segoe UI"/>
              </a:rPr>
              <a:t> — some hyperplane separates the classes perfectly — this procedure is guaranteed to find one in a finite number of steps, for any sufficiently small learning rate </a:t>
            </a:r>
            <a:r>
              <a:rPr sz="2300" b="0" i="0">
                <a:solidFill>
                  <a:srgbClr val="1C252B"/>
                </a:solidFill>
                <a:latin typeface="Cambria"/>
              </a:rPr>
              <a:t>η</a:t>
            </a:r>
            <a:r>
              <a:rPr sz="2300" b="0" i="0">
                <a:solidFill>
                  <a:srgbClr val="1C252B"/>
                </a:solidFill>
                <a:latin typeface="Segoe UI"/>
              </a:rPr>
              <a:t>.</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283527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Training a Perceptron to Compute AND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§13.2  ·  Handout p. 96     </a:t>
            </a:r>
            <a:fld id="{20F5F7EB-E026-49C2-81DF-6F9A3EC2AF4F}" type="slidenum">
              <a:rPr lang="en-GB" sz="1000">
                <a:solidFill>
                  <a:srgbClr val="8795A1"/>
                </a:solidFill>
                <a:latin typeface="Segoe UI"/>
              </a:rPr>
              <a:t>11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54651"/>
          </a:xfrm>
          <a:prstGeom prst="roundRect">
            <a:avLst>
              <a:gd name="adj" fmla="val 2052"/>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54651"/>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0" i="0">
                <a:solidFill>
                  <a:srgbClr val="1C252B"/>
                </a:solidFill>
                <a:latin typeface="Segoe UI"/>
              </a:rPr>
              <a:t>Inputs with bias </a:t>
            </a:r>
            <a:r>
              <a:rPr sz="2000" b="0" i="1">
                <a:solidFill>
                  <a:srgbClr val="1C252B"/>
                </a:solidFill>
                <a:latin typeface="Cambria"/>
              </a:rPr>
              <a:t>x</a:t>
            </a:r>
            <a:r>
              <a:rPr sz="2000" b="0" i="0" baseline="-25000">
                <a:solidFill>
                  <a:srgbClr val="1C252B"/>
                </a:solidFill>
                <a:latin typeface="Cambria"/>
              </a:rPr>
              <a:t>0</a:t>
            </a:r>
            <a:r>
              <a:rPr sz="2000" b="0" i="0">
                <a:solidFill>
                  <a:srgbClr val="1C252B"/>
                </a:solidFill>
                <a:latin typeface="Cambria"/>
              </a:rPr>
              <a:t> = 1</a:t>
            </a:r>
            <a:r>
              <a:rPr sz="2000" b="0" i="0">
                <a:solidFill>
                  <a:srgbClr val="1C252B"/>
                </a:solidFill>
                <a:latin typeface="Segoe UI"/>
              </a:rPr>
              <a:t>; weights </a:t>
            </a:r>
            <a:r>
              <a:rPr sz="2000" b="0" i="0">
                <a:solidFill>
                  <a:srgbClr val="1C252B"/>
                </a:solidFill>
                <a:latin typeface="Cambria"/>
              </a:rPr>
              <a:t>(</a:t>
            </a:r>
            <a:r>
              <a:rPr sz="2000" b="0" i="1">
                <a:solidFill>
                  <a:srgbClr val="1C252B"/>
                </a:solidFill>
                <a:latin typeface="Cambria"/>
              </a:rPr>
              <a:t>w</a:t>
            </a:r>
            <a:r>
              <a:rPr sz="2000" b="0" i="0" baseline="-25000">
                <a:solidFill>
                  <a:srgbClr val="1C252B"/>
                </a:solidFill>
                <a:latin typeface="Cambria"/>
              </a:rPr>
              <a:t>0</a:t>
            </a:r>
            <a:r>
              <a:rPr sz="2000" b="0" i="0">
                <a:solidFill>
                  <a:srgbClr val="1C252B"/>
                </a:solidFill>
                <a:latin typeface="Cambria"/>
              </a:rPr>
              <a:t>, </a:t>
            </a:r>
            <a:r>
              <a:rPr sz="2000" b="0" i="1">
                <a:solidFill>
                  <a:srgbClr val="1C252B"/>
                </a:solidFill>
                <a:latin typeface="Cambria"/>
              </a:rPr>
              <a:t>w</a:t>
            </a:r>
            <a:r>
              <a:rPr sz="2000" b="0" i="0" baseline="-25000">
                <a:solidFill>
                  <a:srgbClr val="1C252B"/>
                </a:solidFill>
                <a:latin typeface="Cambria"/>
              </a:rPr>
              <a:t>1</a:t>
            </a:r>
            <a:r>
              <a:rPr sz="2000" b="0" i="0">
                <a:solidFill>
                  <a:srgbClr val="1C252B"/>
                </a:solidFill>
                <a:latin typeface="Cambria"/>
              </a:rPr>
              <a:t>, </a:t>
            </a:r>
            <a:r>
              <a:rPr sz="2000" b="0" i="1">
                <a:solidFill>
                  <a:srgbClr val="1C252B"/>
                </a:solidFill>
                <a:latin typeface="Cambria"/>
              </a:rPr>
              <a:t>w</a:t>
            </a:r>
            <a:r>
              <a:rPr sz="2000" b="0" i="0" baseline="-25000">
                <a:solidFill>
                  <a:srgbClr val="1C252B"/>
                </a:solidFill>
                <a:latin typeface="Cambria"/>
              </a:rPr>
              <a:t>2</a:t>
            </a:r>
            <a:r>
              <a:rPr sz="2000" b="0" i="0">
                <a:solidFill>
                  <a:srgbClr val="1C252B"/>
                </a:solidFill>
                <a:latin typeface="Cambria"/>
              </a:rPr>
              <a:t>)</a:t>
            </a:r>
            <a:r>
              <a:rPr sz="2000" b="0" i="0">
                <a:solidFill>
                  <a:srgbClr val="1C252B"/>
                </a:solidFill>
                <a:latin typeface="Segoe UI"/>
              </a:rPr>
              <a:t> start at </a:t>
            </a:r>
            <a:r>
              <a:rPr sz="2000" b="0" i="0">
                <a:solidFill>
                  <a:srgbClr val="1C252B"/>
                </a:solidFill>
                <a:latin typeface="Cambria"/>
              </a:rPr>
              <a:t>(0, 0, 0)</a:t>
            </a:r>
            <a:r>
              <a:rPr sz="2000" b="0" i="0">
                <a:solidFill>
                  <a:srgbClr val="1C252B"/>
                </a:solidFill>
                <a:latin typeface="Segoe UI"/>
              </a:rPr>
              <a:t>; </a:t>
            </a:r>
            <a:r>
              <a:rPr sz="2000" b="0" i="0">
                <a:solidFill>
                  <a:srgbClr val="1C252B"/>
                </a:solidFill>
                <a:latin typeface="Cambria"/>
              </a:rPr>
              <a:t>η = 0.5</a:t>
            </a:r>
            <a:r>
              <a:rPr sz="2000" b="0" i="0">
                <a:solidFill>
                  <a:srgbClr val="1C252B"/>
                </a:solidFill>
                <a:latin typeface="Segoe UI"/>
              </a:rPr>
              <a:t>. The output is 1 only if </a:t>
            </a:r>
            <a:r>
              <a:rPr sz="2000" b="1" i="1">
                <a:solidFill>
                  <a:srgbClr val="1C252B"/>
                </a:solidFill>
                <a:latin typeface="Cambria"/>
              </a:rPr>
              <a:t>w</a:t>
            </a:r>
            <a:r>
              <a:rPr sz="2000" b="0" i="0">
                <a:solidFill>
                  <a:srgbClr val="1C252B"/>
                </a:solidFill>
                <a:latin typeface="Cambria"/>
              </a:rPr>
              <a:t>·</a:t>
            </a:r>
            <a:r>
              <a:rPr sz="2000" b="1" i="1">
                <a:solidFill>
                  <a:srgbClr val="1C252B"/>
                </a:solidFill>
                <a:latin typeface="Cambria"/>
              </a:rPr>
              <a:t>x</a:t>
            </a:r>
            <a:r>
              <a:rPr sz="2000" b="0" i="0">
                <a:solidFill>
                  <a:srgbClr val="1C252B"/>
                </a:solidFill>
                <a:latin typeface="Cambria"/>
              </a:rPr>
              <a:t> &gt; 0</a:t>
            </a:r>
            <a:r>
              <a:rPr sz="2000" b="0" i="0">
                <a:solidFill>
                  <a:srgbClr val="1C252B"/>
                </a:solidFill>
                <a:latin typeface="Segoe UI"/>
              </a:rPr>
              <a:t>.</a:t>
            </a:r>
          </a:p>
        </p:txBody>
      </p:sp>
      <p:sp>
        <p:nvSpPr>
          <p:cNvPr id="10" name="body-1"/>
          <p:cNvSpPr txBox="1"/>
          <p:nvPr/>
        </p:nvSpPr>
        <p:spPr>
          <a:xfrm>
            <a:off x="1042416" y="2785363"/>
            <a:ext cx="10234879" cy="679704"/>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Epoch 1.</a:t>
            </a:r>
            <a:r>
              <a:rPr sz="2000" b="0" i="0">
                <a:solidFill>
                  <a:srgbClr val="1C252B"/>
                </a:solidFill>
                <a:latin typeface="Segoe UI"/>
              </a:rPr>
              <a:t> </a:t>
            </a:r>
            <a:r>
              <a:rPr sz="2000" b="0" i="0">
                <a:solidFill>
                  <a:srgbClr val="1C252B"/>
                </a:solidFill>
                <a:latin typeface="Cambria"/>
              </a:rPr>
              <a:t>(0,0)</a:t>
            </a:r>
            <a:r>
              <a:rPr sz="2000" b="0" i="0">
                <a:solidFill>
                  <a:srgbClr val="1C252B"/>
                </a:solidFill>
                <a:latin typeface="Segoe UI"/>
              </a:rPr>
              <a:t>, </a:t>
            </a:r>
            <a:r>
              <a:rPr sz="2000" b="0" i="0">
                <a:solidFill>
                  <a:srgbClr val="1C252B"/>
                </a:solidFill>
                <a:latin typeface="Cambria"/>
              </a:rPr>
              <a:t>(0,1)</a:t>
            </a:r>
            <a:r>
              <a:rPr sz="2000" b="0" i="0">
                <a:solidFill>
                  <a:srgbClr val="1C252B"/>
                </a:solidFill>
                <a:latin typeface="Segoe UI"/>
              </a:rPr>
              <a:t>, </a:t>
            </a:r>
            <a:r>
              <a:rPr sz="2000" b="0" i="0">
                <a:solidFill>
                  <a:srgbClr val="1C252B"/>
                </a:solidFill>
                <a:latin typeface="Cambria"/>
              </a:rPr>
              <a:t>(1,0)</a:t>
            </a:r>
            <a:r>
              <a:rPr sz="2000" b="0" i="0">
                <a:solidFill>
                  <a:srgbClr val="1C252B"/>
                </a:solidFill>
                <a:latin typeface="Segoe UI"/>
              </a:rPr>
              <a:t>: net </a:t>
            </a:r>
            <a:r>
              <a:rPr sz="2000" b="0" i="0">
                <a:solidFill>
                  <a:srgbClr val="1C252B"/>
                </a:solidFill>
                <a:latin typeface="Cambria"/>
              </a:rPr>
              <a:t>= 0</a:t>
            </a:r>
            <a:r>
              <a:rPr sz="2000" b="0" i="0">
                <a:solidFill>
                  <a:srgbClr val="1C252B"/>
                </a:solidFill>
                <a:latin typeface="Segoe UI"/>
              </a:rPr>
              <a:t>, output 0, target 0 — no change. </a:t>
            </a:r>
            <a:r>
              <a:rPr sz="2000" b="0" i="0">
                <a:solidFill>
                  <a:srgbClr val="1C252B"/>
                </a:solidFill>
                <a:latin typeface="Cambria"/>
              </a:rPr>
              <a:t>(1,1)</a:t>
            </a:r>
            <a:r>
              <a:rPr sz="2000" b="0" i="0">
                <a:solidFill>
                  <a:srgbClr val="1C252B"/>
                </a:solidFill>
                <a:latin typeface="Segoe UI"/>
              </a:rPr>
              <a:t>: net </a:t>
            </a:r>
            <a:r>
              <a:rPr sz="2000" b="0" i="0">
                <a:solidFill>
                  <a:srgbClr val="1C252B"/>
                </a:solidFill>
                <a:latin typeface="Cambria"/>
              </a:rPr>
              <a:t>0</a:t>
            </a:r>
            <a:r>
              <a:rPr sz="2000" b="0" i="0">
                <a:solidFill>
                  <a:srgbClr val="1C252B"/>
                </a:solidFill>
                <a:latin typeface="Segoe UI"/>
              </a:rPr>
              <a:t>, output 0, target 1 — update by </a:t>
            </a:r>
            <a:r>
              <a:rPr sz="2000" b="0" i="0">
                <a:solidFill>
                  <a:srgbClr val="1C252B"/>
                </a:solidFill>
                <a:latin typeface="Cambria"/>
              </a:rPr>
              <a:t>0.5 × (1 − 0) × (1, 1, 1)</a:t>
            </a:r>
            <a:r>
              <a:rPr sz="2000" b="0" i="0">
                <a:solidFill>
                  <a:srgbClr val="1C252B"/>
                </a:solidFill>
                <a:latin typeface="Segoe UI"/>
              </a:rPr>
              <a:t>: </a:t>
            </a:r>
            <a:r>
              <a:rPr sz="2000" b="1" i="1">
                <a:solidFill>
                  <a:srgbClr val="1C252B"/>
                </a:solidFill>
                <a:latin typeface="Cambria"/>
              </a:rPr>
              <a:t>w</a:t>
            </a:r>
            <a:r>
              <a:rPr sz="2000" b="0" i="0">
                <a:solidFill>
                  <a:srgbClr val="1C252B"/>
                </a:solidFill>
                <a:latin typeface="Cambria"/>
              </a:rPr>
              <a:t> = (0.5, 0.5, 0.5)</a:t>
            </a:r>
            <a:r>
              <a:rPr sz="2000" b="0" i="0">
                <a:solidFill>
                  <a:srgbClr val="1C252B"/>
                </a:solidFill>
                <a:latin typeface="Segoe UI"/>
              </a:rPr>
              <a:t>.</a:t>
            </a:r>
          </a:p>
        </p:txBody>
      </p:sp>
      <p:sp>
        <p:nvSpPr>
          <p:cNvPr id="11" name="body-2"/>
          <p:cNvSpPr txBox="1"/>
          <p:nvPr/>
        </p:nvSpPr>
        <p:spPr>
          <a:xfrm>
            <a:off x="1042416" y="3559047"/>
            <a:ext cx="10234879" cy="996696"/>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Epoch 2.</a:t>
            </a:r>
            <a:r>
              <a:rPr sz="2000" b="0" i="0">
                <a:solidFill>
                  <a:srgbClr val="1C252B"/>
                </a:solidFill>
                <a:latin typeface="Segoe UI"/>
              </a:rPr>
              <a:t> </a:t>
            </a:r>
            <a:r>
              <a:rPr sz="2000" b="0" i="0">
                <a:solidFill>
                  <a:srgbClr val="1C252B"/>
                </a:solidFill>
                <a:latin typeface="Cambria"/>
              </a:rPr>
              <a:t>(0,0)</a:t>
            </a:r>
            <a:r>
              <a:rPr sz="2000" b="0" i="0">
                <a:solidFill>
                  <a:srgbClr val="1C252B"/>
                </a:solidFill>
                <a:latin typeface="Segoe UI"/>
              </a:rPr>
              <a:t>: net </a:t>
            </a:r>
            <a:r>
              <a:rPr sz="2000" b="0" i="0">
                <a:solidFill>
                  <a:srgbClr val="1C252B"/>
                </a:solidFill>
                <a:latin typeface="Cambria"/>
              </a:rPr>
              <a:t>0.5</a:t>
            </a:r>
            <a:r>
              <a:rPr sz="2000" b="0" i="0">
                <a:solidFill>
                  <a:srgbClr val="1C252B"/>
                </a:solidFill>
                <a:latin typeface="Segoe UI"/>
              </a:rPr>
              <a:t>, output 1, target 0 — subtract </a:t>
            </a:r>
            <a:r>
              <a:rPr sz="2000" b="0" i="0">
                <a:solidFill>
                  <a:srgbClr val="1C252B"/>
                </a:solidFill>
                <a:latin typeface="Cambria"/>
              </a:rPr>
              <a:t>0.5 × (1,0,0)</a:t>
            </a:r>
            <a:r>
              <a:rPr sz="2000" b="0" i="0">
                <a:solidFill>
                  <a:srgbClr val="1C252B"/>
                </a:solidFill>
                <a:latin typeface="Segoe UI"/>
              </a:rPr>
              <a:t>: </a:t>
            </a:r>
            <a:r>
              <a:rPr sz="2000" b="1" i="1">
                <a:solidFill>
                  <a:srgbClr val="1C252B"/>
                </a:solidFill>
                <a:latin typeface="Cambria"/>
              </a:rPr>
              <a:t>w</a:t>
            </a:r>
            <a:r>
              <a:rPr sz="2000" b="0" i="0">
                <a:solidFill>
                  <a:srgbClr val="1C252B"/>
                </a:solidFill>
                <a:latin typeface="Cambria"/>
              </a:rPr>
              <a:t> = (0, 0.5, 0.5)</a:t>
            </a:r>
            <a:r>
              <a:rPr sz="2000" b="0" i="0">
                <a:solidFill>
                  <a:srgbClr val="1C252B"/>
                </a:solidFill>
                <a:latin typeface="Segoe UI"/>
              </a:rPr>
              <a:t>. </a:t>
            </a:r>
            <a:r>
              <a:rPr sz="2000" b="0" i="0">
                <a:solidFill>
                  <a:srgbClr val="1C252B"/>
                </a:solidFill>
                <a:latin typeface="Cambria"/>
              </a:rPr>
              <a:t>(0,1)</a:t>
            </a:r>
            <a:r>
              <a:rPr sz="2000" b="0" i="0">
                <a:solidFill>
                  <a:srgbClr val="1C252B"/>
                </a:solidFill>
                <a:latin typeface="Segoe UI"/>
              </a:rPr>
              <a:t>: net </a:t>
            </a:r>
            <a:r>
              <a:rPr sz="2000" b="0" i="0">
                <a:solidFill>
                  <a:srgbClr val="1C252B"/>
                </a:solidFill>
                <a:latin typeface="Cambria"/>
              </a:rPr>
              <a:t>0.5</a:t>
            </a:r>
            <a:r>
              <a:rPr sz="2000" b="0" i="0">
                <a:solidFill>
                  <a:srgbClr val="1C252B"/>
                </a:solidFill>
                <a:latin typeface="Segoe UI"/>
              </a:rPr>
              <a:t>, output 1 — subtract </a:t>
            </a:r>
            <a:r>
              <a:rPr sz="2000" b="0" i="0">
                <a:solidFill>
                  <a:srgbClr val="1C252B"/>
                </a:solidFill>
                <a:latin typeface="Cambria"/>
              </a:rPr>
              <a:t>0.5 × (1,0,1)</a:t>
            </a:r>
            <a:r>
              <a:rPr sz="2000" b="0" i="0">
                <a:solidFill>
                  <a:srgbClr val="1C252B"/>
                </a:solidFill>
                <a:latin typeface="Segoe UI"/>
              </a:rPr>
              <a:t>: </a:t>
            </a:r>
            <a:r>
              <a:rPr sz="2000" b="1" i="1">
                <a:solidFill>
                  <a:srgbClr val="1C252B"/>
                </a:solidFill>
                <a:latin typeface="Cambria"/>
              </a:rPr>
              <a:t>w</a:t>
            </a:r>
            <a:r>
              <a:rPr sz="2000" b="0" i="0">
                <a:solidFill>
                  <a:srgbClr val="1C252B"/>
                </a:solidFill>
                <a:latin typeface="Cambria"/>
              </a:rPr>
              <a:t> = (−0.5, 0.5, 0)</a:t>
            </a:r>
            <a:r>
              <a:rPr sz="2000" b="0" i="0">
                <a:solidFill>
                  <a:srgbClr val="1C252B"/>
                </a:solidFill>
                <a:latin typeface="Segoe UI"/>
              </a:rPr>
              <a:t>. </a:t>
            </a:r>
            <a:r>
              <a:rPr sz="2000" b="0" i="0">
                <a:solidFill>
                  <a:srgbClr val="1C252B"/>
                </a:solidFill>
                <a:latin typeface="Cambria"/>
              </a:rPr>
              <a:t>(1,0)</a:t>
            </a:r>
            <a:r>
              <a:rPr sz="2000" b="0" i="0">
                <a:solidFill>
                  <a:srgbClr val="1C252B"/>
                </a:solidFill>
                <a:latin typeface="Segoe UI"/>
              </a:rPr>
              <a:t>: net </a:t>
            </a:r>
            <a:r>
              <a:rPr sz="2000" b="0" i="0">
                <a:solidFill>
                  <a:srgbClr val="1C252B"/>
                </a:solidFill>
                <a:latin typeface="Cambria"/>
              </a:rPr>
              <a:t>0</a:t>
            </a:r>
            <a:r>
              <a:rPr sz="2000" b="0" i="0">
                <a:solidFill>
                  <a:srgbClr val="1C252B"/>
                </a:solidFill>
                <a:latin typeface="Segoe UI"/>
              </a:rPr>
              <a:t>, correct. </a:t>
            </a:r>
            <a:r>
              <a:rPr sz="2000" b="0" i="0">
                <a:solidFill>
                  <a:srgbClr val="1C252B"/>
                </a:solidFill>
                <a:latin typeface="Cambria"/>
              </a:rPr>
              <a:t>(1,1)</a:t>
            </a:r>
            <a:r>
              <a:rPr sz="2000" b="0" i="0">
                <a:solidFill>
                  <a:srgbClr val="1C252B"/>
                </a:solidFill>
                <a:latin typeface="Segoe UI"/>
              </a:rPr>
              <a:t>: net </a:t>
            </a:r>
            <a:r>
              <a:rPr sz="2000" b="0" i="0">
                <a:solidFill>
                  <a:srgbClr val="1C252B"/>
                </a:solidFill>
                <a:latin typeface="Cambria"/>
              </a:rPr>
              <a:t>0</a:t>
            </a:r>
            <a:r>
              <a:rPr sz="2000" b="0" i="0">
                <a:solidFill>
                  <a:srgbClr val="1C252B"/>
                </a:solidFill>
                <a:latin typeface="Segoe UI"/>
              </a:rPr>
              <a:t>, output 0 — add </a:t>
            </a:r>
            <a:r>
              <a:rPr sz="2000" b="0" i="0">
                <a:solidFill>
                  <a:srgbClr val="1C252B"/>
                </a:solidFill>
                <a:latin typeface="Cambria"/>
              </a:rPr>
              <a:t>0.5 × (1,1,1)</a:t>
            </a:r>
            <a:r>
              <a:rPr sz="2000" b="0" i="0">
                <a:solidFill>
                  <a:srgbClr val="1C252B"/>
                </a:solidFill>
                <a:latin typeface="Segoe UI"/>
              </a:rPr>
              <a:t>: </a:t>
            </a:r>
            <a:r>
              <a:rPr sz="2000" b="1" i="1">
                <a:solidFill>
                  <a:srgbClr val="1C252B"/>
                </a:solidFill>
                <a:latin typeface="Cambria"/>
              </a:rPr>
              <a:t>w</a:t>
            </a:r>
            <a:r>
              <a:rPr sz="2000" b="0" i="0">
                <a:solidFill>
                  <a:srgbClr val="1C252B"/>
                </a:solidFill>
                <a:latin typeface="Cambria"/>
              </a:rPr>
              <a:t> = (0, 1, 0.5)</a:t>
            </a:r>
            <a:r>
              <a:rPr sz="2000" b="0" i="0">
                <a:solidFill>
                  <a:srgbClr val="1C252B"/>
                </a:solidFill>
                <a:latin typeface="Segoe UI"/>
              </a:rPr>
              <a:t>.</a:t>
            </a:r>
          </a:p>
        </p:txBody>
      </p:sp>
      <p:sp>
        <p:nvSpPr>
          <p:cNvPr id="12" name="body-3"/>
          <p:cNvSpPr txBox="1"/>
          <p:nvPr/>
        </p:nvSpPr>
        <p:spPr>
          <a:xfrm>
            <a:off x="1042416" y="4649723"/>
            <a:ext cx="10234879" cy="1313688"/>
          </a:xfrm>
          <a:prstGeom prst="rect">
            <a:avLst/>
          </a:prstGeom>
          <a:noFill/>
        </p:spPr>
        <p:txBody>
          <a:bodyPr wrap="square" anchor="t" lIns="0" rIns="0" tIns="0" bIns="0">
            <a:noAutofit/>
          </a:bodyPr>
          <a:lstStyle/>
          <a:p>
            <a:pPr algn="l">
              <a:lnSpc>
                <a:spcPct val="104000"/>
              </a:lnSpc>
              <a:spcBef>
                <a:spcPts val="0"/>
              </a:spcBef>
              <a:spcAft>
                <a:spcPts val="0"/>
              </a:spcAft>
            </a:pPr>
            <a:r>
              <a:rPr sz="2000" b="1" i="0">
                <a:solidFill>
                  <a:srgbClr val="7D6608"/>
                </a:solidFill>
                <a:latin typeface="Segoe UI"/>
              </a:rPr>
              <a:t>Epochs 3–5</a:t>
            </a:r>
            <a:r>
              <a:rPr sz="2000" b="0" i="0">
                <a:solidFill>
                  <a:srgbClr val="1C252B"/>
                </a:solidFill>
                <a:latin typeface="Segoe UI"/>
              </a:rPr>
              <a:t> continue the same way, and at the end of epoch 5 the weights are </a:t>
            </a:r>
            <a:r>
              <a:rPr sz="2000" b="1" i="1">
                <a:solidFill>
                  <a:srgbClr val="1C252B"/>
                </a:solidFill>
                <a:latin typeface="Cambria"/>
              </a:rPr>
              <a:t>w</a:t>
            </a:r>
            <a:r>
              <a:rPr sz="2000" b="0" i="0">
                <a:solidFill>
                  <a:srgbClr val="1C252B"/>
                </a:solidFill>
                <a:latin typeface="Cambria"/>
              </a:rPr>
              <a:t> = (−1, 1, 0.5)</a:t>
            </a:r>
            <a:r>
              <a:rPr sz="2000" b="0" i="0">
                <a:solidFill>
                  <a:srgbClr val="1C252B"/>
                </a:solidFill>
                <a:latin typeface="Segoe UI"/>
              </a:rPr>
              <a:t>. </a:t>
            </a:r>
            <a:r>
              <a:rPr sz="2000" b="1" i="0">
                <a:solidFill>
                  <a:srgbClr val="1C252B"/>
                </a:solidFill>
                <a:latin typeface="Segoe UI"/>
              </a:rPr>
              <a:t>Check:</a:t>
            </a:r>
            <a:r>
              <a:rPr sz="2000" b="0" i="0">
                <a:solidFill>
                  <a:srgbClr val="1C252B"/>
                </a:solidFill>
                <a:latin typeface="Segoe UI"/>
              </a:rPr>
              <a:t> </a:t>
            </a:r>
            <a:r>
              <a:rPr sz="2000" b="0" i="0">
                <a:solidFill>
                  <a:srgbClr val="1C252B"/>
                </a:solidFill>
                <a:latin typeface="Cambria"/>
              </a:rPr>
              <a:t>(0,0) → −1</a:t>
            </a:r>
            <a:r>
              <a:rPr sz="2000" b="0" i="0">
                <a:solidFill>
                  <a:srgbClr val="1C252B"/>
                </a:solidFill>
                <a:latin typeface="Segoe UI"/>
              </a:rPr>
              <a:t>, </a:t>
            </a:r>
            <a:r>
              <a:rPr sz="2000" b="0" i="0">
                <a:solidFill>
                  <a:srgbClr val="1C252B"/>
                </a:solidFill>
                <a:latin typeface="Cambria"/>
              </a:rPr>
              <a:t>(0,1) → −0.5</a:t>
            </a:r>
            <a:r>
              <a:rPr sz="2000" b="0" i="0">
                <a:solidFill>
                  <a:srgbClr val="1C252B"/>
                </a:solidFill>
                <a:latin typeface="Segoe UI"/>
              </a:rPr>
              <a:t>, </a:t>
            </a:r>
            <a:r>
              <a:rPr sz="2000" b="0" i="0">
                <a:solidFill>
                  <a:srgbClr val="1C252B"/>
                </a:solidFill>
                <a:latin typeface="Cambria"/>
              </a:rPr>
              <a:t>(1,0) → 0</a:t>
            </a:r>
            <a:r>
              <a:rPr sz="2000" b="0" i="0">
                <a:solidFill>
                  <a:srgbClr val="1C252B"/>
                </a:solidFill>
                <a:latin typeface="Segoe UI"/>
              </a:rPr>
              <a:t>, all output 0; </a:t>
            </a:r>
            <a:r>
              <a:rPr sz="2000" b="0" i="0">
                <a:solidFill>
                  <a:srgbClr val="1C252B"/>
                </a:solidFill>
                <a:latin typeface="Cambria"/>
              </a:rPr>
              <a:t>(1,1) → +0.5</a:t>
            </a:r>
            <a:r>
              <a:rPr sz="2000" b="0" i="0">
                <a:solidFill>
                  <a:srgbClr val="1C252B"/>
                </a:solidFill>
                <a:latin typeface="Segoe UI"/>
              </a:rPr>
              <a:t>, output 1. Epoch 6 makes no changes: converged. (Trace epochs 3 to 5 yourself: it is standard examination practice.)</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311880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22" presetClass="entr" presetSubtype="8" fill="hold" grpId="0" nodeType="clickEffect">
                                  <p:stCondLst>
                                    <p:cond delay="0"/>
                                  </p:stCondLst>
                                  <p:childTnLst>
                                    <p:set>
                                      <p:cBhvr>
                                        <p:cTn id="12" dur="1" fill="hold">
                                          <p:stCondLst>
                                            <p:cond delay="0"/>
                                          </p:stCondLst>
                                        </p:cTn>
                                        <p:tgtEl>
                                          <p:spTgt spid="11"/>
                                        </p:tgtEl>
                                        <p:attrNameLst>
                                          <p:attrName>style.visibility</p:attrName>
                                        </p:attrNameLst>
                                      </p:cBhvr>
                                      <p:to>
                                        <p:strVal val="visible"/>
                                      </p:to>
                                    </p:set>
                                    <p:animEffect transition="in" filter="wipe(right)">
                                      <p:cBhvr>
                                        <p:cTn id="13" dur="420"/>
                                        <p:tgtEl>
                                          <p:spTgt spid="11"/>
                                        </p:tgtEl>
                                      </p:cBhvr>
                                    </p:animEffect>
                                  </p:childTnLst>
                                </p:cTn>
                              </p:par>
                            </p:childTnLst>
                          </p:cTn>
                        </p:par>
                      </p:childTnLst>
                    </p:cTn>
                  </p:par>
                  <p:par>
                    <p:cTn id="14" fill="hold">
                      <p:stCondLst>
                        <p:cond delay="indefinite"/>
                      </p:stCondLst>
                      <p:childTnLst>
                        <p:par>
                          <p:cTn id="15" fill="hold">
                            <p:stCondLst>
                              <p:cond delay="0"/>
                            </p:stCondLst>
                            <p:childTnLst>
                              <p:par>
                                <p:cTn id="16" presetID="22" presetClass="entr" presetSubtype="8" fill="hold" grpId="0" nodeType="clickEffect">
                                  <p:stCondLst>
                                    <p:cond delay="0"/>
                                  </p:stCondLst>
                                  <p:childTnLst>
                                    <p:set>
                                      <p:cBhvr>
                                        <p:cTn id="17" dur="1" fill="hold">
                                          <p:stCondLst>
                                            <p:cond delay="0"/>
                                          </p:stCondLst>
                                        </p:cTn>
                                        <p:tgtEl>
                                          <p:spTgt spid="12"/>
                                        </p:tgtEl>
                                        <p:attrNameLst>
                                          <p:attrName>style.visibility</p:attrName>
                                        </p:attrNameLst>
                                      </p:cBhvr>
                                      <p:to>
                                        <p:strVal val="visible"/>
                                      </p:to>
                                    </p:set>
                                    <p:animEffect transition="in" filter="wipe(right)">
                                      <p:cBhvr>
                                        <p:cTn id="18"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AND and OR are linearly separable; XOR is not</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13.2</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§13.3  ·  Handout p. 97     </a:t>
            </a:r>
            <a:fld id="{3CBF8EBC-BFF8-47A0-B02F-2CE2CB53B6E0}" type="slidenum">
              <a:rPr lang="en-GB" sz="1000">
                <a:solidFill>
                  <a:srgbClr val="8795A1"/>
                </a:solidFill>
                <a:latin typeface="Segoe UI"/>
              </a:rPr>
              <a:t>12</a:t>
            </a:fld>
          </a:p>
        </p:txBody>
      </p:sp>
      <p:pic>
        <p:nvPicPr>
          <p:cNvPr id="6" name="!!figure" descr="Figure 13.2. AND and OR are linearly separable; XOR is not. A second layer of units, each drawing its own line, is needed to represent it."/>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879360"/>
            <a:ext cx="10874959" cy="3198517"/>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930188"/>
            <a:ext cx="54864" cy="30601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911900"/>
            <a:ext cx="10600639" cy="488899"/>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A second layer of units, each drawing its own line, is needed to represent it.</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340233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The Delta Rule</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§13.4  ·  Handout p. 97     </a:t>
            </a:r>
            <a:fld id="{7358AB00-004A-4B50-ACB3-8F8E092C95E2}" type="slidenum">
              <a:rPr lang="en-GB" sz="1000">
                <a:solidFill>
                  <a:srgbClr val="8795A1"/>
                </a:solidFill>
                <a:latin typeface="Segoe UI"/>
              </a:rPr>
              <a:t>13</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337872"/>
          </a:xfrm>
          <a:prstGeom prst="roundRect">
            <a:avLst>
              <a:gd name="adj" fmla="val 2107"/>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337872"/>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9" name="body-0" descr="For a linear unit o = w·x and squared error E = 1/2Σd(td − od)2 over the training examples, the gradient is ∂ E/∂ wi = −Σd (td − od) xid, so gradient descent updates"/>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060704" y="2048255"/>
            <a:ext cx="10161727" cy="1144554"/>
          </a:xfrm>
          <a:prstGeom prst="rect">
            <a:avLst/>
          </a:prstGeom>
        </p:spPr>
      </p:pic>
      <p:pic>
        <p:nvPicPr>
          <p:cNvPr id="10" name="body-1" descr="w_i \leftarrow w_i + \eta\sum_d (t_d - o_d)\,x_{id}"/>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060704" y="3353465"/>
            <a:ext cx="10161727" cy="792053"/>
          </a:xfrm>
          <a:prstGeom prst="rect">
            <a:avLst/>
          </a:prstGeom>
        </p:spPr>
      </p:pic>
      <p:sp>
        <p:nvSpPr>
          <p:cNvPr id="11" name="body-2"/>
          <p:cNvSpPr txBox="1"/>
          <p:nvPr/>
        </p:nvSpPr>
        <p:spPr>
          <a:xfrm>
            <a:off x="1060704" y="4306173"/>
            <a:ext cx="10161727" cy="1503883"/>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the </a:t>
            </a:r>
            <a:r>
              <a:rPr sz="2300" b="1" i="0">
                <a:solidFill>
                  <a:srgbClr val="1A5276"/>
                </a:solidFill>
                <a:latin typeface="Segoe UI"/>
              </a:rPr>
              <a:t>delta rule</a:t>
            </a:r>
            <a:r>
              <a:rPr sz="2300" b="0" i="0">
                <a:solidFill>
                  <a:srgbClr val="1C252B"/>
                </a:solidFill>
                <a:latin typeface="Segoe UI"/>
              </a:rPr>
              <a:t> (or LMS rule). It looks like the perceptron rule, but it is gradient descent: it converges towards the minimum-error weights even when the data is </a:t>
            </a:r>
            <a:r>
              <a:rPr sz="2300" b="0" i="1">
                <a:solidFill>
                  <a:srgbClr val="1C252B"/>
                </a:solidFill>
                <a:latin typeface="Segoe UI"/>
              </a:rPr>
              <a:t>not</a:t>
            </a:r>
            <a:r>
              <a:rPr sz="2300" b="0" i="0">
                <a:solidFill>
                  <a:srgbClr val="1C252B"/>
                </a:solidFill>
                <a:latin typeface="Segoe UI"/>
              </a:rPr>
              <a:t> separable, which the perceptron rule does not. It is exactly the gradient descent for linear regression of Chapter 5.</a:t>
            </a:r>
          </a:p>
        </p:txBody>
      </p:sp>
      <p:sp>
        <p:nvSpPr>
          <p:cNvPr id="1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pfill">
            <a:extLst>
              <a:ext uri="{C183D7F6-B498-43B3-948B-1728B52AA6E4}">
                <adec:decorative xmlns:adec="http://schemas.microsoft.com/office/drawing/2017/decorative" val="1"/>
              </a:ext>
            </a:extLst>
          </p:cNvPr>
          <p:cNvSpPr/>
          <p:nvPr/>
        </p:nvSpPr>
        <p:spPr>
          <a:xfrm>
            <a:off x="0" y="0"/>
            <a:ext cx="368586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Multilayer Networks and Backpropagation</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5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13.5</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13.1   From Neurons to Units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13.2   The Perceptron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13.3   Linear Separability and XOR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13.4   Gradient Descent and the Delta Rule</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13.5   Multilayer Networks and Backpropagation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13.6   Activation Functions and Outputs</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13.7   Training Well: Overfitting and Its Cures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§13.5     </a:t>
            </a:r>
            <a:fld id="{2919FC1C-10AC-45E3-B9C7-24848E1B475A}" type="slidenum">
              <a:rPr lang="en-GB" sz="1000">
                <a:solidFill>
                  <a:srgbClr val="8795A1"/>
                </a:solidFill>
                <a:latin typeface="Segoe UI"/>
              </a:rPr>
              <a:t>14</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396938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Multilayer Perceptron</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§13.5  ·  Handout p. 97     </a:t>
            </a:r>
            <a:fld id="{AC465B7D-158C-4784-A5A0-B4EB6F4E3F49}" type="slidenum">
              <a:rPr lang="en-GB" sz="1000">
                <a:solidFill>
                  <a:srgbClr val="8795A1"/>
                </a:solidFill>
                <a:latin typeface="Segoe UI"/>
              </a:rPr>
              <a:t>15</a:t>
            </a:fld>
          </a:p>
        </p:txBody>
      </p:sp>
      <p:sp>
        <p:nvSpPr>
          <p:cNvPr id="7" name="!!card">
            <a:extLst>
              <a:ext uri="{C183D7F6-B498-43B3-948B-1728B52AA6E4}">
                <adec:decorative xmlns:adec="http://schemas.microsoft.com/office/drawing/2017/decorative" val="1"/>
              </a:ext>
            </a:extLst>
          </p:cNvPr>
          <p:cNvSpPr/>
          <p:nvPr/>
        </p:nvSpPr>
        <p:spPr>
          <a:xfrm>
            <a:off x="658368" y="1737360"/>
            <a:ext cx="10874959" cy="2809036"/>
          </a:xfrm>
          <a:prstGeom prst="roundRect">
            <a:avLst>
              <a:gd name="adj" fmla="val 325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2809036"/>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232964"/>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A </a:t>
            </a:r>
            <a:r>
              <a:rPr sz="2300" b="1" i="0">
                <a:solidFill>
                  <a:srgbClr val="1A5276"/>
                </a:solidFill>
                <a:latin typeface="Segoe UI"/>
              </a:rPr>
              <a:t>multilayer perceptron</a:t>
            </a:r>
            <a:r>
              <a:rPr sz="2300" b="0" i="0">
                <a:solidFill>
                  <a:srgbClr val="1C252B"/>
                </a:solidFill>
                <a:latin typeface="Segoe UI"/>
              </a:rPr>
              <a:t> (MLP) arranges sigmoid (or other smooth) units in layers: an input layer, one or more </a:t>
            </a:r>
            <a:r>
              <a:rPr sz="2300" b="1" i="0">
                <a:solidFill>
                  <a:srgbClr val="1A5276"/>
                </a:solidFill>
                <a:latin typeface="Segoe UI"/>
              </a:rPr>
              <a:t>hidden layers</a:t>
            </a:r>
            <a:r>
              <a:rPr sz="2300" b="0" i="0">
                <a:solidFill>
                  <a:srgbClr val="1C252B"/>
                </a:solidFill>
                <a:latin typeface="Segoe UI"/>
              </a:rPr>
              <a:t>, and an output layer. Each unit takes the outputs of the previous layer, forms a weighted sum and applies its activation. A network with one hidden layer of enough units can approximate any continuous function to any accuracy; two hidden layers, any function at all.</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425291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Backpropagation (for sigmoid units and squared error)</a:t>
            </a:r>
          </a:p>
        </p:txBody>
      </p:sp>
      <p:pic>
        <p:nvPicPr>
          <p:cNvPr id="3" name="!!kicker-icon" descr="book-B35900.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35900"/>
                </a:solidFill>
                <a:latin typeface="Segoe UI"/>
              </a:rPr>
              <a:t>DEFINITION</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§13.5  ·  Handout p. 97     </a:t>
            </a:r>
            <a:fld id="{FE902735-3A02-42F4-955E-9618D695696A}" type="slidenum">
              <a:rPr lang="en-GB" sz="1000">
                <a:solidFill>
                  <a:srgbClr val="8795A1"/>
                </a:solidFill>
                <a:latin typeface="Segoe UI"/>
              </a:rPr>
              <a:t>16</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70288"/>
          </a:xfrm>
          <a:prstGeom prst="roundRect">
            <a:avLst>
              <a:gd name="adj" fmla="val 2045"/>
            </a:avLst>
          </a:prstGeom>
          <a:solidFill>
            <a:srgbClr val="FDF2E9"/>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70288"/>
          </a:xfrm>
          <a:prstGeom prst="rect">
            <a:avLst/>
          </a:prstGeom>
          <a:solidFill>
            <a:srgbClr val="B3590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For each training example:</a:t>
            </a:r>
          </a:p>
        </p:txBody>
      </p:sp>
      <p:sp>
        <p:nvSpPr>
          <p:cNvPr id="10" name="body-1"/>
          <p:cNvSpPr txBox="1"/>
          <p:nvPr/>
        </p:nvSpPr>
        <p:spPr>
          <a:xfrm>
            <a:off x="1060704" y="2550617"/>
            <a:ext cx="10161727" cy="840892"/>
          </a:xfrm>
          <a:prstGeom prst="rect">
            <a:avLst/>
          </a:prstGeom>
          <a:noFill/>
        </p:spPr>
        <p:txBody>
          <a:bodyPr wrap="square" anchor="t" lIns="0" rIns="0" tIns="0" bIns="0">
            <a:noAutofit/>
          </a:bodyPr>
          <a:lstStyle/>
          <a:p>
            <a:pPr algn="l" marL="530697" indent="-530697">
              <a:lnSpc>
                <a:spcPct val="104000"/>
              </a:lnSpc>
              <a:spcBef>
                <a:spcPts val="0"/>
              </a:spcBef>
              <a:spcAft>
                <a:spcPts val="769"/>
              </a:spcAft>
            </a:pPr>
            <a:r>
              <a:rPr sz="2200" b="1">
                <a:solidFill>
                  <a:srgbClr val="8A4500"/>
                </a:solidFill>
                <a:latin typeface="Segoe UI"/>
              </a:rPr>
              <a:t>1.	</a:t>
            </a:r>
            <a:r>
              <a:rPr sz="2200" b="1" i="0">
                <a:solidFill>
                  <a:srgbClr val="8A4500"/>
                </a:solidFill>
                <a:latin typeface="Segoe UI"/>
              </a:rPr>
              <a:t>Forward pass:</a:t>
            </a:r>
            <a:r>
              <a:rPr sz="2200" b="0" i="0">
                <a:solidFill>
                  <a:srgbClr val="1C252B"/>
                </a:solidFill>
                <a:latin typeface="Segoe UI"/>
              </a:rPr>
              <a:t> compute every unit’s output </a:t>
            </a:r>
            <a:r>
              <a:rPr sz="2200" b="0" i="1">
                <a:solidFill>
                  <a:srgbClr val="1C252B"/>
                </a:solidFill>
                <a:latin typeface="Cambria"/>
              </a:rPr>
              <a:t>o</a:t>
            </a:r>
            <a:r>
              <a:rPr sz="2200" b="0" i="0">
                <a:solidFill>
                  <a:srgbClr val="1C252B"/>
                </a:solidFill>
                <a:latin typeface="Segoe UI"/>
              </a:rPr>
              <a:t>, layer by layer.</a:t>
            </a:r>
          </a:p>
          <a:p>
            <a:pPr algn="l" marL="530697" indent="-530697">
              <a:lnSpc>
                <a:spcPct val="104000"/>
              </a:lnSpc>
              <a:spcBef>
                <a:spcPts val="0"/>
              </a:spcBef>
              <a:spcAft>
                <a:spcPts val="0"/>
              </a:spcAft>
            </a:pPr>
            <a:r>
              <a:rPr sz="2200" b="1">
                <a:solidFill>
                  <a:srgbClr val="8A4500"/>
                </a:solidFill>
                <a:latin typeface="Segoe UI"/>
              </a:rPr>
              <a:t>2.	</a:t>
            </a:r>
            <a:r>
              <a:rPr sz="2200" b="1" i="0">
                <a:solidFill>
                  <a:srgbClr val="8A4500"/>
                </a:solidFill>
                <a:latin typeface="Segoe UI"/>
              </a:rPr>
              <a:t>Output units:</a:t>
            </a:r>
            <a:r>
              <a:rPr sz="2200" b="0" i="0">
                <a:solidFill>
                  <a:srgbClr val="1C252B"/>
                </a:solidFill>
                <a:latin typeface="Segoe UI"/>
              </a:rPr>
              <a:t> </a:t>
            </a:r>
            <a:r>
              <a:rPr sz="2200" b="0" i="0">
                <a:solidFill>
                  <a:srgbClr val="1C252B"/>
                </a:solidFill>
                <a:latin typeface="Cambria"/>
              </a:rPr>
              <a:t>δ</a:t>
            </a:r>
            <a:r>
              <a:rPr sz="2200" b="0" i="1" baseline="-25000">
                <a:solidFill>
                  <a:srgbClr val="1C252B"/>
                </a:solidFill>
                <a:latin typeface="Cambria"/>
              </a:rPr>
              <a:t>k</a:t>
            </a:r>
            <a:r>
              <a:rPr sz="2200" b="0" i="0">
                <a:solidFill>
                  <a:srgbClr val="1C252B"/>
                </a:solidFill>
                <a:latin typeface="Cambria"/>
              </a:rPr>
              <a:t> = </a:t>
            </a:r>
            <a:r>
              <a:rPr sz="2200" b="0" i="1">
                <a:solidFill>
                  <a:srgbClr val="1C252B"/>
                </a:solidFill>
                <a:latin typeface="Cambria"/>
              </a:rPr>
              <a:t>o</a:t>
            </a:r>
            <a:r>
              <a:rPr sz="2200" b="0" i="1" baseline="-25000">
                <a:solidFill>
                  <a:srgbClr val="1C252B"/>
                </a:solidFill>
                <a:latin typeface="Cambria"/>
              </a:rPr>
              <a:t>k</a:t>
            </a:r>
            <a:r>
              <a:rPr sz="2200" b="0" i="0">
                <a:solidFill>
                  <a:srgbClr val="1C252B"/>
                </a:solidFill>
                <a:latin typeface="Cambria"/>
              </a:rPr>
              <a:t>(1 − </a:t>
            </a:r>
            <a:r>
              <a:rPr sz="2200" b="0" i="1">
                <a:solidFill>
                  <a:srgbClr val="1C252B"/>
                </a:solidFill>
                <a:latin typeface="Cambria"/>
              </a:rPr>
              <a:t>o</a:t>
            </a:r>
            <a:r>
              <a:rPr sz="2200" b="0" i="1" baseline="-25000">
                <a:solidFill>
                  <a:srgbClr val="1C252B"/>
                </a:solidFill>
                <a:latin typeface="Cambria"/>
              </a:rPr>
              <a:t>k</a:t>
            </a:r>
            <a:r>
              <a:rPr sz="2200" b="0" i="0">
                <a:solidFill>
                  <a:srgbClr val="1C252B"/>
                </a:solidFill>
                <a:latin typeface="Cambria"/>
              </a:rPr>
              <a:t>)(</a:t>
            </a:r>
            <a:r>
              <a:rPr sz="2200" b="0" i="1">
                <a:solidFill>
                  <a:srgbClr val="1C252B"/>
                </a:solidFill>
                <a:latin typeface="Cambria"/>
              </a:rPr>
              <a:t>t</a:t>
            </a:r>
            <a:r>
              <a:rPr sz="2200" b="0" i="1" baseline="-25000">
                <a:solidFill>
                  <a:srgbClr val="1C252B"/>
                </a:solidFill>
                <a:latin typeface="Cambria"/>
              </a:rPr>
              <a:t>k</a:t>
            </a:r>
            <a:r>
              <a:rPr sz="2200" b="0" i="0">
                <a:solidFill>
                  <a:srgbClr val="1C252B"/>
                </a:solidFill>
                <a:latin typeface="Cambria"/>
              </a:rPr>
              <a:t> − </a:t>
            </a:r>
            <a:r>
              <a:rPr sz="2200" b="0" i="1">
                <a:solidFill>
                  <a:srgbClr val="1C252B"/>
                </a:solidFill>
                <a:latin typeface="Cambria"/>
              </a:rPr>
              <a:t>o</a:t>
            </a:r>
            <a:r>
              <a:rPr sz="2200" b="0" i="1" baseline="-25000">
                <a:solidFill>
                  <a:srgbClr val="1C252B"/>
                </a:solidFill>
                <a:latin typeface="Cambria"/>
              </a:rPr>
              <a:t>k</a:t>
            </a:r>
            <a:r>
              <a:rPr sz="2200" b="0" i="0">
                <a:solidFill>
                  <a:srgbClr val="1C252B"/>
                </a:solidFill>
                <a:latin typeface="Cambria"/>
              </a:rPr>
              <a:t>)</a:t>
            </a:r>
            <a:r>
              <a:rPr sz="2200" b="0" i="0">
                <a:solidFill>
                  <a:srgbClr val="1C252B"/>
                </a:solidFill>
                <a:latin typeface="Segoe UI"/>
              </a:rPr>
              <a:t>.</a:t>
            </a:r>
          </a:p>
        </p:txBody>
      </p:sp>
      <p:sp>
        <p:nvSpPr>
          <p:cNvPr id="11" name="body-2m"/>
          <p:cNvSpPr txBox="1"/>
          <p:nvPr/>
        </p:nvSpPr>
        <p:spPr>
          <a:xfrm>
            <a:off x="1060704" y="3499459"/>
            <a:ext cx="530697" cy="365760"/>
          </a:xfrm>
          <a:prstGeom prst="rect">
            <a:avLst/>
          </a:prstGeom>
          <a:noFill/>
        </p:spPr>
        <p:txBody>
          <a:bodyPr wrap="square" anchor="t" lIns="0" rIns="0" tIns="0" bIns="0">
            <a:noAutofit/>
          </a:bodyPr>
          <a:lstStyle/>
          <a:p>
            <a:pPr algn="l">
              <a:lnSpc>
                <a:spcPct val="100000"/>
              </a:lnSpc>
              <a:spcBef>
                <a:spcPts val="0"/>
              </a:spcBef>
              <a:spcAft>
                <a:spcPts val="0"/>
              </a:spcAft>
            </a:pPr>
            <a:r>
              <a:rPr sz="2200" b="1" i="0">
                <a:solidFill>
                  <a:srgbClr val="8A4500"/>
                </a:solidFill>
                <a:latin typeface="Segoe UI"/>
              </a:rPr>
              <a:t>3.</a:t>
            </a:r>
          </a:p>
        </p:txBody>
      </p:sp>
      <p:pic>
        <p:nvPicPr>
          <p:cNvPr id="12" name="body-2" descr="Hidden units (backwards, layer by layer): δh = oh(1 − oh)Σk wkh δk — each hidden unit’s share of the blame is the output deltas, weighted by its connections to them."/>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91401" y="3499459"/>
            <a:ext cx="9631009" cy="1043879"/>
          </a:xfrm>
          <a:prstGeom prst="rect">
            <a:avLst/>
          </a:prstGeom>
        </p:spPr>
      </p:pic>
      <p:sp>
        <p:nvSpPr>
          <p:cNvPr id="13" name="body-3"/>
          <p:cNvSpPr txBox="1"/>
          <p:nvPr/>
        </p:nvSpPr>
        <p:spPr>
          <a:xfrm>
            <a:off x="1060704" y="4697008"/>
            <a:ext cx="10161727" cy="743102"/>
          </a:xfrm>
          <a:prstGeom prst="rect">
            <a:avLst/>
          </a:prstGeom>
          <a:noFill/>
        </p:spPr>
        <p:txBody>
          <a:bodyPr wrap="square" anchor="t" lIns="0" rIns="0" tIns="0" bIns="0">
            <a:noAutofit/>
          </a:bodyPr>
          <a:lstStyle/>
          <a:p>
            <a:pPr algn="l" marL="530697" indent="-530697">
              <a:lnSpc>
                <a:spcPct val="104000"/>
              </a:lnSpc>
              <a:spcBef>
                <a:spcPts val="0"/>
              </a:spcBef>
              <a:spcAft>
                <a:spcPts val="0"/>
              </a:spcAft>
            </a:pPr>
            <a:r>
              <a:rPr sz="2200" b="1">
                <a:solidFill>
                  <a:srgbClr val="8A4500"/>
                </a:solidFill>
                <a:latin typeface="Segoe UI"/>
              </a:rPr>
              <a:t>4.	</a:t>
            </a:r>
            <a:r>
              <a:rPr sz="2200" b="1" i="0">
                <a:solidFill>
                  <a:srgbClr val="8A4500"/>
                </a:solidFill>
                <a:latin typeface="Segoe UI"/>
              </a:rPr>
              <a:t>Update every weight</a:t>
            </a:r>
            <a:r>
              <a:rPr sz="2200" b="0" i="0">
                <a:solidFill>
                  <a:srgbClr val="1C252B"/>
                </a:solidFill>
                <a:latin typeface="Segoe UI"/>
              </a:rPr>
              <a:t> </a:t>
            </a:r>
            <a:r>
              <a:rPr sz="2200" b="0" i="1">
                <a:solidFill>
                  <a:srgbClr val="1C252B"/>
                </a:solidFill>
                <a:latin typeface="Cambria"/>
              </a:rPr>
              <a:t>w</a:t>
            </a:r>
            <a:r>
              <a:rPr sz="2200" b="0" i="1" baseline="-25000">
                <a:solidFill>
                  <a:srgbClr val="1C252B"/>
                </a:solidFill>
                <a:latin typeface="Cambria"/>
              </a:rPr>
              <a:t>ji</a:t>
            </a:r>
            <a:r>
              <a:rPr sz="2200" b="0" i="0">
                <a:solidFill>
                  <a:srgbClr val="1C252B"/>
                </a:solidFill>
                <a:latin typeface="Segoe UI"/>
              </a:rPr>
              <a:t> from unit </a:t>
            </a:r>
            <a:r>
              <a:rPr sz="2200" b="0" i="1">
                <a:solidFill>
                  <a:srgbClr val="1C252B"/>
                </a:solidFill>
                <a:latin typeface="Cambria"/>
              </a:rPr>
              <a:t>i</a:t>
            </a:r>
            <a:r>
              <a:rPr sz="2200" b="0" i="0">
                <a:solidFill>
                  <a:srgbClr val="1C252B"/>
                </a:solidFill>
                <a:latin typeface="Segoe UI"/>
              </a:rPr>
              <a:t> to unit </a:t>
            </a:r>
            <a:r>
              <a:rPr sz="2200" b="0" i="1">
                <a:solidFill>
                  <a:srgbClr val="1C252B"/>
                </a:solidFill>
                <a:latin typeface="Cambria"/>
              </a:rPr>
              <a:t>j</a:t>
            </a:r>
            <a:r>
              <a:rPr sz="2200" b="0" i="0">
                <a:solidFill>
                  <a:srgbClr val="1C252B"/>
                </a:solidFill>
                <a:latin typeface="Segoe UI"/>
              </a:rPr>
              <a:t>: </a:t>
            </a:r>
            <a:r>
              <a:rPr sz="2200" b="0" i="1">
                <a:solidFill>
                  <a:srgbClr val="1C252B"/>
                </a:solidFill>
                <a:latin typeface="Cambria"/>
              </a:rPr>
              <a:t>w</a:t>
            </a:r>
            <a:r>
              <a:rPr sz="2200" b="0" i="1" baseline="-25000">
                <a:solidFill>
                  <a:srgbClr val="1C252B"/>
                </a:solidFill>
                <a:latin typeface="Cambria"/>
              </a:rPr>
              <a:t>ji</a:t>
            </a:r>
            <a:r>
              <a:rPr sz="2200" b="0" i="0">
                <a:solidFill>
                  <a:srgbClr val="1C252B"/>
                </a:solidFill>
                <a:latin typeface="Cambria"/>
              </a:rPr>
              <a:t> ← </a:t>
            </a:r>
            <a:r>
              <a:rPr sz="2200" b="0" i="1">
                <a:solidFill>
                  <a:srgbClr val="1C252B"/>
                </a:solidFill>
                <a:latin typeface="Cambria"/>
              </a:rPr>
              <a:t>w</a:t>
            </a:r>
            <a:r>
              <a:rPr sz="2200" b="0" i="1" baseline="-25000">
                <a:solidFill>
                  <a:srgbClr val="1C252B"/>
                </a:solidFill>
                <a:latin typeface="Cambria"/>
              </a:rPr>
              <a:t>ji</a:t>
            </a:r>
            <a:r>
              <a:rPr sz="2200" b="0" i="0">
                <a:solidFill>
                  <a:srgbClr val="1C252B"/>
                </a:solidFill>
                <a:latin typeface="Cambria"/>
              </a:rPr>
              <a:t> + η δ</a:t>
            </a:r>
            <a:r>
              <a:rPr sz="2200" b="0" i="1" baseline="-25000">
                <a:solidFill>
                  <a:srgbClr val="1C252B"/>
                </a:solidFill>
                <a:latin typeface="Cambria"/>
              </a:rPr>
              <a:t>j</a:t>
            </a:r>
            <a:r>
              <a:rPr sz="2200" b="0" i="0">
                <a:solidFill>
                  <a:srgbClr val="1C252B"/>
                </a:solidFill>
                <a:latin typeface="Cambria"/>
              </a:rPr>
              <a:t> </a:t>
            </a:r>
            <a:r>
              <a:rPr sz="2200" b="0" i="1">
                <a:solidFill>
                  <a:srgbClr val="1C252B"/>
                </a:solidFill>
                <a:latin typeface="Cambria"/>
              </a:rPr>
              <a:t>x</a:t>
            </a:r>
            <a:r>
              <a:rPr sz="2200" b="0" i="1" baseline="-25000">
                <a:solidFill>
                  <a:srgbClr val="1C252B"/>
                </a:solidFill>
                <a:latin typeface="Cambria"/>
              </a:rPr>
              <a:t>ji</a:t>
            </a:r>
            <a:r>
              <a:rPr sz="2200" b="0" i="0">
                <a:solidFill>
                  <a:srgbClr val="1C252B"/>
                </a:solidFill>
                <a:latin typeface="Segoe UI"/>
              </a:rPr>
              <a:t>, where </a:t>
            </a:r>
            <a:r>
              <a:rPr sz="2200" b="0" i="1">
                <a:solidFill>
                  <a:srgbClr val="1C252B"/>
                </a:solidFill>
                <a:latin typeface="Cambria"/>
              </a:rPr>
              <a:t>x</a:t>
            </a:r>
            <a:r>
              <a:rPr sz="2200" b="0" i="1" baseline="-25000">
                <a:solidFill>
                  <a:srgbClr val="1C252B"/>
                </a:solidFill>
                <a:latin typeface="Cambria"/>
              </a:rPr>
              <a:t>ji</a:t>
            </a:r>
            <a:r>
              <a:rPr sz="2200" b="0" i="0">
                <a:solidFill>
                  <a:srgbClr val="1C252B"/>
                </a:solidFill>
                <a:latin typeface="Segoe UI"/>
              </a:rPr>
              <a:t> is the input arriving along that connection.</a:t>
            </a:r>
          </a:p>
        </p:txBody>
      </p:sp>
      <p:sp>
        <p:nvSpPr>
          <p:cNvPr id="14" name="body-4"/>
          <p:cNvSpPr txBox="1"/>
          <p:nvPr/>
        </p:nvSpPr>
        <p:spPr>
          <a:xfrm>
            <a:off x="1060704" y="5548061"/>
            <a:ext cx="10161727" cy="394411"/>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One sweep through the whole training set is an </a:t>
            </a:r>
            <a:r>
              <a:rPr sz="2200" b="1" i="0">
                <a:solidFill>
                  <a:srgbClr val="1A5276"/>
                </a:solidFill>
                <a:latin typeface="Segoe UI"/>
              </a:rPr>
              <a:t>epoch</a:t>
            </a:r>
            <a:r>
              <a:rPr sz="2200" b="0" i="0">
                <a:solidFill>
                  <a:srgbClr val="1C252B"/>
                </a:solidFill>
                <a:latin typeface="Segoe UI"/>
              </a:rPr>
              <a:t>.</a:t>
            </a:r>
          </a:p>
        </p:txBody>
      </p:sp>
      <p:sp>
        <p:nvSpPr>
          <p:cNvPr id="1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fill">
            <a:extLst>
              <a:ext uri="{C183D7F6-B498-43B3-948B-1728B52AA6E4}">
                <adec:decorative xmlns:adec="http://schemas.microsoft.com/office/drawing/2017/decorative" val="1"/>
              </a:ext>
            </a:extLst>
          </p:cNvPr>
          <p:cNvSpPr/>
          <p:nvPr/>
        </p:nvSpPr>
        <p:spPr>
          <a:xfrm>
            <a:off x="0" y="0"/>
            <a:ext cx="453644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10">
                                            <p:txEl>
                                              <p:pRg st="0" end="0"/>
                                            </p:txEl>
                                          </p:spTgt>
                                        </p:tgtEl>
                                        <p:attrNameLst>
                                          <p:attrName>style.visibility</p:attrName>
                                        </p:attrNameLst>
                                      </p:cBhvr>
                                      <p:to>
                                        <p:strVal val="visible"/>
                                      </p:to>
                                    </p:set>
                                    <p:animEffect transition="in" filter="fade">
                                      <p:cBhvr>
                                        <p:cTn id="8" dur="380"/>
                                        <p:tgtEl>
                                          <p:spTgt spid="10">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0">
                                            <p:txEl>
                                              <p:pRg st="1" end="1"/>
                                            </p:txEl>
                                          </p:spTgt>
                                        </p:tgtEl>
                                        <p:attrNameLst>
                                          <p:attrName>style.visibility</p:attrName>
                                        </p:attrNameLst>
                                      </p:cBhvr>
                                      <p:to>
                                        <p:strVal val="visible"/>
                                      </p:to>
                                    </p:set>
                                    <p:animEffect transition="in" filter="fade">
                                      <p:cBhvr>
                                        <p:cTn id="13" dur="380"/>
                                        <p:tgtEl>
                                          <p:spTgt spid="10">
                                            <p:txEl>
                                              <p:pRg st="1" end="1"/>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3">
                                            <p:txEl>
                                              <p:pRg st="0" end="0"/>
                                            </p:txEl>
                                          </p:spTgt>
                                        </p:tgtEl>
                                        <p:attrNameLst>
                                          <p:attrName>style.visibility</p:attrName>
                                        </p:attrNameLst>
                                      </p:cBhvr>
                                      <p:to>
                                        <p:strVal val="visible"/>
                                      </p:to>
                                    </p:set>
                                    <p:animEffect transition="in" filter="fade">
                                      <p:cBhvr>
                                        <p:cTn id="18" dur="380"/>
                                        <p:tgtEl>
                                          <p:spTgt spid="1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0" grpId="0" build="p"/>
      <p:bldP spid="13" grpId="0" build="p"/>
    </p:bld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Multilayer Networks and Backpropagation</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13.3</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§13.5  ·  Handout p. 97     </a:t>
            </a:r>
            <a:fld id="{203569B6-1991-47A6-A4C9-EC90BDD55287}" type="slidenum">
              <a:rPr lang="en-GB" sz="1000">
                <a:solidFill>
                  <a:srgbClr val="8795A1"/>
                </a:solidFill>
                <a:latin typeface="Segoe UI"/>
              </a:rPr>
              <a:t>17</a:t>
            </a:fld>
          </a:p>
        </p:txBody>
      </p:sp>
      <p:pic>
        <p:nvPicPr>
          <p:cNvPr id="6" name="!!figure" descr="Figure 13.3. The network of the worked example, with the unit outputs of the forward pass written in each unit. Errors computed at the output are passed backwards along the same connections to assign blame to the hidden unit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25482" y="1737360"/>
            <a:ext cx="7740730" cy="3471062"/>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391302"/>
            <a:ext cx="54864" cy="844905"/>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373014"/>
            <a:ext cx="10600639" cy="1027785"/>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network of the worked example, with the unit outputs of the forward pass written in each unit. Errors computed at the output are passed backwards along the same connections to assign blame to the hidden units.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481997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Step of Backpropagation</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§13.5  ·  Handout p. 97     </a:t>
            </a:r>
            <a:fld id="{272AA9CD-6473-44ED-9F3F-948909BD16A8}" type="slidenum">
              <a:rPr lang="en-GB" sz="1000">
                <a:solidFill>
                  <a:srgbClr val="8795A1"/>
                </a:solidFill>
                <a:latin typeface="Segoe UI"/>
              </a:rPr>
              <a:t>18</a:t>
            </a:fld>
          </a:p>
        </p:txBody>
      </p:sp>
      <p:sp>
        <p:nvSpPr>
          <p:cNvPr id="7" name="!!card">
            <a:extLst>
              <a:ext uri="{C183D7F6-B498-43B3-948B-1728B52AA6E4}">
                <adec:decorative xmlns:adec="http://schemas.microsoft.com/office/drawing/2017/decorative" val="1"/>
              </a:ext>
            </a:extLst>
          </p:cNvPr>
          <p:cNvSpPr/>
          <p:nvPr/>
        </p:nvSpPr>
        <p:spPr>
          <a:xfrm>
            <a:off x="658368" y="1737360"/>
            <a:ext cx="10874959" cy="4428744"/>
          </a:xfrm>
          <a:prstGeom prst="roundRect">
            <a:avLst>
              <a:gd name="adj" fmla="val 2064"/>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442874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2–2–1 network of Figure 13.3, all sigmoid units, input </a:t>
            </a:r>
            <a:r>
              <a:rPr sz="1900" b="0" i="0">
                <a:solidFill>
                  <a:srgbClr val="1C252B"/>
                </a:solidFill>
                <a:latin typeface="Cambria"/>
              </a:rPr>
              <a:t>(1, 0)</a:t>
            </a:r>
            <a:r>
              <a:rPr sz="1900" b="0" i="0">
                <a:solidFill>
                  <a:srgbClr val="1C252B"/>
                </a:solidFill>
                <a:latin typeface="Segoe UI"/>
              </a:rPr>
              <a:t>, target </a:t>
            </a:r>
            <a:r>
              <a:rPr sz="1900" b="0" i="1">
                <a:solidFill>
                  <a:srgbClr val="1C252B"/>
                </a:solidFill>
                <a:latin typeface="Cambria"/>
              </a:rPr>
              <a:t>t</a:t>
            </a:r>
            <a:r>
              <a:rPr sz="1900" b="0" i="0">
                <a:solidFill>
                  <a:srgbClr val="1C252B"/>
                </a:solidFill>
                <a:latin typeface="Cambria"/>
              </a:rPr>
              <a:t> = 1</a:t>
            </a:r>
            <a:r>
              <a:rPr sz="1900" b="0" i="0">
                <a:solidFill>
                  <a:srgbClr val="1C252B"/>
                </a:solidFill>
                <a:latin typeface="Segoe UI"/>
              </a:rPr>
              <a:t>, learning rate </a:t>
            </a:r>
            <a:r>
              <a:rPr sz="1900" b="0" i="0">
                <a:solidFill>
                  <a:srgbClr val="1C252B"/>
                </a:solidFill>
                <a:latin typeface="Cambria"/>
              </a:rPr>
              <a:t>η = 0.5</a:t>
            </a:r>
            <a:r>
              <a:rPr sz="1900" b="0" i="0">
                <a:solidFill>
                  <a:srgbClr val="1C252B"/>
                </a:solidFill>
                <a:latin typeface="Segoe UI"/>
              </a:rPr>
              <a:t>.</a:t>
            </a:r>
          </a:p>
        </p:txBody>
      </p:sp>
      <p:sp>
        <p:nvSpPr>
          <p:cNvPr id="10" name="body-1"/>
          <p:cNvSpPr txBox="1"/>
          <p:nvPr/>
        </p:nvSpPr>
        <p:spPr>
          <a:xfrm>
            <a:off x="1042416" y="2746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Forward.</a:t>
            </a:r>
          </a:p>
        </p:txBody>
      </p:sp>
      <p:sp>
        <p:nvSpPr>
          <p:cNvPr id="11" name="body-2"/>
          <p:cNvSpPr txBox="1"/>
          <p:nvPr/>
        </p:nvSpPr>
        <p:spPr>
          <a:xfrm>
            <a:off x="1042416" y="3180537"/>
            <a:ext cx="10234879" cy="111805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h</a:t>
            </a:r>
            <a:r>
              <a:rPr sz="1900" b="0" i="0" baseline="-25000">
                <a:solidFill>
                  <a:srgbClr val="1C252B"/>
                </a:solidFill>
                <a:latin typeface="Cambria"/>
              </a:rPr>
              <a:t>1</a:t>
            </a:r>
            <a:r>
              <a:rPr sz="1900" b="0" i="0">
                <a:solidFill>
                  <a:srgbClr val="1C252B"/>
                </a:solidFill>
                <a:latin typeface="Segoe UI"/>
              </a:rPr>
              <a:t>: net </a:t>
            </a:r>
            <a:r>
              <a:rPr sz="1900" b="0" i="0">
                <a:solidFill>
                  <a:srgbClr val="1C252B"/>
                </a:solidFill>
                <a:latin typeface="Cambria"/>
              </a:rPr>
              <a:t>= 0.1 + 0.4(1) − 0.2(0) = 0.5</a:t>
            </a:r>
            <a:r>
              <a:rPr sz="1900" b="0" i="0">
                <a:solidFill>
                  <a:srgbClr val="1C252B"/>
                </a:solidFill>
                <a:latin typeface="Segoe UI"/>
              </a:rPr>
              <a:t>, output </a:t>
            </a:r>
            <a:r>
              <a:rPr sz="1900" b="0" i="0">
                <a:solidFill>
                  <a:srgbClr val="1C252B"/>
                </a:solidFill>
                <a:latin typeface="Cambria"/>
              </a:rPr>
              <a:t>σ(0.5) = 0.6225</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h</a:t>
            </a:r>
            <a:r>
              <a:rPr sz="1900" b="0" i="0" baseline="-25000">
                <a:solidFill>
                  <a:srgbClr val="1C252B"/>
                </a:solidFill>
                <a:latin typeface="Cambria"/>
              </a:rPr>
              <a:t>2</a:t>
            </a:r>
            <a:r>
              <a:rPr sz="1900" b="0" i="0">
                <a:solidFill>
                  <a:srgbClr val="1C252B"/>
                </a:solidFill>
                <a:latin typeface="Segoe UI"/>
              </a:rPr>
              <a:t>: net </a:t>
            </a:r>
            <a:r>
              <a:rPr sz="1900" b="0" i="0">
                <a:solidFill>
                  <a:srgbClr val="1C252B"/>
                </a:solidFill>
                <a:latin typeface="Cambria"/>
              </a:rPr>
              <a:t>= 0.2 − 0.3(1) + 0.5(0) = −0.1</a:t>
            </a:r>
            <a:r>
              <a:rPr sz="1900" b="0" i="0">
                <a:solidFill>
                  <a:srgbClr val="1C252B"/>
                </a:solidFill>
                <a:latin typeface="Segoe UI"/>
              </a:rPr>
              <a:t>, output </a:t>
            </a:r>
            <a:r>
              <a:rPr sz="1900" b="0" i="0">
                <a:solidFill>
                  <a:srgbClr val="1C252B"/>
                </a:solidFill>
                <a:latin typeface="Cambria"/>
              </a:rPr>
              <a:t>σ(−0.1) = 0.4750</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o</a:t>
            </a:r>
            <a:r>
              <a:rPr sz="1900" b="0" i="0">
                <a:solidFill>
                  <a:srgbClr val="1C252B"/>
                </a:solidFill>
                <a:latin typeface="Segoe UI"/>
              </a:rPr>
              <a:t>: net </a:t>
            </a:r>
            <a:r>
              <a:rPr sz="1900" b="0" i="0">
                <a:solidFill>
                  <a:srgbClr val="1C252B"/>
                </a:solidFill>
                <a:latin typeface="Cambria"/>
              </a:rPr>
              <a:t>= −0.1 + 0.6(0.6225) + 0.8(0.4750) = 0.6535</a:t>
            </a:r>
            <a:r>
              <a:rPr sz="1900" b="0" i="0">
                <a:solidFill>
                  <a:srgbClr val="1C252B"/>
                </a:solidFill>
                <a:latin typeface="Segoe UI"/>
              </a:rPr>
              <a:t>, output </a:t>
            </a:r>
            <a:r>
              <a:rPr sz="1900" b="1" i="0">
                <a:solidFill>
                  <a:srgbClr val="1C252B"/>
                </a:solidFill>
                <a:latin typeface="Cambria"/>
              </a:rPr>
              <a:t>0.6578</a:t>
            </a:r>
            <a:r>
              <a:rPr sz="1900" b="0" i="0">
                <a:solidFill>
                  <a:srgbClr val="1C252B"/>
                </a:solidFill>
                <a:latin typeface="Segoe UI"/>
              </a:rPr>
              <a:t>. Error </a:t>
            </a:r>
            <a:r>
              <a:rPr sz="1900" b="0" i="1">
                <a:solidFill>
                  <a:srgbClr val="1C252B"/>
                </a:solidFill>
                <a:latin typeface="Cambria"/>
              </a:rPr>
              <a:t>t</a:t>
            </a:r>
            <a:r>
              <a:rPr sz="1900" b="0" i="0">
                <a:solidFill>
                  <a:srgbClr val="1C252B"/>
                </a:solidFill>
                <a:latin typeface="Cambria"/>
              </a:rPr>
              <a:t> − </a:t>
            </a:r>
            <a:r>
              <a:rPr sz="1900" b="0" i="1">
                <a:solidFill>
                  <a:srgbClr val="1C252B"/>
                </a:solidFill>
                <a:latin typeface="Cambria"/>
              </a:rPr>
              <a:t>o</a:t>
            </a:r>
            <a:r>
              <a:rPr sz="1900" b="0" i="0">
                <a:solidFill>
                  <a:srgbClr val="1C252B"/>
                </a:solidFill>
                <a:latin typeface="Cambria"/>
              </a:rPr>
              <a:t> = 0.3422</a:t>
            </a:r>
            <a:r>
              <a:rPr sz="1900" b="0" i="0">
                <a:solidFill>
                  <a:srgbClr val="1C252B"/>
                </a:solidFill>
                <a:latin typeface="Segoe UI"/>
              </a:rPr>
              <a:t>.</a:t>
            </a:r>
          </a:p>
        </p:txBody>
      </p:sp>
      <p:sp>
        <p:nvSpPr>
          <p:cNvPr id="12" name="body-3"/>
          <p:cNvSpPr txBox="1"/>
          <p:nvPr/>
        </p:nvSpPr>
        <p:spPr>
          <a:xfrm>
            <a:off x="1042416" y="438558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Backward.</a:t>
            </a:r>
          </a:p>
        </p:txBody>
      </p:sp>
      <p:sp>
        <p:nvSpPr>
          <p:cNvPr id="13" name="body-3bar">
            <a:extLst>
              <a:ext uri="{C183D7F6-B498-43B3-948B-1728B52AA6E4}">
                <adec:decorative xmlns:adec="http://schemas.microsoft.com/office/drawing/2017/decorative" val="1"/>
              </a:ext>
            </a:extLst>
          </p:cNvPr>
          <p:cNvSpPr/>
          <p:nvPr/>
        </p:nvSpPr>
        <p:spPr>
          <a:xfrm>
            <a:off x="841248" y="440387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body-4"/>
          <p:cNvSpPr txBox="1"/>
          <p:nvPr/>
        </p:nvSpPr>
        <p:spPr>
          <a:xfrm>
            <a:off x="1042416" y="4819446"/>
            <a:ext cx="10234879" cy="1118057"/>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Cambria"/>
              </a:rPr>
              <a:t>δ</a:t>
            </a:r>
            <a:r>
              <a:rPr sz="1900" b="0" i="1" baseline="-25000">
                <a:solidFill>
                  <a:srgbClr val="1C252B"/>
                </a:solidFill>
                <a:latin typeface="Cambria"/>
              </a:rPr>
              <a:t>o</a:t>
            </a:r>
            <a:r>
              <a:rPr sz="1900" b="0" i="0">
                <a:solidFill>
                  <a:srgbClr val="1C252B"/>
                </a:solidFill>
                <a:latin typeface="Cambria"/>
              </a:rPr>
              <a:t> = 0.6578 × (1 − 0.6578) × 0.3422 = </a:t>
            </a:r>
            <a:r>
              <a:rPr sz="1900" b="1" i="0">
                <a:solidFill>
                  <a:srgbClr val="1C252B"/>
                </a:solidFill>
                <a:latin typeface="Cambria"/>
              </a:rPr>
              <a:t>0.0770</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Cambria"/>
              </a:rPr>
              <a:t>δ</a:t>
            </a:r>
            <a:r>
              <a:rPr sz="1900" b="0" i="1" baseline="-25000">
                <a:solidFill>
                  <a:srgbClr val="1C252B"/>
                </a:solidFill>
                <a:latin typeface="Cambria"/>
              </a:rPr>
              <a:t>h</a:t>
            </a:r>
            <a:r>
              <a:rPr sz="1900" b="0" i="0" baseline="-25000">
                <a:solidFill>
                  <a:srgbClr val="1C252B"/>
                </a:solidFill>
                <a:latin typeface="Cambria"/>
              </a:rPr>
              <a:t>1</a:t>
            </a:r>
            <a:r>
              <a:rPr sz="1900" b="0" i="0">
                <a:solidFill>
                  <a:srgbClr val="1C252B"/>
                </a:solidFill>
                <a:latin typeface="Cambria"/>
              </a:rPr>
              <a:t> = 0.6225 × 0.3775 × (0.6 × 0.0770) = </a:t>
            </a:r>
            <a:r>
              <a:rPr sz="1900" b="1" i="0">
                <a:solidFill>
                  <a:srgbClr val="1C252B"/>
                </a:solidFill>
                <a:latin typeface="Cambria"/>
              </a:rPr>
              <a:t>0.0109</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0">
                <a:solidFill>
                  <a:srgbClr val="1C252B"/>
                </a:solidFill>
                <a:latin typeface="Cambria"/>
              </a:rPr>
              <a:t>δ</a:t>
            </a:r>
            <a:r>
              <a:rPr sz="1900" b="0" i="1" baseline="-25000">
                <a:solidFill>
                  <a:srgbClr val="1C252B"/>
                </a:solidFill>
                <a:latin typeface="Cambria"/>
              </a:rPr>
              <a:t>h</a:t>
            </a:r>
            <a:r>
              <a:rPr sz="1900" b="0" i="0" baseline="-25000">
                <a:solidFill>
                  <a:srgbClr val="1C252B"/>
                </a:solidFill>
                <a:latin typeface="Cambria"/>
              </a:rPr>
              <a:t>2</a:t>
            </a:r>
            <a:r>
              <a:rPr sz="1900" b="0" i="0">
                <a:solidFill>
                  <a:srgbClr val="1C252B"/>
                </a:solidFill>
                <a:latin typeface="Cambria"/>
              </a:rPr>
              <a:t> = 0.4750 × 0.5250 × (0.8 × 0.0770) = </a:t>
            </a:r>
            <a:r>
              <a:rPr sz="1900" b="1" i="0">
                <a:solidFill>
                  <a:srgbClr val="1C252B"/>
                </a:solidFill>
                <a:latin typeface="Cambria"/>
              </a:rPr>
              <a:t>0.0154</a:t>
            </a:r>
            <a:r>
              <a:rPr sz="1900" b="0" i="0">
                <a:solidFill>
                  <a:srgbClr val="1C252B"/>
                </a:solidFill>
                <a:latin typeface="Segoe UI"/>
              </a:rPr>
              <a:t>.</a:t>
            </a:r>
          </a:p>
        </p:txBody>
      </p:sp>
      <p:sp>
        <p:nvSpPr>
          <p:cNvPr id="47"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8" name="!!pfill">
            <a:extLst>
              <a:ext uri="{C183D7F6-B498-43B3-948B-1728B52AA6E4}">
                <adec:decorative xmlns:adec="http://schemas.microsoft.com/office/drawing/2017/decorative" val="1"/>
              </a:ext>
            </a:extLst>
          </p:cNvPr>
          <p:cNvSpPr/>
          <p:nvPr/>
        </p:nvSpPr>
        <p:spPr>
          <a:xfrm>
            <a:off x="0" y="0"/>
            <a:ext cx="510350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11">
                                            <p:txEl>
                                              <p:pRg st="0" end="0"/>
                                            </p:txEl>
                                          </p:spTgt>
                                        </p:tgtEl>
                                        <p:attrNameLst>
                                          <p:attrName>style.visibility</p:attrName>
                                        </p:attrNameLst>
                                      </p:cBhvr>
                                      <p:to>
                                        <p:strVal val="visible"/>
                                      </p:to>
                                    </p:set>
                                    <p:animEffect transition="in" filter="fade">
                                      <p:cBhvr>
                                        <p:cTn id="13" dur="350"/>
                                        <p:tgtEl>
                                          <p:spTgt spid="11">
                                            <p:txEl>
                                              <p:pRg st="0" end="0"/>
                                            </p:txEl>
                                          </p:spTgt>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grpId="0" nodeType="clickEffect">
                                  <p:stCondLst>
                                    <p:cond delay="0"/>
                                  </p:stCondLst>
                                  <p:childTnLst>
                                    <p:set>
                                      <p:cBhvr>
                                        <p:cTn id="17" dur="1" fill="hold">
                                          <p:stCondLst>
                                            <p:cond delay="0"/>
                                          </p:stCondLst>
                                        </p:cTn>
                                        <p:tgtEl>
                                          <p:spTgt spid="11">
                                            <p:txEl>
                                              <p:pRg st="1" end="1"/>
                                            </p:txEl>
                                          </p:spTgt>
                                        </p:tgtEl>
                                        <p:attrNameLst>
                                          <p:attrName>style.visibility</p:attrName>
                                        </p:attrNameLst>
                                      </p:cBhvr>
                                      <p:to>
                                        <p:strVal val="visible"/>
                                      </p:to>
                                    </p:set>
                                    <p:animEffect transition="in" filter="fade">
                                      <p:cBhvr>
                                        <p:cTn id="18" dur="350"/>
                                        <p:tgtEl>
                                          <p:spTgt spid="11">
                                            <p:txEl>
                                              <p:pRg st="1" end="1"/>
                                            </p:txEl>
                                          </p:spTgt>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grpId="0" nodeType="clickEffect">
                                  <p:stCondLst>
                                    <p:cond delay="0"/>
                                  </p:stCondLst>
                                  <p:childTnLst>
                                    <p:set>
                                      <p:cBhvr>
                                        <p:cTn id="22" dur="1" fill="hold">
                                          <p:stCondLst>
                                            <p:cond delay="0"/>
                                          </p:stCondLst>
                                        </p:cTn>
                                        <p:tgtEl>
                                          <p:spTgt spid="11">
                                            <p:txEl>
                                              <p:pRg st="2" end="2"/>
                                            </p:txEl>
                                          </p:spTgt>
                                        </p:tgtEl>
                                        <p:attrNameLst>
                                          <p:attrName>style.visibility</p:attrName>
                                        </p:attrNameLst>
                                      </p:cBhvr>
                                      <p:to>
                                        <p:strVal val="visible"/>
                                      </p:to>
                                    </p:set>
                                    <p:animEffect transition="in" filter="fade">
                                      <p:cBhvr>
                                        <p:cTn id="23" dur="350"/>
                                        <p:tgtEl>
                                          <p:spTgt spid="11">
                                            <p:txEl>
                                              <p:pRg st="2" end="2"/>
                                            </p:txEl>
                                          </p:spTgt>
                                        </p:tgtEl>
                                      </p:cBhvr>
                                    </p:animEffect>
                                  </p:childTnLst>
                                </p:cTn>
                              </p:par>
                            </p:childTnLst>
                          </p:cTn>
                        </p:par>
                      </p:childTnLst>
                    </p:cTn>
                  </p:par>
                  <p:par>
                    <p:cTn id="24" fill="hold">
                      <p:stCondLst>
                        <p:cond delay="indefinite"/>
                      </p:stCondLst>
                      <p:childTnLst>
                        <p:par>
                          <p:cTn id="25" fill="hold">
                            <p:stCondLst>
                              <p:cond delay="0"/>
                            </p:stCondLst>
                            <p:childTnLst>
                              <p:par>
                                <p:cTn id="26" presetID="22" presetClass="entr" presetSubtype="8" fill="hold" grpId="0" nodeType="clickEffect">
                                  <p:stCondLst>
                                    <p:cond delay="0"/>
                                  </p:stCondLst>
                                  <p:childTnLst>
                                    <p:set>
                                      <p:cBhvr>
                                        <p:cTn id="27" dur="1" fill="hold">
                                          <p:stCondLst>
                                            <p:cond delay="0"/>
                                          </p:stCondLst>
                                        </p:cTn>
                                        <p:tgtEl>
                                          <p:spTgt spid="13"/>
                                        </p:tgtEl>
                                        <p:attrNameLst>
                                          <p:attrName>style.visibility</p:attrName>
                                        </p:attrNameLst>
                                      </p:cBhvr>
                                      <p:to>
                                        <p:strVal val="visible"/>
                                      </p:to>
                                    </p:set>
                                    <p:animEffect transition="in" filter="wipe(right)">
                                      <p:cBhvr>
                                        <p:cTn id="28" dur="420"/>
                                        <p:tgtEl>
                                          <p:spTgt spid="13"/>
                                        </p:tgtEl>
                                      </p:cBhvr>
                                    </p:animEffect>
                                  </p:childTnLst>
                                </p:cTn>
                              </p:par>
                              <p:par>
                                <p:cTn id="29" presetID="10" presetClass="entr" presetSubtype="0" fill="hold" grpId="0" nodeType="withEffect">
                                  <p:stCondLst>
                                    <p:cond delay="0"/>
                                  </p:stCondLst>
                                  <p:childTnLst>
                                    <p:set>
                                      <p:cBhvr>
                                        <p:cTn id="30" dur="1" fill="hold">
                                          <p:stCondLst>
                                            <p:cond delay="0"/>
                                          </p:stCondLst>
                                        </p:cTn>
                                        <p:tgtEl>
                                          <p:spTgt spid="12"/>
                                        </p:tgtEl>
                                        <p:attrNameLst>
                                          <p:attrName>style.visibility</p:attrName>
                                        </p:attrNameLst>
                                      </p:cBhvr>
                                      <p:to>
                                        <p:strVal val="visible"/>
                                      </p:to>
                                    </p:set>
                                    <p:animEffect transition="in" filter="fade">
                                      <p:cBhvr>
                                        <p:cTn id="31" dur="420"/>
                                        <p:tgtEl>
                                          <p:spTgt spid="12"/>
                                        </p:tgtEl>
                                      </p:cBhvr>
                                    </p:animEffect>
                                  </p:childTnLst>
                                </p:cTn>
                              </p:par>
                            </p:childTnLst>
                          </p:cTn>
                        </p:par>
                      </p:childTnLst>
                    </p:cTn>
                  </p:par>
                  <p:par>
                    <p:cTn id="32" fill="hold">
                      <p:stCondLst>
                        <p:cond delay="indefinite"/>
                      </p:stCondLst>
                      <p:childTnLst>
                        <p:par>
                          <p:cTn id="33" fill="hold">
                            <p:stCondLst>
                              <p:cond delay="0"/>
                            </p:stCondLst>
                            <p:childTnLst>
                              <p:par>
                                <p:cTn id="34" presetID="10" presetClass="entr" presetSubtype="0" fill="hold" grpId="0" nodeType="clickEffect">
                                  <p:stCondLst>
                                    <p:cond delay="0"/>
                                  </p:stCondLst>
                                  <p:childTnLst>
                                    <p:set>
                                      <p:cBhvr>
                                        <p:cTn id="35" dur="1" fill="hold">
                                          <p:stCondLst>
                                            <p:cond delay="0"/>
                                          </p:stCondLst>
                                        </p:cTn>
                                        <p:tgtEl>
                                          <p:spTgt spid="14">
                                            <p:txEl>
                                              <p:pRg st="0" end="0"/>
                                            </p:txEl>
                                          </p:spTgt>
                                        </p:tgtEl>
                                        <p:attrNameLst>
                                          <p:attrName>style.visibility</p:attrName>
                                        </p:attrNameLst>
                                      </p:cBhvr>
                                      <p:to>
                                        <p:strVal val="visible"/>
                                      </p:to>
                                    </p:set>
                                    <p:animEffect transition="in" filter="fade">
                                      <p:cBhvr>
                                        <p:cTn id="36" dur="350"/>
                                        <p:tgtEl>
                                          <p:spTgt spid="14">
                                            <p:txEl>
                                              <p:pRg st="0" end="0"/>
                                            </p:txEl>
                                          </p:spTgt>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xEl>
                                              <p:pRg st="1" end="1"/>
                                            </p:txEl>
                                          </p:spTgt>
                                        </p:tgtEl>
                                        <p:attrNameLst>
                                          <p:attrName>style.visibility</p:attrName>
                                        </p:attrNameLst>
                                      </p:cBhvr>
                                      <p:to>
                                        <p:strVal val="visible"/>
                                      </p:to>
                                    </p:set>
                                    <p:animEffect transition="in" filter="fade">
                                      <p:cBhvr>
                                        <p:cTn id="41" dur="350"/>
                                        <p:tgtEl>
                                          <p:spTgt spid="14">
                                            <p:txEl>
                                              <p:pRg st="1" end="1"/>
                                            </p:txEl>
                                          </p:spTgt>
                                        </p:tgtEl>
                                      </p:cBhvr>
                                    </p:animEffect>
                                  </p:childTnLst>
                                </p:cTn>
                              </p:par>
                            </p:childTnLst>
                          </p:cTn>
                        </p:par>
                      </p:childTnLst>
                    </p:cTn>
                  </p:par>
                  <p:par>
                    <p:cTn id="42" fill="hold">
                      <p:stCondLst>
                        <p:cond delay="indefinite"/>
                      </p:stCondLst>
                      <p:childTnLst>
                        <p:par>
                          <p:cTn id="43" fill="hold">
                            <p:stCondLst>
                              <p:cond delay="0"/>
                            </p:stCondLst>
                            <p:childTnLst>
                              <p:par>
                                <p:cTn id="44" presetID="10" presetClass="entr" presetSubtype="0" fill="hold" grpId="0" nodeType="clickEffect">
                                  <p:stCondLst>
                                    <p:cond delay="0"/>
                                  </p:stCondLst>
                                  <p:childTnLst>
                                    <p:set>
                                      <p:cBhvr>
                                        <p:cTn id="45" dur="1" fill="hold">
                                          <p:stCondLst>
                                            <p:cond delay="0"/>
                                          </p:stCondLst>
                                        </p:cTn>
                                        <p:tgtEl>
                                          <p:spTgt spid="14">
                                            <p:txEl>
                                              <p:pRg st="2" end="2"/>
                                            </p:txEl>
                                          </p:spTgt>
                                        </p:tgtEl>
                                        <p:attrNameLst>
                                          <p:attrName>style.visibility</p:attrName>
                                        </p:attrNameLst>
                                      </p:cBhvr>
                                      <p:to>
                                        <p:strVal val="visible"/>
                                      </p:to>
                                    </p:set>
                                    <p:animEffect transition="in" filter="fade">
                                      <p:cBhvr>
                                        <p:cTn id="46" dur="350"/>
                                        <p:tgtEl>
                                          <p:spTgt spid="14">
                                            <p:txEl>
                                              <p:pRg st="2" end="2"/>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P spid="14" grpId="0" build="p"/>
    </p:bldLst>
  </p:timing>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One Step of Backpropagation (continued)</a:t>
            </a:r>
          </a:p>
        </p:txBody>
      </p:sp>
      <p:pic>
        <p:nvPicPr>
          <p:cNvPr id="3" name="!!kicker-icon" descr="calculator-B7950B.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314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B7950B"/>
                </a:solidFill>
                <a:latin typeface="Segoe UI"/>
              </a:rPr>
              <a:t>WORKED EXAMPLE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§13.5  ·  Handout p. 97     </a:t>
            </a:r>
            <a:fld id="{D68FC9B4-F809-4204-8F08-CD1A4C700C5F}" type="slidenum">
              <a:rPr lang="en-GB" sz="1000">
                <a:solidFill>
                  <a:srgbClr val="8795A1"/>
                </a:solidFill>
                <a:latin typeface="Segoe UI"/>
              </a:rPr>
              <a:t>19</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090976"/>
          </a:xfrm>
          <a:prstGeom prst="roundRect">
            <a:avLst>
              <a:gd name="adj" fmla="val 2958"/>
            </a:avLst>
          </a:prstGeom>
          <a:solidFill>
            <a:srgbClr val="FBF8EC"/>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09097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42416" y="2011679"/>
            <a:ext cx="10234879" cy="346862"/>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Update</a:t>
            </a:r>
            <a:r>
              <a:rPr sz="1900" b="0" i="0">
                <a:solidFill>
                  <a:srgbClr val="1C252B"/>
                </a:solidFill>
                <a:latin typeface="Segoe UI"/>
              </a:rPr>
              <a:t> (</a:t>
            </a:r>
            <a:r>
              <a:rPr sz="1900" b="0" i="0">
                <a:solidFill>
                  <a:srgbClr val="1C252B"/>
                </a:solidFill>
                <a:latin typeface="Cambria"/>
              </a:rPr>
              <a:t>Δ </a:t>
            </a:r>
            <a:r>
              <a:rPr sz="1900" b="0" i="1">
                <a:solidFill>
                  <a:srgbClr val="1C252B"/>
                </a:solidFill>
                <a:latin typeface="Cambria"/>
              </a:rPr>
              <a:t>w</a:t>
            </a:r>
            <a:r>
              <a:rPr sz="1900" b="0" i="0">
                <a:solidFill>
                  <a:srgbClr val="1C252B"/>
                </a:solidFill>
                <a:latin typeface="Cambria"/>
              </a:rPr>
              <a:t> = η δ </a:t>
            </a:r>
            <a:r>
              <a:rPr sz="1900" b="0" i="1">
                <a:solidFill>
                  <a:srgbClr val="1C252B"/>
                </a:solidFill>
                <a:latin typeface="Cambria"/>
              </a:rPr>
              <a:t>x</a:t>
            </a:r>
            <a:r>
              <a:rPr sz="1900" b="0" i="0">
                <a:solidFill>
                  <a:srgbClr val="1C252B"/>
                </a:solidFill>
                <a:latin typeface="Segoe UI"/>
              </a:rPr>
              <a:t>).</a:t>
            </a:r>
          </a:p>
        </p:txBody>
      </p:sp>
      <p:sp>
        <p:nvSpPr>
          <p:cNvPr id="10" name="body-0bar">
            <a:extLst>
              <a:ext uri="{C183D7F6-B498-43B3-948B-1728B52AA6E4}">
                <adec:decorative xmlns:adec="http://schemas.microsoft.com/office/drawing/2017/decorative" val="1"/>
              </a:ext>
            </a:extLst>
          </p:cNvPr>
          <p:cNvSpPr/>
          <p:nvPr/>
        </p:nvSpPr>
        <p:spPr>
          <a:xfrm>
            <a:off x="841248" y="2029967"/>
            <a:ext cx="54864" cy="282854"/>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body-1"/>
          <p:cNvSpPr txBox="1"/>
          <p:nvPr/>
        </p:nvSpPr>
        <p:spPr>
          <a:xfrm>
            <a:off x="1042416" y="2445537"/>
            <a:ext cx="10234879" cy="1419199"/>
          </a:xfrm>
          <a:prstGeom prst="rect">
            <a:avLst/>
          </a:prstGeom>
          <a:noFill/>
        </p:spPr>
        <p:txBody>
          <a:bodyPr wrap="square" anchor="t" lIns="0" rIns="0" tIns="0" bIns="0">
            <a:noAutofit/>
          </a:bodyPr>
          <a:lstStyle/>
          <a:p>
            <a:pPr algn="l" marL="212450" indent="-212450">
              <a:lnSpc>
                <a:spcPct val="104000"/>
              </a:lnSpc>
              <a:spcBef>
                <a:spcPts val="0"/>
              </a:spcBef>
              <a:spcAft>
                <a:spcPts val="665"/>
              </a:spcAft>
            </a:pPr>
            <a:r>
              <a:rPr sz="1900" b="1">
                <a:solidFill>
                  <a:srgbClr val="7D6608"/>
                </a:solidFill>
                <a:latin typeface="Segoe UI"/>
              </a:rPr>
              <a:t>•	</a:t>
            </a:r>
            <a:r>
              <a:rPr sz="1900" b="0" i="0">
                <a:solidFill>
                  <a:srgbClr val="1C252B"/>
                </a:solidFill>
                <a:latin typeface="Segoe UI"/>
              </a:rPr>
              <a:t>Output weights: from </a:t>
            </a:r>
            <a:r>
              <a:rPr sz="1900" b="0" i="1">
                <a:solidFill>
                  <a:srgbClr val="1C252B"/>
                </a:solidFill>
                <a:latin typeface="Cambria"/>
              </a:rPr>
              <a:t>h</a:t>
            </a:r>
            <a:r>
              <a:rPr sz="1900" b="0" i="0" baseline="-25000">
                <a:solidFill>
                  <a:srgbClr val="1C252B"/>
                </a:solidFill>
                <a:latin typeface="Cambria"/>
              </a:rPr>
              <a:t>1</a:t>
            </a:r>
            <a:r>
              <a:rPr sz="1900" b="0" i="0">
                <a:solidFill>
                  <a:srgbClr val="1C252B"/>
                </a:solidFill>
                <a:latin typeface="Segoe UI"/>
              </a:rPr>
              <a:t>: </a:t>
            </a:r>
            <a:r>
              <a:rPr sz="1900" b="0" i="0">
                <a:solidFill>
                  <a:srgbClr val="1C252B"/>
                </a:solidFill>
                <a:latin typeface="Cambria"/>
              </a:rPr>
              <a:t>0.6 + 0.5(0.0770)(0.6225) = 0.6240</a:t>
            </a:r>
            <a:r>
              <a:rPr sz="1900" b="0" i="0">
                <a:solidFill>
                  <a:srgbClr val="1C252B"/>
                </a:solidFill>
                <a:latin typeface="Segoe UI"/>
              </a:rPr>
              <a:t>; from </a:t>
            </a:r>
            <a:r>
              <a:rPr sz="1900" b="0" i="1">
                <a:solidFill>
                  <a:srgbClr val="1C252B"/>
                </a:solidFill>
                <a:latin typeface="Cambria"/>
              </a:rPr>
              <a:t>h</a:t>
            </a:r>
            <a:r>
              <a:rPr sz="1900" b="0" i="0" baseline="-25000">
                <a:solidFill>
                  <a:srgbClr val="1C252B"/>
                </a:solidFill>
                <a:latin typeface="Cambria"/>
              </a:rPr>
              <a:t>2</a:t>
            </a:r>
            <a:r>
              <a:rPr sz="1900" b="0" i="0">
                <a:solidFill>
                  <a:srgbClr val="1C252B"/>
                </a:solidFill>
                <a:latin typeface="Segoe UI"/>
              </a:rPr>
              <a:t>: </a:t>
            </a:r>
            <a:r>
              <a:rPr sz="1900" b="0" i="0">
                <a:solidFill>
                  <a:srgbClr val="1C252B"/>
                </a:solidFill>
                <a:latin typeface="Cambria"/>
              </a:rPr>
              <a:t>0.8 + 0.5(0.0770)(0.4750) = 0.8183</a:t>
            </a:r>
            <a:r>
              <a:rPr sz="1900" b="0" i="0">
                <a:solidFill>
                  <a:srgbClr val="1C252B"/>
                </a:solidFill>
                <a:latin typeface="Segoe UI"/>
              </a:rPr>
              <a:t>; bias: </a:t>
            </a:r>
            <a:r>
              <a:rPr sz="1900" b="0" i="0">
                <a:solidFill>
                  <a:srgbClr val="1C252B"/>
                </a:solidFill>
                <a:latin typeface="Cambria"/>
              </a:rPr>
              <a:t>−0.1 + 0.5(0.0770) = −0.0615</a:t>
            </a:r>
            <a:r>
              <a:rPr sz="1900" b="0" i="0">
                <a:solidFill>
                  <a:srgbClr val="1C252B"/>
                </a:solidFill>
                <a:latin typeface="Segoe UI"/>
              </a:rPr>
              <a:t>.</a:t>
            </a:r>
          </a:p>
          <a:p>
            <a:pPr algn="l" marL="212450" indent="-212450">
              <a:lnSpc>
                <a:spcPct val="104000"/>
              </a:lnSpc>
              <a:spcBef>
                <a:spcPts val="0"/>
              </a:spcBef>
              <a:spcAft>
                <a:spcPts val="665"/>
              </a:spcAft>
            </a:pPr>
            <a:r>
              <a:rPr sz="1900" b="1">
                <a:solidFill>
                  <a:srgbClr val="7D6608"/>
                </a:solidFill>
                <a:latin typeface="Segoe UI"/>
              </a:rPr>
              <a:t>•	</a:t>
            </a:r>
            <a:r>
              <a:rPr sz="1900" b="0" i="1">
                <a:solidFill>
                  <a:srgbClr val="1C252B"/>
                </a:solidFill>
                <a:latin typeface="Cambria"/>
              </a:rPr>
              <a:t>h</a:t>
            </a:r>
            <a:r>
              <a:rPr sz="1900" b="0" i="0" baseline="-25000">
                <a:solidFill>
                  <a:srgbClr val="1C252B"/>
                </a:solidFill>
                <a:latin typeface="Cambria"/>
              </a:rPr>
              <a:t>1</a:t>
            </a:r>
            <a:r>
              <a:rPr sz="1900" b="0" i="0">
                <a:solidFill>
                  <a:srgbClr val="1C252B"/>
                </a:solidFill>
                <a:latin typeface="Segoe UI"/>
              </a:rPr>
              <a:t>: weight from </a:t>
            </a:r>
            <a:r>
              <a:rPr sz="1900" b="0" i="1">
                <a:solidFill>
                  <a:srgbClr val="1C252B"/>
                </a:solidFill>
                <a:latin typeface="Cambria"/>
              </a:rPr>
              <a:t>x</a:t>
            </a:r>
            <a:r>
              <a:rPr sz="1900" b="0" i="0" baseline="-25000">
                <a:solidFill>
                  <a:srgbClr val="1C252B"/>
                </a:solidFill>
                <a:latin typeface="Cambria"/>
              </a:rPr>
              <a:t>1</a:t>
            </a:r>
            <a:r>
              <a:rPr sz="1900" b="0" i="0">
                <a:solidFill>
                  <a:srgbClr val="1C252B"/>
                </a:solidFill>
                <a:latin typeface="Segoe UI"/>
              </a:rPr>
              <a:t> </a:t>
            </a:r>
            <a:r>
              <a:rPr sz="1900" b="0" i="0">
                <a:solidFill>
                  <a:srgbClr val="1C252B"/>
                </a:solidFill>
                <a:latin typeface="Cambria"/>
              </a:rPr>
              <a:t>0.4 → 0.4054</a:t>
            </a:r>
            <a:r>
              <a:rPr sz="1900" b="0" i="0">
                <a:solidFill>
                  <a:srgbClr val="1C252B"/>
                </a:solidFill>
                <a:latin typeface="Segoe UI"/>
              </a:rPr>
              <a:t>, bias </a:t>
            </a:r>
            <a:r>
              <a:rPr sz="1900" b="0" i="0">
                <a:solidFill>
                  <a:srgbClr val="1C252B"/>
                </a:solidFill>
                <a:latin typeface="Cambria"/>
              </a:rPr>
              <a:t>0.1 → 0.1054</a:t>
            </a:r>
            <a:r>
              <a:rPr sz="1900" b="0" i="0">
                <a:solidFill>
                  <a:srgbClr val="1C252B"/>
                </a:solidFill>
                <a:latin typeface="Segoe UI"/>
              </a:rPr>
              <a:t>; from </a:t>
            </a:r>
            <a:r>
              <a:rPr sz="1900" b="0" i="1">
                <a:solidFill>
                  <a:srgbClr val="1C252B"/>
                </a:solidFill>
                <a:latin typeface="Cambria"/>
              </a:rPr>
              <a:t>x</a:t>
            </a:r>
            <a:r>
              <a:rPr sz="1900" b="0" i="0" baseline="-25000">
                <a:solidFill>
                  <a:srgbClr val="1C252B"/>
                </a:solidFill>
                <a:latin typeface="Cambria"/>
              </a:rPr>
              <a:t>2</a:t>
            </a:r>
            <a:r>
              <a:rPr sz="1900" b="0" i="0">
                <a:solidFill>
                  <a:srgbClr val="1C252B"/>
                </a:solidFill>
                <a:latin typeface="Segoe UI"/>
              </a:rPr>
              <a:t> unchanged, because </a:t>
            </a:r>
            <a:r>
              <a:rPr sz="1900" b="0" i="1">
                <a:solidFill>
                  <a:srgbClr val="1C252B"/>
                </a:solidFill>
                <a:latin typeface="Cambria"/>
              </a:rPr>
              <a:t>x</a:t>
            </a:r>
            <a:r>
              <a:rPr sz="1900" b="0" i="0" baseline="-25000">
                <a:solidFill>
                  <a:srgbClr val="1C252B"/>
                </a:solidFill>
                <a:latin typeface="Cambria"/>
              </a:rPr>
              <a:t>2</a:t>
            </a:r>
            <a:r>
              <a:rPr sz="1900" b="0" i="0">
                <a:solidFill>
                  <a:srgbClr val="1C252B"/>
                </a:solidFill>
                <a:latin typeface="Cambria"/>
              </a:rPr>
              <a:t> = 0</a:t>
            </a:r>
            <a:r>
              <a:rPr sz="1900" b="0" i="0">
                <a:solidFill>
                  <a:srgbClr val="1C252B"/>
                </a:solidFill>
                <a:latin typeface="Segoe UI"/>
              </a:rPr>
              <a:t>.</a:t>
            </a:r>
          </a:p>
          <a:p>
            <a:pPr algn="l" marL="212450" indent="-212450">
              <a:lnSpc>
                <a:spcPct val="104000"/>
              </a:lnSpc>
              <a:spcBef>
                <a:spcPts val="0"/>
              </a:spcBef>
              <a:spcAft>
                <a:spcPts val="0"/>
              </a:spcAft>
            </a:pPr>
            <a:r>
              <a:rPr sz="1900" b="1">
                <a:solidFill>
                  <a:srgbClr val="7D6608"/>
                </a:solidFill>
                <a:latin typeface="Segoe UI"/>
              </a:rPr>
              <a:t>•	</a:t>
            </a:r>
            <a:r>
              <a:rPr sz="1900" b="0" i="1">
                <a:solidFill>
                  <a:srgbClr val="1C252B"/>
                </a:solidFill>
                <a:latin typeface="Cambria"/>
              </a:rPr>
              <a:t>h</a:t>
            </a:r>
            <a:r>
              <a:rPr sz="1900" b="0" i="0" baseline="-25000">
                <a:solidFill>
                  <a:srgbClr val="1C252B"/>
                </a:solidFill>
                <a:latin typeface="Cambria"/>
              </a:rPr>
              <a:t>2</a:t>
            </a:r>
            <a:r>
              <a:rPr sz="1900" b="0" i="0">
                <a:solidFill>
                  <a:srgbClr val="1C252B"/>
                </a:solidFill>
                <a:latin typeface="Segoe UI"/>
              </a:rPr>
              <a:t>: weight from </a:t>
            </a:r>
            <a:r>
              <a:rPr sz="1900" b="0" i="1">
                <a:solidFill>
                  <a:srgbClr val="1C252B"/>
                </a:solidFill>
                <a:latin typeface="Cambria"/>
              </a:rPr>
              <a:t>x</a:t>
            </a:r>
            <a:r>
              <a:rPr sz="1900" b="0" i="0" baseline="-25000">
                <a:solidFill>
                  <a:srgbClr val="1C252B"/>
                </a:solidFill>
                <a:latin typeface="Cambria"/>
              </a:rPr>
              <a:t>1</a:t>
            </a:r>
            <a:r>
              <a:rPr sz="1900" b="0" i="0">
                <a:solidFill>
                  <a:srgbClr val="1C252B"/>
                </a:solidFill>
                <a:latin typeface="Segoe UI"/>
              </a:rPr>
              <a:t> </a:t>
            </a:r>
            <a:r>
              <a:rPr sz="1900" b="0" i="0">
                <a:solidFill>
                  <a:srgbClr val="1C252B"/>
                </a:solidFill>
                <a:latin typeface="Cambria"/>
              </a:rPr>
              <a:t>−0.3 → −0.2923</a:t>
            </a:r>
            <a:r>
              <a:rPr sz="1900" b="0" i="0">
                <a:solidFill>
                  <a:srgbClr val="1C252B"/>
                </a:solidFill>
                <a:latin typeface="Segoe UI"/>
              </a:rPr>
              <a:t>, bias </a:t>
            </a:r>
            <a:r>
              <a:rPr sz="1900" b="0" i="0">
                <a:solidFill>
                  <a:srgbClr val="1C252B"/>
                </a:solidFill>
                <a:latin typeface="Cambria"/>
              </a:rPr>
              <a:t>0.2 → 0.2077</a:t>
            </a:r>
            <a:r>
              <a:rPr sz="1900" b="0" i="0">
                <a:solidFill>
                  <a:srgbClr val="1C252B"/>
                </a:solidFill>
                <a:latin typeface="Segoe UI"/>
              </a:rPr>
              <a:t>.</a:t>
            </a:r>
          </a:p>
        </p:txBody>
      </p:sp>
      <p:sp>
        <p:nvSpPr>
          <p:cNvPr id="12" name="body-2"/>
          <p:cNvSpPr txBox="1"/>
          <p:nvPr/>
        </p:nvSpPr>
        <p:spPr>
          <a:xfrm>
            <a:off x="1042416" y="3951732"/>
            <a:ext cx="10234879" cy="648004"/>
          </a:xfrm>
          <a:prstGeom prst="rect">
            <a:avLst/>
          </a:prstGeom>
          <a:noFill/>
        </p:spPr>
        <p:txBody>
          <a:bodyPr wrap="square" anchor="t" lIns="0" rIns="0" tIns="0" bIns="0">
            <a:noAutofit/>
          </a:bodyPr>
          <a:lstStyle/>
          <a:p>
            <a:pPr algn="l">
              <a:lnSpc>
                <a:spcPct val="104000"/>
              </a:lnSpc>
              <a:spcBef>
                <a:spcPts val="0"/>
              </a:spcBef>
              <a:spcAft>
                <a:spcPts val="0"/>
              </a:spcAft>
            </a:pPr>
            <a:r>
              <a:rPr sz="1900" b="1" i="0">
                <a:solidFill>
                  <a:srgbClr val="7D6608"/>
                </a:solidFill>
                <a:latin typeface="Segoe UI"/>
              </a:rPr>
              <a:t>Check.</a:t>
            </a:r>
            <a:r>
              <a:rPr sz="1900" b="0" i="0">
                <a:solidFill>
                  <a:srgbClr val="1C252B"/>
                </a:solidFill>
                <a:latin typeface="Segoe UI"/>
              </a:rPr>
              <a:t> A new forward pass gives </a:t>
            </a:r>
            <a:r>
              <a:rPr sz="1900" b="0" i="1">
                <a:solidFill>
                  <a:srgbClr val="1C252B"/>
                </a:solidFill>
                <a:latin typeface="Cambria"/>
              </a:rPr>
              <a:t>o</a:t>
            </a:r>
            <a:r>
              <a:rPr sz="1900" b="0" i="0">
                <a:solidFill>
                  <a:srgbClr val="1C252B"/>
                </a:solidFill>
                <a:latin typeface="Cambria"/>
              </a:rPr>
              <a:t> = 0.6727</a:t>
            </a:r>
            <a:r>
              <a:rPr sz="1900" b="0" i="0">
                <a:solidFill>
                  <a:srgbClr val="1C252B"/>
                </a:solidFill>
                <a:latin typeface="Segoe UI"/>
              </a:rPr>
              <a:t>: closer to 1. The squared error </a:t>
            </a:r>
            <a:r>
              <a:rPr sz="1900" b="0" i="0">
                <a:solidFill>
                  <a:srgbClr val="1C252B"/>
                </a:solidFill>
                <a:latin typeface="Cambria"/>
              </a:rPr>
              <a:t>1/2(</a:t>
            </a:r>
            <a:r>
              <a:rPr sz="1900" b="0" i="1">
                <a:solidFill>
                  <a:srgbClr val="1C252B"/>
                </a:solidFill>
                <a:latin typeface="Cambria"/>
              </a:rPr>
              <a:t>t</a:t>
            </a:r>
            <a:r>
              <a:rPr sz="1900" b="0" i="0">
                <a:solidFill>
                  <a:srgbClr val="1C252B"/>
                </a:solidFill>
                <a:latin typeface="Cambria"/>
              </a:rPr>
              <a:t> − </a:t>
            </a:r>
            <a:r>
              <a:rPr sz="1900" b="0" i="1">
                <a:solidFill>
                  <a:srgbClr val="1C252B"/>
                </a:solidFill>
                <a:latin typeface="Cambria"/>
              </a:rPr>
              <a:t>o</a:t>
            </a:r>
            <a:r>
              <a:rPr sz="1900" b="0" i="0">
                <a:solidFill>
                  <a:srgbClr val="1C252B"/>
                </a:solidFill>
                <a:latin typeface="Cambria"/>
              </a:rPr>
              <a:t>)</a:t>
            </a:r>
            <a:r>
              <a:rPr sz="1900" b="0" i="0" baseline="30000">
                <a:solidFill>
                  <a:srgbClr val="1C252B"/>
                </a:solidFill>
                <a:latin typeface="Cambria"/>
              </a:rPr>
              <a:t>2</a:t>
            </a:r>
            <a:r>
              <a:rPr sz="1900" b="0" i="0">
                <a:solidFill>
                  <a:srgbClr val="1C252B"/>
                </a:solidFill>
                <a:latin typeface="Segoe UI"/>
              </a:rPr>
              <a:t> falls from 0.0586 to 0.0536. Thousands of such small steps are what training a network means.</a:t>
            </a:r>
          </a:p>
        </p:txBody>
      </p:sp>
      <p:sp>
        <p:nvSpPr>
          <p:cNvPr id="13" name="body-2bar">
            <a:extLst>
              <a:ext uri="{C183D7F6-B498-43B3-948B-1728B52AA6E4}">
                <adec:decorative xmlns:adec="http://schemas.microsoft.com/office/drawing/2017/decorative" val="1"/>
              </a:ext>
            </a:extLst>
          </p:cNvPr>
          <p:cNvSpPr/>
          <p:nvPr/>
        </p:nvSpPr>
        <p:spPr>
          <a:xfrm>
            <a:off x="841248" y="3970020"/>
            <a:ext cx="54864" cy="583996"/>
          </a:xfrm>
          <a:prstGeom prst="rect">
            <a:avLst/>
          </a:prstGeom>
          <a:solidFill>
            <a:srgbClr val="B7950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36" name="!!pfill">
            <a:extLst>
              <a:ext uri="{C183D7F6-B498-43B3-948B-1728B52AA6E4}">
                <adec:decorative xmlns:adec="http://schemas.microsoft.com/office/drawing/2017/decorative" val="1"/>
              </a:ext>
            </a:extLst>
          </p:cNvPr>
          <p:cNvSpPr/>
          <p:nvPr/>
        </p:nvSpPr>
        <p:spPr>
          <a:xfrm>
            <a:off x="0" y="0"/>
            <a:ext cx="538702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2" presetClass="entr" presetSubtype="8" fill="hold" grpId="0" nodeType="clickEffect">
                                  <p:stCondLst>
                                    <p:cond delay="0"/>
                                  </p:stCondLst>
                                  <p:childTnLst>
                                    <p:set>
                                      <p:cBhvr>
                                        <p:cTn id="7" dur="1" fill="hold">
                                          <p:stCondLst>
                                            <p:cond delay="0"/>
                                          </p:stCondLst>
                                        </p:cTn>
                                        <p:tgtEl>
                                          <p:spTgt spid="10"/>
                                        </p:tgtEl>
                                        <p:attrNameLst>
                                          <p:attrName>style.visibility</p:attrName>
                                        </p:attrNameLst>
                                      </p:cBhvr>
                                      <p:to>
                                        <p:strVal val="visible"/>
                                      </p:to>
                                    </p:set>
                                    <p:animEffect transition="in" filter="wipe(right)">
                                      <p:cBhvr>
                                        <p:cTn id="8" dur="420"/>
                                        <p:tgtEl>
                                          <p:spTgt spid="10"/>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9"/>
                                        </p:tgtEl>
                                        <p:attrNameLst>
                                          <p:attrName>style.visibility</p:attrName>
                                        </p:attrNameLst>
                                      </p:cBhvr>
                                      <p:to>
                                        <p:strVal val="visible"/>
                                      </p:to>
                                    </p:set>
                                    <p:animEffect transition="in" filter="fade">
                                      <p:cBhvr>
                                        <p:cTn id="11" dur="420"/>
                                        <p:tgtEl>
                                          <p:spTgt spid="9"/>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grpId="0" nodeType="clickEffect">
                                  <p:stCondLst>
                                    <p:cond delay="0"/>
                                  </p:stCondLst>
                                  <p:childTnLst>
                                    <p:set>
                                      <p:cBhvr>
                                        <p:cTn id="15" dur="1" fill="hold">
                                          <p:stCondLst>
                                            <p:cond delay="0"/>
                                          </p:stCondLst>
                                        </p:cTn>
                                        <p:tgtEl>
                                          <p:spTgt spid="11">
                                            <p:txEl>
                                              <p:pRg st="0" end="0"/>
                                            </p:txEl>
                                          </p:spTgt>
                                        </p:tgtEl>
                                        <p:attrNameLst>
                                          <p:attrName>style.visibility</p:attrName>
                                        </p:attrNameLst>
                                      </p:cBhvr>
                                      <p:to>
                                        <p:strVal val="visible"/>
                                      </p:to>
                                    </p:set>
                                    <p:animEffect transition="in" filter="fade">
                                      <p:cBhvr>
                                        <p:cTn id="16" dur="350"/>
                                        <p:tgtEl>
                                          <p:spTgt spid="11">
                                            <p:txEl>
                                              <p:pRg st="0" end="0"/>
                                            </p:txEl>
                                          </p:spTgt>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grpId="0" nodeType="clickEffect">
                                  <p:stCondLst>
                                    <p:cond delay="0"/>
                                  </p:stCondLst>
                                  <p:childTnLst>
                                    <p:set>
                                      <p:cBhvr>
                                        <p:cTn id="20" dur="1" fill="hold">
                                          <p:stCondLst>
                                            <p:cond delay="0"/>
                                          </p:stCondLst>
                                        </p:cTn>
                                        <p:tgtEl>
                                          <p:spTgt spid="11">
                                            <p:txEl>
                                              <p:pRg st="1" end="1"/>
                                            </p:txEl>
                                          </p:spTgt>
                                        </p:tgtEl>
                                        <p:attrNameLst>
                                          <p:attrName>style.visibility</p:attrName>
                                        </p:attrNameLst>
                                      </p:cBhvr>
                                      <p:to>
                                        <p:strVal val="visible"/>
                                      </p:to>
                                    </p:set>
                                    <p:animEffect transition="in" filter="fade">
                                      <p:cBhvr>
                                        <p:cTn id="21" dur="350"/>
                                        <p:tgtEl>
                                          <p:spTgt spid="11">
                                            <p:txEl>
                                              <p:pRg st="1" end="1"/>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grpId="0" nodeType="clickEffect">
                                  <p:stCondLst>
                                    <p:cond delay="0"/>
                                  </p:stCondLst>
                                  <p:childTnLst>
                                    <p:set>
                                      <p:cBhvr>
                                        <p:cTn id="25" dur="1" fill="hold">
                                          <p:stCondLst>
                                            <p:cond delay="0"/>
                                          </p:stCondLst>
                                        </p:cTn>
                                        <p:tgtEl>
                                          <p:spTgt spid="11">
                                            <p:txEl>
                                              <p:pRg st="2" end="2"/>
                                            </p:txEl>
                                          </p:spTgt>
                                        </p:tgtEl>
                                        <p:attrNameLst>
                                          <p:attrName>style.visibility</p:attrName>
                                        </p:attrNameLst>
                                      </p:cBhvr>
                                      <p:to>
                                        <p:strVal val="visible"/>
                                      </p:to>
                                    </p:set>
                                    <p:animEffect transition="in" filter="fade">
                                      <p:cBhvr>
                                        <p:cTn id="26" dur="350"/>
                                        <p:tgtEl>
                                          <p:spTgt spid="11">
                                            <p:txEl>
                                              <p:pRg st="2" end="2"/>
                                            </p:txEl>
                                          </p:spTgt>
                                        </p:tgtEl>
                                      </p:cBhvr>
                                    </p:animEffect>
                                  </p:childTnLst>
                                </p:cTn>
                              </p:par>
                            </p:childTnLst>
                          </p:cTn>
                        </p:par>
                      </p:childTnLst>
                    </p:cTn>
                  </p:par>
                  <p:par>
                    <p:cTn id="27" fill="hold">
                      <p:stCondLst>
                        <p:cond delay="indefinite"/>
                      </p:stCondLst>
                      <p:childTnLst>
                        <p:par>
                          <p:cTn id="28" fill="hold">
                            <p:stCondLst>
                              <p:cond delay="0"/>
                            </p:stCondLst>
                            <p:childTnLst>
                              <p:par>
                                <p:cTn id="29" presetID="22" presetClass="entr" presetSubtype="8" fill="hold" grpId="0" nodeType="clickEffect">
                                  <p:stCondLst>
                                    <p:cond delay="0"/>
                                  </p:stCondLst>
                                  <p:childTnLst>
                                    <p:set>
                                      <p:cBhvr>
                                        <p:cTn id="30" dur="1" fill="hold">
                                          <p:stCondLst>
                                            <p:cond delay="0"/>
                                          </p:stCondLst>
                                        </p:cTn>
                                        <p:tgtEl>
                                          <p:spTgt spid="13"/>
                                        </p:tgtEl>
                                        <p:attrNameLst>
                                          <p:attrName>style.visibility</p:attrName>
                                        </p:attrNameLst>
                                      </p:cBhvr>
                                      <p:to>
                                        <p:strVal val="visible"/>
                                      </p:to>
                                    </p:set>
                                    <p:animEffect transition="in" filter="wipe(right)">
                                      <p:cBhvr>
                                        <p:cTn id="31" dur="420"/>
                                        <p:tgtEl>
                                          <p:spTgt spid="13"/>
                                        </p:tgtEl>
                                      </p:cBhvr>
                                    </p:animEffect>
                                  </p:childTnLst>
                                </p:cTn>
                              </p:par>
                              <p:par>
                                <p:cTn id="32" presetID="10" presetClass="entr" presetSubtype="0" fill="hold" grpId="0" nodeType="withEffect">
                                  <p:stCondLst>
                                    <p:cond delay="0"/>
                                  </p:stCondLst>
                                  <p:childTnLst>
                                    <p:set>
                                      <p:cBhvr>
                                        <p:cTn id="33" dur="1" fill="hold">
                                          <p:stCondLst>
                                            <p:cond delay="0"/>
                                          </p:stCondLst>
                                        </p:cTn>
                                        <p:tgtEl>
                                          <p:spTgt spid="12"/>
                                        </p:tgtEl>
                                        <p:attrNameLst>
                                          <p:attrName>style.visibility</p:attrName>
                                        </p:attrNameLst>
                                      </p:cBhvr>
                                      <p:to>
                                        <p:strVal val="visible"/>
                                      </p:to>
                                    </p:set>
                                    <p:animEffect transition="in" filter="fade">
                                      <p:cBhvr>
                                        <p:cTn id="34" dur="42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build="p"/>
    </p:bld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Three activation functions</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13.4</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§13.6  ·  Handout p. 99     </a:t>
            </a:r>
            <a:fld id="{A0FEC128-2546-47DB-BC34-7E520A0F7F89}" type="slidenum">
              <a:rPr lang="en-GB" sz="1000">
                <a:solidFill>
                  <a:srgbClr val="8795A1"/>
                </a:solidFill>
                <a:latin typeface="Segoe UI"/>
              </a:rPr>
              <a:t>20</a:t>
            </a:fld>
          </a:p>
        </p:txBody>
      </p:sp>
      <p:pic>
        <p:nvPicPr>
          <p:cNvPr id="6" name="!!figure" descr="Figure 13.4. Three activation functions. The sigmoid and tanh flatten out for large |z|, where their gradients vanish; ReLU does not saturate for positive inputs, which is why it trains deep networks faste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1993220" y="1737360"/>
            <a:ext cx="8205254"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The sigmoid and tanh flatten out for large |z|, where their gradients vanish; ReLU does not saturate for positive inputs, which is why it trains deep networks faster.</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5670555"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4846320" y="1874519"/>
            <a:ext cx="6659575" cy="1828800"/>
          </a:xfrm>
        </p:spPr>
        <p:txBody>
          <a:bodyPr wrap="square" lIns="0" rIns="0" tIns="0" bIns="0" anchor="ctr">
            <a:noAutofit/>
          </a:bodyPr>
          <a:lstStyle/>
          <a:p>
            <a:pPr algn="l">
              <a:lnSpc>
                <a:spcPct val="96000"/>
              </a:lnSpc>
            </a:pPr>
            <a:r>
              <a:rPr sz="3800" b="0">
                <a:solidFill>
                  <a:srgbClr val="1C252B"/>
                </a:solidFill>
                <a:latin typeface="Segoe UI Semibold"/>
              </a:rPr>
              <a:t>Training Well: Overfitting and Its Cures</a:t>
            </a:r>
          </a:p>
        </p:txBody>
      </p:sp>
      <p:sp>
        <p:nvSpPr>
          <p:cNvPr id="3" name="!!dpanel">
            <a:extLst>
              <a:ext uri="{C183D7F6-B498-43B3-948B-1728B52AA6E4}">
                <adec:decorative xmlns:adec="http://schemas.microsoft.com/office/drawing/2017/decorative" val="1"/>
              </a:ext>
            </a:extLst>
          </p:cNvPr>
          <p:cNvSpPr/>
          <p:nvPr/>
        </p:nvSpPr>
        <p:spPr>
          <a:xfrm>
            <a:off x="0" y="0"/>
            <a:ext cx="4160520" cy="6858000"/>
          </a:xfrm>
          <a:prstGeom prst="rect">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4" name="!!dsec"/>
          <p:cNvSpPr txBox="1"/>
          <p:nvPr/>
        </p:nvSpPr>
        <p:spPr>
          <a:xfrm>
            <a:off x="658368" y="1920240"/>
            <a:ext cx="3246120" cy="274320"/>
          </a:xfrm>
          <a:prstGeom prst="rect">
            <a:avLst/>
          </a:prstGeom>
          <a:noFill/>
        </p:spPr>
        <p:txBody>
          <a:bodyPr wrap="square" anchor="t" lIns="0" rIns="0" tIns="0" bIns="0">
            <a:noAutofit/>
          </a:bodyPr>
          <a:lstStyle/>
          <a:p>
            <a:pPr algn="l">
              <a:lnSpc>
                <a:spcPct val="100000"/>
              </a:lnSpc>
              <a:spcBef>
                <a:spcPts val="0"/>
              </a:spcBef>
              <a:spcAft>
                <a:spcPts val="0"/>
              </a:spcAft>
            </a:pPr>
            <a:r>
              <a:rPr sz="1250" b="1" i="0" spc="180">
                <a:solidFill>
                  <a:srgbClr val="BBD7C7"/>
                </a:solidFill>
                <a:latin typeface="Segoe UI"/>
              </a:rPr>
              <a:t>SECTION 7 OF 7</a:t>
            </a:r>
          </a:p>
        </p:txBody>
      </p:sp>
      <p:sp>
        <p:nvSpPr>
          <p:cNvPr id="5" name="!!dnum"/>
          <p:cNvSpPr txBox="1"/>
          <p:nvPr/>
        </p:nvSpPr>
        <p:spPr>
          <a:xfrm>
            <a:off x="621792" y="2249424"/>
            <a:ext cx="3337560" cy="1463040"/>
          </a:xfrm>
          <a:prstGeom prst="rect">
            <a:avLst/>
          </a:prstGeom>
          <a:noFill/>
        </p:spPr>
        <p:txBody>
          <a:bodyPr wrap="square" anchor="t" lIns="0" rIns="0" tIns="0" bIns="0">
            <a:noAutofit/>
          </a:bodyPr>
          <a:lstStyle/>
          <a:p>
            <a:pPr algn="l">
              <a:lnSpc>
                <a:spcPct val="100000"/>
              </a:lnSpc>
              <a:spcBef>
                <a:spcPts val="0"/>
              </a:spcBef>
              <a:spcAft>
                <a:spcPts val="0"/>
              </a:spcAft>
            </a:pPr>
            <a:r>
              <a:rPr sz="7600" b="0" i="0">
                <a:solidFill>
                  <a:srgbClr val="FFFFFF"/>
                </a:solidFill>
                <a:latin typeface="Segoe UI Semibold"/>
              </a:rPr>
              <a:t>13.7</a:t>
            </a:r>
          </a:p>
        </p:txBody>
      </p:sp>
      <p:sp>
        <p:nvSpPr>
          <p:cNvPr id="6" name="!!dl0"/>
          <p:cNvSpPr txBox="1"/>
          <p:nvPr/>
        </p:nvSpPr>
        <p:spPr>
          <a:xfrm>
            <a:off x="4846320" y="416052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13.1   From Neurons to Units</a:t>
            </a:r>
          </a:p>
        </p:txBody>
      </p:sp>
      <p:sp>
        <p:nvSpPr>
          <p:cNvPr id="7" name="!!dl1"/>
          <p:cNvSpPr txBox="1"/>
          <p:nvPr/>
        </p:nvSpPr>
        <p:spPr>
          <a:xfrm>
            <a:off x="4846320" y="4434840"/>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13.2   The Perceptron</a:t>
            </a:r>
          </a:p>
        </p:txBody>
      </p:sp>
      <p:sp>
        <p:nvSpPr>
          <p:cNvPr id="8" name="!!dl2"/>
          <p:cNvSpPr txBox="1"/>
          <p:nvPr/>
        </p:nvSpPr>
        <p:spPr>
          <a:xfrm>
            <a:off x="4846320" y="470915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13.3   Linear Separability and XOR</a:t>
            </a:r>
          </a:p>
        </p:txBody>
      </p:sp>
      <p:sp>
        <p:nvSpPr>
          <p:cNvPr id="9" name="!!dl3"/>
          <p:cNvSpPr txBox="1"/>
          <p:nvPr/>
        </p:nvSpPr>
        <p:spPr>
          <a:xfrm>
            <a:off x="4846320" y="498347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13.4   Gradient Descent and the Delta Rule</a:t>
            </a:r>
          </a:p>
        </p:txBody>
      </p:sp>
      <p:sp>
        <p:nvSpPr>
          <p:cNvPr id="10" name="!!dl4"/>
          <p:cNvSpPr txBox="1"/>
          <p:nvPr/>
        </p:nvSpPr>
        <p:spPr>
          <a:xfrm>
            <a:off x="4846320" y="525779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13.5   Multilayer Networks and Backpropagation</a:t>
            </a:r>
          </a:p>
        </p:txBody>
      </p:sp>
      <p:sp>
        <p:nvSpPr>
          <p:cNvPr id="11" name="!!dl5"/>
          <p:cNvSpPr txBox="1"/>
          <p:nvPr/>
        </p:nvSpPr>
        <p:spPr>
          <a:xfrm>
            <a:off x="4846320" y="553211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0" i="0">
                <a:solidFill>
                  <a:srgbClr val="98A4AE"/>
                </a:solidFill>
                <a:latin typeface="Segoe UI"/>
              </a:rPr>
              <a:t>13.6   Activation Functions and Outputs</a:t>
            </a:r>
          </a:p>
        </p:txBody>
      </p:sp>
      <p:sp>
        <p:nvSpPr>
          <p:cNvPr id="12" name="!!dl6"/>
          <p:cNvSpPr txBox="1"/>
          <p:nvPr/>
        </p:nvSpPr>
        <p:spPr>
          <a:xfrm>
            <a:off x="4846320" y="5806439"/>
            <a:ext cx="6659575" cy="256032"/>
          </a:xfrm>
          <a:prstGeom prst="rect">
            <a:avLst/>
          </a:prstGeom>
          <a:noFill/>
        </p:spPr>
        <p:txBody>
          <a:bodyPr wrap="square" anchor="t" lIns="0" rIns="0" tIns="0" bIns="0">
            <a:noAutofit/>
          </a:bodyPr>
          <a:lstStyle/>
          <a:p>
            <a:pPr algn="l">
              <a:lnSpc>
                <a:spcPct val="100000"/>
              </a:lnSpc>
              <a:spcBef>
                <a:spcPts val="0"/>
              </a:spcBef>
              <a:spcAft>
                <a:spcPts val="0"/>
              </a:spcAft>
            </a:pPr>
            <a:r>
              <a:rPr sz="1300" b="1" i="0">
                <a:solidFill>
                  <a:srgbClr val="1B7A43"/>
                </a:solidFill>
                <a:latin typeface="Segoe UI"/>
              </a:rPr>
              <a:t>13.7   Training Well: Overfitting and Its Cures</a:t>
            </a:r>
          </a:p>
        </p:txBody>
      </p:sp>
      <p:sp>
        <p:nvSpPr>
          <p:cNvPr id="13" name="!!footL"/>
          <p:cNvSpPr txBox="1"/>
          <p:nvPr/>
        </p:nvSpPr>
        <p:spPr>
          <a:xfrm>
            <a:off x="4846320" y="6437376"/>
            <a:ext cx="4572000"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a:t>
            </a:r>
          </a:p>
        </p:txBody>
      </p:sp>
      <p:sp>
        <p:nvSpPr>
          <p:cNvPr id="14"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§13.7     </a:t>
            </a:r>
            <a:fld id="{9A46B405-65D9-4BE5-86AB-52391EEAC1C3}" type="slidenum">
              <a:rPr lang="en-GB" sz="1000">
                <a:solidFill>
                  <a:srgbClr val="8795A1"/>
                </a:solidFill>
                <a:latin typeface="Segoe UI"/>
              </a:rPr>
              <a:t>21</a:t>
            </a:fld>
          </a:p>
        </p:txBody>
      </p:sp>
      <p:sp>
        <p:nvSpPr>
          <p:cNvPr id="15"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pfill">
            <a:extLst>
              <a:ext uri="{C183D7F6-B498-43B3-948B-1728B52AA6E4}">
                <adec:decorative xmlns:adec="http://schemas.microsoft.com/office/drawing/2017/decorative" val="1"/>
              </a:ext>
            </a:extLst>
          </p:cNvPr>
          <p:cNvSpPr/>
          <p:nvPr/>
        </p:nvSpPr>
        <p:spPr>
          <a:xfrm>
            <a:off x="0" y="0"/>
            <a:ext cx="595408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push dir="u"/>
      </p:transition>
    </mc:Choice>
    <mc:Fallback>
      <p:transition spd="med">
        <p:push dir="u"/>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Training and validation loss of a two-hidden-layer network on data with 20% label noise</a:t>
            </a:r>
          </a:p>
        </p:txBody>
      </p:sp>
      <p:sp>
        <p:nvSpPr>
          <p:cNvPr id="3" name="!!kicker"/>
          <p:cNvSpPr txBox="1"/>
          <p:nvPr/>
        </p:nvSpPr>
        <p:spPr>
          <a:xfrm>
            <a:off x="658368" y="402336"/>
            <a:ext cx="10874959"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B7A43"/>
                </a:solidFill>
                <a:latin typeface="Segoe UI"/>
              </a:rPr>
              <a:t>FIGURE 13.5</a:t>
            </a:r>
          </a:p>
        </p:txBody>
      </p:sp>
      <p:sp>
        <p:nvSpPr>
          <p:cNvPr id="4"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5"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548740A8-9F41-4411-8EF0-81FE313475AD}" type="slidenum">
              <a:rPr lang="en-GB" sz="1000">
                <a:solidFill>
                  <a:srgbClr val="8795A1"/>
                </a:solidFill>
                <a:latin typeface="Segoe UI"/>
              </a:rPr>
              <a:t>22</a:t>
            </a:fld>
          </a:p>
        </p:txBody>
      </p:sp>
      <p:pic>
        <p:nvPicPr>
          <p:cNvPr id="6" name="!!figure" descr="Figure 13.5. Training and validation loss of a two-hidden-layer network on data with 20% label noise. Training loss goes to zero; validation loss is lowest after five epochs and rises thereafter. Early stopping keeps the epoch-5 weights."/>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2269234" y="1737360"/>
            <a:ext cx="7653226" cy="3740505"/>
          </a:xfrm>
          <a:prstGeom prst="rect">
            <a:avLst/>
          </a:prstGeom>
        </p:spPr>
      </p:pic>
      <p:sp>
        <p:nvSpPr>
          <p:cNvPr id="7" name="!!takebar">
            <a:extLst>
              <a:ext uri="{C183D7F6-B498-43B3-948B-1728B52AA6E4}">
                <adec:decorative xmlns:adec="http://schemas.microsoft.com/office/drawing/2017/decorative" val="1"/>
              </a:ext>
            </a:extLst>
          </p:cNvPr>
          <p:cNvSpPr/>
          <p:nvPr/>
        </p:nvSpPr>
        <p:spPr>
          <a:xfrm>
            <a:off x="658368" y="5660745"/>
            <a:ext cx="54864" cy="57546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take"/>
          <p:cNvSpPr txBox="1"/>
          <p:nvPr/>
        </p:nvSpPr>
        <p:spPr>
          <a:xfrm>
            <a:off x="877824" y="5642457"/>
            <a:ext cx="10600639" cy="758342"/>
          </a:xfrm>
          <a:prstGeom prst="rect">
            <a:avLst/>
          </a:prstGeom>
          <a:noFill/>
        </p:spPr>
        <p:txBody>
          <a:bodyPr wrap="square" anchor="t" lIns="0" rIns="0" tIns="0" bIns="0">
            <a:noAutofit/>
          </a:bodyPr>
          <a:lstStyle/>
          <a:p>
            <a:pPr algn="l">
              <a:lnSpc>
                <a:spcPct val="104000"/>
              </a:lnSpc>
              <a:spcBef>
                <a:spcPts val="0"/>
              </a:spcBef>
              <a:spcAft>
                <a:spcPts val="0"/>
              </a:spcAft>
            </a:pPr>
            <a:r>
              <a:rPr sz="1700" b="0" i="0">
                <a:solidFill>
                  <a:srgbClr val="3E4C57"/>
                </a:solidFill>
                <a:latin typeface="Segoe UI"/>
              </a:rPr>
              <a:t>Training loss goes to zero; validation loss is lowest after five epochs and rises thereafter. Early stopping keeps the epoch-5 weights.</a:t>
            </a:r>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623761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Training Well: Overfitting and Its Cures</a:t>
            </a:r>
          </a:p>
        </p:txBody>
      </p:sp>
      <p:pic>
        <p:nvPicPr>
          <p:cNvPr id="3" name="!!kicker-icon" descr="table-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5007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AT A GLANCE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48BA4F41-E159-40BA-BC33-31DC2A077336}" type="slidenum">
              <a:rPr lang="en-GB" sz="1000">
                <a:solidFill>
                  <a:srgbClr val="8795A1"/>
                </a:solidFill>
                <a:latin typeface="Segoe UI"/>
              </a:rPr>
              <a:t>23</a:t>
            </a:fld>
          </a:p>
        </p:txBody>
      </p:sp>
      <p:graphicFrame>
        <p:nvGraphicFramePr>
          <p:cNvPr id="7" name="!!table"/>
          <p:cNvGraphicFramePr>
            <a:graphicFrameLocks noGrp="1"/>
          </p:cNvGraphicFramePr>
          <p:nvPr/>
        </p:nvGraphicFramePr>
        <p:xfrm>
          <a:off x="658368" y="1737360"/>
          <a:ext cx="10874958" cy="3986784"/>
        </p:xfrm>
        <a:graphic>
          <a:graphicData uri="http://schemas.openxmlformats.org/drawingml/2006/table">
            <a:tbl>
              <a:tblPr firstRow="0" bandRow="0" firstCol="0" lastRow="0" lastCol="0" bandCol="0">
                <a:tableStyleId>{2D5ABB26-0587-4C30-8999-92F81FD0307C}</a:tableStyleId>
              </a:tblPr>
              <a:tblGrid>
                <a:gridCol w="2319991"/>
                <a:gridCol w="4349983"/>
                <a:gridCol w="4204984"/>
              </a:tblGrid>
              <a:tr h="405384">
                <a:tc>
                  <a:txBody>
                    <a:bodyPr wrap="square"/>
                    <a:lstStyle/>
                    <a:p>
                      <a:pPr algn="l"/>
                      <a:r>
                        <a:rPr sz="1700" b="1" i="0">
                          <a:solidFill>
                            <a:srgbClr val="1A5276"/>
                          </a:solidFill>
                          <a:latin typeface="Segoe UI"/>
                        </a:rPr>
                        <a:t>Technique</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What it does</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c>
                  <a:txBody>
                    <a:bodyPr wrap="square"/>
                    <a:lstStyle/>
                    <a:p>
                      <a:pPr algn="l"/>
                      <a:r>
                        <a:rPr sz="1700" b="1" i="0">
                          <a:solidFill>
                            <a:srgbClr val="1A5276"/>
                          </a:solidFill>
                          <a:latin typeface="Segoe UI"/>
                        </a:rPr>
                        <a:t>Setting</a:t>
                      </a:r>
                      <a:endParaRPr sz="1700"/>
                    </a:p>
                  </a:txBody>
                  <a:tcPr marL="109728" marR="109728" marT="64008" marB="45720" anchor="t">
                    <a:lnL w="0" cmpd="sng">
                      <a:noFill/>
                    </a:lnL>
                    <a:lnR w="0" cmpd="sng">
                      <a:noFill/>
                    </a:lnR>
                    <a:lnT w="19050" cmpd="sng">
                      <a:solidFill>
                        <a:srgbClr val="1A5276"/>
                      </a:solidFill>
                    </a:lnT>
                    <a:lnB w="19050" cmpd="sng">
                      <a:solidFill>
                        <a:srgbClr val="1A5276"/>
                      </a:solidFill>
                    </a:lnB>
                    <a:solidFill>
                      <a:srgbClr val="DDE5EA"/>
                    </a:solidFill>
                  </a:tcPr>
                </a:tc>
              </a:tr>
              <a:tr h="664464">
                <a:tc>
                  <a:txBody>
                    <a:bodyPr wrap="square"/>
                    <a:lstStyle/>
                    <a:p>
                      <a:pPr algn="l"/>
                      <a:r>
                        <a:rPr sz="1700" b="0" i="0">
                          <a:solidFill>
                            <a:srgbClr val="1C252B"/>
                          </a:solidFill>
                          <a:latin typeface="Segoe UI"/>
                        </a:rPr>
                        <a:t>Early stopping</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Keep the weights from the epoch with the lowest validation error</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Needs a validation set; patience of a few epochs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Weight decay (L2)</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Add </a:t>
                      </a:r>
                      <a:r>
                        <a:rPr sz="1700" b="0" i="0">
                          <a:solidFill>
                            <a:srgbClr val="1C252B"/>
                          </a:solidFill>
                          <a:latin typeface="Cambria"/>
                        </a:rPr>
                        <a:t>λΣ </a:t>
                      </a:r>
                      <a:r>
                        <a:rPr sz="1700" b="0" i="1">
                          <a:solidFill>
                            <a:srgbClr val="1C252B"/>
                          </a:solidFill>
                          <a:latin typeface="Cambria"/>
                        </a:rPr>
                        <a:t>w</a:t>
                      </a:r>
                      <a:r>
                        <a:rPr sz="1700" b="0" i="0" baseline="30000">
                          <a:solidFill>
                            <a:srgbClr val="1C252B"/>
                          </a:solidFill>
                          <a:latin typeface="Cambria"/>
                        </a:rPr>
                        <a:t>2</a:t>
                      </a:r>
                      <a:r>
                        <a:rPr sz="1700" b="0" i="0">
                          <a:solidFill>
                            <a:srgbClr val="1C252B"/>
                          </a:solidFill>
                          <a:latin typeface="Segoe UI"/>
                        </a:rPr>
                        <a:t> to the loss — ridge regression for networks (Chapter 7)</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600" b="0" i="0">
                          <a:solidFill>
                            <a:srgbClr val="1F4E79"/>
                          </a:solidFill>
                          <a:latin typeface="Consolas"/>
                        </a:rPr>
                        <a:t>alpha</a:t>
                      </a:r>
                      <a:r>
                        <a:rPr sz="1700" b="0" i="0">
                          <a:solidFill>
                            <a:srgbClr val="1C252B"/>
                          </a:solidFill>
                          <a:latin typeface="Segoe UI"/>
                        </a:rPr>
                        <a:t> in scikit-learn; tune by CV</a:t>
                      </a:r>
                      <a:endParaRPr sz="1700"/>
                    </a:p>
                  </a:txBody>
                  <a:tcPr marL="109728" marR="109728" marT="64008" marB="45720" anchor="t">
                    <a:lnL w="0" cmpd="sng">
                      <a:noFill/>
                    </a:lnL>
                    <a:lnR w="0" cmpd="sng">
                      <a:noFill/>
                    </a:lnR>
                    <a:lnT w="9525" cmpd="sng">
                      <a:noFill/>
                    </a:lnT>
                    <a:lnB w="9525" cmpd="sng">
                      <a:noFill/>
                    </a:lnB>
                    <a:solidFill>
                      <a:srgbClr val="F2F8FC"/>
                    </a:solidFill>
                  </a:tcPr>
                </a:tc>
              </a:tr>
              <a:tr h="923544">
                <a:tc>
                  <a:txBody>
                    <a:bodyPr wrap="square"/>
                    <a:lstStyle/>
                    <a:p>
                      <a:pPr algn="l"/>
                      <a:r>
                        <a:rPr sz="1700" b="0" i="0">
                          <a:solidFill>
                            <a:srgbClr val="1C252B"/>
                          </a:solidFill>
                          <a:latin typeface="Segoe UI"/>
                        </a:rPr>
                        <a:t>Dropout</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0">
                          <a:solidFill>
                            <a:srgbClr val="1C252B"/>
                          </a:solidFill>
                          <a:latin typeface="Segoe UI"/>
                        </a:rPr>
                        <a:t>During training, switch off each hidden unit at random with probability </a:t>
                      </a:r>
                      <a:r>
                        <a:rPr sz="1700" b="0" i="1">
                          <a:solidFill>
                            <a:srgbClr val="1C252B"/>
                          </a:solidFill>
                          <a:latin typeface="Cambria"/>
                        </a:rPr>
                        <a:t>p</a:t>
                      </a:r>
                      <a:r>
                        <a:rPr sz="1700" b="0" i="0">
                          <a:solidFill>
                            <a:srgbClr val="1C252B"/>
                          </a:solidFill>
                          <a:latin typeface="Segoe UI"/>
                        </a:rPr>
                        <a:t>, so no unit can rely on another</a:t>
                      </a:r>
                      <a:endParaRPr sz="1700"/>
                    </a:p>
                  </a:txBody>
                  <a:tcPr marL="109728" marR="109728" marT="64008" marB="45720" anchor="t">
                    <a:lnL w="0" cmpd="sng">
                      <a:noFill/>
                    </a:lnL>
                    <a:lnR w="0" cmpd="sng">
                      <a:noFill/>
                    </a:lnR>
                    <a:lnT w="9525" cmpd="sng">
                      <a:noFill/>
                    </a:lnT>
                    <a:lnB w="9525" cmpd="sng">
                      <a:noFill/>
                    </a:lnB>
                    <a:solidFill>
                      <a:srgbClr val="FFFFFF"/>
                    </a:solidFill>
                  </a:tcPr>
                </a:tc>
                <a:tc>
                  <a:txBody>
                    <a:bodyPr wrap="square"/>
                    <a:lstStyle/>
                    <a:p>
                      <a:pPr algn="l"/>
                      <a:r>
                        <a:rPr sz="1700" b="0" i="1">
                          <a:solidFill>
                            <a:srgbClr val="1C252B"/>
                          </a:solidFill>
                          <a:latin typeface="Cambria"/>
                        </a:rPr>
                        <a:t>p</a:t>
                      </a:r>
                      <a:r>
                        <a:rPr sz="1700" b="0" i="0">
                          <a:solidFill>
                            <a:srgbClr val="1C252B"/>
                          </a:solidFill>
                          <a:latin typeface="Cambria"/>
                        </a:rPr>
                        <a:t> ≈ 0.2</a:t>
                      </a:r>
                      <a:r>
                        <a:rPr sz="1700" b="0" i="0">
                          <a:solidFill>
                            <a:srgbClr val="1C252B"/>
                          </a:solidFill>
                          <a:latin typeface="Segoe UI"/>
                        </a:rPr>
                        <a:t>–</a:t>
                      </a:r>
                      <a:r>
                        <a:rPr sz="1700" b="0" i="0">
                          <a:solidFill>
                            <a:srgbClr val="1C252B"/>
                          </a:solidFill>
                          <a:latin typeface="Cambria"/>
                        </a:rPr>
                        <a:t>0.5</a:t>
                      </a:r>
                      <a:r>
                        <a:rPr sz="1700" b="0" i="0">
                          <a:solidFill>
                            <a:srgbClr val="1C252B"/>
                          </a:solidFill>
                          <a:latin typeface="Segoe UI"/>
                        </a:rPr>
                        <a:t>; standard in deep learning frameworks</a:t>
                      </a:r>
                      <a:endParaRPr sz="1700"/>
                    </a:p>
                  </a:txBody>
                  <a:tcPr marL="109728" marR="109728" marT="64008" marB="45720" anchor="t">
                    <a:lnL w="0" cmpd="sng">
                      <a:noFill/>
                    </a:lnL>
                    <a:lnR w="0" cmpd="sng">
                      <a:noFill/>
                    </a:lnR>
                    <a:lnT w="9525" cmpd="sng">
                      <a:noFill/>
                    </a:lnT>
                    <a:lnB w="9525" cmpd="sng">
                      <a:noFill/>
                    </a:lnB>
                    <a:solidFill>
                      <a:srgbClr val="FFFFFF"/>
                    </a:solidFill>
                  </a:tcPr>
                </a:tc>
              </a:tr>
              <a:tr h="664464">
                <a:tc>
                  <a:txBody>
                    <a:bodyPr wrap="square"/>
                    <a:lstStyle/>
                    <a:p>
                      <a:pPr algn="l"/>
                      <a:r>
                        <a:rPr sz="1700" b="0" i="0">
                          <a:solidFill>
                            <a:srgbClr val="1C252B"/>
                          </a:solidFill>
                          <a:latin typeface="Segoe UI"/>
                        </a:rPr>
                        <a:t>Fewer units</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A smaller network has less capacity to memorise</a:t>
                      </a:r>
                      <a:endParaRPr sz="1700"/>
                    </a:p>
                  </a:txBody>
                  <a:tcPr marL="109728" marR="109728" marT="64008" marB="45720" anchor="t">
                    <a:lnL w="0" cmpd="sng">
                      <a:noFill/>
                    </a:lnL>
                    <a:lnR w="0" cmpd="sng">
                      <a:noFill/>
                    </a:lnR>
                    <a:lnT w="9525" cmpd="sng">
                      <a:noFill/>
                    </a:lnT>
                    <a:lnB w="9525" cmpd="sng">
                      <a:noFill/>
                    </a:lnB>
                    <a:solidFill>
                      <a:srgbClr val="F2F8FC"/>
                    </a:solidFill>
                  </a:tcPr>
                </a:tc>
                <a:tc>
                  <a:txBody>
                    <a:bodyPr wrap="square"/>
                    <a:lstStyle/>
                    <a:p>
                      <a:pPr algn="l"/>
                      <a:r>
                        <a:rPr sz="1700" b="0" i="0">
                          <a:solidFill>
                            <a:srgbClr val="1C252B"/>
                          </a:solidFill>
                          <a:latin typeface="Segoe UI"/>
                        </a:rPr>
                        <a:t>Tune the width by CV</a:t>
                      </a:r>
                      <a:endParaRPr sz="1700"/>
                    </a:p>
                  </a:txBody>
                  <a:tcPr marL="109728" marR="109728" marT="64008" marB="45720" anchor="t">
                    <a:lnL w="0" cmpd="sng">
                      <a:noFill/>
                    </a:lnL>
                    <a:lnR w="0" cmpd="sng">
                      <a:noFill/>
                    </a:lnR>
                    <a:lnT w="9525" cmpd="sng">
                      <a:noFill/>
                    </a:lnT>
                    <a:lnB w="9525" cmpd="sng">
                      <a:noFill/>
                    </a:lnB>
                    <a:solidFill>
                      <a:srgbClr val="F2F8FC"/>
                    </a:solidFill>
                  </a:tcPr>
                </a:tc>
              </a:tr>
              <a:tr h="664464">
                <a:tc>
                  <a:txBody>
                    <a:bodyPr wrap="square"/>
                    <a:lstStyle/>
                    <a:p>
                      <a:pPr algn="l"/>
                      <a:r>
                        <a:rPr sz="1700" b="0" i="0">
                          <a:solidFill>
                            <a:srgbClr val="1C252B"/>
                          </a:solidFill>
                          <a:latin typeface="Segoe UI"/>
                        </a:rPr>
                        <a:t>More data, augmented</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Real or synthetic variations of the training examples</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c>
                  <a:txBody>
                    <a:bodyPr wrap="square"/>
                    <a:lstStyle/>
                    <a:p>
                      <a:pPr algn="l"/>
                      <a:r>
                        <a:rPr sz="1700" b="0" i="0">
                          <a:solidFill>
                            <a:srgbClr val="1C252B"/>
                          </a:solidFill>
                          <a:latin typeface="Segoe UI"/>
                        </a:rPr>
                        <a:t>Paraphrased ticket text; small random jitter on numeric features</a:t>
                      </a:r>
                      <a:endParaRPr sz="1700"/>
                    </a:p>
                  </a:txBody>
                  <a:tcPr marL="109728" marR="109728" marT="64008" marB="45720" anchor="t">
                    <a:lnL w="0" cmpd="sng">
                      <a:noFill/>
                    </a:lnL>
                    <a:lnR w="0" cmpd="sng">
                      <a:noFill/>
                    </a:lnR>
                    <a:lnT w="19050" cmpd="sng">
                      <a:noFill/>
                    </a:lnT>
                    <a:lnB w="19050" cmpd="sng">
                      <a:solidFill>
                        <a:srgbClr val="1A5276"/>
                      </a:solidFill>
                    </a:lnB>
                    <a:solidFill>
                      <a:srgbClr val="FFFFFF"/>
                    </a:solidFill>
                  </a:tcPr>
                </a:tc>
              </a:tr>
            </a:tbl>
          </a:graphicData>
        </a:graphic>
      </p:graphicFrame>
      <p:sp>
        <p:nvSpPr>
          <p:cNvPr id="8"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pfill">
            <a:extLst>
              <a:ext uri="{C183D7F6-B498-43B3-948B-1728B52AA6E4}">
                <adec:decorative xmlns:adec="http://schemas.microsoft.com/office/drawing/2017/decorative" val="1"/>
              </a:ext>
            </a:extLst>
          </p:cNvPr>
          <p:cNvSpPr/>
          <p:nvPr/>
        </p:nvSpPr>
        <p:spPr>
          <a:xfrm>
            <a:off x="0" y="0"/>
            <a:ext cx="652113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Hidden Units Learn, and What Comes Next</a:t>
            </a:r>
          </a:p>
        </p:txBody>
      </p:sp>
      <p:pic>
        <p:nvPicPr>
          <p:cNvPr id="3" name="!!kicker-icon" descr="lightbulb-2E86C1.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52915"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E86C1"/>
                </a:solidFill>
                <a:latin typeface="Segoe UI"/>
              </a:rPr>
              <a:t>CONCEPT</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CBE17393-F794-4D12-9618-F0C04ECC76B9}" type="slidenum">
              <a:rPr lang="en-GB" sz="1000">
                <a:solidFill>
                  <a:srgbClr val="8795A1"/>
                </a:solidFill>
                <a:latin typeface="Segoe UI"/>
              </a:rPr>
              <a:t>24</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902659"/>
          </a:xfrm>
          <a:prstGeom prst="roundRect">
            <a:avLst>
              <a:gd name="adj" fmla="val 2343"/>
            </a:avLst>
          </a:prstGeom>
          <a:solidFill>
            <a:srgbClr val="EBF5FB"/>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902659"/>
          </a:xfrm>
          <a:prstGeom prst="rect">
            <a:avLst/>
          </a:prstGeom>
          <a:solidFill>
            <a:srgbClr val="2E86C1"/>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3326587"/>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Backpropagation lets the hidden layer invent its own features. Mitchell’s famous demonstration trains an 8–3–8 network to copy an 8-bit input to its output through only 3 hidden units; the hidden units discover a 3-bit binary code for the eight inputs, a representation nobody programmed. Deep learning is this idea scaled up: many layers, each building features from the one below, with architectures designed for the data — convolutional networks for images, recurrent networks and transformers for sequences. Those architectures are the subject of the Deep Learning course; this chapter is their foundation.</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680466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Common pitfalls</a:t>
            </a:r>
          </a:p>
        </p:txBody>
      </p:sp>
      <p:pic>
        <p:nvPicPr>
          <p:cNvPr id="3" name="!!kicker-icon" descr="exclamation-circle-E74C3C.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2672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E74C3C"/>
                </a:solidFill>
                <a:latin typeface="Segoe UI"/>
              </a:rPr>
              <a:t>COMMON PITFALLS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4BD44FE5-8991-45B0-A020-663B59A940C1}" type="slidenum">
              <a:rPr lang="en-GB" sz="1000">
                <a:solidFill>
                  <a:srgbClr val="8795A1"/>
                </a:solidFill>
                <a:latin typeface="Segoe UI"/>
              </a:rPr>
              <a:t>25</a:t>
            </a:fld>
          </a:p>
        </p:txBody>
      </p:sp>
      <p:sp>
        <p:nvSpPr>
          <p:cNvPr id="7" name="!!pb0">
            <a:extLst>
              <a:ext uri="{C183D7F6-B498-43B3-948B-1728B52AA6E4}">
                <adec:decorative xmlns:adec="http://schemas.microsoft.com/office/drawing/2017/decorative" val="1"/>
              </a:ext>
            </a:extLst>
          </p:cNvPr>
          <p:cNvSpPr/>
          <p:nvPr/>
        </p:nvSpPr>
        <p:spPr>
          <a:xfrm>
            <a:off x="658368" y="1755648"/>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px0"/>
          <p:cNvSpPr txBox="1"/>
          <p:nvPr/>
        </p:nvSpPr>
        <p:spPr>
          <a:xfrm>
            <a:off x="658368" y="1778507"/>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9" name="!!pt0"/>
          <p:cNvSpPr txBox="1"/>
          <p:nvPr/>
        </p:nvSpPr>
        <p:spPr>
          <a:xfrm>
            <a:off x="1261872" y="1737360"/>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Not scaling inputs.</a:t>
            </a:r>
            <a:r>
              <a:rPr sz="2100" b="0" i="0">
                <a:solidFill>
                  <a:srgbClr val="1C252B"/>
                </a:solidFill>
                <a:latin typeface="Segoe UI"/>
              </a:rPr>
              <a:t> Unscaled inputs saturate sigmoid units and make gradient descent crawl.</a:t>
            </a:r>
          </a:p>
        </p:txBody>
      </p:sp>
      <p:sp>
        <p:nvSpPr>
          <p:cNvPr id="10" name="!!pb1">
            <a:extLst>
              <a:ext uri="{C183D7F6-B498-43B3-948B-1728B52AA6E4}">
                <adec:decorative xmlns:adec="http://schemas.microsoft.com/office/drawing/2017/decorative" val="1"/>
              </a:ext>
            </a:extLst>
          </p:cNvPr>
          <p:cNvSpPr/>
          <p:nvPr/>
        </p:nvSpPr>
        <p:spPr>
          <a:xfrm>
            <a:off x="658368" y="2622499"/>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x1"/>
          <p:cNvSpPr txBox="1"/>
          <p:nvPr/>
        </p:nvSpPr>
        <p:spPr>
          <a:xfrm>
            <a:off x="658368" y="2645359"/>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2" name="!!pt1"/>
          <p:cNvSpPr txBox="1"/>
          <p:nvPr/>
        </p:nvSpPr>
        <p:spPr>
          <a:xfrm>
            <a:off x="1261872" y="2604211"/>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Initialising all weights to zero.</a:t>
            </a:r>
            <a:r>
              <a:rPr sz="2100" b="0" i="0">
                <a:solidFill>
                  <a:srgbClr val="1C252B"/>
                </a:solidFill>
                <a:latin typeface="Segoe UI"/>
              </a:rPr>
              <a:t> Every hidden unit then computes the same thing and receives the same update forever; initialise randomly.</a:t>
            </a:r>
          </a:p>
        </p:txBody>
      </p:sp>
      <p:sp>
        <p:nvSpPr>
          <p:cNvPr id="13" name="!!pb2">
            <a:extLst>
              <a:ext uri="{C183D7F6-B498-43B3-948B-1728B52AA6E4}">
                <adec:decorative xmlns:adec="http://schemas.microsoft.com/office/drawing/2017/decorative" val="1"/>
              </a:ext>
            </a:extLst>
          </p:cNvPr>
          <p:cNvSpPr/>
          <p:nvPr/>
        </p:nvSpPr>
        <p:spPr>
          <a:xfrm>
            <a:off x="658368" y="3489350"/>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px2"/>
          <p:cNvSpPr txBox="1"/>
          <p:nvPr/>
        </p:nvSpPr>
        <p:spPr>
          <a:xfrm>
            <a:off x="658368" y="3512210"/>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5" name="!!pt2"/>
          <p:cNvSpPr txBox="1"/>
          <p:nvPr/>
        </p:nvSpPr>
        <p:spPr>
          <a:xfrm>
            <a:off x="1261872" y="3471062"/>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Training until the training error is zero.</a:t>
            </a:r>
            <a:r>
              <a:rPr sz="2100" b="0" i="0">
                <a:solidFill>
                  <a:srgbClr val="1C252B"/>
                </a:solidFill>
                <a:latin typeface="Segoe UI"/>
              </a:rPr>
              <a:t> Watch the validation error and stop when it turns.</a:t>
            </a:r>
          </a:p>
        </p:txBody>
      </p:sp>
      <p:sp>
        <p:nvSpPr>
          <p:cNvPr id="16" name="!!pb3">
            <a:extLst>
              <a:ext uri="{C183D7F6-B498-43B3-948B-1728B52AA6E4}">
                <adec:decorative xmlns:adec="http://schemas.microsoft.com/office/drawing/2017/decorative" val="1"/>
              </a:ext>
            </a:extLst>
          </p:cNvPr>
          <p:cNvSpPr/>
          <p:nvPr/>
        </p:nvSpPr>
        <p:spPr>
          <a:xfrm>
            <a:off x="658368" y="4356201"/>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x3"/>
          <p:cNvSpPr txBox="1"/>
          <p:nvPr/>
        </p:nvSpPr>
        <p:spPr>
          <a:xfrm>
            <a:off x="658368" y="4379061"/>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18" name="!!pt3"/>
          <p:cNvSpPr txBox="1"/>
          <p:nvPr/>
        </p:nvSpPr>
        <p:spPr>
          <a:xfrm>
            <a:off x="1261872" y="4337913"/>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Assuming a network beats a linear model.</a:t>
            </a:r>
            <a:r>
              <a:rPr sz="2100" b="0" i="0">
                <a:solidFill>
                  <a:srgbClr val="1C252B"/>
                </a:solidFill>
                <a:latin typeface="Segoe UI"/>
              </a:rPr>
              <a:t> On small tabular data it often does not; in this chapter’s lab it gains less than one point.</a:t>
            </a:r>
          </a:p>
        </p:txBody>
      </p:sp>
      <p:sp>
        <p:nvSpPr>
          <p:cNvPr id="19" name="!!pb4">
            <a:extLst>
              <a:ext uri="{C183D7F6-B498-43B3-948B-1728B52AA6E4}">
                <adec:decorative xmlns:adec="http://schemas.microsoft.com/office/drawing/2017/decorative" val="1"/>
              </a:ext>
            </a:extLst>
          </p:cNvPr>
          <p:cNvSpPr/>
          <p:nvPr/>
        </p:nvSpPr>
        <p:spPr>
          <a:xfrm>
            <a:off x="658368" y="5223052"/>
            <a:ext cx="365760" cy="365760"/>
          </a:xfrm>
          <a:prstGeom prst="ellipse">
            <a:avLst/>
          </a:prstGeom>
          <a:solidFill>
            <a:srgbClr val="FCE6E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px4"/>
          <p:cNvSpPr txBox="1"/>
          <p:nvPr/>
        </p:nvSpPr>
        <p:spPr>
          <a:xfrm>
            <a:off x="658368" y="5245912"/>
            <a:ext cx="36576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E74C3C"/>
                </a:solidFill>
                <a:latin typeface="Segoe UI"/>
              </a:rPr>
              <a:t>✕</a:t>
            </a:r>
          </a:p>
        </p:txBody>
      </p:sp>
      <p:sp>
        <p:nvSpPr>
          <p:cNvPr id="21" name="!!pt4"/>
          <p:cNvSpPr txBox="1"/>
          <p:nvPr/>
        </p:nvSpPr>
        <p:spPr>
          <a:xfrm>
            <a:off x="1261872" y="5204764"/>
            <a:ext cx="10271455" cy="665683"/>
          </a:xfrm>
          <a:prstGeom prst="rect">
            <a:avLst/>
          </a:prstGeom>
          <a:noFill/>
        </p:spPr>
        <p:txBody>
          <a:bodyPr wrap="square" anchor="t" lIns="0" rIns="0" tIns="0" bIns="0">
            <a:noAutofit/>
          </a:bodyPr>
          <a:lstStyle/>
          <a:p>
            <a:pPr algn="l">
              <a:lnSpc>
                <a:spcPct val="104000"/>
              </a:lnSpc>
              <a:spcBef>
                <a:spcPts val="0"/>
              </a:spcBef>
              <a:spcAft>
                <a:spcPts val="0"/>
              </a:spcAft>
            </a:pPr>
            <a:r>
              <a:rPr sz="2100" b="1" i="0">
                <a:solidFill>
                  <a:srgbClr val="A93226"/>
                </a:solidFill>
                <a:latin typeface="Segoe UI"/>
              </a:rPr>
              <a:t>Judging from one run.</a:t>
            </a:r>
            <a:r>
              <a:rPr sz="2100" b="0" i="0">
                <a:solidFill>
                  <a:srgbClr val="1C252B"/>
                </a:solidFill>
                <a:latin typeface="Segoe UI"/>
              </a:rPr>
              <a:t> Random initialisation makes results vary; repeat with several seeds.</a:t>
            </a:r>
          </a:p>
        </p:txBody>
      </p:sp>
      <p:sp>
        <p:nvSpPr>
          <p:cNvPr id="5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0" name="!!pfill">
            <a:extLst>
              <a:ext uri="{C183D7F6-B498-43B3-948B-1728B52AA6E4}">
                <adec:decorative xmlns:adec="http://schemas.microsoft.com/office/drawing/2017/decorative" val="1"/>
              </a:ext>
            </a:extLst>
          </p:cNvPr>
          <p:cNvSpPr/>
          <p:nvPr/>
        </p:nvSpPr>
        <p:spPr>
          <a:xfrm>
            <a:off x="0" y="0"/>
            <a:ext cx="708819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Try it yourself: Backpropagation From Scratch, Then a Real Network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2AD0EF5C-400C-44CC-9BA4-B8AF7C7D39CF}" type="slidenum">
              <a:rPr lang="en-GB" sz="1000">
                <a:solidFill>
                  <a:srgbClr val="8795A1"/>
                </a:solidFill>
                <a:latin typeface="Segoe UI"/>
              </a:rPr>
              <a:t>26</a:t>
            </a:fld>
          </a:p>
        </p:txBody>
      </p:sp>
      <p:sp>
        <p:nvSpPr>
          <p:cNvPr id="7" name="!!labsteps-h"/>
          <p:cNvSpPr txBox="1"/>
          <p:nvPr/>
        </p:nvSpPr>
        <p:spPr>
          <a:xfrm>
            <a:off x="658368" y="1737360"/>
            <a:ext cx="10874959" cy="274320"/>
          </a:xfrm>
          <a:prstGeom prst="rect">
            <a:avLst/>
          </a:prstGeom>
          <a:noFill/>
        </p:spPr>
        <p:txBody>
          <a:bodyPr wrap="square" anchor="t" lIns="0" rIns="0" tIns="0" bIns="0">
            <a:noAutofit/>
          </a:bodyPr>
          <a:lstStyle/>
          <a:p>
            <a:pPr algn="l">
              <a:lnSpc>
                <a:spcPct val="100000"/>
              </a:lnSpc>
              <a:spcBef>
                <a:spcPts val="0"/>
              </a:spcBef>
              <a:spcAft>
                <a:spcPts val="0"/>
              </a:spcAft>
            </a:pPr>
            <a:r>
              <a:rPr sz="1200" b="1" i="0" spc="150">
                <a:solidFill>
                  <a:srgbClr val="0E6655"/>
                </a:solidFill>
                <a:latin typeface="Segoe UI"/>
              </a:rPr>
              <a:t>WHAT YOU WILL DO</a:t>
            </a:r>
          </a:p>
        </p:txBody>
      </p:sp>
      <p:sp>
        <p:nvSpPr>
          <p:cNvPr id="8" name="!!labsteps"/>
          <p:cNvSpPr txBox="1"/>
          <p:nvPr/>
        </p:nvSpPr>
        <p:spPr>
          <a:xfrm>
            <a:off x="658368" y="2121408"/>
            <a:ext cx="10874959" cy="742949"/>
          </a:xfrm>
          <a:prstGeom prst="rect">
            <a:avLst/>
          </a:prstGeom>
          <a:noFill/>
        </p:spPr>
        <p:txBody>
          <a:bodyPr wrap="square" anchor="t" lIns="0" rIns="0" tIns="0" bIns="0">
            <a:noAutofit/>
          </a:bodyPr>
          <a:lstStyle/>
          <a:p>
            <a:pPr algn="l" marL="459473" indent="-459473">
              <a:lnSpc>
                <a:spcPct val="100000"/>
              </a:lnSpc>
              <a:spcBef>
                <a:spcPts val="0"/>
              </a:spcBef>
              <a:spcAft>
                <a:spcPts val="570"/>
              </a:spcAft>
            </a:pPr>
            <a:r>
              <a:rPr sz="1900" b="1">
                <a:solidFill>
                  <a:srgbClr val="117A65"/>
                </a:solidFill>
                <a:latin typeface="Segoe UI"/>
              </a:rPr>
              <a:t>1.	</a:t>
            </a:r>
            <a:r>
              <a:rPr sz="1900" b="0" i="0">
                <a:solidFill>
                  <a:srgbClr val="1C252B"/>
                </a:solidFill>
                <a:latin typeface="Segoe UI"/>
              </a:rPr>
              <a:t>XOR: no perceptron can learn it; a 2-3-1 network can</a:t>
            </a:r>
          </a:p>
          <a:p>
            <a:pPr algn="l" marL="459473" indent="-459473">
              <a:lnSpc>
                <a:spcPct val="100000"/>
              </a:lnSpc>
              <a:spcBef>
                <a:spcPts val="0"/>
              </a:spcBef>
              <a:spcAft>
                <a:spcPts val="0"/>
              </a:spcAft>
            </a:pPr>
            <a:r>
              <a:rPr sz="1900" b="1">
                <a:solidFill>
                  <a:srgbClr val="117A65"/>
                </a:solidFill>
                <a:latin typeface="Segoe UI"/>
              </a:rPr>
              <a:t>2.	</a:t>
            </a:r>
            <a:r>
              <a:rPr sz="1900" b="0" i="0">
                <a:solidFill>
                  <a:srgbClr val="1C252B"/>
                </a:solidFill>
                <a:latin typeface="Segoe UI"/>
              </a:rPr>
              <a:t>Staffing: too few people is late, and so is too many</a:t>
            </a:r>
          </a:p>
        </p:txBody>
      </p:sp>
      <p:sp>
        <p:nvSpPr>
          <p:cNvPr id="14" name="!!lfTHIS">
            <a:extLst>
              <a:ext uri="{C183D7F6-B498-43B3-948B-1728B52AA6E4}">
                <adec:decorative xmlns:adec="http://schemas.microsoft.com/office/drawing/2017/decorative" val="1"/>
              </a:ext>
            </a:extLst>
          </p:cNvPr>
          <p:cNvSpPr/>
          <p:nvPr/>
        </p:nvSpPr>
        <p:spPr>
          <a:xfrm>
            <a:off x="658368"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lfbTHIS">
            <a:extLst>
              <a:ext uri="{C183D7F6-B498-43B3-948B-1728B52AA6E4}">
                <adec:decorative xmlns:adec="http://schemas.microsoft.com/office/drawing/2017/decorative" val="1"/>
              </a:ext>
            </a:extLst>
          </p:cNvPr>
          <p:cNvSpPr/>
          <p:nvPr/>
        </p:nvSpPr>
        <p:spPr>
          <a:xfrm>
            <a:off x="658368"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6" name="!!lflTHIS"/>
          <p:cNvSpPr txBox="1"/>
          <p:nvPr/>
        </p:nvSpPr>
        <p:spPr>
          <a:xfrm>
            <a:off x="932688"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THIS WEEK'S LAB</a:t>
            </a:r>
          </a:p>
        </p:txBody>
      </p:sp>
      <p:sp>
        <p:nvSpPr>
          <p:cNvPr id="17" name="!!lfvTHIS"/>
          <p:cNvSpPr txBox="1"/>
          <p:nvPr/>
        </p:nvSpPr>
        <p:spPr>
          <a:xfrm>
            <a:off x="932688"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Week 11: Backpropagation from scratch</a:t>
            </a:r>
          </a:p>
        </p:txBody>
      </p:sp>
      <p:sp>
        <p:nvSpPr>
          <p:cNvPr id="18" name="!!lfWHAT">
            <a:extLst>
              <a:ext uri="{C183D7F6-B498-43B3-948B-1728B52AA6E4}">
                <adec:decorative xmlns:adec="http://schemas.microsoft.com/office/drawing/2017/decorative" val="1"/>
              </a:ext>
            </a:extLst>
          </p:cNvPr>
          <p:cNvSpPr/>
          <p:nvPr/>
        </p:nvSpPr>
        <p:spPr>
          <a:xfrm>
            <a:off x="4374794"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9" name="!!lfbWHAT">
            <a:extLst>
              <a:ext uri="{C183D7F6-B498-43B3-948B-1728B52AA6E4}">
                <adec:decorative xmlns:adec="http://schemas.microsoft.com/office/drawing/2017/decorative" val="1"/>
              </a:ext>
            </a:extLst>
          </p:cNvPr>
          <p:cNvSpPr/>
          <p:nvPr/>
        </p:nvSpPr>
        <p:spPr>
          <a:xfrm>
            <a:off x="4374794"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lflWHAT"/>
          <p:cNvSpPr txBox="1"/>
          <p:nvPr/>
        </p:nvSpPr>
        <p:spPr>
          <a:xfrm>
            <a:off x="4649114"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WHAT YOU WILL RUN</a:t>
            </a:r>
          </a:p>
        </p:txBody>
      </p:sp>
      <p:sp>
        <p:nvSpPr>
          <p:cNvPr id="21" name="!!lfvWHAT"/>
          <p:cNvSpPr txBox="1"/>
          <p:nvPr/>
        </p:nvSpPr>
        <p:spPr>
          <a:xfrm>
            <a:off x="4649114"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Segoe UI"/>
              </a:rPr>
              <a:t>1 listing, 48 lines of Python</a:t>
            </a:r>
          </a:p>
        </p:txBody>
      </p:sp>
      <p:sp>
        <p:nvSpPr>
          <p:cNvPr id="22" name="!!lfRUNN">
            <a:extLst>
              <a:ext uri="{C183D7F6-B498-43B3-948B-1728B52AA6E4}">
                <adec:decorative xmlns:adec="http://schemas.microsoft.com/office/drawing/2017/decorative" val="1"/>
              </a:ext>
            </a:extLst>
          </p:cNvPr>
          <p:cNvSpPr/>
          <p:nvPr/>
        </p:nvSpPr>
        <p:spPr>
          <a:xfrm>
            <a:off x="8091220" y="5212080"/>
            <a:ext cx="3442106" cy="1078992"/>
          </a:xfrm>
          <a:prstGeom prst="roundRect">
            <a:avLst>
              <a:gd name="adj" fmla="val 8474"/>
            </a:avLst>
          </a:prstGeom>
          <a:solidFill>
            <a:srgbClr val="EEF6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lfbRUNN">
            <a:extLst>
              <a:ext uri="{C183D7F6-B498-43B3-948B-1728B52AA6E4}">
                <adec:decorative xmlns:adec="http://schemas.microsoft.com/office/drawing/2017/decorative" val="1"/>
              </a:ext>
            </a:extLst>
          </p:cNvPr>
          <p:cNvSpPr/>
          <p:nvPr/>
        </p:nvSpPr>
        <p:spPr>
          <a:xfrm>
            <a:off x="8091220" y="5212080"/>
            <a:ext cx="64008" cy="1078992"/>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4" name="!!lflRUNN"/>
          <p:cNvSpPr txBox="1"/>
          <p:nvPr/>
        </p:nvSpPr>
        <p:spPr>
          <a:xfrm>
            <a:off x="8365540" y="5376672"/>
            <a:ext cx="3030626"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40">
                <a:solidFill>
                  <a:srgbClr val="0E6655"/>
                </a:solidFill>
                <a:latin typeface="Segoe UI"/>
              </a:rPr>
              <a:t>RUNNABLE COPY</a:t>
            </a:r>
          </a:p>
        </p:txBody>
      </p:sp>
      <p:sp>
        <p:nvSpPr>
          <p:cNvPr id="25" name="!!lfvRUNN"/>
          <p:cNvSpPr txBox="1"/>
          <p:nvPr/>
        </p:nvSpPr>
        <p:spPr>
          <a:xfrm>
            <a:off x="8365540" y="5669280"/>
            <a:ext cx="3030626" cy="566928"/>
          </a:xfrm>
          <a:prstGeom prst="rect">
            <a:avLst/>
          </a:prstGeom>
          <a:noFill/>
        </p:spPr>
        <p:txBody>
          <a:bodyPr wrap="square" anchor="t" lIns="0" rIns="0" tIns="0" bIns="0">
            <a:noAutofit/>
          </a:bodyPr>
          <a:lstStyle/>
          <a:p>
            <a:pPr algn="l">
              <a:lnSpc>
                <a:spcPct val="100000"/>
              </a:lnSpc>
              <a:spcBef>
                <a:spcPts val="0"/>
              </a:spcBef>
              <a:spcAft>
                <a:spcPts val="0"/>
              </a:spcAft>
            </a:pPr>
            <a:r>
              <a:rPr sz="1800" b="0" i="0">
                <a:solidFill>
                  <a:srgbClr val="1C252B"/>
                </a:solidFill>
                <a:latin typeface="Consolas"/>
              </a:rPr>
              <a:t>code/ch13_backpropagation.py</a:t>
            </a:r>
          </a:p>
        </p:txBody>
      </p:sp>
      <p:sp>
        <p:nvSpPr>
          <p:cNvPr id="2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7" name="!!pfill">
            <a:extLst>
              <a:ext uri="{C183D7F6-B498-43B3-948B-1728B52AA6E4}">
                <adec:decorative xmlns:adec="http://schemas.microsoft.com/office/drawing/2017/decorative" val="1"/>
              </a:ext>
            </a:extLst>
          </p:cNvPr>
          <p:cNvSpPr/>
          <p:nvPr/>
        </p:nvSpPr>
        <p:spPr>
          <a:xfrm>
            <a:off x="0" y="0"/>
            <a:ext cx="737172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xEl>
                                              <p:pRg st="0" end="0"/>
                                            </p:txEl>
                                          </p:spTgt>
                                        </p:tgtEl>
                                        <p:attrNameLst>
                                          <p:attrName>style.visibility</p:attrName>
                                        </p:attrNameLst>
                                      </p:cBhvr>
                                      <p:to>
                                        <p:strVal val="visible"/>
                                      </p:to>
                                    </p:set>
                                    <p:animEffect transition="in" filter="fade">
                                      <p:cBhvr>
                                        <p:cTn id="8" dur="300"/>
                                        <p:tgtEl>
                                          <p:spTgt spid="8">
                                            <p:txEl>
                                              <p:pRg st="0" end="0"/>
                                            </p:txEl>
                                          </p:spTgt>
                                        </p:tgtEl>
                                      </p:cBhvr>
                                    </p:animEffect>
                                  </p:childTnLst>
                                </p:cTn>
                              </p:par>
                            </p:childTnLst>
                          </p:cTn>
                        </p:par>
                      </p:childTnLst>
                    </p:cTn>
                  </p:par>
                  <p:par>
                    <p:cTn id="9" fill="hold">
                      <p:stCondLst>
                        <p:cond delay="indefinite"/>
                      </p:stCondLst>
                      <p:childTnLst>
                        <p:par>
                          <p:cTn id="10" fill="hold">
                            <p:stCondLst>
                              <p:cond delay="0"/>
                            </p:stCondLst>
                            <p:childTnLst>
                              <p:par>
                                <p:cTn id="11" presetID="10" presetClass="entr" presetSubtype="0" fill="hold" grpId="0" nodeType="clickEffect">
                                  <p:stCondLst>
                                    <p:cond delay="0"/>
                                  </p:stCondLst>
                                  <p:childTnLst>
                                    <p:set>
                                      <p:cBhvr>
                                        <p:cTn id="12" dur="1" fill="hold">
                                          <p:stCondLst>
                                            <p:cond delay="0"/>
                                          </p:stCondLst>
                                        </p:cTn>
                                        <p:tgtEl>
                                          <p:spTgt spid="8">
                                            <p:txEl>
                                              <p:pRg st="1" end="1"/>
                                            </p:txEl>
                                          </p:spTgt>
                                        </p:tgtEl>
                                        <p:attrNameLst>
                                          <p:attrName>style.visibility</p:attrName>
                                        </p:attrNameLst>
                                      </p:cBhvr>
                                      <p:to>
                                        <p:strVal val="visible"/>
                                      </p:to>
                                    </p:set>
                                    <p:animEffect transition="in" filter="fade">
                                      <p:cBhvr>
                                        <p:cTn id="13" dur="300"/>
                                        <p:tgtEl>
                                          <p:spTgt spid="8">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build="p"/>
    </p:bld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Backpropagation From Scratch, Then a Real Network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1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4F9DCAF7-557A-4DC2-91A6-CDFC87B22F6E}" type="slidenum">
              <a:rPr lang="en-GB" sz="1000">
                <a:solidFill>
                  <a:srgbClr val="8795A1"/>
                </a:solidFill>
                <a:latin typeface="Segoe UI"/>
              </a:rPr>
              <a:t>27</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Set-up</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127504"/>
          </a:xfrm>
          <a:prstGeom prst="roundRect">
            <a:avLst>
              <a:gd name="adj" fmla="val 429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code/ch13_backpropagation.py</a:t>
            </a:r>
          </a:p>
        </p:txBody>
      </p:sp>
      <p:sp>
        <p:nvSpPr>
          <p:cNvPr id="14" name="!!code-text" descr="import numpy as np from sklearn.model_selection import train_test_split from sklearn.preprocessing import StandardScaler from sklearn.neural_network import MLPClassifier from sklearn.linear_model import LogisticRegression"/>
          <p:cNvSpPr txBox="1"/>
          <p:nvPr/>
        </p:nvSpPr>
        <p:spPr>
          <a:xfrm>
            <a:off x="1362456" y="2523744"/>
            <a:ext cx="9987991" cy="1633728"/>
          </a:xfrm>
          <a:prstGeom prst="rect">
            <a:avLst/>
          </a:prstGeom>
          <a:noFill/>
        </p:spPr>
        <p:txBody>
          <a:bodyPr wrap="none" anchor="t" lIns="0" rIns="0" tIns="0" bIns="0">
            <a:noAutofit/>
          </a:bodyPr>
          <a:lstStyle/>
          <a:p>
            <a:pPr>
              <a:lnSpc>
                <a:spcPct val="100000"/>
              </a:lnSpc>
              <a:spcAft>
                <a:spcPts val="0"/>
              </a:spcAft>
            </a:pPr>
            <a:r>
              <a:rPr sz="2000" i="0">
                <a:solidFill>
                  <a:srgbClr val="5DADE2"/>
                </a:solidFill>
                <a:latin typeface="Consolas"/>
              </a:rPr>
              <a:t>import</a:t>
            </a:r>
            <a:r>
              <a:rPr sz="2000" i="0">
                <a:solidFill>
                  <a:srgbClr val="E8EDF2"/>
                </a:solidFill>
                <a:latin typeface="Consolas"/>
              </a:rPr>
              <a:t> </a:t>
            </a:r>
            <a:r>
              <a:rPr sz="2000" i="0">
                <a:solidFill>
                  <a:srgbClr val="76D7C4"/>
                </a:solidFill>
                <a:latin typeface="Consolas"/>
              </a:rPr>
              <a:t>numpy</a:t>
            </a:r>
            <a:r>
              <a:rPr sz="2000" i="0">
                <a:solidFill>
                  <a:srgbClr val="E8EDF2"/>
                </a:solidFill>
                <a:latin typeface="Consolas"/>
              </a:rPr>
              <a:t> </a:t>
            </a:r>
            <a:r>
              <a:rPr sz="2000" i="0">
                <a:solidFill>
                  <a:srgbClr val="5DADE2"/>
                </a:solidFill>
                <a:latin typeface="Consolas"/>
              </a:rPr>
              <a:t>as</a:t>
            </a:r>
            <a:r>
              <a:rPr sz="2000" i="0">
                <a:solidFill>
                  <a:srgbClr val="E8EDF2"/>
                </a:solidFill>
                <a:latin typeface="Consolas"/>
              </a:rPr>
              <a:t> </a:t>
            </a:r>
            <a:r>
              <a:rPr sz="2000" i="0">
                <a:solidFill>
                  <a:srgbClr val="76D7C4"/>
                </a:solidFill>
                <a:latin typeface="Consolas"/>
              </a:rPr>
              <a:t>np</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model_selection</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train_test_split</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preprocessing</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StandardScaler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neural_network</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MLPClassifier</a:t>
            </a:r>
          </a:p>
          <a:p>
            <a:pPr>
              <a:lnSpc>
                <a:spcPct val="100000"/>
              </a:lnSpc>
              <a:spcAft>
                <a:spcPts val="0"/>
              </a:spcAft>
            </a:pPr>
            <a:r>
              <a:rPr sz="2000" i="0">
                <a:solidFill>
                  <a:srgbClr val="5DADE2"/>
                </a:solidFill>
                <a:latin typeface="Consolas"/>
              </a:rPr>
              <a:t>from</a:t>
            </a:r>
            <a:r>
              <a:rPr sz="2000" i="0">
                <a:solidFill>
                  <a:srgbClr val="E8EDF2"/>
                </a:solidFill>
                <a:latin typeface="Consolas"/>
              </a:rPr>
              <a:t> </a:t>
            </a:r>
            <a:r>
              <a:rPr sz="2000" i="0">
                <a:solidFill>
                  <a:srgbClr val="76D7C4"/>
                </a:solidFill>
                <a:latin typeface="Consolas"/>
              </a:rPr>
              <a:t>sklearn</a:t>
            </a:r>
            <a:r>
              <a:rPr sz="2000" i="0">
                <a:solidFill>
                  <a:srgbClr val="76D7C4"/>
                </a:solidFill>
                <a:latin typeface="Consolas"/>
              </a:rPr>
              <a:t>.</a:t>
            </a:r>
            <a:r>
              <a:rPr sz="2000" i="0">
                <a:solidFill>
                  <a:srgbClr val="76D7C4"/>
                </a:solidFill>
                <a:latin typeface="Consolas"/>
              </a:rPr>
              <a:t>linear_model</a:t>
            </a:r>
            <a:r>
              <a:rPr sz="2000" i="0">
                <a:solidFill>
                  <a:srgbClr val="E8EDF2"/>
                </a:solidFill>
                <a:latin typeface="Consolas"/>
              </a:rPr>
              <a:t> </a:t>
            </a:r>
            <a:r>
              <a:rPr sz="2000" i="0">
                <a:solidFill>
                  <a:srgbClr val="5DADE2"/>
                </a:solidFill>
                <a:latin typeface="Consolas"/>
              </a:rPr>
              <a:t>import</a:t>
            </a:r>
            <a:r>
              <a:rPr sz="2000" i="0">
                <a:solidFill>
                  <a:srgbClr val="E8EDF2"/>
                </a:solidFill>
                <a:latin typeface="Consolas"/>
              </a:rPr>
              <a:t> </a:t>
            </a:r>
            <a:r>
              <a:rPr sz="2000" i="0">
                <a:solidFill>
                  <a:srgbClr val="E8EDF2"/>
                </a:solidFill>
                <a:latin typeface="Consolas"/>
              </a:rPr>
              <a:t>LogisticRegression</a:t>
            </a:r>
          </a:p>
        </p:txBody>
      </p:sp>
      <p:sp>
        <p:nvSpPr>
          <p:cNvPr id="15" name="!!code-num"/>
          <p:cNvSpPr txBox="1"/>
          <p:nvPr/>
        </p:nvSpPr>
        <p:spPr>
          <a:xfrm>
            <a:off x="768096" y="2523744"/>
            <a:ext cx="393192" cy="1633728"/>
          </a:xfrm>
          <a:prstGeom prst="rect">
            <a:avLst/>
          </a:prstGeom>
          <a:noFill/>
        </p:spPr>
        <p:txBody>
          <a:bodyPr wrap="none" anchor="t" lIns="0" rIns="0" tIns="0" bIns="0">
            <a:noAutofit/>
          </a:bodyPr>
          <a:lstStyle/>
          <a:p>
            <a:pPr algn="r">
              <a:lnSpc>
                <a:spcPct val="100000"/>
              </a:lnSpc>
            </a:pPr>
            <a:r>
              <a:rPr sz="2000">
                <a:solidFill>
                  <a:srgbClr val="4F5D6A"/>
                </a:solidFill>
                <a:latin typeface="Consolas"/>
              </a:rPr>
              <a:t>2</a:t>
            </a:r>
          </a:p>
          <a:p>
            <a:pPr algn="r">
              <a:lnSpc>
                <a:spcPct val="100000"/>
              </a:lnSpc>
            </a:pPr>
            <a:r>
              <a:rPr sz="2000">
                <a:solidFill>
                  <a:srgbClr val="4F5D6A"/>
                </a:solidFill>
                <a:latin typeface="Consolas"/>
              </a:rPr>
              <a:t>3</a:t>
            </a:r>
          </a:p>
          <a:p>
            <a:pPr algn="r">
              <a:lnSpc>
                <a:spcPct val="100000"/>
              </a:lnSpc>
            </a:pPr>
            <a:r>
              <a:rPr sz="2000">
                <a:solidFill>
                  <a:srgbClr val="4F5D6A"/>
                </a:solidFill>
                <a:latin typeface="Consolas"/>
              </a:rPr>
              <a:t>4</a:t>
            </a:r>
          </a:p>
          <a:p>
            <a:pPr algn="r">
              <a:lnSpc>
                <a:spcPct val="100000"/>
              </a:lnSpc>
            </a:pPr>
            <a:r>
              <a:rPr sz="2000">
                <a:solidFill>
                  <a:srgbClr val="4F5D6A"/>
                </a:solidFill>
                <a:latin typeface="Consolas"/>
              </a:rPr>
              <a:t>5</a:t>
            </a:r>
          </a:p>
          <a:p>
            <a:pPr algn="r">
              <a:lnSpc>
                <a:spcPct val="100000"/>
              </a:lnSpc>
            </a:pPr>
            <a:r>
              <a:rPr sz="2000">
                <a:solidFill>
                  <a:srgbClr val="4F5D6A"/>
                </a:solidFill>
                <a:latin typeface="Consolas"/>
              </a:rPr>
              <a:t>6</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655250"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600">
        <p:fade/>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Backpropagation From Scratch, Then a Real Network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2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C2775A5E-C8E4-45EC-B5DB-A55834D4D47B}" type="slidenum">
              <a:rPr lang="en-GB" sz="1000">
                <a:solidFill>
                  <a:srgbClr val="8795A1"/>
                </a:solidFill>
                <a:latin typeface="Segoe UI"/>
              </a:rPr>
              <a:t>28</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XOR: no perceptron can learn it; a 2-3-1 network can</a:t>
            </a:r>
          </a:p>
        </p:txBody>
      </p:sp>
      <p:sp>
        <p:nvSpPr>
          <p:cNvPr id="8" name="!!code-bg">
            <a:extLst>
              <a:ext uri="{C183D7F6-B498-43B3-948B-1728B52AA6E4}">
                <adec:decorative xmlns:adec="http://schemas.microsoft.com/office/drawing/2017/decorative" val="1"/>
              </a:ext>
            </a:extLst>
          </p:cNvPr>
          <p:cNvSpPr/>
          <p:nvPr/>
        </p:nvSpPr>
        <p:spPr>
          <a:xfrm>
            <a:off x="658368" y="2084831"/>
            <a:ext cx="10874959" cy="2798063"/>
          </a:xfrm>
          <a:prstGeom prst="roundRect">
            <a:avLst>
              <a:gd name="adj" fmla="val 3267"/>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code/ch13_backpropagation.py</a:t>
            </a:r>
          </a:p>
        </p:txBody>
      </p:sp>
      <p:sp>
        <p:nvSpPr>
          <p:cNvPr id="14" name="!!code-text" descr="# --- 1. XOR: no perceptron can learn it; a 2-3-1 network can ------------- X = np.array([[0, 0], [0, 1], [1, 0], [1, 1]], dtype=float) t = np.array([[0], [1], [1], [0]], dtype=float) sig = lambda z: 1 / (1 + np.exp(-z)) rng = np.random.default_rng(1) W1, b1 = rng.normal(0, 1, (2, 3)), np.zeros(3) # input -&gt; hidden W2, b2 = rng.normal(0, 1, (3, 1)), np.zeros(1) # hidden -&gt; output eta = 1.0"/>
          <p:cNvSpPr txBox="1"/>
          <p:nvPr/>
        </p:nvSpPr>
        <p:spPr>
          <a:xfrm>
            <a:off x="1362456" y="2523744"/>
            <a:ext cx="9987991" cy="2304287"/>
          </a:xfrm>
          <a:prstGeom prst="rect">
            <a:avLst/>
          </a:prstGeom>
          <a:noFill/>
        </p:spPr>
        <p:txBody>
          <a:bodyPr wrap="none" anchor="t" lIns="0" rIns="0" tIns="0" bIns="0">
            <a:noAutofit/>
          </a:bodyPr>
          <a:lstStyle/>
          <a:p>
            <a:pPr>
              <a:lnSpc>
                <a:spcPct val="100000"/>
              </a:lnSpc>
              <a:spcAft>
                <a:spcPts val="0"/>
              </a:spcAft>
            </a:pPr>
            <a:r>
              <a:rPr sz="1800" i="1">
                <a:solidFill>
                  <a:srgbClr val="8795A1"/>
                </a:solidFill>
                <a:latin typeface="Consolas"/>
              </a:rPr>
              <a:t># --- 1. XOR: no perceptron can learn it; a 2-3-1 network can -------------</a:t>
            </a:r>
          </a:p>
          <a:p>
            <a:pPr>
              <a:lnSpc>
                <a:spcPct val="100000"/>
              </a:lnSpc>
              <a:spcAft>
                <a:spcPts val="0"/>
              </a:spcAft>
            </a:pP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dtype</a:t>
            </a:r>
            <a:r>
              <a:rPr sz="1800" i="0">
                <a:solidFill>
                  <a:srgbClr val="AEB6BF"/>
                </a:solidFill>
                <a:latin typeface="Consolas"/>
              </a:rPr>
              <a:t>=</a:t>
            </a:r>
            <a:r>
              <a:rPr sz="1800" i="0">
                <a:solidFill>
                  <a:srgbClr val="C39BD3"/>
                </a:solidFill>
                <a:latin typeface="Consolas"/>
              </a:rPr>
              <a:t>float</a:t>
            </a:r>
            <a:r>
              <a:rPr sz="1800" i="0">
                <a:solidFill>
                  <a:srgbClr val="AEB6BF"/>
                </a:solidFill>
                <a:latin typeface="Consolas"/>
              </a:rPr>
              <a:t>)</a:t>
            </a:r>
          </a:p>
          <a:p>
            <a:pPr>
              <a:lnSpc>
                <a:spcPct val="100000"/>
              </a:lnSpc>
              <a:spcAft>
                <a:spcPts val="0"/>
              </a:spcAft>
            </a:pP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array</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dtype</a:t>
            </a:r>
            <a:r>
              <a:rPr sz="1800" i="0">
                <a:solidFill>
                  <a:srgbClr val="AEB6BF"/>
                </a:solidFill>
                <a:latin typeface="Consolas"/>
              </a:rPr>
              <a:t>=</a:t>
            </a:r>
            <a:r>
              <a:rPr sz="1800" i="0">
                <a:solidFill>
                  <a:srgbClr val="C39BD3"/>
                </a:solidFill>
                <a:latin typeface="Consolas"/>
              </a:rPr>
              <a:t>float</a:t>
            </a:r>
            <a:r>
              <a:rPr sz="1800" i="0">
                <a:solidFill>
                  <a:srgbClr val="AEB6BF"/>
                </a:solidFill>
                <a:latin typeface="Consolas"/>
              </a:rPr>
              <a:t>)</a:t>
            </a:r>
          </a:p>
          <a:p>
            <a:pPr>
              <a:lnSpc>
                <a:spcPct val="100000"/>
              </a:lnSpc>
              <a:spcAft>
                <a:spcPts val="0"/>
              </a:spcAft>
            </a:pPr>
            <a:r>
              <a:rPr sz="1800" i="0">
                <a:solidFill>
                  <a:srgbClr val="E8EDF2"/>
                </a:solidFill>
                <a:latin typeface="Consolas"/>
              </a:rPr>
              <a:t>sig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5DADE2"/>
                </a:solidFill>
                <a:latin typeface="Consolas"/>
              </a:rPr>
              <a:t>lambda</a:t>
            </a:r>
            <a:r>
              <a:rPr sz="1800" i="0">
                <a:solidFill>
                  <a:srgbClr val="E8EDF2"/>
                </a:solidFill>
                <a:latin typeface="Consolas"/>
              </a:rPr>
              <a:t> </a:t>
            </a:r>
            <a:r>
              <a:rPr sz="1800" i="0">
                <a:solidFill>
                  <a:srgbClr val="E8EDF2"/>
                </a:solidFill>
                <a:latin typeface="Consolas"/>
              </a:rPr>
              <a:t>z</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exp</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z</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rng</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random</a:t>
            </a:r>
            <a:r>
              <a:rPr sz="1800" i="0">
                <a:solidFill>
                  <a:srgbClr val="AEB6BF"/>
                </a:solidFill>
                <a:latin typeface="Consolas"/>
              </a:rPr>
              <a:t>.</a:t>
            </a:r>
            <a:r>
              <a:rPr sz="1800" i="0">
                <a:solidFill>
                  <a:srgbClr val="E8EDF2"/>
                </a:solidFill>
                <a:latin typeface="Consolas"/>
              </a:rPr>
              <a:t>default_rng</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p>
          <a:p>
            <a:pPr>
              <a:lnSpc>
                <a:spcPct val="100000"/>
              </a:lnSpc>
              <a:spcAft>
                <a:spcPts val="0"/>
              </a:spcAft>
            </a:pPr>
            <a:r>
              <a:rPr sz="1800" i="0">
                <a:solidFill>
                  <a:srgbClr val="E8EDF2"/>
                </a:solidFill>
                <a:latin typeface="Consolas"/>
              </a:rPr>
              <a:t>W1</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normal</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3</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zeros</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input -&gt; hidden</a:t>
            </a:r>
          </a:p>
          <a:p>
            <a:pPr>
              <a:lnSpc>
                <a:spcPct val="100000"/>
              </a:lnSpc>
              <a:spcAft>
                <a:spcPts val="0"/>
              </a:spcAft>
            </a:pPr>
            <a:r>
              <a:rPr sz="1800" i="0">
                <a:solidFill>
                  <a:srgbClr val="E8EDF2"/>
                </a:solidFill>
                <a:latin typeface="Consolas"/>
              </a:rPr>
              <a:t>W2</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rng</a:t>
            </a:r>
            <a:r>
              <a:rPr sz="1800" i="0">
                <a:solidFill>
                  <a:srgbClr val="AEB6BF"/>
                </a:solidFill>
                <a:latin typeface="Consolas"/>
              </a:rPr>
              <a:t>.</a:t>
            </a:r>
            <a:r>
              <a:rPr sz="1800" i="0">
                <a:solidFill>
                  <a:srgbClr val="E8EDF2"/>
                </a:solidFill>
                <a:latin typeface="Consolas"/>
              </a:rPr>
              <a:t>normal</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3</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zeros</a:t>
            </a:r>
            <a:r>
              <a:rPr sz="1800" i="0">
                <a:solidFill>
                  <a:srgbClr val="AEB6BF"/>
                </a:solidFill>
                <a:latin typeface="Consolas"/>
              </a:rPr>
              <a:t>(</a:t>
            </a:r>
            <a:r>
              <a:rPr sz="1800" i="0">
                <a:solidFill>
                  <a:srgbClr val="F7DC6F"/>
                </a:solidFill>
                <a:latin typeface="Consolas"/>
              </a:rPr>
              <a:t>1</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hidden -&gt; output</a:t>
            </a:r>
          </a:p>
          <a:p>
            <a:pPr>
              <a:lnSpc>
                <a:spcPct val="100000"/>
              </a:lnSpc>
              <a:spcAft>
                <a:spcPts val="0"/>
              </a:spcAft>
            </a:pPr>
            <a:r>
              <a:rPr sz="1800" i="0">
                <a:solidFill>
                  <a:srgbClr val="E8EDF2"/>
                </a:solidFill>
                <a:latin typeface="Consolas"/>
              </a:rPr>
              <a:t>eta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1.0</a:t>
            </a:r>
          </a:p>
        </p:txBody>
      </p:sp>
      <p:sp>
        <p:nvSpPr>
          <p:cNvPr id="15" name="!!code-num"/>
          <p:cNvSpPr txBox="1"/>
          <p:nvPr/>
        </p:nvSpPr>
        <p:spPr>
          <a:xfrm>
            <a:off x="768096" y="2523744"/>
            <a:ext cx="393192" cy="2304287"/>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8</a:t>
            </a:r>
          </a:p>
          <a:p>
            <a:pPr algn="r">
              <a:lnSpc>
                <a:spcPct val="100000"/>
              </a:lnSpc>
            </a:pPr>
            <a:r>
              <a:rPr sz="1800">
                <a:solidFill>
                  <a:srgbClr val="4F5D6A"/>
                </a:solidFill>
                <a:latin typeface="Consolas"/>
              </a:rPr>
              <a:t>9</a:t>
            </a:r>
          </a:p>
          <a:p>
            <a:pPr algn="r">
              <a:lnSpc>
                <a:spcPct val="100000"/>
              </a:lnSpc>
            </a:pPr>
            <a:r>
              <a:rPr sz="1800">
                <a:solidFill>
                  <a:srgbClr val="4F5D6A"/>
                </a:solidFill>
                <a:latin typeface="Consolas"/>
              </a:rPr>
              <a:t>10</a:t>
            </a:r>
          </a:p>
          <a:p>
            <a:pPr algn="r">
              <a:lnSpc>
                <a:spcPct val="100000"/>
              </a:lnSpc>
            </a:pPr>
            <a:r>
              <a:rPr sz="1800">
                <a:solidFill>
                  <a:srgbClr val="4F5D6A"/>
                </a:solidFill>
                <a:latin typeface="Consolas"/>
              </a:rPr>
              <a:t>11</a:t>
            </a:r>
          </a:p>
          <a:p>
            <a:pPr algn="r">
              <a:lnSpc>
                <a:spcPct val="100000"/>
              </a:lnSpc>
            </a:pPr>
            <a:r>
              <a:rPr sz="1800">
                <a:solidFill>
                  <a:srgbClr val="4F5D6A"/>
                </a:solidFill>
                <a:latin typeface="Consolas"/>
              </a:rPr>
              <a:t>12</a:t>
            </a:r>
          </a:p>
          <a:p>
            <a:pPr algn="r">
              <a:lnSpc>
                <a:spcPct val="100000"/>
              </a:lnSpc>
            </a:pPr>
            <a:r>
              <a:rPr sz="1800">
                <a:solidFill>
                  <a:srgbClr val="4F5D6A"/>
                </a:solidFill>
                <a:latin typeface="Consolas"/>
              </a:rPr>
              <a:t>13</a:t>
            </a:r>
          </a:p>
          <a:p>
            <a:pPr algn="r">
              <a:lnSpc>
                <a:spcPct val="100000"/>
              </a:lnSpc>
            </a:pPr>
            <a:r>
              <a:rPr sz="1800">
                <a:solidFill>
                  <a:srgbClr val="4F5D6A"/>
                </a:solidFill>
                <a:latin typeface="Consolas"/>
              </a:rPr>
              <a:t>14</a:t>
            </a:r>
          </a:p>
          <a:p>
            <a:pPr algn="r">
              <a:lnSpc>
                <a:spcPct val="100000"/>
              </a:lnSpc>
            </a:pPr>
            <a:r>
              <a:rPr sz="1800">
                <a:solidFill>
                  <a:srgbClr val="4F5D6A"/>
                </a:solidFill>
                <a:latin typeface="Consolas"/>
              </a:rPr>
              <a:t>15</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793877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Backpropagation From Scratch, Then a Real Network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3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B180BF41-8C0D-4618-A6B4-695D44CDB9CB}" type="slidenum">
              <a:rPr lang="en-GB" sz="1000">
                <a:solidFill>
                  <a:srgbClr val="8795A1"/>
                </a:solidFill>
                <a:latin typeface="Segoe UI"/>
              </a:rPr>
              <a:t>29</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XOR: no perceptron can learn it; a 2-3-1 network can (continued)</a:t>
            </a:r>
          </a:p>
        </p:txBody>
      </p:sp>
      <p:sp>
        <p:nvSpPr>
          <p:cNvPr id="8" name="!!code-bg">
            <a:extLst>
              <a:ext uri="{C183D7F6-B498-43B3-948B-1728B52AA6E4}">
                <adec:decorative xmlns:adec="http://schemas.microsoft.com/office/drawing/2017/decorative" val="1"/>
              </a:ext>
            </a:extLst>
          </p:cNvPr>
          <p:cNvSpPr/>
          <p:nvPr/>
        </p:nvSpPr>
        <p:spPr>
          <a:xfrm>
            <a:off x="658368" y="2084831"/>
            <a:ext cx="10874959" cy="4169664"/>
          </a:xfrm>
          <a:prstGeom prst="roundRect">
            <a:avLst>
              <a:gd name="adj" fmla="val 2192"/>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code/ch13_backpropagation.py</a:t>
            </a:r>
          </a:p>
        </p:txBody>
      </p:sp>
      <p:sp>
        <p:nvSpPr>
          <p:cNvPr id="14" name="!!code-text" descr="for epoch in range(5001): h = sig(X @ W1 + b1) # forward pass o = sig(h @ W2 + b2) d_out = o * (1 - o) * (t - o) # output deltas d_hid = h * (1 - h) * (d_out @ W2.T) # hidden deltas W2 += eta * h.T @ d_out # weight updates b2 += eta * d_out.sum(0) W1 += eta * X.T @ d_hid b1 += eta * d_hid.sum(0) if epoch in (0, 500, 5000): err = 0.5 * np.sum((t - o) ** 2) print(f&quot;epoch {epoch:4d}: error {err:.4f} &quot; f&quot;outputs {o.ravel().round(2)}&quot;)"/>
          <p:cNvSpPr txBox="1"/>
          <p:nvPr/>
        </p:nvSpPr>
        <p:spPr>
          <a:xfrm>
            <a:off x="1362456" y="2523744"/>
            <a:ext cx="9987991" cy="3675888"/>
          </a:xfrm>
          <a:prstGeom prst="rect">
            <a:avLst/>
          </a:prstGeom>
          <a:noFill/>
        </p:spPr>
        <p:txBody>
          <a:bodyPr wrap="none" anchor="t" lIns="0" rIns="0" tIns="0" bIns="0">
            <a:noAutofit/>
          </a:bodyPr>
          <a:lstStyle/>
          <a:p>
            <a:pPr>
              <a:lnSpc>
                <a:spcPct val="100000"/>
              </a:lnSpc>
              <a:spcAft>
                <a:spcPts val="0"/>
              </a:spcAft>
            </a:pPr>
            <a:r>
              <a:rPr sz="1800" i="0">
                <a:solidFill>
                  <a:srgbClr val="5DADE2"/>
                </a:solidFill>
                <a:latin typeface="Consolas"/>
              </a:rPr>
              <a:t>for</a:t>
            </a:r>
            <a:r>
              <a:rPr sz="1800" i="0">
                <a:solidFill>
                  <a:srgbClr val="E8EDF2"/>
                </a:solidFill>
                <a:latin typeface="Consolas"/>
              </a:rPr>
              <a:t> </a:t>
            </a:r>
            <a:r>
              <a:rPr sz="1800" i="0">
                <a:solidFill>
                  <a:srgbClr val="E8EDF2"/>
                </a:solidFill>
                <a:latin typeface="Consolas"/>
              </a:rPr>
              <a:t>epoch</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C39BD3"/>
                </a:solidFill>
                <a:latin typeface="Consolas"/>
              </a:rPr>
              <a:t>range</a:t>
            </a:r>
            <a:r>
              <a:rPr sz="1800" i="0">
                <a:solidFill>
                  <a:srgbClr val="AEB6BF"/>
                </a:solidFill>
                <a:latin typeface="Consolas"/>
              </a:rPr>
              <a:t>(</a:t>
            </a:r>
            <a:r>
              <a:rPr sz="1800" i="0">
                <a:solidFill>
                  <a:srgbClr val="F7DC6F"/>
                </a:solidFill>
                <a:latin typeface="Consolas"/>
              </a:rPr>
              <a:t>5001</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h</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sig</a:t>
            </a:r>
            <a:r>
              <a:rPr sz="1800" i="0">
                <a:solidFill>
                  <a:srgbClr val="AEB6BF"/>
                </a:solidFill>
                <a:latin typeface="Consolas"/>
              </a:rPr>
              <a:t>(</a:t>
            </a:r>
            <a:r>
              <a:rPr sz="1800" i="0">
                <a:solidFill>
                  <a:srgbClr val="E8EDF2"/>
                </a:solidFill>
                <a:latin typeface="Consolas"/>
              </a:rPr>
              <a:t>X</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b1</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forward pass</a:t>
            </a:r>
          </a:p>
          <a:p>
            <a:pPr>
              <a:lnSpc>
                <a:spcPct val="100000"/>
              </a:lnSpc>
              <a:spcAft>
                <a:spcPts val="0"/>
              </a:spcAft>
            </a:pPr>
            <a:r>
              <a:rPr sz="1800" i="0">
                <a:solidFill>
                  <a:srgbClr val="E8EDF2"/>
                </a:solidFill>
                <a:latin typeface="Consolas"/>
              </a:rPr>
              <a:t>    </a:t>
            </a:r>
            <a:r>
              <a:rPr sz="1800" i="0">
                <a:solidFill>
                  <a:srgbClr val="E8EDF2"/>
                </a:solidFill>
                <a:latin typeface="Consolas"/>
              </a:rPr>
              <a:t>o</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sig</a:t>
            </a:r>
            <a:r>
              <a:rPr sz="1800" i="0">
                <a:solidFill>
                  <a:srgbClr val="AEB6BF"/>
                </a:solidFill>
                <a:latin typeface="Consolas"/>
              </a:rPr>
              <a:t>(</a:t>
            </a:r>
            <a:r>
              <a:rPr sz="1800" i="0">
                <a:solidFill>
                  <a:srgbClr val="E8EDF2"/>
                </a:solidFill>
                <a:latin typeface="Consolas"/>
              </a:rPr>
              <a:t>h</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W2</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b2</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d_out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output deltas</a:t>
            </a:r>
          </a:p>
          <a:p>
            <a:pPr>
              <a:lnSpc>
                <a:spcPct val="100000"/>
              </a:lnSpc>
              <a:spcAft>
                <a:spcPts val="0"/>
              </a:spcAft>
            </a:pPr>
            <a:r>
              <a:rPr sz="1800" i="0">
                <a:solidFill>
                  <a:srgbClr val="E8EDF2"/>
                </a:solidFill>
                <a:latin typeface="Consolas"/>
              </a:rPr>
              <a:t>    </a:t>
            </a:r>
            <a:r>
              <a:rPr sz="1800" i="0">
                <a:solidFill>
                  <a:srgbClr val="E8EDF2"/>
                </a:solidFill>
                <a:latin typeface="Consolas"/>
              </a:rPr>
              <a:t>d_hid</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1</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d_out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W2</a:t>
            </a:r>
            <a:r>
              <a:rPr sz="1800" i="0">
                <a:solidFill>
                  <a:srgbClr val="AEB6BF"/>
                </a:solidFill>
                <a:latin typeface="Consolas"/>
              </a:rPr>
              <a:t>.</a:t>
            </a:r>
            <a:r>
              <a:rPr sz="1800" i="0">
                <a:solidFill>
                  <a:srgbClr val="E8EDF2"/>
                </a:solidFill>
                <a:latin typeface="Consolas"/>
              </a:rPr>
              <a:t>T</a:t>
            </a:r>
            <a:r>
              <a:rPr sz="1800" i="0">
                <a:solidFill>
                  <a:srgbClr val="AEB6BF"/>
                </a:solidFill>
                <a:latin typeface="Consolas"/>
              </a:rPr>
              <a:t>)</a:t>
            </a:r>
            <a:r>
              <a:rPr sz="1800" i="0">
                <a:solidFill>
                  <a:srgbClr val="E8EDF2"/>
                </a:solidFill>
                <a:latin typeface="Consolas"/>
              </a:rPr>
              <a:t>           </a:t>
            </a:r>
            <a:r>
              <a:rPr sz="1800" i="1">
                <a:solidFill>
                  <a:srgbClr val="8795A1"/>
                </a:solidFill>
                <a:latin typeface="Consolas"/>
              </a:rPr>
              <a:t># hidden deltas</a:t>
            </a:r>
          </a:p>
          <a:p>
            <a:pPr>
              <a:lnSpc>
                <a:spcPct val="100000"/>
              </a:lnSpc>
              <a:spcAft>
                <a:spcPts val="0"/>
              </a:spcAft>
            </a:pPr>
            <a:r>
              <a:rPr sz="1800" i="0">
                <a:solidFill>
                  <a:srgbClr val="E8EDF2"/>
                </a:solidFill>
                <a:latin typeface="Consolas"/>
              </a:rPr>
              <a:t>    </a:t>
            </a:r>
            <a:r>
              <a:rPr sz="1800" i="0">
                <a:solidFill>
                  <a:srgbClr val="E8EDF2"/>
                </a:solidFill>
                <a:latin typeface="Consolas"/>
              </a:rPr>
              <a:t>W2</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h</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d_out</a:t>
            </a:r>
            <a:r>
              <a:rPr sz="1800" i="0">
                <a:solidFill>
                  <a:srgbClr val="E8EDF2"/>
                </a:solidFill>
                <a:latin typeface="Consolas"/>
              </a:rPr>
              <a:t>                        </a:t>
            </a:r>
            <a:r>
              <a:rPr sz="1800" i="1">
                <a:solidFill>
                  <a:srgbClr val="8795A1"/>
                </a:solidFill>
                <a:latin typeface="Consolas"/>
              </a:rPr>
              <a:t># weight updates</a:t>
            </a:r>
          </a:p>
          <a:p>
            <a:pPr>
              <a:lnSpc>
                <a:spcPct val="100000"/>
              </a:lnSpc>
              <a:spcAft>
                <a:spcPts val="0"/>
              </a:spcAft>
            </a:pPr>
            <a:r>
              <a:rPr sz="1800" i="0">
                <a:solidFill>
                  <a:srgbClr val="E8EDF2"/>
                </a:solidFill>
                <a:latin typeface="Consolas"/>
              </a:rPr>
              <a:t>    </a:t>
            </a:r>
            <a:r>
              <a:rPr sz="1800" i="0">
                <a:solidFill>
                  <a:srgbClr val="E8EDF2"/>
                </a:solidFill>
                <a:latin typeface="Consolas"/>
              </a:rPr>
              <a:t>b2</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d_out</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W1</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X</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d_hid</a:t>
            </a:r>
          </a:p>
          <a:p>
            <a:pPr>
              <a:lnSpc>
                <a:spcPct val="100000"/>
              </a:lnSpc>
              <a:spcAft>
                <a:spcPts val="0"/>
              </a:spcAft>
            </a:pPr>
            <a:r>
              <a:rPr sz="1800" i="0">
                <a:solidFill>
                  <a:srgbClr val="E8EDF2"/>
                </a:solidFill>
                <a:latin typeface="Consolas"/>
              </a:rPr>
              <a:t>    </a:t>
            </a:r>
            <a:r>
              <a:rPr sz="1800" i="0">
                <a:solidFill>
                  <a:srgbClr val="E8EDF2"/>
                </a:solidFill>
                <a:latin typeface="Consolas"/>
              </a:rPr>
              <a:t>b1</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eta</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d_hid</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5DADE2"/>
                </a:solidFill>
                <a:latin typeface="Consolas"/>
              </a:rPr>
              <a:t>if</a:t>
            </a:r>
            <a:r>
              <a:rPr sz="1800" i="0">
                <a:solidFill>
                  <a:srgbClr val="E8EDF2"/>
                </a:solidFill>
                <a:latin typeface="Consolas"/>
              </a:rPr>
              <a:t> </a:t>
            </a:r>
            <a:r>
              <a:rPr sz="1800" i="0">
                <a:solidFill>
                  <a:srgbClr val="E8EDF2"/>
                </a:solidFill>
                <a:latin typeface="Consolas"/>
              </a:rPr>
              <a:t>epoch</a:t>
            </a:r>
            <a:r>
              <a:rPr sz="1800" i="0">
                <a:solidFill>
                  <a:srgbClr val="E8EDF2"/>
                </a:solidFill>
                <a:latin typeface="Consolas"/>
              </a:rPr>
              <a:t> </a:t>
            </a:r>
            <a:r>
              <a:rPr sz="1800" i="0">
                <a:solidFill>
                  <a:srgbClr val="AEB6BF"/>
                </a:solidFill>
                <a:latin typeface="Consolas"/>
              </a:rPr>
              <a:t>in</a:t>
            </a:r>
            <a:r>
              <a:rPr sz="1800" i="0">
                <a:solidFill>
                  <a:srgbClr val="E8EDF2"/>
                </a:solidFill>
                <a:latin typeface="Consolas"/>
              </a:rPr>
              <a:t> </a:t>
            </a:r>
            <a:r>
              <a:rPr sz="1800" i="0">
                <a:solidFill>
                  <a:srgbClr val="AEB6BF"/>
                </a:solidFill>
                <a:latin typeface="Consolas"/>
              </a:rPr>
              <a:t>(</a:t>
            </a:r>
            <a:r>
              <a:rPr sz="1800" i="0">
                <a:solidFill>
                  <a:srgbClr val="F7DC6F"/>
                </a:solidFill>
                <a:latin typeface="Consolas"/>
              </a:rPr>
              <a:t>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500</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5000</a:t>
            </a:r>
            <a:r>
              <a:rPr sz="1800" i="0">
                <a:solidFill>
                  <a:srgbClr val="AEB6BF"/>
                </a:solidFill>
                <a:latin typeface="Consolas"/>
              </a:rPr>
              <a:t>)</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E8EDF2"/>
                </a:solidFill>
                <a:latin typeface="Consolas"/>
              </a:rPr>
              <a:t>err</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0.5</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np</a:t>
            </a:r>
            <a:r>
              <a:rPr sz="1800" i="0">
                <a:solidFill>
                  <a:srgbClr val="AEB6BF"/>
                </a:solidFill>
                <a:latin typeface="Consolas"/>
              </a:rPr>
              <a:t>.</a:t>
            </a:r>
            <a:r>
              <a:rPr sz="1800" i="0">
                <a:solidFill>
                  <a:srgbClr val="E8EDF2"/>
                </a:solidFill>
                <a:latin typeface="Consolas"/>
              </a:rPr>
              <a:t>sum</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t</a:t>
            </a:r>
            <a:r>
              <a:rPr sz="1800" i="0">
                <a:solidFill>
                  <a:srgbClr val="E8EDF2"/>
                </a:solidFill>
                <a:latin typeface="Consolas"/>
              </a:rPr>
              <a:t> </a:t>
            </a:r>
            <a:r>
              <a:rPr sz="1800" i="0">
                <a:solidFill>
                  <a:srgbClr val="AEB6BF"/>
                </a:solidFill>
                <a:latin typeface="Consolas"/>
              </a:rPr>
              <a:t>-</a:t>
            </a:r>
            <a:r>
              <a:rPr sz="1800" i="0">
                <a:solidFill>
                  <a:srgbClr val="E8EDF2"/>
                </a:solidFill>
                <a:latin typeface="Consolas"/>
              </a:rPr>
              <a:t> </a:t>
            </a:r>
            <a:r>
              <a:rPr sz="1800" i="0">
                <a:solidFill>
                  <a:srgbClr val="E8EDF2"/>
                </a:solidFill>
                <a:latin typeface="Consolas"/>
              </a:rPr>
              <a:t>o</a:t>
            </a:r>
            <a:r>
              <a:rPr sz="1800" i="0">
                <a:solidFill>
                  <a:srgbClr val="AEB6BF"/>
                </a:solidFill>
                <a:latin typeface="Consolas"/>
              </a:rPr>
              <a:t>)</a:t>
            </a:r>
            <a:r>
              <a:rPr sz="1800" i="0">
                <a:solidFill>
                  <a:srgbClr val="E8EDF2"/>
                </a:solidFill>
                <a:latin typeface="Consolas"/>
              </a:rPr>
              <a:t> </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 </a:t>
            </a:r>
            <a:r>
              <a:rPr sz="1800" i="0">
                <a:solidFill>
                  <a:srgbClr val="F7DC6F"/>
                </a:solidFill>
                <a:latin typeface="Consolas"/>
              </a:rPr>
              <a:t>2</a:t>
            </a:r>
            <a:r>
              <a:rPr sz="1800" i="0">
                <a:solidFill>
                  <a:srgbClr val="AEB6BF"/>
                </a:solidFill>
                <a:latin typeface="Consolas"/>
              </a:rPr>
              <a:t>)</a:t>
            </a:r>
          </a:p>
          <a:p>
            <a:pPr>
              <a:lnSpc>
                <a:spcPct val="100000"/>
              </a:lnSpc>
              <a:spcAft>
                <a:spcPts val="0"/>
              </a:spcAft>
            </a:pPr>
            <a:r>
              <a:rPr sz="1800" i="0">
                <a:solidFill>
                  <a:srgbClr val="E8EDF2"/>
                </a:solidFill>
                <a:latin typeface="Consolas"/>
              </a:rPr>
              <a:t>        </a:t>
            </a:r>
            <a:r>
              <a:rPr sz="1800" i="0">
                <a:solidFill>
                  <a:srgbClr val="C39BD3"/>
                </a:solidFill>
                <a:latin typeface="Consolas"/>
              </a:rPr>
              <a:t>print</a:t>
            </a:r>
            <a:r>
              <a:rPr sz="1800" i="0">
                <a:solidFill>
                  <a:srgbClr val="AEB6BF"/>
                </a:solidFill>
                <a:latin typeface="Consolas"/>
              </a:rPr>
              <a:t>(</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epoch </a:t>
            </a:r>
            <a:r>
              <a:rPr sz="1800" i="0">
                <a:solidFill>
                  <a:srgbClr val="7DCEA0"/>
                </a:solidFill>
                <a:latin typeface="Consolas"/>
              </a:rPr>
              <a:t>{</a:t>
            </a:r>
            <a:r>
              <a:rPr sz="1800" i="0">
                <a:solidFill>
                  <a:srgbClr val="E8EDF2"/>
                </a:solidFill>
                <a:latin typeface="Consolas"/>
              </a:rPr>
              <a:t>epoch</a:t>
            </a:r>
            <a:r>
              <a:rPr sz="1800" i="0">
                <a:solidFill>
                  <a:srgbClr val="7DCEA0"/>
                </a:solidFill>
                <a:latin typeface="Consolas"/>
              </a:rPr>
              <a:t>:</a:t>
            </a:r>
            <a:r>
              <a:rPr sz="1800" i="0">
                <a:solidFill>
                  <a:srgbClr val="7DCEA0"/>
                </a:solidFill>
                <a:latin typeface="Consolas"/>
              </a:rPr>
              <a:t>4d</a:t>
            </a:r>
            <a:r>
              <a:rPr sz="1800" i="0">
                <a:solidFill>
                  <a:srgbClr val="7DCEA0"/>
                </a:solidFill>
                <a:latin typeface="Consolas"/>
              </a:rPr>
              <a:t>}</a:t>
            </a:r>
            <a:r>
              <a:rPr sz="1800" i="0">
                <a:solidFill>
                  <a:srgbClr val="7DCEA0"/>
                </a:solidFill>
                <a:latin typeface="Consolas"/>
              </a:rPr>
              <a:t>: error </a:t>
            </a:r>
            <a:r>
              <a:rPr sz="1800" i="0">
                <a:solidFill>
                  <a:srgbClr val="7DCEA0"/>
                </a:solidFill>
                <a:latin typeface="Consolas"/>
              </a:rPr>
              <a:t>{</a:t>
            </a:r>
            <a:r>
              <a:rPr sz="1800" i="0">
                <a:solidFill>
                  <a:srgbClr val="E8EDF2"/>
                </a:solidFill>
                <a:latin typeface="Consolas"/>
              </a:rPr>
              <a:t>err</a:t>
            </a:r>
            <a:r>
              <a:rPr sz="1800" i="0">
                <a:solidFill>
                  <a:srgbClr val="7DCEA0"/>
                </a:solidFill>
                <a:latin typeface="Consolas"/>
              </a:rPr>
              <a:t>:</a:t>
            </a:r>
            <a:r>
              <a:rPr sz="1800" i="0">
                <a:solidFill>
                  <a:srgbClr val="7DCEA0"/>
                </a:solidFill>
                <a:latin typeface="Consolas"/>
              </a:rPr>
              <a:t>.4f</a:t>
            </a:r>
            <a:r>
              <a:rPr sz="1800" i="0">
                <a:solidFill>
                  <a:srgbClr val="7DCEA0"/>
                </a:solidFill>
                <a:latin typeface="Consolas"/>
              </a:rPr>
              <a:t>}</a:t>
            </a:r>
            <a:r>
              <a:rPr sz="1800" i="0">
                <a:solidFill>
                  <a:srgbClr val="7DCEA0"/>
                </a:solidFill>
                <a:latin typeface="Consolas"/>
              </a:rPr>
              <a:t>  </a:t>
            </a:r>
            <a:r>
              <a:rPr sz="1800" i="0">
                <a:solidFill>
                  <a:srgbClr val="7DCEA0"/>
                </a:solidFill>
                <a:latin typeface="Consolas"/>
              </a:rPr>
              <a:t>"</a:t>
            </a:r>
          </a:p>
          <a:p>
            <a:pPr>
              <a:lnSpc>
                <a:spcPct val="100000"/>
              </a:lnSpc>
              <a:spcAft>
                <a:spcPts val="0"/>
              </a:spcAft>
            </a:pPr>
            <a:r>
              <a:rPr sz="1800" i="0">
                <a:solidFill>
                  <a:srgbClr val="E8EDF2"/>
                </a:solidFill>
                <a:latin typeface="Consolas"/>
              </a:rPr>
              <a:t>              </a:t>
            </a:r>
            <a:r>
              <a:rPr sz="1800" i="0">
                <a:solidFill>
                  <a:srgbClr val="7DCEA0"/>
                </a:solidFill>
                <a:latin typeface="Consolas"/>
              </a:rPr>
              <a:t>f</a:t>
            </a:r>
            <a:r>
              <a:rPr sz="1800" i="0">
                <a:solidFill>
                  <a:srgbClr val="7DCEA0"/>
                </a:solidFill>
                <a:latin typeface="Consolas"/>
              </a:rPr>
              <a:t>"</a:t>
            </a:r>
            <a:r>
              <a:rPr sz="1800" i="0">
                <a:solidFill>
                  <a:srgbClr val="7DCEA0"/>
                </a:solidFill>
                <a:latin typeface="Consolas"/>
              </a:rPr>
              <a:t>outputs </a:t>
            </a:r>
            <a:r>
              <a:rPr sz="1800" i="0">
                <a:solidFill>
                  <a:srgbClr val="7DCEA0"/>
                </a:solidFill>
                <a:latin typeface="Consolas"/>
              </a:rPr>
              <a:t>{</a:t>
            </a:r>
            <a:r>
              <a:rPr sz="1800" i="0">
                <a:solidFill>
                  <a:srgbClr val="E8EDF2"/>
                </a:solidFill>
                <a:latin typeface="Consolas"/>
              </a:rPr>
              <a:t>o</a:t>
            </a:r>
            <a:r>
              <a:rPr sz="1800" i="0">
                <a:solidFill>
                  <a:srgbClr val="AEB6BF"/>
                </a:solidFill>
                <a:latin typeface="Consolas"/>
              </a:rPr>
              <a:t>.</a:t>
            </a:r>
            <a:r>
              <a:rPr sz="1800" i="0">
                <a:solidFill>
                  <a:srgbClr val="E8EDF2"/>
                </a:solidFill>
                <a:latin typeface="Consolas"/>
              </a:rPr>
              <a:t>ravel</a:t>
            </a:r>
            <a:r>
              <a:rPr sz="1800" i="0">
                <a:solidFill>
                  <a:srgbClr val="AEB6BF"/>
                </a:solidFill>
                <a:latin typeface="Consolas"/>
              </a:rPr>
              <a:t>(</a:t>
            </a:r>
            <a:r>
              <a:rPr sz="1800" i="0">
                <a:solidFill>
                  <a:srgbClr val="AEB6BF"/>
                </a:solidFill>
                <a:latin typeface="Consolas"/>
              </a:rPr>
              <a:t>)</a:t>
            </a:r>
            <a:r>
              <a:rPr sz="1800" i="0">
                <a:solidFill>
                  <a:srgbClr val="AEB6BF"/>
                </a:solidFill>
                <a:latin typeface="Consolas"/>
              </a:rPr>
              <a:t>.</a:t>
            </a:r>
            <a:r>
              <a:rPr sz="1800" i="0">
                <a:solidFill>
                  <a:srgbClr val="E8EDF2"/>
                </a:solidFill>
                <a:latin typeface="Consolas"/>
              </a:rPr>
              <a:t>round</a:t>
            </a:r>
            <a:r>
              <a:rPr sz="1800" i="0">
                <a:solidFill>
                  <a:srgbClr val="AEB6BF"/>
                </a:solidFill>
                <a:latin typeface="Consolas"/>
              </a:rPr>
              <a:t>(</a:t>
            </a:r>
            <a:r>
              <a:rPr sz="1800" i="0">
                <a:solidFill>
                  <a:srgbClr val="F7DC6F"/>
                </a:solidFill>
                <a:latin typeface="Consolas"/>
              </a:rPr>
              <a:t>2</a:t>
            </a:r>
            <a:r>
              <a:rPr sz="1800" i="0">
                <a:solidFill>
                  <a:srgbClr val="AEB6BF"/>
                </a:solidFill>
                <a:latin typeface="Consolas"/>
              </a:rPr>
              <a:t>)</a:t>
            </a:r>
            <a:r>
              <a:rPr sz="1800" i="0">
                <a:solidFill>
                  <a:srgbClr val="7DCEA0"/>
                </a:solidFill>
                <a:latin typeface="Consolas"/>
              </a:rPr>
              <a:t>}</a:t>
            </a:r>
            <a:r>
              <a:rPr sz="1800" i="0">
                <a:solidFill>
                  <a:srgbClr val="7DCEA0"/>
                </a:solidFill>
                <a:latin typeface="Consolas"/>
              </a:rPr>
              <a:t>"</a:t>
            </a:r>
            <a:r>
              <a:rPr sz="1800" i="0">
                <a:solidFill>
                  <a:srgbClr val="AEB6BF"/>
                </a:solidFill>
                <a:latin typeface="Consolas"/>
              </a:rPr>
              <a:t>)</a:t>
            </a:r>
          </a:p>
        </p:txBody>
      </p:sp>
      <p:sp>
        <p:nvSpPr>
          <p:cNvPr id="15" name="!!code-num"/>
          <p:cNvSpPr txBox="1"/>
          <p:nvPr/>
        </p:nvSpPr>
        <p:spPr>
          <a:xfrm>
            <a:off x="768096" y="2523744"/>
            <a:ext cx="393192" cy="3675888"/>
          </a:xfrm>
          <a:prstGeom prst="rect">
            <a:avLst/>
          </a:prstGeom>
          <a:noFill/>
        </p:spPr>
        <p:txBody>
          <a:bodyPr wrap="none" anchor="t" lIns="0" rIns="0" tIns="0" bIns="0">
            <a:noAutofit/>
          </a:bodyPr>
          <a:lstStyle/>
          <a:p>
            <a:pPr algn="r">
              <a:lnSpc>
                <a:spcPct val="100000"/>
              </a:lnSpc>
            </a:pPr>
            <a:r>
              <a:rPr sz="1800">
                <a:solidFill>
                  <a:srgbClr val="4F5D6A"/>
                </a:solidFill>
                <a:latin typeface="Consolas"/>
              </a:rPr>
              <a:t>16</a:t>
            </a:r>
          </a:p>
          <a:p>
            <a:pPr algn="r">
              <a:lnSpc>
                <a:spcPct val="100000"/>
              </a:lnSpc>
            </a:pPr>
            <a:r>
              <a:rPr sz="1800">
                <a:solidFill>
                  <a:srgbClr val="4F5D6A"/>
                </a:solidFill>
                <a:latin typeface="Consolas"/>
              </a:rPr>
              <a:t>17</a:t>
            </a:r>
          </a:p>
          <a:p>
            <a:pPr algn="r">
              <a:lnSpc>
                <a:spcPct val="100000"/>
              </a:lnSpc>
            </a:pPr>
            <a:r>
              <a:rPr sz="1800">
                <a:solidFill>
                  <a:srgbClr val="4F5D6A"/>
                </a:solidFill>
                <a:latin typeface="Consolas"/>
              </a:rPr>
              <a:t>18</a:t>
            </a:r>
          </a:p>
          <a:p>
            <a:pPr algn="r">
              <a:lnSpc>
                <a:spcPct val="100000"/>
              </a:lnSpc>
            </a:pPr>
            <a:r>
              <a:rPr sz="1800">
                <a:solidFill>
                  <a:srgbClr val="4F5D6A"/>
                </a:solidFill>
                <a:latin typeface="Consolas"/>
              </a:rPr>
              <a:t>19</a:t>
            </a:r>
          </a:p>
          <a:p>
            <a:pPr algn="r">
              <a:lnSpc>
                <a:spcPct val="100000"/>
              </a:lnSpc>
            </a:pPr>
            <a:r>
              <a:rPr sz="1800">
                <a:solidFill>
                  <a:srgbClr val="4F5D6A"/>
                </a:solidFill>
                <a:latin typeface="Consolas"/>
              </a:rPr>
              <a:t>20</a:t>
            </a:r>
          </a:p>
          <a:p>
            <a:pPr algn="r">
              <a:lnSpc>
                <a:spcPct val="100000"/>
              </a:lnSpc>
            </a:pPr>
            <a:r>
              <a:rPr sz="1800">
                <a:solidFill>
                  <a:srgbClr val="4F5D6A"/>
                </a:solidFill>
                <a:latin typeface="Consolas"/>
              </a:rPr>
              <a:t>21</a:t>
            </a:r>
          </a:p>
          <a:p>
            <a:pPr algn="r">
              <a:lnSpc>
                <a:spcPct val="100000"/>
              </a:lnSpc>
            </a:pPr>
            <a:r>
              <a:rPr sz="1800">
                <a:solidFill>
                  <a:srgbClr val="4F5D6A"/>
                </a:solidFill>
                <a:latin typeface="Consolas"/>
              </a:rPr>
              <a:t>22</a:t>
            </a:r>
          </a:p>
          <a:p>
            <a:pPr algn="r">
              <a:lnSpc>
                <a:spcPct val="100000"/>
              </a:lnSpc>
            </a:pPr>
            <a:r>
              <a:rPr sz="1800">
                <a:solidFill>
                  <a:srgbClr val="4F5D6A"/>
                </a:solidFill>
                <a:latin typeface="Consolas"/>
              </a:rPr>
              <a:t>23</a:t>
            </a:r>
          </a:p>
          <a:p>
            <a:pPr algn="r">
              <a:lnSpc>
                <a:spcPct val="100000"/>
              </a:lnSpc>
            </a:pPr>
            <a:r>
              <a:rPr sz="1800">
                <a:solidFill>
                  <a:srgbClr val="4F5D6A"/>
                </a:solidFill>
                <a:latin typeface="Consolas"/>
              </a:rPr>
              <a:t>24</a:t>
            </a:r>
          </a:p>
          <a:p>
            <a:pPr algn="r">
              <a:lnSpc>
                <a:spcPct val="100000"/>
              </a:lnSpc>
            </a:pPr>
            <a:r>
              <a:rPr sz="1800">
                <a:solidFill>
                  <a:srgbClr val="4F5D6A"/>
                </a:solidFill>
                <a:latin typeface="Consolas"/>
              </a:rPr>
              <a:t>25</a:t>
            </a:r>
          </a:p>
          <a:p>
            <a:pPr algn="r">
              <a:lnSpc>
                <a:spcPct val="100000"/>
              </a:lnSpc>
            </a:pPr>
            <a:r>
              <a:rPr sz="1800">
                <a:solidFill>
                  <a:srgbClr val="4F5D6A"/>
                </a:solidFill>
                <a:latin typeface="Consolas"/>
              </a:rPr>
              <a:t>26</a:t>
            </a:r>
          </a:p>
          <a:p>
            <a:pPr algn="r">
              <a:lnSpc>
                <a:spcPct val="100000"/>
              </a:lnSpc>
            </a:pPr>
            <a:r>
              <a:rPr sz="1800">
                <a:solidFill>
                  <a:srgbClr val="4F5D6A"/>
                </a:solidFill>
                <a:latin typeface="Consolas"/>
              </a:rPr>
              <a:t>27</a:t>
            </a:r>
          </a:p>
          <a:p>
            <a:pPr algn="r">
              <a:lnSpc>
                <a:spcPct val="100000"/>
              </a:lnSpc>
            </a:pPr>
            <a:r>
              <a:rPr sz="1800">
                <a:solidFill>
                  <a:srgbClr val="4F5D6A"/>
                </a:solidFill>
                <a:latin typeface="Consolas"/>
              </a:rPr>
              <a:t>28</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22230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2600" b="0">
                <a:solidFill>
                  <a:srgbClr val="1A5276"/>
                </a:solidFill>
                <a:latin typeface="Segoe UI Semibold"/>
              </a:rPr>
              <a:t>Backpropagation From Scratch, Then a Real Network</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LAB  ·  STEP 4 OF 4</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01A76CE0-F51B-433B-A1CE-4FDE5F8D268A}" type="slidenum">
              <a:rPr lang="en-GB" sz="1000">
                <a:solidFill>
                  <a:srgbClr val="8795A1"/>
                </a:solidFill>
                <a:latin typeface="Segoe UI"/>
              </a:rPr>
              <a:t>30</a:t>
            </a:fld>
          </a:p>
        </p:txBody>
      </p:sp>
      <p:sp>
        <p:nvSpPr>
          <p:cNvPr id="7" name="!!codehead"/>
          <p:cNvSpPr txBox="1"/>
          <p:nvPr/>
        </p:nvSpPr>
        <p:spPr>
          <a:xfrm>
            <a:off x="658368" y="1627631"/>
            <a:ext cx="10874959" cy="329184"/>
          </a:xfrm>
          <a:prstGeom prst="rect">
            <a:avLst/>
          </a:prstGeom>
          <a:noFill/>
        </p:spPr>
        <p:txBody>
          <a:bodyPr wrap="square" anchor="t" lIns="0" rIns="0" tIns="0" bIns="0">
            <a:noAutofit/>
          </a:bodyPr>
          <a:lstStyle/>
          <a:p>
            <a:pPr algn="l">
              <a:lnSpc>
                <a:spcPct val="100000"/>
              </a:lnSpc>
              <a:spcBef>
                <a:spcPts val="0"/>
              </a:spcBef>
              <a:spcAft>
                <a:spcPts val="0"/>
              </a:spcAft>
            </a:pPr>
            <a:r>
              <a:rPr sz="1900" b="1" i="0">
                <a:solidFill>
                  <a:srgbClr val="0E6655"/>
                </a:solidFill>
                <a:latin typeface="Segoe UI Semibold"/>
              </a:rPr>
              <a:t>Staffing: too few people is late, and so is too many</a:t>
            </a:r>
          </a:p>
        </p:txBody>
      </p:sp>
      <p:sp>
        <p:nvSpPr>
          <p:cNvPr id="8" name="!!code-bg">
            <a:extLst>
              <a:ext uri="{C183D7F6-B498-43B3-948B-1728B52AA6E4}">
                <adec:decorative xmlns:adec="http://schemas.microsoft.com/office/drawing/2017/decorative" val="1"/>
              </a:ext>
            </a:extLst>
          </p:cNvPr>
          <p:cNvSpPr/>
          <p:nvPr/>
        </p:nvSpPr>
        <p:spPr>
          <a:xfrm>
            <a:off x="658368" y="2084831"/>
            <a:ext cx="10874959" cy="3956303"/>
          </a:xfrm>
          <a:prstGeom prst="roundRect">
            <a:avLst>
              <a:gd name="adj" fmla="val 2311"/>
            </a:avLst>
          </a:prstGeom>
          <a:solidFill>
            <a:srgbClr val="1E283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ode-sep">
            <a:extLst>
              <a:ext uri="{C183D7F6-B498-43B3-948B-1728B52AA6E4}">
                <adec:decorative xmlns:adec="http://schemas.microsoft.com/office/drawing/2017/decorative" val="1"/>
              </a:ext>
            </a:extLst>
          </p:cNvPr>
          <p:cNvSpPr/>
          <p:nvPr/>
        </p:nvSpPr>
        <p:spPr>
          <a:xfrm>
            <a:off x="676656" y="2404872"/>
            <a:ext cx="10838383" cy="10972"/>
          </a:xfrm>
          <a:prstGeom prst="rect">
            <a:avLst/>
          </a:prstGeom>
          <a:solidFill>
            <a:srgbClr val="2834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code-dot0">
            <a:extLst>
              <a:ext uri="{C183D7F6-B498-43B3-948B-1728B52AA6E4}">
                <adec:decorative xmlns:adec="http://schemas.microsoft.com/office/drawing/2017/decorative" val="1"/>
              </a:ext>
            </a:extLst>
          </p:cNvPr>
          <p:cNvSpPr/>
          <p:nvPr/>
        </p:nvSpPr>
        <p:spPr>
          <a:xfrm>
            <a:off x="859536" y="2199132"/>
            <a:ext cx="100584" cy="100584"/>
          </a:xfrm>
          <a:prstGeom prst="ellipse">
            <a:avLst/>
          </a:prstGeom>
          <a:solidFill>
            <a:srgbClr val="E74C3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code-dot1">
            <a:extLst>
              <a:ext uri="{C183D7F6-B498-43B3-948B-1728B52AA6E4}">
                <adec:decorative xmlns:adec="http://schemas.microsoft.com/office/drawing/2017/decorative" val="1"/>
              </a:ext>
            </a:extLst>
          </p:cNvPr>
          <p:cNvSpPr/>
          <p:nvPr/>
        </p:nvSpPr>
        <p:spPr>
          <a:xfrm>
            <a:off x="1042415" y="2199132"/>
            <a:ext cx="100584" cy="100584"/>
          </a:xfrm>
          <a:prstGeom prst="ellipse">
            <a:avLst/>
          </a:prstGeom>
          <a:solidFill>
            <a:srgbClr val="F4D03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ode-dot2">
            <a:extLst>
              <a:ext uri="{C183D7F6-B498-43B3-948B-1728B52AA6E4}">
                <adec:decorative xmlns:adec="http://schemas.microsoft.com/office/drawing/2017/decorative" val="1"/>
              </a:ext>
            </a:extLst>
          </p:cNvPr>
          <p:cNvSpPr/>
          <p:nvPr/>
        </p:nvSpPr>
        <p:spPr>
          <a:xfrm>
            <a:off x="1225295" y="2199132"/>
            <a:ext cx="100584" cy="100584"/>
          </a:xfrm>
          <a:prstGeom prst="ellipse">
            <a:avLst/>
          </a:prstGeom>
          <a:solidFill>
            <a:srgbClr val="58D68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code-label"/>
          <p:cNvSpPr txBox="1"/>
          <p:nvPr/>
        </p:nvSpPr>
        <p:spPr>
          <a:xfrm>
            <a:off x="1527048" y="2148839"/>
            <a:ext cx="9777679" cy="219456"/>
          </a:xfrm>
          <a:prstGeom prst="rect">
            <a:avLst/>
          </a:prstGeom>
          <a:noFill/>
        </p:spPr>
        <p:txBody>
          <a:bodyPr wrap="square" anchor="t" lIns="0" rIns="0" tIns="0" bIns="0">
            <a:noAutofit/>
          </a:bodyPr>
          <a:lstStyle/>
          <a:p>
            <a:pPr algn="l">
              <a:lnSpc>
                <a:spcPct val="100000"/>
              </a:lnSpc>
              <a:spcBef>
                <a:spcPts val="0"/>
              </a:spcBef>
              <a:spcAft>
                <a:spcPts val="0"/>
              </a:spcAft>
            </a:pPr>
            <a:r>
              <a:rPr sz="1100" b="1" i="0">
                <a:solidFill>
                  <a:srgbClr val="9FB0BF"/>
                </a:solidFill>
                <a:latin typeface="Segoe UI"/>
              </a:rPr>
              <a:t>Python  ·  code/ch13_backpropagation.py</a:t>
            </a:r>
          </a:p>
        </p:txBody>
      </p:sp>
      <p:sp>
        <p:nvSpPr>
          <p:cNvPr id="14" name="!!code-text" descr="# --- 2. staffing: too few people is late, and so is too many ------------- rng = np.random.default_rng(0) n = 800 scope = rng.uniform(100, 1000, n) # story points team = rng.uniform(2, 20, n) # people Xs = np.column_stack([scope, team]) ys = (np.abs(team - scope / 60) &gt; 5).astype(int) # 1 = late flip = rng.random(n) &lt; 0.05 # 5% recorded wrongly ys[flip] = 1 - ys[flip] X_tr, X_te, y_tr, y_te = train_test_split(Xs, ys, test_size=0.3, random_state=0, stratify=ys) sc = StandardScaler().fit(X_tr) X_tr, X_te = sc.transform(X_tr), sc.transform(X_te) lin = LogisticRegression().fit(X_tr, y_tr) print(&quot;logistic regression test accuracy:&quot;, round(lin.score(X_te, y_te), 3)) for alpha in (0.0001, 1.0): # weight decay net = MLPClassifier(hidden_layer_sizes=(16,), alpha=alpha, max_iter=3000, random_state=0).fit(X_tr, y_tr) print(f&quot;network, weight decay {alpha:g}: {net.n_iter_} epochs, &quot; f&quot;test accuracy {net.score(X_te, y_te):.3f}&quot;)"/>
          <p:cNvSpPr txBox="1"/>
          <p:nvPr/>
        </p:nvSpPr>
        <p:spPr>
          <a:xfrm>
            <a:off x="1362456" y="2523744"/>
            <a:ext cx="9987991" cy="3462527"/>
          </a:xfrm>
          <a:prstGeom prst="rect">
            <a:avLst/>
          </a:prstGeom>
          <a:noFill/>
        </p:spPr>
        <p:txBody>
          <a:bodyPr wrap="none" anchor="t" lIns="0" rIns="0" tIns="0" bIns="0">
            <a:noAutofit/>
          </a:bodyPr>
          <a:lstStyle/>
          <a:p>
            <a:pPr>
              <a:lnSpc>
                <a:spcPct val="100000"/>
              </a:lnSpc>
              <a:spcAft>
                <a:spcPts val="0"/>
              </a:spcAft>
            </a:pPr>
            <a:r>
              <a:rPr sz="1100" i="1">
                <a:solidFill>
                  <a:srgbClr val="8795A1"/>
                </a:solidFill>
                <a:latin typeface="Consolas"/>
              </a:rPr>
              <a:t># --- 2. staffing: too few people is late, and so is too many -------------</a:t>
            </a:r>
          </a:p>
          <a:p>
            <a:pPr>
              <a:lnSpc>
                <a:spcPct val="100000"/>
              </a:lnSpc>
              <a:spcAft>
                <a:spcPts val="0"/>
              </a:spcAft>
            </a:pPr>
            <a:r>
              <a:rPr sz="1100" i="0">
                <a:solidFill>
                  <a:srgbClr val="E8EDF2"/>
                </a:solidFill>
                <a:latin typeface="Consolas"/>
              </a:rPr>
              <a:t>rng</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random</a:t>
            </a:r>
            <a:r>
              <a:rPr sz="1100" i="0">
                <a:solidFill>
                  <a:srgbClr val="AEB6BF"/>
                </a:solidFill>
                <a:latin typeface="Consolas"/>
              </a:rPr>
              <a:t>.</a:t>
            </a:r>
            <a:r>
              <a:rPr sz="1100" i="0">
                <a:solidFill>
                  <a:srgbClr val="E8EDF2"/>
                </a:solidFill>
                <a:latin typeface="Consolas"/>
              </a:rPr>
              <a:t>default_rng</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p>
          <a:p>
            <a:pPr>
              <a:lnSpc>
                <a:spcPct val="100000"/>
              </a:lnSpc>
              <a:spcAft>
                <a:spcPts val="0"/>
              </a:spcAft>
            </a:pPr>
            <a:r>
              <a:rPr sz="1100" i="0">
                <a:solidFill>
                  <a:srgbClr val="E8EDF2"/>
                </a:solidFill>
                <a:latin typeface="Consolas"/>
              </a:rPr>
              <a:t>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800</a:t>
            </a:r>
          </a:p>
          <a:p>
            <a:pPr>
              <a:lnSpc>
                <a:spcPct val="100000"/>
              </a:lnSpc>
              <a:spcAft>
                <a:spcPts val="0"/>
              </a:spcAft>
            </a:pPr>
            <a:r>
              <a:rPr sz="1100" i="0">
                <a:solidFill>
                  <a:srgbClr val="E8EDF2"/>
                </a:solidFill>
                <a:latin typeface="Consolas"/>
              </a:rPr>
              <a:t>scope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rng</a:t>
            </a:r>
            <a:r>
              <a:rPr sz="1100" i="0">
                <a:solidFill>
                  <a:srgbClr val="AEB6BF"/>
                </a:solidFill>
                <a:latin typeface="Consolas"/>
              </a:rPr>
              <a:t>.</a:t>
            </a:r>
            <a:r>
              <a:rPr sz="1100" i="0">
                <a:solidFill>
                  <a:srgbClr val="E8EDF2"/>
                </a:solidFill>
                <a:latin typeface="Consolas"/>
              </a:rPr>
              <a:t>uniform</a:t>
            </a:r>
            <a:r>
              <a:rPr sz="1100" i="0">
                <a:solidFill>
                  <a:srgbClr val="AEB6BF"/>
                </a:solidFill>
                <a:latin typeface="Consolas"/>
              </a:rPr>
              <a:t>(</a:t>
            </a:r>
            <a:r>
              <a:rPr sz="1100" i="0">
                <a:solidFill>
                  <a:srgbClr val="F7DC6F"/>
                </a:solidFill>
                <a:latin typeface="Consolas"/>
              </a:rPr>
              <a:t>100</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1000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story points</a:t>
            </a:r>
          </a:p>
          <a:p>
            <a:pPr>
              <a:lnSpc>
                <a:spcPct val="100000"/>
              </a:lnSpc>
              <a:spcAft>
                <a:spcPts val="0"/>
              </a:spcAft>
            </a:pPr>
            <a:r>
              <a:rPr sz="1100" i="0">
                <a:solidFill>
                  <a:srgbClr val="E8EDF2"/>
                </a:solidFill>
                <a:latin typeface="Consolas"/>
              </a:rPr>
              <a:t>team</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rng</a:t>
            </a:r>
            <a:r>
              <a:rPr sz="1100" i="0">
                <a:solidFill>
                  <a:srgbClr val="AEB6BF"/>
                </a:solidFill>
                <a:latin typeface="Consolas"/>
              </a:rPr>
              <a:t>.</a:t>
            </a:r>
            <a:r>
              <a:rPr sz="1100" i="0">
                <a:solidFill>
                  <a:srgbClr val="E8EDF2"/>
                </a:solidFill>
                <a:latin typeface="Consolas"/>
              </a:rPr>
              <a:t>uniform</a:t>
            </a:r>
            <a:r>
              <a:rPr sz="1100" i="0">
                <a:solidFill>
                  <a:srgbClr val="AEB6BF"/>
                </a:solidFill>
                <a:latin typeface="Consolas"/>
              </a:rPr>
              <a:t>(</a:t>
            </a:r>
            <a:r>
              <a:rPr sz="1100" i="0">
                <a:solidFill>
                  <a:srgbClr val="F7DC6F"/>
                </a:solidFill>
                <a:latin typeface="Consolas"/>
              </a:rPr>
              <a:t>2</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20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people</a:t>
            </a:r>
          </a:p>
          <a:p>
            <a:pPr>
              <a:lnSpc>
                <a:spcPct val="100000"/>
              </a:lnSpc>
              <a:spcAft>
                <a:spcPts val="0"/>
              </a:spcAft>
            </a:pPr>
            <a:r>
              <a:rPr sz="1100" i="0">
                <a:solidFill>
                  <a:srgbClr val="E8EDF2"/>
                </a:solidFill>
                <a:latin typeface="Consolas"/>
              </a:rPr>
              <a:t>Xs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column_stack</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scope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team</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E8EDF2"/>
                </a:solidFill>
                <a:latin typeface="Consolas"/>
              </a:rPr>
              <a:t>ys</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np</a:t>
            </a:r>
            <a:r>
              <a:rPr sz="1100" i="0">
                <a:solidFill>
                  <a:srgbClr val="AEB6BF"/>
                </a:solidFill>
                <a:latin typeface="Consolas"/>
              </a:rPr>
              <a:t>.</a:t>
            </a:r>
            <a:r>
              <a:rPr sz="1100" i="0">
                <a:solidFill>
                  <a:srgbClr val="E8EDF2"/>
                </a:solidFill>
                <a:latin typeface="Consolas"/>
              </a:rPr>
              <a:t>abs</a:t>
            </a:r>
            <a:r>
              <a:rPr sz="1100" i="0">
                <a:solidFill>
                  <a:srgbClr val="AEB6BF"/>
                </a:solidFill>
                <a:latin typeface="Consolas"/>
              </a:rPr>
              <a:t>(</a:t>
            </a:r>
            <a:r>
              <a:rPr sz="1100" i="0">
                <a:solidFill>
                  <a:srgbClr val="E8EDF2"/>
                </a:solidFill>
                <a:latin typeface="Consolas"/>
              </a:rPr>
              <a:t>team</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scope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60</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&gt;</a:t>
            </a:r>
            <a:r>
              <a:rPr sz="1100" i="0">
                <a:solidFill>
                  <a:srgbClr val="E8EDF2"/>
                </a:solidFill>
                <a:latin typeface="Consolas"/>
              </a:rPr>
              <a:t> </a:t>
            </a:r>
            <a:r>
              <a:rPr sz="1100" i="0">
                <a:solidFill>
                  <a:srgbClr val="F7DC6F"/>
                </a:solidFill>
                <a:latin typeface="Consolas"/>
              </a:rPr>
              <a:t>5</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astype</a:t>
            </a:r>
            <a:r>
              <a:rPr sz="1100" i="0">
                <a:solidFill>
                  <a:srgbClr val="AEB6BF"/>
                </a:solidFill>
                <a:latin typeface="Consolas"/>
              </a:rPr>
              <a:t>(</a:t>
            </a:r>
            <a:r>
              <a:rPr sz="1100" i="0">
                <a:solidFill>
                  <a:srgbClr val="C39BD3"/>
                </a:solidFill>
                <a:latin typeface="Consolas"/>
              </a:rPr>
              <a:t>int</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1 = late</a:t>
            </a:r>
          </a:p>
          <a:p>
            <a:pPr>
              <a:lnSpc>
                <a:spcPct val="100000"/>
              </a:lnSpc>
              <a:spcAft>
                <a:spcPts val="0"/>
              </a:spcAft>
            </a:pPr>
            <a:r>
              <a:rPr sz="1100" i="0">
                <a:solidFill>
                  <a:srgbClr val="E8EDF2"/>
                </a:solidFill>
                <a:latin typeface="Consolas"/>
              </a:rPr>
              <a:t>flip</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rng</a:t>
            </a:r>
            <a:r>
              <a:rPr sz="1100" i="0">
                <a:solidFill>
                  <a:srgbClr val="AEB6BF"/>
                </a:solidFill>
                <a:latin typeface="Consolas"/>
              </a:rPr>
              <a:t>.</a:t>
            </a:r>
            <a:r>
              <a:rPr sz="1100" i="0">
                <a:solidFill>
                  <a:srgbClr val="E8EDF2"/>
                </a:solidFill>
                <a:latin typeface="Consolas"/>
              </a:rPr>
              <a:t>random</a:t>
            </a:r>
            <a:r>
              <a:rPr sz="1100" i="0">
                <a:solidFill>
                  <a:srgbClr val="AEB6BF"/>
                </a:solidFill>
                <a:latin typeface="Consolas"/>
              </a:rPr>
              <a:t>(</a:t>
            </a:r>
            <a:r>
              <a:rPr sz="1100" i="0">
                <a:solidFill>
                  <a:srgbClr val="E8EDF2"/>
                </a:solidFill>
                <a:latin typeface="Consolas"/>
              </a:rPr>
              <a:t>n</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&lt;</a:t>
            </a:r>
            <a:r>
              <a:rPr sz="1100" i="0">
                <a:solidFill>
                  <a:srgbClr val="E8EDF2"/>
                </a:solidFill>
                <a:latin typeface="Consolas"/>
              </a:rPr>
              <a:t> </a:t>
            </a:r>
            <a:r>
              <a:rPr sz="1100" i="0">
                <a:solidFill>
                  <a:srgbClr val="F7DC6F"/>
                </a:solidFill>
                <a:latin typeface="Consolas"/>
              </a:rPr>
              <a:t>0.05</a:t>
            </a:r>
            <a:r>
              <a:rPr sz="1100" i="0">
                <a:solidFill>
                  <a:srgbClr val="E8EDF2"/>
                </a:solidFill>
                <a:latin typeface="Consolas"/>
              </a:rPr>
              <a:t>                       </a:t>
            </a:r>
            <a:r>
              <a:rPr sz="1100" i="1">
                <a:solidFill>
                  <a:srgbClr val="8795A1"/>
                </a:solidFill>
                <a:latin typeface="Consolas"/>
              </a:rPr>
              <a:t># 5% recorded wrongly</a:t>
            </a:r>
          </a:p>
          <a:p>
            <a:pPr>
              <a:lnSpc>
                <a:spcPct val="100000"/>
              </a:lnSpc>
              <a:spcAft>
                <a:spcPts val="0"/>
              </a:spcAft>
            </a:pPr>
            <a:r>
              <a:rPr sz="1100" i="0">
                <a:solidFill>
                  <a:srgbClr val="E8EDF2"/>
                </a:solidFill>
                <a:latin typeface="Consolas"/>
              </a:rPr>
              <a:t>ys</a:t>
            </a:r>
            <a:r>
              <a:rPr sz="1100" i="0">
                <a:solidFill>
                  <a:srgbClr val="AEB6BF"/>
                </a:solidFill>
                <a:latin typeface="Consolas"/>
              </a:rPr>
              <a:t>[</a:t>
            </a:r>
            <a:r>
              <a:rPr sz="1100" i="0">
                <a:solidFill>
                  <a:srgbClr val="E8EDF2"/>
                </a:solidFill>
                <a:latin typeface="Consolas"/>
              </a:rPr>
              <a:t>flip</a:t>
            </a:r>
            <a:r>
              <a:rPr sz="1100" i="0">
                <a:solidFill>
                  <a:srgbClr val="AEB6BF"/>
                </a:solidFill>
                <a:latin typeface="Consolas"/>
              </a:rPr>
              <a: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ys</a:t>
            </a:r>
            <a:r>
              <a:rPr sz="1100" i="0">
                <a:solidFill>
                  <a:srgbClr val="AEB6BF"/>
                </a:solidFill>
                <a:latin typeface="Consolas"/>
              </a:rPr>
              <a:t>[</a:t>
            </a:r>
            <a:r>
              <a:rPr sz="1100" i="0">
                <a:solidFill>
                  <a:srgbClr val="E8EDF2"/>
                </a:solidFill>
                <a:latin typeface="Consolas"/>
              </a:rPr>
              <a:t>flip</a:t>
            </a:r>
            <a:r>
              <a:rPr sz="1100" i="0">
                <a:solidFill>
                  <a:srgbClr val="AEB6BF"/>
                </a:solidFill>
                <a:latin typeface="Consolas"/>
              </a:rPr>
              <a:t>]</a:t>
            </a:r>
          </a:p>
          <a:p>
            <a:pPr>
              <a:lnSpc>
                <a:spcPct val="100000"/>
              </a:lnSpc>
              <a:spcAft>
                <a:spcPts val="0"/>
              </a:spcAft>
            </a:pPr>
            <a:r>
              <a:rPr sz="1100" i="0">
                <a:solidFill>
                  <a:srgbClr val="E8EDF2"/>
                </a:solidFill>
                <a:latin typeface="Consolas"/>
              </a:rPr>
              <a:t>X_tr</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X_te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y_tr</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y_te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train_test_split</a:t>
            </a:r>
            <a:r>
              <a:rPr sz="1100" i="0">
                <a:solidFill>
                  <a:srgbClr val="AEB6BF"/>
                </a:solidFill>
                <a:latin typeface="Consolas"/>
              </a:rPr>
              <a:t>(</a:t>
            </a:r>
            <a:r>
              <a:rPr sz="1100" i="0">
                <a:solidFill>
                  <a:srgbClr val="E8EDF2"/>
                </a:solidFill>
                <a:latin typeface="Consolas"/>
              </a:rPr>
              <a:t>Xs</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ys</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test_size</a:t>
            </a:r>
            <a:r>
              <a:rPr sz="1100" i="0">
                <a:solidFill>
                  <a:srgbClr val="AEB6BF"/>
                </a:solidFill>
                <a:latin typeface="Consolas"/>
              </a:rPr>
              <a:t>=</a:t>
            </a:r>
            <a:r>
              <a:rPr sz="1100" i="0">
                <a:solidFill>
                  <a:srgbClr val="F7DC6F"/>
                </a:solidFill>
                <a:latin typeface="Consolas"/>
              </a:rPr>
              <a:t>0.3</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stratify</a:t>
            </a:r>
            <a:r>
              <a:rPr sz="1100" i="0">
                <a:solidFill>
                  <a:srgbClr val="AEB6BF"/>
                </a:solidFill>
                <a:latin typeface="Consolas"/>
              </a:rPr>
              <a:t>=</a:t>
            </a:r>
            <a:r>
              <a:rPr sz="1100" i="0">
                <a:solidFill>
                  <a:srgbClr val="E8EDF2"/>
                </a:solidFill>
                <a:latin typeface="Consolas"/>
              </a:rPr>
              <a:t>ys</a:t>
            </a:r>
            <a:r>
              <a:rPr sz="1100" i="0">
                <a:solidFill>
                  <a:srgbClr val="AEB6BF"/>
                </a:solidFill>
                <a:latin typeface="Consolas"/>
              </a:rPr>
              <a:t>)</a:t>
            </a:r>
          </a:p>
          <a:p>
            <a:pPr>
              <a:lnSpc>
                <a:spcPct val="100000"/>
              </a:lnSpc>
              <a:spcAft>
                <a:spcPts val="0"/>
              </a:spcAft>
            </a:pPr>
            <a:r>
              <a:rPr sz="1100" i="0">
                <a:solidFill>
                  <a:srgbClr val="E8EDF2"/>
                </a:solidFill>
                <a:latin typeface="Consolas"/>
              </a:rPr>
              <a:t>sc</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StandardScaler</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fit</a:t>
            </a:r>
            <a:r>
              <a:rPr sz="1100" i="0">
                <a:solidFill>
                  <a:srgbClr val="AEB6BF"/>
                </a:solidFill>
                <a:latin typeface="Consolas"/>
              </a:rPr>
              <a:t>(</a:t>
            </a:r>
            <a:r>
              <a:rPr sz="1100" i="0">
                <a:solidFill>
                  <a:srgbClr val="E8EDF2"/>
                </a:solidFill>
                <a:latin typeface="Consolas"/>
              </a:rPr>
              <a:t>X_tr</a:t>
            </a:r>
            <a:r>
              <a:rPr sz="1100" i="0">
                <a:solidFill>
                  <a:srgbClr val="AEB6BF"/>
                </a:solidFill>
                <a:latin typeface="Consolas"/>
              </a:rPr>
              <a:t>)</a:t>
            </a:r>
          </a:p>
          <a:p>
            <a:pPr>
              <a:lnSpc>
                <a:spcPct val="100000"/>
              </a:lnSpc>
              <a:spcAft>
                <a:spcPts val="0"/>
              </a:spcAft>
            </a:pPr>
            <a:r>
              <a:rPr sz="1100" i="0">
                <a:solidFill>
                  <a:srgbClr val="E8EDF2"/>
                </a:solidFill>
                <a:latin typeface="Consolas"/>
              </a:rPr>
              <a:t>X_tr</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X_te</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sc</a:t>
            </a:r>
            <a:r>
              <a:rPr sz="1100" i="0">
                <a:solidFill>
                  <a:srgbClr val="AEB6BF"/>
                </a:solidFill>
                <a:latin typeface="Consolas"/>
              </a:rPr>
              <a:t>.</a:t>
            </a:r>
            <a:r>
              <a:rPr sz="1100" i="0">
                <a:solidFill>
                  <a:srgbClr val="E8EDF2"/>
                </a:solidFill>
                <a:latin typeface="Consolas"/>
              </a:rPr>
              <a:t>transform</a:t>
            </a:r>
            <a:r>
              <a:rPr sz="1100" i="0">
                <a:solidFill>
                  <a:srgbClr val="AEB6BF"/>
                </a:solidFill>
                <a:latin typeface="Consolas"/>
              </a:rPr>
              <a:t>(</a:t>
            </a:r>
            <a:r>
              <a:rPr sz="1100" i="0">
                <a:solidFill>
                  <a:srgbClr val="E8EDF2"/>
                </a:solidFill>
                <a:latin typeface="Consolas"/>
              </a:rPr>
              <a:t>X_tr</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sc</a:t>
            </a:r>
            <a:r>
              <a:rPr sz="1100" i="0">
                <a:solidFill>
                  <a:srgbClr val="AEB6BF"/>
                </a:solidFill>
                <a:latin typeface="Consolas"/>
              </a:rPr>
              <a:t>.</a:t>
            </a:r>
            <a:r>
              <a:rPr sz="1100" i="0">
                <a:solidFill>
                  <a:srgbClr val="E8EDF2"/>
                </a:solidFill>
                <a:latin typeface="Consolas"/>
              </a:rPr>
              <a:t>transform</a:t>
            </a:r>
            <a:r>
              <a:rPr sz="1100" i="0">
                <a:solidFill>
                  <a:srgbClr val="AEB6BF"/>
                </a:solidFill>
                <a:latin typeface="Consolas"/>
              </a:rPr>
              <a:t>(</a:t>
            </a:r>
            <a:r>
              <a:rPr sz="1100" i="0">
                <a:solidFill>
                  <a:srgbClr val="E8EDF2"/>
                </a:solidFill>
                <a:latin typeface="Consolas"/>
              </a:rPr>
              <a:t>X_te</a:t>
            </a:r>
            <a:r>
              <a:rPr sz="1100" i="0">
                <a:solidFill>
                  <a:srgbClr val="AEB6BF"/>
                </a:solidFill>
                <a:latin typeface="Consolas"/>
              </a:rPr>
              <a:t>)</a:t>
            </a:r>
          </a:p>
          <a:p>
            <a:pPr>
              <a:lnSpc>
                <a:spcPct val="100000"/>
              </a:lnSpc>
              <a:spcAft>
                <a:spcPts val="0"/>
              </a:spcAft>
            </a:pPr>
            <a:r>
              <a:rPr sz="1100" i="0">
                <a:solidFill>
                  <a:srgbClr val="E8EDF2"/>
                </a:solidFill>
                <a:latin typeface="Consolas"/>
              </a:rPr>
              <a:t>lin</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LogisticRegression</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fit</a:t>
            </a:r>
            <a:r>
              <a:rPr sz="1100" i="0">
                <a:solidFill>
                  <a:srgbClr val="AEB6BF"/>
                </a:solidFill>
                <a:latin typeface="Consolas"/>
              </a:rPr>
              <a:t>(</a:t>
            </a:r>
            <a:r>
              <a:rPr sz="1100" i="0">
                <a:solidFill>
                  <a:srgbClr val="E8EDF2"/>
                </a:solidFill>
                <a:latin typeface="Consolas"/>
              </a:rPr>
              <a:t>X_tr</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y_tr</a:t>
            </a:r>
            <a:r>
              <a:rPr sz="1100" i="0">
                <a:solidFill>
                  <a:srgbClr val="AEB6BF"/>
                </a:solidFill>
                <a:latin typeface="Consolas"/>
              </a:rPr>
              <a:t>)</a:t>
            </a:r>
          </a:p>
          <a:p>
            <a:pPr>
              <a:lnSpc>
                <a:spcPct val="100000"/>
              </a:lnSpc>
              <a:spcAft>
                <a:spcPts val="0"/>
              </a:spcAft>
            </a:pP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logistic regression test accuracy:</a:t>
            </a:r>
            <a:r>
              <a:rPr sz="1100" i="0">
                <a:solidFill>
                  <a:srgbClr val="7DCEA0"/>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C39BD3"/>
                </a:solidFill>
                <a:latin typeface="Consolas"/>
              </a:rPr>
              <a:t>round</a:t>
            </a:r>
            <a:r>
              <a:rPr sz="1100" i="0">
                <a:solidFill>
                  <a:srgbClr val="AEB6BF"/>
                </a:solidFill>
                <a:latin typeface="Consolas"/>
              </a:rPr>
              <a:t>(</a:t>
            </a:r>
            <a:r>
              <a:rPr sz="1100" i="0">
                <a:solidFill>
                  <a:srgbClr val="E8EDF2"/>
                </a:solidFill>
                <a:latin typeface="Consolas"/>
              </a:rPr>
              <a:t>lin</a:t>
            </a:r>
            <a:r>
              <a:rPr sz="1100" i="0">
                <a:solidFill>
                  <a:srgbClr val="AEB6BF"/>
                </a:solidFill>
                <a:latin typeface="Consolas"/>
              </a:rPr>
              <a:t>.</a:t>
            </a:r>
            <a:r>
              <a:rPr sz="1100" i="0">
                <a:solidFill>
                  <a:srgbClr val="E8EDF2"/>
                </a:solidFill>
                <a:latin typeface="Consolas"/>
              </a:rPr>
              <a:t>score</a:t>
            </a:r>
            <a:r>
              <a:rPr sz="1100" i="0">
                <a:solidFill>
                  <a:srgbClr val="AEB6BF"/>
                </a:solidFill>
                <a:latin typeface="Consolas"/>
              </a:rPr>
              <a:t>(</a:t>
            </a:r>
            <a:r>
              <a:rPr sz="1100" i="0">
                <a:solidFill>
                  <a:srgbClr val="E8EDF2"/>
                </a:solidFill>
                <a:latin typeface="Consolas"/>
              </a:rPr>
              <a:t>X_te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y_te</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3</a:t>
            </a:r>
            <a:r>
              <a:rPr sz="1100" i="0">
                <a:solidFill>
                  <a:srgbClr val="AEB6BF"/>
                </a:solidFill>
                <a:latin typeface="Consolas"/>
              </a:rPr>
              <a:t>)</a:t>
            </a:r>
            <a:r>
              <a:rPr sz="1100" i="0">
                <a:solidFill>
                  <a:srgbClr val="AEB6BF"/>
                </a:solidFill>
                <a:latin typeface="Consolas"/>
              </a:rPr>
              <a:t>)</a:t>
            </a:r>
          </a:p>
          <a:p>
            <a:pPr>
              <a:lnSpc>
                <a:spcPct val="100000"/>
              </a:lnSpc>
              <a:spcAft>
                <a:spcPts val="0"/>
              </a:spcAft>
            </a:pPr>
            <a:r>
              <a:rPr sz="1100" i="0">
                <a:solidFill>
                  <a:srgbClr val="5DADE2"/>
                </a:solidFill>
                <a:latin typeface="Consolas"/>
              </a:rPr>
              <a:t>for</a:t>
            </a:r>
            <a:r>
              <a:rPr sz="1100" i="0">
                <a:solidFill>
                  <a:srgbClr val="E8EDF2"/>
                </a:solidFill>
                <a:latin typeface="Consolas"/>
              </a:rPr>
              <a:t> </a:t>
            </a:r>
            <a:r>
              <a:rPr sz="1100" i="0">
                <a:solidFill>
                  <a:srgbClr val="E8EDF2"/>
                </a:solidFill>
                <a:latin typeface="Consolas"/>
              </a:rPr>
              <a:t>alpha</a:t>
            </a:r>
            <a:r>
              <a:rPr sz="1100" i="0">
                <a:solidFill>
                  <a:srgbClr val="E8EDF2"/>
                </a:solidFill>
                <a:latin typeface="Consolas"/>
              </a:rPr>
              <a:t> </a:t>
            </a:r>
            <a:r>
              <a:rPr sz="1100" i="0">
                <a:solidFill>
                  <a:srgbClr val="AEB6BF"/>
                </a:solidFill>
                <a:latin typeface="Consolas"/>
              </a:rPr>
              <a:t>in</a:t>
            </a:r>
            <a:r>
              <a:rPr sz="1100" i="0">
                <a:solidFill>
                  <a:srgbClr val="E8EDF2"/>
                </a:solidFill>
                <a:latin typeface="Consolas"/>
              </a:rPr>
              <a:t> </a:t>
            </a:r>
            <a:r>
              <a:rPr sz="1100" i="0">
                <a:solidFill>
                  <a:srgbClr val="AEB6BF"/>
                </a:solidFill>
                <a:latin typeface="Consolas"/>
              </a:rPr>
              <a:t>(</a:t>
            </a:r>
            <a:r>
              <a:rPr sz="1100" i="0">
                <a:solidFill>
                  <a:srgbClr val="F7DC6F"/>
                </a:solidFill>
                <a:latin typeface="Consolas"/>
              </a:rPr>
              <a:t>0.0001</a:t>
            </a:r>
            <a:r>
              <a:rPr sz="1100" i="0">
                <a:solidFill>
                  <a:srgbClr val="AEB6BF"/>
                </a:solidFill>
                <a:latin typeface="Consolas"/>
              </a:rPr>
              <a:t>,</a:t>
            </a:r>
            <a:r>
              <a:rPr sz="1100" i="0">
                <a:solidFill>
                  <a:srgbClr val="E8EDF2"/>
                </a:solidFill>
                <a:latin typeface="Consolas"/>
              </a:rPr>
              <a:t> </a:t>
            </a:r>
            <a:r>
              <a:rPr sz="1100" i="0">
                <a:solidFill>
                  <a:srgbClr val="F7DC6F"/>
                </a:solidFill>
                <a:latin typeface="Consolas"/>
              </a:rPr>
              <a:t>1.0</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1">
                <a:solidFill>
                  <a:srgbClr val="8795A1"/>
                </a:solidFill>
                <a:latin typeface="Consolas"/>
              </a:rPr>
              <a:t># weight decay</a:t>
            </a:r>
          </a:p>
          <a:p>
            <a:pPr>
              <a:lnSpc>
                <a:spcPct val="100000"/>
              </a:lnSpc>
              <a:spcAft>
                <a:spcPts val="0"/>
              </a:spcAft>
            </a:pPr>
            <a:r>
              <a:rPr sz="1100" i="0">
                <a:solidFill>
                  <a:srgbClr val="E8EDF2"/>
                </a:solidFill>
                <a:latin typeface="Consolas"/>
              </a:rPr>
              <a:t>    </a:t>
            </a:r>
            <a:r>
              <a:rPr sz="1100" i="0">
                <a:solidFill>
                  <a:srgbClr val="E8EDF2"/>
                </a:solidFill>
                <a:latin typeface="Consolas"/>
              </a:rPr>
              <a:t>net</a:t>
            </a:r>
            <a:r>
              <a:rPr sz="1100" i="0">
                <a:solidFill>
                  <a:srgbClr val="E8EDF2"/>
                </a:solidFill>
                <a:latin typeface="Consolas"/>
              </a:rPr>
              <a:t> </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MLPClassifier</a:t>
            </a:r>
            <a:r>
              <a:rPr sz="1100" i="0">
                <a:solidFill>
                  <a:srgbClr val="AEB6BF"/>
                </a:solidFill>
                <a:latin typeface="Consolas"/>
              </a:rPr>
              <a:t>(</a:t>
            </a:r>
            <a:r>
              <a:rPr sz="1100" i="0">
                <a:solidFill>
                  <a:srgbClr val="E8EDF2"/>
                </a:solidFill>
                <a:latin typeface="Consolas"/>
              </a:rPr>
              <a:t>hidden_layer_sizes</a:t>
            </a:r>
            <a:r>
              <a:rPr sz="1100" i="0">
                <a:solidFill>
                  <a:srgbClr val="AEB6BF"/>
                </a:solidFill>
                <a:latin typeface="Consolas"/>
              </a:rPr>
              <a:t>=</a:t>
            </a:r>
            <a:r>
              <a:rPr sz="1100" i="0">
                <a:solidFill>
                  <a:srgbClr val="AEB6BF"/>
                </a:solidFill>
                <a:latin typeface="Consolas"/>
              </a:rPr>
              <a:t>(</a:t>
            </a:r>
            <a:r>
              <a:rPr sz="1100" i="0">
                <a:solidFill>
                  <a:srgbClr val="F7DC6F"/>
                </a:solidFill>
                <a:latin typeface="Consolas"/>
              </a:rPr>
              <a:t>16</a:t>
            </a:r>
            <a:r>
              <a:rPr sz="1100" i="0">
                <a:solidFill>
                  <a:srgbClr val="AEB6BF"/>
                </a:solidFill>
                <a:latin typeface="Consolas"/>
              </a:rPr>
              <a:t>,</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alpha</a:t>
            </a:r>
            <a:r>
              <a:rPr sz="1100" i="0">
                <a:solidFill>
                  <a:srgbClr val="AEB6BF"/>
                </a:solidFill>
                <a:latin typeface="Consolas"/>
              </a:rPr>
              <a:t>=</a:t>
            </a:r>
            <a:r>
              <a:rPr sz="1100" i="0">
                <a:solidFill>
                  <a:srgbClr val="E8EDF2"/>
                </a:solidFill>
                <a:latin typeface="Consolas"/>
              </a:rPr>
              <a:t>alpha</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E8EDF2"/>
                </a:solidFill>
                <a:latin typeface="Consolas"/>
              </a:rPr>
              <a:t>max_iter</a:t>
            </a:r>
            <a:r>
              <a:rPr sz="1100" i="0">
                <a:solidFill>
                  <a:srgbClr val="AEB6BF"/>
                </a:solidFill>
                <a:latin typeface="Consolas"/>
              </a:rPr>
              <a:t>=</a:t>
            </a:r>
            <a:r>
              <a:rPr sz="1100" i="0">
                <a:solidFill>
                  <a:srgbClr val="F7DC6F"/>
                </a:solidFill>
                <a:latin typeface="Consolas"/>
              </a:rPr>
              <a:t>3000</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random_state</a:t>
            </a:r>
            <a:r>
              <a:rPr sz="1100" i="0">
                <a:solidFill>
                  <a:srgbClr val="AEB6BF"/>
                </a:solidFill>
                <a:latin typeface="Consolas"/>
              </a:rPr>
              <a:t>=</a:t>
            </a:r>
            <a:r>
              <a:rPr sz="1100" i="0">
                <a:solidFill>
                  <a:srgbClr val="F7DC6F"/>
                </a:solidFill>
                <a:latin typeface="Consolas"/>
              </a:rPr>
              <a:t>0</a:t>
            </a:r>
            <a:r>
              <a:rPr sz="1100" i="0">
                <a:solidFill>
                  <a:srgbClr val="AEB6BF"/>
                </a:solidFill>
                <a:latin typeface="Consolas"/>
              </a:rPr>
              <a:t>)</a:t>
            </a:r>
            <a:r>
              <a:rPr sz="1100" i="0">
                <a:solidFill>
                  <a:srgbClr val="AEB6BF"/>
                </a:solidFill>
                <a:latin typeface="Consolas"/>
              </a:rPr>
              <a:t>.</a:t>
            </a:r>
            <a:r>
              <a:rPr sz="1100" i="0">
                <a:solidFill>
                  <a:srgbClr val="E8EDF2"/>
                </a:solidFill>
                <a:latin typeface="Consolas"/>
              </a:rPr>
              <a:t>fit</a:t>
            </a:r>
            <a:r>
              <a:rPr sz="1100" i="0">
                <a:solidFill>
                  <a:srgbClr val="AEB6BF"/>
                </a:solidFill>
                <a:latin typeface="Consolas"/>
              </a:rPr>
              <a:t>(</a:t>
            </a:r>
            <a:r>
              <a:rPr sz="1100" i="0">
                <a:solidFill>
                  <a:srgbClr val="E8EDF2"/>
                </a:solidFill>
                <a:latin typeface="Consolas"/>
              </a:rPr>
              <a:t>X_tr</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y_tr</a:t>
            </a:r>
            <a:r>
              <a:rPr sz="1100" i="0">
                <a:solidFill>
                  <a:srgbClr val="AEB6BF"/>
                </a:solidFill>
                <a:latin typeface="Consolas"/>
              </a:rPr>
              <a:t>)</a:t>
            </a:r>
          </a:p>
          <a:p>
            <a:pPr>
              <a:lnSpc>
                <a:spcPct val="100000"/>
              </a:lnSpc>
              <a:spcAft>
                <a:spcPts val="0"/>
              </a:spcAft>
            </a:pPr>
            <a:r>
              <a:rPr sz="1100" i="0">
                <a:solidFill>
                  <a:srgbClr val="E8EDF2"/>
                </a:solidFill>
                <a:latin typeface="Consolas"/>
              </a:rPr>
              <a:t>    </a:t>
            </a:r>
            <a:r>
              <a:rPr sz="1100" i="0">
                <a:solidFill>
                  <a:srgbClr val="C39BD3"/>
                </a:solidFill>
                <a:latin typeface="Consolas"/>
              </a:rPr>
              <a:t>print</a:t>
            </a:r>
            <a:r>
              <a:rPr sz="1100" i="0">
                <a:solidFill>
                  <a:srgbClr val="AEB6BF"/>
                </a:solidFill>
                <a:latin typeface="Consolas"/>
              </a:rPr>
              <a:t>(</a:t>
            </a:r>
            <a:r>
              <a:rPr sz="1100" i="0">
                <a:solidFill>
                  <a:srgbClr val="7DCEA0"/>
                </a:solidFill>
                <a:latin typeface="Consolas"/>
              </a:rPr>
              <a:t>f</a:t>
            </a:r>
            <a:r>
              <a:rPr sz="1100" i="0">
                <a:solidFill>
                  <a:srgbClr val="7DCEA0"/>
                </a:solidFill>
                <a:latin typeface="Consolas"/>
              </a:rPr>
              <a:t>"</a:t>
            </a:r>
            <a:r>
              <a:rPr sz="1100" i="0">
                <a:solidFill>
                  <a:srgbClr val="7DCEA0"/>
                </a:solidFill>
                <a:latin typeface="Consolas"/>
              </a:rPr>
              <a:t>network, weight decay </a:t>
            </a:r>
            <a:r>
              <a:rPr sz="1100" i="0">
                <a:solidFill>
                  <a:srgbClr val="7DCEA0"/>
                </a:solidFill>
                <a:latin typeface="Consolas"/>
              </a:rPr>
              <a:t>{</a:t>
            </a:r>
            <a:r>
              <a:rPr sz="1100" i="0">
                <a:solidFill>
                  <a:srgbClr val="E8EDF2"/>
                </a:solidFill>
                <a:latin typeface="Consolas"/>
              </a:rPr>
              <a:t>alpha</a:t>
            </a:r>
            <a:r>
              <a:rPr sz="1100" i="0">
                <a:solidFill>
                  <a:srgbClr val="7DCEA0"/>
                </a:solidFill>
                <a:latin typeface="Consolas"/>
              </a:rPr>
              <a:t>:</a:t>
            </a:r>
            <a:r>
              <a:rPr sz="1100" i="0">
                <a:solidFill>
                  <a:srgbClr val="7DCEA0"/>
                </a:solidFill>
                <a:latin typeface="Consolas"/>
              </a:rPr>
              <a:t>g</a:t>
            </a:r>
            <a:r>
              <a:rPr sz="1100" i="0">
                <a:solidFill>
                  <a:srgbClr val="7DCEA0"/>
                </a:solidFill>
                <a:latin typeface="Consolas"/>
              </a:rPr>
              <a:t>}</a:t>
            </a:r>
            <a:r>
              <a:rPr sz="1100" i="0">
                <a:solidFill>
                  <a:srgbClr val="7DCEA0"/>
                </a:solidFill>
                <a:latin typeface="Consolas"/>
              </a:rPr>
              <a:t>: </a:t>
            </a:r>
            <a:r>
              <a:rPr sz="1100" i="0">
                <a:solidFill>
                  <a:srgbClr val="7DCEA0"/>
                </a:solidFill>
                <a:latin typeface="Consolas"/>
              </a:rPr>
              <a:t>{</a:t>
            </a:r>
            <a:r>
              <a:rPr sz="1100" i="0">
                <a:solidFill>
                  <a:srgbClr val="E8EDF2"/>
                </a:solidFill>
                <a:latin typeface="Consolas"/>
              </a:rPr>
              <a:t>net</a:t>
            </a:r>
            <a:r>
              <a:rPr sz="1100" i="0">
                <a:solidFill>
                  <a:srgbClr val="AEB6BF"/>
                </a:solidFill>
                <a:latin typeface="Consolas"/>
              </a:rPr>
              <a:t>.</a:t>
            </a:r>
            <a:r>
              <a:rPr sz="1100" i="0">
                <a:solidFill>
                  <a:srgbClr val="E8EDF2"/>
                </a:solidFill>
                <a:latin typeface="Consolas"/>
              </a:rPr>
              <a:t>n_iter_</a:t>
            </a:r>
            <a:r>
              <a:rPr sz="1100" i="0">
                <a:solidFill>
                  <a:srgbClr val="7DCEA0"/>
                </a:solidFill>
                <a:latin typeface="Consolas"/>
              </a:rPr>
              <a:t>}</a:t>
            </a:r>
            <a:r>
              <a:rPr sz="1100" i="0">
                <a:solidFill>
                  <a:srgbClr val="7DCEA0"/>
                </a:solidFill>
                <a:latin typeface="Consolas"/>
              </a:rPr>
              <a:t> epochs, </a:t>
            </a:r>
            <a:r>
              <a:rPr sz="1100" i="0">
                <a:solidFill>
                  <a:srgbClr val="7DCEA0"/>
                </a:solidFill>
                <a:latin typeface="Consolas"/>
              </a:rPr>
              <a:t>"</a:t>
            </a:r>
          </a:p>
          <a:p>
            <a:pPr>
              <a:lnSpc>
                <a:spcPct val="100000"/>
              </a:lnSpc>
              <a:spcAft>
                <a:spcPts val="0"/>
              </a:spcAft>
            </a:pPr>
            <a:r>
              <a:rPr sz="1100" i="0">
                <a:solidFill>
                  <a:srgbClr val="E8EDF2"/>
                </a:solidFill>
                <a:latin typeface="Consolas"/>
              </a:rPr>
              <a:t>          </a:t>
            </a:r>
            <a:r>
              <a:rPr sz="1100" i="0">
                <a:solidFill>
                  <a:srgbClr val="7DCEA0"/>
                </a:solidFill>
                <a:latin typeface="Consolas"/>
              </a:rPr>
              <a:t>f</a:t>
            </a:r>
            <a:r>
              <a:rPr sz="1100" i="0">
                <a:solidFill>
                  <a:srgbClr val="7DCEA0"/>
                </a:solidFill>
                <a:latin typeface="Consolas"/>
              </a:rPr>
              <a:t>"</a:t>
            </a:r>
            <a:r>
              <a:rPr sz="1100" i="0">
                <a:solidFill>
                  <a:srgbClr val="7DCEA0"/>
                </a:solidFill>
                <a:latin typeface="Consolas"/>
              </a:rPr>
              <a:t>test accuracy </a:t>
            </a:r>
            <a:r>
              <a:rPr sz="1100" i="0">
                <a:solidFill>
                  <a:srgbClr val="7DCEA0"/>
                </a:solidFill>
                <a:latin typeface="Consolas"/>
              </a:rPr>
              <a:t>{</a:t>
            </a:r>
            <a:r>
              <a:rPr sz="1100" i="0">
                <a:solidFill>
                  <a:srgbClr val="E8EDF2"/>
                </a:solidFill>
                <a:latin typeface="Consolas"/>
              </a:rPr>
              <a:t>net</a:t>
            </a:r>
            <a:r>
              <a:rPr sz="1100" i="0">
                <a:solidFill>
                  <a:srgbClr val="AEB6BF"/>
                </a:solidFill>
                <a:latin typeface="Consolas"/>
              </a:rPr>
              <a:t>.</a:t>
            </a:r>
            <a:r>
              <a:rPr sz="1100" i="0">
                <a:solidFill>
                  <a:srgbClr val="E8EDF2"/>
                </a:solidFill>
                <a:latin typeface="Consolas"/>
              </a:rPr>
              <a:t>score</a:t>
            </a:r>
            <a:r>
              <a:rPr sz="1100" i="0">
                <a:solidFill>
                  <a:srgbClr val="AEB6BF"/>
                </a:solidFill>
                <a:latin typeface="Consolas"/>
              </a:rPr>
              <a:t>(</a:t>
            </a:r>
            <a:r>
              <a:rPr sz="1100" i="0">
                <a:solidFill>
                  <a:srgbClr val="E8EDF2"/>
                </a:solidFill>
                <a:latin typeface="Consolas"/>
              </a:rPr>
              <a:t>X_te</a:t>
            </a:r>
            <a:r>
              <a:rPr sz="1100" i="0">
                <a:solidFill>
                  <a:srgbClr val="AEB6BF"/>
                </a:solidFill>
                <a:latin typeface="Consolas"/>
              </a:rPr>
              <a:t>,</a:t>
            </a:r>
            <a:r>
              <a:rPr sz="1100" i="0">
                <a:solidFill>
                  <a:srgbClr val="E8EDF2"/>
                </a:solidFill>
                <a:latin typeface="Consolas"/>
              </a:rPr>
              <a:t> </a:t>
            </a:r>
            <a:r>
              <a:rPr sz="1100" i="0">
                <a:solidFill>
                  <a:srgbClr val="E8EDF2"/>
                </a:solidFill>
                <a:latin typeface="Consolas"/>
              </a:rPr>
              <a:t>y_te</a:t>
            </a:r>
            <a:r>
              <a:rPr sz="1100" i="0">
                <a:solidFill>
                  <a:srgbClr val="AEB6BF"/>
                </a:solidFill>
                <a:latin typeface="Consolas"/>
              </a:rPr>
              <a:t>)</a:t>
            </a:r>
            <a:r>
              <a:rPr sz="1100" i="0">
                <a:solidFill>
                  <a:srgbClr val="7DCEA0"/>
                </a:solidFill>
                <a:latin typeface="Consolas"/>
              </a:rPr>
              <a:t>:</a:t>
            </a:r>
            <a:r>
              <a:rPr sz="1100" i="0">
                <a:solidFill>
                  <a:srgbClr val="7DCEA0"/>
                </a:solidFill>
                <a:latin typeface="Consolas"/>
              </a:rPr>
              <a:t>.3f</a:t>
            </a:r>
            <a:r>
              <a:rPr sz="1100" i="0">
                <a:solidFill>
                  <a:srgbClr val="7DCEA0"/>
                </a:solidFill>
                <a:latin typeface="Consolas"/>
              </a:rPr>
              <a:t>}</a:t>
            </a:r>
            <a:r>
              <a:rPr sz="1100" i="0">
                <a:solidFill>
                  <a:srgbClr val="7DCEA0"/>
                </a:solidFill>
                <a:latin typeface="Consolas"/>
              </a:rPr>
              <a:t>"</a:t>
            </a:r>
            <a:r>
              <a:rPr sz="1100" i="0">
                <a:solidFill>
                  <a:srgbClr val="AEB6BF"/>
                </a:solidFill>
                <a:latin typeface="Consolas"/>
              </a:rPr>
              <a:t>)</a:t>
            </a:r>
          </a:p>
        </p:txBody>
      </p:sp>
      <p:sp>
        <p:nvSpPr>
          <p:cNvPr id="15" name="!!code-num"/>
          <p:cNvSpPr txBox="1"/>
          <p:nvPr/>
        </p:nvSpPr>
        <p:spPr>
          <a:xfrm>
            <a:off x="768096" y="2523744"/>
            <a:ext cx="393192" cy="3462527"/>
          </a:xfrm>
          <a:prstGeom prst="rect">
            <a:avLst/>
          </a:prstGeom>
          <a:noFill/>
        </p:spPr>
        <p:txBody>
          <a:bodyPr wrap="none" anchor="t" lIns="0" rIns="0" tIns="0" bIns="0">
            <a:noAutofit/>
          </a:bodyPr>
          <a:lstStyle/>
          <a:p>
            <a:pPr algn="r">
              <a:lnSpc>
                <a:spcPct val="100000"/>
              </a:lnSpc>
            </a:pPr>
            <a:r>
              <a:rPr sz="1100">
                <a:solidFill>
                  <a:srgbClr val="4F5D6A"/>
                </a:solidFill>
                <a:latin typeface="Consolas"/>
              </a:rPr>
              <a:t>30</a:t>
            </a:r>
          </a:p>
          <a:p>
            <a:pPr algn="r">
              <a:lnSpc>
                <a:spcPct val="100000"/>
              </a:lnSpc>
            </a:pPr>
            <a:r>
              <a:rPr sz="1100">
                <a:solidFill>
                  <a:srgbClr val="4F5D6A"/>
                </a:solidFill>
                <a:latin typeface="Consolas"/>
              </a:rPr>
              <a:t>31</a:t>
            </a:r>
          </a:p>
          <a:p>
            <a:pPr algn="r">
              <a:lnSpc>
                <a:spcPct val="100000"/>
              </a:lnSpc>
            </a:pPr>
            <a:r>
              <a:rPr sz="1100">
                <a:solidFill>
                  <a:srgbClr val="4F5D6A"/>
                </a:solidFill>
                <a:latin typeface="Consolas"/>
              </a:rPr>
              <a:t>32</a:t>
            </a:r>
          </a:p>
          <a:p>
            <a:pPr algn="r">
              <a:lnSpc>
                <a:spcPct val="100000"/>
              </a:lnSpc>
            </a:pPr>
            <a:r>
              <a:rPr sz="1100">
                <a:solidFill>
                  <a:srgbClr val="4F5D6A"/>
                </a:solidFill>
                <a:latin typeface="Consolas"/>
              </a:rPr>
              <a:t>33</a:t>
            </a:r>
          </a:p>
          <a:p>
            <a:pPr algn="r">
              <a:lnSpc>
                <a:spcPct val="100000"/>
              </a:lnSpc>
            </a:pPr>
            <a:r>
              <a:rPr sz="1100">
                <a:solidFill>
                  <a:srgbClr val="4F5D6A"/>
                </a:solidFill>
                <a:latin typeface="Consolas"/>
              </a:rPr>
              <a:t>34</a:t>
            </a:r>
          </a:p>
          <a:p>
            <a:pPr algn="r">
              <a:lnSpc>
                <a:spcPct val="100000"/>
              </a:lnSpc>
            </a:pPr>
            <a:r>
              <a:rPr sz="1100">
                <a:solidFill>
                  <a:srgbClr val="4F5D6A"/>
                </a:solidFill>
                <a:latin typeface="Consolas"/>
              </a:rPr>
              <a:t>35</a:t>
            </a:r>
          </a:p>
          <a:p>
            <a:pPr algn="r">
              <a:lnSpc>
                <a:spcPct val="100000"/>
              </a:lnSpc>
            </a:pPr>
            <a:r>
              <a:rPr sz="1100">
                <a:solidFill>
                  <a:srgbClr val="4F5D6A"/>
                </a:solidFill>
                <a:latin typeface="Consolas"/>
              </a:rPr>
              <a:t>36</a:t>
            </a:r>
          </a:p>
          <a:p>
            <a:pPr algn="r">
              <a:lnSpc>
                <a:spcPct val="100000"/>
              </a:lnSpc>
            </a:pPr>
            <a:r>
              <a:rPr sz="1100">
                <a:solidFill>
                  <a:srgbClr val="4F5D6A"/>
                </a:solidFill>
                <a:latin typeface="Consolas"/>
              </a:rPr>
              <a:t>37</a:t>
            </a:r>
          </a:p>
          <a:p>
            <a:pPr algn="r">
              <a:lnSpc>
                <a:spcPct val="100000"/>
              </a:lnSpc>
            </a:pPr>
            <a:r>
              <a:rPr sz="1100">
                <a:solidFill>
                  <a:srgbClr val="4F5D6A"/>
                </a:solidFill>
                <a:latin typeface="Consolas"/>
              </a:rPr>
              <a:t>38</a:t>
            </a:r>
          </a:p>
          <a:p>
            <a:pPr algn="r">
              <a:lnSpc>
                <a:spcPct val="100000"/>
              </a:lnSpc>
            </a:pPr>
            <a:r>
              <a:rPr sz="1100">
                <a:solidFill>
                  <a:srgbClr val="4F5D6A"/>
                </a:solidFill>
                <a:latin typeface="Consolas"/>
              </a:rPr>
              <a:t>39</a:t>
            </a:r>
          </a:p>
          <a:p>
            <a:pPr algn="r">
              <a:lnSpc>
                <a:spcPct val="100000"/>
              </a:lnSpc>
            </a:pPr>
            <a:r>
              <a:rPr sz="1100">
                <a:solidFill>
                  <a:srgbClr val="4F5D6A"/>
                </a:solidFill>
                <a:latin typeface="Consolas"/>
              </a:rPr>
              <a:t>40</a:t>
            </a:r>
          </a:p>
          <a:p>
            <a:pPr algn="r">
              <a:lnSpc>
                <a:spcPct val="100000"/>
              </a:lnSpc>
            </a:pPr>
            <a:r>
              <a:rPr sz="1100">
                <a:solidFill>
                  <a:srgbClr val="4F5D6A"/>
                </a:solidFill>
                <a:latin typeface="Consolas"/>
              </a:rPr>
              <a:t>41</a:t>
            </a:r>
          </a:p>
          <a:p>
            <a:pPr algn="r">
              <a:lnSpc>
                <a:spcPct val="100000"/>
              </a:lnSpc>
            </a:pPr>
            <a:r>
              <a:rPr sz="1100">
                <a:solidFill>
                  <a:srgbClr val="4F5D6A"/>
                </a:solidFill>
                <a:latin typeface="Consolas"/>
              </a:rPr>
              <a:t>42</a:t>
            </a:r>
          </a:p>
          <a:p>
            <a:pPr algn="r">
              <a:lnSpc>
                <a:spcPct val="100000"/>
              </a:lnSpc>
            </a:pPr>
            <a:r>
              <a:rPr sz="1100">
                <a:solidFill>
                  <a:srgbClr val="4F5D6A"/>
                </a:solidFill>
                <a:latin typeface="Consolas"/>
              </a:rPr>
              <a:t>43</a:t>
            </a:r>
          </a:p>
          <a:p>
            <a:pPr algn="r">
              <a:lnSpc>
                <a:spcPct val="100000"/>
              </a:lnSpc>
            </a:pPr>
            <a:r>
              <a:rPr sz="1100">
                <a:solidFill>
                  <a:srgbClr val="4F5D6A"/>
                </a:solidFill>
                <a:latin typeface="Consolas"/>
              </a:rPr>
              <a:t>44</a:t>
            </a:r>
          </a:p>
          <a:p>
            <a:pPr algn="r">
              <a:lnSpc>
                <a:spcPct val="100000"/>
              </a:lnSpc>
            </a:pPr>
            <a:r>
              <a:rPr sz="1100">
                <a:solidFill>
                  <a:srgbClr val="4F5D6A"/>
                </a:solidFill>
                <a:latin typeface="Consolas"/>
              </a:rPr>
              <a:t>45</a:t>
            </a:r>
          </a:p>
          <a:p>
            <a:pPr algn="r">
              <a:lnSpc>
                <a:spcPct val="100000"/>
              </a:lnSpc>
            </a:pPr>
            <a:r>
              <a:rPr sz="1100">
                <a:solidFill>
                  <a:srgbClr val="4F5D6A"/>
                </a:solidFill>
                <a:latin typeface="Consolas"/>
              </a:rPr>
              <a:t>46</a:t>
            </a:r>
          </a:p>
          <a:p>
            <a:pPr algn="r">
              <a:lnSpc>
                <a:spcPct val="100000"/>
              </a:lnSpc>
            </a:pPr>
            <a:r>
              <a:rPr sz="1100">
                <a:solidFill>
                  <a:srgbClr val="4F5D6A"/>
                </a:solidFill>
                <a:latin typeface="Consolas"/>
              </a:rPr>
              <a:t>47</a:t>
            </a:r>
          </a:p>
          <a:p>
            <a:pPr algn="r">
              <a:lnSpc>
                <a:spcPct val="100000"/>
              </a:lnSpc>
            </a:pPr>
            <a:r>
              <a:rPr sz="1100">
                <a:solidFill>
                  <a:srgbClr val="4F5D6A"/>
                </a:solidFill>
                <a:latin typeface="Consolas"/>
              </a:rPr>
              <a:t>48</a:t>
            </a:r>
          </a:p>
          <a:p>
            <a:pPr algn="r">
              <a:lnSpc>
                <a:spcPct val="100000"/>
              </a:lnSpc>
            </a:pPr>
            <a:r>
              <a:rPr sz="1100">
                <a:solidFill>
                  <a:srgbClr val="4F5D6A"/>
                </a:solidFill>
                <a:latin typeface="Consolas"/>
              </a:rPr>
              <a:t>49</a:t>
            </a:r>
          </a:p>
        </p:txBody>
      </p:sp>
      <p:sp>
        <p:nvSpPr>
          <p:cNvPr id="16"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pfill">
            <a:extLst>
              <a:ext uri="{C183D7F6-B498-43B3-948B-1728B52AA6E4}">
                <adec:decorative xmlns:adec="http://schemas.microsoft.com/office/drawing/2017/decorative" val="1"/>
              </a:ext>
            </a:extLst>
          </p:cNvPr>
          <p:cNvSpPr/>
          <p:nvPr/>
        </p:nvSpPr>
        <p:spPr>
          <a:xfrm>
            <a:off x="0" y="0"/>
            <a:ext cx="8505833"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00">
        <p159:morph option="byObject"/>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the lab shows</a:t>
            </a:r>
          </a:p>
        </p:txBody>
      </p:sp>
      <p:pic>
        <p:nvPicPr>
          <p:cNvPr id="3" name="!!kicker-icon" descr="flask-117A65.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92583"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17A65"/>
                </a:solidFill>
                <a:latin typeface="Segoe UI"/>
              </a:rPr>
              <a:t>TRY IT YOURSELF</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§13.7  ·  Handout p. 99     </a:t>
            </a:r>
            <a:fld id="{53D7B34D-A7D0-4DFE-A5D1-2FB31FE3093A}" type="slidenum">
              <a:rPr lang="en-GB" sz="1000">
                <a:solidFill>
                  <a:srgbClr val="8795A1"/>
                </a:solidFill>
                <a:latin typeface="Segoe UI"/>
              </a:rPr>
              <a:t>31</a:t>
            </a:fld>
          </a:p>
        </p:txBody>
      </p:sp>
      <p:sp>
        <p:nvSpPr>
          <p:cNvPr id="7" name="!!card">
            <a:extLst>
              <a:ext uri="{C183D7F6-B498-43B3-948B-1728B52AA6E4}">
                <adec:decorative xmlns:adec="http://schemas.microsoft.com/office/drawing/2017/decorative" val="1"/>
              </a:ext>
            </a:extLst>
          </p:cNvPr>
          <p:cNvSpPr/>
          <p:nvPr/>
        </p:nvSpPr>
        <p:spPr>
          <a:xfrm>
            <a:off x="658368" y="1737360"/>
            <a:ext cx="10874959" cy="3173577"/>
          </a:xfrm>
          <a:prstGeom prst="roundRect">
            <a:avLst>
              <a:gd name="adj" fmla="val 2881"/>
            </a:avLst>
          </a:prstGeom>
          <a:solidFill>
            <a:srgbClr val="EEF6F4"/>
          </a:solidFill>
          <a:ln>
            <a:noFill/>
          </a:ln>
          <a:effectLst>
            <a:outerShdw blurRad="127000" dist="25400" dir="5400000" algn="t" rotWithShape="0">
              <a:srgbClr val="1C252B">
                <a:alpha val="10000"/>
              </a:srgbClr>
            </a:outerShdw>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cardrule">
            <a:extLst>
              <a:ext uri="{C183D7F6-B498-43B3-948B-1728B52AA6E4}">
                <adec:decorative xmlns:adec="http://schemas.microsoft.com/office/drawing/2017/decorative" val="1"/>
              </a:ext>
            </a:extLst>
          </p:cNvPr>
          <p:cNvSpPr/>
          <p:nvPr/>
        </p:nvSpPr>
        <p:spPr>
          <a:xfrm>
            <a:off x="658368" y="1737360"/>
            <a:ext cx="82296" cy="3173577"/>
          </a:xfrm>
          <a:prstGeom prst="rect">
            <a:avLst/>
          </a:prstGeom>
          <a:solidFill>
            <a:srgbClr val="117A6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body-0"/>
          <p:cNvSpPr txBox="1"/>
          <p:nvPr/>
        </p:nvSpPr>
        <p:spPr>
          <a:xfrm>
            <a:off x="1060704" y="2048255"/>
            <a:ext cx="10161727" cy="2597505"/>
          </a:xfrm>
          <a:prstGeom prst="rect">
            <a:avLst/>
          </a:prstGeom>
          <a:noFill/>
        </p:spPr>
        <p:txBody>
          <a:bodyPr wrap="square" anchor="t" lIns="0" rIns="0" tIns="0" bIns="0">
            <a:noAutofit/>
          </a:bodyPr>
          <a:lstStyle/>
          <a:p>
            <a:pPr algn="l">
              <a:lnSpc>
                <a:spcPct val="104000"/>
              </a:lnSpc>
              <a:spcBef>
                <a:spcPts val="0"/>
              </a:spcBef>
              <a:spcAft>
                <a:spcPts val="0"/>
              </a:spcAft>
            </a:pPr>
            <a:r>
              <a:rPr sz="2300" b="0" i="0">
                <a:solidFill>
                  <a:srgbClr val="1C252B"/>
                </a:solidFill>
                <a:latin typeface="Segoe UI"/>
              </a:rPr>
              <a:t>In part 2 a project runs late when its team is far from the size its scope needs — understaffed, or so overstaffed that coordination swamps the work (Brooks’s law). The late projects lie on </a:t>
            </a:r>
            <a:r>
              <a:rPr sz="2300" b="0" i="1">
                <a:solidFill>
                  <a:srgbClr val="1C252B"/>
                </a:solidFill>
                <a:latin typeface="Segoe UI"/>
              </a:rPr>
              <a:t>both</a:t>
            </a:r>
            <a:r>
              <a:rPr sz="2300" b="0" i="0">
                <a:solidFill>
                  <a:srgbClr val="1C252B"/>
                </a:solidFill>
                <a:latin typeface="Segoe UI"/>
              </a:rPr>
              <a:t> sides of a diagonal band, so no single line separates them: logistic regression manages 0.56, barely better than a coin, while the network finds the band and scores 0.90. Now add </a:t>
            </a:r>
            <a:r>
              <a:rPr sz="2150" b="0" i="0">
                <a:solidFill>
                  <a:srgbClr val="1F4E79"/>
                </a:solidFill>
                <a:latin typeface="Consolas"/>
              </a:rPr>
              <a:t>early_stopping=True</a:t>
            </a:r>
            <a:r>
              <a:rPr sz="2300" b="0" i="0">
                <a:solidFill>
                  <a:srgbClr val="1C252B"/>
                </a:solidFill>
                <a:latin typeface="Segoe UI"/>
              </a:rPr>
              <a:t> to the network and explain why accuracy </a:t>
            </a:r>
            <a:r>
              <a:rPr sz="2300" b="0" i="1">
                <a:solidFill>
                  <a:srgbClr val="1C252B"/>
                </a:solidFill>
                <a:latin typeface="Segoe UI"/>
              </a:rPr>
              <a:t>falls</a:t>
            </a:r>
            <a:r>
              <a:rPr sz="2300" b="0" i="0">
                <a:solidFill>
                  <a:srgbClr val="1C252B"/>
                </a:solidFill>
                <a:latin typeface="Segoe UI"/>
              </a:rPr>
              <a:t> so sharply.</a:t>
            </a:r>
          </a:p>
        </p:txBody>
      </p:sp>
      <p:sp>
        <p:nvSpPr>
          <p:cNvPr id="1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pfill">
            <a:extLst>
              <a:ext uri="{C183D7F6-B498-43B3-948B-1728B52AA6E4}">
                <adec:decorative xmlns:adec="http://schemas.microsoft.com/office/drawing/2017/decorative" val="1"/>
              </a:ext>
            </a:extLst>
          </p:cNvPr>
          <p:cNvSpPr/>
          <p:nvPr/>
        </p:nvSpPr>
        <p:spPr>
          <a:xfrm>
            <a:off x="0" y="0"/>
            <a:ext cx="878936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A perceptron has </a:t>
            </a:r>
            <a:r>
              <a:rPr sz="3400" b="0" i="1">
                <a:solidFill>
                  <a:srgbClr val="FFFFFF"/>
                </a:solidFill>
                <a:latin typeface="Cambria"/>
              </a:rPr>
              <a:t>w</a:t>
            </a:r>
            <a:r>
              <a:rPr sz="3400" b="0" i="0" baseline="-25000">
                <a:solidFill>
                  <a:srgbClr val="FFFFFF"/>
                </a:solidFill>
                <a:latin typeface="Cambria"/>
              </a:rPr>
              <a:t>0</a:t>
            </a:r>
            <a:r>
              <a:rPr sz="3400" b="0" i="0">
                <a:solidFill>
                  <a:srgbClr val="FFFFFF"/>
                </a:solidFill>
                <a:latin typeface="Cambria"/>
              </a:rPr>
              <a:t> = −1</a:t>
            </a:r>
            <a:r>
              <a:rPr sz="3400" b="0" i="0">
                <a:solidFill>
                  <a:srgbClr val="FFFFFF"/>
                </a:solidFill>
                <a:latin typeface="Segoe UI Semibold"/>
              </a:rPr>
              <a:t>, </a:t>
            </a:r>
            <a:r>
              <a:rPr sz="3400" b="0" i="1">
                <a:solidFill>
                  <a:srgbClr val="FFFFFF"/>
                </a:solidFill>
                <a:latin typeface="Cambria"/>
              </a:rPr>
              <a:t>w</a:t>
            </a:r>
            <a:r>
              <a:rPr sz="3400" b="0" i="0" baseline="-25000">
                <a:solidFill>
                  <a:srgbClr val="FFFFFF"/>
                </a:solidFill>
                <a:latin typeface="Cambria"/>
              </a:rPr>
              <a:t>1</a:t>
            </a:r>
            <a:r>
              <a:rPr sz="3400" b="0" i="0">
                <a:solidFill>
                  <a:srgbClr val="FFFFFF"/>
                </a:solidFill>
                <a:latin typeface="Cambria"/>
              </a:rPr>
              <a:t> = 2</a:t>
            </a:r>
            <a:r>
              <a:rPr sz="3400" b="0" i="0">
                <a:solidFill>
                  <a:srgbClr val="FFFFFF"/>
                </a:solidFill>
                <a:latin typeface="Segoe UI Semibold"/>
              </a:rPr>
              <a:t>, </a:t>
            </a:r>
            <a:r>
              <a:rPr sz="3400" b="0" i="1">
                <a:solidFill>
                  <a:srgbClr val="FFFFFF"/>
                </a:solidFill>
                <a:latin typeface="Cambria"/>
              </a:rPr>
              <a:t>w</a:t>
            </a:r>
            <a:r>
              <a:rPr sz="3400" b="0" i="0" baseline="-25000">
                <a:solidFill>
                  <a:srgbClr val="FFFFFF"/>
                </a:solidFill>
                <a:latin typeface="Cambria"/>
              </a:rPr>
              <a:t>2</a:t>
            </a:r>
            <a:r>
              <a:rPr sz="3400" b="0" i="0">
                <a:solidFill>
                  <a:srgbClr val="FFFFFF"/>
                </a:solidFill>
                <a:latin typeface="Cambria"/>
              </a:rPr>
              <a:t> = 1</a:t>
            </a:r>
            <a:r>
              <a:rPr sz="3400" b="0" i="0">
                <a:solidFill>
                  <a:srgbClr val="FFFFFF"/>
                </a:solidFill>
                <a:latin typeface="Segoe UI Semibold"/>
              </a:rPr>
              <a:t>. What does it output for </a:t>
            </a:r>
            <a:r>
              <a:rPr sz="3400" b="0" i="0">
                <a:solidFill>
                  <a:srgbClr val="FFFFFF"/>
                </a:solidFill>
                <a:latin typeface="Cambria"/>
              </a:rPr>
              <a:t>(0, 1)</a:t>
            </a:r>
            <a:r>
              <a:rPr sz="3400" b="0" i="0">
                <a:solidFill>
                  <a:srgbClr val="FFFFFF"/>
                </a:solidFill>
                <a:latin typeface="Segoe UI Semibold"/>
              </a:rPr>
              <a:t> and </a:t>
            </a:r>
            <a:r>
              <a:rPr sz="3400" b="0" i="0">
                <a:solidFill>
                  <a:srgbClr val="FFFFFF"/>
                </a:solidFill>
                <a:latin typeface="Cambria"/>
              </a:rPr>
              <a:t>(1, 0)</a:t>
            </a:r>
            <a:r>
              <a:rPr sz="3400" b="0" i="0">
                <a:solidFill>
                  <a:srgbClr val="FFFFFF"/>
                </a:solidFill>
                <a:latin typeface="Segoe UI Semibold"/>
              </a:rPr>
              <a: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1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13  ·  Artificial Neural Networks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102  ·  answers in Appendix D     </a:t>
            </a:r>
            <a:fld id="{7FE14365-45C0-48AD-BB99-B0D3F98E2E6F}" type="slidenum">
              <a:rPr lang="en-GB" sz="1000">
                <a:solidFill>
                  <a:srgbClr val="D5DEE5"/>
                </a:solidFill>
                <a:latin typeface="Segoe UI"/>
              </a:rPr>
              <a:t>32</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A perceptron has </a:t>
            </a:r>
            <a:r>
              <a:rPr sz="2400" b="0" i="1">
                <a:solidFill>
                  <a:srgbClr val="1A5276"/>
                </a:solidFill>
                <a:latin typeface="Cambria"/>
              </a:rPr>
              <a:t>w</a:t>
            </a:r>
            <a:r>
              <a:rPr sz="2400" b="0" i="0" baseline="-25000">
                <a:solidFill>
                  <a:srgbClr val="1A5276"/>
                </a:solidFill>
                <a:latin typeface="Cambria"/>
              </a:rPr>
              <a:t>0</a:t>
            </a:r>
            <a:r>
              <a:rPr sz="2400" b="0" i="0">
                <a:solidFill>
                  <a:srgbClr val="1A5276"/>
                </a:solidFill>
                <a:latin typeface="Cambria"/>
              </a:rPr>
              <a:t> = −1</a:t>
            </a:r>
            <a:r>
              <a:rPr sz="2400" b="0" i="0">
                <a:solidFill>
                  <a:srgbClr val="1A5276"/>
                </a:solidFill>
                <a:latin typeface="Segoe UI Semibold"/>
              </a:rPr>
              <a:t>, </a:t>
            </a:r>
            <a:r>
              <a:rPr sz="2400" b="0" i="1">
                <a:solidFill>
                  <a:srgbClr val="1A5276"/>
                </a:solidFill>
                <a:latin typeface="Cambria"/>
              </a:rPr>
              <a:t>w</a:t>
            </a:r>
            <a:r>
              <a:rPr sz="2400" b="0" i="0" baseline="-25000">
                <a:solidFill>
                  <a:srgbClr val="1A5276"/>
                </a:solidFill>
                <a:latin typeface="Cambria"/>
              </a:rPr>
              <a:t>1</a:t>
            </a:r>
            <a:r>
              <a:rPr sz="2400" b="0" i="0">
                <a:solidFill>
                  <a:srgbClr val="1A5276"/>
                </a:solidFill>
                <a:latin typeface="Cambria"/>
              </a:rPr>
              <a:t> = 2</a:t>
            </a:r>
            <a:r>
              <a:rPr sz="2400" b="0" i="0">
                <a:solidFill>
                  <a:srgbClr val="1A5276"/>
                </a:solidFill>
                <a:latin typeface="Segoe UI Semibold"/>
              </a:rPr>
              <a:t>, </a:t>
            </a:r>
            <a:r>
              <a:rPr sz="2400" b="0" i="1">
                <a:solidFill>
                  <a:srgbClr val="1A5276"/>
                </a:solidFill>
                <a:latin typeface="Cambria"/>
              </a:rPr>
              <a:t>w</a:t>
            </a:r>
            <a:r>
              <a:rPr sz="2400" b="0" i="0" baseline="-25000">
                <a:solidFill>
                  <a:srgbClr val="1A5276"/>
                </a:solidFill>
                <a:latin typeface="Cambria"/>
              </a:rPr>
              <a:t>2</a:t>
            </a:r>
            <a:r>
              <a:rPr sz="2400" b="0" i="0">
                <a:solidFill>
                  <a:srgbClr val="1A5276"/>
                </a:solidFill>
                <a:latin typeface="Cambria"/>
              </a:rPr>
              <a:t> = 1</a:t>
            </a:r>
            <a:r>
              <a:rPr sz="2400" b="0" i="0">
                <a:solidFill>
                  <a:srgbClr val="1A5276"/>
                </a:solidFill>
                <a:latin typeface="Segoe UI Semibold"/>
              </a:rPr>
              <a:t>. What does it output for </a:t>
            </a:r>
            <a:r>
              <a:rPr sz="2400" b="0" i="0">
                <a:solidFill>
                  <a:srgbClr val="1A5276"/>
                </a:solidFill>
                <a:latin typeface="Cambria"/>
              </a:rPr>
              <a:t>(0, 1)</a:t>
            </a:r>
            <a:r>
              <a:rPr sz="2400" b="0" i="0">
                <a:solidFill>
                  <a:srgbClr val="1A5276"/>
                </a:solidFill>
                <a:latin typeface="Segoe UI Semibold"/>
              </a:rPr>
              <a:t> and </a:t>
            </a:r>
            <a:r>
              <a:rPr sz="2400" b="0" i="0">
                <a:solidFill>
                  <a:srgbClr val="1A5276"/>
                </a:solidFill>
                <a:latin typeface="Cambria"/>
              </a:rPr>
              <a:t>(1, 0)</a:t>
            </a:r>
            <a:r>
              <a:rPr sz="2400" b="0" i="0">
                <a:solidFill>
                  <a:srgbClr val="1A5276"/>
                </a:solidFill>
                <a:latin typeface="Segoe UI Semibold"/>
              </a:rPr>
              <a: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1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697382"/>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743102"/>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Cambria"/>
              </a:rPr>
              <a:t>(0, 1)</a:t>
            </a:r>
            <a:r>
              <a:rPr sz="2200" b="0" i="0">
                <a:solidFill>
                  <a:srgbClr val="1C252B"/>
                </a:solidFill>
                <a:latin typeface="Segoe UI"/>
              </a:rPr>
              <a:t>: </a:t>
            </a:r>
            <a:r>
              <a:rPr sz="2200" b="0" i="0">
                <a:solidFill>
                  <a:srgbClr val="1C252B"/>
                </a:solidFill>
                <a:latin typeface="Cambria"/>
              </a:rPr>
              <a:t>−1 + 0 + 1 = 0</a:t>
            </a:r>
            <a:r>
              <a:rPr sz="2200" b="0" i="0">
                <a:solidFill>
                  <a:srgbClr val="1C252B"/>
                </a:solidFill>
                <a:latin typeface="Segoe UI"/>
              </a:rPr>
              <a:t>, not greater than 0, so output 0. </a:t>
            </a:r>
            <a:r>
              <a:rPr sz="2200" b="0" i="0">
                <a:solidFill>
                  <a:srgbClr val="1C252B"/>
                </a:solidFill>
                <a:latin typeface="Cambria"/>
              </a:rPr>
              <a:t>(1, 0)</a:t>
            </a:r>
            <a:r>
              <a:rPr sz="2200" b="0" i="0">
                <a:solidFill>
                  <a:srgbClr val="1C252B"/>
                </a:solidFill>
                <a:latin typeface="Segoe UI"/>
              </a:rPr>
              <a:t>: </a:t>
            </a:r>
            <a:r>
              <a:rPr sz="2200" b="0" i="0">
                <a:solidFill>
                  <a:srgbClr val="1C252B"/>
                </a:solidFill>
                <a:latin typeface="Cambria"/>
              </a:rPr>
              <a:t>−1 + 2 + 0 = 1 &gt; 0</a:t>
            </a:r>
            <a:r>
              <a:rPr sz="2200" b="0" i="0">
                <a:solidFill>
                  <a:srgbClr val="1C252B"/>
                </a:solidFill>
                <a:latin typeface="Segoe UI"/>
              </a:rPr>
              <a:t>, so output 1.</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102  ·  answers in Appendix D     </a:t>
            </a:r>
            <a:fld id="{81C39451-AC56-4331-A605-46F2DE292708}" type="slidenum">
              <a:rPr lang="en-GB" sz="1000">
                <a:solidFill>
                  <a:srgbClr val="8795A1"/>
                </a:solidFill>
                <a:latin typeface="Segoe UI"/>
              </a:rPr>
              <a:t>33</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35641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Why can a single perceptron not learn XOR, and how does one hidden layer fix it?</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2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13  ·  Artificial Neural Networks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102  ·  answers in Appendix D     </a:t>
            </a:r>
            <a:fld id="{706E2EFD-9CC7-4656-8749-D07AA7FD3CC1}" type="slidenum">
              <a:rPr lang="en-GB" sz="1000">
                <a:solidFill>
                  <a:srgbClr val="D5DEE5"/>
                </a:solidFill>
                <a:latin typeface="Segoe UI"/>
              </a:rPr>
              <a:t>34</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Why can a single perceptron not learn XOR, and how does one hidden layer fix it?</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2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6073"/>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ans-0"/>
          <p:cNvSpPr txBox="1"/>
          <p:nvPr/>
        </p:nvSpPr>
        <p:spPr>
          <a:xfrm>
            <a:off x="987552" y="1762963"/>
            <a:ext cx="10509199" cy="1091793"/>
          </a:xfrm>
          <a:prstGeom prst="rect">
            <a:avLst/>
          </a:prstGeom>
          <a:noFill/>
        </p:spPr>
        <p:txBody>
          <a:bodyPr wrap="square" anchor="t" lIns="0" rIns="0" tIns="0" bIns="0">
            <a:noAutofit/>
          </a:bodyPr>
          <a:lstStyle/>
          <a:p>
            <a:pPr algn="l">
              <a:lnSpc>
                <a:spcPct val="104000"/>
              </a:lnSpc>
              <a:spcBef>
                <a:spcPts val="0"/>
              </a:spcBef>
              <a:spcAft>
                <a:spcPts val="0"/>
              </a:spcAft>
            </a:pPr>
            <a:r>
              <a:rPr sz="2200" b="0" i="0">
                <a:solidFill>
                  <a:srgbClr val="1C252B"/>
                </a:solidFill>
                <a:latin typeface="Segoe UI"/>
              </a:rPr>
              <a:t>XOR’s positive and negative points lie on opposite diagonals; no single line separates them. A hidden layer with one unit for OR and one for NAND, combined by an AND output unit, represents it.</a:t>
            </a:r>
          </a:p>
        </p:txBody>
      </p:sp>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102  ·  answers in Appendix D     </a:t>
            </a:r>
            <a:fld id="{144B5E7C-7330-4C01-9C6E-3CC4E03EB14A}" type="slidenum">
              <a:rPr lang="en-GB" sz="1000">
                <a:solidFill>
                  <a:srgbClr val="8795A1"/>
                </a:solidFill>
                <a:latin typeface="Segoe UI"/>
              </a:rPr>
              <a:t>35</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9923472"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236694"/>
        </a:solidFill>
        <a:effectLst/>
      </p:bgPr>
    </p:bg>
    <p:spTree>
      <p:nvGrpSpPr>
        <p:cNvPr id="1" name=""/>
        <p:cNvGrpSpPr/>
        <p:nvPr/>
      </p:nvGrpSpPr>
      <p:grpSpPr/>
      <p:sp>
        <p:nvSpPr>
          <p:cNvPr id="2" name="!!q"/>
          <p:cNvSpPr>
            <a:spLocks noGrp="1"/>
          </p:cNvSpPr>
          <p:nvPr>
            <p:ph type="title"/>
          </p:nvPr>
        </p:nvSpPr>
        <p:spPr>
          <a:xfrm>
            <a:off x="658368" y="2011680"/>
            <a:ext cx="10874959" cy="3017520"/>
          </a:xfrm>
        </p:spPr>
        <p:txBody>
          <a:bodyPr wrap="square" lIns="0" rIns="0" tIns="0" bIns="0" anchor="t">
            <a:noAutofit/>
          </a:bodyPr>
          <a:lstStyle/>
          <a:p>
            <a:pPr algn="l">
              <a:lnSpc>
                <a:spcPct val="96000"/>
              </a:lnSpc>
            </a:pPr>
            <a:r>
              <a:rPr sz="3400" b="0" i="0">
                <a:solidFill>
                  <a:srgbClr val="FFFFFF"/>
                </a:solidFill>
                <a:latin typeface="Segoe UI Semibold"/>
              </a:rPr>
              <a:t>In backpropagation, why does the hidden unit’s delta contain the output unit’s delta?</a:t>
            </a:r>
          </a:p>
        </p:txBody>
      </p:sp>
      <p:pic>
        <p:nvPicPr>
          <p:cNvPr id="3" name="!!qicon" descr="question-circle-FFFFFF.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1298448"/>
            <a:ext cx="396772" cy="384048"/>
          </a:xfrm>
          <a:prstGeom prst="rect">
            <a:avLst/>
          </a:prstGeom>
        </p:spPr>
      </p:pic>
      <p:sp>
        <p:nvSpPr>
          <p:cNvPr id="4" name="!!qlab"/>
          <p:cNvSpPr txBox="1"/>
          <p:nvPr/>
        </p:nvSpPr>
        <p:spPr>
          <a:xfrm>
            <a:off x="1225295" y="1344168"/>
            <a:ext cx="7315200" cy="310896"/>
          </a:xfrm>
          <a:prstGeom prst="rect">
            <a:avLst/>
          </a:prstGeom>
          <a:noFill/>
        </p:spPr>
        <p:txBody>
          <a:bodyPr wrap="square" anchor="t" lIns="0" rIns="0" tIns="0" bIns="0">
            <a:noAutofit/>
          </a:bodyPr>
          <a:lstStyle/>
          <a:p>
            <a:pPr algn="l">
              <a:lnSpc>
                <a:spcPct val="100000"/>
              </a:lnSpc>
              <a:spcBef>
                <a:spcPts val="0"/>
              </a:spcBef>
              <a:spcAft>
                <a:spcPts val="0"/>
              </a:spcAft>
            </a:pPr>
            <a:r>
              <a:rPr sz="1400" b="1" i="0" spc="200">
                <a:solidFill>
                  <a:srgbClr val="BDD1DF"/>
                </a:solidFill>
                <a:latin typeface="Segoe UI"/>
              </a:rPr>
              <a:t>CHECKPOINT  3 OF 3</a:t>
            </a:r>
          </a:p>
        </p:txBody>
      </p:sp>
      <p:sp>
        <p:nvSpPr>
          <p:cNvPr id="5" name="!!qhint"/>
          <p:cNvSpPr txBox="1"/>
          <p:nvPr/>
        </p:nvSpPr>
        <p:spPr>
          <a:xfrm>
            <a:off x="658368" y="5760720"/>
            <a:ext cx="10874959" cy="310896"/>
          </a:xfrm>
          <a:prstGeom prst="rect">
            <a:avLst/>
          </a:prstGeom>
          <a:noFill/>
        </p:spPr>
        <p:txBody>
          <a:bodyPr wrap="square" anchor="t" lIns="0" rIns="0" tIns="0" bIns="0">
            <a:noAutofit/>
          </a:bodyPr>
          <a:lstStyle/>
          <a:p>
            <a:pPr algn="l">
              <a:lnSpc>
                <a:spcPct val="100000"/>
              </a:lnSpc>
              <a:spcBef>
                <a:spcPts val="0"/>
              </a:spcBef>
              <a:spcAft>
                <a:spcPts val="0"/>
              </a:spcAft>
            </a:pPr>
            <a:r>
              <a:rPr sz="1400" b="0" i="1">
                <a:solidFill>
                  <a:srgbClr val="9CBACF"/>
                </a:solidFill>
                <a:latin typeface="Segoe UI"/>
              </a:rPr>
              <a:t>Discuss with the person next to you, then advance.</a:t>
            </a:r>
          </a:p>
        </p:txBody>
      </p:sp>
      <p:sp>
        <p:nvSpPr>
          <p:cNvPr id="6"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13  ·  Artificial Neural Networks</a:t>
            </a:r>
          </a:p>
        </p:txBody>
      </p:sp>
      <p:sp>
        <p:nvSpPr>
          <p:cNvPr id="7"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B9C6D0"/>
                </a:solidFill>
                <a:latin typeface="Segoe UI"/>
              </a:rPr>
              <a:t>Handout p. 102  ·  answers in Appendix D     </a:t>
            </a:r>
            <a:fld id="{2404A35B-E3F9-42DD-B933-2E3BFA37060D}" type="slidenum">
              <a:rPr lang="en-GB" sz="1000">
                <a:solidFill>
                  <a:srgbClr val="D5DEE5"/>
                </a:solidFill>
                <a:latin typeface="Segoe UI"/>
              </a:rPr>
              <a:t>36</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q"/>
          <p:cNvSpPr>
            <a:spLocks noGrp="1"/>
          </p:cNvSpPr>
          <p:nvPr>
            <p:ph type="title"/>
          </p:nvPr>
        </p:nvSpPr>
        <p:spPr>
          <a:xfrm>
            <a:off x="658368" y="676656"/>
            <a:ext cx="10874959" cy="747979"/>
          </a:xfrm>
        </p:spPr>
        <p:txBody>
          <a:bodyPr wrap="square" lIns="0" rIns="0" tIns="0" bIns="0" anchor="t">
            <a:noAutofit/>
          </a:bodyPr>
          <a:lstStyle/>
          <a:p>
            <a:pPr algn="l">
              <a:lnSpc>
                <a:spcPct val="96000"/>
              </a:lnSpc>
            </a:pPr>
            <a:r>
              <a:rPr sz="2400" b="0" i="0">
                <a:solidFill>
                  <a:srgbClr val="1A5276"/>
                </a:solidFill>
                <a:latin typeface="Segoe UI Semibold"/>
              </a:rPr>
              <a:t>In backpropagation, why does the hidden unit’s delta contain the output unit’s delta?</a:t>
            </a:r>
          </a:p>
        </p:txBody>
      </p:sp>
      <p:pic>
        <p:nvPicPr>
          <p:cNvPr id="3" name="!!kicker-icon" descr="check-256B9A.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90630"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256B9A"/>
                </a:solidFill>
                <a:latin typeface="Segoe UI"/>
              </a:rPr>
              <a:t>CHECKPOINT 3 OF 3  ·  ANSWER</a:t>
            </a:r>
          </a:p>
        </p:txBody>
      </p:sp>
      <p:sp>
        <p:nvSpPr>
          <p:cNvPr id="5" name="!!abar">
            <a:extLst>
              <a:ext uri="{C183D7F6-B498-43B3-948B-1728B52AA6E4}">
                <adec:decorative xmlns:adec="http://schemas.microsoft.com/office/drawing/2017/decorative" val="1"/>
              </a:ext>
            </a:extLst>
          </p:cNvPr>
          <p:cNvSpPr/>
          <p:nvPr/>
        </p:nvSpPr>
        <p:spPr>
          <a:xfrm>
            <a:off x="658368" y="1762963"/>
            <a:ext cx="64008" cy="1043879"/>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pic>
        <p:nvPicPr>
          <p:cNvPr id="6" name="!!ans-0" descr="A hidden unit affects the error only through the output units it feeds, so by the chain rule its share of the blame is the output deltas weighted by its connections to them: δh = oh(1 − oh)Σk wkhδk."/>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987552" y="1762963"/>
            <a:ext cx="10509199" cy="1043879"/>
          </a:xfrm>
          <a:prstGeom prst="rect">
            <a:avLst/>
          </a:prstGeom>
        </p:spPr>
      </p:pic>
      <p:sp>
        <p:nvSpPr>
          <p:cNvPr id="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8"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102  ·  answers in Appendix D     </a:t>
            </a:r>
            <a:fld id="{B96C13C4-6F88-47DC-AE87-76C9EF8D52FA}" type="slidenum">
              <a:rPr lang="en-GB" sz="1000">
                <a:solidFill>
                  <a:srgbClr val="8795A1"/>
                </a:solidFill>
                <a:latin typeface="Segoe UI"/>
              </a:rPr>
              <a:t>37</a:t>
            </a:fld>
          </a:p>
        </p:txBody>
      </p:sp>
      <p:sp>
        <p:nvSpPr>
          <p:cNvPr id="9"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pfill">
            <a:extLst>
              <a:ext uri="{C183D7F6-B498-43B3-948B-1728B52AA6E4}">
                <adec:decorative xmlns:adec="http://schemas.microsoft.com/office/drawing/2017/decorative" val="1"/>
              </a:ext>
            </a:extLst>
          </p:cNvPr>
          <p:cNvSpPr/>
          <p:nvPr/>
        </p:nvSpPr>
        <p:spPr>
          <a:xfrm>
            <a:off x="0" y="0"/>
            <a:ext cx="10490528"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xmlns:p159="http://schemas.microsoft.com/office/powerpoint/2015/09/main" Requires="p159">
      <p:transition spd="slow" p14:dur="650">
        <p159:morph option="byObject"/>
      </p:transition>
    </mc:Choice>
    <mc:Fallback>
      <p:transition spd="med">
        <p:fade/>
      </p:transition>
    </mc:Fallback>
  </mc:AlternateContent>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What to take away</a:t>
            </a:r>
          </a:p>
        </p:txBody>
      </p:sp>
      <p:pic>
        <p:nvPicPr>
          <p:cNvPr id="3" name="!!kicker-icon" descr="clipboard-check-15425E.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166837"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5425E"/>
                </a:solidFill>
                <a:latin typeface="Segoe UI"/>
              </a:rPr>
              <a:t>CHAPTER SUMMARY</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102     </a:t>
            </a:r>
            <a:fld id="{0BCD1C3C-4365-46D2-B51C-D04CB240F535}" type="slidenum">
              <a:rPr lang="en-GB" sz="1000">
                <a:solidFill>
                  <a:srgbClr val="8795A1"/>
                </a:solidFill>
                <a:latin typeface="Segoe UI"/>
              </a:rPr>
              <a:t>38</a:t>
            </a:fld>
          </a:p>
        </p:txBody>
      </p:sp>
      <p:sp>
        <p:nvSpPr>
          <p:cNvPr id="7" name="!!sb0">
            <a:extLst>
              <a:ext uri="{C183D7F6-B498-43B3-948B-1728B52AA6E4}">
                <adec:decorative xmlns:adec="http://schemas.microsoft.com/office/drawing/2017/decorative" val="1"/>
              </a:ext>
            </a:extLst>
          </p:cNvPr>
          <p:cNvSpPr/>
          <p:nvPr/>
        </p:nvSpPr>
        <p:spPr>
          <a:xfrm>
            <a:off x="658368" y="1746504"/>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sbn0"/>
          <p:cNvSpPr txBox="1"/>
          <p:nvPr/>
        </p:nvSpPr>
        <p:spPr>
          <a:xfrm>
            <a:off x="658368" y="1801368"/>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1</a:t>
            </a:r>
          </a:p>
        </p:txBody>
      </p:sp>
      <p:sp>
        <p:nvSpPr>
          <p:cNvPr id="9" name="!!st0"/>
          <p:cNvSpPr txBox="1"/>
          <p:nvPr/>
        </p:nvSpPr>
        <p:spPr>
          <a:xfrm>
            <a:off x="1298448" y="1737360"/>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perceptron thresholds a weighted sum; the perceptron rule finds a separating hyperplane whenever one exists.</a:t>
            </a:r>
          </a:p>
        </p:txBody>
      </p:sp>
      <p:sp>
        <p:nvSpPr>
          <p:cNvPr id="10" name="!!sb1">
            <a:extLst>
              <a:ext uri="{C183D7F6-B498-43B3-948B-1728B52AA6E4}">
                <adec:decorative xmlns:adec="http://schemas.microsoft.com/office/drawing/2017/decorative" val="1"/>
              </a:ext>
            </a:extLst>
          </p:cNvPr>
          <p:cNvSpPr/>
          <p:nvPr/>
        </p:nvSpPr>
        <p:spPr>
          <a:xfrm>
            <a:off x="658368" y="253166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sbn1"/>
          <p:cNvSpPr txBox="1"/>
          <p:nvPr/>
        </p:nvSpPr>
        <p:spPr>
          <a:xfrm>
            <a:off x="658368" y="258653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2</a:t>
            </a:r>
          </a:p>
        </p:txBody>
      </p:sp>
      <p:sp>
        <p:nvSpPr>
          <p:cNvPr id="12" name="!!st1"/>
          <p:cNvSpPr txBox="1"/>
          <p:nvPr/>
        </p:nvSpPr>
        <p:spPr>
          <a:xfrm>
            <a:off x="1298448" y="2522524"/>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A single unit cannot represent XOR or any function that is not linearly separable; hidden layers can.</a:t>
            </a:r>
          </a:p>
        </p:txBody>
      </p:sp>
      <p:sp>
        <p:nvSpPr>
          <p:cNvPr id="13" name="!!sb2">
            <a:extLst>
              <a:ext uri="{C183D7F6-B498-43B3-948B-1728B52AA6E4}">
                <adec:decorative xmlns:adec="http://schemas.microsoft.com/office/drawing/2017/decorative" val="1"/>
              </a:ext>
            </a:extLst>
          </p:cNvPr>
          <p:cNvSpPr/>
          <p:nvPr/>
        </p:nvSpPr>
        <p:spPr>
          <a:xfrm>
            <a:off x="658368" y="331683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sbn2"/>
          <p:cNvSpPr txBox="1"/>
          <p:nvPr/>
        </p:nvSpPr>
        <p:spPr>
          <a:xfrm>
            <a:off x="658368" y="337169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3</a:t>
            </a:r>
          </a:p>
        </p:txBody>
      </p:sp>
      <p:sp>
        <p:nvSpPr>
          <p:cNvPr id="15" name="!!st2"/>
          <p:cNvSpPr txBox="1"/>
          <p:nvPr/>
        </p:nvSpPr>
        <p:spPr>
          <a:xfrm>
            <a:off x="1298448" y="3307689"/>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The delta rule is gradient descent on squared error and converges even on non-separable data; sigmoid units make it differentiable.</a:t>
            </a:r>
          </a:p>
        </p:txBody>
      </p:sp>
      <p:sp>
        <p:nvSpPr>
          <p:cNvPr id="16" name="!!sb3">
            <a:extLst>
              <a:ext uri="{C183D7F6-B498-43B3-948B-1728B52AA6E4}">
                <adec:decorative xmlns:adec="http://schemas.microsoft.com/office/drawing/2017/decorative" val="1"/>
              </a:ext>
            </a:extLst>
          </p:cNvPr>
          <p:cNvSpPr/>
          <p:nvPr/>
        </p:nvSpPr>
        <p:spPr>
          <a:xfrm>
            <a:off x="658368" y="4101998"/>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sbn3"/>
          <p:cNvSpPr txBox="1"/>
          <p:nvPr/>
        </p:nvSpPr>
        <p:spPr>
          <a:xfrm>
            <a:off x="658368" y="4156862"/>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4</a:t>
            </a:r>
          </a:p>
        </p:txBody>
      </p:sp>
      <p:sp>
        <p:nvSpPr>
          <p:cNvPr id="18" name="!!st3"/>
          <p:cNvSpPr txBox="1"/>
          <p:nvPr/>
        </p:nvSpPr>
        <p:spPr>
          <a:xfrm>
            <a:off x="1298448" y="4092854"/>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Backpropagation computes output deltas, passes them backwards through the weights to the hidden units, and updates every weight by </a:t>
            </a:r>
            <a:r>
              <a:rPr sz="1900" b="0" i="0">
                <a:solidFill>
                  <a:srgbClr val="1C252B"/>
                </a:solidFill>
                <a:latin typeface="Cambria"/>
              </a:rPr>
              <a:t>η δ </a:t>
            </a:r>
            <a:r>
              <a:rPr sz="1900" b="0" i="1">
                <a:solidFill>
                  <a:srgbClr val="1C252B"/>
                </a:solidFill>
                <a:latin typeface="Cambria"/>
              </a:rPr>
              <a:t>x</a:t>
            </a:r>
            <a:r>
              <a:rPr sz="1900" b="0" i="0">
                <a:solidFill>
                  <a:srgbClr val="1C252B"/>
                </a:solidFill>
                <a:latin typeface="Segoe UI"/>
              </a:rPr>
              <a:t> — the chain rule applied layer by layer.</a:t>
            </a:r>
          </a:p>
        </p:txBody>
      </p:sp>
      <p:sp>
        <p:nvSpPr>
          <p:cNvPr id="19" name="!!sb4">
            <a:extLst>
              <a:ext uri="{C183D7F6-B498-43B3-948B-1728B52AA6E4}">
                <adec:decorative xmlns:adec="http://schemas.microsoft.com/office/drawing/2017/decorative" val="1"/>
              </a:ext>
            </a:extLst>
          </p:cNvPr>
          <p:cNvSpPr/>
          <p:nvPr/>
        </p:nvSpPr>
        <p:spPr>
          <a:xfrm>
            <a:off x="658368" y="4887163"/>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sbn4"/>
          <p:cNvSpPr txBox="1"/>
          <p:nvPr/>
        </p:nvSpPr>
        <p:spPr>
          <a:xfrm>
            <a:off x="658368" y="4942027"/>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5</a:t>
            </a:r>
          </a:p>
        </p:txBody>
      </p:sp>
      <p:sp>
        <p:nvSpPr>
          <p:cNvPr id="21" name="!!st4"/>
          <p:cNvSpPr txBox="1"/>
          <p:nvPr/>
        </p:nvSpPr>
        <p:spPr>
          <a:xfrm>
            <a:off x="1298448" y="4878019"/>
            <a:ext cx="10234879" cy="402336"/>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Modern networks use ReLU hidden units and task-matched outputs (sigmoid, softmax, linear).</a:t>
            </a:r>
          </a:p>
        </p:txBody>
      </p:sp>
      <p:sp>
        <p:nvSpPr>
          <p:cNvPr id="22" name="!!sb5">
            <a:extLst>
              <a:ext uri="{C183D7F6-B498-43B3-948B-1728B52AA6E4}">
                <adec:decorative xmlns:adec="http://schemas.microsoft.com/office/drawing/2017/decorative" val="1"/>
              </a:ext>
            </a:extLst>
          </p:cNvPr>
          <p:cNvSpPr/>
          <p:nvPr/>
        </p:nvSpPr>
        <p:spPr>
          <a:xfrm>
            <a:off x="658368" y="5472379"/>
            <a:ext cx="402336" cy="402336"/>
          </a:xfrm>
          <a:prstGeom prst="roundRect">
            <a:avLst>
              <a:gd name="adj" fmla="val 22727"/>
            </a:avLst>
          </a:prstGeom>
          <a:solidFill>
            <a:srgbClr val="15425E"/>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sbn5"/>
          <p:cNvSpPr txBox="1"/>
          <p:nvPr/>
        </p:nvSpPr>
        <p:spPr>
          <a:xfrm>
            <a:off x="658368" y="5527243"/>
            <a:ext cx="402336"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6</a:t>
            </a:r>
          </a:p>
        </p:txBody>
      </p:sp>
      <p:sp>
        <p:nvSpPr>
          <p:cNvPr id="24" name="!!st5"/>
          <p:cNvSpPr txBox="1"/>
          <p:nvPr/>
        </p:nvSpPr>
        <p:spPr>
          <a:xfrm>
            <a:off x="1298448" y="5463235"/>
            <a:ext cx="102348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Control overfitting with early stopping, weight decay, dropout, smaller networks and more data.</a:t>
            </a:r>
          </a:p>
        </p:txBody>
      </p:sp>
      <p:sp>
        <p:nvSpPr>
          <p:cNvPr id="70"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71" name="!!pfill">
            <a:extLst>
              <a:ext uri="{C183D7F6-B498-43B3-948B-1728B52AA6E4}">
                <adec:decorative xmlns:adec="http://schemas.microsoft.com/office/drawing/2017/decorative" val="1"/>
              </a:ext>
            </a:extLst>
          </p:cNvPr>
          <p:cNvSpPr/>
          <p:nvPr/>
        </p:nvSpPr>
        <p:spPr>
          <a:xfrm>
            <a:off x="0" y="0"/>
            <a:ext cx="10774056"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timing>
    <p:tnLst>
      <p:par>
        <p:cTn id="2" dur="indefinite" restart="never" nodeType="tmRoot">
          <p:childTnLst>
            <p:seq concurrent="1" nextAc="seek">
              <p:cTn id="3" dur="indefinite" nodeType="mainSeq">
                <p:childTnLst>
                  <p:par>
                    <p:cTn id="4" fill="hold">
                      <p:stCondLst>
                        <p:cond delay="indefinite"/>
                      </p:stCondLst>
                      <p:childTnLst>
                        <p:par>
                          <p:cTn id="5" fill="hold">
                            <p:stCondLst>
                              <p:cond delay="0"/>
                            </p:stCondLst>
                            <p:childTnLst>
                              <p:par>
                                <p:cTn id="6" presetID="23" presetClass="entr" presetSubtype="16" fill="hold" grpId="0" nodeType="clickEffect">
                                  <p:stCondLst>
                                    <p:cond delay="0"/>
                                  </p:stCondLst>
                                  <p:childTnLst>
                                    <p:set>
                                      <p:cBhvr>
                                        <p:cTn id="7" dur="1" fill="hold">
                                          <p:stCondLst>
                                            <p:cond delay="0"/>
                                          </p:stCondLst>
                                        </p:cTn>
                                        <p:tgtEl>
                                          <p:spTgt spid="7"/>
                                        </p:tgtEl>
                                        <p:attrNameLst>
                                          <p:attrName>style.visibility</p:attrName>
                                        </p:attrNameLst>
                                      </p:cBhvr>
                                      <p:to>
                                        <p:strVal val="visible"/>
                                      </p:to>
                                    </p:set>
                                    <p:animEffect transition="in" filter="zoom(in)">
                                      <p:cBhvr>
                                        <p:cTn id="8" dur="260"/>
                                        <p:tgtEl>
                                          <p:spTgt spid="7"/>
                                        </p:tgtEl>
                                      </p:cBhvr>
                                    </p:animEffect>
                                  </p:childTnLst>
                                </p:cTn>
                              </p:par>
                              <p:par>
                                <p:cTn id="9" presetID="10"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animEffect transition="in" filter="fade">
                                      <p:cBhvr>
                                        <p:cTn id="11" dur="260"/>
                                        <p:tgtEl>
                                          <p:spTgt spid="8"/>
                                        </p:tgtEl>
                                      </p:cBhvr>
                                    </p:animEffect>
                                  </p:childTnLst>
                                </p:cTn>
                              </p:par>
                              <p:par>
                                <p:cTn id="12" presetID="22" presetClass="entr" presetSubtype="8" fill="hold" grpId="0" nodeType="withEffect">
                                  <p:stCondLst>
                                    <p:cond delay="0"/>
                                  </p:stCondLst>
                                  <p:childTnLst>
                                    <p:set>
                                      <p:cBhvr>
                                        <p:cTn id="13" dur="1" fill="hold">
                                          <p:stCondLst>
                                            <p:cond delay="0"/>
                                          </p:stCondLst>
                                        </p:cTn>
                                        <p:tgtEl>
                                          <p:spTgt spid="9"/>
                                        </p:tgtEl>
                                        <p:attrNameLst>
                                          <p:attrName>style.visibility</p:attrName>
                                        </p:attrNameLst>
                                      </p:cBhvr>
                                      <p:to>
                                        <p:strVal val="visible"/>
                                      </p:to>
                                    </p:set>
                                    <p:animEffect transition="in" filter="wipe(right)">
                                      <p:cBhvr>
                                        <p:cTn id="14" dur="400"/>
                                        <p:tgtEl>
                                          <p:spTgt spid="9"/>
                                        </p:tgtEl>
                                      </p:cBhvr>
                                    </p:animEffect>
                                  </p:childTnLst>
                                </p:cTn>
                              </p:par>
                            </p:childTnLst>
                          </p:cTn>
                        </p:par>
                      </p:childTnLst>
                    </p:cTn>
                  </p:par>
                  <p:par>
                    <p:cTn id="15" fill="hold">
                      <p:stCondLst>
                        <p:cond delay="indefinite"/>
                      </p:stCondLst>
                      <p:childTnLst>
                        <p:par>
                          <p:cTn id="16" fill="hold">
                            <p:stCondLst>
                              <p:cond delay="0"/>
                            </p:stCondLst>
                            <p:childTnLst>
                              <p:par>
                                <p:cTn id="17" presetID="23" presetClass="entr" presetSubtype="16" fill="hold" grpId="0" nodeType="clickEffect">
                                  <p:stCondLst>
                                    <p:cond delay="0"/>
                                  </p:stCondLst>
                                  <p:childTnLst>
                                    <p:set>
                                      <p:cBhvr>
                                        <p:cTn id="18" dur="1" fill="hold">
                                          <p:stCondLst>
                                            <p:cond delay="0"/>
                                          </p:stCondLst>
                                        </p:cTn>
                                        <p:tgtEl>
                                          <p:spTgt spid="10"/>
                                        </p:tgtEl>
                                        <p:attrNameLst>
                                          <p:attrName>style.visibility</p:attrName>
                                        </p:attrNameLst>
                                      </p:cBhvr>
                                      <p:to>
                                        <p:strVal val="visible"/>
                                      </p:to>
                                    </p:set>
                                    <p:animEffect transition="in" filter="zoom(in)">
                                      <p:cBhvr>
                                        <p:cTn id="19" dur="260"/>
                                        <p:tgtEl>
                                          <p:spTgt spid="10"/>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11"/>
                                        </p:tgtEl>
                                        <p:attrNameLst>
                                          <p:attrName>style.visibility</p:attrName>
                                        </p:attrNameLst>
                                      </p:cBhvr>
                                      <p:to>
                                        <p:strVal val="visible"/>
                                      </p:to>
                                    </p:set>
                                    <p:animEffect transition="in" filter="fade">
                                      <p:cBhvr>
                                        <p:cTn id="22" dur="260"/>
                                        <p:tgtEl>
                                          <p:spTgt spid="11"/>
                                        </p:tgtEl>
                                      </p:cBhvr>
                                    </p:animEffect>
                                  </p:childTnLst>
                                </p:cTn>
                              </p:par>
                              <p:par>
                                <p:cTn id="23" presetID="22" presetClass="entr" presetSubtype="8" fill="hold" grpId="0" nodeType="withEffect">
                                  <p:stCondLst>
                                    <p:cond delay="0"/>
                                  </p:stCondLst>
                                  <p:childTnLst>
                                    <p:set>
                                      <p:cBhvr>
                                        <p:cTn id="24" dur="1" fill="hold">
                                          <p:stCondLst>
                                            <p:cond delay="0"/>
                                          </p:stCondLst>
                                        </p:cTn>
                                        <p:tgtEl>
                                          <p:spTgt spid="12"/>
                                        </p:tgtEl>
                                        <p:attrNameLst>
                                          <p:attrName>style.visibility</p:attrName>
                                        </p:attrNameLst>
                                      </p:cBhvr>
                                      <p:to>
                                        <p:strVal val="visible"/>
                                      </p:to>
                                    </p:set>
                                    <p:animEffect transition="in" filter="wipe(right)">
                                      <p:cBhvr>
                                        <p:cTn id="25" dur="400"/>
                                        <p:tgtEl>
                                          <p:spTgt spid="12"/>
                                        </p:tgtEl>
                                      </p:cBhvr>
                                    </p:animEffect>
                                  </p:childTnLst>
                                </p:cTn>
                              </p:par>
                            </p:childTnLst>
                          </p:cTn>
                        </p:par>
                      </p:childTnLst>
                    </p:cTn>
                  </p:par>
                  <p:par>
                    <p:cTn id="26" fill="hold">
                      <p:stCondLst>
                        <p:cond delay="indefinite"/>
                      </p:stCondLst>
                      <p:childTnLst>
                        <p:par>
                          <p:cTn id="27" fill="hold">
                            <p:stCondLst>
                              <p:cond delay="0"/>
                            </p:stCondLst>
                            <p:childTnLst>
                              <p:par>
                                <p:cTn id="28" presetID="23" presetClass="entr" presetSubtype="16" fill="hold" grpId="0" nodeType="clickEffect">
                                  <p:stCondLst>
                                    <p:cond delay="0"/>
                                  </p:stCondLst>
                                  <p:childTnLst>
                                    <p:set>
                                      <p:cBhvr>
                                        <p:cTn id="29" dur="1" fill="hold">
                                          <p:stCondLst>
                                            <p:cond delay="0"/>
                                          </p:stCondLst>
                                        </p:cTn>
                                        <p:tgtEl>
                                          <p:spTgt spid="13"/>
                                        </p:tgtEl>
                                        <p:attrNameLst>
                                          <p:attrName>style.visibility</p:attrName>
                                        </p:attrNameLst>
                                      </p:cBhvr>
                                      <p:to>
                                        <p:strVal val="visible"/>
                                      </p:to>
                                    </p:set>
                                    <p:animEffect transition="in" filter="zoom(in)">
                                      <p:cBhvr>
                                        <p:cTn id="30" dur="260"/>
                                        <p:tgtEl>
                                          <p:spTgt spid="13"/>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4"/>
                                        </p:tgtEl>
                                        <p:attrNameLst>
                                          <p:attrName>style.visibility</p:attrName>
                                        </p:attrNameLst>
                                      </p:cBhvr>
                                      <p:to>
                                        <p:strVal val="visible"/>
                                      </p:to>
                                    </p:set>
                                    <p:animEffect transition="in" filter="fade">
                                      <p:cBhvr>
                                        <p:cTn id="33" dur="260"/>
                                        <p:tgtEl>
                                          <p:spTgt spid="14"/>
                                        </p:tgtEl>
                                      </p:cBhvr>
                                    </p:animEffect>
                                  </p:childTnLst>
                                </p:cTn>
                              </p:par>
                              <p:par>
                                <p:cTn id="34" presetID="22" presetClass="entr" presetSubtype="8" fill="hold" grpId="0" nodeType="withEffect">
                                  <p:stCondLst>
                                    <p:cond delay="0"/>
                                  </p:stCondLst>
                                  <p:childTnLst>
                                    <p:set>
                                      <p:cBhvr>
                                        <p:cTn id="35" dur="1" fill="hold">
                                          <p:stCondLst>
                                            <p:cond delay="0"/>
                                          </p:stCondLst>
                                        </p:cTn>
                                        <p:tgtEl>
                                          <p:spTgt spid="15"/>
                                        </p:tgtEl>
                                        <p:attrNameLst>
                                          <p:attrName>style.visibility</p:attrName>
                                        </p:attrNameLst>
                                      </p:cBhvr>
                                      <p:to>
                                        <p:strVal val="visible"/>
                                      </p:to>
                                    </p:set>
                                    <p:animEffect transition="in" filter="wipe(right)">
                                      <p:cBhvr>
                                        <p:cTn id="36" dur="400"/>
                                        <p:tgtEl>
                                          <p:spTgt spid="15"/>
                                        </p:tgtEl>
                                      </p:cBhvr>
                                    </p:animEffect>
                                  </p:childTnLst>
                                </p:cTn>
                              </p:par>
                            </p:childTnLst>
                          </p:cTn>
                        </p:par>
                      </p:childTnLst>
                    </p:cTn>
                  </p:par>
                  <p:par>
                    <p:cTn id="37" fill="hold">
                      <p:stCondLst>
                        <p:cond delay="indefinite"/>
                      </p:stCondLst>
                      <p:childTnLst>
                        <p:par>
                          <p:cTn id="38" fill="hold">
                            <p:stCondLst>
                              <p:cond delay="0"/>
                            </p:stCondLst>
                            <p:childTnLst>
                              <p:par>
                                <p:cTn id="39" presetID="23" presetClass="entr" presetSubtype="16" fill="hold" grpId="0" nodeType="clickEffect">
                                  <p:stCondLst>
                                    <p:cond delay="0"/>
                                  </p:stCondLst>
                                  <p:childTnLst>
                                    <p:set>
                                      <p:cBhvr>
                                        <p:cTn id="40" dur="1" fill="hold">
                                          <p:stCondLst>
                                            <p:cond delay="0"/>
                                          </p:stCondLst>
                                        </p:cTn>
                                        <p:tgtEl>
                                          <p:spTgt spid="16"/>
                                        </p:tgtEl>
                                        <p:attrNameLst>
                                          <p:attrName>style.visibility</p:attrName>
                                        </p:attrNameLst>
                                      </p:cBhvr>
                                      <p:to>
                                        <p:strVal val="visible"/>
                                      </p:to>
                                    </p:set>
                                    <p:animEffect transition="in" filter="zoom(in)">
                                      <p:cBhvr>
                                        <p:cTn id="41" dur="260"/>
                                        <p:tgtEl>
                                          <p:spTgt spid="16"/>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7"/>
                                        </p:tgtEl>
                                        <p:attrNameLst>
                                          <p:attrName>style.visibility</p:attrName>
                                        </p:attrNameLst>
                                      </p:cBhvr>
                                      <p:to>
                                        <p:strVal val="visible"/>
                                      </p:to>
                                    </p:set>
                                    <p:animEffect transition="in" filter="fade">
                                      <p:cBhvr>
                                        <p:cTn id="44" dur="260"/>
                                        <p:tgtEl>
                                          <p:spTgt spid="17"/>
                                        </p:tgtEl>
                                      </p:cBhvr>
                                    </p:animEffect>
                                  </p:childTnLst>
                                </p:cTn>
                              </p:par>
                              <p:par>
                                <p:cTn id="45" presetID="22" presetClass="entr" presetSubtype="8" fill="hold" grpId="0" nodeType="withEffect">
                                  <p:stCondLst>
                                    <p:cond delay="0"/>
                                  </p:stCondLst>
                                  <p:childTnLst>
                                    <p:set>
                                      <p:cBhvr>
                                        <p:cTn id="46" dur="1" fill="hold">
                                          <p:stCondLst>
                                            <p:cond delay="0"/>
                                          </p:stCondLst>
                                        </p:cTn>
                                        <p:tgtEl>
                                          <p:spTgt spid="18"/>
                                        </p:tgtEl>
                                        <p:attrNameLst>
                                          <p:attrName>style.visibility</p:attrName>
                                        </p:attrNameLst>
                                      </p:cBhvr>
                                      <p:to>
                                        <p:strVal val="visible"/>
                                      </p:to>
                                    </p:set>
                                    <p:animEffect transition="in" filter="wipe(right)">
                                      <p:cBhvr>
                                        <p:cTn id="47" dur="400"/>
                                        <p:tgtEl>
                                          <p:spTgt spid="18"/>
                                        </p:tgtEl>
                                      </p:cBhvr>
                                    </p:animEffect>
                                  </p:childTnLst>
                                </p:cTn>
                              </p:par>
                            </p:childTnLst>
                          </p:cTn>
                        </p:par>
                      </p:childTnLst>
                    </p:cTn>
                  </p:par>
                  <p:par>
                    <p:cTn id="48" fill="hold">
                      <p:stCondLst>
                        <p:cond delay="indefinite"/>
                      </p:stCondLst>
                      <p:childTnLst>
                        <p:par>
                          <p:cTn id="49" fill="hold">
                            <p:stCondLst>
                              <p:cond delay="0"/>
                            </p:stCondLst>
                            <p:childTnLst>
                              <p:par>
                                <p:cTn id="50" presetID="23" presetClass="entr" presetSubtype="16" fill="hold" grpId="0" nodeType="clickEffect">
                                  <p:stCondLst>
                                    <p:cond delay="0"/>
                                  </p:stCondLst>
                                  <p:childTnLst>
                                    <p:set>
                                      <p:cBhvr>
                                        <p:cTn id="51" dur="1" fill="hold">
                                          <p:stCondLst>
                                            <p:cond delay="0"/>
                                          </p:stCondLst>
                                        </p:cTn>
                                        <p:tgtEl>
                                          <p:spTgt spid="19"/>
                                        </p:tgtEl>
                                        <p:attrNameLst>
                                          <p:attrName>style.visibility</p:attrName>
                                        </p:attrNameLst>
                                      </p:cBhvr>
                                      <p:to>
                                        <p:strVal val="visible"/>
                                      </p:to>
                                    </p:set>
                                    <p:animEffect transition="in" filter="zoom(in)">
                                      <p:cBhvr>
                                        <p:cTn id="52" dur="260"/>
                                        <p:tgtEl>
                                          <p:spTgt spid="19"/>
                                        </p:tgtEl>
                                      </p:cBhvr>
                                    </p:animEffect>
                                  </p:childTnLst>
                                </p:cTn>
                              </p:par>
                              <p:par>
                                <p:cTn id="53" presetID="10" presetClass="entr" presetSubtype="0" fill="hold" grpId="0" nodeType="withEffect">
                                  <p:stCondLst>
                                    <p:cond delay="0"/>
                                  </p:stCondLst>
                                  <p:childTnLst>
                                    <p:set>
                                      <p:cBhvr>
                                        <p:cTn id="54" dur="1" fill="hold">
                                          <p:stCondLst>
                                            <p:cond delay="0"/>
                                          </p:stCondLst>
                                        </p:cTn>
                                        <p:tgtEl>
                                          <p:spTgt spid="20"/>
                                        </p:tgtEl>
                                        <p:attrNameLst>
                                          <p:attrName>style.visibility</p:attrName>
                                        </p:attrNameLst>
                                      </p:cBhvr>
                                      <p:to>
                                        <p:strVal val="visible"/>
                                      </p:to>
                                    </p:set>
                                    <p:animEffect transition="in" filter="fade">
                                      <p:cBhvr>
                                        <p:cTn id="55" dur="260"/>
                                        <p:tgtEl>
                                          <p:spTgt spid="20"/>
                                        </p:tgtEl>
                                      </p:cBhvr>
                                    </p:animEffect>
                                  </p:childTnLst>
                                </p:cTn>
                              </p:par>
                              <p:par>
                                <p:cTn id="56" presetID="22" presetClass="entr" presetSubtype="8" fill="hold" grpId="0" nodeType="withEffect">
                                  <p:stCondLst>
                                    <p:cond delay="0"/>
                                  </p:stCondLst>
                                  <p:childTnLst>
                                    <p:set>
                                      <p:cBhvr>
                                        <p:cTn id="57" dur="1" fill="hold">
                                          <p:stCondLst>
                                            <p:cond delay="0"/>
                                          </p:stCondLst>
                                        </p:cTn>
                                        <p:tgtEl>
                                          <p:spTgt spid="21"/>
                                        </p:tgtEl>
                                        <p:attrNameLst>
                                          <p:attrName>style.visibility</p:attrName>
                                        </p:attrNameLst>
                                      </p:cBhvr>
                                      <p:to>
                                        <p:strVal val="visible"/>
                                      </p:to>
                                    </p:set>
                                    <p:animEffect transition="in" filter="wipe(right)">
                                      <p:cBhvr>
                                        <p:cTn id="58" dur="400"/>
                                        <p:tgtEl>
                                          <p:spTgt spid="21"/>
                                        </p:tgtEl>
                                      </p:cBhvr>
                                    </p:animEffect>
                                  </p:childTnLst>
                                </p:cTn>
                              </p:par>
                            </p:childTnLst>
                          </p:cTn>
                        </p:par>
                      </p:childTnLst>
                    </p:cTn>
                  </p:par>
                  <p:par>
                    <p:cTn id="59" fill="hold">
                      <p:stCondLst>
                        <p:cond delay="indefinite"/>
                      </p:stCondLst>
                      <p:childTnLst>
                        <p:par>
                          <p:cTn id="60" fill="hold">
                            <p:stCondLst>
                              <p:cond delay="0"/>
                            </p:stCondLst>
                            <p:childTnLst>
                              <p:par>
                                <p:cTn id="61" presetID="23" presetClass="entr" presetSubtype="16" fill="hold" grpId="0" nodeType="clickEffect">
                                  <p:stCondLst>
                                    <p:cond delay="0"/>
                                  </p:stCondLst>
                                  <p:childTnLst>
                                    <p:set>
                                      <p:cBhvr>
                                        <p:cTn id="62" dur="1" fill="hold">
                                          <p:stCondLst>
                                            <p:cond delay="0"/>
                                          </p:stCondLst>
                                        </p:cTn>
                                        <p:tgtEl>
                                          <p:spTgt spid="22"/>
                                        </p:tgtEl>
                                        <p:attrNameLst>
                                          <p:attrName>style.visibility</p:attrName>
                                        </p:attrNameLst>
                                      </p:cBhvr>
                                      <p:to>
                                        <p:strVal val="visible"/>
                                      </p:to>
                                    </p:set>
                                    <p:animEffect transition="in" filter="zoom(in)">
                                      <p:cBhvr>
                                        <p:cTn id="63" dur="260"/>
                                        <p:tgtEl>
                                          <p:spTgt spid="22"/>
                                        </p:tgtEl>
                                      </p:cBhvr>
                                    </p:animEffect>
                                  </p:childTnLst>
                                </p:cTn>
                              </p:par>
                              <p:par>
                                <p:cTn id="64" presetID="10" presetClass="entr" presetSubtype="0" fill="hold" grpId="0" nodeType="withEffect">
                                  <p:stCondLst>
                                    <p:cond delay="0"/>
                                  </p:stCondLst>
                                  <p:childTnLst>
                                    <p:set>
                                      <p:cBhvr>
                                        <p:cTn id="65" dur="1" fill="hold">
                                          <p:stCondLst>
                                            <p:cond delay="0"/>
                                          </p:stCondLst>
                                        </p:cTn>
                                        <p:tgtEl>
                                          <p:spTgt spid="23"/>
                                        </p:tgtEl>
                                        <p:attrNameLst>
                                          <p:attrName>style.visibility</p:attrName>
                                        </p:attrNameLst>
                                      </p:cBhvr>
                                      <p:to>
                                        <p:strVal val="visible"/>
                                      </p:to>
                                    </p:set>
                                    <p:animEffect transition="in" filter="fade">
                                      <p:cBhvr>
                                        <p:cTn id="66" dur="260"/>
                                        <p:tgtEl>
                                          <p:spTgt spid="23"/>
                                        </p:tgtEl>
                                      </p:cBhvr>
                                    </p:animEffect>
                                  </p:childTnLst>
                                </p:cTn>
                              </p:par>
                              <p:par>
                                <p:cTn id="67" presetID="22" presetClass="entr" presetSubtype="8" fill="hold" grpId="0" nodeType="withEffect">
                                  <p:stCondLst>
                                    <p:cond delay="0"/>
                                  </p:stCondLst>
                                  <p:childTnLst>
                                    <p:set>
                                      <p:cBhvr>
                                        <p:cTn id="68" dur="1" fill="hold">
                                          <p:stCondLst>
                                            <p:cond delay="0"/>
                                          </p:stCondLst>
                                        </p:cTn>
                                        <p:tgtEl>
                                          <p:spTgt spid="24"/>
                                        </p:tgtEl>
                                        <p:attrNameLst>
                                          <p:attrName>style.visibility</p:attrName>
                                        </p:attrNameLst>
                                      </p:cBhvr>
                                      <p:to>
                                        <p:strVal val="visible"/>
                                      </p:to>
                                    </p:set>
                                    <p:animEffect transition="in" filter="wipe(right)">
                                      <p:cBhvr>
                                        <p:cTn id="69"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1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102     </a:t>
            </a:r>
            <a:fld id="{C5F9DE87-02F9-419D-9B68-86C53FC9505A}" type="slidenum">
              <a:rPr lang="en-GB" sz="1000">
                <a:solidFill>
                  <a:srgbClr val="8795A1"/>
                </a:solidFill>
                <a:latin typeface="Segoe UI"/>
              </a:rPr>
              <a:t>39</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Which function can a single perceptron </a:t>
            </a:r>
            <a:r>
              <a:rPr sz="2600" b="0" i="1">
                <a:solidFill>
                  <a:srgbClr val="1C252B"/>
                </a:solidFill>
                <a:latin typeface="Segoe UI"/>
              </a:rPr>
              <a:t>not</a:t>
            </a:r>
            <a:r>
              <a:rPr sz="2600" b="0" i="0">
                <a:solidFill>
                  <a:srgbClr val="1C252B"/>
                </a:solidFill>
                <a:latin typeface="Segoe UI"/>
              </a:rPr>
              <a:t> represent?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AND</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OR</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NAND</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XOR</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057584"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2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102     </a:t>
            </a:r>
            <a:fld id="{AA231248-0B80-4CBA-9056-E29B4033B5FF}" type="slidenum">
              <a:rPr lang="en-GB" sz="1000">
                <a:solidFill>
                  <a:srgbClr val="8795A1"/>
                </a:solidFill>
                <a:latin typeface="Segoe UI"/>
              </a:rPr>
              <a:t>40</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The derivative of the sigmoid output </a:t>
            </a:r>
            <a:r>
              <a:rPr sz="2600" b="0" i="1">
                <a:solidFill>
                  <a:srgbClr val="1C252B"/>
                </a:solidFill>
                <a:latin typeface="Cambria"/>
              </a:rPr>
              <a:t>o</a:t>
            </a:r>
            <a:r>
              <a:rPr sz="2600" b="0" i="0">
                <a:solidFill>
                  <a:srgbClr val="1C252B"/>
                </a:solidFill>
                <a:latin typeface="Segoe UI"/>
              </a:rPr>
              <a:t> with respect to its input is:</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Cambria"/>
              </a:rPr>
              <a:t>1 − </a:t>
            </a:r>
            <a:r>
              <a:rPr sz="2000" b="0" i="1">
                <a:solidFill>
                  <a:srgbClr val="1C252B"/>
                </a:solidFill>
                <a:latin typeface="Cambria"/>
              </a:rPr>
              <a:t>o</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o</a:t>
            </a:r>
            <a:r>
              <a:rPr sz="2000" b="0" i="0">
                <a:solidFill>
                  <a:srgbClr val="1C252B"/>
                </a:solidFill>
                <a:latin typeface="Cambria"/>
              </a:rPr>
              <a:t>(1 − </a:t>
            </a:r>
            <a:r>
              <a:rPr sz="2000" b="0" i="1">
                <a:solidFill>
                  <a:srgbClr val="1C252B"/>
                </a:solidFill>
                <a:latin typeface="Cambria"/>
              </a:rPr>
              <a:t>o</a:t>
            </a:r>
            <a:r>
              <a:rPr sz="2000" b="0" i="0">
                <a:solidFill>
                  <a:srgbClr val="1C252B"/>
                </a:solidFill>
                <a:latin typeface="Cambria"/>
              </a:rPr>
              <a:t>)</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1">
                <a:solidFill>
                  <a:srgbClr val="1C252B"/>
                </a:solidFill>
                <a:latin typeface="Cambria"/>
              </a:rPr>
              <a:t>e</a:t>
            </a:r>
            <a:r>
              <a:rPr sz="2000" b="0" i="0" baseline="30000">
                <a:solidFill>
                  <a:srgbClr val="1C252B"/>
                </a:solidFill>
                <a:latin typeface="Cambria"/>
              </a:rPr>
              <a:t>−</a:t>
            </a:r>
            <a:r>
              <a:rPr sz="2000" b="0" i="1" baseline="30000">
                <a:solidFill>
                  <a:srgbClr val="1C252B"/>
                </a:solidFill>
                <a:latin typeface="Cambria"/>
              </a:rPr>
              <a:t>o</a:t>
            </a:r>
            <a:r>
              <a:rPr sz="2000" b="0" i="0">
                <a:solidFill>
                  <a:srgbClr val="1C252B"/>
                </a:solidFill>
                <a:latin typeface="Segoe UI"/>
              </a:rPr>
              <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341111"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Quick check 3 of 3</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  MULTIPLE CHOICE</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102     </a:t>
            </a:r>
            <a:fld id="{636070F2-B0BE-4B28-B562-AA828D6B4052}" type="slidenum">
              <a:rPr lang="en-GB" sz="1000">
                <a:solidFill>
                  <a:srgbClr val="8795A1"/>
                </a:solidFill>
                <a:latin typeface="Segoe UI"/>
              </a:rPr>
              <a:t>41</a:t>
            </a:fld>
          </a:p>
        </p:txBody>
      </p:sp>
      <p:sp>
        <p:nvSpPr>
          <p:cNvPr id="7" name="!!mstem"/>
          <p:cNvSpPr txBox="1"/>
          <p:nvPr/>
        </p:nvSpPr>
        <p:spPr>
          <a:xfrm>
            <a:off x="658368" y="1737360"/>
            <a:ext cx="10874959" cy="457809"/>
          </a:xfrm>
          <a:prstGeom prst="rect">
            <a:avLst/>
          </a:prstGeom>
          <a:noFill/>
        </p:spPr>
        <p:txBody>
          <a:bodyPr wrap="square" anchor="t" lIns="0" rIns="0" tIns="0" bIns="0">
            <a:noAutofit/>
          </a:bodyPr>
          <a:lstStyle/>
          <a:p>
            <a:pPr algn="l">
              <a:lnSpc>
                <a:spcPct val="104000"/>
              </a:lnSpc>
              <a:spcBef>
                <a:spcPts val="0"/>
              </a:spcBef>
              <a:spcAft>
                <a:spcPts val="0"/>
              </a:spcAft>
            </a:pPr>
            <a:r>
              <a:rPr sz="2600" b="0" i="0">
                <a:solidFill>
                  <a:srgbClr val="1C252B"/>
                </a:solidFill>
                <a:latin typeface="Segoe UI"/>
              </a:rPr>
              <a:t>Early stopping chooses the weights from the epoch with the lowest:</a:t>
            </a:r>
          </a:p>
        </p:txBody>
      </p:sp>
      <p:sp>
        <p:nvSpPr>
          <p:cNvPr id="8" name="!!mo0">
            <a:extLst>
              <a:ext uri="{C183D7F6-B498-43B3-948B-1728B52AA6E4}">
                <adec:decorative xmlns:adec="http://schemas.microsoft.com/office/drawing/2017/decorative" val="1"/>
              </a:ext>
            </a:extLst>
          </p:cNvPr>
          <p:cNvSpPr/>
          <p:nvPr/>
        </p:nvSpPr>
        <p:spPr>
          <a:xfrm>
            <a:off x="658368"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mol0">
            <a:extLst>
              <a:ext uri="{C183D7F6-B498-43B3-948B-1728B52AA6E4}">
                <adec:decorative xmlns:adec="http://schemas.microsoft.com/office/drawing/2017/decorative" val="1"/>
              </a:ext>
            </a:extLst>
          </p:cNvPr>
          <p:cNvSpPr/>
          <p:nvPr/>
        </p:nvSpPr>
        <p:spPr>
          <a:xfrm>
            <a:off x="841247"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0" name="!!molt0"/>
          <p:cNvSpPr txBox="1"/>
          <p:nvPr/>
        </p:nvSpPr>
        <p:spPr>
          <a:xfrm>
            <a:off x="841247"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A</a:t>
            </a:r>
          </a:p>
        </p:txBody>
      </p:sp>
      <p:sp>
        <p:nvSpPr>
          <p:cNvPr id="11" name="!!mot0"/>
          <p:cNvSpPr txBox="1"/>
          <p:nvPr/>
        </p:nvSpPr>
        <p:spPr>
          <a:xfrm>
            <a:off x="1481328"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training error</a:t>
            </a:r>
          </a:p>
        </p:txBody>
      </p:sp>
      <p:sp>
        <p:nvSpPr>
          <p:cNvPr id="12" name="!!mo1">
            <a:extLst>
              <a:ext uri="{C183D7F6-B498-43B3-948B-1728B52AA6E4}">
                <adec:decorative xmlns:adec="http://schemas.microsoft.com/office/drawing/2017/decorative" val="1"/>
              </a:ext>
            </a:extLst>
          </p:cNvPr>
          <p:cNvSpPr/>
          <p:nvPr/>
        </p:nvSpPr>
        <p:spPr>
          <a:xfrm>
            <a:off x="6214719" y="251520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3" name="!!mol1">
            <a:extLst>
              <a:ext uri="{C183D7F6-B498-43B3-948B-1728B52AA6E4}">
                <adec:decorative xmlns:adec="http://schemas.microsoft.com/office/drawing/2017/decorative" val="1"/>
              </a:ext>
            </a:extLst>
          </p:cNvPr>
          <p:cNvSpPr/>
          <p:nvPr/>
        </p:nvSpPr>
        <p:spPr>
          <a:xfrm>
            <a:off x="6397599" y="278952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molt1"/>
          <p:cNvSpPr txBox="1"/>
          <p:nvPr/>
        </p:nvSpPr>
        <p:spPr>
          <a:xfrm>
            <a:off x="6397599" y="287182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B</a:t>
            </a:r>
          </a:p>
        </p:txBody>
      </p:sp>
      <p:sp>
        <p:nvSpPr>
          <p:cNvPr id="15" name="!!mot1"/>
          <p:cNvSpPr txBox="1"/>
          <p:nvPr/>
        </p:nvSpPr>
        <p:spPr>
          <a:xfrm>
            <a:off x="7037679" y="286572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validation error</a:t>
            </a:r>
          </a:p>
        </p:txBody>
      </p:sp>
      <p:sp>
        <p:nvSpPr>
          <p:cNvPr id="16" name="!!mo2">
            <a:extLst>
              <a:ext uri="{C183D7F6-B498-43B3-948B-1728B52AA6E4}">
                <adec:decorative xmlns:adec="http://schemas.microsoft.com/office/drawing/2017/decorative" val="1"/>
              </a:ext>
            </a:extLst>
          </p:cNvPr>
          <p:cNvSpPr/>
          <p:nvPr/>
        </p:nvSpPr>
        <p:spPr>
          <a:xfrm>
            <a:off x="658368"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mol2">
            <a:extLst>
              <a:ext uri="{C183D7F6-B498-43B3-948B-1728B52AA6E4}">
                <adec:decorative xmlns:adec="http://schemas.microsoft.com/office/drawing/2017/decorative" val="1"/>
              </a:ext>
            </a:extLst>
          </p:cNvPr>
          <p:cNvSpPr/>
          <p:nvPr/>
        </p:nvSpPr>
        <p:spPr>
          <a:xfrm>
            <a:off x="841247"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8" name="!!molt2"/>
          <p:cNvSpPr txBox="1"/>
          <p:nvPr/>
        </p:nvSpPr>
        <p:spPr>
          <a:xfrm>
            <a:off x="841247"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C</a:t>
            </a:r>
          </a:p>
        </p:txBody>
      </p:sp>
      <p:sp>
        <p:nvSpPr>
          <p:cNvPr id="19" name="!!mot2"/>
          <p:cNvSpPr txBox="1"/>
          <p:nvPr/>
        </p:nvSpPr>
        <p:spPr>
          <a:xfrm>
            <a:off x="1481328"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test error</a:t>
            </a:r>
          </a:p>
        </p:txBody>
      </p:sp>
      <p:sp>
        <p:nvSpPr>
          <p:cNvPr id="20" name="!!mo3">
            <a:extLst>
              <a:ext uri="{C183D7F6-B498-43B3-948B-1728B52AA6E4}">
                <adec:decorative xmlns:adec="http://schemas.microsoft.com/office/drawing/2017/decorative" val="1"/>
              </a:ext>
            </a:extLst>
          </p:cNvPr>
          <p:cNvSpPr/>
          <p:nvPr/>
        </p:nvSpPr>
        <p:spPr>
          <a:xfrm>
            <a:off x="6214719" y="3703929"/>
            <a:ext cx="5318607" cy="1005840"/>
          </a:xfrm>
          <a:prstGeom prst="roundRect">
            <a:avLst>
              <a:gd name="adj" fmla="val 9090"/>
            </a:avLst>
          </a:prstGeom>
          <a:solidFill>
            <a:srgbClr val="F4F7F9"/>
          </a:solidFill>
          <a:ln w="12700">
            <a:solidFill>
              <a:srgbClr val="D9E1E7"/>
            </a:solid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1" name="!!mol3">
            <a:extLst>
              <a:ext uri="{C183D7F6-B498-43B3-948B-1728B52AA6E4}">
                <adec:decorative xmlns:adec="http://schemas.microsoft.com/office/drawing/2017/decorative" val="1"/>
              </a:ext>
            </a:extLst>
          </p:cNvPr>
          <p:cNvSpPr/>
          <p:nvPr/>
        </p:nvSpPr>
        <p:spPr>
          <a:xfrm>
            <a:off x="6397599" y="3978249"/>
            <a:ext cx="457200" cy="457200"/>
          </a:xfrm>
          <a:prstGeom prst="roundRect">
            <a:avLst>
              <a:gd name="adj" fmla="val 50000"/>
            </a:avLst>
          </a:prstGeom>
          <a:solidFill>
            <a:srgbClr val="1B7A43"/>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2" name="!!molt3"/>
          <p:cNvSpPr txBox="1"/>
          <p:nvPr/>
        </p:nvSpPr>
        <p:spPr>
          <a:xfrm>
            <a:off x="6397599" y="4060545"/>
            <a:ext cx="457200" cy="274320"/>
          </a:xfrm>
          <a:prstGeom prst="rect">
            <a:avLst/>
          </a:prstGeom>
          <a:noFill/>
        </p:spPr>
        <p:txBody>
          <a:bodyPr wrap="square" anchor="t" lIns="0" rIns="0" tIns="0" bIns="0">
            <a:noAutofit/>
          </a:bodyPr>
          <a:lstStyle/>
          <a:p>
            <a:pPr algn="ctr">
              <a:lnSpc>
                <a:spcPct val="100000"/>
              </a:lnSpc>
              <a:spcBef>
                <a:spcPts val="0"/>
              </a:spcBef>
              <a:spcAft>
                <a:spcPts val="0"/>
              </a:spcAft>
            </a:pPr>
            <a:r>
              <a:rPr sz="1500" b="1" i="0">
                <a:solidFill>
                  <a:srgbClr val="FFFFFF"/>
                </a:solidFill>
                <a:latin typeface="Segoe UI Semibold"/>
              </a:rPr>
              <a:t>D</a:t>
            </a:r>
          </a:p>
        </p:txBody>
      </p:sp>
      <p:sp>
        <p:nvSpPr>
          <p:cNvPr id="23" name="!!mot3"/>
          <p:cNvSpPr txBox="1"/>
          <p:nvPr/>
        </p:nvSpPr>
        <p:spPr>
          <a:xfrm>
            <a:off x="7037679" y="4054449"/>
            <a:ext cx="4312767" cy="1005840"/>
          </a:xfrm>
          <a:prstGeom prst="rect">
            <a:avLst/>
          </a:prstGeom>
          <a:noFill/>
        </p:spPr>
        <p:txBody>
          <a:bodyPr wrap="square" anchor="t" lIns="0" rIns="0" tIns="0" bIns="0">
            <a:noAutofit/>
          </a:bodyPr>
          <a:lstStyle/>
          <a:p>
            <a:pPr algn="l">
              <a:lnSpc>
                <a:spcPct val="100000"/>
              </a:lnSpc>
              <a:spcBef>
                <a:spcPts val="0"/>
              </a:spcBef>
              <a:spcAft>
                <a:spcPts val="0"/>
              </a:spcAft>
            </a:pPr>
            <a:r>
              <a:rPr sz="2000" b="0" i="0">
                <a:solidFill>
                  <a:srgbClr val="1C252B"/>
                </a:solidFill>
                <a:latin typeface="Segoe UI"/>
              </a:rPr>
              <a:t>learning rate</a:t>
            </a:r>
          </a:p>
        </p:txBody>
      </p:sp>
      <p:sp>
        <p:nvSpPr>
          <p:cNvPr id="24"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5" name="!!pfill">
            <a:extLst>
              <a:ext uri="{C183D7F6-B498-43B3-948B-1728B52AA6E4}">
                <adec:decorative xmlns:adec="http://schemas.microsoft.com/office/drawing/2017/decorative" val="1"/>
              </a:ext>
            </a:extLst>
          </p:cNvPr>
          <p:cNvSpPr/>
          <p:nvPr/>
        </p:nvSpPr>
        <p:spPr>
          <a:xfrm>
            <a:off x="0" y="0"/>
            <a:ext cx="11624639"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p:cNvSpPr>
            <a:spLocks noGrp="1"/>
          </p:cNvSpPr>
          <p:nvPr>
            <p:ph type="title"/>
          </p:nvPr>
        </p:nvSpPr>
        <p:spPr>
          <a:xfrm>
            <a:off x="658368" y="676656"/>
            <a:ext cx="10874959" cy="932688"/>
          </a:xfrm>
        </p:spPr>
        <p:txBody>
          <a:bodyPr wrap="square" lIns="0" rIns="0" tIns="0" bIns="0" anchor="t">
            <a:noAutofit/>
          </a:bodyPr>
          <a:lstStyle/>
          <a:p>
            <a:pPr algn="l">
              <a:lnSpc>
                <a:spcPct val="96000"/>
              </a:lnSpc>
            </a:pPr>
            <a:r>
              <a:rPr sz="3000" b="0">
                <a:solidFill>
                  <a:srgbClr val="1A5276"/>
                </a:solidFill>
                <a:latin typeface="Segoe UI Semibold"/>
              </a:rPr>
              <a:t>For your notebook</a:t>
            </a:r>
          </a:p>
        </p:txBody>
      </p:sp>
      <p:pic>
        <p:nvPicPr>
          <p:cNvPr id="3" name="!!kicker-icon" descr="pen-fancy-1A5276.png">
            <a:extLst>
              <a:ext uri="{C183D7F6-B498-43B3-948B-1728B52AA6E4}">
                <adec:decorative xmlns:adec="http://schemas.microsoft.com/office/drawing/2017/decorative" val="1"/>
              </a:ext>
            </a:extLst>
          </p:cNvPr>
          <p:cNvPicPr>
            <a:picLocks noChangeAspect="1"/>
          </p:cNvPicPr>
          <p:nvPr/>
        </p:nvPicPr>
        <p:blipFill>
          <a:blip r:embed="rId2">
            <a:extLst>
              <a:ext uri="{96DAC541-7B7A-43D3-8B79-37D633B846F1}">
                <asvg:svgBlip xmlns:asvg="http://schemas.microsoft.com/office/drawing/2016/SVG/main" r:embed="rId3"/>
              </a:ext>
            </a:extLst>
          </a:blip>
          <a:stretch>
            <a:fillRect/>
          </a:stretch>
        </p:blipFill>
        <p:spPr>
          <a:xfrm>
            <a:off x="658368" y="411480"/>
            <a:ext cx="219456" cy="219456"/>
          </a:xfrm>
          <a:prstGeom prst="rect">
            <a:avLst/>
          </a:prstGeom>
        </p:spPr>
      </p:pic>
      <p:sp>
        <p:nvSpPr>
          <p:cNvPr id="4" name="!!kicker"/>
          <p:cNvSpPr txBox="1"/>
          <p:nvPr/>
        </p:nvSpPr>
        <p:spPr>
          <a:xfrm>
            <a:off x="987552" y="402336"/>
            <a:ext cx="10545775" cy="256032"/>
          </a:xfrm>
          <a:prstGeom prst="rect">
            <a:avLst/>
          </a:prstGeom>
          <a:noFill/>
        </p:spPr>
        <p:txBody>
          <a:bodyPr wrap="square" anchor="t" lIns="0" rIns="0" tIns="0" bIns="0">
            <a:noAutofit/>
          </a:bodyPr>
          <a:lstStyle/>
          <a:p>
            <a:pPr algn="l">
              <a:lnSpc>
                <a:spcPct val="100000"/>
              </a:lnSpc>
              <a:spcBef>
                <a:spcPts val="0"/>
              </a:spcBef>
              <a:spcAft>
                <a:spcPts val="0"/>
              </a:spcAft>
            </a:pPr>
            <a:r>
              <a:rPr sz="1250" b="1" i="0" spc="160">
                <a:solidFill>
                  <a:srgbClr val="1A5276"/>
                </a:solidFill>
                <a:latin typeface="Segoe UI"/>
              </a:rPr>
              <a:t>REVIEW QUESTIONS</a:t>
            </a:r>
          </a:p>
        </p:txBody>
      </p:sp>
      <p:sp>
        <p:nvSpPr>
          <p:cNvPr id="5"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98A4AE"/>
                </a:solidFill>
                <a:latin typeface="Segoe UI"/>
              </a:rPr>
              <a:t>Machine Learning  ·  Chapter 13  ·  Artificial Neural Networks</a:t>
            </a:r>
          </a:p>
        </p:txBody>
      </p:sp>
      <p:sp>
        <p:nvSpPr>
          <p:cNvPr id="6" name="!!footR"/>
          <p:cNvSpPr txBox="1"/>
          <p:nvPr/>
        </p:nvSpPr>
        <p:spPr>
          <a:xfrm>
            <a:off x="6639595" y="6437376"/>
            <a:ext cx="4893731" cy="237744"/>
          </a:xfrm>
          <a:prstGeom prst="rect">
            <a:avLst/>
          </a:prstGeom>
          <a:noFill/>
        </p:spPr>
        <p:txBody>
          <a:bodyPr wrap="square" anchor="t" lIns="0" rIns="0" tIns="0" bIns="0">
            <a:noAutofit/>
          </a:bodyPr>
          <a:lstStyle/>
          <a:p>
            <a:pPr algn="r"/>
            <a:r>
              <a:rPr sz="1000">
                <a:solidFill>
                  <a:srgbClr val="98A4AE"/>
                </a:solidFill>
                <a:latin typeface="Segoe UI"/>
              </a:rPr>
              <a:t>Handout p. 102     </a:t>
            </a:r>
            <a:fld id="{E9B787BC-5AD8-4E97-9EFC-4C05154770BF}" type="slidenum">
              <a:rPr lang="en-GB" sz="1000">
                <a:solidFill>
                  <a:srgbClr val="8795A1"/>
                </a:solidFill>
                <a:latin typeface="Segoe UI"/>
              </a:rPr>
              <a:t>42</a:t>
            </a:fld>
          </a:p>
        </p:txBody>
      </p:sp>
      <p:sp>
        <p:nvSpPr>
          <p:cNvPr id="7" name="!!rt0">
            <a:extLst>
              <a:ext uri="{C183D7F6-B498-43B3-948B-1728B52AA6E4}">
                <adec:decorative xmlns:adec="http://schemas.microsoft.com/office/drawing/2017/decorative" val="1"/>
              </a:ext>
            </a:extLst>
          </p:cNvPr>
          <p:cNvSpPr/>
          <p:nvPr/>
        </p:nvSpPr>
        <p:spPr>
          <a:xfrm>
            <a:off x="658368" y="1755648"/>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8" name="!!rtt0"/>
          <p:cNvSpPr txBox="1"/>
          <p:nvPr/>
        </p:nvSpPr>
        <p:spPr>
          <a:xfrm>
            <a:off x="658368" y="1796795"/>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9" name="!!rq0"/>
          <p:cNvSpPr txBox="1"/>
          <p:nvPr/>
        </p:nvSpPr>
        <p:spPr>
          <a:xfrm>
            <a:off x="1892807" y="1737360"/>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Contrast the perceptron training rule with the delta rule.</a:t>
            </a:r>
          </a:p>
        </p:txBody>
      </p:sp>
      <p:sp>
        <p:nvSpPr>
          <p:cNvPr id="10" name="!!rt1">
            <a:extLst>
              <a:ext uri="{C183D7F6-B498-43B3-948B-1728B52AA6E4}">
                <adec:decorative xmlns:adec="http://schemas.microsoft.com/office/drawing/2017/decorative" val="1"/>
              </a:ext>
            </a:extLst>
          </p:cNvPr>
          <p:cNvSpPr/>
          <p:nvPr/>
        </p:nvSpPr>
        <p:spPr>
          <a:xfrm>
            <a:off x="658368" y="2276246"/>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1" name="!!rtt1"/>
          <p:cNvSpPr txBox="1"/>
          <p:nvPr/>
        </p:nvSpPr>
        <p:spPr>
          <a:xfrm>
            <a:off x="658368" y="2317394"/>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2" name="!!rq1"/>
          <p:cNvSpPr txBox="1"/>
          <p:nvPr/>
        </p:nvSpPr>
        <p:spPr>
          <a:xfrm>
            <a:off x="1892807" y="2257958"/>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Why must a network’s weights be initialised randomly?</a:t>
            </a:r>
          </a:p>
        </p:txBody>
      </p:sp>
      <p:sp>
        <p:nvSpPr>
          <p:cNvPr id="13" name="!!rt2">
            <a:extLst>
              <a:ext uri="{C183D7F6-B498-43B3-948B-1728B52AA6E4}">
                <adec:decorative xmlns:adec="http://schemas.microsoft.com/office/drawing/2017/decorative" val="1"/>
              </a:ext>
            </a:extLst>
          </p:cNvPr>
          <p:cNvSpPr/>
          <p:nvPr/>
        </p:nvSpPr>
        <p:spPr>
          <a:xfrm>
            <a:off x="658368" y="2796844"/>
            <a:ext cx="1051560" cy="310896"/>
          </a:xfrm>
          <a:prstGeom prst="roundRect">
            <a:avLst>
              <a:gd name="adj" fmla="val 50000"/>
            </a:avLst>
          </a:prstGeom>
          <a:solidFill>
            <a:srgbClr val="E6F0F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4" name="!!rtt2"/>
          <p:cNvSpPr txBox="1"/>
          <p:nvPr/>
        </p:nvSpPr>
        <p:spPr>
          <a:xfrm>
            <a:off x="658368" y="2837992"/>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236794"/>
                </a:solidFill>
                <a:latin typeface="Segoe UI"/>
              </a:rPr>
              <a:t>SHORT</a:t>
            </a:r>
          </a:p>
        </p:txBody>
      </p:sp>
      <p:sp>
        <p:nvSpPr>
          <p:cNvPr id="15" name="!!rq2"/>
          <p:cNvSpPr txBox="1"/>
          <p:nvPr/>
        </p:nvSpPr>
        <p:spPr>
          <a:xfrm>
            <a:off x="1892807" y="2778556"/>
            <a:ext cx="9549079" cy="301142"/>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Explain why ReLU helps train deep networks.</a:t>
            </a:r>
          </a:p>
        </p:txBody>
      </p:sp>
      <p:sp>
        <p:nvSpPr>
          <p:cNvPr id="16" name="!!rt3">
            <a:extLst>
              <a:ext uri="{C183D7F6-B498-43B3-948B-1728B52AA6E4}">
                <adec:decorative xmlns:adec="http://schemas.microsoft.com/office/drawing/2017/decorative" val="1"/>
              </a:ext>
            </a:extLst>
          </p:cNvPr>
          <p:cNvSpPr/>
          <p:nvPr/>
        </p:nvSpPr>
        <p:spPr>
          <a:xfrm>
            <a:off x="658368" y="331744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7" name="!!rtt3"/>
          <p:cNvSpPr txBox="1"/>
          <p:nvPr/>
        </p:nvSpPr>
        <p:spPr>
          <a:xfrm>
            <a:off x="658368" y="335859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18" name="!!rq3"/>
          <p:cNvSpPr txBox="1"/>
          <p:nvPr/>
        </p:nvSpPr>
        <p:spPr>
          <a:xfrm>
            <a:off x="1892807" y="329915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Give weights for a two-layer network of threshold units that computes XOR, and verify it on all four inputs.</a:t>
            </a:r>
          </a:p>
        </p:txBody>
      </p:sp>
      <p:sp>
        <p:nvSpPr>
          <p:cNvPr id="19" name="!!rt4">
            <a:extLst>
              <a:ext uri="{C183D7F6-B498-43B3-948B-1728B52AA6E4}">
                <adec:decorative xmlns:adec="http://schemas.microsoft.com/office/drawing/2017/decorative" val="1"/>
              </a:ext>
            </a:extLst>
          </p:cNvPr>
          <p:cNvSpPr/>
          <p:nvPr/>
        </p:nvSpPr>
        <p:spPr>
          <a:xfrm>
            <a:off x="658368" y="4139183"/>
            <a:ext cx="1051560" cy="310896"/>
          </a:xfrm>
          <a:prstGeom prst="roundRect">
            <a:avLst>
              <a:gd name="adj" fmla="val 50000"/>
            </a:avLst>
          </a:prstGeom>
          <a:solidFill>
            <a:srgbClr val="E2EF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0" name="!!rtt4"/>
          <p:cNvSpPr txBox="1"/>
          <p:nvPr/>
        </p:nvSpPr>
        <p:spPr>
          <a:xfrm>
            <a:off x="658368" y="4180331"/>
            <a:ext cx="1051560" cy="237744"/>
          </a:xfrm>
          <a:prstGeom prst="rect">
            <a:avLst/>
          </a:prstGeom>
          <a:noFill/>
        </p:spPr>
        <p:txBody>
          <a:bodyPr wrap="square" anchor="t" lIns="0" rIns="0" tIns="0" bIns="0">
            <a:noAutofit/>
          </a:bodyPr>
          <a:lstStyle/>
          <a:p>
            <a:pPr algn="ctr">
              <a:lnSpc>
                <a:spcPct val="100000"/>
              </a:lnSpc>
              <a:spcBef>
                <a:spcPts val="0"/>
              </a:spcBef>
              <a:spcAft>
                <a:spcPts val="0"/>
              </a:spcAft>
            </a:pPr>
            <a:r>
              <a:rPr sz="1100" b="1" i="0" spc="120">
                <a:solidFill>
                  <a:srgbClr val="107964"/>
                </a:solidFill>
                <a:latin typeface="Segoe UI"/>
              </a:rPr>
              <a:t>APPLIED</a:t>
            </a:r>
          </a:p>
        </p:txBody>
      </p:sp>
      <p:sp>
        <p:nvSpPr>
          <p:cNvPr id="21" name="!!rq4"/>
          <p:cNvSpPr txBox="1"/>
          <p:nvPr/>
        </p:nvSpPr>
        <p:spPr>
          <a:xfrm>
            <a:off x="1892807" y="4120895"/>
            <a:ext cx="9549079" cy="602284"/>
          </a:xfrm>
          <a:prstGeom prst="rect">
            <a:avLst/>
          </a:prstGeom>
          <a:noFill/>
        </p:spPr>
        <p:txBody>
          <a:bodyPr wrap="square" anchor="t" lIns="0" rIns="0" tIns="0" bIns="0">
            <a:noAutofit/>
          </a:bodyPr>
          <a:lstStyle/>
          <a:p>
            <a:pPr algn="l">
              <a:lnSpc>
                <a:spcPct val="104000"/>
              </a:lnSpc>
              <a:spcBef>
                <a:spcPts val="0"/>
              </a:spcBef>
              <a:spcAft>
                <a:spcPts val="0"/>
              </a:spcAft>
            </a:pPr>
            <a:r>
              <a:rPr sz="1900" b="0" i="0">
                <a:solidFill>
                  <a:srgbClr val="1C252B"/>
                </a:solidFill>
                <a:latin typeface="Segoe UI"/>
              </a:rPr>
              <a:t>Repeat the backpropagation worked example for the input </a:t>
            </a:r>
            <a:r>
              <a:rPr sz="1900" b="0" i="0">
                <a:solidFill>
                  <a:srgbClr val="1C252B"/>
                </a:solidFill>
                <a:latin typeface="Cambria"/>
              </a:rPr>
              <a:t>(0, 1)</a:t>
            </a:r>
            <a:r>
              <a:rPr sz="1900" b="0" i="0">
                <a:solidFill>
                  <a:srgbClr val="1C252B"/>
                </a:solidFill>
                <a:latin typeface="Segoe UI"/>
              </a:rPr>
              <a:t> with target </a:t>
            </a:r>
            <a:r>
              <a:rPr sz="1900" b="0" i="1">
                <a:solidFill>
                  <a:srgbClr val="1C252B"/>
                </a:solidFill>
                <a:latin typeface="Cambria"/>
              </a:rPr>
              <a:t>t</a:t>
            </a:r>
            <a:r>
              <a:rPr sz="1900" b="0" i="0">
                <a:solidFill>
                  <a:srgbClr val="1C252B"/>
                </a:solidFill>
                <a:latin typeface="Cambria"/>
              </a:rPr>
              <a:t> = 0</a:t>
            </a:r>
            <a:r>
              <a:rPr sz="1900" b="0" i="0">
                <a:solidFill>
                  <a:srgbClr val="1C252B"/>
                </a:solidFill>
                <a:latin typeface="Segoe UI"/>
              </a:rPr>
              <a:t>, starting from the original weights. Report the output before and after the update.</a:t>
            </a:r>
          </a:p>
        </p:txBody>
      </p:sp>
      <p:sp>
        <p:nvSpPr>
          <p:cNvPr id="22" name="!!ptrack">
            <a:extLst>
              <a:ext uri="{C183D7F6-B498-43B3-948B-1728B52AA6E4}">
                <adec:decorative xmlns:adec="http://schemas.microsoft.com/office/drawing/2017/decorative" val="1"/>
              </a:ext>
            </a:extLst>
          </p:cNvPr>
          <p:cNvSpPr/>
          <p:nvPr/>
        </p:nvSpPr>
        <p:spPr>
          <a:xfrm>
            <a:off x="0" y="0"/>
            <a:ext cx="12191695" cy="54864"/>
          </a:xfrm>
          <a:prstGeom prst="rect">
            <a:avLst/>
          </a:prstGeom>
          <a:solidFill>
            <a:srgbClr val="EDF1F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23" name="!!pfill">
            <a:extLst>
              <a:ext uri="{C183D7F6-B498-43B3-948B-1728B52AA6E4}">
                <adec:decorative xmlns:adec="http://schemas.microsoft.com/office/drawing/2017/decorative" val="1"/>
              </a:ext>
            </a:extLst>
          </p:cNvPr>
          <p:cNvSpPr/>
          <p:nvPr/>
        </p:nvSpPr>
        <p:spPr>
          <a:xfrm>
            <a:off x="0" y="0"/>
            <a:ext cx="11908167" cy="54864"/>
          </a:xfrm>
          <a:prstGeom prst="rect">
            <a:avLst/>
          </a:prstGeom>
          <a:solidFill>
            <a:srgbClr val="27AE60"/>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1B7A43"/>
        </a:solidFill>
        <a:effectLst/>
      </p:bgPr>
    </p:bg>
    <p:spTree>
      <p:nvGrpSpPr>
        <p:cNvPr id="1" name=""/>
        <p:cNvGrpSpPr/>
        <p:nvPr/>
      </p:nvGrpSpPr>
      <p:grpSpPr/>
      <p:sp>
        <p:nvSpPr>
          <p:cNvPr id="3" name="!!wm">
            <a:extLst>
              <a:ext uri="{C183D7F6-B498-43B3-948B-1728B52AA6E4}">
                <adec:decorative xmlns:adec="http://schemas.microsoft.com/office/drawing/2017/decorative" val="1"/>
              </a:ext>
            </a:extLst>
          </p:cNvPr>
          <p:cNvSpPr txBox="1"/>
          <p:nvPr/>
        </p:nvSpPr>
        <p:spPr>
          <a:xfrm>
            <a:off x="6430975" y="-502920"/>
            <a:ext cx="5486400" cy="4572000"/>
          </a:xfrm>
          <a:prstGeom prst="rect">
            <a:avLst/>
          </a:prstGeom>
          <a:noFill/>
        </p:spPr>
        <p:txBody>
          <a:bodyPr wrap="square" anchor="t" lIns="0" rIns="0" tIns="0" bIns="0">
            <a:noAutofit/>
          </a:bodyPr>
          <a:lstStyle/>
          <a:p>
            <a:pPr algn="r">
              <a:lnSpc>
                <a:spcPct val="100000"/>
              </a:lnSpc>
              <a:spcBef>
                <a:spcPts val="0"/>
              </a:spcBef>
              <a:spcAft>
                <a:spcPts val="0"/>
              </a:spcAft>
            </a:pPr>
            <a:r>
              <a:rPr sz="28000" b="0" i="0">
                <a:solidFill>
                  <a:srgbClr val="2D8552"/>
                </a:solidFill>
                <a:latin typeface="Segoe UI Black"/>
              </a:rPr>
              <a:t>13</a:t>
            </a:r>
          </a:p>
        </p:txBody>
      </p:sp>
      <p:sp>
        <p:nvSpPr>
          <p:cNvPr id="2" name="!!title"/>
          <p:cNvSpPr>
            <a:spLocks noGrp="1"/>
          </p:cNvSpPr>
          <p:nvPr>
            <p:ph type="title"/>
          </p:nvPr>
        </p:nvSpPr>
        <p:spPr>
          <a:xfrm>
            <a:off x="658368" y="1243584"/>
            <a:ext cx="8229600" cy="822960"/>
          </a:xfrm>
        </p:spPr>
        <p:txBody>
          <a:bodyPr wrap="square" lIns="0" rIns="0" tIns="0" bIns="0" anchor="t">
            <a:noAutofit/>
          </a:bodyPr>
          <a:lstStyle/>
          <a:p>
            <a:pPr algn="l">
              <a:lnSpc>
                <a:spcPct val="96000"/>
              </a:lnSpc>
            </a:pPr>
            <a:r>
              <a:rPr sz="4000" b="0">
                <a:solidFill>
                  <a:srgbClr val="FFFFFF"/>
                </a:solidFill>
                <a:latin typeface="Segoe UI Semibold"/>
              </a:rPr>
              <a:t>End of Chapter 13</a:t>
            </a:r>
          </a:p>
        </p:txBody>
      </p:sp>
      <p:sp>
        <p:nvSpPr>
          <p:cNvPr id="4" name="!!tbar">
            <a:extLst>
              <a:ext uri="{C183D7F6-B498-43B3-948B-1728B52AA6E4}">
                <adec:decorative xmlns:adec="http://schemas.microsoft.com/office/drawing/2017/decorative" val="1"/>
              </a:ext>
            </a:extLst>
          </p:cNvPr>
          <p:cNvSpPr/>
          <p:nvPr/>
        </p:nvSpPr>
        <p:spPr>
          <a:xfrm>
            <a:off x="658368" y="1024128"/>
            <a:ext cx="822960" cy="6400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5" name="!!cl0">
            <a:extLst>
              <a:ext uri="{C183D7F6-B498-43B3-948B-1728B52AA6E4}">
                <adec:decorative xmlns:adec="http://schemas.microsoft.com/office/drawing/2017/decorative" val="1"/>
              </a:ext>
            </a:extLst>
          </p:cNvPr>
          <p:cNvSpPr/>
          <p:nvPr/>
        </p:nvSpPr>
        <p:spPr>
          <a:xfrm>
            <a:off x="658368"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6" name="!!cll0"/>
          <p:cNvSpPr txBox="1"/>
          <p:nvPr/>
        </p:nvSpPr>
        <p:spPr>
          <a:xfrm>
            <a:off x="932688"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NEXT</a:t>
            </a:r>
          </a:p>
        </p:txBody>
      </p:sp>
      <p:sp>
        <p:nvSpPr>
          <p:cNvPr id="7" name="!!clv0"/>
          <p:cNvSpPr txBox="1"/>
          <p:nvPr/>
        </p:nvSpPr>
        <p:spPr>
          <a:xfrm>
            <a:off x="932688"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Chapter 14 — Ensemble Learning</a:t>
            </a:r>
          </a:p>
        </p:txBody>
      </p:sp>
      <p:sp>
        <p:nvSpPr>
          <p:cNvPr id="8" name="!!cl1">
            <a:extLst>
              <a:ext uri="{C183D7F6-B498-43B3-948B-1728B52AA6E4}">
                <adec:decorative xmlns:adec="http://schemas.microsoft.com/office/drawing/2017/decorative" val="1"/>
              </a:ext>
            </a:extLst>
          </p:cNvPr>
          <p:cNvSpPr/>
          <p:nvPr/>
        </p:nvSpPr>
        <p:spPr>
          <a:xfrm>
            <a:off x="6233007" y="2286000"/>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9" name="!!cll1"/>
          <p:cNvSpPr txBox="1"/>
          <p:nvPr/>
        </p:nvSpPr>
        <p:spPr>
          <a:xfrm>
            <a:off x="6507327" y="2468880"/>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READ</a:t>
            </a:r>
          </a:p>
        </p:txBody>
      </p:sp>
      <p:sp>
        <p:nvSpPr>
          <p:cNvPr id="10" name="!!clv1"/>
          <p:cNvSpPr txBox="1"/>
          <p:nvPr/>
        </p:nvSpPr>
        <p:spPr>
          <a:xfrm>
            <a:off x="6507327" y="2761488"/>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Handout Chapter 13, pages 95–102</a:t>
            </a:r>
          </a:p>
        </p:txBody>
      </p:sp>
      <p:sp>
        <p:nvSpPr>
          <p:cNvPr id="11" name="!!cl2">
            <a:extLst>
              <a:ext uri="{C183D7F6-B498-43B3-948B-1728B52AA6E4}">
                <adec:decorative xmlns:adec="http://schemas.microsoft.com/office/drawing/2017/decorative" val="1"/>
              </a:ext>
            </a:extLst>
          </p:cNvPr>
          <p:cNvSpPr/>
          <p:nvPr/>
        </p:nvSpPr>
        <p:spPr>
          <a:xfrm>
            <a:off x="658368"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2" name="!!cll2"/>
          <p:cNvSpPr txBox="1"/>
          <p:nvPr/>
        </p:nvSpPr>
        <p:spPr>
          <a:xfrm>
            <a:off x="932688"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THIS WEEK'S LAB</a:t>
            </a:r>
          </a:p>
        </p:txBody>
      </p:sp>
      <p:sp>
        <p:nvSpPr>
          <p:cNvPr id="13" name="!!clv2"/>
          <p:cNvSpPr txBox="1"/>
          <p:nvPr/>
        </p:nvSpPr>
        <p:spPr>
          <a:xfrm>
            <a:off x="932688"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Backpropagation from scratch</a:t>
            </a:r>
          </a:p>
        </p:txBody>
      </p:sp>
      <p:sp>
        <p:nvSpPr>
          <p:cNvPr id="14" name="!!cl3">
            <a:extLst>
              <a:ext uri="{C183D7F6-B498-43B3-948B-1728B52AA6E4}">
                <adec:decorative xmlns:adec="http://schemas.microsoft.com/office/drawing/2017/decorative" val="1"/>
              </a:ext>
            </a:extLst>
          </p:cNvPr>
          <p:cNvSpPr/>
          <p:nvPr/>
        </p:nvSpPr>
        <p:spPr>
          <a:xfrm>
            <a:off x="6233007" y="3584448"/>
            <a:ext cx="5300319" cy="1097280"/>
          </a:xfrm>
          <a:prstGeom prst="roundRect">
            <a:avLst>
              <a:gd name="adj" fmla="val 8333"/>
            </a:avLst>
          </a:prstGeom>
          <a:solidFill>
            <a:srgbClr val="155F34"/>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p>
        </p:txBody>
      </p:sp>
      <p:sp>
        <p:nvSpPr>
          <p:cNvPr id="15" name="!!cll3"/>
          <p:cNvSpPr txBox="1"/>
          <p:nvPr/>
        </p:nvSpPr>
        <p:spPr>
          <a:xfrm>
            <a:off x="6507327" y="3767328"/>
            <a:ext cx="4751679" cy="237744"/>
          </a:xfrm>
          <a:prstGeom prst="rect">
            <a:avLst/>
          </a:prstGeom>
          <a:noFill/>
        </p:spPr>
        <p:txBody>
          <a:bodyPr wrap="square" anchor="t" lIns="0" rIns="0" tIns="0" bIns="0">
            <a:noAutofit/>
          </a:bodyPr>
          <a:lstStyle/>
          <a:p>
            <a:pPr algn="l">
              <a:lnSpc>
                <a:spcPct val="100000"/>
              </a:lnSpc>
              <a:spcBef>
                <a:spcPts val="0"/>
              </a:spcBef>
              <a:spcAft>
                <a:spcPts val="0"/>
              </a:spcAft>
            </a:pPr>
            <a:r>
              <a:rPr sz="1150" b="1" i="0" spc="160">
                <a:solidFill>
                  <a:srgbClr val="A8CCB8"/>
                </a:solidFill>
                <a:latin typeface="Segoe UI"/>
              </a:rPr>
              <a:t>ASSESSMENT</a:t>
            </a:r>
          </a:p>
        </p:txBody>
      </p:sp>
      <p:sp>
        <p:nvSpPr>
          <p:cNvPr id="16" name="!!clv3"/>
          <p:cNvSpPr txBox="1"/>
          <p:nvPr/>
        </p:nvSpPr>
        <p:spPr>
          <a:xfrm>
            <a:off x="6507327" y="4059935"/>
            <a:ext cx="4751679" cy="566928"/>
          </a:xfrm>
          <a:prstGeom prst="rect">
            <a:avLst/>
          </a:prstGeom>
          <a:noFill/>
        </p:spPr>
        <p:txBody>
          <a:bodyPr wrap="square" anchor="t" lIns="0" rIns="0" tIns="0" bIns="0">
            <a:noAutofit/>
          </a:bodyPr>
          <a:lstStyle/>
          <a:p>
            <a:pPr algn="l">
              <a:lnSpc>
                <a:spcPct val="100000"/>
              </a:lnSpc>
              <a:spcBef>
                <a:spcPts val="0"/>
              </a:spcBef>
              <a:spcAft>
                <a:spcPts val="0"/>
              </a:spcAft>
            </a:pPr>
            <a:r>
              <a:rPr sz="2100" b="0" i="0">
                <a:solidFill>
                  <a:srgbClr val="FFFFFF"/>
                </a:solidFill>
                <a:latin typeface="Segoe UI Semibold"/>
              </a:rPr>
              <a:t>Project set; proposal due</a:t>
            </a:r>
          </a:p>
        </p:txBody>
      </p:sp>
      <p:sp>
        <p:nvSpPr>
          <p:cNvPr id="17" name="!!footL"/>
          <p:cNvSpPr txBox="1"/>
          <p:nvPr/>
        </p:nvSpPr>
        <p:spPr>
          <a:xfrm>
            <a:off x="658368" y="6437376"/>
            <a:ext cx="6742474" cy="237744"/>
          </a:xfrm>
          <a:prstGeom prst="rect">
            <a:avLst/>
          </a:prstGeom>
          <a:noFill/>
        </p:spPr>
        <p:txBody>
          <a:bodyPr wrap="square" anchor="t" lIns="0" rIns="0" tIns="0" bIns="0">
            <a:noAutofit/>
          </a:bodyPr>
          <a:lstStyle/>
          <a:p>
            <a:pPr algn="l">
              <a:lnSpc>
                <a:spcPct val="100000"/>
              </a:lnSpc>
              <a:spcBef>
                <a:spcPts val="0"/>
              </a:spcBef>
              <a:spcAft>
                <a:spcPts val="0"/>
              </a:spcAft>
            </a:pPr>
            <a:r>
              <a:rPr sz="1000" b="0" i="0">
                <a:solidFill>
                  <a:srgbClr val="B9C6D0"/>
                </a:solidFill>
                <a:latin typeface="Segoe UI"/>
              </a:rPr>
              <a:t>Machine Learning  ·  Chapter 13  ·  Artificial Neural Networks</a:t>
            </a:r>
          </a:p>
        </p:txBody>
      </p:sp>
      <p:sp>
        <p:nvSpPr>
          <p:cNvPr id="18" name="!!footR"/>
          <p:cNvSpPr txBox="1"/>
          <p:nvPr/>
        </p:nvSpPr>
        <p:spPr>
          <a:xfrm>
            <a:off x="6639595" y="6437376"/>
            <a:ext cx="4893731" cy="237744"/>
          </a:xfrm>
          <a:prstGeom prst="rect">
            <a:avLst/>
          </a:prstGeom>
          <a:noFill/>
        </p:spPr>
        <p:txBody>
          <a:bodyPr wrap="square" anchor="t" lIns="0" rIns="0" tIns="0" bIns="0">
            <a:noAutofit/>
          </a:bodyPr>
          <a:lstStyle/>
          <a:p>
            <a:pPr algn="r"/>
            <a:fld id="{1BEAF480-2FF6-4831-92D7-9D870BC676E7}" type="slidenum">
              <a:rPr lang="en-GB" sz="1000">
                <a:solidFill>
                  <a:srgbClr val="D5DEE5"/>
                </a:solidFill>
                <a:latin typeface="Segoe UI"/>
              </a:rPr>
              <a:t>43</a:t>
            </a:fld>
          </a:p>
        </p:txBody>
      </p:sp>
    </p:spTree>
  </p:cSld>
  <p:clrMapOvr>
    <a:masterClrMapping/>
  </p:clrMapOvr>
  <mc:AlternateContent xmlns:mc="http://schemas.openxmlformats.org/markup-compatibility/2006" xmlns:p14="http://schemas.microsoft.com/office/powerpoint/2010/main">
    <mc:Choice Requires="p14">
      <p:transition spd="med" p14:dur="450">
        <p:fade/>
      </p:transition>
    </mc:Choice>
    <mc:Fallback>
      <p:transition spd="med">
        <p:fade/>
      </p:transition>
    </mc:Fallback>
  </mc:AlternateContent>
</p:sld>
</file>

<file path=ppt/theme/theme1.xml><?xml version="1.0" encoding="utf-8"?>
<a:theme xmlns:a="http://schemas.openxmlformats.org/drawingml/2006/main" name="Machine Learning Fall 2026">
  <a:themeElements>
    <a:clrScheme name="Machine Learning Fall 2026">
      <a:dk1>
        <a:srgbClr val="1C252B"/>
      </a:dk1>
      <a:lt1>
        <a:srgbClr val="FFFFFF"/>
      </a:lt1>
      <a:dk2>
        <a:srgbClr val="1A5276"/>
      </a:dk2>
      <a:lt2>
        <a:srgbClr val="EBF5FB"/>
      </a:lt2>
      <a:accent1>
        <a:srgbClr val="1A5276"/>
      </a:accent1>
      <a:accent2>
        <a:srgbClr val="2E86C1"/>
      </a:accent2>
      <a:accent3>
        <a:srgbClr val="E74C3C"/>
      </a:accent3>
      <a:accent4>
        <a:srgbClr val="27AE60"/>
      </a:accent4>
      <a:accent5>
        <a:srgbClr val="8E44AD"/>
      </a:accent5>
      <a:accent6>
        <a:srgbClr val="B7950B"/>
      </a:accent6>
      <a:hlink>
        <a:srgbClr val="2E86C1"/>
      </a:hlink>
      <a:folHlink>
        <a:srgbClr val="8E44AD"/>
      </a:folHlink>
    </a:clrScheme>
    <a:fontScheme name="Machine Learning Fall 2026">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Chapter 13: Artificial Neural Networks</dc:title>
  <dc:subject>Machine Learning — From Hypotheses to Decisions · BSIT · Fall 2026</dc:subject>
  <dc:creator>Dr. Mustafa Hameed</dc:creator>
  <cp:keywords>machine learning; lecture slides; BSIT; HEC; Fall 2026</cp:keywords>
  <dc:description>generated using python-pptx</dc:description>
  <cp:lastModifiedBy>Steve Canny</cp:lastModifiedBy>
  <cp:revision>1</cp:revision>
  <dcterms:created xsi:type="dcterms:W3CDTF">2013-01-27T09:14:16Z</dcterms:created>
  <dcterms:modified xsi:type="dcterms:W3CDTF">2013-01-27T09:15:58Z</dcterms:modified>
  <cp:category>Lecture slides</cp:category>
</cp:coreProperties>
</file>