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01.svg" ContentType="image/svg+xml"/>
  <Override PartName="/ppt/media/image103.svg" ContentType="image/svg+xml"/>
  <Override PartName="/ppt/media/image104.svg" ContentType="image/svg+xml"/>
  <Override PartName="/ppt/media/image105.svg" ContentType="image/svg+xml"/>
  <Override PartName="/ppt/media/image106.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6.svg" ContentType="image/svg+xml"/>
  <Override PartName="/ppt/media/image28.svg" ContentType="image/svg+xml"/>
  <Override PartName="/ppt/media/image30.svg" ContentType="image/svg+xml"/>
  <Override PartName="/ppt/media/image31.svg" ContentType="image/svg+xml"/>
  <Override PartName="/ppt/media/image32.svg" ContentType="image/svg+xml"/>
  <Override PartName="/ppt/media/image34.svg" ContentType="image/svg+xml"/>
  <Override PartName="/ppt/media/image36.svg" ContentType="image/svg+xml"/>
  <Override PartName="/ppt/media/image37.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8.svg" ContentType="image/svg+xml"/>
  <Override PartName="/ppt/media/image79.svg" ContentType="image/svg+xml"/>
  <Override PartName="/ppt/media/image8.svg" ContentType="image/svg+xml"/>
  <Override PartName="/ppt/media/image80.svg" ContentType="image/svg+xml"/>
  <Override PartName="/ppt/media/image81.svg" ContentType="image/svg+xml"/>
  <Override PartName="/ppt/media/image82.svg" ContentType="image/svg+xml"/>
  <Override PartName="/ppt/media/image84.svg" ContentType="image/svg+xml"/>
  <Override PartName="/ppt/media/image85.svg" ContentType="image/svg+xml"/>
  <Override PartName="/ppt/media/image86.svg" ContentType="image/svg+xml"/>
  <Override PartName="/ppt/media/image87.svg" ContentType="image/svg+xml"/>
  <Override PartName="/ppt/media/image88.svg" ContentType="image/svg+xml"/>
  <Override PartName="/ppt/media/image89.svg" ContentType="image/svg+xml"/>
  <Override PartName="/ppt/media/image91.svg" ContentType="image/svg+xml"/>
  <Override PartName="/ppt/media/image93.svg" ContentType="image/svg+xml"/>
  <Override PartName="/ppt/media/image94.svg" ContentType="image/svg+xml"/>
  <Override PartName="/ppt/media/image95.svg" ContentType="image/svg+xml"/>
  <Override PartName="/ppt/media/image96.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4BD41EE-2696-4A94-BB40-093759467F6B}">
          <p14:sldIdLst>
            <p14:sldId id="256"/>
            <p14:sldId id="257"/>
            <p14:sldId id="258"/>
            <p14:sldId id="259"/>
            <p14:sldId id="260"/>
          </p14:sldIdLst>
        </p14:section>
        <p14:section name="13.1 From Neurons to Units" id="{64F9291A-41EB-47CD-AEE2-C7EBDAF93D1D}">
          <p14:sldIdLst>
            <p14:sldId id="261"/>
          </p14:sldIdLst>
        </p14:section>
        <p14:section name="13.2 The Perceptron" id="{B8F25322-DB83-472C-B0E0-36F71C096F0F}">
          <p14:sldIdLst>
            <p14:sldId id="262"/>
            <p14:sldId id="263"/>
            <p14:sldId id="264"/>
            <p14:sldId id="265"/>
            <p14:sldId id="266"/>
          </p14:sldIdLst>
        </p14:section>
        <p14:section name="13.3 Linear Separability and XOR" id="{B406D7D6-7304-4FA6-8B0F-AA7B2F6BFDD8}">
          <p14:sldIdLst>
            <p14:sldId id="267"/>
          </p14:sldIdLst>
        </p14:section>
        <p14:section name="13.4 Gradient Descent and the Delta Rule" id="{155FFD6C-C4EB-4267-AE0B-F4E35890912A}">
          <p14:sldIdLst>
            <p14:sldId id="268"/>
          </p14:sldIdLst>
        </p14:section>
        <p14:section name="13.5 Multilayer Networks and Backpropagation" id="{C9BFB291-C480-4708-B4BE-03C7F70B45C0}">
          <p14:sldIdLst>
            <p14:sldId id="269"/>
            <p14:sldId id="270"/>
            <p14:sldId id="271"/>
            <p14:sldId id="272"/>
            <p14:sldId id="273"/>
            <p14:sldId id="274"/>
          </p14:sldIdLst>
        </p14:section>
        <p14:section name="13.6 Activation Functions and Outputs" id="{60807864-BAC0-4184-A423-BF2382665F94}">
          <p14:sldIdLst>
            <p14:sldId id="275"/>
          </p14:sldIdLst>
        </p14:section>
        <p14:section name="13.7 Training Well: Overfitting and Its Cures" id="{11A13795-BD61-4785-A334-49F7BC05C77E}">
          <p14:sldIdLst>
            <p14:sldId id="276"/>
            <p14:sldId id="277"/>
            <p14:sldId id="278"/>
            <p14:sldId id="279"/>
          </p14:sldIdLst>
        </p14:section>
        <p14:section name="Pitfalls" id="{B3E2562E-16E9-44C3-A798-9DE996265861}">
          <p14:sldIdLst>
            <p14:sldId id="280"/>
          </p14:sldIdLst>
        </p14:section>
        <p14:section name="Four lenses" id="{958266E2-902D-4772-988D-04DC4CE6567F}">
          <p14:sldIdLst>
            <p14:sldId id="281"/>
            <p14:sldId id="282"/>
            <p14:sldId id="283"/>
            <p14:sldId id="284"/>
            <p14:sldId id="285"/>
          </p14:sldIdLst>
        </p14:section>
        <p14:section name="Lab" id="{C0E561DE-E294-43EF-A711-3E4642085FA0}">
          <p14:sldIdLst>
            <p14:sldId id="286"/>
            <p14:sldId id="287"/>
            <p14:sldId id="288"/>
            <p14:sldId id="289"/>
            <p14:sldId id="290"/>
            <p14:sldId id="291"/>
          </p14:sldIdLst>
        </p14:section>
        <p14:section name="Checkpoint" id="{5FBCFC3B-9662-4461-82FA-6E7CCAD854FB}">
          <p14:sldIdLst>
            <p14:sldId id="292"/>
            <p14:sldId id="293"/>
            <p14:sldId id="294"/>
            <p14:sldId id="295"/>
            <p14:sldId id="296"/>
            <p14:sldId id="297"/>
          </p14:sldIdLst>
        </p14:section>
        <p14:section name="Wrap-up" id="{F8054B71-A5C9-48DE-B3F8-46780658A1A3}">
          <p14:sldIdLst>
            <p14:sldId id="298"/>
            <p14:sldId id="299"/>
            <p14:sldId id="300"/>
            <p14:sldId id="301"/>
            <p14:sldId id="302"/>
            <p14:sldId id="30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13: Artificial Neural Networks. Part 3 — Supervised Learning Algorithms. Week 11: Neural networks; the project brief. Handout pages 98–105.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(the chain rule, gradient descent), Chapter 6 (the sigmoid, the softmax, cross-entropy) and Chapter 7 (overfitting, regularisation).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artificial neuron; perceptron; threshold unit; perceptron training rule; linear separability; XOR; delta rule; sigmoid unit; multilayer perceptron; hidden layer; forward pass; backpropagation; epoch; activation function; ReLU; early stopping; weight decay; dropout.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13.1 (handout p. 99): A perceptron: a weighted sum of the inputs, then a threshold. The bias is a weight on a constant input of 1. With the weights shown on the right it computes logical AND.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perceptron draws one straight line. AND and OR can be separated by a line; XOR — true when exactly one input is true — cannot: its two positive points (0,1) and (1,0) sit on one diagonal and its two negatives on the other. No perceptron, however trained, can represent XOR. Minsky and Papert’s 1969 book made this point so forcefully that neural network research stalled for over a decade.</a:t>
            </a:r>
          </a:p>
          <a:p/>
          <a:p>
            <a:r>
              <a:t>Figure 13.2 (handout p. 100): AND and OR are linearly separable; XOR is not. A second layer of units, each drawing its own line, is needed to represent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cure is a second layer. XOR is “OR but not AND”: one hidden unit computes OR, another computes NAND (not-AND), and an output unit computes AND of the two. Each unit draws one line; together they carve out the diagonal. This is why networks have hidden layers — and the only problem is how to train them, since the perceptron rule needs a target for every unit and the hidden units have none. The perceptron rule cannot be extended to hidden units because the step function has no useful derivative. The fix is to replace hard thresholds with smooth units and train by gradient descent on an error measure.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sigmoid unit, o = σ(w·x), the chain rule adds one factor, the derivative of the sigmoid, which has the convenient form σ′(z) = σ(z) (1 − σ(z)) = o(1 − 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13.3 (handout p. 101): The network of the worked example, with the unit outputs of the forward pass written in each unit. Errors computed at the output are passed backwards along the same connections to assign blame to the hidden units.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13.4 (handout p. 102): Three activation functions. The sigmoid and tanh flatten out for large |z|, where their gradients vanish; ReLU does not saturate for positive inputs, which is why it trains deep networks faster.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Mitchell’s networks use sigmoids throughout. Modern practice differs in two ways. Hidden layers use ReLU, max(0, z): its gradient is 1 for any positive input, so it does not shrink the error signal the way a saturated sigmoid does (the vanishing gradient that made deep sigmoid networks hard to train). And the output layer matches the task: a single sigmoid with cross-entropy for two classes (exactly logistic regression, Chapter 6), a softmax with cross-entropy for several, a linear unit with squared error for regression. A network with enough hidden units can memorise any training set, and it will if allowed to. Figure 13.5 shows the typical course: training error falls steadily, validation error falls for a while and then rises as the network begins fitting the noise.</a:t>
            </a:r>
          </a:p>
          <a:p/>
          <a:p>
            <a:r>
              <a:t>Figure 13.5 (handout p. 102): Training and validation loss of a two-hidden-layer network on data with 20% label noise. Training loss goes to zero; validation loss is lowest after five epochs and rises thereafter. Early stopping keeps the epoch-5 weights.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Clickstream sequences from a learning platform — which video, which quiz, how long — are raw, high-dimensional input where networks can find patterns hand-built features miss. They need thousands of students, not hundreds; with one course’s data, the regularised linear model usually wins.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Tabular project data is small and structured, the setting where networks have the least advantage over trees and linear models. Where they help is text: embedding ticket descriptions or commit messages before any other model sees them.</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Networks trained on raw vibration or audio windows detect faults that summary statistics miss, and small networks can be compressed to run on microcontrollers. The training cost is paid once, in the cloud; inference is a few matrix multiplications on the device.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Networks classify malware from raw bytes and traffic from packet sequences. They are also the most vulnerable to adversarial examples: tiny, deliberately crafted input changes that flip the output. A security model is judged by how it fails under attack, not only by its accuracy.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XOR: no perceptron can learn it; a 2-3-1 network can.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XOR: no perceptron can learn it; a 2-3-1 network can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Handwritten digits: a network against a linear model.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(0, 1): −1 + 0 + 1 = 0, not greater than 0, so output 0. (1, 0): −1 + 2 + 0 = 1 &gt; 0, so output 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XOR’s positive and negative points lie on opposite diagonals; no single line separates them. A hidden layer with one unit for OR and one for NAND, combined by an AND output unit, represents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hidden unit affects the error only through the output units it feeds, so by the chain rule its share of the blame is the output deltas weighted by its connections to them: δh = oh(1 − oh)Σk wkhδk.</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14 — Ensemble Learning. READ: Handout Chapter 13, pages 98–105. THIS WEEK'S LAB: Backpropagation from scratch. ASSESSMENT: Project set; proposal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3.xml"/><Relationship Id="rId9" Type="http://schemas.openxmlformats.org/officeDocument/2006/relationships/slide" Target="slide14.xml"/><Relationship Id="rId10" Type="http://schemas.openxmlformats.org/officeDocument/2006/relationships/slide" Target="slide20.xml"/><Relationship Id="rId11" Type="http://schemas.openxmlformats.org/officeDocument/2006/relationships/slide" Target="slide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9.svg"/><Relationship Id="rId4" Type="http://schemas.openxmlformats.org/officeDocument/2006/relationships/image" Target="../media/image20.png"/><Relationship Id="rId5" Type="http://schemas.openxmlformats.org/officeDocument/2006/relationships/image" Target="../media/image21.sv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6.svg"/><Relationship Id="rId4" Type="http://schemas.openxmlformats.org/officeDocument/2006/relationships/image" Target="../media/image27.png"/><Relationship Id="rId5" Type="http://schemas.openxmlformats.org/officeDocument/2006/relationships/image" Target="../media/image28.svg"/><Relationship Id="rId6" Type="http://schemas.openxmlformats.org/officeDocument/2006/relationships/image" Target="../media/image29.png"/><Relationship Id="rId7" Type="http://schemas.openxmlformats.org/officeDocument/2006/relationships/image" Target="../media/image30.sv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1.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2.svg"/><Relationship Id="rId4" Type="http://schemas.openxmlformats.org/officeDocument/2006/relationships/image" Target="../media/image33.png"/><Relationship Id="rId5" Type="http://schemas.openxmlformats.org/officeDocument/2006/relationships/image" Target="../media/image34.sv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37.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38.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image" Target="../media/image51.png"/><Relationship Id="rId5" Type="http://schemas.openxmlformats.org/officeDocument/2006/relationships/image" Target="../media/image52.svg"/><Relationship Id="rId6" Type="http://schemas.openxmlformats.org/officeDocument/2006/relationships/image" Target="../media/image53.png"/><Relationship Id="rId7" Type="http://schemas.openxmlformats.org/officeDocument/2006/relationships/image" Target="../media/image54.svg"/><Relationship Id="rId8" Type="http://schemas.openxmlformats.org/officeDocument/2006/relationships/image" Target="../media/image55.png"/><Relationship Id="rId9" Type="http://schemas.openxmlformats.org/officeDocument/2006/relationships/image" Target="../media/image56.svg"/><Relationship Id="rId10" Type="http://schemas.openxmlformats.org/officeDocument/2006/relationships/image" Target="../media/image57.png"/><Relationship Id="rId11" Type="http://schemas.openxmlformats.org/officeDocument/2006/relationships/image" Target="../media/image58.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image" Target="../media/image51.png"/><Relationship Id="rId5" Type="http://schemas.openxmlformats.org/officeDocument/2006/relationships/image" Target="../media/image61.svg"/><Relationship Id="rId6" Type="http://schemas.openxmlformats.org/officeDocument/2006/relationships/image" Target="../media/image53.png"/><Relationship Id="rId7" Type="http://schemas.openxmlformats.org/officeDocument/2006/relationships/image" Target="../media/image62.svg"/><Relationship Id="rId8" Type="http://schemas.openxmlformats.org/officeDocument/2006/relationships/image" Target="../media/image55.png"/><Relationship Id="rId9" Type="http://schemas.openxmlformats.org/officeDocument/2006/relationships/image" Target="../media/image63.svg"/><Relationship Id="rId10" Type="http://schemas.openxmlformats.org/officeDocument/2006/relationships/image" Target="../media/image57.png"/><Relationship Id="rId11" Type="http://schemas.openxmlformats.org/officeDocument/2006/relationships/image" Target="../media/image64.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6.svg"/><Relationship Id="rId4" Type="http://schemas.openxmlformats.org/officeDocument/2006/relationships/image" Target="../media/image53.png"/><Relationship Id="rId5" Type="http://schemas.openxmlformats.org/officeDocument/2006/relationships/image" Target="../media/image67.svg"/><Relationship Id="rId6" Type="http://schemas.openxmlformats.org/officeDocument/2006/relationships/image" Target="../media/image51.png"/><Relationship Id="rId7" Type="http://schemas.openxmlformats.org/officeDocument/2006/relationships/image" Target="../media/image68.svg"/><Relationship Id="rId8" Type="http://schemas.openxmlformats.org/officeDocument/2006/relationships/image" Target="../media/image55.png"/><Relationship Id="rId9" Type="http://schemas.openxmlformats.org/officeDocument/2006/relationships/image" Target="../media/image69.svg"/><Relationship Id="rId10" Type="http://schemas.openxmlformats.org/officeDocument/2006/relationships/image" Target="../media/image57.png"/><Relationship Id="rId11" Type="http://schemas.openxmlformats.org/officeDocument/2006/relationships/image" Target="../media/image70.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2.svg"/><Relationship Id="rId4" Type="http://schemas.openxmlformats.org/officeDocument/2006/relationships/image" Target="../media/image55.png"/><Relationship Id="rId5" Type="http://schemas.openxmlformats.org/officeDocument/2006/relationships/image" Target="../media/image73.svg"/><Relationship Id="rId6" Type="http://schemas.openxmlformats.org/officeDocument/2006/relationships/image" Target="../media/image51.png"/><Relationship Id="rId7" Type="http://schemas.openxmlformats.org/officeDocument/2006/relationships/image" Target="../media/image74.svg"/><Relationship Id="rId8" Type="http://schemas.openxmlformats.org/officeDocument/2006/relationships/image" Target="../media/image53.png"/><Relationship Id="rId9" Type="http://schemas.openxmlformats.org/officeDocument/2006/relationships/image" Target="../media/image75.svg"/><Relationship Id="rId10" Type="http://schemas.openxmlformats.org/officeDocument/2006/relationships/image" Target="../media/image57.png"/><Relationship Id="rId11" Type="http://schemas.openxmlformats.org/officeDocument/2006/relationships/image" Target="../media/image76.svg"/><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image" Target="../media/image78.svg"/><Relationship Id="rId4" Type="http://schemas.openxmlformats.org/officeDocument/2006/relationships/image" Target="../media/image57.png"/><Relationship Id="rId5" Type="http://schemas.openxmlformats.org/officeDocument/2006/relationships/image" Target="../media/image79.svg"/><Relationship Id="rId6" Type="http://schemas.openxmlformats.org/officeDocument/2006/relationships/image" Target="../media/image51.png"/><Relationship Id="rId7" Type="http://schemas.openxmlformats.org/officeDocument/2006/relationships/image" Target="../media/image80.svg"/><Relationship Id="rId8" Type="http://schemas.openxmlformats.org/officeDocument/2006/relationships/image" Target="../media/image53.png"/><Relationship Id="rId9" Type="http://schemas.openxmlformats.org/officeDocument/2006/relationships/image" Target="../media/image81.svg"/><Relationship Id="rId10" Type="http://schemas.openxmlformats.org/officeDocument/2006/relationships/image" Target="../media/image55.png"/><Relationship Id="rId11" Type="http://schemas.openxmlformats.org/officeDocument/2006/relationships/image" Target="../media/image82.svg"/><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4.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5.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6.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7.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image" Target="../media/image91.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image" Target="../media/image94.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 Id="rId3" Type="http://schemas.openxmlformats.org/officeDocument/2006/relationships/image" Target="../media/image95.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image" Target="../media/image96.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 Id="rId3" Type="http://schemas.openxmlformats.org/officeDocument/2006/relationships/image" Target="../media/image97.svg"/><Relationship Id="rId4" Type="http://schemas.openxmlformats.org/officeDocument/2006/relationships/image" Target="../media/image98.png"/><Relationship Id="rId5" Type="http://schemas.openxmlformats.org/officeDocument/2006/relationships/image" Target="../media/image99.svg"/><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0.png"/><Relationship Id="rId3" Type="http://schemas.openxmlformats.org/officeDocument/2006/relationships/image" Target="../media/image101.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2.png"/><Relationship Id="rId3" Type="http://schemas.openxmlformats.org/officeDocument/2006/relationships/image" Target="../media/image104.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2.png"/><Relationship Id="rId3" Type="http://schemas.openxmlformats.org/officeDocument/2006/relationships/image" Target="../media/image105.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2.png"/><Relationship Id="rId3" Type="http://schemas.openxmlformats.org/officeDocument/2006/relationships/image" Target="../media/image106.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13</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Artificial Neural Networks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SUPERVISED LEARNING ALGORITHMS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13  ·  WEEK 11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98     </a:t>
            </a:r>
            <a:fld id="{D31140FF-B0C2-4925-B7D3-DD5EB693EE9E}"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602092" y="1755648"/>
            <a:ext cx="271319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602092" y="2029967"/>
            <a:ext cx="2713191"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644467"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644467"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54889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457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95841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8669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42263"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508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05178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9603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4613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3698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870842"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7794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289513"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289513"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13</a:t>
            </a:r>
          </a:p>
        </p:txBody>
      </p:sp>
      <p:sp>
        <p:nvSpPr>
          <p:cNvPr id="45" name="!!dot14">
            <a:extLst>
              <a:ext uri="{C183D7F6-B498-43B3-948B-1728B52AA6E4}">
                <adec:decorative xmlns:adec="http://schemas.microsoft.com/office/drawing/2017/decorative" val="1"/>
              </a:ext>
            </a:extLst>
          </p:cNvPr>
          <p:cNvSpPr/>
          <p:nvPr/>
        </p:nvSpPr>
        <p:spPr>
          <a:xfrm>
            <a:off x="70007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09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68463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5931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4164"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27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503691"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4122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364689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Artificial Neural Networks</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Mathematics for Machine Learning</a:t>
            </a:r>
          </a:p>
        </p:txBody>
      </p:sp>
      <p:sp>
        <p:nvSpPr>
          <p:cNvPr id="68" name="!!chipBU6">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6">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6"/>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Logistic Regression</a:t>
            </a:r>
          </a:p>
        </p:txBody>
      </p:sp>
      <p:sp>
        <p:nvSpPr>
          <p:cNvPr id="71" name="!!chipBU7">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7">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7"/>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Overfitting, Bias–Variance and Regularisation</a:t>
            </a:r>
          </a:p>
        </p:txBody>
      </p:sp>
      <p:sp>
        <p:nvSpPr>
          <p:cNvPr id="7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5" name="!!chipUS16">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16">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16"/>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16  </a:t>
            </a:r>
            <a:r>
              <a:rPr sz="1400" b="0" i="0">
                <a:solidFill>
                  <a:srgbClr val="1C252B"/>
                </a:solidFill>
                <a:latin typeface="Segoe UI"/>
              </a:rPr>
              <a:t>Dimensionality Reduction and Self-Organizing Maps</a:t>
            </a:r>
          </a:p>
        </p:txBody>
      </p:sp>
      <p:sp>
        <p:nvSpPr>
          <p:cNvPr id="78" name="!!chipUS20">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20">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20"/>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20  </a:t>
            </a:r>
            <a:r>
              <a:rPr sz="1400" b="0" i="0">
                <a:solidFill>
                  <a:srgbClr val="1C252B"/>
                </a:solidFill>
                <a:latin typeface="Segoe UI"/>
              </a:rPr>
              <a:t>Reinforcement Learning</a:t>
            </a:r>
          </a:p>
        </p:txBody>
      </p:sp>
      <p:sp>
        <p:nvSpPr>
          <p:cNvPr id="81" name="!!chipUS21">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21">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21"/>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21  </a:t>
            </a:r>
            <a:r>
              <a:rPr sz="1400" b="0" i="0">
                <a:solidFill>
                  <a:srgbClr val="1C252B"/>
                </a:solidFill>
                <a:latin typeface="Segoe UI"/>
              </a:rPr>
              <a:t>Responsible and Ethical Machine Learning</a:t>
            </a:r>
          </a:p>
        </p:txBody>
      </p:sp>
      <p:sp>
        <p:nvSpPr>
          <p:cNvPr id="8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pfill">
            <a:extLst>
              <a:ext uri="{C183D7F6-B498-43B3-948B-1728B52AA6E4}">
                <adec:decorative xmlns:adec="http://schemas.microsoft.com/office/drawing/2017/decorative" val="1"/>
              </a:ext>
            </a:extLst>
          </p:cNvPr>
          <p:cNvSpPr/>
          <p:nvPr/>
        </p:nvSpPr>
        <p:spPr>
          <a:xfrm>
            <a:off x="0" y="0"/>
            <a:ext cx="50798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98     </a:t>
            </a:r>
            <a:fld id="{97103F42-D9A1-4D3E-96A3-6B8EB6489CF8}"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Compute</a:t>
            </a:r>
            <a:r>
              <a:rPr sz="2100" b="0" i="0">
                <a:solidFill>
                  <a:srgbClr val="1C252B"/>
                </a:solidFill>
                <a:latin typeface="Segoe UI"/>
              </a:rPr>
              <a:t> the output of a perceptron and </a:t>
            </a:r>
            <a:r>
              <a:rPr sz="2100" b="1" i="0">
                <a:solidFill>
                  <a:srgbClr val="1C252B"/>
                </a:solidFill>
                <a:latin typeface="Segoe UI"/>
              </a:rPr>
              <a:t>train</a:t>
            </a:r>
            <a:r>
              <a:rPr sz="2100" b="0" i="0">
                <a:solidFill>
                  <a:srgbClr val="1C252B"/>
                </a:solidFill>
                <a:latin typeface="Segoe UI"/>
              </a:rPr>
              <a:t> one with the perceptron rule.</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6664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linear separability and why a single perceptron cannot learn XOR.</a:t>
            </a:r>
          </a:p>
        </p:txBody>
      </p:sp>
      <p:sp>
        <p:nvSpPr>
          <p:cNvPr id="14" name="!!ob2">
            <a:extLst>
              <a:ext uri="{C183D7F6-B498-43B3-948B-1728B52AA6E4}">
                <adec:decorative xmlns:adec="http://schemas.microsoft.com/office/drawing/2017/decorative" val="1"/>
              </a:ext>
            </a:extLst>
          </p:cNvPr>
          <p:cNvSpPr/>
          <p:nvPr/>
        </p:nvSpPr>
        <p:spPr>
          <a:xfrm>
            <a:off x="658368" y="3429000"/>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48843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470148"/>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Derive</a:t>
            </a:r>
            <a:r>
              <a:rPr sz="2100" b="0" i="0">
                <a:solidFill>
                  <a:srgbClr val="1C252B"/>
                </a:solidFill>
                <a:latin typeface="Segoe UI"/>
              </a:rPr>
              <a:t> the delta rule as gradient descent on squared error.</a:t>
            </a:r>
          </a:p>
        </p:txBody>
      </p:sp>
      <p:sp>
        <p:nvSpPr>
          <p:cNvPr id="17" name="!!ob3">
            <a:extLst>
              <a:ext uri="{C183D7F6-B498-43B3-948B-1728B52AA6E4}">
                <adec:decorative xmlns:adec="http://schemas.microsoft.com/office/drawing/2017/decorative" val="1"/>
              </a:ext>
            </a:extLst>
          </p:cNvPr>
          <p:cNvSpPr/>
          <p:nvPr/>
        </p:nvSpPr>
        <p:spPr>
          <a:xfrm>
            <a:off x="658368" y="4032504"/>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09194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023360"/>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Perform</a:t>
            </a:r>
            <a:r>
              <a:rPr sz="2100" b="0" i="0">
                <a:solidFill>
                  <a:srgbClr val="1C252B"/>
                </a:solidFill>
                <a:latin typeface="Segoe UI"/>
              </a:rPr>
              <a:t> one forward and backward pass of backpropagation through a small multilayer network by hand.</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871923"/>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Choose</a:t>
            </a:r>
            <a:r>
              <a:rPr sz="2100" b="0" i="0">
                <a:solidFill>
                  <a:srgbClr val="1C252B"/>
                </a:solidFill>
                <a:latin typeface="Segoe UI"/>
              </a:rPr>
              <a:t> activation functions and </a:t>
            </a:r>
            <a:r>
              <a:rPr sz="2100" b="1" i="0">
                <a:solidFill>
                  <a:srgbClr val="1C252B"/>
                </a:solidFill>
                <a:latin typeface="Segoe UI"/>
              </a:rPr>
              <a:t>apply</a:t>
            </a:r>
            <a:r>
              <a:rPr sz="2100" b="0" i="0">
                <a:solidFill>
                  <a:srgbClr val="1C252B"/>
                </a:solidFill>
                <a:latin typeface="Segoe UI"/>
              </a:rPr>
              <a:t> early stopping, weight decay and dropout against overfitting.</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6198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98     </a:t>
            </a:r>
            <a:fld id="{024406CD-6970-46F4-A5E9-3386C9FA9BF6}" type="slidenum">
              <a:rPr lang="en-GB" sz="1000">
                <a:solidFill>
                  <a:srgbClr val="8795A1"/>
                </a:solidFill>
                <a:latin typeface="Segoe UI"/>
              </a:rPr>
              <a:t>4</a:t>
            </a:fld>
          </a:p>
        </p:txBody>
      </p:sp>
      <p:sp>
        <p:nvSpPr>
          <p:cNvPr id="7" name="!!term-artificial neu">
            <a:extLst>
              <a:ext uri="{C183D7F6-B498-43B3-948B-1728B52AA6E4}">
                <adec:decorative xmlns:adec="http://schemas.microsoft.com/office/drawing/2017/decorative" val="1"/>
              </a:ext>
            </a:extLst>
          </p:cNvPr>
          <p:cNvSpPr/>
          <p:nvPr/>
        </p:nvSpPr>
        <p:spPr>
          <a:xfrm>
            <a:off x="658368" y="1847088"/>
            <a:ext cx="177523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artificial neu">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artificial neu"/>
          <p:cNvSpPr txBox="1"/>
          <p:nvPr/>
        </p:nvSpPr>
        <p:spPr>
          <a:xfrm>
            <a:off x="950976" y="1970532"/>
            <a:ext cx="159235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artificial neuron</a:t>
            </a:r>
          </a:p>
        </p:txBody>
      </p:sp>
      <p:sp>
        <p:nvSpPr>
          <p:cNvPr id="10" name="!!term-perceptron">
            <a:extLst>
              <a:ext uri="{C183D7F6-B498-43B3-948B-1728B52AA6E4}">
                <adec:decorative xmlns:adec="http://schemas.microsoft.com/office/drawing/2017/decorative" val="1"/>
              </a:ext>
            </a:extLst>
          </p:cNvPr>
          <p:cNvSpPr/>
          <p:nvPr/>
        </p:nvSpPr>
        <p:spPr>
          <a:xfrm>
            <a:off x="2579902" y="1847088"/>
            <a:ext cx="13853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perceptron">
            <a:extLst>
              <a:ext uri="{C183D7F6-B498-43B3-948B-1728B52AA6E4}">
                <adec:decorative xmlns:adec="http://schemas.microsoft.com/office/drawing/2017/decorative" val="1"/>
              </a:ext>
            </a:extLst>
          </p:cNvPr>
          <p:cNvSpPr/>
          <p:nvPr/>
        </p:nvSpPr>
        <p:spPr>
          <a:xfrm>
            <a:off x="270791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perceptron"/>
          <p:cNvSpPr txBox="1"/>
          <p:nvPr/>
        </p:nvSpPr>
        <p:spPr>
          <a:xfrm>
            <a:off x="2872510" y="1970532"/>
            <a:ext cx="120243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perceptron</a:t>
            </a:r>
          </a:p>
        </p:txBody>
      </p:sp>
      <p:sp>
        <p:nvSpPr>
          <p:cNvPr id="13" name="!!term-threshold unit">
            <a:extLst>
              <a:ext uri="{C183D7F6-B498-43B3-948B-1728B52AA6E4}">
                <adec:decorative xmlns:adec="http://schemas.microsoft.com/office/drawing/2017/decorative" val="1"/>
              </a:ext>
            </a:extLst>
          </p:cNvPr>
          <p:cNvSpPr/>
          <p:nvPr/>
        </p:nvSpPr>
        <p:spPr>
          <a:xfrm>
            <a:off x="4111523" y="1847088"/>
            <a:ext cx="163776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threshold unit">
            <a:extLst>
              <a:ext uri="{C183D7F6-B498-43B3-948B-1728B52AA6E4}">
                <adec:decorative xmlns:adec="http://schemas.microsoft.com/office/drawing/2017/decorative" val="1"/>
              </a:ext>
            </a:extLst>
          </p:cNvPr>
          <p:cNvSpPr/>
          <p:nvPr/>
        </p:nvSpPr>
        <p:spPr>
          <a:xfrm>
            <a:off x="423953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threshold unit"/>
          <p:cNvSpPr txBox="1"/>
          <p:nvPr/>
        </p:nvSpPr>
        <p:spPr>
          <a:xfrm>
            <a:off x="4404131" y="1970532"/>
            <a:ext cx="145488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threshold unit</a:t>
            </a:r>
          </a:p>
        </p:txBody>
      </p:sp>
      <p:sp>
        <p:nvSpPr>
          <p:cNvPr id="16" name="!!term-perceptron tra">
            <a:extLst>
              <a:ext uri="{C183D7F6-B498-43B3-948B-1728B52AA6E4}">
                <adec:decorative xmlns:adec="http://schemas.microsoft.com/office/drawing/2017/decorative" val="1"/>
              </a:ext>
            </a:extLst>
          </p:cNvPr>
          <p:cNvSpPr/>
          <p:nvPr/>
        </p:nvSpPr>
        <p:spPr>
          <a:xfrm>
            <a:off x="5895592" y="1847088"/>
            <a:ext cx="24788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perceptron tra">
            <a:extLst>
              <a:ext uri="{C183D7F6-B498-43B3-948B-1728B52AA6E4}">
                <adec:decorative xmlns:adec="http://schemas.microsoft.com/office/drawing/2017/decorative" val="1"/>
              </a:ext>
            </a:extLst>
          </p:cNvPr>
          <p:cNvSpPr/>
          <p:nvPr/>
        </p:nvSpPr>
        <p:spPr>
          <a:xfrm>
            <a:off x="602360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perceptron tra"/>
          <p:cNvSpPr txBox="1"/>
          <p:nvPr/>
        </p:nvSpPr>
        <p:spPr>
          <a:xfrm>
            <a:off x="6188200" y="1970532"/>
            <a:ext cx="229601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perceptron training rule</a:t>
            </a:r>
          </a:p>
        </p:txBody>
      </p:sp>
      <p:sp>
        <p:nvSpPr>
          <p:cNvPr id="19" name="!!term-linear separab">
            <a:extLst>
              <a:ext uri="{C183D7F6-B498-43B3-948B-1728B52AA6E4}">
                <adec:decorative xmlns:adec="http://schemas.microsoft.com/office/drawing/2017/decorative" val="1"/>
              </a:ext>
            </a:extLst>
          </p:cNvPr>
          <p:cNvSpPr/>
          <p:nvPr/>
        </p:nvSpPr>
        <p:spPr>
          <a:xfrm>
            <a:off x="8520790" y="1847088"/>
            <a:ext cx="19432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linear separab">
            <a:extLst>
              <a:ext uri="{C183D7F6-B498-43B3-948B-1728B52AA6E4}">
                <adec:decorative xmlns:adec="http://schemas.microsoft.com/office/drawing/2017/decorative" val="1"/>
              </a:ext>
            </a:extLst>
          </p:cNvPr>
          <p:cNvSpPr/>
          <p:nvPr/>
        </p:nvSpPr>
        <p:spPr>
          <a:xfrm>
            <a:off x="864880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linear separab"/>
          <p:cNvSpPr txBox="1"/>
          <p:nvPr/>
        </p:nvSpPr>
        <p:spPr>
          <a:xfrm>
            <a:off x="8813398" y="1970532"/>
            <a:ext cx="176034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linear separability</a:t>
            </a:r>
          </a:p>
        </p:txBody>
      </p:sp>
      <p:sp>
        <p:nvSpPr>
          <p:cNvPr id="22" name="!!term-XOR">
            <a:extLst>
              <a:ext uri="{C183D7F6-B498-43B3-948B-1728B52AA6E4}">
                <adec:decorative xmlns:adec="http://schemas.microsoft.com/office/drawing/2017/decorative" val="1"/>
              </a:ext>
            </a:extLst>
          </p:cNvPr>
          <p:cNvSpPr/>
          <p:nvPr/>
        </p:nvSpPr>
        <p:spPr>
          <a:xfrm>
            <a:off x="10610315" y="1847088"/>
            <a:ext cx="81622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XOR">
            <a:extLst>
              <a:ext uri="{C183D7F6-B498-43B3-948B-1728B52AA6E4}">
                <adec:decorative xmlns:adec="http://schemas.microsoft.com/office/drawing/2017/decorative" val="1"/>
              </a:ext>
            </a:extLst>
          </p:cNvPr>
          <p:cNvSpPr/>
          <p:nvPr/>
        </p:nvSpPr>
        <p:spPr>
          <a:xfrm>
            <a:off x="1073833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XOR"/>
          <p:cNvSpPr txBox="1"/>
          <p:nvPr/>
        </p:nvSpPr>
        <p:spPr>
          <a:xfrm>
            <a:off x="10902923" y="1970532"/>
            <a:ext cx="63334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XOR</a:t>
            </a:r>
          </a:p>
        </p:txBody>
      </p:sp>
      <p:sp>
        <p:nvSpPr>
          <p:cNvPr id="25" name="!!term-delta rule">
            <a:extLst>
              <a:ext uri="{C183D7F6-B498-43B3-948B-1728B52AA6E4}">
                <adec:decorative xmlns:adec="http://schemas.microsoft.com/office/drawing/2017/decorative" val="1"/>
              </a:ext>
            </a:extLst>
          </p:cNvPr>
          <p:cNvSpPr/>
          <p:nvPr/>
        </p:nvSpPr>
        <p:spPr>
          <a:xfrm>
            <a:off x="658368" y="2468880"/>
            <a:ext cx="124627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delta rule">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delta rule"/>
          <p:cNvSpPr txBox="1"/>
          <p:nvPr/>
        </p:nvSpPr>
        <p:spPr>
          <a:xfrm>
            <a:off x="950976" y="2592324"/>
            <a:ext cx="106339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delta rule</a:t>
            </a:r>
          </a:p>
        </p:txBody>
      </p:sp>
      <p:sp>
        <p:nvSpPr>
          <p:cNvPr id="28" name="!!term-sigmoid unit">
            <a:extLst>
              <a:ext uri="{C183D7F6-B498-43B3-948B-1728B52AA6E4}">
                <adec:decorative xmlns:adec="http://schemas.microsoft.com/office/drawing/2017/decorative" val="1"/>
              </a:ext>
            </a:extLst>
          </p:cNvPr>
          <p:cNvSpPr/>
          <p:nvPr/>
        </p:nvSpPr>
        <p:spPr>
          <a:xfrm>
            <a:off x="2050942" y="2468880"/>
            <a:ext cx="151150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sigmoid unit">
            <a:extLst>
              <a:ext uri="{C183D7F6-B498-43B3-948B-1728B52AA6E4}">
                <adec:decorative xmlns:adec="http://schemas.microsoft.com/office/drawing/2017/decorative" val="1"/>
              </a:ext>
            </a:extLst>
          </p:cNvPr>
          <p:cNvSpPr/>
          <p:nvPr/>
        </p:nvSpPr>
        <p:spPr>
          <a:xfrm>
            <a:off x="217895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sigmoid unit"/>
          <p:cNvSpPr txBox="1"/>
          <p:nvPr/>
        </p:nvSpPr>
        <p:spPr>
          <a:xfrm>
            <a:off x="2343550" y="2592324"/>
            <a:ext cx="132862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sigmoid unit</a:t>
            </a:r>
          </a:p>
        </p:txBody>
      </p:sp>
      <p:sp>
        <p:nvSpPr>
          <p:cNvPr id="31" name="!!term-multilayer per">
            <a:extLst>
              <a:ext uri="{C183D7F6-B498-43B3-948B-1728B52AA6E4}">
                <adec:decorative xmlns:adec="http://schemas.microsoft.com/office/drawing/2017/decorative" val="1"/>
              </a:ext>
            </a:extLst>
          </p:cNvPr>
          <p:cNvSpPr/>
          <p:nvPr/>
        </p:nvSpPr>
        <p:spPr>
          <a:xfrm>
            <a:off x="3708749" y="2468880"/>
            <a:ext cx="22849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multilayer per">
            <a:extLst>
              <a:ext uri="{C183D7F6-B498-43B3-948B-1728B52AA6E4}">
                <adec:decorative xmlns:adec="http://schemas.microsoft.com/office/drawing/2017/decorative" val="1"/>
              </a:ext>
            </a:extLst>
          </p:cNvPr>
          <p:cNvSpPr/>
          <p:nvPr/>
        </p:nvSpPr>
        <p:spPr>
          <a:xfrm>
            <a:off x="383676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multilayer per"/>
          <p:cNvSpPr txBox="1"/>
          <p:nvPr/>
        </p:nvSpPr>
        <p:spPr>
          <a:xfrm>
            <a:off x="4001357" y="2592324"/>
            <a:ext cx="210207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multilayer perceptron</a:t>
            </a:r>
          </a:p>
        </p:txBody>
      </p:sp>
      <p:sp>
        <p:nvSpPr>
          <p:cNvPr id="34" name="!!term-hidden layer">
            <a:extLst>
              <a:ext uri="{C183D7F6-B498-43B3-948B-1728B52AA6E4}">
                <adec:decorative xmlns:adec="http://schemas.microsoft.com/office/drawing/2017/decorative" val="1"/>
              </a:ext>
            </a:extLst>
          </p:cNvPr>
          <p:cNvSpPr/>
          <p:nvPr/>
        </p:nvSpPr>
        <p:spPr>
          <a:xfrm>
            <a:off x="6140010" y="2468880"/>
            <a:ext cx="14988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hidden layer">
            <a:extLst>
              <a:ext uri="{C183D7F6-B498-43B3-948B-1728B52AA6E4}">
                <adec:decorative xmlns:adec="http://schemas.microsoft.com/office/drawing/2017/decorative" val="1"/>
              </a:ext>
            </a:extLst>
          </p:cNvPr>
          <p:cNvSpPr/>
          <p:nvPr/>
        </p:nvSpPr>
        <p:spPr>
          <a:xfrm>
            <a:off x="626802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hidden layer"/>
          <p:cNvSpPr txBox="1"/>
          <p:nvPr/>
        </p:nvSpPr>
        <p:spPr>
          <a:xfrm>
            <a:off x="6432618" y="2592324"/>
            <a:ext cx="131597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hidden layer</a:t>
            </a:r>
          </a:p>
        </p:txBody>
      </p:sp>
      <p:sp>
        <p:nvSpPr>
          <p:cNvPr id="37" name="!!term-forward pass">
            <a:extLst>
              <a:ext uri="{C183D7F6-B498-43B3-948B-1728B52AA6E4}">
                <adec:decorative xmlns:adec="http://schemas.microsoft.com/office/drawing/2017/decorative" val="1"/>
              </a:ext>
            </a:extLst>
          </p:cNvPr>
          <p:cNvSpPr/>
          <p:nvPr/>
        </p:nvSpPr>
        <p:spPr>
          <a:xfrm>
            <a:off x="7785172" y="2468880"/>
            <a:ext cx="15338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forward pass">
            <a:extLst>
              <a:ext uri="{C183D7F6-B498-43B3-948B-1728B52AA6E4}">
                <adec:decorative xmlns:adec="http://schemas.microsoft.com/office/drawing/2017/decorative" val="1"/>
              </a:ext>
            </a:extLst>
          </p:cNvPr>
          <p:cNvSpPr/>
          <p:nvPr/>
        </p:nvSpPr>
        <p:spPr>
          <a:xfrm>
            <a:off x="791318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forward pass"/>
          <p:cNvSpPr txBox="1"/>
          <p:nvPr/>
        </p:nvSpPr>
        <p:spPr>
          <a:xfrm>
            <a:off x="8077780" y="2592324"/>
            <a:ext cx="135101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forward pass</a:t>
            </a:r>
          </a:p>
        </p:txBody>
      </p:sp>
      <p:sp>
        <p:nvSpPr>
          <p:cNvPr id="40" name="!!term-backpropagatio">
            <a:extLst>
              <a:ext uri="{C183D7F6-B498-43B3-948B-1728B52AA6E4}">
                <adec:decorative xmlns:adec="http://schemas.microsoft.com/office/drawing/2017/decorative" val="1"/>
              </a:ext>
            </a:extLst>
          </p:cNvPr>
          <p:cNvSpPr/>
          <p:nvPr/>
        </p:nvSpPr>
        <p:spPr>
          <a:xfrm>
            <a:off x="9465367" y="2468880"/>
            <a:ext cx="18972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backpropagatio">
            <a:extLst>
              <a:ext uri="{C183D7F6-B498-43B3-948B-1728B52AA6E4}">
                <adec:decorative xmlns:adec="http://schemas.microsoft.com/office/drawing/2017/decorative" val="1"/>
              </a:ext>
            </a:extLst>
          </p:cNvPr>
          <p:cNvSpPr/>
          <p:nvPr/>
        </p:nvSpPr>
        <p:spPr>
          <a:xfrm>
            <a:off x="959338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backpropagatio"/>
          <p:cNvSpPr txBox="1"/>
          <p:nvPr/>
        </p:nvSpPr>
        <p:spPr>
          <a:xfrm>
            <a:off x="9757975" y="2592324"/>
            <a:ext cx="171440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backpropagation</a:t>
            </a:r>
          </a:p>
        </p:txBody>
      </p:sp>
      <p:sp>
        <p:nvSpPr>
          <p:cNvPr id="43" name="!!term-epoch">
            <a:extLst>
              <a:ext uri="{C183D7F6-B498-43B3-948B-1728B52AA6E4}">
                <adec:decorative xmlns:adec="http://schemas.microsoft.com/office/drawing/2017/decorative" val="1"/>
              </a:ext>
            </a:extLst>
          </p:cNvPr>
          <p:cNvSpPr/>
          <p:nvPr/>
        </p:nvSpPr>
        <p:spPr>
          <a:xfrm>
            <a:off x="658368" y="3090672"/>
            <a:ext cx="9684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epoch">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epoch"/>
          <p:cNvSpPr txBox="1"/>
          <p:nvPr/>
        </p:nvSpPr>
        <p:spPr>
          <a:xfrm>
            <a:off x="950976" y="3214116"/>
            <a:ext cx="78552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epoch</a:t>
            </a:r>
          </a:p>
        </p:txBody>
      </p:sp>
      <p:sp>
        <p:nvSpPr>
          <p:cNvPr id="46" name="!!term-activation fun">
            <a:extLst>
              <a:ext uri="{C183D7F6-B498-43B3-948B-1728B52AA6E4}">
                <adec:decorative xmlns:adec="http://schemas.microsoft.com/office/drawing/2017/decorative" val="1"/>
              </a:ext>
            </a:extLst>
          </p:cNvPr>
          <p:cNvSpPr/>
          <p:nvPr/>
        </p:nvSpPr>
        <p:spPr>
          <a:xfrm>
            <a:off x="1773078" y="3090672"/>
            <a:ext cx="202967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activation fun">
            <a:extLst>
              <a:ext uri="{C183D7F6-B498-43B3-948B-1728B52AA6E4}">
                <adec:decorative xmlns:adec="http://schemas.microsoft.com/office/drawing/2017/decorative" val="1"/>
              </a:ext>
            </a:extLst>
          </p:cNvPr>
          <p:cNvSpPr/>
          <p:nvPr/>
        </p:nvSpPr>
        <p:spPr>
          <a:xfrm>
            <a:off x="190109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activation fun"/>
          <p:cNvSpPr txBox="1"/>
          <p:nvPr/>
        </p:nvSpPr>
        <p:spPr>
          <a:xfrm>
            <a:off x="2065686" y="3214116"/>
            <a:ext cx="184679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activation function</a:t>
            </a:r>
          </a:p>
        </p:txBody>
      </p:sp>
      <p:sp>
        <p:nvSpPr>
          <p:cNvPr id="49" name="!!term-ReLU">
            <a:extLst>
              <a:ext uri="{C183D7F6-B498-43B3-948B-1728B52AA6E4}">
                <adec:decorative xmlns:adec="http://schemas.microsoft.com/office/drawing/2017/decorative" val="1"/>
              </a:ext>
            </a:extLst>
          </p:cNvPr>
          <p:cNvSpPr/>
          <p:nvPr/>
        </p:nvSpPr>
        <p:spPr>
          <a:xfrm>
            <a:off x="3949056" y="3090672"/>
            <a:ext cx="8816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ReLU">
            <a:extLst>
              <a:ext uri="{C183D7F6-B498-43B3-948B-1728B52AA6E4}">
                <adec:decorative xmlns:adec="http://schemas.microsoft.com/office/drawing/2017/decorative" val="1"/>
              </a:ext>
            </a:extLst>
          </p:cNvPr>
          <p:cNvSpPr/>
          <p:nvPr/>
        </p:nvSpPr>
        <p:spPr>
          <a:xfrm>
            <a:off x="407707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ReLU"/>
          <p:cNvSpPr txBox="1"/>
          <p:nvPr/>
        </p:nvSpPr>
        <p:spPr>
          <a:xfrm>
            <a:off x="4241664" y="3214116"/>
            <a:ext cx="69873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ReLU</a:t>
            </a:r>
          </a:p>
        </p:txBody>
      </p:sp>
      <p:sp>
        <p:nvSpPr>
          <p:cNvPr id="52" name="!!term-early stopping">
            <a:extLst>
              <a:ext uri="{C183D7F6-B498-43B3-948B-1728B52AA6E4}">
                <adec:decorative xmlns:adec="http://schemas.microsoft.com/office/drawing/2017/decorative" val="1"/>
              </a:ext>
            </a:extLst>
          </p:cNvPr>
          <p:cNvSpPr/>
          <p:nvPr/>
        </p:nvSpPr>
        <p:spPr>
          <a:xfrm>
            <a:off x="4976977" y="3090672"/>
            <a:ext cx="16634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early stopping">
            <a:extLst>
              <a:ext uri="{C183D7F6-B498-43B3-948B-1728B52AA6E4}">
                <adec:decorative xmlns:adec="http://schemas.microsoft.com/office/drawing/2017/decorative" val="1"/>
              </a:ext>
            </a:extLst>
          </p:cNvPr>
          <p:cNvSpPr/>
          <p:nvPr/>
        </p:nvSpPr>
        <p:spPr>
          <a:xfrm>
            <a:off x="510499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early stopping"/>
          <p:cNvSpPr txBox="1"/>
          <p:nvPr/>
        </p:nvSpPr>
        <p:spPr>
          <a:xfrm>
            <a:off x="5269585" y="3214116"/>
            <a:ext cx="148054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early stopping</a:t>
            </a:r>
          </a:p>
        </p:txBody>
      </p:sp>
      <p:sp>
        <p:nvSpPr>
          <p:cNvPr id="55" name="!!term-weight decay">
            <a:extLst>
              <a:ext uri="{C183D7F6-B498-43B3-948B-1728B52AA6E4}">
                <adec:decorative xmlns:adec="http://schemas.microsoft.com/office/drawing/2017/decorative" val="1"/>
              </a:ext>
            </a:extLst>
          </p:cNvPr>
          <p:cNvSpPr/>
          <p:nvPr/>
        </p:nvSpPr>
        <p:spPr>
          <a:xfrm>
            <a:off x="6786710" y="3090672"/>
            <a:ext cx="157036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weight decay">
            <a:extLst>
              <a:ext uri="{C183D7F6-B498-43B3-948B-1728B52AA6E4}">
                <adec:decorative xmlns:adec="http://schemas.microsoft.com/office/drawing/2017/decorative" val="1"/>
              </a:ext>
            </a:extLst>
          </p:cNvPr>
          <p:cNvSpPr/>
          <p:nvPr/>
        </p:nvSpPr>
        <p:spPr>
          <a:xfrm>
            <a:off x="691472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weight decay"/>
          <p:cNvSpPr txBox="1"/>
          <p:nvPr/>
        </p:nvSpPr>
        <p:spPr>
          <a:xfrm>
            <a:off x="7079318" y="3214116"/>
            <a:ext cx="138748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weight decay</a:t>
            </a:r>
          </a:p>
        </p:txBody>
      </p:sp>
      <p:sp>
        <p:nvSpPr>
          <p:cNvPr id="58" name="!!term-dropout">
            <a:extLst>
              <a:ext uri="{C183D7F6-B498-43B3-948B-1728B52AA6E4}">
                <adec:decorative xmlns:adec="http://schemas.microsoft.com/office/drawing/2017/decorative" val="1"/>
              </a:ext>
            </a:extLst>
          </p:cNvPr>
          <p:cNvSpPr/>
          <p:nvPr/>
        </p:nvSpPr>
        <p:spPr>
          <a:xfrm>
            <a:off x="8503378" y="3090672"/>
            <a:ext cx="11387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dropout">
            <a:extLst>
              <a:ext uri="{C183D7F6-B498-43B3-948B-1728B52AA6E4}">
                <adec:decorative xmlns:adec="http://schemas.microsoft.com/office/drawing/2017/decorative" val="1"/>
              </a:ext>
            </a:extLst>
          </p:cNvPr>
          <p:cNvSpPr/>
          <p:nvPr/>
        </p:nvSpPr>
        <p:spPr>
          <a:xfrm>
            <a:off x="863139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dropout"/>
          <p:cNvSpPr txBox="1"/>
          <p:nvPr/>
        </p:nvSpPr>
        <p:spPr>
          <a:xfrm>
            <a:off x="8795986" y="3214116"/>
            <a:ext cx="95589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dropout</a:t>
            </a:r>
          </a:p>
        </p:txBody>
      </p:sp>
      <p:sp>
        <p:nvSpPr>
          <p:cNvPr id="61"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6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pfill">
            <a:extLst>
              <a:ext uri="{C183D7F6-B498-43B3-948B-1728B52AA6E4}">
                <adec:decorative xmlns:adec="http://schemas.microsoft.com/office/drawing/2017/decorative" val="1"/>
              </a:ext>
            </a:extLst>
          </p:cNvPr>
          <p:cNvSpPr/>
          <p:nvPr/>
        </p:nvSpPr>
        <p:spPr>
          <a:xfrm>
            <a:off x="0" y="0"/>
            <a:ext cx="101597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98–105     </a:t>
            </a:r>
            <a:fld id="{D91E8D1E-C25F-4CD5-80DB-462B17E81F09}" type="slidenum">
              <a:rPr lang="en-GB" sz="1000">
                <a:solidFill>
                  <a:srgbClr val="8795A1"/>
                </a:solidFill>
                <a:latin typeface="Segoe UI"/>
              </a:rPr>
              <a:t>5</a:t>
            </a:fld>
          </a:p>
        </p:txBody>
      </p:sp>
      <p:sp>
        <p:nvSpPr>
          <p:cNvPr id="7" name="!!ag0" descr="Go to section 13.1 From Neurons to Unit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13.1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From Neurons to Units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98  ›</a:t>
            </a:r>
          </a:p>
        </p:txBody>
      </p:sp>
      <p:sp>
        <p:nvSpPr>
          <p:cNvPr id="12" name="!!ag1" descr="Go to section 13.2 The Perceptron">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13.2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Perceptron</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99  ›</a:t>
            </a:r>
          </a:p>
        </p:txBody>
      </p:sp>
      <p:sp>
        <p:nvSpPr>
          <p:cNvPr id="17" name="!!ag2" descr="Go to section 13.3 Linear Separability and XOR">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13.3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Linear Separability and XOR</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100  ›</a:t>
            </a:r>
          </a:p>
        </p:txBody>
      </p:sp>
      <p:sp>
        <p:nvSpPr>
          <p:cNvPr id="22" name="!!ag3" descr="Go to section 13.4 Gradient Descent and the Delta Rule">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13.4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Gradient Descent and the Delta Rule</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100  ›</a:t>
            </a:r>
          </a:p>
        </p:txBody>
      </p:sp>
      <p:sp>
        <p:nvSpPr>
          <p:cNvPr id="27" name="!!ag4" descr="Go to section 13.5 Multilayer Networks and Backpropagation">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13.5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Multilayer Networks and Backpropagation</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100  ›</a:t>
            </a:r>
          </a:p>
        </p:txBody>
      </p:sp>
      <p:sp>
        <p:nvSpPr>
          <p:cNvPr id="32" name="!!ag5" descr="Go to section 13.6 Activation Functions and Outputs">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13.6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Activation Functions and Outputs</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102  ›</a:t>
            </a:r>
          </a:p>
        </p:txBody>
      </p:sp>
      <p:sp>
        <p:nvSpPr>
          <p:cNvPr id="37" name="!!ag6" descr="Go to section 13.7 Training Well: Overfitting and Its Cures">
            <a:hlinkClick action="ppaction://hlinksldjump" r:id="rId11"/>
          </p:cNvPr>
          <p:cNvSpPr/>
          <p:nvPr/>
        </p:nvSpPr>
        <p:spPr>
          <a:xfrm>
            <a:off x="658368" y="561441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agb6">
            <a:extLst>
              <a:ext uri="{C183D7F6-B498-43B3-948B-1728B52AA6E4}">
                <adec:decorative xmlns:adec="http://schemas.microsoft.com/office/drawing/2017/decorative" val="1"/>
              </a:ext>
            </a:extLst>
          </p:cNvPr>
          <p:cNvSpPr/>
          <p:nvPr/>
        </p:nvSpPr>
        <p:spPr>
          <a:xfrm>
            <a:off x="658368" y="561441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agn6"/>
          <p:cNvSpPr txBox="1"/>
          <p:nvPr/>
        </p:nvSpPr>
        <p:spPr>
          <a:xfrm>
            <a:off x="932688" y="57607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13.7</a:t>
            </a:r>
          </a:p>
        </p:txBody>
      </p:sp>
      <p:sp>
        <p:nvSpPr>
          <p:cNvPr id="40" name="!!agt6"/>
          <p:cNvSpPr txBox="1"/>
          <p:nvPr/>
        </p:nvSpPr>
        <p:spPr>
          <a:xfrm>
            <a:off x="1847088" y="57607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Training Well: Overfitting and Its Cures</a:t>
            </a:r>
          </a:p>
        </p:txBody>
      </p:sp>
      <p:sp>
        <p:nvSpPr>
          <p:cNvPr id="41" name="!!agp6"/>
          <p:cNvSpPr txBox="1"/>
          <p:nvPr/>
        </p:nvSpPr>
        <p:spPr>
          <a:xfrm>
            <a:off x="9795967" y="578815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102  ›</a:t>
            </a:r>
          </a:p>
        </p:txBody>
      </p:sp>
      <p:sp>
        <p:nvSpPr>
          <p:cNvPr id="4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fill">
            <a:extLst>
              <a:ext uri="{C183D7F6-B498-43B3-948B-1728B52AA6E4}">
                <adec:decorative xmlns:adec="http://schemas.microsoft.com/office/drawing/2017/decorative" val="1"/>
              </a:ext>
            </a:extLst>
          </p:cNvPr>
          <p:cNvSpPr/>
          <p:nvPr/>
        </p:nvSpPr>
        <p:spPr>
          <a:xfrm>
            <a:off x="0" y="0"/>
            <a:ext cx="126996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From Neurons to Units</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§13.1  ·  Handout p. 98     </a:t>
            </a:r>
            <a:fld id="{270CD426-A823-448E-A81F-561097529C20}"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410420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237561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biological neuron receives signals from thousands of others, and fires if their combined stimulation exceeds a threshold. Learning, roughly, changes the strength of the connections. An </a:t>
            </a:r>
            <a:r>
              <a:rPr sz="2100" b="1" i="0">
                <a:solidFill>
                  <a:srgbClr val="1A5276"/>
                </a:solidFill>
                <a:latin typeface="Segoe UI"/>
              </a:rPr>
              <a:t>artificial neural network</a:t>
            </a:r>
            <a:r>
              <a:rPr sz="2100" b="0" i="0">
                <a:solidFill>
                  <a:srgbClr val="1C252B"/>
                </a:solidFill>
                <a:latin typeface="Segoe UI"/>
              </a:rPr>
              <a:t> keeps just that much of the biology: many simple </a:t>
            </a:r>
            <a:r>
              <a:rPr sz="2100" b="0" i="1">
                <a:solidFill>
                  <a:srgbClr val="1C252B"/>
                </a:solidFill>
                <a:latin typeface="Segoe UI"/>
              </a:rPr>
              <a:t>units</a:t>
            </a:r>
            <a:r>
              <a:rPr sz="2100" b="0" i="0">
                <a:solidFill>
                  <a:srgbClr val="1C252B"/>
                </a:solidFill>
                <a:latin typeface="Segoe UI"/>
              </a:rPr>
              <a:t>, each computing a weighted sum of its inputs and passing it through a simple function, connected so that the outputs of some are the inputs of others. Everything the network knows is in the connection weights, and learning means adjusting them.</a:t>
            </a:r>
          </a:p>
        </p:txBody>
      </p:sp>
      <p:sp>
        <p:nvSpPr>
          <p:cNvPr id="9" name="body-1"/>
          <p:cNvSpPr txBox="1"/>
          <p:nvPr/>
        </p:nvSpPr>
        <p:spPr>
          <a:xfrm>
            <a:off x="1042415" y="4268800"/>
            <a:ext cx="10417759" cy="1709928"/>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Networks are the right tool when the input is high-dimensional and raw — pixels, audio samples, sensor streams — when the target function is complex and unknown, when some noise is acceptable, when long training times are acceptable, and when nobody needs to read the learned function. Mitchell’s examples were steering a car from camera images and recognising faces; today’s are the whole of deep learning.</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52396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Perceptron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13.2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13.1   From Neurons to Units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13.2   The Perceptron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13.3   Linear Separability and XOR</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13.4   Gradient Descent and the Delta Rule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13.5   Multilayer Networks and Backpropagation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13.6   Activation Functions and Outputs</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13.7   Training Well: Overfitting and Its Cures</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§13.2     </a:t>
            </a:r>
            <a:fld id="{42D9AB19-342B-44FA-B557-5978B44043A6}" type="slidenum">
              <a:rPr lang="en-GB" sz="1000">
                <a:solidFill>
                  <a:srgbClr val="8795A1"/>
                </a:solidFill>
                <a:latin typeface="Segoe UI"/>
              </a:rPr>
              <a:t>7</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77795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Perceptron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§13.2  ·  Handout p. 99     </a:t>
            </a:r>
            <a:fld id="{48E4404D-88B5-4E3C-A535-FCA2CDCA699B}"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44103"/>
          </a:xfrm>
          <a:prstGeom prst="roundRect">
            <a:avLst>
              <a:gd name="adj" fmla="val 2734"/>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4410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perceptron</a:t>
            </a:r>
            <a:r>
              <a:rPr sz="2300" b="0" i="0">
                <a:solidFill>
                  <a:srgbClr val="1C252B"/>
                </a:solidFill>
                <a:latin typeface="Segoe UI"/>
              </a:rPr>
              <a:t> computes a weighted sum of its inputs and thresholds it:</a:t>
            </a:r>
          </a:p>
        </p:txBody>
      </p:sp>
      <p:pic>
        <p:nvPicPr>
          <p:cNvPr id="10" name="body-1" descr="o(\mathbf{x}) = \begin{cases} 1 &amp; \text{if } w_0 + w_1 x_1 + \dots + w_d x_d &gt; 0 \\ 0 &amp; \text{otherwise} \end{cas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942837"/>
          </a:xfrm>
          <a:prstGeom prst="rect">
            <a:avLst/>
          </a:prstGeom>
        </p:spPr>
      </p:pic>
      <p:sp>
        <p:nvSpPr>
          <p:cNvPr id="11" name="body-2"/>
          <p:cNvSpPr txBox="1"/>
          <p:nvPr/>
        </p:nvSpPr>
        <p:spPr>
          <a:xfrm>
            <a:off x="1060704" y="3676944"/>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With a constant input </a:t>
            </a:r>
            <a:r>
              <a:rPr sz="2300" b="0" i="1">
                <a:solidFill>
                  <a:srgbClr val="1C252B"/>
                </a:solidFill>
                <a:latin typeface="Cambria"/>
              </a:rPr>
              <a:t>x</a:t>
            </a:r>
            <a:r>
              <a:rPr sz="2300" b="0" i="0" baseline="-25000">
                <a:solidFill>
                  <a:srgbClr val="1C252B"/>
                </a:solidFill>
                <a:latin typeface="Cambria"/>
              </a:rPr>
              <a:t>0</a:t>
            </a:r>
            <a:r>
              <a:rPr sz="2300" b="0" i="0">
                <a:solidFill>
                  <a:srgbClr val="1C252B"/>
                </a:solidFill>
                <a:latin typeface="Cambria"/>
              </a:rPr>
              <a:t> = 1</a:t>
            </a:r>
            <a:r>
              <a:rPr sz="2300" b="0" i="0">
                <a:solidFill>
                  <a:srgbClr val="1C252B"/>
                </a:solidFill>
                <a:latin typeface="Segoe UI"/>
              </a:rPr>
              <a:t> the bias </a:t>
            </a:r>
            <a:r>
              <a:rPr sz="2300" b="0" i="1">
                <a:solidFill>
                  <a:srgbClr val="1C252B"/>
                </a:solidFill>
                <a:latin typeface="Cambria"/>
              </a:rPr>
              <a:t>w</a:t>
            </a:r>
            <a:r>
              <a:rPr sz="2300" b="0" i="0" baseline="-25000">
                <a:solidFill>
                  <a:srgbClr val="1C252B"/>
                </a:solidFill>
                <a:latin typeface="Cambria"/>
              </a:rPr>
              <a:t>0</a:t>
            </a:r>
            <a:r>
              <a:rPr sz="2300" b="0" i="0">
                <a:solidFill>
                  <a:srgbClr val="1C252B"/>
                </a:solidFill>
                <a:latin typeface="Segoe UI"/>
              </a:rPr>
              <a:t> is just another weight, and the unit computes step</a:t>
            </a:r>
            <a:r>
              <a:rPr sz="2300" b="0" i="0">
                <a:solidFill>
                  <a:srgbClr val="1C252B"/>
                </a:solidFill>
                <a:latin typeface="Cambria"/>
              </a:rPr>
              <a:t>(</a:t>
            </a:r>
            <a:r>
              <a:rPr sz="2300" b="1" i="1">
                <a:solidFill>
                  <a:srgbClr val="1C252B"/>
                </a:solidFill>
                <a:latin typeface="Cambria"/>
              </a:rPr>
              <a:t>w</a:t>
            </a:r>
            <a:r>
              <a:rPr sz="2300" b="0" i="0">
                <a:solidFill>
                  <a:srgbClr val="1C252B"/>
                </a:solidFill>
                <a:latin typeface="Cambria"/>
              </a:rPr>
              <a:t>·</a:t>
            </a:r>
            <a:r>
              <a:rPr sz="2300" b="1" i="1">
                <a:solidFill>
                  <a:srgbClr val="1C252B"/>
                </a:solidFill>
                <a:latin typeface="Cambria"/>
              </a:rPr>
              <a:t>x</a:t>
            </a:r>
            <a:r>
              <a:rPr sz="2300" b="0" i="0">
                <a:solidFill>
                  <a:srgbClr val="1C252B"/>
                </a:solidFill>
                <a:latin typeface="Cambria"/>
              </a:rPr>
              <a:t>)</a:t>
            </a:r>
            <a:r>
              <a:rPr sz="2300" b="0" i="0">
                <a:solidFill>
                  <a:srgbClr val="1C252B"/>
                </a:solidFill>
                <a:latin typeface="Segoe UI"/>
              </a:rPr>
              <a:t>. Its decision boundary is the hyperplane </a:t>
            </a:r>
            <a:r>
              <a:rPr sz="2300" b="1" i="1">
                <a:solidFill>
                  <a:srgbClr val="1C252B"/>
                </a:solidFill>
                <a:latin typeface="Cambria"/>
              </a:rPr>
              <a:t>w</a:t>
            </a:r>
            <a:r>
              <a:rPr sz="2300" b="0" i="0">
                <a:solidFill>
                  <a:srgbClr val="1C252B"/>
                </a:solidFill>
                <a:latin typeface="Cambria"/>
              </a:rPr>
              <a:t>·</a:t>
            </a:r>
            <a:r>
              <a:rPr sz="2300" b="1" i="1">
                <a:solidFill>
                  <a:srgbClr val="1C252B"/>
                </a:solidFill>
                <a:latin typeface="Cambria"/>
              </a:rPr>
              <a:t>x</a:t>
            </a:r>
            <a:r>
              <a:rPr sz="2300" b="0" i="0">
                <a:solidFill>
                  <a:srgbClr val="1C252B"/>
                </a:solidFill>
                <a:latin typeface="Cambria"/>
              </a:rPr>
              <a:t> = 0</a:t>
            </a:r>
            <a:r>
              <a:rPr sz="2300" b="0" i="0">
                <a:solidFill>
                  <a:srgbClr val="1C252B"/>
                </a:solidFill>
                <a:latin typeface="Segoe UI"/>
              </a:rPr>
              <a:t> — the same family as logistic regression and the linear SVM.</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03194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perceptron: a weighted sum of the inputs, then a threshold</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13.1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§13.2  ·  Handout p. 99     </a:t>
            </a:r>
            <a:fld id="{5C8ED402-A141-41D2-B421-0E343C8DC1C6}" type="slidenum">
              <a:rPr lang="en-GB" sz="1000">
                <a:solidFill>
                  <a:srgbClr val="8795A1"/>
                </a:solidFill>
                <a:latin typeface="Segoe UI"/>
              </a:rPr>
              <a:t>9</a:t>
            </a:fld>
          </a:p>
        </p:txBody>
      </p:sp>
      <p:pic>
        <p:nvPicPr>
          <p:cNvPr id="6" name="!!figure" descr="Figure 13.1. A perceptron: a weighted sum of the inputs, then a threshold. The bias is a weight on a constant input of 1. With the weights shown on the right it computes logical AN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77340"/>
            <a:ext cx="10874959" cy="3781491"/>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bias is a weight on a constant input of 1. With the weights shown on the right it computes logical AND.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2859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Perceptron Training Rule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§13.2  ·  Handout p. 99     </a:t>
            </a:r>
            <a:fld id="{AF176DA5-38C6-4FE3-8760-CD3A76B5BF89}"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87713"/>
          </a:xfrm>
          <a:prstGeom prst="roundRect">
            <a:avLst>
              <a:gd name="adj" fmla="val 235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8771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Start from small (or zero) weights. For each training example with target </a:t>
            </a:r>
            <a:r>
              <a:rPr sz="2300" b="0" i="1">
                <a:solidFill>
                  <a:srgbClr val="1C252B"/>
                </a:solidFill>
                <a:latin typeface="Cambria"/>
              </a:rPr>
              <a:t>t</a:t>
            </a:r>
            <a:r>
              <a:rPr sz="2300" b="0" i="0">
                <a:solidFill>
                  <a:srgbClr val="1C252B"/>
                </a:solidFill>
                <a:latin typeface="Segoe UI"/>
              </a:rPr>
              <a:t> and current output </a:t>
            </a:r>
            <a:r>
              <a:rPr sz="2300" b="0" i="1">
                <a:solidFill>
                  <a:srgbClr val="1C252B"/>
                </a:solidFill>
                <a:latin typeface="Cambria"/>
              </a:rPr>
              <a:t>o</a:t>
            </a:r>
            <a:r>
              <a:rPr sz="2300" b="0" i="0">
                <a:solidFill>
                  <a:srgbClr val="1C252B"/>
                </a:solidFill>
                <a:latin typeface="Segoe UI"/>
              </a:rPr>
              <a:t>, update every weight:</a:t>
            </a:r>
          </a:p>
        </p:txBody>
      </p:sp>
      <p:pic>
        <p:nvPicPr>
          <p:cNvPr id="10" name="body-1" descr="w_i \leftarrow w_i + \eta\,(t - o)\,x_i"/>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392826"/>
          </a:xfrm>
          <a:prstGeom prst="rect">
            <a:avLst/>
          </a:prstGeom>
        </p:spPr>
      </p:pic>
      <p:sp>
        <p:nvSpPr>
          <p:cNvPr id="11" name="body-2"/>
          <p:cNvSpPr txBox="1"/>
          <p:nvPr/>
        </p:nvSpPr>
        <p:spPr>
          <a:xfrm>
            <a:off x="1060704" y="3491473"/>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Correct outputs change nothing; a missed positive pushes the weights towards the input, a false positive pushes them away. If the training examples are </a:t>
            </a:r>
            <a:r>
              <a:rPr sz="2300" b="1" i="0">
                <a:solidFill>
                  <a:srgbClr val="1A5276"/>
                </a:solidFill>
                <a:latin typeface="Segoe UI"/>
              </a:rPr>
              <a:t>linearly separable</a:t>
            </a:r>
            <a:r>
              <a:rPr sz="2300" b="0" i="0">
                <a:solidFill>
                  <a:srgbClr val="1C252B"/>
                </a:solidFill>
                <a:latin typeface="Segoe UI"/>
              </a:rPr>
              <a:t> — some hyperplane separates the classes perfectly — this procedure is guaranteed to find one in a finite number of steps, for any sufficiently small learning rate </a:t>
            </a:r>
            <a:r>
              <a:rPr sz="2300" b="0" i="0">
                <a:solidFill>
                  <a:srgbClr val="1C252B"/>
                </a:solidFill>
                <a:latin typeface="Cambria"/>
              </a:rPr>
              <a:t>η</a:t>
            </a:r>
            <a:r>
              <a:rPr sz="2300" b="0" i="0">
                <a:solidFill>
                  <a:srgbClr val="1C252B"/>
                </a:solidFill>
                <a:latin typeface="Segoe UI"/>
              </a:rPr>
              <a: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53993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Training a Perceptron to Compute AND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§13.2  ·  Handout p. 99     </a:t>
            </a:r>
            <a:fld id="{8D5DC786-7C07-4EF9-9848-826E5F96884C}"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54651"/>
          </a:xfrm>
          <a:prstGeom prst="roundRect">
            <a:avLst>
              <a:gd name="adj" fmla="val 205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5465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Inputs with bias </a:t>
            </a:r>
            <a:r>
              <a:rPr sz="2000" b="0" i="1">
                <a:solidFill>
                  <a:srgbClr val="1C252B"/>
                </a:solidFill>
                <a:latin typeface="Cambria"/>
              </a:rPr>
              <a:t>x</a:t>
            </a:r>
            <a:r>
              <a:rPr sz="2000" b="0" i="0" baseline="-25000">
                <a:solidFill>
                  <a:srgbClr val="1C252B"/>
                </a:solidFill>
                <a:latin typeface="Cambria"/>
              </a:rPr>
              <a:t>0</a:t>
            </a:r>
            <a:r>
              <a:rPr sz="2000" b="0" i="0">
                <a:solidFill>
                  <a:srgbClr val="1C252B"/>
                </a:solidFill>
                <a:latin typeface="Cambria"/>
              </a:rPr>
              <a:t> = 1</a:t>
            </a:r>
            <a:r>
              <a:rPr sz="2000" b="0" i="0">
                <a:solidFill>
                  <a:srgbClr val="1C252B"/>
                </a:solidFill>
                <a:latin typeface="Segoe UI"/>
              </a:rPr>
              <a:t>; weights </a:t>
            </a:r>
            <a:r>
              <a:rPr sz="2000" b="0" i="0">
                <a:solidFill>
                  <a:srgbClr val="1C252B"/>
                </a:solidFill>
                <a:latin typeface="Cambria"/>
              </a:rPr>
              <a:t>(</a:t>
            </a:r>
            <a:r>
              <a:rPr sz="2000" b="0" i="1">
                <a:solidFill>
                  <a:srgbClr val="1C252B"/>
                </a:solidFill>
                <a:latin typeface="Cambria"/>
              </a:rPr>
              <a:t>w</a:t>
            </a:r>
            <a:r>
              <a:rPr sz="2000" b="0" i="0" baseline="-25000">
                <a:solidFill>
                  <a:srgbClr val="1C252B"/>
                </a:solidFill>
                <a:latin typeface="Cambria"/>
              </a:rPr>
              <a:t>0</a:t>
            </a:r>
            <a:r>
              <a:rPr sz="2000" b="0" i="0">
                <a:solidFill>
                  <a:srgbClr val="1C252B"/>
                </a:solidFill>
                <a:latin typeface="Cambria"/>
              </a:rPr>
              <a:t>, </a:t>
            </a:r>
            <a:r>
              <a:rPr sz="2000" b="0" i="1">
                <a:solidFill>
                  <a:srgbClr val="1C252B"/>
                </a:solidFill>
                <a:latin typeface="Cambria"/>
              </a:rPr>
              <a:t>w</a:t>
            </a:r>
            <a:r>
              <a:rPr sz="2000" b="0" i="0" baseline="-25000">
                <a:solidFill>
                  <a:srgbClr val="1C252B"/>
                </a:solidFill>
                <a:latin typeface="Cambria"/>
              </a:rPr>
              <a:t>1</a:t>
            </a:r>
            <a:r>
              <a:rPr sz="2000" b="0" i="0">
                <a:solidFill>
                  <a:srgbClr val="1C252B"/>
                </a:solidFill>
                <a:latin typeface="Cambria"/>
              </a:rPr>
              <a:t>, </a:t>
            </a:r>
            <a:r>
              <a:rPr sz="2000" b="0" i="1">
                <a:solidFill>
                  <a:srgbClr val="1C252B"/>
                </a:solidFill>
                <a:latin typeface="Cambria"/>
              </a:rPr>
              <a:t>w</a:t>
            </a:r>
            <a:r>
              <a:rPr sz="2000" b="0" i="0" baseline="-25000">
                <a:solidFill>
                  <a:srgbClr val="1C252B"/>
                </a:solidFill>
                <a:latin typeface="Cambria"/>
              </a:rPr>
              <a:t>2</a:t>
            </a:r>
            <a:r>
              <a:rPr sz="2000" b="0" i="0">
                <a:solidFill>
                  <a:srgbClr val="1C252B"/>
                </a:solidFill>
                <a:latin typeface="Cambria"/>
              </a:rPr>
              <a:t>)</a:t>
            </a:r>
            <a:r>
              <a:rPr sz="2000" b="0" i="0">
                <a:solidFill>
                  <a:srgbClr val="1C252B"/>
                </a:solidFill>
                <a:latin typeface="Segoe UI"/>
              </a:rPr>
              <a:t> start at </a:t>
            </a:r>
            <a:r>
              <a:rPr sz="2000" b="0" i="0">
                <a:solidFill>
                  <a:srgbClr val="1C252B"/>
                </a:solidFill>
                <a:latin typeface="Cambria"/>
              </a:rPr>
              <a:t>(0, 0, 0)</a:t>
            </a:r>
            <a:r>
              <a:rPr sz="2000" b="0" i="0">
                <a:solidFill>
                  <a:srgbClr val="1C252B"/>
                </a:solidFill>
                <a:latin typeface="Segoe UI"/>
              </a:rPr>
              <a:t>; </a:t>
            </a:r>
            <a:r>
              <a:rPr sz="2000" b="0" i="0">
                <a:solidFill>
                  <a:srgbClr val="1C252B"/>
                </a:solidFill>
                <a:latin typeface="Cambria"/>
              </a:rPr>
              <a:t>η = 0.5</a:t>
            </a:r>
            <a:r>
              <a:rPr sz="2000" b="0" i="0">
                <a:solidFill>
                  <a:srgbClr val="1C252B"/>
                </a:solidFill>
                <a:latin typeface="Segoe UI"/>
              </a:rPr>
              <a:t>. The output is 1 only if </a:t>
            </a:r>
            <a:r>
              <a:rPr sz="2000" b="1" i="1">
                <a:solidFill>
                  <a:srgbClr val="1C252B"/>
                </a:solidFill>
                <a:latin typeface="Cambria"/>
              </a:rPr>
              <a:t>w</a:t>
            </a:r>
            <a:r>
              <a:rPr sz="2000" b="0" i="0">
                <a:solidFill>
                  <a:srgbClr val="1C252B"/>
                </a:solidFill>
                <a:latin typeface="Cambria"/>
              </a:rPr>
              <a:t>·</a:t>
            </a:r>
            <a:r>
              <a:rPr sz="2000" b="1" i="1">
                <a:solidFill>
                  <a:srgbClr val="1C252B"/>
                </a:solidFill>
                <a:latin typeface="Cambria"/>
              </a:rPr>
              <a:t>x</a:t>
            </a:r>
            <a:r>
              <a:rPr sz="2000" b="0" i="0">
                <a:solidFill>
                  <a:srgbClr val="1C252B"/>
                </a:solidFill>
                <a:latin typeface="Cambria"/>
              </a:rPr>
              <a:t> &gt; 0</a:t>
            </a:r>
            <a:r>
              <a:rPr sz="2000" b="0" i="0">
                <a:solidFill>
                  <a:srgbClr val="1C252B"/>
                </a:solidFill>
                <a:latin typeface="Segoe UI"/>
              </a:rPr>
              <a:t>.</a:t>
            </a:r>
          </a:p>
        </p:txBody>
      </p:sp>
      <p:sp>
        <p:nvSpPr>
          <p:cNvPr id="10" name="body-1"/>
          <p:cNvSpPr txBox="1"/>
          <p:nvPr/>
        </p:nvSpPr>
        <p:spPr>
          <a:xfrm>
            <a:off x="1042416" y="2785363"/>
            <a:ext cx="1023487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Epoch 1.</a:t>
            </a:r>
            <a:r>
              <a:rPr sz="2000" b="0" i="0">
                <a:solidFill>
                  <a:srgbClr val="1C252B"/>
                </a:solidFill>
                <a:latin typeface="Segoe UI"/>
              </a:rPr>
              <a:t> </a:t>
            </a:r>
            <a:r>
              <a:rPr sz="2000" b="0" i="0">
                <a:solidFill>
                  <a:srgbClr val="1C252B"/>
                </a:solidFill>
                <a:latin typeface="Cambria"/>
              </a:rPr>
              <a:t>(0,0)</a:t>
            </a:r>
            <a:r>
              <a:rPr sz="2000" b="0" i="0">
                <a:solidFill>
                  <a:srgbClr val="1C252B"/>
                </a:solidFill>
                <a:latin typeface="Segoe UI"/>
              </a:rPr>
              <a:t>, </a:t>
            </a:r>
            <a:r>
              <a:rPr sz="2000" b="0" i="0">
                <a:solidFill>
                  <a:srgbClr val="1C252B"/>
                </a:solidFill>
                <a:latin typeface="Cambria"/>
              </a:rPr>
              <a:t>(0,1)</a:t>
            </a:r>
            <a:r>
              <a:rPr sz="2000" b="0" i="0">
                <a:solidFill>
                  <a:srgbClr val="1C252B"/>
                </a:solidFill>
                <a:latin typeface="Segoe UI"/>
              </a:rPr>
              <a:t>, </a:t>
            </a:r>
            <a:r>
              <a:rPr sz="2000" b="0" i="0">
                <a:solidFill>
                  <a:srgbClr val="1C252B"/>
                </a:solidFill>
                <a:latin typeface="Cambria"/>
              </a:rPr>
              <a:t>(1,0)</a:t>
            </a:r>
            <a:r>
              <a:rPr sz="2000" b="0" i="0">
                <a:solidFill>
                  <a:srgbClr val="1C252B"/>
                </a:solidFill>
                <a:latin typeface="Segoe UI"/>
              </a:rPr>
              <a:t>: net </a:t>
            </a:r>
            <a:r>
              <a:rPr sz="2000" b="0" i="0">
                <a:solidFill>
                  <a:srgbClr val="1C252B"/>
                </a:solidFill>
                <a:latin typeface="Cambria"/>
              </a:rPr>
              <a:t>= 0</a:t>
            </a:r>
            <a:r>
              <a:rPr sz="2000" b="0" i="0">
                <a:solidFill>
                  <a:srgbClr val="1C252B"/>
                </a:solidFill>
                <a:latin typeface="Segoe UI"/>
              </a:rPr>
              <a:t>, output 0, target 0 — no change. </a:t>
            </a:r>
            <a:r>
              <a:rPr sz="2000" b="0" i="0">
                <a:solidFill>
                  <a:srgbClr val="1C252B"/>
                </a:solidFill>
                <a:latin typeface="Cambria"/>
              </a:rPr>
              <a:t>(1,1)</a:t>
            </a:r>
            <a:r>
              <a:rPr sz="2000" b="0" i="0">
                <a:solidFill>
                  <a:srgbClr val="1C252B"/>
                </a:solidFill>
                <a:latin typeface="Segoe UI"/>
              </a:rPr>
              <a:t>: net </a:t>
            </a:r>
            <a:r>
              <a:rPr sz="2000" b="0" i="0">
                <a:solidFill>
                  <a:srgbClr val="1C252B"/>
                </a:solidFill>
                <a:latin typeface="Cambria"/>
              </a:rPr>
              <a:t>0</a:t>
            </a:r>
            <a:r>
              <a:rPr sz="2000" b="0" i="0">
                <a:solidFill>
                  <a:srgbClr val="1C252B"/>
                </a:solidFill>
                <a:latin typeface="Segoe UI"/>
              </a:rPr>
              <a:t>, output 0, target 1 — update by </a:t>
            </a:r>
            <a:r>
              <a:rPr sz="2000" b="0" i="0">
                <a:solidFill>
                  <a:srgbClr val="1C252B"/>
                </a:solidFill>
                <a:latin typeface="Cambria"/>
              </a:rPr>
              <a:t>0.5 × (1 − 0) × (1, 1, 1)</a:t>
            </a:r>
            <a:r>
              <a:rPr sz="2000" b="0" i="0">
                <a:solidFill>
                  <a:srgbClr val="1C252B"/>
                </a:solidFill>
                <a:latin typeface="Segoe UI"/>
              </a:rPr>
              <a:t>: </a:t>
            </a:r>
            <a:r>
              <a:rPr sz="2000" b="1" i="1">
                <a:solidFill>
                  <a:srgbClr val="1C252B"/>
                </a:solidFill>
                <a:latin typeface="Cambria"/>
              </a:rPr>
              <a:t>w</a:t>
            </a:r>
            <a:r>
              <a:rPr sz="2000" b="0" i="0">
                <a:solidFill>
                  <a:srgbClr val="1C252B"/>
                </a:solidFill>
                <a:latin typeface="Cambria"/>
              </a:rPr>
              <a:t> = (0.5, 0.5, 0.5)</a:t>
            </a:r>
            <a:r>
              <a:rPr sz="2000" b="0" i="0">
                <a:solidFill>
                  <a:srgbClr val="1C252B"/>
                </a:solidFill>
                <a:latin typeface="Segoe UI"/>
              </a:rPr>
              <a:t>.</a:t>
            </a:r>
          </a:p>
        </p:txBody>
      </p:sp>
      <p:sp>
        <p:nvSpPr>
          <p:cNvPr id="11" name="body-2"/>
          <p:cNvSpPr txBox="1"/>
          <p:nvPr/>
        </p:nvSpPr>
        <p:spPr>
          <a:xfrm>
            <a:off x="1042416" y="3559047"/>
            <a:ext cx="1023487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Epoch 2.</a:t>
            </a:r>
            <a:r>
              <a:rPr sz="2000" b="0" i="0">
                <a:solidFill>
                  <a:srgbClr val="1C252B"/>
                </a:solidFill>
                <a:latin typeface="Segoe UI"/>
              </a:rPr>
              <a:t> </a:t>
            </a:r>
            <a:r>
              <a:rPr sz="2000" b="0" i="0">
                <a:solidFill>
                  <a:srgbClr val="1C252B"/>
                </a:solidFill>
                <a:latin typeface="Cambria"/>
              </a:rPr>
              <a:t>(0,0)</a:t>
            </a:r>
            <a:r>
              <a:rPr sz="2000" b="0" i="0">
                <a:solidFill>
                  <a:srgbClr val="1C252B"/>
                </a:solidFill>
                <a:latin typeface="Segoe UI"/>
              </a:rPr>
              <a:t>: net </a:t>
            </a:r>
            <a:r>
              <a:rPr sz="2000" b="0" i="0">
                <a:solidFill>
                  <a:srgbClr val="1C252B"/>
                </a:solidFill>
                <a:latin typeface="Cambria"/>
              </a:rPr>
              <a:t>0.5</a:t>
            </a:r>
            <a:r>
              <a:rPr sz="2000" b="0" i="0">
                <a:solidFill>
                  <a:srgbClr val="1C252B"/>
                </a:solidFill>
                <a:latin typeface="Segoe UI"/>
              </a:rPr>
              <a:t>, output 1, target 0 — subtract </a:t>
            </a:r>
            <a:r>
              <a:rPr sz="2000" b="0" i="0">
                <a:solidFill>
                  <a:srgbClr val="1C252B"/>
                </a:solidFill>
                <a:latin typeface="Cambria"/>
              </a:rPr>
              <a:t>0.5 × (1,0,0)</a:t>
            </a:r>
            <a:r>
              <a:rPr sz="2000" b="0" i="0">
                <a:solidFill>
                  <a:srgbClr val="1C252B"/>
                </a:solidFill>
                <a:latin typeface="Segoe UI"/>
              </a:rPr>
              <a:t>: </a:t>
            </a:r>
            <a:r>
              <a:rPr sz="2000" b="1" i="1">
                <a:solidFill>
                  <a:srgbClr val="1C252B"/>
                </a:solidFill>
                <a:latin typeface="Cambria"/>
              </a:rPr>
              <a:t>w</a:t>
            </a:r>
            <a:r>
              <a:rPr sz="2000" b="0" i="0">
                <a:solidFill>
                  <a:srgbClr val="1C252B"/>
                </a:solidFill>
                <a:latin typeface="Cambria"/>
              </a:rPr>
              <a:t> = (0, 0.5, 0.5)</a:t>
            </a:r>
            <a:r>
              <a:rPr sz="2000" b="0" i="0">
                <a:solidFill>
                  <a:srgbClr val="1C252B"/>
                </a:solidFill>
                <a:latin typeface="Segoe UI"/>
              </a:rPr>
              <a:t>. </a:t>
            </a:r>
            <a:r>
              <a:rPr sz="2000" b="0" i="0">
                <a:solidFill>
                  <a:srgbClr val="1C252B"/>
                </a:solidFill>
                <a:latin typeface="Cambria"/>
              </a:rPr>
              <a:t>(0,1)</a:t>
            </a:r>
            <a:r>
              <a:rPr sz="2000" b="0" i="0">
                <a:solidFill>
                  <a:srgbClr val="1C252B"/>
                </a:solidFill>
                <a:latin typeface="Segoe UI"/>
              </a:rPr>
              <a:t>: net </a:t>
            </a:r>
            <a:r>
              <a:rPr sz="2000" b="0" i="0">
                <a:solidFill>
                  <a:srgbClr val="1C252B"/>
                </a:solidFill>
                <a:latin typeface="Cambria"/>
              </a:rPr>
              <a:t>0.5</a:t>
            </a:r>
            <a:r>
              <a:rPr sz="2000" b="0" i="0">
                <a:solidFill>
                  <a:srgbClr val="1C252B"/>
                </a:solidFill>
                <a:latin typeface="Segoe UI"/>
              </a:rPr>
              <a:t>, output 1 — subtract </a:t>
            </a:r>
            <a:r>
              <a:rPr sz="2000" b="0" i="0">
                <a:solidFill>
                  <a:srgbClr val="1C252B"/>
                </a:solidFill>
                <a:latin typeface="Cambria"/>
              </a:rPr>
              <a:t>0.5 × (1,0,1)</a:t>
            </a:r>
            <a:r>
              <a:rPr sz="2000" b="0" i="0">
                <a:solidFill>
                  <a:srgbClr val="1C252B"/>
                </a:solidFill>
                <a:latin typeface="Segoe UI"/>
              </a:rPr>
              <a:t>: </a:t>
            </a:r>
            <a:r>
              <a:rPr sz="2000" b="1" i="1">
                <a:solidFill>
                  <a:srgbClr val="1C252B"/>
                </a:solidFill>
                <a:latin typeface="Cambria"/>
              </a:rPr>
              <a:t>w</a:t>
            </a:r>
            <a:r>
              <a:rPr sz="2000" b="0" i="0">
                <a:solidFill>
                  <a:srgbClr val="1C252B"/>
                </a:solidFill>
                <a:latin typeface="Cambria"/>
              </a:rPr>
              <a:t> = (−0.5, 0.5, 0)</a:t>
            </a:r>
            <a:r>
              <a:rPr sz="2000" b="0" i="0">
                <a:solidFill>
                  <a:srgbClr val="1C252B"/>
                </a:solidFill>
                <a:latin typeface="Segoe UI"/>
              </a:rPr>
              <a:t>. </a:t>
            </a:r>
            <a:r>
              <a:rPr sz="2000" b="0" i="0">
                <a:solidFill>
                  <a:srgbClr val="1C252B"/>
                </a:solidFill>
                <a:latin typeface="Cambria"/>
              </a:rPr>
              <a:t>(1,0)</a:t>
            </a:r>
            <a:r>
              <a:rPr sz="2000" b="0" i="0">
                <a:solidFill>
                  <a:srgbClr val="1C252B"/>
                </a:solidFill>
                <a:latin typeface="Segoe UI"/>
              </a:rPr>
              <a:t>: net </a:t>
            </a:r>
            <a:r>
              <a:rPr sz="2000" b="0" i="0">
                <a:solidFill>
                  <a:srgbClr val="1C252B"/>
                </a:solidFill>
                <a:latin typeface="Cambria"/>
              </a:rPr>
              <a:t>0</a:t>
            </a:r>
            <a:r>
              <a:rPr sz="2000" b="0" i="0">
                <a:solidFill>
                  <a:srgbClr val="1C252B"/>
                </a:solidFill>
                <a:latin typeface="Segoe UI"/>
              </a:rPr>
              <a:t>, correct. </a:t>
            </a:r>
            <a:r>
              <a:rPr sz="2000" b="0" i="0">
                <a:solidFill>
                  <a:srgbClr val="1C252B"/>
                </a:solidFill>
                <a:latin typeface="Cambria"/>
              </a:rPr>
              <a:t>(1,1)</a:t>
            </a:r>
            <a:r>
              <a:rPr sz="2000" b="0" i="0">
                <a:solidFill>
                  <a:srgbClr val="1C252B"/>
                </a:solidFill>
                <a:latin typeface="Segoe UI"/>
              </a:rPr>
              <a:t>: net </a:t>
            </a:r>
            <a:r>
              <a:rPr sz="2000" b="0" i="0">
                <a:solidFill>
                  <a:srgbClr val="1C252B"/>
                </a:solidFill>
                <a:latin typeface="Cambria"/>
              </a:rPr>
              <a:t>0</a:t>
            </a:r>
            <a:r>
              <a:rPr sz="2000" b="0" i="0">
                <a:solidFill>
                  <a:srgbClr val="1C252B"/>
                </a:solidFill>
                <a:latin typeface="Segoe UI"/>
              </a:rPr>
              <a:t>, output 0 — add </a:t>
            </a:r>
            <a:r>
              <a:rPr sz="2000" b="0" i="0">
                <a:solidFill>
                  <a:srgbClr val="1C252B"/>
                </a:solidFill>
                <a:latin typeface="Cambria"/>
              </a:rPr>
              <a:t>0.5 × (1,1,1)</a:t>
            </a:r>
            <a:r>
              <a:rPr sz="2000" b="0" i="0">
                <a:solidFill>
                  <a:srgbClr val="1C252B"/>
                </a:solidFill>
                <a:latin typeface="Segoe UI"/>
              </a:rPr>
              <a:t>: </a:t>
            </a:r>
            <a:r>
              <a:rPr sz="2000" b="1" i="1">
                <a:solidFill>
                  <a:srgbClr val="1C252B"/>
                </a:solidFill>
                <a:latin typeface="Cambria"/>
              </a:rPr>
              <a:t>w</a:t>
            </a:r>
            <a:r>
              <a:rPr sz="2000" b="0" i="0">
                <a:solidFill>
                  <a:srgbClr val="1C252B"/>
                </a:solidFill>
                <a:latin typeface="Cambria"/>
              </a:rPr>
              <a:t> = (0, 1, 0.5)</a:t>
            </a:r>
            <a:r>
              <a:rPr sz="2000" b="0" i="0">
                <a:solidFill>
                  <a:srgbClr val="1C252B"/>
                </a:solidFill>
                <a:latin typeface="Segoe UI"/>
              </a:rPr>
              <a:t>.</a:t>
            </a:r>
          </a:p>
        </p:txBody>
      </p:sp>
      <p:sp>
        <p:nvSpPr>
          <p:cNvPr id="12" name="body-3"/>
          <p:cNvSpPr txBox="1"/>
          <p:nvPr/>
        </p:nvSpPr>
        <p:spPr>
          <a:xfrm>
            <a:off x="1042416" y="4649723"/>
            <a:ext cx="10234879"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Epochs 3–5</a:t>
            </a:r>
            <a:r>
              <a:rPr sz="2000" b="0" i="0">
                <a:solidFill>
                  <a:srgbClr val="1C252B"/>
                </a:solidFill>
                <a:latin typeface="Segoe UI"/>
              </a:rPr>
              <a:t> continue the same way, and at the end of epoch 5 the weights are </a:t>
            </a:r>
            <a:r>
              <a:rPr sz="2000" b="1" i="1">
                <a:solidFill>
                  <a:srgbClr val="1C252B"/>
                </a:solidFill>
                <a:latin typeface="Cambria"/>
              </a:rPr>
              <a:t>w</a:t>
            </a:r>
            <a:r>
              <a:rPr sz="2000" b="0" i="0">
                <a:solidFill>
                  <a:srgbClr val="1C252B"/>
                </a:solidFill>
                <a:latin typeface="Cambria"/>
              </a:rPr>
              <a:t> = (−1, 1, 0.5)</a:t>
            </a:r>
            <a:r>
              <a:rPr sz="2000" b="0" i="0">
                <a:solidFill>
                  <a:srgbClr val="1C252B"/>
                </a:solidFill>
                <a:latin typeface="Segoe UI"/>
              </a:rPr>
              <a:t>. </a:t>
            </a:r>
            <a:r>
              <a:rPr sz="2000" b="1" i="0">
                <a:solidFill>
                  <a:srgbClr val="1C252B"/>
                </a:solidFill>
                <a:latin typeface="Segoe UI"/>
              </a:rPr>
              <a:t>Check:</a:t>
            </a:r>
            <a:r>
              <a:rPr sz="2000" b="0" i="0">
                <a:solidFill>
                  <a:srgbClr val="1C252B"/>
                </a:solidFill>
                <a:latin typeface="Segoe UI"/>
              </a:rPr>
              <a:t> </a:t>
            </a:r>
            <a:r>
              <a:rPr sz="2000" b="0" i="0">
                <a:solidFill>
                  <a:srgbClr val="1C252B"/>
                </a:solidFill>
                <a:latin typeface="Cambria"/>
              </a:rPr>
              <a:t>(0,0) → −1</a:t>
            </a:r>
            <a:r>
              <a:rPr sz="2000" b="0" i="0">
                <a:solidFill>
                  <a:srgbClr val="1C252B"/>
                </a:solidFill>
                <a:latin typeface="Segoe UI"/>
              </a:rPr>
              <a:t>, </a:t>
            </a:r>
            <a:r>
              <a:rPr sz="2000" b="0" i="0">
                <a:solidFill>
                  <a:srgbClr val="1C252B"/>
                </a:solidFill>
                <a:latin typeface="Cambria"/>
              </a:rPr>
              <a:t>(0,1) → −0.5</a:t>
            </a:r>
            <a:r>
              <a:rPr sz="2000" b="0" i="0">
                <a:solidFill>
                  <a:srgbClr val="1C252B"/>
                </a:solidFill>
                <a:latin typeface="Segoe UI"/>
              </a:rPr>
              <a:t>, </a:t>
            </a:r>
            <a:r>
              <a:rPr sz="2000" b="0" i="0">
                <a:solidFill>
                  <a:srgbClr val="1C252B"/>
                </a:solidFill>
                <a:latin typeface="Cambria"/>
              </a:rPr>
              <a:t>(1,0) → 0</a:t>
            </a:r>
            <a:r>
              <a:rPr sz="2000" b="0" i="0">
                <a:solidFill>
                  <a:srgbClr val="1C252B"/>
                </a:solidFill>
                <a:latin typeface="Segoe UI"/>
              </a:rPr>
              <a:t>, all output 0; </a:t>
            </a:r>
            <a:r>
              <a:rPr sz="2000" b="0" i="0">
                <a:solidFill>
                  <a:srgbClr val="1C252B"/>
                </a:solidFill>
                <a:latin typeface="Cambria"/>
              </a:rPr>
              <a:t>(1,1) → +0.5</a:t>
            </a:r>
            <a:r>
              <a:rPr sz="2000" b="0" i="0">
                <a:solidFill>
                  <a:srgbClr val="1C252B"/>
                </a:solidFill>
                <a:latin typeface="Segoe UI"/>
              </a:rPr>
              <a:t>, output 1. Epoch 6 makes no changes: converged. (Trace epochs 3 to 5 yourself: it is standard examination practice.)</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79393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AND and OR are linearly separable; XOR is not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13.2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§13.3  ·  Handout p. 100     </a:t>
            </a:r>
            <a:fld id="{2C8FBA88-8067-4EDD-984B-2BBE6FEDA1FF}" type="slidenum">
              <a:rPr lang="en-GB" sz="1000">
                <a:solidFill>
                  <a:srgbClr val="8795A1"/>
                </a:solidFill>
                <a:latin typeface="Segoe UI"/>
              </a:rPr>
              <a:t>12</a:t>
            </a:fld>
          </a:p>
        </p:txBody>
      </p:sp>
      <p:pic>
        <p:nvPicPr>
          <p:cNvPr id="6" name="!!figure" descr="Figure 13.2. AND and OR are linearly separable; XOR is not. A second layer of units, each drawing its own line, is needed to represent i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79360"/>
            <a:ext cx="10874959" cy="3198517"/>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A second layer of units, each drawing its own line, is needed to represent it.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Delta Rule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100     </a:t>
            </a:r>
            <a:fld id="{37AE8670-8BB7-4969-8DCC-2A2AA72D1CE7}"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37872"/>
          </a:xfrm>
          <a:prstGeom prst="roundRect">
            <a:avLst>
              <a:gd name="adj" fmla="val 2107"/>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3787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For a linear unit o = w·x and squared error E = 1/2Σd(td − od)2 over the training examples, the gradient is ∂ E/∂ wi = −Σd (td − od) xid, so gradient descent updat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1144554"/>
          </a:xfrm>
          <a:prstGeom prst="rect">
            <a:avLst/>
          </a:prstGeom>
        </p:spPr>
      </p:pic>
      <p:pic>
        <p:nvPicPr>
          <p:cNvPr id="10" name="body-1" descr="w_i \leftarrow w_i + \eta\sum_d (t_d - o_d)\,x_{id}"/>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704" y="3353465"/>
            <a:ext cx="10161727" cy="792053"/>
          </a:xfrm>
          <a:prstGeom prst="rect">
            <a:avLst/>
          </a:prstGeom>
        </p:spPr>
      </p:pic>
      <p:sp>
        <p:nvSpPr>
          <p:cNvPr id="11" name="body-2"/>
          <p:cNvSpPr txBox="1"/>
          <p:nvPr/>
        </p:nvSpPr>
        <p:spPr>
          <a:xfrm>
            <a:off x="1060704" y="4306173"/>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delta rule</a:t>
            </a:r>
            <a:r>
              <a:rPr sz="2300" b="0" i="0">
                <a:solidFill>
                  <a:srgbClr val="1C252B"/>
                </a:solidFill>
                <a:latin typeface="Segoe UI"/>
              </a:rPr>
              <a:t> (or LMS rule). It looks like the perceptron rule, but it is gradient descent: it converges towards the minimum-error weights even when the data is </a:t>
            </a:r>
            <a:r>
              <a:rPr sz="2300" b="0" i="1">
                <a:solidFill>
                  <a:srgbClr val="1C252B"/>
                </a:solidFill>
                <a:latin typeface="Segoe UI"/>
              </a:rPr>
              <a:t>not</a:t>
            </a:r>
            <a:r>
              <a:rPr sz="2300" b="0" i="0">
                <a:solidFill>
                  <a:srgbClr val="1C252B"/>
                </a:solidFill>
                <a:latin typeface="Segoe UI"/>
              </a:rPr>
              <a:t> separable, which the perceptron rule does not. It is exactly the gradient descent for linear regression of Chapter 5.</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30191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Multilayer Networks and Backpropagation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5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13.5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13.1   From Neurons to Units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13.2   The Perceptron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13.3   Linear Separability and XOR</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13.4   Gradient Descent and the Delta Rule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13.5   Multilayer Networks and Backpropagation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13.6   Activation Functions and Outputs</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13.7   Training Well: Overfitting and Its Cures</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§13.5     </a:t>
            </a:r>
            <a:fld id="{341EA4CC-74CE-4095-AA3A-98C07816BD29}" type="slidenum">
              <a:rPr lang="en-GB" sz="1000">
                <a:solidFill>
                  <a:srgbClr val="8795A1"/>
                </a:solidFill>
                <a:latin typeface="Segoe UI"/>
              </a:rPr>
              <a:t>14</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355591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Multilayer Perceptron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100     </a:t>
            </a:r>
            <a:fld id="{EC53B077-5299-4F33-ADEB-6F6F7C3A186B}"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multilayer perceptron</a:t>
            </a:r>
            <a:r>
              <a:rPr sz="2300" b="0" i="0">
                <a:solidFill>
                  <a:srgbClr val="1C252B"/>
                </a:solidFill>
                <a:latin typeface="Segoe UI"/>
              </a:rPr>
              <a:t> (MLP) arranges sigmoid (or other smooth) units in layers: an input layer, one or more </a:t>
            </a:r>
            <a:r>
              <a:rPr sz="2300" b="1" i="0">
                <a:solidFill>
                  <a:srgbClr val="1A5276"/>
                </a:solidFill>
                <a:latin typeface="Segoe UI"/>
              </a:rPr>
              <a:t>hidden layers</a:t>
            </a:r>
            <a:r>
              <a:rPr sz="2300" b="0" i="0">
                <a:solidFill>
                  <a:srgbClr val="1C252B"/>
                </a:solidFill>
                <a:latin typeface="Segoe UI"/>
              </a:rPr>
              <a:t>, and an output layer. Each unit takes the outputs of the previous layer, forms a weighted sum and applies its activation. A network with one hidden layer of enough units can approximate any continuous function to any accuracy; two hidden layers, any function at all.</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80990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Backpropagation (for sigmoid units and squared error)</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100     </a:t>
            </a:r>
            <a:fld id="{62AC150B-84E8-4954-A4F4-5CF08C31267D}"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70288"/>
          </a:xfrm>
          <a:prstGeom prst="roundRect">
            <a:avLst>
              <a:gd name="adj" fmla="val 204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70288"/>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For each training example:</a:t>
            </a:r>
          </a:p>
        </p:txBody>
      </p:sp>
      <p:sp>
        <p:nvSpPr>
          <p:cNvPr id="10" name="body-1"/>
          <p:cNvSpPr txBox="1"/>
          <p:nvPr/>
        </p:nvSpPr>
        <p:spPr>
          <a:xfrm>
            <a:off x="1060704" y="2550617"/>
            <a:ext cx="10161727" cy="840892"/>
          </a:xfrm>
          <a:prstGeom prst="rect">
            <a:avLst/>
          </a:prstGeom>
          <a:noFill/>
        </p:spPr>
        <p:txBody>
          <a:bodyPr wrap="square" anchor="t" lIns="0" rIns="0" tIns="0" bIns="0">
            <a:noAutofit/>
          </a:bodyPr>
          <a:lstStyle/>
          <a:p>
            <a:pPr algn="l" marL="530697" indent="-530697">
              <a:lnSpc>
                <a:spcPct val="104000"/>
              </a:lnSpc>
              <a:spcBef>
                <a:spcPts val="0"/>
              </a:spcBef>
              <a:spcAft>
                <a:spcPts val="769"/>
              </a:spcAft>
            </a:pPr>
            <a:r>
              <a:rPr sz="2200" b="1">
                <a:solidFill>
                  <a:srgbClr val="8A4500"/>
                </a:solidFill>
                <a:latin typeface="Segoe UI"/>
              </a:rPr>
              <a:t>1.	</a:t>
            </a:r>
            <a:r>
              <a:rPr sz="2200" b="1" i="0">
                <a:solidFill>
                  <a:srgbClr val="8A4500"/>
                </a:solidFill>
                <a:latin typeface="Segoe UI"/>
              </a:rPr>
              <a:t>Forward pass:</a:t>
            </a:r>
            <a:r>
              <a:rPr sz="2200" b="0" i="0">
                <a:solidFill>
                  <a:srgbClr val="1C252B"/>
                </a:solidFill>
                <a:latin typeface="Segoe UI"/>
              </a:rPr>
              <a:t> compute every unit’s output </a:t>
            </a:r>
            <a:r>
              <a:rPr sz="2200" b="0" i="1">
                <a:solidFill>
                  <a:srgbClr val="1C252B"/>
                </a:solidFill>
                <a:latin typeface="Cambria"/>
              </a:rPr>
              <a:t>o</a:t>
            </a:r>
            <a:r>
              <a:rPr sz="2200" b="0" i="0">
                <a:solidFill>
                  <a:srgbClr val="1C252B"/>
                </a:solidFill>
                <a:latin typeface="Segoe UI"/>
              </a:rPr>
              <a:t>, layer by layer.</a:t>
            </a:r>
          </a:p>
          <a:p>
            <a:pPr algn="l" marL="530697" indent="-530697">
              <a:lnSpc>
                <a:spcPct val="104000"/>
              </a:lnSpc>
              <a:spcBef>
                <a:spcPts val="0"/>
              </a:spcBef>
              <a:spcAft>
                <a:spcPts val="0"/>
              </a:spcAft>
            </a:pPr>
            <a:r>
              <a:rPr sz="2200" b="1">
                <a:solidFill>
                  <a:srgbClr val="8A4500"/>
                </a:solidFill>
                <a:latin typeface="Segoe UI"/>
              </a:rPr>
              <a:t>2.	</a:t>
            </a:r>
            <a:r>
              <a:rPr sz="2200" b="1" i="0">
                <a:solidFill>
                  <a:srgbClr val="8A4500"/>
                </a:solidFill>
                <a:latin typeface="Segoe UI"/>
              </a:rPr>
              <a:t>Output units:</a:t>
            </a:r>
            <a:r>
              <a:rPr sz="2200" b="0" i="0">
                <a:solidFill>
                  <a:srgbClr val="1C252B"/>
                </a:solidFill>
                <a:latin typeface="Segoe UI"/>
              </a:rPr>
              <a:t> </a:t>
            </a:r>
            <a:r>
              <a:rPr sz="2200" b="0" i="0">
                <a:solidFill>
                  <a:srgbClr val="1C252B"/>
                </a:solidFill>
                <a:latin typeface="Cambria"/>
              </a:rPr>
              <a:t>δ</a:t>
            </a:r>
            <a:r>
              <a:rPr sz="2200" b="0" i="1" baseline="-25000">
                <a:solidFill>
                  <a:srgbClr val="1C252B"/>
                </a:solidFill>
                <a:latin typeface="Cambria"/>
              </a:rPr>
              <a:t>k</a:t>
            </a:r>
            <a:r>
              <a:rPr sz="2200" b="0" i="0">
                <a:solidFill>
                  <a:srgbClr val="1C252B"/>
                </a:solidFill>
                <a:latin typeface="Cambria"/>
              </a:rPr>
              <a:t> = </a:t>
            </a:r>
            <a:r>
              <a:rPr sz="2200" b="0" i="1">
                <a:solidFill>
                  <a:srgbClr val="1C252B"/>
                </a:solidFill>
                <a:latin typeface="Cambria"/>
              </a:rPr>
              <a:t>o</a:t>
            </a:r>
            <a:r>
              <a:rPr sz="2200" b="0" i="1" baseline="-25000">
                <a:solidFill>
                  <a:srgbClr val="1C252B"/>
                </a:solidFill>
                <a:latin typeface="Cambria"/>
              </a:rPr>
              <a:t>k</a:t>
            </a:r>
            <a:r>
              <a:rPr sz="2200" b="0" i="0">
                <a:solidFill>
                  <a:srgbClr val="1C252B"/>
                </a:solidFill>
                <a:latin typeface="Cambria"/>
              </a:rPr>
              <a:t>(1 − </a:t>
            </a:r>
            <a:r>
              <a:rPr sz="2200" b="0" i="1">
                <a:solidFill>
                  <a:srgbClr val="1C252B"/>
                </a:solidFill>
                <a:latin typeface="Cambria"/>
              </a:rPr>
              <a:t>o</a:t>
            </a:r>
            <a:r>
              <a:rPr sz="2200" b="0" i="1" baseline="-25000">
                <a:solidFill>
                  <a:srgbClr val="1C252B"/>
                </a:solidFill>
                <a:latin typeface="Cambria"/>
              </a:rPr>
              <a:t>k</a:t>
            </a:r>
            <a:r>
              <a:rPr sz="2200" b="0" i="0">
                <a:solidFill>
                  <a:srgbClr val="1C252B"/>
                </a:solidFill>
                <a:latin typeface="Cambria"/>
              </a:rPr>
              <a:t>)(</a:t>
            </a:r>
            <a:r>
              <a:rPr sz="2200" b="0" i="1">
                <a:solidFill>
                  <a:srgbClr val="1C252B"/>
                </a:solidFill>
                <a:latin typeface="Cambria"/>
              </a:rPr>
              <a:t>t</a:t>
            </a:r>
            <a:r>
              <a:rPr sz="2200" b="0" i="1" baseline="-25000">
                <a:solidFill>
                  <a:srgbClr val="1C252B"/>
                </a:solidFill>
                <a:latin typeface="Cambria"/>
              </a:rPr>
              <a:t>k</a:t>
            </a:r>
            <a:r>
              <a:rPr sz="2200" b="0" i="0">
                <a:solidFill>
                  <a:srgbClr val="1C252B"/>
                </a:solidFill>
                <a:latin typeface="Cambria"/>
              </a:rPr>
              <a:t> − </a:t>
            </a:r>
            <a:r>
              <a:rPr sz="2200" b="0" i="1">
                <a:solidFill>
                  <a:srgbClr val="1C252B"/>
                </a:solidFill>
                <a:latin typeface="Cambria"/>
              </a:rPr>
              <a:t>o</a:t>
            </a:r>
            <a:r>
              <a:rPr sz="2200" b="0" i="1" baseline="-25000">
                <a:solidFill>
                  <a:srgbClr val="1C252B"/>
                </a:solidFill>
                <a:latin typeface="Cambria"/>
              </a:rPr>
              <a:t>k</a:t>
            </a:r>
            <a:r>
              <a:rPr sz="2200" b="0" i="0">
                <a:solidFill>
                  <a:srgbClr val="1C252B"/>
                </a:solidFill>
                <a:latin typeface="Cambria"/>
              </a:rPr>
              <a:t>)</a:t>
            </a:r>
            <a:r>
              <a:rPr sz="2200" b="0" i="0">
                <a:solidFill>
                  <a:srgbClr val="1C252B"/>
                </a:solidFill>
                <a:latin typeface="Segoe UI"/>
              </a:rPr>
              <a:t>.</a:t>
            </a:r>
          </a:p>
        </p:txBody>
      </p:sp>
      <p:sp>
        <p:nvSpPr>
          <p:cNvPr id="11" name="body-2m"/>
          <p:cNvSpPr txBox="1"/>
          <p:nvPr/>
        </p:nvSpPr>
        <p:spPr>
          <a:xfrm>
            <a:off x="1060704" y="3499459"/>
            <a:ext cx="530697" cy="36576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8A4500"/>
                </a:solidFill>
                <a:latin typeface="Segoe UI"/>
              </a:rPr>
              <a:t>3.</a:t>
            </a:r>
          </a:p>
        </p:txBody>
      </p:sp>
      <p:pic>
        <p:nvPicPr>
          <p:cNvPr id="12" name="body-2" descr="Hidden units (backwards, layer by layer): δh = oh(1 − oh)Σk wkh δk — each hidden unit’s share of the blame is the output deltas, weighted by its connections to them."/>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91401" y="3499459"/>
            <a:ext cx="9631009" cy="1043879"/>
          </a:xfrm>
          <a:prstGeom prst="rect">
            <a:avLst/>
          </a:prstGeom>
        </p:spPr>
      </p:pic>
      <p:sp>
        <p:nvSpPr>
          <p:cNvPr id="13" name="body-3"/>
          <p:cNvSpPr txBox="1"/>
          <p:nvPr/>
        </p:nvSpPr>
        <p:spPr>
          <a:xfrm>
            <a:off x="1060704" y="4697008"/>
            <a:ext cx="10161727" cy="743102"/>
          </a:xfrm>
          <a:prstGeom prst="rect">
            <a:avLst/>
          </a:prstGeom>
          <a:noFill/>
        </p:spPr>
        <p:txBody>
          <a:bodyPr wrap="square" anchor="t" lIns="0" rIns="0" tIns="0" bIns="0">
            <a:noAutofit/>
          </a:bodyPr>
          <a:lstStyle/>
          <a:p>
            <a:pPr algn="l" marL="530697" indent="-530697">
              <a:lnSpc>
                <a:spcPct val="104000"/>
              </a:lnSpc>
              <a:spcBef>
                <a:spcPts val="0"/>
              </a:spcBef>
              <a:spcAft>
                <a:spcPts val="0"/>
              </a:spcAft>
            </a:pPr>
            <a:r>
              <a:rPr sz="2200" b="1">
                <a:solidFill>
                  <a:srgbClr val="8A4500"/>
                </a:solidFill>
                <a:latin typeface="Segoe UI"/>
              </a:rPr>
              <a:t>4.	</a:t>
            </a:r>
            <a:r>
              <a:rPr sz="2200" b="1" i="0">
                <a:solidFill>
                  <a:srgbClr val="8A4500"/>
                </a:solidFill>
                <a:latin typeface="Segoe UI"/>
              </a:rPr>
              <a:t>Update every weight</a:t>
            </a:r>
            <a:r>
              <a:rPr sz="2200" b="0" i="0">
                <a:solidFill>
                  <a:srgbClr val="1C252B"/>
                </a:solidFill>
                <a:latin typeface="Segoe UI"/>
              </a:rPr>
              <a:t> </a:t>
            </a:r>
            <a:r>
              <a:rPr sz="2200" b="0" i="1">
                <a:solidFill>
                  <a:srgbClr val="1C252B"/>
                </a:solidFill>
                <a:latin typeface="Cambria"/>
              </a:rPr>
              <a:t>w</a:t>
            </a:r>
            <a:r>
              <a:rPr sz="2200" b="0" i="1" baseline="-25000">
                <a:solidFill>
                  <a:srgbClr val="1C252B"/>
                </a:solidFill>
                <a:latin typeface="Cambria"/>
              </a:rPr>
              <a:t>ji</a:t>
            </a:r>
            <a:r>
              <a:rPr sz="2200" b="0" i="0">
                <a:solidFill>
                  <a:srgbClr val="1C252B"/>
                </a:solidFill>
                <a:latin typeface="Segoe UI"/>
              </a:rPr>
              <a:t> from unit </a:t>
            </a:r>
            <a:r>
              <a:rPr sz="2200" b="0" i="1">
                <a:solidFill>
                  <a:srgbClr val="1C252B"/>
                </a:solidFill>
                <a:latin typeface="Cambria"/>
              </a:rPr>
              <a:t>i</a:t>
            </a:r>
            <a:r>
              <a:rPr sz="2200" b="0" i="0">
                <a:solidFill>
                  <a:srgbClr val="1C252B"/>
                </a:solidFill>
                <a:latin typeface="Segoe UI"/>
              </a:rPr>
              <a:t> to unit </a:t>
            </a:r>
            <a:r>
              <a:rPr sz="2200" b="0" i="1">
                <a:solidFill>
                  <a:srgbClr val="1C252B"/>
                </a:solidFill>
                <a:latin typeface="Cambria"/>
              </a:rPr>
              <a:t>j</a:t>
            </a:r>
            <a:r>
              <a:rPr sz="2200" b="0" i="0">
                <a:solidFill>
                  <a:srgbClr val="1C252B"/>
                </a:solidFill>
                <a:latin typeface="Segoe UI"/>
              </a:rPr>
              <a:t>: </a:t>
            </a:r>
            <a:r>
              <a:rPr sz="2200" b="0" i="1">
                <a:solidFill>
                  <a:srgbClr val="1C252B"/>
                </a:solidFill>
                <a:latin typeface="Cambria"/>
              </a:rPr>
              <a:t>w</a:t>
            </a:r>
            <a:r>
              <a:rPr sz="2200" b="0" i="1" baseline="-25000">
                <a:solidFill>
                  <a:srgbClr val="1C252B"/>
                </a:solidFill>
                <a:latin typeface="Cambria"/>
              </a:rPr>
              <a:t>ji</a:t>
            </a:r>
            <a:r>
              <a:rPr sz="2200" b="0" i="0">
                <a:solidFill>
                  <a:srgbClr val="1C252B"/>
                </a:solidFill>
                <a:latin typeface="Cambria"/>
              </a:rPr>
              <a:t> ← </a:t>
            </a:r>
            <a:r>
              <a:rPr sz="2200" b="0" i="1">
                <a:solidFill>
                  <a:srgbClr val="1C252B"/>
                </a:solidFill>
                <a:latin typeface="Cambria"/>
              </a:rPr>
              <a:t>w</a:t>
            </a:r>
            <a:r>
              <a:rPr sz="2200" b="0" i="1" baseline="-25000">
                <a:solidFill>
                  <a:srgbClr val="1C252B"/>
                </a:solidFill>
                <a:latin typeface="Cambria"/>
              </a:rPr>
              <a:t>ji</a:t>
            </a:r>
            <a:r>
              <a:rPr sz="2200" b="0" i="0">
                <a:solidFill>
                  <a:srgbClr val="1C252B"/>
                </a:solidFill>
                <a:latin typeface="Cambria"/>
              </a:rPr>
              <a:t> + η δ</a:t>
            </a:r>
            <a:r>
              <a:rPr sz="2200" b="0" i="1" baseline="-25000">
                <a:solidFill>
                  <a:srgbClr val="1C252B"/>
                </a:solidFill>
                <a:latin typeface="Cambria"/>
              </a:rPr>
              <a:t>j</a:t>
            </a:r>
            <a:r>
              <a:rPr sz="2200" b="0" i="0">
                <a:solidFill>
                  <a:srgbClr val="1C252B"/>
                </a:solidFill>
                <a:latin typeface="Cambria"/>
              </a:rPr>
              <a:t> </a:t>
            </a:r>
            <a:r>
              <a:rPr sz="2200" b="0" i="1">
                <a:solidFill>
                  <a:srgbClr val="1C252B"/>
                </a:solidFill>
                <a:latin typeface="Cambria"/>
              </a:rPr>
              <a:t>x</a:t>
            </a:r>
            <a:r>
              <a:rPr sz="2200" b="0" i="1" baseline="-25000">
                <a:solidFill>
                  <a:srgbClr val="1C252B"/>
                </a:solidFill>
                <a:latin typeface="Cambria"/>
              </a:rPr>
              <a:t>ji</a:t>
            </a:r>
            <a:r>
              <a:rPr sz="2200" b="0" i="0">
                <a:solidFill>
                  <a:srgbClr val="1C252B"/>
                </a:solidFill>
                <a:latin typeface="Segoe UI"/>
              </a:rPr>
              <a:t>, where </a:t>
            </a:r>
            <a:r>
              <a:rPr sz="2200" b="0" i="1">
                <a:solidFill>
                  <a:srgbClr val="1C252B"/>
                </a:solidFill>
                <a:latin typeface="Cambria"/>
              </a:rPr>
              <a:t>x</a:t>
            </a:r>
            <a:r>
              <a:rPr sz="2200" b="0" i="1" baseline="-25000">
                <a:solidFill>
                  <a:srgbClr val="1C252B"/>
                </a:solidFill>
                <a:latin typeface="Cambria"/>
              </a:rPr>
              <a:t>ji</a:t>
            </a:r>
            <a:r>
              <a:rPr sz="2200" b="0" i="0">
                <a:solidFill>
                  <a:srgbClr val="1C252B"/>
                </a:solidFill>
                <a:latin typeface="Segoe UI"/>
              </a:rPr>
              <a:t> is the input arriving along that connection.</a:t>
            </a:r>
          </a:p>
        </p:txBody>
      </p:sp>
      <p:sp>
        <p:nvSpPr>
          <p:cNvPr id="14" name="body-4"/>
          <p:cNvSpPr txBox="1"/>
          <p:nvPr/>
        </p:nvSpPr>
        <p:spPr>
          <a:xfrm>
            <a:off x="1060704" y="5548061"/>
            <a:ext cx="10161727"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One sweep through the whole training set is an </a:t>
            </a:r>
            <a:r>
              <a:rPr sz="2200" b="1" i="0">
                <a:solidFill>
                  <a:srgbClr val="1A5276"/>
                </a:solidFill>
                <a:latin typeface="Segoe UI"/>
              </a:rPr>
              <a:t>epoch</a:t>
            </a:r>
            <a:r>
              <a:rPr sz="2200" b="0" i="0">
                <a:solidFill>
                  <a:srgbClr val="1C252B"/>
                </a:solidFill>
                <a:latin typeface="Segoe UI"/>
              </a:rPr>
              <a:t>.</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xEl>
                                              <p:pRg st="0" end="0"/>
                                            </p:txEl>
                                          </p:spTgt>
                                        </p:tgtEl>
                                        <p:attrNameLst>
                                          <p:attrName>style.visibility</p:attrName>
                                        </p:attrNameLst>
                                      </p:cBhvr>
                                      <p:to>
                                        <p:strVal val="visible"/>
                                      </p:to>
                                    </p:set>
                                    <p:animEffect transition="in" filter="fade">
                                      <p:cBhvr>
                                        <p:cTn id="18" dur="38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3"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Multilayer Networks and Backpropagation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13.3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100     </a:t>
            </a:r>
            <a:fld id="{EDB77B72-A794-4020-B991-EDA9756F04CD}" type="slidenum">
              <a:rPr lang="en-GB" sz="1000">
                <a:solidFill>
                  <a:srgbClr val="8795A1"/>
                </a:solidFill>
                <a:latin typeface="Segoe UI"/>
              </a:rPr>
              <a:t>17</a:t>
            </a:fld>
          </a:p>
        </p:txBody>
      </p:sp>
      <p:pic>
        <p:nvPicPr>
          <p:cNvPr id="6" name="!!figure" descr="Figure 13.3. The network of the worked example, with the unit outputs of the forward pass written in each unit. Errors computed at the output are passed backwards along the same connections to assign blame to the hidden unit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25482" y="1737360"/>
            <a:ext cx="7740730"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network of the worked example, with the unit outputs of the forward pass written in each unit. Errors computed at the output are passed backwards along the same connections to assign blame to the hidden units.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31789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Step of Backpropagation</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100     </a:t>
            </a:r>
            <a:fld id="{2D63B19B-AEE8-48F4-A7F1-B9B8FB9BED1F}"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8744"/>
          </a:xfrm>
          <a:prstGeom prst="roundRect">
            <a:avLst>
              <a:gd name="adj" fmla="val 206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874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2–2–1 network of Figure 13.3, all sigmoid units, input </a:t>
            </a:r>
            <a:r>
              <a:rPr sz="1900" b="0" i="0">
                <a:solidFill>
                  <a:srgbClr val="1C252B"/>
                </a:solidFill>
                <a:latin typeface="Cambria"/>
              </a:rPr>
              <a:t>(1, 0)</a:t>
            </a:r>
            <a:r>
              <a:rPr sz="1900" b="0" i="0">
                <a:solidFill>
                  <a:srgbClr val="1C252B"/>
                </a:solidFill>
                <a:latin typeface="Segoe UI"/>
              </a:rPr>
              <a:t>, target </a:t>
            </a:r>
            <a:r>
              <a:rPr sz="1900" b="0" i="1">
                <a:solidFill>
                  <a:srgbClr val="1C252B"/>
                </a:solidFill>
                <a:latin typeface="Cambria"/>
              </a:rPr>
              <a:t>t</a:t>
            </a:r>
            <a:r>
              <a:rPr sz="1900" b="0" i="0">
                <a:solidFill>
                  <a:srgbClr val="1C252B"/>
                </a:solidFill>
                <a:latin typeface="Cambria"/>
              </a:rPr>
              <a:t> = 1</a:t>
            </a:r>
            <a:r>
              <a:rPr sz="1900" b="0" i="0">
                <a:solidFill>
                  <a:srgbClr val="1C252B"/>
                </a:solidFill>
                <a:latin typeface="Segoe UI"/>
              </a:rPr>
              <a:t>, learning rate </a:t>
            </a:r>
            <a:r>
              <a:rPr sz="1900" b="0" i="0">
                <a:solidFill>
                  <a:srgbClr val="1C252B"/>
                </a:solidFill>
                <a:latin typeface="Cambria"/>
              </a:rPr>
              <a:t>η = 0.5</a:t>
            </a:r>
            <a:r>
              <a:rPr sz="1900" b="0" i="0">
                <a:solidFill>
                  <a:srgbClr val="1C252B"/>
                </a:solidFill>
                <a:latin typeface="Segoe UI"/>
              </a:rPr>
              <a:t>.</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Forward.</a:t>
            </a:r>
          </a:p>
        </p:txBody>
      </p:sp>
      <p:sp>
        <p:nvSpPr>
          <p:cNvPr id="11" name="body-2"/>
          <p:cNvSpPr txBox="1"/>
          <p:nvPr/>
        </p:nvSpPr>
        <p:spPr>
          <a:xfrm>
            <a:off x="1042416" y="3180537"/>
            <a:ext cx="10234879" cy="111805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Cambria"/>
              </a:rPr>
              <a:t>h</a:t>
            </a:r>
            <a:r>
              <a:rPr sz="1900" b="0" i="0" baseline="-25000">
                <a:solidFill>
                  <a:srgbClr val="1C252B"/>
                </a:solidFill>
                <a:latin typeface="Cambria"/>
              </a:rPr>
              <a:t>1</a:t>
            </a:r>
            <a:r>
              <a:rPr sz="1900" b="0" i="0">
                <a:solidFill>
                  <a:srgbClr val="1C252B"/>
                </a:solidFill>
                <a:latin typeface="Segoe UI"/>
              </a:rPr>
              <a:t>: net </a:t>
            </a:r>
            <a:r>
              <a:rPr sz="1900" b="0" i="0">
                <a:solidFill>
                  <a:srgbClr val="1C252B"/>
                </a:solidFill>
                <a:latin typeface="Cambria"/>
              </a:rPr>
              <a:t>= 0.1 + 0.4(1) − 0.2(0) = 0.5</a:t>
            </a:r>
            <a:r>
              <a:rPr sz="1900" b="0" i="0">
                <a:solidFill>
                  <a:srgbClr val="1C252B"/>
                </a:solidFill>
                <a:latin typeface="Segoe UI"/>
              </a:rPr>
              <a:t>, output </a:t>
            </a:r>
            <a:r>
              <a:rPr sz="1900" b="0" i="0">
                <a:solidFill>
                  <a:srgbClr val="1C252B"/>
                </a:solidFill>
                <a:latin typeface="Cambria"/>
              </a:rPr>
              <a:t>σ(0.5) = 0.6225</a:t>
            </a:r>
            <a:r>
              <a:rPr sz="1900" b="0" i="0">
                <a:solidFill>
                  <a:srgbClr val="1C252B"/>
                </a:solidFill>
                <a:latin typeface="Segoe UI"/>
              </a:rPr>
              <a:t>.</a:t>
            </a:r>
          </a:p>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Cambria"/>
              </a:rPr>
              <a:t>h</a:t>
            </a:r>
            <a:r>
              <a:rPr sz="1900" b="0" i="0" baseline="-25000">
                <a:solidFill>
                  <a:srgbClr val="1C252B"/>
                </a:solidFill>
                <a:latin typeface="Cambria"/>
              </a:rPr>
              <a:t>2</a:t>
            </a:r>
            <a:r>
              <a:rPr sz="1900" b="0" i="0">
                <a:solidFill>
                  <a:srgbClr val="1C252B"/>
                </a:solidFill>
                <a:latin typeface="Segoe UI"/>
              </a:rPr>
              <a:t>: net </a:t>
            </a:r>
            <a:r>
              <a:rPr sz="1900" b="0" i="0">
                <a:solidFill>
                  <a:srgbClr val="1C252B"/>
                </a:solidFill>
                <a:latin typeface="Cambria"/>
              </a:rPr>
              <a:t>= 0.2 − 0.3(1) + 0.5(0) = −0.1</a:t>
            </a:r>
            <a:r>
              <a:rPr sz="1900" b="0" i="0">
                <a:solidFill>
                  <a:srgbClr val="1C252B"/>
                </a:solidFill>
                <a:latin typeface="Segoe UI"/>
              </a:rPr>
              <a:t>, output </a:t>
            </a:r>
            <a:r>
              <a:rPr sz="1900" b="0" i="0">
                <a:solidFill>
                  <a:srgbClr val="1C252B"/>
                </a:solidFill>
                <a:latin typeface="Cambria"/>
              </a:rPr>
              <a:t>σ(−0.1) = 0.4750</a:t>
            </a:r>
            <a:r>
              <a:rPr sz="1900" b="0" i="0">
                <a:solidFill>
                  <a:srgbClr val="1C252B"/>
                </a:solidFill>
                <a:latin typeface="Segoe UI"/>
              </a:rPr>
              <a:t>.</a:t>
            </a:r>
          </a:p>
          <a:p>
            <a:pPr algn="l" marL="212450" indent="-212450">
              <a:lnSpc>
                <a:spcPct val="104000"/>
              </a:lnSpc>
              <a:spcBef>
                <a:spcPts val="0"/>
              </a:spcBef>
              <a:spcAft>
                <a:spcPts val="0"/>
              </a:spcAft>
            </a:pPr>
            <a:r>
              <a:rPr sz="1900" b="1">
                <a:solidFill>
                  <a:srgbClr val="7D6608"/>
                </a:solidFill>
                <a:latin typeface="Segoe UI"/>
              </a:rPr>
              <a:t>•	</a:t>
            </a:r>
            <a:r>
              <a:rPr sz="1900" b="0" i="1">
                <a:solidFill>
                  <a:srgbClr val="1C252B"/>
                </a:solidFill>
                <a:latin typeface="Cambria"/>
              </a:rPr>
              <a:t>o</a:t>
            </a:r>
            <a:r>
              <a:rPr sz="1900" b="0" i="0">
                <a:solidFill>
                  <a:srgbClr val="1C252B"/>
                </a:solidFill>
                <a:latin typeface="Segoe UI"/>
              </a:rPr>
              <a:t>: net </a:t>
            </a:r>
            <a:r>
              <a:rPr sz="1900" b="0" i="0">
                <a:solidFill>
                  <a:srgbClr val="1C252B"/>
                </a:solidFill>
                <a:latin typeface="Cambria"/>
              </a:rPr>
              <a:t>= −0.1 + 0.6(0.6225) + 0.8(0.4750) = 0.6535</a:t>
            </a:r>
            <a:r>
              <a:rPr sz="1900" b="0" i="0">
                <a:solidFill>
                  <a:srgbClr val="1C252B"/>
                </a:solidFill>
                <a:latin typeface="Segoe UI"/>
              </a:rPr>
              <a:t>, output </a:t>
            </a:r>
            <a:r>
              <a:rPr sz="1900" b="1" i="0">
                <a:solidFill>
                  <a:srgbClr val="1C252B"/>
                </a:solidFill>
                <a:latin typeface="Cambria"/>
              </a:rPr>
              <a:t>0.6578</a:t>
            </a:r>
            <a:r>
              <a:rPr sz="1900" b="0" i="0">
                <a:solidFill>
                  <a:srgbClr val="1C252B"/>
                </a:solidFill>
                <a:latin typeface="Segoe UI"/>
              </a:rPr>
              <a:t>. Error </a:t>
            </a:r>
            <a:r>
              <a:rPr sz="1900" b="0" i="1">
                <a:solidFill>
                  <a:srgbClr val="1C252B"/>
                </a:solidFill>
                <a:latin typeface="Cambria"/>
              </a:rPr>
              <a:t>t</a:t>
            </a:r>
            <a:r>
              <a:rPr sz="1900" b="0" i="0">
                <a:solidFill>
                  <a:srgbClr val="1C252B"/>
                </a:solidFill>
                <a:latin typeface="Cambria"/>
              </a:rPr>
              <a:t> − </a:t>
            </a:r>
            <a:r>
              <a:rPr sz="1900" b="0" i="1">
                <a:solidFill>
                  <a:srgbClr val="1C252B"/>
                </a:solidFill>
                <a:latin typeface="Cambria"/>
              </a:rPr>
              <a:t>o</a:t>
            </a:r>
            <a:r>
              <a:rPr sz="1900" b="0" i="0">
                <a:solidFill>
                  <a:srgbClr val="1C252B"/>
                </a:solidFill>
                <a:latin typeface="Cambria"/>
              </a:rPr>
              <a:t> = 0.3422</a:t>
            </a:r>
            <a:r>
              <a:rPr sz="1900" b="0" i="0">
                <a:solidFill>
                  <a:srgbClr val="1C252B"/>
                </a:solidFill>
                <a:latin typeface="Segoe UI"/>
              </a:rPr>
              <a:t>.</a:t>
            </a:r>
          </a:p>
        </p:txBody>
      </p:sp>
      <p:sp>
        <p:nvSpPr>
          <p:cNvPr id="12" name="body-3"/>
          <p:cNvSpPr txBox="1"/>
          <p:nvPr/>
        </p:nvSpPr>
        <p:spPr>
          <a:xfrm>
            <a:off x="1042416" y="438558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Backward.</a:t>
            </a:r>
          </a:p>
        </p:txBody>
      </p:sp>
      <p:sp>
        <p:nvSpPr>
          <p:cNvPr id="13" name="body-3bar">
            <a:extLst>
              <a:ext uri="{C183D7F6-B498-43B3-948B-1728B52AA6E4}">
                <adec:decorative xmlns:adec="http://schemas.microsoft.com/office/drawing/2017/decorative" val="1"/>
              </a:ext>
            </a:extLst>
          </p:cNvPr>
          <p:cNvSpPr/>
          <p:nvPr/>
        </p:nvSpPr>
        <p:spPr>
          <a:xfrm>
            <a:off x="841248" y="440387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body-4"/>
          <p:cNvSpPr txBox="1"/>
          <p:nvPr/>
        </p:nvSpPr>
        <p:spPr>
          <a:xfrm>
            <a:off x="1042416" y="4819446"/>
            <a:ext cx="10234879" cy="111805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Cambria"/>
              </a:rPr>
              <a:t>δ</a:t>
            </a:r>
            <a:r>
              <a:rPr sz="1900" b="0" i="1" baseline="-25000">
                <a:solidFill>
                  <a:srgbClr val="1C252B"/>
                </a:solidFill>
                <a:latin typeface="Cambria"/>
              </a:rPr>
              <a:t>o</a:t>
            </a:r>
            <a:r>
              <a:rPr sz="1900" b="0" i="0">
                <a:solidFill>
                  <a:srgbClr val="1C252B"/>
                </a:solidFill>
                <a:latin typeface="Cambria"/>
              </a:rPr>
              <a:t> = 0.6578 × (1 − 0.6578) × 0.3422 = </a:t>
            </a:r>
            <a:r>
              <a:rPr sz="1900" b="1" i="0">
                <a:solidFill>
                  <a:srgbClr val="1C252B"/>
                </a:solidFill>
                <a:latin typeface="Cambria"/>
              </a:rPr>
              <a:t>0.0770</a:t>
            </a:r>
            <a:r>
              <a:rPr sz="1900" b="0" i="0">
                <a:solidFill>
                  <a:srgbClr val="1C252B"/>
                </a:solidFill>
                <a:latin typeface="Segoe UI"/>
              </a:rPr>
              <a:t>.</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Cambria"/>
              </a:rPr>
              <a:t>δ</a:t>
            </a:r>
            <a:r>
              <a:rPr sz="1900" b="0" i="1" baseline="-25000">
                <a:solidFill>
                  <a:srgbClr val="1C252B"/>
                </a:solidFill>
                <a:latin typeface="Cambria"/>
              </a:rPr>
              <a:t>h</a:t>
            </a:r>
            <a:r>
              <a:rPr sz="1900" b="0" i="0" baseline="-25000">
                <a:solidFill>
                  <a:srgbClr val="1C252B"/>
                </a:solidFill>
                <a:latin typeface="Cambria"/>
              </a:rPr>
              <a:t>1</a:t>
            </a:r>
            <a:r>
              <a:rPr sz="1900" b="0" i="0">
                <a:solidFill>
                  <a:srgbClr val="1C252B"/>
                </a:solidFill>
                <a:latin typeface="Cambria"/>
              </a:rPr>
              <a:t> = 0.6225 × 0.3775 × (0.6 × 0.0770) = </a:t>
            </a:r>
            <a:r>
              <a:rPr sz="1900" b="1" i="0">
                <a:solidFill>
                  <a:srgbClr val="1C252B"/>
                </a:solidFill>
                <a:latin typeface="Cambria"/>
              </a:rPr>
              <a:t>0.0109</a:t>
            </a:r>
            <a:r>
              <a:rPr sz="1900" b="0" i="0">
                <a:solidFill>
                  <a:srgbClr val="1C252B"/>
                </a:solidFill>
                <a:latin typeface="Segoe UI"/>
              </a:rPr>
              <a:t>.</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Cambria"/>
              </a:rPr>
              <a:t>δ</a:t>
            </a:r>
            <a:r>
              <a:rPr sz="1900" b="0" i="1" baseline="-25000">
                <a:solidFill>
                  <a:srgbClr val="1C252B"/>
                </a:solidFill>
                <a:latin typeface="Cambria"/>
              </a:rPr>
              <a:t>h</a:t>
            </a:r>
            <a:r>
              <a:rPr sz="1900" b="0" i="0" baseline="-25000">
                <a:solidFill>
                  <a:srgbClr val="1C252B"/>
                </a:solidFill>
                <a:latin typeface="Cambria"/>
              </a:rPr>
              <a:t>2</a:t>
            </a:r>
            <a:r>
              <a:rPr sz="1900" b="0" i="0">
                <a:solidFill>
                  <a:srgbClr val="1C252B"/>
                </a:solidFill>
                <a:latin typeface="Cambria"/>
              </a:rPr>
              <a:t> = 0.4750 × 0.5250 × (0.8 × 0.0770) = </a:t>
            </a:r>
            <a:r>
              <a:rPr sz="1900" b="1" i="0">
                <a:solidFill>
                  <a:srgbClr val="1C252B"/>
                </a:solidFill>
                <a:latin typeface="Cambria"/>
              </a:rPr>
              <a:t>0.0154</a:t>
            </a:r>
            <a:r>
              <a:rPr sz="1900" b="0" i="0">
                <a:solidFill>
                  <a:srgbClr val="1C252B"/>
                </a:solidFill>
                <a:latin typeface="Segoe UI"/>
              </a:rPr>
              <a:t>.</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457188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animEffect transition="in" filter="fade">
                                      <p:cBhvr>
                                        <p:cTn id="23" dur="350"/>
                                        <p:tgtEl>
                                          <p:spTgt spid="1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right)">
                                      <p:cBhvr>
                                        <p:cTn id="28" dur="42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2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4">
                                            <p:txEl>
                                              <p:pRg st="0" end="0"/>
                                            </p:txEl>
                                          </p:spTgt>
                                        </p:tgtEl>
                                        <p:attrNameLst>
                                          <p:attrName>style.visibility</p:attrName>
                                        </p:attrNameLst>
                                      </p:cBhvr>
                                      <p:to>
                                        <p:strVal val="visible"/>
                                      </p:to>
                                    </p:set>
                                    <p:animEffect transition="in" filter="fade">
                                      <p:cBhvr>
                                        <p:cTn id="36" dur="350"/>
                                        <p:tgtEl>
                                          <p:spTgt spid="14">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xEl>
                                              <p:pRg st="1" end="1"/>
                                            </p:txEl>
                                          </p:spTgt>
                                        </p:tgtEl>
                                        <p:attrNameLst>
                                          <p:attrName>style.visibility</p:attrName>
                                        </p:attrNameLst>
                                      </p:cBhvr>
                                      <p:to>
                                        <p:strVal val="visible"/>
                                      </p:to>
                                    </p:set>
                                    <p:animEffect transition="in" filter="fade">
                                      <p:cBhvr>
                                        <p:cTn id="41" dur="350"/>
                                        <p:tgtEl>
                                          <p:spTgt spid="14">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4">
                                            <p:txEl>
                                              <p:pRg st="2" end="2"/>
                                            </p:txEl>
                                          </p:spTgt>
                                        </p:tgtEl>
                                        <p:attrNameLst>
                                          <p:attrName>style.visibility</p:attrName>
                                        </p:attrNameLst>
                                      </p:cBhvr>
                                      <p:to>
                                        <p:strVal val="visible"/>
                                      </p:to>
                                    </p:set>
                                    <p:animEffect transition="in" filter="fade">
                                      <p:cBhvr>
                                        <p:cTn id="46" dur="35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4" grpId="0" build="p"/>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Step of Backpropagation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100     </a:t>
            </a:r>
            <a:fld id="{78945920-9C8A-4E88-A36E-21188836A61B}"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90976"/>
          </a:xfrm>
          <a:prstGeom prst="roundRect">
            <a:avLst>
              <a:gd name="adj" fmla="val 295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9097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Update</a:t>
            </a:r>
            <a:r>
              <a:rPr sz="1900" b="0" i="0">
                <a:solidFill>
                  <a:srgbClr val="1C252B"/>
                </a:solidFill>
                <a:latin typeface="Segoe UI"/>
              </a:rPr>
              <a:t> (</a:t>
            </a:r>
            <a:r>
              <a:rPr sz="1900" b="0" i="0">
                <a:solidFill>
                  <a:srgbClr val="1C252B"/>
                </a:solidFill>
                <a:latin typeface="Cambria"/>
              </a:rPr>
              <a:t>Δ </a:t>
            </a:r>
            <a:r>
              <a:rPr sz="1900" b="0" i="1">
                <a:solidFill>
                  <a:srgbClr val="1C252B"/>
                </a:solidFill>
                <a:latin typeface="Cambria"/>
              </a:rPr>
              <a:t>w</a:t>
            </a:r>
            <a:r>
              <a:rPr sz="1900" b="0" i="0">
                <a:solidFill>
                  <a:srgbClr val="1C252B"/>
                </a:solidFill>
                <a:latin typeface="Cambria"/>
              </a:rPr>
              <a:t> = η δ </a:t>
            </a:r>
            <a:r>
              <a:rPr sz="1900" b="0" i="1">
                <a:solidFill>
                  <a:srgbClr val="1C252B"/>
                </a:solidFill>
                <a:latin typeface="Cambria"/>
              </a:rPr>
              <a:t>x</a:t>
            </a:r>
            <a:r>
              <a:rPr sz="1900" b="0" i="0">
                <a:solidFill>
                  <a:srgbClr val="1C252B"/>
                </a:solidFill>
                <a:latin typeface="Segoe UI"/>
              </a:rPr>
              <a: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2445537"/>
            <a:ext cx="10234879" cy="141919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Output weights: from </a:t>
            </a:r>
            <a:r>
              <a:rPr sz="1900" b="0" i="1">
                <a:solidFill>
                  <a:srgbClr val="1C252B"/>
                </a:solidFill>
                <a:latin typeface="Cambria"/>
              </a:rPr>
              <a:t>h</a:t>
            </a:r>
            <a:r>
              <a:rPr sz="1900" b="0" i="0" baseline="-25000">
                <a:solidFill>
                  <a:srgbClr val="1C252B"/>
                </a:solidFill>
                <a:latin typeface="Cambria"/>
              </a:rPr>
              <a:t>1</a:t>
            </a:r>
            <a:r>
              <a:rPr sz="1900" b="0" i="0">
                <a:solidFill>
                  <a:srgbClr val="1C252B"/>
                </a:solidFill>
                <a:latin typeface="Segoe UI"/>
              </a:rPr>
              <a:t>: </a:t>
            </a:r>
            <a:r>
              <a:rPr sz="1900" b="0" i="0">
                <a:solidFill>
                  <a:srgbClr val="1C252B"/>
                </a:solidFill>
                <a:latin typeface="Cambria"/>
              </a:rPr>
              <a:t>0.6 + 0.5(0.0770)(0.6225) = 0.6240</a:t>
            </a:r>
            <a:r>
              <a:rPr sz="1900" b="0" i="0">
                <a:solidFill>
                  <a:srgbClr val="1C252B"/>
                </a:solidFill>
                <a:latin typeface="Segoe UI"/>
              </a:rPr>
              <a:t>; from </a:t>
            </a:r>
            <a:r>
              <a:rPr sz="1900" b="0" i="1">
                <a:solidFill>
                  <a:srgbClr val="1C252B"/>
                </a:solidFill>
                <a:latin typeface="Cambria"/>
              </a:rPr>
              <a:t>h</a:t>
            </a:r>
            <a:r>
              <a:rPr sz="1900" b="0" i="0" baseline="-25000">
                <a:solidFill>
                  <a:srgbClr val="1C252B"/>
                </a:solidFill>
                <a:latin typeface="Cambria"/>
              </a:rPr>
              <a:t>2</a:t>
            </a:r>
            <a:r>
              <a:rPr sz="1900" b="0" i="0">
                <a:solidFill>
                  <a:srgbClr val="1C252B"/>
                </a:solidFill>
                <a:latin typeface="Segoe UI"/>
              </a:rPr>
              <a:t>: </a:t>
            </a:r>
            <a:r>
              <a:rPr sz="1900" b="0" i="0">
                <a:solidFill>
                  <a:srgbClr val="1C252B"/>
                </a:solidFill>
                <a:latin typeface="Cambria"/>
              </a:rPr>
              <a:t>0.8 + 0.5(0.0770)(0.4750) = 0.8183</a:t>
            </a:r>
            <a:r>
              <a:rPr sz="1900" b="0" i="0">
                <a:solidFill>
                  <a:srgbClr val="1C252B"/>
                </a:solidFill>
                <a:latin typeface="Segoe UI"/>
              </a:rPr>
              <a:t>; bias: </a:t>
            </a:r>
            <a:r>
              <a:rPr sz="1900" b="0" i="0">
                <a:solidFill>
                  <a:srgbClr val="1C252B"/>
                </a:solidFill>
                <a:latin typeface="Cambria"/>
              </a:rPr>
              <a:t>−0.1 + 0.5(0.0770) = −0.0615</a:t>
            </a:r>
            <a:r>
              <a:rPr sz="1900" b="0" i="0">
                <a:solidFill>
                  <a:srgbClr val="1C252B"/>
                </a:solidFill>
                <a:latin typeface="Segoe UI"/>
              </a:rPr>
              <a:t>.</a:t>
            </a:r>
          </a:p>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Cambria"/>
              </a:rPr>
              <a:t>h</a:t>
            </a:r>
            <a:r>
              <a:rPr sz="1900" b="0" i="0" baseline="-25000">
                <a:solidFill>
                  <a:srgbClr val="1C252B"/>
                </a:solidFill>
                <a:latin typeface="Cambria"/>
              </a:rPr>
              <a:t>1</a:t>
            </a:r>
            <a:r>
              <a:rPr sz="1900" b="0" i="0">
                <a:solidFill>
                  <a:srgbClr val="1C252B"/>
                </a:solidFill>
                <a:latin typeface="Segoe UI"/>
              </a:rPr>
              <a:t>: weight from </a:t>
            </a:r>
            <a:r>
              <a:rPr sz="1900" b="0" i="1">
                <a:solidFill>
                  <a:srgbClr val="1C252B"/>
                </a:solidFill>
                <a:latin typeface="Cambria"/>
              </a:rPr>
              <a:t>x</a:t>
            </a:r>
            <a:r>
              <a:rPr sz="1900" b="0" i="0" baseline="-25000">
                <a:solidFill>
                  <a:srgbClr val="1C252B"/>
                </a:solidFill>
                <a:latin typeface="Cambria"/>
              </a:rPr>
              <a:t>1</a:t>
            </a:r>
            <a:r>
              <a:rPr sz="1900" b="0" i="0">
                <a:solidFill>
                  <a:srgbClr val="1C252B"/>
                </a:solidFill>
                <a:latin typeface="Segoe UI"/>
              </a:rPr>
              <a:t> </a:t>
            </a:r>
            <a:r>
              <a:rPr sz="1900" b="0" i="0">
                <a:solidFill>
                  <a:srgbClr val="1C252B"/>
                </a:solidFill>
                <a:latin typeface="Cambria"/>
              </a:rPr>
              <a:t>0.4 → 0.4054</a:t>
            </a:r>
            <a:r>
              <a:rPr sz="1900" b="0" i="0">
                <a:solidFill>
                  <a:srgbClr val="1C252B"/>
                </a:solidFill>
                <a:latin typeface="Segoe UI"/>
              </a:rPr>
              <a:t>, bias </a:t>
            </a:r>
            <a:r>
              <a:rPr sz="1900" b="0" i="0">
                <a:solidFill>
                  <a:srgbClr val="1C252B"/>
                </a:solidFill>
                <a:latin typeface="Cambria"/>
              </a:rPr>
              <a:t>0.1 → 0.1054</a:t>
            </a:r>
            <a:r>
              <a:rPr sz="1900" b="0" i="0">
                <a:solidFill>
                  <a:srgbClr val="1C252B"/>
                </a:solidFill>
                <a:latin typeface="Segoe UI"/>
              </a:rPr>
              <a:t>; from </a:t>
            </a:r>
            <a:r>
              <a:rPr sz="1900" b="0" i="1">
                <a:solidFill>
                  <a:srgbClr val="1C252B"/>
                </a:solidFill>
                <a:latin typeface="Cambria"/>
              </a:rPr>
              <a:t>x</a:t>
            </a:r>
            <a:r>
              <a:rPr sz="1900" b="0" i="0" baseline="-25000">
                <a:solidFill>
                  <a:srgbClr val="1C252B"/>
                </a:solidFill>
                <a:latin typeface="Cambria"/>
              </a:rPr>
              <a:t>2</a:t>
            </a:r>
            <a:r>
              <a:rPr sz="1900" b="0" i="0">
                <a:solidFill>
                  <a:srgbClr val="1C252B"/>
                </a:solidFill>
                <a:latin typeface="Segoe UI"/>
              </a:rPr>
              <a:t> unchanged, because </a:t>
            </a:r>
            <a:r>
              <a:rPr sz="1900" b="0" i="1">
                <a:solidFill>
                  <a:srgbClr val="1C252B"/>
                </a:solidFill>
                <a:latin typeface="Cambria"/>
              </a:rPr>
              <a:t>x</a:t>
            </a:r>
            <a:r>
              <a:rPr sz="1900" b="0" i="0" baseline="-25000">
                <a:solidFill>
                  <a:srgbClr val="1C252B"/>
                </a:solidFill>
                <a:latin typeface="Cambria"/>
              </a:rPr>
              <a:t>2</a:t>
            </a:r>
            <a:r>
              <a:rPr sz="1900" b="0" i="0">
                <a:solidFill>
                  <a:srgbClr val="1C252B"/>
                </a:solidFill>
                <a:latin typeface="Cambria"/>
              </a:rPr>
              <a:t> = 0</a:t>
            </a:r>
            <a:r>
              <a:rPr sz="1900" b="0" i="0">
                <a:solidFill>
                  <a:srgbClr val="1C252B"/>
                </a:solidFill>
                <a:latin typeface="Segoe UI"/>
              </a:rPr>
              <a:t>.</a:t>
            </a:r>
          </a:p>
          <a:p>
            <a:pPr algn="l" marL="212450" indent="-212450">
              <a:lnSpc>
                <a:spcPct val="104000"/>
              </a:lnSpc>
              <a:spcBef>
                <a:spcPts val="0"/>
              </a:spcBef>
              <a:spcAft>
                <a:spcPts val="0"/>
              </a:spcAft>
            </a:pPr>
            <a:r>
              <a:rPr sz="1900" b="1">
                <a:solidFill>
                  <a:srgbClr val="7D6608"/>
                </a:solidFill>
                <a:latin typeface="Segoe UI"/>
              </a:rPr>
              <a:t>•	</a:t>
            </a:r>
            <a:r>
              <a:rPr sz="1900" b="0" i="1">
                <a:solidFill>
                  <a:srgbClr val="1C252B"/>
                </a:solidFill>
                <a:latin typeface="Cambria"/>
              </a:rPr>
              <a:t>h</a:t>
            </a:r>
            <a:r>
              <a:rPr sz="1900" b="0" i="0" baseline="-25000">
                <a:solidFill>
                  <a:srgbClr val="1C252B"/>
                </a:solidFill>
                <a:latin typeface="Cambria"/>
              </a:rPr>
              <a:t>2</a:t>
            </a:r>
            <a:r>
              <a:rPr sz="1900" b="0" i="0">
                <a:solidFill>
                  <a:srgbClr val="1C252B"/>
                </a:solidFill>
                <a:latin typeface="Segoe UI"/>
              </a:rPr>
              <a:t>: weight from </a:t>
            </a:r>
            <a:r>
              <a:rPr sz="1900" b="0" i="1">
                <a:solidFill>
                  <a:srgbClr val="1C252B"/>
                </a:solidFill>
                <a:latin typeface="Cambria"/>
              </a:rPr>
              <a:t>x</a:t>
            </a:r>
            <a:r>
              <a:rPr sz="1900" b="0" i="0" baseline="-25000">
                <a:solidFill>
                  <a:srgbClr val="1C252B"/>
                </a:solidFill>
                <a:latin typeface="Cambria"/>
              </a:rPr>
              <a:t>1</a:t>
            </a:r>
            <a:r>
              <a:rPr sz="1900" b="0" i="0">
                <a:solidFill>
                  <a:srgbClr val="1C252B"/>
                </a:solidFill>
                <a:latin typeface="Segoe UI"/>
              </a:rPr>
              <a:t> </a:t>
            </a:r>
            <a:r>
              <a:rPr sz="1900" b="0" i="0">
                <a:solidFill>
                  <a:srgbClr val="1C252B"/>
                </a:solidFill>
                <a:latin typeface="Cambria"/>
              </a:rPr>
              <a:t>−0.3 → −0.2923</a:t>
            </a:r>
            <a:r>
              <a:rPr sz="1900" b="0" i="0">
                <a:solidFill>
                  <a:srgbClr val="1C252B"/>
                </a:solidFill>
                <a:latin typeface="Segoe UI"/>
              </a:rPr>
              <a:t>, bias </a:t>
            </a:r>
            <a:r>
              <a:rPr sz="1900" b="0" i="0">
                <a:solidFill>
                  <a:srgbClr val="1C252B"/>
                </a:solidFill>
                <a:latin typeface="Cambria"/>
              </a:rPr>
              <a:t>0.2 → 0.2077</a:t>
            </a:r>
            <a:r>
              <a:rPr sz="1900" b="0" i="0">
                <a:solidFill>
                  <a:srgbClr val="1C252B"/>
                </a:solidFill>
                <a:latin typeface="Segoe UI"/>
              </a:rPr>
              <a:t>.</a:t>
            </a:r>
          </a:p>
        </p:txBody>
      </p:sp>
      <p:sp>
        <p:nvSpPr>
          <p:cNvPr id="12" name="body-2"/>
          <p:cNvSpPr txBox="1"/>
          <p:nvPr/>
        </p:nvSpPr>
        <p:spPr>
          <a:xfrm>
            <a:off x="1042416" y="3951732"/>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Check.</a:t>
            </a:r>
            <a:r>
              <a:rPr sz="1900" b="0" i="0">
                <a:solidFill>
                  <a:srgbClr val="1C252B"/>
                </a:solidFill>
                <a:latin typeface="Segoe UI"/>
              </a:rPr>
              <a:t> A new forward pass gives </a:t>
            </a:r>
            <a:r>
              <a:rPr sz="1900" b="0" i="1">
                <a:solidFill>
                  <a:srgbClr val="1C252B"/>
                </a:solidFill>
                <a:latin typeface="Cambria"/>
              </a:rPr>
              <a:t>o</a:t>
            </a:r>
            <a:r>
              <a:rPr sz="1900" b="0" i="0">
                <a:solidFill>
                  <a:srgbClr val="1C252B"/>
                </a:solidFill>
                <a:latin typeface="Cambria"/>
              </a:rPr>
              <a:t> = 0.6727</a:t>
            </a:r>
            <a:r>
              <a:rPr sz="1900" b="0" i="0">
                <a:solidFill>
                  <a:srgbClr val="1C252B"/>
                </a:solidFill>
                <a:latin typeface="Segoe UI"/>
              </a:rPr>
              <a:t>: closer to 1. The squared error </a:t>
            </a:r>
            <a:r>
              <a:rPr sz="1900" b="0" i="0">
                <a:solidFill>
                  <a:srgbClr val="1C252B"/>
                </a:solidFill>
                <a:latin typeface="Cambria"/>
              </a:rPr>
              <a:t>1/2(</a:t>
            </a:r>
            <a:r>
              <a:rPr sz="1900" b="0" i="1">
                <a:solidFill>
                  <a:srgbClr val="1C252B"/>
                </a:solidFill>
                <a:latin typeface="Cambria"/>
              </a:rPr>
              <a:t>t</a:t>
            </a:r>
            <a:r>
              <a:rPr sz="1900" b="0" i="0">
                <a:solidFill>
                  <a:srgbClr val="1C252B"/>
                </a:solidFill>
                <a:latin typeface="Cambria"/>
              </a:rPr>
              <a:t> − </a:t>
            </a:r>
            <a:r>
              <a:rPr sz="1900" b="0" i="1">
                <a:solidFill>
                  <a:srgbClr val="1C252B"/>
                </a:solidFill>
                <a:latin typeface="Cambria"/>
              </a:rPr>
              <a:t>o</a:t>
            </a:r>
            <a:r>
              <a:rPr sz="1900" b="0" i="0">
                <a:solidFill>
                  <a:srgbClr val="1C252B"/>
                </a:solidFill>
                <a:latin typeface="Cambria"/>
              </a:rPr>
              <a:t>)</a:t>
            </a:r>
            <a:r>
              <a:rPr sz="1900" b="0" i="0" baseline="30000">
                <a:solidFill>
                  <a:srgbClr val="1C252B"/>
                </a:solidFill>
                <a:latin typeface="Cambria"/>
              </a:rPr>
              <a:t>2</a:t>
            </a:r>
            <a:r>
              <a:rPr sz="1900" b="0" i="0">
                <a:solidFill>
                  <a:srgbClr val="1C252B"/>
                </a:solidFill>
                <a:latin typeface="Segoe UI"/>
              </a:rPr>
              <a:t> falls from 0.0586 to 0.0536. Thousands of such small steps are what training a network means.</a:t>
            </a:r>
          </a:p>
        </p:txBody>
      </p:sp>
      <p:sp>
        <p:nvSpPr>
          <p:cNvPr id="13" name="body-2bar">
            <a:extLst>
              <a:ext uri="{C183D7F6-B498-43B3-948B-1728B52AA6E4}">
                <adec:decorative xmlns:adec="http://schemas.microsoft.com/office/drawing/2017/decorative" val="1"/>
              </a:ext>
            </a:extLst>
          </p:cNvPr>
          <p:cNvSpPr/>
          <p:nvPr/>
        </p:nvSpPr>
        <p:spPr>
          <a:xfrm>
            <a:off x="841248" y="3970020"/>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pfill">
            <a:extLst>
              <a:ext uri="{C183D7F6-B498-43B3-948B-1728B52AA6E4}">
                <adec:decorative xmlns:adec="http://schemas.microsoft.com/office/drawing/2017/decorative" val="1"/>
              </a:ext>
            </a:extLst>
          </p:cNvPr>
          <p:cNvSpPr/>
          <p:nvPr/>
        </p:nvSpPr>
        <p:spPr>
          <a:xfrm>
            <a:off x="0" y="0"/>
            <a:ext cx="482587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animEffect transition="in" filter="fade">
                                      <p:cBhvr>
                                        <p:cTn id="16" dur="350"/>
                                        <p:tgtEl>
                                          <p:spTgt spid="11">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
                                            <p:txEl>
                                              <p:pRg st="1" end="1"/>
                                            </p:txEl>
                                          </p:spTgt>
                                        </p:tgtEl>
                                        <p:attrNameLst>
                                          <p:attrName>style.visibility</p:attrName>
                                        </p:attrNameLst>
                                      </p:cBhvr>
                                      <p:to>
                                        <p:strVal val="visible"/>
                                      </p:to>
                                    </p:set>
                                    <p:animEffect transition="in" filter="fade">
                                      <p:cBhvr>
                                        <p:cTn id="21" dur="350"/>
                                        <p:tgtEl>
                                          <p:spTgt spid="11">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xEl>
                                              <p:pRg st="2" end="2"/>
                                            </p:txEl>
                                          </p:spTgt>
                                        </p:tgtEl>
                                        <p:attrNameLst>
                                          <p:attrName>style.visibility</p:attrName>
                                        </p:attrNameLst>
                                      </p:cBhvr>
                                      <p:to>
                                        <p:strVal val="visible"/>
                                      </p:to>
                                    </p:set>
                                    <p:animEffect transition="in" filter="fade">
                                      <p:cBhvr>
                                        <p:cTn id="26" dur="350"/>
                                        <p:tgtEl>
                                          <p:spTgt spid="11">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right)">
                                      <p:cBhvr>
                                        <p:cTn id="31" dur="42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activation functions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13.4</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§13.6  ·  Handout p. 102     </a:t>
            </a:r>
            <a:fld id="{51E1F4A8-8DC2-4F4A-8561-AD97BEA7D634}" type="slidenum">
              <a:rPr lang="en-GB" sz="1000">
                <a:solidFill>
                  <a:srgbClr val="8795A1"/>
                </a:solidFill>
                <a:latin typeface="Segoe UI"/>
              </a:rPr>
              <a:t>20</a:t>
            </a:fld>
          </a:p>
        </p:txBody>
      </p:sp>
      <p:pic>
        <p:nvPicPr>
          <p:cNvPr id="6" name="!!figure" descr="Figure 13.4. Three activation functions. The sigmoid and tanh flatten out for large |z|, where their gradients vanish; ReLU does not saturate for positive inputs, which is why it trains deep networks faste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93220" y="1737360"/>
            <a:ext cx="8205254"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sigmoid and tanh flatten out for large |z|, where their gradients vanish; ReLU does not saturate for positive inputs, which is why it trains deep networks faster.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07987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Training Well: Overfitting and Its Cures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7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13.7</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13.1   From Neurons to Units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13.2   The Perceptron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13.3   Linear Separability and XOR</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13.4   Gradient Descent and the Delta Rule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13.5   Multilayer Networks and Backpropagation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13.6   Activation Functions and Outputs</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13.7   Training Well: Overfitting and Its Cures</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§13.7     </a:t>
            </a:r>
            <a:fld id="{F2D2E992-F8B7-4141-BCF2-9B0C65B71FE7}" type="slidenum">
              <a:rPr lang="en-GB" sz="1000">
                <a:solidFill>
                  <a:srgbClr val="8795A1"/>
                </a:solidFill>
                <a:latin typeface="Segoe UI"/>
              </a:rPr>
              <a:t>21</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33386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Training and validation loss of a two-hidden-layer network on data with 20% label noise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13.5</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§13.7  ·  Handout p. 102     </a:t>
            </a:r>
            <a:fld id="{B0557A15-FE17-42ED-89B0-519ACEA00D1C}" type="slidenum">
              <a:rPr lang="en-GB" sz="1000">
                <a:solidFill>
                  <a:srgbClr val="8795A1"/>
                </a:solidFill>
                <a:latin typeface="Segoe UI"/>
              </a:rPr>
              <a:t>22</a:t>
            </a:fld>
          </a:p>
        </p:txBody>
      </p:sp>
      <p:pic>
        <p:nvPicPr>
          <p:cNvPr id="6" name="!!figure" descr="Figure 13.5. Training and validation loss of a two-hidden-layer network on data with 20% label noise. Training loss goes to zero; validation loss is lowest after five epochs and rises thereafter. Early stopping keeps the epoch-5 weight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69234" y="1737360"/>
            <a:ext cx="7653226"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Training loss goes to zero; validation loss is lowest after five epochs and rises thereafter. Early stopping keeps the epoch-5 weights.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58786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Training Well: Overfitting and Its Cures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§13.7  ·  Handout p. 102     </a:t>
            </a:r>
            <a:fld id="{DE67072D-88A8-4B3B-B2AE-5B956979CEBD}" type="slidenum">
              <a:rPr lang="en-GB" sz="1000">
                <a:solidFill>
                  <a:srgbClr val="8795A1"/>
                </a:solidFill>
                <a:latin typeface="Segoe UI"/>
              </a:rPr>
              <a:t>23</a:t>
            </a:fld>
          </a:p>
        </p:txBody>
      </p:sp>
      <p:graphicFrame>
        <p:nvGraphicFramePr>
          <p:cNvPr id="7" name="!!table"/>
          <p:cNvGraphicFramePr>
            <a:graphicFrameLocks noGrp="1"/>
          </p:cNvGraphicFramePr>
          <p:nvPr/>
        </p:nvGraphicFramePr>
        <p:xfrm>
          <a:off x="658368" y="1737360"/>
          <a:ext cx="10874958" cy="3986784"/>
        </p:xfrm>
        <a:graphic>
          <a:graphicData uri="http://schemas.openxmlformats.org/drawingml/2006/table">
            <a:tbl>
              <a:tblPr firstRow="0" bandRow="0" firstCol="0" lastRow="0" lastCol="0" bandCol="0">
                <a:tableStyleId>{2D5ABB26-0587-4C30-8999-92F81FD0307C}</a:tableStyleId>
              </a:tblPr>
              <a:tblGrid>
                <a:gridCol w="2319991"/>
                <a:gridCol w="4349983"/>
                <a:gridCol w="4204984"/>
              </a:tblGrid>
              <a:tr h="405384">
                <a:tc>
                  <a:txBody>
                    <a:bodyPr wrap="square"/>
                    <a:lstStyle/>
                    <a:p>
                      <a:pPr algn="l"/>
                      <a:r>
                        <a:rPr sz="1700" b="1" i="0">
                          <a:solidFill>
                            <a:srgbClr val="1A5276"/>
                          </a:solidFill>
                          <a:latin typeface="Segoe UI"/>
                        </a:rPr>
                        <a:t>Technique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What it does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Setting</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Early stopping</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Keep the weights from the epoch with the lowest validation error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Needs a validation set; patience of a few epochs</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Weight decay (L2)</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Add </a:t>
                      </a:r>
                      <a:r>
                        <a:rPr sz="1700" b="0" i="0">
                          <a:solidFill>
                            <a:srgbClr val="1C252B"/>
                          </a:solidFill>
                          <a:latin typeface="Cambria"/>
                        </a:rPr>
                        <a:t>λΣ </a:t>
                      </a:r>
                      <a:r>
                        <a:rPr sz="1700" b="0" i="1">
                          <a:solidFill>
                            <a:srgbClr val="1C252B"/>
                          </a:solidFill>
                          <a:latin typeface="Cambria"/>
                        </a:rPr>
                        <a:t>w</a:t>
                      </a:r>
                      <a:r>
                        <a:rPr sz="1700" b="0" i="0" baseline="30000">
                          <a:solidFill>
                            <a:srgbClr val="1C252B"/>
                          </a:solidFill>
                          <a:latin typeface="Cambria"/>
                        </a:rPr>
                        <a:t>2</a:t>
                      </a:r>
                      <a:r>
                        <a:rPr sz="1700" b="0" i="0">
                          <a:solidFill>
                            <a:srgbClr val="1C252B"/>
                          </a:solidFill>
                          <a:latin typeface="Segoe UI"/>
                        </a:rPr>
                        <a:t> to the loss — ridge regression for networks (Chapter 7)</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F4E79"/>
                          </a:solidFill>
                          <a:latin typeface="Consolas"/>
                        </a:rPr>
                        <a:t>alpha</a:t>
                      </a:r>
                      <a:r>
                        <a:rPr sz="1700" b="0" i="0">
                          <a:solidFill>
                            <a:srgbClr val="1C252B"/>
                          </a:solidFill>
                          <a:latin typeface="Segoe UI"/>
                        </a:rPr>
                        <a:t> in scikit-learn; tune by CV</a:t>
                      </a:r>
                      <a:endParaRPr sz="1700"/>
                    </a:p>
                  </a:txBody>
                  <a:tcPr marL="109728" marR="109728" marT="64008" marB="45720" anchor="t">
                    <a:lnL w="0" cmpd="sng">
                      <a:noFill/>
                    </a:lnL>
                    <a:lnR w="0" cmpd="sng">
                      <a:noFill/>
                    </a:lnR>
                    <a:lnT w="9525" cmpd="sng">
                      <a:noFill/>
                    </a:lnT>
                    <a:lnB w="9525" cmpd="sng">
                      <a:noFill/>
                    </a:lnB>
                    <a:solidFill>
                      <a:srgbClr val="F2F8FC"/>
                    </a:solidFill>
                  </a:tcPr>
                </a:tc>
              </a:tr>
              <a:tr h="923544">
                <a:tc>
                  <a:txBody>
                    <a:bodyPr wrap="square"/>
                    <a:lstStyle/>
                    <a:p>
                      <a:pPr algn="l"/>
                      <a:r>
                        <a:rPr sz="1700" b="0" i="0">
                          <a:solidFill>
                            <a:srgbClr val="1C252B"/>
                          </a:solidFill>
                          <a:latin typeface="Segoe UI"/>
                        </a:rPr>
                        <a:t>Dropout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During training, switch off each hidden unit at random with probability </a:t>
                      </a:r>
                      <a:r>
                        <a:rPr sz="1700" b="0" i="1">
                          <a:solidFill>
                            <a:srgbClr val="1C252B"/>
                          </a:solidFill>
                          <a:latin typeface="Cambria"/>
                        </a:rPr>
                        <a:t>p</a:t>
                      </a:r>
                      <a:r>
                        <a:rPr sz="1700" b="0" i="0">
                          <a:solidFill>
                            <a:srgbClr val="1C252B"/>
                          </a:solidFill>
                          <a:latin typeface="Segoe UI"/>
                        </a:rPr>
                        <a:t>, so no unit can rely on another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1">
                          <a:solidFill>
                            <a:srgbClr val="1C252B"/>
                          </a:solidFill>
                          <a:latin typeface="Cambria"/>
                        </a:rPr>
                        <a:t>p</a:t>
                      </a:r>
                      <a:r>
                        <a:rPr sz="1700" b="0" i="0">
                          <a:solidFill>
                            <a:srgbClr val="1C252B"/>
                          </a:solidFill>
                          <a:latin typeface="Cambria"/>
                        </a:rPr>
                        <a:t> ≈ 0.2</a:t>
                      </a:r>
                      <a:r>
                        <a:rPr sz="1700" b="0" i="0">
                          <a:solidFill>
                            <a:srgbClr val="1C252B"/>
                          </a:solidFill>
                          <a:latin typeface="Segoe UI"/>
                        </a:rPr>
                        <a:t>–</a:t>
                      </a:r>
                      <a:r>
                        <a:rPr sz="1700" b="0" i="0">
                          <a:solidFill>
                            <a:srgbClr val="1C252B"/>
                          </a:solidFill>
                          <a:latin typeface="Cambria"/>
                        </a:rPr>
                        <a:t>0.5</a:t>
                      </a:r>
                      <a:r>
                        <a:rPr sz="1700" b="0" i="0">
                          <a:solidFill>
                            <a:srgbClr val="1C252B"/>
                          </a:solidFill>
                          <a:latin typeface="Segoe UI"/>
                        </a:rPr>
                        <a:t>; standard in deep learning frameworks</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Fewer units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 smaller network has less capacity to memorise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Tune the width by CV</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More data, augmented</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Real or synthetic variations of the training examples</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Flips, crops and noise for images and signals</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84185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Hidden Units Learn, and What Comes Next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§13.7  ·  Handout p. 102     </a:t>
            </a:r>
            <a:fld id="{752BF112-A5CA-4C5C-BC3D-36469DB8DD40}"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02659"/>
          </a:xfrm>
          <a:prstGeom prst="roundRect">
            <a:avLst>
              <a:gd name="adj" fmla="val 234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0265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326587"/>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Backpropagation lets the hidden layer invent its own features. Mitchell’s famous demonstration trains an 8–3–8 network to copy an 8-bit input to its output through only 3 hidden units; the hidden units discover a 3-bit binary code for the eight inputs, a representation nobody programmed. Deep learning is this idea scaled up: many layers, each building features from the one below, with architectures designed for the data — convolutional networks for images, recurrent networks and transformers for sequences. Those architectures are the subject of the Deep Learning course; this chapter is their foundation.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§13.7  ·  Handout p. 102     </a:t>
            </a:r>
            <a:fld id="{E3DC275B-1B04-4B04-AB29-86881974726B}" type="slidenum">
              <a:rPr lang="en-GB" sz="1000">
                <a:solidFill>
                  <a:srgbClr val="8795A1"/>
                </a:solidFill>
                <a:latin typeface="Segoe UI"/>
              </a:rPr>
              <a:t>25</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Not scaling inputs.</a:t>
            </a:r>
            <a:r>
              <a:rPr sz="2100" b="0" i="0">
                <a:solidFill>
                  <a:srgbClr val="1C252B"/>
                </a:solidFill>
                <a:latin typeface="Segoe UI"/>
              </a:rPr>
              <a:t> Unscaled inputs saturate sigmoid units and make gradient descent crawl.</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Initialising all weights to zero.</a:t>
            </a:r>
            <a:r>
              <a:rPr sz="2100" b="0" i="0">
                <a:solidFill>
                  <a:srgbClr val="1C252B"/>
                </a:solidFill>
                <a:latin typeface="Segoe UI"/>
              </a:rPr>
              <a:t> Every hidden unit then computes the same thing and receives the same update forever; initialise randomly.</a:t>
            </a:r>
          </a:p>
        </p:txBody>
      </p:sp>
      <p:sp>
        <p:nvSpPr>
          <p:cNvPr id="13" name="!!pb2">
            <a:extLst>
              <a:ext uri="{C183D7F6-B498-43B3-948B-1728B52AA6E4}">
                <adec:decorative xmlns:adec="http://schemas.microsoft.com/office/drawing/2017/decorative" val="1"/>
              </a:ext>
            </a:extLst>
          </p:cNvPr>
          <p:cNvSpPr/>
          <p:nvPr/>
        </p:nvSpPr>
        <p:spPr>
          <a:xfrm>
            <a:off x="658368" y="348935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1221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71062"/>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Training until the training error is zero.</a:t>
            </a:r>
            <a:r>
              <a:rPr sz="2100" b="0" i="0">
                <a:solidFill>
                  <a:srgbClr val="1C252B"/>
                </a:solidFill>
                <a:latin typeface="Segoe UI"/>
              </a:rPr>
              <a:t> Watch the validation error and stop when it turns.</a:t>
            </a:r>
          </a:p>
        </p:txBody>
      </p:sp>
      <p:sp>
        <p:nvSpPr>
          <p:cNvPr id="16" name="!!pb3">
            <a:extLst>
              <a:ext uri="{C183D7F6-B498-43B3-948B-1728B52AA6E4}">
                <adec:decorative xmlns:adec="http://schemas.microsoft.com/office/drawing/2017/decorative" val="1"/>
              </a:ext>
            </a:extLst>
          </p:cNvPr>
          <p:cNvSpPr/>
          <p:nvPr/>
        </p:nvSpPr>
        <p:spPr>
          <a:xfrm>
            <a:off x="658368" y="43562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3790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337913"/>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Assuming a network beats a linear model.</a:t>
            </a:r>
            <a:r>
              <a:rPr sz="2100" b="0" i="0">
                <a:solidFill>
                  <a:srgbClr val="1C252B"/>
                </a:solidFill>
                <a:latin typeface="Segoe UI"/>
              </a:rPr>
              <a:t> On small tabular data it often does not; in this chapter’s lab it gains less than one point.</a:t>
            </a:r>
          </a:p>
        </p:txBody>
      </p:sp>
      <p:sp>
        <p:nvSpPr>
          <p:cNvPr id="19" name="!!pb4">
            <a:extLst>
              <a:ext uri="{C183D7F6-B498-43B3-948B-1728B52AA6E4}">
                <adec:decorative xmlns:adec="http://schemas.microsoft.com/office/drawing/2017/decorative" val="1"/>
              </a:ext>
            </a:extLst>
          </p:cNvPr>
          <p:cNvSpPr/>
          <p:nvPr/>
        </p:nvSpPr>
        <p:spPr>
          <a:xfrm>
            <a:off x="658368" y="522305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24591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5204764"/>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Judging from one run.</a:t>
            </a:r>
            <a:r>
              <a:rPr sz="2100" b="0" i="0">
                <a:solidFill>
                  <a:srgbClr val="1C252B"/>
                </a:solidFill>
                <a:latin typeface="Segoe UI"/>
              </a:rPr>
              <a:t> Random initialisation makes results vary; repeat with several seeds.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34984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Neural Networks</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105     </a:t>
            </a:r>
            <a:fld id="{610DBB84-844A-403A-83C1-422A8C53D1E5}" type="slidenum">
              <a:rPr lang="en-GB" sz="1000">
                <a:solidFill>
                  <a:srgbClr val="8795A1"/>
                </a:solidFill>
                <a:latin typeface="Segoe UI"/>
              </a:rPr>
              <a:t>26</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Clickstream sequences from a learning platform — which video, which quiz, how long — are raw, high-dimensional input where networks can find patterns hand-built features miss.</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Tabular project data is small and structured, the setting where networks have the least advantage over trees and linear models.</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Networks trained on raw vibration or audio windows detect faults that summary statistics miss, and small networks can be compressed to run on microcontrollers.</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Networks classify malware from raw bytes and traffic from packet sequences.</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60383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Neural Networks</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105     </a:t>
            </a:r>
            <a:fld id="{131064A9-344D-4739-96C1-4F828183CAFE}" type="slidenum">
              <a:rPr lang="en-GB" sz="1000">
                <a:solidFill>
                  <a:srgbClr val="8795A1"/>
                </a:solidFill>
                <a:latin typeface="Segoe UI"/>
              </a:rPr>
              <a:t>27</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Clickstream sequences from a learning platform — which video, which quiz, how long — are raw, high-dimensional input where networks can find patterns hand-built features miss. They need thousands of students, not hundreds; with one course’s data, the regularised linear model usually wins.</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85782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Neural Networks</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105     </a:t>
            </a:r>
            <a:fld id="{6DD349C0-76D8-49D3-82E0-569DED2C11D4}" type="slidenum">
              <a:rPr lang="en-GB" sz="1000">
                <a:solidFill>
                  <a:srgbClr val="8795A1"/>
                </a:solidFill>
                <a:latin typeface="Segoe UI"/>
              </a:rPr>
              <a:t>28</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Tabular project data is small and structured, the setting where networks have the least advantage over trees and linear models. Where they help is text: embedding ticket descriptions or commit messages before any other model sees them.</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11182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Neural Networks</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105     </a:t>
            </a:r>
            <a:fld id="{B4C6095C-8931-47D0-964A-E96EEE012D19}" type="slidenum">
              <a:rPr lang="en-GB" sz="1000">
                <a:solidFill>
                  <a:srgbClr val="8795A1"/>
                </a:solidFill>
                <a:latin typeface="Segoe UI"/>
              </a:rPr>
              <a:t>29</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Networks trained on raw vibration or audio windows detect faults that summary statistics miss, and small networks can be compressed to run on microcontrollers. The training cost is paid once, in the cloud; inference is a few matrix multiplications on the device.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36581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Neural Networks</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105     </a:t>
            </a:r>
            <a:fld id="{D5B4C2EF-8527-40F5-A773-19AC80741B56}" type="slidenum">
              <a:rPr lang="en-GB" sz="1000">
                <a:solidFill>
                  <a:srgbClr val="8795A1"/>
                </a:solidFill>
                <a:latin typeface="Segoe UI"/>
              </a:rPr>
              <a:t>30</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Networks classify malware from raw bytes and traffic from packet sequences. They are also the most vulnerable to adversarial examples: tiny, deliberately crafted input changes that flip the output. A security model is judged by how it fails under attack, not only by its accuracy.</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61980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Backpropagation From Scratch, Then a Real Network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§13.7  ·  Handout p. 102     </a:t>
            </a:r>
            <a:fld id="{D56F3402-2661-4548-8F57-A0A584B95876}" type="slidenum">
              <a:rPr lang="en-GB" sz="1000">
                <a:solidFill>
                  <a:srgbClr val="8795A1"/>
                </a:solidFill>
                <a:latin typeface="Segoe UI"/>
              </a:rPr>
              <a:t>31</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7429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XOR: no perceptron can learn it; a 2-3-1 network can</a:t>
            </a:r>
          </a:p>
          <a:p>
            <a:pPr algn="l" marL="459473" indent="-459473">
              <a:lnSpc>
                <a:spcPct val="100000"/>
              </a:lnSpc>
              <a:spcBef>
                <a:spcPts val="0"/>
              </a:spcBef>
              <a:spcAft>
                <a:spcPts val="0"/>
              </a:spcAft>
            </a:pPr>
            <a:r>
              <a:rPr sz="1900" b="1">
                <a:solidFill>
                  <a:srgbClr val="117A65"/>
                </a:solidFill>
                <a:latin typeface="Segoe UI"/>
              </a:rPr>
              <a:t>2.	</a:t>
            </a:r>
            <a:r>
              <a:rPr sz="1900" b="0" i="0">
                <a:solidFill>
                  <a:srgbClr val="1C252B"/>
                </a:solidFill>
                <a:latin typeface="Segoe UI"/>
              </a:rPr>
              <a:t>Handwritten digits: a network against a linear model</a:t>
            </a:r>
          </a:p>
        </p:txBody>
      </p:sp>
      <p:sp>
        <p:nvSpPr>
          <p:cNvPr id="1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11: Backpropagation from scratch</a:t>
            </a:r>
          </a:p>
        </p:txBody>
      </p:sp>
      <p:sp>
        <p:nvSpPr>
          <p:cNvPr id="1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42 lines of Python</a:t>
            </a:r>
          </a:p>
        </p:txBody>
      </p:sp>
      <p:sp>
        <p:nvSpPr>
          <p:cNvPr id="2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2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code/ch13_backpropagation.py</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787380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Backpropagation From Scratch, Then a Real Network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§13.7  ·  Handout p. 102     </a:t>
            </a:r>
            <a:fld id="{F30214AA-CAFE-4A38-AD0E-04DA0363F41C}"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432304"/>
          </a:xfrm>
          <a:prstGeom prst="roundRect">
            <a:avLst>
              <a:gd name="adj" fmla="val 375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code/ch13_backpropagation.py</a:t>
            </a:r>
          </a:p>
        </p:txBody>
      </p:sp>
      <p:sp>
        <p:nvSpPr>
          <p:cNvPr id="14" name="!!code-text" descr="import numpy as np from sklearn.datasets import load_digits from sklearn.model_selection import train_test_split from sklearn.preprocessing import StandardScaler from sklearn.neural_network import MLPClassifier from sklearn.linear_model import LogisticRegression"/>
          <p:cNvSpPr txBox="1"/>
          <p:nvPr/>
        </p:nvSpPr>
        <p:spPr>
          <a:xfrm>
            <a:off x="1362456" y="2523744"/>
            <a:ext cx="9987991" cy="19385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datasets</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load_digits</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model_selection</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train_test_split</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preprocessing</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StandardScaler</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neural_network</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MLPClassifier</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linear_model</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LogisticRegression</a:t>
            </a:r>
          </a:p>
        </p:txBody>
      </p:sp>
      <p:sp>
        <p:nvSpPr>
          <p:cNvPr id="15" name="!!code-num"/>
          <p:cNvSpPr txBox="1"/>
          <p:nvPr/>
        </p:nvSpPr>
        <p:spPr>
          <a:xfrm>
            <a:off x="768096" y="2523744"/>
            <a:ext cx="393192" cy="19385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a:p>
            <a:pPr algn="r">
              <a:lnSpc>
                <a:spcPct val="100000"/>
              </a:lnSpc>
            </a:pPr>
            <a:r>
              <a:rPr sz="2000">
                <a:solidFill>
                  <a:srgbClr val="4F5D6A"/>
                </a:solidFill>
                <a:latin typeface="Consolas"/>
              </a:rPr>
              <a:t>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Backpropagation From Scratch, Then a Real Network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§13.7  ·  Handout p. 102     </a:t>
            </a:r>
            <a:fld id="{85DCF639-5FDB-48AC-90CA-1DF6B873FD93}"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XOR: no perceptron can learn it; a 2-3-1 network can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98063"/>
          </a:xfrm>
          <a:prstGeom prst="roundRect">
            <a:avLst>
              <a:gd name="adj" fmla="val 3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code/ch13_backpropagation.py</a:t>
            </a:r>
          </a:p>
        </p:txBody>
      </p:sp>
      <p:sp>
        <p:nvSpPr>
          <p:cNvPr id="14" name="!!code-text" descr="# --- 1. XOR: no perceptron can learn it; a 2-3-1 network can ------------- X = np.array([[0, 0], [0, 1], [1, 0], [1, 1]], dtype=float) t = np.array([[0], [1], [1], [0]], dtype=float) sig = lambda z: 1 / (1 + np.exp(-z)) rng = np.random.default_rng(1) W1, b1 = rng.normal(0, 1, (2, 3)), np.zeros(3) # input -&gt; hidden W2, b2 = rng.normal(0, 1, (3, 1)), np.zeros(1) # hidden -&gt; output eta = 1.0"/>
          <p:cNvSpPr txBox="1"/>
          <p:nvPr/>
        </p:nvSpPr>
        <p:spPr>
          <a:xfrm>
            <a:off x="1362456" y="2523744"/>
            <a:ext cx="9987991" cy="23042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XOR: no perceptron can learn it; a 2-3-1 network can -------------</a:t>
            </a:r>
          </a:p>
          <a:p>
            <a:pPr>
              <a:lnSpc>
                <a:spcPct val="100000"/>
              </a:lnSpc>
              <a:spcAft>
                <a:spcPts val="0"/>
              </a:spcAft>
            </a:pP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dtype</a:t>
            </a:r>
            <a:r>
              <a:rPr sz="1800" i="0">
                <a:solidFill>
                  <a:srgbClr val="AEB6BF"/>
                </a:solidFill>
                <a:latin typeface="Consolas"/>
              </a:rPr>
              <a:t>=</a:t>
            </a:r>
            <a:r>
              <a:rPr sz="1800" i="0">
                <a:solidFill>
                  <a:srgbClr val="C39BD3"/>
                </a:solidFill>
                <a:latin typeface="Consolas"/>
              </a:rPr>
              <a:t>float</a:t>
            </a:r>
            <a:r>
              <a:rPr sz="1800" i="0">
                <a:solidFill>
                  <a:srgbClr val="AEB6BF"/>
                </a:solidFill>
                <a:latin typeface="Consolas"/>
              </a:rPr>
              <a:t>)</a:t>
            </a:r>
          </a:p>
          <a:p>
            <a:pPr>
              <a:lnSpc>
                <a:spcPct val="100000"/>
              </a:lnSpc>
              <a:spcAft>
                <a:spcPts val="0"/>
              </a:spcAft>
            </a:pP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dtype</a:t>
            </a:r>
            <a:r>
              <a:rPr sz="1800" i="0">
                <a:solidFill>
                  <a:srgbClr val="AEB6BF"/>
                </a:solidFill>
                <a:latin typeface="Consolas"/>
              </a:rPr>
              <a:t>=</a:t>
            </a:r>
            <a:r>
              <a:rPr sz="1800" i="0">
                <a:solidFill>
                  <a:srgbClr val="C39BD3"/>
                </a:solidFill>
                <a:latin typeface="Consolas"/>
              </a:rPr>
              <a:t>float</a:t>
            </a:r>
            <a:r>
              <a:rPr sz="1800" i="0">
                <a:solidFill>
                  <a:srgbClr val="AEB6BF"/>
                </a:solidFill>
                <a:latin typeface="Consolas"/>
              </a:rPr>
              <a:t>)</a:t>
            </a:r>
          </a:p>
          <a:p>
            <a:pPr>
              <a:lnSpc>
                <a:spcPct val="100000"/>
              </a:lnSpc>
              <a:spcAft>
                <a:spcPts val="0"/>
              </a:spcAft>
            </a:pPr>
            <a:r>
              <a:rPr sz="1800" i="0">
                <a:solidFill>
                  <a:srgbClr val="E8EDF2"/>
                </a:solidFill>
                <a:latin typeface="Consolas"/>
              </a:rPr>
              <a:t>sig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lambda</a:t>
            </a:r>
            <a:r>
              <a:rPr sz="1800" i="0">
                <a:solidFill>
                  <a:srgbClr val="E8EDF2"/>
                </a:solidFill>
                <a:latin typeface="Consolas"/>
              </a:rPr>
              <a:t> </a:t>
            </a:r>
            <a:r>
              <a:rPr sz="1800" i="0">
                <a:solidFill>
                  <a:srgbClr val="E8EDF2"/>
                </a:solidFill>
                <a:latin typeface="Consolas"/>
              </a:rPr>
              <a:t>z</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exp</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z</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rng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random</a:t>
            </a:r>
            <a:r>
              <a:rPr sz="1800" i="0">
                <a:solidFill>
                  <a:srgbClr val="AEB6BF"/>
                </a:solidFill>
                <a:latin typeface="Consolas"/>
              </a:rPr>
              <a:t>.</a:t>
            </a:r>
            <a:r>
              <a:rPr sz="1800" i="0">
                <a:solidFill>
                  <a:srgbClr val="E8EDF2"/>
                </a:solidFill>
                <a:latin typeface="Consolas"/>
              </a:rPr>
              <a:t>default_rng</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p>
          <a:p>
            <a:pPr>
              <a:lnSpc>
                <a:spcPct val="100000"/>
              </a:lnSpc>
              <a:spcAft>
                <a:spcPts val="0"/>
              </a:spcAft>
            </a:pPr>
            <a:r>
              <a:rPr sz="1800" i="0">
                <a:solidFill>
                  <a:srgbClr val="E8EDF2"/>
                </a:solidFill>
                <a:latin typeface="Consolas"/>
              </a:rPr>
              <a:t>W1</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rng</a:t>
            </a:r>
            <a:r>
              <a:rPr sz="1800" i="0">
                <a:solidFill>
                  <a:srgbClr val="AEB6BF"/>
                </a:solidFill>
                <a:latin typeface="Consolas"/>
              </a:rPr>
              <a:t>.</a:t>
            </a:r>
            <a:r>
              <a:rPr sz="1800" i="0">
                <a:solidFill>
                  <a:srgbClr val="E8EDF2"/>
                </a:solidFill>
                <a:latin typeface="Consolas"/>
              </a:rPr>
              <a:t>normal</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zeros</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input -&gt; hidden</a:t>
            </a:r>
          </a:p>
          <a:p>
            <a:pPr>
              <a:lnSpc>
                <a:spcPct val="100000"/>
              </a:lnSpc>
              <a:spcAft>
                <a:spcPts val="0"/>
              </a:spcAft>
            </a:pPr>
            <a:r>
              <a:rPr sz="1800" i="0">
                <a:solidFill>
                  <a:srgbClr val="E8EDF2"/>
                </a:solidFill>
                <a:latin typeface="Consolas"/>
              </a:rPr>
              <a:t>W2</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b2</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rng</a:t>
            </a:r>
            <a:r>
              <a:rPr sz="1800" i="0">
                <a:solidFill>
                  <a:srgbClr val="AEB6BF"/>
                </a:solidFill>
                <a:latin typeface="Consolas"/>
              </a:rPr>
              <a:t>.</a:t>
            </a:r>
            <a:r>
              <a:rPr sz="1800" i="0">
                <a:solidFill>
                  <a:srgbClr val="E8EDF2"/>
                </a:solidFill>
                <a:latin typeface="Consolas"/>
              </a:rPr>
              <a:t>normal</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zeros</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hidden -&gt; output</a:t>
            </a:r>
          </a:p>
          <a:p>
            <a:pPr>
              <a:lnSpc>
                <a:spcPct val="100000"/>
              </a:lnSpc>
              <a:spcAft>
                <a:spcPts val="0"/>
              </a:spcAft>
            </a:pPr>
            <a:r>
              <a:rPr sz="1800" i="0">
                <a:solidFill>
                  <a:srgbClr val="E8EDF2"/>
                </a:solidFill>
                <a:latin typeface="Consolas"/>
              </a:rPr>
              <a:t>eta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a:t>
            </a:r>
          </a:p>
        </p:txBody>
      </p:sp>
      <p:sp>
        <p:nvSpPr>
          <p:cNvPr id="15" name="!!code-num"/>
          <p:cNvSpPr txBox="1"/>
          <p:nvPr/>
        </p:nvSpPr>
        <p:spPr>
          <a:xfrm>
            <a:off x="768096" y="2523744"/>
            <a:ext cx="393192" cy="23042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8179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Backpropagation From Scratch, Then a Real Network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§13.7  ·  Handout p. 102     </a:t>
            </a:r>
            <a:fld id="{9678E477-5A8C-4406-8891-4EB411EAC7F9}"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XOR: no perceptron can learn it; a 2-3-1 network can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4"/>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code/ch13_backpropagation.py</a:t>
            </a:r>
          </a:p>
        </p:txBody>
      </p:sp>
      <p:sp>
        <p:nvSpPr>
          <p:cNvPr id="14" name="!!code-text" descr="for epoch in range(5001): h = sig(X @ W1 + b1) # forward pass o = sig(h @ W2 + b2) d_out = o * (1 - o) * (t - o) # output deltas d_hid = h * (1 - h) * (d_out @ W2.T) # hidden deltas W2 += eta * h.T @ d_out # weight updates b2 += eta * d_out.sum(0) W1 += eta * X.T @ d_hid b1 += eta * d_hid.sum(0) if epoch in (0, 500, 5000): err = 0.5 * np.sum((t - o) ** 2) print(f&quot;epoch {epoch:4d}: error {err:.4f} &quot; f&quot;outputs {o.ravel().round(2)}&quot;)"/>
          <p:cNvSpPr txBox="1"/>
          <p:nvPr/>
        </p:nvSpPr>
        <p:spPr>
          <a:xfrm>
            <a:off x="1362456" y="2523744"/>
            <a:ext cx="9987991" cy="3675888"/>
          </a:xfrm>
          <a:prstGeom prst="rect">
            <a:avLst/>
          </a:prstGeom>
          <a:noFill/>
        </p:spPr>
        <p:txBody>
          <a:bodyPr wrap="none" anchor="t" lIns="0" rIns="0" tIns="0" bIns="0">
            <a:noAutofit/>
          </a:bodyPr>
          <a:lstStyle/>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epoch</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range</a:t>
            </a:r>
            <a:r>
              <a:rPr sz="1800" i="0">
                <a:solidFill>
                  <a:srgbClr val="AEB6BF"/>
                </a:solidFill>
                <a:latin typeface="Consolas"/>
              </a:rPr>
              <a:t>(</a:t>
            </a:r>
            <a:r>
              <a:rPr sz="1800" i="0">
                <a:solidFill>
                  <a:srgbClr val="F7DC6F"/>
                </a:solidFill>
                <a:latin typeface="Consolas"/>
              </a:rPr>
              <a:t>5001</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h</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sig</a:t>
            </a:r>
            <a:r>
              <a:rPr sz="1800" i="0">
                <a:solidFill>
                  <a:srgbClr val="AEB6BF"/>
                </a:solidFill>
                <a:latin typeface="Consolas"/>
              </a:rPr>
              <a:t>(</a:t>
            </a: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b1</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forward pass</a:t>
            </a:r>
          </a:p>
          <a:p>
            <a:pPr>
              <a:lnSpc>
                <a:spcPct val="100000"/>
              </a:lnSpc>
              <a:spcAft>
                <a:spcPts val="0"/>
              </a:spcAft>
            </a:pP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sig</a:t>
            </a:r>
            <a:r>
              <a:rPr sz="1800" i="0">
                <a:solidFill>
                  <a:srgbClr val="AEB6BF"/>
                </a:solidFill>
                <a:latin typeface="Consolas"/>
              </a:rPr>
              <a:t>(</a:t>
            </a:r>
            <a:r>
              <a:rPr sz="1800" i="0">
                <a:solidFill>
                  <a:srgbClr val="E8EDF2"/>
                </a:solidFill>
                <a:latin typeface="Consolas"/>
              </a:rPr>
              <a:t>h</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W2</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b2</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d_out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o</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o</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output deltas</a:t>
            </a:r>
          </a:p>
          <a:p>
            <a:pPr>
              <a:lnSpc>
                <a:spcPct val="100000"/>
              </a:lnSpc>
              <a:spcAft>
                <a:spcPts val="0"/>
              </a:spcAft>
            </a:pPr>
            <a:r>
              <a:rPr sz="1800" i="0">
                <a:solidFill>
                  <a:srgbClr val="E8EDF2"/>
                </a:solidFill>
                <a:latin typeface="Consolas"/>
              </a:rPr>
              <a:t>    </a:t>
            </a:r>
            <a:r>
              <a:rPr sz="1800" i="0">
                <a:solidFill>
                  <a:srgbClr val="E8EDF2"/>
                </a:solidFill>
                <a:latin typeface="Consolas"/>
              </a:rPr>
              <a:t>d_hid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d_out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W2</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hidden deltas</a:t>
            </a:r>
          </a:p>
          <a:p>
            <a:pPr>
              <a:lnSpc>
                <a:spcPct val="100000"/>
              </a:lnSpc>
              <a:spcAft>
                <a:spcPts val="0"/>
              </a:spcAft>
            </a:pPr>
            <a:r>
              <a:rPr sz="1800" i="0">
                <a:solidFill>
                  <a:srgbClr val="E8EDF2"/>
                </a:solidFill>
                <a:latin typeface="Consolas"/>
              </a:rPr>
              <a:t>    </a:t>
            </a:r>
            <a:r>
              <a:rPr sz="1800" i="0">
                <a:solidFill>
                  <a:srgbClr val="E8EDF2"/>
                </a:solidFill>
                <a:latin typeface="Consolas"/>
              </a:rPr>
              <a:t>W2</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eta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a:t>
            </a:r>
            <a:r>
              <a:rPr sz="1800" i="0">
                <a:solidFill>
                  <a:srgbClr val="AEB6BF"/>
                </a:solidFill>
                <a:latin typeface="Consolas"/>
              </a:rPr>
              <a:t>.</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d_out</a:t>
            </a:r>
            <a:r>
              <a:rPr sz="1800" i="0">
                <a:solidFill>
                  <a:srgbClr val="E8EDF2"/>
                </a:solidFill>
                <a:latin typeface="Consolas"/>
              </a:rPr>
              <a:t>                        </a:t>
            </a:r>
            <a:r>
              <a:rPr sz="1800" i="1">
                <a:solidFill>
                  <a:srgbClr val="8795A1"/>
                </a:solidFill>
                <a:latin typeface="Consolas"/>
              </a:rPr>
              <a:t># weight updates</a:t>
            </a:r>
          </a:p>
          <a:p>
            <a:pPr>
              <a:lnSpc>
                <a:spcPct val="100000"/>
              </a:lnSpc>
              <a:spcAft>
                <a:spcPts val="0"/>
              </a:spcAft>
            </a:pPr>
            <a:r>
              <a:rPr sz="1800" i="0">
                <a:solidFill>
                  <a:srgbClr val="E8EDF2"/>
                </a:solidFill>
                <a:latin typeface="Consolas"/>
              </a:rPr>
              <a:t>    </a:t>
            </a:r>
            <a:r>
              <a:rPr sz="1800" i="0">
                <a:solidFill>
                  <a:srgbClr val="E8EDF2"/>
                </a:solidFill>
                <a:latin typeface="Consolas"/>
              </a:rPr>
              <a:t>b2</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eta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d_out</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W1</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eta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d_hid</a:t>
            </a:r>
          </a:p>
          <a:p>
            <a:pPr>
              <a:lnSpc>
                <a:spcPct val="100000"/>
              </a:lnSpc>
              <a:spcAft>
                <a:spcPts val="0"/>
              </a:spcAft>
            </a:pPr>
            <a:r>
              <a:rPr sz="1800" i="0">
                <a:solidFill>
                  <a:srgbClr val="E8EDF2"/>
                </a:solidFill>
                <a:latin typeface="Consolas"/>
              </a:rPr>
              <a:t>    </a:t>
            </a:r>
            <a:r>
              <a:rPr sz="1800" i="0">
                <a:solidFill>
                  <a:srgbClr val="E8EDF2"/>
                </a:solidFill>
                <a:latin typeface="Consolas"/>
              </a:rPr>
              <a:t>b1</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eta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d_hid</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epoch</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5000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err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0.5</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o</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epoch </a:t>
            </a:r>
            <a:r>
              <a:rPr sz="1800" i="0">
                <a:solidFill>
                  <a:srgbClr val="7DCEA0"/>
                </a:solidFill>
                <a:latin typeface="Consolas"/>
              </a:rPr>
              <a:t>{</a:t>
            </a:r>
            <a:r>
              <a:rPr sz="1800" i="0">
                <a:solidFill>
                  <a:srgbClr val="E8EDF2"/>
                </a:solidFill>
                <a:latin typeface="Consolas"/>
              </a:rPr>
              <a:t>epoch</a:t>
            </a:r>
            <a:r>
              <a:rPr sz="1800" i="0">
                <a:solidFill>
                  <a:srgbClr val="7DCEA0"/>
                </a:solidFill>
                <a:latin typeface="Consolas"/>
              </a:rPr>
              <a:t>:</a:t>
            </a:r>
            <a:r>
              <a:rPr sz="1800" i="0">
                <a:solidFill>
                  <a:srgbClr val="7DCEA0"/>
                </a:solidFill>
                <a:latin typeface="Consolas"/>
              </a:rPr>
              <a:t>4d</a:t>
            </a:r>
            <a:r>
              <a:rPr sz="1800" i="0">
                <a:solidFill>
                  <a:srgbClr val="7DCEA0"/>
                </a:solidFill>
                <a:latin typeface="Consolas"/>
              </a:rPr>
              <a:t>}</a:t>
            </a:r>
            <a:r>
              <a:rPr sz="1800" i="0">
                <a:solidFill>
                  <a:srgbClr val="7DCEA0"/>
                </a:solidFill>
                <a:latin typeface="Consolas"/>
              </a:rPr>
              <a:t>: error </a:t>
            </a:r>
            <a:r>
              <a:rPr sz="1800" i="0">
                <a:solidFill>
                  <a:srgbClr val="7DCEA0"/>
                </a:solidFill>
                <a:latin typeface="Consolas"/>
              </a:rPr>
              <a:t>{</a:t>
            </a:r>
            <a:r>
              <a:rPr sz="1800" i="0">
                <a:solidFill>
                  <a:srgbClr val="E8EDF2"/>
                </a:solidFill>
                <a:latin typeface="Consolas"/>
              </a:rPr>
              <a:t>err</a:t>
            </a:r>
            <a:r>
              <a:rPr sz="1800" i="0">
                <a:solidFill>
                  <a:srgbClr val="7DCEA0"/>
                </a:solidFill>
                <a:latin typeface="Consolas"/>
              </a:rPr>
              <a:t>:</a:t>
            </a:r>
            <a:r>
              <a:rPr sz="1800" i="0">
                <a:solidFill>
                  <a:srgbClr val="7DCEA0"/>
                </a:solidFill>
                <a:latin typeface="Consolas"/>
              </a:rPr>
              <a:t>.4f</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outputs </a:t>
            </a:r>
            <a:r>
              <a:rPr sz="1800" i="0">
                <a:solidFill>
                  <a:srgbClr val="7DCEA0"/>
                </a:solidFill>
                <a:latin typeface="Consolas"/>
              </a:rPr>
              <a:t>{</a:t>
            </a:r>
            <a:r>
              <a:rPr sz="1800" i="0">
                <a:solidFill>
                  <a:srgbClr val="E8EDF2"/>
                </a:solidFill>
                <a:latin typeface="Consolas"/>
              </a:rPr>
              <a:t>o</a:t>
            </a:r>
            <a:r>
              <a:rPr sz="1800" i="0">
                <a:solidFill>
                  <a:srgbClr val="AEB6BF"/>
                </a:solidFill>
                <a:latin typeface="Consolas"/>
              </a:rPr>
              <a:t>.</a:t>
            </a:r>
            <a:r>
              <a:rPr sz="1800" i="0">
                <a:solidFill>
                  <a:srgbClr val="E8EDF2"/>
                </a:solidFill>
                <a:latin typeface="Consolas"/>
              </a:rPr>
              <a:t>ravel</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367588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a:p>
            <a:pPr algn="r">
              <a:lnSpc>
                <a:spcPct val="100000"/>
              </a:lnSpc>
            </a:pPr>
            <a:r>
              <a:rPr sz="1800">
                <a:solidFill>
                  <a:srgbClr val="4F5D6A"/>
                </a:solidFill>
                <a:latin typeface="Consolas"/>
              </a:rPr>
              <a:t>27</a:t>
            </a:r>
          </a:p>
          <a:p>
            <a:pPr algn="r">
              <a:lnSpc>
                <a:spcPct val="100000"/>
              </a:lnSpc>
            </a:pPr>
            <a:r>
              <a:rPr sz="1800">
                <a:solidFill>
                  <a:srgbClr val="4F5D6A"/>
                </a:solidFill>
                <a:latin typeface="Consolas"/>
              </a:rPr>
              <a:t>28</a:t>
            </a:r>
          </a:p>
          <a:p>
            <a:pPr algn="r">
              <a:lnSpc>
                <a:spcPct val="100000"/>
              </a:lnSpc>
            </a:pPr>
            <a:r>
              <a:rPr sz="1800">
                <a:solidFill>
                  <a:srgbClr val="4F5D6A"/>
                </a:solidFill>
                <a:latin typeface="Consolas"/>
              </a:rPr>
              <a:t>29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357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Backpropagation From Scratch, Then a Real Network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§13.7  ·  Handout p. 102     </a:t>
            </a:r>
            <a:fld id="{FF99B5A7-E3EF-45AB-BA76-C74893DFFA29}"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Handwritten digits: a network against a linear model</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4"/>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code/ch13_backpropagation.py</a:t>
            </a:r>
          </a:p>
        </p:txBody>
      </p:sp>
      <p:sp>
        <p:nvSpPr>
          <p:cNvPr id="14" name="!!code-text" descr="# --- 2. handwritten digits: a network against a linear model ------------- Xd, yd = load_digits(return_X_y=True) # 1,797 images, 8x8 pixels X_tr, X_te, y_tr, y_te = train_test_split(Xd, yd, test_size=0.3, random_state=0, stratify=yd) sc = StandardScaler().fit(X_tr) X_tr, X_te = sc.transform(X_tr), sc.transform(X_te) lin = LogisticRegression(max_iter=2000).fit(X_tr, y_tr) print(&quot;logistic regression test accuracy:&quot;, round(lin.score(X_te, y_te), 3)) for alpha in (0.0001, 1.0): # weight decay net = MLPClassifier(hidden_layer_sizes=(64,), alpha=alpha, max_iter=1000, random_state=0).fit(X_tr, y_tr) print(f&quot;network, weight decay {alpha:g}: {net.n_iter_} epochs, &quot; f&quot;test accuracy {net.score(X_te, y_te):.3f}&quot;)"/>
          <p:cNvSpPr txBox="1"/>
          <p:nvPr/>
        </p:nvSpPr>
        <p:spPr>
          <a:xfrm>
            <a:off x="1362456" y="2523744"/>
            <a:ext cx="9987991" cy="367588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handwritten digits: a network against a linear model -------------</a:t>
            </a:r>
          </a:p>
          <a:p>
            <a:pPr>
              <a:lnSpc>
                <a:spcPct val="100000"/>
              </a:lnSpc>
              <a:spcAft>
                <a:spcPts val="0"/>
              </a:spcAft>
            </a:pPr>
            <a:r>
              <a:rPr sz="1800" i="0">
                <a:solidFill>
                  <a:srgbClr val="E8EDF2"/>
                </a:solidFill>
                <a:latin typeface="Consolas"/>
              </a:rPr>
              <a:t>Xd</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load_digits</a:t>
            </a:r>
            <a:r>
              <a:rPr sz="1800" i="0">
                <a:solidFill>
                  <a:srgbClr val="AEB6BF"/>
                </a:solidFill>
                <a:latin typeface="Consolas"/>
              </a:rPr>
              <a:t>(</a:t>
            </a:r>
            <a:r>
              <a:rPr sz="1800" i="0">
                <a:solidFill>
                  <a:srgbClr val="E8EDF2"/>
                </a:solidFill>
                <a:latin typeface="Consolas"/>
              </a:rPr>
              <a:t>return_X_y</a:t>
            </a:r>
            <a:r>
              <a:rPr sz="1800" i="0">
                <a:solidFill>
                  <a:srgbClr val="AEB6BF"/>
                </a:solidFill>
                <a:latin typeface="Consolas"/>
              </a:rPr>
              <a:t>=</a:t>
            </a:r>
            <a:r>
              <a:rPr sz="1800" i="0">
                <a:solidFill>
                  <a:srgbClr val="5DADE2"/>
                </a:solidFill>
                <a:latin typeface="Consolas"/>
              </a:rPr>
              <a:t>True</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1,797 images, 8x8 pixels</a:t>
            </a:r>
          </a:p>
          <a:p>
            <a:pPr>
              <a:lnSpc>
                <a:spcPct val="100000"/>
              </a:lnSpc>
              <a:spcAft>
                <a:spcPts val="0"/>
              </a:spcAft>
            </a:pP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train_test_split</a:t>
            </a:r>
            <a:r>
              <a:rPr sz="1800" i="0">
                <a:solidFill>
                  <a:srgbClr val="AEB6BF"/>
                </a:solidFill>
                <a:latin typeface="Consolas"/>
              </a:rPr>
              <a:t>(</a:t>
            </a:r>
            <a:r>
              <a:rPr sz="1800" i="0">
                <a:solidFill>
                  <a:srgbClr val="E8EDF2"/>
                </a:solidFill>
                <a:latin typeface="Consolas"/>
              </a:rPr>
              <a:t>Xd</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yd</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test_size</a:t>
            </a:r>
            <a:r>
              <a:rPr sz="1800" i="0">
                <a:solidFill>
                  <a:srgbClr val="AEB6BF"/>
                </a:solidFill>
                <a:latin typeface="Consolas"/>
              </a:rPr>
              <a:t>=</a:t>
            </a:r>
            <a:r>
              <a:rPr sz="1800" i="0">
                <a:solidFill>
                  <a:srgbClr val="F7DC6F"/>
                </a:solidFill>
                <a:latin typeface="Consolas"/>
              </a:rPr>
              <a:t>0.3</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stratify</a:t>
            </a:r>
            <a:r>
              <a:rPr sz="1800" i="0">
                <a:solidFill>
                  <a:srgbClr val="AEB6BF"/>
                </a:solidFill>
                <a:latin typeface="Consolas"/>
              </a:rPr>
              <a:t>=</a:t>
            </a:r>
            <a:r>
              <a:rPr sz="1800" i="0">
                <a:solidFill>
                  <a:srgbClr val="E8EDF2"/>
                </a:solidFill>
                <a:latin typeface="Consolas"/>
              </a:rPr>
              <a:t>yd</a:t>
            </a:r>
            <a:r>
              <a:rPr sz="1800" i="0">
                <a:solidFill>
                  <a:srgbClr val="AEB6BF"/>
                </a:solidFill>
                <a:latin typeface="Consolas"/>
              </a:rPr>
              <a:t>)</a:t>
            </a:r>
          </a:p>
          <a:p>
            <a:pPr>
              <a:lnSpc>
                <a:spcPct val="100000"/>
              </a:lnSpc>
              <a:spcAft>
                <a:spcPts val="0"/>
              </a:spcAft>
            </a:pPr>
            <a:r>
              <a:rPr sz="1800" i="0">
                <a:solidFill>
                  <a:srgbClr val="E8EDF2"/>
                </a:solidFill>
                <a:latin typeface="Consolas"/>
              </a:rPr>
              <a:t>sc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StandardScaler</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X_tr</a:t>
            </a:r>
            <a:r>
              <a:rPr sz="1800" i="0">
                <a:solidFill>
                  <a:srgbClr val="AEB6BF"/>
                </a:solidFill>
                <a:latin typeface="Consolas"/>
              </a:rPr>
              <a:t>)</a:t>
            </a:r>
          </a:p>
          <a:p>
            <a:pPr>
              <a:lnSpc>
                <a:spcPct val="100000"/>
              </a:lnSpc>
              <a:spcAft>
                <a:spcPts val="0"/>
              </a:spcAft>
            </a:pP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X_te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sc</a:t>
            </a:r>
            <a:r>
              <a:rPr sz="1800" i="0">
                <a:solidFill>
                  <a:srgbClr val="AEB6BF"/>
                </a:solidFill>
                <a:latin typeface="Consolas"/>
              </a:rPr>
              <a:t>.</a:t>
            </a:r>
            <a:r>
              <a:rPr sz="1800" i="0">
                <a:solidFill>
                  <a:srgbClr val="E8EDF2"/>
                </a:solidFill>
                <a:latin typeface="Consolas"/>
              </a:rPr>
              <a:t>transform</a:t>
            </a:r>
            <a:r>
              <a:rPr sz="1800" i="0">
                <a:solidFill>
                  <a:srgbClr val="AEB6BF"/>
                </a:solidFill>
                <a:latin typeface="Consolas"/>
              </a:rPr>
              <a:t>(</a:t>
            </a:r>
            <a:r>
              <a:rPr sz="1800" i="0">
                <a:solidFill>
                  <a:srgbClr val="E8EDF2"/>
                </a:solidFill>
                <a:latin typeface="Consolas"/>
              </a:rPr>
              <a:t>X_tr</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sc</a:t>
            </a:r>
            <a:r>
              <a:rPr sz="1800" i="0">
                <a:solidFill>
                  <a:srgbClr val="AEB6BF"/>
                </a:solidFill>
                <a:latin typeface="Consolas"/>
              </a:rPr>
              <a:t>.</a:t>
            </a:r>
            <a:r>
              <a:rPr sz="1800" i="0">
                <a:solidFill>
                  <a:srgbClr val="E8EDF2"/>
                </a:solidFill>
                <a:latin typeface="Consolas"/>
              </a:rPr>
              <a:t>transform</a:t>
            </a:r>
            <a:r>
              <a:rPr sz="1800" i="0">
                <a:solidFill>
                  <a:srgbClr val="AEB6BF"/>
                </a:solidFill>
                <a:latin typeface="Consolas"/>
              </a:rPr>
              <a:t>(</a:t>
            </a:r>
            <a:r>
              <a:rPr sz="1800" i="0">
                <a:solidFill>
                  <a:srgbClr val="E8EDF2"/>
                </a:solidFill>
                <a:latin typeface="Consolas"/>
              </a:rPr>
              <a:t>X_te</a:t>
            </a:r>
            <a:r>
              <a:rPr sz="1800" i="0">
                <a:solidFill>
                  <a:srgbClr val="AEB6BF"/>
                </a:solidFill>
                <a:latin typeface="Consolas"/>
              </a:rPr>
              <a:t>)</a:t>
            </a:r>
          </a:p>
          <a:p>
            <a:pPr>
              <a:lnSpc>
                <a:spcPct val="100000"/>
              </a:lnSpc>
              <a:spcAft>
                <a:spcPts val="0"/>
              </a:spcAft>
            </a:pPr>
            <a:r>
              <a:rPr sz="1800" i="0">
                <a:solidFill>
                  <a:srgbClr val="E8EDF2"/>
                </a:solidFill>
                <a:latin typeface="Consolas"/>
              </a:rPr>
              <a:t>lin</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LogisticRegression</a:t>
            </a:r>
            <a:r>
              <a:rPr sz="1800" i="0">
                <a:solidFill>
                  <a:srgbClr val="AEB6BF"/>
                </a:solidFill>
                <a:latin typeface="Consolas"/>
              </a:rPr>
              <a:t>(</a:t>
            </a:r>
            <a:r>
              <a:rPr sz="1800" i="0">
                <a:solidFill>
                  <a:srgbClr val="E8EDF2"/>
                </a:solidFill>
                <a:latin typeface="Consolas"/>
              </a:rPr>
              <a:t>max_iter</a:t>
            </a:r>
            <a:r>
              <a:rPr sz="1800" i="0">
                <a:solidFill>
                  <a:srgbClr val="AEB6BF"/>
                </a:solidFill>
                <a:latin typeface="Consolas"/>
              </a:rPr>
              <a:t>=</a:t>
            </a:r>
            <a:r>
              <a:rPr sz="1800" i="0">
                <a:solidFill>
                  <a:srgbClr val="F7DC6F"/>
                </a:solidFill>
                <a:latin typeface="Consolas"/>
              </a:rPr>
              <a:t>2000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logistic regression test accuracy:</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E8EDF2"/>
                </a:solidFill>
                <a:latin typeface="Consolas"/>
              </a:rPr>
              <a:t>lin</a:t>
            </a:r>
            <a:r>
              <a:rPr sz="1800" i="0">
                <a:solidFill>
                  <a:srgbClr val="AEB6BF"/>
                </a:solidFill>
                <a:latin typeface="Consolas"/>
              </a:rPr>
              <a:t>.</a:t>
            </a:r>
            <a:r>
              <a:rPr sz="1800" i="0">
                <a:solidFill>
                  <a:srgbClr val="E8EDF2"/>
                </a:solidFill>
                <a:latin typeface="Consolas"/>
              </a:rPr>
              <a:t>score</a:t>
            </a:r>
            <a:r>
              <a:rPr sz="1800" i="0">
                <a:solidFill>
                  <a:srgbClr val="AEB6BF"/>
                </a:solidFill>
                <a:latin typeface="Consolas"/>
              </a:rPr>
              <a:t>(</a:t>
            </a:r>
            <a:r>
              <a:rPr sz="1800" i="0">
                <a:solidFill>
                  <a:srgbClr val="E8EDF2"/>
                </a:solidFill>
                <a:latin typeface="Consolas"/>
              </a:rPr>
              <a:t>X_te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alpha</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0.0001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weight decay</a:t>
            </a:r>
          </a:p>
          <a:p>
            <a:pPr>
              <a:lnSpc>
                <a:spcPct val="100000"/>
              </a:lnSpc>
              <a:spcAft>
                <a:spcPts val="0"/>
              </a:spcAft>
            </a:pPr>
            <a:r>
              <a:rPr sz="1800" i="0">
                <a:solidFill>
                  <a:srgbClr val="E8EDF2"/>
                </a:solidFill>
                <a:latin typeface="Consolas"/>
              </a:rPr>
              <a:t>    </a:t>
            </a:r>
            <a:r>
              <a:rPr sz="1800" i="0">
                <a:solidFill>
                  <a:srgbClr val="E8EDF2"/>
                </a:solidFill>
                <a:latin typeface="Consolas"/>
              </a:rPr>
              <a:t>net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MLPClassifier</a:t>
            </a:r>
            <a:r>
              <a:rPr sz="1800" i="0">
                <a:solidFill>
                  <a:srgbClr val="AEB6BF"/>
                </a:solidFill>
                <a:latin typeface="Consolas"/>
              </a:rPr>
              <a:t>(</a:t>
            </a:r>
            <a:r>
              <a:rPr sz="1800" i="0">
                <a:solidFill>
                  <a:srgbClr val="E8EDF2"/>
                </a:solidFill>
                <a:latin typeface="Consolas"/>
              </a:rPr>
              <a:t>hidden_layer_sizes</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64</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alpha</a:t>
            </a:r>
            <a:r>
              <a:rPr sz="1800" i="0">
                <a:solidFill>
                  <a:srgbClr val="AEB6BF"/>
                </a:solidFill>
                <a:latin typeface="Consolas"/>
              </a:rPr>
              <a:t>=</a:t>
            </a:r>
            <a:r>
              <a:rPr sz="1800" i="0">
                <a:solidFill>
                  <a:srgbClr val="E8EDF2"/>
                </a:solidFill>
                <a:latin typeface="Consolas"/>
              </a:rPr>
              <a:t>alpha</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max_iter</a:t>
            </a:r>
            <a:r>
              <a:rPr sz="1800" i="0">
                <a:solidFill>
                  <a:srgbClr val="AEB6BF"/>
                </a:solidFill>
                <a:latin typeface="Consolas"/>
              </a:rPr>
              <a:t>=</a:t>
            </a:r>
            <a:r>
              <a:rPr sz="1800" i="0">
                <a:solidFill>
                  <a:srgbClr val="F7DC6F"/>
                </a:solidFill>
                <a:latin typeface="Consolas"/>
              </a:rPr>
              <a:t>1000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network, weight decay </a:t>
            </a:r>
            <a:r>
              <a:rPr sz="1800" i="0">
                <a:solidFill>
                  <a:srgbClr val="7DCEA0"/>
                </a:solidFill>
                <a:latin typeface="Consolas"/>
              </a:rPr>
              <a:t>{</a:t>
            </a:r>
            <a:r>
              <a:rPr sz="1800" i="0">
                <a:solidFill>
                  <a:srgbClr val="E8EDF2"/>
                </a:solidFill>
                <a:latin typeface="Consolas"/>
              </a:rPr>
              <a:t>alpha</a:t>
            </a:r>
            <a:r>
              <a:rPr sz="1800" i="0">
                <a:solidFill>
                  <a:srgbClr val="7DCEA0"/>
                </a:solidFill>
                <a:latin typeface="Consolas"/>
              </a:rPr>
              <a:t>:</a:t>
            </a:r>
            <a:r>
              <a:rPr sz="1800" i="0">
                <a:solidFill>
                  <a:srgbClr val="7DCEA0"/>
                </a:solidFill>
                <a:latin typeface="Consolas"/>
              </a:rPr>
              <a:t>g</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r>
              <a:rPr sz="1800" i="0">
                <a:solidFill>
                  <a:srgbClr val="E8EDF2"/>
                </a:solidFill>
                <a:latin typeface="Consolas"/>
              </a:rPr>
              <a:t>net</a:t>
            </a:r>
            <a:r>
              <a:rPr sz="1800" i="0">
                <a:solidFill>
                  <a:srgbClr val="AEB6BF"/>
                </a:solidFill>
                <a:latin typeface="Consolas"/>
              </a:rPr>
              <a:t>.</a:t>
            </a:r>
            <a:r>
              <a:rPr sz="1800" i="0">
                <a:solidFill>
                  <a:srgbClr val="E8EDF2"/>
                </a:solidFill>
                <a:latin typeface="Consolas"/>
              </a:rPr>
              <a:t>n_iter_</a:t>
            </a:r>
            <a:r>
              <a:rPr sz="1800" i="0">
                <a:solidFill>
                  <a:srgbClr val="7DCEA0"/>
                </a:solidFill>
                <a:latin typeface="Consolas"/>
              </a:rPr>
              <a:t>}</a:t>
            </a:r>
            <a:r>
              <a:rPr sz="1800" i="0">
                <a:solidFill>
                  <a:srgbClr val="7DCEA0"/>
                </a:solidFill>
                <a:latin typeface="Consolas"/>
              </a:rPr>
              <a:t> epochs,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test accuracy </a:t>
            </a:r>
            <a:r>
              <a:rPr sz="1800" i="0">
                <a:solidFill>
                  <a:srgbClr val="7DCEA0"/>
                </a:solidFill>
                <a:latin typeface="Consolas"/>
              </a:rPr>
              <a:t>{</a:t>
            </a:r>
            <a:r>
              <a:rPr sz="1800" i="0">
                <a:solidFill>
                  <a:srgbClr val="E8EDF2"/>
                </a:solidFill>
                <a:latin typeface="Consolas"/>
              </a:rPr>
              <a:t>net</a:t>
            </a:r>
            <a:r>
              <a:rPr sz="1800" i="0">
                <a:solidFill>
                  <a:srgbClr val="AEB6BF"/>
                </a:solidFill>
                <a:latin typeface="Consolas"/>
              </a:rPr>
              <a:t>.</a:t>
            </a:r>
            <a:r>
              <a:rPr sz="1800" i="0">
                <a:solidFill>
                  <a:srgbClr val="E8EDF2"/>
                </a:solidFill>
                <a:latin typeface="Consolas"/>
              </a:rPr>
              <a:t>score</a:t>
            </a:r>
            <a:r>
              <a:rPr sz="1800" i="0">
                <a:solidFill>
                  <a:srgbClr val="AEB6BF"/>
                </a:solidFill>
                <a:latin typeface="Consolas"/>
              </a:rPr>
              <a:t>(</a:t>
            </a:r>
            <a:r>
              <a:rPr sz="1800" i="0">
                <a:solidFill>
                  <a:srgbClr val="E8EDF2"/>
                </a:solidFill>
                <a:latin typeface="Consolas"/>
              </a:rPr>
              <a:t>X_te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367588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31</a:t>
            </a:r>
          </a:p>
          <a:p>
            <a:pPr algn="r">
              <a:lnSpc>
                <a:spcPct val="100000"/>
              </a:lnSpc>
            </a:pPr>
            <a:r>
              <a:rPr sz="1800">
                <a:solidFill>
                  <a:srgbClr val="4F5D6A"/>
                </a:solidFill>
                <a:latin typeface="Consolas"/>
              </a:rPr>
              <a:t>32</a:t>
            </a:r>
          </a:p>
          <a:p>
            <a:pPr algn="r">
              <a:lnSpc>
                <a:spcPct val="100000"/>
              </a:lnSpc>
            </a:pPr>
            <a:r>
              <a:rPr sz="1800">
                <a:solidFill>
                  <a:srgbClr val="4F5D6A"/>
                </a:solidFill>
                <a:latin typeface="Consolas"/>
              </a:rPr>
              <a:t>33</a:t>
            </a:r>
          </a:p>
          <a:p>
            <a:pPr algn="r">
              <a:lnSpc>
                <a:spcPct val="100000"/>
              </a:lnSpc>
            </a:pPr>
            <a:r>
              <a:rPr sz="1800">
                <a:solidFill>
                  <a:srgbClr val="4F5D6A"/>
                </a:solidFill>
                <a:latin typeface="Consolas"/>
              </a:rPr>
              <a:t>34</a:t>
            </a:r>
          </a:p>
          <a:p>
            <a:pPr algn="r">
              <a:lnSpc>
                <a:spcPct val="100000"/>
              </a:lnSpc>
            </a:pPr>
            <a:r>
              <a:rPr sz="1800">
                <a:solidFill>
                  <a:srgbClr val="4F5D6A"/>
                </a:solidFill>
                <a:latin typeface="Consolas"/>
              </a:rPr>
              <a:t>35</a:t>
            </a:r>
          </a:p>
          <a:p>
            <a:pPr algn="r">
              <a:lnSpc>
                <a:spcPct val="100000"/>
              </a:lnSpc>
            </a:pPr>
            <a:r>
              <a:rPr sz="1800">
                <a:solidFill>
                  <a:srgbClr val="4F5D6A"/>
                </a:solidFill>
                <a:latin typeface="Consolas"/>
              </a:rPr>
              <a:t>36</a:t>
            </a:r>
          </a:p>
          <a:p>
            <a:pPr algn="r">
              <a:lnSpc>
                <a:spcPct val="100000"/>
              </a:lnSpc>
            </a:pPr>
            <a:r>
              <a:rPr sz="1800">
                <a:solidFill>
                  <a:srgbClr val="4F5D6A"/>
                </a:solidFill>
                <a:latin typeface="Consolas"/>
              </a:rPr>
              <a:t>37</a:t>
            </a:r>
          </a:p>
          <a:p>
            <a:pPr algn="r">
              <a:lnSpc>
                <a:spcPct val="100000"/>
              </a:lnSpc>
            </a:pPr>
            <a:r>
              <a:rPr sz="1800">
                <a:solidFill>
                  <a:srgbClr val="4F5D6A"/>
                </a:solidFill>
                <a:latin typeface="Consolas"/>
              </a:rPr>
              <a:t>38</a:t>
            </a:r>
          </a:p>
          <a:p>
            <a:pPr algn="r">
              <a:lnSpc>
                <a:spcPct val="100000"/>
              </a:lnSpc>
            </a:pPr>
            <a:r>
              <a:rPr sz="1800">
                <a:solidFill>
                  <a:srgbClr val="4F5D6A"/>
                </a:solidFill>
                <a:latin typeface="Consolas"/>
              </a:rPr>
              <a:t>39</a:t>
            </a:r>
          </a:p>
          <a:p>
            <a:pPr algn="r">
              <a:lnSpc>
                <a:spcPct val="100000"/>
              </a:lnSpc>
            </a:pPr>
            <a:r>
              <a:rPr sz="1800">
                <a:solidFill>
                  <a:srgbClr val="4F5D6A"/>
                </a:solidFill>
                <a:latin typeface="Consolas"/>
              </a:rPr>
              <a:t>40</a:t>
            </a:r>
          </a:p>
          <a:p>
            <a:pPr algn="r">
              <a:lnSpc>
                <a:spcPct val="100000"/>
              </a:lnSpc>
            </a:pPr>
            <a:r>
              <a:rPr sz="1800">
                <a:solidFill>
                  <a:srgbClr val="4F5D6A"/>
                </a:solidFill>
                <a:latin typeface="Consolas"/>
              </a:rPr>
              <a:t>41</a:t>
            </a:r>
          </a:p>
          <a:p>
            <a:pPr algn="r">
              <a:lnSpc>
                <a:spcPct val="100000"/>
              </a:lnSpc>
            </a:pPr>
            <a:r>
              <a:rPr sz="1800">
                <a:solidFill>
                  <a:srgbClr val="4F5D6A"/>
                </a:solidFill>
                <a:latin typeface="Consolas"/>
              </a:rPr>
              <a:t>42</a:t>
            </a:r>
          </a:p>
          <a:p>
            <a:pPr algn="r">
              <a:lnSpc>
                <a:spcPct val="100000"/>
              </a:lnSpc>
            </a:pPr>
            <a:r>
              <a:rPr sz="1800">
                <a:solidFill>
                  <a:srgbClr val="4F5D6A"/>
                </a:solidFill>
                <a:latin typeface="Consolas"/>
              </a:rPr>
              <a:t>43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8977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§13.7  ·  Handout p. 102     </a:t>
            </a:r>
            <a:fld id="{9DF985F2-64D4-4302-A225-43652B7516E1}" type="slidenum">
              <a:rPr lang="en-GB" sz="1000">
                <a:solidFill>
                  <a:srgbClr val="8795A1"/>
                </a:solidFill>
                <a:latin typeface="Segoe UI"/>
              </a:rPr>
              <a:t>36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network learns XOR, and on the digits it beats logistic regression by less than a point — more with stronger weight decay. Now add </a:t>
            </a:r>
            <a:r>
              <a:rPr sz="2150" b="0" i="0">
                <a:solidFill>
                  <a:srgbClr val="1F4E79"/>
                </a:solidFill>
                <a:latin typeface="Consolas"/>
              </a:rPr>
              <a:t>early_stopping=True</a:t>
            </a:r>
            <a:r>
              <a:rPr sz="2300" b="0" i="0">
                <a:solidFill>
                  <a:srgbClr val="1C252B"/>
                </a:solidFill>
                <a:latin typeface="Segoe UI"/>
              </a:rPr>
              <a:t> to the network and explain why accuracy </a:t>
            </a:r>
            <a:r>
              <a:rPr sz="2300" b="0" i="1">
                <a:solidFill>
                  <a:srgbClr val="1C252B"/>
                </a:solidFill>
                <a:latin typeface="Segoe UI"/>
              </a:rPr>
              <a:t>falls</a:t>
            </a:r>
            <a:r>
              <a:rPr sz="2300" b="0" i="0">
                <a:solidFill>
                  <a:srgbClr val="1C252B"/>
                </a:solidFill>
                <a:latin typeface="Segoe UI"/>
              </a:rPr>
              <a:t> on this small dataset.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14377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perceptron has </a:t>
            </a:r>
            <a:r>
              <a:rPr sz="3400" b="0" i="1">
                <a:solidFill>
                  <a:srgbClr val="FFFFFF"/>
                </a:solidFill>
                <a:latin typeface="Cambria"/>
              </a:rPr>
              <a:t>w</a:t>
            </a:r>
            <a:r>
              <a:rPr sz="3400" b="0" i="0" baseline="-25000">
                <a:solidFill>
                  <a:srgbClr val="FFFFFF"/>
                </a:solidFill>
                <a:latin typeface="Cambria"/>
              </a:rPr>
              <a:t>0</a:t>
            </a:r>
            <a:r>
              <a:rPr sz="3400" b="0" i="0">
                <a:solidFill>
                  <a:srgbClr val="FFFFFF"/>
                </a:solidFill>
                <a:latin typeface="Cambria"/>
              </a:rPr>
              <a:t> = −1</a:t>
            </a:r>
            <a:r>
              <a:rPr sz="3400" b="0" i="0">
                <a:solidFill>
                  <a:srgbClr val="FFFFFF"/>
                </a:solidFill>
                <a:latin typeface="Segoe UI Semibold"/>
              </a:rPr>
              <a:t>, </a:t>
            </a:r>
            <a:r>
              <a:rPr sz="3400" b="0" i="1">
                <a:solidFill>
                  <a:srgbClr val="FFFFFF"/>
                </a:solidFill>
                <a:latin typeface="Cambria"/>
              </a:rPr>
              <a:t>w</a:t>
            </a:r>
            <a:r>
              <a:rPr sz="3400" b="0" i="0" baseline="-25000">
                <a:solidFill>
                  <a:srgbClr val="FFFFFF"/>
                </a:solidFill>
                <a:latin typeface="Cambria"/>
              </a:rPr>
              <a:t>1</a:t>
            </a:r>
            <a:r>
              <a:rPr sz="3400" b="0" i="0">
                <a:solidFill>
                  <a:srgbClr val="FFFFFF"/>
                </a:solidFill>
                <a:latin typeface="Cambria"/>
              </a:rPr>
              <a:t> = 2</a:t>
            </a:r>
            <a:r>
              <a:rPr sz="3400" b="0" i="0">
                <a:solidFill>
                  <a:srgbClr val="FFFFFF"/>
                </a:solidFill>
                <a:latin typeface="Segoe UI Semibold"/>
              </a:rPr>
              <a:t>, </a:t>
            </a:r>
            <a:r>
              <a:rPr sz="3400" b="0" i="1">
                <a:solidFill>
                  <a:srgbClr val="FFFFFF"/>
                </a:solidFill>
                <a:latin typeface="Cambria"/>
              </a:rPr>
              <a:t>w</a:t>
            </a:r>
            <a:r>
              <a:rPr sz="3400" b="0" i="0" baseline="-25000">
                <a:solidFill>
                  <a:srgbClr val="FFFFFF"/>
                </a:solidFill>
                <a:latin typeface="Cambria"/>
              </a:rPr>
              <a:t>2</a:t>
            </a:r>
            <a:r>
              <a:rPr sz="3400" b="0" i="0">
                <a:solidFill>
                  <a:srgbClr val="FFFFFF"/>
                </a:solidFill>
                <a:latin typeface="Cambria"/>
              </a:rPr>
              <a:t> = 1</a:t>
            </a:r>
            <a:r>
              <a:rPr sz="3400" b="0" i="0">
                <a:solidFill>
                  <a:srgbClr val="FFFFFF"/>
                </a:solidFill>
                <a:latin typeface="Segoe UI Semibold"/>
              </a:rPr>
              <a:t>. What does it output for </a:t>
            </a:r>
            <a:r>
              <a:rPr sz="3400" b="0" i="0">
                <a:solidFill>
                  <a:srgbClr val="FFFFFF"/>
                </a:solidFill>
                <a:latin typeface="Cambria"/>
              </a:rPr>
              <a:t>(0, 1)</a:t>
            </a:r>
            <a:r>
              <a:rPr sz="3400" b="0" i="0">
                <a:solidFill>
                  <a:srgbClr val="FFFFFF"/>
                </a:solidFill>
                <a:latin typeface="Segoe UI Semibold"/>
              </a:rPr>
              <a:t> and </a:t>
            </a:r>
            <a:r>
              <a:rPr sz="3400" b="0" i="0">
                <a:solidFill>
                  <a:srgbClr val="FFFFFF"/>
                </a:solidFill>
                <a:latin typeface="Cambria"/>
              </a:rPr>
              <a:t>(1, 0)</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13  ·  Artificial Neural Networks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105  ·  answers in Appendix D     </a:t>
            </a:r>
            <a:fld id="{B7897762-9594-4CC5-9462-69ADCFC9A2B8}"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perceptron has </a:t>
            </a:r>
            <a:r>
              <a:rPr sz="2400" b="0" i="1">
                <a:solidFill>
                  <a:srgbClr val="1A5276"/>
                </a:solidFill>
                <a:latin typeface="Cambria"/>
              </a:rPr>
              <a:t>w</a:t>
            </a:r>
            <a:r>
              <a:rPr sz="2400" b="0" i="0" baseline="-25000">
                <a:solidFill>
                  <a:srgbClr val="1A5276"/>
                </a:solidFill>
                <a:latin typeface="Cambria"/>
              </a:rPr>
              <a:t>0</a:t>
            </a:r>
            <a:r>
              <a:rPr sz="2400" b="0" i="0">
                <a:solidFill>
                  <a:srgbClr val="1A5276"/>
                </a:solidFill>
                <a:latin typeface="Cambria"/>
              </a:rPr>
              <a:t> = −1</a:t>
            </a:r>
            <a:r>
              <a:rPr sz="2400" b="0" i="0">
                <a:solidFill>
                  <a:srgbClr val="1A5276"/>
                </a:solidFill>
                <a:latin typeface="Segoe UI Semibold"/>
              </a:rPr>
              <a:t>, </a:t>
            </a:r>
            <a:r>
              <a:rPr sz="2400" b="0" i="1">
                <a:solidFill>
                  <a:srgbClr val="1A5276"/>
                </a:solidFill>
                <a:latin typeface="Cambria"/>
              </a:rPr>
              <a:t>w</a:t>
            </a:r>
            <a:r>
              <a:rPr sz="2400" b="0" i="0" baseline="-25000">
                <a:solidFill>
                  <a:srgbClr val="1A5276"/>
                </a:solidFill>
                <a:latin typeface="Cambria"/>
              </a:rPr>
              <a:t>1</a:t>
            </a:r>
            <a:r>
              <a:rPr sz="2400" b="0" i="0">
                <a:solidFill>
                  <a:srgbClr val="1A5276"/>
                </a:solidFill>
                <a:latin typeface="Cambria"/>
              </a:rPr>
              <a:t> = 2</a:t>
            </a:r>
            <a:r>
              <a:rPr sz="2400" b="0" i="0">
                <a:solidFill>
                  <a:srgbClr val="1A5276"/>
                </a:solidFill>
                <a:latin typeface="Segoe UI Semibold"/>
              </a:rPr>
              <a:t>, </a:t>
            </a:r>
            <a:r>
              <a:rPr sz="2400" b="0" i="1">
                <a:solidFill>
                  <a:srgbClr val="1A5276"/>
                </a:solidFill>
                <a:latin typeface="Cambria"/>
              </a:rPr>
              <a:t>w</a:t>
            </a:r>
            <a:r>
              <a:rPr sz="2400" b="0" i="0" baseline="-25000">
                <a:solidFill>
                  <a:srgbClr val="1A5276"/>
                </a:solidFill>
                <a:latin typeface="Cambria"/>
              </a:rPr>
              <a:t>2</a:t>
            </a:r>
            <a:r>
              <a:rPr sz="2400" b="0" i="0">
                <a:solidFill>
                  <a:srgbClr val="1A5276"/>
                </a:solidFill>
                <a:latin typeface="Cambria"/>
              </a:rPr>
              <a:t> = 1</a:t>
            </a:r>
            <a:r>
              <a:rPr sz="2400" b="0" i="0">
                <a:solidFill>
                  <a:srgbClr val="1A5276"/>
                </a:solidFill>
                <a:latin typeface="Segoe UI Semibold"/>
              </a:rPr>
              <a:t>. What does it output for </a:t>
            </a:r>
            <a:r>
              <a:rPr sz="2400" b="0" i="0">
                <a:solidFill>
                  <a:srgbClr val="1A5276"/>
                </a:solidFill>
                <a:latin typeface="Cambria"/>
              </a:rPr>
              <a:t>(0, 1)</a:t>
            </a:r>
            <a:r>
              <a:rPr sz="2400" b="0" i="0">
                <a:solidFill>
                  <a:srgbClr val="1A5276"/>
                </a:solidFill>
                <a:latin typeface="Segoe UI Semibold"/>
              </a:rPr>
              <a:t> and </a:t>
            </a:r>
            <a:r>
              <a:rPr sz="2400" b="0" i="0">
                <a:solidFill>
                  <a:srgbClr val="1A5276"/>
                </a:solidFill>
                <a:latin typeface="Cambria"/>
              </a:rPr>
              <a:t>(1, 0)</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(0, 1)</a:t>
            </a:r>
            <a:r>
              <a:rPr sz="2200" b="0" i="0">
                <a:solidFill>
                  <a:srgbClr val="1C252B"/>
                </a:solidFill>
                <a:latin typeface="Segoe UI"/>
              </a:rPr>
              <a:t>: </a:t>
            </a:r>
            <a:r>
              <a:rPr sz="2200" b="0" i="0">
                <a:solidFill>
                  <a:srgbClr val="1C252B"/>
                </a:solidFill>
                <a:latin typeface="Cambria"/>
              </a:rPr>
              <a:t>−1 + 0 + 1 = 0</a:t>
            </a:r>
            <a:r>
              <a:rPr sz="2200" b="0" i="0">
                <a:solidFill>
                  <a:srgbClr val="1C252B"/>
                </a:solidFill>
                <a:latin typeface="Segoe UI"/>
              </a:rPr>
              <a:t>, not greater than 0, so output 0. </a:t>
            </a:r>
            <a:r>
              <a:rPr sz="2200" b="0" i="0">
                <a:solidFill>
                  <a:srgbClr val="1C252B"/>
                </a:solidFill>
                <a:latin typeface="Cambria"/>
              </a:rPr>
              <a:t>(1, 0)</a:t>
            </a:r>
            <a:r>
              <a:rPr sz="2200" b="0" i="0">
                <a:solidFill>
                  <a:srgbClr val="1C252B"/>
                </a:solidFill>
                <a:latin typeface="Segoe UI"/>
              </a:rPr>
              <a:t>: </a:t>
            </a:r>
            <a:r>
              <a:rPr sz="2200" b="0" i="0">
                <a:solidFill>
                  <a:srgbClr val="1C252B"/>
                </a:solidFill>
                <a:latin typeface="Cambria"/>
              </a:rPr>
              <a:t>−1 + 2 + 0 = 1 &gt; 0</a:t>
            </a:r>
            <a:r>
              <a:rPr sz="2200" b="0" i="0">
                <a:solidFill>
                  <a:srgbClr val="1C252B"/>
                </a:solidFill>
                <a:latin typeface="Segoe UI"/>
              </a:rPr>
              <a:t>, so output 1.</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105  ·  answers in Appendix D     </a:t>
            </a:r>
            <a:fld id="{40AC2607-FE42-45E7-80D8-A6C16D28A196}"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65175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can a single perceptron not learn XOR, and how does one hidden layer fix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13  ·  Artificial Neural Networks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105  ·  answers in Appendix D     </a:t>
            </a:r>
            <a:fld id="{0D47AAB5-5C7A-4B22-841B-9E85480FBC49}"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can a single perceptron not learn XOR, and how does one hidden layer fix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XOR’s positive and negative points lie on opposite diagonals; no single line separates them. A hidden layer with one unit for OR and one for NAND, combined by an AND output unit, represents it.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105  ·  answers in Appendix D     </a:t>
            </a:r>
            <a:fld id="{B3A86088-4007-483A-90DA-AFB32BACE788}"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5974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In backpropagation, why does the hidden unit’s delta contain the output unit’s delta?</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13  ·  Artificial Neural Networks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105  ·  answers in Appendix D     </a:t>
            </a:r>
            <a:fld id="{4663A168-E9FE-4DA7-A5E6-7E5CD98F3C37}"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In backpropagation, why does the hidden unit’s delta contain the output unit’s delta?</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387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6" name="!!ans-0" descr="A hidden unit affects the error only through the output units it feeds, so by the chain rule its share of the blame is the output deltas weighted by its connections to them: δh = oh(1 − oh)Σk wkhδk."/>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7552" y="1762963"/>
            <a:ext cx="10509199" cy="1043879"/>
          </a:xfrm>
          <a:prstGeom prst="rect">
            <a:avLst/>
          </a:prstGeom>
        </p:spPr>
      </p:pic>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105  ·  answers in Appendix D     </a:t>
            </a:r>
            <a:fld id="{1B96B98C-F9F6-49C8-A866-D03FB5FA78BA}"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6773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105     </a:t>
            </a:r>
            <a:fld id="{C20E45AD-5488-49CC-B29B-6535F3AC0D6D}" type="slidenum">
              <a:rPr lang="en-GB" sz="1000">
                <a:solidFill>
                  <a:srgbClr val="8795A1"/>
                </a:solidFill>
                <a:latin typeface="Segoe UI"/>
              </a:rPr>
              <a:t>43</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perceptron thresholds a weighted sum; the perceptron rule finds a separating hyperplane whenever one exists.</a:t>
            </a:r>
          </a:p>
        </p:txBody>
      </p:sp>
      <p:sp>
        <p:nvSpPr>
          <p:cNvPr id="10" name="!!sb1">
            <a:extLst>
              <a:ext uri="{C183D7F6-B498-43B3-948B-1728B52AA6E4}">
                <adec:decorative xmlns:adec="http://schemas.microsoft.com/office/drawing/2017/decorative" val="1"/>
              </a:ext>
            </a:extLst>
          </p:cNvPr>
          <p:cNvSpPr/>
          <p:nvPr/>
        </p:nvSpPr>
        <p:spPr>
          <a:xfrm>
            <a:off x="658368" y="253166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8653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2252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single unit cannot represent XOR or any function that is not linearly separable; hidden layers can.</a:t>
            </a:r>
          </a:p>
        </p:txBody>
      </p:sp>
      <p:sp>
        <p:nvSpPr>
          <p:cNvPr id="13" name="!!sb2">
            <a:extLst>
              <a:ext uri="{C183D7F6-B498-43B3-948B-1728B52AA6E4}">
                <adec:decorative xmlns:adec="http://schemas.microsoft.com/office/drawing/2017/decorative" val="1"/>
              </a:ext>
            </a:extLst>
          </p:cNvPr>
          <p:cNvSpPr/>
          <p:nvPr/>
        </p:nvSpPr>
        <p:spPr>
          <a:xfrm>
            <a:off x="658368" y="331683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7169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0768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delta rule is gradient descent on squared error and converges even on non-separable data; sigmoid units make it differentiable.</a:t>
            </a:r>
          </a:p>
        </p:txBody>
      </p:sp>
      <p:sp>
        <p:nvSpPr>
          <p:cNvPr id="16" name="!!sb3">
            <a:extLst>
              <a:ext uri="{C183D7F6-B498-43B3-948B-1728B52AA6E4}">
                <adec:decorative xmlns:adec="http://schemas.microsoft.com/office/drawing/2017/decorative" val="1"/>
              </a:ext>
            </a:extLst>
          </p:cNvPr>
          <p:cNvSpPr/>
          <p:nvPr/>
        </p:nvSpPr>
        <p:spPr>
          <a:xfrm>
            <a:off x="658368" y="410199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15686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9285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Backpropagation computes output deltas, passes them backwards through the weights to the hidden units, and updates every weight by </a:t>
            </a:r>
            <a:r>
              <a:rPr sz="1900" b="0" i="0">
                <a:solidFill>
                  <a:srgbClr val="1C252B"/>
                </a:solidFill>
                <a:latin typeface="Cambria"/>
              </a:rPr>
              <a:t>η δ </a:t>
            </a:r>
            <a:r>
              <a:rPr sz="1900" b="0" i="1">
                <a:solidFill>
                  <a:srgbClr val="1C252B"/>
                </a:solidFill>
                <a:latin typeface="Cambria"/>
              </a:rPr>
              <a:t>x</a:t>
            </a:r>
            <a:r>
              <a:rPr sz="1900" b="0" i="0">
                <a:solidFill>
                  <a:srgbClr val="1C252B"/>
                </a:solidFill>
                <a:latin typeface="Segoe UI"/>
              </a:rPr>
              <a:t> — the chain rule applied layer by layer.</a:t>
            </a:r>
          </a:p>
        </p:txBody>
      </p:sp>
      <p:sp>
        <p:nvSpPr>
          <p:cNvPr id="19" name="!!sb4">
            <a:extLst>
              <a:ext uri="{C183D7F6-B498-43B3-948B-1728B52AA6E4}">
                <adec:decorative xmlns:adec="http://schemas.microsoft.com/office/drawing/2017/decorative" val="1"/>
              </a:ext>
            </a:extLst>
          </p:cNvPr>
          <p:cNvSpPr/>
          <p:nvPr/>
        </p:nvSpPr>
        <p:spPr>
          <a:xfrm>
            <a:off x="658368" y="488716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4202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78019"/>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Modern networks use ReLU hidden units and task-matched outputs (sigmoid, softmax, linear).</a:t>
            </a:r>
          </a:p>
        </p:txBody>
      </p:sp>
      <p:sp>
        <p:nvSpPr>
          <p:cNvPr id="22" name="!!sb5">
            <a:extLst>
              <a:ext uri="{C183D7F6-B498-43B3-948B-1728B52AA6E4}">
                <adec:decorative xmlns:adec="http://schemas.microsoft.com/office/drawing/2017/decorative" val="1"/>
              </a:ext>
            </a:extLst>
          </p:cNvPr>
          <p:cNvSpPr/>
          <p:nvPr/>
        </p:nvSpPr>
        <p:spPr>
          <a:xfrm>
            <a:off x="658368" y="547237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52724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463235"/>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Control overfitting with early stopping, weight decay, dropout, smaller networks and more data.</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92172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105     </a:t>
            </a:r>
            <a:fld id="{9C968B3B-1678-4354-B961-CB192B307C32}" type="slidenum">
              <a:rPr lang="en-GB" sz="1000">
                <a:solidFill>
                  <a:srgbClr val="8795A1"/>
                </a:solidFill>
                <a:latin typeface="Segoe UI"/>
              </a:rPr>
              <a:t>44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function can a single perceptron </a:t>
            </a:r>
            <a:r>
              <a:rPr sz="2600" b="0" i="1">
                <a:solidFill>
                  <a:srgbClr val="1C252B"/>
                </a:solidFill>
                <a:latin typeface="Segoe UI"/>
              </a:rPr>
              <a:t>not</a:t>
            </a:r>
            <a:r>
              <a:rPr sz="2600" b="0" i="0">
                <a:solidFill>
                  <a:srgbClr val="1C252B"/>
                </a:solidFill>
                <a:latin typeface="Segoe UI"/>
              </a:rPr>
              <a:t> represent?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AND</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OR</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NAND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XOR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17572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105     </a:t>
            </a:r>
            <a:fld id="{D0862184-A880-4912-AFEF-CB5DDDD6CA27}" type="slidenum">
              <a:rPr lang="en-GB" sz="1000">
                <a:solidFill>
                  <a:srgbClr val="8795A1"/>
                </a:solidFill>
                <a:latin typeface="Segoe UI"/>
              </a:rPr>
              <a:t>45</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derivative of the sigmoid output </a:t>
            </a:r>
            <a:r>
              <a:rPr sz="2600" b="0" i="1">
                <a:solidFill>
                  <a:srgbClr val="1C252B"/>
                </a:solidFill>
                <a:latin typeface="Cambria"/>
              </a:rPr>
              <a:t>o</a:t>
            </a:r>
            <a:r>
              <a:rPr sz="2600" b="0" i="0">
                <a:solidFill>
                  <a:srgbClr val="1C252B"/>
                </a:solidFill>
                <a:latin typeface="Segoe UI"/>
              </a:rPr>
              <a:t> with respect to its input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o</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1 − </a:t>
            </a:r>
            <a:r>
              <a:rPr sz="2000" b="0" i="1">
                <a:solidFill>
                  <a:srgbClr val="1C252B"/>
                </a:solidFill>
                <a:latin typeface="Cambria"/>
              </a:rPr>
              <a:t>o</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o</a:t>
            </a:r>
            <a:r>
              <a:rPr sz="2000" b="0" i="0">
                <a:solidFill>
                  <a:srgbClr val="1C252B"/>
                </a:solidFill>
                <a:latin typeface="Cambria"/>
              </a:rPr>
              <a:t>(1 − </a:t>
            </a:r>
            <a:r>
              <a:rPr sz="2000" b="0" i="1">
                <a:solidFill>
                  <a:srgbClr val="1C252B"/>
                </a:solidFill>
                <a:latin typeface="Cambria"/>
              </a:rPr>
              <a:t>o</a:t>
            </a:r>
            <a:r>
              <a:rPr sz="2000" b="0" i="0">
                <a:solidFill>
                  <a:srgbClr val="1C252B"/>
                </a:solidFill>
                <a:latin typeface="Cambria"/>
              </a:rPr>
              <a: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e</a:t>
            </a:r>
            <a:r>
              <a:rPr sz="2000" b="0" i="0" baseline="30000">
                <a:solidFill>
                  <a:srgbClr val="1C252B"/>
                </a:solidFill>
                <a:latin typeface="Cambria"/>
              </a:rPr>
              <a:t>−</a:t>
            </a:r>
            <a:r>
              <a:rPr sz="2000" b="0" i="1" baseline="30000">
                <a:solidFill>
                  <a:srgbClr val="1C252B"/>
                </a:solidFill>
                <a:latin typeface="Cambria"/>
              </a:rPr>
              <a:t>o</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2971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105     </a:t>
            </a:r>
            <a:fld id="{27CDA87D-0392-48C3-9219-4E25FB1AA9A9}" type="slidenum">
              <a:rPr lang="en-GB" sz="1000">
                <a:solidFill>
                  <a:srgbClr val="8795A1"/>
                </a:solidFill>
                <a:latin typeface="Segoe UI"/>
              </a:rPr>
              <a:t>46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Early stopping chooses the weights from the epoch with the lowest: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training error</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validation error</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test error</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learning rate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8370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13  ·  Artificial Neural Networks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105     </a:t>
            </a:r>
            <a:fld id="{D73387BD-64CA-46EF-99E9-74D51A1F1904}" type="slidenum">
              <a:rPr lang="en-GB" sz="1000">
                <a:solidFill>
                  <a:srgbClr val="8795A1"/>
                </a:solidFill>
                <a:latin typeface="Segoe UI"/>
              </a:rPr>
              <a:t>47</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Contrast the perceptron training rule with the delta rule.</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must a network’s weights be initialised randomly?</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ReLU helps train deep networks.</a:t>
            </a:r>
          </a:p>
        </p:txBody>
      </p:sp>
      <p:sp>
        <p:nvSpPr>
          <p:cNvPr id="16" name="!!rt3">
            <a:extLst>
              <a:ext uri="{C183D7F6-B498-43B3-948B-1728B52AA6E4}">
                <adec:decorative xmlns:adec="http://schemas.microsoft.com/office/drawing/2017/decorative" val="1"/>
              </a:ext>
            </a:extLst>
          </p:cNvPr>
          <p:cNvSpPr/>
          <p:nvPr/>
        </p:nvSpPr>
        <p:spPr>
          <a:xfrm>
            <a:off x="658368" y="331744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35859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299155"/>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weights for a two-layer network of threshold units that computes XOR, and verify it on all four inputs.</a:t>
            </a:r>
          </a:p>
        </p:txBody>
      </p:sp>
      <p:sp>
        <p:nvSpPr>
          <p:cNvPr id="19" name="!!rt4">
            <a:extLst>
              <a:ext uri="{C183D7F6-B498-43B3-948B-1728B52AA6E4}">
                <adec:decorative xmlns:adec="http://schemas.microsoft.com/office/drawing/2017/decorative" val="1"/>
              </a:ext>
            </a:extLst>
          </p:cNvPr>
          <p:cNvSpPr/>
          <p:nvPr/>
        </p:nvSpPr>
        <p:spPr>
          <a:xfrm>
            <a:off x="658368" y="413918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18033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120895"/>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Repeat the backpropagation worked example for the input </a:t>
            </a:r>
            <a:r>
              <a:rPr sz="1900" b="0" i="0">
                <a:solidFill>
                  <a:srgbClr val="1C252B"/>
                </a:solidFill>
                <a:latin typeface="Cambria"/>
              </a:rPr>
              <a:t>(0, 1)</a:t>
            </a:r>
            <a:r>
              <a:rPr sz="1900" b="0" i="0">
                <a:solidFill>
                  <a:srgbClr val="1C252B"/>
                </a:solidFill>
                <a:latin typeface="Segoe UI"/>
              </a:rPr>
              <a:t> with target </a:t>
            </a:r>
            <a:r>
              <a:rPr sz="1900" b="0" i="1">
                <a:solidFill>
                  <a:srgbClr val="1C252B"/>
                </a:solidFill>
                <a:latin typeface="Cambria"/>
              </a:rPr>
              <a:t>t</a:t>
            </a:r>
            <a:r>
              <a:rPr sz="1900" b="0" i="0">
                <a:solidFill>
                  <a:srgbClr val="1C252B"/>
                </a:solidFill>
                <a:latin typeface="Cambria"/>
              </a:rPr>
              <a:t> = 0</a:t>
            </a:r>
            <a:r>
              <a:rPr sz="1900" b="0" i="0">
                <a:solidFill>
                  <a:srgbClr val="1C252B"/>
                </a:solidFill>
                <a:latin typeface="Segoe UI"/>
              </a:rPr>
              <a:t>, starting from the original weights. Report the output before and after the update.</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3770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13</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13</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14 — Ensemble Learning</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13, pages 98–105</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Backpropagation from scratch</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Project set; proposal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13  ·  Artificial Neural Networks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49727474-5606-4DDD-AB55-365F75588E3E}" type="slidenum">
              <a:rPr lang="en-GB" sz="1000">
                <a:solidFill>
                  <a:srgbClr val="D5DEE5"/>
                </a:solidFill>
                <a:latin typeface="Segoe UI"/>
              </a:rPr>
              <a:t>48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13: Artificial Neural Networks</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