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2.svg" ContentType="image/svg+xml"/>
  <Override PartName="/ppt/media/image24.svg" ContentType="image/svg+xml"/>
  <Override PartName="/ppt/media/image26.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3.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5.svg" ContentType="image/svg+xml"/>
  <Override PartName="/ppt/media/image47.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5.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2.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C9E0325-AED7-47CA-9814-C3D6AF0F9584}">
          <p14:sldIdLst>
            <p14:sldId id="256"/>
            <p14:sldId id="257"/>
            <p14:sldId id="258"/>
            <p14:sldId id="259"/>
            <p14:sldId id="260"/>
          </p14:sldIdLst>
        </p14:section>
        <p14:section name="1.1 Why Learn a Program Instead of Writing One?" id="{451D9958-6F78-4BD3-95F4-84385A04F15D}">
          <p14:sldIdLst>
            <p14:sldId id="261"/>
            <p14:sldId id="262"/>
            <p14:sldId id="263"/>
          </p14:sldIdLst>
        </p14:section>
        <p14:section name="1.2 A Precise Definition" id="{08F1CD61-2F8F-4D81-9BB3-B9B76D4EA673}">
          <p14:sldIdLst>
            <p14:sldId id="264"/>
            <p14:sldId id="265"/>
            <p14:sldId id="266"/>
            <p14:sldId id="267"/>
          </p14:sldIdLst>
        </p14:section>
        <p14:section name="1.3 The Four Paradigms" id="{A6DBDDA3-ECD8-4CCA-BF33-E1B0185DA670}">
          <p14:sldIdLst>
            <p14:sldId id="268"/>
            <p14:sldId id="269"/>
            <p14:sldId id="270"/>
            <p14:sldId id="271"/>
            <p14:sldId id="272"/>
          </p14:sldIdLst>
        </p14:section>
        <p14:section name="1.4 Designing a Learning System" id="{1707A4BD-6354-4B0E-B687-728C965D5EED}">
          <p14:sldIdLst>
            <p14:sldId id="273"/>
            <p14:sldId id="274"/>
          </p14:sldIdLst>
        </p14:section>
        <p14:section name="1.5 Learning as Search Through a Hypothesis Space" id="{B36BF243-9979-4F57-96FD-D17FFD337CEB}">
          <p14:sldIdLst>
            <p14:sldId id="275"/>
            <p14:sldId id="276"/>
            <p14:sldId id="277"/>
            <p14:sldId id="278"/>
          </p14:sldIdLst>
        </p14:section>
        <p14:section name="1.6 A Short History" id="{5794E1CF-D8A3-46AD-B858-5B2DF92190C5}">
          <p14:sldIdLst>
            <p14:sldId id="279"/>
          </p14:sldIdLst>
        </p14:section>
        <p14:section name="Pitfalls" id="{C67189D4-9F64-47F8-B049-FF97C0F2FD8E}">
          <p14:sldIdLst>
            <p14:sldId id="280"/>
          </p14:sldIdLst>
        </p14:section>
        <p14:section name="Lab" id="{28BB6FE4-F329-4989-8931-1BF63EF8DB3A}">
          <p14:sldIdLst>
            <p14:sldId id="281"/>
            <p14:sldId id="282"/>
            <p14:sldId id="283"/>
            <p14:sldId id="284"/>
            <p14:sldId id="285"/>
            <p14:sldId id="286"/>
          </p14:sldIdLst>
        </p14:section>
        <p14:section name="Checkpoint" id="{5B54D9AA-46A8-4D92-825C-D6A8E5C50D32}">
          <p14:sldIdLst>
            <p14:sldId id="287"/>
            <p14:sldId id="288"/>
            <p14:sldId id="289"/>
            <p14:sldId id="290"/>
            <p14:sldId id="291"/>
            <p14:sldId id="292"/>
          </p14:sldIdLst>
        </p14:section>
        <p14:section name="Wrap-up" id="{744B2838-4F96-4D44-91D4-BD953E80B4B8}">
          <p14:sldIdLst>
            <p14:sldId id="293"/>
            <p14:sldId id="294"/>
            <p14:sldId id="295"/>
            <p14:sldId id="296"/>
            <p14:sldId id="297"/>
            <p14:sldId id="298"/>
            <p14:sldId id="29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What Machine Learning Is. Part 1 — Foundations. Week 1: What machine learning is; its mathematics. Handout pages 3–10.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The course Artificial Intelligence, in which you met agents, search and reasoning under uncertainty. Nothing in this handout is assumed yet.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machine learning; task, performance measure, experience; training data; feature; label; model; supervised learning; classification; regression; unsupervised learning; semi-supervised learning; reinforcement learning; target function; hypothesis; hypothesis space; generalisation; inductive bias.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Suppose a project office asks you for a program that warns, at the start of a sprint, which tasks will finish late. You could sit down and write rules: if a task is 8 story points or more, and it waits on another team, and its requirements changed this week, flag it. The first version catches some late tasks. Then the teams change, the tools change, a new client arrives — and the rules stop working. You add more. After a year you have two hundred rules that contradict one another, nobody understands, and that still miss the task that slipped this morning. Now suppose instead that you collect five thousand completed tasks, each marked on time or late, and hand them to a program whose job is to find the rules. When the situation changes you do not rewrite anything: you collect new examples and let the program find new rules. That is the whole idea of machine learning, and Figure 1.1 shows it in one picture.</a:t>
            </a:r>
          </a:p>
          <a:p/>
          <a:p>
            <a:r>
              <a:t>Figure 1.1 (handout p. 4): Traditional programming against machine learning. The learned model is then used exactly like a program: new data in, answers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 used throughout this course is Tom Mitchell’s, from the set text. It is worth memorising because it forces you to say exactly what you mean before you start.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letters are not decoration. A project that cannot name its P cannot tell whether it is making progress; a project that cannot name its E does not know what data to collect. Most failed machine learning projects failed here, before any algorithm was chosen.</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varies most between learning problems is the experience — in particular, what the data tells you about the right answer. That gives four paradigms, sketched in Figure 1.2.</a:t>
            </a:r>
          </a:p>
          <a:p/>
          <a:p>
            <a:r>
              <a:t>Figure 1.2 (handout p. 5): The four paradigms, distinguished by what the experience tells the learner about the right answer: all of it, none of it, a little of it, or only whether what it did turned out well.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Mitchell’s set text frames the construction of any learner as four decisions, made in order. They are shown here for a problem this course returns to repeatedly: predicting, two weeks into a project, whether it will finish late.</a:t>
            </a:r>
          </a:p>
          <a:p/>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3 deserves a closer look. Once you fix a representation, you have fixed the set of all functions the learner could possibly produce.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1.3 (handout p. 7): Learning as search. The data narrows the hypothesis space to those hypotheses consistent with it; something other than the data must choose among the survivors.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1.4 (handout p. 7): Selected milestones. Most of what this course teaches was in place by 2001; what changed after 2012 was mainly scale — data, computation, and the depth of the networks.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ideas in this course are older than most students expect. Frank Rosenblatt’s perceptron learned from examples in 1958; Arthur Samuel’s checkers program, which improved by playing against itself, gave the field its name in 1959. Decision trees, backpropagation, reinforcement learning, support vector machines and ensembles were all in place by 2001. What changed after 2012 was mostly scale — data, computing power, and the depth of the neural networks that both made practical. That is why a course built on a 1997 set text is not out of date: the deep learning course that follows this one is built on exactly these foundations.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a rule by hand, then let an algorithm learn one, and compare them on tasks neither has seen. The lab makes its own data: 1,200 completed tasks from past sprints, each with its size in story points, the number of other tasks it waited on, its assignee’s years of experience and the number of requirement changes, and whether it finished late.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A rule written by a person: big tasks run late.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A rule found by a learning algorithm.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The baseline every result must beat.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No. The threshold was chosen by a person and the tool’s performance does not improve with experience: there is no E. It is automation, not learning.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regression; (b) clustering (unsupervised); (c) classification; (d) reinforcement learning.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for any unseen instance, every hypothesis consistent with the data that calls it positive has a twin, equally consistent, that calls it negative. The data says nothing about unseen instances; only an assumption — a bias — can.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 — Mathematics for Machine Learning. READ: Handout Chapter 1, pages 3–10. THIS WEEK'S LAB: A rule against a learned model; the chapter in NumPy.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9.xml"/><Relationship Id="rId7" Type="http://schemas.openxmlformats.org/officeDocument/2006/relationships/slide" Target="slide13.xml"/><Relationship Id="rId8" Type="http://schemas.openxmlformats.org/officeDocument/2006/relationships/slide" Target="slide18.xml"/><Relationship Id="rId9" Type="http://schemas.openxmlformats.org/officeDocument/2006/relationships/slide" Target="slide20.xml"/><Relationship Id="rId10" Type="http://schemas.openxmlformats.org/officeDocument/2006/relationships/slide" Target="slide24.xml"/><Relationship Id="rId11" Type="http://schemas.openxmlformats.org/officeDocument/2006/relationships/slide" Target="slide4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9.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png"/><Relationship Id="rId3" Type="http://schemas.openxmlformats.org/officeDocument/2006/relationships/image" Target="../media/image21.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22.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3.png"/><Relationship Id="rId3" Type="http://schemas.openxmlformats.org/officeDocument/2006/relationships/image" Target="../media/image24.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image" Target="../media/image26.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7.svg"/><Relationship Id="rId4" Type="http://schemas.openxmlformats.org/officeDocument/2006/relationships/image" Target="../media/image28.png"/><Relationship Id="rId5" Type="http://schemas.openxmlformats.org/officeDocument/2006/relationships/image" Target="../media/image29.sv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3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31.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4.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7.png"/><Relationship Id="rId3" Type="http://schemas.openxmlformats.org/officeDocument/2006/relationships/image" Target="../media/image3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1.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2.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3.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0.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1.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52.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3.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4.png"/><Relationship Id="rId3" Type="http://schemas.openxmlformats.org/officeDocument/2006/relationships/image" Target="../media/image55.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8.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9.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0.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1.png"/><Relationship Id="rId3" Type="http://schemas.openxmlformats.org/officeDocument/2006/relationships/image" Target="../media/image62.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16384"/>
                </a:solidFill>
                <a:latin typeface="Segoe UI Black"/>
              </a:rPr>
              <a:t>01</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What Machine Learning Is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PART I  ·  FOUNDATIONS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CFD9"/>
                </a:solidFill>
                <a:latin typeface="Segoe UI"/>
              </a:rPr>
              <a:t>CHAPTER 1  ·  WEEK 1</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DCE4"/>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3B5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B5BE"/>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C8CF"/>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B5BE"/>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890CA75E-DF2A-4B6F-B98F-E6A52D241165}" type="slidenum">
              <a:rPr lang="en-GB" sz="1000">
                <a:solidFill>
                  <a:srgbClr val="8795A1"/>
                </a:solidFill>
                <a:latin typeface="Segoe UI"/>
              </a:rPr>
              <a:t>2</a:t>
            </a:fld>
          </a:p>
        </p:txBody>
      </p:sp>
      <p:sp>
        <p:nvSpPr>
          <p:cNvPr id="7" name="!!rp1"/>
          <p:cNvSpPr txBox="1"/>
          <p:nvPr/>
        </p:nvSpPr>
        <p:spPr>
          <a:xfrm>
            <a:off x="932688" y="1755648"/>
            <a:ext cx="173869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A5276"/>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932688" y="2029967"/>
            <a:ext cx="1738690" cy="4572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3000562"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3000562"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912988"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912988"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26555" y="2112264"/>
            <a:ext cx="566928" cy="566928"/>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826555"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21" name="!!dot2">
            <a:extLst>
              <a:ext uri="{C183D7F6-B498-43B3-948B-1728B52AA6E4}">
                <adec:decorative xmlns:adec="http://schemas.microsoft.com/office/drawing/2017/decorative" val="1"/>
              </a:ext>
            </a:extLst>
          </p:cNvPr>
          <p:cNvSpPr/>
          <p:nvPr/>
        </p:nvSpPr>
        <p:spPr>
          <a:xfrm>
            <a:off x="1537833"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4463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947360"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85592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56886" y="2258568"/>
            <a:ext cx="274320" cy="274320"/>
          </a:xfrm>
          <a:prstGeom prst="ellipse">
            <a:avLst/>
          </a:prstGeom>
          <a:solidFill>
            <a:srgbClr val="FFFFFF"/>
          </a:solidFill>
          <a:ln w="15875">
            <a:solidFill>
              <a:srgbClr val="81A0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6544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A4967"/>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3040733"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94929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450259"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3588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59786"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6834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69312" y="2258568"/>
            <a:ext cx="274320" cy="274320"/>
          </a:xfrm>
          <a:prstGeom prst="ellipse">
            <a:avLst/>
          </a:prstGeom>
          <a:solidFill>
            <a:srgbClr val="FFFFFF"/>
          </a:solidFill>
          <a:ln w="15875">
            <a:solidFill>
              <a:srgbClr val="8CBCDD"/>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778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A73A3"/>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953159"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86171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6268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7124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72212"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8077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81738"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902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91265"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9982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658368"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A5276"/>
                </a:solidFill>
                <a:latin typeface="Segoe UI"/>
              </a:rPr>
              <a:t>What Machine Learning Is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dep-none-BUILD"/>
          <p:cNvSpPr txBox="1"/>
          <p:nvPr/>
        </p:nvSpPr>
        <p:spPr>
          <a:xfrm>
            <a:off x="658368" y="3785616"/>
            <a:ext cx="520887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98A4AE"/>
                </a:solidFill>
                <a:latin typeface="Segoe UI"/>
              </a:rPr>
              <a:t>—  nothing earlier in the course</a:t>
            </a:r>
          </a:p>
        </p:txBody>
      </p:sp>
      <p:sp>
        <p:nvSpPr>
          <p:cNvPr id="66"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67" name="!!chipUS2">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chipbUS2">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tUS2"/>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70" name="!!chipUS3">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chipbUS3">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tUS3"/>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3  </a:t>
            </a:r>
            <a:r>
              <a:rPr sz="1400" b="0" i="0">
                <a:solidFill>
                  <a:srgbClr val="1C252B"/>
                </a:solidFill>
                <a:latin typeface="Segoe UI"/>
              </a:rPr>
              <a:t>The Machine Learning Workflow and Toolkit</a:t>
            </a:r>
          </a:p>
        </p:txBody>
      </p:sp>
      <p:sp>
        <p:nvSpPr>
          <p:cNvPr id="73" name="!!chipUS4">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bUS4">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tUS4"/>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4  </a:t>
            </a:r>
            <a:r>
              <a:rPr sz="1400" b="0" i="0">
                <a:solidFill>
                  <a:srgbClr val="1C252B"/>
                </a:solidFill>
                <a:latin typeface="Segoe UI"/>
              </a:rPr>
              <a:t>Concept Learning and the Version Space</a:t>
            </a:r>
          </a:p>
        </p:txBody>
      </p:sp>
      <p:sp>
        <p:nvSpPr>
          <p:cNvPr id="76" name="!!chipUS20">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bUS20">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chiptUS20"/>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20  </a:t>
            </a:r>
            <a:r>
              <a:rPr sz="1400" b="0" i="0">
                <a:solidFill>
                  <a:srgbClr val="1C252B"/>
                </a:solidFill>
                <a:latin typeface="Segoe UI"/>
              </a:rPr>
              <a:t>Reinforcement Learning</a:t>
            </a:r>
          </a:p>
        </p:txBody>
      </p:sp>
      <p:sp>
        <p:nvSpPr>
          <p:cNvPr id="79" name="!!chipUS22">
            <a:extLst>
              <a:ext uri="{C183D7F6-B498-43B3-948B-1728B52AA6E4}">
                <adec:decorative xmlns:adec="http://schemas.microsoft.com/office/drawing/2017/decorative" val="1"/>
              </a:ext>
            </a:extLst>
          </p:cNvPr>
          <p:cNvSpPr/>
          <p:nvPr/>
        </p:nvSpPr>
        <p:spPr>
          <a:xfrm>
            <a:off x="6324447" y="5833872"/>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bUS22">
            <a:extLst>
              <a:ext uri="{C183D7F6-B498-43B3-948B-1728B52AA6E4}">
                <adec:decorative xmlns:adec="http://schemas.microsoft.com/office/drawing/2017/decorative" val="1"/>
              </a:ext>
            </a:extLst>
          </p:cNvPr>
          <p:cNvSpPr/>
          <p:nvPr/>
        </p:nvSpPr>
        <p:spPr>
          <a:xfrm>
            <a:off x="6324447" y="5833872"/>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1" name="!!chiptUS22"/>
          <p:cNvSpPr txBox="1"/>
          <p:nvPr/>
        </p:nvSpPr>
        <p:spPr>
          <a:xfrm>
            <a:off x="6525615" y="5925312"/>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Machine Learning Project</a:t>
            </a:r>
          </a:p>
        </p:txBody>
      </p:sp>
      <p:sp>
        <p:nvSpPr>
          <p:cNvPr id="8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pfill">
            <a:extLst>
              <a:ext uri="{C183D7F6-B498-43B3-948B-1728B52AA6E4}">
                <adec:decorative xmlns:adec="http://schemas.microsoft.com/office/drawing/2017/decorative" val="1"/>
              </a:ext>
            </a:extLst>
          </p:cNvPr>
          <p:cNvSpPr/>
          <p:nvPr/>
        </p:nvSpPr>
        <p:spPr>
          <a:xfrm>
            <a:off x="0" y="0"/>
            <a:ext cx="5541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89D747D4-AEFD-4767-9D2E-36C0C98960F0}"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Define</a:t>
            </a:r>
            <a:r>
              <a:rPr sz="2100" b="0" i="0">
                <a:solidFill>
                  <a:srgbClr val="1C252B"/>
                </a:solidFill>
                <a:latin typeface="Segoe UI"/>
              </a:rPr>
              <a:t> machine learning precisely, and name the task, performance measure and experience of a given learning problem.</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Distinguish</a:t>
            </a:r>
            <a:r>
              <a:rPr sz="2100" b="0" i="0">
                <a:solidFill>
                  <a:srgbClr val="1C252B"/>
                </a:solidFill>
                <a:latin typeface="Segoe UI"/>
              </a:rPr>
              <a:t> learning a program from writing one, and machine learning from the wider field of artificial intelligence.</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09974"/>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Classify</a:t>
            </a:r>
            <a:r>
              <a:rPr sz="2100" b="0" i="0">
                <a:solidFill>
                  <a:srgbClr val="1C252B"/>
                </a:solidFill>
                <a:latin typeface="Segoe UI"/>
              </a:rPr>
              <a:t> a problem as supervised (regression or classification), unsupervised, semi-supervised or reinforcement learning.</a:t>
            </a:r>
          </a:p>
        </p:txBody>
      </p:sp>
      <p:sp>
        <p:nvSpPr>
          <p:cNvPr id="17" name="!!ob3">
            <a:extLst>
              <a:ext uri="{C183D7F6-B498-43B3-948B-1728B52AA6E4}">
                <adec:decorative xmlns:adec="http://schemas.microsoft.com/office/drawing/2017/decorative" val="1"/>
              </a:ext>
            </a:extLst>
          </p:cNvPr>
          <p:cNvSpPr/>
          <p:nvPr/>
        </p:nvSpPr>
        <p:spPr>
          <a:xfrm>
            <a:off x="658368" y="4767681"/>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827117"/>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808829"/>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Describe</a:t>
            </a:r>
            <a:r>
              <a:rPr sz="2100" b="0" i="0">
                <a:solidFill>
                  <a:srgbClr val="1C252B"/>
                </a:solidFill>
                <a:latin typeface="Segoe UI"/>
              </a:rPr>
              <a:t> the four design decisions in building a learning system.</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36204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Explain</a:t>
            </a:r>
            <a:r>
              <a:rPr sz="2100" b="0" i="0">
                <a:solidFill>
                  <a:srgbClr val="1C252B"/>
                </a:solidFill>
                <a:latin typeface="Segoe UI"/>
              </a:rPr>
              <a:t> why a learner must assume something the data does not say in order to generalise at all.</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3125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3     </a:t>
            </a:r>
            <a:fld id="{66436B74-719C-4EC0-BE2C-39757AC11314}" type="slidenum">
              <a:rPr lang="en-GB" sz="1000">
                <a:solidFill>
                  <a:srgbClr val="8795A1"/>
                </a:solidFill>
                <a:latin typeface="Segoe UI"/>
              </a:rPr>
              <a:t>4</a:t>
            </a:fld>
          </a:p>
        </p:txBody>
      </p:sp>
      <p:sp>
        <p:nvSpPr>
          <p:cNvPr id="7" name="!!term-machine learni">
            <a:extLst>
              <a:ext uri="{C183D7F6-B498-43B3-948B-1728B52AA6E4}">
                <adec:decorative xmlns:adec="http://schemas.microsoft.com/office/drawing/2017/decorative" val="1"/>
              </a:ext>
            </a:extLst>
          </p:cNvPr>
          <p:cNvSpPr/>
          <p:nvPr/>
        </p:nvSpPr>
        <p:spPr>
          <a:xfrm>
            <a:off x="658368" y="1847088"/>
            <a:ext cx="19133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machine learni">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machine learni"/>
          <p:cNvSpPr txBox="1"/>
          <p:nvPr/>
        </p:nvSpPr>
        <p:spPr>
          <a:xfrm>
            <a:off x="950976" y="1970532"/>
            <a:ext cx="173045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machine learning</a:t>
            </a:r>
          </a:p>
        </p:txBody>
      </p:sp>
      <p:sp>
        <p:nvSpPr>
          <p:cNvPr id="10" name="!!term-task, performa">
            <a:extLst>
              <a:ext uri="{C183D7F6-B498-43B3-948B-1728B52AA6E4}">
                <adec:decorative xmlns:adec="http://schemas.microsoft.com/office/drawing/2017/decorative" val="1"/>
              </a:ext>
            </a:extLst>
          </p:cNvPr>
          <p:cNvSpPr/>
          <p:nvPr/>
        </p:nvSpPr>
        <p:spPr>
          <a:xfrm>
            <a:off x="2718002" y="1847088"/>
            <a:ext cx="37739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task, performa">
            <a:extLst>
              <a:ext uri="{C183D7F6-B498-43B3-948B-1728B52AA6E4}">
                <adec:decorative xmlns:adec="http://schemas.microsoft.com/office/drawing/2017/decorative" val="1"/>
              </a:ext>
            </a:extLst>
          </p:cNvPr>
          <p:cNvSpPr/>
          <p:nvPr/>
        </p:nvSpPr>
        <p:spPr>
          <a:xfrm>
            <a:off x="284601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task, performa"/>
          <p:cNvSpPr txBox="1"/>
          <p:nvPr/>
        </p:nvSpPr>
        <p:spPr>
          <a:xfrm>
            <a:off x="3010610" y="1970532"/>
            <a:ext cx="359110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task, performance measure, experience</a:t>
            </a:r>
          </a:p>
        </p:txBody>
      </p:sp>
      <p:sp>
        <p:nvSpPr>
          <p:cNvPr id="13" name="!!term-training data">
            <a:extLst>
              <a:ext uri="{C183D7F6-B498-43B3-948B-1728B52AA6E4}">
                <adec:decorative xmlns:adec="http://schemas.microsoft.com/office/drawing/2017/decorative" val="1"/>
              </a:ext>
            </a:extLst>
          </p:cNvPr>
          <p:cNvSpPr/>
          <p:nvPr/>
        </p:nvSpPr>
        <p:spPr>
          <a:xfrm>
            <a:off x="6638294" y="1847088"/>
            <a:ext cx="153112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training data">
            <a:extLst>
              <a:ext uri="{C183D7F6-B498-43B3-948B-1728B52AA6E4}">
                <adec:decorative xmlns:adec="http://schemas.microsoft.com/office/drawing/2017/decorative" val="1"/>
              </a:ext>
            </a:extLst>
          </p:cNvPr>
          <p:cNvSpPr/>
          <p:nvPr/>
        </p:nvSpPr>
        <p:spPr>
          <a:xfrm>
            <a:off x="676631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training data"/>
          <p:cNvSpPr txBox="1"/>
          <p:nvPr/>
        </p:nvSpPr>
        <p:spPr>
          <a:xfrm>
            <a:off x="6930902" y="1970532"/>
            <a:ext cx="134824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training data</a:t>
            </a:r>
          </a:p>
        </p:txBody>
      </p:sp>
      <p:sp>
        <p:nvSpPr>
          <p:cNvPr id="16" name="!!term-feature">
            <a:extLst>
              <a:ext uri="{C183D7F6-B498-43B3-948B-1728B52AA6E4}">
                <adec:decorative xmlns:adec="http://schemas.microsoft.com/office/drawing/2017/decorative" val="1"/>
              </a:ext>
            </a:extLst>
          </p:cNvPr>
          <p:cNvSpPr/>
          <p:nvPr/>
        </p:nvSpPr>
        <p:spPr>
          <a:xfrm>
            <a:off x="8315726" y="1847088"/>
            <a:ext cx="104531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feature">
            <a:extLst>
              <a:ext uri="{C183D7F6-B498-43B3-948B-1728B52AA6E4}">
                <adec:decorative xmlns:adec="http://schemas.microsoft.com/office/drawing/2017/decorative" val="1"/>
              </a:ext>
            </a:extLst>
          </p:cNvPr>
          <p:cNvSpPr/>
          <p:nvPr/>
        </p:nvSpPr>
        <p:spPr>
          <a:xfrm>
            <a:off x="8443742"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feature"/>
          <p:cNvSpPr txBox="1"/>
          <p:nvPr/>
        </p:nvSpPr>
        <p:spPr>
          <a:xfrm>
            <a:off x="8608334" y="1970532"/>
            <a:ext cx="86243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feature</a:t>
            </a:r>
          </a:p>
        </p:txBody>
      </p:sp>
      <p:sp>
        <p:nvSpPr>
          <p:cNvPr id="19" name="!!term-label">
            <a:extLst>
              <a:ext uri="{C183D7F6-B498-43B3-948B-1728B52AA6E4}">
                <adec:decorative xmlns:adec="http://schemas.microsoft.com/office/drawing/2017/decorative" val="1"/>
              </a:ext>
            </a:extLst>
          </p:cNvPr>
          <p:cNvSpPr/>
          <p:nvPr/>
        </p:nvSpPr>
        <p:spPr>
          <a:xfrm>
            <a:off x="9507344" y="1847088"/>
            <a:ext cx="8477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label">
            <a:extLst>
              <a:ext uri="{C183D7F6-B498-43B3-948B-1728B52AA6E4}">
                <adec:decorative xmlns:adec="http://schemas.microsoft.com/office/drawing/2017/decorative" val="1"/>
              </a:ext>
            </a:extLst>
          </p:cNvPr>
          <p:cNvSpPr/>
          <p:nvPr/>
        </p:nvSpPr>
        <p:spPr>
          <a:xfrm>
            <a:off x="963536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label"/>
          <p:cNvSpPr txBox="1"/>
          <p:nvPr/>
        </p:nvSpPr>
        <p:spPr>
          <a:xfrm>
            <a:off x="9799952" y="1970532"/>
            <a:ext cx="66486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label</a:t>
            </a:r>
          </a:p>
        </p:txBody>
      </p:sp>
      <p:sp>
        <p:nvSpPr>
          <p:cNvPr id="22" name="!!term-model">
            <a:extLst>
              <a:ext uri="{C183D7F6-B498-43B3-948B-1728B52AA6E4}">
                <adec:decorative xmlns:adec="http://schemas.microsoft.com/office/drawing/2017/decorative" val="1"/>
              </a:ext>
            </a:extLst>
          </p:cNvPr>
          <p:cNvSpPr/>
          <p:nvPr/>
        </p:nvSpPr>
        <p:spPr>
          <a:xfrm>
            <a:off x="10501389" y="1847088"/>
            <a:ext cx="98317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model">
            <a:extLst>
              <a:ext uri="{C183D7F6-B498-43B3-948B-1728B52AA6E4}">
                <adec:decorative xmlns:adec="http://schemas.microsoft.com/office/drawing/2017/decorative" val="1"/>
              </a:ext>
            </a:extLst>
          </p:cNvPr>
          <p:cNvSpPr/>
          <p:nvPr/>
        </p:nvSpPr>
        <p:spPr>
          <a:xfrm>
            <a:off x="10629405"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model"/>
          <p:cNvSpPr txBox="1"/>
          <p:nvPr/>
        </p:nvSpPr>
        <p:spPr>
          <a:xfrm>
            <a:off x="10793997" y="1970532"/>
            <a:ext cx="80029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model</a:t>
            </a:r>
          </a:p>
        </p:txBody>
      </p:sp>
      <p:sp>
        <p:nvSpPr>
          <p:cNvPr id="25" name="!!term-supervised lea">
            <a:extLst>
              <a:ext uri="{C183D7F6-B498-43B3-948B-1728B52AA6E4}">
                <adec:decorative xmlns:adec="http://schemas.microsoft.com/office/drawing/2017/decorative" val="1"/>
              </a:ext>
            </a:extLst>
          </p:cNvPr>
          <p:cNvSpPr/>
          <p:nvPr/>
        </p:nvSpPr>
        <p:spPr>
          <a:xfrm>
            <a:off x="658368" y="2468880"/>
            <a:ext cx="210329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supervised lea">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supervised lea"/>
          <p:cNvSpPr txBox="1"/>
          <p:nvPr/>
        </p:nvSpPr>
        <p:spPr>
          <a:xfrm>
            <a:off x="950976" y="2592324"/>
            <a:ext cx="192041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supervised learning</a:t>
            </a:r>
          </a:p>
        </p:txBody>
      </p:sp>
      <p:sp>
        <p:nvSpPr>
          <p:cNvPr id="28" name="!!term-classification">
            <a:extLst>
              <a:ext uri="{C183D7F6-B498-43B3-948B-1728B52AA6E4}">
                <adec:decorative xmlns:adec="http://schemas.microsoft.com/office/drawing/2017/decorative" val="1"/>
              </a:ext>
            </a:extLst>
          </p:cNvPr>
          <p:cNvSpPr/>
          <p:nvPr/>
        </p:nvSpPr>
        <p:spPr>
          <a:xfrm>
            <a:off x="2907964" y="2468880"/>
            <a:ext cx="151966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classification">
            <a:extLst>
              <a:ext uri="{C183D7F6-B498-43B3-948B-1728B52AA6E4}">
                <adec:decorative xmlns:adec="http://schemas.microsoft.com/office/drawing/2017/decorative" val="1"/>
              </a:ext>
            </a:extLst>
          </p:cNvPr>
          <p:cNvSpPr/>
          <p:nvPr/>
        </p:nvSpPr>
        <p:spPr>
          <a:xfrm>
            <a:off x="303598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classification"/>
          <p:cNvSpPr txBox="1"/>
          <p:nvPr/>
        </p:nvSpPr>
        <p:spPr>
          <a:xfrm>
            <a:off x="3200572" y="2592324"/>
            <a:ext cx="133678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classification</a:t>
            </a:r>
          </a:p>
        </p:txBody>
      </p:sp>
      <p:sp>
        <p:nvSpPr>
          <p:cNvPr id="31" name="!!term-regression">
            <a:extLst>
              <a:ext uri="{C183D7F6-B498-43B3-948B-1728B52AA6E4}">
                <adec:decorative xmlns:adec="http://schemas.microsoft.com/office/drawing/2017/decorative" val="1"/>
              </a:ext>
            </a:extLst>
          </p:cNvPr>
          <p:cNvSpPr/>
          <p:nvPr/>
        </p:nvSpPr>
        <p:spPr>
          <a:xfrm>
            <a:off x="4573932" y="2468880"/>
            <a:ext cx="132741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egression">
            <a:extLst>
              <a:ext uri="{C183D7F6-B498-43B3-948B-1728B52AA6E4}">
                <adec:decorative xmlns:adec="http://schemas.microsoft.com/office/drawing/2017/decorative" val="1"/>
              </a:ext>
            </a:extLst>
          </p:cNvPr>
          <p:cNvSpPr/>
          <p:nvPr/>
        </p:nvSpPr>
        <p:spPr>
          <a:xfrm>
            <a:off x="470194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egression"/>
          <p:cNvSpPr txBox="1"/>
          <p:nvPr/>
        </p:nvSpPr>
        <p:spPr>
          <a:xfrm>
            <a:off x="4866540" y="2592324"/>
            <a:ext cx="114453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regression</a:t>
            </a:r>
          </a:p>
        </p:txBody>
      </p:sp>
      <p:sp>
        <p:nvSpPr>
          <p:cNvPr id="34" name="!!term-unsupervised l">
            <a:extLst>
              <a:ext uri="{C183D7F6-B498-43B3-948B-1728B52AA6E4}">
                <adec:decorative xmlns:adec="http://schemas.microsoft.com/office/drawing/2017/decorative" val="1"/>
              </a:ext>
            </a:extLst>
          </p:cNvPr>
          <p:cNvSpPr/>
          <p:nvPr/>
        </p:nvSpPr>
        <p:spPr>
          <a:xfrm>
            <a:off x="6047649" y="2468880"/>
            <a:ext cx="232325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unsupervised l">
            <a:extLst>
              <a:ext uri="{C183D7F6-B498-43B3-948B-1728B52AA6E4}">
                <adec:decorative xmlns:adec="http://schemas.microsoft.com/office/drawing/2017/decorative" val="1"/>
              </a:ext>
            </a:extLst>
          </p:cNvPr>
          <p:cNvSpPr/>
          <p:nvPr/>
        </p:nvSpPr>
        <p:spPr>
          <a:xfrm>
            <a:off x="617566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unsupervised l"/>
          <p:cNvSpPr txBox="1"/>
          <p:nvPr/>
        </p:nvSpPr>
        <p:spPr>
          <a:xfrm>
            <a:off x="6340257" y="2592324"/>
            <a:ext cx="214037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unsupervised learning</a:t>
            </a:r>
          </a:p>
        </p:txBody>
      </p:sp>
      <p:sp>
        <p:nvSpPr>
          <p:cNvPr id="37" name="!!term-semi-supervise">
            <a:extLst>
              <a:ext uri="{C183D7F6-B498-43B3-948B-1728B52AA6E4}">
                <adec:decorative xmlns:adec="http://schemas.microsoft.com/office/drawing/2017/decorative" val="1"/>
              </a:ext>
            </a:extLst>
          </p:cNvPr>
          <p:cNvSpPr/>
          <p:nvPr/>
        </p:nvSpPr>
        <p:spPr>
          <a:xfrm>
            <a:off x="8517204" y="2468880"/>
            <a:ext cx="257935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semi-supervise">
            <a:extLst>
              <a:ext uri="{C183D7F6-B498-43B3-948B-1728B52AA6E4}">
                <adec:decorative xmlns:adec="http://schemas.microsoft.com/office/drawing/2017/decorative" val="1"/>
              </a:ext>
            </a:extLst>
          </p:cNvPr>
          <p:cNvSpPr/>
          <p:nvPr/>
        </p:nvSpPr>
        <p:spPr>
          <a:xfrm>
            <a:off x="864522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semi-supervise"/>
          <p:cNvSpPr txBox="1"/>
          <p:nvPr/>
        </p:nvSpPr>
        <p:spPr>
          <a:xfrm>
            <a:off x="8809812" y="2592324"/>
            <a:ext cx="239647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semi-supervised learning</a:t>
            </a:r>
          </a:p>
        </p:txBody>
      </p:sp>
      <p:sp>
        <p:nvSpPr>
          <p:cNvPr id="40" name="!!term-reinforcement ">
            <a:extLst>
              <a:ext uri="{C183D7F6-B498-43B3-948B-1728B52AA6E4}">
                <adec:decorative xmlns:adec="http://schemas.microsoft.com/office/drawing/2017/decorative" val="1"/>
              </a:ext>
            </a:extLst>
          </p:cNvPr>
          <p:cNvSpPr/>
          <p:nvPr/>
        </p:nvSpPr>
        <p:spPr>
          <a:xfrm>
            <a:off x="658368" y="3090672"/>
            <a:ext cx="23933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reinforcement ">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reinforcement "/>
          <p:cNvSpPr txBox="1"/>
          <p:nvPr/>
        </p:nvSpPr>
        <p:spPr>
          <a:xfrm>
            <a:off x="950976" y="3214116"/>
            <a:ext cx="221051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reinforcement learning</a:t>
            </a:r>
          </a:p>
        </p:txBody>
      </p:sp>
      <p:sp>
        <p:nvSpPr>
          <p:cNvPr id="43" name="!!term-target functio">
            <a:extLst>
              <a:ext uri="{C183D7F6-B498-43B3-948B-1728B52AA6E4}">
                <adec:decorative xmlns:adec="http://schemas.microsoft.com/office/drawing/2017/decorative" val="1"/>
              </a:ext>
            </a:extLst>
          </p:cNvPr>
          <p:cNvSpPr/>
          <p:nvPr/>
        </p:nvSpPr>
        <p:spPr>
          <a:xfrm>
            <a:off x="3198063" y="3090672"/>
            <a:ext cx="171374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target functio">
            <a:extLst>
              <a:ext uri="{C183D7F6-B498-43B3-948B-1728B52AA6E4}">
                <adec:decorative xmlns:adec="http://schemas.microsoft.com/office/drawing/2017/decorative" val="1"/>
              </a:ext>
            </a:extLst>
          </p:cNvPr>
          <p:cNvSpPr/>
          <p:nvPr/>
        </p:nvSpPr>
        <p:spPr>
          <a:xfrm>
            <a:off x="332607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target functio"/>
          <p:cNvSpPr txBox="1"/>
          <p:nvPr/>
        </p:nvSpPr>
        <p:spPr>
          <a:xfrm>
            <a:off x="3490671" y="3214116"/>
            <a:ext cx="153086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target function</a:t>
            </a:r>
          </a:p>
        </p:txBody>
      </p:sp>
      <p:sp>
        <p:nvSpPr>
          <p:cNvPr id="46" name="!!term-hypothesis">
            <a:extLst>
              <a:ext uri="{C183D7F6-B498-43B3-948B-1728B52AA6E4}">
                <adec:decorative xmlns:adec="http://schemas.microsoft.com/office/drawing/2017/decorative" val="1"/>
              </a:ext>
            </a:extLst>
          </p:cNvPr>
          <p:cNvSpPr/>
          <p:nvPr/>
        </p:nvSpPr>
        <p:spPr>
          <a:xfrm>
            <a:off x="5058107" y="3090672"/>
            <a:ext cx="13603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hypothesis">
            <a:extLst>
              <a:ext uri="{C183D7F6-B498-43B3-948B-1728B52AA6E4}">
                <adec:decorative xmlns:adec="http://schemas.microsoft.com/office/drawing/2017/decorative" val="1"/>
              </a:ext>
            </a:extLst>
          </p:cNvPr>
          <p:cNvSpPr/>
          <p:nvPr/>
        </p:nvSpPr>
        <p:spPr>
          <a:xfrm>
            <a:off x="518612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hypothesis"/>
          <p:cNvSpPr txBox="1"/>
          <p:nvPr/>
        </p:nvSpPr>
        <p:spPr>
          <a:xfrm>
            <a:off x="5350715" y="3214116"/>
            <a:ext cx="117745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hypothesis</a:t>
            </a:r>
          </a:p>
        </p:txBody>
      </p:sp>
      <p:sp>
        <p:nvSpPr>
          <p:cNvPr id="49" name="!!term-hypothesis spa">
            <a:extLst>
              <a:ext uri="{C183D7F6-B498-43B3-948B-1728B52AA6E4}">
                <adec:decorative xmlns:adec="http://schemas.microsoft.com/office/drawing/2017/decorative" val="1"/>
              </a:ext>
            </a:extLst>
          </p:cNvPr>
          <p:cNvSpPr/>
          <p:nvPr/>
        </p:nvSpPr>
        <p:spPr>
          <a:xfrm>
            <a:off x="6564741" y="3090672"/>
            <a:ext cx="1900472"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hypothesis spa">
            <a:extLst>
              <a:ext uri="{C183D7F6-B498-43B3-948B-1728B52AA6E4}">
                <adec:decorative xmlns:adec="http://schemas.microsoft.com/office/drawing/2017/decorative" val="1"/>
              </a:ext>
            </a:extLst>
          </p:cNvPr>
          <p:cNvSpPr/>
          <p:nvPr/>
        </p:nvSpPr>
        <p:spPr>
          <a:xfrm>
            <a:off x="6692757"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hypothesis spa"/>
          <p:cNvSpPr txBox="1"/>
          <p:nvPr/>
        </p:nvSpPr>
        <p:spPr>
          <a:xfrm>
            <a:off x="6857349" y="3214116"/>
            <a:ext cx="1717592"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hypothesis space</a:t>
            </a:r>
          </a:p>
        </p:txBody>
      </p:sp>
      <p:sp>
        <p:nvSpPr>
          <p:cNvPr id="52" name="!!term-generalisation">
            <a:extLst>
              <a:ext uri="{C183D7F6-B498-43B3-948B-1728B52AA6E4}">
                <adec:decorative xmlns:adec="http://schemas.microsoft.com/office/drawing/2017/decorative" val="1"/>
              </a:ext>
            </a:extLst>
          </p:cNvPr>
          <p:cNvSpPr/>
          <p:nvPr/>
        </p:nvSpPr>
        <p:spPr>
          <a:xfrm>
            <a:off x="8611518" y="3090672"/>
            <a:ext cx="16451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generalisation">
            <a:extLst>
              <a:ext uri="{C183D7F6-B498-43B3-948B-1728B52AA6E4}">
                <adec:decorative xmlns:adec="http://schemas.microsoft.com/office/drawing/2017/decorative" val="1"/>
              </a:ext>
            </a:extLst>
          </p:cNvPr>
          <p:cNvSpPr/>
          <p:nvPr/>
        </p:nvSpPr>
        <p:spPr>
          <a:xfrm>
            <a:off x="873953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generalisation"/>
          <p:cNvSpPr txBox="1"/>
          <p:nvPr/>
        </p:nvSpPr>
        <p:spPr>
          <a:xfrm>
            <a:off x="8904126" y="3214116"/>
            <a:ext cx="146230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generalisation</a:t>
            </a:r>
          </a:p>
        </p:txBody>
      </p:sp>
      <p:sp>
        <p:nvSpPr>
          <p:cNvPr id="55" name="!!term-inductive bias">
            <a:extLst>
              <a:ext uri="{C183D7F6-B498-43B3-948B-1728B52AA6E4}">
                <adec:decorative xmlns:adec="http://schemas.microsoft.com/office/drawing/2017/decorative" val="1"/>
              </a:ext>
            </a:extLst>
          </p:cNvPr>
          <p:cNvSpPr/>
          <p:nvPr/>
        </p:nvSpPr>
        <p:spPr>
          <a:xfrm>
            <a:off x="658368" y="3712464"/>
            <a:ext cx="161349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inductive bias">
            <a:extLst>
              <a:ext uri="{C183D7F6-B498-43B3-948B-1728B52AA6E4}">
                <adec:decorative xmlns:adec="http://schemas.microsoft.com/office/drawing/2017/decorative" val="1"/>
              </a:ext>
            </a:extLst>
          </p:cNvPr>
          <p:cNvSpPr/>
          <p:nvPr/>
        </p:nvSpPr>
        <p:spPr>
          <a:xfrm>
            <a:off x="786384" y="3904488"/>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inductive bias"/>
          <p:cNvSpPr txBox="1"/>
          <p:nvPr/>
        </p:nvSpPr>
        <p:spPr>
          <a:xfrm>
            <a:off x="950976" y="3835908"/>
            <a:ext cx="143061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inductive bias</a:t>
            </a:r>
          </a:p>
        </p:txBody>
      </p:sp>
      <p:sp>
        <p:nvSpPr>
          <p:cNvPr id="58" name="!!termnote"/>
          <p:cNvSpPr txBox="1"/>
          <p:nvPr/>
        </p:nvSpPr>
        <p:spPr>
          <a:xfrm>
            <a:off x="658368" y="45354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1083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3–10     </a:t>
            </a:r>
            <a:fld id="{38DD5E22-CC61-4BA4-BE6F-E6DA0B470AB6}" type="slidenum">
              <a:rPr lang="en-GB" sz="1000">
                <a:solidFill>
                  <a:srgbClr val="8795A1"/>
                </a:solidFill>
                <a:latin typeface="Segoe UI"/>
              </a:rPr>
              <a:t>5</a:t>
            </a:fld>
          </a:p>
        </p:txBody>
      </p:sp>
      <p:sp>
        <p:nvSpPr>
          <p:cNvPr id="7" name="!!ag0" descr="Go to section 1.1 Why Learn a Program Instead of Writing One?">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Why Learn a Program Instead of Writing One?</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3  ›</a:t>
            </a:r>
          </a:p>
        </p:txBody>
      </p:sp>
      <p:sp>
        <p:nvSpPr>
          <p:cNvPr id="12" name="!!ag1" descr="Go to section 1.2 A Precise Definition">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Precise Definition</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4  ›</a:t>
            </a:r>
          </a:p>
        </p:txBody>
      </p:sp>
      <p:sp>
        <p:nvSpPr>
          <p:cNvPr id="17" name="!!ag2" descr="Go to section 1.3 The Four Paradigm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Four Paradigms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5  ›</a:t>
            </a:r>
          </a:p>
        </p:txBody>
      </p:sp>
      <p:sp>
        <p:nvSpPr>
          <p:cNvPr id="22" name="!!ag3" descr="Go to section 1.4 Designing a Learning System">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Designing a Learning System</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6  ›</a:t>
            </a:r>
          </a:p>
        </p:txBody>
      </p:sp>
      <p:sp>
        <p:nvSpPr>
          <p:cNvPr id="27" name="!!ag4" descr="Go to section 1.5 Learning as Search Through a Hypothesis Space">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Learning as Search Through a Hypothesis Space</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  ›</a:t>
            </a:r>
          </a:p>
        </p:txBody>
      </p:sp>
      <p:sp>
        <p:nvSpPr>
          <p:cNvPr id="32" name="!!ag5" descr="Go to section 1.6 A Short History">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 Short History</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7  ›</a:t>
            </a:r>
          </a:p>
        </p:txBody>
      </p:sp>
      <p:sp>
        <p:nvSpPr>
          <p:cNvPr id="37" name="!!ag6" descr="Go to section 1.7 Where Machine Learning Sits">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A5276"/>
                </a:solidFill>
                <a:latin typeface="Segoe UI Semibold"/>
              </a:rPr>
              <a:t>1.7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Where Machine Learning Sits</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8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38541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Why Learn a Program Instead of Writing One?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1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1.1   Why Learn a Program Instead of Writing One?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A Precise Definition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The Four Paradigms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Designing a Learning System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Learning as Search Through a Hypothesis Space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   A Short History</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   Where Machine Learning Sits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§1.1     </a:t>
            </a:r>
            <a:fld id="{76DB868D-76C9-4A94-912F-4969E61C54A7}" type="slidenum">
              <a:rPr lang="en-GB" sz="1000">
                <a:solidFill>
                  <a:srgbClr val="8795A1"/>
                </a:solidFill>
                <a:latin typeface="Segoe UI"/>
              </a:rPr>
              <a:t>6</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6625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Traditional programming against machine learning</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  ·  Handout p. 3     </a:t>
            </a:r>
            <a:fld id="{CA25429F-66EC-4F22-9570-02E8C4C3A2DC}" type="slidenum">
              <a:rPr lang="en-GB" sz="1000">
                <a:solidFill>
                  <a:srgbClr val="8795A1"/>
                </a:solidFill>
                <a:latin typeface="Segoe UI"/>
              </a:rPr>
              <a:t>7</a:t>
            </a:fld>
          </a:p>
        </p:txBody>
      </p:sp>
      <p:pic>
        <p:nvPicPr>
          <p:cNvPr id="6" name="!!figure" descr="Figure 1.1. Traditional programming against machine learning. The learned model is then used exactly like a program: new data in, answers ou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89253" y="1737360"/>
            <a:ext cx="9013187"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learned model is then used exactly like a program: new data in, answers out.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93958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When Learning Beats Writing</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§1.1  ·  Handout p. 3     </a:t>
            </a:r>
            <a:fld id="{AC89FF5A-C614-4517-B448-B06815D70AAF}"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38118"/>
          </a:xfrm>
          <a:prstGeom prst="roundRect">
            <a:avLst>
              <a:gd name="adj" fmla="val 2584"/>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38118"/>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962046"/>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Machine learning earns its cost in four situations: when the rules are too numerous to write (routing thousands of tickets a day to the right team); when nobody can articulate them (judging from a ticket’s wording how urgent it is); when they change faster than a person can rewrite them (estimating effort while the team and its tools change); and when they must be different for every case (each team’s own pace). If you can write the rule down in an afternoon and it will not change, write it — a rule is cheaper, faster and easier to explain than any model.</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21667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A Precise Definition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2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Why Learn a Program Instead of Writing One?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1.2   A Precise Definition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The Four Paradigms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Designing a Learning System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Learning as Search Through a Hypothesis Space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   A Short History</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   Where Machine Learning Sits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§1.2     </a:t>
            </a:r>
            <a:fld id="{C294A03E-3A55-407E-AD49-158643B8503D}" type="slidenum">
              <a:rPr lang="en-GB" sz="1000">
                <a:solidFill>
                  <a:srgbClr val="8795A1"/>
                </a:solidFill>
                <a:latin typeface="Segoe UI"/>
              </a:rPr>
              <a:t>9</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249375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Machine Learning (Mitchell, 1997)</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  ·  Handout p. 4     </a:t>
            </a:r>
            <a:fld id="{D7BC8D4F-903F-44DE-A5D9-5C1AFE7C108F}"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computer program is said to </a:t>
            </a:r>
            <a:r>
              <a:rPr sz="2300" b="1" i="0">
                <a:solidFill>
                  <a:srgbClr val="1A5276"/>
                </a:solidFill>
                <a:latin typeface="Segoe UI"/>
              </a:rPr>
              <a:t>learn</a:t>
            </a:r>
            <a:r>
              <a:rPr sz="2300" b="0" i="0">
                <a:solidFill>
                  <a:srgbClr val="1C252B"/>
                </a:solidFill>
                <a:latin typeface="Segoe UI"/>
              </a:rPr>
              <a:t> from experience </a:t>
            </a:r>
            <a:r>
              <a:rPr sz="2300" b="0" i="1">
                <a:solidFill>
                  <a:srgbClr val="1C252B"/>
                </a:solidFill>
                <a:latin typeface="Cambria"/>
              </a:rPr>
              <a:t>E</a:t>
            </a:r>
            <a:r>
              <a:rPr sz="2300" b="0" i="0">
                <a:solidFill>
                  <a:srgbClr val="1C252B"/>
                </a:solidFill>
                <a:latin typeface="Segoe UI"/>
              </a:rPr>
              <a:t> with respect to some class of tasks </a:t>
            </a:r>
            <a:r>
              <a:rPr sz="2300" b="0" i="1">
                <a:solidFill>
                  <a:srgbClr val="1C252B"/>
                </a:solidFill>
                <a:latin typeface="Cambria"/>
              </a:rPr>
              <a:t>T</a:t>
            </a:r>
            <a:r>
              <a:rPr sz="2300" b="0" i="0">
                <a:solidFill>
                  <a:srgbClr val="1C252B"/>
                </a:solidFill>
                <a:latin typeface="Segoe UI"/>
              </a:rPr>
              <a:t> and performance measure </a:t>
            </a:r>
            <a:r>
              <a:rPr sz="2300" b="0" i="1">
                <a:solidFill>
                  <a:srgbClr val="1C252B"/>
                </a:solidFill>
                <a:latin typeface="Cambria"/>
              </a:rPr>
              <a:t>P</a:t>
            </a:r>
            <a:r>
              <a:rPr sz="2300" b="0" i="0">
                <a:solidFill>
                  <a:srgbClr val="1C252B"/>
                </a:solidFill>
                <a:latin typeface="Segoe UI"/>
              </a:rPr>
              <a:t>, if its performance at tasks in </a:t>
            </a:r>
            <a:r>
              <a:rPr sz="2300" b="0" i="1">
                <a:solidFill>
                  <a:srgbClr val="1C252B"/>
                </a:solidFill>
                <a:latin typeface="Cambria"/>
              </a:rPr>
              <a:t>T</a:t>
            </a:r>
            <a:r>
              <a:rPr sz="2300" b="0" i="0">
                <a:solidFill>
                  <a:srgbClr val="1C252B"/>
                </a:solidFill>
                <a:latin typeface="Segoe UI"/>
              </a:rPr>
              <a:t>, as measured by </a:t>
            </a:r>
            <a:r>
              <a:rPr sz="2300" b="0" i="1">
                <a:solidFill>
                  <a:srgbClr val="1C252B"/>
                </a:solidFill>
                <a:latin typeface="Cambria"/>
              </a:rPr>
              <a:t>P</a:t>
            </a:r>
            <a:r>
              <a:rPr sz="2300" b="0" i="0">
                <a:solidFill>
                  <a:srgbClr val="1C252B"/>
                </a:solidFill>
                <a:latin typeface="Segoe UI"/>
              </a:rPr>
              <a:t>, improves with experience </a:t>
            </a:r>
            <a:r>
              <a:rPr sz="2300" b="0" i="1">
                <a:solidFill>
                  <a:srgbClr val="1C252B"/>
                </a:solidFill>
                <a:latin typeface="Cambria"/>
              </a:rPr>
              <a:t>E</a:t>
            </a:r>
            <a:r>
              <a:rPr sz="2300" b="0" i="0">
                <a:solidFill>
                  <a:srgbClr val="1C252B"/>
                </a:solidFill>
                <a:latin typeface="Segoe UI"/>
              </a:rPr>
              <a: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27708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Naming T, P and E</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  ·  Handout p. 4     </a:t>
            </a:r>
            <a:fld id="{91D3903B-BF42-4578-99D0-C44C83F3B729}"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61459"/>
          </a:xfrm>
          <a:prstGeom prst="roundRect">
            <a:avLst>
              <a:gd name="adj" fmla="val 200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6145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State the task, performance measure and experience for three problems.</a:t>
            </a:r>
          </a:p>
        </p:txBody>
      </p:sp>
      <p:sp>
        <p:nvSpPr>
          <p:cNvPr id="10" name="body-1"/>
          <p:cNvSpPr txBox="1"/>
          <p:nvPr/>
        </p:nvSpPr>
        <p:spPr>
          <a:xfrm>
            <a:off x="1042416" y="244553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1. Late-task warning.</a:t>
            </a:r>
          </a:p>
        </p:txBody>
      </p:sp>
      <p:sp>
        <p:nvSpPr>
          <p:cNvPr id="11" name="body-2"/>
          <p:cNvSpPr txBox="1"/>
          <p:nvPr/>
        </p:nvSpPr>
        <p:spPr>
          <a:xfrm>
            <a:off x="1042416" y="2879394"/>
            <a:ext cx="10234879" cy="111805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T</a:t>
            </a:r>
            <a:r>
              <a:rPr sz="1900" b="0" i="0">
                <a:solidFill>
                  <a:srgbClr val="1C252B"/>
                </a:solidFill>
                <a:latin typeface="Segoe UI"/>
              </a:rPr>
              <a:t>: classify each task in the new sprint as likely late or on time.</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P</a:t>
            </a:r>
            <a:r>
              <a:rPr sz="1900" b="0" i="0">
                <a:solidFill>
                  <a:srgbClr val="1C252B"/>
                </a:solidFill>
                <a:latin typeface="Segoe UI"/>
              </a:rPr>
              <a:t>: the fraction of late tasks flagged, with no more than one false alarm in every three flags.</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E</a:t>
            </a:r>
            <a:r>
              <a:rPr sz="1900" b="0" i="0">
                <a:solidFill>
                  <a:srgbClr val="1C252B"/>
                </a:solidFill>
                <a:latin typeface="Segoe UI"/>
              </a:rPr>
              <a:t>: completed tasks from past sprints, each with its record and whether it finished late.</a:t>
            </a:r>
          </a:p>
        </p:txBody>
      </p:sp>
      <p:sp>
        <p:nvSpPr>
          <p:cNvPr id="12" name="body-3"/>
          <p:cNvSpPr txBox="1"/>
          <p:nvPr/>
        </p:nvSpPr>
        <p:spPr>
          <a:xfrm>
            <a:off x="1042416" y="4084447"/>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2. Sprint effort estimation.</a:t>
            </a:r>
          </a:p>
        </p:txBody>
      </p:sp>
      <p:sp>
        <p:nvSpPr>
          <p:cNvPr id="13" name="body-3bar">
            <a:extLst>
              <a:ext uri="{C183D7F6-B498-43B3-948B-1728B52AA6E4}">
                <adec:decorative xmlns:adec="http://schemas.microsoft.com/office/drawing/2017/decorative" val="1"/>
              </a:ext>
            </a:extLst>
          </p:cNvPr>
          <p:cNvSpPr/>
          <p:nvPr/>
        </p:nvSpPr>
        <p:spPr>
          <a:xfrm>
            <a:off x="841248" y="4102735"/>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518304"/>
            <a:ext cx="10234879" cy="111805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T</a:t>
            </a:r>
            <a:r>
              <a:rPr sz="1900" b="0" i="0">
                <a:solidFill>
                  <a:srgbClr val="1C252B"/>
                </a:solidFill>
                <a:latin typeface="Segoe UI"/>
              </a:rPr>
              <a:t>: predict the hours a user story will take.</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P</a:t>
            </a:r>
            <a:r>
              <a:rPr sz="1900" b="0" i="0">
                <a:solidFill>
                  <a:srgbClr val="1C252B"/>
                </a:solidFill>
                <a:latin typeface="Segoe UI"/>
              </a:rPr>
              <a:t>: average absolute error, in hours, on stories not yet estimated.</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E</a:t>
            </a:r>
            <a:r>
              <a:rPr sz="1900" b="0" i="0">
                <a:solidFill>
                  <a:srgbClr val="1C252B"/>
                </a:solidFill>
                <a:latin typeface="Segoe UI"/>
              </a:rPr>
              <a:t>: past stories with their descriptions, story points and actual hours.</a:t>
            </a:r>
          </a:p>
        </p:txBody>
      </p:sp>
      <p:sp>
        <p:nvSpPr>
          <p:cNvPr id="15" name="body-5"/>
          <p:cNvSpPr txBox="1"/>
          <p:nvPr/>
        </p:nvSpPr>
        <p:spPr>
          <a:xfrm>
            <a:off x="1042416" y="5723356"/>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3. A scheduler learning to assign tickets.</a:t>
            </a:r>
          </a:p>
        </p:txBody>
      </p:sp>
      <p:sp>
        <p:nvSpPr>
          <p:cNvPr id="16" name="body-5bar">
            <a:extLst>
              <a:ext uri="{C183D7F6-B498-43B3-948B-1728B52AA6E4}">
                <adec:decorative xmlns:adec="http://schemas.microsoft.com/office/drawing/2017/decorative" val="1"/>
              </a:ext>
            </a:extLst>
          </p:cNvPr>
          <p:cNvSpPr/>
          <p:nvPr/>
        </p:nvSpPr>
        <p:spPr>
          <a:xfrm>
            <a:off x="841248" y="5741644"/>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pfill">
            <a:extLst>
              <a:ext uri="{C183D7F6-B498-43B3-948B-1728B52AA6E4}">
                <adec:decorative xmlns:adec="http://schemas.microsoft.com/office/drawing/2017/decorative" val="1"/>
              </a:ext>
            </a:extLst>
          </p:cNvPr>
          <p:cNvSpPr/>
          <p:nvPr/>
        </p:nvSpPr>
        <p:spPr>
          <a:xfrm>
            <a:off x="0" y="0"/>
            <a:ext cx="304792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right)">
                                      <p:cBhvr>
                                        <p:cTn id="28" dur="42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20"/>
                                        <p:tgtEl>
                                          <p:spTgt spid="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4">
                                            <p:txEl>
                                              <p:pRg st="0" end="0"/>
                                            </p:txEl>
                                          </p:spTgt>
                                        </p:tgtEl>
                                        <p:attrNameLst>
                                          <p:attrName>style.visibility</p:attrName>
                                        </p:attrNameLst>
                                      </p:cBhvr>
                                      <p:to>
                                        <p:strVal val="visible"/>
                                      </p:to>
                                    </p:set>
                                    <p:animEffect transition="in" filter="fade">
                                      <p:cBhvr>
                                        <p:cTn id="36" dur="350"/>
                                        <p:tgtEl>
                                          <p:spTgt spid="14">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xEl>
                                              <p:pRg st="1" end="1"/>
                                            </p:txEl>
                                          </p:spTgt>
                                        </p:tgtEl>
                                        <p:attrNameLst>
                                          <p:attrName>style.visibility</p:attrName>
                                        </p:attrNameLst>
                                      </p:cBhvr>
                                      <p:to>
                                        <p:strVal val="visible"/>
                                      </p:to>
                                    </p:set>
                                    <p:animEffect transition="in" filter="fade">
                                      <p:cBhvr>
                                        <p:cTn id="41" dur="350"/>
                                        <p:tgtEl>
                                          <p:spTgt spid="14">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4">
                                            <p:txEl>
                                              <p:pRg st="2" end="2"/>
                                            </p:txEl>
                                          </p:spTgt>
                                        </p:tgtEl>
                                        <p:attrNameLst>
                                          <p:attrName>style.visibility</p:attrName>
                                        </p:attrNameLst>
                                      </p:cBhvr>
                                      <p:to>
                                        <p:strVal val="visible"/>
                                      </p:to>
                                    </p:set>
                                    <p:animEffect transition="in" filter="fade">
                                      <p:cBhvr>
                                        <p:cTn id="46" dur="350"/>
                                        <p:tgtEl>
                                          <p:spTgt spid="14">
                                            <p:txEl>
                                              <p:pRg st="2" end="2"/>
                                            </p:txEl>
                                          </p:spTgt>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wipe(right)">
                                      <p:cBhvr>
                                        <p:cTn id="51" dur="420"/>
                                        <p:tgtEl>
                                          <p:spTgt spid="1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4" grpId="0" build="p"/>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Naming T, P and E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§1.2  ·  Handout p. 4     </a:t>
            </a:r>
            <a:fld id="{7AE5FE89-6B70-4F84-923A-72293DA2E502}"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259404"/>
          </a:xfrm>
          <a:prstGeom prst="roundRect">
            <a:avLst>
              <a:gd name="adj" fmla="val 2805"/>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2594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41919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T</a:t>
            </a:r>
            <a:r>
              <a:rPr sz="1900" b="0" i="0">
                <a:solidFill>
                  <a:srgbClr val="1C252B"/>
                </a:solidFill>
                <a:latin typeface="Segoe UI"/>
              </a:rPr>
              <a:t>: choose which engineer receives each incoming support ticket.</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P</a:t>
            </a:r>
            <a:r>
              <a:rPr sz="1900" b="0" i="0">
                <a:solidFill>
                  <a:srgbClr val="1C252B"/>
                </a:solidFill>
                <a:latin typeface="Segoe UI"/>
              </a:rPr>
              <a:t>: average time until tickets are resolved.</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E</a:t>
            </a:r>
            <a:r>
              <a:rPr sz="1900" b="0" i="0">
                <a:solidFill>
                  <a:srgbClr val="1C252B"/>
                </a:solidFill>
                <a:latin typeface="Segoe UI"/>
              </a:rPr>
              <a:t>: the scheduler’s own past assignments — no labelled examples of the “right” engineer, only how each assignment turned out.</a:t>
            </a:r>
          </a:p>
        </p:txBody>
      </p:sp>
      <p:sp>
        <p:nvSpPr>
          <p:cNvPr id="10" name="body-1"/>
          <p:cNvSpPr txBox="1"/>
          <p:nvPr/>
        </p:nvSpPr>
        <p:spPr>
          <a:xfrm>
            <a:off x="1042416" y="3517874"/>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Notice the choice of </a:t>
            </a:r>
            <a:r>
              <a:rPr sz="1900" b="1" i="1">
                <a:solidFill>
                  <a:srgbClr val="1C252B"/>
                </a:solidFill>
                <a:latin typeface="Cambria"/>
              </a:rPr>
              <a:t>P</a:t>
            </a:r>
            <a:r>
              <a:rPr sz="1900" b="1" i="0">
                <a:solidFill>
                  <a:srgbClr val="1C252B"/>
                </a:solidFill>
                <a:latin typeface="Segoe UI"/>
              </a:rPr>
              <a:t> in problem 1.</a:t>
            </a:r>
            <a:r>
              <a:rPr sz="1900" b="0" i="0">
                <a:solidFill>
                  <a:srgbClr val="1C252B"/>
                </a:solidFill>
                <a:latin typeface="Segoe UI"/>
              </a:rPr>
              <a:t> “Accuracy” would have been the obvious answer and the wrong one: if 5% of tasks run late, a model that says “on time” for every task is 95% accurate and useless. Choosing </a:t>
            </a:r>
            <a:r>
              <a:rPr sz="1900" b="0" i="1">
                <a:solidFill>
                  <a:srgbClr val="1C252B"/>
                </a:solidFill>
                <a:latin typeface="Cambria"/>
              </a:rPr>
              <a:t>P</a:t>
            </a:r>
            <a:r>
              <a:rPr sz="1900" b="0" i="0">
                <a:solidFill>
                  <a:srgbClr val="1C252B"/>
                </a:solidFill>
                <a:latin typeface="Segoe UI"/>
              </a:rPr>
              <a:t> is a design decision with consequences, and Chapter 8 is devoted to it.</a:t>
            </a:r>
          </a:p>
        </p:txBody>
      </p:sp>
      <p:sp>
        <p:nvSpPr>
          <p:cNvPr id="11" name="body-1bar">
            <a:extLst>
              <a:ext uri="{C183D7F6-B498-43B3-948B-1728B52AA6E4}">
                <adec:decorative xmlns:adec="http://schemas.microsoft.com/office/drawing/2017/decorative" val="1"/>
              </a:ext>
            </a:extLst>
          </p:cNvPr>
          <p:cNvSpPr/>
          <p:nvPr/>
        </p:nvSpPr>
        <p:spPr>
          <a:xfrm>
            <a:off x="841248" y="3536162"/>
            <a:ext cx="54864" cy="118628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pfill">
            <a:extLst>
              <a:ext uri="{C183D7F6-B498-43B3-948B-1728B52AA6E4}">
                <adec:decorative xmlns:adec="http://schemas.microsoft.com/office/drawing/2017/decorative" val="1"/>
              </a:ext>
            </a:extLst>
          </p:cNvPr>
          <p:cNvSpPr/>
          <p:nvPr/>
        </p:nvSpPr>
        <p:spPr>
          <a:xfrm>
            <a:off x="0" y="0"/>
            <a:ext cx="332500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5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5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5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wipe(right)">
                                      <p:cBhvr>
                                        <p:cTn id="23" dur="42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2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Four Paradigms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3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Why Learn a Program Instead of Writing One?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A Precise Definition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1.3   The Four Paradigms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Designing a Learning System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   Learning as Search Through a Hypothesis Space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   A Short History</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   Where Machine Learning Sits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     </a:t>
            </a:r>
            <a:fld id="{2569FA7D-EAF4-4C5E-AF41-010D654F77DF}" type="slidenum">
              <a:rPr lang="en-GB" sz="1000">
                <a:solidFill>
                  <a:srgbClr val="8795A1"/>
                </a:solidFill>
                <a:latin typeface="Segoe UI"/>
              </a:rPr>
              <a:t>13</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6020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Four Paradigms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95D17533-D7BB-428C-B755-C55E9648EAF4}" type="slidenum">
              <a:rPr lang="en-GB" sz="1000">
                <a:solidFill>
                  <a:srgbClr val="8795A1"/>
                </a:solidFill>
                <a:latin typeface="Segoe UI"/>
              </a:rPr>
              <a:t>14</a:t>
            </a:fld>
          </a:p>
        </p:txBody>
      </p:sp>
      <p:pic>
        <p:nvPicPr>
          <p:cNvPr id="6" name="!!figure" descr="Figure 1.2. The four paradigms, distinguished by what the experience tells the learner about the right answer: all of it, none of it, a little of it, or only whether what it did turned out well."/>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706" y="1737360"/>
            <a:ext cx="5970282"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four paradigms, distinguished by what the experience tells the learner about the right answer: all of it, none of it, a little of it, or only whether what it did turned out well.</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87917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Four Paradigms</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0E29ED05-707D-456F-A5DF-E68EF672774B}"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90263"/>
          </a:xfrm>
          <a:prstGeom prst="roundRect">
            <a:avLst>
              <a:gd name="adj" fmla="val 208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9026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Supervised learning</a:t>
            </a:r>
            <a:r>
              <a:rPr sz="2100" b="0" i="0">
                <a:solidFill>
                  <a:srgbClr val="1C252B"/>
                </a:solidFill>
                <a:latin typeface="Segoe UI"/>
              </a:rPr>
              <a:t>: every training example is a pair </a:t>
            </a:r>
            <a:r>
              <a:rPr sz="2100" b="0" i="0">
                <a:solidFill>
                  <a:srgbClr val="1C252B"/>
                </a:solidFill>
                <a:latin typeface="Cambria"/>
              </a:rPr>
              <a:t>(</a:t>
            </a:r>
            <a:r>
              <a:rPr sz="2100" b="1" i="1">
                <a:solidFill>
                  <a:srgbClr val="1C252B"/>
                </a:solidFill>
                <a:latin typeface="Cambria"/>
              </a:rPr>
              <a:t>x</a:t>
            </a:r>
            <a:r>
              <a:rPr sz="2100" b="0" i="0">
                <a:solidFill>
                  <a:srgbClr val="1C252B"/>
                </a:solidFill>
                <a:latin typeface="Cambria"/>
              </a:rPr>
              <a:t>, </a:t>
            </a:r>
            <a:r>
              <a:rPr sz="2100" b="0" i="1">
                <a:solidFill>
                  <a:srgbClr val="1C252B"/>
                </a:solidFill>
                <a:latin typeface="Cambria"/>
              </a:rPr>
              <a:t>y</a:t>
            </a:r>
            <a:r>
              <a:rPr sz="2100" b="0" i="0">
                <a:solidFill>
                  <a:srgbClr val="1C252B"/>
                </a:solidFill>
                <a:latin typeface="Cambria"/>
              </a:rPr>
              <a:t>)</a:t>
            </a:r>
            <a:r>
              <a:rPr sz="2100" b="0" i="0">
                <a:solidFill>
                  <a:srgbClr val="1C252B"/>
                </a:solidFill>
                <a:latin typeface="Segoe UI"/>
              </a:rPr>
              <a:t> of features and the correct answer (</a:t>
            </a:r>
            <a:r>
              <a:rPr sz="2100" b="1" i="0">
                <a:solidFill>
                  <a:srgbClr val="1A5276"/>
                </a:solidFill>
                <a:latin typeface="Segoe UI"/>
              </a:rPr>
              <a:t>label</a:t>
            </a:r>
            <a:r>
              <a:rPr sz="2100" b="0" i="0">
                <a:solidFill>
                  <a:srgbClr val="1C252B"/>
                </a:solidFill>
                <a:latin typeface="Segoe UI"/>
              </a:rPr>
              <a:t>). If </a:t>
            </a:r>
            <a:r>
              <a:rPr sz="2100" b="0" i="1">
                <a:solidFill>
                  <a:srgbClr val="1C252B"/>
                </a:solidFill>
                <a:latin typeface="Cambria"/>
              </a:rPr>
              <a:t>y</a:t>
            </a:r>
            <a:r>
              <a:rPr sz="2100" b="0" i="0">
                <a:solidFill>
                  <a:srgbClr val="1C252B"/>
                </a:solidFill>
                <a:latin typeface="Segoe UI"/>
              </a:rPr>
              <a:t> is a category the task is </a:t>
            </a:r>
            <a:r>
              <a:rPr sz="2100" b="1" i="0">
                <a:solidFill>
                  <a:srgbClr val="1A5276"/>
                </a:solidFill>
                <a:latin typeface="Segoe UI"/>
              </a:rPr>
              <a:t>classification</a:t>
            </a:r>
            <a:r>
              <a:rPr sz="2100" b="0" i="0">
                <a:solidFill>
                  <a:srgbClr val="1C252B"/>
                </a:solidFill>
                <a:latin typeface="Segoe UI"/>
              </a:rPr>
              <a:t>; if </a:t>
            </a:r>
            <a:r>
              <a:rPr sz="2100" b="0" i="1">
                <a:solidFill>
                  <a:srgbClr val="1C252B"/>
                </a:solidFill>
                <a:latin typeface="Cambria"/>
              </a:rPr>
              <a:t>y</a:t>
            </a:r>
            <a:r>
              <a:rPr sz="2100" b="0" i="0">
                <a:solidFill>
                  <a:srgbClr val="1C252B"/>
                </a:solidFill>
                <a:latin typeface="Segoe UI"/>
              </a:rPr>
              <a:t> is a number it is </a:t>
            </a:r>
            <a:r>
              <a:rPr sz="2100" b="1" i="0">
                <a:solidFill>
                  <a:srgbClr val="1A5276"/>
                </a:solidFill>
                <a:latin typeface="Segoe UI"/>
              </a:rPr>
              <a:t>regression</a:t>
            </a:r>
            <a:r>
              <a:rPr sz="2100" b="0" i="0">
                <a:solidFill>
                  <a:srgbClr val="1C252B"/>
                </a:solidFill>
                <a:latin typeface="Segoe UI"/>
              </a:rPr>
              <a:t>.</a:t>
            </a:r>
          </a:p>
        </p:txBody>
      </p:sp>
      <p:sp>
        <p:nvSpPr>
          <p:cNvPr id="10" name="body-1"/>
          <p:cNvSpPr txBox="1"/>
          <p:nvPr/>
        </p:nvSpPr>
        <p:spPr>
          <a:xfrm>
            <a:off x="1060704" y="3193465"/>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Unsupervised learning</a:t>
            </a:r>
            <a:r>
              <a:rPr sz="2100" b="0" i="0">
                <a:solidFill>
                  <a:srgbClr val="1C252B"/>
                </a:solidFill>
                <a:latin typeface="Segoe UI"/>
              </a:rPr>
              <a:t>: examples </a:t>
            </a:r>
            <a:r>
              <a:rPr sz="2100" b="1" i="1">
                <a:solidFill>
                  <a:srgbClr val="1C252B"/>
                </a:solidFill>
                <a:latin typeface="Cambria"/>
              </a:rPr>
              <a:t>x</a:t>
            </a:r>
            <a:r>
              <a:rPr sz="2100" b="0" i="0">
                <a:solidFill>
                  <a:srgbClr val="1C252B"/>
                </a:solidFill>
                <a:latin typeface="Segoe UI"/>
              </a:rPr>
              <a:t> with no labels. The task is to find structure — groups, directions of variation, a compact representation.</a:t>
            </a:r>
          </a:p>
        </p:txBody>
      </p:sp>
      <p:sp>
        <p:nvSpPr>
          <p:cNvPr id="11" name="body-2"/>
          <p:cNvSpPr txBox="1"/>
          <p:nvPr/>
        </p:nvSpPr>
        <p:spPr>
          <a:xfrm>
            <a:off x="1060704" y="4005834"/>
            <a:ext cx="10161727" cy="71140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Semi-supervised learning</a:t>
            </a:r>
            <a:r>
              <a:rPr sz="2100" b="0" i="0">
                <a:solidFill>
                  <a:srgbClr val="1C252B"/>
                </a:solidFill>
                <a:latin typeface="Segoe UI"/>
              </a:rPr>
              <a:t>: a few labelled examples and many unlabelled ones, used together.</a:t>
            </a:r>
          </a:p>
        </p:txBody>
      </p:sp>
      <p:sp>
        <p:nvSpPr>
          <p:cNvPr id="12" name="body-3"/>
          <p:cNvSpPr txBox="1"/>
          <p:nvPr/>
        </p:nvSpPr>
        <p:spPr>
          <a:xfrm>
            <a:off x="1060704" y="4818202"/>
            <a:ext cx="10161727" cy="104424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A5276"/>
                </a:solidFill>
                <a:latin typeface="Segoe UI"/>
              </a:rPr>
              <a:t>Reinforcement learning</a:t>
            </a:r>
            <a:r>
              <a:rPr sz="2100" b="0" i="0">
                <a:solidFill>
                  <a:srgbClr val="1C252B"/>
                </a:solidFill>
                <a:latin typeface="Segoe UI"/>
              </a:rPr>
              <a:t>: an agent acts in an environment and receives a reward. Nobody says what the right action was; the agent must discover which actions lead, eventually, to high reward.</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415625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Four Paradigms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00306E2A-5C7D-4818-AA7D-0142662EA833}" type="slidenum">
              <a:rPr lang="en-GB" sz="1000">
                <a:solidFill>
                  <a:srgbClr val="8795A1"/>
                </a:solidFill>
                <a:latin typeface="Segoe UI"/>
              </a:rPr>
              <a:t>16</a:t>
            </a:fld>
          </a:p>
        </p:txBody>
      </p:sp>
      <p:graphicFrame>
        <p:nvGraphicFramePr>
          <p:cNvPr id="7" name="!!table"/>
          <p:cNvGraphicFramePr>
            <a:graphicFrameLocks noGrp="1"/>
          </p:cNvGraphicFramePr>
          <p:nvPr/>
        </p:nvGraphicFramePr>
        <p:xfrm>
          <a:off x="658368" y="1737360"/>
          <a:ext cx="10874957" cy="3986784"/>
        </p:xfrm>
        <a:graphic>
          <a:graphicData uri="http://schemas.openxmlformats.org/drawingml/2006/table">
            <a:tbl>
              <a:tblPr firstRow="0" bandRow="0" firstCol="0" lastRow="0" lastCol="0" bandCol="0">
                <a:tableStyleId>{2D5ABB26-0587-4C30-8999-92F81FD0307C}</a:tableStyleId>
              </a:tblPr>
              <a:tblGrid>
                <a:gridCol w="2019635"/>
                <a:gridCol w="2330348"/>
                <a:gridCol w="2252670"/>
                <a:gridCol w="3029452"/>
                <a:gridCol w="1242852"/>
              </a:tblGrid>
              <a:tr h="405384">
                <a:tc>
                  <a:txBody>
                    <a:bodyPr wrap="square"/>
                    <a:lstStyle/>
                    <a:p>
                      <a:pPr algn="l"/>
                      <a:r>
                        <a:rPr sz="1700" b="1" i="0">
                          <a:solidFill>
                            <a:srgbClr val="1A5276"/>
                          </a:solidFill>
                          <a:latin typeface="Segoe UI"/>
                        </a:rPr>
                        <a:t>Paradigm</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Experience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Learns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Example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Chapters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Supervised, regression</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Features and a numeric target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function to a number</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Hours a user story will take</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5, 7, 11, 13, 14</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Supervised, classification</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Features and a category</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function to a class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Will this task finish late?</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6, 8–14</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Unsupervised</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Features only</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Groups, directions, maps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Kinds of project in a portfolio</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15, 16</a:t>
                      </a:r>
                      <a:endParaRPr sz="1700"/>
                    </a:p>
                  </a:txBody>
                  <a:tcPr marL="109728" marR="109728" marT="64008" marB="45720" anchor="t">
                    <a:lnL w="0" cmpd="sng">
                      <a:noFill/>
                    </a:lnL>
                    <a:lnR w="0" cmpd="sng">
                      <a:noFill/>
                    </a:lnR>
                    <a:lnT w="9525" cmpd="sng">
                      <a:noFill/>
                    </a:lnT>
                    <a:lnB w="9525" cmpd="sng">
                      <a:noFill/>
                    </a:lnB>
                    <a:solidFill>
                      <a:srgbClr val="FFFFFF"/>
                    </a:solidFill>
                  </a:tcPr>
                </a:tc>
              </a:tr>
              <a:tr h="923544">
                <a:tc>
                  <a:txBody>
                    <a:bodyPr wrap="square"/>
                    <a:lstStyle/>
                    <a:p>
                      <a:pPr algn="l"/>
                      <a:r>
                        <a:rPr sz="1700" b="0" i="0">
                          <a:solidFill>
                            <a:srgbClr val="1C252B"/>
                          </a:solidFill>
                          <a:latin typeface="Segoe UI"/>
                        </a:rPr>
                        <a:t>Semi-supervised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Few labels, many unlabelled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classifier using both</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Triage of ten thousand tickets when two hundred are labelled</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17</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Reinforcement</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States, actions, rewards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A policy: what to do in each state</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When to pay down technical debt</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19, 20</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443334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Classification or Regression? Look at the Target, Not the Features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  ·  Handout p. 5     </a:t>
            </a:r>
            <a:fld id="{9BB9B2F8-E06B-4B4F-AC59-CD149D350E5B}"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444496"/>
          </a:xfrm>
          <a:prstGeom prst="roundRect">
            <a:avLst>
              <a:gd name="adj" fmla="val 3740"/>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444496"/>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paradigm is decided by what </a:t>
            </a:r>
            <a:r>
              <a:rPr sz="2300" b="0" i="1">
                <a:solidFill>
                  <a:srgbClr val="1C252B"/>
                </a:solidFill>
                <a:latin typeface="Cambria"/>
              </a:rPr>
              <a:t>y</a:t>
            </a:r>
            <a:r>
              <a:rPr sz="2300" b="0" i="0">
                <a:solidFill>
                  <a:srgbClr val="1C252B"/>
                </a:solidFill>
                <a:latin typeface="Segoe UI"/>
              </a:rPr>
              <a:t> is. “Predict a project’s final cost” is regression; “predict whether the project will overrun its budget” is classification — same projects, same features, different </a:t>
            </a:r>
            <a:r>
              <a:rPr sz="2300" b="0" i="1">
                <a:solidFill>
                  <a:srgbClr val="1C252B"/>
                </a:solidFill>
                <a:latin typeface="Cambria"/>
              </a:rPr>
              <a:t>y</a:t>
            </a:r>
            <a:r>
              <a:rPr sz="2300" b="0" i="0">
                <a:solidFill>
                  <a:srgbClr val="1C252B"/>
                </a:solidFill>
                <a:latin typeface="Segoe UI"/>
              </a:rPr>
              <a:t>. Numbers used as category codes (team 7, office 3) are a common trap: ask whether averaging two values of </a:t>
            </a:r>
            <a:r>
              <a:rPr sz="2300" b="0" i="1">
                <a:solidFill>
                  <a:srgbClr val="1C252B"/>
                </a:solidFill>
                <a:latin typeface="Cambria"/>
              </a:rPr>
              <a:t>y</a:t>
            </a:r>
            <a:r>
              <a:rPr sz="2300" b="0" i="0">
                <a:solidFill>
                  <a:srgbClr val="1C252B"/>
                </a:solidFill>
                <a:latin typeface="Segoe UI"/>
              </a:rPr>
              <a:t> would mean anything.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7104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Four Design Decisions</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B5AB8925-8BEF-434B-AA77-C954FEAF0987}"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32660"/>
          </a:xfrm>
          <a:prstGeom prst="roundRect">
            <a:avLst>
              <a:gd name="adj" fmla="val 211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3266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1. Choose the training experience.</a:t>
            </a:r>
            <a:r>
              <a:rPr sz="1900" b="0" i="0">
                <a:solidFill>
                  <a:srgbClr val="1C252B"/>
                </a:solidFill>
                <a:latin typeface="Segoe UI"/>
              </a:rPr>
              <a:t> Records of past projects with their data at Week 2 and whether they finished late. Is it representative? Only if past projects resemble this one — a new kind of client or a new technology stack breaks that.</a:t>
            </a:r>
          </a:p>
        </p:txBody>
      </p:sp>
      <p:sp>
        <p:nvSpPr>
          <p:cNvPr id="10" name="body-1"/>
          <p:cNvSpPr txBox="1"/>
          <p:nvPr/>
        </p:nvSpPr>
        <p:spPr>
          <a:xfrm>
            <a:off x="1042416" y="304782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2. Choose the target function.</a:t>
            </a:r>
            <a:r>
              <a:rPr sz="1900" b="0" i="0">
                <a:solidFill>
                  <a:srgbClr val="1C252B"/>
                </a:solidFill>
                <a:latin typeface="Segoe UI"/>
              </a:rPr>
              <a:t> What exactly should be learned?</a:t>
            </a:r>
          </a:p>
        </p:txBody>
      </p:sp>
      <p:sp>
        <p:nvSpPr>
          <p:cNvPr id="11" name="body-2"/>
          <p:cNvSpPr txBox="1"/>
          <p:nvPr/>
        </p:nvSpPr>
        <p:spPr>
          <a:xfrm>
            <a:off x="1042416" y="3481679"/>
            <a:ext cx="10234879" cy="73245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Option A: </a:t>
            </a:r>
            <a:r>
              <a:rPr sz="1900" b="0" i="1">
                <a:solidFill>
                  <a:srgbClr val="1C252B"/>
                </a:solidFill>
                <a:latin typeface="Cambria"/>
              </a:rPr>
              <a:t>V</a:t>
            </a:r>
            <a:r>
              <a:rPr sz="1900" b="0" i="0">
                <a:solidFill>
                  <a:srgbClr val="1C252B"/>
                </a:solidFill>
                <a:latin typeface="Cambria"/>
              </a:rPr>
              <a:t>: </a:t>
            </a:r>
            <a:r>
              <a:rPr sz="1900" b="0" i="0">
                <a:solidFill>
                  <a:srgbClr val="1C252B"/>
                </a:solidFill>
                <a:latin typeface="Segoe UI"/>
              </a:rPr>
              <a:t>project</a:t>
            </a:r>
            <a:r>
              <a:rPr sz="1900" b="0" i="0">
                <a:solidFill>
                  <a:srgbClr val="1C252B"/>
                </a:solidFill>
                <a:latin typeface="Cambria"/>
              </a:rPr>
              <a:t> → {</a:t>
            </a:r>
            <a:r>
              <a:rPr sz="1900" b="0" i="0">
                <a:solidFill>
                  <a:srgbClr val="1C252B"/>
                </a:solidFill>
                <a:latin typeface="Segoe UI"/>
              </a:rPr>
              <a:t>on time</a:t>
            </a:r>
            <a:r>
              <a:rPr sz="1900" b="0" i="0">
                <a:solidFill>
                  <a:srgbClr val="1C252B"/>
                </a:solidFill>
                <a:latin typeface="Cambria"/>
              </a:rPr>
              <a:t>, </a:t>
            </a:r>
            <a:r>
              <a:rPr sz="1900" b="0" i="0">
                <a:solidFill>
                  <a:srgbClr val="1C252B"/>
                </a:solidFill>
                <a:latin typeface="Segoe UI"/>
              </a:rPr>
              <a:t>late</a:t>
            </a:r>
            <a:r>
              <a:rPr sz="1900" b="0" i="0">
                <a:solidFill>
                  <a:srgbClr val="1C252B"/>
                </a:solidFill>
                <a:latin typeface="Cambria"/>
              </a:rPr>
              <a:t>}</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Segoe UI"/>
              </a:rPr>
              <a:t>Option B: </a:t>
            </a:r>
            <a:r>
              <a:rPr sz="1900" b="0" i="1">
                <a:solidFill>
                  <a:srgbClr val="1C252B"/>
                </a:solidFill>
                <a:latin typeface="Cambria"/>
              </a:rPr>
              <a:t>V</a:t>
            </a:r>
            <a:r>
              <a:rPr sz="1900" b="0" i="0">
                <a:solidFill>
                  <a:srgbClr val="1C252B"/>
                </a:solidFill>
                <a:latin typeface="Cambria"/>
              </a:rPr>
              <a:t>: </a:t>
            </a:r>
            <a:r>
              <a:rPr sz="1900" b="0" i="0">
                <a:solidFill>
                  <a:srgbClr val="1C252B"/>
                </a:solidFill>
                <a:latin typeface="Segoe UI"/>
              </a:rPr>
              <a:t>project</a:t>
            </a:r>
            <a:r>
              <a:rPr sz="1900" b="0" i="0">
                <a:solidFill>
                  <a:srgbClr val="1C252B"/>
                </a:solidFill>
                <a:latin typeface="Cambria"/>
              </a:rPr>
              <a:t> → [0,1]</a:t>
            </a:r>
            <a:r>
              <a:rPr sz="1900" b="0" i="0">
                <a:solidFill>
                  <a:srgbClr val="1C252B"/>
                </a:solidFill>
                <a:latin typeface="Segoe UI"/>
              </a:rPr>
              <a:t>, the probability of finishing late.</a:t>
            </a:r>
          </a:p>
        </p:txBody>
      </p:sp>
      <p:sp>
        <p:nvSpPr>
          <p:cNvPr id="12" name="body-3"/>
          <p:cNvSpPr txBox="1"/>
          <p:nvPr/>
        </p:nvSpPr>
        <p:spPr>
          <a:xfrm>
            <a:off x="1042416" y="4301134"/>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Option B is more useful: it lets the project office review the riskiest projects first.</a:t>
            </a:r>
          </a:p>
        </p:txBody>
      </p:sp>
      <p:sp>
        <p:nvSpPr>
          <p:cNvPr id="13" name="body-4"/>
          <p:cNvSpPr txBox="1"/>
          <p:nvPr/>
        </p:nvSpPr>
        <p:spPr>
          <a:xfrm>
            <a:off x="1042416" y="4734991"/>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3. Choose a representation</a:t>
            </a:r>
            <a:r>
              <a:rPr sz="1900" b="0" i="0">
                <a:solidFill>
                  <a:srgbClr val="1C252B"/>
                </a:solidFill>
                <a:latin typeface="Segoe UI"/>
              </a:rPr>
              <a:t> for the approximation </a:t>
            </a:r>
            <a:r>
              <a:rPr sz="1900" b="0" i="1">
                <a:solidFill>
                  <a:srgbClr val="1C252B"/>
                </a:solidFill>
                <a:latin typeface="Cambria"/>
              </a:rPr>
              <a:t>V̂</a:t>
            </a:r>
            <a:r>
              <a:rPr sz="1900" b="0" i="0">
                <a:solidFill>
                  <a:srgbClr val="1C252B"/>
                </a:solidFill>
                <a:latin typeface="Segoe UI"/>
              </a:rPr>
              <a:t> of the target. For example, a weighted sum of features:</a:t>
            </a:r>
          </a:p>
        </p:txBody>
      </p:sp>
      <p:sp>
        <p:nvSpPr>
          <p:cNvPr id="14" name="body-4bar">
            <a:extLst>
              <a:ext uri="{C183D7F6-B498-43B3-948B-1728B52AA6E4}">
                <adec:decorative xmlns:adec="http://schemas.microsoft.com/office/drawing/2017/decorative" val="1"/>
              </a:ext>
            </a:extLst>
          </p:cNvPr>
          <p:cNvSpPr/>
          <p:nvPr/>
        </p:nvSpPr>
        <p:spPr>
          <a:xfrm>
            <a:off x="841248" y="4753279"/>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5" name="body-5" descr="\hat{V}(\mathbf{x}) = \sigma(w_0 + w_1\, \text{requirement changes} + w_2\, \text{team experience} + w_3\, \text{tasks done by Week 2})"/>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5469991"/>
            <a:ext cx="10234879" cy="325709"/>
          </a:xfrm>
          <a:prstGeom prst="rect">
            <a:avLst/>
          </a:prstGeom>
        </p:spPr>
      </p:pic>
      <p:sp>
        <p:nvSpPr>
          <p:cNvPr id="3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pfill">
            <a:extLst>
              <a:ext uri="{C183D7F6-B498-43B3-948B-1728B52AA6E4}">
                <adec:decorative xmlns:adec="http://schemas.microsoft.com/office/drawing/2017/decorative" val="1"/>
              </a:ext>
            </a:extLst>
          </p:cNvPr>
          <p:cNvSpPr/>
          <p:nvPr/>
        </p:nvSpPr>
        <p:spPr>
          <a:xfrm>
            <a:off x="0" y="0"/>
            <a:ext cx="49875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wipe(right)">
                                      <p:cBhvr>
                                        <p:cTn id="23" dur="42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right)">
                                      <p:cBhvr>
                                        <p:cTn id="28" dur="42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420"/>
                                        <p:tgtEl>
                                          <p:spTgt spid="13"/>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2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Four Design Decisions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§1.4  ·  Handout p. 6     </a:t>
            </a:r>
            <a:fld id="{B866F09E-FB06-40F5-8F53-C4ED19570BC2}"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620924"/>
          </a:xfrm>
          <a:prstGeom prst="roundRect">
            <a:avLst>
              <a:gd name="adj" fmla="val 348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6209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where </a:t>
            </a:r>
            <a:r>
              <a:rPr sz="1900" b="0" i="0">
                <a:solidFill>
                  <a:srgbClr val="1C252B"/>
                </a:solidFill>
                <a:latin typeface="Cambria"/>
              </a:rPr>
              <a:t>σ</a:t>
            </a:r>
            <a:r>
              <a:rPr sz="1900" b="0" i="0">
                <a:solidFill>
                  <a:srgbClr val="1C252B"/>
                </a:solidFill>
                <a:latin typeface="Segoe UI"/>
              </a:rPr>
              <a:t> squashes any number into </a:t>
            </a:r>
            <a:r>
              <a:rPr sz="1900" b="0" i="0">
                <a:solidFill>
                  <a:srgbClr val="1C252B"/>
                </a:solidFill>
                <a:latin typeface="Cambria"/>
              </a:rPr>
              <a:t>[0,1]</a:t>
            </a:r>
            <a:r>
              <a:rPr sz="1900" b="0" i="0">
                <a:solidFill>
                  <a:srgbClr val="1C252B"/>
                </a:solidFill>
                <a:latin typeface="Segoe UI"/>
              </a:rPr>
              <a:t> (Chapter 6). Choosing this form rules out, for good or ill, every pattern it cannot express.</a:t>
            </a:r>
          </a:p>
        </p:txBody>
      </p:sp>
      <p:sp>
        <p:nvSpPr>
          <p:cNvPr id="10" name="body-1"/>
          <p:cNvSpPr txBox="1"/>
          <p:nvPr/>
        </p:nvSpPr>
        <p:spPr>
          <a:xfrm>
            <a:off x="1042416" y="2746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4. Choose a learning algorithm</a:t>
            </a:r>
            <a:r>
              <a:rPr sz="1900" b="0" i="0">
                <a:solidFill>
                  <a:srgbClr val="1C252B"/>
                </a:solidFill>
                <a:latin typeface="Segoe UI"/>
              </a:rPr>
              <a:t> that sets the weights </a:t>
            </a:r>
            <a:r>
              <a:rPr sz="1900" b="0" i="1">
                <a:solidFill>
                  <a:srgbClr val="1C252B"/>
                </a:solidFill>
                <a:latin typeface="Cambria"/>
              </a:rPr>
              <a:t>w</a:t>
            </a:r>
            <a:r>
              <a:rPr sz="1900" b="0" i="0" baseline="-25000">
                <a:solidFill>
                  <a:srgbClr val="1C252B"/>
                </a:solidFill>
                <a:latin typeface="Cambria"/>
              </a:rPr>
              <a:t>0</a:t>
            </a:r>
            <a:r>
              <a:rPr sz="1900" b="0" i="0">
                <a:solidFill>
                  <a:srgbClr val="1C252B"/>
                </a:solidFill>
                <a:latin typeface="Cambria"/>
              </a:rPr>
              <a:t>, …, </a:t>
            </a:r>
            <a:r>
              <a:rPr sz="1900" b="0" i="1">
                <a:solidFill>
                  <a:srgbClr val="1C252B"/>
                </a:solidFill>
                <a:latin typeface="Cambria"/>
              </a:rPr>
              <a:t>w</a:t>
            </a:r>
            <a:r>
              <a:rPr sz="1900" b="0" i="0" baseline="-25000">
                <a:solidFill>
                  <a:srgbClr val="1C252B"/>
                </a:solidFill>
                <a:latin typeface="Cambria"/>
              </a:rPr>
              <a:t>3</a:t>
            </a:r>
            <a:r>
              <a:rPr sz="1900" b="0" i="0">
                <a:solidFill>
                  <a:srgbClr val="1C252B"/>
                </a:solidFill>
                <a:latin typeface="Segoe UI"/>
              </a:rPr>
              <a:t> from the training experience — here, gradient descent on a loss (Chapter 2).</a:t>
            </a:r>
          </a:p>
        </p:txBody>
      </p:sp>
      <p:sp>
        <p:nvSpPr>
          <p:cNvPr id="11" name="body-1bar">
            <a:extLst>
              <a:ext uri="{C183D7F6-B498-43B3-948B-1728B52AA6E4}">
                <adec:decorative xmlns:adec="http://schemas.microsoft.com/office/drawing/2017/decorative" val="1"/>
              </a:ext>
            </a:extLst>
          </p:cNvPr>
          <p:cNvSpPr/>
          <p:nvPr/>
        </p:nvSpPr>
        <p:spPr>
          <a:xfrm>
            <a:off x="841248" y="276496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body-2"/>
          <p:cNvSpPr txBox="1"/>
          <p:nvPr/>
        </p:nvSpPr>
        <p:spPr>
          <a:xfrm>
            <a:off x="1042416" y="348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first three decisions matter more than the fourth.</a:t>
            </a:r>
            <a:r>
              <a:rPr sz="1900" b="0" i="0">
                <a:solidFill>
                  <a:srgbClr val="1C252B"/>
                </a:solidFill>
                <a:latin typeface="Segoe UI"/>
              </a:rPr>
              <a:t> A poor choice of experience or target cannot be rescued by a better algorithm.</a:t>
            </a:r>
          </a:p>
        </p:txBody>
      </p:sp>
      <p:sp>
        <p:nvSpPr>
          <p:cNvPr id="13" name="body-2bar">
            <a:extLst>
              <a:ext uri="{C183D7F6-B498-43B3-948B-1728B52AA6E4}">
                <adec:decorative xmlns:adec="http://schemas.microsoft.com/office/drawing/2017/decorative" val="1"/>
              </a:ext>
            </a:extLst>
          </p:cNvPr>
          <p:cNvSpPr/>
          <p:nvPr/>
        </p:nvSpPr>
        <p:spPr>
          <a:xfrm>
            <a:off x="841248" y="3499967"/>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pfill">
            <a:extLst>
              <a:ext uri="{C183D7F6-B498-43B3-948B-1728B52AA6E4}">
                <adec:decorative xmlns:adec="http://schemas.microsoft.com/office/drawing/2017/decorative" val="1"/>
              </a:ext>
            </a:extLst>
          </p:cNvPr>
          <p:cNvSpPr/>
          <p:nvPr/>
        </p:nvSpPr>
        <p:spPr>
          <a:xfrm>
            <a:off x="0" y="0"/>
            <a:ext cx="526459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20"/>
                                        <p:tgtEl>
                                          <p:spTgt spid="10"/>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Learning as Search Through a Hypothesis Space</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ACBD6"/>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1.1   Why Learn a Program Instead of Writing One?</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1.2   A Precise Definition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   The Four Paradigms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1.4   Designing a Learning System</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A5276"/>
                </a:solidFill>
                <a:latin typeface="Segoe UI"/>
              </a:rPr>
              <a:t>1.5   Learning as Search Through a Hypothesis Space</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1.6   A Short History</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1.7   Where Machine Learning Sits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     </a:t>
            </a:r>
            <a:fld id="{45739BE7-87C6-4AC0-87F8-2FF590F20E3D}" type="slidenum">
              <a:rPr lang="en-GB" sz="1000">
                <a:solidFill>
                  <a:srgbClr val="8795A1"/>
                </a:solidFill>
                <a:latin typeface="Segoe UI"/>
              </a:rPr>
              <a:t>20</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54167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Hypothesis and Hypothesis Space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A171288B-FD01-469A-BFCA-67C1CEB40328}" type="slidenum">
              <a:rPr lang="en-GB" sz="1000">
                <a:solidFill>
                  <a:srgbClr val="8795A1"/>
                </a:solidFill>
                <a:latin typeface="Segoe UI"/>
              </a:rPr>
              <a:t>21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hypothesis</a:t>
            </a:r>
            <a:r>
              <a:rPr sz="2300" b="0" i="0">
                <a:solidFill>
                  <a:srgbClr val="1C252B"/>
                </a:solidFill>
                <a:latin typeface="Segoe UI"/>
              </a:rPr>
              <a:t> </a:t>
            </a:r>
            <a:r>
              <a:rPr sz="2300" b="0" i="1">
                <a:solidFill>
                  <a:srgbClr val="1C252B"/>
                </a:solidFill>
                <a:latin typeface="Cambria"/>
              </a:rPr>
              <a:t>h</a:t>
            </a:r>
            <a:r>
              <a:rPr sz="2300" b="0" i="0">
                <a:solidFill>
                  <a:srgbClr val="1C252B"/>
                </a:solidFill>
                <a:latin typeface="Segoe UI"/>
              </a:rPr>
              <a:t> is one candidate function from inputs to outputs — one particular setting of the weights, one particular decision tree. The </a:t>
            </a:r>
            <a:r>
              <a:rPr sz="2300" b="1" i="0">
                <a:solidFill>
                  <a:srgbClr val="1A5276"/>
                </a:solidFill>
                <a:latin typeface="Segoe UI"/>
              </a:rPr>
              <a:t>hypothesis space</a:t>
            </a:r>
            <a:r>
              <a:rPr sz="2300" b="0" i="0">
                <a:solidFill>
                  <a:srgbClr val="1C252B"/>
                </a:solidFill>
                <a:latin typeface="Segoe UI"/>
              </a:rPr>
              <a:t> </a:t>
            </a:r>
            <a:r>
              <a:rPr sz="2300" b="0" i="1">
                <a:solidFill>
                  <a:srgbClr val="1C252B"/>
                </a:solidFill>
                <a:latin typeface="Cambria"/>
              </a:rPr>
              <a:t>H</a:t>
            </a:r>
            <a:r>
              <a:rPr sz="2300" b="0" i="0">
                <a:solidFill>
                  <a:srgbClr val="1C252B"/>
                </a:solidFill>
                <a:latin typeface="Segoe UI"/>
              </a:rPr>
              <a:t> is the set of all hypotheses the representation allows. The unknown true function the data came from is the </a:t>
            </a:r>
            <a:r>
              <a:rPr sz="2300" b="1" i="0">
                <a:solidFill>
                  <a:srgbClr val="1A5276"/>
                </a:solidFill>
                <a:latin typeface="Segoe UI"/>
              </a:rPr>
              <a:t>target function</a:t>
            </a:r>
            <a:r>
              <a:rPr sz="2300" b="0" i="0">
                <a:solidFill>
                  <a:srgbClr val="1C252B"/>
                </a:solidFill>
                <a:latin typeface="Segoe UI"/>
              </a:rPr>
              <a:t> </a:t>
            </a:r>
            <a:r>
              <a:rPr sz="2300" b="0" i="1">
                <a:solidFill>
                  <a:srgbClr val="1C252B"/>
                </a:solidFill>
                <a:latin typeface="Cambria"/>
              </a:rPr>
              <a:t>c</a:t>
            </a:r>
            <a:r>
              <a:rPr sz="2300" b="0" i="0">
                <a:solidFill>
                  <a:srgbClr val="1C252B"/>
                </a:solidFill>
                <a:latin typeface="Segoe UI"/>
              </a:rPr>
              <a:t> (or </a:t>
            </a:r>
            <a:r>
              <a:rPr sz="2300" b="0" i="1">
                <a:solidFill>
                  <a:srgbClr val="1C252B"/>
                </a:solidFill>
                <a:latin typeface="Cambria"/>
              </a:rPr>
              <a:t>f</a:t>
            </a:r>
            <a:r>
              <a:rPr sz="2300" b="0" i="0">
                <a:solidFill>
                  <a:srgbClr val="1C252B"/>
                </a:solidFill>
                <a:latin typeface="Segoe UI"/>
              </a:rPr>
              <a:t>). </a:t>
            </a:r>
            <a:r>
              <a:rPr sz="2300" b="1" i="0">
                <a:solidFill>
                  <a:srgbClr val="1A5276"/>
                </a:solidFill>
                <a:latin typeface="Segoe UI"/>
              </a:rPr>
              <a:t>Learning</a:t>
            </a:r>
            <a:r>
              <a:rPr sz="2300" b="0" i="0">
                <a:solidFill>
                  <a:srgbClr val="1C252B"/>
                </a:solidFill>
                <a:latin typeface="Segoe UI"/>
              </a:rPr>
              <a:t> is a search through </a:t>
            </a:r>
            <a:r>
              <a:rPr sz="2300" b="0" i="1">
                <a:solidFill>
                  <a:srgbClr val="1C252B"/>
                </a:solidFill>
                <a:latin typeface="Cambria"/>
              </a:rPr>
              <a:t>H</a:t>
            </a:r>
            <a:r>
              <a:rPr sz="2300" b="0" i="0">
                <a:solidFill>
                  <a:srgbClr val="1C252B"/>
                </a:solidFill>
                <a:latin typeface="Segoe UI"/>
              </a:rPr>
              <a:t> for a hypothesis that agrees with </a:t>
            </a:r>
            <a:r>
              <a:rPr sz="2300" b="0" i="1">
                <a:solidFill>
                  <a:srgbClr val="1C252B"/>
                </a:solidFill>
                <a:latin typeface="Cambria"/>
              </a:rPr>
              <a:t>c</a:t>
            </a:r>
            <a:r>
              <a:rPr sz="2300" b="0" i="0">
                <a:solidFill>
                  <a:srgbClr val="1C252B"/>
                </a:solidFill>
                <a:latin typeface="Segoe UI"/>
              </a:rPr>
              <a:t> — not just on the training data, but on data not yet seen.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581876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Learning as search</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6A5C08D0-144E-4166-9DA6-3A68B625713C}" type="slidenum">
              <a:rPr lang="en-GB" sz="1000">
                <a:solidFill>
                  <a:srgbClr val="8795A1"/>
                </a:solidFill>
                <a:latin typeface="Segoe UI"/>
              </a:rPr>
              <a:t>22</a:t>
            </a:fld>
          </a:p>
        </p:txBody>
      </p:sp>
      <p:pic>
        <p:nvPicPr>
          <p:cNvPr id="6" name="!!figure" descr="Figure 1.3. Learning as search. The data narrows the hypothesis space to those hypotheses consistent with it; something other than the data must choose among the survivor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14903"/>
            <a:ext cx="10874959" cy="3297401"/>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data narrows the hypothesis space to those hypotheses consistent with it; something other than the data must choose among the survivors.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609584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Why a Learner Must Assume Something</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  ·  Handout p. 7     </a:t>
            </a:r>
            <a:fld id="{0AECCA64-31EF-41EA-9075-9866A073C9CA}" type="slidenum">
              <a:rPr lang="en-GB" sz="1000">
                <a:solidFill>
                  <a:srgbClr val="8795A1"/>
                </a:solidFill>
                <a:latin typeface="Segoe UI"/>
              </a:rPr>
              <a:t>23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02659"/>
          </a:xfrm>
          <a:prstGeom prst="roundRect">
            <a:avLst>
              <a:gd name="adj" fmla="val 2343"/>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0265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326587"/>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new team’s first three stories took 2 hours (1 point), 4 hours (2 points) and 6 hours (3 points). How long will a 4-point story take? “8 hours” is the natural answer, but the rule “2 hours per point up to 3 points, and 0 above” fits the three stories just as perfectly. Nothing in the data prefers one to the other. You prefer 8 because you assume the simpler pattern continues. That assumption — the </a:t>
            </a:r>
            <a:r>
              <a:rPr sz="2300" b="1" i="0">
                <a:solidFill>
                  <a:srgbClr val="1A5276"/>
                </a:solidFill>
                <a:latin typeface="Segoe UI"/>
              </a:rPr>
              <a:t>inductive bias</a:t>
            </a:r>
            <a:r>
              <a:rPr sz="2300" b="0" i="0">
                <a:solidFill>
                  <a:srgbClr val="1C252B"/>
                </a:solidFill>
                <a:latin typeface="Segoe UI"/>
              </a:rPr>
              <a:t> — is not a defect to be removed: a learner with no bias at all cannot generalise beyond the examples it has seen. Chapter 4 proves this, and every later chapter names the bias of its algorithm.</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37293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Selected milestones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FIGURE 1.4</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§1.6  ·  Handout p. 7     </a:t>
            </a:r>
            <a:fld id="{41D138A2-D454-4DE7-9121-76BDA3ED85E5}" type="slidenum">
              <a:rPr lang="en-GB" sz="1000">
                <a:solidFill>
                  <a:srgbClr val="8795A1"/>
                </a:solidFill>
                <a:latin typeface="Segoe UI"/>
              </a:rPr>
              <a:t>24</a:t>
            </a:fld>
          </a:p>
        </p:txBody>
      </p:sp>
      <p:pic>
        <p:nvPicPr>
          <p:cNvPr id="6" name="!!figure" descr="Figure 1.4. Selected milestones. Most of what this course teaches was in place by 2001; what changed after 2012 was mainly scale — data, computation, and the depth of the network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2129917"/>
            <a:ext cx="10874959" cy="1497317"/>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Most of what this course teaches was in place by 2001; what changed after 2012 was mainly scale — data, computation, and the depth of the networks.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665001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32895E80-0B80-4361-B87E-49B0911C6C80}" type="slidenum">
              <a:rPr lang="en-GB" sz="1000">
                <a:solidFill>
                  <a:srgbClr val="8795A1"/>
                </a:solidFill>
                <a:latin typeface="Segoe UI"/>
              </a:rPr>
              <a:t>25</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Choosing the algorithm first.</a:t>
            </a:r>
            <a:r>
              <a:rPr sz="2100" b="0" i="0">
                <a:solidFill>
                  <a:srgbClr val="1C252B"/>
                </a:solidFill>
                <a:latin typeface="Segoe UI"/>
              </a:rPr>
              <a:t> “Let’s use a neural network” before </a:t>
            </a:r>
            <a:r>
              <a:rPr sz="2100" b="0" i="1">
                <a:solidFill>
                  <a:srgbClr val="1C252B"/>
                </a:solidFill>
                <a:latin typeface="Cambria"/>
              </a:rPr>
              <a:t>T</a:t>
            </a:r>
            <a:r>
              <a:rPr sz="2100" b="0" i="0">
                <a:solidFill>
                  <a:srgbClr val="1C252B"/>
                </a:solidFill>
                <a:latin typeface="Segoe UI"/>
              </a:rPr>
              <a:t>, </a:t>
            </a:r>
            <a:r>
              <a:rPr sz="2100" b="0" i="1">
                <a:solidFill>
                  <a:srgbClr val="1C252B"/>
                </a:solidFill>
                <a:latin typeface="Cambria"/>
              </a:rPr>
              <a:t>P</a:t>
            </a:r>
            <a:r>
              <a:rPr sz="2100" b="0" i="0">
                <a:solidFill>
                  <a:srgbClr val="1C252B"/>
                </a:solidFill>
                <a:latin typeface="Segoe UI"/>
              </a:rPr>
              <a:t> and </a:t>
            </a:r>
            <a:r>
              <a:rPr sz="2100" b="0" i="1">
                <a:solidFill>
                  <a:srgbClr val="1C252B"/>
                </a:solidFill>
                <a:latin typeface="Cambria"/>
              </a:rPr>
              <a:t>E</a:t>
            </a:r>
            <a:r>
              <a:rPr sz="2100" b="0" i="0">
                <a:solidFill>
                  <a:srgbClr val="1C252B"/>
                </a:solidFill>
                <a:latin typeface="Segoe UI"/>
              </a:rPr>
              <a:t> are written down. Decide what success means, and what data exists, before anything else.</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9985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Judging a model on the data it learned from.</a:t>
            </a:r>
            <a:r>
              <a:rPr sz="2100" b="0" i="0">
                <a:solidFill>
                  <a:srgbClr val="1C252B"/>
                </a:solidFill>
                <a:latin typeface="Segoe UI"/>
              </a:rPr>
              <a:t> Any sufficiently flexible model can memorise its training data. Performance means performance on examples it has not seen (Chapter 7).</a:t>
            </a:r>
          </a:p>
        </p:txBody>
      </p:sp>
      <p:sp>
        <p:nvSpPr>
          <p:cNvPr id="13" name="!!pb2">
            <a:extLst>
              <a:ext uri="{C183D7F6-B498-43B3-948B-1728B52AA6E4}">
                <adec:decorative xmlns:adec="http://schemas.microsoft.com/office/drawing/2017/decorative" val="1"/>
              </a:ext>
            </a:extLst>
          </p:cNvPr>
          <p:cNvSpPr/>
          <p:nvPr/>
        </p:nvSpPr>
        <p:spPr>
          <a:xfrm>
            <a:off x="658368" y="382219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84505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80390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Treating a category code as a number.</a:t>
            </a:r>
            <a:r>
              <a:rPr sz="2100" b="0" i="0">
                <a:solidFill>
                  <a:srgbClr val="1C252B"/>
                </a:solidFill>
                <a:latin typeface="Segoe UI"/>
              </a:rPr>
              <a:t> Team 7 is not “more” than team 3; averaging them means nothing.</a:t>
            </a:r>
          </a:p>
        </p:txBody>
      </p:sp>
      <p:sp>
        <p:nvSpPr>
          <p:cNvPr id="16" name="!!pb3">
            <a:extLst>
              <a:ext uri="{C183D7F6-B498-43B3-948B-1728B52AA6E4}">
                <adec:decorative xmlns:adec="http://schemas.microsoft.com/office/drawing/2017/decorative" val="1"/>
              </a:ext>
            </a:extLst>
          </p:cNvPr>
          <p:cNvSpPr/>
          <p:nvPr/>
        </p:nvSpPr>
        <p:spPr>
          <a:xfrm>
            <a:off x="658368" y="4689043"/>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711903"/>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670755"/>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Believing unsupervised means objective.</a:t>
            </a:r>
            <a:r>
              <a:rPr sz="2100" b="0" i="0">
                <a:solidFill>
                  <a:srgbClr val="1C252B"/>
                </a:solidFill>
                <a:latin typeface="Segoe UI"/>
              </a:rPr>
              <a:t> Every clustering reflects choices — of features, distance and number of groups — made by a person (Chapter 15).</a:t>
            </a:r>
          </a:p>
        </p:txBody>
      </p:sp>
      <p:sp>
        <p:nvSpPr>
          <p:cNvPr id="19" name="!!pb4">
            <a:extLst>
              <a:ext uri="{C183D7F6-B498-43B3-948B-1728B52AA6E4}">
                <adec:decorative xmlns:adec="http://schemas.microsoft.com/office/drawing/2017/decorative" val="1"/>
              </a:ext>
            </a:extLst>
          </p:cNvPr>
          <p:cNvSpPr/>
          <p:nvPr/>
        </p:nvSpPr>
        <p:spPr>
          <a:xfrm>
            <a:off x="658368" y="555589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57875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537606"/>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Calling any automation “machine learning”.</a:t>
            </a:r>
            <a:r>
              <a:rPr sz="2100" b="0" i="0">
                <a:solidFill>
                  <a:srgbClr val="1C252B"/>
                </a:solidFill>
                <a:latin typeface="Segoe UI"/>
              </a:rPr>
              <a:t> A threshold written by a person is a rule, not a model, however useful it is.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692709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Rule Against a Learned Model</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343DEB62-738E-41F3-B9ED-1C5FD82C7191}" type="slidenum">
              <a:rPr lang="en-GB" sz="1000">
                <a:solidFill>
                  <a:srgbClr val="8795A1"/>
                </a:solidFill>
                <a:latin typeface="Segoe UI"/>
              </a:rPr>
              <a:t>26</a:t>
            </a:fld>
          </a:p>
        </p:txBody>
      </p:sp>
      <p:sp>
        <p:nvSpPr>
          <p:cNvPr id="7" name="body-0"/>
          <p:cNvSpPr txBox="1"/>
          <p:nvPr/>
        </p:nvSpPr>
        <p:spPr>
          <a:xfrm>
            <a:off x="658368" y="1737360"/>
            <a:ext cx="10874959"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Write a rule by hand, then let an algorithm learn one, and compare them on tasks neither has seen. The lab makes its own data: 1,200 completed tasks from past sprints, each with its size in story points, the number of other tasks it waited on, its assignee’s years of experience and the number of requirement changes, and whether it finished late.</a:t>
            </a:r>
          </a:p>
        </p:txBody>
      </p:sp>
      <p:sp>
        <p:nvSpPr>
          <p:cNvPr id="8" name="!!labsteps-h"/>
          <p:cNvSpPr txBox="1"/>
          <p:nvPr/>
        </p:nvSpPr>
        <p:spPr>
          <a:xfrm>
            <a:off x="658368" y="3316224"/>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700272"/>
            <a:ext cx="10874959" cy="1104900"/>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A rule written by a person: big tasks run late</a:t>
            </a:r>
          </a:p>
          <a:p>
            <a:pPr algn="l" marL="459473" indent="-459473">
              <a:lnSpc>
                <a:spcPct val="100000"/>
              </a:lnSpc>
              <a:spcBef>
                <a:spcPts val="0"/>
              </a:spcBef>
              <a:spcAft>
                <a:spcPts val="570"/>
              </a:spcAft>
            </a:pPr>
            <a:r>
              <a:rPr sz="1900" b="1">
                <a:solidFill>
                  <a:srgbClr val="117A65"/>
                </a:solidFill>
                <a:latin typeface="Segoe UI"/>
              </a:rPr>
              <a:t>2.	</a:t>
            </a:r>
            <a:r>
              <a:rPr sz="1900" b="0" i="0">
                <a:solidFill>
                  <a:srgbClr val="1C252B"/>
                </a:solidFill>
                <a:latin typeface="Segoe UI"/>
              </a:rPr>
              <a:t>A rule found by a learning algorithm</a:t>
            </a:r>
          </a:p>
          <a:p>
            <a:pPr algn="l" marL="459473" indent="-459473">
              <a:lnSpc>
                <a:spcPct val="100000"/>
              </a:lnSpc>
              <a:spcBef>
                <a:spcPts val="0"/>
              </a:spcBef>
              <a:spcAft>
                <a:spcPts val="0"/>
              </a:spcAft>
            </a:pPr>
            <a:r>
              <a:rPr sz="1900" b="1">
                <a:solidFill>
                  <a:srgbClr val="117A65"/>
                </a:solidFill>
                <a:latin typeface="Segoe UI"/>
              </a:rPr>
              <a:t>3.	</a:t>
            </a:r>
            <a:r>
              <a:rPr sz="1900" b="0" i="0">
                <a:solidFill>
                  <a:srgbClr val="1C252B"/>
                </a:solidFill>
                <a:latin typeface="Segoe UI"/>
              </a:rPr>
              <a:t>The baseline every result must beat</a:t>
            </a:r>
          </a:p>
        </p:txBody>
      </p:sp>
      <p:sp>
        <p:nvSpPr>
          <p:cNvPr id="19"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22"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1C252B"/>
                </a:solidFill>
                <a:latin typeface="Segoe UI"/>
              </a:rPr>
              <a:t>Week 1: A rule against a learned model; the chapter in NumPy</a:t>
            </a:r>
          </a:p>
        </p:txBody>
      </p:sp>
      <p:sp>
        <p:nvSpPr>
          <p:cNvPr id="23"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6"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30 lines of Python</a:t>
            </a:r>
          </a:p>
        </p:txBody>
      </p:sp>
      <p:sp>
        <p:nvSpPr>
          <p:cNvPr id="27"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30"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code/ch01_rule_against_learned.py</a:t>
            </a:r>
          </a:p>
        </p:txBody>
      </p:sp>
      <p:sp>
        <p:nvSpPr>
          <p:cNvPr id="3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pfill">
            <a:extLst>
              <a:ext uri="{C183D7F6-B498-43B3-948B-1728B52AA6E4}">
                <adec:decorative xmlns:adec="http://schemas.microsoft.com/office/drawing/2017/decorative" val="1"/>
              </a:ext>
            </a:extLst>
          </p:cNvPr>
          <p:cNvSpPr/>
          <p:nvPr/>
        </p:nvSpPr>
        <p:spPr>
          <a:xfrm>
            <a:off x="0" y="0"/>
            <a:ext cx="720418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Rule Against a Learned Model</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6F7F1EB8-462C-476E-A126-009BAF186569}"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code/ch01_rule_against_learned.py</a:t>
            </a:r>
          </a:p>
        </p:txBody>
      </p:sp>
      <p:sp>
        <p:nvSpPr>
          <p:cNvPr id="14" name="!!code-text" descr="import numpy as np from sklearn.model_selection import train_test_split from sklearn.tree import DecisionTreeClassifier from sklearn.metrics import accuracy_score rng = np.random.default_rng(1) n = 1200 points = rng.choice([1, 2, 3, 5, 8, 13], n) # story points depends = rng.integers(0, 4, n) # tasks it waited on years = rng.integers(0, 11, n) # assignee's experience changes = rng.integers(0, 5, n) # requirement changes z = -3.3 + 0.18 * points + 0.9 * depends + 0.7 * changes - 0.3 * years y = (rng.random(n) &lt; 1 / (1 + np.exp(-z))).astype(int) # 1 = late X = np.column_stack([points, depends, years, changes]) X_tr, X_te, y_tr, y_te = train_test_split( X, y, test_size=0.25, random_state=0, stratify=y)"/>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0">
                <a:solidFill>
                  <a:srgbClr val="5DADE2"/>
                </a:solidFill>
                <a:latin typeface="Consolas"/>
              </a:rPr>
              <a:t>import</a:t>
            </a:r>
            <a:r>
              <a:rPr sz="1400" i="0">
                <a:solidFill>
                  <a:srgbClr val="E8EDF2"/>
                </a:solidFill>
                <a:latin typeface="Consolas"/>
              </a:rPr>
              <a:t> </a:t>
            </a:r>
            <a:r>
              <a:rPr sz="1400" i="0">
                <a:solidFill>
                  <a:srgbClr val="76D7C4"/>
                </a:solidFill>
                <a:latin typeface="Consolas"/>
              </a:rPr>
              <a:t>numpy</a:t>
            </a:r>
            <a:r>
              <a:rPr sz="1400" i="0">
                <a:solidFill>
                  <a:srgbClr val="E8EDF2"/>
                </a:solidFill>
                <a:latin typeface="Consolas"/>
              </a:rPr>
              <a:t> </a:t>
            </a:r>
            <a:r>
              <a:rPr sz="1400" i="0">
                <a:solidFill>
                  <a:srgbClr val="5DADE2"/>
                </a:solidFill>
                <a:latin typeface="Consolas"/>
              </a:rPr>
              <a:t>as</a:t>
            </a:r>
            <a:r>
              <a:rPr sz="1400" i="0">
                <a:solidFill>
                  <a:srgbClr val="E8EDF2"/>
                </a:solidFill>
                <a:latin typeface="Consolas"/>
              </a:rPr>
              <a:t> </a:t>
            </a:r>
            <a:r>
              <a:rPr sz="1400" i="0">
                <a:solidFill>
                  <a:srgbClr val="76D7C4"/>
                </a:solidFill>
                <a:latin typeface="Consolas"/>
              </a:rPr>
              <a:t>np</a:t>
            </a:r>
          </a:p>
          <a:p>
            <a:pPr>
              <a:lnSpc>
                <a:spcPct val="100000"/>
              </a:lnSpc>
              <a:spcAft>
                <a:spcPts val="0"/>
              </a:spcAft>
            </a:pPr>
            <a:r>
              <a:rPr sz="1400" i="0">
                <a:solidFill>
                  <a:srgbClr val="5DADE2"/>
                </a:solidFill>
                <a:latin typeface="Consolas"/>
              </a:rPr>
              <a:t>from</a:t>
            </a:r>
            <a:r>
              <a:rPr sz="1400" i="0">
                <a:solidFill>
                  <a:srgbClr val="E8EDF2"/>
                </a:solidFill>
                <a:latin typeface="Consolas"/>
              </a:rPr>
              <a:t> </a:t>
            </a:r>
            <a:r>
              <a:rPr sz="1400" i="0">
                <a:solidFill>
                  <a:srgbClr val="76D7C4"/>
                </a:solidFill>
                <a:latin typeface="Consolas"/>
              </a:rPr>
              <a:t>sklearn</a:t>
            </a:r>
            <a:r>
              <a:rPr sz="1400" i="0">
                <a:solidFill>
                  <a:srgbClr val="76D7C4"/>
                </a:solidFill>
                <a:latin typeface="Consolas"/>
              </a:rPr>
              <a:t>.</a:t>
            </a:r>
            <a:r>
              <a:rPr sz="1400" i="0">
                <a:solidFill>
                  <a:srgbClr val="76D7C4"/>
                </a:solidFill>
                <a:latin typeface="Consolas"/>
              </a:rPr>
              <a:t>model_selection</a:t>
            </a:r>
            <a:r>
              <a:rPr sz="1400" i="0">
                <a:solidFill>
                  <a:srgbClr val="E8EDF2"/>
                </a:solidFill>
                <a:latin typeface="Consolas"/>
              </a:rPr>
              <a:t> </a:t>
            </a:r>
            <a:r>
              <a:rPr sz="1400" i="0">
                <a:solidFill>
                  <a:srgbClr val="5DADE2"/>
                </a:solidFill>
                <a:latin typeface="Consolas"/>
              </a:rPr>
              <a:t>import</a:t>
            </a:r>
            <a:r>
              <a:rPr sz="1400" i="0">
                <a:solidFill>
                  <a:srgbClr val="E8EDF2"/>
                </a:solidFill>
                <a:latin typeface="Consolas"/>
              </a:rPr>
              <a:t> </a:t>
            </a:r>
            <a:r>
              <a:rPr sz="1400" i="0">
                <a:solidFill>
                  <a:srgbClr val="E8EDF2"/>
                </a:solidFill>
                <a:latin typeface="Consolas"/>
              </a:rPr>
              <a:t>train_test_split</a:t>
            </a:r>
          </a:p>
          <a:p>
            <a:pPr>
              <a:lnSpc>
                <a:spcPct val="100000"/>
              </a:lnSpc>
              <a:spcAft>
                <a:spcPts val="0"/>
              </a:spcAft>
            </a:pPr>
            <a:r>
              <a:rPr sz="1400" i="0">
                <a:solidFill>
                  <a:srgbClr val="5DADE2"/>
                </a:solidFill>
                <a:latin typeface="Consolas"/>
              </a:rPr>
              <a:t>from</a:t>
            </a:r>
            <a:r>
              <a:rPr sz="1400" i="0">
                <a:solidFill>
                  <a:srgbClr val="E8EDF2"/>
                </a:solidFill>
                <a:latin typeface="Consolas"/>
              </a:rPr>
              <a:t> </a:t>
            </a:r>
            <a:r>
              <a:rPr sz="1400" i="0">
                <a:solidFill>
                  <a:srgbClr val="76D7C4"/>
                </a:solidFill>
                <a:latin typeface="Consolas"/>
              </a:rPr>
              <a:t>sklearn</a:t>
            </a:r>
            <a:r>
              <a:rPr sz="1400" i="0">
                <a:solidFill>
                  <a:srgbClr val="76D7C4"/>
                </a:solidFill>
                <a:latin typeface="Consolas"/>
              </a:rPr>
              <a:t>.</a:t>
            </a:r>
            <a:r>
              <a:rPr sz="1400" i="0">
                <a:solidFill>
                  <a:srgbClr val="76D7C4"/>
                </a:solidFill>
                <a:latin typeface="Consolas"/>
              </a:rPr>
              <a:t>tree</a:t>
            </a:r>
            <a:r>
              <a:rPr sz="1400" i="0">
                <a:solidFill>
                  <a:srgbClr val="E8EDF2"/>
                </a:solidFill>
                <a:latin typeface="Consolas"/>
              </a:rPr>
              <a:t> </a:t>
            </a:r>
            <a:r>
              <a:rPr sz="1400" i="0">
                <a:solidFill>
                  <a:srgbClr val="5DADE2"/>
                </a:solidFill>
                <a:latin typeface="Consolas"/>
              </a:rPr>
              <a:t>import</a:t>
            </a:r>
            <a:r>
              <a:rPr sz="1400" i="0">
                <a:solidFill>
                  <a:srgbClr val="E8EDF2"/>
                </a:solidFill>
                <a:latin typeface="Consolas"/>
              </a:rPr>
              <a:t> </a:t>
            </a:r>
            <a:r>
              <a:rPr sz="1400" i="0">
                <a:solidFill>
                  <a:srgbClr val="E8EDF2"/>
                </a:solidFill>
                <a:latin typeface="Consolas"/>
              </a:rPr>
              <a:t>DecisionTreeClassifier</a:t>
            </a:r>
          </a:p>
          <a:p>
            <a:pPr>
              <a:lnSpc>
                <a:spcPct val="100000"/>
              </a:lnSpc>
              <a:spcAft>
                <a:spcPts val="0"/>
              </a:spcAft>
            </a:pPr>
            <a:r>
              <a:rPr sz="1400" i="0">
                <a:solidFill>
                  <a:srgbClr val="5DADE2"/>
                </a:solidFill>
                <a:latin typeface="Consolas"/>
              </a:rPr>
              <a:t>from</a:t>
            </a:r>
            <a:r>
              <a:rPr sz="1400" i="0">
                <a:solidFill>
                  <a:srgbClr val="E8EDF2"/>
                </a:solidFill>
                <a:latin typeface="Consolas"/>
              </a:rPr>
              <a:t> </a:t>
            </a:r>
            <a:r>
              <a:rPr sz="1400" i="0">
                <a:solidFill>
                  <a:srgbClr val="76D7C4"/>
                </a:solidFill>
                <a:latin typeface="Consolas"/>
              </a:rPr>
              <a:t>sklearn</a:t>
            </a:r>
            <a:r>
              <a:rPr sz="1400" i="0">
                <a:solidFill>
                  <a:srgbClr val="76D7C4"/>
                </a:solidFill>
                <a:latin typeface="Consolas"/>
              </a:rPr>
              <a:t>.</a:t>
            </a:r>
            <a:r>
              <a:rPr sz="1400" i="0">
                <a:solidFill>
                  <a:srgbClr val="76D7C4"/>
                </a:solidFill>
                <a:latin typeface="Consolas"/>
              </a:rPr>
              <a:t>metrics</a:t>
            </a:r>
            <a:r>
              <a:rPr sz="1400" i="0">
                <a:solidFill>
                  <a:srgbClr val="E8EDF2"/>
                </a:solidFill>
                <a:latin typeface="Consolas"/>
              </a:rPr>
              <a:t> </a:t>
            </a:r>
            <a:r>
              <a:rPr sz="1400" i="0">
                <a:solidFill>
                  <a:srgbClr val="5DADE2"/>
                </a:solidFill>
                <a:latin typeface="Consolas"/>
              </a:rPr>
              <a:t>import</a:t>
            </a:r>
            <a:r>
              <a:rPr sz="1400" i="0">
                <a:solidFill>
                  <a:srgbClr val="E8EDF2"/>
                </a:solidFill>
                <a:latin typeface="Consolas"/>
              </a:rPr>
              <a:t> </a:t>
            </a:r>
            <a:r>
              <a:rPr sz="1400" i="0">
                <a:solidFill>
                  <a:srgbClr val="E8EDF2"/>
                </a:solidFill>
                <a:latin typeface="Consolas"/>
              </a:rPr>
              <a:t>accuracy_score</a:t>
            </a:r>
          </a:p>
          <a:p>
            <a:pPr>
              <a:lnSpc>
                <a:spcPct val="100000"/>
              </a:lnSpc>
              <a:spcAft>
                <a:spcPts val="0"/>
              </a:spcAft>
            </a:pPr>
            <a:r>
              <a:rPr sz="1400">
                <a:latin typeface="Consolas"/>
              </a:rPr>
              <a:t> </a:t>
            </a:r>
          </a:p>
          <a:p>
            <a:pPr>
              <a:lnSpc>
                <a:spcPct val="100000"/>
              </a:lnSpc>
              <a:spcAft>
                <a:spcPts val="0"/>
              </a:spcAft>
            </a:pPr>
            <a:r>
              <a:rPr sz="1400" i="0">
                <a:solidFill>
                  <a:srgbClr val="E8EDF2"/>
                </a:solidFill>
                <a:latin typeface="Consolas"/>
              </a:rPr>
              <a:t>rng</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random</a:t>
            </a:r>
            <a:r>
              <a:rPr sz="1400" i="0">
                <a:solidFill>
                  <a:srgbClr val="AEB6BF"/>
                </a:solidFill>
                <a:latin typeface="Consolas"/>
              </a:rPr>
              <a:t>.</a:t>
            </a:r>
            <a:r>
              <a:rPr sz="1400" i="0">
                <a:solidFill>
                  <a:srgbClr val="E8EDF2"/>
                </a:solidFill>
                <a:latin typeface="Consolas"/>
              </a:rPr>
              <a:t>default_rng</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p>
          <a:p>
            <a:pPr>
              <a:lnSpc>
                <a:spcPct val="100000"/>
              </a:lnSpc>
              <a:spcAft>
                <a:spcPts val="0"/>
              </a:spcAft>
            </a:pPr>
            <a:r>
              <a:rPr sz="1400" i="0">
                <a:solidFill>
                  <a:srgbClr val="E8EDF2"/>
                </a:solidFill>
                <a:latin typeface="Consolas"/>
              </a:rPr>
              <a:t>n</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1200</a:t>
            </a:r>
          </a:p>
          <a:p>
            <a:pPr>
              <a:lnSpc>
                <a:spcPct val="100000"/>
              </a:lnSpc>
              <a:spcAft>
                <a:spcPts val="0"/>
              </a:spcAft>
            </a:pPr>
            <a:r>
              <a:rPr sz="1400" i="0">
                <a:solidFill>
                  <a:srgbClr val="E8EDF2"/>
                </a:solidFill>
                <a:latin typeface="Consolas"/>
              </a:rPr>
              <a:t>points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choice</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1</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2</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3</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8</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13</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story points</a:t>
            </a:r>
          </a:p>
          <a:p>
            <a:pPr>
              <a:lnSpc>
                <a:spcPct val="100000"/>
              </a:lnSpc>
              <a:spcAft>
                <a:spcPts val="0"/>
              </a:spcAft>
            </a:pPr>
            <a:r>
              <a:rPr sz="1400" i="0">
                <a:solidFill>
                  <a:srgbClr val="E8EDF2"/>
                </a:solidFill>
                <a:latin typeface="Consolas"/>
              </a:rPr>
              <a:t>depends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integers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4</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tasks it waited on</a:t>
            </a:r>
          </a:p>
          <a:p>
            <a:pPr>
              <a:lnSpc>
                <a:spcPct val="100000"/>
              </a:lnSpc>
              <a:spcAft>
                <a:spcPts val="0"/>
              </a:spcAft>
            </a:pPr>
            <a:r>
              <a:rPr sz="1400" i="0">
                <a:solidFill>
                  <a:srgbClr val="E8EDF2"/>
                </a:solidFill>
                <a:latin typeface="Consolas"/>
              </a:rPr>
              <a:t>years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integers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11</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assignee's experience</a:t>
            </a:r>
          </a:p>
          <a:p>
            <a:pPr>
              <a:lnSpc>
                <a:spcPct val="100000"/>
              </a:lnSpc>
              <a:spcAft>
                <a:spcPts val="0"/>
              </a:spcAft>
            </a:pPr>
            <a:r>
              <a:rPr sz="1400" i="0">
                <a:solidFill>
                  <a:srgbClr val="E8EDF2"/>
                </a:solidFill>
                <a:latin typeface="Consolas"/>
              </a:rPr>
              <a:t>changes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integers</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5</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requirement changes</a:t>
            </a:r>
          </a:p>
          <a:p>
            <a:pPr>
              <a:lnSpc>
                <a:spcPct val="100000"/>
              </a:lnSpc>
              <a:spcAft>
                <a:spcPts val="0"/>
              </a:spcAft>
            </a:pPr>
            <a:r>
              <a:rPr sz="1400" i="0">
                <a:solidFill>
                  <a:srgbClr val="E8EDF2"/>
                </a:solidFill>
                <a:latin typeface="Consolas"/>
              </a:rPr>
              <a:t>z</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3.3</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0.18</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points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0.9</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depends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0.7</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changes</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F7DC6F"/>
                </a:solidFill>
                <a:latin typeface="Consolas"/>
              </a:rPr>
              <a:t>0.3</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years</a:t>
            </a:r>
          </a:p>
          <a:p>
            <a:pPr>
              <a:lnSpc>
                <a:spcPct val="100000"/>
              </a:lnSpc>
              <a:spcAft>
                <a:spcPts val="0"/>
              </a:spcAft>
            </a:pPr>
            <a:r>
              <a:rPr sz="1400" i="0">
                <a:solidFill>
                  <a:srgbClr val="E8EDF2"/>
                </a:solidFill>
                <a:latin typeface="Consolas"/>
              </a:rPr>
              <a:t>y</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rng</a:t>
            </a:r>
            <a:r>
              <a:rPr sz="1400" i="0">
                <a:solidFill>
                  <a:srgbClr val="AEB6BF"/>
                </a:solidFill>
                <a:latin typeface="Consolas"/>
              </a:rPr>
              <a:t>.</a:t>
            </a:r>
            <a:r>
              <a:rPr sz="1400" i="0">
                <a:solidFill>
                  <a:srgbClr val="E8EDF2"/>
                </a:solidFill>
                <a:latin typeface="Consolas"/>
              </a:rPr>
              <a:t>random</a:t>
            </a:r>
            <a:r>
              <a:rPr sz="1400" i="0">
                <a:solidFill>
                  <a:srgbClr val="AEB6BF"/>
                </a:solidFill>
                <a:latin typeface="Consolas"/>
              </a:rPr>
              <a:t>(</a:t>
            </a:r>
            <a:r>
              <a:rPr sz="1400" i="0">
                <a:solidFill>
                  <a:srgbClr val="E8EDF2"/>
                </a:solidFill>
                <a:latin typeface="Consolas"/>
              </a:rPr>
              <a:t>n</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&lt;</a:t>
            </a:r>
            <a:r>
              <a:rPr sz="1400" i="0">
                <a:solidFill>
                  <a:srgbClr val="E8EDF2"/>
                </a:solidFill>
                <a:latin typeface="Consolas"/>
              </a:rPr>
              <a:t> </a:t>
            </a:r>
            <a:r>
              <a:rPr sz="1400" i="0">
                <a:solidFill>
                  <a:srgbClr val="F7DC6F"/>
                </a:solidFill>
                <a:latin typeface="Consolas"/>
              </a:rPr>
              <a: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F7DC6F"/>
                </a:solidFill>
                <a:latin typeface="Consolas"/>
              </a:rPr>
              <a:t>1</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exp</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z</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astype</a:t>
            </a:r>
            <a:r>
              <a:rPr sz="1400" i="0">
                <a:solidFill>
                  <a:srgbClr val="AEB6BF"/>
                </a:solidFill>
                <a:latin typeface="Consolas"/>
              </a:rPr>
              <a:t>(</a:t>
            </a:r>
            <a:r>
              <a:rPr sz="1400" i="0">
                <a:solidFill>
                  <a:srgbClr val="C39BD3"/>
                </a:solidFill>
                <a:latin typeface="Consolas"/>
              </a:rPr>
              <a:t>int</a:t>
            </a:r>
            <a:r>
              <a:rPr sz="1400" i="0">
                <a:solidFill>
                  <a:srgbClr val="AEB6BF"/>
                </a:solidFill>
                <a:latin typeface="Consolas"/>
              </a:rPr>
              <a:t>)</a:t>
            </a:r>
            <a:r>
              <a:rPr sz="1400" i="0">
                <a:solidFill>
                  <a:srgbClr val="E8EDF2"/>
                </a:solidFill>
                <a:latin typeface="Consolas"/>
              </a:rPr>
              <a:t>   </a:t>
            </a:r>
            <a:r>
              <a:rPr sz="1400" i="1">
                <a:solidFill>
                  <a:srgbClr val="8795A1"/>
                </a:solidFill>
                <a:latin typeface="Consolas"/>
              </a:rPr>
              <a:t># 1 = late</a:t>
            </a:r>
          </a:p>
          <a:p>
            <a:pPr>
              <a:lnSpc>
                <a:spcPct val="100000"/>
              </a:lnSpc>
              <a:spcAft>
                <a:spcPts val="0"/>
              </a:spcAft>
            </a:pPr>
            <a:r>
              <a:rPr sz="1400" i="0">
                <a:solidFill>
                  <a:srgbClr val="E8EDF2"/>
                </a:solidFill>
                <a:latin typeface="Consolas"/>
              </a:rPr>
              <a:t>X</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np</a:t>
            </a:r>
            <a:r>
              <a:rPr sz="1400" i="0">
                <a:solidFill>
                  <a:srgbClr val="AEB6BF"/>
                </a:solidFill>
                <a:latin typeface="Consolas"/>
              </a:rPr>
              <a:t>.</a:t>
            </a:r>
            <a:r>
              <a:rPr sz="1400" i="0">
                <a:solidFill>
                  <a:srgbClr val="E8EDF2"/>
                </a:solidFill>
                <a:latin typeface="Consolas"/>
              </a:rPr>
              <a:t>column_stack</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points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depends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years</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changes</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X_tr</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X_te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y_tr</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y_te</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train_test_split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X</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y</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test_size</a:t>
            </a:r>
            <a:r>
              <a:rPr sz="1400" i="0">
                <a:solidFill>
                  <a:srgbClr val="AEB6BF"/>
                </a:solidFill>
                <a:latin typeface="Consolas"/>
              </a:rPr>
              <a:t>=</a:t>
            </a:r>
            <a:r>
              <a:rPr sz="1400" i="0">
                <a:solidFill>
                  <a:srgbClr val="F7DC6F"/>
                </a:solidFill>
                <a:latin typeface="Consolas"/>
              </a:rPr>
              <a:t>0.25</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random_state</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stratify</a:t>
            </a:r>
            <a:r>
              <a:rPr sz="1400" i="0">
                <a:solidFill>
                  <a:srgbClr val="AEB6BF"/>
                </a:solidFill>
                <a:latin typeface="Consolas"/>
              </a:rPr>
              <a:t>=</a:t>
            </a:r>
            <a:r>
              <a:rPr sz="1400" i="0">
                <a:solidFill>
                  <a:srgbClr val="E8EDF2"/>
                </a:solidFill>
                <a:latin typeface="Consolas"/>
              </a:rPr>
              <a:t>y</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2</a:t>
            </a:r>
          </a:p>
          <a:p>
            <a:pPr algn="r">
              <a:lnSpc>
                <a:spcPct val="100000"/>
              </a:lnSpc>
            </a:pPr>
            <a:r>
              <a:rPr sz="1400">
                <a:solidFill>
                  <a:srgbClr val="4F5D6A"/>
                </a:solidFill>
                <a:latin typeface="Consolas"/>
              </a:rPr>
              <a:t>3</a:t>
            </a:r>
          </a:p>
          <a:p>
            <a:pPr algn="r">
              <a:lnSpc>
                <a:spcPct val="100000"/>
              </a:lnSpc>
            </a:pPr>
            <a:r>
              <a:rPr sz="1400">
                <a:solidFill>
                  <a:srgbClr val="4F5D6A"/>
                </a:solidFill>
                <a:latin typeface="Consolas"/>
              </a:rPr>
              <a:t>4</a:t>
            </a:r>
          </a:p>
          <a:p>
            <a:pPr algn="r">
              <a:lnSpc>
                <a:spcPct val="100000"/>
              </a:lnSpc>
            </a:pPr>
            <a:r>
              <a:rPr sz="1400">
                <a:solidFill>
                  <a:srgbClr val="4F5D6A"/>
                </a:solidFill>
                <a:latin typeface="Consolas"/>
              </a:rPr>
              <a:t>5</a:t>
            </a:r>
          </a:p>
          <a:p>
            <a:pPr algn="r">
              <a:lnSpc>
                <a:spcPct val="100000"/>
              </a:lnSpc>
            </a:pPr>
            <a:r>
              <a:rPr sz="1400">
                <a:solidFill>
                  <a:srgbClr val="4F5D6A"/>
                </a:solidFill>
                <a:latin typeface="Consolas"/>
              </a:rPr>
              <a:t>6</a:t>
            </a:r>
          </a:p>
          <a:p>
            <a:pPr algn="r">
              <a:lnSpc>
                <a:spcPct val="100000"/>
              </a:lnSpc>
            </a:pPr>
            <a:r>
              <a:rPr sz="1400">
                <a:solidFill>
                  <a:srgbClr val="4F5D6A"/>
                </a:solidFill>
                <a:latin typeface="Consolas"/>
              </a:rPr>
              <a:t>7</a:t>
            </a:r>
          </a:p>
          <a:p>
            <a:pPr algn="r">
              <a:lnSpc>
                <a:spcPct val="100000"/>
              </a:lnSpc>
            </a:pPr>
            <a:r>
              <a:rPr sz="1400">
                <a:solidFill>
                  <a:srgbClr val="4F5D6A"/>
                </a:solidFill>
                <a:latin typeface="Consolas"/>
              </a:rPr>
              <a:t>8</a:t>
            </a:r>
          </a:p>
          <a:p>
            <a:pPr algn="r">
              <a:lnSpc>
                <a:spcPct val="100000"/>
              </a:lnSpc>
            </a:pPr>
            <a:r>
              <a:rPr sz="1400">
                <a:solidFill>
                  <a:srgbClr val="4F5D6A"/>
                </a:solidFill>
                <a:latin typeface="Consolas"/>
              </a:rPr>
              <a:t>9</a:t>
            </a:r>
          </a:p>
          <a:p>
            <a:pPr algn="r">
              <a:lnSpc>
                <a:spcPct val="100000"/>
              </a:lnSpc>
            </a:pPr>
            <a:r>
              <a:rPr sz="1400">
                <a:solidFill>
                  <a:srgbClr val="4F5D6A"/>
                </a:solidFill>
                <a:latin typeface="Consolas"/>
              </a:rPr>
              <a:t>10</a:t>
            </a:r>
          </a:p>
          <a:p>
            <a:pPr algn="r">
              <a:lnSpc>
                <a:spcPct val="100000"/>
              </a:lnSpc>
            </a:pPr>
            <a:r>
              <a:rPr sz="1400">
                <a:solidFill>
                  <a:srgbClr val="4F5D6A"/>
                </a:solidFill>
                <a:latin typeface="Consolas"/>
              </a:rPr>
              <a:t>11</a:t>
            </a:r>
          </a:p>
          <a:p>
            <a:pPr algn="r">
              <a:lnSpc>
                <a:spcPct val="100000"/>
              </a:lnSpc>
            </a:pPr>
            <a:r>
              <a:rPr sz="1400">
                <a:solidFill>
                  <a:srgbClr val="4F5D6A"/>
                </a:solidFill>
                <a:latin typeface="Consolas"/>
              </a:rPr>
              <a:t>12</a:t>
            </a:r>
          </a:p>
          <a:p>
            <a:pPr algn="r">
              <a:lnSpc>
                <a:spcPct val="100000"/>
              </a:lnSpc>
            </a:pPr>
            <a:r>
              <a:rPr sz="1400">
                <a:solidFill>
                  <a:srgbClr val="4F5D6A"/>
                </a:solidFill>
                <a:latin typeface="Consolas"/>
              </a:rPr>
              <a:t>13</a:t>
            </a:r>
          </a:p>
          <a:p>
            <a:pPr algn="r">
              <a:lnSpc>
                <a:spcPct val="100000"/>
              </a:lnSpc>
            </a:pPr>
            <a:r>
              <a:rPr sz="1400">
                <a:solidFill>
                  <a:srgbClr val="4F5D6A"/>
                </a:solidFill>
                <a:latin typeface="Consolas"/>
              </a:rPr>
              <a:t>14</a:t>
            </a:r>
          </a:p>
          <a:p>
            <a:pPr algn="r">
              <a:lnSpc>
                <a:spcPct val="100000"/>
              </a:lnSpc>
            </a:pPr>
            <a:r>
              <a:rPr sz="1400">
                <a:solidFill>
                  <a:srgbClr val="4F5D6A"/>
                </a:solidFill>
                <a:latin typeface="Consolas"/>
              </a:rPr>
              <a:t>15</a:t>
            </a:r>
          </a:p>
          <a:p>
            <a:pPr algn="r">
              <a:lnSpc>
                <a:spcPct val="100000"/>
              </a:lnSpc>
            </a:pPr>
            <a:r>
              <a:rPr sz="1400">
                <a:solidFill>
                  <a:srgbClr val="4F5D6A"/>
                </a:solidFill>
                <a:latin typeface="Consolas"/>
              </a:rPr>
              <a:t>16</a:t>
            </a:r>
          </a:p>
          <a:p>
            <a:pPr algn="r">
              <a:lnSpc>
                <a:spcPct val="100000"/>
              </a:lnSpc>
            </a:pPr>
            <a:r>
              <a:rPr sz="1400">
                <a:solidFill>
                  <a:srgbClr val="4F5D6A"/>
                </a:solidFill>
                <a:latin typeface="Consolas"/>
              </a:rPr>
              <a:t>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8126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Rule Against a Learned Model</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8BAF6D61-B6A3-44C6-B553-947C1827525C}"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rule written by a person: big tasks run late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426463"/>
          </a:xfrm>
          <a:prstGeom prst="roundRect">
            <a:avLst>
              <a:gd name="adj" fmla="val 641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code/ch01_rule_against_learned.py</a:t>
            </a:r>
          </a:p>
        </p:txBody>
      </p:sp>
      <p:sp>
        <p:nvSpPr>
          <p:cNvPr id="14" name="!!code-text" descr="# --- 1. a rule written by a person: big tasks run late ------------------ rule = (X_te[:, 0] &gt;= 8).astype(int) # 8 or 13 points -&gt; late print(&quot;hand-written rule :&quot;, round(accuracy_score(y_te, rule), 3))"/>
          <p:cNvSpPr txBox="1"/>
          <p:nvPr/>
        </p:nvSpPr>
        <p:spPr>
          <a:xfrm>
            <a:off x="1362456" y="2523744"/>
            <a:ext cx="9987991" cy="9326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a rule written by a person: big tasks run late ------------------</a:t>
            </a:r>
          </a:p>
          <a:p>
            <a:pPr>
              <a:lnSpc>
                <a:spcPct val="100000"/>
              </a:lnSpc>
              <a:spcAft>
                <a:spcPts val="0"/>
              </a:spcAft>
            </a:pPr>
            <a:r>
              <a:rPr sz="1800" i="0">
                <a:solidFill>
                  <a:srgbClr val="E8EDF2"/>
                </a:solidFill>
                <a:latin typeface="Consolas"/>
              </a:rPr>
              <a:t>rule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&gt;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8</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astype</a:t>
            </a:r>
            <a:r>
              <a:rPr sz="1800" i="0">
                <a:solidFill>
                  <a:srgbClr val="AEB6BF"/>
                </a:solidFill>
                <a:latin typeface="Consolas"/>
              </a:rPr>
              <a:t>(</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8 or 13 points -&gt; late</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hand-written rule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accuracy_score</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rule</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9326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5835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Rule Against a Learned Model</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F595CC44-7F74-40C5-BEFD-4B5B212D3BAC}"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rule found by a learning algorithm</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00784"/>
          </a:xfrm>
          <a:prstGeom prst="roundRect">
            <a:avLst>
              <a:gd name="adj" fmla="val 53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code/ch01_rule_against_learned.py</a:t>
            </a:r>
          </a:p>
        </p:txBody>
      </p:sp>
      <p:sp>
        <p:nvSpPr>
          <p:cNvPr id="14" name="!!code-text" descr="# --- 2. a rule found by a learning algorithm ---------------------------- tree = DecisionTreeClassifier(max_depth=3, random_state=0).fit(X_tr, y_tr) acc = accuracy_score(y_te, tree.predict(X_te)) print(&quot;learned tree :&quot;, round(acc, 3))"/>
          <p:cNvSpPr txBox="1"/>
          <p:nvPr/>
        </p:nvSpPr>
        <p:spPr>
          <a:xfrm>
            <a:off x="1362456" y="2523744"/>
            <a:ext cx="9987991" cy="120700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--- 2. a rule found by a learning algorithm ----------------------------</a:t>
            </a:r>
          </a:p>
          <a:p>
            <a:pPr>
              <a:lnSpc>
                <a:spcPct val="100000"/>
              </a:lnSpc>
              <a:spcAft>
                <a:spcPts val="0"/>
              </a:spcAft>
            </a:pPr>
            <a:r>
              <a:rPr sz="1800" i="0">
                <a:solidFill>
                  <a:srgbClr val="E8EDF2"/>
                </a:solidFill>
                <a:latin typeface="Consolas"/>
              </a:rPr>
              <a:t>tree</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DecisionTreeClassifier</a:t>
            </a:r>
            <a:r>
              <a:rPr sz="1800" i="0">
                <a:solidFill>
                  <a:srgbClr val="AEB6BF"/>
                </a:solidFill>
                <a:latin typeface="Consolas"/>
              </a:rPr>
              <a:t>(</a:t>
            </a:r>
            <a:r>
              <a:rPr sz="1800" i="0">
                <a:solidFill>
                  <a:srgbClr val="E8EDF2"/>
                </a:solidFill>
                <a:latin typeface="Consolas"/>
              </a:rPr>
              <a:t>max_depth</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random_state</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fit</a:t>
            </a:r>
            <a:r>
              <a:rPr sz="1800" i="0">
                <a:solidFill>
                  <a:srgbClr val="AEB6BF"/>
                </a:solidFill>
                <a:latin typeface="Consolas"/>
              </a:rPr>
              <a:t>(</a:t>
            </a:r>
            <a:r>
              <a:rPr sz="1800" i="0">
                <a:solidFill>
                  <a:srgbClr val="E8EDF2"/>
                </a:solidFill>
                <a:latin typeface="Consolas"/>
              </a:rPr>
              <a:t>X_tr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y_tr</a:t>
            </a:r>
            <a:r>
              <a:rPr sz="1800" i="0">
                <a:solidFill>
                  <a:srgbClr val="AEB6BF"/>
                </a:solidFill>
                <a:latin typeface="Consolas"/>
              </a:rPr>
              <a:t>)</a:t>
            </a:r>
          </a:p>
          <a:p>
            <a:pPr>
              <a:lnSpc>
                <a:spcPct val="100000"/>
              </a:lnSpc>
              <a:spcAft>
                <a:spcPts val="0"/>
              </a:spcAft>
            </a:pPr>
            <a:r>
              <a:rPr sz="1800" i="0">
                <a:solidFill>
                  <a:srgbClr val="E8EDF2"/>
                </a:solidFill>
                <a:latin typeface="Consolas"/>
              </a:rPr>
              <a:t>acc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accuracy_score</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tree</a:t>
            </a:r>
            <a:r>
              <a:rPr sz="1800" i="0">
                <a:solidFill>
                  <a:srgbClr val="AEB6BF"/>
                </a:solidFill>
                <a:latin typeface="Consolas"/>
              </a:rPr>
              <a:t>.</a:t>
            </a:r>
            <a:r>
              <a:rPr sz="1800" i="0">
                <a:solidFill>
                  <a:srgbClr val="E8EDF2"/>
                </a:solidFill>
                <a:latin typeface="Consolas"/>
              </a:rPr>
              <a:t>predict</a:t>
            </a:r>
            <a:r>
              <a:rPr sz="1800" i="0">
                <a:solidFill>
                  <a:srgbClr val="AEB6BF"/>
                </a:solidFill>
                <a:latin typeface="Consolas"/>
              </a:rPr>
              <a:t>(</a:t>
            </a:r>
            <a:r>
              <a:rPr sz="1800" i="0">
                <a:solidFill>
                  <a:srgbClr val="E8EDF2"/>
                </a:solidFill>
                <a:latin typeface="Consolas"/>
              </a:rPr>
              <a:t>X_te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learned tree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acc</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120700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3543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Rule Against a Learned Model</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2A729A33-093F-4AD8-A3E3-BE475E7C1C44}"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baseline every result must beat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1700784"/>
          </a:xfrm>
          <a:prstGeom prst="roundRect">
            <a:avLst>
              <a:gd name="adj" fmla="val 53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code/ch01_rule_against_learned.py</a:t>
            </a:r>
          </a:p>
        </p:txBody>
      </p:sp>
      <p:sp>
        <p:nvSpPr>
          <p:cNvPr id="14" name="!!code-text" descr="# --- 3. the baseline every result must beat ----------------------------- majority = int(y_tr.mean() &gt; 0.5) # here: 0, &quot;on time&quot; acc = accuracy_score(y_te, [majority] * len(y_te)) print(&quot;always 'majority' :&quot;, round(acc, 3))"/>
          <p:cNvSpPr txBox="1"/>
          <p:nvPr/>
        </p:nvSpPr>
        <p:spPr>
          <a:xfrm>
            <a:off x="1362456" y="2523744"/>
            <a:ext cx="9987991" cy="1207008"/>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--- 3. the baseline every result must beat -----------------------------</a:t>
            </a:r>
          </a:p>
          <a:p>
            <a:pPr>
              <a:lnSpc>
                <a:spcPct val="100000"/>
              </a:lnSpc>
              <a:spcAft>
                <a:spcPts val="0"/>
              </a:spcAft>
            </a:pPr>
            <a:r>
              <a:rPr sz="1800" i="0">
                <a:solidFill>
                  <a:srgbClr val="E8EDF2"/>
                </a:solidFill>
                <a:latin typeface="Consolas"/>
              </a:rPr>
              <a:t>majority</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int</a:t>
            </a:r>
            <a:r>
              <a:rPr sz="1800" i="0">
                <a:solidFill>
                  <a:srgbClr val="AEB6BF"/>
                </a:solidFill>
                <a:latin typeface="Consolas"/>
              </a:rPr>
              <a:t>(</a:t>
            </a:r>
            <a:r>
              <a:rPr sz="1800" i="0">
                <a:solidFill>
                  <a:srgbClr val="E8EDF2"/>
                </a:solidFill>
                <a:latin typeface="Consolas"/>
              </a:rPr>
              <a:t>y_tr</a:t>
            </a:r>
            <a:r>
              <a:rPr sz="1800" i="0">
                <a:solidFill>
                  <a:srgbClr val="AEB6BF"/>
                </a:solidFill>
                <a:latin typeface="Consolas"/>
              </a:rPr>
              <a:t>.</a:t>
            </a:r>
            <a:r>
              <a:rPr sz="1800" i="0">
                <a:solidFill>
                  <a:srgbClr val="E8EDF2"/>
                </a:solidFill>
                <a:latin typeface="Consolas"/>
              </a:rPr>
              <a:t>mean</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&gt;</a:t>
            </a:r>
            <a:r>
              <a:rPr sz="1800" i="0">
                <a:solidFill>
                  <a:srgbClr val="E8EDF2"/>
                </a:solidFill>
                <a:latin typeface="Consolas"/>
              </a:rPr>
              <a:t> </a:t>
            </a:r>
            <a:r>
              <a:rPr sz="1800" i="0">
                <a:solidFill>
                  <a:srgbClr val="F7DC6F"/>
                </a:solidFill>
                <a:latin typeface="Consolas"/>
              </a:rPr>
              <a:t>0.5</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here: 0, "on time"</a:t>
            </a:r>
          </a:p>
          <a:p>
            <a:pPr>
              <a:lnSpc>
                <a:spcPct val="100000"/>
              </a:lnSpc>
              <a:spcAft>
                <a:spcPts val="0"/>
              </a:spcAft>
            </a:pPr>
            <a:r>
              <a:rPr sz="1800" i="0">
                <a:solidFill>
                  <a:srgbClr val="E8EDF2"/>
                </a:solidFill>
                <a:latin typeface="Consolas"/>
              </a:rPr>
              <a:t>acc</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accuracy_score</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majority</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len</a:t>
            </a:r>
            <a:r>
              <a:rPr sz="1800" i="0">
                <a:solidFill>
                  <a:srgbClr val="AEB6BF"/>
                </a:solidFill>
                <a:latin typeface="Consolas"/>
              </a:rPr>
              <a:t>(</a:t>
            </a:r>
            <a:r>
              <a:rPr sz="1800" i="0">
                <a:solidFill>
                  <a:srgbClr val="E8EDF2"/>
                </a:solidFill>
                <a:latin typeface="Consolas"/>
              </a:rPr>
              <a:t>y_te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always </a:t>
            </a:r>
            <a:r>
              <a:rPr sz="1800" i="0">
                <a:solidFill>
                  <a:srgbClr val="7DCEA0"/>
                </a:solidFill>
                <a:latin typeface="Consolas"/>
              </a:rPr>
              <a:t>'</a:t>
            </a:r>
            <a:r>
              <a:rPr sz="1800" i="0">
                <a:solidFill>
                  <a:srgbClr val="7DCEA0"/>
                </a:solidFill>
                <a:latin typeface="Consolas"/>
              </a:rPr>
              <a:t>majority</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C39BD3"/>
                </a:solidFill>
                <a:latin typeface="Consolas"/>
              </a:rPr>
              <a:t>round</a:t>
            </a:r>
            <a:r>
              <a:rPr sz="1800" i="0">
                <a:solidFill>
                  <a:srgbClr val="AEB6BF"/>
                </a:solidFill>
                <a:latin typeface="Consolas"/>
              </a:rPr>
              <a:t>(</a:t>
            </a:r>
            <a:r>
              <a:rPr sz="1800" i="0">
                <a:solidFill>
                  <a:srgbClr val="E8EDF2"/>
                </a:solidFill>
                <a:latin typeface="Consolas"/>
              </a:rPr>
              <a:t>acc</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120700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28</a:t>
            </a:r>
          </a:p>
          <a:p>
            <a:pPr algn="r">
              <a:lnSpc>
                <a:spcPct val="100000"/>
              </a:lnSpc>
            </a:pPr>
            <a:r>
              <a:rPr sz="1800">
                <a:solidFill>
                  <a:srgbClr val="4F5D6A"/>
                </a:solidFill>
                <a:latin typeface="Consolas"/>
              </a:rPr>
              <a:t>29</a:t>
            </a:r>
          </a:p>
          <a:p>
            <a:pPr algn="r">
              <a:lnSpc>
                <a:spcPct val="100000"/>
              </a:lnSpc>
            </a:pPr>
            <a:r>
              <a:rPr sz="1800">
                <a:solidFill>
                  <a:srgbClr val="4F5D6A"/>
                </a:solidFill>
                <a:latin typeface="Consolas"/>
              </a:rPr>
              <a:t>30</a:t>
            </a:r>
          </a:p>
          <a:p>
            <a:pPr algn="r">
              <a:lnSpc>
                <a:spcPct val="100000"/>
              </a:lnSpc>
            </a:pPr>
            <a:r>
              <a:rPr sz="1800">
                <a:solidFill>
                  <a:srgbClr val="4F5D6A"/>
                </a:solidFill>
                <a:latin typeface="Consolas"/>
              </a:rPr>
              <a:t>31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1251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ACF19B09-D87F-49D1-BD1D-8B7A2A8E2F6C}" type="slidenum">
              <a:rPr lang="en-GB" sz="1000">
                <a:solidFill>
                  <a:srgbClr val="8795A1"/>
                </a:solidFill>
                <a:latin typeface="Segoe UI"/>
              </a:rPr>
              <a:t>31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1715414"/>
          </a:xfrm>
          <a:prstGeom prst="roundRect">
            <a:avLst>
              <a:gd name="adj" fmla="val 5330"/>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171541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hand-written rule does </a:t>
            </a:r>
            <a:r>
              <a:rPr sz="2300" b="0" i="1">
                <a:solidFill>
                  <a:srgbClr val="1C252B"/>
                </a:solidFill>
                <a:latin typeface="Segoe UI"/>
              </a:rPr>
              <a:t>worse</a:t>
            </a:r>
            <a:r>
              <a:rPr sz="2300" b="0" i="0">
                <a:solidFill>
                  <a:srgbClr val="1C252B"/>
                </a:solidFill>
                <a:latin typeface="Segoe UI"/>
              </a:rPr>
              <a:t> than simply predicting “on time” for every task; the tree beats both. Change the threshold 8 in the rule, and the depth 3 of the tree, and watch the numbers. Which one is easier to improve by hand?</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58960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project tool marks a task “at risk” whenever its logged hours pass the estimate by half. Is this machine learning? Use the definition.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  ·  What Machine Learning Is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  ·  answers in Appendix D     </a:t>
            </a:r>
            <a:fld id="{A357A166-AE94-47F6-900E-25AB4F4EAB7F}" type="slidenum">
              <a:rPr lang="en-GB" sz="1000">
                <a:solidFill>
                  <a:srgbClr val="D5DEE5"/>
                </a:solidFill>
                <a:latin typeface="Segoe UI"/>
              </a:rPr>
              <a:t>32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project tool marks a task “at risk” whenever its logged hours pass the estimate by half. Is this machine learning? Use the definition.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No. The threshold was chosen by a person and the tool’s performance does not improve with experience: there is no </a:t>
            </a:r>
            <a:r>
              <a:rPr sz="2200" b="0" i="1">
                <a:solidFill>
                  <a:srgbClr val="1C252B"/>
                </a:solidFill>
                <a:latin typeface="Cambria"/>
              </a:rPr>
              <a:t>E</a:t>
            </a:r>
            <a:r>
              <a:rPr sz="2200" b="0" i="0">
                <a:solidFill>
                  <a:srgbClr val="1C252B"/>
                </a:solidFill>
                <a:latin typeface="Segoe UI"/>
              </a:rPr>
              <a:t>. It is automation, not learning.</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  answers in Appendix D     </a:t>
            </a:r>
            <a:fld id="{DCD36BE3-93C0-4422-8A40-E7C4FEDB53AD}" type="slidenum">
              <a:rPr lang="en-GB" sz="1000">
                <a:solidFill>
                  <a:srgbClr val="8795A1"/>
                </a:solidFill>
                <a:latin typeface="Segoe UI"/>
              </a:rPr>
              <a:t>33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14377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300" b="0" i="0">
                <a:solidFill>
                  <a:srgbClr val="FFFFFF"/>
                </a:solidFill>
                <a:latin typeface="Segoe UI Semibold"/>
              </a:rPr>
              <a:t>Classify each as regression, classification, clustering or reinforcement learning: (a) predicting next sprint’s velocity in story points; (b) grouping past projects with no labels; (c) deciding whether a change request will be approved; (d) a scheduler learning to order the backlog from the delivery times that follow.</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  ·  What Machine Learning Is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  ·  answers in Appendix D     </a:t>
            </a:r>
            <a:fld id="{837F482D-CAC8-44E5-9143-900988CCC7F6}"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157630"/>
          </a:xfrm>
        </p:spPr>
        <p:txBody>
          <a:bodyPr wrap="square" lIns="0" rIns="0" tIns="0" bIns="0" anchor="t">
            <a:noAutofit/>
          </a:bodyPr>
          <a:lstStyle/>
          <a:p>
            <a:pPr algn="l">
              <a:lnSpc>
                <a:spcPct val="96000"/>
              </a:lnSpc>
            </a:pPr>
            <a:r>
              <a:rPr sz="1900" b="0" i="0">
                <a:solidFill>
                  <a:srgbClr val="1A5276"/>
                </a:solidFill>
                <a:latin typeface="Segoe UI Semibold"/>
              </a:rPr>
              <a:t>Classify each as regression, classification, clustering or reinforcement learning: (a) predicting next sprint’s velocity in story points; (b) grouping past projects with no labels; (c) deciding whether a change request will be approved; (d) a scheduler learning to order the backlog from the delivery times that follow.</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72614"/>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72614"/>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regression; (b) clustering (unsupervised); (c) classification; (d) reinforcement learning.</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  answers in Appendix D     </a:t>
            </a:r>
            <a:fld id="{E2587849-6D77-493D-8B2E-015312198D6A}"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69793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can a learner with no inductive bias not classify an example it has never seen?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  ·  What Machine Learning Is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  ·  answers in Appendix D     </a:t>
            </a:r>
            <a:fld id="{ACD7F90D-4128-4BE9-BCEA-804658F36448}"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can a learner with no inductive bias not classify an example it has never seen?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for any unseen instance, every hypothesis consistent with the data that calls it positive has a twin, equally consistent, that calls it negative. The data says nothing about unseen instances; only an assumption — a bias — can.</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  answers in Appendix D     </a:t>
            </a:r>
            <a:fld id="{F71B8EEB-7DAB-45B3-B7FC-CEED1CB5ED31}"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5210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FA2B3427-DF84-4D4C-BDF8-F7D5F58C4130}" type="slidenum">
              <a:rPr lang="en-GB" sz="1000">
                <a:solidFill>
                  <a:srgbClr val="8795A1"/>
                </a:solidFill>
                <a:latin typeface="Segoe UI"/>
              </a:rPr>
              <a:t>38</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Machine learning reverses traditional programming: you supply examples of the answers and the algorithm produces the rules.</a:t>
            </a:r>
          </a:p>
        </p:txBody>
      </p:sp>
      <p:sp>
        <p:nvSpPr>
          <p:cNvPr id="10" name="!!sb1">
            <a:extLst>
              <a:ext uri="{C183D7F6-B498-43B3-948B-1728B52AA6E4}">
                <adec:decorative xmlns:adec="http://schemas.microsoft.com/office/drawing/2017/decorative" val="1"/>
              </a:ext>
            </a:extLst>
          </p:cNvPr>
          <p:cNvSpPr/>
          <p:nvPr/>
        </p:nvSpPr>
        <p:spPr>
          <a:xfrm>
            <a:off x="658368" y="2595067"/>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649931"/>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85923"/>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 program learns if its performance </a:t>
            </a:r>
            <a:r>
              <a:rPr sz="2100" b="0" i="1">
                <a:solidFill>
                  <a:srgbClr val="1C252B"/>
                </a:solidFill>
                <a:latin typeface="Cambria"/>
              </a:rPr>
              <a:t>P</a:t>
            </a:r>
            <a:r>
              <a:rPr sz="2100" b="0" i="0">
                <a:solidFill>
                  <a:srgbClr val="1C252B"/>
                </a:solidFill>
                <a:latin typeface="Segoe UI"/>
              </a:rPr>
              <a:t> at task </a:t>
            </a:r>
            <a:r>
              <a:rPr sz="2100" b="0" i="1">
                <a:solidFill>
                  <a:srgbClr val="1C252B"/>
                </a:solidFill>
                <a:latin typeface="Cambria"/>
              </a:rPr>
              <a:t>T</a:t>
            </a:r>
            <a:r>
              <a:rPr sz="2100" b="0" i="0">
                <a:solidFill>
                  <a:srgbClr val="1C252B"/>
                </a:solidFill>
                <a:latin typeface="Segoe UI"/>
              </a:rPr>
              <a:t> improves with experience </a:t>
            </a:r>
            <a:r>
              <a:rPr sz="2100" b="0" i="1">
                <a:solidFill>
                  <a:srgbClr val="1C252B"/>
                </a:solidFill>
                <a:latin typeface="Cambria"/>
              </a:rPr>
              <a:t>E</a:t>
            </a:r>
            <a:r>
              <a:rPr sz="2100" b="0" i="0">
                <a:solidFill>
                  <a:srgbClr val="1C252B"/>
                </a:solidFill>
                <a:latin typeface="Segoe UI"/>
              </a:rPr>
              <a:t>. Name all three before choosing an algorithm.</a:t>
            </a:r>
          </a:p>
        </p:txBody>
      </p:sp>
      <p:sp>
        <p:nvSpPr>
          <p:cNvPr id="13" name="!!sb2">
            <a:extLst>
              <a:ext uri="{C183D7F6-B498-43B3-948B-1728B52AA6E4}">
                <adec:decorative xmlns:adec="http://schemas.microsoft.com/office/drawing/2017/decorative" val="1"/>
              </a:ext>
            </a:extLst>
          </p:cNvPr>
          <p:cNvSpPr/>
          <p:nvPr/>
        </p:nvSpPr>
        <p:spPr>
          <a:xfrm>
            <a:off x="658368" y="344363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49849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34486"/>
            <a:ext cx="10234879" cy="998524"/>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The paradigm is set by the experience: labelled (supervised), unlabelled (unsupervised), partly labelled (semi-supervised) or rewarded (reinforcement). Regression and classification differ only in </a:t>
            </a:r>
            <a:r>
              <a:rPr sz="2100" b="0" i="1">
                <a:solidFill>
                  <a:srgbClr val="1C252B"/>
                </a:solidFill>
                <a:latin typeface="Cambria"/>
              </a:rPr>
              <a:t>y</a:t>
            </a:r>
            <a:r>
              <a:rPr sz="2100" b="0" i="0">
                <a:solidFill>
                  <a:srgbClr val="1C252B"/>
                </a:solidFill>
                <a:latin typeface="Segoe UI"/>
              </a:rPr>
              <a:t>.</a:t>
            </a:r>
          </a:p>
        </p:txBody>
      </p:sp>
      <p:sp>
        <p:nvSpPr>
          <p:cNvPr id="16" name="!!sb3">
            <a:extLst>
              <a:ext uri="{C183D7F6-B498-43B3-948B-1728B52AA6E4}">
                <adec:decorative xmlns:adec="http://schemas.microsoft.com/office/drawing/2017/decorative" val="1"/>
              </a:ext>
            </a:extLst>
          </p:cNvPr>
          <p:cNvSpPr/>
          <p:nvPr/>
        </p:nvSpPr>
        <p:spPr>
          <a:xfrm>
            <a:off x="658368" y="4625035"/>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679899"/>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615891"/>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Designing a learner means choosing the experience, the target function, its representation and a learning algorithm — in that order of importance.</a:t>
            </a:r>
          </a:p>
        </p:txBody>
      </p:sp>
      <p:sp>
        <p:nvSpPr>
          <p:cNvPr id="19" name="!!sb4">
            <a:extLst>
              <a:ext uri="{C183D7F6-B498-43B3-948B-1728B52AA6E4}">
                <adec:decorative xmlns:adec="http://schemas.microsoft.com/office/drawing/2017/decorative" val="1"/>
              </a:ext>
            </a:extLst>
          </p:cNvPr>
          <p:cNvSpPr/>
          <p:nvPr/>
        </p:nvSpPr>
        <p:spPr>
          <a:xfrm>
            <a:off x="658368" y="54735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5284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464454"/>
            <a:ext cx="10234879" cy="66568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Learning is search through a hypothesis space. The data narrows it; the inductive bias chooses among what is left, and without one no generalisation is possible.</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52919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11A6F63A-554B-496F-A18D-26738C1F2592}" type="slidenum">
              <a:rPr lang="en-GB" sz="1000">
                <a:solidFill>
                  <a:srgbClr val="8795A1"/>
                </a:solidFill>
                <a:latin typeface="Segoe UI"/>
              </a:rPr>
              <a:t>39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Predicting the number of help-desk tickets tomorrow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classification</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regression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clustering</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reinforcement learning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806275"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C4C31F9E-D428-4052-B5E3-B63B6B336CF8}" type="slidenum">
              <a:rPr lang="en-GB" sz="1000">
                <a:solidFill>
                  <a:srgbClr val="8795A1"/>
                </a:solidFill>
                <a:latin typeface="Segoe UI"/>
              </a:rPr>
              <a:t>40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Mitchell’s definition, </a:t>
            </a:r>
            <a:r>
              <a:rPr sz="2600" b="0" i="1">
                <a:solidFill>
                  <a:srgbClr val="1C252B"/>
                </a:solidFill>
                <a:latin typeface="Cambria"/>
              </a:rPr>
              <a:t>E</a:t>
            </a:r>
            <a:r>
              <a:rPr sz="2600" b="0" i="0">
                <a:solidFill>
                  <a:srgbClr val="1C252B"/>
                </a:solidFill>
                <a:latin typeface="Segoe UI"/>
              </a:rPr>
              <a:t> stands for:</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error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experience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expectation</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evaluation</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83359"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33143B0D-57B1-4EA9-AC4F-E6207FD8E951}" type="slidenum">
              <a:rPr lang="en-GB" sz="1000">
                <a:solidFill>
                  <a:srgbClr val="8795A1"/>
                </a:solidFill>
                <a:latin typeface="Segoe UI"/>
              </a:rPr>
              <a:t>41</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Ten thousand support tickets, of which 200 are labelled with their category, are data for:</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supervised</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unsupervised</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semi-supervised</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reinforcement learning</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60443"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     </a:t>
            </a:r>
            <a:fld id="{8F89903C-8574-4A8B-AAF8-4F4902B93D4B}" type="slidenum">
              <a:rPr lang="en-GB" sz="1000">
                <a:solidFill>
                  <a:srgbClr val="8795A1"/>
                </a:solidFill>
                <a:latin typeface="Segoe UI"/>
              </a:rPr>
              <a:t>42</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one project-management problem for which you would write rules rather than learn a model, and explain why.</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with an example, the difference between the target function and a hypothesis.</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“accuracy” often the wrong performance measure? Give a numeric example.</a:t>
            </a:r>
          </a:p>
        </p:txBody>
      </p:sp>
      <p:sp>
        <p:nvSpPr>
          <p:cNvPr id="16" name="!!rt3">
            <a:extLst>
              <a:ext uri="{C183D7F6-B498-43B3-948B-1728B52AA6E4}">
                <adec:decorative xmlns:adec="http://schemas.microsoft.com/office/drawing/2017/decorative" val="1"/>
              </a:ext>
            </a:extLst>
          </p:cNvPr>
          <p:cNvSpPr/>
          <p:nvPr/>
        </p:nvSpPr>
        <p:spPr>
          <a:xfrm>
            <a:off x="658368" y="3618585"/>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659733"/>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600297"/>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software company wants to suggest which developer should review each pull request. Specify </a:t>
            </a:r>
            <a:r>
              <a:rPr sz="1900" b="0" i="1">
                <a:solidFill>
                  <a:srgbClr val="1C252B"/>
                </a:solidFill>
                <a:latin typeface="Cambria"/>
              </a:rPr>
              <a:t>T</a:t>
            </a:r>
            <a:r>
              <a:rPr sz="1900" b="0" i="0">
                <a:solidFill>
                  <a:srgbClr val="1C252B"/>
                </a:solidFill>
                <a:latin typeface="Segoe UI"/>
              </a:rPr>
              <a:t>, </a:t>
            </a:r>
            <a:r>
              <a:rPr sz="1900" b="0" i="1">
                <a:solidFill>
                  <a:srgbClr val="1C252B"/>
                </a:solidFill>
                <a:latin typeface="Cambria"/>
              </a:rPr>
              <a:t>P</a:t>
            </a:r>
            <a:r>
              <a:rPr sz="1900" b="0" i="0">
                <a:solidFill>
                  <a:srgbClr val="1C252B"/>
                </a:solidFill>
                <a:latin typeface="Segoe UI"/>
              </a:rPr>
              <a:t> and </a:t>
            </a:r>
            <a:r>
              <a:rPr sz="1900" b="0" i="1">
                <a:solidFill>
                  <a:srgbClr val="1C252B"/>
                </a:solidFill>
                <a:latin typeface="Cambria"/>
              </a:rPr>
              <a:t>E</a:t>
            </a:r>
            <a:r>
              <a:rPr sz="1900" b="0" i="0">
                <a:solidFill>
                  <a:srgbClr val="1C252B"/>
                </a:solidFill>
                <a:latin typeface="Segoe UI"/>
              </a:rPr>
              <a:t>; state which paradigm applies; and describe the four design decisions you would make.</a:t>
            </a:r>
          </a:p>
        </p:txBody>
      </p:sp>
      <p:sp>
        <p:nvSpPr>
          <p:cNvPr id="19" name="!!rt4">
            <a:extLst>
              <a:ext uri="{C183D7F6-B498-43B3-948B-1728B52AA6E4}">
                <adec:decorative xmlns:adec="http://schemas.microsoft.com/office/drawing/2017/decorative" val="1"/>
              </a:ext>
            </a:extLst>
          </p:cNvPr>
          <p:cNvSpPr/>
          <p:nvPr/>
        </p:nvSpPr>
        <p:spPr>
          <a:xfrm>
            <a:off x="658368" y="4741468"/>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78261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723180"/>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For the late-task warning in the first worked example, describe what could make the training experience unrepresentative of the sprints the model will face next year, and what you would do about it.</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637527"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Machine Learning Sits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  ·  What Machine Learning Is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§1.7  ·  Handout p. 8     </a:t>
            </a:r>
            <a:fld id="{353C95A1-667B-43F9-B6B5-42FD838570FF}" type="slidenum">
              <a:rPr lang="en-GB" sz="1000">
                <a:solidFill>
                  <a:srgbClr val="8795A1"/>
                </a:solidFill>
                <a:latin typeface="Segoe UI"/>
              </a:rPr>
              <a:t>43</a:t>
            </a:fld>
          </a:p>
        </p:txBody>
      </p:sp>
      <p:sp>
        <p:nvSpPr>
          <p:cNvPr id="7" name="!!stbar">
            <a:extLst>
              <a:ext uri="{C183D7F6-B498-43B3-948B-1728B52AA6E4}">
                <adec:decorative xmlns:adec="http://schemas.microsoft.com/office/drawing/2017/decorative" val="1"/>
              </a:ext>
            </a:extLst>
          </p:cNvPr>
          <p:cNvSpPr/>
          <p:nvPr/>
        </p:nvSpPr>
        <p:spPr>
          <a:xfrm>
            <a:off x="658368" y="1810512"/>
            <a:ext cx="73152" cy="2848051"/>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2930347"/>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the </a:t>
            </a:r>
            <a:r>
              <a:rPr sz="2600" b="0" i="1">
                <a:solidFill>
                  <a:srgbClr val="1C252B"/>
                </a:solidFill>
                <a:latin typeface="Segoe UI"/>
              </a:rPr>
              <a:t>Artificial Intelligence</a:t>
            </a:r>
            <a:r>
              <a:rPr sz="2600" b="0" i="0">
                <a:solidFill>
                  <a:srgbClr val="1C252B"/>
                </a:solidFill>
                <a:latin typeface="Segoe UI"/>
              </a:rPr>
              <a:t> course you built agents that search, reason and plan using knowledge someone supplied. Machine learning is the part of AI in which the knowledge is </a:t>
            </a:r>
            <a:r>
              <a:rPr sz="2600" b="0" i="1">
                <a:solidFill>
                  <a:srgbClr val="1C252B"/>
                </a:solidFill>
                <a:latin typeface="Segoe UI"/>
              </a:rPr>
              <a:t>acquired from data</a:t>
            </a:r>
            <a:r>
              <a:rPr sz="2600" b="0" i="0">
                <a:solidFill>
                  <a:srgbClr val="1C252B"/>
                </a:solidFill>
                <a:latin typeface="Segoe UI"/>
              </a:rPr>
              <a:t> instead. Deep learning is, in turn, the part of machine learning that uses neural networks with many layers. A scheduling tool that plans a project with task durations typed in by the manager is AI but not ML; the same tool with durations learned from past projects is both.</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1914611" cy="5486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C6081"/>
                </a:solidFill>
                <a:latin typeface="Segoe UI Black"/>
              </a:rPr>
              <a:t>01</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 — Mathematics for Machine Learning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 pages 3–10</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440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BDCB"/>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A rule against a learned model; the chapter in NumPy</a:t>
            </a:r>
          </a:p>
        </p:txBody>
      </p:sp>
      <p:sp>
        <p:nvSpPr>
          <p:cNvPr id="1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  ·  What Machine Learning Is</a:t>
            </a:r>
          </a:p>
        </p:txBody>
      </p:sp>
      <p:sp>
        <p:nvSpPr>
          <p:cNvPr id="15" name="!!footR"/>
          <p:cNvSpPr txBox="1"/>
          <p:nvPr/>
        </p:nvSpPr>
        <p:spPr>
          <a:xfrm>
            <a:off x="6639595" y="6437376"/>
            <a:ext cx="4893731" cy="237744"/>
          </a:xfrm>
          <a:prstGeom prst="rect">
            <a:avLst/>
          </a:prstGeom>
          <a:noFill/>
        </p:spPr>
        <p:txBody>
          <a:bodyPr wrap="square" anchor="t" lIns="0" rIns="0" tIns="0" bIns="0">
            <a:noAutofit/>
          </a:bodyPr>
          <a:lstStyle/>
          <a:p>
            <a:pPr algn="r"/>
            <a:fld id="{7EA55FF4-D88B-4063-834E-3A29DAE3CE43}" type="slidenum">
              <a:rPr lang="en-GB" sz="1000">
                <a:solidFill>
                  <a:srgbClr val="D5DEE5"/>
                </a:solidFill>
                <a:latin typeface="Segoe UI"/>
              </a:rPr>
              <a:t>44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What Machine Learning Is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