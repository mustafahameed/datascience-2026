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9.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media/image9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5D7DF71-86C5-4742-A5EA-78E3A4F890CC}">
          <p14:sldIdLst>
            <p14:sldId id="256"/>
            <p14:sldId id="257"/>
            <p14:sldId id="258"/>
            <p14:sldId id="259"/>
            <p14:sldId id="260"/>
          </p14:sldIdLst>
        </p14:section>
        <p14:section name="1.1 Why Learn a Program Instead of Writing One?" id="{D4D82CEE-B186-4E58-B34D-8CD478B28497}">
          <p14:sldIdLst>
            <p14:sldId id="261"/>
            <p14:sldId id="262"/>
            <p14:sldId id="263"/>
          </p14:sldIdLst>
        </p14:section>
        <p14:section name="1.2 A Precise Definition" id="{846D3D9A-D0FD-4ED3-AE86-3742717D624D}">
          <p14:sldIdLst>
            <p14:sldId id="264"/>
            <p14:sldId id="265"/>
            <p14:sldId id="266"/>
            <p14:sldId id="267"/>
          </p14:sldIdLst>
        </p14:section>
        <p14:section name="1.3 The Four Paradigms" id="{D2387808-8DEA-465D-8157-739A5FAAE5FC}">
          <p14:sldIdLst>
            <p14:sldId id="268"/>
            <p14:sldId id="269"/>
            <p14:sldId id="270"/>
            <p14:sldId id="271"/>
            <p14:sldId id="272"/>
          </p14:sldIdLst>
        </p14:section>
        <p14:section name="1.4 Designing a Learning System" id="{F39EABE3-3AE7-4AF3-9045-4B88100AB777}">
          <p14:sldIdLst>
            <p14:sldId id="273"/>
            <p14:sldId id="274"/>
          </p14:sldIdLst>
        </p14:section>
        <p14:section name="1.5 Learning as Search Through a Hypothesis Space" id="{F46E26CF-DB62-48D0-987A-2F26BB3151ED}">
          <p14:sldIdLst>
            <p14:sldId id="275"/>
            <p14:sldId id="276"/>
            <p14:sldId id="277"/>
            <p14:sldId id="278"/>
          </p14:sldIdLst>
        </p14:section>
        <p14:section name="1.6 A Short History" id="{B4A66C91-9B19-48CC-926F-942C2C234445}">
          <p14:sldIdLst>
            <p14:sldId id="279"/>
          </p14:sldIdLst>
        </p14:section>
        <p14:section name="Pitfalls" id="{598B6A46-EC3D-4FDC-AEB5-DFF02D5BFBB2}">
          <p14:sldIdLst>
            <p14:sldId id="280"/>
          </p14:sldIdLst>
        </p14:section>
        <p14:section name="Four lenses" id="{F012FC35-5C0B-46B9-AFF9-39179FE0717D}">
          <p14:sldIdLst>
            <p14:sldId id="281"/>
            <p14:sldId id="282"/>
            <p14:sldId id="283"/>
            <p14:sldId id="284"/>
            <p14:sldId id="285"/>
          </p14:sldIdLst>
        </p14:section>
        <p14:section name="Lab" id="{07C29F94-D87D-452D-95B5-DF176E29E373}">
          <p14:sldIdLst>
            <p14:sldId id="286"/>
            <p14:sldId id="287"/>
            <p14:sldId id="288"/>
            <p14:sldId id="289"/>
            <p14:sldId id="290"/>
            <p14:sldId id="291"/>
          </p14:sldIdLst>
        </p14:section>
        <p14:section name="Checkpoint" id="{344E99D0-FE7E-459A-920C-E6E9F7EC63AE}">
          <p14:sldIdLst>
            <p14:sldId id="292"/>
            <p14:sldId id="293"/>
            <p14:sldId id="294"/>
            <p14:sldId id="295"/>
            <p14:sldId id="296"/>
            <p14:sldId id="297"/>
          </p14:sldIdLst>
        </p14:section>
        <p14:section name="Wrap-up" id="{49AE25A2-1A5E-475E-84B0-EBE8D49D3B1E}">
          <p14:sldIdLst>
            <p14:sldId id="298"/>
            <p14:sldId id="299"/>
            <p14:sldId id="300"/>
            <p14:sldId id="301"/>
            <p14:sldId id="302"/>
            <p14:sldId id="303"/>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What Machine Learning Is. Part 1 — Foundations. Week 1: What machine learning is; its mathematics. Handout pages 3–10.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The course Artificial Intelligence, in which you met agents, search and reasoning under uncertainty. Nothing in this handout is assumed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machine learning; task, performance measure, experience; training data; feature; label; model; supervised learning; classification; regression; unsupervised learning; semi-supervised learning; reinforcement learning; target function; hypothesis; hypothesis space; generalisation; inductive bias.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you are asked to write a program that flags phishing e-mails. You could sit down and write rules: if the sender’s domain does not match the display name, and the message contains a link, and it mentions a password, flag it. The first version catches some phishing. Then the attackers read your rules — or simply vary their wording — and the rules stop working. You add more. After a year you have four hundred rules that contradict one another, nobody understands, and that still miss the attack that arrived this morning. Now suppose instead that you collect fifty thousand e-mails that people have already marked as phishing or legitimate, and hand them to a program whose job is to find the rules. When the attackers change tactics, you do not rewrite anything: you collect new examples and let the program find new rules. That is the whole idea of machine learning, and Figure 1.1 shows it in one picture.</a:t>
            </a:r>
          </a:p>
          <a:p/>
          <a:p>
            <a:r>
              <a:t>Figure 1.1 (handout p. 4): Traditional programming against machine learning. The learned model is then used exactly like a program: new data in, answers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used throughout this course is Tom Mitchell’s, from the set text. It is worth memorising because it forces you to say exactly what you mean before you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letters are not decoration. A project that cannot name its P cannot tell whether it is making progress; a project that cannot name its E does not know what data to collect. Most failed machine learning projects failed here, before any algorithm was chosen.</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varies most between learning problems is the experience — in particular, what the data tells you about the right answer. That gives four paradigms, sketched in Figure 1.2.</a:t>
            </a:r>
          </a:p>
          <a:p/>
          <a:p>
            <a:r>
              <a:t>Figure 1.2 (handout p. 5): The four paradigms, distinguished by what the experience tells the learner about the right answer: all of it, none of it, a little of it, or only whether what it did turned out well.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Mitchell’s set text frames the construction of any learner as four decisions, made in order. They are shown here for a problem this course returns to repeatedly: predicting in Week 4 which students will fail a course.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3 deserves a closer look. Once you fix a representation, you have fixed the set of all functions the learner could possibly produce.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1.3 (handout p. 7): Learning as search. The data narrows the hypothesis space to those hypotheses consistent with it; something other than the data must choose among the survivors.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 (handout p. 7): Selected milestones. Most of what this course teaches was in place by 2001; what changed after 2012 was mainly scale — data, computation, and the depth of the networks.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ideas in this course are older than most students expect. Frank Rosenblatt’s perceptron learned from examples in 1958; Arthur Samuel’s checkers program, which improved by playing against itself, gave the field its name in 1959. Decision trees, backpropagation, reinforcement learning, support vector machines and ensembles were all in place by 2001. What changed after 2012 was mostly scale — data, computing power, and the depth of the neural networks that both made practical. That is why a course built on a 1997 set text is not out of date: the deep learning course that follows this one is built on exactly these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T: rank this term’s students by risk of failing. P: of the students who go on to fail, the fraction in the top 20% of the ranking. E: three past cohorts with their Week 4 records. The trap is E: a model trained on cohorts who received no intervention learns a world that the intervention itself will change.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T: predict the actual hours for a user story. P: mean absolute error in hours. E: the team’s completed stories. The trap is volume — a single team completes perhaps two hundred stories a year, which is small data, and the estimates the team gave were themselves influenced by earlier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 classify one second of motor vibration as healthy or failing. P: failures caught at least a day before breakdown, with at most one false alarm per machine per month. E: vibration logs joined to maintenance records. The trap is that failures are rare, so there may be only a dozen labelled failures in years of data.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 classify each network connection as benign or malicious. P: detection rate at a fixed, tolerable number of alerts per analyst per hour. E: labelled traffic from past incidents. The trap is the adversary: E describes last year’s attacks, and the attacker’s whole aim is for this year’s not to resemble them.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a rule by hand, then let an algorithm learn one, and compare them on data neither has seen. The Wisconsin breast cancer data ships with scikit-learn: 569 tumours, 30 measurements each, labelled malignant or benign.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rule written by a person: large tumours are malignant.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rule found by a learning algorithm.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baseline every result must beat.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The rule was written by the owner and the thermostat’s performance does not improve with experience: there is no E. It is automation, not learning.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regression; (b) clustering (unsupervised); (c) classification; (d) reinforcement learning.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for any unseen instance, every hypothesis consistent with the data that calls it positive has a twin, equally consistent, that calls it negative. The data says nothing about unseen instances; only an assumption — a bias — can.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 — Mathematics for Machine Learning. READ: Handout Chapter 1, pages 3–10. THIS WEEK'S LAB: A rule against a learned model; the chapter in NumPy.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3.xml"/><Relationship Id="rId8" Type="http://schemas.openxmlformats.org/officeDocument/2006/relationships/slide" Target="slide18.xml"/><Relationship Id="rId9" Type="http://schemas.openxmlformats.org/officeDocument/2006/relationships/slide" Target="slide20.xml"/><Relationship Id="rId10" Type="http://schemas.openxmlformats.org/officeDocument/2006/relationships/slide" Target="slide24.xml"/><Relationship Id="rId11" Type="http://schemas.openxmlformats.org/officeDocument/2006/relationships/slide" Target="slide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image" Target="../media/image43.png"/><Relationship Id="rId7" Type="http://schemas.openxmlformats.org/officeDocument/2006/relationships/image" Target="../media/image44.svg"/><Relationship Id="rId8" Type="http://schemas.openxmlformats.org/officeDocument/2006/relationships/image" Target="../media/image45.png"/><Relationship Id="rId9" Type="http://schemas.openxmlformats.org/officeDocument/2006/relationships/image" Target="../media/image46.svg"/><Relationship Id="rId10" Type="http://schemas.openxmlformats.org/officeDocument/2006/relationships/image" Target="../media/image47.png"/><Relationship Id="rId11" Type="http://schemas.openxmlformats.org/officeDocument/2006/relationships/image" Target="../media/image48.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41.png"/><Relationship Id="rId5" Type="http://schemas.openxmlformats.org/officeDocument/2006/relationships/image" Target="../media/image51.svg"/><Relationship Id="rId6" Type="http://schemas.openxmlformats.org/officeDocument/2006/relationships/image" Target="../media/image43.png"/><Relationship Id="rId7" Type="http://schemas.openxmlformats.org/officeDocument/2006/relationships/image" Target="../media/image52.svg"/><Relationship Id="rId8" Type="http://schemas.openxmlformats.org/officeDocument/2006/relationships/image" Target="../media/image45.png"/><Relationship Id="rId9" Type="http://schemas.openxmlformats.org/officeDocument/2006/relationships/image" Target="../media/image53.svg"/><Relationship Id="rId10" Type="http://schemas.openxmlformats.org/officeDocument/2006/relationships/image" Target="../media/image47.png"/><Relationship Id="rId11" Type="http://schemas.openxmlformats.org/officeDocument/2006/relationships/image" Target="../media/image54.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43.png"/><Relationship Id="rId5" Type="http://schemas.openxmlformats.org/officeDocument/2006/relationships/image" Target="../media/image57.svg"/><Relationship Id="rId6" Type="http://schemas.openxmlformats.org/officeDocument/2006/relationships/image" Target="../media/image41.png"/><Relationship Id="rId7" Type="http://schemas.openxmlformats.org/officeDocument/2006/relationships/image" Target="../media/image58.svg"/><Relationship Id="rId8" Type="http://schemas.openxmlformats.org/officeDocument/2006/relationships/image" Target="../media/image45.png"/><Relationship Id="rId9" Type="http://schemas.openxmlformats.org/officeDocument/2006/relationships/image" Target="../media/image59.svg"/><Relationship Id="rId10" Type="http://schemas.openxmlformats.org/officeDocument/2006/relationships/image" Target="../media/image47.png"/><Relationship Id="rId11" Type="http://schemas.openxmlformats.org/officeDocument/2006/relationships/image" Target="../media/image60.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image" Target="../media/image45.png"/><Relationship Id="rId5" Type="http://schemas.openxmlformats.org/officeDocument/2006/relationships/image" Target="../media/image63.svg"/><Relationship Id="rId6" Type="http://schemas.openxmlformats.org/officeDocument/2006/relationships/image" Target="../media/image41.png"/><Relationship Id="rId7" Type="http://schemas.openxmlformats.org/officeDocument/2006/relationships/image" Target="../media/image64.svg"/><Relationship Id="rId8" Type="http://schemas.openxmlformats.org/officeDocument/2006/relationships/image" Target="../media/image43.png"/><Relationship Id="rId9" Type="http://schemas.openxmlformats.org/officeDocument/2006/relationships/image" Target="../media/image65.svg"/><Relationship Id="rId10" Type="http://schemas.openxmlformats.org/officeDocument/2006/relationships/image" Target="../media/image47.png"/><Relationship Id="rId11" Type="http://schemas.openxmlformats.org/officeDocument/2006/relationships/image" Target="../media/image66.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image" Target="../media/image47.png"/><Relationship Id="rId5" Type="http://schemas.openxmlformats.org/officeDocument/2006/relationships/image" Target="../media/image69.svg"/><Relationship Id="rId6" Type="http://schemas.openxmlformats.org/officeDocument/2006/relationships/image" Target="../media/image41.png"/><Relationship Id="rId7" Type="http://schemas.openxmlformats.org/officeDocument/2006/relationships/image" Target="../media/image70.svg"/><Relationship Id="rId8" Type="http://schemas.openxmlformats.org/officeDocument/2006/relationships/image" Target="../media/image43.png"/><Relationship Id="rId9" Type="http://schemas.openxmlformats.org/officeDocument/2006/relationships/image" Target="../media/image71.svg"/><Relationship Id="rId10" Type="http://schemas.openxmlformats.org/officeDocument/2006/relationships/image" Target="../media/image45.png"/><Relationship Id="rId11" Type="http://schemas.openxmlformats.org/officeDocument/2006/relationships/image" Target="../media/image72.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2.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3.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4.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 Id="rId3" Type="http://schemas.openxmlformats.org/officeDocument/2006/relationships/image" Target="../media/image96.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What Machine Learning Is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1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DD54902A-754A-4B31-9D24-006FCE8A80ED}" type="slidenum">
              <a:rPr lang="en-GB" sz="1000">
                <a:solidFill>
                  <a:srgbClr val="8795A1"/>
                </a:solidFill>
                <a:latin typeface="Segoe UI"/>
              </a:rPr>
              <a:t>2</a:t>
            </a:fld>
          </a:p>
        </p:txBody>
      </p:sp>
      <p:sp>
        <p:nvSpPr>
          <p:cNvPr id="7" name="!!rp1"/>
          <p:cNvSpPr txBox="1"/>
          <p:nvPr/>
        </p:nvSpPr>
        <p:spPr>
          <a:xfrm>
            <a:off x="932688" y="1755648"/>
            <a:ext cx="173869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932688" y="2029967"/>
            <a:ext cx="1738690"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00562"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00562"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26555"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82655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21" name="!!dot2">
            <a:extLst>
              <a:ext uri="{C183D7F6-B498-43B3-948B-1728B52AA6E4}">
                <adec:decorative xmlns:adec="http://schemas.microsoft.com/office/drawing/2017/decorative" val="1"/>
              </a:ext>
            </a:extLst>
          </p:cNvPr>
          <p:cNvSpPr/>
          <p:nvPr/>
        </p:nvSpPr>
        <p:spPr>
          <a:xfrm>
            <a:off x="1537833"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4463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947360"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5592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5688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654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5978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68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What Machine Learning Is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7" name="!!chipUS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US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US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70" name="!!chipUS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US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US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73" name="!!chipUS4">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US4">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US4"/>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Concept Learning and the Version Space</a:t>
            </a:r>
          </a:p>
        </p:txBody>
      </p:sp>
      <p:sp>
        <p:nvSpPr>
          <p:cNvPr id="76" name="!!chipUS20">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bUS20">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tUS20"/>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20  </a:t>
            </a:r>
            <a:r>
              <a:rPr sz="1400" b="0" i="0">
                <a:solidFill>
                  <a:srgbClr val="1C252B"/>
                </a:solidFill>
                <a:latin typeface="Segoe UI"/>
              </a:rPr>
              <a:t>Reinforcement Learning</a:t>
            </a:r>
          </a:p>
        </p:txBody>
      </p:sp>
      <p:sp>
        <p:nvSpPr>
          <p:cNvPr id="79" name="!!chipUS22">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bUS22">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tUS22"/>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Machine Learning Project</a:t>
            </a:r>
          </a:p>
        </p:txBody>
      </p:sp>
      <p:sp>
        <p:nvSpPr>
          <p:cNvPr id="8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pfill">
            <a:extLst>
              <a:ext uri="{C183D7F6-B498-43B3-948B-1728B52AA6E4}">
                <adec:decorative xmlns:adec="http://schemas.microsoft.com/office/drawing/2017/decorative" val="1"/>
              </a:ext>
            </a:extLst>
          </p:cNvPr>
          <p:cNvSpPr/>
          <p:nvPr/>
        </p:nvSpPr>
        <p:spPr>
          <a:xfrm>
            <a:off x="0" y="0"/>
            <a:ext cx="49762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E8E56541-BE36-4542-B8EA-882BDFB179F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Define</a:t>
            </a:r>
            <a:r>
              <a:rPr sz="2100" b="0" i="0">
                <a:solidFill>
                  <a:srgbClr val="1C252B"/>
                </a:solidFill>
                <a:latin typeface="Segoe UI"/>
              </a:rPr>
              <a:t> machine learning precisely, and name the task, performance measure and experience of a given learning problem.</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Distinguish</a:t>
            </a:r>
            <a:r>
              <a:rPr sz="2100" b="0" i="0">
                <a:solidFill>
                  <a:srgbClr val="1C252B"/>
                </a:solidFill>
                <a:latin typeface="Segoe UI"/>
              </a:rPr>
              <a:t> learning a program from writing one, and machine learning from the wider field of artificial intelligence.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Classify</a:t>
            </a:r>
            <a:r>
              <a:rPr sz="2100" b="0" i="0">
                <a:solidFill>
                  <a:srgbClr val="1C252B"/>
                </a:solidFill>
                <a:latin typeface="Segoe UI"/>
              </a:rPr>
              <a:t> a problem as supervised (regression or classification), unsupervised, semi-supervised or reinforcement learning.</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the four design decisions in building a learning system.</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a learner must assume something the data does not say in order to generalise at all.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4643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0F5CC6A6-7089-4D1A-A3D6-FC38FA622A51}" type="slidenum">
              <a:rPr lang="en-GB" sz="1000">
                <a:solidFill>
                  <a:srgbClr val="8795A1"/>
                </a:solidFill>
                <a:latin typeface="Segoe UI"/>
              </a:rPr>
              <a:t>4</a:t>
            </a:fld>
          </a:p>
        </p:txBody>
      </p:sp>
      <p:sp>
        <p:nvSpPr>
          <p:cNvPr id="7" name="!!term-machine learni">
            <a:extLst>
              <a:ext uri="{C183D7F6-B498-43B3-948B-1728B52AA6E4}">
                <adec:decorative xmlns:adec="http://schemas.microsoft.com/office/drawing/2017/decorative" val="1"/>
              </a:ext>
            </a:extLst>
          </p:cNvPr>
          <p:cNvSpPr/>
          <p:nvPr/>
        </p:nvSpPr>
        <p:spPr>
          <a:xfrm>
            <a:off x="658368" y="1847088"/>
            <a:ext cx="19133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machine learn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machine learni"/>
          <p:cNvSpPr txBox="1"/>
          <p:nvPr/>
        </p:nvSpPr>
        <p:spPr>
          <a:xfrm>
            <a:off x="950976" y="1970532"/>
            <a:ext cx="17304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machine learning</a:t>
            </a:r>
          </a:p>
        </p:txBody>
      </p:sp>
      <p:sp>
        <p:nvSpPr>
          <p:cNvPr id="10" name="!!term-task, performa">
            <a:extLst>
              <a:ext uri="{C183D7F6-B498-43B3-948B-1728B52AA6E4}">
                <adec:decorative xmlns:adec="http://schemas.microsoft.com/office/drawing/2017/decorative" val="1"/>
              </a:ext>
            </a:extLst>
          </p:cNvPr>
          <p:cNvSpPr/>
          <p:nvPr/>
        </p:nvSpPr>
        <p:spPr>
          <a:xfrm>
            <a:off x="2718002" y="1847088"/>
            <a:ext cx="37739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ask, performa">
            <a:extLst>
              <a:ext uri="{C183D7F6-B498-43B3-948B-1728B52AA6E4}">
                <adec:decorative xmlns:adec="http://schemas.microsoft.com/office/drawing/2017/decorative" val="1"/>
              </a:ext>
            </a:extLst>
          </p:cNvPr>
          <p:cNvSpPr/>
          <p:nvPr/>
        </p:nvSpPr>
        <p:spPr>
          <a:xfrm>
            <a:off x="28460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ask, performa"/>
          <p:cNvSpPr txBox="1"/>
          <p:nvPr/>
        </p:nvSpPr>
        <p:spPr>
          <a:xfrm>
            <a:off x="3010610" y="1970532"/>
            <a:ext cx="35911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task, performance measure, experience</a:t>
            </a:r>
          </a:p>
        </p:txBody>
      </p:sp>
      <p:sp>
        <p:nvSpPr>
          <p:cNvPr id="13" name="!!term-training data">
            <a:extLst>
              <a:ext uri="{C183D7F6-B498-43B3-948B-1728B52AA6E4}">
                <adec:decorative xmlns:adec="http://schemas.microsoft.com/office/drawing/2017/decorative" val="1"/>
              </a:ext>
            </a:extLst>
          </p:cNvPr>
          <p:cNvSpPr/>
          <p:nvPr/>
        </p:nvSpPr>
        <p:spPr>
          <a:xfrm>
            <a:off x="6638294" y="1847088"/>
            <a:ext cx="15311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raining data">
            <a:extLst>
              <a:ext uri="{C183D7F6-B498-43B3-948B-1728B52AA6E4}">
                <adec:decorative xmlns:adec="http://schemas.microsoft.com/office/drawing/2017/decorative" val="1"/>
              </a:ext>
            </a:extLst>
          </p:cNvPr>
          <p:cNvSpPr/>
          <p:nvPr/>
        </p:nvSpPr>
        <p:spPr>
          <a:xfrm>
            <a:off x="676631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raining data"/>
          <p:cNvSpPr txBox="1"/>
          <p:nvPr/>
        </p:nvSpPr>
        <p:spPr>
          <a:xfrm>
            <a:off x="6930902" y="1970532"/>
            <a:ext cx="13482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training data</a:t>
            </a:r>
          </a:p>
        </p:txBody>
      </p:sp>
      <p:sp>
        <p:nvSpPr>
          <p:cNvPr id="16" name="!!term-feature">
            <a:extLst>
              <a:ext uri="{C183D7F6-B498-43B3-948B-1728B52AA6E4}">
                <adec:decorative xmlns:adec="http://schemas.microsoft.com/office/drawing/2017/decorative" val="1"/>
              </a:ext>
            </a:extLst>
          </p:cNvPr>
          <p:cNvSpPr/>
          <p:nvPr/>
        </p:nvSpPr>
        <p:spPr>
          <a:xfrm>
            <a:off x="8315726" y="1847088"/>
            <a:ext cx="10453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feature">
            <a:extLst>
              <a:ext uri="{C183D7F6-B498-43B3-948B-1728B52AA6E4}">
                <adec:decorative xmlns:adec="http://schemas.microsoft.com/office/drawing/2017/decorative" val="1"/>
              </a:ext>
            </a:extLst>
          </p:cNvPr>
          <p:cNvSpPr/>
          <p:nvPr/>
        </p:nvSpPr>
        <p:spPr>
          <a:xfrm>
            <a:off x="84437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feature"/>
          <p:cNvSpPr txBox="1"/>
          <p:nvPr/>
        </p:nvSpPr>
        <p:spPr>
          <a:xfrm>
            <a:off x="8608334" y="1970532"/>
            <a:ext cx="8624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feature</a:t>
            </a:r>
          </a:p>
        </p:txBody>
      </p:sp>
      <p:sp>
        <p:nvSpPr>
          <p:cNvPr id="19" name="!!term-label">
            <a:extLst>
              <a:ext uri="{C183D7F6-B498-43B3-948B-1728B52AA6E4}">
                <adec:decorative xmlns:adec="http://schemas.microsoft.com/office/drawing/2017/decorative" val="1"/>
              </a:ext>
            </a:extLst>
          </p:cNvPr>
          <p:cNvSpPr/>
          <p:nvPr/>
        </p:nvSpPr>
        <p:spPr>
          <a:xfrm>
            <a:off x="9507344" y="1847088"/>
            <a:ext cx="8477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abel">
            <a:extLst>
              <a:ext uri="{C183D7F6-B498-43B3-948B-1728B52AA6E4}">
                <adec:decorative xmlns:adec="http://schemas.microsoft.com/office/drawing/2017/decorative" val="1"/>
              </a:ext>
            </a:extLst>
          </p:cNvPr>
          <p:cNvSpPr/>
          <p:nvPr/>
        </p:nvSpPr>
        <p:spPr>
          <a:xfrm>
            <a:off x="963536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abel"/>
          <p:cNvSpPr txBox="1"/>
          <p:nvPr/>
        </p:nvSpPr>
        <p:spPr>
          <a:xfrm>
            <a:off x="9799952" y="1970532"/>
            <a:ext cx="6648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label</a:t>
            </a:r>
          </a:p>
        </p:txBody>
      </p:sp>
      <p:sp>
        <p:nvSpPr>
          <p:cNvPr id="22" name="!!term-model">
            <a:extLst>
              <a:ext uri="{C183D7F6-B498-43B3-948B-1728B52AA6E4}">
                <adec:decorative xmlns:adec="http://schemas.microsoft.com/office/drawing/2017/decorative" val="1"/>
              </a:ext>
            </a:extLst>
          </p:cNvPr>
          <p:cNvSpPr/>
          <p:nvPr/>
        </p:nvSpPr>
        <p:spPr>
          <a:xfrm>
            <a:off x="10501389" y="1847088"/>
            <a:ext cx="9831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odel">
            <a:extLst>
              <a:ext uri="{C183D7F6-B498-43B3-948B-1728B52AA6E4}">
                <adec:decorative xmlns:adec="http://schemas.microsoft.com/office/drawing/2017/decorative" val="1"/>
              </a:ext>
            </a:extLst>
          </p:cNvPr>
          <p:cNvSpPr/>
          <p:nvPr/>
        </p:nvSpPr>
        <p:spPr>
          <a:xfrm>
            <a:off x="1062940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odel"/>
          <p:cNvSpPr txBox="1"/>
          <p:nvPr/>
        </p:nvSpPr>
        <p:spPr>
          <a:xfrm>
            <a:off x="10793997" y="1970532"/>
            <a:ext cx="8002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a:t>
            </a:r>
          </a:p>
        </p:txBody>
      </p:sp>
      <p:sp>
        <p:nvSpPr>
          <p:cNvPr id="25" name="!!term-supervised lea">
            <a:extLst>
              <a:ext uri="{C183D7F6-B498-43B3-948B-1728B52AA6E4}">
                <adec:decorative xmlns:adec="http://schemas.microsoft.com/office/drawing/2017/decorative" val="1"/>
              </a:ext>
            </a:extLst>
          </p:cNvPr>
          <p:cNvSpPr/>
          <p:nvPr/>
        </p:nvSpPr>
        <p:spPr>
          <a:xfrm>
            <a:off x="658368" y="2468880"/>
            <a:ext cx="21032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upervised lea">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upervised lea"/>
          <p:cNvSpPr txBox="1"/>
          <p:nvPr/>
        </p:nvSpPr>
        <p:spPr>
          <a:xfrm>
            <a:off x="950976" y="2592324"/>
            <a:ext cx="19204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supervised learning</a:t>
            </a:r>
          </a:p>
        </p:txBody>
      </p:sp>
      <p:sp>
        <p:nvSpPr>
          <p:cNvPr id="28" name="!!term-classification">
            <a:extLst>
              <a:ext uri="{C183D7F6-B498-43B3-948B-1728B52AA6E4}">
                <adec:decorative xmlns:adec="http://schemas.microsoft.com/office/drawing/2017/decorative" val="1"/>
              </a:ext>
            </a:extLst>
          </p:cNvPr>
          <p:cNvSpPr/>
          <p:nvPr/>
        </p:nvSpPr>
        <p:spPr>
          <a:xfrm>
            <a:off x="2907964" y="2468880"/>
            <a:ext cx="15196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lassification">
            <a:extLst>
              <a:ext uri="{C183D7F6-B498-43B3-948B-1728B52AA6E4}">
                <adec:decorative xmlns:adec="http://schemas.microsoft.com/office/drawing/2017/decorative" val="1"/>
              </a:ext>
            </a:extLst>
          </p:cNvPr>
          <p:cNvSpPr/>
          <p:nvPr/>
        </p:nvSpPr>
        <p:spPr>
          <a:xfrm>
            <a:off x="303598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lassification"/>
          <p:cNvSpPr txBox="1"/>
          <p:nvPr/>
        </p:nvSpPr>
        <p:spPr>
          <a:xfrm>
            <a:off x="3200572" y="2592324"/>
            <a:ext cx="13367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classification</a:t>
            </a:r>
          </a:p>
        </p:txBody>
      </p:sp>
      <p:sp>
        <p:nvSpPr>
          <p:cNvPr id="31" name="!!term-regression">
            <a:extLst>
              <a:ext uri="{C183D7F6-B498-43B3-948B-1728B52AA6E4}">
                <adec:decorative xmlns:adec="http://schemas.microsoft.com/office/drawing/2017/decorative" val="1"/>
              </a:ext>
            </a:extLst>
          </p:cNvPr>
          <p:cNvSpPr/>
          <p:nvPr/>
        </p:nvSpPr>
        <p:spPr>
          <a:xfrm>
            <a:off x="4573932" y="2468880"/>
            <a:ext cx="13274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gression">
            <a:extLst>
              <a:ext uri="{C183D7F6-B498-43B3-948B-1728B52AA6E4}">
                <adec:decorative xmlns:adec="http://schemas.microsoft.com/office/drawing/2017/decorative" val="1"/>
              </a:ext>
            </a:extLst>
          </p:cNvPr>
          <p:cNvSpPr/>
          <p:nvPr/>
        </p:nvSpPr>
        <p:spPr>
          <a:xfrm>
            <a:off x="470194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gression"/>
          <p:cNvSpPr txBox="1"/>
          <p:nvPr/>
        </p:nvSpPr>
        <p:spPr>
          <a:xfrm>
            <a:off x="4866540" y="2592324"/>
            <a:ext cx="114453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regression</a:t>
            </a:r>
          </a:p>
        </p:txBody>
      </p:sp>
      <p:sp>
        <p:nvSpPr>
          <p:cNvPr id="34" name="!!term-unsupervised l">
            <a:extLst>
              <a:ext uri="{C183D7F6-B498-43B3-948B-1728B52AA6E4}">
                <adec:decorative xmlns:adec="http://schemas.microsoft.com/office/drawing/2017/decorative" val="1"/>
              </a:ext>
            </a:extLst>
          </p:cNvPr>
          <p:cNvSpPr/>
          <p:nvPr/>
        </p:nvSpPr>
        <p:spPr>
          <a:xfrm>
            <a:off x="6047649" y="2468880"/>
            <a:ext cx="23232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unsupervised l">
            <a:extLst>
              <a:ext uri="{C183D7F6-B498-43B3-948B-1728B52AA6E4}">
                <adec:decorative xmlns:adec="http://schemas.microsoft.com/office/drawing/2017/decorative" val="1"/>
              </a:ext>
            </a:extLst>
          </p:cNvPr>
          <p:cNvSpPr/>
          <p:nvPr/>
        </p:nvSpPr>
        <p:spPr>
          <a:xfrm>
            <a:off x="617566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unsupervised l"/>
          <p:cNvSpPr txBox="1"/>
          <p:nvPr/>
        </p:nvSpPr>
        <p:spPr>
          <a:xfrm>
            <a:off x="6340257" y="2592324"/>
            <a:ext cx="214037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unsupervised learning</a:t>
            </a:r>
          </a:p>
        </p:txBody>
      </p:sp>
      <p:sp>
        <p:nvSpPr>
          <p:cNvPr id="37" name="!!term-semi-supervise">
            <a:extLst>
              <a:ext uri="{C183D7F6-B498-43B3-948B-1728B52AA6E4}">
                <adec:decorative xmlns:adec="http://schemas.microsoft.com/office/drawing/2017/decorative" val="1"/>
              </a:ext>
            </a:extLst>
          </p:cNvPr>
          <p:cNvSpPr/>
          <p:nvPr/>
        </p:nvSpPr>
        <p:spPr>
          <a:xfrm>
            <a:off x="8517204" y="2468880"/>
            <a:ext cx="25793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emi-supervise">
            <a:extLst>
              <a:ext uri="{C183D7F6-B498-43B3-948B-1728B52AA6E4}">
                <adec:decorative xmlns:adec="http://schemas.microsoft.com/office/drawing/2017/decorative" val="1"/>
              </a:ext>
            </a:extLst>
          </p:cNvPr>
          <p:cNvSpPr/>
          <p:nvPr/>
        </p:nvSpPr>
        <p:spPr>
          <a:xfrm>
            <a:off x="864522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emi-supervise"/>
          <p:cNvSpPr txBox="1"/>
          <p:nvPr/>
        </p:nvSpPr>
        <p:spPr>
          <a:xfrm>
            <a:off x="8809812" y="2592324"/>
            <a:ext cx="23964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semi-supervised learning</a:t>
            </a:r>
          </a:p>
        </p:txBody>
      </p:sp>
      <p:sp>
        <p:nvSpPr>
          <p:cNvPr id="40" name="!!term-reinforcement ">
            <a:extLst>
              <a:ext uri="{C183D7F6-B498-43B3-948B-1728B52AA6E4}">
                <adec:decorative xmlns:adec="http://schemas.microsoft.com/office/drawing/2017/decorative" val="1"/>
              </a:ext>
            </a:extLst>
          </p:cNvPr>
          <p:cNvSpPr/>
          <p:nvPr/>
        </p:nvSpPr>
        <p:spPr>
          <a:xfrm>
            <a:off x="658368" y="3090672"/>
            <a:ext cx="23933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einforcement ">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einforcement "/>
          <p:cNvSpPr txBox="1"/>
          <p:nvPr/>
        </p:nvSpPr>
        <p:spPr>
          <a:xfrm>
            <a:off x="950976" y="3214116"/>
            <a:ext cx="22105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reinforcement learning</a:t>
            </a:r>
          </a:p>
        </p:txBody>
      </p:sp>
      <p:sp>
        <p:nvSpPr>
          <p:cNvPr id="43" name="!!term-target functio">
            <a:extLst>
              <a:ext uri="{C183D7F6-B498-43B3-948B-1728B52AA6E4}">
                <adec:decorative xmlns:adec="http://schemas.microsoft.com/office/drawing/2017/decorative" val="1"/>
              </a:ext>
            </a:extLst>
          </p:cNvPr>
          <p:cNvSpPr/>
          <p:nvPr/>
        </p:nvSpPr>
        <p:spPr>
          <a:xfrm>
            <a:off x="3198063" y="3090672"/>
            <a:ext cx="17137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target functio">
            <a:extLst>
              <a:ext uri="{C183D7F6-B498-43B3-948B-1728B52AA6E4}">
                <adec:decorative xmlns:adec="http://schemas.microsoft.com/office/drawing/2017/decorative" val="1"/>
              </a:ext>
            </a:extLst>
          </p:cNvPr>
          <p:cNvSpPr/>
          <p:nvPr/>
        </p:nvSpPr>
        <p:spPr>
          <a:xfrm>
            <a:off x="332607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target functio"/>
          <p:cNvSpPr txBox="1"/>
          <p:nvPr/>
        </p:nvSpPr>
        <p:spPr>
          <a:xfrm>
            <a:off x="3490671" y="3214116"/>
            <a:ext cx="15308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target function</a:t>
            </a:r>
          </a:p>
        </p:txBody>
      </p:sp>
      <p:sp>
        <p:nvSpPr>
          <p:cNvPr id="46" name="!!term-hypothesis">
            <a:extLst>
              <a:ext uri="{C183D7F6-B498-43B3-948B-1728B52AA6E4}">
                <adec:decorative xmlns:adec="http://schemas.microsoft.com/office/drawing/2017/decorative" val="1"/>
              </a:ext>
            </a:extLst>
          </p:cNvPr>
          <p:cNvSpPr/>
          <p:nvPr/>
        </p:nvSpPr>
        <p:spPr>
          <a:xfrm>
            <a:off x="5058107" y="3090672"/>
            <a:ext cx="13603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hypothesis">
            <a:extLst>
              <a:ext uri="{C183D7F6-B498-43B3-948B-1728B52AA6E4}">
                <adec:decorative xmlns:adec="http://schemas.microsoft.com/office/drawing/2017/decorative" val="1"/>
              </a:ext>
            </a:extLst>
          </p:cNvPr>
          <p:cNvSpPr/>
          <p:nvPr/>
        </p:nvSpPr>
        <p:spPr>
          <a:xfrm>
            <a:off x="518612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hypothesis"/>
          <p:cNvSpPr txBox="1"/>
          <p:nvPr/>
        </p:nvSpPr>
        <p:spPr>
          <a:xfrm>
            <a:off x="5350715" y="3214116"/>
            <a:ext cx="11774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hypothesis</a:t>
            </a:r>
          </a:p>
        </p:txBody>
      </p:sp>
      <p:sp>
        <p:nvSpPr>
          <p:cNvPr id="49" name="!!term-hypothesis spa">
            <a:extLst>
              <a:ext uri="{C183D7F6-B498-43B3-948B-1728B52AA6E4}">
                <adec:decorative xmlns:adec="http://schemas.microsoft.com/office/drawing/2017/decorative" val="1"/>
              </a:ext>
            </a:extLst>
          </p:cNvPr>
          <p:cNvSpPr/>
          <p:nvPr/>
        </p:nvSpPr>
        <p:spPr>
          <a:xfrm>
            <a:off x="6564741" y="3090672"/>
            <a:ext cx="19004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hypothesis spa">
            <a:extLst>
              <a:ext uri="{C183D7F6-B498-43B3-948B-1728B52AA6E4}">
                <adec:decorative xmlns:adec="http://schemas.microsoft.com/office/drawing/2017/decorative" val="1"/>
              </a:ext>
            </a:extLst>
          </p:cNvPr>
          <p:cNvSpPr/>
          <p:nvPr/>
        </p:nvSpPr>
        <p:spPr>
          <a:xfrm>
            <a:off x="669275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hypothesis spa"/>
          <p:cNvSpPr txBox="1"/>
          <p:nvPr/>
        </p:nvSpPr>
        <p:spPr>
          <a:xfrm>
            <a:off x="6857349" y="3214116"/>
            <a:ext cx="171759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hypothesis space</a:t>
            </a:r>
          </a:p>
        </p:txBody>
      </p:sp>
      <p:sp>
        <p:nvSpPr>
          <p:cNvPr id="52" name="!!term-generalisation">
            <a:extLst>
              <a:ext uri="{C183D7F6-B498-43B3-948B-1728B52AA6E4}">
                <adec:decorative xmlns:adec="http://schemas.microsoft.com/office/drawing/2017/decorative" val="1"/>
              </a:ext>
            </a:extLst>
          </p:cNvPr>
          <p:cNvSpPr/>
          <p:nvPr/>
        </p:nvSpPr>
        <p:spPr>
          <a:xfrm>
            <a:off x="8611518" y="3090672"/>
            <a:ext cx="16451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generalisation">
            <a:extLst>
              <a:ext uri="{C183D7F6-B498-43B3-948B-1728B52AA6E4}">
                <adec:decorative xmlns:adec="http://schemas.microsoft.com/office/drawing/2017/decorative" val="1"/>
              </a:ext>
            </a:extLst>
          </p:cNvPr>
          <p:cNvSpPr/>
          <p:nvPr/>
        </p:nvSpPr>
        <p:spPr>
          <a:xfrm>
            <a:off x="87395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generalisation"/>
          <p:cNvSpPr txBox="1"/>
          <p:nvPr/>
        </p:nvSpPr>
        <p:spPr>
          <a:xfrm>
            <a:off x="8904126" y="3214116"/>
            <a:ext cx="14623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generalisation</a:t>
            </a:r>
          </a:p>
        </p:txBody>
      </p:sp>
      <p:sp>
        <p:nvSpPr>
          <p:cNvPr id="55" name="!!term-inductive bias">
            <a:extLst>
              <a:ext uri="{C183D7F6-B498-43B3-948B-1728B52AA6E4}">
                <adec:decorative xmlns:adec="http://schemas.microsoft.com/office/drawing/2017/decorative" val="1"/>
              </a:ext>
            </a:extLst>
          </p:cNvPr>
          <p:cNvSpPr/>
          <p:nvPr/>
        </p:nvSpPr>
        <p:spPr>
          <a:xfrm>
            <a:off x="658368" y="3712464"/>
            <a:ext cx="16134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inductive bias">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inductive bias"/>
          <p:cNvSpPr txBox="1"/>
          <p:nvPr/>
        </p:nvSpPr>
        <p:spPr>
          <a:xfrm>
            <a:off x="950976" y="3835908"/>
            <a:ext cx="143061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inductive bias</a:t>
            </a:r>
          </a:p>
        </p:txBody>
      </p:sp>
      <p:sp>
        <p:nvSpPr>
          <p:cNvPr id="58"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9524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3–10     </a:t>
            </a:r>
            <a:fld id="{5A13064B-46AF-4E21-8E64-AA17879326A8}" type="slidenum">
              <a:rPr lang="en-GB" sz="1000">
                <a:solidFill>
                  <a:srgbClr val="8795A1"/>
                </a:solidFill>
                <a:latin typeface="Segoe UI"/>
              </a:rPr>
              <a:t>5</a:t>
            </a:fld>
          </a:p>
        </p:txBody>
      </p:sp>
      <p:sp>
        <p:nvSpPr>
          <p:cNvPr id="7" name="!!ag0" descr="Go to section 1.1 Why Learn a Program Instead of Writing On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Learn a Program Instead of Writing One?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  ›</a:t>
            </a:r>
          </a:p>
        </p:txBody>
      </p:sp>
      <p:sp>
        <p:nvSpPr>
          <p:cNvPr id="12" name="!!ag1" descr="Go to section 1.2 A Precise Definitio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Precise Definition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  ›</a:t>
            </a:r>
          </a:p>
        </p:txBody>
      </p:sp>
      <p:sp>
        <p:nvSpPr>
          <p:cNvPr id="17" name="!!ag2" descr="Go to section 1.3 The Four Paradigm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Four Paradigms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  ›</a:t>
            </a:r>
          </a:p>
        </p:txBody>
      </p:sp>
      <p:sp>
        <p:nvSpPr>
          <p:cNvPr id="22" name="!!ag3" descr="Go to section 1.4 Designing a Learning Syste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Designing a Learning System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  ›</a:t>
            </a:r>
          </a:p>
        </p:txBody>
      </p:sp>
      <p:sp>
        <p:nvSpPr>
          <p:cNvPr id="27" name="!!ag4" descr="Go to section 1.5 Learning as Search Through a Hypothesis Spac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Learning as Search Through a Hypothesis Space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  ›</a:t>
            </a:r>
          </a:p>
        </p:txBody>
      </p:sp>
      <p:sp>
        <p:nvSpPr>
          <p:cNvPr id="32" name="!!ag5" descr="Go to section 1.6 A Short History">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Short History</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  ›</a:t>
            </a:r>
          </a:p>
        </p:txBody>
      </p:sp>
      <p:sp>
        <p:nvSpPr>
          <p:cNvPr id="37" name="!!ag6" descr="Go to section 1.7 Where Machine Learning Sits">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Machine Learning Sits</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2440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Learn a Program Instead of Writing One?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1.1   Why Learn a Program Instead of Writing One?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A Precise Definition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Four Paradigms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Designing a Learning System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Learning as Search Through a Hypothesis Space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A Short History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   Where Machine Learning Sits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     </a:t>
            </a:r>
            <a:fld id="{CE9ED178-8843-4F86-AF0B-C591147CA852}" type="slidenum">
              <a:rPr lang="en-GB" sz="1000">
                <a:solidFill>
                  <a:srgbClr val="8795A1"/>
                </a:solidFill>
                <a:latin typeface="Segoe UI"/>
              </a:rPr>
              <a:t>6</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4928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Traditional programming against machine learning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DF30C1AD-B44E-4AF8-A0E3-B4C858E911E1}" type="slidenum">
              <a:rPr lang="en-GB" sz="1000">
                <a:solidFill>
                  <a:srgbClr val="8795A1"/>
                </a:solidFill>
                <a:latin typeface="Segoe UI"/>
              </a:rPr>
              <a:t>7</a:t>
            </a:fld>
          </a:p>
        </p:txBody>
      </p:sp>
      <p:pic>
        <p:nvPicPr>
          <p:cNvPr id="6" name="!!figure" descr="Figure 1.1. Traditional programming against machine learning. The learned model is then used exactly like a program: new data in, answers ou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89253" y="1737360"/>
            <a:ext cx="9013187"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learned model is then used exactly like a program: new data in, answers out.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Learning Beats Writing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AEBC0973-D24E-4EC4-8CBB-0441EC21331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Machine learning earns its cost in four situations: when the rules are too numerous to write (recognising handwriting); when nobody can articulate them (judging whether a machine sounds unhealthy); when they change faster than a person can rewrite them (phishing, fraud); and when they must be different for every user (recommendations). If you can write the rule down in an afternoon and it will not change, write it — a rule is cheaper, faster and easier to explain than any model.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9904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Precise Definition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Why Learn a Program Instead of Writing One?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1.2   A Precise Definition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Four Paradigms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Designing a Learning System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Learning as Search Through a Hypothesis Space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A Short History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   Where Machine Learning Sits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     </a:t>
            </a:r>
            <a:fld id="{1DF6BFC6-B9E1-427F-94F2-F196E106561F}" type="slidenum">
              <a:rPr lang="en-GB" sz="1000">
                <a:solidFill>
                  <a:srgbClr val="8795A1"/>
                </a:solidFill>
                <a:latin typeface="Segoe UI"/>
              </a:rPr>
              <a:t>9</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22392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Machine Learning (Mitchell, 1997)</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91E5DB8F-6E17-42B1-9BD8-66D28D457DEB}"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computer program is said to </a:t>
            </a:r>
            <a:r>
              <a:rPr sz="2300" b="1" i="0">
                <a:solidFill>
                  <a:srgbClr val="1A5276"/>
                </a:solidFill>
                <a:latin typeface="Segoe UI"/>
              </a:rPr>
              <a:t>learn</a:t>
            </a:r>
            <a:r>
              <a:rPr sz="2300" b="0" i="0">
                <a:solidFill>
                  <a:srgbClr val="1C252B"/>
                </a:solidFill>
                <a:latin typeface="Segoe UI"/>
              </a:rPr>
              <a:t> from experience </a:t>
            </a:r>
            <a:r>
              <a:rPr sz="2300" b="0" i="1">
                <a:solidFill>
                  <a:srgbClr val="1C252B"/>
                </a:solidFill>
                <a:latin typeface="Cambria"/>
              </a:rPr>
              <a:t>E</a:t>
            </a:r>
            <a:r>
              <a:rPr sz="2300" b="0" i="0">
                <a:solidFill>
                  <a:srgbClr val="1C252B"/>
                </a:solidFill>
                <a:latin typeface="Segoe UI"/>
              </a:rPr>
              <a:t> with respect to some class of tasks </a:t>
            </a:r>
            <a:r>
              <a:rPr sz="2300" b="0" i="1">
                <a:solidFill>
                  <a:srgbClr val="1C252B"/>
                </a:solidFill>
                <a:latin typeface="Cambria"/>
              </a:rPr>
              <a:t>T</a:t>
            </a:r>
            <a:r>
              <a:rPr sz="2300" b="0" i="0">
                <a:solidFill>
                  <a:srgbClr val="1C252B"/>
                </a:solidFill>
                <a:latin typeface="Segoe UI"/>
              </a:rPr>
              <a:t> and performance measure </a:t>
            </a:r>
            <a:r>
              <a:rPr sz="2300" b="0" i="1">
                <a:solidFill>
                  <a:srgbClr val="1C252B"/>
                </a:solidFill>
                <a:latin typeface="Cambria"/>
              </a:rPr>
              <a:t>P</a:t>
            </a:r>
            <a:r>
              <a:rPr sz="2300" b="0" i="0">
                <a:solidFill>
                  <a:srgbClr val="1C252B"/>
                </a:solidFill>
                <a:latin typeface="Segoe UI"/>
              </a:rPr>
              <a:t>, if its performance at tasks in </a:t>
            </a:r>
            <a:r>
              <a:rPr sz="2300" b="0" i="1">
                <a:solidFill>
                  <a:srgbClr val="1C252B"/>
                </a:solidFill>
                <a:latin typeface="Cambria"/>
              </a:rPr>
              <a:t>T</a:t>
            </a:r>
            <a:r>
              <a:rPr sz="2300" b="0" i="0">
                <a:solidFill>
                  <a:srgbClr val="1C252B"/>
                </a:solidFill>
                <a:latin typeface="Segoe UI"/>
              </a:rPr>
              <a:t>, as measured by </a:t>
            </a:r>
            <a:r>
              <a:rPr sz="2300" b="0" i="1">
                <a:solidFill>
                  <a:srgbClr val="1C252B"/>
                </a:solidFill>
                <a:latin typeface="Cambria"/>
              </a:rPr>
              <a:t>P</a:t>
            </a:r>
            <a:r>
              <a:rPr sz="2300" b="0" i="0">
                <a:solidFill>
                  <a:srgbClr val="1C252B"/>
                </a:solidFill>
                <a:latin typeface="Segoe UI"/>
              </a:rPr>
              <a:t>, improves with experience </a:t>
            </a:r>
            <a:r>
              <a:rPr sz="2300" b="0" i="1">
                <a:solidFill>
                  <a:srgbClr val="1C252B"/>
                </a:solidFill>
                <a:latin typeface="Cambria"/>
              </a:rPr>
              <a:t>E</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881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Naming T, P and 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6FFB1AB8-2D23-4380-AA9C-2AF6615C814B}"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8744"/>
          </a:xfrm>
          <a:prstGeom prst="roundRect">
            <a:avLst>
              <a:gd name="adj" fmla="val 20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87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task, performance measure and experience for three problems.</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1. Phishing filter.</a:t>
            </a:r>
          </a:p>
        </p:txBody>
      </p:sp>
      <p:sp>
        <p:nvSpPr>
          <p:cNvPr id="11" name="body-2"/>
          <p:cNvSpPr txBox="1"/>
          <p:nvPr/>
        </p:nvSpPr>
        <p:spPr>
          <a:xfrm>
            <a:off x="1042416" y="2879394"/>
            <a:ext cx="10234879"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T</a:t>
            </a:r>
            <a:r>
              <a:rPr sz="1900" b="0" i="0">
                <a:solidFill>
                  <a:srgbClr val="1C252B"/>
                </a:solidFill>
                <a:latin typeface="Segoe UI"/>
              </a:rPr>
              <a:t>: classify each incoming e-mail as phishing or legitimate.</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P</a:t>
            </a:r>
            <a:r>
              <a:rPr sz="1900" b="0" i="0">
                <a:solidFill>
                  <a:srgbClr val="1C252B"/>
                </a:solidFill>
                <a:latin typeface="Segoe UI"/>
              </a:rPr>
              <a:t>: the fraction of phishing e-mails caught, subject to fewer than one legitimate e-mail in a thousand being blocked.</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E</a:t>
            </a:r>
            <a:r>
              <a:rPr sz="1900" b="0" i="0">
                <a:solidFill>
                  <a:srgbClr val="1C252B"/>
                </a:solidFill>
                <a:latin typeface="Segoe UI"/>
              </a:rPr>
              <a:t>: a corpus of e-mails already labelled by users and analysts.</a:t>
            </a:r>
          </a:p>
        </p:txBody>
      </p:sp>
      <p:sp>
        <p:nvSpPr>
          <p:cNvPr id="12" name="body-3"/>
          <p:cNvSpPr txBox="1"/>
          <p:nvPr/>
        </p:nvSpPr>
        <p:spPr>
          <a:xfrm>
            <a:off x="1042416" y="438558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2. Sprint effort estimation.</a:t>
            </a:r>
          </a:p>
        </p:txBody>
      </p:sp>
      <p:sp>
        <p:nvSpPr>
          <p:cNvPr id="13" name="body-3bar">
            <a:extLst>
              <a:ext uri="{C183D7F6-B498-43B3-948B-1728B52AA6E4}">
                <adec:decorative xmlns:adec="http://schemas.microsoft.com/office/drawing/2017/decorative" val="1"/>
              </a:ext>
            </a:extLst>
          </p:cNvPr>
          <p:cNvSpPr/>
          <p:nvPr/>
        </p:nvSpPr>
        <p:spPr>
          <a:xfrm>
            <a:off x="841248" y="440387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819446"/>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T</a:t>
            </a:r>
            <a:r>
              <a:rPr sz="1900" b="0" i="0">
                <a:solidFill>
                  <a:srgbClr val="1C252B"/>
                </a:solidFill>
                <a:latin typeface="Segoe UI"/>
              </a:rPr>
              <a:t>: predict the hours a user story will take.</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P</a:t>
            </a:r>
            <a:r>
              <a:rPr sz="1900" b="0" i="0">
                <a:solidFill>
                  <a:srgbClr val="1C252B"/>
                </a:solidFill>
                <a:latin typeface="Segoe UI"/>
              </a:rPr>
              <a:t>: average absolute error, in hours, on stories not yet estimated.</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E</a:t>
            </a:r>
            <a:r>
              <a:rPr sz="1900" b="0" i="0">
                <a:solidFill>
                  <a:srgbClr val="1C252B"/>
                </a:solidFill>
                <a:latin typeface="Segoe UI"/>
              </a:rPr>
              <a:t>: past stories with their descriptions, story points and actual hours.</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27369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xEl>
                                              <p:pRg st="0" end="0"/>
                                            </p:txEl>
                                          </p:spTgt>
                                        </p:tgtEl>
                                        <p:attrNameLst>
                                          <p:attrName>style.visibility</p:attrName>
                                        </p:attrNameLst>
                                      </p:cBhvr>
                                      <p:to>
                                        <p:strVal val="visible"/>
                                      </p:to>
                                    </p:set>
                                    <p:animEffect transition="in" filter="fade">
                                      <p:cBhvr>
                                        <p:cTn id="36" dur="350"/>
                                        <p:tgtEl>
                                          <p:spTgt spid="14">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xEl>
                                              <p:pRg st="1" end="1"/>
                                            </p:txEl>
                                          </p:spTgt>
                                        </p:tgtEl>
                                        <p:attrNameLst>
                                          <p:attrName>style.visibility</p:attrName>
                                        </p:attrNameLst>
                                      </p:cBhvr>
                                      <p:to>
                                        <p:strVal val="visible"/>
                                      </p:to>
                                    </p:set>
                                    <p:animEffect transition="in" filter="fade">
                                      <p:cBhvr>
                                        <p:cTn id="41" dur="350"/>
                                        <p:tgtEl>
                                          <p:spTgt spid="14">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xEl>
                                              <p:pRg st="2" end="2"/>
                                            </p:txEl>
                                          </p:spTgt>
                                        </p:tgtEl>
                                        <p:attrNameLst>
                                          <p:attrName>style.visibility</p:attrName>
                                        </p:attrNameLst>
                                      </p:cBhvr>
                                      <p:to>
                                        <p:strVal val="visible"/>
                                      </p:to>
                                    </p:set>
                                    <p:animEffect transition="in" filter="fade">
                                      <p:cBhvr>
                                        <p:cTn id="46" dur="35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4"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Naming T, P and 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6816DA8F-6510-426A-AD96-E96F0CBBB9CF}"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92119"/>
          </a:xfrm>
          <a:prstGeom prst="roundRect">
            <a:avLst>
              <a:gd name="adj" fmla="val 269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921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3. A robot learning to balance.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445537"/>
            <a:ext cx="10234879"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T</a:t>
            </a:r>
            <a:r>
              <a:rPr sz="1900" b="0" i="0">
                <a:solidFill>
                  <a:srgbClr val="1C252B"/>
                </a:solidFill>
                <a:latin typeface="Segoe UI"/>
              </a:rPr>
              <a:t>: choose motor commands that keep the robot upright.</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P</a:t>
            </a:r>
            <a:r>
              <a:rPr sz="1900" b="0" i="0">
                <a:solidFill>
                  <a:srgbClr val="1C252B"/>
                </a:solidFill>
                <a:latin typeface="Segoe UI"/>
              </a:rPr>
              <a:t>: average time before it falls.</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E</a:t>
            </a:r>
            <a:r>
              <a:rPr sz="1900" b="0" i="0">
                <a:solidFill>
                  <a:srgbClr val="1C252B"/>
                </a:solidFill>
                <a:latin typeface="Segoe UI"/>
              </a:rPr>
              <a:t>: the robot’s own attempts — no labelled examples at all, only the consequences of what it tried.</a:t>
            </a:r>
          </a:p>
        </p:txBody>
      </p:sp>
      <p:sp>
        <p:nvSpPr>
          <p:cNvPr id="12" name="body-2"/>
          <p:cNvSpPr txBox="1"/>
          <p:nvPr/>
        </p:nvSpPr>
        <p:spPr>
          <a:xfrm>
            <a:off x="1042416" y="395173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Notice the choice of </a:t>
            </a:r>
            <a:r>
              <a:rPr sz="1900" b="1" i="1">
                <a:solidFill>
                  <a:srgbClr val="1C252B"/>
                </a:solidFill>
                <a:latin typeface="Cambria"/>
              </a:rPr>
              <a:t>P</a:t>
            </a:r>
            <a:r>
              <a:rPr sz="1900" b="1" i="0">
                <a:solidFill>
                  <a:srgbClr val="1C252B"/>
                </a:solidFill>
                <a:latin typeface="Segoe UI"/>
              </a:rPr>
              <a:t> in problem 1.</a:t>
            </a:r>
            <a:r>
              <a:rPr sz="1900" b="0" i="0">
                <a:solidFill>
                  <a:srgbClr val="1C252B"/>
                </a:solidFill>
                <a:latin typeface="Segoe UI"/>
              </a:rPr>
              <a:t> “Accuracy” would have been the obvious answer and the wrong one: if 2% of e-mail is phishing, a filter that lets everything through is 98% accurate. Choosing </a:t>
            </a:r>
            <a:r>
              <a:rPr sz="1900" b="0" i="1">
                <a:solidFill>
                  <a:srgbClr val="1C252B"/>
                </a:solidFill>
                <a:latin typeface="Cambria"/>
              </a:rPr>
              <a:t>P</a:t>
            </a:r>
            <a:r>
              <a:rPr sz="1900" b="0" i="0">
                <a:solidFill>
                  <a:srgbClr val="1C252B"/>
                </a:solidFill>
                <a:latin typeface="Segoe UI"/>
              </a:rPr>
              <a:t> is a design decision with consequences, and Chapter 8 is devoted to it.</a:t>
            </a:r>
          </a:p>
        </p:txBody>
      </p:sp>
      <p:sp>
        <p:nvSpPr>
          <p:cNvPr id="13" name="body-2bar">
            <a:extLst>
              <a:ext uri="{C183D7F6-B498-43B3-948B-1728B52AA6E4}">
                <adec:decorative xmlns:adec="http://schemas.microsoft.com/office/drawing/2017/decorative" val="1"/>
              </a:ext>
            </a:extLst>
          </p:cNvPr>
          <p:cNvSpPr/>
          <p:nvPr/>
        </p:nvSpPr>
        <p:spPr>
          <a:xfrm>
            <a:off x="841248" y="397002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29857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35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350"/>
                                        <p:tgtEl>
                                          <p:spTgt spid="11">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fade">
                                      <p:cBhvr>
                                        <p:cTn id="26" dur="350"/>
                                        <p:tgtEl>
                                          <p:spTgt spid="1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right)">
                                      <p:cBhvr>
                                        <p:cTn id="31" dur="42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Four Paradigms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Why Learn a Program Instead of Writing One?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A Precise Definition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1.3   The Four Paradigms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Designing a Learning System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Learning as Search Through a Hypothesis Space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A Short History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   Where Machine Learning Sits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     </a:t>
            </a:r>
            <a:fld id="{A89BBB4C-9978-4F25-82A2-B173F52F4921}" type="slidenum">
              <a:rPr lang="en-GB" sz="1000">
                <a:solidFill>
                  <a:srgbClr val="8795A1"/>
                </a:solidFill>
                <a:latin typeface="Segoe UI"/>
              </a:rPr>
              <a:t>13</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23453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Paradigms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D0402D37-2A35-4872-8BFB-4674A127C88C}" type="slidenum">
              <a:rPr lang="en-GB" sz="1000">
                <a:solidFill>
                  <a:srgbClr val="8795A1"/>
                </a:solidFill>
                <a:latin typeface="Segoe UI"/>
              </a:rPr>
              <a:t>14</a:t>
            </a:fld>
          </a:p>
        </p:txBody>
      </p:sp>
      <p:pic>
        <p:nvPicPr>
          <p:cNvPr id="6" name="!!figure" descr="Figure 1.2. The four paradigms, distinguished by what the experience tells the learner about the right answer: all of it, none of it, a little of it, or only whether what it did turned out wel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10706" y="1737360"/>
            <a:ext cx="597028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four paradigms, distinguished by what the experience tells the learner about the right answer: all of it, none of it, a little of it, or only whether what it did turned out well.</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Paradigms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350979B1-4491-4A18-862E-60FBAF4BD7BA}"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0263"/>
          </a:xfrm>
          <a:prstGeom prst="roundRect">
            <a:avLst>
              <a:gd name="adj" fmla="val 208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026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Supervised learning</a:t>
            </a:r>
            <a:r>
              <a:rPr sz="2100" b="0" i="0">
                <a:solidFill>
                  <a:srgbClr val="1C252B"/>
                </a:solidFill>
                <a:latin typeface="Segoe UI"/>
              </a:rPr>
              <a:t>: every training example is a pair </a:t>
            </a:r>
            <a:r>
              <a:rPr sz="2100" b="0" i="0">
                <a:solidFill>
                  <a:srgbClr val="1C252B"/>
                </a:solidFill>
                <a:latin typeface="Cambria"/>
              </a:rPr>
              <a:t>(</a:t>
            </a:r>
            <a:r>
              <a:rPr sz="2100" b="1" i="1">
                <a:solidFill>
                  <a:srgbClr val="1C252B"/>
                </a:solidFill>
                <a:latin typeface="Cambria"/>
              </a:rPr>
              <a:t>x</a:t>
            </a:r>
            <a:r>
              <a:rPr sz="2100" b="0" i="0">
                <a:solidFill>
                  <a:srgbClr val="1C252B"/>
                </a:solidFill>
                <a:latin typeface="Cambria"/>
              </a:rPr>
              <a:t>, </a:t>
            </a:r>
            <a:r>
              <a:rPr sz="2100" b="0" i="1">
                <a:solidFill>
                  <a:srgbClr val="1C252B"/>
                </a:solidFill>
                <a:latin typeface="Cambria"/>
              </a:rPr>
              <a:t>y</a:t>
            </a:r>
            <a:r>
              <a:rPr sz="2100" b="0" i="0">
                <a:solidFill>
                  <a:srgbClr val="1C252B"/>
                </a:solidFill>
                <a:latin typeface="Cambria"/>
              </a:rPr>
              <a:t>)</a:t>
            </a:r>
            <a:r>
              <a:rPr sz="2100" b="0" i="0">
                <a:solidFill>
                  <a:srgbClr val="1C252B"/>
                </a:solidFill>
                <a:latin typeface="Segoe UI"/>
              </a:rPr>
              <a:t> of features and the correct answer (</a:t>
            </a:r>
            <a:r>
              <a:rPr sz="2100" b="1" i="0">
                <a:solidFill>
                  <a:srgbClr val="1A5276"/>
                </a:solidFill>
                <a:latin typeface="Segoe UI"/>
              </a:rPr>
              <a:t>label</a:t>
            </a:r>
            <a:r>
              <a:rPr sz="2100" b="0" i="0">
                <a:solidFill>
                  <a:srgbClr val="1C252B"/>
                </a:solidFill>
                <a:latin typeface="Segoe UI"/>
              </a:rPr>
              <a:t>). If </a:t>
            </a:r>
            <a:r>
              <a:rPr sz="2100" b="0" i="1">
                <a:solidFill>
                  <a:srgbClr val="1C252B"/>
                </a:solidFill>
                <a:latin typeface="Cambria"/>
              </a:rPr>
              <a:t>y</a:t>
            </a:r>
            <a:r>
              <a:rPr sz="2100" b="0" i="0">
                <a:solidFill>
                  <a:srgbClr val="1C252B"/>
                </a:solidFill>
                <a:latin typeface="Segoe UI"/>
              </a:rPr>
              <a:t> is a category the task is </a:t>
            </a:r>
            <a:r>
              <a:rPr sz="2100" b="1" i="0">
                <a:solidFill>
                  <a:srgbClr val="1A5276"/>
                </a:solidFill>
                <a:latin typeface="Segoe UI"/>
              </a:rPr>
              <a:t>classification</a:t>
            </a:r>
            <a:r>
              <a:rPr sz="2100" b="0" i="0">
                <a:solidFill>
                  <a:srgbClr val="1C252B"/>
                </a:solidFill>
                <a:latin typeface="Segoe UI"/>
              </a:rPr>
              <a:t>; if </a:t>
            </a:r>
            <a:r>
              <a:rPr sz="2100" b="0" i="1">
                <a:solidFill>
                  <a:srgbClr val="1C252B"/>
                </a:solidFill>
                <a:latin typeface="Cambria"/>
              </a:rPr>
              <a:t>y</a:t>
            </a:r>
            <a:r>
              <a:rPr sz="2100" b="0" i="0">
                <a:solidFill>
                  <a:srgbClr val="1C252B"/>
                </a:solidFill>
                <a:latin typeface="Segoe UI"/>
              </a:rPr>
              <a:t> is a number it is </a:t>
            </a:r>
            <a:r>
              <a:rPr sz="2100" b="1" i="0">
                <a:solidFill>
                  <a:srgbClr val="1A5276"/>
                </a:solidFill>
                <a:latin typeface="Segoe UI"/>
              </a:rPr>
              <a:t>regression</a:t>
            </a:r>
            <a:r>
              <a:rPr sz="2100" b="0" i="0">
                <a:solidFill>
                  <a:srgbClr val="1C252B"/>
                </a:solidFill>
                <a:latin typeface="Segoe UI"/>
              </a:rPr>
              <a:t>.</a:t>
            </a:r>
          </a:p>
        </p:txBody>
      </p:sp>
      <p:sp>
        <p:nvSpPr>
          <p:cNvPr id="10" name="body-1"/>
          <p:cNvSpPr txBox="1"/>
          <p:nvPr/>
        </p:nvSpPr>
        <p:spPr>
          <a:xfrm>
            <a:off x="1060704" y="319346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Unsupervised learning</a:t>
            </a:r>
            <a:r>
              <a:rPr sz="2100" b="0" i="0">
                <a:solidFill>
                  <a:srgbClr val="1C252B"/>
                </a:solidFill>
                <a:latin typeface="Segoe UI"/>
              </a:rPr>
              <a:t>: examples </a:t>
            </a:r>
            <a:r>
              <a:rPr sz="2100" b="1" i="1">
                <a:solidFill>
                  <a:srgbClr val="1C252B"/>
                </a:solidFill>
                <a:latin typeface="Cambria"/>
              </a:rPr>
              <a:t>x</a:t>
            </a:r>
            <a:r>
              <a:rPr sz="2100" b="0" i="0">
                <a:solidFill>
                  <a:srgbClr val="1C252B"/>
                </a:solidFill>
                <a:latin typeface="Segoe UI"/>
              </a:rPr>
              <a:t> with no labels. The task is to find structure — groups, directions of variation, a compact representation.</a:t>
            </a:r>
          </a:p>
        </p:txBody>
      </p:sp>
      <p:sp>
        <p:nvSpPr>
          <p:cNvPr id="11" name="body-2"/>
          <p:cNvSpPr txBox="1"/>
          <p:nvPr/>
        </p:nvSpPr>
        <p:spPr>
          <a:xfrm>
            <a:off x="1060704" y="4005834"/>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Semi-supervised learning</a:t>
            </a:r>
            <a:r>
              <a:rPr sz="2100" b="0" i="0">
                <a:solidFill>
                  <a:srgbClr val="1C252B"/>
                </a:solidFill>
                <a:latin typeface="Segoe UI"/>
              </a:rPr>
              <a:t>: a few labelled examples and many unlabelled ones, used together.</a:t>
            </a:r>
          </a:p>
        </p:txBody>
      </p:sp>
      <p:sp>
        <p:nvSpPr>
          <p:cNvPr id="12" name="body-3"/>
          <p:cNvSpPr txBox="1"/>
          <p:nvPr/>
        </p:nvSpPr>
        <p:spPr>
          <a:xfrm>
            <a:off x="1060704" y="4818202"/>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Reinforcement learning</a:t>
            </a:r>
            <a:r>
              <a:rPr sz="2100" b="0" i="0">
                <a:solidFill>
                  <a:srgbClr val="1C252B"/>
                </a:solidFill>
                <a:latin typeface="Segoe UI"/>
              </a:rPr>
              <a:t>: an agent acts in an environment and receives a reward. Nobody says what the right action was; the agent must discover which actions lead, eventually, to high reward.</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7321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Paradigms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0845CBFE-DAE7-4E6F-A226-8EB2290AE2DA}"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7" cy="3727704"/>
        </p:xfrm>
        <a:graphic>
          <a:graphicData uri="http://schemas.openxmlformats.org/drawingml/2006/table">
            <a:tbl>
              <a:tblPr firstRow="0" bandRow="0" firstCol="0" lastRow="0" lastCol="0" bandCol="0">
                <a:tableStyleId>{2D5ABB26-0587-4C30-8999-92F81FD0307C}</a:tableStyleId>
              </a:tblPr>
              <a:tblGrid>
                <a:gridCol w="2019635"/>
                <a:gridCol w="2330348"/>
                <a:gridCol w="2252670"/>
                <a:gridCol w="3029452"/>
                <a:gridCol w="1242852"/>
              </a:tblGrid>
              <a:tr h="405384">
                <a:tc>
                  <a:txBody>
                    <a:bodyPr wrap="square"/>
                    <a:lstStyle/>
                    <a:p>
                      <a:pPr algn="l"/>
                      <a:r>
                        <a:rPr sz="1700" b="1" i="0">
                          <a:solidFill>
                            <a:srgbClr val="1A5276"/>
                          </a:solidFill>
                          <a:latin typeface="Segoe UI"/>
                        </a:rPr>
                        <a:t>Paradigm</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Experience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Learns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Example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Chapters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Supervised, regression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Features and a numeric target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function to a number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Hours a user story will take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5, 7, 11, 13, 14</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Supervised, classification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Features and a category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function to a class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Phishing or legitimate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6, 8–14</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Unsupervised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Features only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Groups, directions, maps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Kinds of network traffic</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15, 16</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Semi-supervised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Few labels, many unlabelled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classifier using both</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Malware families from a handful of analysed samples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17</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Reinforcement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States, actions, rewards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 policy: what to do in each state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 thermostat learning to save energy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19, 20</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9809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Classification or Regression? Look at the Target, Not the Features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ECE136F8-04E1-4884-960D-D2EC6F5D58EB}"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paradigm is decided by what </a:t>
            </a:r>
            <a:r>
              <a:rPr sz="2300" b="0" i="1">
                <a:solidFill>
                  <a:srgbClr val="1C252B"/>
                </a:solidFill>
                <a:latin typeface="Cambria"/>
              </a:rPr>
              <a:t>y</a:t>
            </a:r>
            <a:r>
              <a:rPr sz="2300" b="0" i="0">
                <a:solidFill>
                  <a:srgbClr val="1C252B"/>
                </a:solidFill>
                <a:latin typeface="Segoe UI"/>
              </a:rPr>
              <a:t> is. “Predict a student’s final mark” is regression; “predict whether the student will pass” is classification — same students, same features, different </a:t>
            </a:r>
            <a:r>
              <a:rPr sz="2300" b="0" i="1">
                <a:solidFill>
                  <a:srgbClr val="1C252B"/>
                </a:solidFill>
                <a:latin typeface="Cambria"/>
              </a:rPr>
              <a:t>y</a:t>
            </a:r>
            <a:r>
              <a:rPr sz="2300" b="0" i="0">
                <a:solidFill>
                  <a:srgbClr val="1C252B"/>
                </a:solidFill>
                <a:latin typeface="Segoe UI"/>
              </a:rPr>
              <a:t>. Numbers used as category codes (port 22, grade 3 on a 1–5 scale) are a common trap: ask whether averaging two values of </a:t>
            </a:r>
            <a:r>
              <a:rPr sz="2300" b="0" i="1">
                <a:solidFill>
                  <a:srgbClr val="1C252B"/>
                </a:solidFill>
                <a:latin typeface="Cambria"/>
              </a:rPr>
              <a:t>y</a:t>
            </a:r>
            <a:r>
              <a:rPr sz="2300" b="0" i="0">
                <a:solidFill>
                  <a:srgbClr val="1C252B"/>
                </a:solidFill>
                <a:latin typeface="Segoe UI"/>
              </a:rPr>
              <a:t> would mean anything.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297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Design Decisions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00EF1380-94D3-4A03-B5EF-4EE46D590484}"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6409"/>
          </a:xfrm>
          <a:prstGeom prst="roundRect">
            <a:avLst>
              <a:gd name="adj" fmla="val 210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64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1. Choose the training experience.</a:t>
            </a:r>
            <a:r>
              <a:rPr sz="1900" b="0" i="0">
                <a:solidFill>
                  <a:srgbClr val="1C252B"/>
                </a:solidFill>
                <a:latin typeface="Segoe UI"/>
              </a:rPr>
              <a:t> Records of past students with their Week 4 data and their final result. Is it representative? Only if past cohorts resemble this one — a change of syllabus or of intake breaks that.</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2. Choose the target function.</a:t>
            </a:r>
            <a:r>
              <a:rPr sz="1900" b="0" i="0">
                <a:solidFill>
                  <a:srgbClr val="1C252B"/>
                </a:solidFill>
                <a:latin typeface="Segoe UI"/>
              </a:rPr>
              <a:t> What exactly should be learned?</a:t>
            </a:r>
          </a:p>
        </p:txBody>
      </p:sp>
      <p:sp>
        <p:nvSpPr>
          <p:cNvPr id="11" name="body-2"/>
          <p:cNvSpPr txBox="1"/>
          <p:nvPr/>
        </p:nvSpPr>
        <p:spPr>
          <a:xfrm>
            <a:off x="1042416" y="3481679"/>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Option A: </a:t>
            </a:r>
            <a:r>
              <a:rPr sz="1900" b="0" i="1">
                <a:solidFill>
                  <a:srgbClr val="1C252B"/>
                </a:solidFill>
                <a:latin typeface="Cambria"/>
              </a:rPr>
              <a:t>V</a:t>
            </a:r>
            <a:r>
              <a:rPr sz="1900" b="0" i="0">
                <a:solidFill>
                  <a:srgbClr val="1C252B"/>
                </a:solidFill>
                <a:latin typeface="Cambria"/>
              </a:rPr>
              <a:t>: </a:t>
            </a:r>
            <a:r>
              <a:rPr sz="1900" b="0" i="0">
                <a:solidFill>
                  <a:srgbClr val="1C252B"/>
                </a:solidFill>
                <a:latin typeface="Segoe UI"/>
              </a:rPr>
              <a:t>student</a:t>
            </a:r>
            <a:r>
              <a:rPr sz="1900" b="0" i="0">
                <a:solidFill>
                  <a:srgbClr val="1C252B"/>
                </a:solidFill>
                <a:latin typeface="Cambria"/>
              </a:rPr>
              <a:t> → {</a:t>
            </a:r>
            <a:r>
              <a:rPr sz="1900" b="0" i="0">
                <a:solidFill>
                  <a:srgbClr val="1C252B"/>
                </a:solidFill>
                <a:latin typeface="Segoe UI"/>
              </a:rPr>
              <a:t>pass</a:t>
            </a:r>
            <a:r>
              <a:rPr sz="1900" b="0" i="0">
                <a:solidFill>
                  <a:srgbClr val="1C252B"/>
                </a:solidFill>
                <a:latin typeface="Cambria"/>
              </a:rPr>
              <a:t>, </a:t>
            </a:r>
            <a:r>
              <a:rPr sz="1900" b="0" i="0">
                <a:solidFill>
                  <a:srgbClr val="1C252B"/>
                </a:solidFill>
                <a:latin typeface="Segoe UI"/>
              </a:rPr>
              <a:t>fail</a:t>
            </a:r>
            <a:r>
              <a:rPr sz="1900" b="0" i="0">
                <a:solidFill>
                  <a:srgbClr val="1C252B"/>
                </a:solidFill>
                <a:latin typeface="Cambria"/>
              </a:rPr>
              <a:t>}</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Option B: </a:t>
            </a:r>
            <a:r>
              <a:rPr sz="1900" b="0" i="1">
                <a:solidFill>
                  <a:srgbClr val="1C252B"/>
                </a:solidFill>
                <a:latin typeface="Cambria"/>
              </a:rPr>
              <a:t>V</a:t>
            </a:r>
            <a:r>
              <a:rPr sz="1900" b="0" i="0">
                <a:solidFill>
                  <a:srgbClr val="1C252B"/>
                </a:solidFill>
                <a:latin typeface="Cambria"/>
              </a:rPr>
              <a:t>: </a:t>
            </a:r>
            <a:r>
              <a:rPr sz="1900" b="0" i="0">
                <a:solidFill>
                  <a:srgbClr val="1C252B"/>
                </a:solidFill>
                <a:latin typeface="Segoe UI"/>
              </a:rPr>
              <a:t>student</a:t>
            </a:r>
            <a:r>
              <a:rPr sz="1900" b="0" i="0">
                <a:solidFill>
                  <a:srgbClr val="1C252B"/>
                </a:solidFill>
                <a:latin typeface="Cambria"/>
              </a:rPr>
              <a:t> → [0,1]</a:t>
            </a:r>
            <a:r>
              <a:rPr sz="1900" b="0" i="0">
                <a:solidFill>
                  <a:srgbClr val="1C252B"/>
                </a:solidFill>
                <a:latin typeface="Segoe UI"/>
              </a:rPr>
              <a:t>, the probability of failing.</a:t>
            </a:r>
          </a:p>
        </p:txBody>
      </p:sp>
      <p:sp>
        <p:nvSpPr>
          <p:cNvPr id="12" name="body-3"/>
          <p:cNvSpPr txBox="1"/>
          <p:nvPr/>
        </p:nvSpPr>
        <p:spPr>
          <a:xfrm>
            <a:off x="1042416" y="430113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Option B is more useful: it lets staff call the riskiest students first.</a:t>
            </a:r>
          </a:p>
        </p:txBody>
      </p:sp>
      <p:sp>
        <p:nvSpPr>
          <p:cNvPr id="13" name="body-4"/>
          <p:cNvSpPr txBox="1"/>
          <p:nvPr/>
        </p:nvSpPr>
        <p:spPr>
          <a:xfrm>
            <a:off x="1042416" y="4734991"/>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3. Choose a representation</a:t>
            </a:r>
            <a:r>
              <a:rPr sz="1900" b="0" i="0">
                <a:solidFill>
                  <a:srgbClr val="1C252B"/>
                </a:solidFill>
                <a:latin typeface="Segoe UI"/>
              </a:rPr>
              <a:t> for the approximation </a:t>
            </a:r>
            <a:r>
              <a:rPr sz="1900" b="0" i="1">
                <a:solidFill>
                  <a:srgbClr val="1C252B"/>
                </a:solidFill>
                <a:latin typeface="Cambria"/>
              </a:rPr>
              <a:t>V̂</a:t>
            </a:r>
            <a:r>
              <a:rPr sz="1900" b="0" i="0">
                <a:solidFill>
                  <a:srgbClr val="1C252B"/>
                </a:solidFill>
                <a:latin typeface="Segoe UI"/>
              </a:rPr>
              <a:t> of the target. For example, a weighted sum of features:</a:t>
            </a:r>
          </a:p>
        </p:txBody>
      </p:sp>
      <p:sp>
        <p:nvSpPr>
          <p:cNvPr id="14" name="body-4bar">
            <a:extLst>
              <a:ext uri="{C183D7F6-B498-43B3-948B-1728B52AA6E4}">
                <adec:decorative xmlns:adec="http://schemas.microsoft.com/office/drawing/2017/decorative" val="1"/>
              </a:ext>
            </a:extLst>
          </p:cNvPr>
          <p:cNvSpPr/>
          <p:nvPr/>
        </p:nvSpPr>
        <p:spPr>
          <a:xfrm>
            <a:off x="841248" y="4753279"/>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hat{V}(\mathbf{x}) = \sigma(w_0 + w_1\, \text{attendance} + w_2\, \text{quiz average} + w_3\, \text{logins per week})"/>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5469991"/>
            <a:ext cx="10234879" cy="329458"/>
          </a:xfrm>
          <a:prstGeom prst="rect">
            <a:avLst/>
          </a:prstGeom>
        </p:spPr>
      </p:pic>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478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Design Decisions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3366442B-8C3F-40F7-B31E-47867F7D907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20924"/>
          </a:xfrm>
          <a:prstGeom prst="roundRect">
            <a:avLst>
              <a:gd name="adj" fmla="val 348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2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where </a:t>
            </a:r>
            <a:r>
              <a:rPr sz="1900" b="0" i="0">
                <a:solidFill>
                  <a:srgbClr val="1C252B"/>
                </a:solidFill>
                <a:latin typeface="Cambria"/>
              </a:rPr>
              <a:t>σ</a:t>
            </a:r>
            <a:r>
              <a:rPr sz="1900" b="0" i="0">
                <a:solidFill>
                  <a:srgbClr val="1C252B"/>
                </a:solidFill>
                <a:latin typeface="Segoe UI"/>
              </a:rPr>
              <a:t> squashes any number into </a:t>
            </a:r>
            <a:r>
              <a:rPr sz="1900" b="0" i="0">
                <a:solidFill>
                  <a:srgbClr val="1C252B"/>
                </a:solidFill>
                <a:latin typeface="Cambria"/>
              </a:rPr>
              <a:t>[0,1]</a:t>
            </a:r>
            <a:r>
              <a:rPr sz="1900" b="0" i="0">
                <a:solidFill>
                  <a:srgbClr val="1C252B"/>
                </a:solidFill>
                <a:latin typeface="Segoe UI"/>
              </a:rPr>
              <a:t> (Chapter 6). Choosing this form rules out, for good or ill, every pattern it cannot express.</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4. Choose a learning algorithm</a:t>
            </a:r>
            <a:r>
              <a:rPr sz="1900" b="0" i="0">
                <a:solidFill>
                  <a:srgbClr val="1C252B"/>
                </a:solidFill>
                <a:latin typeface="Segoe UI"/>
              </a:rPr>
              <a:t> that sets the weights </a:t>
            </a:r>
            <a:r>
              <a:rPr sz="1900" b="0" i="1">
                <a:solidFill>
                  <a:srgbClr val="1C252B"/>
                </a:solidFill>
                <a:latin typeface="Cambria"/>
              </a:rPr>
              <a:t>w</a:t>
            </a:r>
            <a:r>
              <a:rPr sz="1900" b="0" i="0" baseline="-25000">
                <a:solidFill>
                  <a:srgbClr val="1C252B"/>
                </a:solidFill>
                <a:latin typeface="Cambria"/>
              </a:rPr>
              <a:t>0</a:t>
            </a:r>
            <a:r>
              <a:rPr sz="1900" b="0" i="0">
                <a:solidFill>
                  <a:srgbClr val="1C252B"/>
                </a:solidFill>
                <a:latin typeface="Cambria"/>
              </a:rPr>
              <a:t>, …, </a:t>
            </a:r>
            <a:r>
              <a:rPr sz="1900" b="0" i="1">
                <a:solidFill>
                  <a:srgbClr val="1C252B"/>
                </a:solidFill>
                <a:latin typeface="Cambria"/>
              </a:rPr>
              <a:t>w</a:t>
            </a:r>
            <a:r>
              <a:rPr sz="1900" b="0" i="0" baseline="-25000">
                <a:solidFill>
                  <a:srgbClr val="1C252B"/>
                </a:solidFill>
                <a:latin typeface="Cambria"/>
              </a:rPr>
              <a:t>3</a:t>
            </a:r>
            <a:r>
              <a:rPr sz="1900" b="0" i="0">
                <a:solidFill>
                  <a:srgbClr val="1C252B"/>
                </a:solidFill>
                <a:latin typeface="Segoe UI"/>
              </a:rPr>
              <a:t> from the training experience — here, gradient descent on a loss (Chapter 2).</a:t>
            </a:r>
          </a:p>
        </p:txBody>
      </p:sp>
      <p:sp>
        <p:nvSpPr>
          <p:cNvPr id="11"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48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first three decisions matter more than the fourth.</a:t>
            </a:r>
            <a:r>
              <a:rPr sz="1900" b="0" i="0">
                <a:solidFill>
                  <a:srgbClr val="1C252B"/>
                </a:solidFill>
                <a:latin typeface="Segoe UI"/>
              </a:rPr>
              <a:t> A poor choice of experience or target cannot be rescued by a better algorithm.</a:t>
            </a:r>
          </a:p>
        </p:txBody>
      </p:sp>
      <p:sp>
        <p:nvSpPr>
          <p:cNvPr id="13" name="body-2bar">
            <a:extLst>
              <a:ext uri="{C183D7F6-B498-43B3-948B-1728B52AA6E4}">
                <adec:decorative xmlns:adec="http://schemas.microsoft.com/office/drawing/2017/decorative" val="1"/>
              </a:ext>
            </a:extLst>
          </p:cNvPr>
          <p:cNvSpPr/>
          <p:nvPr/>
        </p:nvSpPr>
        <p:spPr>
          <a:xfrm>
            <a:off x="841248" y="349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7273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Learning as Search Through a Hypothesis Space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Why Learn a Program Instead of Writing One?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A Precise Definition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The Four Paradigms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Designing a Learning System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1.5   Learning as Search Through a Hypothesis Space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A Short History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   Where Machine Learning Sits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     </a:t>
            </a:r>
            <a:fld id="{1D58E532-310E-43AA-8DF8-86DD80A40500}" type="slidenum">
              <a:rPr lang="en-GB" sz="1000">
                <a:solidFill>
                  <a:srgbClr val="8795A1"/>
                </a:solidFill>
                <a:latin typeface="Segoe UI"/>
              </a:rPr>
              <a:t>20</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9762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Hypothesis and Hypothesis Space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60EACDB9-4465-42D0-BF77-A327374C93BC}"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hypothesis</a:t>
            </a:r>
            <a:r>
              <a:rPr sz="2300" b="0" i="0">
                <a:solidFill>
                  <a:srgbClr val="1C252B"/>
                </a:solidFill>
                <a:latin typeface="Segoe UI"/>
              </a:rPr>
              <a:t> </a:t>
            </a:r>
            <a:r>
              <a:rPr sz="2300" b="0" i="1">
                <a:solidFill>
                  <a:srgbClr val="1C252B"/>
                </a:solidFill>
                <a:latin typeface="Cambria"/>
              </a:rPr>
              <a:t>h</a:t>
            </a:r>
            <a:r>
              <a:rPr sz="2300" b="0" i="0">
                <a:solidFill>
                  <a:srgbClr val="1C252B"/>
                </a:solidFill>
                <a:latin typeface="Segoe UI"/>
              </a:rPr>
              <a:t> is one candidate function from inputs to outputs — one particular setting of the weights, one particular decision tree. The </a:t>
            </a:r>
            <a:r>
              <a:rPr sz="2300" b="1" i="0">
                <a:solidFill>
                  <a:srgbClr val="1A5276"/>
                </a:solidFill>
                <a:latin typeface="Segoe UI"/>
              </a:rPr>
              <a:t>hypothesis space</a:t>
            </a:r>
            <a:r>
              <a:rPr sz="2300" b="0" i="0">
                <a:solidFill>
                  <a:srgbClr val="1C252B"/>
                </a:solidFill>
                <a:latin typeface="Segoe UI"/>
              </a:rPr>
              <a:t> </a:t>
            </a:r>
            <a:r>
              <a:rPr sz="2300" b="0" i="1">
                <a:solidFill>
                  <a:srgbClr val="1C252B"/>
                </a:solidFill>
                <a:latin typeface="Cambria"/>
              </a:rPr>
              <a:t>H</a:t>
            </a:r>
            <a:r>
              <a:rPr sz="2300" b="0" i="0">
                <a:solidFill>
                  <a:srgbClr val="1C252B"/>
                </a:solidFill>
                <a:latin typeface="Segoe UI"/>
              </a:rPr>
              <a:t> is the set of all hypotheses the representation allows. The unknown true function the data came from is the </a:t>
            </a:r>
            <a:r>
              <a:rPr sz="2300" b="1" i="0">
                <a:solidFill>
                  <a:srgbClr val="1A5276"/>
                </a:solidFill>
                <a:latin typeface="Segoe UI"/>
              </a:rPr>
              <a:t>target function</a:t>
            </a:r>
            <a:r>
              <a:rPr sz="2300" b="0" i="0">
                <a:solidFill>
                  <a:srgbClr val="1C252B"/>
                </a:solidFill>
                <a:latin typeface="Segoe UI"/>
              </a:rPr>
              <a:t> </a:t>
            </a:r>
            <a:r>
              <a:rPr sz="2300" b="0" i="1">
                <a:solidFill>
                  <a:srgbClr val="1C252B"/>
                </a:solidFill>
                <a:latin typeface="Cambria"/>
              </a:rPr>
              <a:t>c</a:t>
            </a:r>
            <a:r>
              <a:rPr sz="2300" b="0" i="0">
                <a:solidFill>
                  <a:srgbClr val="1C252B"/>
                </a:solidFill>
                <a:latin typeface="Segoe UI"/>
              </a:rPr>
              <a:t> (or </a:t>
            </a:r>
            <a:r>
              <a:rPr sz="2300" b="0" i="1">
                <a:solidFill>
                  <a:srgbClr val="1C252B"/>
                </a:solidFill>
                <a:latin typeface="Cambria"/>
              </a:rPr>
              <a:t>f</a:t>
            </a:r>
            <a:r>
              <a:rPr sz="2300" b="0" i="0">
                <a:solidFill>
                  <a:srgbClr val="1C252B"/>
                </a:solidFill>
                <a:latin typeface="Segoe UI"/>
              </a:rPr>
              <a:t>). </a:t>
            </a:r>
            <a:r>
              <a:rPr sz="2300" b="1" i="0">
                <a:solidFill>
                  <a:srgbClr val="1A5276"/>
                </a:solidFill>
                <a:latin typeface="Segoe UI"/>
              </a:rPr>
              <a:t>Learning</a:t>
            </a:r>
            <a:r>
              <a:rPr sz="2300" b="0" i="0">
                <a:solidFill>
                  <a:srgbClr val="1C252B"/>
                </a:solidFill>
                <a:latin typeface="Segoe UI"/>
              </a:rPr>
              <a:t> is a search through </a:t>
            </a:r>
            <a:r>
              <a:rPr sz="2300" b="0" i="1">
                <a:solidFill>
                  <a:srgbClr val="1C252B"/>
                </a:solidFill>
                <a:latin typeface="Cambria"/>
              </a:rPr>
              <a:t>H</a:t>
            </a:r>
            <a:r>
              <a:rPr sz="2300" b="0" i="0">
                <a:solidFill>
                  <a:srgbClr val="1C252B"/>
                </a:solidFill>
                <a:latin typeface="Segoe UI"/>
              </a:rPr>
              <a:t> for a hypothesis that agrees with </a:t>
            </a:r>
            <a:r>
              <a:rPr sz="2300" b="0" i="1">
                <a:solidFill>
                  <a:srgbClr val="1C252B"/>
                </a:solidFill>
                <a:latin typeface="Cambria"/>
              </a:rPr>
              <a:t>c</a:t>
            </a:r>
            <a:r>
              <a:rPr sz="2300" b="0" i="0">
                <a:solidFill>
                  <a:srgbClr val="1C252B"/>
                </a:solidFill>
                <a:latin typeface="Segoe UI"/>
              </a:rPr>
              <a:t> — not just on the training data, but on data not yet seen.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as search</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C00081A7-4431-4AFC-8B0B-5EDF25DF1B2A}" type="slidenum">
              <a:rPr lang="en-GB" sz="1000">
                <a:solidFill>
                  <a:srgbClr val="8795A1"/>
                </a:solidFill>
                <a:latin typeface="Segoe UI"/>
              </a:rPr>
              <a:t>22</a:t>
            </a:fld>
          </a:p>
        </p:txBody>
      </p:sp>
      <p:pic>
        <p:nvPicPr>
          <p:cNvPr id="6" name="!!figure" descr="Figure 1.3. Learning as search. The data narrows the hypothesis space to those hypotheses consistent with it; something other than the data must choose among the survivor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14903"/>
            <a:ext cx="10874959" cy="329740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data narrows the hypothesis space to those hypotheses consistent with it; something other than the data must choose among the survivors.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4738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Learner Must Assume Something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855930C2-3EFC-42C4-A296-2A4BA80D8E18}"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38118"/>
          </a:xfrm>
          <a:prstGeom prst="roundRect">
            <a:avLst>
              <a:gd name="adj" fmla="val 258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381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62046"/>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Show a learner the examples </a:t>
            </a:r>
            <a:r>
              <a:rPr sz="2300" b="0" i="0">
                <a:solidFill>
                  <a:srgbClr val="1C252B"/>
                </a:solidFill>
                <a:latin typeface="Cambria"/>
              </a:rPr>
              <a:t>(1 → 2)</a:t>
            </a:r>
            <a:r>
              <a:rPr sz="2300" b="0" i="0">
                <a:solidFill>
                  <a:srgbClr val="1C252B"/>
                </a:solidFill>
                <a:latin typeface="Segoe UI"/>
              </a:rPr>
              <a:t>, </a:t>
            </a:r>
            <a:r>
              <a:rPr sz="2300" b="0" i="0">
                <a:solidFill>
                  <a:srgbClr val="1C252B"/>
                </a:solidFill>
                <a:latin typeface="Cambria"/>
              </a:rPr>
              <a:t>(2 → 4)</a:t>
            </a:r>
            <a:r>
              <a:rPr sz="2300" b="0" i="0">
                <a:solidFill>
                  <a:srgbClr val="1C252B"/>
                </a:solidFill>
                <a:latin typeface="Segoe UI"/>
              </a:rPr>
              <a:t>, </a:t>
            </a:r>
            <a:r>
              <a:rPr sz="2300" b="0" i="0">
                <a:solidFill>
                  <a:srgbClr val="1C252B"/>
                </a:solidFill>
                <a:latin typeface="Cambria"/>
              </a:rPr>
              <a:t>(3 → 6)</a:t>
            </a:r>
            <a:r>
              <a:rPr sz="2300" b="0" i="0">
                <a:solidFill>
                  <a:srgbClr val="1C252B"/>
                </a:solidFill>
                <a:latin typeface="Segoe UI"/>
              </a:rPr>
              <a:t> and ask for the output at 4. “8” is the natural answer, but the function that returns </a:t>
            </a:r>
            <a:r>
              <a:rPr sz="2300" b="0" i="0">
                <a:solidFill>
                  <a:srgbClr val="1C252B"/>
                </a:solidFill>
                <a:latin typeface="Cambria"/>
              </a:rPr>
              <a:t>2</a:t>
            </a:r>
            <a:r>
              <a:rPr sz="2300" b="0" i="1">
                <a:solidFill>
                  <a:srgbClr val="1C252B"/>
                </a:solidFill>
                <a:latin typeface="Cambria"/>
              </a:rPr>
              <a:t>x</a:t>
            </a:r>
            <a:r>
              <a:rPr sz="2300" b="0" i="0">
                <a:solidFill>
                  <a:srgbClr val="1C252B"/>
                </a:solidFill>
                <a:latin typeface="Segoe UI"/>
              </a:rPr>
              <a:t> for </a:t>
            </a:r>
            <a:r>
              <a:rPr sz="2300" b="0" i="1">
                <a:solidFill>
                  <a:srgbClr val="1C252B"/>
                </a:solidFill>
                <a:latin typeface="Cambria"/>
              </a:rPr>
              <a:t>x</a:t>
            </a:r>
            <a:r>
              <a:rPr sz="2300" b="0" i="0">
                <a:solidFill>
                  <a:srgbClr val="1C252B"/>
                </a:solidFill>
                <a:latin typeface="Cambria"/>
              </a:rPr>
              <a:t> ≤ 3</a:t>
            </a:r>
            <a:r>
              <a:rPr sz="2300" b="0" i="0">
                <a:solidFill>
                  <a:srgbClr val="1C252B"/>
                </a:solidFill>
                <a:latin typeface="Segoe UI"/>
              </a:rPr>
              <a:t> and </a:t>
            </a:r>
            <a:r>
              <a:rPr sz="2300" b="0" i="0">
                <a:solidFill>
                  <a:srgbClr val="1C252B"/>
                </a:solidFill>
                <a:latin typeface="Cambria"/>
              </a:rPr>
              <a:t>0</a:t>
            </a:r>
            <a:r>
              <a:rPr sz="2300" b="0" i="0">
                <a:solidFill>
                  <a:srgbClr val="1C252B"/>
                </a:solidFill>
                <a:latin typeface="Segoe UI"/>
              </a:rPr>
              <a:t> otherwise fits the three examples just as perfectly. Nothing in the data prefers one to the other. You prefer </a:t>
            </a:r>
            <a:r>
              <a:rPr sz="2300" b="0" i="0">
                <a:solidFill>
                  <a:srgbClr val="1C252B"/>
                </a:solidFill>
                <a:latin typeface="Cambria"/>
              </a:rPr>
              <a:t>2</a:t>
            </a:r>
            <a:r>
              <a:rPr sz="2300" b="0" i="1">
                <a:solidFill>
                  <a:srgbClr val="1C252B"/>
                </a:solidFill>
                <a:latin typeface="Cambria"/>
              </a:rPr>
              <a:t>x</a:t>
            </a:r>
            <a:r>
              <a:rPr sz="2300" b="0" i="0">
                <a:solidFill>
                  <a:srgbClr val="1C252B"/>
                </a:solidFill>
                <a:latin typeface="Segoe UI"/>
              </a:rPr>
              <a:t> because you assume the simpler pattern continues. That assumption — the </a:t>
            </a:r>
            <a:r>
              <a:rPr sz="2300" b="1" i="0">
                <a:solidFill>
                  <a:srgbClr val="1A5276"/>
                </a:solidFill>
                <a:latin typeface="Segoe UI"/>
              </a:rPr>
              <a:t>inductive bias</a:t>
            </a:r>
            <a:r>
              <a:rPr sz="2300" b="0" i="0">
                <a:solidFill>
                  <a:srgbClr val="1C252B"/>
                </a:solidFill>
                <a:latin typeface="Segoe UI"/>
              </a:rPr>
              <a:t> — is not a defect to be removed: a learner with no bias at all cannot generalise beyond the examples it has seen. Chapter 4 proves this, and every later chapter names the bias of its algorithm.</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72263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Selected milestones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7     </a:t>
            </a:r>
            <a:fld id="{019AF1D0-FDC0-4DEE-9F6B-A1DB1382E05C}" type="slidenum">
              <a:rPr lang="en-GB" sz="1000">
                <a:solidFill>
                  <a:srgbClr val="8795A1"/>
                </a:solidFill>
                <a:latin typeface="Segoe UI"/>
              </a:rPr>
              <a:t>24</a:t>
            </a:fld>
          </a:p>
        </p:txBody>
      </p:sp>
      <p:pic>
        <p:nvPicPr>
          <p:cNvPr id="6" name="!!figure" descr="Figure 1.4. Selected milestones. Most of what this course teaches was in place by 2001; what changed after 2012 was mainly scale — data, computation, and the depth of the network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129917"/>
            <a:ext cx="10874959" cy="149731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Most of what this course teaches was in place by 2001; what changed after 2012 was mainly scale — data, computation, and the depth of the networks.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9714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3B07F7E8-2F28-44FF-B33C-A4EBAABBD30C}"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Choosing the algorithm first.</a:t>
            </a:r>
            <a:r>
              <a:rPr sz="2100" b="0" i="0">
                <a:solidFill>
                  <a:srgbClr val="1C252B"/>
                </a:solidFill>
                <a:latin typeface="Segoe UI"/>
              </a:rPr>
              <a:t> “Let’s use a neural network” before </a:t>
            </a:r>
            <a:r>
              <a:rPr sz="2100" b="0" i="1">
                <a:solidFill>
                  <a:srgbClr val="1C252B"/>
                </a:solidFill>
                <a:latin typeface="Cambria"/>
              </a:rPr>
              <a:t>T</a:t>
            </a:r>
            <a:r>
              <a:rPr sz="2100" b="0" i="0">
                <a:solidFill>
                  <a:srgbClr val="1C252B"/>
                </a:solidFill>
                <a:latin typeface="Segoe UI"/>
              </a:rPr>
              <a:t>, </a:t>
            </a:r>
            <a:r>
              <a:rPr sz="2100" b="0" i="1">
                <a:solidFill>
                  <a:srgbClr val="1C252B"/>
                </a:solidFill>
                <a:latin typeface="Cambria"/>
              </a:rPr>
              <a:t>P</a:t>
            </a:r>
            <a:r>
              <a:rPr sz="2100" b="0" i="0">
                <a:solidFill>
                  <a:srgbClr val="1C252B"/>
                </a:solidFill>
                <a:latin typeface="Segoe UI"/>
              </a:rPr>
              <a:t> and </a:t>
            </a:r>
            <a:r>
              <a:rPr sz="2100" b="0" i="1">
                <a:solidFill>
                  <a:srgbClr val="1C252B"/>
                </a:solidFill>
                <a:latin typeface="Cambria"/>
              </a:rPr>
              <a:t>E</a:t>
            </a:r>
            <a:r>
              <a:rPr sz="2100" b="0" i="0">
                <a:solidFill>
                  <a:srgbClr val="1C252B"/>
                </a:solidFill>
                <a:latin typeface="Segoe UI"/>
              </a:rPr>
              <a:t> are written down. Decide what success means, and what data exists, before anything else.</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9985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Judging a model on the data it learned from.</a:t>
            </a:r>
            <a:r>
              <a:rPr sz="2100" b="0" i="0">
                <a:solidFill>
                  <a:srgbClr val="1C252B"/>
                </a:solidFill>
                <a:latin typeface="Segoe UI"/>
              </a:rPr>
              <a:t> Any sufficiently flexible model can memorise its training data. Performance means performance on examples it has not seen (Chapter 7).</a:t>
            </a:r>
          </a:p>
        </p:txBody>
      </p:sp>
      <p:sp>
        <p:nvSpPr>
          <p:cNvPr id="13" name="!!pb2">
            <a:extLst>
              <a:ext uri="{C183D7F6-B498-43B3-948B-1728B52AA6E4}">
                <adec:decorative xmlns:adec="http://schemas.microsoft.com/office/drawing/2017/decorative" val="1"/>
              </a:ext>
            </a:extLst>
          </p:cNvPr>
          <p:cNvSpPr/>
          <p:nvPr/>
        </p:nvSpPr>
        <p:spPr>
          <a:xfrm>
            <a:off x="658368" y="382219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84505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80390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Treating a category code as a number.</a:t>
            </a:r>
            <a:r>
              <a:rPr sz="2100" b="0" i="0">
                <a:solidFill>
                  <a:srgbClr val="1C252B"/>
                </a:solidFill>
                <a:latin typeface="Segoe UI"/>
              </a:rPr>
              <a:t> Port 443 is not “more” than port 80; averaging them means nothing.</a:t>
            </a:r>
          </a:p>
        </p:txBody>
      </p:sp>
      <p:sp>
        <p:nvSpPr>
          <p:cNvPr id="16" name="!!pb3">
            <a:extLst>
              <a:ext uri="{C183D7F6-B498-43B3-948B-1728B52AA6E4}">
                <adec:decorative xmlns:adec="http://schemas.microsoft.com/office/drawing/2017/decorative" val="1"/>
              </a:ext>
            </a:extLst>
          </p:cNvPr>
          <p:cNvSpPr/>
          <p:nvPr/>
        </p:nvSpPr>
        <p:spPr>
          <a:xfrm>
            <a:off x="658368" y="468904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71190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670755"/>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Believing unsupervised means objective.</a:t>
            </a:r>
            <a:r>
              <a:rPr sz="2100" b="0" i="0">
                <a:solidFill>
                  <a:srgbClr val="1C252B"/>
                </a:solidFill>
                <a:latin typeface="Segoe UI"/>
              </a:rPr>
              <a:t> Every clustering reflects choices — of features, distance and number of groups — made by a person (Chapter 15).</a:t>
            </a:r>
          </a:p>
        </p:txBody>
      </p:sp>
      <p:sp>
        <p:nvSpPr>
          <p:cNvPr id="19" name="!!pb4">
            <a:extLst>
              <a:ext uri="{C183D7F6-B498-43B3-948B-1728B52AA6E4}">
                <adec:decorative xmlns:adec="http://schemas.microsoft.com/office/drawing/2017/decorative" val="1"/>
              </a:ext>
            </a:extLst>
          </p:cNvPr>
          <p:cNvSpPr/>
          <p:nvPr/>
        </p:nvSpPr>
        <p:spPr>
          <a:xfrm>
            <a:off x="658368" y="555589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57875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537606"/>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Calling any automation “machine learning”.</a:t>
            </a:r>
            <a:r>
              <a:rPr sz="2100" b="0" i="0">
                <a:solidFill>
                  <a:srgbClr val="1C252B"/>
                </a:solidFill>
                <a:latin typeface="Segoe UI"/>
              </a:rPr>
              <a:t> A threshold written by a person is a rule, not a model, however useful it is.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2202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Framing a Learning Problem</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1EE443F7-870B-4DCC-B176-2E82D366496C}"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T</a:t>
            </a:r>
            <a:r>
              <a:rPr sz="2300" b="0" i="0">
                <a:solidFill>
                  <a:srgbClr val="1C252B"/>
                </a:solidFill>
                <a:latin typeface="Segoe UI"/>
              </a:rPr>
              <a:t>: rank this term’s students by risk of failing.</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T</a:t>
            </a:r>
            <a:r>
              <a:rPr sz="2300" b="0" i="0">
                <a:solidFill>
                  <a:srgbClr val="1C252B"/>
                </a:solidFill>
                <a:latin typeface="Segoe UI"/>
              </a:rPr>
              <a:t>: predict the actual hours for a user story.</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T</a:t>
            </a:r>
            <a:r>
              <a:rPr sz="2300" b="0" i="0">
                <a:solidFill>
                  <a:srgbClr val="1C252B"/>
                </a:solidFill>
                <a:latin typeface="Segoe UI"/>
              </a:rPr>
              <a:t>: classify one second of motor vibration as healthy or failing.</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T</a:t>
            </a:r>
            <a:r>
              <a:rPr sz="2300" b="0" i="0">
                <a:solidFill>
                  <a:srgbClr val="1C252B"/>
                </a:solidFill>
                <a:latin typeface="Segoe UI"/>
              </a:rPr>
              <a:t>: classify each network connection as benign or malicious.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46906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Framing a Learning Problem</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B2149C4F-F536-45EE-A30A-F3E823E7C770}"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T</a:t>
            </a:r>
            <a:r>
              <a:rPr sz="2200" b="0" i="0">
                <a:solidFill>
                  <a:srgbClr val="1C252B"/>
                </a:solidFill>
                <a:latin typeface="Segoe UI"/>
              </a:rPr>
              <a:t>: rank this term’s students by risk of failing. </a:t>
            </a:r>
            <a:r>
              <a:rPr sz="2200" b="0" i="1">
                <a:solidFill>
                  <a:srgbClr val="1C252B"/>
                </a:solidFill>
                <a:latin typeface="Cambria"/>
              </a:rPr>
              <a:t>P</a:t>
            </a:r>
            <a:r>
              <a:rPr sz="2200" b="0" i="0">
                <a:solidFill>
                  <a:srgbClr val="1C252B"/>
                </a:solidFill>
                <a:latin typeface="Segoe UI"/>
              </a:rPr>
              <a:t>: of the students who go on to fail, the fraction in the top 20% of the ranking. </a:t>
            </a:r>
            <a:r>
              <a:rPr sz="2200" b="0" i="1">
                <a:solidFill>
                  <a:srgbClr val="1C252B"/>
                </a:solidFill>
                <a:latin typeface="Cambria"/>
              </a:rPr>
              <a:t>E</a:t>
            </a:r>
            <a:r>
              <a:rPr sz="2200" b="0" i="0">
                <a:solidFill>
                  <a:srgbClr val="1C252B"/>
                </a:solidFill>
                <a:latin typeface="Segoe UI"/>
              </a:rPr>
              <a:t>: three past cohorts with their Week 4 records. The trap is </a:t>
            </a:r>
            <a:r>
              <a:rPr sz="2200" b="0" i="1">
                <a:solidFill>
                  <a:srgbClr val="1C252B"/>
                </a:solidFill>
                <a:latin typeface="Cambria"/>
              </a:rPr>
              <a:t>E</a:t>
            </a:r>
            <a:r>
              <a:rPr sz="2200" b="0" i="0">
                <a:solidFill>
                  <a:srgbClr val="1C252B"/>
                </a:solidFill>
                <a:latin typeface="Segoe UI"/>
              </a:rPr>
              <a:t>: a model trained on cohorts who received no intervention learns a world that the intervention itself will change.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178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Framing a Learning Problem</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F2DC5186-FDBF-4348-B392-1156E918DC9B}" type="slidenum">
              <a:rPr lang="en-GB" sz="1000">
                <a:solidFill>
                  <a:srgbClr val="8795A1"/>
                </a:solidFill>
                <a:latin typeface="Segoe UI"/>
              </a:rPr>
              <a:t>28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T</a:t>
            </a:r>
            <a:r>
              <a:rPr sz="2200" b="0" i="0">
                <a:solidFill>
                  <a:srgbClr val="1C252B"/>
                </a:solidFill>
                <a:latin typeface="Segoe UI"/>
              </a:rPr>
              <a:t>: predict the actual hours for a user story. </a:t>
            </a:r>
            <a:r>
              <a:rPr sz="2200" b="0" i="1">
                <a:solidFill>
                  <a:srgbClr val="1C252B"/>
                </a:solidFill>
                <a:latin typeface="Cambria"/>
              </a:rPr>
              <a:t>P</a:t>
            </a:r>
            <a:r>
              <a:rPr sz="2200" b="0" i="0">
                <a:solidFill>
                  <a:srgbClr val="1C252B"/>
                </a:solidFill>
                <a:latin typeface="Segoe UI"/>
              </a:rPr>
              <a:t>: mean absolute error in hours. </a:t>
            </a:r>
            <a:r>
              <a:rPr sz="2200" b="0" i="1">
                <a:solidFill>
                  <a:srgbClr val="1C252B"/>
                </a:solidFill>
                <a:latin typeface="Cambria"/>
              </a:rPr>
              <a:t>E</a:t>
            </a:r>
            <a:r>
              <a:rPr sz="2200" b="0" i="0">
                <a:solidFill>
                  <a:srgbClr val="1C252B"/>
                </a:solidFill>
                <a:latin typeface="Segoe UI"/>
              </a:rPr>
              <a:t>: the team’s completed stories. The trap is volume — a single team completes perhaps two hundred stories a year, which is small data, and the estimates the team gave were themselves influenced by earlier predictions.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Framing a Learning Problem</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0591B204-DA94-469D-8ED6-3F4E5BFEA82A}" type="slidenum">
              <a:rPr lang="en-GB" sz="1000">
                <a:solidFill>
                  <a:srgbClr val="8795A1"/>
                </a:solidFill>
                <a:latin typeface="Segoe UI"/>
              </a:rPr>
              <a:t>29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T</a:t>
            </a:r>
            <a:r>
              <a:rPr sz="2200" b="0" i="0">
                <a:solidFill>
                  <a:srgbClr val="1C252B"/>
                </a:solidFill>
                <a:latin typeface="Segoe UI"/>
              </a:rPr>
              <a:t>: classify one second of motor vibration as healthy or failing. </a:t>
            </a:r>
            <a:r>
              <a:rPr sz="2200" b="0" i="1">
                <a:solidFill>
                  <a:srgbClr val="1C252B"/>
                </a:solidFill>
                <a:latin typeface="Cambria"/>
              </a:rPr>
              <a:t>P</a:t>
            </a:r>
            <a:r>
              <a:rPr sz="2200" b="0" i="0">
                <a:solidFill>
                  <a:srgbClr val="1C252B"/>
                </a:solidFill>
                <a:latin typeface="Segoe UI"/>
              </a:rPr>
              <a:t>: failures caught at least a day before breakdown, with at most one false alarm per machine per month. </a:t>
            </a:r>
            <a:r>
              <a:rPr sz="2200" b="0" i="1">
                <a:solidFill>
                  <a:srgbClr val="1C252B"/>
                </a:solidFill>
                <a:latin typeface="Cambria"/>
              </a:rPr>
              <a:t>E</a:t>
            </a:r>
            <a:r>
              <a:rPr sz="2200" b="0" i="0">
                <a:solidFill>
                  <a:srgbClr val="1C252B"/>
                </a:solidFill>
                <a:latin typeface="Segoe UI"/>
              </a:rPr>
              <a:t>: vibration logs joined to maintenance records. The trap is that failures are rare, so there may be only a dozen labelled failures in years of data.</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154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Framing a Learning Problem</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A95C793D-482E-4C75-AB32-B1D65B286967}" type="slidenum">
              <a:rPr lang="en-GB" sz="1000">
                <a:solidFill>
                  <a:srgbClr val="8795A1"/>
                </a:solidFill>
                <a:latin typeface="Segoe UI"/>
              </a:rPr>
              <a:t>30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T</a:t>
            </a:r>
            <a:r>
              <a:rPr sz="2200" b="0" i="0">
                <a:solidFill>
                  <a:srgbClr val="1C252B"/>
                </a:solidFill>
                <a:latin typeface="Segoe UI"/>
              </a:rPr>
              <a:t>: classify each network connection as benign or malicious. </a:t>
            </a:r>
            <a:r>
              <a:rPr sz="2200" b="0" i="1">
                <a:solidFill>
                  <a:srgbClr val="1C252B"/>
                </a:solidFill>
                <a:latin typeface="Cambria"/>
              </a:rPr>
              <a:t>P</a:t>
            </a:r>
            <a:r>
              <a:rPr sz="2200" b="0" i="0">
                <a:solidFill>
                  <a:srgbClr val="1C252B"/>
                </a:solidFill>
                <a:latin typeface="Segoe UI"/>
              </a:rPr>
              <a:t>: detection rate at a fixed, tolerable number of alerts per analyst per hour. </a:t>
            </a:r>
            <a:r>
              <a:rPr sz="2200" b="0" i="1">
                <a:solidFill>
                  <a:srgbClr val="1C252B"/>
                </a:solidFill>
                <a:latin typeface="Cambria"/>
              </a:rPr>
              <a:t>E</a:t>
            </a:r>
            <a:r>
              <a:rPr sz="2200" b="0" i="0">
                <a:solidFill>
                  <a:srgbClr val="1C252B"/>
                </a:solidFill>
                <a:latin typeface="Segoe UI"/>
              </a:rPr>
              <a:t>: labelled traffic from past incidents. The trap is the adversary: </a:t>
            </a:r>
            <a:r>
              <a:rPr sz="2200" b="0" i="1">
                <a:solidFill>
                  <a:srgbClr val="1C252B"/>
                </a:solidFill>
                <a:latin typeface="Cambria"/>
              </a:rPr>
              <a:t>E</a:t>
            </a:r>
            <a:r>
              <a:rPr sz="2200" b="0" i="0">
                <a:solidFill>
                  <a:srgbClr val="1C252B"/>
                </a:solidFill>
                <a:latin typeface="Segoe UI"/>
              </a:rPr>
              <a:t> describes last year’s attacks, and the attacker’s whole aim is for this year’s not to resemble them.</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643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Rule Against a Learned Model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B5E8EE10-DE25-4364-B83C-5D60B69EB070}" type="slidenum">
              <a:rPr lang="en-GB" sz="1000">
                <a:solidFill>
                  <a:srgbClr val="8795A1"/>
                </a:solidFill>
                <a:latin typeface="Segoe UI"/>
              </a:rPr>
              <a:t>31</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Write a rule by hand, then let an algorithm learn one, and compare them on data neither has seen. The Wisconsin breast cancer data ships with scikit-learn: 569 tumours, 30 measurements each, labelled malignant or benign.</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A rule written by a person: large tumours are malignant</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A rule found by a learning algorithm</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The baseline every result must beat</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Week 1: A rule against a learned model; the chapter in NumPy</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22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code/ch01_rule_against_learned.py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713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Rule Against a Learned Model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A97029E1-6705-489B-8803-FE6A3CCBA75D}"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code/ch01_rule_against_learned.py</a:t>
            </a:r>
          </a:p>
        </p:txBody>
      </p:sp>
      <p:sp>
        <p:nvSpPr>
          <p:cNvPr id="14" name="!!code-text" descr="from sklearn.datasets import load_breast_cancer from sklearn.model_selection import train_test_split from sklearn.tree import DecisionTreeClassifier from sklearn.metrics import accuracy_score data = load_breast_cancer() X, y = data.data, data.target # y: 0 = malignant, 1 = benign X_tr, X_te, y_tr, y_te = train_test_split( X, y, test_size=0.25, random_state=0, stratify=y)"/>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from</a:t>
            </a:r>
            <a:r>
              <a:rPr sz="1900" i="0">
                <a:solidFill>
                  <a:srgbClr val="E8EDF2"/>
                </a:solidFill>
                <a:latin typeface="Consolas"/>
              </a:rPr>
              <a:t> </a:t>
            </a:r>
            <a:r>
              <a:rPr sz="1900" i="0">
                <a:solidFill>
                  <a:srgbClr val="76D7C4"/>
                </a:solidFill>
                <a:latin typeface="Consolas"/>
              </a:rPr>
              <a:t>sklearn</a:t>
            </a:r>
            <a:r>
              <a:rPr sz="1900" i="0">
                <a:solidFill>
                  <a:srgbClr val="76D7C4"/>
                </a:solidFill>
                <a:latin typeface="Consolas"/>
              </a:rPr>
              <a:t>.</a:t>
            </a:r>
            <a:r>
              <a:rPr sz="1900" i="0">
                <a:solidFill>
                  <a:srgbClr val="76D7C4"/>
                </a:solidFill>
                <a:latin typeface="Consolas"/>
              </a:rPr>
              <a:t>datasets</a:t>
            </a:r>
            <a:r>
              <a:rPr sz="1900" i="0">
                <a:solidFill>
                  <a:srgbClr val="E8EDF2"/>
                </a:solidFill>
                <a:latin typeface="Consolas"/>
              </a:rPr>
              <a:t> </a:t>
            </a:r>
            <a:r>
              <a:rPr sz="1900" i="0">
                <a:solidFill>
                  <a:srgbClr val="5DADE2"/>
                </a:solidFill>
                <a:latin typeface="Consolas"/>
              </a:rPr>
              <a:t>import</a:t>
            </a:r>
            <a:r>
              <a:rPr sz="1900" i="0">
                <a:solidFill>
                  <a:srgbClr val="E8EDF2"/>
                </a:solidFill>
                <a:latin typeface="Consolas"/>
              </a:rPr>
              <a:t> </a:t>
            </a:r>
            <a:r>
              <a:rPr sz="1900" i="0">
                <a:solidFill>
                  <a:srgbClr val="E8EDF2"/>
                </a:solidFill>
                <a:latin typeface="Consolas"/>
              </a:rPr>
              <a:t>load_breast_cancer</a:t>
            </a:r>
          </a:p>
          <a:p>
            <a:pPr>
              <a:lnSpc>
                <a:spcPct val="100000"/>
              </a:lnSpc>
              <a:spcAft>
                <a:spcPts val="0"/>
              </a:spcAft>
            </a:pPr>
            <a:r>
              <a:rPr sz="1900" i="0">
                <a:solidFill>
                  <a:srgbClr val="5DADE2"/>
                </a:solidFill>
                <a:latin typeface="Consolas"/>
              </a:rPr>
              <a:t>from</a:t>
            </a:r>
            <a:r>
              <a:rPr sz="1900" i="0">
                <a:solidFill>
                  <a:srgbClr val="E8EDF2"/>
                </a:solidFill>
                <a:latin typeface="Consolas"/>
              </a:rPr>
              <a:t> </a:t>
            </a:r>
            <a:r>
              <a:rPr sz="1900" i="0">
                <a:solidFill>
                  <a:srgbClr val="76D7C4"/>
                </a:solidFill>
                <a:latin typeface="Consolas"/>
              </a:rPr>
              <a:t>sklearn</a:t>
            </a:r>
            <a:r>
              <a:rPr sz="1900" i="0">
                <a:solidFill>
                  <a:srgbClr val="76D7C4"/>
                </a:solidFill>
                <a:latin typeface="Consolas"/>
              </a:rPr>
              <a:t>.</a:t>
            </a:r>
            <a:r>
              <a:rPr sz="1900" i="0">
                <a:solidFill>
                  <a:srgbClr val="76D7C4"/>
                </a:solidFill>
                <a:latin typeface="Consolas"/>
              </a:rPr>
              <a:t>model_selection</a:t>
            </a:r>
            <a:r>
              <a:rPr sz="1900" i="0">
                <a:solidFill>
                  <a:srgbClr val="E8EDF2"/>
                </a:solidFill>
                <a:latin typeface="Consolas"/>
              </a:rPr>
              <a:t> </a:t>
            </a:r>
            <a:r>
              <a:rPr sz="1900" i="0">
                <a:solidFill>
                  <a:srgbClr val="5DADE2"/>
                </a:solidFill>
                <a:latin typeface="Consolas"/>
              </a:rPr>
              <a:t>import</a:t>
            </a:r>
            <a:r>
              <a:rPr sz="1900" i="0">
                <a:solidFill>
                  <a:srgbClr val="E8EDF2"/>
                </a:solidFill>
                <a:latin typeface="Consolas"/>
              </a:rPr>
              <a:t> </a:t>
            </a:r>
            <a:r>
              <a:rPr sz="1900" i="0">
                <a:solidFill>
                  <a:srgbClr val="E8EDF2"/>
                </a:solidFill>
                <a:latin typeface="Consolas"/>
              </a:rPr>
              <a:t>train_test_split</a:t>
            </a:r>
          </a:p>
          <a:p>
            <a:pPr>
              <a:lnSpc>
                <a:spcPct val="100000"/>
              </a:lnSpc>
              <a:spcAft>
                <a:spcPts val="0"/>
              </a:spcAft>
            </a:pPr>
            <a:r>
              <a:rPr sz="1900" i="0">
                <a:solidFill>
                  <a:srgbClr val="5DADE2"/>
                </a:solidFill>
                <a:latin typeface="Consolas"/>
              </a:rPr>
              <a:t>from</a:t>
            </a:r>
            <a:r>
              <a:rPr sz="1900" i="0">
                <a:solidFill>
                  <a:srgbClr val="E8EDF2"/>
                </a:solidFill>
                <a:latin typeface="Consolas"/>
              </a:rPr>
              <a:t> </a:t>
            </a:r>
            <a:r>
              <a:rPr sz="1900" i="0">
                <a:solidFill>
                  <a:srgbClr val="76D7C4"/>
                </a:solidFill>
                <a:latin typeface="Consolas"/>
              </a:rPr>
              <a:t>sklearn</a:t>
            </a:r>
            <a:r>
              <a:rPr sz="1900" i="0">
                <a:solidFill>
                  <a:srgbClr val="76D7C4"/>
                </a:solidFill>
                <a:latin typeface="Consolas"/>
              </a:rPr>
              <a:t>.</a:t>
            </a:r>
            <a:r>
              <a:rPr sz="1900" i="0">
                <a:solidFill>
                  <a:srgbClr val="76D7C4"/>
                </a:solidFill>
                <a:latin typeface="Consolas"/>
              </a:rPr>
              <a:t>tree</a:t>
            </a:r>
            <a:r>
              <a:rPr sz="1900" i="0">
                <a:solidFill>
                  <a:srgbClr val="E8EDF2"/>
                </a:solidFill>
                <a:latin typeface="Consolas"/>
              </a:rPr>
              <a:t> </a:t>
            </a:r>
            <a:r>
              <a:rPr sz="1900" i="0">
                <a:solidFill>
                  <a:srgbClr val="5DADE2"/>
                </a:solidFill>
                <a:latin typeface="Consolas"/>
              </a:rPr>
              <a:t>import</a:t>
            </a:r>
            <a:r>
              <a:rPr sz="1900" i="0">
                <a:solidFill>
                  <a:srgbClr val="E8EDF2"/>
                </a:solidFill>
                <a:latin typeface="Consolas"/>
              </a:rPr>
              <a:t> </a:t>
            </a:r>
            <a:r>
              <a:rPr sz="1900" i="0">
                <a:solidFill>
                  <a:srgbClr val="E8EDF2"/>
                </a:solidFill>
                <a:latin typeface="Consolas"/>
              </a:rPr>
              <a:t>DecisionTreeClassifier</a:t>
            </a:r>
          </a:p>
          <a:p>
            <a:pPr>
              <a:lnSpc>
                <a:spcPct val="100000"/>
              </a:lnSpc>
              <a:spcAft>
                <a:spcPts val="0"/>
              </a:spcAft>
            </a:pPr>
            <a:r>
              <a:rPr sz="1900" i="0">
                <a:solidFill>
                  <a:srgbClr val="5DADE2"/>
                </a:solidFill>
                <a:latin typeface="Consolas"/>
              </a:rPr>
              <a:t>from</a:t>
            </a:r>
            <a:r>
              <a:rPr sz="1900" i="0">
                <a:solidFill>
                  <a:srgbClr val="E8EDF2"/>
                </a:solidFill>
                <a:latin typeface="Consolas"/>
              </a:rPr>
              <a:t> </a:t>
            </a:r>
            <a:r>
              <a:rPr sz="1900" i="0">
                <a:solidFill>
                  <a:srgbClr val="76D7C4"/>
                </a:solidFill>
                <a:latin typeface="Consolas"/>
              </a:rPr>
              <a:t>sklearn</a:t>
            </a:r>
            <a:r>
              <a:rPr sz="1900" i="0">
                <a:solidFill>
                  <a:srgbClr val="76D7C4"/>
                </a:solidFill>
                <a:latin typeface="Consolas"/>
              </a:rPr>
              <a:t>.</a:t>
            </a:r>
            <a:r>
              <a:rPr sz="1900" i="0">
                <a:solidFill>
                  <a:srgbClr val="76D7C4"/>
                </a:solidFill>
                <a:latin typeface="Consolas"/>
              </a:rPr>
              <a:t>metrics</a:t>
            </a:r>
            <a:r>
              <a:rPr sz="1900" i="0">
                <a:solidFill>
                  <a:srgbClr val="E8EDF2"/>
                </a:solidFill>
                <a:latin typeface="Consolas"/>
              </a:rPr>
              <a:t> </a:t>
            </a:r>
            <a:r>
              <a:rPr sz="1900" i="0">
                <a:solidFill>
                  <a:srgbClr val="5DADE2"/>
                </a:solidFill>
                <a:latin typeface="Consolas"/>
              </a:rPr>
              <a:t>import</a:t>
            </a:r>
            <a:r>
              <a:rPr sz="1900" i="0">
                <a:solidFill>
                  <a:srgbClr val="E8EDF2"/>
                </a:solidFill>
                <a:latin typeface="Consolas"/>
              </a:rPr>
              <a:t> </a:t>
            </a:r>
            <a:r>
              <a:rPr sz="1900" i="0">
                <a:solidFill>
                  <a:srgbClr val="E8EDF2"/>
                </a:solidFill>
                <a:latin typeface="Consolas"/>
              </a:rPr>
              <a:t>accuracy_score</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data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load_breast_cancer</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X</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data</a:t>
            </a:r>
            <a:r>
              <a:rPr sz="1900" i="0">
                <a:solidFill>
                  <a:srgbClr val="AEB6BF"/>
                </a:solidFill>
                <a:latin typeface="Consolas"/>
              </a:rPr>
              <a:t>.</a:t>
            </a:r>
            <a:r>
              <a:rPr sz="1900" i="0">
                <a:solidFill>
                  <a:srgbClr val="E8EDF2"/>
                </a:solidFill>
                <a:latin typeface="Consolas"/>
              </a:rPr>
              <a:t>data</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data</a:t>
            </a:r>
            <a:r>
              <a:rPr sz="1900" i="0">
                <a:solidFill>
                  <a:srgbClr val="AEB6BF"/>
                </a:solidFill>
                <a:latin typeface="Consolas"/>
              </a:rPr>
              <a:t>.</a:t>
            </a:r>
            <a:r>
              <a:rPr sz="1900" i="0">
                <a:solidFill>
                  <a:srgbClr val="E8EDF2"/>
                </a:solidFill>
                <a:latin typeface="Consolas"/>
              </a:rPr>
              <a:t>target</a:t>
            </a:r>
            <a:r>
              <a:rPr sz="1900" i="0">
                <a:solidFill>
                  <a:srgbClr val="E8EDF2"/>
                </a:solidFill>
                <a:latin typeface="Consolas"/>
              </a:rPr>
              <a:t>            </a:t>
            </a:r>
            <a:r>
              <a:rPr sz="1900" i="1">
                <a:solidFill>
                  <a:srgbClr val="8795A1"/>
                </a:solidFill>
                <a:latin typeface="Consolas"/>
              </a:rPr>
              <a:t># y: 0 = malignant, 1 = benign</a:t>
            </a:r>
          </a:p>
          <a:p>
            <a:pPr>
              <a:lnSpc>
                <a:spcPct val="100000"/>
              </a:lnSpc>
              <a:spcAft>
                <a:spcPts val="0"/>
              </a:spcAft>
            </a:pPr>
            <a:r>
              <a:rPr sz="1900" i="0">
                <a:solidFill>
                  <a:srgbClr val="E8EDF2"/>
                </a:solidFill>
                <a:latin typeface="Consolas"/>
              </a:rPr>
              <a:t>X_tr</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X_te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y_tr</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y_te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train_test_split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X</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y</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test_size</a:t>
            </a:r>
            <a:r>
              <a:rPr sz="1900" i="0">
                <a:solidFill>
                  <a:srgbClr val="AEB6BF"/>
                </a:solidFill>
                <a:latin typeface="Consolas"/>
              </a:rPr>
              <a:t>=</a:t>
            </a:r>
            <a:r>
              <a:rPr sz="1900" i="0">
                <a:solidFill>
                  <a:srgbClr val="F7DC6F"/>
                </a:solidFill>
                <a:latin typeface="Consolas"/>
              </a:rPr>
              <a:t>0.25</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random_state</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stratify</a:t>
            </a:r>
            <a:r>
              <a:rPr sz="1900" i="0">
                <a:solidFill>
                  <a:srgbClr val="AEB6BF"/>
                </a:solidFill>
                <a:latin typeface="Consolas"/>
              </a:rPr>
              <a:t>=</a:t>
            </a:r>
            <a:r>
              <a:rPr sz="1900" i="0">
                <a:solidFill>
                  <a:srgbClr val="E8EDF2"/>
                </a:solidFill>
                <a:latin typeface="Consolas"/>
              </a:rPr>
              <a:t>y</a:t>
            </a:r>
            <a:r>
              <a:rPr sz="1900" i="0">
                <a:solidFill>
                  <a:srgbClr val="AEB6BF"/>
                </a:solidFill>
                <a:latin typeface="Consolas"/>
              </a:rPr>
              <a:t>)</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a:p>
            <a:pPr algn="r">
              <a:lnSpc>
                <a:spcPct val="100000"/>
              </a:lnSpc>
            </a:pPr>
            <a:r>
              <a:rPr sz="19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619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Rule Against a Learned Model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E2AD32A9-DCAA-4752-B709-B969E36DE306}"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rule written by a person: large tumours are malignant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code/ch01_rule_against_learned.py</a:t>
            </a:r>
          </a:p>
        </p:txBody>
      </p:sp>
      <p:sp>
        <p:nvSpPr>
          <p:cNvPr id="14" name="!!code-text" descr="# --- 1. a rule written by a person: large tumours are malignant --------- radius = list(data.feature_names).index(&quot;mean radius&quot;) rule = (X_te[:, radius] &lt; 15).astype(int) # small -&gt; benign (1) print(&quot;hand-written rule :&quot;, accuracy_score(y_te, rule))"/>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a rule written by a person: large tumours are malignant ---------</a:t>
            </a:r>
          </a:p>
          <a:p>
            <a:pPr>
              <a:lnSpc>
                <a:spcPct val="100000"/>
              </a:lnSpc>
              <a:spcAft>
                <a:spcPts val="0"/>
              </a:spcAft>
            </a:pPr>
            <a:r>
              <a:rPr sz="1800" i="0">
                <a:solidFill>
                  <a:srgbClr val="E8EDF2"/>
                </a:solidFill>
                <a:latin typeface="Consolas"/>
              </a:rPr>
              <a:t>radius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list</a:t>
            </a:r>
            <a:r>
              <a:rPr sz="1800" i="0">
                <a:solidFill>
                  <a:srgbClr val="AEB6BF"/>
                </a:solidFill>
                <a:latin typeface="Consolas"/>
              </a:rPr>
              <a:t>(</a:t>
            </a:r>
            <a:r>
              <a:rPr sz="1800" i="0">
                <a:solidFill>
                  <a:srgbClr val="E8EDF2"/>
                </a:solidFill>
                <a:latin typeface="Consolas"/>
              </a:rPr>
              <a:t>data</a:t>
            </a:r>
            <a:r>
              <a:rPr sz="1800" i="0">
                <a:solidFill>
                  <a:srgbClr val="AEB6BF"/>
                </a:solidFill>
                <a:latin typeface="Consolas"/>
              </a:rPr>
              <a:t>.</a:t>
            </a:r>
            <a:r>
              <a:rPr sz="1800" i="0">
                <a:solidFill>
                  <a:srgbClr val="E8EDF2"/>
                </a:solidFill>
                <a:latin typeface="Consolas"/>
              </a:rPr>
              <a:t>feature_names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index</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mean radius</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rule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radius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15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astype</a:t>
            </a:r>
            <a:r>
              <a:rPr sz="1800" i="0">
                <a:solidFill>
                  <a:srgbClr val="AEB6BF"/>
                </a:solidFill>
                <a:latin typeface="Consolas"/>
              </a:rPr>
              <a:t>(</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small -&gt; benign (1)</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hand-written rule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accuracy_score</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rule</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07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Rule Against a Learned Model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599FDB0B-D9D9-46B8-843F-04F80EC5331D}"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rule found by a learning algorithm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code/ch01_rule_against_learned.py</a:t>
            </a:r>
          </a:p>
        </p:txBody>
      </p:sp>
      <p:sp>
        <p:nvSpPr>
          <p:cNvPr id="14" name="!!code-text" descr="# --- 2. a rule found by a learning algorithm ---------------------------- tree = DecisionTreeClassifier(max_depth=3, random_state=0).fit(X_tr, y_tr) print(&quot;learned tree :&quot;, accuracy_score(y_te, tree.predict(X_te)))"/>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a rule found by a learning algorithm ----------------------------</a:t>
            </a:r>
          </a:p>
          <a:p>
            <a:pPr>
              <a:lnSpc>
                <a:spcPct val="100000"/>
              </a:lnSpc>
              <a:spcAft>
                <a:spcPts val="0"/>
              </a:spcAft>
            </a:pPr>
            <a:r>
              <a:rPr sz="1800" i="0">
                <a:solidFill>
                  <a:srgbClr val="E8EDF2"/>
                </a:solidFill>
                <a:latin typeface="Consolas"/>
              </a:rPr>
              <a:t>tree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DecisionTreeClassifier</a:t>
            </a:r>
            <a:r>
              <a:rPr sz="1800" i="0">
                <a:solidFill>
                  <a:srgbClr val="AEB6BF"/>
                </a:solidFill>
                <a:latin typeface="Consolas"/>
              </a:rPr>
              <a:t>(</a:t>
            </a:r>
            <a:r>
              <a:rPr sz="1800" i="0">
                <a:solidFill>
                  <a:srgbClr val="E8EDF2"/>
                </a:solidFill>
                <a:latin typeface="Consolas"/>
              </a:rPr>
              <a:t>max_depth</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learned tree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accuracy_score</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tree</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595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Rule Against a Learned Model</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B65B18E1-04C0-4CC3-80A4-225FB0ACD119}"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baseline every result must beat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code/ch01_rule_against_learned.py</a:t>
            </a:r>
          </a:p>
        </p:txBody>
      </p:sp>
      <p:sp>
        <p:nvSpPr>
          <p:cNvPr id="14" name="!!code-text" descr="# --- 3. the baseline every result must beat ----------------------------- majority = int(y_tr.mean() &gt; 0.5) print(&quot;always 'majority' :&quot;, accuracy_score(y_te, [majority] * len(y_te)))"/>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the baseline every result must beat -----------------------------</a:t>
            </a:r>
          </a:p>
          <a:p>
            <a:pPr>
              <a:lnSpc>
                <a:spcPct val="100000"/>
              </a:lnSpc>
              <a:spcAft>
                <a:spcPts val="0"/>
              </a:spcAft>
            </a:pPr>
            <a:r>
              <a:rPr sz="1800" i="0">
                <a:solidFill>
                  <a:srgbClr val="E8EDF2"/>
                </a:solidFill>
                <a:latin typeface="Consolas"/>
              </a:rPr>
              <a:t>majority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always </a:t>
            </a:r>
            <a:r>
              <a:rPr sz="1800" i="0">
                <a:solidFill>
                  <a:srgbClr val="7DCEA0"/>
                </a:solidFill>
                <a:latin typeface="Consolas"/>
              </a:rPr>
              <a:t>'</a:t>
            </a:r>
            <a:r>
              <a:rPr sz="1800" i="0">
                <a:solidFill>
                  <a:srgbClr val="7DCEA0"/>
                </a:solidFill>
                <a:latin typeface="Consolas"/>
              </a:rPr>
              <a:t>majority</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accuracy_score</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majority</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99149078-9675-4C9D-BC08-CDE1D6D7052D}" type="slidenum">
              <a:rPr lang="en-GB" sz="1000">
                <a:solidFill>
                  <a:srgbClr val="8795A1"/>
                </a:solidFill>
                <a:latin typeface="Segoe UI"/>
              </a:rPr>
              <a:t>36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change the threshold 15 in the hand-written rule, and the depth 3 of the tree, and watch both numbers. Which one is easier to improve by hand?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5716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thermostat switches on the heating whenever the temperature drops below a value the owner set. Is this machine learning? Use the definition.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  ·  What Machine Learning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D0CE3D38-75BC-405F-B13C-4DE879608532}"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thermostat switches on the heating whenever the temperature drops below a value the owner set. Is this machine learning? Use the definition.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The rule was written by the owner and the thermostat’s performance does not improve with experience: there is no </a:t>
            </a:r>
            <a:r>
              <a:rPr sz="2200" b="0" i="1">
                <a:solidFill>
                  <a:srgbClr val="1C252B"/>
                </a:solidFill>
                <a:latin typeface="Cambria"/>
              </a:rPr>
              <a:t>E</a:t>
            </a:r>
            <a:r>
              <a:rPr sz="2200" b="0" i="0">
                <a:solidFill>
                  <a:srgbClr val="1C252B"/>
                </a:solidFill>
                <a:latin typeface="Segoe UI"/>
              </a:rPr>
              <a:t>. It is automation, not learning.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  answers in Appendix D     </a:t>
            </a:r>
            <a:fld id="{25AA6BFD-09BF-456E-BF08-A47B4A34D97D}"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547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300" b="0" i="0">
                <a:solidFill>
                  <a:srgbClr val="FFFFFF"/>
                </a:solidFill>
                <a:latin typeface="Segoe UI Semibold"/>
              </a:rPr>
              <a:t>Classify each as regression, classification, clustering or reinforcement learning: (a) predicting tomorrow’s server load in requests per second; (b) grouping customers with no labels; (c) deciding whether a login is fraudulent; (d) a program learning to play a video game from its score.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  ·  What Machine Learning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4F7027F5-1F03-41F0-80C0-D98D1B6473D7}"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157630"/>
          </a:xfrm>
        </p:spPr>
        <p:txBody>
          <a:bodyPr wrap="square" lIns="0" rIns="0" tIns="0" bIns="0" anchor="t">
            <a:noAutofit/>
          </a:bodyPr>
          <a:lstStyle/>
          <a:p>
            <a:pPr algn="l">
              <a:lnSpc>
                <a:spcPct val="96000"/>
              </a:lnSpc>
            </a:pPr>
            <a:r>
              <a:rPr sz="1900" b="0" i="0">
                <a:solidFill>
                  <a:srgbClr val="1A5276"/>
                </a:solidFill>
                <a:latin typeface="Segoe UI Semibold"/>
              </a:rPr>
              <a:t>Classify each as regression, classification, clustering or reinforcement learning: (a) predicting tomorrow’s server load in requests per second; (b) grouping customers with no labels; (c) deciding whether a login is fraudulent; (d) a program learning to play a video game from its score.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72614"/>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72614"/>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regression; (b) clustering (unsupervised); (c) classification; (d) reinforcement learning.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  answers in Appendix D     </a:t>
            </a:r>
            <a:fld id="{D13CFA53-BA9C-490E-8008-F3686DF14D08}"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524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a learner with no inductive bias not classify an example it has never seen?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  ·  What Machine Learning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DFCBF518-D9FC-4F97-B12B-3403198AE83D}"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a learner with no inductive bias not classify an example it has never seen?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for any unseen instance, every hypothesis consistent with the data that calls it positive has a twin, equally consistent, that calls it negative. The data says nothing about unseen instances; only an assumption — a bias — can.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  answers in Appendix D     </a:t>
            </a:r>
            <a:fld id="{D6846E65-0D78-4423-B7EE-259ABD72C2D4}"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500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541EC951-4111-4958-A864-3511F8A0978C}"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Machine learning reverses traditional programming: you supply examples of the answers and the algorithm produces the rules.</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program learns if its performance </a:t>
            </a:r>
            <a:r>
              <a:rPr sz="2100" b="0" i="1">
                <a:solidFill>
                  <a:srgbClr val="1C252B"/>
                </a:solidFill>
                <a:latin typeface="Cambria"/>
              </a:rPr>
              <a:t>P</a:t>
            </a:r>
            <a:r>
              <a:rPr sz="2100" b="0" i="0">
                <a:solidFill>
                  <a:srgbClr val="1C252B"/>
                </a:solidFill>
                <a:latin typeface="Segoe UI"/>
              </a:rPr>
              <a:t> at task </a:t>
            </a:r>
            <a:r>
              <a:rPr sz="2100" b="0" i="1">
                <a:solidFill>
                  <a:srgbClr val="1C252B"/>
                </a:solidFill>
                <a:latin typeface="Cambria"/>
              </a:rPr>
              <a:t>T</a:t>
            </a:r>
            <a:r>
              <a:rPr sz="2100" b="0" i="0">
                <a:solidFill>
                  <a:srgbClr val="1C252B"/>
                </a:solidFill>
                <a:latin typeface="Segoe UI"/>
              </a:rPr>
              <a:t> improves with experience </a:t>
            </a:r>
            <a:r>
              <a:rPr sz="2100" b="0" i="1">
                <a:solidFill>
                  <a:srgbClr val="1C252B"/>
                </a:solidFill>
                <a:latin typeface="Cambria"/>
              </a:rPr>
              <a:t>E</a:t>
            </a:r>
            <a:r>
              <a:rPr sz="2100" b="0" i="0">
                <a:solidFill>
                  <a:srgbClr val="1C252B"/>
                </a:solidFill>
                <a:latin typeface="Segoe UI"/>
              </a:rPr>
              <a:t>. Name all three before choosing an algorithm.</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paradigm is set by the experience: labelled (supervised), unlabelled (unsupervised), partly labelled (semi-supervised) or rewarded (reinforcement). Regression and classification differ only in </a:t>
            </a:r>
            <a:r>
              <a:rPr sz="2100" b="0" i="1">
                <a:solidFill>
                  <a:srgbClr val="1C252B"/>
                </a:solidFill>
                <a:latin typeface="Cambria"/>
              </a:rPr>
              <a:t>y</a:t>
            </a:r>
            <a:r>
              <a:rPr sz="2100" b="0" i="0">
                <a:solidFill>
                  <a:srgbClr val="1C252B"/>
                </a:solidFill>
                <a:latin typeface="Segoe UI"/>
              </a:rPr>
              <a:t>.</a:t>
            </a:r>
          </a:p>
        </p:txBody>
      </p:sp>
      <p:sp>
        <p:nvSpPr>
          <p:cNvPr id="16" name="!!sb3">
            <a:extLst>
              <a:ext uri="{C183D7F6-B498-43B3-948B-1728B52AA6E4}">
                <adec:decorative xmlns:adec="http://schemas.microsoft.com/office/drawing/2017/decorative" val="1"/>
              </a:ext>
            </a:extLst>
          </p:cNvPr>
          <p:cNvSpPr/>
          <p:nvPr/>
        </p:nvSpPr>
        <p:spPr>
          <a:xfrm>
            <a:off x="658368" y="46250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6798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61589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Designing a learner means choosing the experience, the target function, its representation and a learning algorithm — in that order of importance.</a:t>
            </a:r>
          </a:p>
        </p:txBody>
      </p:sp>
      <p:sp>
        <p:nvSpPr>
          <p:cNvPr id="19" name="!!sb4">
            <a:extLst>
              <a:ext uri="{C183D7F6-B498-43B3-948B-1728B52AA6E4}">
                <adec:decorative xmlns:adec="http://schemas.microsoft.com/office/drawing/2017/decorative" val="1"/>
              </a:ext>
            </a:extLst>
          </p:cNvPr>
          <p:cNvSpPr/>
          <p:nvPr/>
        </p:nvSpPr>
        <p:spPr>
          <a:xfrm>
            <a:off x="658368" y="54735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5284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64454"/>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Learning is search through a hypothesis space. The data narrows it; the inductive bias chooses among what is left, and without one no generalisation is possible.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988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4715C1FB-9B29-43E8-818A-BDD6F7D5F68F}"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Predicting the number of help-desk tickets tomorrow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classification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regression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clustering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reinforcement learning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4764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2C4263B1-16B4-43CB-94A8-8563F32C5F62}"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Mitchell’s definition, </a:t>
            </a:r>
            <a:r>
              <a:rPr sz="2600" b="0" i="1">
                <a:solidFill>
                  <a:srgbClr val="1C252B"/>
                </a:solidFill>
                <a:latin typeface="Cambria"/>
              </a:rPr>
              <a:t>E</a:t>
            </a:r>
            <a:r>
              <a:rPr sz="2600" b="0" i="0">
                <a:solidFill>
                  <a:srgbClr val="1C252B"/>
                </a:solidFill>
                <a:latin typeface="Segoe UI"/>
              </a:rPr>
              <a:t> stands for:</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error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experience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expectation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evaluation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9645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2119C5F3-45A6-4708-8C97-D0203EB567C7}"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dataset of 10,000 photographs of which 200 are labelled suits: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supervised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unsupervised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semi-supervised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reinforcement learning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4526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6F96DF25-73B1-4F5A-BAB0-0CA175EB0129}" type="slidenum">
              <a:rPr lang="en-GB" sz="1000">
                <a:solidFill>
                  <a:srgbClr val="8795A1"/>
                </a:solidFill>
                <a:latin typeface="Segoe UI"/>
              </a:rPr>
              <a:t>47</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one problem for which you would write rules rather than learn a model, and explain why.</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with an example, the difference between the target function and a hypothesis.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“accuracy” often the wrong performance measure? Give a numeric example.</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university wants to recommend elective courses to students. Specify </a:t>
            </a:r>
            <a:r>
              <a:rPr sz="1900" b="0" i="1">
                <a:solidFill>
                  <a:srgbClr val="1C252B"/>
                </a:solidFill>
                <a:latin typeface="Cambria"/>
              </a:rPr>
              <a:t>T</a:t>
            </a:r>
            <a:r>
              <a:rPr sz="1900" b="0" i="0">
                <a:solidFill>
                  <a:srgbClr val="1C252B"/>
                </a:solidFill>
                <a:latin typeface="Segoe UI"/>
              </a:rPr>
              <a:t>, </a:t>
            </a:r>
            <a:r>
              <a:rPr sz="1900" b="0" i="1">
                <a:solidFill>
                  <a:srgbClr val="1C252B"/>
                </a:solidFill>
                <a:latin typeface="Cambria"/>
              </a:rPr>
              <a:t>P</a:t>
            </a:r>
            <a:r>
              <a:rPr sz="1900" b="0" i="0">
                <a:solidFill>
                  <a:srgbClr val="1C252B"/>
                </a:solidFill>
                <a:latin typeface="Segoe UI"/>
              </a:rPr>
              <a:t> and </a:t>
            </a:r>
            <a:r>
              <a:rPr sz="1900" b="0" i="1">
                <a:solidFill>
                  <a:srgbClr val="1C252B"/>
                </a:solidFill>
                <a:latin typeface="Cambria"/>
              </a:rPr>
              <a:t>E</a:t>
            </a:r>
            <a:r>
              <a:rPr sz="1900" b="0" i="0">
                <a:solidFill>
                  <a:srgbClr val="1C252B"/>
                </a:solidFill>
                <a:latin typeface="Segoe UI"/>
              </a:rPr>
              <a:t>; state which paradigm applies; and describe the four design decisions you would make.</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phishing filter in the first worked example, describe what could make the training experience unrepresentative of the e-mail the filter will face next year, and what you would do about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69407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Machine Learning Sits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  ·  What Machine Learning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  ·  Handout p. 8     </a:t>
            </a:r>
            <a:fld id="{FCA8462E-8789-4177-8B08-0C654C5E59B7}" type="slidenum">
              <a:rPr lang="en-GB" sz="1000">
                <a:solidFill>
                  <a:srgbClr val="8795A1"/>
                </a:solidFill>
                <a:latin typeface="Segoe UI"/>
              </a:rPr>
              <a:t>48</a:t>
            </a:fld>
          </a:p>
        </p:txBody>
      </p:sp>
      <p:sp>
        <p:nvSpPr>
          <p:cNvPr id="7" name="!!stbar">
            <a:extLst>
              <a:ext uri="{C183D7F6-B498-43B3-948B-1728B52AA6E4}">
                <adec:decorative xmlns:adec="http://schemas.microsoft.com/office/drawing/2017/decorative" val="1"/>
              </a:ext>
            </a:extLst>
          </p:cNvPr>
          <p:cNvSpPr/>
          <p:nvPr/>
        </p:nvSpPr>
        <p:spPr>
          <a:xfrm>
            <a:off x="658368" y="1810512"/>
            <a:ext cx="73152" cy="284805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930347"/>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the </a:t>
            </a:r>
            <a:r>
              <a:rPr sz="2600" b="0" i="1">
                <a:solidFill>
                  <a:srgbClr val="1C252B"/>
                </a:solidFill>
                <a:latin typeface="Segoe UI"/>
              </a:rPr>
              <a:t>Artificial Intelligence</a:t>
            </a:r>
            <a:r>
              <a:rPr sz="2600" b="0" i="0">
                <a:solidFill>
                  <a:srgbClr val="1C252B"/>
                </a:solidFill>
                <a:latin typeface="Segoe UI"/>
              </a:rPr>
              <a:t> course you built agents that search, reason and plan using knowledge someone supplied. Machine learning is the part of AI in which the knowledge is </a:t>
            </a:r>
            <a:r>
              <a:rPr sz="2600" b="0" i="1">
                <a:solidFill>
                  <a:srgbClr val="1C252B"/>
                </a:solidFill>
                <a:latin typeface="Segoe UI"/>
              </a:rPr>
              <a:t>acquired from data</a:t>
            </a:r>
            <a:r>
              <a:rPr sz="2600" b="0" i="0">
                <a:solidFill>
                  <a:srgbClr val="1C252B"/>
                </a:solidFill>
                <a:latin typeface="Segoe UI"/>
              </a:rPr>
              <a:t> instead. Deep learning is, in turn, the part of machine learning that uses neural networks with many layers. A chess engine searching with a hand-written evaluation function is AI but not ML; the same engine with an evaluation function learned from games is both.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9428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 — Mathematics for Machine Learning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 pages 3–10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rule against a learned model; the chapter in NumPy</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  ·  What Machine Learning Is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6516CB23-9D61-43FA-AF7D-A63F8B5BCB8B}" type="slidenum">
              <a:rPr lang="en-GB" sz="1000">
                <a:solidFill>
                  <a:srgbClr val="D5DEE5"/>
                </a:solidFill>
                <a:latin typeface="Segoe UI"/>
              </a:rPr>
              <a:t>49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What Machine Learning Is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