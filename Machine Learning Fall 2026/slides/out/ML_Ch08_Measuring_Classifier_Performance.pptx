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00.svg" ContentType="image/svg+xml"/>
  <Override PartName="/ppt/media/image101.svg" ContentType="image/svg+xml"/>
  <Override PartName="/ppt/media/image102.svg" ContentType="image/svg+xml"/>
  <Override PartName="/ppt/media/image103.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3.svg" ContentType="image/svg+xml"/>
  <Override PartName="/ppt/media/image24.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1.svg" ContentType="image/svg+xml"/>
  <Override PartName="/ppt/media/image32.svg" ContentType="image/svg+xml"/>
  <Override PartName="/ppt/media/image34.svg" ContentType="image/svg+xml"/>
  <Override PartName="/ppt/media/image36.svg" ContentType="image/svg+xml"/>
  <Override PartName="/ppt/media/image37.svg" ContentType="image/svg+xml"/>
  <Override PartName="/ppt/media/image39.svg" ContentType="image/svg+xml"/>
  <Override PartName="/ppt/media/image4.svg" ContentType="image/svg+xml"/>
  <Override PartName="/ppt/media/image40.svg" ContentType="image/svg+xml"/>
  <Override PartName="/ppt/media/image42.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7.svg" ContentType="image/svg+xml"/>
  <Override PartName="/ppt/media/image69.svg" ContentType="image/svg+xml"/>
  <Override PartName="/ppt/media/image70.svg" ContentType="image/svg+xml"/>
  <Override PartName="/ppt/media/image71.svg" ContentType="image/svg+xml"/>
  <Override PartName="/ppt/media/image72.svg" ContentType="image/svg+xml"/>
  <Override PartName="/ppt/media/image73.svg" ContentType="image/svg+xml"/>
  <Override PartName="/ppt/media/image75.svg" ContentType="image/svg+xml"/>
  <Override PartName="/ppt/media/image76.svg" ContentType="image/svg+xml"/>
  <Override PartName="/ppt/media/image77.svg" ContentType="image/svg+xml"/>
  <Override PartName="/ppt/media/image78.svg" ContentType="image/svg+xml"/>
  <Override PartName="/ppt/media/image79.svg" ContentType="image/svg+xml"/>
  <Override PartName="/ppt/media/image8.svg" ContentType="image/svg+xml"/>
  <Override PartName="/ppt/media/image81.svg" ContentType="image/svg+xml"/>
  <Override PartName="/ppt/media/image82.svg" ContentType="image/svg+xml"/>
  <Override PartName="/ppt/media/image83.svg" ContentType="image/svg+xml"/>
  <Override PartName="/ppt/media/image84.svg" ContentType="image/svg+xml"/>
  <Override PartName="/ppt/media/image85.svg" ContentType="image/svg+xml"/>
  <Override PartName="/ppt/media/image86.svg" ContentType="image/svg+xml"/>
  <Override PartName="/ppt/media/image87.svg" ContentType="image/svg+xml"/>
  <Override PartName="/ppt/media/image88.svg" ContentType="image/svg+xml"/>
  <Override PartName="/ppt/media/image90.svg" ContentType="image/svg+xml"/>
  <Override PartName="/ppt/media/image92.svg" ContentType="image/svg+xml"/>
  <Override PartName="/ppt/media/image93.svg" ContentType="image/svg+xml"/>
  <Override PartName="/ppt/media/image94.svg" ContentType="image/svg+xml"/>
  <Override PartName="/ppt/media/image95.svg" ContentType="image/svg+xml"/>
  <Override PartName="/ppt/media/image96.svg" ContentType="image/svg+xml"/>
  <Override PartName="/ppt/media/image9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9F8A8DF-56AE-44E1-A028-4248C4C6E2B2}">
          <p14:sldIdLst>
            <p14:sldId id="256"/>
            <p14:sldId id="257"/>
            <p14:sldId id="258"/>
            <p14:sldId id="259"/>
            <p14:sldId id="260"/>
          </p14:sldIdLst>
        </p14:section>
        <p14:section name="8.1 Measuring Classifier Accuracy Is Not One Number" id="{C0F8D843-881E-40F0-B2E7-7D7885B43F0C}">
          <p14:sldIdLst>
            <p14:sldId id="261"/>
          </p14:sldIdLst>
        </p14:section>
        <p14:section name="8.2 The Confusion Matrix" id="{A2A2BFF2-8D50-4642-8847-AD664B347C6D}">
          <p14:sldIdLst>
            <p14:sldId id="262"/>
            <p14:sldId id="263"/>
            <p14:sldId id="264"/>
            <p14:sldId id="265"/>
            <p14:sldId id="266"/>
          </p14:sldIdLst>
        </p14:section>
        <p14:section name="8.3 Precision, Recall and the Threshold" id="{2275BE54-45EE-4452-8DD1-2C683220D440}">
          <p14:sldIdLst>
            <p14:sldId id="267"/>
          </p14:sldIdLst>
        </p14:section>
        <p14:section name="8.4 Threshold-Free Summaries: ROC and PR Curves" id="{65DFDD87-9F72-45A3-8788-A8CC0BED0587}">
          <p14:sldIdLst>
            <p14:sldId id="268"/>
            <p14:sldId id="269"/>
            <p14:sldId id="270"/>
            <p14:sldId id="271"/>
          </p14:sldIdLst>
        </p14:section>
        <p14:section name="8.5 More Than Two Classes" id="{AF05395C-DFB4-4E4C-8CA0-083D231B110A}">
          <p14:sldIdLst>
            <p14:sldId id="272"/>
          </p14:sldIdLst>
        </p14:section>
        <p14:section name="8.6 How Sure Is the Number? Confidence Intervals for Error" id="{ED7E1F54-D5BE-4FED-A704-137D63EFD399}">
          <p14:sldIdLst>
            <p14:sldId id="273"/>
            <p14:sldId id="274"/>
            <p14:sldId id="275"/>
            <p14:sldId id="276"/>
          </p14:sldIdLst>
        </p14:section>
        <p14:section name="8.7 Is One Classifier Really Better? McNemar’s Test" id="{E71BC685-BFEA-4785-A00E-0FE61745F0BD}">
          <p14:sldIdLst>
            <p14:sldId id="277"/>
            <p14:sldId id="278"/>
          </p14:sldIdLst>
        </p14:section>
        <p14:section name="8.8 Handling Class Imbalance" id="{79F6F4F8-E81E-4749-906A-F86D482BB673}">
          <p14:sldIdLst>
            <p14:sldId id="279"/>
          </p14:sldIdLst>
        </p14:section>
        <p14:section name="Pitfalls" id="{D4039BD3-AF9C-43F6-A92A-F4B87F00F9B6}">
          <p14:sldIdLst>
            <p14:sldId id="280"/>
          </p14:sldIdLst>
        </p14:section>
        <p14:section name="Four lenses" id="{9A495A50-5070-4134-ACD6-BF9FBC47E982}">
          <p14:sldIdLst>
            <p14:sldId id="281"/>
            <p14:sldId id="282"/>
            <p14:sldId id="283"/>
            <p14:sldId id="284"/>
            <p14:sldId id="285"/>
          </p14:sldIdLst>
        </p14:section>
        <p14:section name="Lab" id="{39B331C4-B14C-4AAB-A1B5-975A96E359C8}">
          <p14:sldIdLst>
            <p14:sldId id="286"/>
            <p14:sldId id="287"/>
            <p14:sldId id="288"/>
            <p14:sldId id="289"/>
            <p14:sldId id="290"/>
            <p14:sldId id="291"/>
            <p14:sldId id="292"/>
            <p14:sldId id="293"/>
          </p14:sldIdLst>
        </p14:section>
        <p14:section name="Checkpoint" id="{BBC07406-F3AB-491E-ABED-0A1CD9AA8460}">
          <p14:sldIdLst>
            <p14:sldId id="294"/>
            <p14:sldId id="295"/>
            <p14:sldId id="296"/>
            <p14:sldId id="297"/>
            <p14:sldId id="298"/>
            <p14:sldId id="299"/>
          </p14:sldIdLst>
        </p14:section>
        <p14:section name="Wrap-up" id="{E0005673-D7F7-4B1C-B431-A2EB40389E0B}">
          <p14:sldIdLst>
            <p14:sldId id="300"/>
            <p14:sldId id="301"/>
            <p14:sldId id="302"/>
            <p14:sldId id="303"/>
            <p14:sldId id="304"/>
            <p14:sldId id="30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8: Measuring Classifier Performance. Part 2 — Linear Models and Generalization. Week 7: Measuring classifier performance. Handout pages 60–69.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2 (the base-rate calculation), Chapter 6 (probabilities and thresholds) and Chapter 7 (cross-validation; the test set used once).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confusion matrix; true/false positive/negative; accuracy; precision; recall (sensitivity); specificity; F1 score; class imbalance; ROC curve; AUC; precision–recall curve; operating threshold; macro and micro averaging; sample error; true error; confidence interval; McNemar’s test.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8.1 (handout p. 61): A malware scanner’s confusion matrix on 5,000 files, and the five metrics computed from it. Precision reads along the “flagged” row; recall reads down the “truly malicious” column.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probabilistic classifier (Chapter 6) does not flag or clear anything by itself; it outputs a score, and a threshold turns scores into decisions. Lower the threshold and more cases are flagged: recall rises and precision falls. Raise it and the reverse happens. Neither can be maximised without sacrificing the other, so the threshold must be chosen from the costs of the two errors — which is a decision about the application, not about the algorithm.</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8.2 (handout p. 62): Left: ROC curves sweep every threshold; the shaded area is model A’s AUC. Right: the same two models on precision and recall. With rare positives the PR plot shows how many alerts are false, which the ROC plot hides.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k classes the confusion matrix is k × k, and precision and recall are computed for each class in turn, treating it as positive and the rest as negative. They are then combined in one of two ways. Macro averaging takes the plain mean of the per-class values, so every class counts equally. Micro averaging pools the counts first, so every example counts equally — and micro-averaged recall equals accuracy.</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test set is a sample, so the error measured on it is an estimate. Mitchell distinguishes the sample error errorS(h), the fraction of the n test examples misclassified, from the true error errorD(h) over the whole population. Because each test example is an independent yes/no trial, the number of mistakes is binomial, and for n ≥ 30 an approximate 95% confidence interval for the true error is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8.3 (handout p. 63): How the uncertainty in a measured 12% error rate shrinks with test-set size. The width falls as 1/√n: four times the data halves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classifiers are tested on the same examples and one scores a little higher. Is it better, or luckier? Only the examples on which they disagree carry information. Let b be the number that classifier A gets wrong and B gets right, and c the number A gets right and B wrong. If the two are equally good, b and c should be similar. McNemar’s test statistic</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compared with 3.84, the 95% point of the chi-squared distribution with one degree of freedom; a larger value means the difference is unlikely to be chance.</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Recall at a fixed outreach budget: the advisers can call 50 students, so report how many of the eventual failures are among the top 50 scores. Precision matters too — if most calls reach students who were fine, the advisers stop trusting the list.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Over- and under-predicting a project overrun cost roughly the same, so F1 or balanced accuracy is reasonable. With 40 projects in the test set, the confidence interval on any rate is about ± 15 points; say so, rather than reporting three significant figures.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Failures are rare and a miss can stop a production line, so optimise recall and then cap false alarms at what the maintenance team can inspect. Use the PR curve; ROC-AUC will look excellent on a detector the technicians quickly learn to ignore.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Report precision at a fixed recall — “62% precision at 90% recall” — and alerts per analyst per hour. Choose the threshold from the cost ratio, as in the malware example; and compare a new detector with the old on the same traffic with McNemar’s test, not on two different weeks.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An imbalanced problem: 5% positives.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The four cells and the metrics built from them.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The threshold is a choice: sweep it.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A 95% confidence interval for the error rate.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Is a decision tree really different? McNemar's test.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TP = 100, FP = 300, FN = 20. Precision = 100/400 = 0.25; recall = 100/120 = 0.83.</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precision–recall curve, or precision at the recall the application needs, and the number of alerts per day. With 0.1% positives a high ROC-AUC is compatible with most alerts being false.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e = 0.15: 1.96√(0.15 × 0.85/100) = 0.070, so roughly 8% to 22%.</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9 — Decision Tree Learning. READ: Handout Chapter 8, pages 60–69. THIS WEEK'S LAB: Evaluate an imbalanced classifier. ASSESSMENT: Assignment 1 due; Quiz 2 (Ch 4–7).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2.xml"/><Relationship Id="rId8" Type="http://schemas.openxmlformats.org/officeDocument/2006/relationships/slide" Target="slide13.xml"/><Relationship Id="rId9" Type="http://schemas.openxmlformats.org/officeDocument/2006/relationships/slide" Target="slide17.xml"/><Relationship Id="rId10" Type="http://schemas.openxmlformats.org/officeDocument/2006/relationships/slide" Target="slide18.xml"/><Relationship Id="rId11" Type="http://schemas.openxmlformats.org/officeDocument/2006/relationships/slide" Target="slide23.xml"/><Relationship Id="rId12" Type="http://schemas.openxmlformats.org/officeDocument/2006/relationships/slide" Target="slide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image" Target="../media/image19.png"/><Relationship Id="rId5" Type="http://schemas.openxmlformats.org/officeDocument/2006/relationships/image" Target="../media/image20.sv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23.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4.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7.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28.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29.svg"/><Relationship Id="rId4" Type="http://schemas.openxmlformats.org/officeDocument/2006/relationships/image" Target="../media/image30.png"/><Relationship Id="rId5" Type="http://schemas.openxmlformats.org/officeDocument/2006/relationships/image" Target="../media/image31.sv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32.svg"/><Relationship Id="rId4" Type="http://schemas.openxmlformats.org/officeDocument/2006/relationships/image" Target="../media/image33.png"/><Relationship Id="rId5" Type="http://schemas.openxmlformats.org/officeDocument/2006/relationships/image" Target="../media/image34.svg"/><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37.svg"/><Relationship Id="rId4" Type="http://schemas.openxmlformats.org/officeDocument/2006/relationships/image" Target="../media/image38.png"/><Relationship Id="rId5" Type="http://schemas.openxmlformats.org/officeDocument/2006/relationships/image" Target="../media/image39.svg"/><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40.svg"/><Relationship Id="rId4" Type="http://schemas.openxmlformats.org/officeDocument/2006/relationships/image" Target="../media/image41.png"/><Relationship Id="rId5" Type="http://schemas.openxmlformats.org/officeDocument/2006/relationships/image" Target="../media/image42.svg"/><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43.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5.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47.svg"/><Relationship Id="rId4" Type="http://schemas.openxmlformats.org/officeDocument/2006/relationships/image" Target="../media/image48.png"/><Relationship Id="rId5" Type="http://schemas.openxmlformats.org/officeDocument/2006/relationships/image" Target="../media/image49.svg"/><Relationship Id="rId6" Type="http://schemas.openxmlformats.org/officeDocument/2006/relationships/image" Target="../media/image50.png"/><Relationship Id="rId7" Type="http://schemas.openxmlformats.org/officeDocument/2006/relationships/image" Target="../media/image51.svg"/><Relationship Id="rId8" Type="http://schemas.openxmlformats.org/officeDocument/2006/relationships/image" Target="../media/image52.png"/><Relationship Id="rId9" Type="http://schemas.openxmlformats.org/officeDocument/2006/relationships/image" Target="../media/image53.svg"/><Relationship Id="rId10" Type="http://schemas.openxmlformats.org/officeDocument/2006/relationships/image" Target="../media/image54.png"/><Relationship Id="rId11" Type="http://schemas.openxmlformats.org/officeDocument/2006/relationships/image" Target="../media/image55.svg"/><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7.svg"/><Relationship Id="rId4" Type="http://schemas.openxmlformats.org/officeDocument/2006/relationships/image" Target="../media/image48.png"/><Relationship Id="rId5" Type="http://schemas.openxmlformats.org/officeDocument/2006/relationships/image" Target="../media/image58.svg"/><Relationship Id="rId6" Type="http://schemas.openxmlformats.org/officeDocument/2006/relationships/image" Target="../media/image50.png"/><Relationship Id="rId7" Type="http://schemas.openxmlformats.org/officeDocument/2006/relationships/image" Target="../media/image59.svg"/><Relationship Id="rId8" Type="http://schemas.openxmlformats.org/officeDocument/2006/relationships/image" Target="../media/image52.png"/><Relationship Id="rId9" Type="http://schemas.openxmlformats.org/officeDocument/2006/relationships/image" Target="../media/image60.svg"/><Relationship Id="rId10" Type="http://schemas.openxmlformats.org/officeDocument/2006/relationships/image" Target="../media/image54.png"/><Relationship Id="rId11" Type="http://schemas.openxmlformats.org/officeDocument/2006/relationships/image" Target="../media/image61.svg"/><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50.png"/><Relationship Id="rId5" Type="http://schemas.openxmlformats.org/officeDocument/2006/relationships/image" Target="../media/image64.svg"/><Relationship Id="rId6" Type="http://schemas.openxmlformats.org/officeDocument/2006/relationships/image" Target="../media/image48.png"/><Relationship Id="rId7" Type="http://schemas.openxmlformats.org/officeDocument/2006/relationships/image" Target="../media/image65.svg"/><Relationship Id="rId8" Type="http://schemas.openxmlformats.org/officeDocument/2006/relationships/image" Target="../media/image52.png"/><Relationship Id="rId9" Type="http://schemas.openxmlformats.org/officeDocument/2006/relationships/image" Target="../media/image66.svg"/><Relationship Id="rId10" Type="http://schemas.openxmlformats.org/officeDocument/2006/relationships/image" Target="../media/image54.png"/><Relationship Id="rId11" Type="http://schemas.openxmlformats.org/officeDocument/2006/relationships/image" Target="../media/image67.svg"/><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image" Target="../media/image69.svg"/><Relationship Id="rId4" Type="http://schemas.openxmlformats.org/officeDocument/2006/relationships/image" Target="../media/image52.png"/><Relationship Id="rId5" Type="http://schemas.openxmlformats.org/officeDocument/2006/relationships/image" Target="../media/image70.svg"/><Relationship Id="rId6" Type="http://schemas.openxmlformats.org/officeDocument/2006/relationships/image" Target="../media/image48.png"/><Relationship Id="rId7" Type="http://schemas.openxmlformats.org/officeDocument/2006/relationships/image" Target="../media/image71.svg"/><Relationship Id="rId8" Type="http://schemas.openxmlformats.org/officeDocument/2006/relationships/image" Target="../media/image50.png"/><Relationship Id="rId9" Type="http://schemas.openxmlformats.org/officeDocument/2006/relationships/image" Target="../media/image72.svg"/><Relationship Id="rId10" Type="http://schemas.openxmlformats.org/officeDocument/2006/relationships/image" Target="../media/image54.png"/><Relationship Id="rId11" Type="http://schemas.openxmlformats.org/officeDocument/2006/relationships/image" Target="../media/image73.svg"/><Relationship Id="rId1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image" Target="../media/image75.svg"/><Relationship Id="rId4" Type="http://schemas.openxmlformats.org/officeDocument/2006/relationships/image" Target="../media/image54.png"/><Relationship Id="rId5" Type="http://schemas.openxmlformats.org/officeDocument/2006/relationships/image" Target="../media/image76.svg"/><Relationship Id="rId6" Type="http://schemas.openxmlformats.org/officeDocument/2006/relationships/image" Target="../media/image48.png"/><Relationship Id="rId7" Type="http://schemas.openxmlformats.org/officeDocument/2006/relationships/image" Target="../media/image77.svg"/><Relationship Id="rId8" Type="http://schemas.openxmlformats.org/officeDocument/2006/relationships/image" Target="../media/image50.png"/><Relationship Id="rId9" Type="http://schemas.openxmlformats.org/officeDocument/2006/relationships/image" Target="../media/image78.svg"/><Relationship Id="rId10" Type="http://schemas.openxmlformats.org/officeDocument/2006/relationships/image" Target="../media/image52.png"/><Relationship Id="rId11" Type="http://schemas.openxmlformats.org/officeDocument/2006/relationships/image" Target="../media/image79.svg"/><Relationship Id="rId1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1.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2.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3.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4.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5.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6.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7.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8.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9.png"/><Relationship Id="rId3" Type="http://schemas.openxmlformats.org/officeDocument/2006/relationships/image" Target="../media/image90.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1.png"/><Relationship Id="rId3" Type="http://schemas.openxmlformats.org/officeDocument/2006/relationships/image" Target="../media/image92.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9.png"/><Relationship Id="rId3" Type="http://schemas.openxmlformats.org/officeDocument/2006/relationships/image" Target="../media/image93.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1.png"/><Relationship Id="rId3" Type="http://schemas.openxmlformats.org/officeDocument/2006/relationships/image" Target="../media/image94.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9.png"/><Relationship Id="rId3" Type="http://schemas.openxmlformats.org/officeDocument/2006/relationships/image" Target="../media/image95.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1.png"/><Relationship Id="rId3" Type="http://schemas.openxmlformats.org/officeDocument/2006/relationships/image" Target="../media/image96.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7.png"/><Relationship Id="rId3" Type="http://schemas.openxmlformats.org/officeDocument/2006/relationships/image" Target="../media/image98.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9.png"/><Relationship Id="rId3" Type="http://schemas.openxmlformats.org/officeDocument/2006/relationships/image" Target="../media/image100.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9.png"/><Relationship Id="rId3" Type="http://schemas.openxmlformats.org/officeDocument/2006/relationships/image" Target="../media/image101.sv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9.png"/><Relationship Id="rId3" Type="http://schemas.openxmlformats.org/officeDocument/2006/relationships/image" Target="../media/image102.sv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9.png"/><Relationship Id="rId3" Type="http://schemas.openxmlformats.org/officeDocument/2006/relationships/image" Target="../media/image103.sv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9769F"/>
                </a:solidFill>
                <a:latin typeface="Segoe UI Black"/>
              </a:rPr>
              <a:t>08</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Measuring Classifier Performance</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PART II  ·  LINEAR MODELS AND GENERALIZATION</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CHAPTER 8  ·  WEEK 7</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3E1EA"/>
                </a:solidFill>
                <a:latin typeface="Segoe UI"/>
              </a:rPr>
              <a:t>Machine Learning — From Hypotheses to Decisions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94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8BA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FCC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8BA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60     </a:t>
            </a:r>
            <a:fld id="{8FE321F4-3CC9-4A58-9717-CA7AAEB5DF62}" type="slidenum">
              <a:rPr lang="en-GB" sz="1000">
                <a:solidFill>
                  <a:srgbClr val="8795A1"/>
                </a:solidFill>
                <a:latin typeface="Segoe UI"/>
              </a:rPr>
              <a:t>2</a:t>
            </a:fld>
          </a:p>
        </p:txBody>
      </p:sp>
      <p:sp>
        <p:nvSpPr>
          <p:cNvPr id="7" name="!!rp1"/>
          <p:cNvSpPr txBox="1"/>
          <p:nvPr/>
        </p:nvSpPr>
        <p:spPr>
          <a:xfrm>
            <a:off x="777239"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689666" y="1755648"/>
            <a:ext cx="173869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689666" y="2029967"/>
            <a:ext cx="1738690" cy="4572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912988" y="1755648"/>
            <a:ext cx="24022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912988" y="2029967"/>
            <a:ext cx="240229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7644467"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7644467"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9147366"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9147366"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650266" y="1755648"/>
            <a:ext cx="76418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650266" y="2029967"/>
            <a:ext cx="76418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36464"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450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04599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9545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729837"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6383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13936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0479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548890"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4574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967560" y="2112264"/>
            <a:ext cx="566928" cy="566928"/>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967560"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8</a:t>
            </a:r>
          </a:p>
        </p:txBody>
      </p:sp>
      <p:sp>
        <p:nvSpPr>
          <p:cNvPr id="35" name="!!dot9">
            <a:extLst>
              <a:ext uri="{C183D7F6-B498-43B3-948B-1728B52AA6E4}">
                <adec:decorative xmlns:adec="http://schemas.microsoft.com/office/drawing/2017/decorative" val="1"/>
              </a:ext>
            </a:extLst>
          </p:cNvPr>
          <p:cNvSpPr/>
          <p:nvPr/>
        </p:nvSpPr>
        <p:spPr>
          <a:xfrm>
            <a:off x="4953159"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86171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362685"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2712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77221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6807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181738"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0902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591265"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49982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00079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093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68463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5931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94164"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27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503691"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4122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918753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90960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597064"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5056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1000659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9151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1324944"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236794"/>
                </a:solidFill>
                <a:latin typeface="Segoe UI"/>
              </a:rPr>
              <a:t>Measuring Classifier Performance</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2">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2">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2"/>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Mathematics for Machine Learning</a:t>
            </a:r>
          </a:p>
        </p:txBody>
      </p:sp>
      <p:sp>
        <p:nvSpPr>
          <p:cNvPr id="68" name="!!chipBU6">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bBU6">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tBU6"/>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6  </a:t>
            </a:r>
            <a:r>
              <a:rPr sz="1400" b="0" i="0">
                <a:solidFill>
                  <a:srgbClr val="1C252B"/>
                </a:solidFill>
                <a:latin typeface="Segoe UI"/>
              </a:rPr>
              <a:t>Logistic Regression</a:t>
            </a:r>
          </a:p>
        </p:txBody>
      </p:sp>
      <p:sp>
        <p:nvSpPr>
          <p:cNvPr id="71" name="!!chipBU7">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bBU7">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tBU7"/>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7  </a:t>
            </a:r>
            <a:r>
              <a:rPr sz="1400" b="0" i="0">
                <a:solidFill>
                  <a:srgbClr val="1C252B"/>
                </a:solidFill>
                <a:latin typeface="Segoe UI"/>
              </a:rPr>
              <a:t>Overfitting, Bias–Variance and Regularisation</a:t>
            </a:r>
          </a:p>
        </p:txBody>
      </p:sp>
      <p:sp>
        <p:nvSpPr>
          <p:cNvPr id="74"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5" name="!!chipUS18">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bUS18">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chiptUS18"/>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18  </a:t>
            </a:r>
            <a:r>
              <a:rPr sz="1400" b="0" i="0">
                <a:solidFill>
                  <a:srgbClr val="1C252B"/>
                </a:solidFill>
                <a:latin typeface="Segoe UI"/>
              </a:rPr>
              <a:t>Hidden Markov Models</a:t>
            </a:r>
          </a:p>
        </p:txBody>
      </p:sp>
      <p:sp>
        <p:nvSpPr>
          <p:cNvPr id="78" name="!!chipUS21">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bUS21">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chiptUS21"/>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21  </a:t>
            </a:r>
            <a:r>
              <a:rPr sz="1400" b="0" i="0">
                <a:solidFill>
                  <a:srgbClr val="1C252B"/>
                </a:solidFill>
                <a:latin typeface="Segoe UI"/>
              </a:rPr>
              <a:t>Responsible and Ethical Machine Learning</a:t>
            </a:r>
          </a:p>
        </p:txBody>
      </p:sp>
      <p:sp>
        <p:nvSpPr>
          <p:cNvPr id="81" name="!!chipUS22">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bUS22">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3" name="!!chiptUS22"/>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22  </a:t>
            </a:r>
            <a:r>
              <a:rPr sz="1400" b="0" i="0">
                <a:solidFill>
                  <a:srgbClr val="1C252B"/>
                </a:solidFill>
                <a:latin typeface="Segoe UI"/>
              </a:rPr>
              <a:t>The Machine Learning Project</a:t>
            </a:r>
          </a:p>
        </p:txBody>
      </p:sp>
      <p:sp>
        <p:nvSpPr>
          <p:cNvPr id="8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pfill">
            <a:extLst>
              <a:ext uri="{C183D7F6-B498-43B3-948B-1728B52AA6E4}">
                <adec:decorative xmlns:adec="http://schemas.microsoft.com/office/drawing/2017/decorative" val="1"/>
              </a:ext>
            </a:extLst>
          </p:cNvPr>
          <p:cNvSpPr/>
          <p:nvPr/>
        </p:nvSpPr>
        <p:spPr>
          <a:xfrm>
            <a:off x="0" y="0"/>
            <a:ext cx="48766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60     </a:t>
            </a:r>
            <a:fld id="{33C44398-D95F-4E0F-A1CC-20B0104E7532}"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Build</a:t>
            </a:r>
            <a:r>
              <a:rPr sz="2100" b="0" i="0">
                <a:solidFill>
                  <a:srgbClr val="1C252B"/>
                </a:solidFill>
                <a:latin typeface="Segoe UI"/>
              </a:rPr>
              <a:t> a confusion matrix and </a:t>
            </a:r>
            <a:r>
              <a:rPr sz="2100" b="1" i="0">
                <a:solidFill>
                  <a:srgbClr val="1C252B"/>
                </a:solidFill>
                <a:latin typeface="Segoe UI"/>
              </a:rPr>
              <a:t>compute</a:t>
            </a:r>
            <a:r>
              <a:rPr sz="2100" b="0" i="0">
                <a:solidFill>
                  <a:srgbClr val="1C252B"/>
                </a:solidFill>
                <a:latin typeface="Segoe UI"/>
              </a:rPr>
              <a:t> accuracy, precision, recall, specificity and </a:t>
            </a:r>
            <a:r>
              <a:rPr sz="2100" b="0" i="1">
                <a:solidFill>
                  <a:srgbClr val="1C252B"/>
                </a:solidFill>
                <a:latin typeface="Cambria"/>
              </a:rPr>
              <a:t>F</a:t>
            </a:r>
            <a:r>
              <a:rPr sz="2100" b="0" i="0" baseline="-25000">
                <a:solidFill>
                  <a:srgbClr val="1C252B"/>
                </a:solidFill>
                <a:latin typeface="Cambria"/>
              </a:rPr>
              <a:t>1</a:t>
            </a:r>
            <a:r>
              <a:rPr sz="2100" b="0" i="0">
                <a:solidFill>
                  <a:srgbClr val="1C252B"/>
                </a:solidFill>
                <a:latin typeface="Segoe UI"/>
              </a:rPr>
              <a:t> from it.</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Explain</a:t>
            </a:r>
            <a:r>
              <a:rPr sz="2100" b="0" i="0">
                <a:solidFill>
                  <a:srgbClr val="1C252B"/>
                </a:solidFill>
                <a:latin typeface="Segoe UI"/>
              </a:rPr>
              <a:t> why accuracy misleads on imbalanced classes, and </a:t>
            </a:r>
            <a:r>
              <a:rPr sz="2100" b="1" i="0">
                <a:solidFill>
                  <a:srgbClr val="1C252B"/>
                </a:solidFill>
                <a:latin typeface="Segoe UI"/>
              </a:rPr>
              <a:t>choose</a:t>
            </a:r>
            <a:r>
              <a:rPr sz="2100" b="0" i="0">
                <a:solidFill>
                  <a:srgbClr val="1C252B"/>
                </a:solidFill>
                <a:latin typeface="Segoe UI"/>
              </a:rPr>
              <a:t> a metric that matches the cost of each error.</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60266"/>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Read</a:t>
            </a:r>
            <a:r>
              <a:rPr sz="2100" b="0" i="0">
                <a:solidFill>
                  <a:srgbClr val="1C252B"/>
                </a:solidFill>
                <a:latin typeface="Segoe UI"/>
              </a:rPr>
              <a:t> ROC and precision–recall curves, and </a:t>
            </a:r>
            <a:r>
              <a:rPr sz="2100" b="1" i="0">
                <a:solidFill>
                  <a:srgbClr val="1C252B"/>
                </a:solidFill>
                <a:latin typeface="Segoe UI"/>
              </a:rPr>
              <a:t>choose</a:t>
            </a:r>
            <a:r>
              <a:rPr sz="2100" b="0" i="0">
                <a:solidFill>
                  <a:srgbClr val="1C252B"/>
                </a:solidFill>
                <a:latin typeface="Segoe UI"/>
              </a:rPr>
              <a:t> a decision threshold from costs.</a:t>
            </a:r>
          </a:p>
        </p:txBody>
      </p:sp>
      <p:sp>
        <p:nvSpPr>
          <p:cNvPr id="17" name="!!ob3">
            <a:extLst>
              <a:ext uri="{C183D7F6-B498-43B3-948B-1728B52AA6E4}">
                <adec:decorative xmlns:adec="http://schemas.microsoft.com/office/drawing/2017/decorative" val="1"/>
              </a:ext>
            </a:extLst>
          </p:cNvPr>
          <p:cNvSpPr/>
          <p:nvPr/>
        </p:nvSpPr>
        <p:spPr>
          <a:xfrm>
            <a:off x="658368" y="4522622"/>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58205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56377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Compute</a:t>
            </a:r>
            <a:r>
              <a:rPr sz="2100" b="0" i="0">
                <a:solidFill>
                  <a:srgbClr val="1C252B"/>
                </a:solidFill>
                <a:latin typeface="Segoe UI"/>
              </a:rPr>
              <a:t> macro- and micro-averaged metrics for several classes.</a:t>
            </a:r>
          </a:p>
        </p:txBody>
      </p:sp>
      <p:sp>
        <p:nvSpPr>
          <p:cNvPr id="20" name="!!ob4">
            <a:extLst>
              <a:ext uri="{C183D7F6-B498-43B3-948B-1728B52AA6E4}">
                <adec:decorative xmlns:adec="http://schemas.microsoft.com/office/drawing/2017/decorative" val="1"/>
              </a:ext>
            </a:extLst>
          </p:cNvPr>
          <p:cNvSpPr/>
          <p:nvPr/>
        </p:nvSpPr>
        <p:spPr>
          <a:xfrm>
            <a:off x="658368" y="5126126"/>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18556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116982"/>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Construct</a:t>
            </a:r>
            <a:r>
              <a:rPr sz="2100" b="0" i="0">
                <a:solidFill>
                  <a:srgbClr val="1C252B"/>
                </a:solidFill>
                <a:latin typeface="Segoe UI"/>
              </a:rPr>
              <a:t> a confidence interval for an error rate, and </a:t>
            </a:r>
            <a:r>
              <a:rPr sz="2100" b="1" i="0">
                <a:solidFill>
                  <a:srgbClr val="1C252B"/>
                </a:solidFill>
                <a:latin typeface="Segoe UI"/>
              </a:rPr>
              <a:t>test</a:t>
            </a:r>
            <a:r>
              <a:rPr sz="2100" b="0" i="0">
                <a:solidFill>
                  <a:srgbClr val="1C252B"/>
                </a:solidFill>
                <a:latin typeface="Segoe UI"/>
              </a:rPr>
              <a:t> whether two classifiers genuinely differ.</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3150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60     </a:t>
            </a:r>
            <a:fld id="{C1BB4A95-FA56-4694-8E49-00D06A9409DB}" type="slidenum">
              <a:rPr lang="en-GB" sz="1000">
                <a:solidFill>
                  <a:srgbClr val="8795A1"/>
                </a:solidFill>
                <a:latin typeface="Segoe UI"/>
              </a:rPr>
              <a:t>4</a:t>
            </a:fld>
          </a:p>
        </p:txBody>
      </p:sp>
      <p:sp>
        <p:nvSpPr>
          <p:cNvPr id="7" name="!!term-confusion matr">
            <a:extLst>
              <a:ext uri="{C183D7F6-B498-43B3-948B-1728B52AA6E4}">
                <adec:decorative xmlns:adec="http://schemas.microsoft.com/office/drawing/2017/decorative" val="1"/>
              </a:ext>
            </a:extLst>
          </p:cNvPr>
          <p:cNvSpPr/>
          <p:nvPr/>
        </p:nvSpPr>
        <p:spPr>
          <a:xfrm>
            <a:off x="658368" y="1847088"/>
            <a:ext cx="186573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confusion matr">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confusion matr"/>
          <p:cNvSpPr txBox="1"/>
          <p:nvPr/>
        </p:nvSpPr>
        <p:spPr>
          <a:xfrm>
            <a:off x="950976" y="1970532"/>
            <a:ext cx="168285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confusion matrix</a:t>
            </a:r>
          </a:p>
        </p:txBody>
      </p:sp>
      <p:sp>
        <p:nvSpPr>
          <p:cNvPr id="10" name="!!term-true/false pos">
            <a:extLst>
              <a:ext uri="{C183D7F6-B498-43B3-948B-1728B52AA6E4}">
                <adec:decorative xmlns:adec="http://schemas.microsoft.com/office/drawing/2017/decorative" val="1"/>
              </a:ext>
            </a:extLst>
          </p:cNvPr>
          <p:cNvSpPr/>
          <p:nvPr/>
        </p:nvSpPr>
        <p:spPr>
          <a:xfrm>
            <a:off x="2670402" y="1847088"/>
            <a:ext cx="277720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true/false pos">
            <a:extLst>
              <a:ext uri="{C183D7F6-B498-43B3-948B-1728B52AA6E4}">
                <adec:decorative xmlns:adec="http://schemas.microsoft.com/office/drawing/2017/decorative" val="1"/>
              </a:ext>
            </a:extLst>
          </p:cNvPr>
          <p:cNvSpPr/>
          <p:nvPr/>
        </p:nvSpPr>
        <p:spPr>
          <a:xfrm>
            <a:off x="279841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true/false pos"/>
          <p:cNvSpPr txBox="1"/>
          <p:nvPr/>
        </p:nvSpPr>
        <p:spPr>
          <a:xfrm>
            <a:off x="2963010" y="1970532"/>
            <a:ext cx="259432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true/false positive/negative</a:t>
            </a:r>
          </a:p>
        </p:txBody>
      </p:sp>
      <p:sp>
        <p:nvSpPr>
          <p:cNvPr id="13" name="!!term-accuracy">
            <a:extLst>
              <a:ext uri="{C183D7F6-B498-43B3-948B-1728B52AA6E4}">
                <adec:decorative xmlns:adec="http://schemas.microsoft.com/office/drawing/2017/decorative" val="1"/>
              </a:ext>
            </a:extLst>
          </p:cNvPr>
          <p:cNvSpPr/>
          <p:nvPr/>
        </p:nvSpPr>
        <p:spPr>
          <a:xfrm>
            <a:off x="5593908" y="1847088"/>
            <a:ext cx="117767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accuracy">
            <a:extLst>
              <a:ext uri="{C183D7F6-B498-43B3-948B-1728B52AA6E4}">
                <adec:decorative xmlns:adec="http://schemas.microsoft.com/office/drawing/2017/decorative" val="1"/>
              </a:ext>
            </a:extLst>
          </p:cNvPr>
          <p:cNvSpPr/>
          <p:nvPr/>
        </p:nvSpPr>
        <p:spPr>
          <a:xfrm>
            <a:off x="572192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accuracy"/>
          <p:cNvSpPr txBox="1"/>
          <p:nvPr/>
        </p:nvSpPr>
        <p:spPr>
          <a:xfrm>
            <a:off x="5886516" y="1970532"/>
            <a:ext cx="99479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accuracy</a:t>
            </a:r>
          </a:p>
        </p:txBody>
      </p:sp>
      <p:sp>
        <p:nvSpPr>
          <p:cNvPr id="16" name="!!term-precision">
            <a:extLst>
              <a:ext uri="{C183D7F6-B498-43B3-948B-1728B52AA6E4}">
                <adec:decorative xmlns:adec="http://schemas.microsoft.com/office/drawing/2017/decorative" val="1"/>
              </a:ext>
            </a:extLst>
          </p:cNvPr>
          <p:cNvSpPr/>
          <p:nvPr/>
        </p:nvSpPr>
        <p:spPr>
          <a:xfrm>
            <a:off x="6917891" y="1847088"/>
            <a:ext cx="121242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precision">
            <a:extLst>
              <a:ext uri="{C183D7F6-B498-43B3-948B-1728B52AA6E4}">
                <adec:decorative xmlns:adec="http://schemas.microsoft.com/office/drawing/2017/decorative" val="1"/>
              </a:ext>
            </a:extLst>
          </p:cNvPr>
          <p:cNvSpPr/>
          <p:nvPr/>
        </p:nvSpPr>
        <p:spPr>
          <a:xfrm>
            <a:off x="704590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precision"/>
          <p:cNvSpPr txBox="1"/>
          <p:nvPr/>
        </p:nvSpPr>
        <p:spPr>
          <a:xfrm>
            <a:off x="7210499" y="1970532"/>
            <a:ext cx="102954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precision</a:t>
            </a:r>
          </a:p>
        </p:txBody>
      </p:sp>
      <p:sp>
        <p:nvSpPr>
          <p:cNvPr id="19" name="!!term-recall (sensit">
            <a:extLst>
              <a:ext uri="{C183D7F6-B498-43B3-948B-1728B52AA6E4}">
                <adec:decorative xmlns:adec="http://schemas.microsoft.com/office/drawing/2017/decorative" val="1"/>
              </a:ext>
            </a:extLst>
          </p:cNvPr>
          <p:cNvSpPr/>
          <p:nvPr/>
        </p:nvSpPr>
        <p:spPr>
          <a:xfrm>
            <a:off x="8276615" y="1847088"/>
            <a:ext cx="189775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recall (sensit">
            <a:extLst>
              <a:ext uri="{C183D7F6-B498-43B3-948B-1728B52AA6E4}">
                <adec:decorative xmlns:adec="http://schemas.microsoft.com/office/drawing/2017/decorative" val="1"/>
              </a:ext>
            </a:extLst>
          </p:cNvPr>
          <p:cNvSpPr/>
          <p:nvPr/>
        </p:nvSpPr>
        <p:spPr>
          <a:xfrm>
            <a:off x="840463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recall (sensit"/>
          <p:cNvSpPr txBox="1"/>
          <p:nvPr/>
        </p:nvSpPr>
        <p:spPr>
          <a:xfrm>
            <a:off x="8569223" y="1970532"/>
            <a:ext cx="171487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recall (sensitivity)</a:t>
            </a:r>
          </a:p>
        </p:txBody>
      </p:sp>
      <p:sp>
        <p:nvSpPr>
          <p:cNvPr id="22" name="!!term-specificity">
            <a:extLst>
              <a:ext uri="{C183D7F6-B498-43B3-948B-1728B52AA6E4}">
                <adec:decorative xmlns:adec="http://schemas.microsoft.com/office/drawing/2017/decorative" val="1"/>
              </a:ext>
            </a:extLst>
          </p:cNvPr>
          <p:cNvSpPr/>
          <p:nvPr/>
        </p:nvSpPr>
        <p:spPr>
          <a:xfrm>
            <a:off x="658368" y="2468880"/>
            <a:ext cx="127852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specificity">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specificity"/>
          <p:cNvSpPr txBox="1"/>
          <p:nvPr/>
        </p:nvSpPr>
        <p:spPr>
          <a:xfrm>
            <a:off x="950976" y="2592324"/>
            <a:ext cx="109564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specificity</a:t>
            </a:r>
          </a:p>
        </p:txBody>
      </p:sp>
      <p:sp>
        <p:nvSpPr>
          <p:cNvPr id="25" name="!!term-F1 score">
            <a:extLst>
              <a:ext uri="{C183D7F6-B498-43B3-948B-1728B52AA6E4}">
                <adec:decorative xmlns:adec="http://schemas.microsoft.com/office/drawing/2017/decorative" val="1"/>
              </a:ext>
            </a:extLst>
          </p:cNvPr>
          <p:cNvSpPr/>
          <p:nvPr/>
        </p:nvSpPr>
        <p:spPr>
          <a:xfrm>
            <a:off x="2083197" y="2468880"/>
            <a:ext cx="114693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F1 score">
            <a:extLst>
              <a:ext uri="{C183D7F6-B498-43B3-948B-1728B52AA6E4}">
                <adec:decorative xmlns:adec="http://schemas.microsoft.com/office/drawing/2017/decorative" val="1"/>
              </a:ext>
            </a:extLst>
          </p:cNvPr>
          <p:cNvSpPr/>
          <p:nvPr/>
        </p:nvSpPr>
        <p:spPr>
          <a:xfrm>
            <a:off x="221121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F1 score"/>
          <p:cNvSpPr txBox="1"/>
          <p:nvPr/>
        </p:nvSpPr>
        <p:spPr>
          <a:xfrm>
            <a:off x="2375805" y="2592324"/>
            <a:ext cx="96405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F1 score</a:t>
            </a:r>
          </a:p>
        </p:txBody>
      </p:sp>
      <p:sp>
        <p:nvSpPr>
          <p:cNvPr id="28" name="!!term-class imbalanc">
            <a:extLst>
              <a:ext uri="{C183D7F6-B498-43B3-948B-1728B52AA6E4}">
                <adec:decorative xmlns:adec="http://schemas.microsoft.com/office/drawing/2017/decorative" val="1"/>
              </a:ext>
            </a:extLst>
          </p:cNvPr>
          <p:cNvSpPr/>
          <p:nvPr/>
        </p:nvSpPr>
        <p:spPr>
          <a:xfrm>
            <a:off x="3376439" y="2468880"/>
            <a:ext cx="176737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class imbalanc">
            <a:extLst>
              <a:ext uri="{C183D7F6-B498-43B3-948B-1728B52AA6E4}">
                <adec:decorative xmlns:adec="http://schemas.microsoft.com/office/drawing/2017/decorative" val="1"/>
              </a:ext>
            </a:extLst>
          </p:cNvPr>
          <p:cNvSpPr/>
          <p:nvPr/>
        </p:nvSpPr>
        <p:spPr>
          <a:xfrm>
            <a:off x="350445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class imbalanc"/>
          <p:cNvSpPr txBox="1"/>
          <p:nvPr/>
        </p:nvSpPr>
        <p:spPr>
          <a:xfrm>
            <a:off x="3669047" y="2592324"/>
            <a:ext cx="158449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class imbalance</a:t>
            </a:r>
          </a:p>
        </p:txBody>
      </p:sp>
      <p:sp>
        <p:nvSpPr>
          <p:cNvPr id="31" name="!!term-ROC curve">
            <a:extLst>
              <a:ext uri="{C183D7F6-B498-43B3-948B-1728B52AA6E4}">
                <adec:decorative xmlns:adec="http://schemas.microsoft.com/office/drawing/2017/decorative" val="1"/>
              </a:ext>
            </a:extLst>
          </p:cNvPr>
          <p:cNvSpPr/>
          <p:nvPr/>
        </p:nvSpPr>
        <p:spPr>
          <a:xfrm>
            <a:off x="5290113" y="2468880"/>
            <a:ext cx="133727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ROC curve">
            <a:extLst>
              <a:ext uri="{C183D7F6-B498-43B3-948B-1728B52AA6E4}">
                <adec:decorative xmlns:adec="http://schemas.microsoft.com/office/drawing/2017/decorative" val="1"/>
              </a:ext>
            </a:extLst>
          </p:cNvPr>
          <p:cNvSpPr/>
          <p:nvPr/>
        </p:nvSpPr>
        <p:spPr>
          <a:xfrm>
            <a:off x="541812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ROC curve"/>
          <p:cNvSpPr txBox="1"/>
          <p:nvPr/>
        </p:nvSpPr>
        <p:spPr>
          <a:xfrm>
            <a:off x="5582721" y="2592324"/>
            <a:ext cx="115439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ROC curve</a:t>
            </a:r>
          </a:p>
        </p:txBody>
      </p:sp>
      <p:sp>
        <p:nvSpPr>
          <p:cNvPr id="34" name="!!term-AUC">
            <a:extLst>
              <a:ext uri="{C183D7F6-B498-43B3-948B-1728B52AA6E4}">
                <adec:decorative xmlns:adec="http://schemas.microsoft.com/office/drawing/2017/decorative" val="1"/>
              </a:ext>
            </a:extLst>
          </p:cNvPr>
          <p:cNvSpPr/>
          <p:nvPr/>
        </p:nvSpPr>
        <p:spPr>
          <a:xfrm>
            <a:off x="6773697" y="2468880"/>
            <a:ext cx="81797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AUC">
            <a:extLst>
              <a:ext uri="{C183D7F6-B498-43B3-948B-1728B52AA6E4}">
                <adec:decorative xmlns:adec="http://schemas.microsoft.com/office/drawing/2017/decorative" val="1"/>
              </a:ext>
            </a:extLst>
          </p:cNvPr>
          <p:cNvSpPr/>
          <p:nvPr/>
        </p:nvSpPr>
        <p:spPr>
          <a:xfrm>
            <a:off x="690171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AUC"/>
          <p:cNvSpPr txBox="1"/>
          <p:nvPr/>
        </p:nvSpPr>
        <p:spPr>
          <a:xfrm>
            <a:off x="7066305" y="2592324"/>
            <a:ext cx="63509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AUC</a:t>
            </a:r>
          </a:p>
        </p:txBody>
      </p:sp>
      <p:sp>
        <p:nvSpPr>
          <p:cNvPr id="37" name="!!term-precision–reca">
            <a:extLst>
              <a:ext uri="{C183D7F6-B498-43B3-948B-1728B52AA6E4}">
                <adec:decorative xmlns:adec="http://schemas.microsoft.com/office/drawing/2017/decorative" val="1"/>
              </a:ext>
            </a:extLst>
          </p:cNvPr>
          <p:cNvSpPr/>
          <p:nvPr/>
        </p:nvSpPr>
        <p:spPr>
          <a:xfrm>
            <a:off x="7737973" y="2468880"/>
            <a:ext cx="227691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precision–reca">
            <a:extLst>
              <a:ext uri="{C183D7F6-B498-43B3-948B-1728B52AA6E4}">
                <adec:decorative xmlns:adec="http://schemas.microsoft.com/office/drawing/2017/decorative" val="1"/>
              </a:ext>
            </a:extLst>
          </p:cNvPr>
          <p:cNvSpPr/>
          <p:nvPr/>
        </p:nvSpPr>
        <p:spPr>
          <a:xfrm>
            <a:off x="786598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precision–reca"/>
          <p:cNvSpPr txBox="1"/>
          <p:nvPr/>
        </p:nvSpPr>
        <p:spPr>
          <a:xfrm>
            <a:off x="8030581" y="2592324"/>
            <a:ext cx="209403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precision–recall curve</a:t>
            </a:r>
          </a:p>
        </p:txBody>
      </p:sp>
      <p:sp>
        <p:nvSpPr>
          <p:cNvPr id="40" name="!!term-operating thre">
            <a:extLst>
              <a:ext uri="{C183D7F6-B498-43B3-948B-1728B52AA6E4}">
                <adec:decorative xmlns:adec="http://schemas.microsoft.com/office/drawing/2017/decorative" val="1"/>
              </a:ext>
            </a:extLst>
          </p:cNvPr>
          <p:cNvSpPr/>
          <p:nvPr/>
        </p:nvSpPr>
        <p:spPr>
          <a:xfrm>
            <a:off x="658368" y="3090672"/>
            <a:ext cx="213850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operating thre">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operating thre"/>
          <p:cNvSpPr txBox="1"/>
          <p:nvPr/>
        </p:nvSpPr>
        <p:spPr>
          <a:xfrm>
            <a:off x="950976" y="3214116"/>
            <a:ext cx="195562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operating threshold</a:t>
            </a:r>
          </a:p>
        </p:txBody>
      </p:sp>
      <p:sp>
        <p:nvSpPr>
          <p:cNvPr id="43" name="!!term-macro and micr">
            <a:extLst>
              <a:ext uri="{C183D7F6-B498-43B3-948B-1728B52AA6E4}">
                <adec:decorative xmlns:adec="http://schemas.microsoft.com/office/drawing/2017/decorative" val="1"/>
              </a:ext>
            </a:extLst>
          </p:cNvPr>
          <p:cNvSpPr/>
          <p:nvPr/>
        </p:nvSpPr>
        <p:spPr>
          <a:xfrm>
            <a:off x="2943174" y="3090672"/>
            <a:ext cx="279093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macro and micr">
            <a:extLst>
              <a:ext uri="{C183D7F6-B498-43B3-948B-1728B52AA6E4}">
                <adec:decorative xmlns:adec="http://schemas.microsoft.com/office/drawing/2017/decorative" val="1"/>
              </a:ext>
            </a:extLst>
          </p:cNvPr>
          <p:cNvSpPr/>
          <p:nvPr/>
        </p:nvSpPr>
        <p:spPr>
          <a:xfrm>
            <a:off x="307119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macro and micr"/>
          <p:cNvSpPr txBox="1"/>
          <p:nvPr/>
        </p:nvSpPr>
        <p:spPr>
          <a:xfrm>
            <a:off x="3235782" y="3214116"/>
            <a:ext cx="260805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macro and micro averaging</a:t>
            </a:r>
          </a:p>
        </p:txBody>
      </p:sp>
      <p:sp>
        <p:nvSpPr>
          <p:cNvPr id="46" name="!!term-sample error">
            <a:extLst>
              <a:ext uri="{C183D7F6-B498-43B3-948B-1728B52AA6E4}">
                <adec:decorative xmlns:adec="http://schemas.microsoft.com/office/drawing/2017/decorative" val="1"/>
              </a:ext>
            </a:extLst>
          </p:cNvPr>
          <p:cNvSpPr/>
          <p:nvPr/>
        </p:nvSpPr>
        <p:spPr>
          <a:xfrm>
            <a:off x="5880415" y="3090672"/>
            <a:ext cx="152195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sample error">
            <a:extLst>
              <a:ext uri="{C183D7F6-B498-43B3-948B-1728B52AA6E4}">
                <adec:decorative xmlns:adec="http://schemas.microsoft.com/office/drawing/2017/decorative" val="1"/>
              </a:ext>
            </a:extLst>
          </p:cNvPr>
          <p:cNvSpPr/>
          <p:nvPr/>
        </p:nvSpPr>
        <p:spPr>
          <a:xfrm>
            <a:off x="6008431"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sample error"/>
          <p:cNvSpPr txBox="1"/>
          <p:nvPr/>
        </p:nvSpPr>
        <p:spPr>
          <a:xfrm>
            <a:off x="6173023" y="3214116"/>
            <a:ext cx="133907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sample error</a:t>
            </a:r>
          </a:p>
        </p:txBody>
      </p:sp>
      <p:sp>
        <p:nvSpPr>
          <p:cNvPr id="49" name="!!term-true error">
            <a:extLst>
              <a:ext uri="{C183D7F6-B498-43B3-948B-1728B52AA6E4}">
                <adec:decorative xmlns:adec="http://schemas.microsoft.com/office/drawing/2017/decorative" val="1"/>
              </a:ext>
            </a:extLst>
          </p:cNvPr>
          <p:cNvSpPr/>
          <p:nvPr/>
        </p:nvSpPr>
        <p:spPr>
          <a:xfrm>
            <a:off x="7548675" y="3090672"/>
            <a:ext cx="125555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true error">
            <a:extLst>
              <a:ext uri="{C183D7F6-B498-43B3-948B-1728B52AA6E4}">
                <adec:decorative xmlns:adec="http://schemas.microsoft.com/office/drawing/2017/decorative" val="1"/>
              </a:ext>
            </a:extLst>
          </p:cNvPr>
          <p:cNvSpPr/>
          <p:nvPr/>
        </p:nvSpPr>
        <p:spPr>
          <a:xfrm>
            <a:off x="7676691"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true error"/>
          <p:cNvSpPr txBox="1"/>
          <p:nvPr/>
        </p:nvSpPr>
        <p:spPr>
          <a:xfrm>
            <a:off x="7841283" y="3214116"/>
            <a:ext cx="107267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true error</a:t>
            </a:r>
          </a:p>
        </p:txBody>
      </p:sp>
      <p:sp>
        <p:nvSpPr>
          <p:cNvPr id="52" name="!!term-confidence int">
            <a:extLst>
              <a:ext uri="{C183D7F6-B498-43B3-948B-1728B52AA6E4}">
                <adec:decorative xmlns:adec="http://schemas.microsoft.com/office/drawing/2017/decorative" val="1"/>
              </a:ext>
            </a:extLst>
          </p:cNvPr>
          <p:cNvSpPr/>
          <p:nvPr/>
        </p:nvSpPr>
        <p:spPr>
          <a:xfrm>
            <a:off x="8950537" y="3090672"/>
            <a:ext cx="206222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confidence int">
            <a:extLst>
              <a:ext uri="{C183D7F6-B498-43B3-948B-1728B52AA6E4}">
                <adec:decorative xmlns:adec="http://schemas.microsoft.com/office/drawing/2017/decorative" val="1"/>
              </a:ext>
            </a:extLst>
          </p:cNvPr>
          <p:cNvSpPr/>
          <p:nvPr/>
        </p:nvSpPr>
        <p:spPr>
          <a:xfrm>
            <a:off x="9078553"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confidence int"/>
          <p:cNvSpPr txBox="1"/>
          <p:nvPr/>
        </p:nvSpPr>
        <p:spPr>
          <a:xfrm>
            <a:off x="9243145" y="3214116"/>
            <a:ext cx="187934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confidence interval</a:t>
            </a:r>
          </a:p>
        </p:txBody>
      </p:sp>
      <p:sp>
        <p:nvSpPr>
          <p:cNvPr id="55" name="!!term-McNemar’s test">
            <a:extLst>
              <a:ext uri="{C183D7F6-B498-43B3-948B-1728B52AA6E4}">
                <adec:decorative xmlns:adec="http://schemas.microsoft.com/office/drawing/2017/decorative" val="1"/>
              </a:ext>
            </a:extLst>
          </p:cNvPr>
          <p:cNvSpPr/>
          <p:nvPr/>
        </p:nvSpPr>
        <p:spPr>
          <a:xfrm>
            <a:off x="658368" y="3712464"/>
            <a:ext cx="177982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McNemar’s test">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McNemar’s test"/>
          <p:cNvSpPr txBox="1"/>
          <p:nvPr/>
        </p:nvSpPr>
        <p:spPr>
          <a:xfrm>
            <a:off x="950976" y="3835908"/>
            <a:ext cx="159694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McNemar’s test</a:t>
            </a:r>
          </a:p>
        </p:txBody>
      </p:sp>
      <p:sp>
        <p:nvSpPr>
          <p:cNvPr id="58"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97533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60–69     </a:t>
            </a:r>
            <a:fld id="{F5F85A62-DA34-4A54-8E19-1484937445D2}" type="slidenum">
              <a:rPr lang="en-GB" sz="1000">
                <a:solidFill>
                  <a:srgbClr val="8795A1"/>
                </a:solidFill>
                <a:latin typeface="Segoe UI"/>
              </a:rPr>
              <a:t>5</a:t>
            </a:fld>
          </a:p>
        </p:txBody>
      </p:sp>
      <p:sp>
        <p:nvSpPr>
          <p:cNvPr id="7" name="!!ag0" descr="Go to section 8.1 Measuring Classifier Accuracy Is Not One Number">
            <a:hlinkClick action="ppaction://hlinksldjump" r:id="rId5"/>
          </p:cNvPr>
          <p:cNvSpPr/>
          <p:nvPr/>
        </p:nvSpPr>
        <p:spPr>
          <a:xfrm>
            <a:off x="658368" y="1773936"/>
            <a:ext cx="10874959" cy="486918"/>
          </a:xfrm>
          <a:prstGeom prst="roundRect">
            <a:avLst>
              <a:gd name="adj" fmla="val 1126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48691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895474"/>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236794"/>
                </a:solidFill>
                <a:latin typeface="Segoe UI Semibold"/>
              </a:rPr>
              <a:t>8.1</a:t>
            </a:r>
          </a:p>
        </p:txBody>
      </p:sp>
      <p:sp>
        <p:nvSpPr>
          <p:cNvPr id="10" name="!!agt0"/>
          <p:cNvSpPr txBox="1"/>
          <p:nvPr/>
        </p:nvSpPr>
        <p:spPr>
          <a:xfrm>
            <a:off x="1847088" y="1895474"/>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Measuring Classifier Accuracy Is Not One Number</a:t>
            </a:r>
          </a:p>
        </p:txBody>
      </p:sp>
      <p:sp>
        <p:nvSpPr>
          <p:cNvPr id="11" name="!!agp0"/>
          <p:cNvSpPr txBox="1"/>
          <p:nvPr/>
        </p:nvSpPr>
        <p:spPr>
          <a:xfrm>
            <a:off x="9795967" y="1922906"/>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60  ›</a:t>
            </a:r>
          </a:p>
        </p:txBody>
      </p:sp>
      <p:sp>
        <p:nvSpPr>
          <p:cNvPr id="12" name="!!ag1" descr="Go to section 8.2 The Confusion Matrix">
            <a:hlinkClick action="ppaction://hlinksldjump" r:id="rId6"/>
          </p:cNvPr>
          <p:cNvSpPr/>
          <p:nvPr/>
        </p:nvSpPr>
        <p:spPr>
          <a:xfrm>
            <a:off x="658368" y="2334006"/>
            <a:ext cx="10874959" cy="486918"/>
          </a:xfrm>
          <a:prstGeom prst="roundRect">
            <a:avLst>
              <a:gd name="adj" fmla="val 1126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334006"/>
            <a:ext cx="64008" cy="48691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455545"/>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236794"/>
                </a:solidFill>
                <a:latin typeface="Segoe UI Semibold"/>
              </a:rPr>
              <a:t>8.2</a:t>
            </a:r>
          </a:p>
        </p:txBody>
      </p:sp>
      <p:sp>
        <p:nvSpPr>
          <p:cNvPr id="15" name="!!agt1"/>
          <p:cNvSpPr txBox="1"/>
          <p:nvPr/>
        </p:nvSpPr>
        <p:spPr>
          <a:xfrm>
            <a:off x="1847088" y="2455545"/>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The Confusion Matrix</a:t>
            </a:r>
          </a:p>
        </p:txBody>
      </p:sp>
      <p:sp>
        <p:nvSpPr>
          <p:cNvPr id="16" name="!!agp1"/>
          <p:cNvSpPr txBox="1"/>
          <p:nvPr/>
        </p:nvSpPr>
        <p:spPr>
          <a:xfrm>
            <a:off x="9795967" y="2482977"/>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60  ›</a:t>
            </a:r>
          </a:p>
        </p:txBody>
      </p:sp>
      <p:sp>
        <p:nvSpPr>
          <p:cNvPr id="17" name="!!ag2" descr="Go to section 8.3 Precision, Recall and the Threshold">
            <a:hlinkClick action="ppaction://hlinksldjump" r:id="rId7"/>
          </p:cNvPr>
          <p:cNvSpPr/>
          <p:nvPr/>
        </p:nvSpPr>
        <p:spPr>
          <a:xfrm>
            <a:off x="658368" y="2894076"/>
            <a:ext cx="10874959" cy="486918"/>
          </a:xfrm>
          <a:prstGeom prst="roundRect">
            <a:avLst>
              <a:gd name="adj" fmla="val 1126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2894076"/>
            <a:ext cx="64008" cy="48691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015615"/>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236794"/>
                </a:solidFill>
                <a:latin typeface="Segoe UI Semibold"/>
              </a:rPr>
              <a:t>8.3</a:t>
            </a:r>
          </a:p>
        </p:txBody>
      </p:sp>
      <p:sp>
        <p:nvSpPr>
          <p:cNvPr id="20" name="!!agt2"/>
          <p:cNvSpPr txBox="1"/>
          <p:nvPr/>
        </p:nvSpPr>
        <p:spPr>
          <a:xfrm>
            <a:off x="1847088" y="3015615"/>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Precision, Recall and the Threshold</a:t>
            </a:r>
          </a:p>
        </p:txBody>
      </p:sp>
      <p:sp>
        <p:nvSpPr>
          <p:cNvPr id="21" name="!!agp2"/>
          <p:cNvSpPr txBox="1"/>
          <p:nvPr/>
        </p:nvSpPr>
        <p:spPr>
          <a:xfrm>
            <a:off x="9795967" y="3043047"/>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61  ›</a:t>
            </a:r>
          </a:p>
        </p:txBody>
      </p:sp>
      <p:sp>
        <p:nvSpPr>
          <p:cNvPr id="22" name="!!ag3" descr="Go to section 8.4 Threshold-Free Summaries: ROC and PR Curves">
            <a:hlinkClick action="ppaction://hlinksldjump" r:id="rId8"/>
          </p:cNvPr>
          <p:cNvSpPr/>
          <p:nvPr/>
        </p:nvSpPr>
        <p:spPr>
          <a:xfrm>
            <a:off x="658368" y="3454146"/>
            <a:ext cx="10874959" cy="486918"/>
          </a:xfrm>
          <a:prstGeom prst="roundRect">
            <a:avLst>
              <a:gd name="adj" fmla="val 1126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454146"/>
            <a:ext cx="64008" cy="48691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575685"/>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236794"/>
                </a:solidFill>
                <a:latin typeface="Segoe UI Semibold"/>
              </a:rPr>
              <a:t>8.4</a:t>
            </a:r>
          </a:p>
        </p:txBody>
      </p:sp>
      <p:sp>
        <p:nvSpPr>
          <p:cNvPr id="25" name="!!agt3"/>
          <p:cNvSpPr txBox="1"/>
          <p:nvPr/>
        </p:nvSpPr>
        <p:spPr>
          <a:xfrm>
            <a:off x="1847088" y="3575685"/>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Threshold-Free Summaries: ROC and PR Curves</a:t>
            </a:r>
          </a:p>
        </p:txBody>
      </p:sp>
      <p:sp>
        <p:nvSpPr>
          <p:cNvPr id="26" name="!!agp3"/>
          <p:cNvSpPr txBox="1"/>
          <p:nvPr/>
        </p:nvSpPr>
        <p:spPr>
          <a:xfrm>
            <a:off x="9795967" y="3603116"/>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62  ›</a:t>
            </a:r>
          </a:p>
        </p:txBody>
      </p:sp>
      <p:sp>
        <p:nvSpPr>
          <p:cNvPr id="27" name="!!ag4" descr="Go to section 8.5 More Than Two Classes">
            <a:hlinkClick action="ppaction://hlinksldjump" r:id="rId9"/>
          </p:cNvPr>
          <p:cNvSpPr/>
          <p:nvPr/>
        </p:nvSpPr>
        <p:spPr>
          <a:xfrm>
            <a:off x="658368" y="4014215"/>
            <a:ext cx="10874959" cy="486918"/>
          </a:xfrm>
          <a:prstGeom prst="roundRect">
            <a:avLst>
              <a:gd name="adj" fmla="val 1126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014215"/>
            <a:ext cx="64008" cy="48691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135754"/>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236794"/>
                </a:solidFill>
                <a:latin typeface="Segoe UI Semibold"/>
              </a:rPr>
              <a:t>8.5</a:t>
            </a:r>
          </a:p>
        </p:txBody>
      </p:sp>
      <p:sp>
        <p:nvSpPr>
          <p:cNvPr id="30" name="!!agt4"/>
          <p:cNvSpPr txBox="1"/>
          <p:nvPr/>
        </p:nvSpPr>
        <p:spPr>
          <a:xfrm>
            <a:off x="1847088" y="4135754"/>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More Than Two Classes</a:t>
            </a:r>
          </a:p>
        </p:txBody>
      </p:sp>
      <p:sp>
        <p:nvSpPr>
          <p:cNvPr id="31" name="!!agp4"/>
          <p:cNvSpPr txBox="1"/>
          <p:nvPr/>
        </p:nvSpPr>
        <p:spPr>
          <a:xfrm>
            <a:off x="9795967" y="4163187"/>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63  ›</a:t>
            </a:r>
          </a:p>
        </p:txBody>
      </p:sp>
      <p:sp>
        <p:nvSpPr>
          <p:cNvPr id="32" name="!!ag5" descr="Go to section 8.6 How Sure Is the Number? Confidence Intervals for Error">
            <a:hlinkClick action="ppaction://hlinksldjump" r:id="rId10"/>
          </p:cNvPr>
          <p:cNvSpPr/>
          <p:nvPr/>
        </p:nvSpPr>
        <p:spPr>
          <a:xfrm>
            <a:off x="658368" y="4574286"/>
            <a:ext cx="10874959" cy="486918"/>
          </a:xfrm>
          <a:prstGeom prst="roundRect">
            <a:avLst>
              <a:gd name="adj" fmla="val 1126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574286"/>
            <a:ext cx="64008" cy="48691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4695824"/>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236794"/>
                </a:solidFill>
                <a:latin typeface="Segoe UI Semibold"/>
              </a:rPr>
              <a:t>8.6</a:t>
            </a:r>
          </a:p>
        </p:txBody>
      </p:sp>
      <p:sp>
        <p:nvSpPr>
          <p:cNvPr id="35" name="!!agt5"/>
          <p:cNvSpPr txBox="1"/>
          <p:nvPr/>
        </p:nvSpPr>
        <p:spPr>
          <a:xfrm>
            <a:off x="1847088" y="4695824"/>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How Sure Is the Number? Confidence Intervals for Error</a:t>
            </a:r>
          </a:p>
        </p:txBody>
      </p:sp>
      <p:sp>
        <p:nvSpPr>
          <p:cNvPr id="36" name="!!agp5"/>
          <p:cNvSpPr txBox="1"/>
          <p:nvPr/>
        </p:nvSpPr>
        <p:spPr>
          <a:xfrm>
            <a:off x="9795967" y="4723257"/>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63  ›</a:t>
            </a:r>
          </a:p>
        </p:txBody>
      </p:sp>
      <p:sp>
        <p:nvSpPr>
          <p:cNvPr id="37" name="!!ag6" descr="Go to section 8.7 Is One Classifier Really Better? McNemar’s Test">
            <a:hlinkClick action="ppaction://hlinksldjump" r:id="rId11"/>
          </p:cNvPr>
          <p:cNvSpPr/>
          <p:nvPr/>
        </p:nvSpPr>
        <p:spPr>
          <a:xfrm>
            <a:off x="658368" y="5134355"/>
            <a:ext cx="10874959" cy="486918"/>
          </a:xfrm>
          <a:prstGeom prst="roundRect">
            <a:avLst>
              <a:gd name="adj" fmla="val 1126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agb6">
            <a:extLst>
              <a:ext uri="{C183D7F6-B498-43B3-948B-1728B52AA6E4}">
                <adec:decorative xmlns:adec="http://schemas.microsoft.com/office/drawing/2017/decorative" val="1"/>
              </a:ext>
            </a:extLst>
          </p:cNvPr>
          <p:cNvSpPr/>
          <p:nvPr/>
        </p:nvSpPr>
        <p:spPr>
          <a:xfrm>
            <a:off x="658368" y="5134355"/>
            <a:ext cx="64008" cy="48691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agn6"/>
          <p:cNvSpPr txBox="1"/>
          <p:nvPr/>
        </p:nvSpPr>
        <p:spPr>
          <a:xfrm>
            <a:off x="932688" y="5255894"/>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236794"/>
                </a:solidFill>
                <a:latin typeface="Segoe UI Semibold"/>
              </a:rPr>
              <a:t>8.7</a:t>
            </a:r>
          </a:p>
        </p:txBody>
      </p:sp>
      <p:sp>
        <p:nvSpPr>
          <p:cNvPr id="40" name="!!agt6"/>
          <p:cNvSpPr txBox="1"/>
          <p:nvPr/>
        </p:nvSpPr>
        <p:spPr>
          <a:xfrm>
            <a:off x="1847088" y="5255894"/>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Is One Classifier Really Better? McNemar’s Test</a:t>
            </a:r>
          </a:p>
        </p:txBody>
      </p:sp>
      <p:sp>
        <p:nvSpPr>
          <p:cNvPr id="41" name="!!agp6"/>
          <p:cNvSpPr txBox="1"/>
          <p:nvPr/>
        </p:nvSpPr>
        <p:spPr>
          <a:xfrm>
            <a:off x="9795967" y="5283326"/>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64  ›</a:t>
            </a:r>
          </a:p>
        </p:txBody>
      </p:sp>
      <p:sp>
        <p:nvSpPr>
          <p:cNvPr id="42" name="!!ag7" descr="Go to section 8.8 Handling Class Imbalance">
            <a:hlinkClick action="ppaction://hlinksldjump" r:id="rId12"/>
          </p:cNvPr>
          <p:cNvSpPr/>
          <p:nvPr/>
        </p:nvSpPr>
        <p:spPr>
          <a:xfrm>
            <a:off x="658368" y="5694425"/>
            <a:ext cx="10874959" cy="486918"/>
          </a:xfrm>
          <a:prstGeom prst="roundRect">
            <a:avLst>
              <a:gd name="adj" fmla="val 1126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agb7">
            <a:extLst>
              <a:ext uri="{C183D7F6-B498-43B3-948B-1728B52AA6E4}">
                <adec:decorative xmlns:adec="http://schemas.microsoft.com/office/drawing/2017/decorative" val="1"/>
              </a:ext>
            </a:extLst>
          </p:cNvPr>
          <p:cNvSpPr/>
          <p:nvPr/>
        </p:nvSpPr>
        <p:spPr>
          <a:xfrm>
            <a:off x="658368" y="5694425"/>
            <a:ext cx="64008" cy="48691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agn7"/>
          <p:cNvSpPr txBox="1"/>
          <p:nvPr/>
        </p:nvSpPr>
        <p:spPr>
          <a:xfrm>
            <a:off x="932688" y="5815964"/>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236794"/>
                </a:solidFill>
                <a:latin typeface="Segoe UI Semibold"/>
              </a:rPr>
              <a:t>8.8</a:t>
            </a:r>
          </a:p>
        </p:txBody>
      </p:sp>
      <p:sp>
        <p:nvSpPr>
          <p:cNvPr id="45" name="!!agt7"/>
          <p:cNvSpPr txBox="1"/>
          <p:nvPr/>
        </p:nvSpPr>
        <p:spPr>
          <a:xfrm>
            <a:off x="1847088" y="5815964"/>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Handling Class Imbalance</a:t>
            </a:r>
          </a:p>
        </p:txBody>
      </p:sp>
      <p:sp>
        <p:nvSpPr>
          <p:cNvPr id="46" name="!!agp7"/>
          <p:cNvSpPr txBox="1"/>
          <p:nvPr/>
        </p:nvSpPr>
        <p:spPr>
          <a:xfrm>
            <a:off x="9795967" y="5843396"/>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64  ›</a:t>
            </a:r>
          </a:p>
        </p:txBody>
      </p:sp>
      <p:sp>
        <p:nvSpPr>
          <p:cNvPr id="4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pfill">
            <a:extLst>
              <a:ext uri="{C183D7F6-B498-43B3-948B-1728B52AA6E4}">
                <adec:decorative xmlns:adec="http://schemas.microsoft.com/office/drawing/2017/decorative" val="1"/>
              </a:ext>
            </a:extLst>
          </p:cNvPr>
          <p:cNvSpPr/>
          <p:nvPr/>
        </p:nvSpPr>
        <p:spPr>
          <a:xfrm>
            <a:off x="0" y="0"/>
            <a:ext cx="121916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Measuring Classifier Accuracy Is Not One Number</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§8.1  ·  Handout p. 60     </a:t>
            </a:r>
            <a:fld id="{14A19E80-79E4-4E2C-ABEA-90F7E8420181}" type="slidenum">
              <a:rPr lang="en-GB" sz="1000">
                <a:solidFill>
                  <a:srgbClr val="8795A1"/>
                </a:solidFill>
                <a:latin typeface="Segoe UI"/>
              </a:rPr>
              <a:t>6</a:t>
            </a:fld>
          </a:p>
        </p:txBody>
      </p:sp>
      <p:sp>
        <p:nvSpPr>
          <p:cNvPr id="7" name="!!stbar">
            <a:extLst>
              <a:ext uri="{C183D7F6-B498-43B3-948B-1728B52AA6E4}">
                <adec:decorative xmlns:adec="http://schemas.microsoft.com/office/drawing/2017/decorative" val="1"/>
              </a:ext>
            </a:extLst>
          </p:cNvPr>
          <p:cNvSpPr/>
          <p:nvPr/>
        </p:nvSpPr>
        <p:spPr>
          <a:xfrm>
            <a:off x="658368" y="1810512"/>
            <a:ext cx="73152" cy="2848051"/>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2930347"/>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HEC outline calls this topic </a:t>
            </a:r>
            <a:r>
              <a:rPr sz="2600" b="0" i="1">
                <a:solidFill>
                  <a:srgbClr val="1C252B"/>
                </a:solidFill>
                <a:latin typeface="Segoe UI"/>
              </a:rPr>
              <a:t>measuring classifier accuracy</a:t>
            </a:r>
            <a:r>
              <a:rPr sz="2600" b="0" i="0">
                <a:solidFill>
                  <a:srgbClr val="1C252B"/>
                </a:solidFill>
                <a:latin typeface="Segoe UI"/>
              </a:rPr>
              <a:t>, and the first lesson is that accuracy is usually the wrong measure. A classifier makes two kinds of mistake, and in almost every real problem one costs far more than the other: a missed intrusion against a wasted analyst hour, an undetected failing student against an unnecessary phone call. A single number that adds the two together hides exactly the information needed to decide whether the classifier is any use.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46300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Confusion Matrix</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2 OF 8</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8.2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8.1   Measuring Classifier Accuracy Is Not One Number</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8.2   The Confusion Matrix</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8.3   Precision, Recall and the Threshold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8.4   Threshold-Free Summaries: ROC and PR Curves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8.5   More Than Two Classes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8.6   How Sure Is the Number? Confidence Intervals for Error</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8.7   Is One Classifier Really Better? McNemar’s Test</a:t>
            </a:r>
          </a:p>
        </p:txBody>
      </p:sp>
      <p:sp>
        <p:nvSpPr>
          <p:cNvPr id="13" name="!!dl7"/>
          <p:cNvSpPr txBox="1"/>
          <p:nvPr/>
        </p:nvSpPr>
        <p:spPr>
          <a:xfrm>
            <a:off x="4846320" y="60807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8.8   Handling Class Imbalance</a:t>
            </a:r>
          </a:p>
        </p:txBody>
      </p:sp>
      <p:sp>
        <p:nvSpPr>
          <p:cNvPr id="14"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§8.2     </a:t>
            </a:r>
            <a:fld id="{B2659F8A-AA4A-4F14-A026-D1CFB2231DAE}" type="slidenum">
              <a:rPr lang="en-GB" sz="1000">
                <a:solidFill>
                  <a:srgbClr val="8795A1"/>
                </a:solidFill>
                <a:latin typeface="Segoe UI"/>
              </a:rPr>
              <a:t>7</a:t>
            </a:fld>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170683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Confusion Matrix</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§8.2  ·  Handout p. 60     </a:t>
            </a:r>
            <a:fld id="{E4056EC7-9658-4AFB-968B-0ED9693E5AA3}"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437051"/>
          </a:xfrm>
          <a:prstGeom prst="roundRect">
            <a:avLst>
              <a:gd name="adj" fmla="val 266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437051"/>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For two classes, cross-tabulate the predictions against the truth:</a:t>
            </a:r>
          </a:p>
        </p:txBody>
      </p:sp>
      <p:sp>
        <p:nvSpPr>
          <p:cNvPr id="10" name="body-1"/>
          <p:cNvSpPr txBox="1"/>
          <p:nvPr/>
        </p:nvSpPr>
        <p:spPr>
          <a:xfrm>
            <a:off x="1060704" y="2573451"/>
            <a:ext cx="10161727" cy="1810588"/>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8A4500"/>
                </a:solidFill>
                <a:latin typeface="Segoe UI"/>
              </a:rPr>
              <a:t>•	</a:t>
            </a:r>
            <a:r>
              <a:rPr sz="2300" b="1" i="0">
                <a:solidFill>
                  <a:srgbClr val="1A5276"/>
                </a:solidFill>
                <a:latin typeface="Segoe UI"/>
              </a:rPr>
              <a:t>true positive</a:t>
            </a:r>
            <a:r>
              <a:rPr sz="2300" b="0" i="0">
                <a:solidFill>
                  <a:srgbClr val="1C252B"/>
                </a:solidFill>
                <a:latin typeface="Segoe UI"/>
              </a:rPr>
              <a:t> (TP): positive, predicted positive;</a:t>
            </a:r>
          </a:p>
          <a:p>
            <a:pPr algn="l" marL="257176" indent="-257176">
              <a:lnSpc>
                <a:spcPct val="104000"/>
              </a:lnSpc>
              <a:spcBef>
                <a:spcPts val="0"/>
              </a:spcBef>
              <a:spcAft>
                <a:spcPts val="804"/>
              </a:spcAft>
            </a:pPr>
            <a:r>
              <a:rPr sz="2300" b="1">
                <a:solidFill>
                  <a:srgbClr val="8A4500"/>
                </a:solidFill>
                <a:latin typeface="Segoe UI"/>
              </a:rPr>
              <a:t>•	</a:t>
            </a:r>
            <a:r>
              <a:rPr sz="2300" b="1" i="0">
                <a:solidFill>
                  <a:srgbClr val="1A5276"/>
                </a:solidFill>
                <a:latin typeface="Segoe UI"/>
              </a:rPr>
              <a:t>false positive</a:t>
            </a:r>
            <a:r>
              <a:rPr sz="2300" b="0" i="0">
                <a:solidFill>
                  <a:srgbClr val="1C252B"/>
                </a:solidFill>
                <a:latin typeface="Segoe UI"/>
              </a:rPr>
              <a:t> (FP): negative, predicted positive — a false alarm;</a:t>
            </a:r>
          </a:p>
          <a:p>
            <a:pPr algn="l" marL="257176" indent="-257176">
              <a:lnSpc>
                <a:spcPct val="104000"/>
              </a:lnSpc>
              <a:spcBef>
                <a:spcPts val="0"/>
              </a:spcBef>
              <a:spcAft>
                <a:spcPts val="804"/>
              </a:spcAft>
            </a:pPr>
            <a:r>
              <a:rPr sz="2300" b="1">
                <a:solidFill>
                  <a:srgbClr val="8A4500"/>
                </a:solidFill>
                <a:latin typeface="Segoe UI"/>
              </a:rPr>
              <a:t>•	</a:t>
            </a:r>
            <a:r>
              <a:rPr sz="2300" b="1" i="0">
                <a:solidFill>
                  <a:srgbClr val="1A5276"/>
                </a:solidFill>
                <a:latin typeface="Segoe UI"/>
              </a:rPr>
              <a:t>false negative</a:t>
            </a:r>
            <a:r>
              <a:rPr sz="2300" b="0" i="0">
                <a:solidFill>
                  <a:srgbClr val="1C252B"/>
                </a:solidFill>
                <a:latin typeface="Segoe UI"/>
              </a:rPr>
              <a:t> (FN): positive, predicted negative — a miss;</a:t>
            </a:r>
          </a:p>
          <a:p>
            <a:pPr algn="l" marL="257176" indent="-257176">
              <a:lnSpc>
                <a:spcPct val="104000"/>
              </a:lnSpc>
              <a:spcBef>
                <a:spcPts val="0"/>
              </a:spcBef>
              <a:spcAft>
                <a:spcPts val="0"/>
              </a:spcAft>
            </a:pPr>
            <a:r>
              <a:rPr sz="2300" b="1">
                <a:solidFill>
                  <a:srgbClr val="8A4500"/>
                </a:solidFill>
                <a:latin typeface="Segoe UI"/>
              </a:rPr>
              <a:t>•	</a:t>
            </a:r>
            <a:r>
              <a:rPr sz="2300" b="1" i="0">
                <a:solidFill>
                  <a:srgbClr val="1A5276"/>
                </a:solidFill>
                <a:latin typeface="Segoe UI"/>
              </a:rPr>
              <a:t>true negative</a:t>
            </a:r>
            <a:r>
              <a:rPr sz="2300" b="0" i="0">
                <a:solidFill>
                  <a:srgbClr val="1C252B"/>
                </a:solidFill>
                <a:latin typeface="Segoe UI"/>
              </a:rPr>
              <a:t> (TN): negative, predicted negative.</a:t>
            </a:r>
          </a:p>
        </p:txBody>
      </p:sp>
      <p:sp>
        <p:nvSpPr>
          <p:cNvPr id="11" name="body-2"/>
          <p:cNvSpPr txBox="1"/>
          <p:nvPr/>
        </p:nvSpPr>
        <p:spPr>
          <a:xfrm>
            <a:off x="1060704" y="449897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Every metric in this chapter is a ratio of these four counts.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95067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fade">
                                      <p:cBhvr>
                                        <p:cTn id="23" dur="38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malware scanner’s confusion matrix on 5,000 files, and the five metrics computed from it</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8.1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§8.2  ·  Handout p. 60     </a:t>
            </a:r>
            <a:fld id="{675C566C-DA3B-4EB6-A272-A83DDC9E15BB}" type="slidenum">
              <a:rPr lang="en-GB" sz="1000">
                <a:solidFill>
                  <a:srgbClr val="8795A1"/>
                </a:solidFill>
                <a:latin typeface="Segoe UI"/>
              </a:rPr>
              <a:t>9</a:t>
            </a:fld>
          </a:p>
        </p:txBody>
      </p:sp>
      <p:pic>
        <p:nvPicPr>
          <p:cNvPr id="6" name="!!figure" descr="Figure 8.1. A malware scanner’s confusion matrix on 5,000 files, and the five metrics computed from it. Precision reads along the “flagged” row; recall reads down the “truly malicious” colum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22012"/>
            <a:ext cx="10874959" cy="2954789"/>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Precision reads along the “flagged” row; recall reads down the “truly malicious” column.</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19450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One Scanner, Five Metrics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§8.2  ·  Handout p. 60     </a:t>
            </a:r>
            <a:fld id="{C78B60AC-EA4F-4190-8DE8-5D735B0A0B4A}"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82059"/>
          </a:xfrm>
          <a:prstGeom prst="roundRect">
            <a:avLst>
              <a:gd name="adj" fmla="val 218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8205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552907"/>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The scanner of Figure 8.1 examined 5,000 files, of which 250 were malicious. It flagged 300, of which 225 were malicious.</a:t>
            </a:r>
          </a:p>
        </p:txBody>
      </p:sp>
      <p:sp>
        <p:nvSpPr>
          <p:cNvPr id="10" name="body-1"/>
          <p:cNvSpPr txBox="1"/>
          <p:nvPr/>
        </p:nvSpPr>
        <p:spPr>
          <a:xfrm>
            <a:off x="1042416" y="2630627"/>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Cells:</a:t>
            </a:r>
            <a:r>
              <a:rPr sz="1600" b="0" i="0">
                <a:solidFill>
                  <a:srgbClr val="1C252B"/>
                </a:solidFill>
                <a:latin typeface="Segoe UI"/>
              </a:rPr>
              <a:t> TP </a:t>
            </a:r>
            <a:r>
              <a:rPr sz="1600" b="0" i="0">
                <a:solidFill>
                  <a:srgbClr val="1C252B"/>
                </a:solidFill>
                <a:latin typeface="Cambria"/>
              </a:rPr>
              <a:t>= 225</a:t>
            </a:r>
            <a:r>
              <a:rPr sz="1600" b="0" i="0">
                <a:solidFill>
                  <a:srgbClr val="1C252B"/>
                </a:solidFill>
                <a:latin typeface="Segoe UI"/>
              </a:rPr>
              <a:t>, FP </a:t>
            </a:r>
            <a:r>
              <a:rPr sz="1600" b="0" i="0">
                <a:solidFill>
                  <a:srgbClr val="1C252B"/>
                </a:solidFill>
                <a:latin typeface="Cambria"/>
              </a:rPr>
              <a:t>= 300 − 225 = 75</a:t>
            </a:r>
            <a:r>
              <a:rPr sz="1600" b="0" i="0">
                <a:solidFill>
                  <a:srgbClr val="1C252B"/>
                </a:solidFill>
                <a:latin typeface="Segoe UI"/>
              </a:rPr>
              <a:t>, FN </a:t>
            </a:r>
            <a:r>
              <a:rPr sz="1600" b="0" i="0">
                <a:solidFill>
                  <a:srgbClr val="1C252B"/>
                </a:solidFill>
                <a:latin typeface="Cambria"/>
              </a:rPr>
              <a:t>= 250 − 225 = 25</a:t>
            </a:r>
            <a:r>
              <a:rPr sz="1600" b="0" i="0">
                <a:solidFill>
                  <a:srgbClr val="1C252B"/>
                </a:solidFill>
                <a:latin typeface="Segoe UI"/>
              </a:rPr>
              <a:t>, TN </a:t>
            </a:r>
            <a:r>
              <a:rPr sz="1600" b="0" i="0">
                <a:solidFill>
                  <a:srgbClr val="1C252B"/>
                </a:solidFill>
                <a:latin typeface="Cambria"/>
              </a:rPr>
              <a:t>= 5000 − 225 − 75 − 25 = 4675</a:t>
            </a:r>
            <a:r>
              <a:rPr sz="1600" b="0" i="0">
                <a:solidFill>
                  <a:srgbClr val="1C252B"/>
                </a:solidFill>
                <a:latin typeface="Segoe UI"/>
              </a:rPr>
              <a:t>.</a:t>
            </a:r>
          </a:p>
        </p:txBody>
      </p:sp>
      <p:sp>
        <p:nvSpPr>
          <p:cNvPr id="11" name="body-2"/>
          <p:cNvSpPr txBox="1"/>
          <p:nvPr/>
        </p:nvSpPr>
        <p:spPr>
          <a:xfrm>
            <a:off x="1042416" y="2995980"/>
            <a:ext cx="10234879" cy="1273454"/>
          </a:xfrm>
          <a:prstGeom prst="rect">
            <a:avLst/>
          </a:prstGeom>
          <a:noFill/>
        </p:spPr>
        <p:txBody>
          <a:bodyPr wrap="square" anchor="t" lIns="0" rIns="0" tIns="0" bIns="0">
            <a:noAutofit/>
          </a:bodyPr>
          <a:lstStyle/>
          <a:p>
            <a:pPr algn="l" marL="178905" indent="-178905">
              <a:lnSpc>
                <a:spcPct val="104000"/>
              </a:lnSpc>
              <a:spcBef>
                <a:spcPts val="0"/>
              </a:spcBef>
              <a:spcAft>
                <a:spcPts val="560"/>
              </a:spcAft>
            </a:pPr>
            <a:r>
              <a:rPr sz="1600" b="1">
                <a:solidFill>
                  <a:srgbClr val="7D6608"/>
                </a:solidFill>
                <a:latin typeface="Segoe UI"/>
              </a:rPr>
              <a:t>•	</a:t>
            </a:r>
            <a:r>
              <a:rPr sz="1600" b="1" i="0">
                <a:solidFill>
                  <a:srgbClr val="7D6608"/>
                </a:solidFill>
                <a:latin typeface="Segoe UI"/>
              </a:rPr>
              <a:t>Accuracy</a:t>
            </a:r>
            <a:r>
              <a:rPr sz="1600" b="0" i="0">
                <a:solidFill>
                  <a:srgbClr val="1C252B"/>
                </a:solidFill>
                <a:latin typeface="Segoe UI"/>
              </a:rPr>
              <a:t> </a:t>
            </a:r>
            <a:r>
              <a:rPr sz="1600" b="0" i="0">
                <a:solidFill>
                  <a:srgbClr val="1C252B"/>
                </a:solidFill>
                <a:latin typeface="Cambria"/>
              </a:rPr>
              <a:t>= (225 + 4675)/5000 = </a:t>
            </a:r>
            <a:r>
              <a:rPr sz="1600" b="1" i="0">
                <a:solidFill>
                  <a:srgbClr val="1C252B"/>
                </a:solidFill>
                <a:latin typeface="Cambria"/>
              </a:rPr>
              <a:t>98.0%</a:t>
            </a:r>
          </a:p>
          <a:p>
            <a:pPr algn="l" marL="178905" indent="-178905">
              <a:lnSpc>
                <a:spcPct val="104000"/>
              </a:lnSpc>
              <a:spcBef>
                <a:spcPts val="0"/>
              </a:spcBef>
              <a:spcAft>
                <a:spcPts val="560"/>
              </a:spcAft>
            </a:pPr>
            <a:r>
              <a:rPr sz="1600" b="1">
                <a:solidFill>
                  <a:srgbClr val="7D6608"/>
                </a:solidFill>
                <a:latin typeface="Segoe UI"/>
              </a:rPr>
              <a:t>•	</a:t>
            </a:r>
            <a:r>
              <a:rPr sz="1600" b="1" i="0">
                <a:solidFill>
                  <a:srgbClr val="7D6608"/>
                </a:solidFill>
                <a:latin typeface="Segoe UI"/>
              </a:rPr>
              <a:t>Precision</a:t>
            </a:r>
            <a:r>
              <a:rPr sz="1600" b="0" i="0">
                <a:solidFill>
                  <a:srgbClr val="1C252B"/>
                </a:solidFill>
                <a:latin typeface="Segoe UI"/>
              </a:rPr>
              <a:t> </a:t>
            </a:r>
            <a:r>
              <a:rPr sz="1600" b="0" i="0">
                <a:solidFill>
                  <a:srgbClr val="1C252B"/>
                </a:solidFill>
                <a:latin typeface="Cambria"/>
              </a:rPr>
              <a:t>= 225/300 = </a:t>
            </a:r>
            <a:r>
              <a:rPr sz="1600" b="1" i="0">
                <a:solidFill>
                  <a:srgbClr val="1C252B"/>
                </a:solidFill>
                <a:latin typeface="Cambria"/>
              </a:rPr>
              <a:t>75.0%</a:t>
            </a:r>
          </a:p>
          <a:p>
            <a:pPr algn="l" marL="178905" indent="-178905">
              <a:lnSpc>
                <a:spcPct val="104000"/>
              </a:lnSpc>
              <a:spcBef>
                <a:spcPts val="0"/>
              </a:spcBef>
              <a:spcAft>
                <a:spcPts val="560"/>
              </a:spcAft>
            </a:pPr>
            <a:r>
              <a:rPr sz="1600" b="1">
                <a:solidFill>
                  <a:srgbClr val="7D6608"/>
                </a:solidFill>
                <a:latin typeface="Segoe UI"/>
              </a:rPr>
              <a:t>•	</a:t>
            </a:r>
            <a:r>
              <a:rPr sz="1600" b="1" i="0">
                <a:solidFill>
                  <a:srgbClr val="7D6608"/>
                </a:solidFill>
                <a:latin typeface="Segoe UI"/>
              </a:rPr>
              <a:t>Recall</a:t>
            </a:r>
            <a:r>
              <a:rPr sz="1600" b="0" i="0">
                <a:solidFill>
                  <a:srgbClr val="1C252B"/>
                </a:solidFill>
                <a:latin typeface="Segoe UI"/>
              </a:rPr>
              <a:t> </a:t>
            </a:r>
            <a:r>
              <a:rPr sz="1600" b="0" i="0">
                <a:solidFill>
                  <a:srgbClr val="1C252B"/>
                </a:solidFill>
                <a:latin typeface="Cambria"/>
              </a:rPr>
              <a:t>= 225/250 = </a:t>
            </a:r>
            <a:r>
              <a:rPr sz="1600" b="1" i="0">
                <a:solidFill>
                  <a:srgbClr val="1C252B"/>
                </a:solidFill>
                <a:latin typeface="Cambria"/>
              </a:rPr>
              <a:t>90.0%</a:t>
            </a:r>
          </a:p>
          <a:p>
            <a:pPr algn="l" marL="178905" indent="-178905">
              <a:lnSpc>
                <a:spcPct val="104000"/>
              </a:lnSpc>
              <a:spcBef>
                <a:spcPts val="0"/>
              </a:spcBef>
              <a:spcAft>
                <a:spcPts val="0"/>
              </a:spcAft>
            </a:pPr>
            <a:r>
              <a:rPr sz="1600" b="1">
                <a:solidFill>
                  <a:srgbClr val="7D6608"/>
                </a:solidFill>
                <a:latin typeface="Segoe UI"/>
              </a:rPr>
              <a:t>•	</a:t>
            </a:r>
            <a:r>
              <a:rPr sz="1600" b="1" i="0">
                <a:solidFill>
                  <a:srgbClr val="7D6608"/>
                </a:solidFill>
                <a:latin typeface="Segoe UI"/>
              </a:rPr>
              <a:t>Specificity</a:t>
            </a:r>
            <a:r>
              <a:rPr sz="1600" b="0" i="0">
                <a:solidFill>
                  <a:srgbClr val="1C252B"/>
                </a:solidFill>
                <a:latin typeface="Segoe UI"/>
              </a:rPr>
              <a:t> </a:t>
            </a:r>
            <a:r>
              <a:rPr sz="1600" b="0" i="0">
                <a:solidFill>
                  <a:srgbClr val="1C252B"/>
                </a:solidFill>
                <a:latin typeface="Cambria"/>
              </a:rPr>
              <a:t>= 4675/4750 = </a:t>
            </a:r>
            <a:r>
              <a:rPr sz="1600" b="1" i="0">
                <a:solidFill>
                  <a:srgbClr val="1C252B"/>
                </a:solidFill>
                <a:latin typeface="Cambria"/>
              </a:rPr>
              <a:t>98.4%</a:t>
            </a:r>
          </a:p>
        </p:txBody>
      </p:sp>
      <p:sp>
        <p:nvSpPr>
          <p:cNvPr id="12" name="body-3m"/>
          <p:cNvSpPr txBox="1"/>
          <p:nvPr/>
        </p:nvSpPr>
        <p:spPr>
          <a:xfrm>
            <a:off x="1042416" y="4335475"/>
            <a:ext cx="178905" cy="365760"/>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7D6608"/>
                </a:solidFill>
                <a:latin typeface="Segoe UI"/>
              </a:rPr>
              <a:t>•</a:t>
            </a:r>
          </a:p>
        </p:txBody>
      </p:sp>
      <p:pic>
        <p:nvPicPr>
          <p:cNvPr id="13" name="body-3" descr="F1 = 2(0.75)(0.90)/(0.75 + 0.90) = 1.35/1.65 = 0.818"/>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21321" y="4335475"/>
            <a:ext cx="10055931" cy="437083"/>
          </a:xfrm>
          <a:prstGeom prst="rect">
            <a:avLst/>
          </a:prstGeom>
        </p:spPr>
      </p:pic>
      <p:sp>
        <p:nvSpPr>
          <p:cNvPr id="14" name="body-4"/>
          <p:cNvSpPr txBox="1"/>
          <p:nvPr/>
        </p:nvSpPr>
        <p:spPr>
          <a:xfrm>
            <a:off x="1042416" y="4884318"/>
            <a:ext cx="10234879" cy="806500"/>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Against the baseline.</a:t>
            </a:r>
            <a:r>
              <a:rPr sz="1600" b="0" i="0">
                <a:solidFill>
                  <a:srgbClr val="1C252B"/>
                </a:solidFill>
                <a:latin typeface="Segoe UI"/>
              </a:rPr>
              <a:t> “Flag nothing” is right on the 4,750 clean files: 95.0% accuracy. The scanner’s 98.0% is three points better than doing nothing, which sounds small; its recall of 90% — nine malicious files in ten caught, at the cost of one false alarm for every three real detections — is what actually describes it.</a:t>
            </a:r>
          </a:p>
        </p:txBody>
      </p:sp>
      <p:sp>
        <p:nvSpPr>
          <p:cNvPr id="15" name="body-4bar">
            <a:extLst>
              <a:ext uri="{C183D7F6-B498-43B3-948B-1728B52AA6E4}">
                <adec:decorative xmlns:adec="http://schemas.microsoft.com/office/drawing/2017/decorative" val="1"/>
              </a:ext>
            </a:extLst>
          </p:cNvPr>
          <p:cNvSpPr/>
          <p:nvPr/>
        </p:nvSpPr>
        <p:spPr>
          <a:xfrm>
            <a:off x="841248" y="4902606"/>
            <a:ext cx="54864" cy="74249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pfill">
            <a:extLst>
              <a:ext uri="{C183D7F6-B498-43B3-948B-1728B52AA6E4}">
                <adec:decorative xmlns:adec="http://schemas.microsoft.com/office/drawing/2017/decorative" val="1"/>
              </a:ext>
            </a:extLst>
          </p:cNvPr>
          <p:cNvSpPr/>
          <p:nvPr/>
        </p:nvSpPr>
        <p:spPr>
          <a:xfrm>
            <a:off x="0" y="0"/>
            <a:ext cx="243833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fade">
                                      <p:cBhvr>
                                        <p:cTn id="13" dur="350"/>
                                        <p:tgtEl>
                                          <p:spTgt spid="1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xEl>
                                              <p:pRg st="1" end="1"/>
                                            </p:txEl>
                                          </p:spTgt>
                                        </p:tgtEl>
                                        <p:attrNameLst>
                                          <p:attrName>style.visibility</p:attrName>
                                        </p:attrNameLst>
                                      </p:cBhvr>
                                      <p:to>
                                        <p:strVal val="visible"/>
                                      </p:to>
                                    </p:set>
                                    <p:animEffect transition="in" filter="fade">
                                      <p:cBhvr>
                                        <p:cTn id="18" dur="350"/>
                                        <p:tgtEl>
                                          <p:spTgt spid="11">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xEl>
                                              <p:pRg st="2" end="2"/>
                                            </p:txEl>
                                          </p:spTgt>
                                        </p:tgtEl>
                                        <p:attrNameLst>
                                          <p:attrName>style.visibility</p:attrName>
                                        </p:attrNameLst>
                                      </p:cBhvr>
                                      <p:to>
                                        <p:strVal val="visible"/>
                                      </p:to>
                                    </p:set>
                                    <p:animEffect transition="in" filter="fade">
                                      <p:cBhvr>
                                        <p:cTn id="23" dur="350"/>
                                        <p:tgtEl>
                                          <p:spTgt spid="11">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1">
                                            <p:txEl>
                                              <p:pRg st="3" end="3"/>
                                            </p:txEl>
                                          </p:spTgt>
                                        </p:tgtEl>
                                        <p:attrNameLst>
                                          <p:attrName>style.visibility</p:attrName>
                                        </p:attrNameLst>
                                      </p:cBhvr>
                                      <p:to>
                                        <p:strVal val="visible"/>
                                      </p:to>
                                    </p:set>
                                    <p:animEffect transition="in" filter="fade">
                                      <p:cBhvr>
                                        <p:cTn id="28" dur="350"/>
                                        <p:tgtEl>
                                          <p:spTgt spid="11">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right)">
                                      <p:cBhvr>
                                        <p:cTn id="33" dur="42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2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wipe(right)">
                                      <p:cBhvr>
                                        <p:cTn id="41" dur="42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Accuracy Paradox</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§8.2  ·  Handout p. 60     </a:t>
            </a:r>
            <a:fld id="{AA27548A-5552-4259-85D3-F5A744A2EE3F}"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When one class is rare, accuracy is dominated by the common class. A detector for an event that occurs in 1% of cases can be 99% accurate by never detecting anything. Compute the majority-class baseline before looking at any accuracy figure, and report precision and recall instead.</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68217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Choosing an Operating Threshold From Costs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§8.3  ·  Handout p. 61     </a:t>
            </a:r>
            <a:fld id="{0E9CAB92-1412-4A10-A4CF-52DEAE3B0E8A}"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81195"/>
          </a:xfrm>
          <a:prstGeom prst="roundRect">
            <a:avLst>
              <a:gd name="adj" fmla="val 208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8119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806500"/>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For the malware scanner, a missed malicious file (FN) is estimated to cost 50 times as much as a false alarm (FP) — an infection against ten minutes of an analyst’s time. The scanner’s precision and recall at four thresholds, with 250 malicious files:</a:t>
            </a:r>
          </a:p>
        </p:txBody>
      </p:sp>
      <p:graphicFrame>
        <p:nvGraphicFramePr>
          <p:cNvPr id="10" name="body-1"/>
          <p:cNvGraphicFramePr>
            <a:graphicFrameLocks noGrp="1"/>
          </p:cNvGraphicFramePr>
          <p:nvPr/>
        </p:nvGraphicFramePr>
        <p:xfrm>
          <a:off x="1042416" y="2884220"/>
          <a:ext cx="5932446" cy="1722120"/>
        </p:xfrm>
        <a:graphic>
          <a:graphicData uri="http://schemas.openxmlformats.org/drawingml/2006/table">
            <a:tbl>
              <a:tblPr firstRow="0" bandRow="0" firstCol="0" lastRow="0" lastCol="0" bandCol="0">
                <a:tableStyleId>{2D5ABB26-0587-4C30-8999-92F81FD0307C}</a:tableStyleId>
              </a:tblPr>
              <a:tblGrid>
                <a:gridCol w="1044648"/>
                <a:gridCol w="972908"/>
                <a:gridCol w="724123"/>
                <a:gridCol w="530352"/>
                <a:gridCol w="530352"/>
                <a:gridCol w="530352"/>
                <a:gridCol w="1599711"/>
              </a:tblGrid>
              <a:tr h="344424">
                <a:tc>
                  <a:txBody>
                    <a:bodyPr wrap="square"/>
                    <a:lstStyle/>
                    <a:p>
                      <a:pPr algn="r"/>
                      <a:r>
                        <a:rPr sz="1300" b="1" i="0">
                          <a:solidFill>
                            <a:srgbClr val="1A5276"/>
                          </a:solidFill>
                          <a:latin typeface="Segoe UI"/>
                        </a:rPr>
                        <a:t>Threshold</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Segoe UI"/>
                        </a:rPr>
                        <a:t>Precision</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Segoe UI"/>
                        </a:rPr>
                        <a:t>Recall</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Segoe UI"/>
                        </a:rPr>
                        <a:t>TP</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Segoe UI"/>
                        </a:rPr>
                        <a:t>FN</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Segoe UI"/>
                        </a:rPr>
                        <a:t>FP</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Segoe UI"/>
                        </a:rPr>
                        <a:t>Cost</a:t>
                      </a:r>
                      <a:r>
                        <a:rPr sz="1300" b="1" i="0">
                          <a:solidFill>
                            <a:srgbClr val="1A5276"/>
                          </a:solidFill>
                          <a:latin typeface="Segoe UI"/>
                        </a:rPr>
                        <a:t> </a:t>
                      </a:r>
                      <a:r>
                        <a:rPr sz="1300" b="1" i="0">
                          <a:solidFill>
                            <a:srgbClr val="1A5276"/>
                          </a:solidFill>
                          <a:latin typeface="Cambria"/>
                        </a:rPr>
                        <a:t>= 50 </a:t>
                      </a:r>
                      <a:r>
                        <a:rPr sz="1300" b="1" i="0">
                          <a:solidFill>
                            <a:srgbClr val="1A5276"/>
                          </a:solidFill>
                          <a:latin typeface="Segoe UI"/>
                        </a:rPr>
                        <a:t>FN</a:t>
                      </a:r>
                      <a:r>
                        <a:rPr sz="1300" b="1" i="0">
                          <a:solidFill>
                            <a:srgbClr val="1A5276"/>
                          </a:solidFill>
                          <a:latin typeface="Cambria"/>
                        </a:rPr>
                        <a:t> + </a:t>
                      </a:r>
                      <a:r>
                        <a:rPr sz="1300" b="1" i="0">
                          <a:solidFill>
                            <a:srgbClr val="1A5276"/>
                          </a:solidFill>
                          <a:latin typeface="Segoe UI"/>
                        </a:rPr>
                        <a:t>FP</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44424">
                <a:tc>
                  <a:txBody>
                    <a:bodyPr wrap="square"/>
                    <a:lstStyle/>
                    <a:p>
                      <a:pPr algn="r"/>
                      <a:r>
                        <a:rPr sz="1300" b="0" i="0">
                          <a:solidFill>
                            <a:srgbClr val="1C252B"/>
                          </a:solidFill>
                          <a:latin typeface="Segoe UI"/>
                        </a:rPr>
                        <a:t>0.3</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0.55</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0.96</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240</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10</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196</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1" i="0">
                          <a:solidFill>
                            <a:srgbClr val="1C252B"/>
                          </a:solidFill>
                          <a:latin typeface="Segoe UI"/>
                        </a:rPr>
                        <a:t>696</a:t>
                      </a:r>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r"/>
                      <a:r>
                        <a:rPr sz="1300" b="0" i="0">
                          <a:solidFill>
                            <a:srgbClr val="1C252B"/>
                          </a:solidFill>
                          <a:latin typeface="Segoe UI"/>
                        </a:rPr>
                        <a:t>0.5</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300" b="0" i="0">
                          <a:solidFill>
                            <a:srgbClr val="1C252B"/>
                          </a:solidFill>
                          <a:latin typeface="Segoe UI"/>
                        </a:rPr>
                        <a:t>0.75</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300" b="0" i="0">
                          <a:solidFill>
                            <a:srgbClr val="1C252B"/>
                          </a:solidFill>
                          <a:latin typeface="Segoe UI"/>
                        </a:rPr>
                        <a:t>0.90</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300" b="0" i="0">
                          <a:solidFill>
                            <a:srgbClr val="1C252B"/>
                          </a:solidFill>
                          <a:latin typeface="Segoe UI"/>
                        </a:rPr>
                        <a:t>225</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300" b="0" i="0">
                          <a:solidFill>
                            <a:srgbClr val="1C252B"/>
                          </a:solidFill>
                          <a:latin typeface="Segoe UI"/>
                        </a:rPr>
                        <a:t>25</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300" b="0" i="0">
                          <a:solidFill>
                            <a:srgbClr val="1C252B"/>
                          </a:solidFill>
                          <a:latin typeface="Segoe UI"/>
                        </a:rPr>
                        <a:t>75</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300" b="0" i="0">
                          <a:solidFill>
                            <a:srgbClr val="1C252B"/>
                          </a:solidFill>
                          <a:latin typeface="Segoe UI"/>
                        </a:rPr>
                        <a:t>1,325</a:t>
                      </a:r>
                      <a:endParaRPr sz="1300"/>
                    </a:p>
                  </a:txBody>
                  <a:tcPr marL="109728" marR="109728" marT="64008" marB="45720" anchor="t">
                    <a:lnL w="0" cmpd="sng">
                      <a:noFill/>
                    </a:lnL>
                    <a:lnR w="0" cmpd="sng">
                      <a:noFill/>
                    </a:lnR>
                    <a:lnT w="9525" cmpd="sng">
                      <a:noFill/>
                    </a:lnT>
                    <a:lnB w="9525" cmpd="sng">
                      <a:noFill/>
                    </a:lnB>
                    <a:solidFill>
                      <a:srgbClr val="F2F8FC"/>
                    </a:solidFill>
                  </a:tcPr>
                </a:tc>
              </a:tr>
              <a:tr h="344424">
                <a:tc>
                  <a:txBody>
                    <a:bodyPr wrap="square"/>
                    <a:lstStyle/>
                    <a:p>
                      <a:pPr algn="r"/>
                      <a:r>
                        <a:rPr sz="1300" b="0" i="0">
                          <a:solidFill>
                            <a:srgbClr val="1C252B"/>
                          </a:solidFill>
                          <a:latin typeface="Segoe UI"/>
                        </a:rPr>
                        <a:t>0.7</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0.86</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0.78</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195</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55</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32</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2,782</a:t>
                      </a:r>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r"/>
                      <a:r>
                        <a:rPr sz="1300" b="0" i="0">
                          <a:solidFill>
                            <a:srgbClr val="1C252B"/>
                          </a:solidFill>
                          <a:latin typeface="Segoe UI"/>
                        </a:rPr>
                        <a:t>0.9</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300" b="0" i="0">
                          <a:solidFill>
                            <a:srgbClr val="1C252B"/>
                          </a:solidFill>
                          <a:latin typeface="Segoe UI"/>
                        </a:rPr>
                        <a:t>0.95</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300" b="0" i="0">
                          <a:solidFill>
                            <a:srgbClr val="1C252B"/>
                          </a:solidFill>
                          <a:latin typeface="Segoe UI"/>
                        </a:rPr>
                        <a:t>0.52</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300" b="0" i="0">
                          <a:solidFill>
                            <a:srgbClr val="1C252B"/>
                          </a:solidFill>
                          <a:latin typeface="Segoe UI"/>
                        </a:rPr>
                        <a:t>130</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300" b="0" i="0">
                          <a:solidFill>
                            <a:srgbClr val="1C252B"/>
                          </a:solidFill>
                          <a:latin typeface="Segoe UI"/>
                        </a:rPr>
                        <a:t>120</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300" b="0" i="0">
                          <a:solidFill>
                            <a:srgbClr val="1C252B"/>
                          </a:solidFill>
                          <a:latin typeface="Segoe UI"/>
                        </a:rPr>
                        <a:t>7</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300" b="0" i="0">
                          <a:solidFill>
                            <a:srgbClr val="1C252B"/>
                          </a:solidFill>
                          <a:latin typeface="Segoe UI"/>
                        </a:rPr>
                        <a:t>6,007</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1" name="body-2"/>
          <p:cNvSpPr txBox="1"/>
          <p:nvPr/>
        </p:nvSpPr>
        <p:spPr>
          <a:xfrm>
            <a:off x="1042416" y="4718100"/>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(TP </a:t>
            </a:r>
            <a:r>
              <a:rPr sz="1600" b="0" i="0">
                <a:solidFill>
                  <a:srgbClr val="1C252B"/>
                </a:solidFill>
                <a:latin typeface="Cambria"/>
              </a:rPr>
              <a:t>=</a:t>
            </a:r>
            <a:r>
              <a:rPr sz="1600" b="0" i="0">
                <a:solidFill>
                  <a:srgbClr val="1C252B"/>
                </a:solidFill>
                <a:latin typeface="Segoe UI"/>
              </a:rPr>
              <a:t> recall </a:t>
            </a:r>
            <a:r>
              <a:rPr sz="1600" b="0" i="0">
                <a:solidFill>
                  <a:srgbClr val="1C252B"/>
                </a:solidFill>
                <a:latin typeface="Cambria"/>
              </a:rPr>
              <a:t>×</a:t>
            </a:r>
            <a:r>
              <a:rPr sz="1600" b="0" i="0">
                <a:solidFill>
                  <a:srgbClr val="1C252B"/>
                </a:solidFill>
                <a:latin typeface="Segoe UI"/>
              </a:rPr>
              <a:t> 250; FP </a:t>
            </a:r>
            <a:r>
              <a:rPr sz="1600" b="0" i="0">
                <a:solidFill>
                  <a:srgbClr val="1C252B"/>
                </a:solidFill>
                <a:latin typeface="Cambria"/>
              </a:rPr>
              <a:t>=</a:t>
            </a:r>
            <a:r>
              <a:rPr sz="1600" b="0" i="0">
                <a:solidFill>
                  <a:srgbClr val="1C252B"/>
                </a:solidFill>
                <a:latin typeface="Segoe UI"/>
              </a:rPr>
              <a:t> TP </a:t>
            </a:r>
            <a:r>
              <a:rPr sz="1600" b="0" i="0">
                <a:solidFill>
                  <a:srgbClr val="1C252B"/>
                </a:solidFill>
                <a:latin typeface="Cambria"/>
              </a:rPr>
              <a:t>× (1 − </a:t>
            </a:r>
            <a:r>
              <a:rPr sz="1600" b="0" i="0">
                <a:solidFill>
                  <a:srgbClr val="1C252B"/>
                </a:solidFill>
                <a:latin typeface="Segoe UI"/>
              </a:rPr>
              <a:t>precision</a:t>
            </a:r>
            <a:r>
              <a:rPr sz="1600" b="0" i="0">
                <a:solidFill>
                  <a:srgbClr val="1C252B"/>
                </a:solidFill>
                <a:latin typeface="Cambria"/>
              </a:rPr>
              <a:t>)/</a:t>
            </a:r>
            <a:r>
              <a:rPr sz="1600" b="0" i="0">
                <a:solidFill>
                  <a:srgbClr val="1C252B"/>
                </a:solidFill>
                <a:latin typeface="Segoe UI"/>
              </a:rPr>
              <a:t>precision.)</a:t>
            </a:r>
          </a:p>
        </p:txBody>
      </p:sp>
      <p:sp>
        <p:nvSpPr>
          <p:cNvPr id="12" name="body-3"/>
          <p:cNvSpPr txBox="1"/>
          <p:nvPr/>
        </p:nvSpPr>
        <p:spPr>
          <a:xfrm>
            <a:off x="1042416" y="5083454"/>
            <a:ext cx="10234879" cy="806500"/>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The cheapest threshold is 0.3</a:t>
            </a:r>
            <a:r>
              <a:rPr sz="1600" b="0" i="0">
                <a:solidFill>
                  <a:srgbClr val="1C252B"/>
                </a:solidFill>
                <a:latin typeface="Segoe UI"/>
              </a:rPr>
              <a:t>, which almost halves the cost of the default 0.5 by accepting 121 more false alarms to catch 15 more infections. With a cost ratio of 1:1 the answer would be different. The threshold is where the business decision enters the model.</a:t>
            </a:r>
          </a:p>
        </p:txBody>
      </p:sp>
      <p:sp>
        <p:nvSpPr>
          <p:cNvPr id="13" name="body-3bar">
            <a:extLst>
              <a:ext uri="{C183D7F6-B498-43B3-948B-1728B52AA6E4}">
                <adec:decorative xmlns:adec="http://schemas.microsoft.com/office/drawing/2017/decorative" val="1"/>
              </a:ext>
            </a:extLst>
          </p:cNvPr>
          <p:cNvSpPr/>
          <p:nvPr/>
        </p:nvSpPr>
        <p:spPr>
          <a:xfrm>
            <a:off x="841248" y="5101742"/>
            <a:ext cx="54864" cy="74249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292600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right)">
                                      <p:cBhvr>
                                        <p:cTn id="18" dur="42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Threshold-Free Summaries: ROC and PR Curves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4 OF 8</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8.4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8.1   Measuring Classifier Accuracy Is Not One Number</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8.2   The Confusion Matrix</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8.3   Precision, Recall and the Threshold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8.4   Threshold-Free Summaries: ROC and PR Curves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8.5   More Than Two Classes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8.6   How Sure Is the Number? Confidence Intervals for Error</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8.7   Is One Classifier Really Better? McNemar’s Test</a:t>
            </a:r>
          </a:p>
        </p:txBody>
      </p:sp>
      <p:sp>
        <p:nvSpPr>
          <p:cNvPr id="13" name="!!dl7"/>
          <p:cNvSpPr txBox="1"/>
          <p:nvPr/>
        </p:nvSpPr>
        <p:spPr>
          <a:xfrm>
            <a:off x="4846320" y="60807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8.8   Handling Class Imbalance</a:t>
            </a:r>
          </a:p>
        </p:txBody>
      </p:sp>
      <p:sp>
        <p:nvSpPr>
          <p:cNvPr id="14"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§8.4     </a:t>
            </a:r>
            <a:fld id="{31E21493-2094-412C-8316-5653D6415E00}" type="slidenum">
              <a:rPr lang="en-GB" sz="1000">
                <a:solidFill>
                  <a:srgbClr val="8795A1"/>
                </a:solidFill>
                <a:latin typeface="Segoe UI"/>
              </a:rPr>
              <a:t>13</a:t>
            </a:fld>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316984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ROC Curve and AUC</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§8.4  ·  Handout p. 62     </a:t>
            </a:r>
            <a:fld id="{4AA75937-6FBB-4DF7-9BB3-D9C21B033CE8}"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A5276"/>
                </a:solidFill>
                <a:latin typeface="Segoe UI"/>
              </a:rPr>
              <a:t>ROC curve</a:t>
            </a:r>
            <a:r>
              <a:rPr sz="2300" b="0" i="0">
                <a:solidFill>
                  <a:srgbClr val="1C252B"/>
                </a:solidFill>
                <a:latin typeface="Segoe UI"/>
              </a:rPr>
              <a:t> plots the true positive rate (recall) against the false positive rate (</a:t>
            </a:r>
            <a:r>
              <a:rPr sz="2300" b="0" i="0">
                <a:solidFill>
                  <a:srgbClr val="1C252B"/>
                </a:solidFill>
                <a:latin typeface="Cambria"/>
              </a:rPr>
              <a:t>1 −</a:t>
            </a:r>
            <a:r>
              <a:rPr sz="2300" b="0" i="0">
                <a:solidFill>
                  <a:srgbClr val="1C252B"/>
                </a:solidFill>
                <a:latin typeface="Segoe UI"/>
              </a:rPr>
              <a:t> specificity) at every possible threshold. The </a:t>
            </a:r>
            <a:r>
              <a:rPr sz="2300" b="1" i="0">
                <a:solidFill>
                  <a:srgbClr val="1A5276"/>
                </a:solidFill>
                <a:latin typeface="Segoe UI"/>
              </a:rPr>
              <a:t>area under the curve</a:t>
            </a:r>
            <a:r>
              <a:rPr sz="2300" b="0" i="0">
                <a:solidFill>
                  <a:srgbClr val="1C252B"/>
                </a:solidFill>
                <a:latin typeface="Segoe UI"/>
              </a:rPr>
              <a:t> (AUC) summarises it: the probability that the classifier scores a randomly chosen positive above a randomly chosen negative. A random classifier has AUC 0.5; a perfect one, 1.0.</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41367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Threshold-Free Summaries: ROC and PR Curves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8.2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§8.4  ·  Handout p. 62     </a:t>
            </a:r>
            <a:fld id="{BE9035AD-ACC5-4D89-8A24-87D37F74D37D}" type="slidenum">
              <a:rPr lang="en-GB" sz="1000">
                <a:solidFill>
                  <a:srgbClr val="8795A1"/>
                </a:solidFill>
                <a:latin typeface="Segoe UI"/>
              </a:rPr>
              <a:t>15</a:t>
            </a:fld>
          </a:p>
        </p:txBody>
      </p:sp>
      <p:pic>
        <p:nvPicPr>
          <p:cNvPr id="6" name="!!figure" descr="Figure 8.2. Left: ROC curves sweep every threshold; the shaded area is model A’s AUC. Right: the same two models on precision and recall. With rare positives the PR plot shows how many alerts are false, which the ROC plot hide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059363" y="1737360"/>
            <a:ext cx="8072968" cy="347106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391302"/>
            <a:ext cx="54864" cy="84490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373014"/>
            <a:ext cx="10600639" cy="1027785"/>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Left: ROC curves sweep every threshold; the shaded area is model A’s AUC. Right: the same two models on precision and recall. With rare positives the PR plot shows how many alerts are false, which the ROC plot hides.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65750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Prefer Precision–Recall When Positives Are Rare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§8.4  ·  Handout p. 62     </a:t>
            </a:r>
            <a:fld id="{D111FCD9-0077-4FE2-BC56-440D2C3D755C}"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ROC false positive rate divides false alarms by the (huge) number of negatives, so hundreds of false alarms can look like a rate of 0.01. A precision–recall curve uses precision directly and does not flatter a rare-event detector. For intrusion, fraud and failure detection, report the PR curve or its area (average precision), and quote precision at the recall the application needs.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90134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Macro Against Micro</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§8.5  ·  Handout p. 63     </a:t>
            </a:r>
            <a:fld id="{D47B17E7-5781-4962-B0B3-9AC07E5EDD33}"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30954"/>
          </a:xfrm>
          <a:prstGeom prst="roundRect">
            <a:avLst>
              <a:gd name="adj" fmla="val 2213"/>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309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 traffic classifier is tested on 100 flows: 80 web, 15 e-mail, 5 streaming. It labels 76 web, 9 e-mail and 1 streaming flow correctly.</a:t>
            </a:r>
          </a:p>
        </p:txBody>
      </p:sp>
      <p:sp>
        <p:nvSpPr>
          <p:cNvPr id="10" name="body-1"/>
          <p:cNvSpPr txBox="1"/>
          <p:nvPr/>
        </p:nvSpPr>
        <p:spPr>
          <a:xfrm>
            <a:off x="1042416" y="2824048"/>
            <a:ext cx="10234879" cy="378561"/>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D6608"/>
                </a:solidFill>
                <a:latin typeface="Segoe UI"/>
              </a:rPr>
              <a:t>Per-class recall:</a:t>
            </a:r>
            <a:r>
              <a:rPr sz="2100" b="0" i="0">
                <a:solidFill>
                  <a:srgbClr val="1C252B"/>
                </a:solidFill>
                <a:latin typeface="Segoe UI"/>
              </a:rPr>
              <a:t> web </a:t>
            </a:r>
            <a:r>
              <a:rPr sz="2100" b="0" i="0">
                <a:solidFill>
                  <a:srgbClr val="1C252B"/>
                </a:solidFill>
                <a:latin typeface="Cambria"/>
              </a:rPr>
              <a:t>76/80 = 0.95</a:t>
            </a:r>
            <a:r>
              <a:rPr sz="2100" b="0" i="0">
                <a:solidFill>
                  <a:srgbClr val="1C252B"/>
                </a:solidFill>
                <a:latin typeface="Segoe UI"/>
              </a:rPr>
              <a:t>; e-mail </a:t>
            </a:r>
            <a:r>
              <a:rPr sz="2100" b="0" i="0">
                <a:solidFill>
                  <a:srgbClr val="1C252B"/>
                </a:solidFill>
                <a:latin typeface="Cambria"/>
              </a:rPr>
              <a:t>9/15 = 0.60</a:t>
            </a:r>
            <a:r>
              <a:rPr sz="2100" b="0" i="0">
                <a:solidFill>
                  <a:srgbClr val="1C252B"/>
                </a:solidFill>
                <a:latin typeface="Segoe UI"/>
              </a:rPr>
              <a:t>; streaming </a:t>
            </a:r>
            <a:r>
              <a:rPr sz="2100" b="0" i="0">
                <a:solidFill>
                  <a:srgbClr val="1C252B"/>
                </a:solidFill>
                <a:latin typeface="Cambria"/>
              </a:rPr>
              <a:t>1/5 = 0.20</a:t>
            </a:r>
            <a:r>
              <a:rPr sz="2100" b="0" i="0">
                <a:solidFill>
                  <a:srgbClr val="1C252B"/>
                </a:solidFill>
                <a:latin typeface="Segoe UI"/>
              </a:rPr>
              <a:t>.</a:t>
            </a:r>
          </a:p>
        </p:txBody>
      </p:sp>
      <p:sp>
        <p:nvSpPr>
          <p:cNvPr id="11" name="body-2"/>
          <p:cNvSpPr txBox="1"/>
          <p:nvPr/>
        </p:nvSpPr>
        <p:spPr>
          <a:xfrm>
            <a:off x="1042416" y="3303574"/>
            <a:ext cx="10234879" cy="378561"/>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D6608"/>
                </a:solidFill>
                <a:latin typeface="Segoe UI"/>
              </a:rPr>
              <a:t>Micro (accuracy):</a:t>
            </a:r>
            <a:r>
              <a:rPr sz="2100" b="0" i="0">
                <a:solidFill>
                  <a:srgbClr val="1C252B"/>
                </a:solidFill>
                <a:latin typeface="Segoe UI"/>
              </a:rPr>
              <a:t> </a:t>
            </a:r>
            <a:r>
              <a:rPr sz="2100" b="0" i="0">
                <a:solidFill>
                  <a:srgbClr val="1C252B"/>
                </a:solidFill>
                <a:latin typeface="Cambria"/>
              </a:rPr>
              <a:t>(76 + 9 + 1)/100 = </a:t>
            </a:r>
            <a:r>
              <a:rPr sz="2100" b="1" i="0">
                <a:solidFill>
                  <a:srgbClr val="1C252B"/>
                </a:solidFill>
                <a:latin typeface="Cambria"/>
              </a:rPr>
              <a:t>0.86</a:t>
            </a:r>
            <a:r>
              <a:rPr sz="2100" b="0" i="0">
                <a:solidFill>
                  <a:srgbClr val="1C252B"/>
                </a:solidFill>
                <a:latin typeface="Segoe UI"/>
              </a:rPr>
              <a:t>.</a:t>
            </a:r>
          </a:p>
        </p:txBody>
      </p:sp>
      <p:sp>
        <p:nvSpPr>
          <p:cNvPr id="12" name="body-3"/>
          <p:cNvSpPr txBox="1"/>
          <p:nvPr/>
        </p:nvSpPr>
        <p:spPr>
          <a:xfrm>
            <a:off x="1042416" y="3783101"/>
            <a:ext cx="10234879" cy="378561"/>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D6608"/>
                </a:solidFill>
                <a:latin typeface="Segoe UI"/>
              </a:rPr>
              <a:t>Macro:</a:t>
            </a:r>
            <a:r>
              <a:rPr sz="2100" b="0" i="0">
                <a:solidFill>
                  <a:srgbClr val="1C252B"/>
                </a:solidFill>
                <a:latin typeface="Segoe UI"/>
              </a:rPr>
              <a:t> </a:t>
            </a:r>
            <a:r>
              <a:rPr sz="2100" b="0" i="0">
                <a:solidFill>
                  <a:srgbClr val="1C252B"/>
                </a:solidFill>
                <a:latin typeface="Cambria"/>
              </a:rPr>
              <a:t>(0.95 + 0.60 + 0.20)/3 = </a:t>
            </a:r>
            <a:r>
              <a:rPr sz="2100" b="1" i="0">
                <a:solidFill>
                  <a:srgbClr val="1C252B"/>
                </a:solidFill>
                <a:latin typeface="Cambria"/>
              </a:rPr>
              <a:t>0.58</a:t>
            </a:r>
            <a:r>
              <a:rPr sz="2100" b="0" i="0">
                <a:solidFill>
                  <a:srgbClr val="1C252B"/>
                </a:solidFill>
                <a:latin typeface="Segoe UI"/>
              </a:rPr>
              <a:t>.</a:t>
            </a:r>
          </a:p>
        </p:txBody>
      </p:sp>
      <p:sp>
        <p:nvSpPr>
          <p:cNvPr id="13" name="body-4"/>
          <p:cNvSpPr txBox="1"/>
          <p:nvPr/>
        </p:nvSpPr>
        <p:spPr>
          <a:xfrm>
            <a:off x="1042416" y="4262628"/>
            <a:ext cx="10234879" cy="137708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micro figure is carried by the web class; the macro figure reveals that the classifier almost never recognises streaming. If the rare classes matter — and in security they usually are the ones that matter — report the macro figure and the per-class table.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414517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How Sure Is the Number? Confidence Intervals for Error</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6 OF 8</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8.6</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8.1   Measuring Classifier Accuracy Is Not One Number</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8.2   The Confusion Matrix</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8.3   Precision, Recall and the Threshold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8.4   Threshold-Free Summaries: ROC and PR Curves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8.5   More Than Two Classes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8.6   How Sure Is the Number? Confidence Intervals for Error</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8.7   Is One Classifier Really Better? McNemar’s Test</a:t>
            </a:r>
          </a:p>
        </p:txBody>
      </p:sp>
      <p:sp>
        <p:nvSpPr>
          <p:cNvPr id="13" name="!!dl7"/>
          <p:cNvSpPr txBox="1"/>
          <p:nvPr/>
        </p:nvSpPr>
        <p:spPr>
          <a:xfrm>
            <a:off x="4846320" y="60807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8.8   Handling Class Imbalance</a:t>
            </a:r>
          </a:p>
        </p:txBody>
      </p:sp>
      <p:sp>
        <p:nvSpPr>
          <p:cNvPr id="14"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§8.6     </a:t>
            </a:r>
            <a:fld id="{0EF54742-FCA6-4EDF-8D19-96AB80F3C967}" type="slidenum">
              <a:rPr lang="en-GB" sz="1000">
                <a:solidFill>
                  <a:srgbClr val="8795A1"/>
                </a:solidFill>
                <a:latin typeface="Segoe UI"/>
              </a:rPr>
              <a:t>18</a:t>
            </a:fld>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438901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How Sure Is the Number? Confidence Intervals for Error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§8.6  ·  Handout p. 63     </a:t>
            </a:r>
            <a:fld id="{05C2F228-535C-4652-B216-C283725B22A8}"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37893"/>
          </a:xfrm>
          <a:prstGeom prst="roundRect">
            <a:avLst>
              <a:gd name="adj" fmla="val 2264"/>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37893"/>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test set is a sample, so the error measured on it is an estimate. Mitchell distinguishes the </a:t>
            </a:r>
            <a:r>
              <a:rPr sz="2300" b="1" i="0">
                <a:solidFill>
                  <a:srgbClr val="1A5276"/>
                </a:solidFill>
                <a:latin typeface="Segoe UI"/>
              </a:rPr>
              <a:t>sample error</a:t>
            </a:r>
            <a:r>
              <a:rPr sz="2300" b="0" i="0">
                <a:solidFill>
                  <a:srgbClr val="1C252B"/>
                </a:solidFill>
                <a:latin typeface="Segoe UI"/>
              </a:rPr>
              <a:t> error</a:t>
            </a:r>
            <a:r>
              <a:rPr sz="2300" b="0" i="1" baseline="-25000">
                <a:solidFill>
                  <a:srgbClr val="1C252B"/>
                </a:solidFill>
                <a:latin typeface="Cambria"/>
              </a:rPr>
              <a:t>S</a:t>
            </a:r>
            <a:r>
              <a:rPr sz="2300" b="0" i="0">
                <a:solidFill>
                  <a:srgbClr val="1C252B"/>
                </a:solidFill>
                <a:latin typeface="Cambria"/>
              </a:rPr>
              <a:t>(</a:t>
            </a:r>
            <a:r>
              <a:rPr sz="2300" b="0" i="1">
                <a:solidFill>
                  <a:srgbClr val="1C252B"/>
                </a:solidFill>
                <a:latin typeface="Cambria"/>
              </a:rPr>
              <a:t>h</a:t>
            </a:r>
            <a:r>
              <a:rPr sz="2300" b="0" i="0">
                <a:solidFill>
                  <a:srgbClr val="1C252B"/>
                </a:solidFill>
                <a:latin typeface="Cambria"/>
              </a:rPr>
              <a:t>)</a:t>
            </a:r>
            <a:r>
              <a:rPr sz="2300" b="0" i="0">
                <a:solidFill>
                  <a:srgbClr val="1C252B"/>
                </a:solidFill>
                <a:latin typeface="Segoe UI"/>
              </a:rPr>
              <a:t>, the fraction of the </a:t>
            </a:r>
            <a:r>
              <a:rPr sz="2300" b="0" i="1">
                <a:solidFill>
                  <a:srgbClr val="1C252B"/>
                </a:solidFill>
                <a:latin typeface="Cambria"/>
              </a:rPr>
              <a:t>n</a:t>
            </a:r>
            <a:r>
              <a:rPr sz="2300" b="0" i="0">
                <a:solidFill>
                  <a:srgbClr val="1C252B"/>
                </a:solidFill>
                <a:latin typeface="Segoe UI"/>
              </a:rPr>
              <a:t> test examples misclassified, from the </a:t>
            </a:r>
            <a:r>
              <a:rPr sz="2300" b="1" i="0">
                <a:solidFill>
                  <a:srgbClr val="1A5276"/>
                </a:solidFill>
                <a:latin typeface="Segoe UI"/>
              </a:rPr>
              <a:t>true error</a:t>
            </a:r>
            <a:r>
              <a:rPr sz="2300" b="0" i="0">
                <a:solidFill>
                  <a:srgbClr val="1C252B"/>
                </a:solidFill>
                <a:latin typeface="Segoe UI"/>
              </a:rPr>
              <a:t> error</a:t>
            </a:r>
            <a:r>
              <a:rPr sz="2300" b="0" i="1" baseline="-25000">
                <a:solidFill>
                  <a:srgbClr val="1C252B"/>
                </a:solidFill>
                <a:latin typeface="Cambria"/>
              </a:rPr>
              <a:t>D</a:t>
            </a:r>
            <a:r>
              <a:rPr sz="2300" b="0" i="0">
                <a:solidFill>
                  <a:srgbClr val="1C252B"/>
                </a:solidFill>
                <a:latin typeface="Cambria"/>
              </a:rPr>
              <a:t>(</a:t>
            </a:r>
            <a:r>
              <a:rPr sz="2300" b="0" i="1">
                <a:solidFill>
                  <a:srgbClr val="1C252B"/>
                </a:solidFill>
                <a:latin typeface="Cambria"/>
              </a:rPr>
              <a:t>h</a:t>
            </a:r>
            <a:r>
              <a:rPr sz="2300" b="0" i="0">
                <a:solidFill>
                  <a:srgbClr val="1C252B"/>
                </a:solidFill>
                <a:latin typeface="Cambria"/>
              </a:rPr>
              <a:t>)</a:t>
            </a:r>
            <a:r>
              <a:rPr sz="2300" b="0" i="0">
                <a:solidFill>
                  <a:srgbClr val="1C252B"/>
                </a:solidFill>
                <a:latin typeface="Segoe UI"/>
              </a:rPr>
              <a:t> over the whole population. Because each test example is an independent yes/no trial, the number of mistakes is binomial, and for </a:t>
            </a:r>
            <a:r>
              <a:rPr sz="2300" b="0" i="1">
                <a:solidFill>
                  <a:srgbClr val="1C252B"/>
                </a:solidFill>
                <a:latin typeface="Cambria"/>
              </a:rPr>
              <a:t>n</a:t>
            </a:r>
            <a:r>
              <a:rPr sz="2300" b="0" i="0">
                <a:solidFill>
                  <a:srgbClr val="1C252B"/>
                </a:solidFill>
                <a:latin typeface="Cambria"/>
              </a:rPr>
              <a:t> ≥ 30</a:t>
            </a:r>
            <a:r>
              <a:rPr sz="2300" b="0" i="0">
                <a:solidFill>
                  <a:srgbClr val="1C252B"/>
                </a:solidFill>
                <a:latin typeface="Segoe UI"/>
              </a:rPr>
              <a:t> an approximate 95% confidence interval for the true error is</a:t>
            </a:r>
          </a:p>
        </p:txBody>
      </p:sp>
      <p:pic>
        <p:nvPicPr>
          <p:cNvPr id="10" name="body-1" descr="\text{error}_S(h) \;\pm\; 1.96\,\sqrt{\frac{\text{error}_S(h)\,\big(1 - \text{error}_S(h)\big)}{n}}"/>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4396155"/>
            <a:ext cx="10161727" cy="1068202"/>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463284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How Wide Is 12% Error?</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§8.6  ·  Handout p. 63     </a:t>
            </a:r>
            <a:fld id="{9274FD37-07F7-42A2-A68B-5D1696DFA789}"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61135"/>
          </a:xfrm>
          <a:prstGeom prst="roundRect">
            <a:avLst>
              <a:gd name="adj" fmla="val 230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6113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78561"/>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 classifier misclassifies 24 of </a:t>
            </a:r>
            <a:r>
              <a:rPr sz="2100" b="0" i="1">
                <a:solidFill>
                  <a:srgbClr val="1C252B"/>
                </a:solidFill>
                <a:latin typeface="Cambria"/>
              </a:rPr>
              <a:t>n</a:t>
            </a:r>
            <a:r>
              <a:rPr sz="2100" b="0" i="0">
                <a:solidFill>
                  <a:srgbClr val="1C252B"/>
                </a:solidFill>
                <a:latin typeface="Cambria"/>
              </a:rPr>
              <a:t> = 200</a:t>
            </a:r>
            <a:r>
              <a:rPr sz="2100" b="0" i="0">
                <a:solidFill>
                  <a:srgbClr val="1C252B"/>
                </a:solidFill>
                <a:latin typeface="Segoe UI"/>
              </a:rPr>
              <a:t> test examples: error</a:t>
            </a:r>
            <a:r>
              <a:rPr sz="2100" b="0" i="1" baseline="-25000">
                <a:solidFill>
                  <a:srgbClr val="1C252B"/>
                </a:solidFill>
                <a:latin typeface="Cambria"/>
              </a:rPr>
              <a:t>S</a:t>
            </a:r>
            <a:r>
              <a:rPr sz="2100" b="0" i="0">
                <a:solidFill>
                  <a:srgbClr val="1C252B"/>
                </a:solidFill>
                <a:latin typeface="Cambria"/>
              </a:rPr>
              <a:t> = 0.12</a:t>
            </a:r>
            <a:r>
              <a:rPr sz="2100" b="0" i="0">
                <a:solidFill>
                  <a:srgbClr val="1C252B"/>
                </a:solidFill>
                <a:latin typeface="Segoe UI"/>
              </a:rPr>
              <a:t>.</a:t>
            </a:r>
          </a:p>
        </p:txBody>
      </p:sp>
      <p:pic>
        <p:nvPicPr>
          <p:cNvPr id="10" name="body-1" descr="\sqrt{\frac{0.12 \times 0.88}{200}} = \sqrt{0.000528} = 0.0230, \qquad 1.96 \times 0.0230 = 0.045"/>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491206"/>
            <a:ext cx="10234879" cy="975390"/>
          </a:xfrm>
          <a:prstGeom prst="rect">
            <a:avLst/>
          </a:prstGeom>
        </p:spPr>
      </p:pic>
      <p:sp>
        <p:nvSpPr>
          <p:cNvPr id="11" name="body-2"/>
          <p:cNvSpPr txBox="1"/>
          <p:nvPr/>
        </p:nvSpPr>
        <p:spPr>
          <a:xfrm>
            <a:off x="1042416" y="3613282"/>
            <a:ext cx="10234879" cy="378561"/>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D6608"/>
                </a:solidFill>
                <a:latin typeface="Segoe UI"/>
              </a:rPr>
              <a:t>95% interval:</a:t>
            </a:r>
            <a:r>
              <a:rPr sz="2100" b="0" i="0">
                <a:solidFill>
                  <a:srgbClr val="1C252B"/>
                </a:solidFill>
                <a:latin typeface="Segoe UI"/>
              </a:rPr>
              <a:t> </a:t>
            </a:r>
            <a:r>
              <a:rPr sz="2100" b="0" i="0">
                <a:solidFill>
                  <a:srgbClr val="1C252B"/>
                </a:solidFill>
                <a:latin typeface="Cambria"/>
              </a:rPr>
              <a:t>0.12 ± 0.045</a:t>
            </a:r>
            <a:r>
              <a:rPr sz="2100" b="0" i="0">
                <a:solidFill>
                  <a:srgbClr val="1C252B"/>
                </a:solidFill>
                <a:latin typeface="Segoe UI"/>
              </a:rPr>
              <a:t>, that is </a:t>
            </a:r>
            <a:r>
              <a:rPr sz="2100" b="1" i="0">
                <a:solidFill>
                  <a:srgbClr val="1C252B"/>
                </a:solidFill>
                <a:latin typeface="Segoe UI"/>
              </a:rPr>
              <a:t>7.5% to 16.5%</a:t>
            </a:r>
            <a:r>
              <a:rPr sz="2100" b="0" i="0">
                <a:solidFill>
                  <a:srgbClr val="1C252B"/>
                </a:solidFill>
                <a:latin typeface="Segoe UI"/>
              </a:rPr>
              <a:t>.</a:t>
            </a:r>
          </a:p>
        </p:txBody>
      </p:sp>
      <p:sp>
        <p:nvSpPr>
          <p:cNvPr id="12" name="body-2bar">
            <a:extLst>
              <a:ext uri="{C183D7F6-B498-43B3-948B-1728B52AA6E4}">
                <adec:decorative xmlns:adec="http://schemas.microsoft.com/office/drawing/2017/decorative" val="1"/>
              </a:ext>
            </a:extLst>
          </p:cNvPr>
          <p:cNvSpPr/>
          <p:nvPr/>
        </p:nvSpPr>
        <p:spPr>
          <a:xfrm>
            <a:off x="841248" y="3631570"/>
            <a:ext cx="54864" cy="314553"/>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3"/>
          <p:cNvSpPr txBox="1"/>
          <p:nvPr/>
        </p:nvSpPr>
        <p:spPr>
          <a:xfrm>
            <a:off x="1042416" y="4092808"/>
            <a:ext cx="10234879" cy="137708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With </a:t>
            </a:r>
            <a:r>
              <a:rPr sz="2100" b="0" i="1">
                <a:solidFill>
                  <a:srgbClr val="1C252B"/>
                </a:solidFill>
                <a:latin typeface="Cambria"/>
              </a:rPr>
              <a:t>n</a:t>
            </a:r>
            <a:r>
              <a:rPr sz="2100" b="0" i="0">
                <a:solidFill>
                  <a:srgbClr val="1C252B"/>
                </a:solidFill>
                <a:latin typeface="Cambria"/>
              </a:rPr>
              <a:t> = 2000</a:t>
            </a:r>
            <a:r>
              <a:rPr sz="2100" b="0" i="0">
                <a:solidFill>
                  <a:srgbClr val="1C252B"/>
                </a:solidFill>
                <a:latin typeface="Segoe UI"/>
              </a:rPr>
              <a:t> and the same 12% error, the half-width shrinks to </a:t>
            </a:r>
            <a:r>
              <a:rPr sz="2100" b="0" i="0">
                <a:solidFill>
                  <a:srgbClr val="1C252B"/>
                </a:solidFill>
                <a:latin typeface="Cambria"/>
              </a:rPr>
              <a:t>1.96√(0.12 × 0.88/2000) = 0.014</a:t>
            </a:r>
            <a:r>
              <a:rPr sz="2100" b="0" i="0">
                <a:solidFill>
                  <a:srgbClr val="1C252B"/>
                </a:solidFill>
                <a:latin typeface="Segoe UI"/>
              </a:rPr>
              <a:t>: </a:t>
            </a:r>
            <a:r>
              <a:rPr sz="2100" b="1" i="0">
                <a:solidFill>
                  <a:srgbClr val="1C252B"/>
                </a:solidFill>
                <a:latin typeface="Segoe UI"/>
              </a:rPr>
              <a:t>10.6% to 13.4%</a:t>
            </a:r>
            <a:r>
              <a:rPr sz="2100" b="0" i="0">
                <a:solidFill>
                  <a:srgbClr val="1C252B"/>
                </a:solidFill>
                <a:latin typeface="Segoe UI"/>
              </a:rPr>
              <a:t>. Ten times the data gives an interval about </a:t>
            </a:r>
            <a:r>
              <a:rPr sz="2100" b="0" i="0">
                <a:solidFill>
                  <a:srgbClr val="1C252B"/>
                </a:solidFill>
                <a:latin typeface="Cambria"/>
              </a:rPr>
              <a:t>√(10) ≈ 3.2</a:t>
            </a:r>
            <a:r>
              <a:rPr sz="2100" b="0" i="0">
                <a:solidFill>
                  <a:srgbClr val="1C252B"/>
                </a:solidFill>
                <a:latin typeface="Segoe UI"/>
              </a:rPr>
              <a:t> times narrower. On 200 examples, a competitor at 10% error is not demonstrably better.</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487667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right)">
                                      <p:cBhvr>
                                        <p:cTn id="21"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How the uncertainty in a measured 12% error rate shrinks with test-set size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8.3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§8.6  ·  Handout p. 63     </a:t>
            </a:r>
            <a:fld id="{DB39CD69-FEB0-4C44-A531-449135D28F73}" type="slidenum">
              <a:rPr lang="en-GB" sz="1000">
                <a:solidFill>
                  <a:srgbClr val="8795A1"/>
                </a:solidFill>
                <a:latin typeface="Segoe UI"/>
              </a:rPr>
              <a:t>21</a:t>
            </a:fld>
          </a:p>
        </p:txBody>
      </p:sp>
      <p:pic>
        <p:nvPicPr>
          <p:cNvPr id="6" name="!!figure" descr="Figure 8.3. How the uncertainty in a measured 12% error rate shrinks with test-set size. The width falls as 1/√n: four times the data halves i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89257" y="1737360"/>
            <a:ext cx="8413181"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width falls as 1/√n: four times the data halves it.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12051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Is One Classifier Really Better? McNemar’s Test</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§8.7  ·  Handout p. 64     </a:t>
            </a:r>
            <a:fld id="{8F28F964-65E5-4BF0-B80A-05794713B94D}"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25423"/>
          </a:xfrm>
          <a:prstGeom prst="roundRect">
            <a:avLst>
              <a:gd name="adj" fmla="val 2749"/>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25423"/>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Two classifiers are tested on the same examples and one scores a little higher. Is it better, or luckier? Only the examples on which they </a:t>
            </a:r>
            <a:r>
              <a:rPr sz="2300" b="0" i="1">
                <a:solidFill>
                  <a:srgbClr val="1C252B"/>
                </a:solidFill>
                <a:latin typeface="Segoe UI"/>
              </a:rPr>
              <a:t>disagree</a:t>
            </a:r>
            <a:r>
              <a:rPr sz="2300" b="0" i="0">
                <a:solidFill>
                  <a:srgbClr val="1C252B"/>
                </a:solidFill>
                <a:latin typeface="Segoe UI"/>
              </a:rPr>
              <a:t> carry information. Let </a:t>
            </a:r>
            <a:r>
              <a:rPr sz="2300" b="0" i="1">
                <a:solidFill>
                  <a:srgbClr val="1C252B"/>
                </a:solidFill>
                <a:latin typeface="Cambria"/>
              </a:rPr>
              <a:t>b</a:t>
            </a:r>
            <a:r>
              <a:rPr sz="2300" b="0" i="0">
                <a:solidFill>
                  <a:srgbClr val="1C252B"/>
                </a:solidFill>
                <a:latin typeface="Segoe UI"/>
              </a:rPr>
              <a:t> be the number that classifier A gets wrong and B gets right, and </a:t>
            </a:r>
            <a:r>
              <a:rPr sz="2300" b="0" i="1">
                <a:solidFill>
                  <a:srgbClr val="1C252B"/>
                </a:solidFill>
                <a:latin typeface="Cambria"/>
              </a:rPr>
              <a:t>c</a:t>
            </a:r>
            <a:r>
              <a:rPr sz="2300" b="0" i="0">
                <a:solidFill>
                  <a:srgbClr val="1C252B"/>
                </a:solidFill>
                <a:latin typeface="Segoe UI"/>
              </a:rPr>
              <a:t> the number A gets right and B wrong. If the two are equally good, </a:t>
            </a:r>
            <a:r>
              <a:rPr sz="2300" b="0" i="1">
                <a:solidFill>
                  <a:srgbClr val="1C252B"/>
                </a:solidFill>
                <a:latin typeface="Cambria"/>
              </a:rPr>
              <a:t>b</a:t>
            </a:r>
            <a:r>
              <a:rPr sz="2300" b="0" i="0">
                <a:solidFill>
                  <a:srgbClr val="1C252B"/>
                </a:solidFill>
                <a:latin typeface="Segoe UI"/>
              </a:rPr>
              <a:t> and </a:t>
            </a:r>
            <a:r>
              <a:rPr sz="2300" b="0" i="1">
                <a:solidFill>
                  <a:srgbClr val="1C252B"/>
                </a:solidFill>
                <a:latin typeface="Cambria"/>
              </a:rPr>
              <a:t>c</a:t>
            </a:r>
            <a:r>
              <a:rPr sz="2300" b="0" i="0">
                <a:solidFill>
                  <a:srgbClr val="1C252B"/>
                </a:solidFill>
                <a:latin typeface="Segoe UI"/>
              </a:rPr>
              <a:t> should be similar. </a:t>
            </a:r>
            <a:r>
              <a:rPr sz="2300" b="1" i="0">
                <a:solidFill>
                  <a:srgbClr val="1A5276"/>
                </a:solidFill>
                <a:latin typeface="Segoe UI"/>
              </a:rPr>
              <a:t>McNemar’s test</a:t>
            </a:r>
            <a:r>
              <a:rPr sz="2300" b="0" i="0">
                <a:solidFill>
                  <a:srgbClr val="1C252B"/>
                </a:solidFill>
                <a:latin typeface="Segoe UI"/>
              </a:rPr>
              <a:t> statistic</a:t>
            </a:r>
          </a:p>
        </p:txBody>
      </p:sp>
      <p:pic>
        <p:nvPicPr>
          <p:cNvPr id="10" name="body-1" descr="\chi^2 = \frac{(|b - c| - 1)^2}{b + c}"/>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4031615"/>
            <a:ext cx="10161727" cy="720272"/>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536434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McNemar on 500 Test Emails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§8.7  ·  Handout p. 64     </a:t>
            </a:r>
            <a:fld id="{75198297-432A-466A-9BAD-E8FA34C1C086}" type="slidenum">
              <a:rPr lang="en-GB" sz="1000">
                <a:solidFill>
                  <a:srgbClr val="8795A1"/>
                </a:solidFill>
                <a:latin typeface="Segoe UI"/>
              </a:rPr>
              <a:t>23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829537"/>
          </a:xfrm>
          <a:prstGeom prst="roundRect">
            <a:avLst>
              <a:gd name="adj" fmla="val 238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82953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 spam classifier A and a new classifier B are run on the same 500 e-mails. They disagree on 40: B is right and A wrong on </a:t>
            </a:r>
            <a:r>
              <a:rPr sz="2100" b="0" i="1">
                <a:solidFill>
                  <a:srgbClr val="1C252B"/>
                </a:solidFill>
                <a:latin typeface="Cambria"/>
              </a:rPr>
              <a:t>b</a:t>
            </a:r>
            <a:r>
              <a:rPr sz="2100" b="0" i="0">
                <a:solidFill>
                  <a:srgbClr val="1C252B"/>
                </a:solidFill>
                <a:latin typeface="Cambria"/>
              </a:rPr>
              <a:t> = 12</a:t>
            </a:r>
            <a:r>
              <a:rPr sz="2100" b="0" i="0">
                <a:solidFill>
                  <a:srgbClr val="1C252B"/>
                </a:solidFill>
                <a:latin typeface="Segoe UI"/>
              </a:rPr>
              <a:t>; A is right and B wrong on </a:t>
            </a:r>
            <a:r>
              <a:rPr sz="2100" b="0" i="1">
                <a:solidFill>
                  <a:srgbClr val="1C252B"/>
                </a:solidFill>
                <a:latin typeface="Cambria"/>
              </a:rPr>
              <a:t>c</a:t>
            </a:r>
            <a:r>
              <a:rPr sz="2100" b="0" i="0">
                <a:solidFill>
                  <a:srgbClr val="1C252B"/>
                </a:solidFill>
                <a:latin typeface="Cambria"/>
              </a:rPr>
              <a:t> = 28</a:t>
            </a:r>
            <a:r>
              <a:rPr sz="2100" b="0" i="0">
                <a:solidFill>
                  <a:srgbClr val="1C252B"/>
                </a:solidFill>
                <a:latin typeface="Segoe UI"/>
              </a:rPr>
              <a:t>.</a:t>
            </a:r>
          </a:p>
        </p:txBody>
      </p:sp>
      <p:pic>
        <p:nvPicPr>
          <p:cNvPr id="10" name="body-1" descr="\chi^2 = \frac{(|12 - 28| - 1)^2}{12 + 28} = \frac{15^2}{40} = 5.63 \;&gt;\; 3.84"/>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824048"/>
            <a:ext cx="10234879" cy="657636"/>
          </a:xfrm>
          <a:prstGeom prst="rect">
            <a:avLst/>
          </a:prstGeom>
        </p:spPr>
      </p:pic>
      <p:sp>
        <p:nvSpPr>
          <p:cNvPr id="11" name="body-2"/>
          <p:cNvSpPr txBox="1"/>
          <p:nvPr/>
        </p:nvSpPr>
        <p:spPr>
          <a:xfrm>
            <a:off x="1042416" y="3628369"/>
            <a:ext cx="10234879" cy="1709928"/>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D6608"/>
                </a:solidFill>
                <a:latin typeface="Segoe UI"/>
              </a:rPr>
              <a:t>A is significantly better</a:t>
            </a:r>
            <a:r>
              <a:rPr sz="2100" b="0" i="0">
                <a:solidFill>
                  <a:srgbClr val="1C252B"/>
                </a:solidFill>
                <a:latin typeface="Segoe UI"/>
              </a:rPr>
              <a:t> at the 5% level (</a:t>
            </a:r>
            <a:r>
              <a:rPr sz="2100" b="0" i="1">
                <a:solidFill>
                  <a:srgbClr val="1C252B"/>
                </a:solidFill>
                <a:latin typeface="Cambria"/>
              </a:rPr>
              <a:t>p</a:t>
            </a:r>
            <a:r>
              <a:rPr sz="2100" b="0" i="0">
                <a:solidFill>
                  <a:srgbClr val="1C252B"/>
                </a:solidFill>
                <a:latin typeface="Cambria"/>
              </a:rPr>
              <a:t> ≈ 0.018</a:t>
            </a:r>
            <a:r>
              <a:rPr sz="2100" b="0" i="0">
                <a:solidFill>
                  <a:srgbClr val="1C252B"/>
                </a:solidFill>
                <a:latin typeface="Segoe UI"/>
              </a:rPr>
              <a:t>): it is right on 16 more e-mails, 3.2 points of accuracy. The 460 e-mails on which they agree play no part — which is why the test is sensitive even when the accuracies look close. When the comparison is across cross-validation folds instead of one test set, the equivalent tool is a paired </a:t>
            </a:r>
            <a:r>
              <a:rPr sz="2100" b="0" i="1">
                <a:solidFill>
                  <a:srgbClr val="1C252B"/>
                </a:solidFill>
                <a:latin typeface="Cambria"/>
              </a:rPr>
              <a:t>t</a:t>
            </a:r>
            <a:r>
              <a:rPr sz="2100" b="0" i="0">
                <a:solidFill>
                  <a:srgbClr val="1C252B"/>
                </a:solidFill>
                <a:latin typeface="Segoe UI"/>
              </a:rPr>
              <a:t>-test on the per-fold scores.</a:t>
            </a:r>
          </a:p>
        </p:txBody>
      </p:sp>
      <p:sp>
        <p:nvSpPr>
          <p:cNvPr id="12" name="body-2bar">
            <a:extLst>
              <a:ext uri="{C183D7F6-B498-43B3-948B-1728B52AA6E4}">
                <adec:decorative xmlns:adec="http://schemas.microsoft.com/office/drawing/2017/decorative" val="1"/>
              </a:ext>
            </a:extLst>
          </p:cNvPr>
          <p:cNvSpPr/>
          <p:nvPr/>
        </p:nvSpPr>
        <p:spPr>
          <a:xfrm>
            <a:off x="841248" y="3646657"/>
            <a:ext cx="54864" cy="164591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560817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Handling Class Imbalance</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§8.8  ·  Handout p. 64     </a:t>
            </a:r>
            <a:fld id="{F38FA515-4688-4A47-BAD7-CA11B0A029B9}" type="slidenum">
              <a:rPr lang="en-GB" sz="1000">
                <a:solidFill>
                  <a:srgbClr val="8795A1"/>
                </a:solidFill>
                <a:latin typeface="Segoe UI"/>
              </a:rPr>
              <a:t>24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09212"/>
          </a:xfrm>
          <a:prstGeom prst="roundRect">
            <a:avLst>
              <a:gd name="adj" fmla="val 2225"/>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0921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Imbalance is a problem for training as well as evaluation: a learner minimising average loss can do very well by ignoring the rare class. Three remedies, in order of preference:</a:t>
            </a:r>
          </a:p>
        </p:txBody>
      </p:sp>
      <p:sp>
        <p:nvSpPr>
          <p:cNvPr id="10" name="body-1"/>
          <p:cNvSpPr txBox="1"/>
          <p:nvPr/>
        </p:nvSpPr>
        <p:spPr>
          <a:xfrm>
            <a:off x="1060704" y="2821939"/>
            <a:ext cx="10161727" cy="2759456"/>
          </a:xfrm>
          <a:prstGeom prst="rect">
            <a:avLst/>
          </a:prstGeom>
          <a:noFill/>
        </p:spPr>
        <p:txBody>
          <a:bodyPr wrap="square" anchor="t" lIns="0" rIns="0" tIns="0" bIns="0">
            <a:noAutofit/>
          </a:bodyPr>
          <a:lstStyle/>
          <a:p>
            <a:pPr algn="l" marL="482452" indent="-482452">
              <a:lnSpc>
                <a:spcPct val="104000"/>
              </a:lnSpc>
              <a:spcBef>
                <a:spcPts val="0"/>
              </a:spcBef>
              <a:spcAft>
                <a:spcPts val="700"/>
              </a:spcAft>
            </a:pPr>
            <a:r>
              <a:rPr sz="2000" b="1">
                <a:solidFill>
                  <a:srgbClr val="1A5276"/>
                </a:solidFill>
                <a:latin typeface="Segoe UI"/>
              </a:rPr>
              <a:t>1.	</a:t>
            </a:r>
            <a:r>
              <a:rPr sz="2000" b="1" i="0">
                <a:solidFill>
                  <a:srgbClr val="1A5276"/>
                </a:solidFill>
                <a:latin typeface="Segoe UI"/>
              </a:rPr>
              <a:t>Move the threshold.</a:t>
            </a:r>
            <a:r>
              <a:rPr sz="2000" b="0" i="0">
                <a:solidFill>
                  <a:srgbClr val="1C252B"/>
                </a:solidFill>
                <a:latin typeface="Segoe UI"/>
              </a:rPr>
              <a:t> Train normally, then choose the threshold from costs, as above. It changes nothing about the model and is easy to revisit.</a:t>
            </a:r>
          </a:p>
          <a:p>
            <a:pPr algn="l" marL="482452" indent="-482452">
              <a:lnSpc>
                <a:spcPct val="104000"/>
              </a:lnSpc>
              <a:spcBef>
                <a:spcPts val="0"/>
              </a:spcBef>
              <a:spcAft>
                <a:spcPts val="700"/>
              </a:spcAft>
            </a:pPr>
            <a:r>
              <a:rPr sz="2000" b="1">
                <a:solidFill>
                  <a:srgbClr val="1A5276"/>
                </a:solidFill>
                <a:latin typeface="Segoe UI"/>
              </a:rPr>
              <a:t>2.	</a:t>
            </a:r>
            <a:r>
              <a:rPr sz="2000" b="1" i="0">
                <a:solidFill>
                  <a:srgbClr val="1A5276"/>
                </a:solidFill>
                <a:latin typeface="Segoe UI"/>
              </a:rPr>
              <a:t>Weight the classes.</a:t>
            </a:r>
            <a:r>
              <a:rPr sz="2000" b="0" i="0">
                <a:solidFill>
                  <a:srgbClr val="1C252B"/>
                </a:solidFill>
                <a:latin typeface="Segoe UI"/>
              </a:rPr>
              <a:t> Make each error on the rare class cost more in the loss (</a:t>
            </a:r>
            <a:r>
              <a:rPr sz="1900" b="0" i="0">
                <a:solidFill>
                  <a:srgbClr val="1F4E79"/>
                </a:solidFill>
                <a:latin typeface="Consolas"/>
              </a:rPr>
              <a:t>class_weight="balanced"</a:t>
            </a:r>
            <a:r>
              <a:rPr sz="2000" b="0" i="0">
                <a:solidFill>
                  <a:srgbClr val="1C252B"/>
                </a:solidFill>
                <a:latin typeface="Segoe UI"/>
              </a:rPr>
              <a:t> in scikit-learn).</a:t>
            </a:r>
          </a:p>
          <a:p>
            <a:pPr algn="l" marL="482452" indent="-482452">
              <a:lnSpc>
                <a:spcPct val="104000"/>
              </a:lnSpc>
              <a:spcBef>
                <a:spcPts val="0"/>
              </a:spcBef>
              <a:spcAft>
                <a:spcPts val="0"/>
              </a:spcAft>
            </a:pPr>
            <a:r>
              <a:rPr sz="2000" b="1">
                <a:solidFill>
                  <a:srgbClr val="1A5276"/>
                </a:solidFill>
                <a:latin typeface="Segoe UI"/>
              </a:rPr>
              <a:t>3.	</a:t>
            </a:r>
            <a:r>
              <a:rPr sz="2000" b="1" i="0">
                <a:solidFill>
                  <a:srgbClr val="1A5276"/>
                </a:solidFill>
                <a:latin typeface="Segoe UI"/>
              </a:rPr>
              <a:t>Resample the training data.</a:t>
            </a:r>
            <a:r>
              <a:rPr sz="2000" b="0" i="0">
                <a:solidFill>
                  <a:srgbClr val="1C252B"/>
                </a:solidFill>
                <a:latin typeface="Segoe UI"/>
              </a:rPr>
              <a:t> Undersample the common class, or oversample the rare one (by duplication, or by synthesising new examples with SMOTE). Resample only the training folds — never the validation or test data, whose class balance must stay real.</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585201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§8.8  ·  Handout p. 64     </a:t>
            </a:r>
            <a:fld id="{44000D16-DE8A-47B4-A14B-80DAF7846B51}" type="slidenum">
              <a:rPr lang="en-GB" sz="1000">
                <a:solidFill>
                  <a:srgbClr val="8795A1"/>
                </a:solidFill>
                <a:latin typeface="Segoe UI"/>
              </a:rPr>
              <a:t>25</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Reporting accuracy on imbalanced data</a:t>
            </a:r>
            <a:r>
              <a:rPr sz="2100" b="0" i="0">
                <a:solidFill>
                  <a:srgbClr val="1C252B"/>
                </a:solidFill>
                <a:latin typeface="Segoe UI"/>
              </a:rPr>
              <a:t> without the majority baseline beside it.</a:t>
            </a:r>
          </a:p>
        </p:txBody>
      </p:sp>
      <p:sp>
        <p:nvSpPr>
          <p:cNvPr id="10" name="!!pb1">
            <a:extLst>
              <a:ext uri="{C183D7F6-B498-43B3-948B-1728B52AA6E4}">
                <adec:decorative xmlns:adec="http://schemas.microsoft.com/office/drawing/2017/decorative" val="1"/>
              </a:ext>
            </a:extLst>
          </p:cNvPr>
          <p:cNvSpPr/>
          <p:nvPr/>
        </p:nvSpPr>
        <p:spPr>
          <a:xfrm>
            <a:off x="658368" y="232257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34543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304288"/>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Quoting precision without recall,</a:t>
            </a:r>
            <a:r>
              <a:rPr sz="2100" b="0" i="0">
                <a:solidFill>
                  <a:srgbClr val="1C252B"/>
                </a:solidFill>
                <a:latin typeface="Segoe UI"/>
              </a:rPr>
              <a:t> or either without the threshold at which it was measured.</a:t>
            </a:r>
          </a:p>
        </p:txBody>
      </p:sp>
      <p:sp>
        <p:nvSpPr>
          <p:cNvPr id="13" name="!!pb2">
            <a:extLst>
              <a:ext uri="{C183D7F6-B498-43B3-948B-1728B52AA6E4}">
                <adec:decorative xmlns:adec="http://schemas.microsoft.com/office/drawing/2017/decorative" val="1"/>
              </a:ext>
            </a:extLst>
          </p:cNvPr>
          <p:cNvSpPr/>
          <p:nvPr/>
        </p:nvSpPr>
        <p:spPr>
          <a:xfrm>
            <a:off x="658368" y="3189427"/>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21228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171139"/>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Using ROC-AUC alone for rare events.</a:t>
            </a:r>
            <a:r>
              <a:rPr sz="2100" b="0" i="0">
                <a:solidFill>
                  <a:srgbClr val="1C252B"/>
                </a:solidFill>
                <a:latin typeface="Segoe UI"/>
              </a:rPr>
              <a:t> Report the PR curve.</a:t>
            </a:r>
          </a:p>
        </p:txBody>
      </p:sp>
      <p:sp>
        <p:nvSpPr>
          <p:cNvPr id="16" name="!!pb3">
            <a:extLst>
              <a:ext uri="{C183D7F6-B498-43B3-948B-1728B52AA6E4}">
                <adec:decorative xmlns:adec="http://schemas.microsoft.com/office/drawing/2017/decorative" val="1"/>
              </a:ext>
            </a:extLst>
          </p:cNvPr>
          <p:cNvSpPr/>
          <p:nvPr/>
        </p:nvSpPr>
        <p:spPr>
          <a:xfrm>
            <a:off x="658368" y="375635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77921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738067"/>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Declaring a winner from a one-point difference</a:t>
            </a:r>
            <a:r>
              <a:rPr sz="2100" b="0" i="0">
                <a:solidFill>
                  <a:srgbClr val="1C252B"/>
                </a:solidFill>
                <a:latin typeface="Segoe UI"/>
              </a:rPr>
              <a:t> on a few hundred test examples. Compute the interval or run McNemar’s test.</a:t>
            </a:r>
          </a:p>
        </p:txBody>
      </p:sp>
      <p:sp>
        <p:nvSpPr>
          <p:cNvPr id="19" name="!!pb4">
            <a:extLst>
              <a:ext uri="{C183D7F6-B498-43B3-948B-1728B52AA6E4}">
                <adec:decorative xmlns:adec="http://schemas.microsoft.com/office/drawing/2017/decorative" val="1"/>
              </a:ext>
            </a:extLst>
          </p:cNvPr>
          <p:cNvSpPr/>
          <p:nvPr/>
        </p:nvSpPr>
        <p:spPr>
          <a:xfrm>
            <a:off x="658368" y="462320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64606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604918"/>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Resampling before splitting,</a:t>
            </a:r>
            <a:r>
              <a:rPr sz="2100" b="0" i="0">
                <a:solidFill>
                  <a:srgbClr val="1C252B"/>
                </a:solidFill>
                <a:latin typeface="Segoe UI"/>
              </a:rPr>
              <a:t> which puts copies of the same rare example into both training and test sets.</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Choosing the Metric</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69     </a:t>
            </a:r>
            <a:fld id="{266414CD-39D8-4654-BEBF-B831E014BB9E}" type="slidenum">
              <a:rPr lang="en-GB" sz="1000">
                <a:solidFill>
                  <a:srgbClr val="8795A1"/>
                </a:solidFill>
                <a:latin typeface="Segoe UI"/>
              </a:rPr>
              <a:t>26</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Recall at a fixed outreach budget: the advisers can call 50 students, so report how many of the eventual failures are among the top 50 scores.</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Over- and under-predicting a project overrun cost roughly the same, so </a:t>
            </a:r>
            <a:r>
              <a:rPr sz="2200" b="0" i="1">
                <a:solidFill>
                  <a:srgbClr val="1C252B"/>
                </a:solidFill>
                <a:latin typeface="Cambria"/>
              </a:rPr>
              <a:t>F</a:t>
            </a:r>
            <a:r>
              <a:rPr sz="2200" b="0" i="0" baseline="-25000">
                <a:solidFill>
                  <a:srgbClr val="1C252B"/>
                </a:solidFill>
                <a:latin typeface="Cambria"/>
              </a:rPr>
              <a:t>1</a:t>
            </a:r>
            <a:r>
              <a:rPr sz="2200" b="0" i="0">
                <a:solidFill>
                  <a:srgbClr val="1C252B"/>
                </a:solidFill>
                <a:latin typeface="Segoe UI"/>
              </a:rPr>
              <a:t> or balanced accuracy is reasonable.</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Failures are rare and a miss can stop a production line, so optimise recall and then cap false alarms at what the maintenance team can inspect.</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Report precision at a fixed recall — “62% precision at 90% recall” — and alerts per analyst per hour.</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33968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Choosing the Metric</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69     </a:t>
            </a:r>
            <a:fld id="{4A089403-9694-43BA-B4F4-4FD1C8281AFD}" type="slidenum">
              <a:rPr lang="en-GB" sz="1000">
                <a:solidFill>
                  <a:srgbClr val="8795A1"/>
                </a:solidFill>
                <a:latin typeface="Segoe UI"/>
              </a:rPr>
              <a:t>27</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Recall at a fixed outreach budget: the advisers can call 50 students, so report how many of the eventual failures are among the top 50 scores. Precision matters too — if most calls reach students who were fine, the advisers stop trusting the list.</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58351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Choosing the Metric</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69     </a:t>
            </a:r>
            <a:fld id="{A0903E26-0CF4-4F64-823E-564B2D7ED171}" type="slidenum">
              <a:rPr lang="en-GB" sz="1000">
                <a:solidFill>
                  <a:srgbClr val="8795A1"/>
                </a:solidFill>
                <a:latin typeface="Segoe UI"/>
              </a:rPr>
              <a:t>28</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Over- and under-predicting a project overrun cost roughly the same, so </a:t>
            </a:r>
            <a:r>
              <a:rPr sz="2200" b="0" i="1">
                <a:solidFill>
                  <a:srgbClr val="1C252B"/>
                </a:solidFill>
                <a:latin typeface="Cambria"/>
              </a:rPr>
              <a:t>F</a:t>
            </a:r>
            <a:r>
              <a:rPr sz="2200" b="0" i="0" baseline="-25000">
                <a:solidFill>
                  <a:srgbClr val="1C252B"/>
                </a:solidFill>
                <a:latin typeface="Cambria"/>
              </a:rPr>
              <a:t>1</a:t>
            </a:r>
            <a:r>
              <a:rPr sz="2200" b="0" i="0">
                <a:solidFill>
                  <a:srgbClr val="1C252B"/>
                </a:solidFill>
                <a:latin typeface="Segoe UI"/>
              </a:rPr>
              <a:t> or balanced accuracy is reasonable. With 40 projects in the test set, the confidence interval on any rate is about </a:t>
            </a:r>
            <a:r>
              <a:rPr sz="2200" b="0" i="0">
                <a:solidFill>
                  <a:srgbClr val="1C252B"/>
                </a:solidFill>
                <a:latin typeface="Cambria"/>
              </a:rPr>
              <a:t>± 15</a:t>
            </a:r>
            <a:r>
              <a:rPr sz="2200" b="0" i="0">
                <a:solidFill>
                  <a:srgbClr val="1C252B"/>
                </a:solidFill>
                <a:latin typeface="Segoe UI"/>
              </a:rPr>
              <a:t> points; say so, rather than reporting three significant figures.</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82734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Choosing the Metric</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69     </a:t>
            </a:r>
            <a:fld id="{4A8162CC-8F5B-4079-A44C-EB4A2C9CA02A}" type="slidenum">
              <a:rPr lang="en-GB" sz="1000">
                <a:solidFill>
                  <a:srgbClr val="8795A1"/>
                </a:solidFill>
                <a:latin typeface="Segoe UI"/>
              </a:rPr>
              <a:t>29</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Failures are rare and a miss can stop a production line, so optimise recall and then cap false alarms at what the maintenance team can inspect. Use the PR curve; ROC-AUC will look excellent on a detector the technicians quickly learn to ignore.</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07118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Choosing the Metric</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69     </a:t>
            </a:r>
            <a:fld id="{F3051B64-D8DC-4096-BEC6-9D7044431DD7}" type="slidenum">
              <a:rPr lang="en-GB" sz="1000">
                <a:solidFill>
                  <a:srgbClr val="8795A1"/>
                </a:solidFill>
                <a:latin typeface="Segoe UI"/>
              </a:rPr>
              <a:t>30</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Report precision at a fixed recall — “62% precision at 90% recall” — and alerts per analyst per hour. Choose the threshold from the cost ratio, as in the malware example; and compare a new detector with the old on the same traffic with McNemar’s test, not on two different weeks.</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31501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Evaluate an Imbalanced Classifier Properly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§8.8  ·  Handout p. 64     </a:t>
            </a:r>
            <a:fld id="{B01E21BC-AAD2-4005-BD81-C0E4E0AEF7D1}" type="slidenum">
              <a:rPr lang="en-GB" sz="1000">
                <a:solidFill>
                  <a:srgbClr val="8795A1"/>
                </a:solidFill>
                <a:latin typeface="Segoe UI"/>
              </a:rPr>
              <a:t>31</a:t>
            </a:fld>
          </a:p>
        </p:txBody>
      </p:sp>
      <p:sp>
        <p:nvSpPr>
          <p:cNvPr id="7" name="!!labsteps-h"/>
          <p:cNvSpPr txBox="1"/>
          <p:nvPr/>
        </p:nvSpPr>
        <p:spPr>
          <a:xfrm>
            <a:off x="658368" y="173736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8" name="!!labsteps"/>
          <p:cNvSpPr txBox="1"/>
          <p:nvPr/>
        </p:nvSpPr>
        <p:spPr>
          <a:xfrm>
            <a:off x="658368" y="2121408"/>
            <a:ext cx="10874959" cy="1828799"/>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An imbalanced problem: 5% positives</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The four cells and the metrics built from them</a:t>
            </a:r>
          </a:p>
          <a:p>
            <a:pPr algn="l" marL="459473" indent="-459473">
              <a:lnSpc>
                <a:spcPct val="100000"/>
              </a:lnSpc>
              <a:spcBef>
                <a:spcPts val="0"/>
              </a:spcBef>
              <a:spcAft>
                <a:spcPts val="570"/>
              </a:spcAft>
            </a:pPr>
            <a:r>
              <a:rPr sz="1900" b="1">
                <a:solidFill>
                  <a:srgbClr val="117A65"/>
                </a:solidFill>
                <a:latin typeface="Segoe UI"/>
              </a:rPr>
              <a:t>3.	</a:t>
            </a:r>
            <a:r>
              <a:rPr sz="1900" b="0" i="0">
                <a:solidFill>
                  <a:srgbClr val="1C252B"/>
                </a:solidFill>
                <a:latin typeface="Segoe UI"/>
              </a:rPr>
              <a:t>The threshold is a choice: sweep it</a:t>
            </a:r>
          </a:p>
          <a:p>
            <a:pPr algn="l" marL="459473" indent="-459473">
              <a:lnSpc>
                <a:spcPct val="100000"/>
              </a:lnSpc>
              <a:spcBef>
                <a:spcPts val="0"/>
              </a:spcBef>
              <a:spcAft>
                <a:spcPts val="570"/>
              </a:spcAft>
            </a:pPr>
            <a:r>
              <a:rPr sz="1900" b="1">
                <a:solidFill>
                  <a:srgbClr val="117A65"/>
                </a:solidFill>
                <a:latin typeface="Segoe UI"/>
              </a:rPr>
              <a:t>4.	</a:t>
            </a:r>
            <a:r>
              <a:rPr sz="1900" b="0" i="0">
                <a:solidFill>
                  <a:srgbClr val="1C252B"/>
                </a:solidFill>
                <a:latin typeface="Segoe UI"/>
              </a:rPr>
              <a:t>A 95% confidence interval for the error rate</a:t>
            </a:r>
          </a:p>
          <a:p>
            <a:pPr algn="l" marL="459473" indent="-459473">
              <a:lnSpc>
                <a:spcPct val="100000"/>
              </a:lnSpc>
              <a:spcBef>
                <a:spcPts val="0"/>
              </a:spcBef>
              <a:spcAft>
                <a:spcPts val="0"/>
              </a:spcAft>
            </a:pPr>
            <a:r>
              <a:rPr sz="1900" b="1">
                <a:solidFill>
                  <a:srgbClr val="117A65"/>
                </a:solidFill>
                <a:latin typeface="Segoe UI"/>
              </a:rPr>
              <a:t>5.	</a:t>
            </a:r>
            <a:r>
              <a:rPr sz="1900" b="0" i="0">
                <a:solidFill>
                  <a:srgbClr val="1C252B"/>
                </a:solidFill>
                <a:latin typeface="Segoe UI"/>
              </a:rPr>
              <a:t>Is a decision tree really different? McNemar's test</a:t>
            </a:r>
          </a:p>
        </p:txBody>
      </p:sp>
      <p:sp>
        <p:nvSpPr>
          <p:cNvPr id="29"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32"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7: Evaluate an imbalanced classifier</a:t>
            </a:r>
          </a:p>
        </p:txBody>
      </p:sp>
      <p:sp>
        <p:nvSpPr>
          <p:cNvPr id="33"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36"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48 lines of Python</a:t>
            </a:r>
          </a:p>
        </p:txBody>
      </p:sp>
      <p:sp>
        <p:nvSpPr>
          <p:cNvPr id="37"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40"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code/ch08_evaluate_imbalanced.py</a:t>
            </a:r>
          </a:p>
        </p:txBody>
      </p:sp>
      <p:sp>
        <p:nvSpPr>
          <p:cNvPr id="4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pfill">
            <a:extLst>
              <a:ext uri="{C183D7F6-B498-43B3-948B-1728B52AA6E4}">
                <adec:decorative xmlns:adec="http://schemas.microsoft.com/office/drawing/2017/decorative" val="1"/>
              </a:ext>
            </a:extLst>
          </p:cNvPr>
          <p:cNvSpPr/>
          <p:nvPr/>
        </p:nvSpPr>
        <p:spPr>
          <a:xfrm>
            <a:off x="0" y="0"/>
            <a:ext cx="755885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3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300"/>
                                        <p:tgtEl>
                                          <p:spTgt spid="8">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300"/>
                                        <p:tgtEl>
                                          <p:spTgt spid="8">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animEffect transition="in" filter="fade">
                                      <p:cBhvr>
                                        <p:cTn id="23" dur="300"/>
                                        <p:tgtEl>
                                          <p:spTgt spid="8">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8">
                                            <p:txEl>
                                              <p:pRg st="4" end="4"/>
                                            </p:txEl>
                                          </p:spTgt>
                                        </p:tgtEl>
                                        <p:attrNameLst>
                                          <p:attrName>style.visibility</p:attrName>
                                        </p:attrNameLst>
                                      </p:cBhvr>
                                      <p:to>
                                        <p:strVal val="visible"/>
                                      </p:to>
                                    </p:set>
                                    <p:animEffect transition="in" filter="fade">
                                      <p:cBhvr>
                                        <p:cTn id="28" dur="3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Evaluate an Imbalanced Classifier Properly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§8.8  ·  Handout p. 64     </a:t>
            </a:r>
            <a:fld id="{D16E9D5F-624E-4B47-9877-BC36AA6C12BB}"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676144"/>
          </a:xfrm>
          <a:prstGeom prst="roundRect">
            <a:avLst>
              <a:gd name="adj" fmla="val 341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code/ch08_evaluate_imbalanced.py</a:t>
            </a:r>
          </a:p>
        </p:txBody>
      </p:sp>
      <p:sp>
        <p:nvSpPr>
          <p:cNvPr id="14" name="!!code-text" descr="import numpy as np from scipy.stats import chi2 from sklearn.datasets import make_classification from sklearn.model_selection import train_test_split from sklearn.linear_model import LogisticRegression from sklearn.tree import DecisionTreeClassifier from sklearn.metrics import (confusion_matrix, precision_score, recall_score, f1_score, roc_auc_score, average_precision_score)"/>
          <p:cNvSpPr txBox="1"/>
          <p:nvPr/>
        </p:nvSpPr>
        <p:spPr>
          <a:xfrm>
            <a:off x="1362456" y="2523744"/>
            <a:ext cx="9987991" cy="2182368"/>
          </a:xfrm>
          <a:prstGeom prst="rect">
            <a:avLst/>
          </a:prstGeom>
          <a:noFill/>
        </p:spPr>
        <p:txBody>
          <a:bodyPr wrap="none" anchor="t" lIns="0" rIns="0" tIns="0" bIns="0">
            <a:noAutofit/>
          </a:bodyPr>
          <a:lstStyle/>
          <a:p>
            <a:pPr>
              <a:lnSpc>
                <a:spcPct val="100000"/>
              </a:lnSpc>
              <a:spcAft>
                <a:spcPts val="0"/>
              </a:spcAft>
            </a:pPr>
            <a:r>
              <a:rPr sz="1700" i="0">
                <a:solidFill>
                  <a:srgbClr val="5DADE2"/>
                </a:solidFill>
                <a:latin typeface="Consolas"/>
              </a:rPr>
              <a:t>import</a:t>
            </a:r>
            <a:r>
              <a:rPr sz="1700" i="0">
                <a:solidFill>
                  <a:srgbClr val="E8EDF2"/>
                </a:solidFill>
                <a:latin typeface="Consolas"/>
              </a:rPr>
              <a:t> </a:t>
            </a:r>
            <a:r>
              <a:rPr sz="1700" i="0">
                <a:solidFill>
                  <a:srgbClr val="76D7C4"/>
                </a:solidFill>
                <a:latin typeface="Consolas"/>
              </a:rPr>
              <a:t>numpy</a:t>
            </a:r>
            <a:r>
              <a:rPr sz="1700" i="0">
                <a:solidFill>
                  <a:srgbClr val="E8EDF2"/>
                </a:solidFill>
                <a:latin typeface="Consolas"/>
              </a:rPr>
              <a:t> </a:t>
            </a:r>
            <a:r>
              <a:rPr sz="1700" i="0">
                <a:solidFill>
                  <a:srgbClr val="5DADE2"/>
                </a:solidFill>
                <a:latin typeface="Consolas"/>
              </a:rPr>
              <a:t>as</a:t>
            </a:r>
            <a:r>
              <a:rPr sz="1700" i="0">
                <a:solidFill>
                  <a:srgbClr val="E8EDF2"/>
                </a:solidFill>
                <a:latin typeface="Consolas"/>
              </a:rPr>
              <a:t> </a:t>
            </a:r>
            <a:r>
              <a:rPr sz="1700" i="0">
                <a:solidFill>
                  <a:srgbClr val="76D7C4"/>
                </a:solidFill>
                <a:latin typeface="Consolas"/>
              </a:rPr>
              <a:t>np</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scipy</a:t>
            </a:r>
            <a:r>
              <a:rPr sz="1700" i="0">
                <a:solidFill>
                  <a:srgbClr val="76D7C4"/>
                </a:solidFill>
                <a:latin typeface="Consolas"/>
              </a:rPr>
              <a:t>.</a:t>
            </a:r>
            <a:r>
              <a:rPr sz="1700" i="0">
                <a:solidFill>
                  <a:srgbClr val="76D7C4"/>
                </a:solidFill>
                <a:latin typeface="Consolas"/>
              </a:rPr>
              <a:t>stats</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E8EDF2"/>
                </a:solidFill>
                <a:latin typeface="Consolas"/>
              </a:rPr>
              <a:t>chi2</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sklearn</a:t>
            </a:r>
            <a:r>
              <a:rPr sz="1700" i="0">
                <a:solidFill>
                  <a:srgbClr val="76D7C4"/>
                </a:solidFill>
                <a:latin typeface="Consolas"/>
              </a:rPr>
              <a:t>.</a:t>
            </a:r>
            <a:r>
              <a:rPr sz="1700" i="0">
                <a:solidFill>
                  <a:srgbClr val="76D7C4"/>
                </a:solidFill>
                <a:latin typeface="Consolas"/>
              </a:rPr>
              <a:t>datasets</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E8EDF2"/>
                </a:solidFill>
                <a:latin typeface="Consolas"/>
              </a:rPr>
              <a:t>make_classification</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sklearn</a:t>
            </a:r>
            <a:r>
              <a:rPr sz="1700" i="0">
                <a:solidFill>
                  <a:srgbClr val="76D7C4"/>
                </a:solidFill>
                <a:latin typeface="Consolas"/>
              </a:rPr>
              <a:t>.</a:t>
            </a:r>
            <a:r>
              <a:rPr sz="1700" i="0">
                <a:solidFill>
                  <a:srgbClr val="76D7C4"/>
                </a:solidFill>
                <a:latin typeface="Consolas"/>
              </a:rPr>
              <a:t>model_selection</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E8EDF2"/>
                </a:solidFill>
                <a:latin typeface="Consolas"/>
              </a:rPr>
              <a:t>train_test_split</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sklearn</a:t>
            </a:r>
            <a:r>
              <a:rPr sz="1700" i="0">
                <a:solidFill>
                  <a:srgbClr val="76D7C4"/>
                </a:solidFill>
                <a:latin typeface="Consolas"/>
              </a:rPr>
              <a:t>.</a:t>
            </a:r>
            <a:r>
              <a:rPr sz="1700" i="0">
                <a:solidFill>
                  <a:srgbClr val="76D7C4"/>
                </a:solidFill>
                <a:latin typeface="Consolas"/>
              </a:rPr>
              <a:t>linear_model</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E8EDF2"/>
                </a:solidFill>
                <a:latin typeface="Consolas"/>
              </a:rPr>
              <a:t>LogisticRegression</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sklearn</a:t>
            </a:r>
            <a:r>
              <a:rPr sz="1700" i="0">
                <a:solidFill>
                  <a:srgbClr val="76D7C4"/>
                </a:solidFill>
                <a:latin typeface="Consolas"/>
              </a:rPr>
              <a:t>.</a:t>
            </a:r>
            <a:r>
              <a:rPr sz="1700" i="0">
                <a:solidFill>
                  <a:srgbClr val="76D7C4"/>
                </a:solidFill>
                <a:latin typeface="Consolas"/>
              </a:rPr>
              <a:t>tree</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E8EDF2"/>
                </a:solidFill>
                <a:latin typeface="Consolas"/>
              </a:rPr>
              <a:t>DecisionTreeClassifier</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sklearn</a:t>
            </a:r>
            <a:r>
              <a:rPr sz="1700" i="0">
                <a:solidFill>
                  <a:srgbClr val="76D7C4"/>
                </a:solidFill>
                <a:latin typeface="Consolas"/>
              </a:rPr>
              <a:t>.</a:t>
            </a:r>
            <a:r>
              <a:rPr sz="1700" i="0">
                <a:solidFill>
                  <a:srgbClr val="76D7C4"/>
                </a:solidFill>
                <a:latin typeface="Consolas"/>
              </a:rPr>
              <a:t>metrics</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confusion_matrix</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precision_score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recall_score</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f1_score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roc_auc_score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average_precision_score</a:t>
            </a:r>
            <a:r>
              <a:rPr sz="1700" i="0">
                <a:solidFill>
                  <a:srgbClr val="AEB6BF"/>
                </a:solidFill>
                <a:latin typeface="Consolas"/>
              </a:rPr>
              <a:t>)</a:t>
            </a:r>
          </a:p>
        </p:txBody>
      </p:sp>
      <p:sp>
        <p:nvSpPr>
          <p:cNvPr id="15" name="!!code-num"/>
          <p:cNvSpPr txBox="1"/>
          <p:nvPr/>
        </p:nvSpPr>
        <p:spPr>
          <a:xfrm>
            <a:off x="768096" y="2523744"/>
            <a:ext cx="393192" cy="2182368"/>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2</a:t>
            </a:r>
          </a:p>
          <a:p>
            <a:pPr algn="r">
              <a:lnSpc>
                <a:spcPct val="100000"/>
              </a:lnSpc>
            </a:pPr>
            <a:r>
              <a:rPr sz="1700">
                <a:solidFill>
                  <a:srgbClr val="4F5D6A"/>
                </a:solidFill>
                <a:latin typeface="Consolas"/>
              </a:rPr>
              <a:t>3</a:t>
            </a:r>
          </a:p>
          <a:p>
            <a:pPr algn="r">
              <a:lnSpc>
                <a:spcPct val="100000"/>
              </a:lnSpc>
            </a:pPr>
            <a:r>
              <a:rPr sz="1700">
                <a:solidFill>
                  <a:srgbClr val="4F5D6A"/>
                </a:solidFill>
                <a:latin typeface="Consolas"/>
              </a:rPr>
              <a:t>4</a:t>
            </a:r>
          </a:p>
          <a:p>
            <a:pPr algn="r">
              <a:lnSpc>
                <a:spcPct val="100000"/>
              </a:lnSpc>
            </a:pPr>
            <a:r>
              <a:rPr sz="1700">
                <a:solidFill>
                  <a:srgbClr val="4F5D6A"/>
                </a:solidFill>
                <a:latin typeface="Consolas"/>
              </a:rPr>
              <a:t>5</a:t>
            </a:r>
          </a:p>
          <a:p>
            <a:pPr algn="r">
              <a:lnSpc>
                <a:spcPct val="100000"/>
              </a:lnSpc>
            </a:pPr>
            <a:r>
              <a:rPr sz="1700">
                <a:solidFill>
                  <a:srgbClr val="4F5D6A"/>
                </a:solidFill>
                <a:latin typeface="Consolas"/>
              </a:rPr>
              <a:t>6</a:t>
            </a:r>
          </a:p>
          <a:p>
            <a:pPr algn="r">
              <a:lnSpc>
                <a:spcPct val="100000"/>
              </a:lnSpc>
            </a:pPr>
            <a:r>
              <a:rPr sz="1700">
                <a:solidFill>
                  <a:srgbClr val="4F5D6A"/>
                </a:solidFill>
                <a:latin typeface="Consolas"/>
              </a:rPr>
              <a:t>7</a:t>
            </a:r>
          </a:p>
          <a:p>
            <a:pPr algn="r">
              <a:lnSpc>
                <a:spcPct val="100000"/>
              </a:lnSpc>
            </a:pPr>
            <a:r>
              <a:rPr sz="1700">
                <a:solidFill>
                  <a:srgbClr val="4F5D6A"/>
                </a:solidFill>
                <a:latin typeface="Consolas"/>
              </a:rPr>
              <a:t>8</a:t>
            </a:r>
          </a:p>
          <a:p>
            <a:pPr algn="r">
              <a:lnSpc>
                <a:spcPct val="100000"/>
              </a:lnSpc>
            </a:pPr>
            <a:r>
              <a:rPr sz="1700">
                <a:solidFill>
                  <a:srgbClr val="4F5D6A"/>
                </a:solidFill>
                <a:latin typeface="Consolas"/>
              </a:rPr>
              <a:t>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80268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Evaluate an Imbalanced Classifier Properly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§8.8  ·  Handout p. 64     </a:t>
            </a:r>
            <a:fld id="{DAF59B98-59EA-4EC2-898C-BB4942A76F42}"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An imbalanced problem: 5% positives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798063"/>
          </a:xfrm>
          <a:prstGeom prst="roundRect">
            <a:avLst>
              <a:gd name="adj" fmla="val 3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code/ch08_evaluate_imbalanced.py</a:t>
            </a:r>
          </a:p>
        </p:txBody>
      </p:sp>
      <p:sp>
        <p:nvSpPr>
          <p:cNvPr id="14" name="!!code-text" descr="# --- an imbalanced problem: 5% positives --------------------------------- X, y = make_classification(n_samples=6000, n_features=12, n_informative=5, weights=[0.95], flip_y=0.01, random_state=1) X_tr, X_te, y_tr, y_te = train_test_split(X, y, test_size=0.4, stratify=y, random_state=1) print(&quot;baseline accuracy (always 0):&quot;, round(1 - y_te.mean(), 3)) lr = LogisticRegression(max_iter=1000).fit(X_tr, y_tr) p = lr.predict_proba(X_te)[:, 1]"/>
          <p:cNvSpPr txBox="1"/>
          <p:nvPr/>
        </p:nvSpPr>
        <p:spPr>
          <a:xfrm>
            <a:off x="1362456" y="2523744"/>
            <a:ext cx="9987991" cy="230428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an imbalanced problem: 5% positives ---------------------------------</a:t>
            </a:r>
          </a:p>
          <a:p>
            <a:pPr>
              <a:lnSpc>
                <a:spcPct val="100000"/>
              </a:lnSpc>
              <a:spcAft>
                <a:spcPts val="0"/>
              </a:spcAft>
            </a:pPr>
            <a:r>
              <a:rPr sz="1800" i="0">
                <a:solidFill>
                  <a:srgbClr val="E8EDF2"/>
                </a:solidFill>
                <a:latin typeface="Consolas"/>
              </a:rPr>
              <a:t>X</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make_classification</a:t>
            </a:r>
            <a:r>
              <a:rPr sz="1800" i="0">
                <a:solidFill>
                  <a:srgbClr val="AEB6BF"/>
                </a:solidFill>
                <a:latin typeface="Consolas"/>
              </a:rPr>
              <a:t>(</a:t>
            </a:r>
            <a:r>
              <a:rPr sz="1800" i="0">
                <a:solidFill>
                  <a:srgbClr val="E8EDF2"/>
                </a:solidFill>
                <a:latin typeface="Consolas"/>
              </a:rPr>
              <a:t>n_samples</a:t>
            </a:r>
            <a:r>
              <a:rPr sz="1800" i="0">
                <a:solidFill>
                  <a:srgbClr val="AEB6BF"/>
                </a:solidFill>
                <a:latin typeface="Consolas"/>
              </a:rPr>
              <a:t>=</a:t>
            </a:r>
            <a:r>
              <a:rPr sz="1800" i="0">
                <a:solidFill>
                  <a:srgbClr val="F7DC6F"/>
                </a:solidFill>
                <a:latin typeface="Consolas"/>
              </a:rPr>
              <a:t>6000</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n_features</a:t>
            </a:r>
            <a:r>
              <a:rPr sz="1800" i="0">
                <a:solidFill>
                  <a:srgbClr val="AEB6BF"/>
                </a:solidFill>
                <a:latin typeface="Consolas"/>
              </a:rPr>
              <a:t>=</a:t>
            </a:r>
            <a:r>
              <a:rPr sz="1800" i="0">
                <a:solidFill>
                  <a:srgbClr val="F7DC6F"/>
                </a:solidFill>
                <a:latin typeface="Consolas"/>
              </a:rPr>
              <a:t>12</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n_informative</a:t>
            </a:r>
            <a:r>
              <a:rPr sz="1800" i="0">
                <a:solidFill>
                  <a:srgbClr val="AEB6BF"/>
                </a:solidFill>
                <a:latin typeface="Consolas"/>
              </a:rPr>
              <a:t>=</a:t>
            </a:r>
            <a:r>
              <a:rPr sz="1800" i="0">
                <a:solidFill>
                  <a:srgbClr val="F7DC6F"/>
                </a:solidFill>
                <a:latin typeface="Consolas"/>
              </a:rPr>
              <a:t>5</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weights</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0.95</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flip_y</a:t>
            </a:r>
            <a:r>
              <a:rPr sz="1800" i="0">
                <a:solidFill>
                  <a:srgbClr val="AEB6BF"/>
                </a:solidFill>
                <a:latin typeface="Consolas"/>
              </a:rPr>
              <a:t>=</a:t>
            </a:r>
            <a:r>
              <a:rPr sz="1800" i="0">
                <a:solidFill>
                  <a:srgbClr val="F7DC6F"/>
                </a:solidFill>
                <a:latin typeface="Consolas"/>
              </a:rPr>
              <a:t>0.01</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random_state</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p>
          <a:p>
            <a:pPr>
              <a:lnSpc>
                <a:spcPct val="100000"/>
              </a:lnSpc>
              <a:spcAft>
                <a:spcPts val="0"/>
              </a:spcAft>
            </a:pPr>
            <a:r>
              <a:rPr sz="1800" i="0">
                <a:solidFill>
                  <a:srgbClr val="E8EDF2"/>
                </a:solidFill>
                <a:latin typeface="Consolas"/>
              </a:rPr>
              <a:t>X_tr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X_te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train_test_split</a:t>
            </a:r>
            <a:r>
              <a:rPr sz="1800" i="0">
                <a:solidFill>
                  <a:srgbClr val="AEB6BF"/>
                </a:solidFill>
                <a:latin typeface="Consolas"/>
              </a:rPr>
              <a:t>(</a:t>
            </a:r>
            <a:r>
              <a:rPr sz="1800" i="0">
                <a:solidFill>
                  <a:srgbClr val="E8EDF2"/>
                </a:solidFill>
                <a:latin typeface="Consolas"/>
              </a:rPr>
              <a:t>X</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test_size</a:t>
            </a:r>
            <a:r>
              <a:rPr sz="1800" i="0">
                <a:solidFill>
                  <a:srgbClr val="AEB6BF"/>
                </a:solidFill>
                <a:latin typeface="Consolas"/>
              </a:rPr>
              <a:t>=</a:t>
            </a:r>
            <a:r>
              <a:rPr sz="1800" i="0">
                <a:solidFill>
                  <a:srgbClr val="F7DC6F"/>
                </a:solidFill>
                <a:latin typeface="Consolas"/>
              </a:rPr>
              <a:t>0.4</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stratify</a:t>
            </a:r>
            <a:r>
              <a:rPr sz="1800" i="0">
                <a:solidFill>
                  <a:srgbClr val="AEB6BF"/>
                </a:solidFill>
                <a:latin typeface="Consolas"/>
              </a:rPr>
              <a:t>=</a:t>
            </a:r>
            <a:r>
              <a:rPr sz="1800" i="0">
                <a:solidFill>
                  <a:srgbClr val="E8EDF2"/>
                </a:solidFill>
                <a:latin typeface="Consolas"/>
              </a:rPr>
              <a:t>y</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random_state</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baseline accuracy (always 0):</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round</a:t>
            </a:r>
            <a:r>
              <a:rPr sz="1800" i="0">
                <a:solidFill>
                  <a:srgbClr val="AEB6BF"/>
                </a:solidFill>
                <a:latin typeface="Consolas"/>
              </a:rPr>
              <a:t>(</a:t>
            </a:r>
            <a:r>
              <a:rPr sz="1800" i="0">
                <a:solidFill>
                  <a:srgbClr val="F7DC6F"/>
                </a:solidFill>
                <a:latin typeface="Consolas"/>
              </a:rPr>
              <a:t>1</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y_te</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lr</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LogisticRegression</a:t>
            </a:r>
            <a:r>
              <a:rPr sz="1800" i="0">
                <a:solidFill>
                  <a:srgbClr val="AEB6BF"/>
                </a:solidFill>
                <a:latin typeface="Consolas"/>
              </a:rPr>
              <a:t>(</a:t>
            </a:r>
            <a:r>
              <a:rPr sz="1800" i="0">
                <a:solidFill>
                  <a:srgbClr val="E8EDF2"/>
                </a:solidFill>
                <a:latin typeface="Consolas"/>
              </a:rPr>
              <a:t>max_iter</a:t>
            </a:r>
            <a:r>
              <a:rPr sz="1800" i="0">
                <a:solidFill>
                  <a:srgbClr val="AEB6BF"/>
                </a:solidFill>
                <a:latin typeface="Consolas"/>
              </a:rPr>
              <a:t>=</a:t>
            </a:r>
            <a:r>
              <a:rPr sz="1800" i="0">
                <a:solidFill>
                  <a:srgbClr val="F7DC6F"/>
                </a:solidFill>
                <a:latin typeface="Consolas"/>
              </a:rPr>
              <a:t>1000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fit</a:t>
            </a:r>
            <a:r>
              <a:rPr sz="1800" i="0">
                <a:solidFill>
                  <a:srgbClr val="AEB6BF"/>
                </a:solidFill>
                <a:latin typeface="Consolas"/>
              </a:rPr>
              <a:t>(</a:t>
            </a:r>
            <a:r>
              <a:rPr sz="1800" i="0">
                <a:solidFill>
                  <a:srgbClr val="E8EDF2"/>
                </a:solidFill>
                <a:latin typeface="Consolas"/>
              </a:rPr>
              <a:t>X_tr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y_tr</a:t>
            </a:r>
            <a:r>
              <a:rPr sz="1800" i="0">
                <a:solidFill>
                  <a:srgbClr val="AEB6BF"/>
                </a:solidFill>
                <a:latin typeface="Consolas"/>
              </a:rPr>
              <a:t>)</a:t>
            </a:r>
          </a:p>
          <a:p>
            <a:pPr>
              <a:lnSpc>
                <a:spcPct val="100000"/>
              </a:lnSpc>
              <a:spcAft>
                <a:spcPts val="0"/>
              </a:spcAft>
            </a:pPr>
            <a:r>
              <a:rPr sz="1800" i="0">
                <a:solidFill>
                  <a:srgbClr val="E8EDF2"/>
                </a:solidFill>
                <a:latin typeface="Consolas"/>
              </a:rPr>
              <a:t>p</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lr</a:t>
            </a:r>
            <a:r>
              <a:rPr sz="1800" i="0">
                <a:solidFill>
                  <a:srgbClr val="AEB6BF"/>
                </a:solidFill>
                <a:latin typeface="Consolas"/>
              </a:rPr>
              <a:t>.</a:t>
            </a:r>
            <a:r>
              <a:rPr sz="1800" i="0">
                <a:solidFill>
                  <a:srgbClr val="E8EDF2"/>
                </a:solidFill>
                <a:latin typeface="Consolas"/>
              </a:rPr>
              <a:t>predict_proba</a:t>
            </a:r>
            <a:r>
              <a:rPr sz="1800" i="0">
                <a:solidFill>
                  <a:srgbClr val="AEB6BF"/>
                </a:solidFill>
                <a:latin typeface="Consolas"/>
              </a:rPr>
              <a:t>(</a:t>
            </a:r>
            <a:r>
              <a:rPr sz="1800" i="0">
                <a:solidFill>
                  <a:srgbClr val="E8EDF2"/>
                </a:solidFill>
                <a:latin typeface="Consolas"/>
              </a:rPr>
              <a:t>X_te</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p>
        </p:txBody>
      </p:sp>
      <p:sp>
        <p:nvSpPr>
          <p:cNvPr id="15" name="!!code-num"/>
          <p:cNvSpPr txBox="1"/>
          <p:nvPr/>
        </p:nvSpPr>
        <p:spPr>
          <a:xfrm>
            <a:off x="768096" y="2523744"/>
            <a:ext cx="393192" cy="23042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11</a:t>
            </a:r>
          </a:p>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a:p>
            <a:pPr algn="r">
              <a:lnSpc>
                <a:spcPct val="100000"/>
              </a:lnSpc>
            </a:pPr>
            <a:r>
              <a:rPr sz="1800">
                <a:solidFill>
                  <a:srgbClr val="4F5D6A"/>
                </a:solidFill>
                <a:latin typeface="Consolas"/>
              </a:rPr>
              <a:t>14</a:t>
            </a:r>
          </a:p>
          <a:p>
            <a:pPr algn="r">
              <a:lnSpc>
                <a:spcPct val="100000"/>
              </a:lnSpc>
            </a:pPr>
            <a:r>
              <a:rPr sz="1800">
                <a:solidFill>
                  <a:srgbClr val="4F5D6A"/>
                </a:solidFill>
                <a:latin typeface="Consolas"/>
              </a:rPr>
              <a:t>15</a:t>
            </a:r>
          </a:p>
          <a:p>
            <a:pPr algn="r">
              <a:lnSpc>
                <a:spcPct val="100000"/>
              </a:lnSpc>
            </a:pPr>
            <a:r>
              <a:rPr sz="1800">
                <a:solidFill>
                  <a:srgbClr val="4F5D6A"/>
                </a:solidFill>
                <a:latin typeface="Consolas"/>
              </a:rPr>
              <a:t>16</a:t>
            </a:r>
          </a:p>
          <a:p>
            <a:pPr algn="r">
              <a:lnSpc>
                <a:spcPct val="100000"/>
              </a:lnSpc>
            </a:pPr>
            <a:r>
              <a:rPr sz="1800">
                <a:solidFill>
                  <a:srgbClr val="4F5D6A"/>
                </a:solidFill>
                <a:latin typeface="Consolas"/>
              </a:rPr>
              <a:t>17</a:t>
            </a:r>
          </a:p>
          <a:p>
            <a:pPr algn="r">
              <a:lnSpc>
                <a:spcPct val="100000"/>
              </a:lnSpc>
            </a:pPr>
            <a:r>
              <a:rPr sz="1800">
                <a:solidFill>
                  <a:srgbClr val="4F5D6A"/>
                </a:solidFill>
                <a:latin typeface="Consolas"/>
              </a:rPr>
              <a:t>18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04651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Evaluate an Imbalanced Classifier Properly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§8.8  ·  Handout p. 64     </a:t>
            </a:r>
            <a:fld id="{E68894A3-1C18-49DB-B9C1-E51FF410FA74}"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four cells and the metrics built from them</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935224"/>
          </a:xfrm>
          <a:prstGeom prst="roundRect">
            <a:avLst>
              <a:gd name="adj" fmla="val 311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code/ch08_evaluate_imbalanced.py</a:t>
            </a:r>
          </a:p>
        </p:txBody>
      </p:sp>
      <p:sp>
        <p:nvSpPr>
          <p:cNvPr id="14" name="!!code-text" descr="# --- 1. the four cells and the metrics built from them ------------------- pred = (p &gt; 0.5).astype(int) tn, fp, fn, tp = confusion_matrix(y_te, pred).ravel() print(f&quot;TP={tp} FP={fp} FN={fn} TN={tn}&quot;) print(f&quot;accuracy {np.mean(pred == y_te):.3f} &quot; f&quot;precision {precision_score(y_te, pred):.3f} &quot; f&quot;recall {recall_score(y_te, pred):.3f} F1 {f1_score(y_te, pred):.3f}&quot;) print(f&quot;ROC-AUC {roc_auc_score(y_te, p):.3f} &quot; f&quot;PR-AUC {average_precision_score(y_te, p):.3f}&quot;)"/>
          <p:cNvSpPr txBox="1"/>
          <p:nvPr/>
        </p:nvSpPr>
        <p:spPr>
          <a:xfrm>
            <a:off x="1362456" y="2523744"/>
            <a:ext cx="9987991" cy="2441448"/>
          </a:xfrm>
          <a:prstGeom prst="rect">
            <a:avLst/>
          </a:prstGeom>
          <a:noFill/>
        </p:spPr>
        <p:txBody>
          <a:bodyPr wrap="none" anchor="t" lIns="0" rIns="0" tIns="0" bIns="0">
            <a:noAutofit/>
          </a:bodyPr>
          <a:lstStyle/>
          <a:p>
            <a:pPr>
              <a:lnSpc>
                <a:spcPct val="100000"/>
              </a:lnSpc>
              <a:spcAft>
                <a:spcPts val="0"/>
              </a:spcAft>
            </a:pPr>
            <a:r>
              <a:rPr sz="1700" i="1">
                <a:solidFill>
                  <a:srgbClr val="8795A1"/>
                </a:solidFill>
                <a:latin typeface="Consolas"/>
              </a:rPr>
              <a:t># --- 1. the four cells and the metrics built from them -------------------</a:t>
            </a:r>
          </a:p>
          <a:p>
            <a:pPr>
              <a:lnSpc>
                <a:spcPct val="100000"/>
              </a:lnSpc>
              <a:spcAft>
                <a:spcPts val="0"/>
              </a:spcAft>
            </a:pPr>
            <a:r>
              <a:rPr sz="1700" i="0">
                <a:solidFill>
                  <a:srgbClr val="E8EDF2"/>
                </a:solidFill>
                <a:latin typeface="Consolas"/>
              </a:rPr>
              <a:t>pred</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p</a:t>
            </a:r>
            <a:r>
              <a:rPr sz="1700" i="0">
                <a:solidFill>
                  <a:srgbClr val="E8EDF2"/>
                </a:solidFill>
                <a:latin typeface="Consolas"/>
              </a:rPr>
              <a:t> </a:t>
            </a:r>
            <a:r>
              <a:rPr sz="1700" i="0">
                <a:solidFill>
                  <a:srgbClr val="AEB6BF"/>
                </a:solidFill>
                <a:latin typeface="Consolas"/>
              </a:rPr>
              <a:t>&gt;</a:t>
            </a:r>
            <a:r>
              <a:rPr sz="1700" i="0">
                <a:solidFill>
                  <a:srgbClr val="E8EDF2"/>
                </a:solidFill>
                <a:latin typeface="Consolas"/>
              </a:rPr>
              <a:t> </a:t>
            </a:r>
            <a:r>
              <a:rPr sz="1700" i="0">
                <a:solidFill>
                  <a:srgbClr val="F7DC6F"/>
                </a:solidFill>
                <a:latin typeface="Consolas"/>
              </a:rPr>
              <a:t>0.5</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astype</a:t>
            </a:r>
            <a:r>
              <a:rPr sz="1700" i="0">
                <a:solidFill>
                  <a:srgbClr val="AEB6BF"/>
                </a:solidFill>
                <a:latin typeface="Consolas"/>
              </a:rPr>
              <a:t>(</a:t>
            </a:r>
            <a:r>
              <a:rPr sz="1700" i="0">
                <a:solidFill>
                  <a:srgbClr val="C39BD3"/>
                </a:solidFill>
                <a:latin typeface="Consolas"/>
              </a:rPr>
              <a:t>int</a:t>
            </a:r>
            <a:r>
              <a:rPr sz="1700" i="0">
                <a:solidFill>
                  <a:srgbClr val="AEB6BF"/>
                </a:solidFill>
                <a:latin typeface="Consolas"/>
              </a:rPr>
              <a:t>)</a:t>
            </a:r>
          </a:p>
          <a:p>
            <a:pPr>
              <a:lnSpc>
                <a:spcPct val="100000"/>
              </a:lnSpc>
              <a:spcAft>
                <a:spcPts val="0"/>
              </a:spcAft>
            </a:pPr>
            <a:r>
              <a:rPr sz="1700" i="0">
                <a:solidFill>
                  <a:srgbClr val="E8EDF2"/>
                </a:solidFill>
                <a:latin typeface="Consolas"/>
              </a:rPr>
              <a:t>tn</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fp</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fn</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tp</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confusion_matrix</a:t>
            </a:r>
            <a:r>
              <a:rPr sz="1700" i="0">
                <a:solidFill>
                  <a:srgbClr val="AEB6BF"/>
                </a:solidFill>
                <a:latin typeface="Consolas"/>
              </a:rPr>
              <a:t>(</a:t>
            </a:r>
            <a:r>
              <a:rPr sz="1700" i="0">
                <a:solidFill>
                  <a:srgbClr val="E8EDF2"/>
                </a:solidFill>
                <a:latin typeface="Consolas"/>
              </a:rPr>
              <a:t>y_te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pred</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ravel</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TP=</a:t>
            </a:r>
            <a:r>
              <a:rPr sz="1700" i="0">
                <a:solidFill>
                  <a:srgbClr val="7DCEA0"/>
                </a:solidFill>
                <a:latin typeface="Consolas"/>
              </a:rPr>
              <a:t>{</a:t>
            </a:r>
            <a:r>
              <a:rPr sz="1700" i="0">
                <a:solidFill>
                  <a:srgbClr val="E8EDF2"/>
                </a:solidFill>
                <a:latin typeface="Consolas"/>
              </a:rPr>
              <a:t>tp</a:t>
            </a:r>
            <a:r>
              <a:rPr sz="1700" i="0">
                <a:solidFill>
                  <a:srgbClr val="7DCEA0"/>
                </a:solidFill>
                <a:latin typeface="Consolas"/>
              </a:rPr>
              <a:t>}</a:t>
            </a:r>
            <a:r>
              <a:rPr sz="1700" i="0">
                <a:solidFill>
                  <a:srgbClr val="7DCEA0"/>
                </a:solidFill>
                <a:latin typeface="Consolas"/>
              </a:rPr>
              <a:t> FP=</a:t>
            </a:r>
            <a:r>
              <a:rPr sz="1700" i="0">
                <a:solidFill>
                  <a:srgbClr val="7DCEA0"/>
                </a:solidFill>
                <a:latin typeface="Consolas"/>
              </a:rPr>
              <a:t>{</a:t>
            </a:r>
            <a:r>
              <a:rPr sz="1700" i="0">
                <a:solidFill>
                  <a:srgbClr val="E8EDF2"/>
                </a:solidFill>
                <a:latin typeface="Consolas"/>
              </a:rPr>
              <a:t>fp</a:t>
            </a:r>
            <a:r>
              <a:rPr sz="1700" i="0">
                <a:solidFill>
                  <a:srgbClr val="7DCEA0"/>
                </a:solidFill>
                <a:latin typeface="Consolas"/>
              </a:rPr>
              <a:t>}</a:t>
            </a:r>
            <a:r>
              <a:rPr sz="1700" i="0">
                <a:solidFill>
                  <a:srgbClr val="7DCEA0"/>
                </a:solidFill>
                <a:latin typeface="Consolas"/>
              </a:rPr>
              <a:t> FN=</a:t>
            </a:r>
            <a:r>
              <a:rPr sz="1700" i="0">
                <a:solidFill>
                  <a:srgbClr val="7DCEA0"/>
                </a:solidFill>
                <a:latin typeface="Consolas"/>
              </a:rPr>
              <a:t>{</a:t>
            </a:r>
            <a:r>
              <a:rPr sz="1700" i="0">
                <a:solidFill>
                  <a:srgbClr val="E8EDF2"/>
                </a:solidFill>
                <a:latin typeface="Consolas"/>
              </a:rPr>
              <a:t>fn</a:t>
            </a:r>
            <a:r>
              <a:rPr sz="1700" i="0">
                <a:solidFill>
                  <a:srgbClr val="7DCEA0"/>
                </a:solidFill>
                <a:latin typeface="Consolas"/>
              </a:rPr>
              <a:t>}</a:t>
            </a:r>
            <a:r>
              <a:rPr sz="1700" i="0">
                <a:solidFill>
                  <a:srgbClr val="7DCEA0"/>
                </a:solidFill>
                <a:latin typeface="Consolas"/>
              </a:rPr>
              <a:t> TN=</a:t>
            </a:r>
            <a:r>
              <a:rPr sz="1700" i="0">
                <a:solidFill>
                  <a:srgbClr val="7DCEA0"/>
                </a:solidFill>
                <a:latin typeface="Consolas"/>
              </a:rPr>
              <a:t>{</a:t>
            </a:r>
            <a:r>
              <a:rPr sz="1700" i="0">
                <a:solidFill>
                  <a:srgbClr val="E8EDF2"/>
                </a:solidFill>
                <a:latin typeface="Consolas"/>
              </a:rPr>
              <a:t>tn</a:t>
            </a:r>
            <a:r>
              <a:rPr sz="1700" i="0">
                <a:solidFill>
                  <a:srgbClr val="7DCEA0"/>
                </a:solidFill>
                <a:latin typeface="Consolas"/>
              </a:rPr>
              <a:t>}</a:t>
            </a:r>
            <a:r>
              <a:rPr sz="1700" i="0">
                <a:solidFill>
                  <a:srgbClr val="7DCEA0"/>
                </a:solidFill>
                <a:latin typeface="Consolas"/>
              </a:rPr>
              <a:t>"</a:t>
            </a:r>
            <a:r>
              <a:rPr sz="1700" i="0">
                <a:solidFill>
                  <a:srgbClr val="AEB6BF"/>
                </a:solidFill>
                <a:latin typeface="Consolas"/>
              </a:rPr>
              <a:t>)</a:t>
            </a:r>
          </a:p>
          <a:p>
            <a:pPr>
              <a:lnSpc>
                <a:spcPct val="100000"/>
              </a:lnSpc>
              <a:spcAft>
                <a:spcPts val="0"/>
              </a:spcAft>
            </a:pP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accuracy </a:t>
            </a:r>
            <a:r>
              <a:rPr sz="1700" i="0">
                <a:solidFill>
                  <a:srgbClr val="7DCEA0"/>
                </a:solidFill>
                <a:latin typeface="Consolas"/>
              </a:rPr>
              <a:t>{</a:t>
            </a:r>
            <a:r>
              <a:rPr sz="1700" i="0">
                <a:solidFill>
                  <a:srgbClr val="E8EDF2"/>
                </a:solidFill>
                <a:latin typeface="Consolas"/>
              </a:rPr>
              <a:t>np</a:t>
            </a:r>
            <a:r>
              <a:rPr sz="1700" i="0">
                <a:solidFill>
                  <a:srgbClr val="AEB6BF"/>
                </a:solidFill>
                <a:latin typeface="Consolas"/>
              </a:rPr>
              <a:t>.</a:t>
            </a:r>
            <a:r>
              <a:rPr sz="1700" i="0">
                <a:solidFill>
                  <a:srgbClr val="E8EDF2"/>
                </a:solidFill>
                <a:latin typeface="Consolas"/>
              </a:rPr>
              <a:t>mean</a:t>
            </a:r>
            <a:r>
              <a:rPr sz="1700" i="0">
                <a:solidFill>
                  <a:srgbClr val="AEB6BF"/>
                </a:solidFill>
                <a:latin typeface="Consolas"/>
              </a:rPr>
              <a:t>(</a:t>
            </a:r>
            <a:r>
              <a:rPr sz="1700" i="0">
                <a:solidFill>
                  <a:srgbClr val="E8EDF2"/>
                </a:solidFill>
                <a:latin typeface="Consolas"/>
              </a:rPr>
              <a:t>pred</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y_te</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.3f</a:t>
            </a:r>
            <a:r>
              <a:rPr sz="1700" i="0">
                <a:solidFill>
                  <a:srgbClr val="7DCEA0"/>
                </a:solidFill>
                <a:latin typeface="Consolas"/>
              </a:rPr>
              <a:t>}</a:t>
            </a:r>
            <a:r>
              <a:rPr sz="1700" i="0">
                <a:solidFill>
                  <a:srgbClr val="7DCEA0"/>
                </a:solidFill>
                <a:latin typeface="Consolas"/>
              </a:rPr>
              <a:t>  </a:t>
            </a:r>
            <a:r>
              <a:rPr sz="1700" i="0">
                <a:solidFill>
                  <a:srgbClr val="7DCEA0"/>
                </a:solidFill>
                <a:latin typeface="Consolas"/>
              </a:rPr>
              <a:t>"</a:t>
            </a:r>
          </a:p>
          <a:p>
            <a:pPr>
              <a:lnSpc>
                <a:spcPct val="100000"/>
              </a:lnSpc>
              <a:spcAft>
                <a:spcPts val="0"/>
              </a:spcAft>
            </a:pPr>
            <a:r>
              <a:rPr sz="1700" i="0">
                <a:solidFill>
                  <a:srgbClr val="E8EDF2"/>
                </a:solidFill>
                <a:latin typeface="Consolas"/>
              </a:rPr>
              <a:t>      </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precision </a:t>
            </a:r>
            <a:r>
              <a:rPr sz="1700" i="0">
                <a:solidFill>
                  <a:srgbClr val="7DCEA0"/>
                </a:solidFill>
                <a:latin typeface="Consolas"/>
              </a:rPr>
              <a:t>{</a:t>
            </a:r>
            <a:r>
              <a:rPr sz="1700" i="0">
                <a:solidFill>
                  <a:srgbClr val="E8EDF2"/>
                </a:solidFill>
                <a:latin typeface="Consolas"/>
              </a:rPr>
              <a:t>precision_score</a:t>
            </a:r>
            <a:r>
              <a:rPr sz="1700" i="0">
                <a:solidFill>
                  <a:srgbClr val="AEB6BF"/>
                </a:solidFill>
                <a:latin typeface="Consolas"/>
              </a:rPr>
              <a:t>(</a:t>
            </a:r>
            <a:r>
              <a:rPr sz="1700" i="0">
                <a:solidFill>
                  <a:srgbClr val="E8EDF2"/>
                </a:solidFill>
                <a:latin typeface="Consolas"/>
              </a:rPr>
              <a:t>y_te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pred</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.3f</a:t>
            </a:r>
            <a:r>
              <a:rPr sz="1700" i="0">
                <a:solidFill>
                  <a:srgbClr val="7DCEA0"/>
                </a:solidFill>
                <a:latin typeface="Consolas"/>
              </a:rPr>
              <a:t>}</a:t>
            </a:r>
            <a:r>
              <a:rPr sz="1700" i="0">
                <a:solidFill>
                  <a:srgbClr val="7DCEA0"/>
                </a:solidFill>
                <a:latin typeface="Consolas"/>
              </a:rPr>
              <a:t>  </a:t>
            </a:r>
            <a:r>
              <a:rPr sz="1700" i="0">
                <a:solidFill>
                  <a:srgbClr val="7DCEA0"/>
                </a:solidFill>
                <a:latin typeface="Consolas"/>
              </a:rPr>
              <a:t>"</a:t>
            </a:r>
          </a:p>
          <a:p>
            <a:pPr>
              <a:lnSpc>
                <a:spcPct val="100000"/>
              </a:lnSpc>
              <a:spcAft>
                <a:spcPts val="0"/>
              </a:spcAft>
            </a:pPr>
            <a:r>
              <a:rPr sz="1700" i="0">
                <a:solidFill>
                  <a:srgbClr val="E8EDF2"/>
                </a:solidFill>
                <a:latin typeface="Consolas"/>
              </a:rPr>
              <a:t>      </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recall </a:t>
            </a:r>
            <a:r>
              <a:rPr sz="1700" i="0">
                <a:solidFill>
                  <a:srgbClr val="7DCEA0"/>
                </a:solidFill>
                <a:latin typeface="Consolas"/>
              </a:rPr>
              <a:t>{</a:t>
            </a:r>
            <a:r>
              <a:rPr sz="1700" i="0">
                <a:solidFill>
                  <a:srgbClr val="E8EDF2"/>
                </a:solidFill>
                <a:latin typeface="Consolas"/>
              </a:rPr>
              <a:t>recall_score</a:t>
            </a:r>
            <a:r>
              <a:rPr sz="1700" i="0">
                <a:solidFill>
                  <a:srgbClr val="AEB6BF"/>
                </a:solidFill>
                <a:latin typeface="Consolas"/>
              </a:rPr>
              <a:t>(</a:t>
            </a:r>
            <a:r>
              <a:rPr sz="1700" i="0">
                <a:solidFill>
                  <a:srgbClr val="E8EDF2"/>
                </a:solidFill>
                <a:latin typeface="Consolas"/>
              </a:rPr>
              <a:t>y_te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pred</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.3f</a:t>
            </a:r>
            <a:r>
              <a:rPr sz="1700" i="0">
                <a:solidFill>
                  <a:srgbClr val="7DCEA0"/>
                </a:solidFill>
                <a:latin typeface="Consolas"/>
              </a:rPr>
              <a:t>}</a:t>
            </a:r>
            <a:r>
              <a:rPr sz="1700" i="0">
                <a:solidFill>
                  <a:srgbClr val="7DCEA0"/>
                </a:solidFill>
                <a:latin typeface="Consolas"/>
              </a:rPr>
              <a:t>  F1 </a:t>
            </a:r>
            <a:r>
              <a:rPr sz="1700" i="0">
                <a:solidFill>
                  <a:srgbClr val="7DCEA0"/>
                </a:solidFill>
                <a:latin typeface="Consolas"/>
              </a:rPr>
              <a:t>{</a:t>
            </a:r>
            <a:r>
              <a:rPr sz="1700" i="0">
                <a:solidFill>
                  <a:srgbClr val="E8EDF2"/>
                </a:solidFill>
                <a:latin typeface="Consolas"/>
              </a:rPr>
              <a:t>f1_score</a:t>
            </a:r>
            <a:r>
              <a:rPr sz="1700" i="0">
                <a:solidFill>
                  <a:srgbClr val="AEB6BF"/>
                </a:solidFill>
                <a:latin typeface="Consolas"/>
              </a:rPr>
              <a:t>(</a:t>
            </a:r>
            <a:r>
              <a:rPr sz="1700" i="0">
                <a:solidFill>
                  <a:srgbClr val="E8EDF2"/>
                </a:solidFill>
                <a:latin typeface="Consolas"/>
              </a:rPr>
              <a:t>y_te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pred</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.3f</a:t>
            </a:r>
            <a:r>
              <a:rPr sz="1700" i="0">
                <a:solidFill>
                  <a:srgbClr val="7DCEA0"/>
                </a:solidFill>
                <a:latin typeface="Consolas"/>
              </a:rPr>
              <a:t>}</a:t>
            </a:r>
            <a:r>
              <a:rPr sz="1700" i="0">
                <a:solidFill>
                  <a:srgbClr val="7DCEA0"/>
                </a:solidFill>
                <a:latin typeface="Consolas"/>
              </a:rPr>
              <a:t>"</a:t>
            </a:r>
            <a:r>
              <a:rPr sz="1700" i="0">
                <a:solidFill>
                  <a:srgbClr val="AEB6BF"/>
                </a:solidFill>
                <a:latin typeface="Consolas"/>
              </a:rPr>
              <a:t>)</a:t>
            </a:r>
          </a:p>
          <a:p>
            <a:pPr>
              <a:lnSpc>
                <a:spcPct val="100000"/>
              </a:lnSpc>
              <a:spcAft>
                <a:spcPts val="0"/>
              </a:spcAft>
            </a:pP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ROC-AUC </a:t>
            </a:r>
            <a:r>
              <a:rPr sz="1700" i="0">
                <a:solidFill>
                  <a:srgbClr val="7DCEA0"/>
                </a:solidFill>
                <a:latin typeface="Consolas"/>
              </a:rPr>
              <a:t>{</a:t>
            </a:r>
            <a:r>
              <a:rPr sz="1700" i="0">
                <a:solidFill>
                  <a:srgbClr val="E8EDF2"/>
                </a:solidFill>
                <a:latin typeface="Consolas"/>
              </a:rPr>
              <a:t>roc_auc_score</a:t>
            </a:r>
            <a:r>
              <a:rPr sz="1700" i="0">
                <a:solidFill>
                  <a:srgbClr val="AEB6BF"/>
                </a:solidFill>
                <a:latin typeface="Consolas"/>
              </a:rPr>
              <a:t>(</a:t>
            </a:r>
            <a:r>
              <a:rPr sz="1700" i="0">
                <a:solidFill>
                  <a:srgbClr val="E8EDF2"/>
                </a:solidFill>
                <a:latin typeface="Consolas"/>
              </a:rPr>
              <a:t>y_te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p</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.3f</a:t>
            </a:r>
            <a:r>
              <a:rPr sz="1700" i="0">
                <a:solidFill>
                  <a:srgbClr val="7DCEA0"/>
                </a:solidFill>
                <a:latin typeface="Consolas"/>
              </a:rPr>
              <a:t>}</a:t>
            </a:r>
            <a:r>
              <a:rPr sz="1700" i="0">
                <a:solidFill>
                  <a:srgbClr val="7DCEA0"/>
                </a:solidFill>
                <a:latin typeface="Consolas"/>
              </a:rPr>
              <a:t>   </a:t>
            </a:r>
            <a:r>
              <a:rPr sz="1700" i="0">
                <a:solidFill>
                  <a:srgbClr val="7DCEA0"/>
                </a:solidFill>
                <a:latin typeface="Consolas"/>
              </a:rPr>
              <a:t>"</a:t>
            </a:r>
          </a:p>
          <a:p>
            <a:pPr>
              <a:lnSpc>
                <a:spcPct val="100000"/>
              </a:lnSpc>
              <a:spcAft>
                <a:spcPts val="0"/>
              </a:spcAft>
            </a:pPr>
            <a:r>
              <a:rPr sz="1700" i="0">
                <a:solidFill>
                  <a:srgbClr val="E8EDF2"/>
                </a:solidFill>
                <a:latin typeface="Consolas"/>
              </a:rPr>
              <a:t>      </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PR-AUC </a:t>
            </a:r>
            <a:r>
              <a:rPr sz="1700" i="0">
                <a:solidFill>
                  <a:srgbClr val="7DCEA0"/>
                </a:solidFill>
                <a:latin typeface="Consolas"/>
              </a:rPr>
              <a:t>{</a:t>
            </a:r>
            <a:r>
              <a:rPr sz="1700" i="0">
                <a:solidFill>
                  <a:srgbClr val="E8EDF2"/>
                </a:solidFill>
                <a:latin typeface="Consolas"/>
              </a:rPr>
              <a:t>average_precision_score</a:t>
            </a:r>
            <a:r>
              <a:rPr sz="1700" i="0">
                <a:solidFill>
                  <a:srgbClr val="AEB6BF"/>
                </a:solidFill>
                <a:latin typeface="Consolas"/>
              </a:rPr>
              <a:t>(</a:t>
            </a:r>
            <a:r>
              <a:rPr sz="1700" i="0">
                <a:solidFill>
                  <a:srgbClr val="E8EDF2"/>
                </a:solidFill>
                <a:latin typeface="Consolas"/>
              </a:rPr>
              <a:t>y_te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p</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.3f</a:t>
            </a:r>
            <a:r>
              <a:rPr sz="1700" i="0">
                <a:solidFill>
                  <a:srgbClr val="7DCEA0"/>
                </a:solidFill>
                <a:latin typeface="Consolas"/>
              </a:rPr>
              <a:t>}</a:t>
            </a:r>
            <a:r>
              <a:rPr sz="1700" i="0">
                <a:solidFill>
                  <a:srgbClr val="7DCEA0"/>
                </a:solidFill>
                <a:latin typeface="Consolas"/>
              </a:rPr>
              <a:t>"</a:t>
            </a:r>
            <a:r>
              <a:rPr sz="1700" i="0">
                <a:solidFill>
                  <a:srgbClr val="AEB6BF"/>
                </a:solidFill>
                <a:latin typeface="Consolas"/>
              </a:rPr>
              <a:t>)</a:t>
            </a:r>
          </a:p>
        </p:txBody>
      </p:sp>
      <p:sp>
        <p:nvSpPr>
          <p:cNvPr id="15" name="!!code-num"/>
          <p:cNvSpPr txBox="1"/>
          <p:nvPr/>
        </p:nvSpPr>
        <p:spPr>
          <a:xfrm>
            <a:off x="768096" y="2523744"/>
            <a:ext cx="393192" cy="2441448"/>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20</a:t>
            </a:r>
          </a:p>
          <a:p>
            <a:pPr algn="r">
              <a:lnSpc>
                <a:spcPct val="100000"/>
              </a:lnSpc>
            </a:pPr>
            <a:r>
              <a:rPr sz="1700">
                <a:solidFill>
                  <a:srgbClr val="4F5D6A"/>
                </a:solidFill>
                <a:latin typeface="Consolas"/>
              </a:rPr>
              <a:t>21</a:t>
            </a:r>
          </a:p>
          <a:p>
            <a:pPr algn="r">
              <a:lnSpc>
                <a:spcPct val="100000"/>
              </a:lnSpc>
            </a:pPr>
            <a:r>
              <a:rPr sz="1700">
                <a:solidFill>
                  <a:srgbClr val="4F5D6A"/>
                </a:solidFill>
                <a:latin typeface="Consolas"/>
              </a:rPr>
              <a:t>22</a:t>
            </a:r>
          </a:p>
          <a:p>
            <a:pPr algn="r">
              <a:lnSpc>
                <a:spcPct val="100000"/>
              </a:lnSpc>
            </a:pPr>
            <a:r>
              <a:rPr sz="1700">
                <a:solidFill>
                  <a:srgbClr val="4F5D6A"/>
                </a:solidFill>
                <a:latin typeface="Consolas"/>
              </a:rPr>
              <a:t>23</a:t>
            </a:r>
          </a:p>
          <a:p>
            <a:pPr algn="r">
              <a:lnSpc>
                <a:spcPct val="100000"/>
              </a:lnSpc>
            </a:pPr>
            <a:r>
              <a:rPr sz="1700">
                <a:solidFill>
                  <a:srgbClr val="4F5D6A"/>
                </a:solidFill>
                <a:latin typeface="Consolas"/>
              </a:rPr>
              <a:t>24</a:t>
            </a:r>
          </a:p>
          <a:p>
            <a:pPr algn="r">
              <a:lnSpc>
                <a:spcPct val="100000"/>
              </a:lnSpc>
            </a:pPr>
            <a:r>
              <a:rPr sz="1700">
                <a:solidFill>
                  <a:srgbClr val="4F5D6A"/>
                </a:solidFill>
                <a:latin typeface="Consolas"/>
              </a:rPr>
              <a:t>25</a:t>
            </a:r>
          </a:p>
          <a:p>
            <a:pPr algn="r">
              <a:lnSpc>
                <a:spcPct val="100000"/>
              </a:lnSpc>
            </a:pPr>
            <a:r>
              <a:rPr sz="1700">
                <a:solidFill>
                  <a:srgbClr val="4F5D6A"/>
                </a:solidFill>
                <a:latin typeface="Consolas"/>
              </a:rPr>
              <a:t>26</a:t>
            </a:r>
          </a:p>
          <a:p>
            <a:pPr algn="r">
              <a:lnSpc>
                <a:spcPct val="100000"/>
              </a:lnSpc>
            </a:pPr>
            <a:r>
              <a:rPr sz="1700">
                <a:solidFill>
                  <a:srgbClr val="4F5D6A"/>
                </a:solidFill>
                <a:latin typeface="Consolas"/>
              </a:rPr>
              <a:t>27</a:t>
            </a:r>
          </a:p>
          <a:p>
            <a:pPr algn="r">
              <a:lnSpc>
                <a:spcPct val="100000"/>
              </a:lnSpc>
            </a:pPr>
            <a:r>
              <a:rPr sz="1700">
                <a:solidFill>
                  <a:srgbClr val="4F5D6A"/>
                </a:solidFill>
                <a:latin typeface="Consolas"/>
              </a:rPr>
              <a:t>28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9035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Evaluate an Imbalanced Classifier Properly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§8.8  ·  Handout p. 64     </a:t>
            </a:r>
            <a:fld id="{2262763D-6D43-44A3-83C9-B16F6FFF107A}" type="slidenum">
              <a:rPr lang="en-GB" sz="1000">
                <a:solidFill>
                  <a:srgbClr val="8795A1"/>
                </a:solidFill>
                <a:latin typeface="Segoe UI"/>
              </a:rPr>
              <a:t>35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threshold is a choice: sweep it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975104"/>
          </a:xfrm>
          <a:prstGeom prst="roundRect">
            <a:avLst>
              <a:gd name="adj" fmla="val 462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code/ch08_evaluate_imbalanced.py</a:t>
            </a:r>
          </a:p>
        </p:txBody>
      </p:sp>
      <p:sp>
        <p:nvSpPr>
          <p:cNvPr id="14" name="!!code-text" descr="# --- 2. the threshold is a choice: sweep it ------------------------------ for t in (0.1, 0.3, 0.5, 0.7): pr = (p &gt; t).astype(int) print(f&quot;threshold {t}: precision {precision_score(y_te, pr):.2f} &quot; f&quot;recall {recall_score(y_te, pr):.2f}&quot;)"/>
          <p:cNvSpPr txBox="1"/>
          <p:nvPr/>
        </p:nvSpPr>
        <p:spPr>
          <a:xfrm>
            <a:off x="1362456" y="2523744"/>
            <a:ext cx="9987991" cy="148132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--- 2. the threshold is a choice: sweep it ------------------------------</a:t>
            </a:r>
          </a:p>
          <a:p>
            <a:pPr>
              <a:lnSpc>
                <a:spcPct val="100000"/>
              </a:lnSpc>
              <a:spcAft>
                <a:spcPts val="0"/>
              </a:spcAft>
            </a:pP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t</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0.1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0.3</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0.5</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0.7</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pr</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p</a:t>
            </a:r>
            <a:r>
              <a:rPr sz="1800" i="0">
                <a:solidFill>
                  <a:srgbClr val="E8EDF2"/>
                </a:solidFill>
                <a:latin typeface="Consolas"/>
              </a:rPr>
              <a:t> </a:t>
            </a:r>
            <a:r>
              <a:rPr sz="1800" i="0">
                <a:solidFill>
                  <a:srgbClr val="AEB6BF"/>
                </a:solidFill>
                <a:latin typeface="Consolas"/>
              </a:rPr>
              <a:t>&gt;</a:t>
            </a:r>
            <a:r>
              <a:rPr sz="1800" i="0">
                <a:solidFill>
                  <a:srgbClr val="E8EDF2"/>
                </a:solidFill>
                <a:latin typeface="Consolas"/>
              </a:rPr>
              <a:t> </a:t>
            </a:r>
            <a:r>
              <a:rPr sz="1800" i="0">
                <a:solidFill>
                  <a:srgbClr val="E8EDF2"/>
                </a:solidFill>
                <a:latin typeface="Consolas"/>
              </a:rPr>
              <a:t>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astype</a:t>
            </a:r>
            <a:r>
              <a:rPr sz="1800" i="0">
                <a:solidFill>
                  <a:srgbClr val="AEB6BF"/>
                </a:solidFill>
                <a:latin typeface="Consolas"/>
              </a:rPr>
              <a:t>(</a:t>
            </a:r>
            <a:r>
              <a:rPr sz="1800" i="0">
                <a:solidFill>
                  <a:srgbClr val="C39BD3"/>
                </a:solidFill>
                <a:latin typeface="Consolas"/>
              </a:rPr>
              <a:t>int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threshold </a:t>
            </a:r>
            <a:r>
              <a:rPr sz="1800" i="0">
                <a:solidFill>
                  <a:srgbClr val="7DCEA0"/>
                </a:solidFill>
                <a:latin typeface="Consolas"/>
              </a:rPr>
              <a:t>{</a:t>
            </a:r>
            <a:r>
              <a:rPr sz="1800" i="0">
                <a:solidFill>
                  <a:srgbClr val="E8EDF2"/>
                </a:solidFill>
                <a:latin typeface="Consolas"/>
              </a:rPr>
              <a:t>t</a:t>
            </a:r>
            <a:r>
              <a:rPr sz="1800" i="0">
                <a:solidFill>
                  <a:srgbClr val="7DCEA0"/>
                </a:solidFill>
                <a:latin typeface="Consolas"/>
              </a:rPr>
              <a:t>}</a:t>
            </a:r>
            <a:r>
              <a:rPr sz="1800" i="0">
                <a:solidFill>
                  <a:srgbClr val="7DCEA0"/>
                </a:solidFill>
                <a:latin typeface="Consolas"/>
              </a:rPr>
              <a:t>: precision </a:t>
            </a:r>
            <a:r>
              <a:rPr sz="1800" i="0">
                <a:solidFill>
                  <a:srgbClr val="7DCEA0"/>
                </a:solidFill>
                <a:latin typeface="Consolas"/>
              </a:rPr>
              <a:t>{</a:t>
            </a:r>
            <a:r>
              <a:rPr sz="1800" i="0">
                <a:solidFill>
                  <a:srgbClr val="E8EDF2"/>
                </a:solidFill>
                <a:latin typeface="Consolas"/>
              </a:rPr>
              <a:t>precision_score</a:t>
            </a:r>
            <a:r>
              <a:rPr sz="1800" i="0">
                <a:solidFill>
                  <a:srgbClr val="AEB6BF"/>
                </a:solidFill>
                <a:latin typeface="Consolas"/>
              </a:rPr>
              <a:t>(</a:t>
            </a:r>
            <a:r>
              <a:rPr sz="1800" i="0">
                <a:solidFill>
                  <a:srgbClr val="E8EDF2"/>
                </a:solidFill>
                <a:latin typeface="Consolas"/>
              </a:rPr>
              <a:t>y_te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pr</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.2f</a:t>
            </a:r>
            <a:r>
              <a:rPr sz="1800" i="0">
                <a:solidFill>
                  <a:srgbClr val="7DCEA0"/>
                </a:solidFill>
                <a:latin typeface="Consolas"/>
              </a:rPr>
              <a:t>}</a:t>
            </a:r>
            <a:r>
              <a:rPr sz="1800" i="0">
                <a:solidFill>
                  <a:srgbClr val="7DCEA0"/>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recall </a:t>
            </a:r>
            <a:r>
              <a:rPr sz="1800" i="0">
                <a:solidFill>
                  <a:srgbClr val="7DCEA0"/>
                </a:solidFill>
                <a:latin typeface="Consolas"/>
              </a:rPr>
              <a:t>{</a:t>
            </a:r>
            <a:r>
              <a:rPr sz="1800" i="0">
                <a:solidFill>
                  <a:srgbClr val="E8EDF2"/>
                </a:solidFill>
                <a:latin typeface="Consolas"/>
              </a:rPr>
              <a:t>recall_score</a:t>
            </a:r>
            <a:r>
              <a:rPr sz="1800" i="0">
                <a:solidFill>
                  <a:srgbClr val="AEB6BF"/>
                </a:solidFill>
                <a:latin typeface="Consolas"/>
              </a:rPr>
              <a:t>(</a:t>
            </a:r>
            <a:r>
              <a:rPr sz="1800" i="0">
                <a:solidFill>
                  <a:srgbClr val="E8EDF2"/>
                </a:solidFill>
                <a:latin typeface="Consolas"/>
              </a:rPr>
              <a:t>y_te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pr</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.2f</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p>
        </p:txBody>
      </p:sp>
      <p:sp>
        <p:nvSpPr>
          <p:cNvPr id="15" name="!!code-num"/>
          <p:cNvSpPr txBox="1"/>
          <p:nvPr/>
        </p:nvSpPr>
        <p:spPr>
          <a:xfrm>
            <a:off x="768096" y="2523744"/>
            <a:ext cx="393192" cy="148132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30</a:t>
            </a:r>
          </a:p>
          <a:p>
            <a:pPr algn="r">
              <a:lnSpc>
                <a:spcPct val="100000"/>
              </a:lnSpc>
            </a:pPr>
            <a:r>
              <a:rPr sz="1800">
                <a:solidFill>
                  <a:srgbClr val="4F5D6A"/>
                </a:solidFill>
                <a:latin typeface="Consolas"/>
              </a:rPr>
              <a:t>31</a:t>
            </a:r>
          </a:p>
          <a:p>
            <a:pPr algn="r">
              <a:lnSpc>
                <a:spcPct val="100000"/>
              </a:lnSpc>
            </a:pPr>
            <a:r>
              <a:rPr sz="1800">
                <a:solidFill>
                  <a:srgbClr val="4F5D6A"/>
                </a:solidFill>
                <a:latin typeface="Consolas"/>
              </a:rPr>
              <a:t>32</a:t>
            </a:r>
          </a:p>
          <a:p>
            <a:pPr algn="r">
              <a:lnSpc>
                <a:spcPct val="100000"/>
              </a:lnSpc>
            </a:pPr>
            <a:r>
              <a:rPr sz="1800">
                <a:solidFill>
                  <a:srgbClr val="4F5D6A"/>
                </a:solidFill>
                <a:latin typeface="Consolas"/>
              </a:rPr>
              <a:t>33</a:t>
            </a:r>
          </a:p>
          <a:p>
            <a:pPr algn="r">
              <a:lnSpc>
                <a:spcPct val="100000"/>
              </a:lnSpc>
            </a:pPr>
            <a:r>
              <a:rPr sz="1800">
                <a:solidFill>
                  <a:srgbClr val="4F5D6A"/>
                </a:solidFill>
                <a:latin typeface="Consolas"/>
              </a:rPr>
              <a:t>34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3418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Evaluate an Imbalanced Classifier Properly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§8.8  ·  Handout p. 64     </a:t>
            </a:r>
            <a:fld id="{E870F16F-6D6B-409D-9F2B-6F465379F951}" type="slidenum">
              <a:rPr lang="en-GB" sz="1000">
                <a:solidFill>
                  <a:srgbClr val="8795A1"/>
                </a:solidFill>
                <a:latin typeface="Segoe UI"/>
              </a:rPr>
              <a:t>36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95% confidence interval for the error rate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00784"/>
          </a:xfrm>
          <a:prstGeom prst="roundRect">
            <a:avLst>
              <a:gd name="adj" fmla="val 53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code/ch08_evaluate_imbalanced.py</a:t>
            </a:r>
          </a:p>
        </p:txBody>
      </p:sp>
      <p:sp>
        <p:nvSpPr>
          <p:cNvPr id="14" name="!!code-text" descr="# --- 3. a 95% confidence interval for the error rate --------------------- n, e = len(y_te), np.mean(pred != y_te) half = 1.96 * np.sqrt(e * (1 - e) / n) print(f&quot;error {e:.3f}, 95% interval [{e - half:.3f}, {e + half:.3f}]&quot;)"/>
          <p:cNvSpPr txBox="1"/>
          <p:nvPr/>
        </p:nvSpPr>
        <p:spPr>
          <a:xfrm>
            <a:off x="1362456" y="2523744"/>
            <a:ext cx="9987991" cy="120700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--- 3. a 95% confidence interval for the error rate ---------------------</a:t>
            </a:r>
          </a:p>
          <a:p>
            <a:pPr>
              <a:lnSpc>
                <a:spcPct val="100000"/>
              </a:lnSpc>
              <a:spcAft>
                <a:spcPts val="0"/>
              </a:spcAft>
            </a:pPr>
            <a:r>
              <a:rPr sz="1800" i="0">
                <a:solidFill>
                  <a:srgbClr val="E8EDF2"/>
                </a:solidFill>
                <a:latin typeface="Consolas"/>
              </a:rPr>
              <a:t>n</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len</a:t>
            </a:r>
            <a:r>
              <a:rPr sz="1800" i="0">
                <a:solidFill>
                  <a:srgbClr val="AEB6BF"/>
                </a:solidFill>
                <a:latin typeface="Consolas"/>
              </a:rPr>
              <a:t>(</a:t>
            </a:r>
            <a:r>
              <a:rPr sz="1800" i="0">
                <a:solidFill>
                  <a:srgbClr val="E8EDF2"/>
                </a:solidFill>
                <a:latin typeface="Consolas"/>
              </a:rPr>
              <a:t>y_te</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E8EDF2"/>
                </a:solidFill>
                <a:latin typeface="Consolas"/>
              </a:rPr>
              <a:t>pred</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y_te</a:t>
            </a:r>
            <a:r>
              <a:rPr sz="1800" i="0">
                <a:solidFill>
                  <a:srgbClr val="AEB6BF"/>
                </a:solidFill>
                <a:latin typeface="Consolas"/>
              </a:rPr>
              <a:t>)</a:t>
            </a:r>
          </a:p>
          <a:p>
            <a:pPr>
              <a:lnSpc>
                <a:spcPct val="100000"/>
              </a:lnSpc>
              <a:spcAft>
                <a:spcPts val="0"/>
              </a:spcAft>
            </a:pPr>
            <a:r>
              <a:rPr sz="1800" i="0">
                <a:solidFill>
                  <a:srgbClr val="E8EDF2"/>
                </a:solidFill>
                <a:latin typeface="Consolas"/>
              </a:rPr>
              <a:t>half</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1.96</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sqrt</a:t>
            </a:r>
            <a:r>
              <a:rPr sz="1800" i="0">
                <a:solidFill>
                  <a:srgbClr val="AEB6BF"/>
                </a:solidFill>
                <a:latin typeface="Consolas"/>
              </a:rPr>
              <a:t>(</a:t>
            </a:r>
            <a:r>
              <a:rPr sz="1800" i="0">
                <a:solidFill>
                  <a:srgbClr val="E8EDF2"/>
                </a:solidFill>
                <a:latin typeface="Consolas"/>
              </a:rPr>
              <a:t>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e</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error </a:t>
            </a:r>
            <a:r>
              <a:rPr sz="1800" i="0">
                <a:solidFill>
                  <a:srgbClr val="7DCEA0"/>
                </a:solidFill>
                <a:latin typeface="Consolas"/>
              </a:rPr>
              <a:t>{</a:t>
            </a:r>
            <a:r>
              <a:rPr sz="1800" i="0">
                <a:solidFill>
                  <a:srgbClr val="E8EDF2"/>
                </a:solidFill>
                <a:latin typeface="Consolas"/>
              </a:rPr>
              <a:t>e</a:t>
            </a:r>
            <a:r>
              <a:rPr sz="1800" i="0">
                <a:solidFill>
                  <a:srgbClr val="7DCEA0"/>
                </a:solidFill>
                <a:latin typeface="Consolas"/>
              </a:rPr>
              <a:t>:</a:t>
            </a:r>
            <a:r>
              <a:rPr sz="1800" i="0">
                <a:solidFill>
                  <a:srgbClr val="7DCEA0"/>
                </a:solidFill>
                <a:latin typeface="Consolas"/>
              </a:rPr>
              <a:t>.3f</a:t>
            </a:r>
            <a:r>
              <a:rPr sz="1800" i="0">
                <a:solidFill>
                  <a:srgbClr val="7DCEA0"/>
                </a:solidFill>
                <a:latin typeface="Consolas"/>
              </a:rPr>
              <a:t>}</a:t>
            </a:r>
            <a:r>
              <a:rPr sz="1800" i="0">
                <a:solidFill>
                  <a:srgbClr val="7DCEA0"/>
                </a:solidFill>
                <a:latin typeface="Consolas"/>
              </a:rPr>
              <a:t>, 95% interval [</a:t>
            </a:r>
            <a:r>
              <a:rPr sz="1800" i="0">
                <a:solidFill>
                  <a:srgbClr val="7DCEA0"/>
                </a:solidFill>
                <a:latin typeface="Consolas"/>
              </a:rPr>
              <a:t>{</a:t>
            </a:r>
            <a:r>
              <a:rPr sz="1800" i="0">
                <a:solidFill>
                  <a:srgbClr val="E8EDF2"/>
                </a:solidFill>
                <a:latin typeface="Consolas"/>
              </a:rPr>
              <a:t>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half</a:t>
            </a:r>
            <a:r>
              <a:rPr sz="1800" i="0">
                <a:solidFill>
                  <a:srgbClr val="7DCEA0"/>
                </a:solidFill>
                <a:latin typeface="Consolas"/>
              </a:rPr>
              <a:t>:</a:t>
            </a:r>
            <a:r>
              <a:rPr sz="1800" i="0">
                <a:solidFill>
                  <a:srgbClr val="7DCEA0"/>
                </a:solidFill>
                <a:latin typeface="Consolas"/>
              </a:rPr>
              <a:t>.3f</a:t>
            </a:r>
            <a:r>
              <a:rPr sz="1800" i="0">
                <a:solidFill>
                  <a:srgbClr val="7DCEA0"/>
                </a:solidFill>
                <a:latin typeface="Consolas"/>
              </a:rPr>
              <a:t>}</a:t>
            </a:r>
            <a:r>
              <a:rPr sz="1800" i="0">
                <a:solidFill>
                  <a:srgbClr val="7DCEA0"/>
                </a:solidFill>
                <a:latin typeface="Consolas"/>
              </a:rPr>
              <a:t>, </a:t>
            </a:r>
            <a:r>
              <a:rPr sz="1800" i="0">
                <a:solidFill>
                  <a:srgbClr val="7DCEA0"/>
                </a:solidFill>
                <a:latin typeface="Consolas"/>
              </a:rPr>
              <a:t>{</a:t>
            </a:r>
            <a:r>
              <a:rPr sz="1800" i="0">
                <a:solidFill>
                  <a:srgbClr val="E8EDF2"/>
                </a:solidFill>
                <a:latin typeface="Consolas"/>
              </a:rPr>
              <a:t>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half</a:t>
            </a:r>
            <a:r>
              <a:rPr sz="1800" i="0">
                <a:solidFill>
                  <a:srgbClr val="7DCEA0"/>
                </a:solidFill>
                <a:latin typeface="Consolas"/>
              </a:rPr>
              <a:t>:</a:t>
            </a:r>
            <a:r>
              <a:rPr sz="1800" i="0">
                <a:solidFill>
                  <a:srgbClr val="7DCEA0"/>
                </a:solidFill>
                <a:latin typeface="Consolas"/>
              </a:rPr>
              <a:t>.3f</a:t>
            </a:r>
            <a:r>
              <a:rPr sz="1800" i="0">
                <a:solidFill>
                  <a:srgbClr val="7DCEA0"/>
                </a:solidFill>
                <a:latin typeface="Consolas"/>
              </a:rPr>
              <a:t>}</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p>
        </p:txBody>
      </p:sp>
      <p:sp>
        <p:nvSpPr>
          <p:cNvPr id="15" name="!!code-num"/>
          <p:cNvSpPr txBox="1"/>
          <p:nvPr/>
        </p:nvSpPr>
        <p:spPr>
          <a:xfrm>
            <a:off x="768096" y="2523744"/>
            <a:ext cx="393192" cy="120700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36</a:t>
            </a:r>
          </a:p>
          <a:p>
            <a:pPr algn="r">
              <a:lnSpc>
                <a:spcPct val="100000"/>
              </a:lnSpc>
            </a:pPr>
            <a:r>
              <a:rPr sz="1800">
                <a:solidFill>
                  <a:srgbClr val="4F5D6A"/>
                </a:solidFill>
                <a:latin typeface="Consolas"/>
              </a:rPr>
              <a:t>37</a:t>
            </a:r>
          </a:p>
          <a:p>
            <a:pPr algn="r">
              <a:lnSpc>
                <a:spcPct val="100000"/>
              </a:lnSpc>
            </a:pPr>
            <a:r>
              <a:rPr sz="1800">
                <a:solidFill>
                  <a:srgbClr val="4F5D6A"/>
                </a:solidFill>
                <a:latin typeface="Consolas"/>
              </a:rPr>
              <a:t>38</a:t>
            </a:r>
          </a:p>
          <a:p>
            <a:pPr algn="r">
              <a:lnSpc>
                <a:spcPct val="100000"/>
              </a:lnSpc>
            </a:pPr>
            <a:r>
              <a:rPr sz="1800">
                <a:solidFill>
                  <a:srgbClr val="4F5D6A"/>
                </a:solidFill>
                <a:latin typeface="Consolas"/>
              </a:rPr>
              <a:t>39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77802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Evaluate an Imbalanced Classifier Properly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§8.8  ·  Handout p. 64     </a:t>
            </a:r>
            <a:fld id="{E5270D06-2C38-47BF-A0D4-BB8434DC7C60}" type="slidenum">
              <a:rPr lang="en-GB" sz="1000">
                <a:solidFill>
                  <a:srgbClr val="8795A1"/>
                </a:solidFill>
                <a:latin typeface="Segoe UI"/>
              </a:rPr>
              <a:t>37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Is a decision tree really different? McNemar's test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072383"/>
          </a:xfrm>
          <a:prstGeom prst="roundRect">
            <a:avLst>
              <a:gd name="adj" fmla="val 29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code/ch08_evaluate_imbalanced.py</a:t>
            </a:r>
          </a:p>
        </p:txBody>
      </p:sp>
      <p:sp>
        <p:nvSpPr>
          <p:cNvPr id="14" name="!!code-text" descr="# --- 4. is a decision tree really different? McNemar's test -------------- tree = DecisionTreeClassifier(max_depth=5, random_state=0).fit(X_tr, y_tr) a_right = pred == y_te b_right = tree.predict(X_te) == y_te b = np.sum(~a_right &amp; b_right) # logistic wrong, tree right c = np.sum(a_right &amp; ~b_right) # logistic right, tree wrong stat = (abs(b - c) - 1) ** 2 / (b + c) print(f&quot;disagreements b={b}, c={c}; McNemar chi2 = {stat:.2f}, &quot; f&quot;p = {chi2.sf(stat, 1):.3f}&quot;)"/>
          <p:cNvSpPr txBox="1"/>
          <p:nvPr/>
        </p:nvSpPr>
        <p:spPr>
          <a:xfrm>
            <a:off x="1362456" y="2523744"/>
            <a:ext cx="9987991" cy="257860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--- 4. is a decision tree really different? McNemar's test --------------</a:t>
            </a:r>
          </a:p>
          <a:p>
            <a:pPr>
              <a:lnSpc>
                <a:spcPct val="100000"/>
              </a:lnSpc>
              <a:spcAft>
                <a:spcPts val="0"/>
              </a:spcAft>
            </a:pPr>
            <a:r>
              <a:rPr sz="1800" i="0">
                <a:solidFill>
                  <a:srgbClr val="E8EDF2"/>
                </a:solidFill>
                <a:latin typeface="Consolas"/>
              </a:rPr>
              <a:t>tree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DecisionTreeClassifier</a:t>
            </a:r>
            <a:r>
              <a:rPr sz="1800" i="0">
                <a:solidFill>
                  <a:srgbClr val="AEB6BF"/>
                </a:solidFill>
                <a:latin typeface="Consolas"/>
              </a:rPr>
              <a:t>(</a:t>
            </a:r>
            <a:r>
              <a:rPr sz="1800" i="0">
                <a:solidFill>
                  <a:srgbClr val="E8EDF2"/>
                </a:solidFill>
                <a:latin typeface="Consolas"/>
              </a:rPr>
              <a:t>max_depth</a:t>
            </a:r>
            <a:r>
              <a:rPr sz="1800" i="0">
                <a:solidFill>
                  <a:srgbClr val="AEB6BF"/>
                </a:solidFill>
                <a:latin typeface="Consolas"/>
              </a:rPr>
              <a:t>=</a:t>
            </a:r>
            <a:r>
              <a:rPr sz="1800" i="0">
                <a:solidFill>
                  <a:srgbClr val="F7DC6F"/>
                </a:solidFill>
                <a:latin typeface="Consolas"/>
              </a:rPr>
              <a:t>5</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random_state</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fit</a:t>
            </a:r>
            <a:r>
              <a:rPr sz="1800" i="0">
                <a:solidFill>
                  <a:srgbClr val="AEB6BF"/>
                </a:solidFill>
                <a:latin typeface="Consolas"/>
              </a:rPr>
              <a:t>(</a:t>
            </a:r>
            <a:r>
              <a:rPr sz="1800" i="0">
                <a:solidFill>
                  <a:srgbClr val="E8EDF2"/>
                </a:solidFill>
                <a:latin typeface="Consolas"/>
              </a:rPr>
              <a:t>X_tr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y_tr</a:t>
            </a:r>
            <a:r>
              <a:rPr sz="1800" i="0">
                <a:solidFill>
                  <a:srgbClr val="AEB6BF"/>
                </a:solidFill>
                <a:latin typeface="Consolas"/>
              </a:rPr>
              <a:t>)</a:t>
            </a:r>
          </a:p>
          <a:p>
            <a:pPr>
              <a:lnSpc>
                <a:spcPct val="100000"/>
              </a:lnSpc>
              <a:spcAft>
                <a:spcPts val="0"/>
              </a:spcAft>
            </a:pPr>
            <a:r>
              <a:rPr sz="1800" i="0">
                <a:solidFill>
                  <a:srgbClr val="E8EDF2"/>
                </a:solidFill>
                <a:latin typeface="Consolas"/>
              </a:rPr>
              <a:t>a_right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pred</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y_te</a:t>
            </a:r>
          </a:p>
          <a:p>
            <a:pPr>
              <a:lnSpc>
                <a:spcPct val="100000"/>
              </a:lnSpc>
              <a:spcAft>
                <a:spcPts val="0"/>
              </a:spcAft>
            </a:pPr>
            <a:r>
              <a:rPr sz="1800" i="0">
                <a:solidFill>
                  <a:srgbClr val="E8EDF2"/>
                </a:solidFill>
                <a:latin typeface="Consolas"/>
              </a:rPr>
              <a:t>b_right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tree</a:t>
            </a:r>
            <a:r>
              <a:rPr sz="1800" i="0">
                <a:solidFill>
                  <a:srgbClr val="AEB6BF"/>
                </a:solidFill>
                <a:latin typeface="Consolas"/>
              </a:rPr>
              <a:t>.</a:t>
            </a:r>
            <a:r>
              <a:rPr sz="1800" i="0">
                <a:solidFill>
                  <a:srgbClr val="E8EDF2"/>
                </a:solidFill>
                <a:latin typeface="Consolas"/>
              </a:rPr>
              <a:t>predict</a:t>
            </a:r>
            <a:r>
              <a:rPr sz="1800" i="0">
                <a:solidFill>
                  <a:srgbClr val="AEB6BF"/>
                </a:solidFill>
                <a:latin typeface="Consolas"/>
              </a:rPr>
              <a:t>(</a:t>
            </a:r>
            <a:r>
              <a:rPr sz="1800" i="0">
                <a:solidFill>
                  <a:srgbClr val="E8EDF2"/>
                </a:solidFill>
                <a:latin typeface="Consolas"/>
              </a:rPr>
              <a:t>X_te</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y_te</a:t>
            </a:r>
          </a:p>
          <a:p>
            <a:pPr>
              <a:lnSpc>
                <a:spcPct val="100000"/>
              </a:lnSpc>
              <a:spcAft>
                <a:spcPts val="0"/>
              </a:spcAft>
            </a:pPr>
            <a:r>
              <a:rPr sz="1800" i="0">
                <a:solidFill>
                  <a:srgbClr val="E8EDF2"/>
                </a:solidFill>
                <a:latin typeface="Consolas"/>
              </a:rPr>
              <a:t>b</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sum</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a_right</a:t>
            </a:r>
            <a:r>
              <a:rPr sz="1800" i="0">
                <a:solidFill>
                  <a:srgbClr val="E8EDF2"/>
                </a:solidFill>
                <a:latin typeface="Consolas"/>
              </a:rPr>
              <a:t> </a:t>
            </a:r>
            <a:r>
              <a:rPr sz="1800" i="0">
                <a:solidFill>
                  <a:srgbClr val="AEB6BF"/>
                </a:solidFill>
                <a:latin typeface="Consolas"/>
              </a:rPr>
              <a:t>&amp;</a:t>
            </a:r>
            <a:r>
              <a:rPr sz="1800" i="0">
                <a:solidFill>
                  <a:srgbClr val="E8EDF2"/>
                </a:solidFill>
                <a:latin typeface="Consolas"/>
              </a:rPr>
              <a:t> </a:t>
            </a:r>
            <a:r>
              <a:rPr sz="1800" i="0">
                <a:solidFill>
                  <a:srgbClr val="E8EDF2"/>
                </a:solidFill>
                <a:latin typeface="Consolas"/>
              </a:rPr>
              <a:t>b_right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logistic wrong, tree right</a:t>
            </a:r>
          </a:p>
          <a:p>
            <a:pPr>
              <a:lnSpc>
                <a:spcPct val="100000"/>
              </a:lnSpc>
              <a:spcAft>
                <a:spcPts val="0"/>
              </a:spcAft>
            </a:pPr>
            <a:r>
              <a:rPr sz="1800" i="0">
                <a:solidFill>
                  <a:srgbClr val="E8EDF2"/>
                </a:solidFill>
                <a:latin typeface="Consolas"/>
              </a:rPr>
              <a:t>c</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sum</a:t>
            </a:r>
            <a:r>
              <a:rPr sz="1800" i="0">
                <a:solidFill>
                  <a:srgbClr val="AEB6BF"/>
                </a:solidFill>
                <a:latin typeface="Consolas"/>
              </a:rPr>
              <a:t>(</a:t>
            </a:r>
            <a:r>
              <a:rPr sz="1800" i="0">
                <a:solidFill>
                  <a:srgbClr val="E8EDF2"/>
                </a:solidFill>
                <a:latin typeface="Consolas"/>
              </a:rPr>
              <a:t>a_right</a:t>
            </a:r>
            <a:r>
              <a:rPr sz="1800" i="0">
                <a:solidFill>
                  <a:srgbClr val="E8EDF2"/>
                </a:solidFill>
                <a:latin typeface="Consolas"/>
              </a:rPr>
              <a:t> </a:t>
            </a:r>
            <a:r>
              <a:rPr sz="1800" i="0">
                <a:solidFill>
                  <a:srgbClr val="AEB6BF"/>
                </a:solidFill>
                <a:latin typeface="Consolas"/>
              </a:rPr>
              <a:t>&amp;</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b_right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logistic right, tree wrong</a:t>
            </a:r>
          </a:p>
          <a:p>
            <a:pPr>
              <a:lnSpc>
                <a:spcPct val="100000"/>
              </a:lnSpc>
              <a:spcAft>
                <a:spcPts val="0"/>
              </a:spcAft>
            </a:pPr>
            <a:r>
              <a:rPr sz="1800" i="0">
                <a:solidFill>
                  <a:srgbClr val="E8EDF2"/>
                </a:solidFill>
                <a:latin typeface="Consolas"/>
              </a:rPr>
              <a:t>stat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C39BD3"/>
                </a:solidFill>
                <a:latin typeface="Consolas"/>
              </a:rPr>
              <a:t>abs</a:t>
            </a:r>
            <a:r>
              <a:rPr sz="1800" i="0">
                <a:solidFill>
                  <a:srgbClr val="AEB6BF"/>
                </a:solidFill>
                <a:latin typeface="Consolas"/>
              </a:rPr>
              <a:t>(</a:t>
            </a:r>
            <a:r>
              <a:rPr sz="1800" i="0">
                <a:solidFill>
                  <a:srgbClr val="E8EDF2"/>
                </a:solidFill>
                <a:latin typeface="Consolas"/>
              </a:rPr>
              <a:t>b</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b</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disagreements b=</a:t>
            </a:r>
            <a:r>
              <a:rPr sz="1800" i="0">
                <a:solidFill>
                  <a:srgbClr val="7DCEA0"/>
                </a:solidFill>
                <a:latin typeface="Consolas"/>
              </a:rPr>
              <a:t>{</a:t>
            </a:r>
            <a:r>
              <a:rPr sz="1800" i="0">
                <a:solidFill>
                  <a:srgbClr val="E8EDF2"/>
                </a:solidFill>
                <a:latin typeface="Consolas"/>
              </a:rPr>
              <a:t>b</a:t>
            </a:r>
            <a:r>
              <a:rPr sz="1800" i="0">
                <a:solidFill>
                  <a:srgbClr val="7DCEA0"/>
                </a:solidFill>
                <a:latin typeface="Consolas"/>
              </a:rPr>
              <a:t>}</a:t>
            </a:r>
            <a:r>
              <a:rPr sz="1800" i="0">
                <a:solidFill>
                  <a:srgbClr val="7DCEA0"/>
                </a:solidFill>
                <a:latin typeface="Consolas"/>
              </a:rPr>
              <a:t>, c=</a:t>
            </a:r>
            <a:r>
              <a:rPr sz="1800" i="0">
                <a:solidFill>
                  <a:srgbClr val="7DCEA0"/>
                </a:solidFill>
                <a:latin typeface="Consolas"/>
              </a:rPr>
              <a:t>{</a:t>
            </a:r>
            <a:r>
              <a:rPr sz="1800" i="0">
                <a:solidFill>
                  <a:srgbClr val="E8EDF2"/>
                </a:solidFill>
                <a:latin typeface="Consolas"/>
              </a:rPr>
              <a:t>c</a:t>
            </a:r>
            <a:r>
              <a:rPr sz="1800" i="0">
                <a:solidFill>
                  <a:srgbClr val="7DCEA0"/>
                </a:solidFill>
                <a:latin typeface="Consolas"/>
              </a:rPr>
              <a:t>}</a:t>
            </a:r>
            <a:r>
              <a:rPr sz="1800" i="0">
                <a:solidFill>
                  <a:srgbClr val="7DCEA0"/>
                </a:solidFill>
                <a:latin typeface="Consolas"/>
              </a:rPr>
              <a:t>; McNemar chi2 = </a:t>
            </a:r>
            <a:r>
              <a:rPr sz="1800" i="0">
                <a:solidFill>
                  <a:srgbClr val="7DCEA0"/>
                </a:solidFill>
                <a:latin typeface="Consolas"/>
              </a:rPr>
              <a:t>{</a:t>
            </a:r>
            <a:r>
              <a:rPr sz="1800" i="0">
                <a:solidFill>
                  <a:srgbClr val="E8EDF2"/>
                </a:solidFill>
                <a:latin typeface="Consolas"/>
              </a:rPr>
              <a:t>stat</a:t>
            </a:r>
            <a:r>
              <a:rPr sz="1800" i="0">
                <a:solidFill>
                  <a:srgbClr val="7DCEA0"/>
                </a:solidFill>
                <a:latin typeface="Consolas"/>
              </a:rPr>
              <a:t>:</a:t>
            </a:r>
            <a:r>
              <a:rPr sz="1800" i="0">
                <a:solidFill>
                  <a:srgbClr val="7DCEA0"/>
                </a:solidFill>
                <a:latin typeface="Consolas"/>
              </a:rPr>
              <a:t>.2f</a:t>
            </a:r>
            <a:r>
              <a:rPr sz="1800" i="0">
                <a:solidFill>
                  <a:srgbClr val="7DCEA0"/>
                </a:solidFill>
                <a:latin typeface="Consolas"/>
              </a:rPr>
              <a:t>}</a:t>
            </a:r>
            <a:r>
              <a:rPr sz="1800" i="0">
                <a:solidFill>
                  <a:srgbClr val="7DCEA0"/>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p = </a:t>
            </a:r>
            <a:r>
              <a:rPr sz="1800" i="0">
                <a:solidFill>
                  <a:srgbClr val="7DCEA0"/>
                </a:solidFill>
                <a:latin typeface="Consolas"/>
              </a:rPr>
              <a:t>{</a:t>
            </a:r>
            <a:r>
              <a:rPr sz="1800" i="0">
                <a:solidFill>
                  <a:srgbClr val="E8EDF2"/>
                </a:solidFill>
                <a:latin typeface="Consolas"/>
              </a:rPr>
              <a:t>chi2</a:t>
            </a:r>
            <a:r>
              <a:rPr sz="1800" i="0">
                <a:solidFill>
                  <a:srgbClr val="AEB6BF"/>
                </a:solidFill>
                <a:latin typeface="Consolas"/>
              </a:rPr>
              <a:t>.</a:t>
            </a:r>
            <a:r>
              <a:rPr sz="1800" i="0">
                <a:solidFill>
                  <a:srgbClr val="E8EDF2"/>
                </a:solidFill>
                <a:latin typeface="Consolas"/>
              </a:rPr>
              <a:t>sf</a:t>
            </a:r>
            <a:r>
              <a:rPr sz="1800" i="0">
                <a:solidFill>
                  <a:srgbClr val="AEB6BF"/>
                </a:solidFill>
                <a:latin typeface="Consolas"/>
              </a:rPr>
              <a:t>(</a:t>
            </a:r>
            <a:r>
              <a:rPr sz="1800" i="0">
                <a:solidFill>
                  <a:srgbClr val="E8EDF2"/>
                </a:solidFill>
                <a:latin typeface="Consolas"/>
              </a:rPr>
              <a:t>stat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.3f</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p>
        </p:txBody>
      </p:sp>
      <p:sp>
        <p:nvSpPr>
          <p:cNvPr id="15" name="!!code-num"/>
          <p:cNvSpPr txBox="1"/>
          <p:nvPr/>
        </p:nvSpPr>
        <p:spPr>
          <a:xfrm>
            <a:off x="768096" y="2523744"/>
            <a:ext cx="393192" cy="257860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41</a:t>
            </a:r>
          </a:p>
          <a:p>
            <a:pPr algn="r">
              <a:lnSpc>
                <a:spcPct val="100000"/>
              </a:lnSpc>
            </a:pPr>
            <a:r>
              <a:rPr sz="1800">
                <a:solidFill>
                  <a:srgbClr val="4F5D6A"/>
                </a:solidFill>
                <a:latin typeface="Consolas"/>
              </a:rPr>
              <a:t>42</a:t>
            </a:r>
          </a:p>
          <a:p>
            <a:pPr algn="r">
              <a:lnSpc>
                <a:spcPct val="100000"/>
              </a:lnSpc>
            </a:pPr>
            <a:r>
              <a:rPr sz="1800">
                <a:solidFill>
                  <a:srgbClr val="4F5D6A"/>
                </a:solidFill>
                <a:latin typeface="Consolas"/>
              </a:rPr>
              <a:t>43</a:t>
            </a:r>
          </a:p>
          <a:p>
            <a:pPr algn="r">
              <a:lnSpc>
                <a:spcPct val="100000"/>
              </a:lnSpc>
            </a:pPr>
            <a:r>
              <a:rPr sz="1800">
                <a:solidFill>
                  <a:srgbClr val="4F5D6A"/>
                </a:solidFill>
                <a:latin typeface="Consolas"/>
              </a:rPr>
              <a:t>44</a:t>
            </a:r>
          </a:p>
          <a:p>
            <a:pPr algn="r">
              <a:lnSpc>
                <a:spcPct val="100000"/>
              </a:lnSpc>
            </a:pPr>
            <a:r>
              <a:rPr sz="1800">
                <a:solidFill>
                  <a:srgbClr val="4F5D6A"/>
                </a:solidFill>
                <a:latin typeface="Consolas"/>
              </a:rPr>
              <a:t>45</a:t>
            </a:r>
          </a:p>
          <a:p>
            <a:pPr algn="r">
              <a:lnSpc>
                <a:spcPct val="100000"/>
              </a:lnSpc>
            </a:pPr>
            <a:r>
              <a:rPr sz="1800">
                <a:solidFill>
                  <a:srgbClr val="4F5D6A"/>
                </a:solidFill>
                <a:latin typeface="Consolas"/>
              </a:rPr>
              <a:t>46</a:t>
            </a:r>
          </a:p>
          <a:p>
            <a:pPr algn="r">
              <a:lnSpc>
                <a:spcPct val="100000"/>
              </a:lnSpc>
            </a:pPr>
            <a:r>
              <a:rPr sz="1800">
                <a:solidFill>
                  <a:srgbClr val="4F5D6A"/>
                </a:solidFill>
                <a:latin typeface="Consolas"/>
              </a:rPr>
              <a:t>47</a:t>
            </a:r>
          </a:p>
          <a:p>
            <a:pPr algn="r">
              <a:lnSpc>
                <a:spcPct val="100000"/>
              </a:lnSpc>
            </a:pPr>
            <a:r>
              <a:rPr sz="1800">
                <a:solidFill>
                  <a:srgbClr val="4F5D6A"/>
                </a:solidFill>
                <a:latin typeface="Consolas"/>
              </a:rPr>
              <a:t>48</a:t>
            </a:r>
          </a:p>
          <a:p>
            <a:pPr algn="r">
              <a:lnSpc>
                <a:spcPct val="100000"/>
              </a:lnSpc>
            </a:pPr>
            <a:r>
              <a:rPr sz="1800">
                <a:solidFill>
                  <a:srgbClr val="4F5D6A"/>
                </a:solidFill>
                <a:latin typeface="Consolas"/>
              </a:rPr>
              <a:t>49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02185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§8.8  ·  Handout p. 64     </a:t>
            </a:r>
            <a:fld id="{691F038E-5B40-459D-B938-AC2EA2E4CD76}" type="slidenum">
              <a:rPr lang="en-GB" sz="1000">
                <a:solidFill>
                  <a:srgbClr val="8795A1"/>
                </a:solidFill>
                <a:latin typeface="Segoe UI"/>
              </a:rPr>
              <a:t>38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model is 96% accurate against a 95% baseline, and at the default threshold it finds only a third of the positives. Add </a:t>
            </a:r>
            <a:r>
              <a:rPr sz="2150" b="0" i="0">
                <a:solidFill>
                  <a:srgbClr val="1F4E79"/>
                </a:solidFill>
                <a:latin typeface="Consolas"/>
              </a:rPr>
              <a:t>class_weight="balanced"</a:t>
            </a:r>
            <a:r>
              <a:rPr sz="2300" b="0" i="0">
                <a:solidFill>
                  <a:srgbClr val="1C252B"/>
                </a:solidFill>
                <a:latin typeface="Segoe UI"/>
              </a:rPr>
              <a:t> to </a:t>
            </a:r>
            <a:r>
              <a:rPr sz="2150" b="0" i="0">
                <a:solidFill>
                  <a:srgbClr val="1F4E79"/>
                </a:solidFill>
                <a:latin typeface="Consolas"/>
              </a:rPr>
              <a:t>LogisticRegression</a:t>
            </a:r>
            <a:r>
              <a:rPr sz="2300" b="0" i="0">
                <a:solidFill>
                  <a:srgbClr val="1C252B"/>
                </a:solidFill>
                <a:latin typeface="Segoe UI"/>
              </a:rPr>
              <a:t> and compare the recall, precision and PR-AUC.</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26568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Of 400 flagged logins, 100 were attacks; 20 attacks were not flagged. Compute precision and recall.</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8  ·  Measuring Classifier Performance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69  ·  answers in Appendix D     </a:t>
            </a:r>
            <a:fld id="{DA9A0E40-27A2-48DF-87D3-1EFCCD26954D}" type="slidenum">
              <a:rPr lang="en-GB" sz="1000">
                <a:solidFill>
                  <a:srgbClr val="D5DEE5"/>
                </a:solidFill>
                <a:latin typeface="Segoe UI"/>
              </a:rPr>
              <a:t>39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Of 400 flagged logins, 100 were attacks; 20 attacks were not flagged. Compute precision and recall.</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34869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TP </a:t>
            </a:r>
            <a:r>
              <a:rPr sz="2200" b="0" i="0">
                <a:solidFill>
                  <a:srgbClr val="1C252B"/>
                </a:solidFill>
                <a:latin typeface="Cambria"/>
              </a:rPr>
              <a:t>= 100</a:t>
            </a:r>
            <a:r>
              <a:rPr sz="2200" b="0" i="0">
                <a:solidFill>
                  <a:srgbClr val="1C252B"/>
                </a:solidFill>
                <a:latin typeface="Segoe UI"/>
              </a:rPr>
              <a:t>, FP </a:t>
            </a:r>
            <a:r>
              <a:rPr sz="2200" b="0" i="0">
                <a:solidFill>
                  <a:srgbClr val="1C252B"/>
                </a:solidFill>
                <a:latin typeface="Cambria"/>
              </a:rPr>
              <a:t>= 300</a:t>
            </a:r>
            <a:r>
              <a:rPr sz="2200" b="0" i="0">
                <a:solidFill>
                  <a:srgbClr val="1C252B"/>
                </a:solidFill>
                <a:latin typeface="Segoe UI"/>
              </a:rPr>
              <a:t>, FN </a:t>
            </a:r>
            <a:r>
              <a:rPr sz="2200" b="0" i="0">
                <a:solidFill>
                  <a:srgbClr val="1C252B"/>
                </a:solidFill>
                <a:latin typeface="Cambria"/>
              </a:rPr>
              <a:t>= 20</a:t>
            </a:r>
            <a:r>
              <a:rPr sz="2200" b="0" i="0">
                <a:solidFill>
                  <a:srgbClr val="1C252B"/>
                </a:solidFill>
                <a:latin typeface="Segoe UI"/>
              </a:rPr>
              <a:t>. Precision </a:t>
            </a:r>
            <a:r>
              <a:rPr sz="2200" b="0" i="0">
                <a:solidFill>
                  <a:srgbClr val="1C252B"/>
                </a:solidFill>
                <a:latin typeface="Cambria"/>
              </a:rPr>
              <a:t>= 100/400 = 0.25</a:t>
            </a:r>
            <a:r>
              <a:rPr sz="2200" b="0" i="0">
                <a:solidFill>
                  <a:srgbClr val="1C252B"/>
                </a:solidFill>
                <a:latin typeface="Segoe UI"/>
              </a:rPr>
              <a:t>; recall </a:t>
            </a:r>
            <a:r>
              <a:rPr sz="2200" b="0" i="0">
                <a:solidFill>
                  <a:srgbClr val="1C252B"/>
                </a:solidFill>
                <a:latin typeface="Cambria"/>
              </a:rPr>
              <a:t>= 100/120 = 0.83</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69  ·  answers in Appendix D     </a:t>
            </a:r>
            <a:fld id="{04283828-7605-4F4F-9AD3-88FEB5F7B754}" type="slidenum">
              <a:rPr lang="en-GB" sz="1000">
                <a:solidFill>
                  <a:srgbClr val="8795A1"/>
                </a:solidFill>
                <a:latin typeface="Segoe UI"/>
              </a:rPr>
              <a:t>40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75335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classifier’s ROC-AUC is 0.97 on data with 0.1% positives. What should you ask for before believing it is useful?</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8  ·  Measuring Classifier Performance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69  ·  answers in Appendix D     </a:t>
            </a:r>
            <a:fld id="{CB49884D-F6EF-43BB-89C0-20B0F429FA3C}"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classifier’s ROC-AUC is 0.97 on data with 0.1% positives. What should you ask for before believing it is useful?</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precision–recall curve, or precision at the recall the application needs, and the number of alerts per day. With 0.1% positives a high ROC-AUC is compatible with most alerts being false.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69  ·  answers in Appendix D     </a:t>
            </a:r>
            <a:fld id="{CAD81A5D-EEF2-4B3E-9F06-88E5286BFEA4}" type="slidenum">
              <a:rPr lang="en-GB" sz="1000">
                <a:solidFill>
                  <a:srgbClr val="8795A1"/>
                </a:solidFill>
                <a:latin typeface="Segoe UI"/>
              </a:rPr>
              <a:t>42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24102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model makes 15 errors on 100 test examples. Give an approximate 95% interval for its true error.</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8  ·  Measuring Classifier Performance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69  ·  answers in Appendix D     </a:t>
            </a:r>
            <a:fld id="{171F4E30-194D-4B24-88C9-274BCCCAE47F}" type="slidenum">
              <a:rPr lang="en-GB" sz="1000">
                <a:solidFill>
                  <a:srgbClr val="D5DEE5"/>
                </a:solidFill>
                <a:latin typeface="Segoe UI"/>
              </a:rPr>
              <a:t>43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model makes 15 errors on 100 test examples. Give an approximate 95% interval for its true error.</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34869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Cambria"/>
              </a:rPr>
              <a:t>e</a:t>
            </a:r>
            <a:r>
              <a:rPr sz="2200" b="0" i="0">
                <a:solidFill>
                  <a:srgbClr val="1C252B"/>
                </a:solidFill>
                <a:latin typeface="Cambria"/>
              </a:rPr>
              <a:t> = 0.15</a:t>
            </a:r>
            <a:r>
              <a:rPr sz="2200" b="0" i="0">
                <a:solidFill>
                  <a:srgbClr val="1C252B"/>
                </a:solidFill>
                <a:latin typeface="Segoe UI"/>
              </a:rPr>
              <a:t>: </a:t>
            </a:r>
            <a:r>
              <a:rPr sz="2200" b="0" i="0">
                <a:solidFill>
                  <a:srgbClr val="1C252B"/>
                </a:solidFill>
                <a:latin typeface="Cambria"/>
              </a:rPr>
              <a:t>1.96√(0.15 × 0.85/100) = 0.070</a:t>
            </a:r>
            <a:r>
              <a:rPr sz="2200" b="0" i="0">
                <a:solidFill>
                  <a:srgbClr val="1C252B"/>
                </a:solidFill>
                <a:latin typeface="Segoe UI"/>
              </a:rPr>
              <a:t>, so roughly 8% to 22%.</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69  ·  answers in Appendix D     </a:t>
            </a:r>
            <a:fld id="{FEF6FAE7-30D9-4563-97B5-7271C04ACBCC}" type="slidenum">
              <a:rPr lang="en-GB" sz="1000">
                <a:solidFill>
                  <a:srgbClr val="8795A1"/>
                </a:solidFill>
                <a:latin typeface="Segoe UI"/>
              </a:rPr>
              <a:t>44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72869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69     </a:t>
            </a:r>
            <a:fld id="{6638A0FB-DDCB-41A6-AA3B-F9037E3A36A2}" type="slidenum">
              <a:rPr lang="en-GB" sz="1000">
                <a:solidFill>
                  <a:srgbClr val="8795A1"/>
                </a:solidFill>
                <a:latin typeface="Segoe UI"/>
              </a:rPr>
              <a:t>45</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Every classification metric is a ratio of the four confusion-matrix cells; always compute the majority baseline first.</a:t>
            </a:r>
          </a:p>
        </p:txBody>
      </p:sp>
      <p:sp>
        <p:nvSpPr>
          <p:cNvPr id="10" name="!!sb1">
            <a:extLst>
              <a:ext uri="{C183D7F6-B498-43B3-948B-1728B52AA6E4}">
                <adec:decorative xmlns:adec="http://schemas.microsoft.com/office/drawing/2017/decorative" val="1"/>
              </a:ext>
            </a:extLst>
          </p:cNvPr>
          <p:cNvSpPr/>
          <p:nvPr/>
        </p:nvSpPr>
        <p:spPr>
          <a:xfrm>
            <a:off x="658368" y="253166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8653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22524"/>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Precision asks “when I flag, am I right?”; recall asks “of the real cases, how many did I flag?” The threshold trades one for the other, and should be chosen from the costs of the two errors.</a:t>
            </a:r>
          </a:p>
        </p:txBody>
      </p:sp>
      <p:sp>
        <p:nvSpPr>
          <p:cNvPr id="13" name="!!sb2">
            <a:extLst>
              <a:ext uri="{C183D7F6-B498-43B3-948B-1728B52AA6E4}">
                <adec:decorative xmlns:adec="http://schemas.microsoft.com/office/drawing/2017/decorative" val="1"/>
              </a:ext>
            </a:extLst>
          </p:cNvPr>
          <p:cNvSpPr/>
          <p:nvPr/>
        </p:nvSpPr>
        <p:spPr>
          <a:xfrm>
            <a:off x="658368" y="331683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37169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307689"/>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ROC-AUC summarises ranking quality across thresholds but flatters rare-event detectors; prefer precision–recall curves there.</a:t>
            </a:r>
          </a:p>
        </p:txBody>
      </p:sp>
      <p:sp>
        <p:nvSpPr>
          <p:cNvPr id="16" name="!!sb3">
            <a:extLst>
              <a:ext uri="{C183D7F6-B498-43B3-948B-1728B52AA6E4}">
                <adec:decorative xmlns:adec="http://schemas.microsoft.com/office/drawing/2017/decorative" val="1"/>
              </a:ext>
            </a:extLst>
          </p:cNvPr>
          <p:cNvSpPr/>
          <p:nvPr/>
        </p:nvSpPr>
        <p:spPr>
          <a:xfrm>
            <a:off x="658368" y="410199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15686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092854"/>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Macro averaging treats classes equally and exposes weak rare classes; micro averaging equals accuracy.</a:t>
            </a:r>
          </a:p>
        </p:txBody>
      </p:sp>
      <p:sp>
        <p:nvSpPr>
          <p:cNvPr id="19" name="!!sb4">
            <a:extLst>
              <a:ext uri="{C183D7F6-B498-43B3-948B-1728B52AA6E4}">
                <adec:decorative xmlns:adec="http://schemas.microsoft.com/office/drawing/2017/decorative" val="1"/>
              </a:ext>
            </a:extLst>
          </p:cNvPr>
          <p:cNvSpPr/>
          <p:nvPr/>
        </p:nvSpPr>
        <p:spPr>
          <a:xfrm>
            <a:off x="658368" y="488716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94202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878019"/>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measured error is an estimate: its 95% interval is </a:t>
            </a:r>
            <a:r>
              <a:rPr sz="1900" b="0" i="1">
                <a:solidFill>
                  <a:srgbClr val="1C252B"/>
                </a:solidFill>
                <a:latin typeface="Cambria"/>
              </a:rPr>
              <a:t>e</a:t>
            </a:r>
            <a:r>
              <a:rPr sz="1900" b="0" i="0">
                <a:solidFill>
                  <a:srgbClr val="1C252B"/>
                </a:solidFill>
                <a:latin typeface="Cambria"/>
              </a:rPr>
              <a:t> ± 1.96√(</a:t>
            </a:r>
            <a:r>
              <a:rPr sz="1900" b="0" i="1">
                <a:solidFill>
                  <a:srgbClr val="1C252B"/>
                </a:solidFill>
                <a:latin typeface="Cambria"/>
              </a:rPr>
              <a:t>e</a:t>
            </a:r>
            <a:r>
              <a:rPr sz="1900" b="0" i="0">
                <a:solidFill>
                  <a:srgbClr val="1C252B"/>
                </a:solidFill>
                <a:latin typeface="Cambria"/>
              </a:rPr>
              <a:t>(1−</a:t>
            </a:r>
            <a:r>
              <a:rPr sz="1900" b="0" i="1">
                <a:solidFill>
                  <a:srgbClr val="1C252B"/>
                </a:solidFill>
                <a:latin typeface="Cambria"/>
              </a:rPr>
              <a:t>e</a:t>
            </a:r>
            <a:r>
              <a:rPr sz="1900" b="0" i="0">
                <a:solidFill>
                  <a:srgbClr val="1C252B"/>
                </a:solidFill>
                <a:latin typeface="Cambria"/>
              </a:rPr>
              <a:t>)/</a:t>
            </a:r>
            <a:r>
              <a:rPr sz="1900" b="0" i="1">
                <a:solidFill>
                  <a:srgbClr val="1C252B"/>
                </a:solidFill>
                <a:latin typeface="Cambria"/>
              </a:rPr>
              <a:t>n</a:t>
            </a:r>
            <a:r>
              <a:rPr sz="1900" b="0" i="0">
                <a:solidFill>
                  <a:srgbClr val="1C252B"/>
                </a:solidFill>
                <a:latin typeface="Cambria"/>
              </a:rPr>
              <a:t>)</a:t>
            </a:r>
            <a:r>
              <a:rPr sz="1900" b="0" i="0">
                <a:solidFill>
                  <a:srgbClr val="1C252B"/>
                </a:solidFill>
                <a:latin typeface="Segoe UI"/>
              </a:rPr>
              <a:t>. Compare two classifiers on the same test set with McNemar’s test.</a:t>
            </a:r>
          </a:p>
        </p:txBody>
      </p:sp>
      <p:sp>
        <p:nvSpPr>
          <p:cNvPr id="22" name="!!sb5">
            <a:extLst>
              <a:ext uri="{C183D7F6-B498-43B3-948B-1728B52AA6E4}">
                <adec:decorative xmlns:adec="http://schemas.microsoft.com/office/drawing/2017/decorative" val="1"/>
              </a:ext>
            </a:extLst>
          </p:cNvPr>
          <p:cNvSpPr/>
          <p:nvPr/>
        </p:nvSpPr>
        <p:spPr>
          <a:xfrm>
            <a:off x="658368" y="567232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72719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663184"/>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Handle imbalance by moving the threshold, weighting classes, or resampling the training folds only.</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97252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69     </a:t>
            </a:r>
            <a:fld id="{D992C3D8-25B5-4C85-90E4-9FD864B5CD30}" type="slidenum">
              <a:rPr lang="en-GB" sz="1000">
                <a:solidFill>
                  <a:srgbClr val="8795A1"/>
                </a:solidFill>
                <a:latin typeface="Segoe UI"/>
              </a:rPr>
              <a:t>46</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Recall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TP/(TP+FP)</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TP/(TP+FN)</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TN/(TN+FP)</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(TP+TN)/all</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1635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69     </a:t>
            </a:r>
            <a:fld id="{C366ABBA-CD33-4A8C-A7B0-541B65302836}" type="slidenum">
              <a:rPr lang="en-GB" sz="1000">
                <a:solidFill>
                  <a:srgbClr val="8795A1"/>
                </a:solidFill>
                <a:latin typeface="Segoe UI"/>
              </a:rPr>
              <a:t>47</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Lowering the decision threshold usually:</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raises precision and recall</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raises recall, lowers precision</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raises precision, lowers recall</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changes neither</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46019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69     </a:t>
            </a:r>
            <a:fld id="{194FDF7F-37E0-4EE2-8EF8-AAD0375AA887}" type="slidenum">
              <a:rPr lang="en-GB" sz="1000">
                <a:solidFill>
                  <a:srgbClr val="8795A1"/>
                </a:solidFill>
                <a:latin typeface="Segoe UI"/>
              </a:rPr>
              <a:t>48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Micro-averaged recall over all classes equals: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macro recall</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accuracy</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precision</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F</a:t>
            </a:r>
            <a:r>
              <a:rPr sz="2000" b="0" i="0" baseline="-25000">
                <a:solidFill>
                  <a:srgbClr val="1C252B"/>
                </a:solidFill>
                <a:latin typeface="Cambria"/>
              </a:rPr>
              <a:t>1</a:t>
            </a:r>
            <a:r>
              <a:rPr sz="2000" b="0" i="0">
                <a:solidFill>
                  <a:srgbClr val="1C252B"/>
                </a:solidFill>
                <a:latin typeface="Segoe UI"/>
              </a:rPr>
              <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70402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8  ·  Measuring Classifier Performance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69     </a:t>
            </a:r>
            <a:fld id="{65243CBB-092D-4DBF-876F-4D25958A6FCF}" type="slidenum">
              <a:rPr lang="en-GB" sz="1000">
                <a:solidFill>
                  <a:srgbClr val="8795A1"/>
                </a:solidFill>
                <a:latin typeface="Segoe UI"/>
              </a:rPr>
              <a:t>49</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the accuracy paradox with a numeric example of your own.</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do only the disagreements matter in McNemar’s test?</a:t>
            </a:r>
          </a:p>
        </p:txBody>
      </p:sp>
      <p:sp>
        <p:nvSpPr>
          <p:cNvPr id="13" name="!!rt2">
            <a:extLst>
              <a:ext uri="{C183D7F6-B498-43B3-948B-1728B52AA6E4}">
                <adec:decorative xmlns:adec="http://schemas.microsoft.com/office/drawing/2017/decorative" val="1"/>
              </a:ext>
            </a:extLst>
          </p:cNvPr>
          <p:cNvSpPr/>
          <p:nvPr/>
        </p:nvSpPr>
        <p:spPr>
          <a:xfrm>
            <a:off x="658368" y="2796844"/>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283799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2778556"/>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a situation where you would choose a threshold that makes precision 0.2, and justify it.</a:t>
            </a:r>
          </a:p>
        </p:txBody>
      </p:sp>
      <p:sp>
        <p:nvSpPr>
          <p:cNvPr id="16" name="!!rt3">
            <a:extLst>
              <a:ext uri="{C183D7F6-B498-43B3-948B-1728B52AA6E4}">
                <adec:decorative xmlns:adec="http://schemas.microsoft.com/office/drawing/2017/decorative" val="1"/>
              </a:ext>
            </a:extLst>
          </p:cNvPr>
          <p:cNvSpPr/>
          <p:nvPr/>
        </p:nvSpPr>
        <p:spPr>
          <a:xfrm>
            <a:off x="658368" y="3618585"/>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659733"/>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600297"/>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model tested on 10,000 connections, 200 of them attacks, flags 500, of which 160 are attacks. Build the confusion matrix and compute accuracy, precision, recall, specificity and </a:t>
            </a:r>
            <a:r>
              <a:rPr sz="1900" b="0" i="1">
                <a:solidFill>
                  <a:srgbClr val="1C252B"/>
                </a:solidFill>
                <a:latin typeface="Cambria"/>
              </a:rPr>
              <a:t>F</a:t>
            </a:r>
            <a:r>
              <a:rPr sz="1900" b="0" i="0" baseline="-25000">
                <a:solidFill>
                  <a:srgbClr val="1C252B"/>
                </a:solidFill>
                <a:latin typeface="Cambria"/>
              </a:rPr>
              <a:t>1</a:t>
            </a:r>
            <a:r>
              <a:rPr sz="1900" b="0" i="0">
                <a:solidFill>
                  <a:srgbClr val="1C252B"/>
                </a:solidFill>
                <a:latin typeface="Segoe UI"/>
              </a:rPr>
              <a:t>. Which two numbers would you put in a report to the security manager?</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Classifier A has 18% error and classifier B 15% on the same 300 test examples. Compute a 95% interval for each. On the disagreements, A is wrong and B right 25 times, and the reverse 16 times. Is B significantly better?</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4786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5739D"/>
                </a:solidFill>
                <a:latin typeface="Segoe UI Black"/>
              </a:rPr>
              <a:t>08</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8</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Chapter 9 — Decision Tree Learning</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8, pages 60–69</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Evaluate an imbalanced classifier</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Assignment 1 due; Quiz 2 (Ch 4–7)</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8  ·  Measuring Classifier Performance</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83475F86-916C-4E11-9213-27BF103217C1}" type="slidenum">
              <a:rPr lang="en-GB" sz="1000">
                <a:solidFill>
                  <a:srgbClr val="D5DEE5"/>
                </a:solidFill>
                <a:latin typeface="Segoe UI"/>
              </a:rPr>
              <a:t>50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Machine Learning Fall 2026">
  <a:themeElements>
    <a:clrScheme name="Machine Learning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Machine Learning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 Measuring Classifier Performance</dc:title>
  <dc:subject>Machine Learning — From Hypotheses to Decisions · BSIT · Fall 2026</dc:subject>
  <dc:creator>Dr. Mustafa Hameed</dc:creator>
  <cp:keywords>machine learning;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