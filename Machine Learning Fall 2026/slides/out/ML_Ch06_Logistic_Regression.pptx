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00.svg" ContentType="image/svg+xml"/>
  <Override PartName="/ppt/media/image102.svg" ContentType="image/svg+xml"/>
  <Override PartName="/ppt/media/image104.svg" ContentType="image/svg+xml"/>
  <Override PartName="/ppt/media/image105.svg" ContentType="image/svg+xml"/>
  <Override PartName="/ppt/media/image106.svg" ContentType="image/svg+xml"/>
  <Override PartName="/ppt/media/image107.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8.svg" ContentType="image/svg+xml"/>
  <Override PartName="/ppt/media/image30.svg" ContentType="image/svg+xml"/>
  <Override PartName="/ppt/media/image32.svg" ContentType="image/svg+xml"/>
  <Override PartName="/ppt/media/image33.svg" ContentType="image/svg+xml"/>
  <Override PartName="/ppt/media/image34.svg" ContentType="image/svg+xml"/>
  <Override PartName="/ppt/media/image36.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2.svg" ContentType="image/svg+xml"/>
  <Override PartName="/ppt/media/image44.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3.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79.svg" ContentType="image/svg+xml"/>
  <Override PartName="/ppt/media/image8.svg" ContentType="image/svg+xml"/>
  <Override PartName="/ppt/media/image81.svg" ContentType="image/svg+xml"/>
  <Override PartName="/ppt/media/image82.svg" ContentType="image/svg+xml"/>
  <Override PartName="/ppt/media/image83.svg" ContentType="image/svg+xml"/>
  <Override PartName="/ppt/media/image84.svg" ContentType="image/svg+xml"/>
  <Override PartName="/ppt/media/image85.svg" ContentType="image/svg+xml"/>
  <Override PartName="/ppt/media/image87.svg" ContentType="image/svg+xml"/>
  <Override PartName="/ppt/media/image88.svg" ContentType="image/svg+xml"/>
  <Override PartName="/ppt/media/image89.svg" ContentType="image/svg+xml"/>
  <Override PartName="/ppt/media/image90.svg" ContentType="image/svg+xml"/>
  <Override PartName="/ppt/media/image91.svg" ContentType="image/svg+xml"/>
  <Override PartName="/ppt/media/image92.svg" ContentType="image/svg+xml"/>
  <Override PartName="/ppt/media/image94.svg" ContentType="image/svg+xml"/>
  <Override PartName="/ppt/media/image96.svg" ContentType="image/svg+xml"/>
  <Override PartName="/ppt/media/image97.svg" ContentType="image/svg+xml"/>
  <Override PartName="/ppt/media/image98.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D601F3F-1019-4B86-A1B3-D24C98F9FE8E}">
          <p14:sldIdLst>
            <p14:sldId id="256"/>
            <p14:sldId id="257"/>
            <p14:sldId id="258"/>
            <p14:sldId id="259"/>
            <p14:sldId id="260"/>
          </p14:sldIdLst>
        </p14:section>
        <p14:section name="6.1 Why Not Just Use Linear Regression?" id="{95965AD3-1CC5-480E-A07A-900BCAC22B54}">
          <p14:sldIdLst>
            <p14:sldId id="261"/>
          </p14:sldIdLst>
        </p14:section>
        <p14:section name="6.2 The Sigmoid and the Log-Odds" id="{9EA250A4-31AB-4EFF-B823-C08AD3D977BC}">
          <p14:sldIdLst>
            <p14:sldId id="262"/>
            <p14:sldId id="263"/>
            <p14:sldId id="264"/>
            <p14:sldId id="265"/>
          </p14:sldIdLst>
        </p14:section>
        <p14:section name="6.3 The Decision Boundary" id="{51A95D00-FEC6-4EA6-91E8-0139BCE6AA13}">
          <p14:sldIdLst>
            <p14:sldId id="266"/>
          </p14:sldIdLst>
        </p14:section>
        <p14:section name="6.4 The Loss: Cross-Entropy" id="{7FA79408-578D-46CF-A267-EB6886A7D6B5}">
          <p14:sldIdLst>
            <p14:sldId id="267"/>
            <p14:sldId id="268"/>
            <p14:sldId id="269"/>
            <p14:sldId id="270"/>
          </p14:sldIdLst>
        </p14:section>
        <p14:section name="6.5 Fitting by Gradient Descent" id="{8E269DDF-502F-45A9-8B7A-A461867AA109}">
          <p14:sldIdLst>
            <p14:sldId id="271"/>
            <p14:sldId id="272"/>
            <p14:sldId id="273"/>
            <p14:sldId id="274"/>
          </p14:sldIdLst>
        </p14:section>
        <p14:section name="6.6 More Than Two Classes" id="{80405962-75BD-4D8C-BC7B-E93DF762FB9D}">
          <p14:sldIdLst>
            <p14:sldId id="275"/>
            <p14:sldId id="276"/>
          </p14:sldIdLst>
        </p14:section>
        <p14:section name="Pitfalls" id="{D1D0B07C-EA96-42B4-95D1-0693F95EB369}">
          <p14:sldIdLst>
            <p14:sldId id="277"/>
          </p14:sldIdLst>
        </p14:section>
        <p14:section name="Four lenses" id="{9B8750D0-A83C-439C-A5FC-F87D0E49B5BE}">
          <p14:sldIdLst>
            <p14:sldId id="278"/>
            <p14:sldId id="279"/>
            <p14:sldId id="280"/>
            <p14:sldId id="281"/>
            <p14:sldId id="282"/>
          </p14:sldIdLst>
        </p14:section>
        <p14:section name="Lab" id="{B8C7B5EB-D960-4599-8D27-1EB350337969}">
          <p14:sldIdLst>
            <p14:sldId id="283"/>
            <p14:sldId id="284"/>
            <p14:sldId id="285"/>
            <p14:sldId id="286"/>
            <p14:sldId id="287"/>
            <p14:sldId id="288"/>
          </p14:sldIdLst>
        </p14:section>
        <p14:section name="Checkpoint" id="{56B0AF05-59B8-46A4-86E5-10A2FC294F45}">
          <p14:sldIdLst>
            <p14:sldId id="289"/>
            <p14:sldId id="290"/>
            <p14:sldId id="291"/>
            <p14:sldId id="292"/>
            <p14:sldId id="293"/>
            <p14:sldId id="294"/>
          </p14:sldIdLst>
        </p14:section>
        <p14:section name="Wrap-up" id="{DD941AE2-DCEC-4F74-8B3E-AFBCE057F3E6}">
          <p14:sldIdLst>
            <p14:sldId id="295"/>
            <p14:sldId id="296"/>
            <p14:sldId id="297"/>
            <p14:sldId id="298"/>
            <p14:sldId id="299"/>
            <p14:sldId id="30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6: Logistic Regression. Part 2 — Linear Models and Generalization. Week 5: Logistic regression. Handout pages 45–51.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5 (the linear model, gradient descent on a loss) and Chapter 2 (maximum likelihood, logarithms, the chain rule).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binary classification; sigmoid (logistic) function; odds; log-odds (logit); odds ratio; decision boundary; threshold; cross-entropy (log loss); linear separability; one-vs-rest; softmax.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a binary label as y = 1 (fail) or y = 0 (pass), fit a least-squares line, and call anything above 0.5 a fail. It half works — and it breaks in two ways, both visible on the left of Figure 6.1. The line predicts values below 0 and above 1, which cannot be probabilities. And a few examples far from the boundary — a student with perfect attendance, who of course passed — drag the line towards them and move the 0.5 crossing, misclassifying students near the boundary who were previously correct. The model is being penalised for being too right about easy cases.</a:t>
            </a:r>
          </a:p>
          <a:p/>
          <a:p>
            <a:r>
              <a:t>Figure 6.1 (handout p. 45): The same pass (green) and fail (red) students modelled two ways. The straight line leaves [0,1] and is pulled by easy cases; the sigmoid stays between 0 and 1 and flattens out where the answer is already clear.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Inverting the sigmoid shows what the linear score means. If p = σ(z) then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ratio p/(1−p) is the odds — a probability of 0.8 is odds of 4 to 1 — and its logarithm is the log-odds or logit. So logistic regression is a linear model of the log-odds. Each weight is the change in log-odds for a one-unit increase in its feature, and ewj is the odds ratio: the factor by which the odds are multiplied.</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predicts class 1 when σ(z) &gt; 0.5, which happens exactly when z &gt; 0. So the decision boundary is the set of points where w·x + b = 0: a straight line in two dimensions, a plane in three, a hyperplane in general. Logistic regression is a linear classifier; it can separate classes only with a flat boundary.</a:t>
            </a:r>
          </a:p>
          <a:p/>
          <a:p>
            <a:r>
              <a:t>Figure 6.2 (handout p. 47): The decision boundary of the model z = 4 − 5a − 3q is the line 5a + 3q = 4. The dashed lines, where z = ±ln 3, are where the probability of failing is 0.75 and 0.25: probability changes gradually across the boundary.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Squared error is the wrong loss for probabilities: combined with the sigmoid it gives a bumpy surface with flat regions where gradient descent stalls. The right loss comes, again, from maximum likelihood. If the model gives probability pi to class 1, the likelihood of the observed label is pi when yi = 1 and 1 − pi when yi = 0. Taking minus the average log of that gives: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6.3 (handout p. 47): Cross-entropy punishes confident mistakes without limit. Being right at 0.9 costs 0.11; being wrong at 0.99 costs 4.6.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Differentiating the cross-entropy through the sigmoid, most of the algebra cancels and leaves a result of exactly the same shape as linear regression’s: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times feature, averaged — with the error now measured in probability.</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One-vs-rest trains one binary classifier per class (“class k or not?”) and predicts the class whose classifier is most confident. Softmax (multinomial) regression is the direct generalisation: one linear score per class, turned into probabilities that sum to 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The standard early-warning model. The probability ranks students for outreach, and the odds ratios — “each missed quiz multiplies the odds of failing by 1.4” — are something an academic committee will accept, which a more accurate but opaque model may not be.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Predict whether a project will overrun its deadline from team size, requirement changes and dependencies. With a few hundred projects, logistic regression is often as accurate as anything more complex, and its odds ratios tell a portfolio manager which risk factor to act on first.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Predict whether a component fails within 30 days from its sensor summaries. On a microcontroller, a trained logistic model is one dot product and one exponential — a few microseconds and a few hundred bytes, which is why it is a favourite for on-device inference.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Phishing and spam filters were logistic regression over word and URL features for years, and many still are. Its weakness is its linearity: an attacker who learns which words carry negative weight can add them to a phishing e-mail until the score drops below the threshold.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The worked example: gradient descent by hand.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A real classifier, read as odds ratios.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Three classes: softmax.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p = 1/(1 + e−1.2) = 1/1.301 = 0.769; odds = e1.2 = 3.32 (about 10 to 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e0.7 = 2.01: the odds roughly double.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 positive predicted at 0.4 costs −ln 0.4 = 0.916; a negative predicted at 0.4 costs −ln 0.6 = 0.511. The positive costs more, because 0.4 is further from its true label.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7 — Overfitting, Bias–Variance and Regularisation. READ: Handout Chapter 6, pages 45–51. THIS WEEK'S LAB: Logistic regression by hand and by library. ASSESSMENT: Assignment 1 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1.xml"/><Relationship Id="rId8" Type="http://schemas.openxmlformats.org/officeDocument/2006/relationships/slide" Target="slide12.xml"/><Relationship Id="rId9" Type="http://schemas.openxmlformats.org/officeDocument/2006/relationships/slide" Target="slide16.xml"/><Relationship Id="rId10" Type="http://schemas.openxmlformats.org/officeDocument/2006/relationships/slide" Target="slide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image" Target="../media/image15.png"/><Relationship Id="rId5" Type="http://schemas.openxmlformats.org/officeDocument/2006/relationships/image" Target="../media/image16.sv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7.svg"/><Relationship Id="rId4" Type="http://schemas.openxmlformats.org/officeDocument/2006/relationships/image" Target="../media/image18.png"/><Relationship Id="rId5" Type="http://schemas.openxmlformats.org/officeDocument/2006/relationships/image" Target="../media/image19.sv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image" Target="../media/image24.png"/><Relationship Id="rId7" Type="http://schemas.openxmlformats.org/officeDocument/2006/relationships/image" Target="../media/image25.sv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7.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8.svg"/><Relationship Id="rId4" Type="http://schemas.openxmlformats.org/officeDocument/2006/relationships/image" Target="../media/image29.png"/><Relationship Id="rId5" Type="http://schemas.openxmlformats.org/officeDocument/2006/relationships/image" Target="../media/image30.sv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33.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34.svg"/><Relationship Id="rId4" Type="http://schemas.openxmlformats.org/officeDocument/2006/relationships/image" Target="../media/image35.png"/><Relationship Id="rId5" Type="http://schemas.openxmlformats.org/officeDocument/2006/relationships/image" Target="../media/image36.sv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37.svg"/><Relationship Id="rId4" Type="http://schemas.openxmlformats.org/officeDocument/2006/relationships/image" Target="../media/image38.png"/><Relationship Id="rId5" Type="http://schemas.openxmlformats.org/officeDocument/2006/relationships/image" Target="../media/image39.sv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42.svg"/><Relationship Id="rId4" Type="http://schemas.openxmlformats.org/officeDocument/2006/relationships/image" Target="../media/image43.png"/><Relationship Id="rId5" Type="http://schemas.openxmlformats.org/officeDocument/2006/relationships/image" Target="../media/image44.sv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45.svg"/><Relationship Id="rId4" Type="http://schemas.openxmlformats.org/officeDocument/2006/relationships/image" Target="../media/image46.png"/><Relationship Id="rId5" Type="http://schemas.openxmlformats.org/officeDocument/2006/relationships/image" Target="../media/image47.svg"/><Relationship Id="rId6" Type="http://schemas.openxmlformats.org/officeDocument/2006/relationships/image" Target="../media/image48.png"/><Relationship Id="rId7" Type="http://schemas.openxmlformats.org/officeDocument/2006/relationships/image" Target="../media/image49.svg"/><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1.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image" Target="../media/image58.png"/><Relationship Id="rId9" Type="http://schemas.openxmlformats.org/officeDocument/2006/relationships/image" Target="../media/image59.svg"/><Relationship Id="rId10" Type="http://schemas.openxmlformats.org/officeDocument/2006/relationships/image" Target="../media/image60.png"/><Relationship Id="rId11" Type="http://schemas.openxmlformats.org/officeDocument/2006/relationships/image" Target="../media/image61.svg"/><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54.png"/><Relationship Id="rId5" Type="http://schemas.openxmlformats.org/officeDocument/2006/relationships/image" Target="../media/image64.svg"/><Relationship Id="rId6" Type="http://schemas.openxmlformats.org/officeDocument/2006/relationships/image" Target="../media/image56.png"/><Relationship Id="rId7" Type="http://schemas.openxmlformats.org/officeDocument/2006/relationships/image" Target="../media/image65.svg"/><Relationship Id="rId8" Type="http://schemas.openxmlformats.org/officeDocument/2006/relationships/image" Target="../media/image58.png"/><Relationship Id="rId9" Type="http://schemas.openxmlformats.org/officeDocument/2006/relationships/image" Target="../media/image66.svg"/><Relationship Id="rId10" Type="http://schemas.openxmlformats.org/officeDocument/2006/relationships/image" Target="../media/image60.png"/><Relationship Id="rId11" Type="http://schemas.openxmlformats.org/officeDocument/2006/relationships/image" Target="../media/image67.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69.svg"/><Relationship Id="rId4" Type="http://schemas.openxmlformats.org/officeDocument/2006/relationships/image" Target="../media/image56.png"/><Relationship Id="rId5" Type="http://schemas.openxmlformats.org/officeDocument/2006/relationships/image" Target="../media/image70.svg"/><Relationship Id="rId6" Type="http://schemas.openxmlformats.org/officeDocument/2006/relationships/image" Target="../media/image54.png"/><Relationship Id="rId7" Type="http://schemas.openxmlformats.org/officeDocument/2006/relationships/image" Target="../media/image71.svg"/><Relationship Id="rId8" Type="http://schemas.openxmlformats.org/officeDocument/2006/relationships/image" Target="../media/image58.png"/><Relationship Id="rId9" Type="http://schemas.openxmlformats.org/officeDocument/2006/relationships/image" Target="../media/image72.svg"/><Relationship Id="rId10" Type="http://schemas.openxmlformats.org/officeDocument/2006/relationships/image" Target="../media/image60.png"/><Relationship Id="rId11" Type="http://schemas.openxmlformats.org/officeDocument/2006/relationships/image" Target="../media/image73.sv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image" Target="../media/image75.svg"/><Relationship Id="rId4" Type="http://schemas.openxmlformats.org/officeDocument/2006/relationships/image" Target="../media/image58.png"/><Relationship Id="rId5" Type="http://schemas.openxmlformats.org/officeDocument/2006/relationships/image" Target="../media/image76.svg"/><Relationship Id="rId6" Type="http://schemas.openxmlformats.org/officeDocument/2006/relationships/image" Target="../media/image54.png"/><Relationship Id="rId7" Type="http://schemas.openxmlformats.org/officeDocument/2006/relationships/image" Target="../media/image77.svg"/><Relationship Id="rId8" Type="http://schemas.openxmlformats.org/officeDocument/2006/relationships/image" Target="../media/image56.png"/><Relationship Id="rId9" Type="http://schemas.openxmlformats.org/officeDocument/2006/relationships/image" Target="../media/image78.svg"/><Relationship Id="rId10" Type="http://schemas.openxmlformats.org/officeDocument/2006/relationships/image" Target="../media/image60.png"/><Relationship Id="rId11" Type="http://schemas.openxmlformats.org/officeDocument/2006/relationships/image" Target="../media/image79.sv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1.svg"/><Relationship Id="rId4" Type="http://schemas.openxmlformats.org/officeDocument/2006/relationships/image" Target="../media/image60.png"/><Relationship Id="rId5" Type="http://schemas.openxmlformats.org/officeDocument/2006/relationships/image" Target="../media/image82.svg"/><Relationship Id="rId6" Type="http://schemas.openxmlformats.org/officeDocument/2006/relationships/image" Target="../media/image54.png"/><Relationship Id="rId7" Type="http://schemas.openxmlformats.org/officeDocument/2006/relationships/image" Target="../media/image83.svg"/><Relationship Id="rId8" Type="http://schemas.openxmlformats.org/officeDocument/2006/relationships/image" Target="../media/image56.png"/><Relationship Id="rId9" Type="http://schemas.openxmlformats.org/officeDocument/2006/relationships/image" Target="../media/image84.svg"/><Relationship Id="rId10" Type="http://schemas.openxmlformats.org/officeDocument/2006/relationships/image" Target="../media/image58.png"/><Relationship Id="rId11" Type="http://schemas.openxmlformats.org/officeDocument/2006/relationships/image" Target="../media/image85.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image" Target="../media/image87.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image" Target="../media/image88.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image" Target="../media/image89.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image" Target="../media/image90.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image" Target="../media/image91.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image" Target="../media/image92.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3.png"/><Relationship Id="rId3" Type="http://schemas.openxmlformats.org/officeDocument/2006/relationships/image" Target="../media/image94.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5.png"/><Relationship Id="rId3" Type="http://schemas.openxmlformats.org/officeDocument/2006/relationships/image" Target="../media/image96.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3.png"/><Relationship Id="rId3" Type="http://schemas.openxmlformats.org/officeDocument/2006/relationships/image" Target="../media/image97.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5.png"/><Relationship Id="rId3" Type="http://schemas.openxmlformats.org/officeDocument/2006/relationships/image" Target="../media/image98.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3.png"/><Relationship Id="rId3" Type="http://schemas.openxmlformats.org/officeDocument/2006/relationships/image" Target="../media/image99.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5.png"/><Relationship Id="rId3" Type="http://schemas.openxmlformats.org/officeDocument/2006/relationships/image" Target="../media/image100.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1.png"/><Relationship Id="rId3" Type="http://schemas.openxmlformats.org/officeDocument/2006/relationships/image" Target="../media/image102.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3.png"/><Relationship Id="rId3" Type="http://schemas.openxmlformats.org/officeDocument/2006/relationships/image" Target="../media/image104.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3.png"/><Relationship Id="rId3" Type="http://schemas.openxmlformats.org/officeDocument/2006/relationships/image" Target="../media/image105.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3.png"/><Relationship Id="rId3" Type="http://schemas.openxmlformats.org/officeDocument/2006/relationships/image" Target="../media/image106.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3.png"/><Relationship Id="rId3" Type="http://schemas.openxmlformats.org/officeDocument/2006/relationships/image" Target="../media/image107.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9769F"/>
                </a:solidFill>
                <a:latin typeface="Segoe UI Black"/>
              </a:rPr>
              <a:t>06</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Logistic Regression</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PART II  ·  LINEAR MODELS AND GENERALIZATION</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CHAPTER 6  ·  WEEK 5</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3E1EA"/>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94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8BA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FCC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8BA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45     </a:t>
            </a:r>
            <a:fld id="{90463656-EC8D-4F88-8ECA-96C2A732968F}" type="slidenum">
              <a:rPr lang="en-GB" sz="1000">
                <a:solidFill>
                  <a:srgbClr val="8795A1"/>
                </a:solidFill>
                <a:latin typeface="Segoe UI"/>
              </a:rPr>
              <a:t>2</a:t>
            </a:fld>
          </a:p>
        </p:txBody>
      </p:sp>
      <p:sp>
        <p:nvSpPr>
          <p:cNvPr id="7" name="!!rp1"/>
          <p:cNvSpPr txBox="1"/>
          <p:nvPr/>
        </p:nvSpPr>
        <p:spPr>
          <a:xfrm>
            <a:off x="777239"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89666" y="1755648"/>
            <a:ext cx="189413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89666" y="2029967"/>
            <a:ext cx="1894138" cy="4572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912988"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912988"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644467"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644467"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9147366"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9147366"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650266" y="1755648"/>
            <a:ext cx="764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650266" y="2029967"/>
            <a:ext cx="76418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04599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9545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48507" y="2112264"/>
            <a:ext cx="566928" cy="566928"/>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148507"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31" name="!!dot7">
            <a:extLst>
              <a:ext uri="{C183D7F6-B498-43B3-948B-1728B52AA6E4}">
                <adec:decorative xmlns:adec="http://schemas.microsoft.com/office/drawing/2017/decorative" val="1"/>
              </a:ext>
            </a:extLst>
          </p:cNvPr>
          <p:cNvSpPr/>
          <p:nvPr/>
        </p:nvSpPr>
        <p:spPr>
          <a:xfrm>
            <a:off x="3859786"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768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269312"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1778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953159"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8617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36268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2712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77221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6807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181738"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0902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59126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49982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0079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09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68463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5931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4164"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27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503691"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4122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18753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0960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59706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5056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00659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9151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236794"/>
                </a:solidFill>
                <a:latin typeface="Segoe UI"/>
              </a:rPr>
              <a:t>Logistic Regression</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Mathematics for Machine Learning</a:t>
            </a:r>
          </a:p>
        </p:txBody>
      </p:sp>
      <p:sp>
        <p:nvSpPr>
          <p:cNvPr id="68" name="!!chipBU5">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5">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5"/>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5  </a:t>
            </a:r>
            <a:r>
              <a:rPr sz="1400" b="0" i="0">
                <a:solidFill>
                  <a:srgbClr val="1C252B"/>
                </a:solidFill>
                <a:latin typeface="Segoe UI"/>
              </a:rPr>
              <a:t>Linear Regression</a:t>
            </a:r>
          </a:p>
        </p:txBody>
      </p:sp>
      <p:sp>
        <p:nvSpPr>
          <p:cNvPr id="71"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2" name="!!chipUS7">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bUS7">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tUS7"/>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Overfitting, Bias–Variance and Regularisation</a:t>
            </a:r>
          </a:p>
        </p:txBody>
      </p:sp>
      <p:sp>
        <p:nvSpPr>
          <p:cNvPr id="75" name="!!chipUS8">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8">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8"/>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8  </a:t>
            </a:r>
            <a:r>
              <a:rPr sz="1400" b="0" i="0">
                <a:solidFill>
                  <a:srgbClr val="1C252B"/>
                </a:solidFill>
                <a:latin typeface="Segoe UI"/>
              </a:rPr>
              <a:t>Measuring Classifier Performance</a:t>
            </a:r>
          </a:p>
        </p:txBody>
      </p:sp>
      <p:sp>
        <p:nvSpPr>
          <p:cNvPr id="78" name="!!chipUS12">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12">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12"/>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12  </a:t>
            </a:r>
            <a:r>
              <a:rPr sz="1400" b="0" i="0">
                <a:solidFill>
                  <a:srgbClr val="1C252B"/>
                </a:solidFill>
                <a:latin typeface="Segoe UI"/>
              </a:rPr>
              <a:t>Support Vector Machines</a:t>
            </a:r>
          </a:p>
        </p:txBody>
      </p:sp>
      <p:sp>
        <p:nvSpPr>
          <p:cNvPr id="81" name="!!chipUS13">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bUS13">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chiptUS13"/>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13  </a:t>
            </a:r>
            <a:r>
              <a:rPr sz="1400" b="0" i="0">
                <a:solidFill>
                  <a:srgbClr val="1C252B"/>
                </a:solidFill>
                <a:latin typeface="Segoe UI"/>
              </a:rPr>
              <a:t>Artificial Neural Networks</a:t>
            </a:r>
          </a:p>
        </p:txBody>
      </p:sp>
      <p:sp>
        <p:nvSpPr>
          <p:cNvPr id="84" name="!!chipUS21">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bUS21">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tUS21"/>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21  </a:t>
            </a:r>
            <a:r>
              <a:rPr sz="1400" b="0" i="0">
                <a:solidFill>
                  <a:srgbClr val="1C252B"/>
                </a:solidFill>
                <a:latin typeface="Segoe UI"/>
              </a:rPr>
              <a:t>Responsible and Ethical Machine Learning</a:t>
            </a:r>
          </a:p>
        </p:txBody>
      </p:sp>
      <p:sp>
        <p:nvSpPr>
          <p:cNvPr id="8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8" name="!!pfill">
            <a:extLst>
              <a:ext uri="{C183D7F6-B498-43B3-948B-1728B52AA6E4}">
                <adec:decorative xmlns:adec="http://schemas.microsoft.com/office/drawing/2017/decorative" val="1"/>
              </a:ext>
            </a:extLst>
          </p:cNvPr>
          <p:cNvSpPr/>
          <p:nvPr/>
        </p:nvSpPr>
        <p:spPr>
          <a:xfrm>
            <a:off x="0" y="0"/>
            <a:ext cx="54185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45     </a:t>
            </a:r>
            <a:fld id="{180BB649-69EF-44F6-AAC1-5EC7D830509C}"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Explain</a:t>
            </a:r>
            <a:r>
              <a:rPr sz="2100" b="0" i="0">
                <a:solidFill>
                  <a:srgbClr val="1C252B"/>
                </a:solidFill>
                <a:latin typeface="Segoe UI"/>
              </a:rPr>
              <a:t> why linear regression is unsuitable for classification.</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Compute</a:t>
            </a:r>
            <a:r>
              <a:rPr sz="2100" b="0" i="0">
                <a:solidFill>
                  <a:srgbClr val="1C252B"/>
                </a:solidFill>
                <a:latin typeface="Segoe UI"/>
              </a:rPr>
              <a:t> a class probability with the sigmoid function, and </a:t>
            </a:r>
            <a:r>
              <a:rPr sz="2100" b="1" i="0">
                <a:solidFill>
                  <a:srgbClr val="1C252B"/>
                </a:solidFill>
                <a:latin typeface="Segoe UI"/>
              </a:rPr>
              <a:t>interpret</a:t>
            </a:r>
            <a:r>
              <a:rPr sz="2100" b="0" i="0">
                <a:solidFill>
                  <a:srgbClr val="1C252B"/>
                </a:solidFill>
                <a:latin typeface="Segoe UI"/>
              </a:rPr>
              <a:t> a weight as a change in log-odds and an odds ratio.</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Find</a:t>
            </a:r>
            <a:r>
              <a:rPr sz="2100" b="0" i="0">
                <a:solidFill>
                  <a:srgbClr val="1C252B"/>
                </a:solidFill>
                <a:latin typeface="Segoe UI"/>
              </a:rPr>
              <a:t> and </a:t>
            </a:r>
            <a:r>
              <a:rPr sz="2100" b="1" i="0">
                <a:solidFill>
                  <a:srgbClr val="1C252B"/>
                </a:solidFill>
                <a:latin typeface="Segoe UI"/>
              </a:rPr>
              <a:t>draw</a:t>
            </a:r>
            <a:r>
              <a:rPr sz="2100" b="0" i="0">
                <a:solidFill>
                  <a:srgbClr val="1C252B"/>
                </a:solidFill>
                <a:latin typeface="Segoe UI"/>
              </a:rPr>
              <a:t> the decision boundary of a logistic regression model.</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318711"/>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Compute</a:t>
            </a:r>
            <a:r>
              <a:rPr sz="2100" b="0" i="0">
                <a:solidFill>
                  <a:srgbClr val="1C252B"/>
                </a:solidFill>
                <a:latin typeface="Segoe UI"/>
              </a:rPr>
              <a:t> the cross-entropy loss and </a:t>
            </a:r>
            <a:r>
              <a:rPr sz="2100" b="1" i="0">
                <a:solidFill>
                  <a:srgbClr val="1C252B"/>
                </a:solidFill>
                <a:latin typeface="Segoe UI"/>
              </a:rPr>
              <a:t>perform</a:t>
            </a:r>
            <a:r>
              <a:rPr sz="2100" b="0" i="0">
                <a:solidFill>
                  <a:srgbClr val="1C252B"/>
                </a:solidFill>
                <a:latin typeface="Segoe UI"/>
              </a:rPr>
              <a:t> a gradient descent step by hand.</a:t>
            </a:r>
          </a:p>
        </p:txBody>
      </p:sp>
      <p:sp>
        <p:nvSpPr>
          <p:cNvPr id="20" name="!!ob4">
            <a:extLst>
              <a:ext uri="{C183D7F6-B498-43B3-948B-1728B52AA6E4}">
                <adec:decorative xmlns:adec="http://schemas.microsoft.com/office/drawing/2017/decorative" val="1"/>
              </a:ext>
            </a:extLst>
          </p:cNvPr>
          <p:cNvSpPr/>
          <p:nvPr/>
        </p:nvSpPr>
        <p:spPr>
          <a:xfrm>
            <a:off x="658368" y="4881067"/>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940503"/>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922215"/>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Extend</a:t>
            </a:r>
            <a:r>
              <a:rPr sz="2100" b="0" i="0">
                <a:solidFill>
                  <a:srgbClr val="1C252B"/>
                </a:solidFill>
                <a:latin typeface="Segoe UI"/>
              </a:rPr>
              <a:t> the model to several classes with one-vs-rest and softmax.</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1277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45     </a:t>
            </a:r>
            <a:fld id="{783D6AB2-9161-4CAB-8FF6-4B2E278D95E8}" type="slidenum">
              <a:rPr lang="en-GB" sz="1000">
                <a:solidFill>
                  <a:srgbClr val="8795A1"/>
                </a:solidFill>
                <a:latin typeface="Segoe UI"/>
              </a:rPr>
              <a:t>4</a:t>
            </a:fld>
          </a:p>
        </p:txBody>
      </p:sp>
      <p:sp>
        <p:nvSpPr>
          <p:cNvPr id="7" name="!!term-binary classif">
            <a:extLst>
              <a:ext uri="{C183D7F6-B498-43B3-948B-1728B52AA6E4}">
                <adec:decorative xmlns:adec="http://schemas.microsoft.com/office/drawing/2017/decorative" val="1"/>
              </a:ext>
            </a:extLst>
          </p:cNvPr>
          <p:cNvSpPr/>
          <p:nvPr/>
        </p:nvSpPr>
        <p:spPr>
          <a:xfrm>
            <a:off x="658368" y="1847088"/>
            <a:ext cx="232697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binary classif">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binary classif"/>
          <p:cNvSpPr txBox="1"/>
          <p:nvPr/>
        </p:nvSpPr>
        <p:spPr>
          <a:xfrm>
            <a:off x="950976" y="1955291"/>
            <a:ext cx="214409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binary classification</a:t>
            </a:r>
          </a:p>
        </p:txBody>
      </p:sp>
      <p:sp>
        <p:nvSpPr>
          <p:cNvPr id="10" name="!!term-sigmoid (logis">
            <a:extLst>
              <a:ext uri="{C183D7F6-B498-43B3-948B-1728B52AA6E4}">
                <adec:decorative xmlns:adec="http://schemas.microsoft.com/office/drawing/2017/decorative" val="1"/>
              </a:ext>
            </a:extLst>
          </p:cNvPr>
          <p:cNvSpPr/>
          <p:nvPr/>
        </p:nvSpPr>
        <p:spPr>
          <a:xfrm>
            <a:off x="3131650" y="1847088"/>
            <a:ext cx="296062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sigmoid (logis">
            <a:extLst>
              <a:ext uri="{C183D7F6-B498-43B3-948B-1728B52AA6E4}">
                <adec:decorative xmlns:adec="http://schemas.microsoft.com/office/drawing/2017/decorative" val="1"/>
              </a:ext>
            </a:extLst>
          </p:cNvPr>
          <p:cNvSpPr/>
          <p:nvPr/>
        </p:nvSpPr>
        <p:spPr>
          <a:xfrm>
            <a:off x="325966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sigmoid (logis"/>
          <p:cNvSpPr txBox="1"/>
          <p:nvPr/>
        </p:nvSpPr>
        <p:spPr>
          <a:xfrm>
            <a:off x="3424258" y="1955291"/>
            <a:ext cx="277774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sigmoid (logistic) function</a:t>
            </a:r>
          </a:p>
        </p:txBody>
      </p:sp>
      <p:sp>
        <p:nvSpPr>
          <p:cNvPr id="13" name="!!term-odds">
            <a:extLst>
              <a:ext uri="{C183D7F6-B498-43B3-948B-1728B52AA6E4}">
                <adec:decorative xmlns:adec="http://schemas.microsoft.com/office/drawing/2017/decorative" val="1"/>
              </a:ext>
            </a:extLst>
          </p:cNvPr>
          <p:cNvSpPr/>
          <p:nvPr/>
        </p:nvSpPr>
        <p:spPr>
          <a:xfrm>
            <a:off x="6238582" y="1847088"/>
            <a:ext cx="9207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odds">
            <a:extLst>
              <a:ext uri="{C183D7F6-B498-43B3-948B-1728B52AA6E4}">
                <adec:decorative xmlns:adec="http://schemas.microsoft.com/office/drawing/2017/decorative" val="1"/>
              </a:ext>
            </a:extLst>
          </p:cNvPr>
          <p:cNvSpPr/>
          <p:nvPr/>
        </p:nvSpPr>
        <p:spPr>
          <a:xfrm>
            <a:off x="636659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odds"/>
          <p:cNvSpPr txBox="1"/>
          <p:nvPr/>
        </p:nvSpPr>
        <p:spPr>
          <a:xfrm>
            <a:off x="6531190" y="1955291"/>
            <a:ext cx="73786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odds</a:t>
            </a:r>
          </a:p>
        </p:txBody>
      </p:sp>
      <p:sp>
        <p:nvSpPr>
          <p:cNvPr id="16" name="!!term-log-odds (logi">
            <a:extLst>
              <a:ext uri="{C183D7F6-B498-43B3-948B-1728B52AA6E4}">
                <adec:decorative xmlns:adec="http://schemas.microsoft.com/office/drawing/2017/decorative" val="1"/>
              </a:ext>
            </a:extLst>
          </p:cNvPr>
          <p:cNvSpPr/>
          <p:nvPr/>
        </p:nvSpPr>
        <p:spPr>
          <a:xfrm>
            <a:off x="7305635" y="1847088"/>
            <a:ext cx="195423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log-odds (logi">
            <a:extLst>
              <a:ext uri="{C183D7F6-B498-43B3-948B-1728B52AA6E4}">
                <adec:decorative xmlns:adec="http://schemas.microsoft.com/office/drawing/2017/decorative" val="1"/>
              </a:ext>
            </a:extLst>
          </p:cNvPr>
          <p:cNvSpPr/>
          <p:nvPr/>
        </p:nvSpPr>
        <p:spPr>
          <a:xfrm>
            <a:off x="743365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log-odds (logi"/>
          <p:cNvSpPr txBox="1"/>
          <p:nvPr/>
        </p:nvSpPr>
        <p:spPr>
          <a:xfrm>
            <a:off x="7598243" y="1955291"/>
            <a:ext cx="177135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log-odds (logit)</a:t>
            </a:r>
          </a:p>
        </p:txBody>
      </p:sp>
      <p:sp>
        <p:nvSpPr>
          <p:cNvPr id="19" name="!!term-odds ratio">
            <a:extLst>
              <a:ext uri="{C183D7F6-B498-43B3-948B-1728B52AA6E4}">
                <adec:decorative xmlns:adec="http://schemas.microsoft.com/office/drawing/2017/decorative" val="1"/>
              </a:ext>
            </a:extLst>
          </p:cNvPr>
          <p:cNvSpPr/>
          <p:nvPr/>
        </p:nvSpPr>
        <p:spPr>
          <a:xfrm>
            <a:off x="9406171" y="1847088"/>
            <a:ext cx="142680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odds ratio">
            <a:extLst>
              <a:ext uri="{C183D7F6-B498-43B3-948B-1728B52AA6E4}">
                <adec:decorative xmlns:adec="http://schemas.microsoft.com/office/drawing/2017/decorative" val="1"/>
              </a:ext>
            </a:extLst>
          </p:cNvPr>
          <p:cNvSpPr/>
          <p:nvPr/>
        </p:nvSpPr>
        <p:spPr>
          <a:xfrm>
            <a:off x="953418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odds ratio"/>
          <p:cNvSpPr txBox="1"/>
          <p:nvPr/>
        </p:nvSpPr>
        <p:spPr>
          <a:xfrm>
            <a:off x="9698779" y="1955291"/>
            <a:ext cx="124392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odds ratio</a:t>
            </a:r>
          </a:p>
        </p:txBody>
      </p:sp>
      <p:sp>
        <p:nvSpPr>
          <p:cNvPr id="22" name="!!term-decision bound">
            <a:extLst>
              <a:ext uri="{C183D7F6-B498-43B3-948B-1728B52AA6E4}">
                <adec:decorative xmlns:adec="http://schemas.microsoft.com/office/drawing/2017/decorative" val="1"/>
              </a:ext>
            </a:extLst>
          </p:cNvPr>
          <p:cNvSpPr/>
          <p:nvPr/>
        </p:nvSpPr>
        <p:spPr>
          <a:xfrm>
            <a:off x="658368" y="2468880"/>
            <a:ext cx="223250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decision bound">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decision bound"/>
          <p:cNvSpPr txBox="1"/>
          <p:nvPr/>
        </p:nvSpPr>
        <p:spPr>
          <a:xfrm>
            <a:off x="950976" y="2577084"/>
            <a:ext cx="204962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decision boundary</a:t>
            </a:r>
          </a:p>
        </p:txBody>
      </p:sp>
      <p:sp>
        <p:nvSpPr>
          <p:cNvPr id="25" name="!!term-threshold">
            <a:extLst>
              <a:ext uri="{C183D7F6-B498-43B3-948B-1728B52AA6E4}">
                <adec:decorative xmlns:adec="http://schemas.microsoft.com/office/drawing/2017/decorative" val="1"/>
              </a:ext>
            </a:extLst>
          </p:cNvPr>
          <p:cNvSpPr/>
          <p:nvPr/>
        </p:nvSpPr>
        <p:spPr>
          <a:xfrm>
            <a:off x="3037177" y="2468880"/>
            <a:ext cx="136003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threshold">
            <a:extLst>
              <a:ext uri="{C183D7F6-B498-43B3-948B-1728B52AA6E4}">
                <adec:decorative xmlns:adec="http://schemas.microsoft.com/office/drawing/2017/decorative" val="1"/>
              </a:ext>
            </a:extLst>
          </p:cNvPr>
          <p:cNvSpPr/>
          <p:nvPr/>
        </p:nvSpPr>
        <p:spPr>
          <a:xfrm>
            <a:off x="316519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threshold"/>
          <p:cNvSpPr txBox="1"/>
          <p:nvPr/>
        </p:nvSpPr>
        <p:spPr>
          <a:xfrm>
            <a:off x="3329785" y="2577084"/>
            <a:ext cx="117715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threshold</a:t>
            </a:r>
          </a:p>
        </p:txBody>
      </p:sp>
      <p:sp>
        <p:nvSpPr>
          <p:cNvPr id="28" name="!!term-cross-entropy ">
            <a:extLst>
              <a:ext uri="{C183D7F6-B498-43B3-948B-1728B52AA6E4}">
                <adec:decorative xmlns:adec="http://schemas.microsoft.com/office/drawing/2017/decorative" val="1"/>
              </a:ext>
            </a:extLst>
          </p:cNvPr>
          <p:cNvSpPr/>
          <p:nvPr/>
        </p:nvSpPr>
        <p:spPr>
          <a:xfrm>
            <a:off x="4543520" y="2468880"/>
            <a:ext cx="271213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cross-entropy ">
            <a:extLst>
              <a:ext uri="{C183D7F6-B498-43B3-948B-1728B52AA6E4}">
                <adec:decorative xmlns:adec="http://schemas.microsoft.com/office/drawing/2017/decorative" val="1"/>
              </a:ext>
            </a:extLst>
          </p:cNvPr>
          <p:cNvSpPr/>
          <p:nvPr/>
        </p:nvSpPr>
        <p:spPr>
          <a:xfrm>
            <a:off x="467153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cross-entropy "/>
          <p:cNvSpPr txBox="1"/>
          <p:nvPr/>
        </p:nvSpPr>
        <p:spPr>
          <a:xfrm>
            <a:off x="4836128" y="2577084"/>
            <a:ext cx="252925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cross-entropy (log loss)</a:t>
            </a:r>
          </a:p>
        </p:txBody>
      </p:sp>
      <p:sp>
        <p:nvSpPr>
          <p:cNvPr id="31" name="!!term-linear separab">
            <a:extLst>
              <a:ext uri="{C183D7F6-B498-43B3-948B-1728B52AA6E4}">
                <adec:decorative xmlns:adec="http://schemas.microsoft.com/office/drawing/2017/decorative" val="1"/>
              </a:ext>
            </a:extLst>
          </p:cNvPr>
          <p:cNvSpPr/>
          <p:nvPr/>
        </p:nvSpPr>
        <p:spPr>
          <a:xfrm>
            <a:off x="7401957" y="2468880"/>
            <a:ext cx="21437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linear separab">
            <a:extLst>
              <a:ext uri="{C183D7F6-B498-43B3-948B-1728B52AA6E4}">
                <adec:decorative xmlns:adec="http://schemas.microsoft.com/office/drawing/2017/decorative" val="1"/>
              </a:ext>
            </a:extLst>
          </p:cNvPr>
          <p:cNvSpPr/>
          <p:nvPr/>
        </p:nvSpPr>
        <p:spPr>
          <a:xfrm>
            <a:off x="752997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linear separab"/>
          <p:cNvSpPr txBox="1"/>
          <p:nvPr/>
        </p:nvSpPr>
        <p:spPr>
          <a:xfrm>
            <a:off x="7694565" y="2577084"/>
            <a:ext cx="196091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linear separability</a:t>
            </a:r>
          </a:p>
        </p:txBody>
      </p:sp>
      <p:sp>
        <p:nvSpPr>
          <p:cNvPr id="34" name="!!term-one-vs-rest">
            <a:extLst>
              <a:ext uri="{C183D7F6-B498-43B3-948B-1728B52AA6E4}">
                <adec:decorative xmlns:adec="http://schemas.microsoft.com/office/drawing/2017/decorative" val="1"/>
              </a:ext>
            </a:extLst>
          </p:cNvPr>
          <p:cNvSpPr/>
          <p:nvPr/>
        </p:nvSpPr>
        <p:spPr>
          <a:xfrm>
            <a:off x="9692056" y="2468880"/>
            <a:ext cx="154259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one-vs-rest">
            <a:extLst>
              <a:ext uri="{C183D7F6-B498-43B3-948B-1728B52AA6E4}">
                <adec:decorative xmlns:adec="http://schemas.microsoft.com/office/drawing/2017/decorative" val="1"/>
              </a:ext>
            </a:extLst>
          </p:cNvPr>
          <p:cNvSpPr/>
          <p:nvPr/>
        </p:nvSpPr>
        <p:spPr>
          <a:xfrm>
            <a:off x="982007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one-vs-rest"/>
          <p:cNvSpPr txBox="1"/>
          <p:nvPr/>
        </p:nvSpPr>
        <p:spPr>
          <a:xfrm>
            <a:off x="9984664" y="2577084"/>
            <a:ext cx="135971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one-vs-rest</a:t>
            </a:r>
          </a:p>
        </p:txBody>
      </p:sp>
      <p:sp>
        <p:nvSpPr>
          <p:cNvPr id="37" name="!!term-softmax">
            <a:extLst>
              <a:ext uri="{C183D7F6-B498-43B3-948B-1728B52AA6E4}">
                <adec:decorative xmlns:adec="http://schemas.microsoft.com/office/drawing/2017/decorative" val="1"/>
              </a:ext>
            </a:extLst>
          </p:cNvPr>
          <p:cNvSpPr/>
          <p:nvPr/>
        </p:nvSpPr>
        <p:spPr>
          <a:xfrm>
            <a:off x="658368" y="3090672"/>
            <a:ext cx="120769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softmax">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softmax"/>
          <p:cNvSpPr txBox="1"/>
          <p:nvPr/>
        </p:nvSpPr>
        <p:spPr>
          <a:xfrm>
            <a:off x="950976" y="3198876"/>
            <a:ext cx="102481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softmax</a:t>
            </a:r>
          </a:p>
        </p:txBody>
      </p:sp>
      <p:sp>
        <p:nvSpPr>
          <p:cNvPr id="40"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pfill">
            <a:extLst>
              <a:ext uri="{C183D7F6-B498-43B3-948B-1728B52AA6E4}">
                <adec:decorative xmlns:adec="http://schemas.microsoft.com/office/drawing/2017/decorative" val="1"/>
              </a:ext>
            </a:extLst>
          </p:cNvPr>
          <p:cNvSpPr/>
          <p:nvPr/>
        </p:nvSpPr>
        <p:spPr>
          <a:xfrm>
            <a:off x="0" y="0"/>
            <a:ext cx="108370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45–51     </a:t>
            </a:r>
            <a:fld id="{409F2524-BB60-41A7-B250-E8AF54FD604E}" type="slidenum">
              <a:rPr lang="en-GB" sz="1000">
                <a:solidFill>
                  <a:srgbClr val="8795A1"/>
                </a:solidFill>
                <a:latin typeface="Segoe UI"/>
              </a:rPr>
              <a:t>5</a:t>
            </a:fld>
          </a:p>
        </p:txBody>
      </p:sp>
      <p:sp>
        <p:nvSpPr>
          <p:cNvPr id="7" name="!!ag0" descr="Go to section 6.1 Why Not Just Use Linear Regression?">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6.1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Not Just Use Linear Regression?</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45  ›</a:t>
            </a:r>
          </a:p>
        </p:txBody>
      </p:sp>
      <p:sp>
        <p:nvSpPr>
          <p:cNvPr id="12" name="!!ag1" descr="Go to section 6.2 The Sigmoid and the Log-Odd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6.2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Sigmoid and the Log-Odds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46  ›</a:t>
            </a:r>
          </a:p>
        </p:txBody>
      </p:sp>
      <p:sp>
        <p:nvSpPr>
          <p:cNvPr id="17" name="!!ag2" descr="Go to section 6.3 The Decision Boundary">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6.3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Decision Boundary</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46  ›</a:t>
            </a:r>
          </a:p>
        </p:txBody>
      </p:sp>
      <p:sp>
        <p:nvSpPr>
          <p:cNvPr id="22" name="!!ag3" descr="Go to section 6.4 The Loss: Cross-Entropy">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6.4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Loss: Cross-Entropy</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47  ›</a:t>
            </a:r>
          </a:p>
        </p:txBody>
      </p:sp>
      <p:sp>
        <p:nvSpPr>
          <p:cNvPr id="27" name="!!ag4" descr="Go to section 6.5 Fitting by Gradient Descent">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6.5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Fitting by Gradient Descent</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48  ›</a:t>
            </a:r>
          </a:p>
        </p:txBody>
      </p:sp>
      <p:sp>
        <p:nvSpPr>
          <p:cNvPr id="32" name="!!ag5" descr="Go to section 6.6 More Than Two Classes">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6.6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More Than Two Classes</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48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35463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same pass (green) and fail (red) students modelled two ways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6.1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§6.1  ·  Handout p. 45     </a:t>
            </a:r>
            <a:fld id="{61B9EEF1-F948-4AA3-9178-7FC800300EE4}" type="slidenum">
              <a:rPr lang="en-GB" sz="1000">
                <a:solidFill>
                  <a:srgbClr val="8795A1"/>
                </a:solidFill>
                <a:latin typeface="Segoe UI"/>
              </a:rPr>
              <a:t>6</a:t>
            </a:fld>
          </a:p>
        </p:txBody>
      </p:sp>
      <p:pic>
        <p:nvPicPr>
          <p:cNvPr id="6" name="!!figure" descr="Figure 6.1. The same pass (green) and fail (red) students modelled two ways. The straight line leaves [0,1] and is pulled by easy cases; the sigmoid stays between 0 and 1 and flattens out where the answer is already clea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74694" y="1737360"/>
            <a:ext cx="10042306"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straight line leaves [0,1] and is pulled by easy cases; the sigmoid stays between 0 and 1 and flattens out where the answer is already clear.</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62555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Sigmoid and the Log-Odds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2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6.2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6.1   Why Not Just Use Linear Regression?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6.2   The Sigmoid and the Log-Odds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6.3   The Decision Boundary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6.4   The Loss: Cross-Entropy</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6.5   Fitting by Gradient Descent</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6.6   More Than Two Classes</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§6.2     </a:t>
            </a:r>
            <a:fld id="{D0E462BE-3839-4F7E-9BAA-C81779588FAF}" type="slidenum">
              <a:rPr lang="en-GB" sz="1000">
                <a:solidFill>
                  <a:srgbClr val="8795A1"/>
                </a:solidFill>
                <a:latin typeface="Segoe UI"/>
              </a:rPr>
              <a:t>7</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89648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Logistic Regression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§6.2  ·  Handout p. 46     </a:t>
            </a:r>
            <a:fld id="{BD06BD93-E00C-4302-BDBC-AD3F16C15B78}"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434598"/>
          </a:xfrm>
          <a:prstGeom prst="roundRect">
            <a:avLst>
              <a:gd name="adj" fmla="val 266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434598"/>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Compute a linear score </a:t>
            </a:r>
            <a:r>
              <a:rPr sz="2300" b="0" i="1">
                <a:solidFill>
                  <a:srgbClr val="1C252B"/>
                </a:solidFill>
                <a:latin typeface="Cambria"/>
              </a:rPr>
              <a:t>z</a:t>
            </a:r>
            <a:r>
              <a:rPr sz="2300" b="0" i="0">
                <a:solidFill>
                  <a:srgbClr val="1C252B"/>
                </a:solidFill>
                <a:latin typeface="Cambria"/>
              </a:rPr>
              <a:t> = </a:t>
            </a:r>
            <a:r>
              <a:rPr sz="2300" b="1" i="1">
                <a:solidFill>
                  <a:srgbClr val="1C252B"/>
                </a:solidFill>
                <a:latin typeface="Cambria"/>
              </a:rPr>
              <a:t>w</a:t>
            </a:r>
            <a:r>
              <a:rPr sz="2300" b="0" i="0">
                <a:solidFill>
                  <a:srgbClr val="1C252B"/>
                </a:solidFill>
                <a:latin typeface="Cambria"/>
              </a:rPr>
              <a:t>·</a:t>
            </a:r>
            <a:r>
              <a:rPr sz="2300" b="1" i="1">
                <a:solidFill>
                  <a:srgbClr val="1C252B"/>
                </a:solidFill>
                <a:latin typeface="Cambria"/>
              </a:rPr>
              <a:t>x</a:t>
            </a:r>
            <a:r>
              <a:rPr sz="2300" b="0" i="0">
                <a:solidFill>
                  <a:srgbClr val="1C252B"/>
                </a:solidFill>
                <a:latin typeface="Cambria"/>
              </a:rPr>
              <a:t> + </a:t>
            </a:r>
            <a:r>
              <a:rPr sz="2300" b="0" i="1">
                <a:solidFill>
                  <a:srgbClr val="1C252B"/>
                </a:solidFill>
                <a:latin typeface="Cambria"/>
              </a:rPr>
              <a:t>b</a:t>
            </a:r>
            <a:r>
              <a:rPr sz="2300" b="0" i="0">
                <a:solidFill>
                  <a:srgbClr val="1C252B"/>
                </a:solidFill>
                <a:latin typeface="Segoe UI"/>
              </a:rPr>
              <a:t> exactly as in linear regression, then squash it into </a:t>
            </a:r>
            <a:r>
              <a:rPr sz="2300" b="0" i="0">
                <a:solidFill>
                  <a:srgbClr val="1C252B"/>
                </a:solidFill>
                <a:latin typeface="Cambria"/>
              </a:rPr>
              <a:t>(0, 1)</a:t>
            </a:r>
            <a:r>
              <a:rPr sz="2300" b="0" i="0">
                <a:solidFill>
                  <a:srgbClr val="1C252B"/>
                </a:solidFill>
                <a:latin typeface="Segoe UI"/>
              </a:rPr>
              <a:t> with the </a:t>
            </a:r>
            <a:r>
              <a:rPr sz="2300" b="1" i="0">
                <a:solidFill>
                  <a:srgbClr val="1A5276"/>
                </a:solidFill>
                <a:latin typeface="Segoe UI"/>
              </a:rPr>
              <a:t>sigmoid</a:t>
            </a:r>
            <a:r>
              <a:rPr sz="2300" b="0" i="0">
                <a:solidFill>
                  <a:srgbClr val="1C252B"/>
                </a:solidFill>
                <a:latin typeface="Segoe UI"/>
              </a:rPr>
              <a:t> (logistic) function:</a:t>
            </a:r>
          </a:p>
        </p:txBody>
      </p:sp>
      <p:pic>
        <p:nvPicPr>
          <p:cNvPr id="10" name="body-1" descr="P(y = 1 \mid \mathbf{x}) = \sigma(z) = \frac{1}{1 + e^{-z}}"/>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668792"/>
          </a:xfrm>
          <a:prstGeom prst="rect">
            <a:avLst/>
          </a:prstGeom>
        </p:spPr>
      </p:pic>
      <p:sp>
        <p:nvSpPr>
          <p:cNvPr id="11" name="body-2"/>
          <p:cNvSpPr txBox="1"/>
          <p:nvPr/>
        </p:nvSpPr>
        <p:spPr>
          <a:xfrm>
            <a:off x="1060704" y="3767439"/>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Cambria"/>
              </a:rPr>
              <a:t>σ(0) = 0.5</a:t>
            </a:r>
            <a:r>
              <a:rPr sz="2300" b="0" i="0">
                <a:solidFill>
                  <a:srgbClr val="1C252B"/>
                </a:solidFill>
                <a:latin typeface="Segoe UI"/>
              </a:rPr>
              <a:t>; large positive </a:t>
            </a:r>
            <a:r>
              <a:rPr sz="2300" b="0" i="1">
                <a:solidFill>
                  <a:srgbClr val="1C252B"/>
                </a:solidFill>
                <a:latin typeface="Cambria"/>
              </a:rPr>
              <a:t>z</a:t>
            </a:r>
            <a:r>
              <a:rPr sz="2300" b="0" i="0">
                <a:solidFill>
                  <a:srgbClr val="1C252B"/>
                </a:solidFill>
                <a:latin typeface="Segoe UI"/>
              </a:rPr>
              <a:t> gives a probability near 1 and large negative </a:t>
            </a:r>
            <a:r>
              <a:rPr sz="2300" b="0" i="1">
                <a:solidFill>
                  <a:srgbClr val="1C252B"/>
                </a:solidFill>
                <a:latin typeface="Cambria"/>
              </a:rPr>
              <a:t>z</a:t>
            </a:r>
            <a:r>
              <a:rPr sz="2300" b="0" i="0">
                <a:solidFill>
                  <a:srgbClr val="1C252B"/>
                </a:solidFill>
                <a:latin typeface="Segoe UI"/>
              </a:rPr>
              <a:t> a probability near 0. Predict class 1 when the probability exceeds a </a:t>
            </a:r>
            <a:r>
              <a:rPr sz="2300" b="1" i="0">
                <a:solidFill>
                  <a:srgbClr val="1A5276"/>
                </a:solidFill>
                <a:latin typeface="Segoe UI"/>
              </a:rPr>
              <a:t>threshold</a:t>
            </a:r>
            <a:r>
              <a:rPr sz="2300" b="0" i="0">
                <a:solidFill>
                  <a:srgbClr val="1C252B"/>
                </a:solidFill>
                <a:latin typeface="Segoe UI"/>
              </a:rPr>
              <a:t>, by default 0.5.</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16741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Sigmoid and the Log-Odds</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§6.2  ·  Handout p. 46     </a:t>
            </a:r>
            <a:fld id="{17E26B87-8362-4547-8D78-D10D4CAB13E3}"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810385"/>
          </a:xfrm>
          <a:prstGeom prst="roundRect">
            <a:avLst>
              <a:gd name="adj" fmla="val 5050"/>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810385"/>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Inverting the sigmoid shows what the linear score means. If </a:t>
            </a:r>
            <a:r>
              <a:rPr sz="2300" b="0" i="1">
                <a:solidFill>
                  <a:srgbClr val="1C252B"/>
                </a:solidFill>
                <a:latin typeface="Cambria"/>
              </a:rPr>
              <a:t>p</a:t>
            </a:r>
            <a:r>
              <a:rPr sz="2300" b="0" i="0">
                <a:solidFill>
                  <a:srgbClr val="1C252B"/>
                </a:solidFill>
                <a:latin typeface="Cambria"/>
              </a:rPr>
              <a:t> = σ(</a:t>
            </a:r>
            <a:r>
              <a:rPr sz="2300" b="0" i="1">
                <a:solidFill>
                  <a:srgbClr val="1C252B"/>
                </a:solidFill>
                <a:latin typeface="Cambria"/>
              </a:rPr>
              <a:t>z</a:t>
            </a:r>
            <a:r>
              <a:rPr sz="2300" b="0" i="0">
                <a:solidFill>
                  <a:srgbClr val="1C252B"/>
                </a:solidFill>
                <a:latin typeface="Cambria"/>
              </a:rPr>
              <a:t>)</a:t>
            </a:r>
            <a:r>
              <a:rPr sz="2300" b="0" i="0">
                <a:solidFill>
                  <a:srgbClr val="1C252B"/>
                </a:solidFill>
                <a:latin typeface="Segoe UI"/>
              </a:rPr>
              <a:t> then</a:t>
            </a:r>
          </a:p>
        </p:txBody>
      </p:sp>
      <p:pic>
        <p:nvPicPr>
          <p:cNvPr id="10" name="body-1" descr="z = \ln\frac{p}{1-p}"/>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573451"/>
            <a:ext cx="10161727" cy="663397"/>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Probabilities and Odds for Two Students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§6.2  ·  Handout p. 46     </a:t>
            </a:r>
            <a:fld id="{C8B0F3C5-E44D-4E77-B2DD-4601D31251A7}"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77812"/>
          </a:xfrm>
          <a:prstGeom prst="roundRect">
            <a:avLst>
              <a:gd name="adj" fmla="val 224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7781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fitted model of failing: </a:t>
            </a:r>
            <a:r>
              <a:rPr sz="1900" b="0" i="1">
                <a:solidFill>
                  <a:srgbClr val="1C252B"/>
                </a:solidFill>
                <a:latin typeface="Cambria"/>
              </a:rPr>
              <a:t>z</a:t>
            </a:r>
            <a:r>
              <a:rPr sz="1900" b="0" i="0">
                <a:solidFill>
                  <a:srgbClr val="1C252B"/>
                </a:solidFill>
                <a:latin typeface="Cambria"/>
              </a:rPr>
              <a:t> = 4 − 5 </a:t>
            </a:r>
            <a:r>
              <a:rPr sz="1900" b="0" i="1">
                <a:solidFill>
                  <a:srgbClr val="1C252B"/>
                </a:solidFill>
                <a:latin typeface="Cambria"/>
              </a:rPr>
              <a:t>a</a:t>
            </a:r>
            <a:r>
              <a:rPr sz="1900" b="0" i="0">
                <a:solidFill>
                  <a:srgbClr val="1C252B"/>
                </a:solidFill>
                <a:latin typeface="Cambria"/>
              </a:rPr>
              <a:t> − 3 </a:t>
            </a:r>
            <a:r>
              <a:rPr sz="1900" b="0" i="1">
                <a:solidFill>
                  <a:srgbClr val="1C252B"/>
                </a:solidFill>
                <a:latin typeface="Cambria"/>
              </a:rPr>
              <a:t>q</a:t>
            </a:r>
            <a:r>
              <a:rPr sz="1900" b="0" i="0">
                <a:solidFill>
                  <a:srgbClr val="1C252B"/>
                </a:solidFill>
                <a:latin typeface="Segoe UI"/>
              </a:rPr>
              <a:t>, where </a:t>
            </a:r>
            <a:r>
              <a:rPr sz="1900" b="0" i="1">
                <a:solidFill>
                  <a:srgbClr val="1C252B"/>
                </a:solidFill>
                <a:latin typeface="Cambria"/>
              </a:rPr>
              <a:t>a</a:t>
            </a:r>
            <a:r>
              <a:rPr sz="1900" b="0" i="0">
                <a:solidFill>
                  <a:srgbClr val="1C252B"/>
                </a:solidFill>
                <a:latin typeface="Segoe UI"/>
              </a:rPr>
              <a:t> is attendance and </a:t>
            </a:r>
            <a:r>
              <a:rPr sz="1900" b="0" i="1">
                <a:solidFill>
                  <a:srgbClr val="1C252B"/>
                </a:solidFill>
                <a:latin typeface="Cambria"/>
              </a:rPr>
              <a:t>q</a:t>
            </a:r>
            <a:r>
              <a:rPr sz="1900" b="0" i="0">
                <a:solidFill>
                  <a:srgbClr val="1C252B"/>
                </a:solidFill>
                <a:latin typeface="Segoe UI"/>
              </a:rPr>
              <a:t> the quiz average, both on a 0–1 scale.</a:t>
            </a:r>
          </a:p>
        </p:txBody>
      </p:sp>
      <p:pic>
        <p:nvPicPr>
          <p:cNvPr id="10" name="body-1" descr="Student A (a = 0.9, q = 0.8): z = 4 − 4.5 − 2.4 = −2.9, so P(fail) = 1/(1 + e2.9) = 1/(1 + 18.17) = 0.05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746679"/>
            <a:ext cx="10234879" cy="511515"/>
          </a:xfrm>
          <a:prstGeom prst="rect">
            <a:avLst/>
          </a:prstGeom>
        </p:spPr>
      </p:pic>
      <p:pic>
        <p:nvPicPr>
          <p:cNvPr id="11" name="body-2" descr="Student B (a = 0.5, q = 0.4): z = 4 − 2.5 − 1.2 = 0.3, so P(fail) = 1/(1 + e−0.3) = 1/(1 + 0.741) = 0.57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390910"/>
            <a:ext cx="10234879" cy="511515"/>
          </a:xfrm>
          <a:prstGeom prst="rect">
            <a:avLst/>
          </a:prstGeom>
        </p:spPr>
      </p:pic>
      <p:sp>
        <p:nvSpPr>
          <p:cNvPr id="12" name="body-3"/>
          <p:cNvSpPr txBox="1"/>
          <p:nvPr/>
        </p:nvSpPr>
        <p:spPr>
          <a:xfrm>
            <a:off x="1042416" y="4035140"/>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Reading the attendance weight.</a:t>
            </a:r>
            <a:r>
              <a:rPr sz="1900" b="0" i="0">
                <a:solidFill>
                  <a:srgbClr val="1C252B"/>
                </a:solidFill>
                <a:latin typeface="Segoe UI"/>
              </a:rPr>
              <a:t> </a:t>
            </a:r>
            <a:r>
              <a:rPr sz="1900" b="0" i="1">
                <a:solidFill>
                  <a:srgbClr val="1C252B"/>
                </a:solidFill>
                <a:latin typeface="Cambria"/>
              </a:rPr>
              <a:t>w</a:t>
            </a:r>
            <a:r>
              <a:rPr sz="1900" b="0" i="1" baseline="-25000">
                <a:solidFill>
                  <a:srgbClr val="1C252B"/>
                </a:solidFill>
                <a:latin typeface="Cambria"/>
              </a:rPr>
              <a:t>a</a:t>
            </a:r>
            <a:r>
              <a:rPr sz="1900" b="0" i="0">
                <a:solidFill>
                  <a:srgbClr val="1C252B"/>
                </a:solidFill>
                <a:latin typeface="Cambria"/>
              </a:rPr>
              <a:t> = −5</a:t>
            </a:r>
            <a:r>
              <a:rPr sz="1900" b="0" i="0">
                <a:solidFill>
                  <a:srgbClr val="1C252B"/>
                </a:solidFill>
                <a:latin typeface="Segoe UI"/>
              </a:rPr>
              <a:t> per unit of attendance, so ten percentage points more attendance (</a:t>
            </a:r>
            <a:r>
              <a:rPr sz="1900" b="0" i="0">
                <a:solidFill>
                  <a:srgbClr val="1C252B"/>
                </a:solidFill>
                <a:latin typeface="Cambria"/>
              </a:rPr>
              <a:t>+0.1</a:t>
            </a:r>
            <a:r>
              <a:rPr sz="1900" b="0" i="0">
                <a:solidFill>
                  <a:srgbClr val="1C252B"/>
                </a:solidFill>
                <a:latin typeface="Segoe UI"/>
              </a:rPr>
              <a:t>) changes the log-odds by </a:t>
            </a:r>
            <a:r>
              <a:rPr sz="1900" b="0" i="0">
                <a:solidFill>
                  <a:srgbClr val="1C252B"/>
                </a:solidFill>
                <a:latin typeface="Cambria"/>
              </a:rPr>
              <a:t>−0.5</a:t>
            </a:r>
            <a:r>
              <a:rPr sz="1900" b="0" i="0">
                <a:solidFill>
                  <a:srgbClr val="1C252B"/>
                </a:solidFill>
                <a:latin typeface="Segoe UI"/>
              </a:rPr>
              <a:t> and multiplies the odds of failing by </a:t>
            </a:r>
            <a:r>
              <a:rPr sz="1900" b="0" i="1">
                <a:solidFill>
                  <a:srgbClr val="1C252B"/>
                </a:solidFill>
                <a:latin typeface="Cambria"/>
              </a:rPr>
              <a:t>e</a:t>
            </a:r>
            <a:r>
              <a:rPr sz="1900" b="0" i="0" baseline="30000">
                <a:solidFill>
                  <a:srgbClr val="1C252B"/>
                </a:solidFill>
                <a:latin typeface="Cambria"/>
              </a:rPr>
              <a:t>−0.5</a:t>
            </a:r>
            <a:r>
              <a:rPr sz="1900" b="0" i="0">
                <a:solidFill>
                  <a:srgbClr val="1C252B"/>
                </a:solidFill>
                <a:latin typeface="Cambria"/>
              </a:rPr>
              <a:t> = </a:t>
            </a:r>
            <a:r>
              <a:rPr sz="1900" b="1" i="0">
                <a:solidFill>
                  <a:srgbClr val="1C252B"/>
                </a:solidFill>
                <a:latin typeface="Cambria"/>
              </a:rPr>
              <a:t>0.61</a:t>
            </a:r>
            <a:r>
              <a:rPr sz="1900" b="0" i="0">
                <a:solidFill>
                  <a:srgbClr val="1C252B"/>
                </a:solidFill>
                <a:latin typeface="Segoe UI"/>
              </a:rPr>
              <a:t> — a 39% reduction in the odds, whatever the student’s starting point. Note: the </a:t>
            </a:r>
            <a:r>
              <a:rPr sz="1900" b="0" i="1">
                <a:solidFill>
                  <a:srgbClr val="1C252B"/>
                </a:solidFill>
                <a:latin typeface="Segoe UI"/>
              </a:rPr>
              <a:t>odds</a:t>
            </a:r>
            <a:r>
              <a:rPr sz="1900" b="0" i="0">
                <a:solidFill>
                  <a:srgbClr val="1C252B"/>
                </a:solidFill>
                <a:latin typeface="Segoe UI"/>
              </a:rPr>
              <a:t>, not the probability. For Student A the probability barely moves; for Student B, near the middle of the curve, it moves a lot.</a:t>
            </a:r>
          </a:p>
        </p:txBody>
      </p:sp>
      <p:sp>
        <p:nvSpPr>
          <p:cNvPr id="13" name="body-3bar">
            <a:extLst>
              <a:ext uri="{C183D7F6-B498-43B3-948B-1728B52AA6E4}">
                <adec:decorative xmlns:adec="http://schemas.microsoft.com/office/drawing/2017/decorative" val="1"/>
              </a:ext>
            </a:extLst>
          </p:cNvPr>
          <p:cNvSpPr/>
          <p:nvPr/>
        </p:nvSpPr>
        <p:spPr>
          <a:xfrm>
            <a:off x="841248" y="4053428"/>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270926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right)">
                                      <p:cBhvr>
                                        <p:cTn id="18" dur="42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decision boundary of the model z = 4 − 5a − 3q is the line 5a + 3q = 4</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6.2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§6.3  ·  Handout p. 46     </a:t>
            </a:r>
            <a:fld id="{4E980DF3-5B30-4C53-8801-4C204964E0E8}" type="slidenum">
              <a:rPr lang="en-GB" sz="1000">
                <a:solidFill>
                  <a:srgbClr val="8795A1"/>
                </a:solidFill>
                <a:latin typeface="Segoe UI"/>
              </a:rPr>
              <a:t>11</a:t>
            </a:fld>
          </a:p>
        </p:txBody>
      </p:sp>
      <p:pic>
        <p:nvPicPr>
          <p:cNvPr id="6" name="!!figure" descr="Figure 6.2. The decision boundary of the model z = 4 − 5a − 3q is the line 5a + 3q = 4. The dashed lines, where z = ±ln 3, are where the probability of failing is 0.75 and 0.25: probability changes gradually across the boundary."/>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98723" y="1737360"/>
            <a:ext cx="4994248"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dashed lines, where z = ±ln 3, are where the probability of failing is 0.75 and 0.25: probability changes gradually across the boundary.</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98019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Loss: Cross-Entropy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4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6.4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6.1   Why Not Just Use Linear Regression?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6.2   The Sigmoid and the Log-Odds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6.3   The Decision Boundary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6.4   The Loss: Cross-Entropy</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6.5   Fitting by Gradient Descent</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6.6   More Than Two Classes</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§6.4     </a:t>
            </a:r>
            <a:fld id="{D4C3FF24-3825-40C5-9AC7-5DFA46ADD582}" type="slidenum">
              <a:rPr lang="en-GB" sz="1000">
                <a:solidFill>
                  <a:srgbClr val="8795A1"/>
                </a:solidFill>
                <a:latin typeface="Segoe UI"/>
              </a:rPr>
              <a:t>12</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25111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Cross-Entropy (Log Loss)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47     </a:t>
            </a:r>
            <a:fld id="{207B4517-6DCA-4995-8920-E992F932E1E2}"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49356"/>
          </a:xfrm>
          <a:prstGeom prst="roundRect">
            <a:avLst>
              <a:gd name="adj" fmla="val 3209"/>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4935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L(\mathbf{w}, b) = -\frac{1}{n}\sum_{i=1}^{n}\Big[\,y_i \ln p_i + (1 - y_i)\ln(1 - p_i)\,\Big], \qquad p_i = \sigma(\mathbf{w}\cdot\mathbf{x}_i + b)"/>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048255"/>
            <a:ext cx="10161727" cy="973287"/>
          </a:xfrm>
          <a:prstGeom prst="rect">
            <a:avLst/>
          </a:prstGeom>
        </p:spPr>
      </p:pic>
      <p:sp>
        <p:nvSpPr>
          <p:cNvPr id="10" name="body-1"/>
          <p:cNvSpPr txBox="1"/>
          <p:nvPr/>
        </p:nvSpPr>
        <p:spPr>
          <a:xfrm>
            <a:off x="1060704" y="3182198"/>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For each example only one term survives: </a:t>
            </a:r>
            <a:r>
              <a:rPr sz="2300" b="0" i="0">
                <a:solidFill>
                  <a:srgbClr val="1C252B"/>
                </a:solidFill>
                <a:latin typeface="Cambria"/>
              </a:rPr>
              <a:t>−ln </a:t>
            </a:r>
            <a:r>
              <a:rPr sz="2300" b="0" i="1">
                <a:solidFill>
                  <a:srgbClr val="1C252B"/>
                </a:solidFill>
                <a:latin typeface="Cambria"/>
              </a:rPr>
              <a:t>p</a:t>
            </a:r>
            <a:r>
              <a:rPr sz="2300" b="0" i="1" baseline="-25000">
                <a:solidFill>
                  <a:srgbClr val="1C252B"/>
                </a:solidFill>
                <a:latin typeface="Cambria"/>
              </a:rPr>
              <a:t>i</a:t>
            </a:r>
            <a:r>
              <a:rPr sz="2300" b="0" i="0">
                <a:solidFill>
                  <a:srgbClr val="1C252B"/>
                </a:solidFill>
                <a:latin typeface="Segoe UI"/>
              </a:rPr>
              <a:t> if the label is 1, </a:t>
            </a:r>
            <a:r>
              <a:rPr sz="2300" b="0" i="0">
                <a:solidFill>
                  <a:srgbClr val="1C252B"/>
                </a:solidFill>
                <a:latin typeface="Cambria"/>
              </a:rPr>
              <a:t>−ln(1 − </a:t>
            </a:r>
            <a:r>
              <a:rPr sz="2300" b="0" i="1">
                <a:solidFill>
                  <a:srgbClr val="1C252B"/>
                </a:solidFill>
                <a:latin typeface="Cambria"/>
              </a:rPr>
              <a:t>p</a:t>
            </a:r>
            <a:r>
              <a:rPr sz="2300" b="0" i="1" baseline="-25000">
                <a:solidFill>
                  <a:srgbClr val="1C252B"/>
                </a:solidFill>
                <a:latin typeface="Cambria"/>
              </a:rPr>
              <a:t>i</a:t>
            </a:r>
            <a:r>
              <a:rPr sz="2300" b="0" i="0">
                <a:solidFill>
                  <a:srgbClr val="1C252B"/>
                </a:solidFill>
                <a:latin typeface="Cambria"/>
              </a:rPr>
              <a:t>)</a:t>
            </a:r>
            <a:r>
              <a:rPr sz="2300" b="0" i="0">
                <a:solidFill>
                  <a:srgbClr val="1C252B"/>
                </a:solidFill>
                <a:latin typeface="Segoe UI"/>
              </a:rPr>
              <a:t> if it is 0. The loss is convex — one bowl, one minimum — so gradient descent finds the best weights from any start.</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52204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Cross-entropy punishes confident mistakes without limit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6.3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47     </a:t>
            </a:r>
            <a:fld id="{21E487EC-98D6-47D8-9DDA-1CDC11E7E34A}" type="slidenum">
              <a:rPr lang="en-GB" sz="1000">
                <a:solidFill>
                  <a:srgbClr val="8795A1"/>
                </a:solidFill>
                <a:latin typeface="Segoe UI"/>
              </a:rPr>
              <a:t>14</a:t>
            </a:fld>
          </a:p>
        </p:txBody>
      </p:sp>
      <p:pic>
        <p:nvPicPr>
          <p:cNvPr id="6" name="!!figure" descr="Figure 6.3. Cross-entropy punishes confident mistakes without limit. Being right at 0.9 costs 0.11; being wrong at 0.99 costs 4.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49476" y="1737360"/>
            <a:ext cx="7092741"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Being right at 0.9 costs 0.11; being wrong at 0.99 costs 4.6.</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79297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Cross-Entropy on Four Predictions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47     </a:t>
            </a:r>
            <a:fld id="{4BF0996A-B3AB-4AF7-BA18-D1FC52AC7C34}"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17619"/>
          </a:xfrm>
          <a:prstGeom prst="roundRect">
            <a:avLst>
              <a:gd name="adj" fmla="val 222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1761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657121"/>
          </a:xfrm>
          <a:prstGeom prst="rect">
            <a:avLst/>
          </a:prstGeom>
          <a:noFill/>
        </p:spPr>
        <p:txBody>
          <a:bodyPr wrap="square" anchor="t" lIns="0" rIns="0" tIns="0" bIns="0">
            <a:noAutofit/>
          </a:bodyPr>
          <a:lstStyle/>
          <a:p>
            <a:pPr algn="l" marL="234813" indent="-234813">
              <a:lnSpc>
                <a:spcPct val="104000"/>
              </a:lnSpc>
              <a:spcBef>
                <a:spcPts val="0"/>
              </a:spcBef>
              <a:spcAft>
                <a:spcPts val="735"/>
              </a:spcAft>
            </a:pPr>
            <a:r>
              <a:rPr sz="2100" b="1">
                <a:solidFill>
                  <a:srgbClr val="7D6608"/>
                </a:solidFill>
                <a:latin typeface="Segoe UI"/>
              </a:rPr>
              <a:t>•	</a:t>
            </a:r>
            <a:r>
              <a:rPr sz="2100" b="0" i="0">
                <a:solidFill>
                  <a:srgbClr val="1C252B"/>
                </a:solidFill>
                <a:latin typeface="Segoe UI"/>
              </a:rPr>
              <a:t>Label 1, predicted </a:t>
            </a:r>
            <a:r>
              <a:rPr sz="2100" b="0" i="1">
                <a:solidFill>
                  <a:srgbClr val="1C252B"/>
                </a:solidFill>
                <a:latin typeface="Cambria"/>
              </a:rPr>
              <a:t>p</a:t>
            </a:r>
            <a:r>
              <a:rPr sz="2100" b="0" i="0">
                <a:solidFill>
                  <a:srgbClr val="1C252B"/>
                </a:solidFill>
                <a:latin typeface="Cambria"/>
              </a:rPr>
              <a:t> = 0.9</a:t>
            </a:r>
            <a:r>
              <a:rPr sz="2100" b="0" i="0">
                <a:solidFill>
                  <a:srgbClr val="1C252B"/>
                </a:solidFill>
                <a:latin typeface="Segoe UI"/>
              </a:rPr>
              <a:t>: loss </a:t>
            </a:r>
            <a:r>
              <a:rPr sz="2100" b="0" i="0">
                <a:solidFill>
                  <a:srgbClr val="1C252B"/>
                </a:solidFill>
                <a:latin typeface="Cambria"/>
              </a:rPr>
              <a:t>−ln 0.9 = 0.105</a:t>
            </a:r>
            <a:r>
              <a:rPr sz="2100" b="0" i="0">
                <a:solidFill>
                  <a:srgbClr val="1C252B"/>
                </a:solidFill>
                <a:latin typeface="Segoe UI"/>
              </a:rPr>
              <a:t>.</a:t>
            </a:r>
          </a:p>
          <a:p>
            <a:pPr algn="l" marL="234813" indent="-234813">
              <a:lnSpc>
                <a:spcPct val="104000"/>
              </a:lnSpc>
              <a:spcBef>
                <a:spcPts val="0"/>
              </a:spcBef>
              <a:spcAft>
                <a:spcPts val="735"/>
              </a:spcAft>
            </a:pPr>
            <a:r>
              <a:rPr sz="2100" b="1">
                <a:solidFill>
                  <a:srgbClr val="7D6608"/>
                </a:solidFill>
                <a:latin typeface="Segoe UI"/>
              </a:rPr>
              <a:t>•	</a:t>
            </a:r>
            <a:r>
              <a:rPr sz="2100" b="0" i="0">
                <a:solidFill>
                  <a:srgbClr val="1C252B"/>
                </a:solidFill>
                <a:latin typeface="Segoe UI"/>
              </a:rPr>
              <a:t>Label 1, predicted </a:t>
            </a:r>
            <a:r>
              <a:rPr sz="2100" b="0" i="1">
                <a:solidFill>
                  <a:srgbClr val="1C252B"/>
                </a:solidFill>
                <a:latin typeface="Cambria"/>
              </a:rPr>
              <a:t>p</a:t>
            </a:r>
            <a:r>
              <a:rPr sz="2100" b="0" i="0">
                <a:solidFill>
                  <a:srgbClr val="1C252B"/>
                </a:solidFill>
                <a:latin typeface="Cambria"/>
              </a:rPr>
              <a:t> = 0.6</a:t>
            </a:r>
            <a:r>
              <a:rPr sz="2100" b="0" i="0">
                <a:solidFill>
                  <a:srgbClr val="1C252B"/>
                </a:solidFill>
                <a:latin typeface="Segoe UI"/>
              </a:rPr>
              <a:t>: loss </a:t>
            </a:r>
            <a:r>
              <a:rPr sz="2100" b="0" i="0">
                <a:solidFill>
                  <a:srgbClr val="1C252B"/>
                </a:solidFill>
                <a:latin typeface="Cambria"/>
              </a:rPr>
              <a:t>−ln 0.6 = 0.511</a:t>
            </a:r>
            <a:r>
              <a:rPr sz="2100" b="0" i="0">
                <a:solidFill>
                  <a:srgbClr val="1C252B"/>
                </a:solidFill>
                <a:latin typeface="Segoe UI"/>
              </a:rPr>
              <a:t>.</a:t>
            </a:r>
          </a:p>
          <a:p>
            <a:pPr algn="l" marL="234813" indent="-234813">
              <a:lnSpc>
                <a:spcPct val="104000"/>
              </a:lnSpc>
              <a:spcBef>
                <a:spcPts val="0"/>
              </a:spcBef>
              <a:spcAft>
                <a:spcPts val="735"/>
              </a:spcAft>
            </a:pPr>
            <a:r>
              <a:rPr sz="2100" b="1">
                <a:solidFill>
                  <a:srgbClr val="7D6608"/>
                </a:solidFill>
                <a:latin typeface="Segoe UI"/>
              </a:rPr>
              <a:t>•	</a:t>
            </a:r>
            <a:r>
              <a:rPr sz="2100" b="0" i="0">
                <a:solidFill>
                  <a:srgbClr val="1C252B"/>
                </a:solidFill>
                <a:latin typeface="Segoe UI"/>
              </a:rPr>
              <a:t>Label 0, predicted </a:t>
            </a:r>
            <a:r>
              <a:rPr sz="2100" b="0" i="1">
                <a:solidFill>
                  <a:srgbClr val="1C252B"/>
                </a:solidFill>
                <a:latin typeface="Cambria"/>
              </a:rPr>
              <a:t>p</a:t>
            </a:r>
            <a:r>
              <a:rPr sz="2100" b="0" i="0">
                <a:solidFill>
                  <a:srgbClr val="1C252B"/>
                </a:solidFill>
                <a:latin typeface="Cambria"/>
              </a:rPr>
              <a:t> = 0.2</a:t>
            </a:r>
            <a:r>
              <a:rPr sz="2100" b="0" i="0">
                <a:solidFill>
                  <a:srgbClr val="1C252B"/>
                </a:solidFill>
                <a:latin typeface="Segoe UI"/>
              </a:rPr>
              <a:t>: loss </a:t>
            </a:r>
            <a:r>
              <a:rPr sz="2100" b="0" i="0">
                <a:solidFill>
                  <a:srgbClr val="1C252B"/>
                </a:solidFill>
                <a:latin typeface="Cambria"/>
              </a:rPr>
              <a:t>−ln 0.8 = 0.223</a:t>
            </a:r>
            <a:r>
              <a:rPr sz="2100" b="0" i="0">
                <a:solidFill>
                  <a:srgbClr val="1C252B"/>
                </a:solidFill>
                <a:latin typeface="Segoe UI"/>
              </a:rPr>
              <a:t>.</a:t>
            </a:r>
          </a:p>
          <a:p>
            <a:pPr algn="l" marL="234813" indent="-234813">
              <a:lnSpc>
                <a:spcPct val="104000"/>
              </a:lnSpc>
              <a:spcBef>
                <a:spcPts val="0"/>
              </a:spcBef>
              <a:spcAft>
                <a:spcPts val="0"/>
              </a:spcAft>
            </a:pPr>
            <a:r>
              <a:rPr sz="2100" b="1">
                <a:solidFill>
                  <a:srgbClr val="7D6608"/>
                </a:solidFill>
                <a:latin typeface="Segoe UI"/>
              </a:rPr>
              <a:t>•	</a:t>
            </a:r>
            <a:r>
              <a:rPr sz="2100" b="0" i="0">
                <a:solidFill>
                  <a:srgbClr val="1C252B"/>
                </a:solidFill>
                <a:latin typeface="Segoe UI"/>
              </a:rPr>
              <a:t>Label 0, predicted </a:t>
            </a:r>
            <a:r>
              <a:rPr sz="2100" b="0" i="1">
                <a:solidFill>
                  <a:srgbClr val="1C252B"/>
                </a:solidFill>
                <a:latin typeface="Cambria"/>
              </a:rPr>
              <a:t>p</a:t>
            </a:r>
            <a:r>
              <a:rPr sz="2100" b="0" i="0">
                <a:solidFill>
                  <a:srgbClr val="1C252B"/>
                </a:solidFill>
                <a:latin typeface="Cambria"/>
              </a:rPr>
              <a:t> = 0.7</a:t>
            </a:r>
            <a:r>
              <a:rPr sz="2100" b="0" i="0">
                <a:solidFill>
                  <a:srgbClr val="1C252B"/>
                </a:solidFill>
                <a:latin typeface="Segoe UI"/>
              </a:rPr>
              <a:t>: loss </a:t>
            </a:r>
            <a:r>
              <a:rPr sz="2100" b="0" i="0">
                <a:solidFill>
                  <a:srgbClr val="1C252B"/>
                </a:solidFill>
                <a:latin typeface="Cambria"/>
              </a:rPr>
              <a:t>−ln 0.3 = 1.204</a:t>
            </a:r>
            <a:r>
              <a:rPr sz="2100" b="0" i="0">
                <a:solidFill>
                  <a:srgbClr val="1C252B"/>
                </a:solidFill>
                <a:latin typeface="Segoe UI"/>
              </a:rPr>
              <a:t>.</a:t>
            </a:r>
          </a:p>
        </p:txBody>
      </p:sp>
      <p:sp>
        <p:nvSpPr>
          <p:cNvPr id="10" name="body-1"/>
          <p:cNvSpPr txBox="1"/>
          <p:nvPr/>
        </p:nvSpPr>
        <p:spPr>
          <a:xfrm>
            <a:off x="1042416" y="3769766"/>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Average:</a:t>
            </a:r>
            <a:r>
              <a:rPr sz="2100" b="0" i="0">
                <a:solidFill>
                  <a:srgbClr val="1C252B"/>
                </a:solidFill>
                <a:latin typeface="Segoe UI"/>
              </a:rPr>
              <a:t> </a:t>
            </a:r>
            <a:r>
              <a:rPr sz="2100" b="0" i="0">
                <a:solidFill>
                  <a:srgbClr val="1C252B"/>
                </a:solidFill>
                <a:latin typeface="Cambria"/>
              </a:rPr>
              <a:t>(0.105 + 0.511 + 0.223 + 1.204)/4 = </a:t>
            </a:r>
            <a:r>
              <a:rPr sz="2100" b="1" i="0">
                <a:solidFill>
                  <a:srgbClr val="1C252B"/>
                </a:solidFill>
                <a:latin typeface="Cambria"/>
              </a:rPr>
              <a:t>0.511</a:t>
            </a:r>
            <a:r>
              <a:rPr sz="2100" b="0" i="0">
                <a:solidFill>
                  <a:srgbClr val="1C252B"/>
                </a:solidFill>
                <a:latin typeface="Segoe UI"/>
              </a:rPr>
              <a:t>.</a:t>
            </a:r>
          </a:p>
        </p:txBody>
      </p:sp>
      <p:sp>
        <p:nvSpPr>
          <p:cNvPr id="11" name="body-1bar">
            <a:extLst>
              <a:ext uri="{C183D7F6-B498-43B3-948B-1728B52AA6E4}">
                <adec:decorative xmlns:adec="http://schemas.microsoft.com/office/drawing/2017/decorative" val="1"/>
              </a:ext>
            </a:extLst>
          </p:cNvPr>
          <p:cNvSpPr/>
          <p:nvPr/>
        </p:nvSpPr>
        <p:spPr>
          <a:xfrm>
            <a:off x="841248" y="3788054"/>
            <a:ext cx="54864" cy="31455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4249292"/>
            <a:ext cx="10234879"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last example is the only one misclassified at a 0.5 threshold, and it contributes more than half the total. Replace it by a label-1 example predicted at </a:t>
            </a:r>
            <a:r>
              <a:rPr sz="2100" b="0" i="1">
                <a:solidFill>
                  <a:srgbClr val="1C252B"/>
                </a:solidFill>
                <a:latin typeface="Cambria"/>
              </a:rPr>
              <a:t>p</a:t>
            </a:r>
            <a:r>
              <a:rPr sz="2100" b="0" i="0">
                <a:solidFill>
                  <a:srgbClr val="1C252B"/>
                </a:solidFill>
                <a:latin typeface="Cambria"/>
              </a:rPr>
              <a:t> = 0.01</a:t>
            </a:r>
            <a:r>
              <a:rPr sz="2100" b="0" i="0">
                <a:solidFill>
                  <a:srgbClr val="1C252B"/>
                </a:solidFill>
                <a:latin typeface="Segoe UI"/>
              </a:rPr>
              <a:t> and that one example alone costs </a:t>
            </a:r>
            <a:r>
              <a:rPr sz="2100" b="0" i="0">
                <a:solidFill>
                  <a:srgbClr val="1C252B"/>
                </a:solidFill>
                <a:latin typeface="Cambria"/>
              </a:rPr>
              <a:t>−ln 0.01 = 4.6</a:t>
            </a:r>
            <a:r>
              <a:rPr sz="2100" b="0" i="0">
                <a:solidFill>
                  <a:srgbClr val="1C252B"/>
                </a:solidFill>
                <a:latin typeface="Segoe UI"/>
              </a:rPr>
              <a:t>. Cross-entropy cares not just whether you are wrong, but how sure you were.</a:t>
            </a: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ipe(right)">
                                      <p:cBhvr>
                                        <p:cTn id="8" dur="420"/>
                                        <p:tgtEl>
                                          <p:spTgt spid="1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2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Fitting by Gradient Descent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5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6.5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6.1   Why Not Just Use Linear Regression?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6.2   The Sigmoid and the Log-Odds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6.3   The Decision Boundary</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6.4   The Loss: Cross-Entropy</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6.5   Fitting by Gradient Descent</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6.6   More Than Two Classes</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§6.5     </a:t>
            </a:r>
            <a:fld id="{B08D83CC-2C19-4D81-9236-D134C069F2D9}" type="slidenum">
              <a:rPr lang="en-GB" sz="1000">
                <a:solidFill>
                  <a:srgbClr val="8795A1"/>
                </a:solidFill>
                <a:latin typeface="Segoe UI"/>
              </a:rPr>
              <a:t>16</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33482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Fitting by Gradient Descent</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§6.5  ·  Handout p. 48     </a:t>
            </a:r>
            <a:fld id="{3BD7B8D2-9465-449A-8474-6EB7C444800C}"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84815"/>
          </a:xfrm>
          <a:prstGeom prst="roundRect">
            <a:avLst>
              <a:gd name="adj" fmla="val 3679"/>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84815"/>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Differentiating the cross-entropy through the sigmoid, most of the algebra cancels and leaves a result of exactly the same shape as linear regression’s:</a:t>
            </a:r>
          </a:p>
        </p:txBody>
      </p:sp>
      <p:pic>
        <p:nvPicPr>
          <p:cNvPr id="10" name="body-1" descr="\frac{\partial L}{\partial w_j} = \frac{1}{n}\sum_{i=1}^{n}(p_i - y_i)\,x_{ij}, \qquad \frac{\partial L}{\partial b} = \frac{1}{n}\sum_{i=1}^{n}(p_i - y_i)"/>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973287"/>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60575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Gradient Descent Step</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§6.5  ·  Handout p. 48     </a:t>
            </a:r>
            <a:fld id="{7697DE65-B88D-400F-972A-A3ED3A6068DF}"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45192"/>
          </a:xfrm>
          <a:prstGeom prst="roundRect">
            <a:avLst>
              <a:gd name="adj" fmla="val 201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4519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Four examples with one feature: </a:t>
            </a:r>
            <a:r>
              <a:rPr sz="2100" b="0" i="1">
                <a:solidFill>
                  <a:srgbClr val="1C252B"/>
                </a:solidFill>
                <a:latin typeface="Cambria"/>
              </a:rPr>
              <a:t>x</a:t>
            </a:r>
            <a:r>
              <a:rPr sz="2100" b="0" i="0">
                <a:solidFill>
                  <a:srgbClr val="1C252B"/>
                </a:solidFill>
                <a:latin typeface="Cambria"/>
              </a:rPr>
              <a:t> = 1, 2, 3, 4</a:t>
            </a:r>
            <a:r>
              <a:rPr sz="2100" b="0" i="0">
                <a:solidFill>
                  <a:srgbClr val="1C252B"/>
                </a:solidFill>
                <a:latin typeface="Segoe UI"/>
              </a:rPr>
              <a:t> and labels </a:t>
            </a:r>
            <a:r>
              <a:rPr sz="2100" b="0" i="1">
                <a:solidFill>
                  <a:srgbClr val="1C252B"/>
                </a:solidFill>
                <a:latin typeface="Cambria"/>
              </a:rPr>
              <a:t>y</a:t>
            </a:r>
            <a:r>
              <a:rPr sz="2100" b="0" i="0">
                <a:solidFill>
                  <a:srgbClr val="1C252B"/>
                </a:solidFill>
                <a:latin typeface="Cambria"/>
              </a:rPr>
              <a:t> = 0, 0, 1, 1</a:t>
            </a:r>
            <a:r>
              <a:rPr sz="2100" b="0" i="0">
                <a:solidFill>
                  <a:srgbClr val="1C252B"/>
                </a:solidFill>
                <a:latin typeface="Segoe UI"/>
              </a:rPr>
              <a:t>. Start at </a:t>
            </a:r>
            <a:r>
              <a:rPr sz="2100" b="0" i="1">
                <a:solidFill>
                  <a:srgbClr val="1C252B"/>
                </a:solidFill>
                <a:latin typeface="Cambria"/>
              </a:rPr>
              <a:t>w</a:t>
            </a:r>
            <a:r>
              <a:rPr sz="2100" b="0" i="0">
                <a:solidFill>
                  <a:srgbClr val="1C252B"/>
                </a:solidFill>
                <a:latin typeface="Cambria"/>
              </a:rPr>
              <a:t> = 0</a:t>
            </a:r>
            <a:r>
              <a:rPr sz="2100" b="0" i="0">
                <a:solidFill>
                  <a:srgbClr val="1C252B"/>
                </a:solidFill>
                <a:latin typeface="Segoe UI"/>
              </a:rPr>
              <a:t>, </a:t>
            </a:r>
            <a:r>
              <a:rPr sz="2100" b="0" i="1">
                <a:solidFill>
                  <a:srgbClr val="1C252B"/>
                </a:solidFill>
                <a:latin typeface="Cambria"/>
              </a:rPr>
              <a:t>b</a:t>
            </a:r>
            <a:r>
              <a:rPr sz="2100" b="0" i="0">
                <a:solidFill>
                  <a:srgbClr val="1C252B"/>
                </a:solidFill>
                <a:latin typeface="Cambria"/>
              </a:rPr>
              <a:t> = 0</a:t>
            </a:r>
            <a:r>
              <a:rPr sz="2100" b="0" i="0">
                <a:solidFill>
                  <a:srgbClr val="1C252B"/>
                </a:solidFill>
                <a:latin typeface="Segoe UI"/>
              </a:rPr>
              <a:t> with learning rate </a:t>
            </a:r>
            <a:r>
              <a:rPr sz="2100" b="0" i="0">
                <a:solidFill>
                  <a:srgbClr val="1C252B"/>
                </a:solidFill>
                <a:latin typeface="Cambria"/>
              </a:rPr>
              <a:t>α = 1</a:t>
            </a:r>
            <a:r>
              <a:rPr sz="2100" b="0" i="0">
                <a:solidFill>
                  <a:srgbClr val="1C252B"/>
                </a:solidFill>
                <a:latin typeface="Segoe UI"/>
              </a:rPr>
              <a:t>.</a:t>
            </a:r>
          </a:p>
        </p:txBody>
      </p:sp>
      <p:sp>
        <p:nvSpPr>
          <p:cNvPr id="10" name="body-1"/>
          <p:cNvSpPr txBox="1"/>
          <p:nvPr/>
        </p:nvSpPr>
        <p:spPr>
          <a:xfrm>
            <a:off x="1042416" y="2824048"/>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Predictions:</a:t>
            </a:r>
            <a:r>
              <a:rPr sz="2100" b="0" i="0">
                <a:solidFill>
                  <a:srgbClr val="1C252B"/>
                </a:solidFill>
                <a:latin typeface="Segoe UI"/>
              </a:rPr>
              <a:t> </a:t>
            </a:r>
            <a:r>
              <a:rPr sz="2100" b="0" i="1">
                <a:solidFill>
                  <a:srgbClr val="1C252B"/>
                </a:solidFill>
                <a:latin typeface="Cambria"/>
              </a:rPr>
              <a:t>z</a:t>
            </a:r>
            <a:r>
              <a:rPr sz="2100" b="0" i="0">
                <a:solidFill>
                  <a:srgbClr val="1C252B"/>
                </a:solidFill>
                <a:latin typeface="Cambria"/>
              </a:rPr>
              <a:t> = 0</a:t>
            </a:r>
            <a:r>
              <a:rPr sz="2100" b="0" i="0">
                <a:solidFill>
                  <a:srgbClr val="1C252B"/>
                </a:solidFill>
                <a:latin typeface="Segoe UI"/>
              </a:rPr>
              <a:t> everywhere, so </a:t>
            </a:r>
            <a:r>
              <a:rPr sz="2100" b="0" i="1">
                <a:solidFill>
                  <a:srgbClr val="1C252B"/>
                </a:solidFill>
                <a:latin typeface="Cambria"/>
              </a:rPr>
              <a:t>p</a:t>
            </a:r>
            <a:r>
              <a:rPr sz="2100" b="0" i="0">
                <a:solidFill>
                  <a:srgbClr val="1C252B"/>
                </a:solidFill>
                <a:latin typeface="Cambria"/>
              </a:rPr>
              <a:t> = 0.5</a:t>
            </a:r>
            <a:r>
              <a:rPr sz="2100" b="0" i="0">
                <a:solidFill>
                  <a:srgbClr val="1C252B"/>
                </a:solidFill>
                <a:latin typeface="Segoe UI"/>
              </a:rPr>
              <a:t> for all four, and the loss is </a:t>
            </a:r>
            <a:r>
              <a:rPr sz="2100" b="0" i="0">
                <a:solidFill>
                  <a:srgbClr val="1C252B"/>
                </a:solidFill>
                <a:latin typeface="Cambria"/>
              </a:rPr>
              <a:t>−ln 0.5 = 0.693</a:t>
            </a:r>
            <a:r>
              <a:rPr sz="2100" b="0" i="0">
                <a:solidFill>
                  <a:srgbClr val="1C252B"/>
                </a:solidFill>
                <a:latin typeface="Segoe UI"/>
              </a:rPr>
              <a:t>.</a:t>
            </a:r>
          </a:p>
        </p:txBody>
      </p:sp>
      <p:sp>
        <p:nvSpPr>
          <p:cNvPr id="11" name="body-2"/>
          <p:cNvSpPr txBox="1"/>
          <p:nvPr/>
        </p:nvSpPr>
        <p:spPr>
          <a:xfrm>
            <a:off x="1042416" y="3303574"/>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Errors</a:t>
            </a:r>
            <a:r>
              <a:rPr sz="2100" b="0" i="0">
                <a:solidFill>
                  <a:srgbClr val="1C252B"/>
                </a:solidFill>
                <a:latin typeface="Segoe UI"/>
              </a:rPr>
              <a:t> </a:t>
            </a:r>
            <a:r>
              <a:rPr sz="2100" b="0" i="1">
                <a:solidFill>
                  <a:srgbClr val="1C252B"/>
                </a:solidFill>
                <a:latin typeface="Cambria"/>
              </a:rPr>
              <a:t>p</a:t>
            </a:r>
            <a:r>
              <a:rPr sz="2100" b="0" i="0">
                <a:solidFill>
                  <a:srgbClr val="1C252B"/>
                </a:solidFill>
                <a:latin typeface="Cambria"/>
              </a:rPr>
              <a:t> − </a:t>
            </a:r>
            <a:r>
              <a:rPr sz="2100" b="0" i="1">
                <a:solidFill>
                  <a:srgbClr val="1C252B"/>
                </a:solidFill>
                <a:latin typeface="Cambria"/>
              </a:rPr>
              <a:t>y</a:t>
            </a:r>
            <a:r>
              <a:rPr sz="2100" b="0" i="0">
                <a:solidFill>
                  <a:srgbClr val="1C252B"/>
                </a:solidFill>
                <a:latin typeface="Segoe UI"/>
              </a:rPr>
              <a:t>: </a:t>
            </a:r>
            <a:r>
              <a:rPr sz="2100" b="0" i="0">
                <a:solidFill>
                  <a:srgbClr val="1C252B"/>
                </a:solidFill>
                <a:latin typeface="Cambria"/>
              </a:rPr>
              <a:t>0.5, 0.5, −0.5, −0.5</a:t>
            </a:r>
            <a:r>
              <a:rPr sz="2100" b="0" i="0">
                <a:solidFill>
                  <a:srgbClr val="1C252B"/>
                </a:solidFill>
                <a:latin typeface="Segoe UI"/>
              </a:rPr>
              <a:t>.</a:t>
            </a:r>
          </a:p>
        </p:txBody>
      </p:sp>
      <p:pic>
        <p:nvPicPr>
          <p:cNvPr id="12" name="body-3" descr="\frac{\partial L}{\partial w} = \tfrac{1}{4}\big[(0.5)(1) + (0.5)(2) + (-0.5)(3) + (-0.5)(4)\big] = \tfrac{1}{4}(-2) = -0.5, \qquad \frac{\partial L}{\partial b} = 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783101"/>
            <a:ext cx="10234879" cy="600395"/>
          </a:xfrm>
          <a:prstGeom prst="rect">
            <a:avLst/>
          </a:prstGeom>
        </p:spPr>
      </p:pic>
      <p:sp>
        <p:nvSpPr>
          <p:cNvPr id="13" name="body-4"/>
          <p:cNvSpPr txBox="1"/>
          <p:nvPr/>
        </p:nvSpPr>
        <p:spPr>
          <a:xfrm>
            <a:off x="1042416" y="4530181"/>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Update:</a:t>
            </a:r>
            <a:r>
              <a:rPr sz="2100" b="0" i="0">
                <a:solidFill>
                  <a:srgbClr val="1C252B"/>
                </a:solidFill>
                <a:latin typeface="Segoe UI"/>
              </a:rPr>
              <a:t> </a:t>
            </a:r>
            <a:r>
              <a:rPr sz="2100" b="0" i="1">
                <a:solidFill>
                  <a:srgbClr val="1C252B"/>
                </a:solidFill>
                <a:latin typeface="Cambria"/>
              </a:rPr>
              <a:t>w</a:t>
            </a:r>
            <a:r>
              <a:rPr sz="2100" b="0" i="0">
                <a:solidFill>
                  <a:srgbClr val="1C252B"/>
                </a:solidFill>
                <a:latin typeface="Cambria"/>
              </a:rPr>
              <a:t> ← 0 − 1 × (−0.5) = 0.5</a:t>
            </a:r>
            <a:r>
              <a:rPr sz="2100" b="0" i="0">
                <a:solidFill>
                  <a:srgbClr val="1C252B"/>
                </a:solidFill>
                <a:latin typeface="Segoe UI"/>
              </a:rPr>
              <a:t>; </a:t>
            </a:r>
            <a:r>
              <a:rPr sz="2100" b="0" i="1">
                <a:solidFill>
                  <a:srgbClr val="1C252B"/>
                </a:solidFill>
                <a:latin typeface="Cambria"/>
              </a:rPr>
              <a:t>b</a:t>
            </a:r>
            <a:r>
              <a:rPr sz="2100" b="0" i="0">
                <a:solidFill>
                  <a:srgbClr val="1C252B"/>
                </a:solidFill>
                <a:latin typeface="Segoe UI"/>
              </a:rPr>
              <a:t> is unchanged.</a:t>
            </a:r>
          </a:p>
        </p:txBody>
      </p:sp>
      <p:sp>
        <p:nvSpPr>
          <p:cNvPr id="14" name="body-4bar">
            <a:extLst>
              <a:ext uri="{C183D7F6-B498-43B3-948B-1728B52AA6E4}">
                <adec:decorative xmlns:adec="http://schemas.microsoft.com/office/drawing/2017/decorative" val="1"/>
              </a:ext>
            </a:extLst>
          </p:cNvPr>
          <p:cNvSpPr/>
          <p:nvPr/>
        </p:nvSpPr>
        <p:spPr>
          <a:xfrm>
            <a:off x="841248" y="4548469"/>
            <a:ext cx="54864" cy="31455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body-5"/>
          <p:cNvSpPr txBox="1"/>
          <p:nvPr/>
        </p:nvSpPr>
        <p:spPr>
          <a:xfrm>
            <a:off x="1042416" y="5009708"/>
            <a:ext cx="10234879"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New probabilities</a:t>
            </a:r>
            <a:r>
              <a:rPr sz="2100" b="0" i="0">
                <a:solidFill>
                  <a:srgbClr val="1C252B"/>
                </a:solidFill>
                <a:latin typeface="Segoe UI"/>
              </a:rPr>
              <a:t> </a:t>
            </a:r>
            <a:r>
              <a:rPr sz="2100" b="0" i="0">
                <a:solidFill>
                  <a:srgbClr val="1C252B"/>
                </a:solidFill>
                <a:latin typeface="Cambria"/>
              </a:rPr>
              <a:t>σ(0.5</a:t>
            </a:r>
            <a:r>
              <a:rPr sz="2100" b="0" i="1">
                <a:solidFill>
                  <a:srgbClr val="1C252B"/>
                </a:solidFill>
                <a:latin typeface="Cambria"/>
              </a:rPr>
              <a:t>x</a:t>
            </a:r>
            <a:r>
              <a:rPr sz="2100" b="0" i="0">
                <a:solidFill>
                  <a:srgbClr val="1C252B"/>
                </a:solidFill>
                <a:latin typeface="Cambria"/>
              </a:rPr>
              <a:t>)</a:t>
            </a:r>
            <a:r>
              <a:rPr sz="2100" b="0" i="0">
                <a:solidFill>
                  <a:srgbClr val="1C252B"/>
                </a:solidFill>
                <a:latin typeface="Segoe UI"/>
              </a:rPr>
              <a:t>: </a:t>
            </a:r>
            <a:r>
              <a:rPr sz="2100" b="0" i="0">
                <a:solidFill>
                  <a:srgbClr val="1C252B"/>
                </a:solidFill>
                <a:latin typeface="Cambria"/>
              </a:rPr>
              <a:t>0.62, 0.73, 0.82, 0.88</a:t>
            </a:r>
            <a:r>
              <a:rPr sz="2100" b="0" i="0">
                <a:solidFill>
                  <a:srgbClr val="1C252B"/>
                </a:solidFill>
                <a:latin typeface="Segoe UI"/>
              </a:rPr>
              <a:t>. The loss falls to </a:t>
            </a:r>
            <a:r>
              <a:rPr sz="2100" b="0" i="0">
                <a:solidFill>
                  <a:srgbClr val="1C252B"/>
                </a:solidFill>
                <a:latin typeface="Cambria"/>
              </a:rPr>
              <a:t>0.654</a:t>
            </a:r>
            <a:r>
              <a:rPr sz="2100" b="0" i="0">
                <a:solidFill>
                  <a:srgbClr val="1C252B"/>
                </a:solidFill>
                <a:latin typeface="Segoe UI"/>
              </a:rPr>
              <a:t>. The two class-1 examples are already right; the next steps will push </a:t>
            </a:r>
            <a:r>
              <a:rPr sz="2100" b="0" i="1">
                <a:solidFill>
                  <a:srgbClr val="1C252B"/>
                </a:solidFill>
                <a:latin typeface="Cambria"/>
              </a:rPr>
              <a:t>b</a:t>
            </a:r>
            <a:r>
              <a:rPr sz="2100" b="0" i="0">
                <a:solidFill>
                  <a:srgbClr val="1C252B"/>
                </a:solidFill>
                <a:latin typeface="Segoe UI"/>
              </a:rPr>
              <a:t> negative so that the first two fall below 0.5 as well.</a:t>
            </a:r>
          </a:p>
        </p:txBody>
      </p:sp>
      <p:sp>
        <p:nvSpPr>
          <p:cNvPr id="16" name="body-5bar">
            <a:extLst>
              <a:ext uri="{C183D7F6-B498-43B3-948B-1728B52AA6E4}">
                <adec:decorative xmlns:adec="http://schemas.microsoft.com/office/drawing/2017/decorative" val="1"/>
              </a:ext>
            </a:extLst>
          </p:cNvPr>
          <p:cNvSpPr/>
          <p:nvPr/>
        </p:nvSpPr>
        <p:spPr>
          <a:xfrm>
            <a:off x="841248" y="5027996"/>
            <a:ext cx="54864" cy="98023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right)">
                                      <p:cBhvr>
                                        <p:cTn id="23" dur="42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2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right)">
                                      <p:cBhvr>
                                        <p:cTn id="31" dur="42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When the Classes Can Be Separated Perfectly</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§6.5  ·  Handout p. 48     </a:t>
            </a:r>
            <a:fld id="{567D7EE9-22B9-4DDE-B1CE-93D46B88F025}"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In the worked example a single threshold, </a:t>
            </a:r>
            <a:r>
              <a:rPr sz="2300" b="0" i="1">
                <a:solidFill>
                  <a:srgbClr val="1C252B"/>
                </a:solidFill>
                <a:latin typeface="Cambria"/>
              </a:rPr>
              <a:t>x</a:t>
            </a:r>
            <a:r>
              <a:rPr sz="2300" b="0" i="0">
                <a:solidFill>
                  <a:srgbClr val="1C252B"/>
                </a:solidFill>
                <a:latin typeface="Cambria"/>
              </a:rPr>
              <a:t> = 2.5</a:t>
            </a:r>
            <a:r>
              <a:rPr sz="2300" b="0" i="0">
                <a:solidFill>
                  <a:srgbClr val="1C252B"/>
                </a:solidFill>
                <a:latin typeface="Segoe UI"/>
              </a:rPr>
              <a:t>, separates the classes with no errors. The loss can then always be reduced by making the sigmoid steeper, so the weights grow without limit: after 5,000 steps </a:t>
            </a:r>
            <a:r>
              <a:rPr sz="2300" b="0" i="1">
                <a:solidFill>
                  <a:srgbClr val="1C252B"/>
                </a:solidFill>
                <a:latin typeface="Cambria"/>
              </a:rPr>
              <a:t>w</a:t>
            </a:r>
            <a:r>
              <a:rPr sz="2300" b="0" i="0">
                <a:solidFill>
                  <a:srgbClr val="1C252B"/>
                </a:solidFill>
                <a:latin typeface="Cambria"/>
              </a:rPr>
              <a:t> ≈ 8.9</a:t>
            </a:r>
            <a:r>
              <a:rPr sz="2300" b="0" i="0">
                <a:solidFill>
                  <a:srgbClr val="1C252B"/>
                </a:solidFill>
                <a:latin typeface="Segoe UI"/>
              </a:rPr>
              <a:t> and still rising, while the boundary settles at </a:t>
            </a:r>
            <a:r>
              <a:rPr sz="2300" b="0" i="1">
                <a:solidFill>
                  <a:srgbClr val="1C252B"/>
                </a:solidFill>
                <a:latin typeface="Cambria"/>
              </a:rPr>
              <a:t>x</a:t>
            </a:r>
            <a:r>
              <a:rPr sz="2300" b="0" i="0">
                <a:solidFill>
                  <a:srgbClr val="1C252B"/>
                </a:solidFill>
                <a:latin typeface="Cambria"/>
              </a:rPr>
              <a:t> ≈ 2.5</a:t>
            </a:r>
            <a:r>
              <a:rPr sz="2300" b="0" i="0">
                <a:solidFill>
                  <a:srgbClr val="1C252B"/>
                </a:solidFill>
                <a:latin typeface="Segoe UI"/>
              </a:rPr>
              <a:t>. The fix is regularisation (Chapter 7), which scikit-learn applies by default — that is what its parameter </a:t>
            </a:r>
            <a:r>
              <a:rPr sz="2150" b="0" i="0">
                <a:solidFill>
                  <a:srgbClr val="1F4E79"/>
                </a:solidFill>
                <a:latin typeface="Consolas"/>
              </a:rPr>
              <a:t>C</a:t>
            </a:r>
            <a:r>
              <a:rPr sz="2300" b="0" i="0">
                <a:solidFill>
                  <a:srgbClr val="1C252B"/>
                </a:solidFill>
                <a:latin typeface="Segoe UI"/>
              </a:rPr>
              <a:t> controls.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14760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More Than Two Classes</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  ·  Handout p. 48     </a:t>
            </a:r>
            <a:fld id="{1B6C11EA-4101-46BE-97F2-E691EBD906D3}"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56620"/>
          </a:xfrm>
          <a:prstGeom prst="roundRect">
            <a:avLst>
              <a:gd name="adj" fmla="val 2991"/>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566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One-vs-rest</a:t>
            </a:r>
            <a:r>
              <a:rPr sz="2300" b="0" i="0">
                <a:solidFill>
                  <a:srgbClr val="1C252B"/>
                </a:solidFill>
                <a:latin typeface="Segoe UI"/>
              </a:rPr>
              <a:t> trains one binary classifier per class (“class </a:t>
            </a:r>
            <a:r>
              <a:rPr sz="2300" b="0" i="1">
                <a:solidFill>
                  <a:srgbClr val="1C252B"/>
                </a:solidFill>
                <a:latin typeface="Cambria"/>
              </a:rPr>
              <a:t>k</a:t>
            </a:r>
            <a:r>
              <a:rPr sz="2300" b="0" i="0">
                <a:solidFill>
                  <a:srgbClr val="1C252B"/>
                </a:solidFill>
                <a:latin typeface="Segoe UI"/>
              </a:rPr>
              <a:t> or not?”) and predicts the class whose classifier is most confident. </a:t>
            </a:r>
            <a:r>
              <a:rPr sz="2300" b="1" i="0">
                <a:solidFill>
                  <a:srgbClr val="1C252B"/>
                </a:solidFill>
                <a:latin typeface="Segoe UI"/>
              </a:rPr>
              <a:t>Softmax</a:t>
            </a:r>
            <a:r>
              <a:rPr sz="2300" b="0" i="0">
                <a:solidFill>
                  <a:srgbClr val="1C252B"/>
                </a:solidFill>
                <a:latin typeface="Segoe UI"/>
              </a:rPr>
              <a:t> (multinomial) regression is the direct generalisation: one linear score per class, turned into probabilities that sum to 1:</a:t>
            </a:r>
          </a:p>
        </p:txBody>
      </p:sp>
      <p:pic>
        <p:nvPicPr>
          <p:cNvPr id="10" name="body-1" descr="P(y = k \mid \mathbf{x}) = \frac{e^{z_k}}{\sum_{j} e^{z_j}}, \qquad z_k = \mathbf{w}_k\cdot\mathbf{x} + b_k"/>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667074"/>
            <a:ext cx="10161727" cy="816010"/>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41853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Softmax on Three Scores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  ·  Handout p. 48     </a:t>
            </a:r>
            <a:fld id="{33203960-8B9B-4D11-A37A-21FB85A8E2ED}"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743325"/>
          </a:xfrm>
          <a:prstGeom prst="roundRect">
            <a:avLst>
              <a:gd name="adj" fmla="val 244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74332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network-traffic classifier gives scores </a:t>
            </a:r>
            <a:r>
              <a:rPr sz="2100" b="0" i="1">
                <a:solidFill>
                  <a:srgbClr val="1C252B"/>
                </a:solidFill>
                <a:latin typeface="Cambria"/>
              </a:rPr>
              <a:t>z</a:t>
            </a:r>
            <a:r>
              <a:rPr sz="2100" b="0" i="0">
                <a:solidFill>
                  <a:srgbClr val="1C252B"/>
                </a:solidFill>
                <a:latin typeface="Cambria"/>
              </a:rPr>
              <a:t> = (2.0, 1.0, 0.1)</a:t>
            </a:r>
            <a:r>
              <a:rPr sz="2100" b="0" i="0">
                <a:solidFill>
                  <a:srgbClr val="1C252B"/>
                </a:solidFill>
                <a:latin typeface="Segoe UI"/>
              </a:rPr>
              <a:t> for the classes </a:t>
            </a:r>
            <a:r>
              <a:rPr sz="2100" b="0" i="1">
                <a:solidFill>
                  <a:srgbClr val="1C252B"/>
                </a:solidFill>
                <a:latin typeface="Segoe UI"/>
              </a:rPr>
              <a:t>web</a:t>
            </a:r>
            <a:r>
              <a:rPr sz="2100" b="0" i="0">
                <a:solidFill>
                  <a:srgbClr val="1C252B"/>
                </a:solidFill>
                <a:latin typeface="Segoe UI"/>
              </a:rPr>
              <a:t>, </a:t>
            </a:r>
            <a:r>
              <a:rPr sz="2100" b="0" i="1">
                <a:solidFill>
                  <a:srgbClr val="1C252B"/>
                </a:solidFill>
                <a:latin typeface="Segoe UI"/>
              </a:rPr>
              <a:t>e-mail</a:t>
            </a:r>
            <a:r>
              <a:rPr sz="2100" b="0" i="0">
                <a:solidFill>
                  <a:srgbClr val="1C252B"/>
                </a:solidFill>
                <a:latin typeface="Segoe UI"/>
              </a:rPr>
              <a:t> and </a:t>
            </a:r>
            <a:r>
              <a:rPr sz="2100" b="0" i="1">
                <a:solidFill>
                  <a:srgbClr val="1C252B"/>
                </a:solidFill>
                <a:latin typeface="Segoe UI"/>
              </a:rPr>
              <a:t>streaming</a:t>
            </a:r>
            <a:r>
              <a:rPr sz="2100" b="0" i="0">
                <a:solidFill>
                  <a:srgbClr val="1C252B"/>
                </a:solidFill>
                <a:latin typeface="Segoe UI"/>
              </a:rPr>
              <a:t>.</a:t>
            </a:r>
          </a:p>
        </p:txBody>
      </p:sp>
      <p:pic>
        <p:nvPicPr>
          <p:cNvPr id="10" name="body-1" descr="e^{2.0} = 7.389,\quad e^{1.0} = 2.718,\quad e^{0.1} = 1.105,\qquad \text{sum} = 11.21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824048"/>
            <a:ext cx="10234879" cy="358719"/>
          </a:xfrm>
          <a:prstGeom prst="rect">
            <a:avLst/>
          </a:prstGeom>
        </p:spPr>
      </p:pic>
      <p:pic>
        <p:nvPicPr>
          <p:cNvPr id="11" name="body-2" descr="P = \left(\frac{7.389}{11.212},\ \frac{2.718}{11.212},\ \frac{1.105}{11.212}\right) = (\mathbf{0.659},\ \mathbf{0.242},\ \mathbf{0.099})"/>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329452"/>
            <a:ext cx="10234879" cy="731702"/>
          </a:xfrm>
          <a:prstGeom prst="rect">
            <a:avLst/>
          </a:prstGeom>
        </p:spPr>
      </p:pic>
      <p:sp>
        <p:nvSpPr>
          <p:cNvPr id="12" name="body-3"/>
          <p:cNvSpPr txBox="1"/>
          <p:nvPr/>
        </p:nvSpPr>
        <p:spPr>
          <a:xfrm>
            <a:off x="1042416" y="4207840"/>
            <a:ext cx="10234879"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Adding the same constant to every score leaves the probabilities unchanged — only the differences between scores matter. The same function is the output layer of almost every neural network classifier (Chapter 13).</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568945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  ·  Handout p. 48     </a:t>
            </a:r>
            <a:fld id="{C275F4B9-3FD4-4803-A7BC-21E94703F0FD}" type="slidenum">
              <a:rPr lang="en-GB" sz="1000">
                <a:solidFill>
                  <a:srgbClr val="8795A1"/>
                </a:solidFill>
                <a:latin typeface="Segoe UI"/>
              </a:rPr>
              <a:t>22</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Reading a weight as a change in probability.</a:t>
            </a:r>
            <a:r>
              <a:rPr sz="2100" b="0" i="0">
                <a:solidFill>
                  <a:srgbClr val="1C252B"/>
                </a:solidFill>
                <a:latin typeface="Segoe UI"/>
              </a:rPr>
              <a:t> It is a change in log-odds. The effect on probability depends on where on the curve you start.</a:t>
            </a:r>
          </a:p>
        </p:txBody>
      </p:sp>
      <p:sp>
        <p:nvSpPr>
          <p:cNvPr id="10" name="!!pb1">
            <a:extLst>
              <a:ext uri="{C183D7F6-B498-43B3-948B-1728B52AA6E4}">
                <adec:decorative xmlns:adec="http://schemas.microsoft.com/office/drawing/2017/decorative" val="1"/>
              </a:ext>
            </a:extLst>
          </p:cNvPr>
          <p:cNvSpPr/>
          <p:nvPr/>
        </p:nvSpPr>
        <p:spPr>
          <a:xfrm>
            <a:off x="658368" y="26224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6453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604211"/>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Assuming the 0.5 threshold is right.</a:t>
            </a:r>
            <a:r>
              <a:rPr sz="2100" b="0" i="0">
                <a:solidFill>
                  <a:srgbClr val="1C252B"/>
                </a:solidFill>
                <a:latin typeface="Segoe UI"/>
              </a:rPr>
              <a:t> It is a default. When the two errors cost different amounts, move it (Chapter 8).</a:t>
            </a:r>
          </a:p>
        </p:txBody>
      </p:sp>
      <p:sp>
        <p:nvSpPr>
          <p:cNvPr id="13" name="!!pb2">
            <a:extLst>
              <a:ext uri="{C183D7F6-B498-43B3-948B-1728B52AA6E4}">
                <adec:decorative xmlns:adec="http://schemas.microsoft.com/office/drawing/2017/decorative" val="1"/>
              </a:ext>
            </a:extLst>
          </p:cNvPr>
          <p:cNvSpPr/>
          <p:nvPr/>
        </p:nvSpPr>
        <p:spPr>
          <a:xfrm>
            <a:off x="658368" y="348935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51221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471062"/>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Forgetting that the boundary is linear.</a:t>
            </a:r>
            <a:r>
              <a:rPr sz="2100" b="0" i="0">
                <a:solidFill>
                  <a:srgbClr val="1C252B"/>
                </a:solidFill>
                <a:latin typeface="Segoe UI"/>
              </a:rPr>
              <a:t> If the classes are separated by a curve, add features (squares, products) or use a non-linear model (Part III).</a:t>
            </a:r>
          </a:p>
        </p:txBody>
      </p:sp>
      <p:sp>
        <p:nvSpPr>
          <p:cNvPr id="16" name="!!pb3">
            <a:extLst>
              <a:ext uri="{C183D7F6-B498-43B3-948B-1728B52AA6E4}">
                <adec:decorative xmlns:adec="http://schemas.microsoft.com/office/drawing/2017/decorative" val="1"/>
              </a:ext>
            </a:extLst>
          </p:cNvPr>
          <p:cNvSpPr/>
          <p:nvPr/>
        </p:nvSpPr>
        <p:spPr>
          <a:xfrm>
            <a:off x="658368" y="435620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37906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337913"/>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Comparing weights of unscaled features.</a:t>
            </a:r>
            <a:r>
              <a:rPr sz="2100" b="0" i="0">
                <a:solidFill>
                  <a:srgbClr val="1C252B"/>
                </a:solidFill>
                <a:latin typeface="Segoe UI"/>
              </a:rPr>
              <a:t> As in Chapter 5, standardise first.</a:t>
            </a:r>
          </a:p>
        </p:txBody>
      </p:sp>
      <p:sp>
        <p:nvSpPr>
          <p:cNvPr id="19" name="!!pb4">
            <a:extLst>
              <a:ext uri="{C183D7F6-B498-43B3-948B-1728B52AA6E4}">
                <adec:decorative xmlns:adec="http://schemas.microsoft.com/office/drawing/2017/decorative" val="1"/>
              </a:ext>
            </a:extLst>
          </p:cNvPr>
          <p:cNvSpPr/>
          <p:nvPr/>
        </p:nvSpPr>
        <p:spPr>
          <a:xfrm>
            <a:off x="658368" y="492312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94598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904841"/>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Trusting probabilities from an unregularised model on separable data.</a:t>
            </a:r>
            <a:r>
              <a:rPr sz="2100" b="0" i="0">
                <a:solidFill>
                  <a:srgbClr val="1C252B"/>
                </a:solidFill>
                <a:latin typeface="Segoe UI"/>
              </a:rPr>
              <a:t> They will all be pushed to 0 or 1.</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596038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Logistic Regression</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51     </a:t>
            </a:r>
            <a:fld id="{36EF8AD5-DF91-41E4-85DD-0F79B8A0FA3F}" type="slidenum">
              <a:rPr lang="en-GB" sz="1000">
                <a:solidFill>
                  <a:srgbClr val="8795A1"/>
                </a:solidFill>
                <a:latin typeface="Segoe UI"/>
              </a:rPr>
              <a:t>23</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standard early-warning model.</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Predict whether a project will overrun its deadline from team size, requirement changes and dependencies.</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Predict whether a component fails within 30 days from its sensor summaries.</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Phishing and spam filters were logistic regression over word and URL features for years, and many still are.</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23131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Logistic Regression</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51     </a:t>
            </a:r>
            <a:fld id="{56B51E5D-69CC-4848-8B5D-F4F12121DE91}" type="slidenum">
              <a:rPr lang="en-GB" sz="1000">
                <a:solidFill>
                  <a:srgbClr val="8795A1"/>
                </a:solidFill>
                <a:latin typeface="Segoe UI"/>
              </a:rPr>
              <a:t>24</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standard early-warning model. The probability ranks students for outreach, and the odds ratios — “each missed quiz multiplies the odds of failing by 1.4” — are something an academic committee will accept, which a more accurate but opaque model may not be.</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50223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Logistic Regression</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51     </a:t>
            </a:r>
            <a:fld id="{207F1681-49F9-4746-8040-367BB84F5870}" type="slidenum">
              <a:rPr lang="en-GB" sz="1000">
                <a:solidFill>
                  <a:srgbClr val="8795A1"/>
                </a:solidFill>
                <a:latin typeface="Segoe UI"/>
              </a:rPr>
              <a:t>25</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Predict whether a project will overrun its deadline from team size, requirement changes and dependencies. With a few hundred projects, logistic regression is often as accurate as anything more complex, and its odds ratios tell a portfolio manager which risk factor to act on first.</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77316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Logistic Regression</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51     </a:t>
            </a:r>
            <a:fld id="{BDD7B005-67BB-4BAC-B467-E2EB64DC3234}" type="slidenum">
              <a:rPr lang="en-GB" sz="1000">
                <a:solidFill>
                  <a:srgbClr val="8795A1"/>
                </a:solidFill>
                <a:latin typeface="Segoe UI"/>
              </a:rPr>
              <a:t>26</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Predict whether a component fails within 30 days from its sensor summaries. On a microcontroller, a trained logistic model is one dot product and one exponential — a few microseconds and a few hundred bytes, which is why it is a favourite for on-device inference.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04409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Logistic Regression</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51     </a:t>
            </a:r>
            <a:fld id="{594AF992-F276-4161-BD46-959942346916}" type="slidenum">
              <a:rPr lang="en-GB" sz="1000">
                <a:solidFill>
                  <a:srgbClr val="8795A1"/>
                </a:solidFill>
                <a:latin typeface="Segoe UI"/>
              </a:rPr>
              <a:t>27</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Phishing and spam filters were logistic regression over word and URL features for years, and many still are. Its weakness is its linearity: an attacker who learns which words carry negative weight can add them to a phishing e-mail until the score drops below the threshold.</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Logistic Regression by Hand and by Library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  ·  Handout p. 48     </a:t>
            </a:r>
            <a:fld id="{9D20A381-F479-4A9C-ADEB-204B8FC802F6}" type="slidenum">
              <a:rPr lang="en-GB" sz="1000">
                <a:solidFill>
                  <a:srgbClr val="8795A1"/>
                </a:solidFill>
                <a:latin typeface="Segoe UI"/>
              </a:rPr>
              <a:t>28</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104900"/>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The worked example: gradient descent by hand</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A real classifier, read as odds ratios</a:t>
            </a:r>
          </a:p>
          <a:p>
            <a:pPr algn="l" marL="459473" indent="-459473">
              <a:lnSpc>
                <a:spcPct val="100000"/>
              </a:lnSpc>
              <a:spcBef>
                <a:spcPts val="0"/>
              </a:spcBef>
              <a:spcAft>
                <a:spcPts val="0"/>
              </a:spcAft>
            </a:pPr>
            <a:r>
              <a:rPr sz="1900" b="1">
                <a:solidFill>
                  <a:srgbClr val="117A65"/>
                </a:solidFill>
                <a:latin typeface="Segoe UI"/>
              </a:rPr>
              <a:t>3.	</a:t>
            </a:r>
            <a:r>
              <a:rPr sz="1900" b="0" i="0">
                <a:solidFill>
                  <a:srgbClr val="1C252B"/>
                </a:solidFill>
                <a:latin typeface="Segoe UI"/>
              </a:rPr>
              <a:t>Three classes: softmax</a:t>
            </a:r>
          </a:p>
        </p:txBody>
      </p:sp>
      <p:sp>
        <p:nvSpPr>
          <p:cNvPr id="1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5: Logistic regression by hand and by library</a:t>
            </a:r>
          </a:p>
        </p:txBody>
      </p:sp>
      <p:sp>
        <p:nvSpPr>
          <p:cNvPr id="2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47 lines of Python</a:t>
            </a:r>
          </a:p>
        </p:txBody>
      </p:sp>
      <p:sp>
        <p:nvSpPr>
          <p:cNvPr id="2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code/ch06_logistic_regression.py</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758594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Logistic Regression by Hand and by Library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  ·  Handout p. 48     </a:t>
            </a:r>
            <a:fld id="{F330EC56-2F37-4B77-9E48-97E683B0095D}"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41903"/>
          </a:xfrm>
          <a:prstGeom prst="roundRect">
            <a:avLst>
              <a:gd name="adj" fmla="val 30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code/ch06_logistic_regression.py</a:t>
            </a:r>
          </a:p>
        </p:txBody>
      </p:sp>
      <p:sp>
        <p:nvSpPr>
          <p:cNvPr id="14" name="!!code-text" descr="import numpy as np from sklearn.datasets import load_breast_cancer, load_iris from sklearn.model_selection import train_test_split from sklearn.pipeline import make_pipeline from sklearn.preprocessing import StandardScaler from sklearn.linear_model import LogisticRegression sigmoid = lambda z: 1 / (1 + np.exp(-z))"/>
          <p:cNvSpPr txBox="1"/>
          <p:nvPr/>
        </p:nvSpPr>
        <p:spPr>
          <a:xfrm>
            <a:off x="1362456" y="2523744"/>
            <a:ext cx="9987991" cy="2548127"/>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numpy</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np</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datasets</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load_breast_cancer</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load_iris</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model_selection</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train_test_split</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pipeline</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make_pipeline</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preprocessing</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StandardScaler</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linear_model</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LogisticRegression</a:t>
            </a:r>
          </a:p>
          <a:p>
            <a:pPr>
              <a:lnSpc>
                <a:spcPct val="100000"/>
              </a:lnSpc>
              <a:spcAft>
                <a:spcPts val="0"/>
              </a:spcAft>
            </a:pPr>
            <a:r>
              <a:rPr sz="2000">
                <a:latin typeface="Consolas"/>
              </a:rPr>
              <a:t> </a:t>
            </a:r>
          </a:p>
          <a:p>
            <a:pPr>
              <a:lnSpc>
                <a:spcPct val="100000"/>
              </a:lnSpc>
              <a:spcAft>
                <a:spcPts val="0"/>
              </a:spcAft>
            </a:pPr>
            <a:r>
              <a:rPr sz="2000" i="0">
                <a:solidFill>
                  <a:srgbClr val="E8EDF2"/>
                </a:solidFill>
                <a:latin typeface="Consolas"/>
              </a:rPr>
              <a:t>sigmoid</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lambda</a:t>
            </a:r>
            <a:r>
              <a:rPr sz="2000" i="0">
                <a:solidFill>
                  <a:srgbClr val="E8EDF2"/>
                </a:solidFill>
                <a:latin typeface="Consolas"/>
              </a:rPr>
              <a:t> </a:t>
            </a:r>
            <a:r>
              <a:rPr sz="2000" i="0">
                <a:solidFill>
                  <a:srgbClr val="E8EDF2"/>
                </a:solidFill>
                <a:latin typeface="Consolas"/>
              </a:rPr>
              <a:t>z</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1</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F7DC6F"/>
                </a:solidFill>
                <a:latin typeface="Consolas"/>
              </a:rPr>
              <a:t>1</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np</a:t>
            </a:r>
            <a:r>
              <a:rPr sz="2000" i="0">
                <a:solidFill>
                  <a:srgbClr val="AEB6BF"/>
                </a:solidFill>
                <a:latin typeface="Consolas"/>
              </a:rPr>
              <a:t>.</a:t>
            </a:r>
            <a:r>
              <a:rPr sz="2000" i="0">
                <a:solidFill>
                  <a:srgbClr val="E8EDF2"/>
                </a:solidFill>
                <a:latin typeface="Consolas"/>
              </a:rPr>
              <a:t>exp</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z</a:t>
            </a:r>
            <a:r>
              <a:rPr sz="2000" i="0">
                <a:solidFill>
                  <a:srgbClr val="AEB6BF"/>
                </a:solidFill>
                <a:latin typeface="Consolas"/>
              </a:rPr>
              <a:t>)</a:t>
            </a:r>
            <a:r>
              <a:rPr sz="2000" i="0">
                <a:solidFill>
                  <a:srgbClr val="AEB6BF"/>
                </a:solidFill>
                <a:latin typeface="Consolas"/>
              </a:rPr>
              <a:t>)</a:t>
            </a:r>
          </a:p>
        </p:txBody>
      </p:sp>
      <p:sp>
        <p:nvSpPr>
          <p:cNvPr id="15" name="!!code-num"/>
          <p:cNvSpPr txBox="1"/>
          <p:nvPr/>
        </p:nvSpPr>
        <p:spPr>
          <a:xfrm>
            <a:off x="768096" y="2523744"/>
            <a:ext cx="393192" cy="25481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a:p>
            <a:pPr algn="r">
              <a:lnSpc>
                <a:spcPct val="100000"/>
              </a:lnSpc>
            </a:pPr>
            <a:r>
              <a:rPr sz="2000">
                <a:solidFill>
                  <a:srgbClr val="4F5D6A"/>
                </a:solidFill>
                <a:latin typeface="Consolas"/>
              </a:rPr>
              <a:t>6</a:t>
            </a:r>
          </a:p>
          <a:p>
            <a:pPr algn="r">
              <a:lnSpc>
                <a:spcPct val="100000"/>
              </a:lnSpc>
            </a:pPr>
            <a:r>
              <a:rPr sz="2000">
                <a:solidFill>
                  <a:srgbClr val="4F5D6A"/>
                </a:solidFill>
                <a:latin typeface="Consolas"/>
              </a:rPr>
              <a:t>7</a:t>
            </a:r>
          </a:p>
          <a:p>
            <a:pPr algn="r">
              <a:lnSpc>
                <a:spcPct val="100000"/>
              </a:lnSpc>
            </a:pPr>
            <a:r>
              <a:rPr sz="2000">
                <a:solidFill>
                  <a:srgbClr val="4F5D6A"/>
                </a:solidFill>
                <a:latin typeface="Consolas"/>
              </a:rPr>
              <a:t>8</a:t>
            </a:r>
          </a:p>
          <a:p>
            <a:pPr algn="r">
              <a:lnSpc>
                <a:spcPct val="100000"/>
              </a:lnSpc>
            </a:pPr>
            <a:r>
              <a:rPr sz="2000">
                <a:solidFill>
                  <a:srgbClr val="4F5D6A"/>
                </a:solidFill>
                <a:latin typeface="Consolas"/>
              </a:rPr>
              <a:t>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5687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Logistic Regression by Hand and by Library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  ·  Handout p. 48     </a:t>
            </a:r>
            <a:fld id="{2786BA78-103F-4433-B670-50FC1EAE5966}"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worked example: gradient descent by hand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code/ch06_logistic_regression.py</a:t>
            </a:r>
          </a:p>
        </p:txBody>
      </p:sp>
      <p:sp>
        <p:nvSpPr>
          <p:cNvPr id="14" name="!!code-text" descr="# --- 1. the worked example: gradient descent by hand --------------------- x = np.array([1, 2, 3, 4.0]) y = np.array([0, 0, 1, 1.0]) logloss = lambda p: -np.mean(y * np.log(p) + (1 - y) * np.log(1 - p)) w, b = 0.0, 0.0 p = sigmoid(w * x + b) print(&quot;before: loss&quot;, round(logloss(p), 3)) w -= 1.0 * np.mean((p - y) * x) # gradient: mean of (p - y) * x b -= 1.0 * np.mean(p - y) print(f&quot;after one step: w = {w}, b = {b}, &quot; f&quot;loss {logloss(sigmoid(w * x + b)):.3f}&quot;) for step in range(5000): # ... and many more steps p = sigmoid(w * x + b) w, b = w - np.mean((p - y) * x), b - np.mean(p - y) print(f&quot;after 5000 steps: w = {w:.2f}, b = {b:.2f}, &quot; f&quot;boundary at x = {-b / w:.2f}&quot;)"/>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400" i="1">
                <a:solidFill>
                  <a:srgbClr val="8795A1"/>
                </a:solidFill>
                <a:latin typeface="Consolas"/>
              </a:rPr>
              <a:t># --- 1. the worked example: gradient descent by hand ---------------------</a:t>
            </a:r>
          </a:p>
          <a:p>
            <a:pPr>
              <a:lnSpc>
                <a:spcPct val="100000"/>
              </a:lnSpc>
              <a:spcAft>
                <a:spcPts val="0"/>
              </a:spcAft>
            </a:pPr>
            <a:r>
              <a:rPr sz="1400" i="0">
                <a:solidFill>
                  <a:srgbClr val="E8EDF2"/>
                </a:solidFill>
                <a:latin typeface="Consolas"/>
              </a:rPr>
              <a:t>x</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np</a:t>
            </a:r>
            <a:r>
              <a:rPr sz="1400" i="0">
                <a:solidFill>
                  <a:srgbClr val="AEB6BF"/>
                </a:solidFill>
                <a:latin typeface="Consolas"/>
              </a:rPr>
              <a:t>.</a:t>
            </a:r>
            <a:r>
              <a:rPr sz="1400" i="0">
                <a:solidFill>
                  <a:srgbClr val="E8EDF2"/>
                </a:solidFill>
                <a:latin typeface="Consolas"/>
              </a:rPr>
              <a:t>array</a:t>
            </a:r>
            <a:r>
              <a:rPr sz="1400" i="0">
                <a:solidFill>
                  <a:srgbClr val="AEB6BF"/>
                </a:solidFill>
                <a:latin typeface="Consolas"/>
              </a:rPr>
              <a:t>(</a:t>
            </a:r>
            <a:r>
              <a:rPr sz="1400" i="0">
                <a:solidFill>
                  <a:srgbClr val="AEB6BF"/>
                </a:solidFill>
                <a:latin typeface="Consolas"/>
              </a:rPr>
              <a:t>[</a:t>
            </a:r>
            <a:r>
              <a:rPr sz="1400" i="0">
                <a:solidFill>
                  <a:srgbClr val="F7DC6F"/>
                </a:solidFill>
                <a:latin typeface="Consolas"/>
              </a:rPr>
              <a:t>1</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3</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4.0</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y</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np</a:t>
            </a:r>
            <a:r>
              <a:rPr sz="1400" i="0">
                <a:solidFill>
                  <a:srgbClr val="AEB6BF"/>
                </a:solidFill>
                <a:latin typeface="Consolas"/>
              </a:rPr>
              <a:t>.</a:t>
            </a:r>
            <a:r>
              <a:rPr sz="1400" i="0">
                <a:solidFill>
                  <a:srgbClr val="E8EDF2"/>
                </a:solidFill>
                <a:latin typeface="Consolas"/>
              </a:rPr>
              <a:t>array</a:t>
            </a:r>
            <a:r>
              <a:rPr sz="1400" i="0">
                <a:solidFill>
                  <a:srgbClr val="AEB6BF"/>
                </a:solidFill>
                <a:latin typeface="Consolas"/>
              </a:rPr>
              <a:t>(</a:t>
            </a:r>
            <a:r>
              <a:rPr sz="1400" i="0">
                <a:solidFill>
                  <a:srgbClr val="AEB6BF"/>
                </a:solidFill>
                <a:latin typeface="Consolas"/>
              </a:rPr>
              <a:t>[</a:t>
            </a:r>
            <a:r>
              <a:rPr sz="1400" i="0">
                <a:solidFill>
                  <a:srgbClr val="F7DC6F"/>
                </a:solidFill>
                <a:latin typeface="Consolas"/>
              </a:rPr>
              <a:t>0</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1.0</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logloss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5DADE2"/>
                </a:solidFill>
                <a:latin typeface="Consolas"/>
              </a:rPr>
              <a:t>lambda</a:t>
            </a:r>
            <a:r>
              <a:rPr sz="1400" i="0">
                <a:solidFill>
                  <a:srgbClr val="E8EDF2"/>
                </a:solidFill>
                <a:latin typeface="Consolas"/>
              </a:rPr>
              <a:t> </a:t>
            </a:r>
            <a:r>
              <a:rPr sz="1400" i="0">
                <a:solidFill>
                  <a:srgbClr val="E8EDF2"/>
                </a:solidFill>
                <a:latin typeface="Consolas"/>
              </a:rPr>
              <a:t>p</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np</a:t>
            </a:r>
            <a:r>
              <a:rPr sz="1400" i="0">
                <a:solidFill>
                  <a:srgbClr val="AEB6BF"/>
                </a:solidFill>
                <a:latin typeface="Consolas"/>
              </a:rPr>
              <a:t>.</a:t>
            </a:r>
            <a:r>
              <a:rPr sz="1400" i="0">
                <a:solidFill>
                  <a:srgbClr val="E8EDF2"/>
                </a:solidFill>
                <a:latin typeface="Consolas"/>
              </a:rPr>
              <a:t>mean</a:t>
            </a:r>
            <a:r>
              <a:rPr sz="1400" i="0">
                <a:solidFill>
                  <a:srgbClr val="AEB6BF"/>
                </a:solidFill>
                <a:latin typeface="Consolas"/>
              </a:rPr>
              <a:t>(</a:t>
            </a:r>
            <a:r>
              <a:rPr sz="1400" i="0">
                <a:solidFill>
                  <a:srgbClr val="E8EDF2"/>
                </a:solidFill>
                <a:latin typeface="Consolas"/>
              </a:rPr>
              <a:t>y</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np</a:t>
            </a:r>
            <a:r>
              <a:rPr sz="1400" i="0">
                <a:solidFill>
                  <a:srgbClr val="AEB6BF"/>
                </a:solidFill>
                <a:latin typeface="Consolas"/>
              </a:rPr>
              <a:t>.</a:t>
            </a:r>
            <a:r>
              <a:rPr sz="1400" i="0">
                <a:solidFill>
                  <a:srgbClr val="E8EDF2"/>
                </a:solidFill>
                <a:latin typeface="Consolas"/>
              </a:rPr>
              <a:t>log</a:t>
            </a:r>
            <a:r>
              <a:rPr sz="1400" i="0">
                <a:solidFill>
                  <a:srgbClr val="AEB6BF"/>
                </a:solidFill>
                <a:latin typeface="Consolas"/>
              </a:rPr>
              <a:t>(</a:t>
            </a:r>
            <a:r>
              <a:rPr sz="1400" i="0">
                <a:solidFill>
                  <a:srgbClr val="E8EDF2"/>
                </a:solidFill>
                <a:latin typeface="Consolas"/>
              </a:rPr>
              <a:t>p</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1</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y</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np</a:t>
            </a:r>
            <a:r>
              <a:rPr sz="1400" i="0">
                <a:solidFill>
                  <a:srgbClr val="AEB6BF"/>
                </a:solidFill>
                <a:latin typeface="Consolas"/>
              </a:rPr>
              <a:t>.</a:t>
            </a:r>
            <a:r>
              <a:rPr sz="1400" i="0">
                <a:solidFill>
                  <a:srgbClr val="E8EDF2"/>
                </a:solidFill>
                <a:latin typeface="Consolas"/>
              </a:rPr>
              <a:t>log</a:t>
            </a:r>
            <a:r>
              <a:rPr sz="1400" i="0">
                <a:solidFill>
                  <a:srgbClr val="AEB6BF"/>
                </a:solidFill>
                <a:latin typeface="Consolas"/>
              </a:rPr>
              <a:t>(</a:t>
            </a:r>
            <a:r>
              <a:rPr sz="1400" i="0">
                <a:solidFill>
                  <a:srgbClr val="F7DC6F"/>
                </a:solidFill>
                <a:latin typeface="Consolas"/>
              </a:rPr>
              <a:t>1</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w</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0.0</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0.0</a:t>
            </a:r>
          </a:p>
          <a:p>
            <a:pPr>
              <a:lnSpc>
                <a:spcPct val="100000"/>
              </a:lnSpc>
              <a:spcAft>
                <a:spcPts val="0"/>
              </a:spcAft>
            </a:pPr>
            <a:r>
              <a:rPr sz="1400" i="0">
                <a:solidFill>
                  <a:srgbClr val="E8EDF2"/>
                </a:solidFill>
                <a:latin typeface="Consolas"/>
              </a:rPr>
              <a:t>p</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sigmoid</a:t>
            </a:r>
            <a:r>
              <a:rPr sz="1400" i="0">
                <a:solidFill>
                  <a:srgbClr val="AEB6BF"/>
                </a:solidFill>
                <a:latin typeface="Consolas"/>
              </a:rPr>
              <a:t>(</a:t>
            </a:r>
            <a:r>
              <a:rPr sz="1400" i="0">
                <a:solidFill>
                  <a:srgbClr val="E8EDF2"/>
                </a:solidFill>
                <a:latin typeface="Consolas"/>
              </a:rPr>
              <a:t>w</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x</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a:t>
            </a:r>
            <a:r>
              <a:rPr sz="1400" i="0">
                <a:solidFill>
                  <a:srgbClr val="AEB6BF"/>
                </a:solidFill>
                <a:latin typeface="Consolas"/>
              </a:rPr>
              <a:t>)</a:t>
            </a:r>
          </a:p>
          <a:p>
            <a:pPr>
              <a:lnSpc>
                <a:spcPct val="100000"/>
              </a:lnSpc>
              <a:spcAft>
                <a:spcPts val="0"/>
              </a:spcAft>
            </a:pP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before: loss</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C39BD3"/>
                </a:solidFill>
                <a:latin typeface="Consolas"/>
              </a:rPr>
              <a:t>round</a:t>
            </a:r>
            <a:r>
              <a:rPr sz="1400" i="0">
                <a:solidFill>
                  <a:srgbClr val="AEB6BF"/>
                </a:solidFill>
                <a:latin typeface="Consolas"/>
              </a:rPr>
              <a:t>(</a:t>
            </a:r>
            <a:r>
              <a:rPr sz="1400" i="0">
                <a:solidFill>
                  <a:srgbClr val="E8EDF2"/>
                </a:solidFill>
                <a:latin typeface="Consolas"/>
              </a:rPr>
              <a:t>logloss</a:t>
            </a:r>
            <a:r>
              <a:rPr sz="1400" i="0">
                <a:solidFill>
                  <a:srgbClr val="AEB6BF"/>
                </a:solidFill>
                <a:latin typeface="Consolas"/>
              </a:rPr>
              <a:t>(</a:t>
            </a:r>
            <a:r>
              <a:rPr sz="1400" i="0">
                <a:solidFill>
                  <a:srgbClr val="E8EDF2"/>
                </a:solidFill>
                <a:latin typeface="Consolas"/>
              </a:rPr>
              <a:t>p</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3</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w</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1.0</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np</a:t>
            </a:r>
            <a:r>
              <a:rPr sz="1400" i="0">
                <a:solidFill>
                  <a:srgbClr val="AEB6BF"/>
                </a:solidFill>
                <a:latin typeface="Consolas"/>
              </a:rPr>
              <a:t>.</a:t>
            </a:r>
            <a:r>
              <a:rPr sz="1400" i="0">
                <a:solidFill>
                  <a:srgbClr val="E8EDF2"/>
                </a:solidFill>
                <a:latin typeface="Consolas"/>
              </a:rPr>
              <a:t>mean</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p</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y</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x</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gradient: mean of (p - y) * x</a:t>
            </a:r>
          </a:p>
          <a:p>
            <a:pPr>
              <a:lnSpc>
                <a:spcPct val="100000"/>
              </a:lnSpc>
              <a:spcAft>
                <a:spcPts val="0"/>
              </a:spcAft>
            </a:pPr>
            <a:r>
              <a:rPr sz="1400" i="0">
                <a:solidFill>
                  <a:srgbClr val="E8EDF2"/>
                </a:solidFill>
                <a:latin typeface="Consolas"/>
              </a:rPr>
              <a:t>b</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1.0</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np</a:t>
            </a:r>
            <a:r>
              <a:rPr sz="1400" i="0">
                <a:solidFill>
                  <a:srgbClr val="AEB6BF"/>
                </a:solidFill>
                <a:latin typeface="Consolas"/>
              </a:rPr>
              <a:t>.</a:t>
            </a:r>
            <a:r>
              <a:rPr sz="1400" i="0">
                <a:solidFill>
                  <a:srgbClr val="E8EDF2"/>
                </a:solidFill>
                <a:latin typeface="Consolas"/>
              </a:rPr>
              <a:t>mean</a:t>
            </a:r>
            <a:r>
              <a:rPr sz="1400" i="0">
                <a:solidFill>
                  <a:srgbClr val="AEB6BF"/>
                </a:solidFill>
                <a:latin typeface="Consolas"/>
              </a:rPr>
              <a:t>(</a:t>
            </a:r>
            <a:r>
              <a:rPr sz="1400" i="0">
                <a:solidFill>
                  <a:srgbClr val="E8EDF2"/>
                </a:solidFill>
                <a:latin typeface="Consolas"/>
              </a:rPr>
              <a:t>p</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y</a:t>
            </a:r>
            <a:r>
              <a:rPr sz="1400" i="0">
                <a:solidFill>
                  <a:srgbClr val="AEB6BF"/>
                </a:solidFill>
                <a:latin typeface="Consolas"/>
              </a:rPr>
              <a:t>)</a:t>
            </a:r>
          </a:p>
          <a:p>
            <a:pPr>
              <a:lnSpc>
                <a:spcPct val="100000"/>
              </a:lnSpc>
              <a:spcAft>
                <a:spcPts val="0"/>
              </a:spcAft>
            </a:pP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f</a:t>
            </a:r>
            <a:r>
              <a:rPr sz="1400" i="0">
                <a:solidFill>
                  <a:srgbClr val="7DCEA0"/>
                </a:solidFill>
                <a:latin typeface="Consolas"/>
              </a:rPr>
              <a:t>"</a:t>
            </a:r>
            <a:r>
              <a:rPr sz="1400" i="0">
                <a:solidFill>
                  <a:srgbClr val="7DCEA0"/>
                </a:solidFill>
                <a:latin typeface="Consolas"/>
              </a:rPr>
              <a:t>after one step: w = </a:t>
            </a:r>
            <a:r>
              <a:rPr sz="1400" i="0">
                <a:solidFill>
                  <a:srgbClr val="7DCEA0"/>
                </a:solidFill>
                <a:latin typeface="Consolas"/>
              </a:rPr>
              <a:t>{</a:t>
            </a:r>
            <a:r>
              <a:rPr sz="1400" i="0">
                <a:solidFill>
                  <a:srgbClr val="E8EDF2"/>
                </a:solidFill>
                <a:latin typeface="Consolas"/>
              </a:rPr>
              <a:t>w</a:t>
            </a:r>
            <a:r>
              <a:rPr sz="1400" i="0">
                <a:solidFill>
                  <a:srgbClr val="7DCEA0"/>
                </a:solidFill>
                <a:latin typeface="Consolas"/>
              </a:rPr>
              <a:t>}</a:t>
            </a:r>
            <a:r>
              <a:rPr sz="1400" i="0">
                <a:solidFill>
                  <a:srgbClr val="7DCEA0"/>
                </a:solidFill>
                <a:latin typeface="Consolas"/>
              </a:rPr>
              <a:t>, b = </a:t>
            </a:r>
            <a:r>
              <a:rPr sz="1400" i="0">
                <a:solidFill>
                  <a:srgbClr val="7DCEA0"/>
                </a:solidFill>
                <a:latin typeface="Consolas"/>
              </a:rPr>
              <a:t>{</a:t>
            </a:r>
            <a:r>
              <a:rPr sz="1400" i="0">
                <a:solidFill>
                  <a:srgbClr val="E8EDF2"/>
                </a:solidFill>
                <a:latin typeface="Consolas"/>
              </a:rPr>
              <a:t>b</a:t>
            </a:r>
            <a:r>
              <a:rPr sz="1400" i="0">
                <a:solidFill>
                  <a:srgbClr val="7DCEA0"/>
                </a:solidFill>
                <a:latin typeface="Consolas"/>
              </a:rPr>
              <a:t>}</a:t>
            </a:r>
            <a:r>
              <a:rPr sz="1400" i="0">
                <a:solidFill>
                  <a:srgbClr val="7DCEA0"/>
                </a:solidFill>
                <a:latin typeface="Consolas"/>
              </a:rPr>
              <a:t>, </a:t>
            </a:r>
            <a:r>
              <a:rPr sz="1400" i="0">
                <a:solidFill>
                  <a:srgbClr val="7DCEA0"/>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f</a:t>
            </a:r>
            <a:r>
              <a:rPr sz="1400" i="0">
                <a:solidFill>
                  <a:srgbClr val="7DCEA0"/>
                </a:solidFill>
                <a:latin typeface="Consolas"/>
              </a:rPr>
              <a:t>"</a:t>
            </a:r>
            <a:r>
              <a:rPr sz="1400" i="0">
                <a:solidFill>
                  <a:srgbClr val="7DCEA0"/>
                </a:solidFill>
                <a:latin typeface="Consolas"/>
              </a:rPr>
              <a:t>loss </a:t>
            </a:r>
            <a:r>
              <a:rPr sz="1400" i="0">
                <a:solidFill>
                  <a:srgbClr val="7DCEA0"/>
                </a:solidFill>
                <a:latin typeface="Consolas"/>
              </a:rPr>
              <a:t>{</a:t>
            </a:r>
            <a:r>
              <a:rPr sz="1400" i="0">
                <a:solidFill>
                  <a:srgbClr val="E8EDF2"/>
                </a:solidFill>
                <a:latin typeface="Consolas"/>
              </a:rPr>
              <a:t>logloss</a:t>
            </a:r>
            <a:r>
              <a:rPr sz="1400" i="0">
                <a:solidFill>
                  <a:srgbClr val="AEB6BF"/>
                </a:solidFill>
                <a:latin typeface="Consolas"/>
              </a:rPr>
              <a:t>(</a:t>
            </a:r>
            <a:r>
              <a:rPr sz="1400" i="0">
                <a:solidFill>
                  <a:srgbClr val="E8EDF2"/>
                </a:solidFill>
                <a:latin typeface="Consolas"/>
              </a:rPr>
              <a:t>sigmoid</a:t>
            </a:r>
            <a:r>
              <a:rPr sz="1400" i="0">
                <a:solidFill>
                  <a:srgbClr val="AEB6BF"/>
                </a:solidFill>
                <a:latin typeface="Consolas"/>
              </a:rPr>
              <a:t>(</a:t>
            </a:r>
            <a:r>
              <a:rPr sz="1400" i="0">
                <a:solidFill>
                  <a:srgbClr val="E8EDF2"/>
                </a:solidFill>
                <a:latin typeface="Consolas"/>
              </a:rPr>
              <a:t>w</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x</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.3f</a:t>
            </a:r>
            <a:r>
              <a:rPr sz="1400" i="0">
                <a:solidFill>
                  <a:srgbClr val="7DCEA0"/>
                </a:solidFill>
                <a:latin typeface="Consolas"/>
              </a:rPr>
              <a:t>}</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step</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C39BD3"/>
                </a:solidFill>
                <a:latin typeface="Consolas"/>
              </a:rPr>
              <a:t>range</a:t>
            </a:r>
            <a:r>
              <a:rPr sz="1400" i="0">
                <a:solidFill>
                  <a:srgbClr val="AEB6BF"/>
                </a:solidFill>
                <a:latin typeface="Consolas"/>
              </a:rPr>
              <a:t>(</a:t>
            </a:r>
            <a:r>
              <a:rPr sz="1400" i="0">
                <a:solidFill>
                  <a:srgbClr val="F7DC6F"/>
                </a:solidFill>
                <a:latin typeface="Consolas"/>
              </a:rPr>
              <a:t>5000</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 and many more steps</a:t>
            </a:r>
          </a:p>
          <a:p>
            <a:pPr>
              <a:lnSpc>
                <a:spcPct val="100000"/>
              </a:lnSpc>
              <a:spcAft>
                <a:spcPts val="0"/>
              </a:spcAft>
            </a:pPr>
            <a:r>
              <a:rPr sz="1400" i="0">
                <a:solidFill>
                  <a:srgbClr val="E8EDF2"/>
                </a:solidFill>
                <a:latin typeface="Consolas"/>
              </a:rPr>
              <a:t>    </a:t>
            </a:r>
            <a:r>
              <a:rPr sz="1400" i="0">
                <a:solidFill>
                  <a:srgbClr val="E8EDF2"/>
                </a:solidFill>
                <a:latin typeface="Consolas"/>
              </a:rPr>
              <a:t>p</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sigmoid</a:t>
            </a:r>
            <a:r>
              <a:rPr sz="1400" i="0">
                <a:solidFill>
                  <a:srgbClr val="AEB6BF"/>
                </a:solidFill>
                <a:latin typeface="Consolas"/>
              </a:rPr>
              <a:t>(</a:t>
            </a:r>
            <a:r>
              <a:rPr sz="1400" i="0">
                <a:solidFill>
                  <a:srgbClr val="E8EDF2"/>
                </a:solidFill>
                <a:latin typeface="Consolas"/>
              </a:rPr>
              <a:t>w</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x</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w</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w</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np</a:t>
            </a:r>
            <a:r>
              <a:rPr sz="1400" i="0">
                <a:solidFill>
                  <a:srgbClr val="AEB6BF"/>
                </a:solidFill>
                <a:latin typeface="Consolas"/>
              </a:rPr>
              <a:t>.</a:t>
            </a:r>
            <a:r>
              <a:rPr sz="1400" i="0">
                <a:solidFill>
                  <a:srgbClr val="E8EDF2"/>
                </a:solidFill>
                <a:latin typeface="Consolas"/>
              </a:rPr>
              <a:t>mean</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p</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y</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x</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np</a:t>
            </a:r>
            <a:r>
              <a:rPr sz="1400" i="0">
                <a:solidFill>
                  <a:srgbClr val="AEB6BF"/>
                </a:solidFill>
                <a:latin typeface="Consolas"/>
              </a:rPr>
              <a:t>.</a:t>
            </a:r>
            <a:r>
              <a:rPr sz="1400" i="0">
                <a:solidFill>
                  <a:srgbClr val="E8EDF2"/>
                </a:solidFill>
                <a:latin typeface="Consolas"/>
              </a:rPr>
              <a:t>mean</a:t>
            </a:r>
            <a:r>
              <a:rPr sz="1400" i="0">
                <a:solidFill>
                  <a:srgbClr val="AEB6BF"/>
                </a:solidFill>
                <a:latin typeface="Consolas"/>
              </a:rPr>
              <a:t>(</a:t>
            </a:r>
            <a:r>
              <a:rPr sz="1400" i="0">
                <a:solidFill>
                  <a:srgbClr val="E8EDF2"/>
                </a:solidFill>
                <a:latin typeface="Consolas"/>
              </a:rPr>
              <a:t>p</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y</a:t>
            </a:r>
            <a:r>
              <a:rPr sz="1400" i="0">
                <a:solidFill>
                  <a:srgbClr val="AEB6BF"/>
                </a:solidFill>
                <a:latin typeface="Consolas"/>
              </a:rPr>
              <a:t>)</a:t>
            </a:r>
          </a:p>
          <a:p>
            <a:pPr>
              <a:lnSpc>
                <a:spcPct val="100000"/>
              </a:lnSpc>
              <a:spcAft>
                <a:spcPts val="0"/>
              </a:spcAft>
            </a:pP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f</a:t>
            </a:r>
            <a:r>
              <a:rPr sz="1400" i="0">
                <a:solidFill>
                  <a:srgbClr val="7DCEA0"/>
                </a:solidFill>
                <a:latin typeface="Consolas"/>
              </a:rPr>
              <a:t>"</a:t>
            </a:r>
            <a:r>
              <a:rPr sz="1400" i="0">
                <a:solidFill>
                  <a:srgbClr val="7DCEA0"/>
                </a:solidFill>
                <a:latin typeface="Consolas"/>
              </a:rPr>
              <a:t>after 5000 steps: w = </a:t>
            </a:r>
            <a:r>
              <a:rPr sz="1400" i="0">
                <a:solidFill>
                  <a:srgbClr val="7DCEA0"/>
                </a:solidFill>
                <a:latin typeface="Consolas"/>
              </a:rPr>
              <a:t>{</a:t>
            </a:r>
            <a:r>
              <a:rPr sz="1400" i="0">
                <a:solidFill>
                  <a:srgbClr val="E8EDF2"/>
                </a:solidFill>
                <a:latin typeface="Consolas"/>
              </a:rPr>
              <a:t>w</a:t>
            </a:r>
            <a:r>
              <a:rPr sz="1400" i="0">
                <a:solidFill>
                  <a:srgbClr val="7DCEA0"/>
                </a:solidFill>
                <a:latin typeface="Consolas"/>
              </a:rPr>
              <a:t>:</a:t>
            </a:r>
            <a:r>
              <a:rPr sz="1400" i="0">
                <a:solidFill>
                  <a:srgbClr val="7DCEA0"/>
                </a:solidFill>
                <a:latin typeface="Consolas"/>
              </a:rPr>
              <a:t>.2f</a:t>
            </a:r>
            <a:r>
              <a:rPr sz="1400" i="0">
                <a:solidFill>
                  <a:srgbClr val="7DCEA0"/>
                </a:solidFill>
                <a:latin typeface="Consolas"/>
              </a:rPr>
              <a:t>}</a:t>
            </a:r>
            <a:r>
              <a:rPr sz="1400" i="0">
                <a:solidFill>
                  <a:srgbClr val="7DCEA0"/>
                </a:solidFill>
                <a:latin typeface="Consolas"/>
              </a:rPr>
              <a:t>, b = </a:t>
            </a:r>
            <a:r>
              <a:rPr sz="1400" i="0">
                <a:solidFill>
                  <a:srgbClr val="7DCEA0"/>
                </a:solidFill>
                <a:latin typeface="Consolas"/>
              </a:rPr>
              <a:t>{</a:t>
            </a:r>
            <a:r>
              <a:rPr sz="1400" i="0">
                <a:solidFill>
                  <a:srgbClr val="E8EDF2"/>
                </a:solidFill>
                <a:latin typeface="Consolas"/>
              </a:rPr>
              <a:t>b</a:t>
            </a:r>
            <a:r>
              <a:rPr sz="1400" i="0">
                <a:solidFill>
                  <a:srgbClr val="7DCEA0"/>
                </a:solidFill>
                <a:latin typeface="Consolas"/>
              </a:rPr>
              <a:t>:</a:t>
            </a:r>
            <a:r>
              <a:rPr sz="1400" i="0">
                <a:solidFill>
                  <a:srgbClr val="7DCEA0"/>
                </a:solidFill>
                <a:latin typeface="Consolas"/>
              </a:rPr>
              <a:t>.2f</a:t>
            </a:r>
            <a:r>
              <a:rPr sz="1400" i="0">
                <a:solidFill>
                  <a:srgbClr val="7DCEA0"/>
                </a:solidFill>
                <a:latin typeface="Consolas"/>
              </a:rPr>
              <a:t>}</a:t>
            </a:r>
            <a:r>
              <a:rPr sz="1400" i="0">
                <a:solidFill>
                  <a:srgbClr val="7DCEA0"/>
                </a:solidFill>
                <a:latin typeface="Consolas"/>
              </a:rPr>
              <a:t>, </a:t>
            </a:r>
            <a:r>
              <a:rPr sz="1400" i="0">
                <a:solidFill>
                  <a:srgbClr val="7DCEA0"/>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f</a:t>
            </a:r>
            <a:r>
              <a:rPr sz="1400" i="0">
                <a:solidFill>
                  <a:srgbClr val="7DCEA0"/>
                </a:solidFill>
                <a:latin typeface="Consolas"/>
              </a:rPr>
              <a:t>"</a:t>
            </a:r>
            <a:r>
              <a:rPr sz="1400" i="0">
                <a:solidFill>
                  <a:srgbClr val="7DCEA0"/>
                </a:solidFill>
                <a:latin typeface="Consolas"/>
              </a:rPr>
              <a:t>boundary at x = </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b</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w</a:t>
            </a:r>
            <a:r>
              <a:rPr sz="1400" i="0">
                <a:solidFill>
                  <a:srgbClr val="7DCEA0"/>
                </a:solidFill>
                <a:latin typeface="Consolas"/>
              </a:rPr>
              <a:t>:</a:t>
            </a:r>
            <a:r>
              <a:rPr sz="1400" i="0">
                <a:solidFill>
                  <a:srgbClr val="7DCEA0"/>
                </a:solidFill>
                <a:latin typeface="Consolas"/>
              </a:rPr>
              <a:t>.2f</a:t>
            </a:r>
            <a:r>
              <a:rPr sz="1400" i="0">
                <a:solidFill>
                  <a:srgbClr val="7DCEA0"/>
                </a:solidFill>
                <a:latin typeface="Consolas"/>
              </a:rPr>
              <a:t>}</a:t>
            </a:r>
            <a:r>
              <a:rPr sz="1400" i="0">
                <a:solidFill>
                  <a:srgbClr val="7DCEA0"/>
                </a:solidFill>
                <a:latin typeface="Consolas"/>
              </a:rPr>
              <a:t>"</a:t>
            </a:r>
            <a:r>
              <a:rPr sz="1400" i="0">
                <a:solidFill>
                  <a:srgbClr val="AEB6BF"/>
                </a:solidFill>
                <a:latin typeface="Consolas"/>
              </a:rPr>
              <a:t>)</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11</a:t>
            </a:r>
          </a:p>
          <a:p>
            <a:pPr algn="r">
              <a:lnSpc>
                <a:spcPct val="100000"/>
              </a:lnSpc>
            </a:pPr>
            <a:r>
              <a:rPr sz="1400">
                <a:solidFill>
                  <a:srgbClr val="4F5D6A"/>
                </a:solidFill>
                <a:latin typeface="Consolas"/>
              </a:rPr>
              <a:t>12</a:t>
            </a:r>
          </a:p>
          <a:p>
            <a:pPr algn="r">
              <a:lnSpc>
                <a:spcPct val="100000"/>
              </a:lnSpc>
            </a:pPr>
            <a:r>
              <a:rPr sz="1400">
                <a:solidFill>
                  <a:srgbClr val="4F5D6A"/>
                </a:solidFill>
                <a:latin typeface="Consolas"/>
              </a:rPr>
              <a:t>13</a:t>
            </a:r>
          </a:p>
          <a:p>
            <a:pPr algn="r">
              <a:lnSpc>
                <a:spcPct val="100000"/>
              </a:lnSpc>
            </a:pPr>
            <a:r>
              <a:rPr sz="1400">
                <a:solidFill>
                  <a:srgbClr val="4F5D6A"/>
                </a:solidFill>
                <a:latin typeface="Consolas"/>
              </a:rPr>
              <a:t>14</a:t>
            </a:r>
          </a:p>
          <a:p>
            <a:pPr algn="r">
              <a:lnSpc>
                <a:spcPct val="100000"/>
              </a:lnSpc>
            </a:pPr>
            <a:r>
              <a:rPr sz="1400">
                <a:solidFill>
                  <a:srgbClr val="4F5D6A"/>
                </a:solidFill>
                <a:latin typeface="Consolas"/>
              </a:rPr>
              <a:t>15</a:t>
            </a:r>
          </a:p>
          <a:p>
            <a:pPr algn="r">
              <a:lnSpc>
                <a:spcPct val="100000"/>
              </a:lnSpc>
            </a:pPr>
            <a:r>
              <a:rPr sz="1400">
                <a:solidFill>
                  <a:srgbClr val="4F5D6A"/>
                </a:solidFill>
                <a:latin typeface="Consolas"/>
              </a:rPr>
              <a:t>16</a:t>
            </a:r>
          </a:p>
          <a:p>
            <a:pPr algn="r">
              <a:lnSpc>
                <a:spcPct val="100000"/>
              </a:lnSpc>
            </a:pPr>
            <a:r>
              <a:rPr sz="1400">
                <a:solidFill>
                  <a:srgbClr val="4F5D6A"/>
                </a:solidFill>
                <a:latin typeface="Consolas"/>
              </a:rPr>
              <a:t>17</a:t>
            </a:r>
          </a:p>
          <a:p>
            <a:pPr algn="r">
              <a:lnSpc>
                <a:spcPct val="100000"/>
              </a:lnSpc>
            </a:pPr>
            <a:r>
              <a:rPr sz="1400">
                <a:solidFill>
                  <a:srgbClr val="4F5D6A"/>
                </a:solidFill>
                <a:latin typeface="Consolas"/>
              </a:rPr>
              <a:t>18</a:t>
            </a:r>
          </a:p>
          <a:p>
            <a:pPr algn="r">
              <a:lnSpc>
                <a:spcPct val="100000"/>
              </a:lnSpc>
            </a:pPr>
            <a:r>
              <a:rPr sz="1400">
                <a:solidFill>
                  <a:srgbClr val="4F5D6A"/>
                </a:solidFill>
                <a:latin typeface="Consolas"/>
              </a:rPr>
              <a:t>19</a:t>
            </a:r>
          </a:p>
          <a:p>
            <a:pPr algn="r">
              <a:lnSpc>
                <a:spcPct val="100000"/>
              </a:lnSpc>
            </a:pPr>
            <a:r>
              <a:rPr sz="1400">
                <a:solidFill>
                  <a:srgbClr val="4F5D6A"/>
                </a:solidFill>
                <a:latin typeface="Consolas"/>
              </a:rPr>
              <a:t>20</a:t>
            </a:r>
          </a:p>
          <a:p>
            <a:pPr algn="r">
              <a:lnSpc>
                <a:spcPct val="100000"/>
              </a:lnSpc>
            </a:pPr>
            <a:r>
              <a:rPr sz="1400">
                <a:solidFill>
                  <a:srgbClr val="4F5D6A"/>
                </a:solidFill>
                <a:latin typeface="Consolas"/>
              </a:rPr>
              <a:t>21</a:t>
            </a:r>
          </a:p>
          <a:p>
            <a:pPr algn="r">
              <a:lnSpc>
                <a:spcPct val="100000"/>
              </a:lnSpc>
            </a:pPr>
            <a:r>
              <a:rPr sz="1400">
                <a:solidFill>
                  <a:srgbClr val="4F5D6A"/>
                </a:solidFill>
                <a:latin typeface="Consolas"/>
              </a:rPr>
              <a:t>22</a:t>
            </a:r>
          </a:p>
          <a:p>
            <a:pPr algn="r">
              <a:lnSpc>
                <a:spcPct val="100000"/>
              </a:lnSpc>
            </a:pPr>
            <a:r>
              <a:rPr sz="1400">
                <a:solidFill>
                  <a:srgbClr val="4F5D6A"/>
                </a:solidFill>
                <a:latin typeface="Consolas"/>
              </a:rPr>
              <a:t>23</a:t>
            </a:r>
          </a:p>
          <a:p>
            <a:pPr algn="r">
              <a:lnSpc>
                <a:spcPct val="100000"/>
              </a:lnSpc>
            </a:pPr>
            <a:r>
              <a:rPr sz="1400">
                <a:solidFill>
                  <a:srgbClr val="4F5D6A"/>
                </a:solidFill>
                <a:latin typeface="Consolas"/>
              </a:rPr>
              <a:t>24</a:t>
            </a:r>
          </a:p>
          <a:p>
            <a:pPr algn="r">
              <a:lnSpc>
                <a:spcPct val="100000"/>
              </a:lnSpc>
            </a:pPr>
            <a:r>
              <a:rPr sz="1400">
                <a:solidFill>
                  <a:srgbClr val="4F5D6A"/>
                </a:solidFill>
                <a:latin typeface="Consolas"/>
              </a:rPr>
              <a:t>25</a:t>
            </a:r>
          </a:p>
          <a:p>
            <a:pPr algn="r">
              <a:lnSpc>
                <a:spcPct val="100000"/>
              </a:lnSpc>
            </a:pPr>
            <a:r>
              <a:rPr sz="1400">
                <a:solidFill>
                  <a:srgbClr val="4F5D6A"/>
                </a:solidFill>
                <a:latin typeface="Consolas"/>
              </a:rPr>
              <a:t>26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Logistic Regression by Hand and by Library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  ·  Handout p. 48     </a:t>
            </a:r>
            <a:fld id="{00417495-DACA-4B57-89B5-724C979FFC71}"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real classifier, read as odds ratios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code/ch06_logistic_regression.py</a:t>
            </a:r>
          </a:p>
        </p:txBody>
      </p:sp>
      <p:sp>
        <p:nvSpPr>
          <p:cNvPr id="14" name="!!code-text" descr="# --- 2. a real classifier, read as odds ratios --------------------------- data = load_breast_cancer() X_tr, X_te, y_tr, y_te = train_test_split( data.data, data.target, test_size=0.25, random_state=0, stratify=data.target) clf = make_pipeline(StandardScaler(), LogisticRegression(max_iter=1000)) clf.fit(X_tr, y_tr) print(&quot;test accuracy:&quot;, round(clf.score(X_te, y_te), 3)) coef = clf[-1].coef_[0] for i in np.argsort(coef)[:3]: # most negative = most malignant print(f&quot; {data.feature_names[i]:22s} w = {coef[i]:5.2f} &quot; f&quot;odds x {np.exp(coef[i]):.2f} per standard deviation&quot;) print(&quot;P(benign) for 3 test tumours:&quot;, clf.predict_proba(X_te[:3])[:, 1].round(3))"/>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600" i="1">
                <a:solidFill>
                  <a:srgbClr val="8795A1"/>
                </a:solidFill>
                <a:latin typeface="Consolas"/>
              </a:rPr>
              <a:t># --- 2. a real classifier, read as odds ratios ---------------------------</a:t>
            </a:r>
          </a:p>
          <a:p>
            <a:pPr>
              <a:lnSpc>
                <a:spcPct val="100000"/>
              </a:lnSpc>
              <a:spcAft>
                <a:spcPts val="0"/>
              </a:spcAft>
            </a:pPr>
            <a:r>
              <a:rPr sz="1600" i="0">
                <a:solidFill>
                  <a:srgbClr val="E8EDF2"/>
                </a:solidFill>
                <a:latin typeface="Consolas"/>
              </a:rPr>
              <a:t>data</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load_breast_cancer</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X_tr</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X_te</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y_tr</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y_te</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train_test_split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data</a:t>
            </a:r>
            <a:r>
              <a:rPr sz="1600" i="0">
                <a:solidFill>
                  <a:srgbClr val="AEB6BF"/>
                </a:solidFill>
                <a:latin typeface="Consolas"/>
              </a:rPr>
              <a:t>.</a:t>
            </a:r>
            <a:r>
              <a:rPr sz="1600" i="0">
                <a:solidFill>
                  <a:srgbClr val="E8EDF2"/>
                </a:solidFill>
                <a:latin typeface="Consolas"/>
              </a:rPr>
              <a:t>data</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data</a:t>
            </a:r>
            <a:r>
              <a:rPr sz="1600" i="0">
                <a:solidFill>
                  <a:srgbClr val="AEB6BF"/>
                </a:solidFill>
                <a:latin typeface="Consolas"/>
              </a:rPr>
              <a:t>.</a:t>
            </a:r>
            <a:r>
              <a:rPr sz="1600" i="0">
                <a:solidFill>
                  <a:srgbClr val="E8EDF2"/>
                </a:solidFill>
                <a:latin typeface="Consolas"/>
              </a:rPr>
              <a:t>target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test_size</a:t>
            </a:r>
            <a:r>
              <a:rPr sz="1600" i="0">
                <a:solidFill>
                  <a:srgbClr val="AEB6BF"/>
                </a:solidFill>
                <a:latin typeface="Consolas"/>
              </a:rPr>
              <a:t>=</a:t>
            </a:r>
            <a:r>
              <a:rPr sz="1600" i="0">
                <a:solidFill>
                  <a:srgbClr val="F7DC6F"/>
                </a:solidFill>
                <a:latin typeface="Consolas"/>
              </a:rPr>
              <a:t>0.25</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random_state</a:t>
            </a:r>
            <a:r>
              <a:rPr sz="1600" i="0">
                <a:solidFill>
                  <a:srgbClr val="AEB6BF"/>
                </a:solidFill>
                <a:latin typeface="Consolas"/>
              </a:rPr>
              <a:t>=</a:t>
            </a:r>
            <a:r>
              <a:rPr sz="1600" i="0">
                <a:solidFill>
                  <a:srgbClr val="F7DC6F"/>
                </a:solidFill>
                <a:latin typeface="Consolas"/>
              </a:rPr>
              <a:t>0</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stratify</a:t>
            </a:r>
            <a:r>
              <a:rPr sz="1600" i="0">
                <a:solidFill>
                  <a:srgbClr val="AEB6BF"/>
                </a:solidFill>
                <a:latin typeface="Consolas"/>
              </a:rPr>
              <a:t>=</a:t>
            </a:r>
            <a:r>
              <a:rPr sz="1600" i="0">
                <a:solidFill>
                  <a:srgbClr val="E8EDF2"/>
                </a:solidFill>
                <a:latin typeface="Consolas"/>
              </a:rPr>
              <a:t>data</a:t>
            </a:r>
            <a:r>
              <a:rPr sz="1600" i="0">
                <a:solidFill>
                  <a:srgbClr val="AEB6BF"/>
                </a:solidFill>
                <a:latin typeface="Consolas"/>
              </a:rPr>
              <a:t>.</a:t>
            </a:r>
            <a:r>
              <a:rPr sz="1600" i="0">
                <a:solidFill>
                  <a:srgbClr val="E8EDF2"/>
                </a:solidFill>
                <a:latin typeface="Consolas"/>
              </a:rPr>
              <a:t>target</a:t>
            </a:r>
            <a:r>
              <a:rPr sz="1600" i="0">
                <a:solidFill>
                  <a:srgbClr val="AEB6BF"/>
                </a:solidFill>
                <a:latin typeface="Consolas"/>
              </a:rPr>
              <a:t>)</a:t>
            </a:r>
          </a:p>
          <a:p>
            <a:pPr>
              <a:lnSpc>
                <a:spcPct val="100000"/>
              </a:lnSpc>
              <a:spcAft>
                <a:spcPts val="0"/>
              </a:spcAft>
            </a:pPr>
            <a:r>
              <a:rPr sz="1600" i="0">
                <a:solidFill>
                  <a:srgbClr val="E8EDF2"/>
                </a:solidFill>
                <a:latin typeface="Consolas"/>
              </a:rPr>
              <a:t>clf</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make_pipeline</a:t>
            </a:r>
            <a:r>
              <a:rPr sz="1600" i="0">
                <a:solidFill>
                  <a:srgbClr val="AEB6BF"/>
                </a:solidFill>
                <a:latin typeface="Consolas"/>
              </a:rPr>
              <a:t>(</a:t>
            </a:r>
            <a:r>
              <a:rPr sz="1600" i="0">
                <a:solidFill>
                  <a:srgbClr val="E8EDF2"/>
                </a:solidFill>
                <a:latin typeface="Consolas"/>
              </a:rPr>
              <a:t>StandardScaler</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LogisticRegression</a:t>
            </a:r>
            <a:r>
              <a:rPr sz="1600" i="0">
                <a:solidFill>
                  <a:srgbClr val="AEB6BF"/>
                </a:solidFill>
                <a:latin typeface="Consolas"/>
              </a:rPr>
              <a:t>(</a:t>
            </a:r>
            <a:r>
              <a:rPr sz="1600" i="0">
                <a:solidFill>
                  <a:srgbClr val="E8EDF2"/>
                </a:solidFill>
                <a:latin typeface="Consolas"/>
              </a:rPr>
              <a:t>max_iter</a:t>
            </a:r>
            <a:r>
              <a:rPr sz="1600" i="0">
                <a:solidFill>
                  <a:srgbClr val="AEB6BF"/>
                </a:solidFill>
                <a:latin typeface="Consolas"/>
              </a:rPr>
              <a:t>=</a:t>
            </a:r>
            <a:r>
              <a:rPr sz="1600" i="0">
                <a:solidFill>
                  <a:srgbClr val="F7DC6F"/>
                </a:solidFill>
                <a:latin typeface="Consolas"/>
              </a:rPr>
              <a:t>1000</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clf</a:t>
            </a:r>
            <a:r>
              <a:rPr sz="1600" i="0">
                <a:solidFill>
                  <a:srgbClr val="AEB6BF"/>
                </a:solidFill>
                <a:latin typeface="Consolas"/>
              </a:rPr>
              <a:t>.</a:t>
            </a:r>
            <a:r>
              <a:rPr sz="1600" i="0">
                <a:solidFill>
                  <a:srgbClr val="E8EDF2"/>
                </a:solidFill>
                <a:latin typeface="Consolas"/>
              </a:rPr>
              <a:t>fit</a:t>
            </a:r>
            <a:r>
              <a:rPr sz="1600" i="0">
                <a:solidFill>
                  <a:srgbClr val="AEB6BF"/>
                </a:solidFill>
                <a:latin typeface="Consolas"/>
              </a:rPr>
              <a:t>(</a:t>
            </a:r>
            <a:r>
              <a:rPr sz="1600" i="0">
                <a:solidFill>
                  <a:srgbClr val="E8EDF2"/>
                </a:solidFill>
                <a:latin typeface="Consolas"/>
              </a:rPr>
              <a:t>X_tr</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y_tr</a:t>
            </a:r>
            <a:r>
              <a:rPr sz="1600" i="0">
                <a:solidFill>
                  <a:srgbClr val="AEB6BF"/>
                </a:solidFill>
                <a:latin typeface="Consolas"/>
              </a:rPr>
              <a:t>)</a:t>
            </a:r>
          </a:p>
          <a:p>
            <a:pPr>
              <a:lnSpc>
                <a:spcPct val="100000"/>
              </a:lnSpc>
              <a:spcAft>
                <a:spcPts val="0"/>
              </a:spcAft>
            </a:pPr>
            <a:r>
              <a:rPr sz="1600" i="0">
                <a:solidFill>
                  <a:srgbClr val="C39BD3"/>
                </a:solidFill>
                <a:latin typeface="Consolas"/>
              </a:rPr>
              <a:t>print</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test accuracy:</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C39BD3"/>
                </a:solidFill>
                <a:latin typeface="Consolas"/>
              </a:rPr>
              <a:t>round</a:t>
            </a:r>
            <a:r>
              <a:rPr sz="1600" i="0">
                <a:solidFill>
                  <a:srgbClr val="AEB6BF"/>
                </a:solidFill>
                <a:latin typeface="Consolas"/>
              </a:rPr>
              <a:t>(</a:t>
            </a:r>
            <a:r>
              <a:rPr sz="1600" i="0">
                <a:solidFill>
                  <a:srgbClr val="E8EDF2"/>
                </a:solidFill>
                <a:latin typeface="Consolas"/>
              </a:rPr>
              <a:t>clf</a:t>
            </a:r>
            <a:r>
              <a:rPr sz="1600" i="0">
                <a:solidFill>
                  <a:srgbClr val="AEB6BF"/>
                </a:solidFill>
                <a:latin typeface="Consolas"/>
              </a:rPr>
              <a:t>.</a:t>
            </a:r>
            <a:r>
              <a:rPr sz="1600" i="0">
                <a:solidFill>
                  <a:srgbClr val="E8EDF2"/>
                </a:solidFill>
                <a:latin typeface="Consolas"/>
              </a:rPr>
              <a:t>score</a:t>
            </a:r>
            <a:r>
              <a:rPr sz="1600" i="0">
                <a:solidFill>
                  <a:srgbClr val="AEB6BF"/>
                </a:solidFill>
                <a:latin typeface="Consolas"/>
              </a:rPr>
              <a:t>(</a:t>
            </a:r>
            <a:r>
              <a:rPr sz="1600" i="0">
                <a:solidFill>
                  <a:srgbClr val="E8EDF2"/>
                </a:solidFill>
                <a:latin typeface="Consolas"/>
              </a:rPr>
              <a:t>X_te</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y_te</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3</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coef</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clf</a:t>
            </a:r>
            <a:r>
              <a:rPr sz="1600" i="0">
                <a:solidFill>
                  <a:srgbClr val="AEB6BF"/>
                </a:solidFill>
                <a:latin typeface="Consolas"/>
              </a:rPr>
              <a:t>[</a:t>
            </a:r>
            <a:r>
              <a:rPr sz="1600" i="0">
                <a:solidFill>
                  <a:srgbClr val="AEB6BF"/>
                </a:solidFill>
                <a:latin typeface="Consolas"/>
              </a:rPr>
              <a:t>-</a:t>
            </a:r>
            <a:r>
              <a:rPr sz="1600" i="0">
                <a:solidFill>
                  <a:srgbClr val="F7DC6F"/>
                </a:solidFill>
                <a:latin typeface="Consolas"/>
              </a:rPr>
              <a:t>1</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coef_</a:t>
            </a:r>
            <a:r>
              <a:rPr sz="1600" i="0">
                <a:solidFill>
                  <a:srgbClr val="AEB6BF"/>
                </a:solidFill>
                <a:latin typeface="Consolas"/>
              </a:rPr>
              <a:t>[</a:t>
            </a:r>
            <a:r>
              <a:rPr sz="1600" i="0">
                <a:solidFill>
                  <a:srgbClr val="F7DC6F"/>
                </a:solidFill>
                <a:latin typeface="Consolas"/>
              </a:rPr>
              <a:t>0</a:t>
            </a:r>
            <a:r>
              <a:rPr sz="1600" i="0">
                <a:solidFill>
                  <a:srgbClr val="AEB6BF"/>
                </a:solidFill>
                <a:latin typeface="Consolas"/>
              </a:rPr>
              <a:t>]</a:t>
            </a:r>
          </a:p>
          <a:p>
            <a:pPr>
              <a:lnSpc>
                <a:spcPct val="100000"/>
              </a:lnSpc>
              <a:spcAft>
                <a:spcPts val="0"/>
              </a:spcAft>
            </a:pPr>
            <a:r>
              <a:rPr sz="1600" i="0">
                <a:solidFill>
                  <a:srgbClr val="5DADE2"/>
                </a:solidFill>
                <a:latin typeface="Consolas"/>
              </a:rPr>
              <a:t>for</a:t>
            </a:r>
            <a:r>
              <a:rPr sz="1600" i="0">
                <a:solidFill>
                  <a:srgbClr val="E8EDF2"/>
                </a:solidFill>
                <a:latin typeface="Consolas"/>
              </a:rPr>
              <a:t> </a:t>
            </a:r>
            <a:r>
              <a:rPr sz="1600" i="0">
                <a:solidFill>
                  <a:srgbClr val="E8EDF2"/>
                </a:solidFill>
                <a:latin typeface="Consolas"/>
              </a:rPr>
              <a:t>i</a:t>
            </a:r>
            <a:r>
              <a:rPr sz="1600" i="0">
                <a:solidFill>
                  <a:srgbClr val="E8EDF2"/>
                </a:solidFill>
                <a:latin typeface="Consolas"/>
              </a:rPr>
              <a:t> </a:t>
            </a:r>
            <a:r>
              <a:rPr sz="1600" i="0">
                <a:solidFill>
                  <a:srgbClr val="AEB6BF"/>
                </a:solidFill>
                <a:latin typeface="Consolas"/>
              </a:rPr>
              <a:t>in</a:t>
            </a:r>
            <a:r>
              <a:rPr sz="1600" i="0">
                <a:solidFill>
                  <a:srgbClr val="E8EDF2"/>
                </a:solidFill>
                <a:latin typeface="Consolas"/>
              </a:rPr>
              <a:t> </a:t>
            </a:r>
            <a:r>
              <a:rPr sz="1600" i="0">
                <a:solidFill>
                  <a:srgbClr val="E8EDF2"/>
                </a:solidFill>
                <a:latin typeface="Consolas"/>
              </a:rPr>
              <a:t>np</a:t>
            </a:r>
            <a:r>
              <a:rPr sz="1600" i="0">
                <a:solidFill>
                  <a:srgbClr val="AEB6BF"/>
                </a:solidFill>
                <a:latin typeface="Consolas"/>
              </a:rPr>
              <a:t>.</a:t>
            </a:r>
            <a:r>
              <a:rPr sz="1600" i="0">
                <a:solidFill>
                  <a:srgbClr val="E8EDF2"/>
                </a:solidFill>
                <a:latin typeface="Consolas"/>
              </a:rPr>
              <a:t>argsort</a:t>
            </a:r>
            <a:r>
              <a:rPr sz="1600" i="0">
                <a:solidFill>
                  <a:srgbClr val="AEB6BF"/>
                </a:solidFill>
                <a:latin typeface="Consolas"/>
              </a:rPr>
              <a:t>(</a:t>
            </a:r>
            <a:r>
              <a:rPr sz="1600" i="0">
                <a:solidFill>
                  <a:srgbClr val="E8EDF2"/>
                </a:solidFill>
                <a:latin typeface="Consolas"/>
              </a:rPr>
              <a:t>coef</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F7DC6F"/>
                </a:solidFill>
                <a:latin typeface="Consolas"/>
              </a:rPr>
              <a:t>3</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1">
                <a:solidFill>
                  <a:srgbClr val="8795A1"/>
                </a:solidFill>
                <a:latin typeface="Consolas"/>
              </a:rPr>
              <a:t># most negative = most malignant</a:t>
            </a:r>
          </a:p>
          <a:p>
            <a:pPr>
              <a:lnSpc>
                <a:spcPct val="100000"/>
              </a:lnSpc>
              <a:spcAft>
                <a:spcPts val="0"/>
              </a:spcAft>
            </a:pPr>
            <a:r>
              <a:rPr sz="1600" i="0">
                <a:solidFill>
                  <a:srgbClr val="E8EDF2"/>
                </a:solidFill>
                <a:latin typeface="Consolas"/>
              </a:rPr>
              <a:t>    </a:t>
            </a:r>
            <a:r>
              <a:rPr sz="1600" i="0">
                <a:solidFill>
                  <a:srgbClr val="C39BD3"/>
                </a:solidFill>
                <a:latin typeface="Consolas"/>
              </a:rPr>
              <a:t>print</a:t>
            </a:r>
            <a:r>
              <a:rPr sz="1600" i="0">
                <a:solidFill>
                  <a:srgbClr val="AEB6BF"/>
                </a:solidFill>
                <a:latin typeface="Consolas"/>
              </a:rPr>
              <a:t>(</a:t>
            </a:r>
            <a:r>
              <a:rPr sz="1600" i="0">
                <a:solidFill>
                  <a:srgbClr val="7DCEA0"/>
                </a:solidFill>
                <a:latin typeface="Consolas"/>
              </a:rPr>
              <a:t>f</a:t>
            </a:r>
            <a:r>
              <a:rPr sz="1600" i="0">
                <a:solidFill>
                  <a:srgbClr val="7DCEA0"/>
                </a:solidFill>
                <a:latin typeface="Consolas"/>
              </a:rPr>
              <a:t>"</a:t>
            </a:r>
            <a:r>
              <a:rPr sz="1600" i="0">
                <a:solidFill>
                  <a:srgbClr val="7DCEA0"/>
                </a:solidFill>
                <a:latin typeface="Consolas"/>
              </a:rPr>
              <a:t>  </a:t>
            </a:r>
            <a:r>
              <a:rPr sz="1600" i="0">
                <a:solidFill>
                  <a:srgbClr val="7DCEA0"/>
                </a:solidFill>
                <a:latin typeface="Consolas"/>
              </a:rPr>
              <a:t>{</a:t>
            </a:r>
            <a:r>
              <a:rPr sz="1600" i="0">
                <a:solidFill>
                  <a:srgbClr val="E8EDF2"/>
                </a:solidFill>
                <a:latin typeface="Consolas"/>
              </a:rPr>
              <a:t>data</a:t>
            </a:r>
            <a:r>
              <a:rPr sz="1600" i="0">
                <a:solidFill>
                  <a:srgbClr val="AEB6BF"/>
                </a:solidFill>
                <a:latin typeface="Consolas"/>
              </a:rPr>
              <a:t>.</a:t>
            </a:r>
            <a:r>
              <a:rPr sz="1600" i="0">
                <a:solidFill>
                  <a:srgbClr val="E8EDF2"/>
                </a:solidFill>
                <a:latin typeface="Consolas"/>
              </a:rPr>
              <a:t>feature_names</a:t>
            </a:r>
            <a:r>
              <a:rPr sz="1600" i="0">
                <a:solidFill>
                  <a:srgbClr val="AEB6BF"/>
                </a:solidFill>
                <a:latin typeface="Consolas"/>
              </a:rPr>
              <a:t>[</a:t>
            </a:r>
            <a:r>
              <a:rPr sz="1600" i="0">
                <a:solidFill>
                  <a:srgbClr val="E8EDF2"/>
                </a:solidFill>
                <a:latin typeface="Consolas"/>
              </a:rPr>
              <a:t>i</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22s</a:t>
            </a:r>
            <a:r>
              <a:rPr sz="1600" i="0">
                <a:solidFill>
                  <a:srgbClr val="7DCEA0"/>
                </a:solidFill>
                <a:latin typeface="Consolas"/>
              </a:rPr>
              <a:t>}</a:t>
            </a:r>
            <a:r>
              <a:rPr sz="1600" i="0">
                <a:solidFill>
                  <a:srgbClr val="7DCEA0"/>
                </a:solidFill>
                <a:latin typeface="Consolas"/>
              </a:rPr>
              <a:t> w = </a:t>
            </a:r>
            <a:r>
              <a:rPr sz="1600" i="0">
                <a:solidFill>
                  <a:srgbClr val="7DCEA0"/>
                </a:solidFill>
                <a:latin typeface="Consolas"/>
              </a:rPr>
              <a:t>{</a:t>
            </a:r>
            <a:r>
              <a:rPr sz="1600" i="0">
                <a:solidFill>
                  <a:srgbClr val="E8EDF2"/>
                </a:solidFill>
                <a:latin typeface="Consolas"/>
              </a:rPr>
              <a:t>coef</a:t>
            </a:r>
            <a:r>
              <a:rPr sz="1600" i="0">
                <a:solidFill>
                  <a:srgbClr val="AEB6BF"/>
                </a:solidFill>
                <a:latin typeface="Consolas"/>
              </a:rPr>
              <a:t>[</a:t>
            </a:r>
            <a:r>
              <a:rPr sz="1600" i="0">
                <a:solidFill>
                  <a:srgbClr val="E8EDF2"/>
                </a:solidFill>
                <a:latin typeface="Consolas"/>
              </a:rPr>
              <a:t>i</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5.2f</a:t>
            </a:r>
            <a:r>
              <a:rPr sz="1600" i="0">
                <a:solidFill>
                  <a:srgbClr val="7DCEA0"/>
                </a:solidFill>
                <a:latin typeface="Consolas"/>
              </a:rPr>
              <a:t>}</a:t>
            </a:r>
            <a:r>
              <a:rPr sz="1600" i="0">
                <a:solidFill>
                  <a:srgbClr val="7DCEA0"/>
                </a:solidFill>
                <a:latin typeface="Consolas"/>
              </a:rPr>
              <a:t>  </a:t>
            </a:r>
            <a:r>
              <a:rPr sz="1600" i="0">
                <a:solidFill>
                  <a:srgbClr val="7DCEA0"/>
                </a:solidFill>
                <a:latin typeface="Consolas"/>
              </a:rPr>
              <a:t>"</a:t>
            </a:r>
          </a:p>
          <a:p>
            <a:pPr>
              <a:lnSpc>
                <a:spcPct val="100000"/>
              </a:lnSpc>
              <a:spcAft>
                <a:spcPts val="0"/>
              </a:spcAft>
            </a:pPr>
            <a:r>
              <a:rPr sz="1600" i="0">
                <a:solidFill>
                  <a:srgbClr val="E8EDF2"/>
                </a:solidFill>
                <a:latin typeface="Consolas"/>
              </a:rPr>
              <a:t>          </a:t>
            </a:r>
            <a:r>
              <a:rPr sz="1600" i="0">
                <a:solidFill>
                  <a:srgbClr val="7DCEA0"/>
                </a:solidFill>
                <a:latin typeface="Consolas"/>
              </a:rPr>
              <a:t>f</a:t>
            </a:r>
            <a:r>
              <a:rPr sz="1600" i="0">
                <a:solidFill>
                  <a:srgbClr val="7DCEA0"/>
                </a:solidFill>
                <a:latin typeface="Consolas"/>
              </a:rPr>
              <a:t>"</a:t>
            </a:r>
            <a:r>
              <a:rPr sz="1600" i="0">
                <a:solidFill>
                  <a:srgbClr val="7DCEA0"/>
                </a:solidFill>
                <a:latin typeface="Consolas"/>
              </a:rPr>
              <a:t>odds x </a:t>
            </a:r>
            <a:r>
              <a:rPr sz="1600" i="0">
                <a:solidFill>
                  <a:srgbClr val="7DCEA0"/>
                </a:solidFill>
                <a:latin typeface="Consolas"/>
              </a:rPr>
              <a:t>{</a:t>
            </a:r>
            <a:r>
              <a:rPr sz="1600" i="0">
                <a:solidFill>
                  <a:srgbClr val="E8EDF2"/>
                </a:solidFill>
                <a:latin typeface="Consolas"/>
              </a:rPr>
              <a:t>np</a:t>
            </a:r>
            <a:r>
              <a:rPr sz="1600" i="0">
                <a:solidFill>
                  <a:srgbClr val="AEB6BF"/>
                </a:solidFill>
                <a:latin typeface="Consolas"/>
              </a:rPr>
              <a:t>.</a:t>
            </a:r>
            <a:r>
              <a:rPr sz="1600" i="0">
                <a:solidFill>
                  <a:srgbClr val="E8EDF2"/>
                </a:solidFill>
                <a:latin typeface="Consolas"/>
              </a:rPr>
              <a:t>exp</a:t>
            </a:r>
            <a:r>
              <a:rPr sz="1600" i="0">
                <a:solidFill>
                  <a:srgbClr val="AEB6BF"/>
                </a:solidFill>
                <a:latin typeface="Consolas"/>
              </a:rPr>
              <a:t>(</a:t>
            </a:r>
            <a:r>
              <a:rPr sz="1600" i="0">
                <a:solidFill>
                  <a:srgbClr val="E8EDF2"/>
                </a:solidFill>
                <a:latin typeface="Consolas"/>
              </a:rPr>
              <a:t>coef</a:t>
            </a:r>
            <a:r>
              <a:rPr sz="1600" i="0">
                <a:solidFill>
                  <a:srgbClr val="AEB6BF"/>
                </a:solidFill>
                <a:latin typeface="Consolas"/>
              </a:rPr>
              <a:t>[</a:t>
            </a:r>
            <a:r>
              <a:rPr sz="1600" i="0">
                <a:solidFill>
                  <a:srgbClr val="E8EDF2"/>
                </a:solidFill>
                <a:latin typeface="Consolas"/>
              </a:rPr>
              <a:t>i</a:t>
            </a:r>
            <a:r>
              <a:rPr sz="1600" i="0">
                <a:solidFill>
                  <a:srgbClr val="AEB6BF"/>
                </a:solidFill>
                <a:latin typeface="Consolas"/>
              </a:rPr>
              <a:t>]</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.2f</a:t>
            </a:r>
            <a:r>
              <a:rPr sz="1600" i="0">
                <a:solidFill>
                  <a:srgbClr val="7DCEA0"/>
                </a:solidFill>
                <a:latin typeface="Consolas"/>
              </a:rPr>
              <a:t>}</a:t>
            </a:r>
            <a:r>
              <a:rPr sz="1600" i="0">
                <a:solidFill>
                  <a:srgbClr val="7DCEA0"/>
                </a:solidFill>
                <a:latin typeface="Consolas"/>
              </a:rPr>
              <a:t> per standard deviation</a:t>
            </a:r>
            <a:r>
              <a:rPr sz="1600" i="0">
                <a:solidFill>
                  <a:srgbClr val="7DCEA0"/>
                </a:solidFill>
                <a:latin typeface="Consolas"/>
              </a:rPr>
              <a:t>"</a:t>
            </a:r>
            <a:r>
              <a:rPr sz="1600" i="0">
                <a:solidFill>
                  <a:srgbClr val="AEB6BF"/>
                </a:solidFill>
                <a:latin typeface="Consolas"/>
              </a:rPr>
              <a:t>)</a:t>
            </a:r>
          </a:p>
          <a:p>
            <a:pPr>
              <a:lnSpc>
                <a:spcPct val="100000"/>
              </a:lnSpc>
              <a:spcAft>
                <a:spcPts val="0"/>
              </a:spcAft>
            </a:pPr>
            <a:r>
              <a:rPr sz="1600" i="0">
                <a:solidFill>
                  <a:srgbClr val="C39BD3"/>
                </a:solidFill>
                <a:latin typeface="Consolas"/>
              </a:rPr>
              <a:t>print</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P(benign) for 3 test tumours:</a:t>
            </a:r>
            <a:r>
              <a:rPr sz="1600" i="0">
                <a:solidFill>
                  <a:srgbClr val="7DCEA0"/>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clf</a:t>
            </a:r>
            <a:r>
              <a:rPr sz="1600" i="0">
                <a:solidFill>
                  <a:srgbClr val="AEB6BF"/>
                </a:solidFill>
                <a:latin typeface="Consolas"/>
              </a:rPr>
              <a:t>.</a:t>
            </a:r>
            <a:r>
              <a:rPr sz="1600" i="0">
                <a:solidFill>
                  <a:srgbClr val="E8EDF2"/>
                </a:solidFill>
                <a:latin typeface="Consolas"/>
              </a:rPr>
              <a:t>predict_proba</a:t>
            </a:r>
            <a:r>
              <a:rPr sz="1600" i="0">
                <a:solidFill>
                  <a:srgbClr val="AEB6BF"/>
                </a:solidFill>
                <a:latin typeface="Consolas"/>
              </a:rPr>
              <a:t>(</a:t>
            </a:r>
            <a:r>
              <a:rPr sz="1600" i="0">
                <a:solidFill>
                  <a:srgbClr val="E8EDF2"/>
                </a:solidFill>
                <a:latin typeface="Consolas"/>
              </a:rPr>
              <a:t>X_te</a:t>
            </a:r>
            <a:r>
              <a:rPr sz="1600" i="0">
                <a:solidFill>
                  <a:srgbClr val="AEB6BF"/>
                </a:solidFill>
                <a:latin typeface="Consolas"/>
              </a:rPr>
              <a:t>[</a:t>
            </a:r>
            <a:r>
              <a:rPr sz="1600" i="0">
                <a:solidFill>
                  <a:srgbClr val="AEB6BF"/>
                </a:solidFill>
                <a:latin typeface="Consolas"/>
              </a:rPr>
              <a:t>:</a:t>
            </a:r>
            <a:r>
              <a:rPr sz="1600" i="0">
                <a:solidFill>
                  <a:srgbClr val="F7DC6F"/>
                </a:solidFill>
                <a:latin typeface="Consolas"/>
              </a:rPr>
              <a:t>3</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1</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round</a:t>
            </a:r>
            <a:r>
              <a:rPr sz="1600" i="0">
                <a:solidFill>
                  <a:srgbClr val="AEB6BF"/>
                </a:solidFill>
                <a:latin typeface="Consolas"/>
              </a:rPr>
              <a:t>(</a:t>
            </a:r>
            <a:r>
              <a:rPr sz="1600" i="0">
                <a:solidFill>
                  <a:srgbClr val="F7DC6F"/>
                </a:solidFill>
                <a:latin typeface="Consolas"/>
              </a:rPr>
              <a:t>3</a:t>
            </a:r>
            <a:r>
              <a:rPr sz="1600" i="0">
                <a:solidFill>
                  <a:srgbClr val="AEB6BF"/>
                </a:solidFill>
                <a:latin typeface="Consolas"/>
              </a:rPr>
              <a:t>)</a:t>
            </a:r>
            <a:r>
              <a:rPr sz="1600" i="0">
                <a:solidFill>
                  <a:srgbClr val="AEB6BF"/>
                </a:solidFill>
                <a:latin typeface="Consolas"/>
              </a:rPr>
              <a:t>)</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28</a:t>
            </a:r>
          </a:p>
          <a:p>
            <a:pPr algn="r">
              <a:lnSpc>
                <a:spcPct val="100000"/>
              </a:lnSpc>
            </a:pPr>
            <a:r>
              <a:rPr sz="1600">
                <a:solidFill>
                  <a:srgbClr val="4F5D6A"/>
                </a:solidFill>
                <a:latin typeface="Consolas"/>
              </a:rPr>
              <a:t>29</a:t>
            </a:r>
          </a:p>
          <a:p>
            <a:pPr algn="r">
              <a:lnSpc>
                <a:spcPct val="100000"/>
              </a:lnSpc>
            </a:pPr>
            <a:r>
              <a:rPr sz="1600">
                <a:solidFill>
                  <a:srgbClr val="4F5D6A"/>
                </a:solidFill>
                <a:latin typeface="Consolas"/>
              </a:rPr>
              <a:t>30</a:t>
            </a:r>
          </a:p>
          <a:p>
            <a:pPr algn="r">
              <a:lnSpc>
                <a:spcPct val="100000"/>
              </a:lnSpc>
            </a:pPr>
            <a:r>
              <a:rPr sz="1600">
                <a:solidFill>
                  <a:srgbClr val="4F5D6A"/>
                </a:solidFill>
                <a:latin typeface="Consolas"/>
              </a:rPr>
              <a:t>31</a:t>
            </a:r>
          </a:p>
          <a:p>
            <a:pPr algn="r">
              <a:lnSpc>
                <a:spcPct val="100000"/>
              </a:lnSpc>
            </a:pPr>
            <a:r>
              <a:rPr sz="1600">
                <a:solidFill>
                  <a:srgbClr val="4F5D6A"/>
                </a:solidFill>
                <a:latin typeface="Consolas"/>
              </a:rPr>
              <a:t>32</a:t>
            </a:r>
          </a:p>
          <a:p>
            <a:pPr algn="r">
              <a:lnSpc>
                <a:spcPct val="100000"/>
              </a:lnSpc>
            </a:pPr>
            <a:r>
              <a:rPr sz="1600">
                <a:solidFill>
                  <a:srgbClr val="4F5D6A"/>
                </a:solidFill>
                <a:latin typeface="Consolas"/>
              </a:rPr>
              <a:t>33</a:t>
            </a:r>
          </a:p>
          <a:p>
            <a:pPr algn="r">
              <a:lnSpc>
                <a:spcPct val="100000"/>
              </a:lnSpc>
            </a:pPr>
            <a:r>
              <a:rPr sz="1600">
                <a:solidFill>
                  <a:srgbClr val="4F5D6A"/>
                </a:solidFill>
                <a:latin typeface="Consolas"/>
              </a:rPr>
              <a:t>34</a:t>
            </a:r>
          </a:p>
          <a:p>
            <a:pPr algn="r">
              <a:lnSpc>
                <a:spcPct val="100000"/>
              </a:lnSpc>
            </a:pPr>
            <a:r>
              <a:rPr sz="1600">
                <a:solidFill>
                  <a:srgbClr val="4F5D6A"/>
                </a:solidFill>
                <a:latin typeface="Consolas"/>
              </a:rPr>
              <a:t>35</a:t>
            </a:r>
          </a:p>
          <a:p>
            <a:pPr algn="r">
              <a:lnSpc>
                <a:spcPct val="100000"/>
              </a:lnSpc>
            </a:pPr>
            <a:r>
              <a:rPr sz="1600">
                <a:solidFill>
                  <a:srgbClr val="4F5D6A"/>
                </a:solidFill>
                <a:latin typeface="Consolas"/>
              </a:rPr>
              <a:t>36</a:t>
            </a:r>
          </a:p>
          <a:p>
            <a:pPr algn="r">
              <a:lnSpc>
                <a:spcPct val="100000"/>
              </a:lnSpc>
            </a:pPr>
            <a:r>
              <a:rPr sz="1600">
                <a:solidFill>
                  <a:srgbClr val="4F5D6A"/>
                </a:solidFill>
                <a:latin typeface="Consolas"/>
              </a:rPr>
              <a:t>37</a:t>
            </a:r>
          </a:p>
          <a:p>
            <a:pPr algn="r">
              <a:lnSpc>
                <a:spcPct val="100000"/>
              </a:lnSpc>
            </a:pPr>
            <a:r>
              <a:rPr sz="1600">
                <a:solidFill>
                  <a:srgbClr val="4F5D6A"/>
                </a:solidFill>
                <a:latin typeface="Consolas"/>
              </a:rPr>
              <a:t>38</a:t>
            </a:r>
          </a:p>
          <a:p>
            <a:pPr algn="r">
              <a:lnSpc>
                <a:spcPct val="100000"/>
              </a:lnSpc>
            </a:pPr>
            <a:r>
              <a:rPr sz="1600">
                <a:solidFill>
                  <a:srgbClr val="4F5D6A"/>
                </a:solidFill>
                <a:latin typeface="Consolas"/>
              </a:rPr>
              <a:t>39</a:t>
            </a:r>
          </a:p>
          <a:p>
            <a:pPr algn="r">
              <a:lnSpc>
                <a:spcPct val="100000"/>
              </a:lnSpc>
            </a:pPr>
            <a:r>
              <a:rPr sz="1600">
                <a:solidFill>
                  <a:srgbClr val="4F5D6A"/>
                </a:solidFill>
                <a:latin typeface="Consolas"/>
              </a:rPr>
              <a:t>40</a:t>
            </a:r>
          </a:p>
          <a:p>
            <a:pPr algn="r">
              <a:lnSpc>
                <a:spcPct val="100000"/>
              </a:lnSpc>
            </a:pPr>
            <a:r>
              <a:rPr sz="1600">
                <a:solidFill>
                  <a:srgbClr val="4F5D6A"/>
                </a:solidFill>
                <a:latin typeface="Consolas"/>
              </a:rPr>
              <a:t>41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9872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Logistic Regression by Hand and by Library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  ·  Handout p. 48     </a:t>
            </a:r>
            <a:fld id="{91652BEE-752A-4C10-8F14-0EC8F13B9109}"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Three classes: softmax</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249424"/>
          </a:xfrm>
          <a:prstGeom prst="roundRect">
            <a:avLst>
              <a:gd name="adj" fmla="val 406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code/ch06_logistic_regression.py</a:t>
            </a:r>
          </a:p>
        </p:txBody>
      </p:sp>
      <p:sp>
        <p:nvSpPr>
          <p:cNvPr id="14" name="!!code-text" descr="# --- 3. three classes: softmax ------------------------------------------- iris = load_iris() soft = make_pipeline(StandardScaler(), LogisticRegression(max_iter=1000)) soft.fit(iris.data, iris.target) print(&quot;softmax probabilities for flower 60:&quot;, soft.predict_proba(iris.data[[60]]).round(3))"/>
          <p:cNvSpPr txBox="1"/>
          <p:nvPr/>
        </p:nvSpPr>
        <p:spPr>
          <a:xfrm>
            <a:off x="1362456" y="2523744"/>
            <a:ext cx="9987991" cy="17556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three classes: softmax -------------------------------------------</a:t>
            </a:r>
          </a:p>
          <a:p>
            <a:pPr>
              <a:lnSpc>
                <a:spcPct val="100000"/>
              </a:lnSpc>
              <a:spcAft>
                <a:spcPts val="0"/>
              </a:spcAft>
            </a:pPr>
            <a:r>
              <a:rPr sz="1800" i="0">
                <a:solidFill>
                  <a:srgbClr val="E8EDF2"/>
                </a:solidFill>
                <a:latin typeface="Consolas"/>
              </a:rPr>
              <a:t>iris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load_iris</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soft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make_pipeline</a:t>
            </a:r>
            <a:r>
              <a:rPr sz="1800" i="0">
                <a:solidFill>
                  <a:srgbClr val="AEB6BF"/>
                </a:solidFill>
                <a:latin typeface="Consolas"/>
              </a:rPr>
              <a:t>(</a:t>
            </a:r>
            <a:r>
              <a:rPr sz="1800" i="0">
                <a:solidFill>
                  <a:srgbClr val="E8EDF2"/>
                </a:solidFill>
                <a:latin typeface="Consolas"/>
              </a:rPr>
              <a:t>StandardScaler</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LogisticRegression</a:t>
            </a:r>
            <a:r>
              <a:rPr sz="1800" i="0">
                <a:solidFill>
                  <a:srgbClr val="AEB6BF"/>
                </a:solidFill>
                <a:latin typeface="Consolas"/>
              </a:rPr>
              <a:t>(</a:t>
            </a:r>
            <a:r>
              <a:rPr sz="1800" i="0">
                <a:solidFill>
                  <a:srgbClr val="E8EDF2"/>
                </a:solidFill>
                <a:latin typeface="Consolas"/>
              </a:rPr>
              <a:t>max_iter</a:t>
            </a:r>
            <a:r>
              <a:rPr sz="1800" i="0">
                <a:solidFill>
                  <a:srgbClr val="AEB6BF"/>
                </a:solidFill>
                <a:latin typeface="Consolas"/>
              </a:rPr>
              <a:t>=</a:t>
            </a:r>
            <a:r>
              <a:rPr sz="1800" i="0">
                <a:solidFill>
                  <a:srgbClr val="F7DC6F"/>
                </a:solidFill>
                <a:latin typeface="Consolas"/>
              </a:rPr>
              <a:t>1000</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soft</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iris</a:t>
            </a:r>
            <a:r>
              <a:rPr sz="1800" i="0">
                <a:solidFill>
                  <a:srgbClr val="AEB6BF"/>
                </a:solidFill>
                <a:latin typeface="Consolas"/>
              </a:rPr>
              <a:t>.</a:t>
            </a:r>
            <a:r>
              <a:rPr sz="1800" i="0">
                <a:solidFill>
                  <a:srgbClr val="E8EDF2"/>
                </a:solidFill>
                <a:latin typeface="Consolas"/>
              </a:rPr>
              <a:t>data</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iris</a:t>
            </a:r>
            <a:r>
              <a:rPr sz="1800" i="0">
                <a:solidFill>
                  <a:srgbClr val="AEB6BF"/>
                </a:solidFill>
                <a:latin typeface="Consolas"/>
              </a:rPr>
              <a:t>.</a:t>
            </a:r>
            <a:r>
              <a:rPr sz="1800" i="0">
                <a:solidFill>
                  <a:srgbClr val="E8EDF2"/>
                </a:solidFill>
                <a:latin typeface="Consolas"/>
              </a:rPr>
              <a:t>target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softmax probabilities for flower 60:</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soft</a:t>
            </a:r>
            <a:r>
              <a:rPr sz="1800" i="0">
                <a:solidFill>
                  <a:srgbClr val="AEB6BF"/>
                </a:solidFill>
                <a:latin typeface="Consolas"/>
              </a:rPr>
              <a:t>.</a:t>
            </a:r>
            <a:r>
              <a:rPr sz="1800" i="0">
                <a:solidFill>
                  <a:srgbClr val="E8EDF2"/>
                </a:solidFill>
                <a:latin typeface="Consolas"/>
              </a:rPr>
              <a:t>predict_proba</a:t>
            </a:r>
            <a:r>
              <a:rPr sz="1800" i="0">
                <a:solidFill>
                  <a:srgbClr val="AEB6BF"/>
                </a:solidFill>
                <a:latin typeface="Consolas"/>
              </a:rPr>
              <a:t>(</a:t>
            </a:r>
            <a:r>
              <a:rPr sz="1800" i="0">
                <a:solidFill>
                  <a:srgbClr val="E8EDF2"/>
                </a:solidFill>
                <a:latin typeface="Consolas"/>
              </a:rPr>
              <a:t>iris</a:t>
            </a:r>
            <a:r>
              <a:rPr sz="1800" i="0">
                <a:solidFill>
                  <a:srgbClr val="AEB6BF"/>
                </a:solidFill>
                <a:latin typeface="Consolas"/>
              </a:rPr>
              <a:t>.</a:t>
            </a:r>
            <a:r>
              <a:rPr sz="1800" i="0">
                <a:solidFill>
                  <a:srgbClr val="E8EDF2"/>
                </a:solidFill>
                <a:latin typeface="Consolas"/>
              </a:rPr>
              <a:t>data</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60</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round</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17556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43</a:t>
            </a:r>
          </a:p>
          <a:p>
            <a:pPr algn="r">
              <a:lnSpc>
                <a:spcPct val="100000"/>
              </a:lnSpc>
            </a:pPr>
            <a:r>
              <a:rPr sz="1800">
                <a:solidFill>
                  <a:srgbClr val="4F5D6A"/>
                </a:solidFill>
                <a:latin typeface="Consolas"/>
              </a:rPr>
              <a:t>44</a:t>
            </a:r>
          </a:p>
          <a:p>
            <a:pPr algn="r">
              <a:lnSpc>
                <a:spcPct val="100000"/>
              </a:lnSpc>
            </a:pPr>
            <a:r>
              <a:rPr sz="1800">
                <a:solidFill>
                  <a:srgbClr val="4F5D6A"/>
                </a:solidFill>
                <a:latin typeface="Consolas"/>
              </a:rPr>
              <a:t>45</a:t>
            </a:r>
          </a:p>
          <a:p>
            <a:pPr algn="r">
              <a:lnSpc>
                <a:spcPct val="100000"/>
              </a:lnSpc>
            </a:pPr>
            <a:r>
              <a:rPr sz="1800">
                <a:solidFill>
                  <a:srgbClr val="4F5D6A"/>
                </a:solidFill>
                <a:latin typeface="Consolas"/>
              </a:rPr>
              <a:t>46</a:t>
            </a:r>
          </a:p>
          <a:p>
            <a:pPr algn="r">
              <a:lnSpc>
                <a:spcPct val="100000"/>
              </a:lnSpc>
            </a:pPr>
            <a:r>
              <a:rPr sz="1800">
                <a:solidFill>
                  <a:srgbClr val="4F5D6A"/>
                </a:solidFill>
                <a:latin typeface="Consolas"/>
              </a:rPr>
              <a:t>47</a:t>
            </a:r>
          </a:p>
          <a:p>
            <a:pPr algn="r">
              <a:lnSpc>
                <a:spcPct val="100000"/>
              </a:lnSpc>
            </a:pPr>
            <a:r>
              <a:rPr sz="1800">
                <a:solidFill>
                  <a:srgbClr val="4F5D6A"/>
                </a:solidFill>
                <a:latin typeface="Consolas"/>
              </a:rPr>
              <a:t>48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6964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  ·  Handout p. 48     </a:t>
            </a:r>
            <a:fld id="{3F410395-0781-40DC-9C0D-8FD7F3ED8C58}" type="slidenum">
              <a:rPr lang="en-GB" sz="1000">
                <a:solidFill>
                  <a:srgbClr val="8795A1"/>
                </a:solidFill>
                <a:latin typeface="Segoe UI"/>
              </a:rPr>
              <a:t>33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In part 1, change the range to 50,000 steps. Does the boundary move? Do the weights? Explain both answers.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94057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model gives </a:t>
            </a:r>
            <a:r>
              <a:rPr sz="3400" b="0" i="1">
                <a:solidFill>
                  <a:srgbClr val="FFFFFF"/>
                </a:solidFill>
                <a:latin typeface="Cambria"/>
              </a:rPr>
              <a:t>z</a:t>
            </a:r>
            <a:r>
              <a:rPr sz="3400" b="0" i="0">
                <a:solidFill>
                  <a:srgbClr val="FFFFFF"/>
                </a:solidFill>
                <a:latin typeface="Cambria"/>
              </a:rPr>
              <a:t> = 1.2</a:t>
            </a:r>
            <a:r>
              <a:rPr sz="3400" b="0" i="0">
                <a:solidFill>
                  <a:srgbClr val="FFFFFF"/>
                </a:solidFill>
                <a:latin typeface="Segoe UI Semibold"/>
              </a:rPr>
              <a:t> for an e-mail. What is the probability that it is phishing, and what are the odds?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6  ·  Logistic Regression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51  ·  answers in Appendix D     </a:t>
            </a:r>
            <a:fld id="{7D97A192-027F-450E-B4E4-20734793E027}"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model gives </a:t>
            </a:r>
            <a:r>
              <a:rPr sz="2400" b="0" i="1">
                <a:solidFill>
                  <a:srgbClr val="1A5276"/>
                </a:solidFill>
                <a:latin typeface="Cambria"/>
              </a:rPr>
              <a:t>z</a:t>
            </a:r>
            <a:r>
              <a:rPr sz="2400" b="0" i="0">
                <a:solidFill>
                  <a:srgbClr val="1A5276"/>
                </a:solidFill>
                <a:latin typeface="Cambria"/>
              </a:rPr>
              <a:t> = 1.2</a:t>
            </a:r>
            <a:r>
              <a:rPr sz="2400" b="0" i="0">
                <a:solidFill>
                  <a:srgbClr val="1A5276"/>
                </a:solidFill>
                <a:latin typeface="Segoe UI Semibold"/>
              </a:rPr>
              <a:t> for an e-mail. What is the probability that it is phishing, and what are the odds?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Cambria"/>
              </a:rPr>
              <a:t>p</a:t>
            </a:r>
            <a:r>
              <a:rPr sz="2200" b="0" i="0">
                <a:solidFill>
                  <a:srgbClr val="1C252B"/>
                </a:solidFill>
                <a:latin typeface="Cambria"/>
              </a:rPr>
              <a:t> = 1/(1 + </a:t>
            </a:r>
            <a:r>
              <a:rPr sz="2200" b="0" i="1">
                <a:solidFill>
                  <a:srgbClr val="1C252B"/>
                </a:solidFill>
                <a:latin typeface="Cambria"/>
              </a:rPr>
              <a:t>e</a:t>
            </a:r>
            <a:r>
              <a:rPr sz="2200" b="0" i="0" baseline="30000">
                <a:solidFill>
                  <a:srgbClr val="1C252B"/>
                </a:solidFill>
                <a:latin typeface="Cambria"/>
              </a:rPr>
              <a:t>−1.2</a:t>
            </a:r>
            <a:r>
              <a:rPr sz="2200" b="0" i="0">
                <a:solidFill>
                  <a:srgbClr val="1C252B"/>
                </a:solidFill>
                <a:latin typeface="Cambria"/>
              </a:rPr>
              <a:t>) = 1/1.301 = 0.769</a:t>
            </a:r>
            <a:r>
              <a:rPr sz="2200" b="0" i="0">
                <a:solidFill>
                  <a:srgbClr val="1C252B"/>
                </a:solidFill>
                <a:latin typeface="Segoe UI"/>
              </a:rPr>
              <a:t>; odds </a:t>
            </a:r>
            <a:r>
              <a:rPr sz="2200" b="0" i="0">
                <a:solidFill>
                  <a:srgbClr val="1C252B"/>
                </a:solidFill>
                <a:latin typeface="Cambria"/>
              </a:rPr>
              <a:t>= </a:t>
            </a:r>
            <a:r>
              <a:rPr sz="2200" b="0" i="1">
                <a:solidFill>
                  <a:srgbClr val="1C252B"/>
                </a:solidFill>
                <a:latin typeface="Cambria"/>
              </a:rPr>
              <a:t>e</a:t>
            </a:r>
            <a:r>
              <a:rPr sz="2200" b="0" i="0" baseline="30000">
                <a:solidFill>
                  <a:srgbClr val="1C252B"/>
                </a:solidFill>
                <a:latin typeface="Cambria"/>
              </a:rPr>
              <a:t>1.2</a:t>
            </a:r>
            <a:r>
              <a:rPr sz="2200" b="0" i="0">
                <a:solidFill>
                  <a:srgbClr val="1C252B"/>
                </a:solidFill>
                <a:latin typeface="Cambria"/>
              </a:rPr>
              <a:t> = 3.32</a:t>
            </a:r>
            <a:r>
              <a:rPr sz="2200" b="0" i="0">
                <a:solidFill>
                  <a:srgbClr val="1C252B"/>
                </a:solidFill>
                <a:latin typeface="Segoe UI"/>
              </a:rPr>
              <a:t> (about 10 to 3).</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51  ·  answers in Appendix D     </a:t>
            </a:r>
            <a:fld id="{EEC62517-EB7A-4CEA-81B1-44BEADCCC6E5}"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48242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weight is </a:t>
            </a:r>
            <a:r>
              <a:rPr sz="3400" b="0" i="0">
                <a:solidFill>
                  <a:srgbClr val="FFFFFF"/>
                </a:solidFill>
                <a:latin typeface="Cambria"/>
              </a:rPr>
              <a:t>+0.7</a:t>
            </a:r>
            <a:r>
              <a:rPr sz="3400" b="0" i="0">
                <a:solidFill>
                  <a:srgbClr val="FFFFFF"/>
                </a:solidFill>
                <a:latin typeface="Segoe UI Semibold"/>
              </a:rPr>
              <a:t>. By what factor does a one-unit increase in its feature multiply the odds?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6  ·  Logistic Regression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51  ·  answers in Appendix D     </a:t>
            </a:r>
            <a:fld id="{CB1507CE-9425-4E04-A7C8-FF32F255C9D0}"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weight is </a:t>
            </a:r>
            <a:r>
              <a:rPr sz="2400" b="0" i="0">
                <a:solidFill>
                  <a:srgbClr val="1A5276"/>
                </a:solidFill>
                <a:latin typeface="Cambria"/>
              </a:rPr>
              <a:t>+0.7</a:t>
            </a:r>
            <a:r>
              <a:rPr sz="2400" b="0" i="0">
                <a:solidFill>
                  <a:srgbClr val="1A5276"/>
                </a:solidFill>
                <a:latin typeface="Segoe UI Semibold"/>
              </a:rPr>
              <a:t>. By what factor does a one-unit increase in its feature multiply the odds?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Cambria"/>
              </a:rPr>
              <a:t>e</a:t>
            </a:r>
            <a:r>
              <a:rPr sz="2200" b="0" i="0" baseline="30000">
                <a:solidFill>
                  <a:srgbClr val="1C252B"/>
                </a:solidFill>
                <a:latin typeface="Cambria"/>
              </a:rPr>
              <a:t>0.7</a:t>
            </a:r>
            <a:r>
              <a:rPr sz="2200" b="0" i="0">
                <a:solidFill>
                  <a:srgbClr val="1C252B"/>
                </a:solidFill>
                <a:latin typeface="Cambria"/>
              </a:rPr>
              <a:t> = 2.01</a:t>
            </a:r>
            <a:r>
              <a:rPr sz="2200" b="0" i="0">
                <a:solidFill>
                  <a:srgbClr val="1C252B"/>
                </a:solidFill>
                <a:latin typeface="Segoe UI"/>
              </a:rPr>
              <a:t>: the odds roughly double.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51  ·  answers in Appendix D     </a:t>
            </a:r>
            <a:fld id="{B81BDBAA-2DC5-4788-A48E-B82673786E85}"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02428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Which costs more under cross-entropy: predicting 0.4 for a positive example, or 0.4 for a negative one? Compute both.</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6  ·  Logistic Regression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51  ·  answers in Appendix D     </a:t>
            </a:r>
            <a:fld id="{5E656778-CCC5-402E-82DA-44983B0B99E9}" type="slidenum">
              <a:rPr lang="en-GB" sz="1000">
                <a:solidFill>
                  <a:srgbClr val="D5DEE5"/>
                </a:solidFill>
                <a:latin typeface="Segoe UI"/>
              </a:rPr>
              <a:t>38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Which costs more under cross-entropy: predicting 0.4 for a positive example, or 0.4 for a negative one? Compute both.</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positive predicted at 0.4 costs </a:t>
            </a:r>
            <a:r>
              <a:rPr sz="2200" b="0" i="0">
                <a:solidFill>
                  <a:srgbClr val="1C252B"/>
                </a:solidFill>
                <a:latin typeface="Cambria"/>
              </a:rPr>
              <a:t>−ln 0.4 = 0.916</a:t>
            </a:r>
            <a:r>
              <a:rPr sz="2200" b="0" i="0">
                <a:solidFill>
                  <a:srgbClr val="1C252B"/>
                </a:solidFill>
                <a:latin typeface="Segoe UI"/>
              </a:rPr>
              <a:t>; a negative predicted at 0.4 costs </a:t>
            </a:r>
            <a:r>
              <a:rPr sz="2200" b="0" i="0">
                <a:solidFill>
                  <a:srgbClr val="1C252B"/>
                </a:solidFill>
                <a:latin typeface="Cambria"/>
              </a:rPr>
              <a:t>−ln 0.6 = 0.511</a:t>
            </a:r>
            <a:r>
              <a:rPr sz="2200" b="0" i="0">
                <a:solidFill>
                  <a:srgbClr val="1C252B"/>
                </a:solidFill>
                <a:latin typeface="Segoe UI"/>
              </a:rPr>
              <a:t>. The positive costs more, because 0.4 is further from its true label.</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51  ·  answers in Appendix D     </a:t>
            </a:r>
            <a:fld id="{434EB167-1007-425F-A276-D79752B6CE3F}" type="slidenum">
              <a:rPr lang="en-GB" sz="1000">
                <a:solidFill>
                  <a:srgbClr val="8795A1"/>
                </a:solidFill>
                <a:latin typeface="Segoe UI"/>
              </a:rPr>
              <a:t>39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56613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51     </a:t>
            </a:r>
            <a:fld id="{FF4758B8-F35F-4514-AAD7-4B12C1BC2D29}" type="slidenum">
              <a:rPr lang="en-GB" sz="1000">
                <a:solidFill>
                  <a:srgbClr val="8795A1"/>
                </a:solidFill>
                <a:latin typeface="Segoe UI"/>
              </a:rPr>
              <a:t>40</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Linear regression is unsuitable for classification: its outputs leave </a:t>
            </a:r>
            <a:r>
              <a:rPr sz="2100" b="0" i="0">
                <a:solidFill>
                  <a:srgbClr val="1C252B"/>
                </a:solidFill>
                <a:latin typeface="Cambria"/>
              </a:rPr>
              <a:t>[0,1]</a:t>
            </a:r>
            <a:r>
              <a:rPr sz="2100" b="0" i="0">
                <a:solidFill>
                  <a:srgbClr val="1C252B"/>
                </a:solidFill>
                <a:latin typeface="Segoe UI"/>
              </a:rPr>
              <a:t> and easy cases distort its boundary.</a:t>
            </a:r>
          </a:p>
        </p:txBody>
      </p:sp>
      <p:sp>
        <p:nvSpPr>
          <p:cNvPr id="10" name="!!sb1">
            <a:extLst>
              <a:ext uri="{C183D7F6-B498-43B3-948B-1728B52AA6E4}">
                <adec:decorative xmlns:adec="http://schemas.microsoft.com/office/drawing/2017/decorative" val="1"/>
              </a:ext>
            </a:extLst>
          </p:cNvPr>
          <p:cNvSpPr/>
          <p:nvPr/>
        </p:nvSpPr>
        <p:spPr>
          <a:xfrm>
            <a:off x="658368" y="25950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499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85923"/>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Logistic regression passes a linear score through the sigmoid, </a:t>
            </a:r>
            <a:r>
              <a:rPr sz="2100" b="0" i="1">
                <a:solidFill>
                  <a:srgbClr val="1C252B"/>
                </a:solidFill>
                <a:latin typeface="Cambria"/>
              </a:rPr>
              <a:t>p</a:t>
            </a:r>
            <a:r>
              <a:rPr sz="2100" b="0" i="0">
                <a:solidFill>
                  <a:srgbClr val="1C252B"/>
                </a:solidFill>
                <a:latin typeface="Cambria"/>
              </a:rPr>
              <a:t> = 1/(1 + </a:t>
            </a:r>
            <a:r>
              <a:rPr sz="2100" b="0" i="1">
                <a:solidFill>
                  <a:srgbClr val="1C252B"/>
                </a:solidFill>
                <a:latin typeface="Cambria"/>
              </a:rPr>
              <a:t>e</a:t>
            </a:r>
            <a:r>
              <a:rPr sz="2100" b="0" i="0" baseline="30000">
                <a:solidFill>
                  <a:srgbClr val="1C252B"/>
                </a:solidFill>
                <a:latin typeface="Cambria"/>
              </a:rPr>
              <a:t>−</a:t>
            </a:r>
            <a:r>
              <a:rPr sz="2100" b="0" i="1" baseline="30000">
                <a:solidFill>
                  <a:srgbClr val="1C252B"/>
                </a:solidFill>
                <a:latin typeface="Cambria"/>
              </a:rPr>
              <a:t>z</a:t>
            </a:r>
            <a:r>
              <a:rPr sz="2100" b="0" i="0">
                <a:solidFill>
                  <a:srgbClr val="1C252B"/>
                </a:solidFill>
                <a:latin typeface="Cambria"/>
              </a:rPr>
              <a:t>)</a:t>
            </a:r>
            <a:r>
              <a:rPr sz="2100" b="0" i="0">
                <a:solidFill>
                  <a:srgbClr val="1C252B"/>
                </a:solidFill>
                <a:latin typeface="Segoe UI"/>
              </a:rPr>
              <a:t>; the score is the log-odds of class 1.</a:t>
            </a:r>
          </a:p>
        </p:txBody>
      </p:sp>
      <p:sp>
        <p:nvSpPr>
          <p:cNvPr id="13" name="!!sb2">
            <a:extLst>
              <a:ext uri="{C183D7F6-B498-43B3-948B-1728B52AA6E4}">
                <adec:decorative xmlns:adec="http://schemas.microsoft.com/office/drawing/2017/decorative" val="1"/>
              </a:ext>
            </a:extLst>
          </p:cNvPr>
          <p:cNvSpPr/>
          <p:nvPr/>
        </p:nvSpPr>
        <p:spPr>
          <a:xfrm>
            <a:off x="658368" y="344363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9849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34486"/>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Each weight changes the log-odds by </a:t>
            </a:r>
            <a:r>
              <a:rPr sz="2100" b="0" i="1">
                <a:solidFill>
                  <a:srgbClr val="1C252B"/>
                </a:solidFill>
                <a:latin typeface="Cambria"/>
              </a:rPr>
              <a:t>w</a:t>
            </a:r>
            <a:r>
              <a:rPr sz="2100" b="0" i="0">
                <a:solidFill>
                  <a:srgbClr val="1C252B"/>
                </a:solidFill>
                <a:latin typeface="Segoe UI"/>
              </a:rPr>
              <a:t> per unit; </a:t>
            </a:r>
            <a:r>
              <a:rPr sz="2100" b="0" i="1">
                <a:solidFill>
                  <a:srgbClr val="1C252B"/>
                </a:solidFill>
                <a:latin typeface="Cambria"/>
              </a:rPr>
              <a:t>e</a:t>
            </a:r>
            <a:r>
              <a:rPr sz="2100" b="0" i="1" baseline="30000">
                <a:solidFill>
                  <a:srgbClr val="1C252B"/>
                </a:solidFill>
                <a:latin typeface="Cambria"/>
              </a:rPr>
              <a:t>w</a:t>
            </a:r>
            <a:r>
              <a:rPr sz="2100" b="0" i="0">
                <a:solidFill>
                  <a:srgbClr val="1C252B"/>
                </a:solidFill>
                <a:latin typeface="Segoe UI"/>
              </a:rPr>
              <a:t> is the odds ratio.</a:t>
            </a:r>
          </a:p>
        </p:txBody>
      </p:sp>
      <p:sp>
        <p:nvSpPr>
          <p:cNvPr id="16" name="!!sb3">
            <a:extLst>
              <a:ext uri="{C183D7F6-B498-43B3-948B-1728B52AA6E4}">
                <adec:decorative xmlns:adec="http://schemas.microsoft.com/office/drawing/2017/decorative" val="1"/>
              </a:ext>
            </a:extLst>
          </p:cNvPr>
          <p:cNvSpPr/>
          <p:nvPr/>
        </p:nvSpPr>
        <p:spPr>
          <a:xfrm>
            <a:off x="658368" y="402884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8371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019702"/>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decision boundary </a:t>
            </a:r>
            <a:r>
              <a:rPr sz="2100" b="1" i="1">
                <a:solidFill>
                  <a:srgbClr val="1C252B"/>
                </a:solidFill>
                <a:latin typeface="Cambria"/>
              </a:rPr>
              <a:t>w</a:t>
            </a:r>
            <a:r>
              <a:rPr sz="2100" b="0" i="0">
                <a:solidFill>
                  <a:srgbClr val="1C252B"/>
                </a:solidFill>
                <a:latin typeface="Cambria"/>
              </a:rPr>
              <a:t>·</a:t>
            </a:r>
            <a:r>
              <a:rPr sz="2100" b="1" i="1">
                <a:solidFill>
                  <a:srgbClr val="1C252B"/>
                </a:solidFill>
                <a:latin typeface="Cambria"/>
              </a:rPr>
              <a:t>x</a:t>
            </a:r>
            <a:r>
              <a:rPr sz="2100" b="0" i="0">
                <a:solidFill>
                  <a:srgbClr val="1C252B"/>
                </a:solidFill>
                <a:latin typeface="Cambria"/>
              </a:rPr>
              <a:t> + </a:t>
            </a:r>
            <a:r>
              <a:rPr sz="2100" b="0" i="1">
                <a:solidFill>
                  <a:srgbClr val="1C252B"/>
                </a:solidFill>
                <a:latin typeface="Cambria"/>
              </a:rPr>
              <a:t>b</a:t>
            </a:r>
            <a:r>
              <a:rPr sz="2100" b="0" i="0">
                <a:solidFill>
                  <a:srgbClr val="1C252B"/>
                </a:solidFill>
                <a:latin typeface="Cambria"/>
              </a:rPr>
              <a:t> = 0</a:t>
            </a:r>
            <a:r>
              <a:rPr sz="2100" b="0" i="0">
                <a:solidFill>
                  <a:srgbClr val="1C252B"/>
                </a:solidFill>
                <a:latin typeface="Segoe UI"/>
              </a:rPr>
              <a:t> is linear.</a:t>
            </a:r>
          </a:p>
        </p:txBody>
      </p:sp>
      <p:sp>
        <p:nvSpPr>
          <p:cNvPr id="19" name="!!sb4">
            <a:extLst>
              <a:ext uri="{C183D7F6-B498-43B3-948B-1728B52AA6E4}">
                <adec:decorative xmlns:adec="http://schemas.microsoft.com/office/drawing/2017/decorative" val="1"/>
              </a:ext>
            </a:extLst>
          </p:cNvPr>
          <p:cNvSpPr/>
          <p:nvPr/>
        </p:nvSpPr>
        <p:spPr>
          <a:xfrm>
            <a:off x="658368" y="461406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6892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04918"/>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Cross-entropy is the maximum likelihood loss; it is convex and punishes confident mistakes heavily. Its gradient is the mean of </a:t>
            </a:r>
            <a:r>
              <a:rPr sz="2100" b="0" i="0">
                <a:solidFill>
                  <a:srgbClr val="1C252B"/>
                </a:solidFill>
                <a:latin typeface="Cambria"/>
              </a:rPr>
              <a:t>(</a:t>
            </a:r>
            <a:r>
              <a:rPr sz="2100" b="0" i="1">
                <a:solidFill>
                  <a:srgbClr val="1C252B"/>
                </a:solidFill>
                <a:latin typeface="Cambria"/>
              </a:rPr>
              <a:t>p</a:t>
            </a:r>
            <a:r>
              <a:rPr sz="2100" b="0" i="0">
                <a:solidFill>
                  <a:srgbClr val="1C252B"/>
                </a:solidFill>
                <a:latin typeface="Cambria"/>
              </a:rPr>
              <a:t> − </a:t>
            </a:r>
            <a:r>
              <a:rPr sz="2100" b="0" i="1">
                <a:solidFill>
                  <a:srgbClr val="1C252B"/>
                </a:solidFill>
                <a:latin typeface="Cambria"/>
              </a:rPr>
              <a:t>y</a:t>
            </a:r>
            <a:r>
              <a:rPr sz="2100" b="0" i="0">
                <a:solidFill>
                  <a:srgbClr val="1C252B"/>
                </a:solidFill>
                <a:latin typeface="Cambria"/>
              </a:rPr>
              <a:t>) ×</a:t>
            </a:r>
            <a:r>
              <a:rPr sz="2100" b="0" i="0">
                <a:solidFill>
                  <a:srgbClr val="1C252B"/>
                </a:solidFill>
                <a:latin typeface="Segoe UI"/>
              </a:rPr>
              <a:t> feature.</a:t>
            </a:r>
          </a:p>
        </p:txBody>
      </p:sp>
      <p:sp>
        <p:nvSpPr>
          <p:cNvPr id="22" name="!!sb5">
            <a:extLst>
              <a:ext uri="{C183D7F6-B498-43B3-948B-1728B52AA6E4}">
                <adec:decorative xmlns:adec="http://schemas.microsoft.com/office/drawing/2017/decorative" val="1"/>
              </a:ext>
            </a:extLst>
          </p:cNvPr>
          <p:cNvSpPr/>
          <p:nvPr/>
        </p:nvSpPr>
        <p:spPr>
          <a:xfrm>
            <a:off x="658368" y="546262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51748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453481"/>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Softmax extends the model to </a:t>
            </a:r>
            <a:r>
              <a:rPr sz="2100" b="0" i="1">
                <a:solidFill>
                  <a:srgbClr val="1C252B"/>
                </a:solidFill>
                <a:latin typeface="Cambria"/>
              </a:rPr>
              <a:t>k</a:t>
            </a:r>
            <a:r>
              <a:rPr sz="2100" b="0" i="0">
                <a:solidFill>
                  <a:srgbClr val="1C252B"/>
                </a:solidFill>
                <a:latin typeface="Segoe UI"/>
              </a:rPr>
              <a:t> classes; on separable data the weights grow without limit unless regularised.</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83706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51     </a:t>
            </a:r>
            <a:fld id="{2A09A746-4D26-40B9-BE16-D123CF5C1DC3}" type="slidenum">
              <a:rPr lang="en-GB" sz="1000">
                <a:solidFill>
                  <a:srgbClr val="8795A1"/>
                </a:solidFill>
                <a:latin typeface="Segoe UI"/>
              </a:rPr>
              <a:t>41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Cambria"/>
              </a:rPr>
              <a:t>σ(0)</a:t>
            </a:r>
            <a:r>
              <a:rPr sz="2600" b="0" i="0">
                <a:solidFill>
                  <a:srgbClr val="1C252B"/>
                </a:solidFill>
                <a:latin typeface="Segoe UI"/>
              </a:rPr>
              <a:t> equals: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0</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0.5</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1</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e</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10798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51     </a:t>
            </a:r>
            <a:fld id="{DD238A61-CC64-4B26-8C90-122B8C68A327}" type="slidenum">
              <a:rPr lang="en-GB" sz="1000">
                <a:solidFill>
                  <a:srgbClr val="8795A1"/>
                </a:solidFill>
                <a:latin typeface="Segoe UI"/>
              </a:rPr>
              <a:t>42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decision boundary of logistic regression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sigmoid curve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hyperplane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circle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any shape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7891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51     </a:t>
            </a:r>
            <a:fld id="{F09C277A-C06A-4E69-AC79-485644BEE53E}" type="slidenum">
              <a:rPr lang="en-GB" sz="1000">
                <a:solidFill>
                  <a:srgbClr val="8795A1"/>
                </a:solidFill>
                <a:latin typeface="Segoe UI"/>
              </a:rPr>
              <a:t>43</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probability of 0.75 corresponds to odds of:</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0.75</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1.33</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3</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4</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4984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6  ·  Logistic Regression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51     </a:t>
            </a:r>
            <a:fld id="{312162F6-B39E-4F38-8B14-D32E1E4C2B64}" type="slidenum">
              <a:rPr lang="en-GB" sz="1000">
                <a:solidFill>
                  <a:srgbClr val="8795A1"/>
                </a:solidFill>
                <a:latin typeface="Segoe UI"/>
              </a:rPr>
              <a:t>44</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cross-entropy rather than squared error is used to train logistic regression.</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What happens to logistic regression’s weights on data that a straight line separates perfectly, and why?</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Contrast one-vs-rest with softmax regression.</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With </a:t>
            </a:r>
            <a:r>
              <a:rPr sz="1900" b="0" i="1">
                <a:solidFill>
                  <a:srgbClr val="1C252B"/>
                </a:solidFill>
                <a:latin typeface="Cambria"/>
              </a:rPr>
              <a:t>z</a:t>
            </a:r>
            <a:r>
              <a:rPr sz="1900" b="0" i="0">
                <a:solidFill>
                  <a:srgbClr val="1C252B"/>
                </a:solidFill>
                <a:latin typeface="Cambria"/>
              </a:rPr>
              <a:t> = −3 + 2</a:t>
            </a:r>
            <a:r>
              <a:rPr sz="1900" b="0" i="1">
                <a:solidFill>
                  <a:srgbClr val="1C252B"/>
                </a:solidFill>
                <a:latin typeface="Cambria"/>
              </a:rPr>
              <a:t>x</a:t>
            </a:r>
            <a:r>
              <a:rPr sz="1900" b="0" i="0" baseline="-25000">
                <a:solidFill>
                  <a:srgbClr val="1C252B"/>
                </a:solidFill>
                <a:latin typeface="Cambria"/>
              </a:rPr>
              <a:t>1</a:t>
            </a:r>
            <a:r>
              <a:rPr sz="1900" b="0" i="0">
                <a:solidFill>
                  <a:srgbClr val="1C252B"/>
                </a:solidFill>
                <a:latin typeface="Cambria"/>
              </a:rPr>
              <a:t> + 0.5</a:t>
            </a:r>
            <a:r>
              <a:rPr sz="1900" b="0" i="1">
                <a:solidFill>
                  <a:srgbClr val="1C252B"/>
                </a:solidFill>
                <a:latin typeface="Cambria"/>
              </a:rPr>
              <a:t>x</a:t>
            </a:r>
            <a:r>
              <a:rPr sz="1900" b="0" i="0" baseline="-25000">
                <a:solidFill>
                  <a:srgbClr val="1C252B"/>
                </a:solidFill>
                <a:latin typeface="Cambria"/>
              </a:rPr>
              <a:t>2</a:t>
            </a:r>
            <a:r>
              <a:rPr sz="1900" b="0" i="0">
                <a:solidFill>
                  <a:srgbClr val="1C252B"/>
                </a:solidFill>
                <a:latin typeface="Segoe UI"/>
              </a:rPr>
              <a:t>, compute the probability of class 1 for </a:t>
            </a:r>
            <a:r>
              <a:rPr sz="1900" b="0" i="0">
                <a:solidFill>
                  <a:srgbClr val="1C252B"/>
                </a:solidFill>
                <a:latin typeface="Cambria"/>
              </a:rPr>
              <a:t>(</a:t>
            </a:r>
            <a:r>
              <a:rPr sz="1900" b="0" i="1">
                <a:solidFill>
                  <a:srgbClr val="1C252B"/>
                </a:solidFill>
                <a:latin typeface="Cambria"/>
              </a:rPr>
              <a:t>x</a:t>
            </a:r>
            <a:r>
              <a:rPr sz="1900" b="0" i="0" baseline="-25000">
                <a:solidFill>
                  <a:srgbClr val="1C252B"/>
                </a:solidFill>
                <a:latin typeface="Cambria"/>
              </a:rPr>
              <a:t>1</a:t>
            </a:r>
            <a:r>
              <a:rPr sz="1900" b="0" i="0">
                <a:solidFill>
                  <a:srgbClr val="1C252B"/>
                </a:solidFill>
                <a:latin typeface="Cambria"/>
              </a:rPr>
              <a:t>, </a:t>
            </a:r>
            <a:r>
              <a:rPr sz="1900" b="0" i="1">
                <a:solidFill>
                  <a:srgbClr val="1C252B"/>
                </a:solidFill>
                <a:latin typeface="Cambria"/>
              </a:rPr>
              <a:t>x</a:t>
            </a:r>
            <a:r>
              <a:rPr sz="1900" b="0" i="0" baseline="-25000">
                <a:solidFill>
                  <a:srgbClr val="1C252B"/>
                </a:solidFill>
                <a:latin typeface="Cambria"/>
              </a:rPr>
              <a:t>2</a:t>
            </a:r>
            <a:r>
              <a:rPr sz="1900" b="0" i="0">
                <a:solidFill>
                  <a:srgbClr val="1C252B"/>
                </a:solidFill>
                <a:latin typeface="Cambria"/>
              </a:rPr>
              <a:t>) = (1, 2)</a:t>
            </a:r>
            <a:r>
              <a:rPr sz="1900" b="0" i="0">
                <a:solidFill>
                  <a:srgbClr val="1C252B"/>
                </a:solidFill>
                <a:latin typeface="Segoe UI"/>
              </a:rPr>
              <a:t> and </a:t>
            </a:r>
            <a:r>
              <a:rPr sz="1900" b="0" i="0">
                <a:solidFill>
                  <a:srgbClr val="1C252B"/>
                </a:solidFill>
                <a:latin typeface="Cambria"/>
              </a:rPr>
              <a:t>(2, 0)</a:t>
            </a:r>
            <a:r>
              <a:rPr sz="1900" b="0" i="0">
                <a:solidFill>
                  <a:srgbClr val="1C252B"/>
                </a:solidFill>
                <a:latin typeface="Segoe UI"/>
              </a:rPr>
              <a:t>. Write the equation of the decision boundary and state which side each point lies on.</a:t>
            </a:r>
          </a:p>
        </p:txBody>
      </p:sp>
      <p:sp>
        <p:nvSpPr>
          <p:cNvPr id="19" name="!!rt4">
            <a:extLst>
              <a:ext uri="{C183D7F6-B498-43B3-948B-1728B52AA6E4}">
                <adec:decorative xmlns:adec="http://schemas.microsoft.com/office/drawing/2017/decorative" val="1"/>
              </a:ext>
            </a:extLst>
          </p:cNvPr>
          <p:cNvSpPr/>
          <p:nvPr/>
        </p:nvSpPr>
        <p:spPr>
          <a:xfrm>
            <a:off x="658368" y="4440326"/>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48147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42203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Perform a second gradient descent step on the worked example, starting from </a:t>
            </a:r>
            <a:r>
              <a:rPr sz="1900" b="0" i="1">
                <a:solidFill>
                  <a:srgbClr val="1C252B"/>
                </a:solidFill>
                <a:latin typeface="Cambria"/>
              </a:rPr>
              <a:t>w</a:t>
            </a:r>
            <a:r>
              <a:rPr sz="1900" b="0" i="0">
                <a:solidFill>
                  <a:srgbClr val="1C252B"/>
                </a:solidFill>
                <a:latin typeface="Cambria"/>
              </a:rPr>
              <a:t> = 0.5</a:t>
            </a:r>
            <a:r>
              <a:rPr sz="1900" b="0" i="0">
                <a:solidFill>
                  <a:srgbClr val="1C252B"/>
                </a:solidFill>
                <a:latin typeface="Segoe UI"/>
              </a:rPr>
              <a:t>, </a:t>
            </a:r>
            <a:r>
              <a:rPr sz="1900" b="0" i="1">
                <a:solidFill>
                  <a:srgbClr val="1C252B"/>
                </a:solidFill>
                <a:latin typeface="Cambria"/>
              </a:rPr>
              <a:t>b</a:t>
            </a:r>
            <a:r>
              <a:rPr sz="1900" b="0" i="0">
                <a:solidFill>
                  <a:srgbClr val="1C252B"/>
                </a:solidFill>
                <a:latin typeface="Cambria"/>
              </a:rPr>
              <a:t> = 0</a:t>
            </a:r>
            <a:r>
              <a:rPr sz="1900" b="0" i="0">
                <a:solidFill>
                  <a:srgbClr val="1C252B"/>
                </a:solidFill>
                <a:latin typeface="Segoe UI"/>
              </a:rPr>
              <a:t>, with </a:t>
            </a:r>
            <a:r>
              <a:rPr sz="1900" b="0" i="0">
                <a:solidFill>
                  <a:srgbClr val="1C252B"/>
                </a:solidFill>
                <a:latin typeface="Cambria"/>
              </a:rPr>
              <a:t>α = 1</a:t>
            </a:r>
            <a:r>
              <a:rPr sz="1900" b="0" i="0">
                <a:solidFill>
                  <a:srgbClr val="1C252B"/>
                </a:solidFill>
                <a:latin typeface="Segoe UI"/>
              </a:rPr>
              <a: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2076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5739D"/>
                </a:solidFill>
                <a:latin typeface="Segoe UI Black"/>
              </a:rPr>
              <a:t>06</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6</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7 — Overfitting, Bias–Variance and Regularisation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6, pages 45–51</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Logistic regression by hand and by library</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1 set</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6  ·  Logistic Regression</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9CC504FF-2FEC-4011-8A39-D11B6841A8E9}" type="slidenum">
              <a:rPr lang="en-GB" sz="1000">
                <a:solidFill>
                  <a:srgbClr val="D5DEE5"/>
                </a:solidFill>
                <a:latin typeface="Segoe UI"/>
              </a:rPr>
              <a:t>45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Logistic Regression</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