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0.svg" ContentType="image/svg+xml"/>
  <Override PartName="/ppt/media/image12.svg" ContentType="image/svg+xml"/>
  <Override PartName="/ppt/media/image14.svg" ContentType="image/svg+xml"/>
  <Override PartName="/ppt/media/image16.svg" ContentType="image/svg+xml"/>
  <Override PartName="/ppt/media/image18.svg" ContentType="image/svg+xml"/>
  <Override PartName="/ppt/media/image19.svg" ContentType="image/svg+xml"/>
  <Override PartName="/ppt/media/image21.svg" ContentType="image/svg+xml"/>
  <Override PartName="/ppt/media/image23.svg" ContentType="image/svg+xml"/>
  <Override PartName="/ppt/media/image25.svg" ContentType="image/svg+xml"/>
  <Override PartName="/ppt/media/image27.svg" ContentType="image/svg+xml"/>
  <Override PartName="/ppt/media/image28.svg" ContentType="image/svg+xml"/>
  <Override PartName="/ppt/media/image30.svg" ContentType="image/svg+xml"/>
  <Override PartName="/ppt/media/image32.svg" ContentType="image/svg+xml"/>
  <Override PartName="/ppt/media/image33.svg" ContentType="image/svg+xml"/>
  <Override PartName="/ppt/media/image35.svg" ContentType="image/svg+xml"/>
  <Override PartName="/ppt/media/image36.svg" ContentType="image/svg+xml"/>
  <Override PartName="/ppt/media/image38.svg" ContentType="image/svg+xml"/>
  <Override PartName="/ppt/media/image4.svg" ContentType="image/svg+xml"/>
  <Override PartName="/ppt/media/image40.svg" ContentType="image/svg+xml"/>
  <Override PartName="/ppt/media/image42.svg" ContentType="image/svg+xml"/>
  <Override PartName="/ppt/media/image43.svg" ContentType="image/svg+xml"/>
  <Override PartName="/ppt/media/image45.svg" ContentType="image/svg+xml"/>
  <Override PartName="/ppt/media/image46.svg" ContentType="image/svg+xml"/>
  <Override PartName="/ppt/media/image47.svg" ContentType="image/svg+xml"/>
  <Override PartName="/ppt/media/image49.svg" ContentType="image/svg+xml"/>
  <Override PartName="/ppt/media/image51.svg" ContentType="image/svg+xml"/>
  <Override PartName="/ppt/media/image52.svg" ContentType="image/svg+xml"/>
  <Override PartName="/ppt/media/image53.svg" ContentType="image/svg+xml"/>
  <Override PartName="/ppt/media/image54.svg" ContentType="image/svg+xml"/>
  <Override PartName="/ppt/media/image55.svg" ContentType="image/svg+xml"/>
  <Override PartName="/ppt/media/image56.svg" ContentType="image/svg+xml"/>
  <Override PartName="/ppt/media/image57.svg" ContentType="image/svg+xml"/>
  <Override PartName="/ppt/media/image59.svg" ContentType="image/svg+xml"/>
  <Override PartName="/ppt/media/image6.svg" ContentType="image/svg+xml"/>
  <Override PartName="/ppt/media/image61.svg" ContentType="image/svg+xml"/>
  <Override PartName="/ppt/media/image62.svg" ContentType="image/svg+xml"/>
  <Override PartName="/ppt/media/image63.svg" ContentType="image/svg+xml"/>
  <Override PartName="/ppt/media/image64.svg" ContentType="image/svg+xml"/>
  <Override PartName="/ppt/media/image65.svg" ContentType="image/svg+xml"/>
  <Override PartName="/ppt/media/image67.svg" ContentType="image/svg+xml"/>
  <Override PartName="/ppt/media/image69.svg" ContentType="image/svg+xml"/>
  <Override PartName="/ppt/media/image70.svg" ContentType="image/svg+xml"/>
  <Override PartName="/ppt/media/image71.svg" ContentType="image/svg+xml"/>
  <Override PartName="/ppt/media/image72.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337AB94-66E4-4B71-9140-E46060A1480F}">
          <p14:sldIdLst>
            <p14:sldId id="256"/>
            <p14:sldId id="257"/>
            <p14:sldId id="258"/>
            <p14:sldId id="259"/>
            <p14:sldId id="260"/>
          </p14:sldIdLst>
        </p14:section>
        <p14:section name="7.1 The Goal Is Generalisation" id="{849B0FC2-FE4C-4140-8CB8-5EC21C54132D}">
          <p14:sldIdLst>
            <p14:sldId id="261"/>
          </p14:sldIdLst>
        </p14:section>
        <p14:section name="7.2 Underfitting and Overfitting" id="{31D70405-8E0A-4E65-85F6-C00439204839}">
          <p14:sldIdLst>
            <p14:sldId id="262"/>
            <p14:sldId id="263"/>
            <p14:sldId id="264"/>
            <p14:sldId id="265"/>
          </p14:sldIdLst>
        </p14:section>
        <p14:section name="7.3 The Bias–Variance Decomposition" id="{AC99036C-C577-4965-89BF-301AE3620BEB}">
          <p14:sldIdLst>
            <p14:sldId id="266"/>
            <p14:sldId id="267"/>
            <p14:sldId id="268"/>
            <p14:sldId id="269"/>
            <p14:sldId id="270"/>
          </p14:sldIdLst>
        </p14:section>
        <p14:section name="7.4 Noisy Data" id="{9D774287-A0C1-4616-AC4A-16C6390E0AA9}">
          <p14:sldIdLst>
            <p14:sldId id="271"/>
          </p14:sldIdLst>
        </p14:section>
        <p14:section name="7.5 Diagnosing With Learning Curves" id="{80DA126B-D983-4C0F-A48B-FDBCAB2959AE}">
          <p14:sldIdLst>
            <p14:sldId id="272"/>
            <p14:sldId id="273"/>
            <p14:sldId id="274"/>
          </p14:sldIdLst>
        </p14:section>
        <p14:section name="7.6 Regularisation" id="{F60B7D2C-1AFB-4EE3-A8D6-B4F7411B52A4}">
          <p14:sldIdLst>
            <p14:sldId id="275"/>
            <p14:sldId id="276"/>
            <p14:sldId id="277"/>
            <p14:sldId id="278"/>
            <p14:sldId id="279"/>
          </p14:sldIdLst>
        </p14:section>
        <p14:section name="7.7 Model Selection With Cross-Validation" id="{7AA31324-6DB4-4460-B54D-19EB0F5EB083}">
          <p14:sldIdLst>
            <p14:sldId id="280"/>
            <p14:sldId id="281"/>
            <p14:sldId id="282"/>
            <p14:sldId id="283"/>
            <p14:sldId id="284"/>
          </p14:sldIdLst>
        </p14:section>
        <p14:section name="Pitfalls" id="{377DD93D-4626-4DA7-B004-01644AA29766}">
          <p14:sldIdLst>
            <p14:sldId id="285"/>
          </p14:sldIdLst>
        </p14:section>
        <p14:section name="Lab" id="{1C42D914-D6F8-4827-A798-1519883F8305}">
          <p14:sldIdLst>
            <p14:sldId id="286"/>
            <p14:sldId id="287"/>
            <p14:sldId id="288"/>
            <p14:sldId id="289"/>
            <p14:sldId id="290"/>
            <p14:sldId id="291"/>
            <p14:sldId id="292"/>
          </p14:sldIdLst>
        </p14:section>
        <p14:section name="Checkpoint" id="{EBCCAB33-DC13-429A-BF9E-35F08E221E65}">
          <p14:sldIdLst>
            <p14:sldId id="293"/>
            <p14:sldId id="294"/>
            <p14:sldId id="295"/>
            <p14:sldId id="296"/>
            <p14:sldId id="297"/>
            <p14:sldId id="298"/>
          </p14:sldIdLst>
        </p14:section>
        <p14:section name="Wrap-up" id="{6BCAA4DA-4CB4-4A77-A178-FBF60DB18A4C}">
          <p14:sldIdLst>
            <p14:sldId id="299"/>
            <p14:sldId id="300"/>
            <p14:sldId id="301"/>
            <p14:sldId id="302"/>
            <p14:sldId id="303"/>
            <p14:sldId id="304"/>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7: Overfitting, Bias–Variance and Regularisation. Part 2 — Linear Models and Generalization. Week 6: Overfitting, bias–variance, regularisation. Handout pages 51–58.</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Place the chapter. Before you start: Chapter 3 (training, validation and test sets; pipelines), Chapter 5 (polynomial features, MSE) and Chapter 6 (the growing weights on separable data).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these out: they are the chapter's contract with the room. Each click adds one.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define these now; they arrive one at a time. This slide is for the students' notes. Terms: generalisation; training error; true error; generalisation gap; underfitting; overfitting; model complexity; bias; variance; irreducible error (noise); learning curve; regularisation; ridge (L2); lasso (L1); hyperparameter; k-fold cross-validation; grid search; nested cross-validation.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route through the chapter. Each row is a link: click it to jump to that section in the slide show.</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in your own words first; the slide is the handout's wording.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Figure 7.1 fits polynomials of three degrees to the same ten noisy measurements of a smooth rise and fall: a team’s weekly ticket volume over one release cycle, which climbs after each release and falls as the fixes land (x is the position in the cycle, y the volume on a scaled axis). Degree 1 is too rigid to follow the curve at all. Degree 9 has ten coefficients for ten points, so it passes through every one of them — training error exactly zero — and swings wildly between them. Degree 3 follows the shape and ignores the noise.</a:t>
            </a:r>
          </a:p>
          <a:p/>
          <a:p>
            <a:r>
              <a:t>Figure 7.1 (handout p. 52): Three polynomials fitted to the same ten points (blue); the dashed curve is the true function. Training error falls from left to right and reaches zero at degree 9, which is nonetheless the worst of the three on new data.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Figure 7.2 (handout p. 52): Training and test error for the polynomials of Figure 7.1, degree 0 to 9, with the test error measured on 2,000 fresh samples. Training error only ever falls; test error falls, bottoms out, and rises. The shape of that second curve is the whole of this chapter.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does test error rise again? Imagine repeating the whole experiment many times: draw a fresh training set, fit the model, predict at one fixed input x0. The predictions scatter. Their average may miss the truth, and they may be spread widely around their own average. Those are two different failings.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Figure 7.3 (handout p. 53): Bias and variance as target practice. The goal is the top-left target; in practice lowering one tends to raise the other.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in your own words first; the slide is the handout's wording.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learning curve plots training and validation error against the number of training examples. Its shape tells you which of bias and variance is the problem, and therefore what to do.</a:t>
            </a:r>
          </a:p>
          <a:p/>
          <a:p>
            <a:r>
              <a:t>Figure 7.4 (handout p. 54): Learning curves. With high bias the curves meet early at an unacceptable level; with high variance there is a wide gap that more data would narrow.</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read the table row by row: pick the row the room is most likely to get wrong and ask why.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Choosing a lower polynomial degree is one way to control complexity, but a crude one: the degree jumps in whole steps. Regularisation controls it smoothly, by keeping the high-degree terms but charging the model for large weights.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Figure 7.5 (handout p. 55): Why lasso sets weights to zero. The regularised solution is where the smallest error ellipse (blue) first touches the region allowed by the penalty (green). A circle is touched at a generic point; a diamond is usually touched at a corner, where one weight is exactly zero.</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hyperparameter is a setting chosen before training — degree, λ, k, tree depth — as opposed to a parameter such as a weight, which training sets. Hyperparameters are chosen by validation error. With little data a single validation split is too noisy to trust, so it is replaced by cross-validation.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Figure 7.6 (handout p. 56): Five-fold cross-validation on the training data. The test set is not part of the rotation.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each pitfall, ask who has seen it happen. One real story beats five bullets.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what the room will have at the end of the lab, then let them start. Circulate rather than lecture.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Set-up.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A release cycle: ticket volume rises and falls, plus noise.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3: Complexity: training error against cross-validated error.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4: Keep degree 12, but regularise; choose alpha by CV.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5: Only now, once: the test set.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Variance (overfitting). Remedies: more data, stronger regularisation or a simpler model, fewer features, early stopping, an averaging ensemble.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Bias2 = (2 − 3)2 = 1. Variance = 0: every prediction is identical.</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The L1 constraint region is a diamond with corners on the axes; the error contours usually first touch it at a corner, where some weights are exactly zero. The L2 region is a circle with no corners, so weights shrink but rarely reach zero.</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to say each takeaway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these for independent study. Model answers are not printed in the handout.</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NEXT: Chapter 8 — Measuring Classifier Performance. READ: Handout Chapter 7, pages 51–58. THIS WEEK'S LAB: Find the bottom of the 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457200" rtl="0" eaLnBrk="1" latinLnBrk="0" hangingPunct="1">
        <a:spcBef>
          <a:spcPct val="0"/>
        </a:spcBef>
        <a:buNone/>
        <a:defRPr sz="3000" kern="1200" b="0">
          <a:solidFill>
            <a:srgbClr val="1A5276"/>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image" Target="../media/image4.sv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image" Target="../media/image6.sv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image" Target="../media/image8.sv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image" Target="../media/image10.svg"/><Relationship Id="rId4" Type="http://schemas.openxmlformats.org/officeDocument/2006/relationships/notesSlide" Target="../notesSlides/notesSlide5.xml"/><Relationship Id="rId5" Type="http://schemas.openxmlformats.org/officeDocument/2006/relationships/slide" Target="slide6.xml"/><Relationship Id="rId6" Type="http://schemas.openxmlformats.org/officeDocument/2006/relationships/slide" Target="slide7.xml"/><Relationship Id="rId7" Type="http://schemas.openxmlformats.org/officeDocument/2006/relationships/slide" Target="slide11.xml"/><Relationship Id="rId8" Type="http://schemas.openxmlformats.org/officeDocument/2006/relationships/slide" Target="slide16.xml"/><Relationship Id="rId9" Type="http://schemas.openxmlformats.org/officeDocument/2006/relationships/slide" Target="slide17.xml"/><Relationship Id="rId10" Type="http://schemas.openxmlformats.org/officeDocument/2006/relationships/slide" Target="slide20.xml"/><Relationship Id="rId11" Type="http://schemas.openxmlformats.org/officeDocument/2006/relationships/slide" Target="slide2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image" Target="../media/image12.sv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 Id="rId3" Type="http://schemas.openxmlformats.org/officeDocument/2006/relationships/image" Target="../media/image14.sv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5.png"/><Relationship Id="rId3" Type="http://schemas.openxmlformats.org/officeDocument/2006/relationships/image" Target="../media/image16.sv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7.png"/><Relationship Id="rId3" Type="http://schemas.openxmlformats.org/officeDocument/2006/relationships/image" Target="../media/image18.sv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5.png"/><Relationship Id="rId3" Type="http://schemas.openxmlformats.org/officeDocument/2006/relationships/image" Target="../media/image19.svg"/><Relationship Id="rId4" Type="http://schemas.openxmlformats.org/officeDocument/2006/relationships/image" Target="../media/image20.png"/><Relationship Id="rId5" Type="http://schemas.openxmlformats.org/officeDocument/2006/relationships/image" Target="../media/image21.svg"/><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2.png"/><Relationship Id="rId3" Type="http://schemas.openxmlformats.org/officeDocument/2006/relationships/image" Target="../media/image23.sv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4.png"/><Relationship Id="rId3" Type="http://schemas.openxmlformats.org/officeDocument/2006/relationships/image" Target="../media/image25.sv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6.png"/><Relationship Id="rId3" Type="http://schemas.openxmlformats.org/officeDocument/2006/relationships/image" Target="../media/image27.sv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image" Target="../media/image28.sv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9.png"/><Relationship Id="rId3" Type="http://schemas.openxmlformats.org/officeDocument/2006/relationships/image" Target="../media/image30.sv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1.png"/><Relationship Id="rId3" Type="http://schemas.openxmlformats.org/officeDocument/2006/relationships/image" Target="../media/image32.sv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5.png"/><Relationship Id="rId3" Type="http://schemas.openxmlformats.org/officeDocument/2006/relationships/image" Target="../media/image33.svg"/><Relationship Id="rId4" Type="http://schemas.openxmlformats.org/officeDocument/2006/relationships/image" Target="../media/image34.png"/><Relationship Id="rId5" Type="http://schemas.openxmlformats.org/officeDocument/2006/relationships/image" Target="../media/image35.svg"/><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4.png"/><Relationship Id="rId3" Type="http://schemas.openxmlformats.org/officeDocument/2006/relationships/image" Target="../media/image36.svg"/><Relationship Id="rId4" Type="http://schemas.openxmlformats.org/officeDocument/2006/relationships/image" Target="../media/image37.png"/><Relationship Id="rId5" Type="http://schemas.openxmlformats.org/officeDocument/2006/relationships/image" Target="../media/image38.svg"/><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9.png"/><Relationship Id="rId3" Type="http://schemas.openxmlformats.org/officeDocument/2006/relationships/image" Target="../media/image40.sv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1.png"/><Relationship Id="rId3" Type="http://schemas.openxmlformats.org/officeDocument/2006/relationships/image" Target="../media/image42.sv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5.png"/><Relationship Id="rId3" Type="http://schemas.openxmlformats.org/officeDocument/2006/relationships/image" Target="../media/image43.sv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4.png"/><Relationship Id="rId3" Type="http://schemas.openxmlformats.org/officeDocument/2006/relationships/image" Target="../media/image45.sv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4.png"/><Relationship Id="rId3" Type="http://schemas.openxmlformats.org/officeDocument/2006/relationships/image" Target="../media/image46.sv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1.png"/><Relationship Id="rId3" Type="http://schemas.openxmlformats.org/officeDocument/2006/relationships/image" Target="../media/image47.sv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8.png"/><Relationship Id="rId3" Type="http://schemas.openxmlformats.org/officeDocument/2006/relationships/image" Target="../media/image49.sv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0.png"/><Relationship Id="rId3" Type="http://schemas.openxmlformats.org/officeDocument/2006/relationships/image" Target="../media/image51.sv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0.png"/><Relationship Id="rId3" Type="http://schemas.openxmlformats.org/officeDocument/2006/relationships/image" Target="../media/image52.sv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0.png"/><Relationship Id="rId3" Type="http://schemas.openxmlformats.org/officeDocument/2006/relationships/image" Target="../media/image53.sv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0.png"/><Relationship Id="rId3" Type="http://schemas.openxmlformats.org/officeDocument/2006/relationships/image" Target="../media/image54.sv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0.png"/><Relationship Id="rId3" Type="http://schemas.openxmlformats.org/officeDocument/2006/relationships/image" Target="../media/image55.sv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0.png"/><Relationship Id="rId3" Type="http://schemas.openxmlformats.org/officeDocument/2006/relationships/image" Target="../media/image56.sv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0.png"/><Relationship Id="rId3" Type="http://schemas.openxmlformats.org/officeDocument/2006/relationships/image" Target="../media/image57.sv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8.png"/><Relationship Id="rId3" Type="http://schemas.openxmlformats.org/officeDocument/2006/relationships/image" Target="../media/image59.sv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0.png"/><Relationship Id="rId3" Type="http://schemas.openxmlformats.org/officeDocument/2006/relationships/image" Target="../media/image61.sv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8.png"/><Relationship Id="rId3" Type="http://schemas.openxmlformats.org/officeDocument/2006/relationships/image" Target="../media/image62.sv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0.png"/><Relationship Id="rId3" Type="http://schemas.openxmlformats.org/officeDocument/2006/relationships/image" Target="../media/image63.sv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8.png"/><Relationship Id="rId3" Type="http://schemas.openxmlformats.org/officeDocument/2006/relationships/image" Target="../media/image64.sv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0.png"/><Relationship Id="rId3" Type="http://schemas.openxmlformats.org/officeDocument/2006/relationships/image" Target="../media/image65.sv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6.png"/><Relationship Id="rId3" Type="http://schemas.openxmlformats.org/officeDocument/2006/relationships/image" Target="../media/image67.sv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8.png"/><Relationship Id="rId3" Type="http://schemas.openxmlformats.org/officeDocument/2006/relationships/image" Target="../media/image69.sv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8.png"/><Relationship Id="rId3" Type="http://schemas.openxmlformats.org/officeDocument/2006/relationships/image" Target="../media/image70.sv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8.png"/><Relationship Id="rId3" Type="http://schemas.openxmlformats.org/officeDocument/2006/relationships/image" Target="../media/image71.sv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8.png"/><Relationship Id="rId3" Type="http://schemas.openxmlformats.org/officeDocument/2006/relationships/image" Target="../media/image72.sv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36794"/>
        </a:solidFill>
        <a:effectLst/>
      </p:bgPr>
    </p:bg>
    <p:spTree>
      <p:nvGrpSpPr>
        <p:cNvPr id="1" name=""/>
        <p:cNvGrpSpPr/>
        <p:nvPr/>
      </p:nvGrpSpPr>
      <p:grpSpPr/>
      <p:sp>
        <p:nvSpPr>
          <p:cNvPr id="3" name="!!wm">
            <a:extLst>
              <a:ext uri="{C183D7F6-B498-43B3-948B-1728B52AA6E4}">
                <adec:decorative xmlns:adec="http://schemas.microsoft.com/office/drawing/2017/decorative" val="1"/>
              </a:ext>
            </a:extLst>
          </p:cNvPr>
          <p:cNvSpPr txBox="1"/>
          <p:nvPr/>
        </p:nvSpPr>
        <p:spPr>
          <a:xfrm>
            <a:off x="6430975" y="-502920"/>
            <a:ext cx="5486400" cy="4572000"/>
          </a:xfrm>
          <a:prstGeom prst="rect">
            <a:avLst/>
          </a:prstGeom>
          <a:noFill/>
        </p:spPr>
        <p:txBody>
          <a:bodyPr wrap="square" anchor="t" lIns="0" rIns="0" tIns="0" bIns="0">
            <a:noAutofit/>
          </a:bodyPr>
          <a:lstStyle/>
          <a:p>
            <a:pPr algn="r">
              <a:lnSpc>
                <a:spcPct val="100000"/>
              </a:lnSpc>
              <a:spcBef>
                <a:spcPts val="0"/>
              </a:spcBef>
              <a:spcAft>
                <a:spcPts val="0"/>
              </a:spcAft>
            </a:pPr>
            <a:r>
              <a:rPr sz="28000" b="0" i="0">
                <a:solidFill>
                  <a:srgbClr val="39769F"/>
                </a:solidFill>
                <a:latin typeface="Segoe UI Black"/>
              </a:rPr>
              <a:t>07</a:t>
            </a:r>
          </a:p>
        </p:txBody>
      </p:sp>
      <p:sp>
        <p:nvSpPr>
          <p:cNvPr id="2" name="!!title"/>
          <p:cNvSpPr>
            <a:spLocks noGrp="1"/>
          </p:cNvSpPr>
          <p:nvPr>
            <p:ph type="title"/>
          </p:nvPr>
        </p:nvSpPr>
        <p:spPr>
          <a:xfrm>
            <a:off x="658368" y="2304288"/>
            <a:ext cx="8503920" cy="1920240"/>
          </a:xfrm>
        </p:spPr>
        <p:txBody>
          <a:bodyPr wrap="square" lIns="0" rIns="0" tIns="0" bIns="0" anchor="t">
            <a:noAutofit/>
          </a:bodyPr>
          <a:lstStyle/>
          <a:p>
            <a:pPr algn="l">
              <a:lnSpc>
                <a:spcPct val="96000"/>
              </a:lnSpc>
            </a:pPr>
            <a:r>
              <a:rPr sz="4600" b="0">
                <a:solidFill>
                  <a:srgbClr val="FFFFFF"/>
                </a:solidFill>
                <a:latin typeface="Segoe UI Semibold"/>
              </a:rPr>
              <a:t>Overfitting, Bias–Variance and Regularisation</a:t>
            </a:r>
          </a:p>
        </p:txBody>
      </p:sp>
      <p:sp>
        <p:nvSpPr>
          <p:cNvPr id="4" name="!!tbar">
            <a:extLst>
              <a:ext uri="{C183D7F6-B498-43B3-948B-1728B52AA6E4}">
                <adec:decorative xmlns:adec="http://schemas.microsoft.com/office/drawing/2017/decorative" val="1"/>
              </a:ext>
            </a:extLst>
          </p:cNvPr>
          <p:cNvSpPr/>
          <p:nvPr/>
        </p:nvSpPr>
        <p:spPr>
          <a:xfrm>
            <a:off x="658368" y="1298448"/>
            <a:ext cx="822960" cy="640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part"/>
          <p:cNvSpPr txBox="1"/>
          <p:nvPr/>
        </p:nvSpPr>
        <p:spPr>
          <a:xfrm>
            <a:off x="658368" y="1517904"/>
            <a:ext cx="8686800" cy="292608"/>
          </a:xfrm>
          <a:prstGeom prst="rect">
            <a:avLst/>
          </a:prstGeom>
          <a:noFill/>
        </p:spPr>
        <p:txBody>
          <a:bodyPr wrap="square" anchor="t" lIns="0" rIns="0" tIns="0" bIns="0">
            <a:noAutofit/>
          </a:bodyPr>
          <a:lstStyle/>
          <a:p>
            <a:pPr algn="l">
              <a:lnSpc>
                <a:spcPct val="100000"/>
              </a:lnSpc>
              <a:spcBef>
                <a:spcPts val="0"/>
              </a:spcBef>
              <a:spcAft>
                <a:spcPts val="0"/>
              </a:spcAft>
            </a:pPr>
            <a:r>
              <a:rPr sz="1300" b="1" i="0" spc="180">
                <a:solidFill>
                  <a:srgbClr val="C1D4E1"/>
                </a:solidFill>
                <a:latin typeface="Segoe UI"/>
              </a:rPr>
              <a:t>PART II  ·  LINEAR MODELS AND GENERALIZATION</a:t>
            </a:r>
          </a:p>
        </p:txBody>
      </p:sp>
      <p:sp>
        <p:nvSpPr>
          <p:cNvPr id="6" name="!!tch"/>
          <p:cNvSpPr txBox="1"/>
          <p:nvPr/>
        </p:nvSpPr>
        <p:spPr>
          <a:xfrm>
            <a:off x="658368" y="1865376"/>
            <a:ext cx="8686800" cy="292608"/>
          </a:xfrm>
          <a:prstGeom prst="rect">
            <a:avLst/>
          </a:prstGeom>
          <a:noFill/>
        </p:spPr>
        <p:txBody>
          <a:bodyPr wrap="square" anchor="t" lIns="0" rIns="0" tIns="0" bIns="0">
            <a:noAutofit/>
          </a:bodyPr>
          <a:lstStyle/>
          <a:p>
            <a:pPr algn="l">
              <a:lnSpc>
                <a:spcPct val="100000"/>
              </a:lnSpc>
              <a:spcBef>
                <a:spcPts val="0"/>
              </a:spcBef>
              <a:spcAft>
                <a:spcPts val="0"/>
              </a:spcAft>
            </a:pPr>
            <a:r>
              <a:rPr sz="1300" b="1" i="0" spc="180">
                <a:solidFill>
                  <a:srgbClr val="C1D4E1"/>
                </a:solidFill>
                <a:latin typeface="Segoe UI"/>
              </a:rPr>
              <a:t>CHAPTER 7  ·  WEEK 6</a:t>
            </a:r>
          </a:p>
        </p:txBody>
      </p:sp>
      <p:sp>
        <p:nvSpPr>
          <p:cNvPr id="7" name="!!tsub"/>
          <p:cNvSpPr txBox="1"/>
          <p:nvPr/>
        </p:nvSpPr>
        <p:spPr>
          <a:xfrm>
            <a:off x="658368" y="4315968"/>
            <a:ext cx="8503920" cy="329184"/>
          </a:xfrm>
          <a:prstGeom prst="rect">
            <a:avLst/>
          </a:prstGeom>
          <a:noFill/>
        </p:spPr>
        <p:txBody>
          <a:bodyPr wrap="square" anchor="t" lIns="0" rIns="0" tIns="0" bIns="0">
            <a:noAutofit/>
          </a:bodyPr>
          <a:lstStyle/>
          <a:p>
            <a:pPr algn="l">
              <a:lnSpc>
                <a:spcPct val="100000"/>
              </a:lnSpc>
              <a:spcBef>
                <a:spcPts val="0"/>
              </a:spcBef>
              <a:spcAft>
                <a:spcPts val="0"/>
              </a:spcAft>
            </a:pPr>
            <a:r>
              <a:rPr sz="1600" b="0" i="0">
                <a:solidFill>
                  <a:srgbClr val="D3E1EA"/>
                </a:solidFill>
                <a:latin typeface="Segoe UI"/>
              </a:rPr>
              <a:t>Machine Learning — From Hypotheses to Decisions</a:t>
            </a:r>
          </a:p>
        </p:txBody>
      </p:sp>
      <p:sp>
        <p:nvSpPr>
          <p:cNvPr id="8" name="!!band">
            <a:extLst>
              <a:ext uri="{C183D7F6-B498-43B3-948B-1728B52AA6E4}">
                <adec:decorative xmlns:adec="http://schemas.microsoft.com/office/drawing/2017/decorative" val="1"/>
              </a:ext>
            </a:extLst>
          </p:cNvPr>
          <p:cNvSpPr/>
          <p:nvPr/>
        </p:nvSpPr>
        <p:spPr>
          <a:xfrm>
            <a:off x="0" y="5285232"/>
            <a:ext cx="12191695" cy="1572767"/>
          </a:xfrm>
          <a:prstGeom prst="rect">
            <a:avLst/>
          </a:prstGeom>
          <a:solidFill>
            <a:srgbClr val="194A6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lab"/>
          <p:cNvSpPr txBox="1"/>
          <p:nvPr/>
        </p:nvSpPr>
        <p:spPr>
          <a:xfrm>
            <a:off x="658368" y="5541264"/>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50" b="1" i="0" spc="160">
                <a:solidFill>
                  <a:srgbClr val="A8BAC7"/>
                </a:solidFill>
                <a:latin typeface="Segoe UI"/>
              </a:rPr>
              <a:t>LECTURER</a:t>
            </a:r>
          </a:p>
        </p:txBody>
      </p:sp>
      <p:sp>
        <p:nvSpPr>
          <p:cNvPr id="10" name="!!author"/>
          <p:cNvSpPr txBox="1"/>
          <p:nvPr/>
        </p:nvSpPr>
        <p:spPr>
          <a:xfrm>
            <a:off x="658368" y="5779008"/>
            <a:ext cx="5486400" cy="365760"/>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FFFFFF"/>
                </a:solidFill>
                <a:latin typeface="Segoe UI Semibold"/>
              </a:rPr>
              <a:t>Dr. Mustafa Hameed</a:t>
            </a:r>
          </a:p>
        </p:txBody>
      </p:sp>
      <p:sp>
        <p:nvSpPr>
          <p:cNvPr id="11" name="!!dept"/>
          <p:cNvSpPr txBox="1"/>
          <p:nvPr/>
        </p:nvSpPr>
        <p:spPr>
          <a:xfrm>
            <a:off x="658368" y="6181344"/>
            <a:ext cx="5852160" cy="274320"/>
          </a:xfrm>
          <a:prstGeom prst="rect">
            <a:avLst/>
          </a:prstGeom>
          <a:noFill/>
        </p:spPr>
        <p:txBody>
          <a:bodyPr wrap="square" anchor="t" lIns="0" rIns="0" tIns="0" bIns="0">
            <a:noAutofit/>
          </a:bodyPr>
          <a:lstStyle/>
          <a:p>
            <a:pPr algn="l">
              <a:lnSpc>
                <a:spcPct val="100000"/>
              </a:lnSpc>
              <a:spcBef>
                <a:spcPts val="0"/>
              </a:spcBef>
              <a:spcAft>
                <a:spcPts val="0"/>
              </a:spcAft>
            </a:pPr>
            <a:r>
              <a:rPr sz="1200" b="0" i="0">
                <a:solidFill>
                  <a:srgbClr val="BFCCD6"/>
                </a:solidFill>
                <a:latin typeface="Segoe UI"/>
              </a:rPr>
              <a:t>Department of Information Technology  ·  BSIT · Fall 2026</a:t>
            </a:r>
          </a:p>
        </p:txBody>
      </p:sp>
      <p:sp>
        <p:nvSpPr>
          <p:cNvPr id="12" name="!!uni"/>
          <p:cNvSpPr txBox="1"/>
          <p:nvPr/>
        </p:nvSpPr>
        <p:spPr>
          <a:xfrm>
            <a:off x="5205818" y="5687568"/>
            <a:ext cx="4023360" cy="274320"/>
          </a:xfrm>
          <a:prstGeom prst="rect">
            <a:avLst/>
          </a:prstGeom>
          <a:noFill/>
        </p:spPr>
        <p:txBody>
          <a:bodyPr wrap="square" anchor="t" lIns="0" rIns="0" tIns="0" bIns="0">
            <a:noAutofit/>
          </a:bodyPr>
          <a:lstStyle/>
          <a:p>
            <a:pPr algn="r">
              <a:lnSpc>
                <a:spcPct val="100000"/>
              </a:lnSpc>
              <a:spcBef>
                <a:spcPts val="0"/>
              </a:spcBef>
              <a:spcAft>
                <a:spcPts val="0"/>
              </a:spcAft>
            </a:pPr>
            <a:r>
              <a:rPr sz="1150" b="1" i="0" spc="60">
                <a:solidFill>
                  <a:srgbClr val="FFFFFF"/>
                </a:solidFill>
                <a:latin typeface="Segoe UI"/>
              </a:rPr>
              <a:t>THE ISLAMIA UNIVERSITY OF BAHAWALPUR</a:t>
            </a:r>
          </a:p>
        </p:txBody>
      </p:sp>
      <p:sp>
        <p:nvSpPr>
          <p:cNvPr id="13" name="!!uni2"/>
          <p:cNvSpPr txBox="1"/>
          <p:nvPr/>
        </p:nvSpPr>
        <p:spPr>
          <a:xfrm>
            <a:off x="5205818" y="5961888"/>
            <a:ext cx="4023360" cy="274320"/>
          </a:xfrm>
          <a:prstGeom prst="rect">
            <a:avLst/>
          </a:prstGeom>
          <a:noFill/>
        </p:spPr>
        <p:txBody>
          <a:bodyPr wrap="square" anchor="t" lIns="0" rIns="0" tIns="0" bIns="0">
            <a:noAutofit/>
          </a:bodyPr>
          <a:lstStyle/>
          <a:p>
            <a:pPr algn="r">
              <a:lnSpc>
                <a:spcPct val="100000"/>
              </a:lnSpc>
              <a:spcBef>
                <a:spcPts val="0"/>
              </a:spcBef>
              <a:spcAft>
                <a:spcPts val="0"/>
              </a:spcAft>
            </a:pPr>
            <a:r>
              <a:rPr sz="1050" b="0" i="0">
                <a:solidFill>
                  <a:srgbClr val="A8BAC7"/>
                </a:solidFill>
                <a:latin typeface="Segoe UI"/>
              </a:rPr>
              <a:t>Bahawalpur, Pakistan</a:t>
            </a:r>
          </a:p>
        </p:txBody>
      </p:sp>
      <p:pic>
        <p:nvPicPr>
          <p:cNvPr id="14" name="!!logo-iub-logo-white" descr="The Islamia University of Bahawalpur"/>
          <p:cNvPicPr>
            <a:picLocks noChangeAspect="1"/>
          </p:cNvPicPr>
          <p:nvPr/>
        </p:nvPicPr>
        <p:blipFill>
          <a:blip r:embed="rId2"/>
          <a:stretch>
            <a:fillRect/>
          </a:stretch>
        </p:blipFill>
        <p:spPr>
          <a:xfrm>
            <a:off x="9503498" y="5486400"/>
            <a:ext cx="904084" cy="896112"/>
          </a:xfrm>
          <a:prstGeom prst="rect">
            <a:avLst/>
          </a:prstGeom>
        </p:spPr>
      </p:pic>
      <p:pic>
        <p:nvPicPr>
          <p:cNvPr id="15" name="!!logo-dit-logo" descr="Department of Information Technology"/>
          <p:cNvPicPr>
            <a:picLocks noChangeAspect="1"/>
          </p:cNvPicPr>
          <p:nvPr/>
        </p:nvPicPr>
        <p:blipFill>
          <a:blip r:embed="rId3"/>
          <a:stretch>
            <a:fillRect/>
          </a:stretch>
        </p:blipFill>
        <p:spPr>
          <a:xfrm>
            <a:off x="10663614" y="5486400"/>
            <a:ext cx="869712" cy="896112"/>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Where this chapter sits</a:t>
            </a:r>
          </a:p>
        </p:txBody>
      </p:sp>
      <p:pic>
        <p:nvPicPr>
          <p:cNvPr id="3" name="!!kicker-icon" descr="map-signs-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THE COURSE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7  ·  Overfitting, Bias–Variance and Regularisation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51     </a:t>
            </a:r>
            <a:fld id="{DF3D1133-1884-4640-9BBB-07A5CED3DCCC}" type="slidenum">
              <a:rPr lang="en-GB" sz="1000">
                <a:solidFill>
                  <a:srgbClr val="8795A1"/>
                </a:solidFill>
                <a:latin typeface="Segoe UI"/>
              </a:rPr>
              <a:t>2</a:t>
            </a:fld>
          </a:p>
        </p:txBody>
      </p:sp>
      <p:sp>
        <p:nvSpPr>
          <p:cNvPr id="7" name="!!rp1"/>
          <p:cNvSpPr txBox="1"/>
          <p:nvPr/>
        </p:nvSpPr>
        <p:spPr>
          <a:xfrm>
            <a:off x="777239" y="1755648"/>
            <a:ext cx="1583242"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a:t>
            </a:r>
          </a:p>
        </p:txBody>
      </p:sp>
      <p:sp>
        <p:nvSpPr>
          <p:cNvPr id="8" name="!!rpl1">
            <a:extLst>
              <a:ext uri="{C183D7F6-B498-43B3-948B-1728B52AA6E4}">
                <adec:decorative xmlns:adec="http://schemas.microsoft.com/office/drawing/2017/decorative" val="1"/>
              </a:ext>
            </a:extLst>
          </p:cNvPr>
          <p:cNvSpPr/>
          <p:nvPr/>
        </p:nvSpPr>
        <p:spPr>
          <a:xfrm>
            <a:off x="777239" y="2029967"/>
            <a:ext cx="1583242"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rp2"/>
          <p:cNvSpPr txBox="1"/>
          <p:nvPr/>
        </p:nvSpPr>
        <p:spPr>
          <a:xfrm>
            <a:off x="2689666" y="1755648"/>
            <a:ext cx="1894138"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PART II</a:t>
            </a:r>
          </a:p>
        </p:txBody>
      </p:sp>
      <p:sp>
        <p:nvSpPr>
          <p:cNvPr id="10" name="!!rpl2">
            <a:extLst>
              <a:ext uri="{C183D7F6-B498-43B3-948B-1728B52AA6E4}">
                <adec:decorative xmlns:adec="http://schemas.microsoft.com/office/drawing/2017/decorative" val="1"/>
              </a:ext>
            </a:extLst>
          </p:cNvPr>
          <p:cNvSpPr/>
          <p:nvPr/>
        </p:nvSpPr>
        <p:spPr>
          <a:xfrm>
            <a:off x="2689666" y="2029967"/>
            <a:ext cx="1894138" cy="45720"/>
          </a:xfrm>
          <a:prstGeom prst="rect">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p3"/>
          <p:cNvSpPr txBox="1"/>
          <p:nvPr/>
        </p:nvSpPr>
        <p:spPr>
          <a:xfrm>
            <a:off x="4912988" y="1755648"/>
            <a:ext cx="240229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III</a:t>
            </a:r>
          </a:p>
        </p:txBody>
      </p:sp>
      <p:sp>
        <p:nvSpPr>
          <p:cNvPr id="12" name="!!rpl3">
            <a:extLst>
              <a:ext uri="{C183D7F6-B498-43B3-948B-1728B52AA6E4}">
                <adec:decorative xmlns:adec="http://schemas.microsoft.com/office/drawing/2017/decorative" val="1"/>
              </a:ext>
            </a:extLst>
          </p:cNvPr>
          <p:cNvSpPr/>
          <p:nvPr/>
        </p:nvSpPr>
        <p:spPr>
          <a:xfrm>
            <a:off x="4912988" y="2029967"/>
            <a:ext cx="240229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rp4"/>
          <p:cNvSpPr txBox="1"/>
          <p:nvPr/>
        </p:nvSpPr>
        <p:spPr>
          <a:xfrm>
            <a:off x="7644467" y="1755648"/>
            <a:ext cx="117371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IV</a:t>
            </a:r>
          </a:p>
        </p:txBody>
      </p:sp>
      <p:sp>
        <p:nvSpPr>
          <p:cNvPr id="14" name="!!rpl4">
            <a:extLst>
              <a:ext uri="{C183D7F6-B498-43B3-948B-1728B52AA6E4}">
                <adec:decorative xmlns:adec="http://schemas.microsoft.com/office/drawing/2017/decorative" val="1"/>
              </a:ext>
            </a:extLst>
          </p:cNvPr>
          <p:cNvSpPr/>
          <p:nvPr/>
        </p:nvSpPr>
        <p:spPr>
          <a:xfrm>
            <a:off x="7644467" y="2029967"/>
            <a:ext cx="117371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rp5"/>
          <p:cNvSpPr txBox="1"/>
          <p:nvPr/>
        </p:nvSpPr>
        <p:spPr>
          <a:xfrm>
            <a:off x="9147366" y="1755648"/>
            <a:ext cx="117371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V</a:t>
            </a:r>
          </a:p>
        </p:txBody>
      </p:sp>
      <p:sp>
        <p:nvSpPr>
          <p:cNvPr id="16" name="!!rpl5">
            <a:extLst>
              <a:ext uri="{C183D7F6-B498-43B3-948B-1728B52AA6E4}">
                <adec:decorative xmlns:adec="http://schemas.microsoft.com/office/drawing/2017/decorative" val="1"/>
              </a:ext>
            </a:extLst>
          </p:cNvPr>
          <p:cNvSpPr/>
          <p:nvPr/>
        </p:nvSpPr>
        <p:spPr>
          <a:xfrm>
            <a:off x="9147366" y="2029967"/>
            <a:ext cx="117371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rp6"/>
          <p:cNvSpPr txBox="1"/>
          <p:nvPr/>
        </p:nvSpPr>
        <p:spPr>
          <a:xfrm>
            <a:off x="10650266" y="1755648"/>
            <a:ext cx="764189"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VI</a:t>
            </a:r>
          </a:p>
        </p:txBody>
      </p:sp>
      <p:sp>
        <p:nvSpPr>
          <p:cNvPr id="18" name="!!rpl6">
            <a:extLst>
              <a:ext uri="{C183D7F6-B498-43B3-948B-1728B52AA6E4}">
                <adec:decorative xmlns:adec="http://schemas.microsoft.com/office/drawing/2017/decorative" val="1"/>
              </a:ext>
            </a:extLst>
          </p:cNvPr>
          <p:cNvSpPr/>
          <p:nvPr/>
        </p:nvSpPr>
        <p:spPr>
          <a:xfrm>
            <a:off x="10650266" y="2029967"/>
            <a:ext cx="764189"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dot1">
            <a:extLst>
              <a:ext uri="{C183D7F6-B498-43B3-948B-1728B52AA6E4}">
                <adec:decorative xmlns:adec="http://schemas.microsoft.com/office/drawing/2017/decorative" val="1"/>
              </a:ext>
            </a:extLst>
          </p:cNvPr>
          <p:cNvSpPr/>
          <p:nvPr/>
        </p:nvSpPr>
        <p:spPr>
          <a:xfrm>
            <a:off x="817411"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dotn1"/>
          <p:cNvSpPr txBox="1"/>
          <p:nvPr/>
        </p:nvSpPr>
        <p:spPr>
          <a:xfrm>
            <a:off x="725971"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a:t>
            </a:r>
          </a:p>
        </p:txBody>
      </p:sp>
      <p:sp>
        <p:nvSpPr>
          <p:cNvPr id="21" name="!!dot2">
            <a:extLst>
              <a:ext uri="{C183D7F6-B498-43B3-948B-1728B52AA6E4}">
                <adec:decorative xmlns:adec="http://schemas.microsoft.com/office/drawing/2017/decorative" val="1"/>
              </a:ext>
            </a:extLst>
          </p:cNvPr>
          <p:cNvSpPr/>
          <p:nvPr/>
        </p:nvSpPr>
        <p:spPr>
          <a:xfrm>
            <a:off x="1226937"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dotn2"/>
          <p:cNvSpPr txBox="1"/>
          <p:nvPr/>
        </p:nvSpPr>
        <p:spPr>
          <a:xfrm>
            <a:off x="11354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2</a:t>
            </a:r>
          </a:p>
        </p:txBody>
      </p:sp>
      <p:sp>
        <p:nvSpPr>
          <p:cNvPr id="23" name="!!dot3">
            <a:extLst>
              <a:ext uri="{C183D7F6-B498-43B3-948B-1728B52AA6E4}">
                <adec:decorative xmlns:adec="http://schemas.microsoft.com/office/drawing/2017/decorative" val="1"/>
              </a:ext>
            </a:extLst>
          </p:cNvPr>
          <p:cNvSpPr/>
          <p:nvPr/>
        </p:nvSpPr>
        <p:spPr>
          <a:xfrm>
            <a:off x="1636464"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dotn3"/>
          <p:cNvSpPr txBox="1"/>
          <p:nvPr/>
        </p:nvSpPr>
        <p:spPr>
          <a:xfrm>
            <a:off x="1545024"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3</a:t>
            </a:r>
          </a:p>
        </p:txBody>
      </p:sp>
      <p:sp>
        <p:nvSpPr>
          <p:cNvPr id="25" name="!!dot4">
            <a:extLst>
              <a:ext uri="{C183D7F6-B498-43B3-948B-1728B52AA6E4}">
                <adec:decorative xmlns:adec="http://schemas.microsoft.com/office/drawing/2017/decorative" val="1"/>
              </a:ext>
            </a:extLst>
          </p:cNvPr>
          <p:cNvSpPr/>
          <p:nvPr/>
        </p:nvSpPr>
        <p:spPr>
          <a:xfrm>
            <a:off x="2045990"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dotn4"/>
          <p:cNvSpPr txBox="1"/>
          <p:nvPr/>
        </p:nvSpPr>
        <p:spPr>
          <a:xfrm>
            <a:off x="1954550"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4</a:t>
            </a:r>
          </a:p>
        </p:txBody>
      </p:sp>
      <p:sp>
        <p:nvSpPr>
          <p:cNvPr id="27" name="!!dot5">
            <a:extLst>
              <a:ext uri="{C183D7F6-B498-43B3-948B-1728B52AA6E4}">
                <adec:decorative xmlns:adec="http://schemas.microsoft.com/office/drawing/2017/decorative" val="1"/>
              </a:ext>
            </a:extLst>
          </p:cNvPr>
          <p:cNvSpPr/>
          <p:nvPr/>
        </p:nvSpPr>
        <p:spPr>
          <a:xfrm>
            <a:off x="2729837" y="2258568"/>
            <a:ext cx="274320" cy="274320"/>
          </a:xfrm>
          <a:prstGeom prst="ellipse">
            <a:avLst/>
          </a:prstGeom>
          <a:solidFill>
            <a:srgbClr val="4D98C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dotn5"/>
          <p:cNvSpPr txBox="1"/>
          <p:nvPr/>
        </p:nvSpPr>
        <p:spPr>
          <a:xfrm>
            <a:off x="26383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5</a:t>
            </a:r>
          </a:p>
        </p:txBody>
      </p:sp>
      <p:sp>
        <p:nvSpPr>
          <p:cNvPr id="29" name="!!dot6">
            <a:extLst>
              <a:ext uri="{C183D7F6-B498-43B3-948B-1728B52AA6E4}">
                <adec:decorative xmlns:adec="http://schemas.microsoft.com/office/drawing/2017/decorative" val="1"/>
              </a:ext>
            </a:extLst>
          </p:cNvPr>
          <p:cNvSpPr/>
          <p:nvPr/>
        </p:nvSpPr>
        <p:spPr>
          <a:xfrm>
            <a:off x="3139363" y="2258568"/>
            <a:ext cx="274320" cy="274320"/>
          </a:xfrm>
          <a:prstGeom prst="ellipse">
            <a:avLst/>
          </a:prstGeom>
          <a:solidFill>
            <a:srgbClr val="4D98C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dotn6"/>
          <p:cNvSpPr txBox="1"/>
          <p:nvPr/>
        </p:nvSpPr>
        <p:spPr>
          <a:xfrm>
            <a:off x="3047923"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6</a:t>
            </a:r>
          </a:p>
        </p:txBody>
      </p:sp>
      <p:sp>
        <p:nvSpPr>
          <p:cNvPr id="31" name="!!dot7">
            <a:extLst>
              <a:ext uri="{C183D7F6-B498-43B3-948B-1728B52AA6E4}">
                <adec:decorative xmlns:adec="http://schemas.microsoft.com/office/drawing/2017/decorative" val="1"/>
              </a:ext>
            </a:extLst>
          </p:cNvPr>
          <p:cNvSpPr/>
          <p:nvPr/>
        </p:nvSpPr>
        <p:spPr>
          <a:xfrm>
            <a:off x="3558034" y="2112264"/>
            <a:ext cx="566928" cy="566928"/>
          </a:xfrm>
          <a:prstGeom prst="ellipse">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dotn7"/>
          <p:cNvSpPr txBox="1"/>
          <p:nvPr/>
        </p:nvSpPr>
        <p:spPr>
          <a:xfrm>
            <a:off x="3558034" y="2240280"/>
            <a:ext cx="566928" cy="310896"/>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7</a:t>
            </a:r>
          </a:p>
        </p:txBody>
      </p:sp>
      <p:sp>
        <p:nvSpPr>
          <p:cNvPr id="33" name="!!dot8">
            <a:extLst>
              <a:ext uri="{C183D7F6-B498-43B3-948B-1728B52AA6E4}">
                <adec:decorative xmlns:adec="http://schemas.microsoft.com/office/drawing/2017/decorative" val="1"/>
              </a:ext>
            </a:extLst>
          </p:cNvPr>
          <p:cNvSpPr/>
          <p:nvPr/>
        </p:nvSpPr>
        <p:spPr>
          <a:xfrm>
            <a:off x="4269312" y="2258568"/>
            <a:ext cx="274320" cy="274320"/>
          </a:xfrm>
          <a:prstGeom prst="ellipse">
            <a:avLst/>
          </a:prstGeom>
          <a:solidFill>
            <a:srgbClr val="FFFFFF"/>
          </a:solidFill>
          <a:ln w="15875">
            <a:solidFill>
              <a:srgbClr val="8CBCDD"/>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dotn8"/>
          <p:cNvSpPr txBox="1"/>
          <p:nvPr/>
        </p:nvSpPr>
        <p:spPr>
          <a:xfrm>
            <a:off x="4177872"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A73A3"/>
                </a:solidFill>
                <a:latin typeface="Segoe UI"/>
              </a:rPr>
              <a:t>8</a:t>
            </a:r>
          </a:p>
        </p:txBody>
      </p:sp>
      <p:sp>
        <p:nvSpPr>
          <p:cNvPr id="35" name="!!dot9">
            <a:extLst>
              <a:ext uri="{C183D7F6-B498-43B3-948B-1728B52AA6E4}">
                <adec:decorative xmlns:adec="http://schemas.microsoft.com/office/drawing/2017/decorative" val="1"/>
              </a:ext>
            </a:extLst>
          </p:cNvPr>
          <p:cNvSpPr/>
          <p:nvPr/>
        </p:nvSpPr>
        <p:spPr>
          <a:xfrm>
            <a:off x="4953159" y="2258568"/>
            <a:ext cx="274320" cy="274320"/>
          </a:xfrm>
          <a:prstGeom prst="ellipse">
            <a:avLst/>
          </a:prstGeom>
          <a:solidFill>
            <a:srgbClr val="FFFFFF"/>
          </a:solidFill>
          <a:ln w="15875">
            <a:solidFill>
              <a:srgbClr val="88D2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dotn9"/>
          <p:cNvSpPr txBox="1"/>
          <p:nvPr/>
        </p:nvSpPr>
        <p:spPr>
          <a:xfrm>
            <a:off x="4861719"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59355"/>
                </a:solidFill>
                <a:latin typeface="Segoe UI"/>
              </a:rPr>
              <a:t>9</a:t>
            </a:r>
          </a:p>
        </p:txBody>
      </p:sp>
      <p:sp>
        <p:nvSpPr>
          <p:cNvPr id="37" name="!!dot10">
            <a:extLst>
              <a:ext uri="{C183D7F6-B498-43B3-948B-1728B52AA6E4}">
                <adec:decorative xmlns:adec="http://schemas.microsoft.com/office/drawing/2017/decorative" val="1"/>
              </a:ext>
            </a:extLst>
          </p:cNvPr>
          <p:cNvSpPr/>
          <p:nvPr/>
        </p:nvSpPr>
        <p:spPr>
          <a:xfrm>
            <a:off x="5362685" y="2258568"/>
            <a:ext cx="274320" cy="274320"/>
          </a:xfrm>
          <a:prstGeom prst="ellipse">
            <a:avLst/>
          </a:prstGeom>
          <a:solidFill>
            <a:srgbClr val="FFFFFF"/>
          </a:solidFill>
          <a:ln w="15875">
            <a:solidFill>
              <a:srgbClr val="88D2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dotn10"/>
          <p:cNvSpPr txBox="1"/>
          <p:nvPr/>
        </p:nvSpPr>
        <p:spPr>
          <a:xfrm>
            <a:off x="5271245"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59355"/>
                </a:solidFill>
                <a:latin typeface="Segoe UI"/>
              </a:rPr>
              <a:t>10</a:t>
            </a:r>
          </a:p>
        </p:txBody>
      </p:sp>
      <p:sp>
        <p:nvSpPr>
          <p:cNvPr id="39" name="!!dot11">
            <a:extLst>
              <a:ext uri="{C183D7F6-B498-43B3-948B-1728B52AA6E4}">
                <adec:decorative xmlns:adec="http://schemas.microsoft.com/office/drawing/2017/decorative" val="1"/>
              </a:ext>
            </a:extLst>
          </p:cNvPr>
          <p:cNvSpPr/>
          <p:nvPr/>
        </p:nvSpPr>
        <p:spPr>
          <a:xfrm>
            <a:off x="5772212" y="2258568"/>
            <a:ext cx="274320" cy="274320"/>
          </a:xfrm>
          <a:prstGeom prst="ellipse">
            <a:avLst/>
          </a:prstGeom>
          <a:solidFill>
            <a:srgbClr val="FFFFFF"/>
          </a:solidFill>
          <a:ln w="15875">
            <a:solidFill>
              <a:srgbClr val="88D2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dotn11"/>
          <p:cNvSpPr txBox="1"/>
          <p:nvPr/>
        </p:nvSpPr>
        <p:spPr>
          <a:xfrm>
            <a:off x="5680772"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59355"/>
                </a:solidFill>
                <a:latin typeface="Segoe UI"/>
              </a:rPr>
              <a:t>11</a:t>
            </a:r>
          </a:p>
        </p:txBody>
      </p:sp>
      <p:sp>
        <p:nvSpPr>
          <p:cNvPr id="41" name="!!dot12">
            <a:extLst>
              <a:ext uri="{C183D7F6-B498-43B3-948B-1728B52AA6E4}">
                <adec:decorative xmlns:adec="http://schemas.microsoft.com/office/drawing/2017/decorative" val="1"/>
              </a:ext>
            </a:extLst>
          </p:cNvPr>
          <p:cNvSpPr/>
          <p:nvPr/>
        </p:nvSpPr>
        <p:spPr>
          <a:xfrm>
            <a:off x="6181738" y="2258568"/>
            <a:ext cx="274320" cy="274320"/>
          </a:xfrm>
          <a:prstGeom prst="ellipse">
            <a:avLst/>
          </a:prstGeom>
          <a:solidFill>
            <a:srgbClr val="FFFFFF"/>
          </a:solidFill>
          <a:ln w="15875">
            <a:solidFill>
              <a:srgbClr val="88D2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dotn12"/>
          <p:cNvSpPr txBox="1"/>
          <p:nvPr/>
        </p:nvSpPr>
        <p:spPr>
          <a:xfrm>
            <a:off x="6090298"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59355"/>
                </a:solidFill>
                <a:latin typeface="Segoe UI"/>
              </a:rPr>
              <a:t>12</a:t>
            </a:r>
          </a:p>
        </p:txBody>
      </p:sp>
      <p:sp>
        <p:nvSpPr>
          <p:cNvPr id="43" name="!!dot13">
            <a:extLst>
              <a:ext uri="{C183D7F6-B498-43B3-948B-1728B52AA6E4}">
                <adec:decorative xmlns:adec="http://schemas.microsoft.com/office/drawing/2017/decorative" val="1"/>
              </a:ext>
            </a:extLst>
          </p:cNvPr>
          <p:cNvSpPr/>
          <p:nvPr/>
        </p:nvSpPr>
        <p:spPr>
          <a:xfrm>
            <a:off x="6591265" y="2258568"/>
            <a:ext cx="274320" cy="274320"/>
          </a:xfrm>
          <a:prstGeom prst="ellipse">
            <a:avLst/>
          </a:prstGeom>
          <a:solidFill>
            <a:srgbClr val="FFFFFF"/>
          </a:solidFill>
          <a:ln w="15875">
            <a:solidFill>
              <a:srgbClr val="88D2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dotn13"/>
          <p:cNvSpPr txBox="1"/>
          <p:nvPr/>
        </p:nvSpPr>
        <p:spPr>
          <a:xfrm>
            <a:off x="6499825"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59355"/>
                </a:solidFill>
                <a:latin typeface="Segoe UI"/>
              </a:rPr>
              <a:t>13</a:t>
            </a:r>
          </a:p>
        </p:txBody>
      </p:sp>
      <p:sp>
        <p:nvSpPr>
          <p:cNvPr id="45" name="!!dot14">
            <a:extLst>
              <a:ext uri="{C183D7F6-B498-43B3-948B-1728B52AA6E4}">
                <adec:decorative xmlns:adec="http://schemas.microsoft.com/office/drawing/2017/decorative" val="1"/>
              </a:ext>
            </a:extLst>
          </p:cNvPr>
          <p:cNvSpPr/>
          <p:nvPr/>
        </p:nvSpPr>
        <p:spPr>
          <a:xfrm>
            <a:off x="7000791" y="2258568"/>
            <a:ext cx="274320" cy="274320"/>
          </a:xfrm>
          <a:prstGeom prst="ellipse">
            <a:avLst/>
          </a:prstGeom>
          <a:solidFill>
            <a:srgbClr val="FFFFFF"/>
          </a:solidFill>
          <a:ln w="15875">
            <a:solidFill>
              <a:srgbClr val="88D2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dotn14"/>
          <p:cNvSpPr txBox="1"/>
          <p:nvPr/>
        </p:nvSpPr>
        <p:spPr>
          <a:xfrm>
            <a:off x="6909351"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59355"/>
                </a:solidFill>
                <a:latin typeface="Segoe UI"/>
              </a:rPr>
              <a:t>14</a:t>
            </a:r>
          </a:p>
        </p:txBody>
      </p:sp>
      <p:sp>
        <p:nvSpPr>
          <p:cNvPr id="47" name="!!dot15">
            <a:extLst>
              <a:ext uri="{C183D7F6-B498-43B3-948B-1728B52AA6E4}">
                <adec:decorative xmlns:adec="http://schemas.microsoft.com/office/drawing/2017/decorative" val="1"/>
              </a:ext>
            </a:extLst>
          </p:cNvPr>
          <p:cNvSpPr/>
          <p:nvPr/>
        </p:nvSpPr>
        <p:spPr>
          <a:xfrm>
            <a:off x="7684638" y="2258568"/>
            <a:ext cx="274320" cy="274320"/>
          </a:xfrm>
          <a:prstGeom prst="ellipse">
            <a:avLst/>
          </a:prstGeom>
          <a:solidFill>
            <a:srgbClr val="FFFFFF"/>
          </a:solidFill>
          <a:ln w="15875">
            <a:solidFill>
              <a:srgbClr val="C198D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dotn15"/>
          <p:cNvSpPr txBox="1"/>
          <p:nvPr/>
        </p:nvSpPr>
        <p:spPr>
          <a:xfrm>
            <a:off x="7593198"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773E93"/>
                </a:solidFill>
                <a:latin typeface="Segoe UI"/>
              </a:rPr>
              <a:t>15</a:t>
            </a:r>
          </a:p>
        </p:txBody>
      </p:sp>
      <p:sp>
        <p:nvSpPr>
          <p:cNvPr id="49" name="!!dot16">
            <a:extLst>
              <a:ext uri="{C183D7F6-B498-43B3-948B-1728B52AA6E4}">
                <adec:decorative xmlns:adec="http://schemas.microsoft.com/office/drawing/2017/decorative" val="1"/>
              </a:ext>
            </a:extLst>
          </p:cNvPr>
          <p:cNvSpPr/>
          <p:nvPr/>
        </p:nvSpPr>
        <p:spPr>
          <a:xfrm>
            <a:off x="8094164" y="2258568"/>
            <a:ext cx="274320" cy="274320"/>
          </a:xfrm>
          <a:prstGeom prst="ellipse">
            <a:avLst/>
          </a:prstGeom>
          <a:solidFill>
            <a:srgbClr val="FFFFFF"/>
          </a:solidFill>
          <a:ln w="15875">
            <a:solidFill>
              <a:srgbClr val="C198D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dotn16"/>
          <p:cNvSpPr txBox="1"/>
          <p:nvPr/>
        </p:nvSpPr>
        <p:spPr>
          <a:xfrm>
            <a:off x="8002724"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773E93"/>
                </a:solidFill>
                <a:latin typeface="Segoe UI"/>
              </a:rPr>
              <a:t>16</a:t>
            </a:r>
          </a:p>
        </p:txBody>
      </p:sp>
      <p:sp>
        <p:nvSpPr>
          <p:cNvPr id="51" name="!!dot17">
            <a:extLst>
              <a:ext uri="{C183D7F6-B498-43B3-948B-1728B52AA6E4}">
                <adec:decorative xmlns:adec="http://schemas.microsoft.com/office/drawing/2017/decorative" val="1"/>
              </a:ext>
            </a:extLst>
          </p:cNvPr>
          <p:cNvSpPr/>
          <p:nvPr/>
        </p:nvSpPr>
        <p:spPr>
          <a:xfrm>
            <a:off x="8503691" y="2258568"/>
            <a:ext cx="274320" cy="274320"/>
          </a:xfrm>
          <a:prstGeom prst="ellipse">
            <a:avLst/>
          </a:prstGeom>
          <a:solidFill>
            <a:srgbClr val="FFFFFF"/>
          </a:solidFill>
          <a:ln w="15875">
            <a:solidFill>
              <a:srgbClr val="C198D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2" name="!!dotn17"/>
          <p:cNvSpPr txBox="1"/>
          <p:nvPr/>
        </p:nvSpPr>
        <p:spPr>
          <a:xfrm>
            <a:off x="8412251"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773E93"/>
                </a:solidFill>
                <a:latin typeface="Segoe UI"/>
              </a:rPr>
              <a:t>17</a:t>
            </a:r>
          </a:p>
        </p:txBody>
      </p:sp>
      <p:sp>
        <p:nvSpPr>
          <p:cNvPr id="53" name="!!dot18">
            <a:extLst>
              <a:ext uri="{C183D7F6-B498-43B3-948B-1728B52AA6E4}">
                <adec:decorative xmlns:adec="http://schemas.microsoft.com/office/drawing/2017/decorative" val="1"/>
              </a:ext>
            </a:extLst>
          </p:cNvPr>
          <p:cNvSpPr/>
          <p:nvPr/>
        </p:nvSpPr>
        <p:spPr>
          <a:xfrm>
            <a:off x="9187537" y="2258568"/>
            <a:ext cx="274320" cy="274320"/>
          </a:xfrm>
          <a:prstGeom prst="ellipse">
            <a:avLst/>
          </a:prstGeom>
          <a:solidFill>
            <a:srgbClr val="FFFFFF"/>
          </a:solidFill>
          <a:ln w="15875">
            <a:solidFill>
              <a:srgbClr val="7CB6A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dotn18"/>
          <p:cNvSpPr txBox="1"/>
          <p:nvPr/>
        </p:nvSpPr>
        <p:spPr>
          <a:xfrm>
            <a:off x="90960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136959"/>
                </a:solidFill>
                <a:latin typeface="Segoe UI"/>
              </a:rPr>
              <a:t>18</a:t>
            </a:r>
          </a:p>
        </p:txBody>
      </p:sp>
      <p:sp>
        <p:nvSpPr>
          <p:cNvPr id="55" name="!!dot19">
            <a:extLst>
              <a:ext uri="{C183D7F6-B498-43B3-948B-1728B52AA6E4}">
                <adec:decorative xmlns:adec="http://schemas.microsoft.com/office/drawing/2017/decorative" val="1"/>
              </a:ext>
            </a:extLst>
          </p:cNvPr>
          <p:cNvSpPr/>
          <p:nvPr/>
        </p:nvSpPr>
        <p:spPr>
          <a:xfrm>
            <a:off x="9597064" y="2258568"/>
            <a:ext cx="274320" cy="274320"/>
          </a:xfrm>
          <a:prstGeom prst="ellipse">
            <a:avLst/>
          </a:prstGeom>
          <a:solidFill>
            <a:srgbClr val="FFFFFF"/>
          </a:solidFill>
          <a:ln w="15875">
            <a:solidFill>
              <a:srgbClr val="7CB6A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dotn19"/>
          <p:cNvSpPr txBox="1"/>
          <p:nvPr/>
        </p:nvSpPr>
        <p:spPr>
          <a:xfrm>
            <a:off x="9505624"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136959"/>
                </a:solidFill>
                <a:latin typeface="Segoe UI"/>
              </a:rPr>
              <a:t>19</a:t>
            </a:r>
          </a:p>
        </p:txBody>
      </p:sp>
      <p:sp>
        <p:nvSpPr>
          <p:cNvPr id="57" name="!!dot20">
            <a:extLst>
              <a:ext uri="{C183D7F6-B498-43B3-948B-1728B52AA6E4}">
                <adec:decorative xmlns:adec="http://schemas.microsoft.com/office/drawing/2017/decorative" val="1"/>
              </a:ext>
            </a:extLst>
          </p:cNvPr>
          <p:cNvSpPr/>
          <p:nvPr/>
        </p:nvSpPr>
        <p:spPr>
          <a:xfrm>
            <a:off x="10006590" y="2258568"/>
            <a:ext cx="274320" cy="274320"/>
          </a:xfrm>
          <a:prstGeom prst="ellipse">
            <a:avLst/>
          </a:prstGeom>
          <a:solidFill>
            <a:srgbClr val="FFFFFF"/>
          </a:solidFill>
          <a:ln w="15875">
            <a:solidFill>
              <a:srgbClr val="7CB6A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8" name="!!dotn20"/>
          <p:cNvSpPr txBox="1"/>
          <p:nvPr/>
        </p:nvSpPr>
        <p:spPr>
          <a:xfrm>
            <a:off x="9915150"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136959"/>
                </a:solidFill>
                <a:latin typeface="Segoe UI"/>
              </a:rPr>
              <a:t>20</a:t>
            </a:r>
          </a:p>
        </p:txBody>
      </p:sp>
      <p:sp>
        <p:nvSpPr>
          <p:cNvPr id="59" name="!!dot21">
            <a:extLst>
              <a:ext uri="{C183D7F6-B498-43B3-948B-1728B52AA6E4}">
                <adec:decorative xmlns:adec="http://schemas.microsoft.com/office/drawing/2017/decorative" val="1"/>
              </a:ext>
            </a:extLst>
          </p:cNvPr>
          <p:cNvSpPr/>
          <p:nvPr/>
        </p:nvSpPr>
        <p:spPr>
          <a:xfrm>
            <a:off x="10690437"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dotn21"/>
          <p:cNvSpPr txBox="1"/>
          <p:nvPr/>
        </p:nvSpPr>
        <p:spPr>
          <a:xfrm>
            <a:off x="105989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21</a:t>
            </a:r>
          </a:p>
        </p:txBody>
      </p:sp>
      <p:sp>
        <p:nvSpPr>
          <p:cNvPr id="61" name="!!dot22">
            <a:extLst>
              <a:ext uri="{C183D7F6-B498-43B3-948B-1728B52AA6E4}">
                <adec:decorative xmlns:adec="http://schemas.microsoft.com/office/drawing/2017/decorative" val="1"/>
              </a:ext>
            </a:extLst>
          </p:cNvPr>
          <p:cNvSpPr/>
          <p:nvPr/>
        </p:nvSpPr>
        <p:spPr>
          <a:xfrm>
            <a:off x="11099963"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2" name="!!dotn22"/>
          <p:cNvSpPr txBox="1"/>
          <p:nvPr/>
        </p:nvSpPr>
        <p:spPr>
          <a:xfrm>
            <a:off x="11008523"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22</a:t>
            </a:r>
          </a:p>
        </p:txBody>
      </p:sp>
      <p:sp>
        <p:nvSpPr>
          <p:cNvPr id="63" name="!!dotlabel"/>
          <p:cNvSpPr txBox="1"/>
          <p:nvPr/>
        </p:nvSpPr>
        <p:spPr>
          <a:xfrm>
            <a:off x="915418" y="2798064"/>
            <a:ext cx="5852160" cy="310896"/>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236794"/>
                </a:solidFill>
                <a:latin typeface="Segoe UI"/>
              </a:rPr>
              <a:t>Overfitting, Bias–Variance and Regularisation</a:t>
            </a:r>
          </a:p>
        </p:txBody>
      </p:sp>
      <p:sp>
        <p:nvSpPr>
          <p:cNvPr id="64" name="!!dep-BUILD"/>
          <p:cNvSpPr txBox="1"/>
          <p:nvPr/>
        </p:nvSpPr>
        <p:spPr>
          <a:xfrm>
            <a:off x="658368" y="3419856"/>
            <a:ext cx="5208879" cy="256032"/>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5F6F7B"/>
                </a:solidFill>
                <a:latin typeface="Segoe UI"/>
              </a:rPr>
              <a:t>BUILDS ON</a:t>
            </a:r>
          </a:p>
        </p:txBody>
      </p:sp>
      <p:sp>
        <p:nvSpPr>
          <p:cNvPr id="65" name="!!chipBU3">
            <a:extLst>
              <a:ext uri="{C183D7F6-B498-43B3-948B-1728B52AA6E4}">
                <adec:decorative xmlns:adec="http://schemas.microsoft.com/office/drawing/2017/decorative" val="1"/>
              </a:ext>
            </a:extLst>
          </p:cNvPr>
          <p:cNvSpPr/>
          <p:nvPr/>
        </p:nvSpPr>
        <p:spPr>
          <a:xfrm>
            <a:off x="658368" y="3785616"/>
            <a:ext cx="5208879" cy="420624"/>
          </a:xfrm>
          <a:prstGeom prst="roundRect">
            <a:avLst>
              <a:gd name="adj" fmla="val 17391"/>
            </a:avLst>
          </a:prstGeom>
          <a:solidFill>
            <a:srgbClr val="E8EEF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6" name="!!chipbBU3">
            <a:extLst>
              <a:ext uri="{C183D7F6-B498-43B3-948B-1728B52AA6E4}">
                <adec:decorative xmlns:adec="http://schemas.microsoft.com/office/drawing/2017/decorative" val="1"/>
              </a:ext>
            </a:extLst>
          </p:cNvPr>
          <p:cNvSpPr/>
          <p:nvPr/>
        </p:nvSpPr>
        <p:spPr>
          <a:xfrm>
            <a:off x="658368" y="3785616"/>
            <a:ext cx="64008" cy="42062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7" name="!!chiptBU3"/>
          <p:cNvSpPr txBox="1"/>
          <p:nvPr/>
        </p:nvSpPr>
        <p:spPr>
          <a:xfrm>
            <a:off x="859536" y="3877056"/>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A5276"/>
                </a:solidFill>
                <a:latin typeface="Segoe UI"/>
              </a:rPr>
              <a:t>Ch 3  </a:t>
            </a:r>
            <a:r>
              <a:rPr sz="1400" b="0" i="0">
                <a:solidFill>
                  <a:srgbClr val="1C252B"/>
                </a:solidFill>
                <a:latin typeface="Segoe UI"/>
              </a:rPr>
              <a:t>The Machine Learning Workflow and Toolkit</a:t>
            </a:r>
          </a:p>
        </p:txBody>
      </p:sp>
      <p:sp>
        <p:nvSpPr>
          <p:cNvPr id="68" name="!!chipBU5">
            <a:extLst>
              <a:ext uri="{C183D7F6-B498-43B3-948B-1728B52AA6E4}">
                <adec:decorative xmlns:adec="http://schemas.microsoft.com/office/drawing/2017/decorative" val="1"/>
              </a:ext>
            </a:extLst>
          </p:cNvPr>
          <p:cNvSpPr/>
          <p:nvPr/>
        </p:nvSpPr>
        <p:spPr>
          <a:xfrm>
            <a:off x="658368" y="4297680"/>
            <a:ext cx="5208879" cy="420624"/>
          </a:xfrm>
          <a:prstGeom prst="roundRect">
            <a:avLst>
              <a:gd name="adj" fmla="val 17391"/>
            </a:avLst>
          </a:prstGeom>
          <a:solidFill>
            <a:srgbClr val="E9F0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9" name="!!chipbBU5">
            <a:extLst>
              <a:ext uri="{C183D7F6-B498-43B3-948B-1728B52AA6E4}">
                <adec:decorative xmlns:adec="http://schemas.microsoft.com/office/drawing/2017/decorative" val="1"/>
              </a:ext>
            </a:extLst>
          </p:cNvPr>
          <p:cNvSpPr/>
          <p:nvPr/>
        </p:nvSpPr>
        <p:spPr>
          <a:xfrm>
            <a:off x="658368" y="4297680"/>
            <a:ext cx="64008" cy="420624"/>
          </a:xfrm>
          <a:prstGeom prst="rect">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0" name="!!chiptBU5"/>
          <p:cNvSpPr txBox="1"/>
          <p:nvPr/>
        </p:nvSpPr>
        <p:spPr>
          <a:xfrm>
            <a:off x="859536" y="4389120"/>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236794"/>
                </a:solidFill>
                <a:latin typeface="Segoe UI"/>
              </a:rPr>
              <a:t>Ch 5  </a:t>
            </a:r>
            <a:r>
              <a:rPr sz="1400" b="0" i="0">
                <a:solidFill>
                  <a:srgbClr val="1C252B"/>
                </a:solidFill>
                <a:latin typeface="Segoe UI"/>
              </a:rPr>
              <a:t>Linear Regression</a:t>
            </a:r>
          </a:p>
        </p:txBody>
      </p:sp>
      <p:sp>
        <p:nvSpPr>
          <p:cNvPr id="71" name="!!chipBU6">
            <a:extLst>
              <a:ext uri="{C183D7F6-B498-43B3-948B-1728B52AA6E4}">
                <adec:decorative xmlns:adec="http://schemas.microsoft.com/office/drawing/2017/decorative" val="1"/>
              </a:ext>
            </a:extLst>
          </p:cNvPr>
          <p:cNvSpPr/>
          <p:nvPr/>
        </p:nvSpPr>
        <p:spPr>
          <a:xfrm>
            <a:off x="658368" y="4809744"/>
            <a:ext cx="5208879" cy="420624"/>
          </a:xfrm>
          <a:prstGeom prst="roundRect">
            <a:avLst>
              <a:gd name="adj" fmla="val 17391"/>
            </a:avLst>
          </a:prstGeom>
          <a:solidFill>
            <a:srgbClr val="E9F0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2" name="!!chipbBU6">
            <a:extLst>
              <a:ext uri="{C183D7F6-B498-43B3-948B-1728B52AA6E4}">
                <adec:decorative xmlns:adec="http://schemas.microsoft.com/office/drawing/2017/decorative" val="1"/>
              </a:ext>
            </a:extLst>
          </p:cNvPr>
          <p:cNvSpPr/>
          <p:nvPr/>
        </p:nvSpPr>
        <p:spPr>
          <a:xfrm>
            <a:off x="658368" y="4809744"/>
            <a:ext cx="64008" cy="420624"/>
          </a:xfrm>
          <a:prstGeom prst="rect">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3" name="!!chiptBU6"/>
          <p:cNvSpPr txBox="1"/>
          <p:nvPr/>
        </p:nvSpPr>
        <p:spPr>
          <a:xfrm>
            <a:off x="859536" y="4901184"/>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236794"/>
                </a:solidFill>
                <a:latin typeface="Segoe UI"/>
              </a:rPr>
              <a:t>Ch 6  </a:t>
            </a:r>
            <a:r>
              <a:rPr sz="1400" b="0" i="0">
                <a:solidFill>
                  <a:srgbClr val="1C252B"/>
                </a:solidFill>
                <a:latin typeface="Segoe UI"/>
              </a:rPr>
              <a:t>Logistic Regression</a:t>
            </a:r>
          </a:p>
        </p:txBody>
      </p:sp>
      <p:sp>
        <p:nvSpPr>
          <p:cNvPr id="74" name="!!dep-USED "/>
          <p:cNvSpPr txBox="1"/>
          <p:nvPr/>
        </p:nvSpPr>
        <p:spPr>
          <a:xfrm>
            <a:off x="6324447" y="3419856"/>
            <a:ext cx="5208879" cy="256032"/>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5F6F7B"/>
                </a:solidFill>
                <a:latin typeface="Segoe UI"/>
              </a:rPr>
              <a:t>USED LATER IN</a:t>
            </a:r>
          </a:p>
        </p:txBody>
      </p:sp>
      <p:sp>
        <p:nvSpPr>
          <p:cNvPr id="75" name="!!chipUS8">
            <a:extLst>
              <a:ext uri="{C183D7F6-B498-43B3-948B-1728B52AA6E4}">
                <adec:decorative xmlns:adec="http://schemas.microsoft.com/office/drawing/2017/decorative" val="1"/>
              </a:ext>
            </a:extLst>
          </p:cNvPr>
          <p:cNvSpPr/>
          <p:nvPr/>
        </p:nvSpPr>
        <p:spPr>
          <a:xfrm>
            <a:off x="6324447" y="3785616"/>
            <a:ext cx="5208879" cy="420624"/>
          </a:xfrm>
          <a:prstGeom prst="roundRect">
            <a:avLst>
              <a:gd name="adj" fmla="val 17391"/>
            </a:avLst>
          </a:prstGeom>
          <a:solidFill>
            <a:srgbClr val="E9F0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6" name="!!chipbUS8">
            <a:extLst>
              <a:ext uri="{C183D7F6-B498-43B3-948B-1728B52AA6E4}">
                <adec:decorative xmlns:adec="http://schemas.microsoft.com/office/drawing/2017/decorative" val="1"/>
              </a:ext>
            </a:extLst>
          </p:cNvPr>
          <p:cNvSpPr/>
          <p:nvPr/>
        </p:nvSpPr>
        <p:spPr>
          <a:xfrm>
            <a:off x="6324447" y="3785616"/>
            <a:ext cx="64008" cy="420624"/>
          </a:xfrm>
          <a:prstGeom prst="rect">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7" name="!!chiptUS8"/>
          <p:cNvSpPr txBox="1"/>
          <p:nvPr/>
        </p:nvSpPr>
        <p:spPr>
          <a:xfrm>
            <a:off x="6525615" y="3877056"/>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236794"/>
                </a:solidFill>
                <a:latin typeface="Segoe UI"/>
              </a:rPr>
              <a:t>Ch 8  </a:t>
            </a:r>
            <a:r>
              <a:rPr sz="1400" b="0" i="0">
                <a:solidFill>
                  <a:srgbClr val="1C252B"/>
                </a:solidFill>
                <a:latin typeface="Segoe UI"/>
              </a:rPr>
              <a:t>Measuring Classifier Performance</a:t>
            </a:r>
          </a:p>
        </p:txBody>
      </p:sp>
      <p:sp>
        <p:nvSpPr>
          <p:cNvPr id="78" name="!!chipUS9">
            <a:extLst>
              <a:ext uri="{C183D7F6-B498-43B3-948B-1728B52AA6E4}">
                <adec:decorative xmlns:adec="http://schemas.microsoft.com/office/drawing/2017/decorative" val="1"/>
              </a:ext>
            </a:extLst>
          </p:cNvPr>
          <p:cNvSpPr/>
          <p:nvPr/>
        </p:nvSpPr>
        <p:spPr>
          <a:xfrm>
            <a:off x="6324447" y="4297680"/>
            <a:ext cx="5208879" cy="420624"/>
          </a:xfrm>
          <a:prstGeom prst="roundRect">
            <a:avLst>
              <a:gd name="adj" fmla="val 17391"/>
            </a:avLst>
          </a:prstGeom>
          <a:solidFill>
            <a:srgbClr val="E8F2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9" name="!!chipbUS9">
            <a:extLst>
              <a:ext uri="{C183D7F6-B498-43B3-948B-1728B52AA6E4}">
                <adec:decorative xmlns:adec="http://schemas.microsoft.com/office/drawing/2017/decorative" val="1"/>
              </a:ext>
            </a:extLst>
          </p:cNvPr>
          <p:cNvSpPr/>
          <p:nvPr/>
        </p:nvSpPr>
        <p:spPr>
          <a:xfrm>
            <a:off x="6324447" y="4297680"/>
            <a:ext cx="64008" cy="420624"/>
          </a:xfrm>
          <a:prstGeom prst="rect">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0" name="!!chiptUS9"/>
          <p:cNvSpPr txBox="1"/>
          <p:nvPr/>
        </p:nvSpPr>
        <p:spPr>
          <a:xfrm>
            <a:off x="6525615" y="4389120"/>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B7A43"/>
                </a:solidFill>
                <a:latin typeface="Segoe UI"/>
              </a:rPr>
              <a:t>Ch 9  </a:t>
            </a:r>
            <a:r>
              <a:rPr sz="1400" b="0" i="0">
                <a:solidFill>
                  <a:srgbClr val="1C252B"/>
                </a:solidFill>
                <a:latin typeface="Segoe UI"/>
              </a:rPr>
              <a:t>Decision Tree Learning</a:t>
            </a:r>
          </a:p>
        </p:txBody>
      </p:sp>
      <p:sp>
        <p:nvSpPr>
          <p:cNvPr id="81" name="!!chipUS11">
            <a:extLst>
              <a:ext uri="{C183D7F6-B498-43B3-948B-1728B52AA6E4}">
                <adec:decorative xmlns:adec="http://schemas.microsoft.com/office/drawing/2017/decorative" val="1"/>
              </a:ext>
            </a:extLst>
          </p:cNvPr>
          <p:cNvSpPr/>
          <p:nvPr/>
        </p:nvSpPr>
        <p:spPr>
          <a:xfrm>
            <a:off x="6324447" y="4809744"/>
            <a:ext cx="5208879" cy="420624"/>
          </a:xfrm>
          <a:prstGeom prst="roundRect">
            <a:avLst>
              <a:gd name="adj" fmla="val 17391"/>
            </a:avLst>
          </a:prstGeom>
          <a:solidFill>
            <a:srgbClr val="E8F2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2" name="!!chipbUS11">
            <a:extLst>
              <a:ext uri="{C183D7F6-B498-43B3-948B-1728B52AA6E4}">
                <adec:decorative xmlns:adec="http://schemas.microsoft.com/office/drawing/2017/decorative" val="1"/>
              </a:ext>
            </a:extLst>
          </p:cNvPr>
          <p:cNvSpPr/>
          <p:nvPr/>
        </p:nvSpPr>
        <p:spPr>
          <a:xfrm>
            <a:off x="6324447" y="4809744"/>
            <a:ext cx="64008" cy="420624"/>
          </a:xfrm>
          <a:prstGeom prst="rect">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3" name="!!chiptUS11"/>
          <p:cNvSpPr txBox="1"/>
          <p:nvPr/>
        </p:nvSpPr>
        <p:spPr>
          <a:xfrm>
            <a:off x="6525615" y="4901184"/>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B7A43"/>
                </a:solidFill>
                <a:latin typeface="Segoe UI"/>
              </a:rPr>
              <a:t>Ch 11  </a:t>
            </a:r>
            <a:r>
              <a:rPr sz="1400" b="0" i="0">
                <a:solidFill>
                  <a:srgbClr val="1C252B"/>
                </a:solidFill>
                <a:latin typeface="Segoe UI"/>
              </a:rPr>
              <a:t>Instance-Based Learning: k-Nearest Neighbours</a:t>
            </a:r>
          </a:p>
        </p:txBody>
      </p:sp>
      <p:sp>
        <p:nvSpPr>
          <p:cNvPr id="84" name="!!chipUS12">
            <a:extLst>
              <a:ext uri="{C183D7F6-B498-43B3-948B-1728B52AA6E4}">
                <adec:decorative xmlns:adec="http://schemas.microsoft.com/office/drawing/2017/decorative" val="1"/>
              </a:ext>
            </a:extLst>
          </p:cNvPr>
          <p:cNvSpPr/>
          <p:nvPr/>
        </p:nvSpPr>
        <p:spPr>
          <a:xfrm>
            <a:off x="6324447" y="5321808"/>
            <a:ext cx="5208879" cy="420624"/>
          </a:xfrm>
          <a:prstGeom prst="roundRect">
            <a:avLst>
              <a:gd name="adj" fmla="val 17391"/>
            </a:avLst>
          </a:prstGeom>
          <a:solidFill>
            <a:srgbClr val="E8F2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5" name="!!chipbUS12">
            <a:extLst>
              <a:ext uri="{C183D7F6-B498-43B3-948B-1728B52AA6E4}">
                <adec:decorative xmlns:adec="http://schemas.microsoft.com/office/drawing/2017/decorative" val="1"/>
              </a:ext>
            </a:extLst>
          </p:cNvPr>
          <p:cNvSpPr/>
          <p:nvPr/>
        </p:nvSpPr>
        <p:spPr>
          <a:xfrm>
            <a:off x="6324447" y="5321808"/>
            <a:ext cx="64008" cy="420624"/>
          </a:xfrm>
          <a:prstGeom prst="rect">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6" name="!!chiptUS12"/>
          <p:cNvSpPr txBox="1"/>
          <p:nvPr/>
        </p:nvSpPr>
        <p:spPr>
          <a:xfrm>
            <a:off x="6525615" y="5413248"/>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B7A43"/>
                </a:solidFill>
                <a:latin typeface="Segoe UI"/>
              </a:rPr>
              <a:t>Ch 12  </a:t>
            </a:r>
            <a:r>
              <a:rPr sz="1400" b="0" i="0">
                <a:solidFill>
                  <a:srgbClr val="1C252B"/>
                </a:solidFill>
                <a:latin typeface="Segoe UI"/>
              </a:rPr>
              <a:t>Support Vector Machines</a:t>
            </a:r>
          </a:p>
        </p:txBody>
      </p:sp>
      <p:sp>
        <p:nvSpPr>
          <p:cNvPr id="87" name="!!chipUS13">
            <a:extLst>
              <a:ext uri="{C183D7F6-B498-43B3-948B-1728B52AA6E4}">
                <adec:decorative xmlns:adec="http://schemas.microsoft.com/office/drawing/2017/decorative" val="1"/>
              </a:ext>
            </a:extLst>
          </p:cNvPr>
          <p:cNvSpPr/>
          <p:nvPr/>
        </p:nvSpPr>
        <p:spPr>
          <a:xfrm>
            <a:off x="6324447" y="5833872"/>
            <a:ext cx="5208879" cy="420624"/>
          </a:xfrm>
          <a:prstGeom prst="roundRect">
            <a:avLst>
              <a:gd name="adj" fmla="val 17391"/>
            </a:avLst>
          </a:prstGeom>
          <a:solidFill>
            <a:srgbClr val="E8F2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8" name="!!chipbUS13">
            <a:extLst>
              <a:ext uri="{C183D7F6-B498-43B3-948B-1728B52AA6E4}">
                <adec:decorative xmlns:adec="http://schemas.microsoft.com/office/drawing/2017/decorative" val="1"/>
              </a:ext>
            </a:extLst>
          </p:cNvPr>
          <p:cNvSpPr/>
          <p:nvPr/>
        </p:nvSpPr>
        <p:spPr>
          <a:xfrm>
            <a:off x="6324447" y="5833872"/>
            <a:ext cx="64008" cy="420624"/>
          </a:xfrm>
          <a:prstGeom prst="rect">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9" name="!!chiptUS13"/>
          <p:cNvSpPr txBox="1"/>
          <p:nvPr/>
        </p:nvSpPr>
        <p:spPr>
          <a:xfrm>
            <a:off x="6525615" y="5925312"/>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B7A43"/>
                </a:solidFill>
                <a:latin typeface="Segoe UI"/>
              </a:rPr>
              <a:t>Ch 13  </a:t>
            </a:r>
            <a:r>
              <a:rPr sz="1400" b="0" i="0">
                <a:solidFill>
                  <a:srgbClr val="1C252B"/>
                </a:solidFill>
                <a:latin typeface="Segoe UI"/>
              </a:rPr>
              <a:t>Artificial Neural Networks</a:t>
            </a:r>
          </a:p>
        </p:txBody>
      </p:sp>
      <p:sp>
        <p:nvSpPr>
          <p:cNvPr id="9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1" name="!!pfill">
            <a:extLst>
              <a:ext uri="{C183D7F6-B498-43B3-948B-1728B52AA6E4}">
                <adec:decorative xmlns:adec="http://schemas.microsoft.com/office/drawing/2017/decorative" val="1"/>
              </a:ext>
            </a:extLst>
          </p:cNvPr>
          <p:cNvSpPr/>
          <p:nvPr/>
        </p:nvSpPr>
        <p:spPr>
          <a:xfrm>
            <a:off x="0" y="0"/>
            <a:ext cx="497620"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you will be able to do</a:t>
            </a:r>
          </a:p>
        </p:txBody>
      </p:sp>
      <p:pic>
        <p:nvPicPr>
          <p:cNvPr id="3" name="!!kicker-icon" descr="bullseye-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LEARNING OUTCOMES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7  ·  Overfitting, Bias–Variance and Regularisation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51     </a:t>
            </a:r>
            <a:fld id="{0B8E0528-8790-4FCC-981B-1CD6F1DCE05B}" type="slidenum">
              <a:rPr lang="en-GB" sz="1000">
                <a:solidFill>
                  <a:srgbClr val="8795A1"/>
                </a:solidFill>
                <a:latin typeface="Segoe UI"/>
              </a:rPr>
              <a:t>3</a:t>
            </a:fld>
          </a:p>
        </p:txBody>
      </p:sp>
      <p:sp>
        <p:nvSpPr>
          <p:cNvPr id="7" name="!!olead"/>
          <p:cNvSpPr txBox="1"/>
          <p:nvPr/>
        </p:nvSpPr>
        <p:spPr>
          <a:xfrm>
            <a:off x="658368" y="1737360"/>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600" b="0" i="0">
                <a:solidFill>
                  <a:srgbClr val="5F6F7B"/>
                </a:solidFill>
                <a:latin typeface="Segoe UI"/>
              </a:rPr>
              <a:t>By the end of this chapter you will be able to:</a:t>
            </a:r>
          </a:p>
        </p:txBody>
      </p:sp>
      <p:sp>
        <p:nvSpPr>
          <p:cNvPr id="8" name="!!ob0">
            <a:extLst>
              <a:ext uri="{C183D7F6-B498-43B3-948B-1728B52AA6E4}">
                <adec:decorative xmlns:adec="http://schemas.microsoft.com/office/drawing/2017/decorative" val="1"/>
              </a:ext>
            </a:extLst>
          </p:cNvPr>
          <p:cNvSpPr/>
          <p:nvPr/>
        </p:nvSpPr>
        <p:spPr>
          <a:xfrm>
            <a:off x="658368" y="2221991"/>
            <a:ext cx="420624" cy="420624"/>
          </a:xfrm>
          <a:prstGeom prst="ellipse">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obn0"/>
          <p:cNvSpPr txBox="1"/>
          <p:nvPr/>
        </p:nvSpPr>
        <p:spPr>
          <a:xfrm>
            <a:off x="658368" y="2281428"/>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1</a:t>
            </a:r>
          </a:p>
        </p:txBody>
      </p:sp>
      <p:sp>
        <p:nvSpPr>
          <p:cNvPr id="10" name="!!ot0"/>
          <p:cNvSpPr txBox="1"/>
          <p:nvPr/>
        </p:nvSpPr>
        <p:spPr>
          <a:xfrm>
            <a:off x="1316736" y="2212848"/>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236794"/>
                </a:solidFill>
                <a:latin typeface="Segoe UI"/>
              </a:rPr>
              <a:t>Distinguish</a:t>
            </a:r>
            <a:r>
              <a:rPr sz="2100" b="0" i="0">
                <a:solidFill>
                  <a:srgbClr val="1C252B"/>
                </a:solidFill>
                <a:latin typeface="Segoe UI"/>
              </a:rPr>
              <a:t> training error from true error, and </a:t>
            </a:r>
            <a:r>
              <a:rPr sz="2100" b="1" i="0">
                <a:solidFill>
                  <a:srgbClr val="1C252B"/>
                </a:solidFill>
                <a:latin typeface="Segoe UI"/>
              </a:rPr>
              <a:t>recognise</a:t>
            </a:r>
            <a:r>
              <a:rPr sz="2100" b="0" i="0">
                <a:solidFill>
                  <a:srgbClr val="1C252B"/>
                </a:solidFill>
                <a:latin typeface="Segoe UI"/>
              </a:rPr>
              <a:t> underfitting and overfitting from both.</a:t>
            </a:r>
          </a:p>
        </p:txBody>
      </p:sp>
      <p:sp>
        <p:nvSpPr>
          <p:cNvPr id="11" name="!!ob1">
            <a:extLst>
              <a:ext uri="{C183D7F6-B498-43B3-948B-1728B52AA6E4}">
                <adec:decorative xmlns:adec="http://schemas.microsoft.com/office/drawing/2017/decorative" val="1"/>
              </a:ext>
            </a:extLst>
          </p:cNvPr>
          <p:cNvSpPr/>
          <p:nvPr/>
        </p:nvSpPr>
        <p:spPr>
          <a:xfrm>
            <a:off x="658368" y="3070555"/>
            <a:ext cx="420624" cy="420624"/>
          </a:xfrm>
          <a:prstGeom prst="ellipse">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obn1"/>
          <p:cNvSpPr txBox="1"/>
          <p:nvPr/>
        </p:nvSpPr>
        <p:spPr>
          <a:xfrm>
            <a:off x="658368" y="3129991"/>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2</a:t>
            </a:r>
          </a:p>
        </p:txBody>
      </p:sp>
      <p:sp>
        <p:nvSpPr>
          <p:cNvPr id="13" name="!!ot1"/>
          <p:cNvSpPr txBox="1"/>
          <p:nvPr/>
        </p:nvSpPr>
        <p:spPr>
          <a:xfrm>
            <a:off x="1316736" y="3061411"/>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236794"/>
                </a:solidFill>
                <a:latin typeface="Segoe UI"/>
              </a:rPr>
              <a:t>Decompose</a:t>
            </a:r>
            <a:r>
              <a:rPr sz="2100" b="0" i="0">
                <a:solidFill>
                  <a:srgbClr val="1C252B"/>
                </a:solidFill>
                <a:latin typeface="Segoe UI"/>
              </a:rPr>
              <a:t> expected error into bias, variance and noise, and </a:t>
            </a:r>
            <a:r>
              <a:rPr sz="2100" b="1" i="0">
                <a:solidFill>
                  <a:srgbClr val="1C252B"/>
                </a:solidFill>
                <a:latin typeface="Segoe UI"/>
              </a:rPr>
              <a:t>compute</a:t>
            </a:r>
            <a:r>
              <a:rPr sz="2100" b="0" i="0">
                <a:solidFill>
                  <a:srgbClr val="1C252B"/>
                </a:solidFill>
                <a:latin typeface="Segoe UI"/>
              </a:rPr>
              <a:t> each from repeated predictions.</a:t>
            </a:r>
          </a:p>
        </p:txBody>
      </p:sp>
      <p:sp>
        <p:nvSpPr>
          <p:cNvPr id="14" name="!!ob2">
            <a:extLst>
              <a:ext uri="{C183D7F6-B498-43B3-948B-1728B52AA6E4}">
                <adec:decorative xmlns:adec="http://schemas.microsoft.com/office/drawing/2017/decorative" val="1"/>
              </a:ext>
            </a:extLst>
          </p:cNvPr>
          <p:cNvSpPr/>
          <p:nvPr/>
        </p:nvSpPr>
        <p:spPr>
          <a:xfrm>
            <a:off x="658368" y="3919118"/>
            <a:ext cx="420624" cy="420624"/>
          </a:xfrm>
          <a:prstGeom prst="ellipse">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obn2"/>
          <p:cNvSpPr txBox="1"/>
          <p:nvPr/>
        </p:nvSpPr>
        <p:spPr>
          <a:xfrm>
            <a:off x="658368" y="3978554"/>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3</a:t>
            </a:r>
          </a:p>
        </p:txBody>
      </p:sp>
      <p:sp>
        <p:nvSpPr>
          <p:cNvPr id="16" name="!!ot2"/>
          <p:cNvSpPr txBox="1"/>
          <p:nvPr/>
        </p:nvSpPr>
        <p:spPr>
          <a:xfrm>
            <a:off x="1316736" y="3960266"/>
            <a:ext cx="10216591" cy="420624"/>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236794"/>
                </a:solidFill>
                <a:latin typeface="Segoe UI"/>
              </a:rPr>
              <a:t>Diagnose</a:t>
            </a:r>
            <a:r>
              <a:rPr sz="2100" b="0" i="0">
                <a:solidFill>
                  <a:srgbClr val="1C252B"/>
                </a:solidFill>
                <a:latin typeface="Segoe UI"/>
              </a:rPr>
              <a:t> a model from its learning curves and </a:t>
            </a:r>
            <a:r>
              <a:rPr sz="2100" b="1" i="0">
                <a:solidFill>
                  <a:srgbClr val="1C252B"/>
                </a:solidFill>
                <a:latin typeface="Segoe UI"/>
              </a:rPr>
              <a:t>choose</a:t>
            </a:r>
            <a:r>
              <a:rPr sz="2100" b="0" i="0">
                <a:solidFill>
                  <a:srgbClr val="1C252B"/>
                </a:solidFill>
                <a:latin typeface="Segoe UI"/>
              </a:rPr>
              <a:t> the right remedy.</a:t>
            </a:r>
          </a:p>
        </p:txBody>
      </p:sp>
      <p:sp>
        <p:nvSpPr>
          <p:cNvPr id="17" name="!!ob3">
            <a:extLst>
              <a:ext uri="{C183D7F6-B498-43B3-948B-1728B52AA6E4}">
                <adec:decorative xmlns:adec="http://schemas.microsoft.com/office/drawing/2017/decorative" val="1"/>
              </a:ext>
            </a:extLst>
          </p:cNvPr>
          <p:cNvSpPr/>
          <p:nvPr/>
        </p:nvSpPr>
        <p:spPr>
          <a:xfrm>
            <a:off x="658368" y="4522622"/>
            <a:ext cx="420624" cy="420624"/>
          </a:xfrm>
          <a:prstGeom prst="ellipse">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obn3"/>
          <p:cNvSpPr txBox="1"/>
          <p:nvPr/>
        </p:nvSpPr>
        <p:spPr>
          <a:xfrm>
            <a:off x="658368" y="4582058"/>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4</a:t>
            </a:r>
          </a:p>
        </p:txBody>
      </p:sp>
      <p:sp>
        <p:nvSpPr>
          <p:cNvPr id="19" name="!!ot3"/>
          <p:cNvSpPr txBox="1"/>
          <p:nvPr/>
        </p:nvSpPr>
        <p:spPr>
          <a:xfrm>
            <a:off x="1316736" y="4513478"/>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236794"/>
                </a:solidFill>
                <a:latin typeface="Segoe UI"/>
              </a:rPr>
              <a:t>Apply</a:t>
            </a:r>
            <a:r>
              <a:rPr sz="2100" b="0" i="0">
                <a:solidFill>
                  <a:srgbClr val="1C252B"/>
                </a:solidFill>
                <a:latin typeface="Segoe UI"/>
              </a:rPr>
              <a:t> ridge and lasso regularisation and </a:t>
            </a:r>
            <a:r>
              <a:rPr sz="2100" b="1" i="0">
                <a:solidFill>
                  <a:srgbClr val="1C252B"/>
                </a:solidFill>
                <a:latin typeface="Segoe UI"/>
              </a:rPr>
              <a:t>explain</a:t>
            </a:r>
            <a:r>
              <a:rPr sz="2100" b="0" i="0">
                <a:solidFill>
                  <a:srgbClr val="1C252B"/>
                </a:solidFill>
                <a:latin typeface="Segoe UI"/>
              </a:rPr>
              <a:t> how the penalty strength trades bias for variance.</a:t>
            </a:r>
          </a:p>
        </p:txBody>
      </p:sp>
      <p:sp>
        <p:nvSpPr>
          <p:cNvPr id="20" name="!!ob4">
            <a:extLst>
              <a:ext uri="{C183D7F6-B498-43B3-948B-1728B52AA6E4}">
                <adec:decorative xmlns:adec="http://schemas.microsoft.com/office/drawing/2017/decorative" val="1"/>
              </a:ext>
            </a:extLst>
          </p:cNvPr>
          <p:cNvSpPr/>
          <p:nvPr/>
        </p:nvSpPr>
        <p:spPr>
          <a:xfrm>
            <a:off x="658368" y="5371185"/>
            <a:ext cx="420624" cy="420624"/>
          </a:xfrm>
          <a:prstGeom prst="ellipse">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obn4"/>
          <p:cNvSpPr txBox="1"/>
          <p:nvPr/>
        </p:nvSpPr>
        <p:spPr>
          <a:xfrm>
            <a:off x="658368" y="5430621"/>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5</a:t>
            </a:r>
          </a:p>
        </p:txBody>
      </p:sp>
      <p:sp>
        <p:nvSpPr>
          <p:cNvPr id="22" name="!!ot4"/>
          <p:cNvSpPr txBox="1"/>
          <p:nvPr/>
        </p:nvSpPr>
        <p:spPr>
          <a:xfrm>
            <a:off x="1316736" y="5362041"/>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236794"/>
                </a:solidFill>
                <a:latin typeface="Segoe UI"/>
              </a:rPr>
              <a:t>Select</a:t>
            </a:r>
            <a:r>
              <a:rPr sz="2100" b="0" i="0">
                <a:solidFill>
                  <a:srgbClr val="1C252B"/>
                </a:solidFill>
                <a:latin typeface="Segoe UI"/>
              </a:rPr>
              <a:t> a model and its hyperparameters with </a:t>
            </a:r>
            <a:r>
              <a:rPr sz="2100" b="0" i="1">
                <a:solidFill>
                  <a:srgbClr val="1C252B"/>
                </a:solidFill>
                <a:latin typeface="Cambria"/>
              </a:rPr>
              <a:t>k</a:t>
            </a:r>
            <a:r>
              <a:rPr sz="2100" b="0" i="0">
                <a:solidFill>
                  <a:srgbClr val="1C252B"/>
                </a:solidFill>
                <a:latin typeface="Segoe UI"/>
              </a:rPr>
              <a:t>-fold cross-validation, touching the test set only once.</a:t>
            </a:r>
          </a:p>
        </p:txBody>
      </p:sp>
      <p:sp>
        <p:nvSpPr>
          <p:cNvPr id="5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pfill">
            <a:extLst>
              <a:ext uri="{C183D7F6-B498-43B3-948B-1728B52AA6E4}">
                <adec:decorative xmlns:adec="http://schemas.microsoft.com/office/drawing/2017/decorative" val="1"/>
              </a:ext>
            </a:extLst>
          </p:cNvPr>
          <p:cNvSpPr/>
          <p:nvPr/>
        </p:nvSpPr>
        <p:spPr>
          <a:xfrm>
            <a:off x="0" y="0"/>
            <a:ext cx="746430"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zoom(in)">
                                      <p:cBhvr>
                                        <p:cTn id="8" dur="300"/>
                                        <p:tgtEl>
                                          <p:spTgt spid="8"/>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300"/>
                                        <p:tgtEl>
                                          <p:spTgt spid="9"/>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wipe(right)">
                                      <p:cBhvr>
                                        <p:cTn id="14" dur="420"/>
                                        <p:tgtEl>
                                          <p:spTgt spid="10"/>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zoom(in)">
                                      <p:cBhvr>
                                        <p:cTn id="19" dur="300"/>
                                        <p:tgtEl>
                                          <p:spTgt spid="1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300"/>
                                        <p:tgtEl>
                                          <p:spTgt spid="12"/>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wipe(right)">
                                      <p:cBhvr>
                                        <p:cTn id="25" dur="420"/>
                                        <p:tgtEl>
                                          <p:spTgt spid="13"/>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zoom(in)">
                                      <p:cBhvr>
                                        <p:cTn id="30" dur="300"/>
                                        <p:tgtEl>
                                          <p:spTgt spid="1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300"/>
                                        <p:tgtEl>
                                          <p:spTgt spid="15"/>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wipe(right)">
                                      <p:cBhvr>
                                        <p:cTn id="36" dur="420"/>
                                        <p:tgtEl>
                                          <p:spTgt spid="16"/>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zoom(in)">
                                      <p:cBhvr>
                                        <p:cTn id="41" dur="300"/>
                                        <p:tgtEl>
                                          <p:spTgt spid="1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300"/>
                                        <p:tgtEl>
                                          <p:spTgt spid="18"/>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9"/>
                                        </p:tgtEl>
                                        <p:attrNameLst>
                                          <p:attrName>style.visibility</p:attrName>
                                        </p:attrNameLst>
                                      </p:cBhvr>
                                      <p:to>
                                        <p:strVal val="visible"/>
                                      </p:to>
                                    </p:set>
                                    <p:animEffect transition="in" filter="wipe(right)">
                                      <p:cBhvr>
                                        <p:cTn id="47" dur="420"/>
                                        <p:tgtEl>
                                          <p:spTgt spid="19"/>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20"/>
                                        </p:tgtEl>
                                        <p:attrNameLst>
                                          <p:attrName>style.visibility</p:attrName>
                                        </p:attrNameLst>
                                      </p:cBhvr>
                                      <p:to>
                                        <p:strVal val="visible"/>
                                      </p:to>
                                    </p:set>
                                    <p:animEffect transition="in" filter="zoom(in)">
                                      <p:cBhvr>
                                        <p:cTn id="52" dur="300"/>
                                        <p:tgtEl>
                                          <p:spTgt spid="20"/>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1"/>
                                        </p:tgtEl>
                                        <p:attrNameLst>
                                          <p:attrName>style.visibility</p:attrName>
                                        </p:attrNameLst>
                                      </p:cBhvr>
                                      <p:to>
                                        <p:strVal val="visible"/>
                                      </p:to>
                                    </p:set>
                                    <p:animEffect transition="in" filter="fade">
                                      <p:cBhvr>
                                        <p:cTn id="55" dur="300"/>
                                        <p:tgtEl>
                                          <p:spTgt spid="21"/>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wipe(right)">
                                      <p:cBhvr>
                                        <p:cTn id="58" dur="42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Vocabulary for this chapter</a:t>
            </a:r>
          </a:p>
        </p:txBody>
      </p:sp>
      <p:pic>
        <p:nvPicPr>
          <p:cNvPr id="3" name="!!kicker-icon" descr="tags-8E44AD.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7256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8E44AD"/>
                </a:solidFill>
                <a:latin typeface="Segoe UI"/>
              </a:rPr>
              <a:t>KEY TERMS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7  ·  Overfitting, Bias–Variance and Regularisation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51     </a:t>
            </a:r>
            <a:fld id="{B33C966E-6585-4767-86D4-4DB8CAA47B4D}" type="slidenum">
              <a:rPr lang="en-GB" sz="1000">
                <a:solidFill>
                  <a:srgbClr val="8795A1"/>
                </a:solidFill>
                <a:latin typeface="Segoe UI"/>
              </a:rPr>
              <a:t>4</a:t>
            </a:fld>
          </a:p>
        </p:txBody>
      </p:sp>
      <p:sp>
        <p:nvSpPr>
          <p:cNvPr id="7" name="!!term-generalisation">
            <a:extLst>
              <a:ext uri="{C183D7F6-B498-43B3-948B-1728B52AA6E4}">
                <adec:decorative xmlns:adec="http://schemas.microsoft.com/office/drawing/2017/decorative" val="1"/>
              </a:ext>
            </a:extLst>
          </p:cNvPr>
          <p:cNvSpPr/>
          <p:nvPr/>
        </p:nvSpPr>
        <p:spPr>
          <a:xfrm>
            <a:off x="658368" y="1847088"/>
            <a:ext cx="1645188"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ermd-generalisation">
            <a:extLst>
              <a:ext uri="{C183D7F6-B498-43B3-948B-1728B52AA6E4}">
                <adec:decorative xmlns:adec="http://schemas.microsoft.com/office/drawing/2017/decorative" val="1"/>
              </a:ext>
            </a:extLst>
          </p:cNvPr>
          <p:cNvSpPr/>
          <p:nvPr/>
        </p:nvSpPr>
        <p:spPr>
          <a:xfrm>
            <a:off x="786384"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termt-generalisation"/>
          <p:cNvSpPr txBox="1"/>
          <p:nvPr/>
        </p:nvSpPr>
        <p:spPr>
          <a:xfrm>
            <a:off x="950976" y="1970532"/>
            <a:ext cx="1462308"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generalisation</a:t>
            </a:r>
          </a:p>
        </p:txBody>
      </p:sp>
      <p:sp>
        <p:nvSpPr>
          <p:cNvPr id="10" name="!!term-training error">
            <a:extLst>
              <a:ext uri="{C183D7F6-B498-43B3-948B-1728B52AA6E4}">
                <adec:decorative xmlns:adec="http://schemas.microsoft.com/office/drawing/2017/decorative" val="1"/>
              </a:ext>
            </a:extLst>
          </p:cNvPr>
          <p:cNvSpPr/>
          <p:nvPr/>
        </p:nvSpPr>
        <p:spPr>
          <a:xfrm>
            <a:off x="2449860" y="1847088"/>
            <a:ext cx="1571311"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termd-training error">
            <a:extLst>
              <a:ext uri="{C183D7F6-B498-43B3-948B-1728B52AA6E4}">
                <adec:decorative xmlns:adec="http://schemas.microsoft.com/office/drawing/2017/decorative" val="1"/>
              </a:ext>
            </a:extLst>
          </p:cNvPr>
          <p:cNvSpPr/>
          <p:nvPr/>
        </p:nvSpPr>
        <p:spPr>
          <a:xfrm>
            <a:off x="2577876"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rmt-training error"/>
          <p:cNvSpPr txBox="1"/>
          <p:nvPr/>
        </p:nvSpPr>
        <p:spPr>
          <a:xfrm>
            <a:off x="2742468" y="1970532"/>
            <a:ext cx="1388431"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training error</a:t>
            </a:r>
          </a:p>
        </p:txBody>
      </p:sp>
      <p:sp>
        <p:nvSpPr>
          <p:cNvPr id="13" name="!!term-true error">
            <a:extLst>
              <a:ext uri="{C183D7F6-B498-43B3-948B-1728B52AA6E4}">
                <adec:decorative xmlns:adec="http://schemas.microsoft.com/office/drawing/2017/decorative" val="1"/>
              </a:ext>
            </a:extLst>
          </p:cNvPr>
          <p:cNvSpPr/>
          <p:nvPr/>
        </p:nvSpPr>
        <p:spPr>
          <a:xfrm>
            <a:off x="4167475" y="1847088"/>
            <a:ext cx="1255557"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rmd-true error">
            <a:extLst>
              <a:ext uri="{C183D7F6-B498-43B3-948B-1728B52AA6E4}">
                <adec:decorative xmlns:adec="http://schemas.microsoft.com/office/drawing/2017/decorative" val="1"/>
              </a:ext>
            </a:extLst>
          </p:cNvPr>
          <p:cNvSpPr/>
          <p:nvPr/>
        </p:nvSpPr>
        <p:spPr>
          <a:xfrm>
            <a:off x="4295491"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termt-true error"/>
          <p:cNvSpPr txBox="1"/>
          <p:nvPr/>
        </p:nvSpPr>
        <p:spPr>
          <a:xfrm>
            <a:off x="4460083" y="1970532"/>
            <a:ext cx="1072677"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true error</a:t>
            </a:r>
          </a:p>
        </p:txBody>
      </p:sp>
      <p:sp>
        <p:nvSpPr>
          <p:cNvPr id="16" name="!!term-generalisation">
            <a:extLst>
              <a:ext uri="{C183D7F6-B498-43B3-948B-1728B52AA6E4}">
                <adec:decorative xmlns:adec="http://schemas.microsoft.com/office/drawing/2017/decorative" val="1"/>
              </a:ext>
            </a:extLst>
          </p:cNvPr>
          <p:cNvSpPr/>
          <p:nvPr/>
        </p:nvSpPr>
        <p:spPr>
          <a:xfrm>
            <a:off x="5569337" y="1847088"/>
            <a:ext cx="2026036"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termd-generalisation">
            <a:extLst>
              <a:ext uri="{C183D7F6-B498-43B3-948B-1728B52AA6E4}">
                <adec:decorative xmlns:adec="http://schemas.microsoft.com/office/drawing/2017/decorative" val="1"/>
              </a:ext>
            </a:extLst>
          </p:cNvPr>
          <p:cNvSpPr/>
          <p:nvPr/>
        </p:nvSpPr>
        <p:spPr>
          <a:xfrm>
            <a:off x="5697353"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termt-generalisation"/>
          <p:cNvSpPr txBox="1"/>
          <p:nvPr/>
        </p:nvSpPr>
        <p:spPr>
          <a:xfrm>
            <a:off x="5861945" y="1970532"/>
            <a:ext cx="1843156"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generalisation gap</a:t>
            </a:r>
          </a:p>
        </p:txBody>
      </p:sp>
      <p:sp>
        <p:nvSpPr>
          <p:cNvPr id="19" name="!!term-underfitting">
            <a:extLst>
              <a:ext uri="{C183D7F6-B498-43B3-948B-1728B52AA6E4}">
                <adec:decorative xmlns:adec="http://schemas.microsoft.com/office/drawing/2017/decorative" val="1"/>
              </a:ext>
            </a:extLst>
          </p:cNvPr>
          <p:cNvSpPr/>
          <p:nvPr/>
        </p:nvSpPr>
        <p:spPr>
          <a:xfrm>
            <a:off x="7741677" y="1847088"/>
            <a:ext cx="1453656"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termd-underfitting">
            <a:extLst>
              <a:ext uri="{C183D7F6-B498-43B3-948B-1728B52AA6E4}">
                <adec:decorative xmlns:adec="http://schemas.microsoft.com/office/drawing/2017/decorative" val="1"/>
              </a:ext>
            </a:extLst>
          </p:cNvPr>
          <p:cNvSpPr/>
          <p:nvPr/>
        </p:nvSpPr>
        <p:spPr>
          <a:xfrm>
            <a:off x="7869693"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termt-underfitting"/>
          <p:cNvSpPr txBox="1"/>
          <p:nvPr/>
        </p:nvSpPr>
        <p:spPr>
          <a:xfrm>
            <a:off x="8034285" y="1970532"/>
            <a:ext cx="1270776"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underfitting</a:t>
            </a:r>
          </a:p>
        </p:txBody>
      </p:sp>
      <p:sp>
        <p:nvSpPr>
          <p:cNvPr id="22" name="!!term-overfitting">
            <a:extLst>
              <a:ext uri="{C183D7F6-B498-43B3-948B-1728B52AA6E4}">
                <adec:decorative xmlns:adec="http://schemas.microsoft.com/office/drawing/2017/decorative" val="1"/>
              </a:ext>
            </a:extLst>
          </p:cNvPr>
          <p:cNvSpPr/>
          <p:nvPr/>
        </p:nvSpPr>
        <p:spPr>
          <a:xfrm>
            <a:off x="9341637" y="1847088"/>
            <a:ext cx="1326170"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termd-overfitting">
            <a:extLst>
              <a:ext uri="{C183D7F6-B498-43B3-948B-1728B52AA6E4}">
                <adec:decorative xmlns:adec="http://schemas.microsoft.com/office/drawing/2017/decorative" val="1"/>
              </a:ext>
            </a:extLst>
          </p:cNvPr>
          <p:cNvSpPr/>
          <p:nvPr/>
        </p:nvSpPr>
        <p:spPr>
          <a:xfrm>
            <a:off x="9469653"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termt-overfitting"/>
          <p:cNvSpPr txBox="1"/>
          <p:nvPr/>
        </p:nvSpPr>
        <p:spPr>
          <a:xfrm>
            <a:off x="9634245" y="1970532"/>
            <a:ext cx="1143290"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overfitting</a:t>
            </a:r>
          </a:p>
        </p:txBody>
      </p:sp>
      <p:sp>
        <p:nvSpPr>
          <p:cNvPr id="25" name="!!term-model complexi">
            <a:extLst>
              <a:ext uri="{C183D7F6-B498-43B3-948B-1728B52AA6E4}">
                <adec:decorative xmlns:adec="http://schemas.microsoft.com/office/drawing/2017/decorative" val="1"/>
              </a:ext>
            </a:extLst>
          </p:cNvPr>
          <p:cNvSpPr/>
          <p:nvPr/>
        </p:nvSpPr>
        <p:spPr>
          <a:xfrm>
            <a:off x="658368" y="2468880"/>
            <a:ext cx="1966382"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termd-model complexi">
            <a:extLst>
              <a:ext uri="{C183D7F6-B498-43B3-948B-1728B52AA6E4}">
                <adec:decorative xmlns:adec="http://schemas.microsoft.com/office/drawing/2017/decorative" val="1"/>
              </a:ext>
            </a:extLst>
          </p:cNvPr>
          <p:cNvSpPr/>
          <p:nvPr/>
        </p:nvSpPr>
        <p:spPr>
          <a:xfrm>
            <a:off x="786384"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rmt-model complexi"/>
          <p:cNvSpPr txBox="1"/>
          <p:nvPr/>
        </p:nvSpPr>
        <p:spPr>
          <a:xfrm>
            <a:off x="950976" y="2592324"/>
            <a:ext cx="1783502"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model complexity</a:t>
            </a:r>
          </a:p>
        </p:txBody>
      </p:sp>
      <p:sp>
        <p:nvSpPr>
          <p:cNvPr id="28" name="!!term-bias">
            <a:extLst>
              <a:ext uri="{C183D7F6-B498-43B3-948B-1728B52AA6E4}">
                <adec:decorative xmlns:adec="http://schemas.microsoft.com/office/drawing/2017/decorative" val="1"/>
              </a:ext>
            </a:extLst>
          </p:cNvPr>
          <p:cNvSpPr/>
          <p:nvPr/>
        </p:nvSpPr>
        <p:spPr>
          <a:xfrm>
            <a:off x="2771054" y="2468880"/>
            <a:ext cx="781480"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rmd-bias">
            <a:extLst>
              <a:ext uri="{C183D7F6-B498-43B3-948B-1728B52AA6E4}">
                <adec:decorative xmlns:adec="http://schemas.microsoft.com/office/drawing/2017/decorative" val="1"/>
              </a:ext>
            </a:extLst>
          </p:cNvPr>
          <p:cNvSpPr/>
          <p:nvPr/>
        </p:nvSpPr>
        <p:spPr>
          <a:xfrm>
            <a:off x="2899070"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rmt-bias"/>
          <p:cNvSpPr txBox="1"/>
          <p:nvPr/>
        </p:nvSpPr>
        <p:spPr>
          <a:xfrm>
            <a:off x="3063662" y="2592324"/>
            <a:ext cx="598600"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bias</a:t>
            </a:r>
          </a:p>
        </p:txBody>
      </p:sp>
      <p:sp>
        <p:nvSpPr>
          <p:cNvPr id="31" name="!!term-variance">
            <a:extLst>
              <a:ext uri="{C183D7F6-B498-43B3-948B-1728B52AA6E4}">
                <adec:decorative xmlns:adec="http://schemas.microsoft.com/office/drawing/2017/decorative" val="1"/>
              </a:ext>
            </a:extLst>
          </p:cNvPr>
          <p:cNvSpPr/>
          <p:nvPr/>
        </p:nvSpPr>
        <p:spPr>
          <a:xfrm>
            <a:off x="3698839" y="2468880"/>
            <a:ext cx="1145757"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rmd-variance">
            <a:extLst>
              <a:ext uri="{C183D7F6-B498-43B3-948B-1728B52AA6E4}">
                <adec:decorative xmlns:adec="http://schemas.microsoft.com/office/drawing/2017/decorative" val="1"/>
              </a:ext>
            </a:extLst>
          </p:cNvPr>
          <p:cNvSpPr/>
          <p:nvPr/>
        </p:nvSpPr>
        <p:spPr>
          <a:xfrm>
            <a:off x="3826855"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rmt-variance"/>
          <p:cNvSpPr txBox="1"/>
          <p:nvPr/>
        </p:nvSpPr>
        <p:spPr>
          <a:xfrm>
            <a:off x="3991447" y="2592324"/>
            <a:ext cx="962877"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variance</a:t>
            </a:r>
          </a:p>
        </p:txBody>
      </p:sp>
      <p:sp>
        <p:nvSpPr>
          <p:cNvPr id="34" name="!!term-irreducible er">
            <a:extLst>
              <a:ext uri="{C183D7F6-B498-43B3-948B-1728B52AA6E4}">
                <adec:decorative xmlns:adec="http://schemas.microsoft.com/office/drawing/2017/decorative" val="1"/>
              </a:ext>
            </a:extLst>
          </p:cNvPr>
          <p:cNvSpPr/>
          <p:nvPr/>
        </p:nvSpPr>
        <p:spPr>
          <a:xfrm>
            <a:off x="4990900" y="2468880"/>
            <a:ext cx="2443917"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rmd-irreducible er">
            <a:extLst>
              <a:ext uri="{C183D7F6-B498-43B3-948B-1728B52AA6E4}">
                <adec:decorative xmlns:adec="http://schemas.microsoft.com/office/drawing/2017/decorative" val="1"/>
              </a:ext>
            </a:extLst>
          </p:cNvPr>
          <p:cNvSpPr/>
          <p:nvPr/>
        </p:nvSpPr>
        <p:spPr>
          <a:xfrm>
            <a:off x="5118916"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rmt-irreducible er"/>
          <p:cNvSpPr txBox="1"/>
          <p:nvPr/>
        </p:nvSpPr>
        <p:spPr>
          <a:xfrm>
            <a:off x="5283508" y="2592324"/>
            <a:ext cx="2261037"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irreducible error (noise)</a:t>
            </a:r>
          </a:p>
        </p:txBody>
      </p:sp>
      <p:sp>
        <p:nvSpPr>
          <p:cNvPr id="37" name="!!term-learning curve">
            <a:extLst>
              <a:ext uri="{C183D7F6-B498-43B3-948B-1728B52AA6E4}">
                <adec:decorative xmlns:adec="http://schemas.microsoft.com/office/drawing/2017/decorative" val="1"/>
              </a:ext>
            </a:extLst>
          </p:cNvPr>
          <p:cNvSpPr/>
          <p:nvPr/>
        </p:nvSpPr>
        <p:spPr>
          <a:xfrm>
            <a:off x="7581122" y="2468880"/>
            <a:ext cx="1650920"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rmd-learning curve">
            <a:extLst>
              <a:ext uri="{C183D7F6-B498-43B3-948B-1728B52AA6E4}">
                <adec:decorative xmlns:adec="http://schemas.microsoft.com/office/drawing/2017/decorative" val="1"/>
              </a:ext>
            </a:extLst>
          </p:cNvPr>
          <p:cNvSpPr/>
          <p:nvPr/>
        </p:nvSpPr>
        <p:spPr>
          <a:xfrm>
            <a:off x="7709138"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rmt-learning curve"/>
          <p:cNvSpPr txBox="1"/>
          <p:nvPr/>
        </p:nvSpPr>
        <p:spPr>
          <a:xfrm>
            <a:off x="7873730" y="2592324"/>
            <a:ext cx="1468040"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learning curve</a:t>
            </a:r>
          </a:p>
        </p:txBody>
      </p:sp>
      <p:sp>
        <p:nvSpPr>
          <p:cNvPr id="40" name="!!term-regularisation">
            <a:extLst>
              <a:ext uri="{C183D7F6-B498-43B3-948B-1728B52AA6E4}">
                <adec:decorative xmlns:adec="http://schemas.microsoft.com/office/drawing/2017/decorative" val="1"/>
              </a:ext>
            </a:extLst>
          </p:cNvPr>
          <p:cNvSpPr/>
          <p:nvPr/>
        </p:nvSpPr>
        <p:spPr>
          <a:xfrm>
            <a:off x="9378347" y="2468880"/>
            <a:ext cx="1611144"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termd-regularisation">
            <a:extLst>
              <a:ext uri="{C183D7F6-B498-43B3-948B-1728B52AA6E4}">
                <adec:decorative xmlns:adec="http://schemas.microsoft.com/office/drawing/2017/decorative" val="1"/>
              </a:ext>
            </a:extLst>
          </p:cNvPr>
          <p:cNvSpPr/>
          <p:nvPr/>
        </p:nvSpPr>
        <p:spPr>
          <a:xfrm>
            <a:off x="9506363"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rmt-regularisation"/>
          <p:cNvSpPr txBox="1"/>
          <p:nvPr/>
        </p:nvSpPr>
        <p:spPr>
          <a:xfrm>
            <a:off x="9670955" y="2592324"/>
            <a:ext cx="1428264"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regularisation</a:t>
            </a:r>
          </a:p>
        </p:txBody>
      </p:sp>
      <p:sp>
        <p:nvSpPr>
          <p:cNvPr id="43" name="!!term-ridge (L2)">
            <a:extLst>
              <a:ext uri="{C183D7F6-B498-43B3-948B-1728B52AA6E4}">
                <adec:decorative xmlns:adec="http://schemas.microsoft.com/office/drawing/2017/decorative" val="1"/>
              </a:ext>
            </a:extLst>
          </p:cNvPr>
          <p:cNvSpPr/>
          <p:nvPr/>
        </p:nvSpPr>
        <p:spPr>
          <a:xfrm>
            <a:off x="658368" y="3090672"/>
            <a:ext cx="1250933"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termd-ridge (L2)">
            <a:extLst>
              <a:ext uri="{C183D7F6-B498-43B3-948B-1728B52AA6E4}">
                <adec:decorative xmlns:adec="http://schemas.microsoft.com/office/drawing/2017/decorative" val="1"/>
              </a:ext>
            </a:extLst>
          </p:cNvPr>
          <p:cNvSpPr/>
          <p:nvPr/>
        </p:nvSpPr>
        <p:spPr>
          <a:xfrm>
            <a:off x="786384"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termt-ridge (L2)"/>
          <p:cNvSpPr txBox="1"/>
          <p:nvPr/>
        </p:nvSpPr>
        <p:spPr>
          <a:xfrm>
            <a:off x="950976" y="3214116"/>
            <a:ext cx="1068053"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ridge (L2)</a:t>
            </a:r>
          </a:p>
        </p:txBody>
      </p:sp>
      <p:sp>
        <p:nvSpPr>
          <p:cNvPr id="46" name="!!term-lasso (L1)">
            <a:extLst>
              <a:ext uri="{C183D7F6-B498-43B3-948B-1728B52AA6E4}">
                <adec:decorative xmlns:adec="http://schemas.microsoft.com/office/drawing/2017/decorative" val="1"/>
              </a:ext>
            </a:extLst>
          </p:cNvPr>
          <p:cNvSpPr/>
          <p:nvPr/>
        </p:nvSpPr>
        <p:spPr>
          <a:xfrm>
            <a:off x="2055605" y="3090672"/>
            <a:ext cx="1230336"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7" name="!!termd-lasso (L1)">
            <a:extLst>
              <a:ext uri="{C183D7F6-B498-43B3-948B-1728B52AA6E4}">
                <adec:decorative xmlns:adec="http://schemas.microsoft.com/office/drawing/2017/decorative" val="1"/>
              </a:ext>
            </a:extLst>
          </p:cNvPr>
          <p:cNvSpPr/>
          <p:nvPr/>
        </p:nvSpPr>
        <p:spPr>
          <a:xfrm>
            <a:off x="2183621"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termt-lasso (L1)"/>
          <p:cNvSpPr txBox="1"/>
          <p:nvPr/>
        </p:nvSpPr>
        <p:spPr>
          <a:xfrm>
            <a:off x="2348213" y="3214116"/>
            <a:ext cx="1047456"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lasso (L1)</a:t>
            </a:r>
          </a:p>
        </p:txBody>
      </p:sp>
      <p:sp>
        <p:nvSpPr>
          <p:cNvPr id="49" name="!!term-hyperparameter">
            <a:extLst>
              <a:ext uri="{C183D7F6-B498-43B3-948B-1728B52AA6E4}">
                <adec:decorative xmlns:adec="http://schemas.microsoft.com/office/drawing/2017/decorative" val="1"/>
              </a:ext>
            </a:extLst>
          </p:cNvPr>
          <p:cNvSpPr/>
          <p:nvPr/>
        </p:nvSpPr>
        <p:spPr>
          <a:xfrm>
            <a:off x="3432246" y="3090672"/>
            <a:ext cx="1810093"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termd-hyperparameter">
            <a:extLst>
              <a:ext uri="{C183D7F6-B498-43B3-948B-1728B52AA6E4}">
                <adec:decorative xmlns:adec="http://schemas.microsoft.com/office/drawing/2017/decorative" val="1"/>
              </a:ext>
            </a:extLst>
          </p:cNvPr>
          <p:cNvSpPr/>
          <p:nvPr/>
        </p:nvSpPr>
        <p:spPr>
          <a:xfrm>
            <a:off x="3560262"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rmt-hyperparameter"/>
          <p:cNvSpPr txBox="1"/>
          <p:nvPr/>
        </p:nvSpPr>
        <p:spPr>
          <a:xfrm>
            <a:off x="3724854" y="3214116"/>
            <a:ext cx="1627213"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hyperparameter</a:t>
            </a:r>
          </a:p>
        </p:txBody>
      </p:sp>
      <p:sp>
        <p:nvSpPr>
          <p:cNvPr id="52" name="!!term-k-fold cross-v">
            <a:extLst>
              <a:ext uri="{C183D7F6-B498-43B3-948B-1728B52AA6E4}">
                <adec:decorative xmlns:adec="http://schemas.microsoft.com/office/drawing/2017/decorative" val="1"/>
              </a:ext>
            </a:extLst>
          </p:cNvPr>
          <p:cNvSpPr/>
          <p:nvPr/>
        </p:nvSpPr>
        <p:spPr>
          <a:xfrm>
            <a:off x="5388644" y="3090672"/>
            <a:ext cx="2352176"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3" name="!!termd-k-fold cross-v">
            <a:extLst>
              <a:ext uri="{C183D7F6-B498-43B3-948B-1728B52AA6E4}">
                <adec:decorative xmlns:adec="http://schemas.microsoft.com/office/drawing/2017/decorative" val="1"/>
              </a:ext>
            </a:extLst>
          </p:cNvPr>
          <p:cNvSpPr/>
          <p:nvPr/>
        </p:nvSpPr>
        <p:spPr>
          <a:xfrm>
            <a:off x="5516660"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termt-k-fold cross-v"/>
          <p:cNvSpPr txBox="1"/>
          <p:nvPr/>
        </p:nvSpPr>
        <p:spPr>
          <a:xfrm>
            <a:off x="5681252" y="3214116"/>
            <a:ext cx="2169296"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k-fold cross-validation</a:t>
            </a:r>
          </a:p>
        </p:txBody>
      </p:sp>
      <p:sp>
        <p:nvSpPr>
          <p:cNvPr id="55" name="!!term-grid search">
            <a:extLst>
              <a:ext uri="{C183D7F6-B498-43B3-948B-1728B52AA6E4}">
                <adec:decorative xmlns:adec="http://schemas.microsoft.com/office/drawing/2017/decorative" val="1"/>
              </a:ext>
            </a:extLst>
          </p:cNvPr>
          <p:cNvSpPr/>
          <p:nvPr/>
        </p:nvSpPr>
        <p:spPr>
          <a:xfrm>
            <a:off x="7887124" y="3090672"/>
            <a:ext cx="1385939"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termd-grid search">
            <a:extLst>
              <a:ext uri="{C183D7F6-B498-43B3-948B-1728B52AA6E4}">
                <adec:decorative xmlns:adec="http://schemas.microsoft.com/office/drawing/2017/decorative" val="1"/>
              </a:ext>
            </a:extLst>
          </p:cNvPr>
          <p:cNvSpPr/>
          <p:nvPr/>
        </p:nvSpPr>
        <p:spPr>
          <a:xfrm>
            <a:off x="8015140"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7" name="!!termt-grid search"/>
          <p:cNvSpPr txBox="1"/>
          <p:nvPr/>
        </p:nvSpPr>
        <p:spPr>
          <a:xfrm>
            <a:off x="8179732" y="3214116"/>
            <a:ext cx="1203059"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grid search</a:t>
            </a:r>
          </a:p>
        </p:txBody>
      </p:sp>
      <p:sp>
        <p:nvSpPr>
          <p:cNvPr id="58" name="!!term-nested cross-v">
            <a:extLst>
              <a:ext uri="{C183D7F6-B498-43B3-948B-1728B52AA6E4}">
                <adec:decorative xmlns:adec="http://schemas.microsoft.com/office/drawing/2017/decorative" val="1"/>
              </a:ext>
            </a:extLst>
          </p:cNvPr>
          <p:cNvSpPr/>
          <p:nvPr/>
        </p:nvSpPr>
        <p:spPr>
          <a:xfrm>
            <a:off x="658368" y="3712464"/>
            <a:ext cx="2417840"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9" name="!!termd-nested cross-v">
            <a:extLst>
              <a:ext uri="{C183D7F6-B498-43B3-948B-1728B52AA6E4}">
                <adec:decorative xmlns:adec="http://schemas.microsoft.com/office/drawing/2017/decorative" val="1"/>
              </a:ext>
            </a:extLst>
          </p:cNvPr>
          <p:cNvSpPr/>
          <p:nvPr/>
        </p:nvSpPr>
        <p:spPr>
          <a:xfrm>
            <a:off x="786384" y="3904488"/>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termt-nested cross-v"/>
          <p:cNvSpPr txBox="1"/>
          <p:nvPr/>
        </p:nvSpPr>
        <p:spPr>
          <a:xfrm>
            <a:off x="950976" y="3835908"/>
            <a:ext cx="2234960"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nested cross-validation</a:t>
            </a:r>
          </a:p>
        </p:txBody>
      </p:sp>
      <p:sp>
        <p:nvSpPr>
          <p:cNvPr id="61" name="!!termnote"/>
          <p:cNvSpPr txBox="1"/>
          <p:nvPr/>
        </p:nvSpPr>
        <p:spPr>
          <a:xfrm>
            <a:off x="658368" y="4535424"/>
            <a:ext cx="10874959" cy="274320"/>
          </a:xfrm>
          <a:prstGeom prst="rect">
            <a:avLst/>
          </a:prstGeom>
          <a:noFill/>
        </p:spPr>
        <p:txBody>
          <a:bodyPr wrap="square" anchor="t" lIns="0" rIns="0" tIns="0" bIns="0">
            <a:noAutofit/>
          </a:bodyPr>
          <a:lstStyle/>
          <a:p>
            <a:pPr algn="l">
              <a:lnSpc>
                <a:spcPct val="100000"/>
              </a:lnSpc>
              <a:spcBef>
                <a:spcPts val="0"/>
              </a:spcBef>
              <a:spcAft>
                <a:spcPts val="0"/>
              </a:spcAft>
            </a:pPr>
            <a:r>
              <a:rPr sz="1350" b="0" i="1">
                <a:solidFill>
                  <a:srgbClr val="5F6F7B"/>
                </a:solidFill>
                <a:latin typeface="Segoe UI"/>
              </a:rPr>
              <a:t>Each term is defined where it first matters — not here.</a:t>
            </a:r>
          </a:p>
        </p:txBody>
      </p:sp>
      <p:sp>
        <p:nvSpPr>
          <p:cNvPr id="6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3" name="!!pfill">
            <a:extLst>
              <a:ext uri="{C183D7F6-B498-43B3-948B-1728B52AA6E4}">
                <adec:decorative xmlns:adec="http://schemas.microsoft.com/office/drawing/2017/decorative" val="1"/>
              </a:ext>
            </a:extLst>
          </p:cNvPr>
          <p:cNvSpPr/>
          <p:nvPr/>
        </p:nvSpPr>
        <p:spPr>
          <a:xfrm>
            <a:off x="0" y="0"/>
            <a:ext cx="995240"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In this chapter</a:t>
            </a:r>
          </a:p>
        </p:txBody>
      </p:sp>
      <p:pic>
        <p:nvPicPr>
          <p:cNvPr id="3" name="!!kicker-icon" descr="list-ul-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6883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IN THIS CHAPTER</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7  ·  Overfitting, Bias–Variance and Regularisation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pp. 51–58     </a:t>
            </a:r>
            <a:fld id="{602786A0-788E-4FA3-8958-C718A01739DF}" type="slidenum">
              <a:rPr lang="en-GB" sz="1000">
                <a:solidFill>
                  <a:srgbClr val="8795A1"/>
                </a:solidFill>
                <a:latin typeface="Segoe UI"/>
              </a:rPr>
              <a:t>5</a:t>
            </a:fld>
          </a:p>
        </p:txBody>
      </p:sp>
      <p:sp>
        <p:nvSpPr>
          <p:cNvPr id="7" name="!!ag0" descr="Go to section 7.1 The Goal Is Generalisation">
            <a:hlinkClick action="ppaction://hlinksldjump" r:id="rId5"/>
          </p:cNvPr>
          <p:cNvSpPr/>
          <p:nvPr/>
        </p:nvSpPr>
        <p:spPr>
          <a:xfrm>
            <a:off x="658368" y="177393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agb0">
            <a:extLst>
              <a:ext uri="{C183D7F6-B498-43B3-948B-1728B52AA6E4}">
                <adec:decorative xmlns:adec="http://schemas.microsoft.com/office/drawing/2017/decorative" val="1"/>
              </a:ext>
            </a:extLst>
          </p:cNvPr>
          <p:cNvSpPr/>
          <p:nvPr/>
        </p:nvSpPr>
        <p:spPr>
          <a:xfrm>
            <a:off x="658368" y="1773936"/>
            <a:ext cx="64008" cy="566928"/>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agn0"/>
          <p:cNvSpPr txBox="1"/>
          <p:nvPr/>
        </p:nvSpPr>
        <p:spPr>
          <a:xfrm>
            <a:off x="932688" y="192024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236794"/>
                </a:solidFill>
                <a:latin typeface="Segoe UI Semibold"/>
              </a:rPr>
              <a:t>7.1</a:t>
            </a:r>
          </a:p>
        </p:txBody>
      </p:sp>
      <p:sp>
        <p:nvSpPr>
          <p:cNvPr id="10" name="!!agt0"/>
          <p:cNvSpPr txBox="1"/>
          <p:nvPr/>
        </p:nvSpPr>
        <p:spPr>
          <a:xfrm>
            <a:off x="1847088" y="192024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The Goal Is Generalisation</a:t>
            </a:r>
          </a:p>
        </p:txBody>
      </p:sp>
      <p:sp>
        <p:nvSpPr>
          <p:cNvPr id="11" name="!!agp0"/>
          <p:cNvSpPr txBox="1"/>
          <p:nvPr/>
        </p:nvSpPr>
        <p:spPr>
          <a:xfrm>
            <a:off x="9795967" y="194767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51  ›</a:t>
            </a:r>
          </a:p>
        </p:txBody>
      </p:sp>
      <p:sp>
        <p:nvSpPr>
          <p:cNvPr id="12" name="!!ag1" descr="Go to section 7.2 Underfitting and Overfitting">
            <a:hlinkClick action="ppaction://hlinksldjump" r:id="rId6"/>
          </p:cNvPr>
          <p:cNvSpPr/>
          <p:nvPr/>
        </p:nvSpPr>
        <p:spPr>
          <a:xfrm>
            <a:off x="658368" y="2414015"/>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agb1">
            <a:extLst>
              <a:ext uri="{C183D7F6-B498-43B3-948B-1728B52AA6E4}">
                <adec:decorative xmlns:adec="http://schemas.microsoft.com/office/drawing/2017/decorative" val="1"/>
              </a:ext>
            </a:extLst>
          </p:cNvPr>
          <p:cNvSpPr/>
          <p:nvPr/>
        </p:nvSpPr>
        <p:spPr>
          <a:xfrm>
            <a:off x="658368" y="2414015"/>
            <a:ext cx="64008" cy="566928"/>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agn1"/>
          <p:cNvSpPr txBox="1"/>
          <p:nvPr/>
        </p:nvSpPr>
        <p:spPr>
          <a:xfrm>
            <a:off x="932688" y="256032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236794"/>
                </a:solidFill>
                <a:latin typeface="Segoe UI Semibold"/>
              </a:rPr>
              <a:t>7.2</a:t>
            </a:r>
          </a:p>
        </p:txBody>
      </p:sp>
      <p:sp>
        <p:nvSpPr>
          <p:cNvPr id="15" name="!!agt1"/>
          <p:cNvSpPr txBox="1"/>
          <p:nvPr/>
        </p:nvSpPr>
        <p:spPr>
          <a:xfrm>
            <a:off x="1847088" y="256032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Underfitting and Overfitting</a:t>
            </a:r>
          </a:p>
        </p:txBody>
      </p:sp>
      <p:sp>
        <p:nvSpPr>
          <p:cNvPr id="16" name="!!agp1"/>
          <p:cNvSpPr txBox="1"/>
          <p:nvPr/>
        </p:nvSpPr>
        <p:spPr>
          <a:xfrm>
            <a:off x="9795967" y="2587751"/>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51  ›</a:t>
            </a:r>
          </a:p>
        </p:txBody>
      </p:sp>
      <p:sp>
        <p:nvSpPr>
          <p:cNvPr id="17" name="!!ag2" descr="Go to section 7.3 The Bias–Variance Decomposition">
            <a:hlinkClick action="ppaction://hlinksldjump" r:id="rId7"/>
          </p:cNvPr>
          <p:cNvSpPr/>
          <p:nvPr/>
        </p:nvSpPr>
        <p:spPr>
          <a:xfrm>
            <a:off x="658368" y="305409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agb2">
            <a:extLst>
              <a:ext uri="{C183D7F6-B498-43B3-948B-1728B52AA6E4}">
                <adec:decorative xmlns:adec="http://schemas.microsoft.com/office/drawing/2017/decorative" val="1"/>
              </a:ext>
            </a:extLst>
          </p:cNvPr>
          <p:cNvSpPr/>
          <p:nvPr/>
        </p:nvSpPr>
        <p:spPr>
          <a:xfrm>
            <a:off x="658368" y="3054096"/>
            <a:ext cx="64008" cy="566928"/>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agn2"/>
          <p:cNvSpPr txBox="1"/>
          <p:nvPr/>
        </p:nvSpPr>
        <p:spPr>
          <a:xfrm>
            <a:off x="932688" y="320040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236794"/>
                </a:solidFill>
                <a:latin typeface="Segoe UI Semibold"/>
              </a:rPr>
              <a:t>7.3</a:t>
            </a:r>
          </a:p>
        </p:txBody>
      </p:sp>
      <p:sp>
        <p:nvSpPr>
          <p:cNvPr id="20" name="!!agt2"/>
          <p:cNvSpPr txBox="1"/>
          <p:nvPr/>
        </p:nvSpPr>
        <p:spPr>
          <a:xfrm>
            <a:off x="1847088" y="320040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The Bias–Variance Decomposition</a:t>
            </a:r>
          </a:p>
        </p:txBody>
      </p:sp>
      <p:sp>
        <p:nvSpPr>
          <p:cNvPr id="21" name="!!agp2"/>
          <p:cNvSpPr txBox="1"/>
          <p:nvPr/>
        </p:nvSpPr>
        <p:spPr>
          <a:xfrm>
            <a:off x="9795967" y="322783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52  ›</a:t>
            </a:r>
          </a:p>
        </p:txBody>
      </p:sp>
      <p:sp>
        <p:nvSpPr>
          <p:cNvPr id="22" name="!!ag3" descr="Go to section 7.4 Noisy Data">
            <a:hlinkClick action="ppaction://hlinksldjump" r:id="rId8"/>
          </p:cNvPr>
          <p:cNvSpPr/>
          <p:nvPr/>
        </p:nvSpPr>
        <p:spPr>
          <a:xfrm>
            <a:off x="658368" y="369417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agb3">
            <a:extLst>
              <a:ext uri="{C183D7F6-B498-43B3-948B-1728B52AA6E4}">
                <adec:decorative xmlns:adec="http://schemas.microsoft.com/office/drawing/2017/decorative" val="1"/>
              </a:ext>
            </a:extLst>
          </p:cNvPr>
          <p:cNvSpPr/>
          <p:nvPr/>
        </p:nvSpPr>
        <p:spPr>
          <a:xfrm>
            <a:off x="658368" y="3694176"/>
            <a:ext cx="64008" cy="566928"/>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agn3"/>
          <p:cNvSpPr txBox="1"/>
          <p:nvPr/>
        </p:nvSpPr>
        <p:spPr>
          <a:xfrm>
            <a:off x="932688" y="384048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236794"/>
                </a:solidFill>
                <a:latin typeface="Segoe UI Semibold"/>
              </a:rPr>
              <a:t>7.4</a:t>
            </a:r>
          </a:p>
        </p:txBody>
      </p:sp>
      <p:sp>
        <p:nvSpPr>
          <p:cNvPr id="25" name="!!agt3"/>
          <p:cNvSpPr txBox="1"/>
          <p:nvPr/>
        </p:nvSpPr>
        <p:spPr>
          <a:xfrm>
            <a:off x="1847088" y="384048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Noisy Data</a:t>
            </a:r>
          </a:p>
        </p:txBody>
      </p:sp>
      <p:sp>
        <p:nvSpPr>
          <p:cNvPr id="26" name="!!agp3"/>
          <p:cNvSpPr txBox="1"/>
          <p:nvPr/>
        </p:nvSpPr>
        <p:spPr>
          <a:xfrm>
            <a:off x="9795967" y="386791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54  ›</a:t>
            </a:r>
          </a:p>
        </p:txBody>
      </p:sp>
      <p:sp>
        <p:nvSpPr>
          <p:cNvPr id="27" name="!!ag4" descr="Go to section 7.5 Diagnosing With Learning Curves">
            <a:hlinkClick action="ppaction://hlinksldjump" r:id="rId9"/>
          </p:cNvPr>
          <p:cNvSpPr/>
          <p:nvPr/>
        </p:nvSpPr>
        <p:spPr>
          <a:xfrm>
            <a:off x="658368" y="433425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agb4">
            <a:extLst>
              <a:ext uri="{C183D7F6-B498-43B3-948B-1728B52AA6E4}">
                <adec:decorative xmlns:adec="http://schemas.microsoft.com/office/drawing/2017/decorative" val="1"/>
              </a:ext>
            </a:extLst>
          </p:cNvPr>
          <p:cNvSpPr/>
          <p:nvPr/>
        </p:nvSpPr>
        <p:spPr>
          <a:xfrm>
            <a:off x="658368" y="4334256"/>
            <a:ext cx="64008" cy="566928"/>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agn4"/>
          <p:cNvSpPr txBox="1"/>
          <p:nvPr/>
        </p:nvSpPr>
        <p:spPr>
          <a:xfrm>
            <a:off x="932688" y="448056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236794"/>
                </a:solidFill>
                <a:latin typeface="Segoe UI Semibold"/>
              </a:rPr>
              <a:t>7.5</a:t>
            </a:r>
          </a:p>
        </p:txBody>
      </p:sp>
      <p:sp>
        <p:nvSpPr>
          <p:cNvPr id="30" name="!!agt4"/>
          <p:cNvSpPr txBox="1"/>
          <p:nvPr/>
        </p:nvSpPr>
        <p:spPr>
          <a:xfrm>
            <a:off x="1847088" y="448056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Diagnosing With Learning Curves</a:t>
            </a:r>
          </a:p>
        </p:txBody>
      </p:sp>
      <p:sp>
        <p:nvSpPr>
          <p:cNvPr id="31" name="!!agp4"/>
          <p:cNvSpPr txBox="1"/>
          <p:nvPr/>
        </p:nvSpPr>
        <p:spPr>
          <a:xfrm>
            <a:off x="9795967" y="450799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54  ›</a:t>
            </a:r>
          </a:p>
        </p:txBody>
      </p:sp>
      <p:sp>
        <p:nvSpPr>
          <p:cNvPr id="32" name="!!ag5" descr="Go to section 7.6 Regularisation">
            <a:hlinkClick action="ppaction://hlinksldjump" r:id="rId10"/>
          </p:cNvPr>
          <p:cNvSpPr/>
          <p:nvPr/>
        </p:nvSpPr>
        <p:spPr>
          <a:xfrm>
            <a:off x="658368" y="497433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agb5">
            <a:extLst>
              <a:ext uri="{C183D7F6-B498-43B3-948B-1728B52AA6E4}">
                <adec:decorative xmlns:adec="http://schemas.microsoft.com/office/drawing/2017/decorative" val="1"/>
              </a:ext>
            </a:extLst>
          </p:cNvPr>
          <p:cNvSpPr/>
          <p:nvPr/>
        </p:nvSpPr>
        <p:spPr>
          <a:xfrm>
            <a:off x="658368" y="4974336"/>
            <a:ext cx="64008" cy="566928"/>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agn5"/>
          <p:cNvSpPr txBox="1"/>
          <p:nvPr/>
        </p:nvSpPr>
        <p:spPr>
          <a:xfrm>
            <a:off x="932688" y="512064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236794"/>
                </a:solidFill>
                <a:latin typeface="Segoe UI Semibold"/>
              </a:rPr>
              <a:t>7.6</a:t>
            </a:r>
          </a:p>
        </p:txBody>
      </p:sp>
      <p:sp>
        <p:nvSpPr>
          <p:cNvPr id="35" name="!!agt5"/>
          <p:cNvSpPr txBox="1"/>
          <p:nvPr/>
        </p:nvSpPr>
        <p:spPr>
          <a:xfrm>
            <a:off x="1847088" y="512064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Regularisation</a:t>
            </a:r>
          </a:p>
        </p:txBody>
      </p:sp>
      <p:sp>
        <p:nvSpPr>
          <p:cNvPr id="36" name="!!agp5"/>
          <p:cNvSpPr txBox="1"/>
          <p:nvPr/>
        </p:nvSpPr>
        <p:spPr>
          <a:xfrm>
            <a:off x="9795967" y="514807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54  ›</a:t>
            </a:r>
          </a:p>
        </p:txBody>
      </p:sp>
      <p:sp>
        <p:nvSpPr>
          <p:cNvPr id="37" name="!!ag6" descr="Go to section 7.7 Model Selection With Cross-Validation">
            <a:hlinkClick action="ppaction://hlinksldjump" r:id="rId11"/>
          </p:cNvPr>
          <p:cNvSpPr/>
          <p:nvPr/>
        </p:nvSpPr>
        <p:spPr>
          <a:xfrm>
            <a:off x="658368" y="561441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agb6">
            <a:extLst>
              <a:ext uri="{C183D7F6-B498-43B3-948B-1728B52AA6E4}">
                <adec:decorative xmlns:adec="http://schemas.microsoft.com/office/drawing/2017/decorative" val="1"/>
              </a:ext>
            </a:extLst>
          </p:cNvPr>
          <p:cNvSpPr/>
          <p:nvPr/>
        </p:nvSpPr>
        <p:spPr>
          <a:xfrm>
            <a:off x="658368" y="5614416"/>
            <a:ext cx="64008" cy="566928"/>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agn6"/>
          <p:cNvSpPr txBox="1"/>
          <p:nvPr/>
        </p:nvSpPr>
        <p:spPr>
          <a:xfrm>
            <a:off x="932688" y="576072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236794"/>
                </a:solidFill>
                <a:latin typeface="Segoe UI Semibold"/>
              </a:rPr>
              <a:t>7.7</a:t>
            </a:r>
          </a:p>
        </p:txBody>
      </p:sp>
      <p:sp>
        <p:nvSpPr>
          <p:cNvPr id="40" name="!!agt6"/>
          <p:cNvSpPr txBox="1"/>
          <p:nvPr/>
        </p:nvSpPr>
        <p:spPr>
          <a:xfrm>
            <a:off x="1847088" y="576072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Model Selection With Cross-Validation</a:t>
            </a:r>
          </a:p>
        </p:txBody>
      </p:sp>
      <p:sp>
        <p:nvSpPr>
          <p:cNvPr id="41" name="!!agp6"/>
          <p:cNvSpPr txBox="1"/>
          <p:nvPr/>
        </p:nvSpPr>
        <p:spPr>
          <a:xfrm>
            <a:off x="9795967" y="578815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55  ›</a:t>
            </a:r>
          </a:p>
        </p:txBody>
      </p:sp>
      <p:sp>
        <p:nvSpPr>
          <p:cNvPr id="4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pfill">
            <a:extLst>
              <a:ext uri="{C183D7F6-B498-43B3-948B-1728B52AA6E4}">
                <adec:decorative xmlns:adec="http://schemas.microsoft.com/office/drawing/2017/decorative" val="1"/>
              </a:ext>
            </a:extLst>
          </p:cNvPr>
          <p:cNvSpPr/>
          <p:nvPr/>
        </p:nvSpPr>
        <p:spPr>
          <a:xfrm>
            <a:off x="0" y="0"/>
            <a:ext cx="1244050"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The Goal Is Generalisation</a:t>
            </a:r>
          </a:p>
        </p:txBody>
      </p:sp>
      <p:pic>
        <p:nvPicPr>
          <p:cNvPr id="3" name="!!kicker-icon" descr="quote-left-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5007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KEY IDEA</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7  ·  Overfitting, Bias–Variance and Regularisation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§7.1  ·  Handout p. 51     </a:t>
            </a:r>
            <a:fld id="{0896689F-8B4C-4022-90AD-4524478969ED}" type="slidenum">
              <a:rPr lang="en-GB" sz="1000">
                <a:solidFill>
                  <a:srgbClr val="8795A1"/>
                </a:solidFill>
                <a:latin typeface="Segoe UI"/>
              </a:rPr>
              <a:t>6</a:t>
            </a:fld>
          </a:p>
        </p:txBody>
      </p:sp>
      <p:sp>
        <p:nvSpPr>
          <p:cNvPr id="7" name="!!stbar">
            <a:extLst>
              <a:ext uri="{C183D7F6-B498-43B3-948B-1728B52AA6E4}">
                <adec:decorative xmlns:adec="http://schemas.microsoft.com/office/drawing/2017/decorative" val="1"/>
              </a:ext>
            </a:extLst>
          </p:cNvPr>
          <p:cNvSpPr/>
          <p:nvPr/>
        </p:nvSpPr>
        <p:spPr>
          <a:xfrm>
            <a:off x="658368" y="1810512"/>
            <a:ext cx="73152" cy="2848051"/>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body-0"/>
          <p:cNvSpPr txBox="1"/>
          <p:nvPr/>
        </p:nvSpPr>
        <p:spPr>
          <a:xfrm>
            <a:off x="1042415" y="1792224"/>
            <a:ext cx="10417759" cy="2930347"/>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A model’s </a:t>
            </a:r>
            <a:r>
              <a:rPr sz="2600" b="1" i="0">
                <a:solidFill>
                  <a:srgbClr val="1A5276"/>
                </a:solidFill>
                <a:latin typeface="Segoe UI"/>
              </a:rPr>
              <a:t>training error</a:t>
            </a:r>
            <a:r>
              <a:rPr sz="2600" b="0" i="0">
                <a:solidFill>
                  <a:srgbClr val="1C252B"/>
                </a:solidFill>
                <a:latin typeface="Segoe UI"/>
              </a:rPr>
              <a:t> is its error on the examples it learned from. Its </a:t>
            </a:r>
            <a:r>
              <a:rPr sz="2600" b="1" i="0">
                <a:solidFill>
                  <a:srgbClr val="1A5276"/>
                </a:solidFill>
                <a:latin typeface="Segoe UI"/>
              </a:rPr>
              <a:t>true error</a:t>
            </a:r>
            <a:r>
              <a:rPr sz="2600" b="0" i="0">
                <a:solidFill>
                  <a:srgbClr val="1C252B"/>
                </a:solidFill>
                <a:latin typeface="Segoe UI"/>
              </a:rPr>
              <a:t> is its expected error on new examples drawn from the same source — the only error anybody cares about. The difference between the two is the </a:t>
            </a:r>
            <a:r>
              <a:rPr sz="2600" b="1" i="0">
                <a:solidFill>
                  <a:srgbClr val="1A5276"/>
                </a:solidFill>
                <a:latin typeface="Segoe UI"/>
              </a:rPr>
              <a:t>generalisation gap</a:t>
            </a:r>
            <a:r>
              <a:rPr sz="2600" b="0" i="0">
                <a:solidFill>
                  <a:srgbClr val="1C252B"/>
                </a:solidFill>
                <a:latin typeface="Segoe UI"/>
              </a:rPr>
              <a:t>. Training error is easy to measure and always optimistic; true error cannot be measured at all, only estimated on data the model has never seen. Everything in this chapter follows from taking that distinction seriously.</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1492860"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Underfitting and Overfitting</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BDD1DF"/>
                </a:solidFill>
                <a:latin typeface="Segoe UI"/>
              </a:rPr>
              <a:t>SECTION 2 OF 7</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7.2</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7.1   The Goal Is Generalisation</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236794"/>
                </a:solidFill>
                <a:latin typeface="Segoe UI"/>
              </a:rPr>
              <a:t>7.2   Underfitting and Overfitting</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7.3   The Bias–Variance Decomposition</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7.4   Noisy Data</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7.5   Diagnosing With Learning Curves</a:t>
            </a:r>
          </a:p>
        </p:txBody>
      </p:sp>
      <p:sp>
        <p:nvSpPr>
          <p:cNvPr id="11" name="!!dl5"/>
          <p:cNvSpPr txBox="1"/>
          <p:nvPr/>
        </p:nvSpPr>
        <p:spPr>
          <a:xfrm>
            <a:off x="4846320" y="553211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7.6   Regularisation</a:t>
            </a:r>
          </a:p>
        </p:txBody>
      </p:sp>
      <p:sp>
        <p:nvSpPr>
          <p:cNvPr id="12" name="!!dl6"/>
          <p:cNvSpPr txBox="1"/>
          <p:nvPr/>
        </p:nvSpPr>
        <p:spPr>
          <a:xfrm>
            <a:off x="4846320" y="580643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7.7   Model Selection With Cross-Validation</a:t>
            </a:r>
          </a:p>
        </p:txBody>
      </p:sp>
      <p:sp>
        <p:nvSpPr>
          <p:cNvPr id="13"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7</a:t>
            </a:r>
          </a:p>
        </p:txBody>
      </p:sp>
      <p:sp>
        <p:nvSpPr>
          <p:cNvPr id="14"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§7.2     </a:t>
            </a:r>
            <a:fld id="{5B2166C1-DCF4-4C82-83D8-9DE0F2ECB166}" type="slidenum">
              <a:rPr lang="en-GB" sz="1000">
                <a:solidFill>
                  <a:srgbClr val="8795A1"/>
                </a:solidFill>
                <a:latin typeface="Segoe UI"/>
              </a:rPr>
              <a:t>7</a:t>
            </a:fld>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1741670"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Underfitting and Overfitting</a:t>
            </a:r>
          </a:p>
        </p:txBody>
      </p:sp>
      <p:sp>
        <p:nvSpPr>
          <p:cNvPr id="3" name="!!kicker"/>
          <p:cNvSpPr txBox="1"/>
          <p:nvPr/>
        </p:nvSpPr>
        <p:spPr>
          <a:xfrm>
            <a:off x="658368" y="402336"/>
            <a:ext cx="10874959"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36794"/>
                </a:solidFill>
                <a:latin typeface="Segoe UI"/>
              </a:rPr>
              <a:t>FIGURE 7.1</a:t>
            </a:r>
          </a:p>
        </p:txBody>
      </p:sp>
      <p:sp>
        <p:nvSpPr>
          <p:cNvPr id="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7  ·  Overfitting, Bias–Variance and Regularisation</a:t>
            </a:r>
          </a:p>
        </p:txBody>
      </p:sp>
      <p:sp>
        <p:nvSpPr>
          <p:cNvPr id="5"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§7.2  ·  Handout p. 51     </a:t>
            </a:r>
            <a:fld id="{F0BA89CB-C792-485F-8713-4E9F62688950}" type="slidenum">
              <a:rPr lang="en-GB" sz="1000">
                <a:solidFill>
                  <a:srgbClr val="8795A1"/>
                </a:solidFill>
                <a:latin typeface="Segoe UI"/>
              </a:rPr>
              <a:t>8</a:t>
            </a:fld>
          </a:p>
        </p:txBody>
      </p:sp>
      <p:pic>
        <p:nvPicPr>
          <p:cNvPr id="6" name="!!figure" descr="Figure 7.1. Three polynomials fitted to the same ten points (blue); the dashed curve is the true function. Training error falls from left to right and reaches zero at degree 9, which is nonetheless the worst of the three on new data."/>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844288"/>
            <a:ext cx="10874959" cy="3129484"/>
          </a:xfrm>
          <a:prstGeom prst="rect">
            <a:avLst/>
          </a:prstGeom>
        </p:spPr>
      </p:pic>
      <p:sp>
        <p:nvSpPr>
          <p:cNvPr id="7" name="!!takebar">
            <a:extLst>
              <a:ext uri="{C183D7F6-B498-43B3-948B-1728B52AA6E4}">
                <adec:decorative xmlns:adec="http://schemas.microsoft.com/office/drawing/2017/decorative" val="1"/>
              </a:ext>
            </a:extLst>
          </p:cNvPr>
          <p:cNvSpPr/>
          <p:nvPr/>
        </p:nvSpPr>
        <p:spPr>
          <a:xfrm>
            <a:off x="658368" y="5660745"/>
            <a:ext cx="54864" cy="575462"/>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ake"/>
          <p:cNvSpPr txBox="1"/>
          <p:nvPr/>
        </p:nvSpPr>
        <p:spPr>
          <a:xfrm>
            <a:off x="877824" y="5642457"/>
            <a:ext cx="10600639" cy="758342"/>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3E4C57"/>
                </a:solidFill>
                <a:latin typeface="Segoe UI"/>
              </a:rPr>
              <a:t>Three polynomials fitted to the same ten points (blue); the dashed curve is the true function. Training error falls from left to right and reaches zero at degree 9, which is nonetheless the worst of the three on new data.</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1990480"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Underfitting and Overfitting</a:t>
            </a:r>
          </a:p>
        </p:txBody>
      </p:sp>
      <p:pic>
        <p:nvPicPr>
          <p:cNvPr id="3" name="!!kicker-icon" descr="book-B35900.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35900"/>
                </a:solidFill>
                <a:latin typeface="Segoe UI"/>
              </a:rPr>
              <a:t>DEFINITION</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7  ·  Overfitting, Bias–Variance and Regularisation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§7.2  ·  Handout p. 51     </a:t>
            </a:r>
            <a:fld id="{13BC876D-C621-4214-8B13-2DC37DDD327C}" type="slidenum">
              <a:rPr lang="en-GB" sz="1000">
                <a:solidFill>
                  <a:srgbClr val="8795A1"/>
                </a:solidFill>
                <a:latin typeface="Segoe UI"/>
              </a:rPr>
              <a:t>9</a:t>
            </a:fld>
          </a:p>
        </p:txBody>
      </p:sp>
      <p:sp>
        <p:nvSpPr>
          <p:cNvPr id="7" name="!!card">
            <a:extLst>
              <a:ext uri="{C183D7F6-B498-43B3-948B-1728B52AA6E4}">
                <adec:decorative xmlns:adec="http://schemas.microsoft.com/office/drawing/2017/decorative" val="1"/>
              </a:ext>
            </a:extLst>
          </p:cNvPr>
          <p:cNvSpPr/>
          <p:nvPr/>
        </p:nvSpPr>
        <p:spPr>
          <a:xfrm>
            <a:off x="658368" y="1737360"/>
            <a:ext cx="10874959" cy="2079955"/>
          </a:xfrm>
          <a:prstGeom prst="roundRect">
            <a:avLst>
              <a:gd name="adj" fmla="val 4396"/>
            </a:avLst>
          </a:prstGeom>
          <a:solidFill>
            <a:srgbClr val="FDF2E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2079955"/>
          </a:xfrm>
          <a:prstGeom prst="rect">
            <a:avLst/>
          </a:prstGeom>
          <a:solidFill>
            <a:srgbClr val="B359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1503883"/>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A model </a:t>
            </a:r>
            <a:r>
              <a:rPr sz="2300" b="1" i="0">
                <a:solidFill>
                  <a:srgbClr val="1A5276"/>
                </a:solidFill>
                <a:latin typeface="Segoe UI"/>
              </a:rPr>
              <a:t>underfits</a:t>
            </a:r>
            <a:r>
              <a:rPr sz="2300" b="0" i="0">
                <a:solidFill>
                  <a:srgbClr val="1C252B"/>
                </a:solidFill>
                <a:latin typeface="Segoe UI"/>
              </a:rPr>
              <a:t> when it is too simple to capture the pattern: both training and test error are high. A model </a:t>
            </a:r>
            <a:r>
              <a:rPr sz="2300" b="1" i="0">
                <a:solidFill>
                  <a:srgbClr val="1A5276"/>
                </a:solidFill>
                <a:latin typeface="Segoe UI"/>
              </a:rPr>
              <a:t>overfits</a:t>
            </a:r>
            <a:r>
              <a:rPr sz="2300" b="0" i="0">
                <a:solidFill>
                  <a:srgbClr val="1C252B"/>
                </a:solidFill>
                <a:latin typeface="Segoe UI"/>
              </a:rPr>
              <a:t> when it captures the noise in its particular training sample as well as the pattern: training error is low, test error is high, and the gap between them is large.</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2239290"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Underfitting and Overfitting</a:t>
            </a:r>
          </a:p>
        </p:txBody>
      </p:sp>
      <p:sp>
        <p:nvSpPr>
          <p:cNvPr id="3" name="!!kicker"/>
          <p:cNvSpPr txBox="1"/>
          <p:nvPr/>
        </p:nvSpPr>
        <p:spPr>
          <a:xfrm>
            <a:off x="658368" y="402336"/>
            <a:ext cx="10874959"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36794"/>
                </a:solidFill>
                <a:latin typeface="Segoe UI"/>
              </a:rPr>
              <a:t>FIGURE 7.2</a:t>
            </a:r>
          </a:p>
        </p:txBody>
      </p:sp>
      <p:sp>
        <p:nvSpPr>
          <p:cNvPr id="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7  ·  Overfitting, Bias–Variance and Regularisation</a:t>
            </a:r>
          </a:p>
        </p:txBody>
      </p:sp>
      <p:sp>
        <p:nvSpPr>
          <p:cNvPr id="5"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§7.2  ·  Handout p. 51     </a:t>
            </a:r>
            <a:fld id="{11734D07-0BFB-459A-8464-B2BF192809D7}" type="slidenum">
              <a:rPr lang="en-GB" sz="1000">
                <a:solidFill>
                  <a:srgbClr val="8795A1"/>
                </a:solidFill>
                <a:latin typeface="Segoe UI"/>
              </a:rPr>
              <a:t>10</a:t>
            </a:fld>
          </a:p>
        </p:txBody>
      </p:sp>
      <p:pic>
        <p:nvPicPr>
          <p:cNvPr id="6" name="!!figure" descr="Figure 7.2. Training and test error for the polynomials of Figure 7.1, degree 0 to 9, with the test error measured on 2,000 fresh samples. Training error only ever falls; test error falls, bottoms out, and rises. The shape of that second curve is the whole of this chapte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867292" y="1737360"/>
            <a:ext cx="6457111" cy="3471062"/>
          </a:xfrm>
          <a:prstGeom prst="rect">
            <a:avLst/>
          </a:prstGeom>
        </p:spPr>
      </p:pic>
      <p:sp>
        <p:nvSpPr>
          <p:cNvPr id="7" name="!!takebar">
            <a:extLst>
              <a:ext uri="{C183D7F6-B498-43B3-948B-1728B52AA6E4}">
                <adec:decorative xmlns:adec="http://schemas.microsoft.com/office/drawing/2017/decorative" val="1"/>
              </a:ext>
            </a:extLst>
          </p:cNvPr>
          <p:cNvSpPr/>
          <p:nvPr/>
        </p:nvSpPr>
        <p:spPr>
          <a:xfrm>
            <a:off x="658368" y="5391302"/>
            <a:ext cx="54864" cy="844905"/>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ake"/>
          <p:cNvSpPr txBox="1"/>
          <p:nvPr/>
        </p:nvSpPr>
        <p:spPr>
          <a:xfrm>
            <a:off x="877824" y="5373014"/>
            <a:ext cx="10600639" cy="1027785"/>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3E4C57"/>
                </a:solidFill>
                <a:latin typeface="Segoe UI"/>
              </a:rPr>
              <a:t>Training and test error for the polynomials of Figure 7.1, degree 0 to 9, with the test error measured on 2,000 fresh samples. Training error only ever falls; test error falls, bottoms out, and rises. The shape of that second curve is the whole of this chapter.</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2488101"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The Bias–Variance Decomposition</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BDD1DF"/>
                </a:solidFill>
                <a:latin typeface="Segoe UI"/>
              </a:rPr>
              <a:t>SECTION 3 OF 7</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7.3</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7.1   The Goal Is Generalisation</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7.2   Underfitting and Overfitting</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236794"/>
                </a:solidFill>
                <a:latin typeface="Segoe UI"/>
              </a:rPr>
              <a:t>7.3   The Bias–Variance Decomposition</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7.4   Noisy Data</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7.5   Diagnosing With Learning Curves</a:t>
            </a:r>
          </a:p>
        </p:txBody>
      </p:sp>
      <p:sp>
        <p:nvSpPr>
          <p:cNvPr id="11" name="!!dl5"/>
          <p:cNvSpPr txBox="1"/>
          <p:nvPr/>
        </p:nvSpPr>
        <p:spPr>
          <a:xfrm>
            <a:off x="4846320" y="553211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7.6   Regularisation</a:t>
            </a:r>
          </a:p>
        </p:txBody>
      </p:sp>
      <p:sp>
        <p:nvSpPr>
          <p:cNvPr id="12" name="!!dl6"/>
          <p:cNvSpPr txBox="1"/>
          <p:nvPr/>
        </p:nvSpPr>
        <p:spPr>
          <a:xfrm>
            <a:off x="4846320" y="580643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7.7   Model Selection With Cross-Validation</a:t>
            </a:r>
          </a:p>
        </p:txBody>
      </p:sp>
      <p:sp>
        <p:nvSpPr>
          <p:cNvPr id="13"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7</a:t>
            </a:r>
          </a:p>
        </p:txBody>
      </p:sp>
      <p:sp>
        <p:nvSpPr>
          <p:cNvPr id="14"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§7.3     </a:t>
            </a:r>
            <a:fld id="{573366A2-1EA6-4270-BD95-067D80262D87}" type="slidenum">
              <a:rPr lang="en-GB" sz="1000">
                <a:solidFill>
                  <a:srgbClr val="8795A1"/>
                </a:solidFill>
                <a:latin typeface="Segoe UI"/>
              </a:rPr>
              <a:t>11</a:t>
            </a:fld>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2736911"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Bias, Variance and Noise</a:t>
            </a:r>
          </a:p>
        </p:txBody>
      </p:sp>
      <p:pic>
        <p:nvPicPr>
          <p:cNvPr id="3" name="!!kicker-icon" descr="book-B35900.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35900"/>
                </a:solidFill>
                <a:latin typeface="Segoe UI"/>
              </a:rPr>
              <a:t>DEFINITION</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7  ·  Overfitting, Bias–Variance and Regularisation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§7.3  ·  Handout p. 52     </a:t>
            </a:r>
            <a:fld id="{E6FEA392-D79B-430B-B066-520B92D62CC1}" type="slidenum">
              <a:rPr lang="en-GB" sz="1000">
                <a:solidFill>
                  <a:srgbClr val="8795A1"/>
                </a:solidFill>
                <a:latin typeface="Segoe UI"/>
              </a:rPr>
              <a:t>12</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345828"/>
          </a:xfrm>
          <a:prstGeom prst="roundRect">
            <a:avLst>
              <a:gd name="adj" fmla="val 2104"/>
            </a:avLst>
          </a:prstGeom>
          <a:solidFill>
            <a:srgbClr val="FDF2E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345828"/>
          </a:xfrm>
          <a:prstGeom prst="rect">
            <a:avLst/>
          </a:prstGeom>
          <a:solidFill>
            <a:srgbClr val="B359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1139342"/>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For a fixed input </a:t>
            </a:r>
            <a:r>
              <a:rPr sz="2300" b="0" i="1">
                <a:solidFill>
                  <a:srgbClr val="1C252B"/>
                </a:solidFill>
                <a:latin typeface="Cambria"/>
              </a:rPr>
              <a:t>x</a:t>
            </a:r>
            <a:r>
              <a:rPr sz="2300" b="0" i="0" baseline="-25000">
                <a:solidFill>
                  <a:srgbClr val="1C252B"/>
                </a:solidFill>
                <a:latin typeface="Cambria"/>
              </a:rPr>
              <a:t>0</a:t>
            </a:r>
            <a:r>
              <a:rPr sz="2300" b="0" i="0">
                <a:solidFill>
                  <a:srgbClr val="1C252B"/>
                </a:solidFill>
                <a:latin typeface="Segoe UI"/>
              </a:rPr>
              <a:t> with true value </a:t>
            </a:r>
            <a:r>
              <a:rPr sz="2300" b="0" i="1">
                <a:solidFill>
                  <a:srgbClr val="1C252B"/>
                </a:solidFill>
                <a:latin typeface="Cambria"/>
              </a:rPr>
              <a:t>f</a:t>
            </a:r>
            <a:r>
              <a:rPr sz="2300" b="0" i="0">
                <a:solidFill>
                  <a:srgbClr val="1C252B"/>
                </a:solidFill>
                <a:latin typeface="Cambria"/>
              </a:rPr>
              <a:t>(</a:t>
            </a:r>
            <a:r>
              <a:rPr sz="2300" b="0" i="1">
                <a:solidFill>
                  <a:srgbClr val="1C252B"/>
                </a:solidFill>
                <a:latin typeface="Cambria"/>
              </a:rPr>
              <a:t>x</a:t>
            </a:r>
            <a:r>
              <a:rPr sz="2300" b="0" i="0" baseline="-25000">
                <a:solidFill>
                  <a:srgbClr val="1C252B"/>
                </a:solidFill>
                <a:latin typeface="Cambria"/>
              </a:rPr>
              <a:t>0</a:t>
            </a:r>
            <a:r>
              <a:rPr sz="2300" b="0" i="0">
                <a:solidFill>
                  <a:srgbClr val="1C252B"/>
                </a:solidFill>
                <a:latin typeface="Cambria"/>
              </a:rPr>
              <a:t>)</a:t>
            </a:r>
            <a:r>
              <a:rPr sz="2300" b="0" i="0">
                <a:solidFill>
                  <a:srgbClr val="1C252B"/>
                </a:solidFill>
                <a:latin typeface="Segoe UI"/>
              </a:rPr>
              <a:t>, let </a:t>
            </a:r>
            <a:r>
              <a:rPr sz="2300" b="0" i="1">
                <a:solidFill>
                  <a:srgbClr val="1C252B"/>
                </a:solidFill>
                <a:latin typeface="Cambria"/>
              </a:rPr>
              <a:t>f̂</a:t>
            </a:r>
            <a:r>
              <a:rPr sz="2300" b="0" i="0">
                <a:solidFill>
                  <a:srgbClr val="1C252B"/>
                </a:solidFill>
                <a:latin typeface="Cambria"/>
              </a:rPr>
              <a:t>(</a:t>
            </a:r>
            <a:r>
              <a:rPr sz="2300" b="0" i="1">
                <a:solidFill>
                  <a:srgbClr val="1C252B"/>
                </a:solidFill>
                <a:latin typeface="Cambria"/>
              </a:rPr>
              <a:t>x</a:t>
            </a:r>
            <a:r>
              <a:rPr sz="2300" b="0" i="0" baseline="-25000">
                <a:solidFill>
                  <a:srgbClr val="1C252B"/>
                </a:solidFill>
                <a:latin typeface="Cambria"/>
              </a:rPr>
              <a:t>0</a:t>
            </a:r>
            <a:r>
              <a:rPr sz="2300" b="0" i="0">
                <a:solidFill>
                  <a:srgbClr val="1C252B"/>
                </a:solidFill>
                <a:latin typeface="Cambria"/>
              </a:rPr>
              <a:t>)</a:t>
            </a:r>
            <a:r>
              <a:rPr sz="2300" b="0" i="0">
                <a:solidFill>
                  <a:srgbClr val="1C252B"/>
                </a:solidFill>
                <a:latin typeface="Segoe UI"/>
              </a:rPr>
              <a:t> be the prediction of a model trained on a random training set. Then the expected squared error on a new observation </a:t>
            </a:r>
            <a:r>
              <a:rPr sz="2300" b="0" i="1">
                <a:solidFill>
                  <a:srgbClr val="1C252B"/>
                </a:solidFill>
                <a:latin typeface="Cambria"/>
              </a:rPr>
              <a:t>y</a:t>
            </a:r>
            <a:r>
              <a:rPr sz="2300" b="0" i="0">
                <a:solidFill>
                  <a:srgbClr val="1C252B"/>
                </a:solidFill>
                <a:latin typeface="Cambria"/>
              </a:rPr>
              <a:t> = </a:t>
            </a:r>
            <a:r>
              <a:rPr sz="2300" b="0" i="1">
                <a:solidFill>
                  <a:srgbClr val="1C252B"/>
                </a:solidFill>
                <a:latin typeface="Cambria"/>
              </a:rPr>
              <a:t>f</a:t>
            </a:r>
            <a:r>
              <a:rPr sz="2300" b="0" i="0">
                <a:solidFill>
                  <a:srgbClr val="1C252B"/>
                </a:solidFill>
                <a:latin typeface="Cambria"/>
              </a:rPr>
              <a:t>(</a:t>
            </a:r>
            <a:r>
              <a:rPr sz="2300" b="0" i="1">
                <a:solidFill>
                  <a:srgbClr val="1C252B"/>
                </a:solidFill>
                <a:latin typeface="Cambria"/>
              </a:rPr>
              <a:t>x</a:t>
            </a:r>
            <a:r>
              <a:rPr sz="2300" b="0" i="0" baseline="-25000">
                <a:solidFill>
                  <a:srgbClr val="1C252B"/>
                </a:solidFill>
                <a:latin typeface="Cambria"/>
              </a:rPr>
              <a:t>0</a:t>
            </a:r>
            <a:r>
              <a:rPr sz="2300" b="0" i="0">
                <a:solidFill>
                  <a:srgbClr val="1C252B"/>
                </a:solidFill>
                <a:latin typeface="Cambria"/>
              </a:rPr>
              <a:t>) + ε</a:t>
            </a:r>
            <a:r>
              <a:rPr sz="2300" b="0" i="0">
                <a:solidFill>
                  <a:srgbClr val="1C252B"/>
                </a:solidFill>
                <a:latin typeface="Segoe UI"/>
              </a:rPr>
              <a:t> is</a:t>
            </a:r>
          </a:p>
        </p:txBody>
      </p:sp>
      <p:pic>
        <p:nvPicPr>
          <p:cNvPr id="10" name="body-1" descr="\mathbb{E}\big[(y - \hat{f}(x_0))^2\big] = \underbrace{\big(\mathbb{E}[\hat{f}(x_0)] - f(x_0)\big)^2}_{\text{bias}^2} + \underbrace{\mathbb{E}\big[(\hat{f}(x_0) - \mathbb{E}[\hat{f}(x_0)])^2\big]}_{\text{variance}} + \underbrace{\sigma^2_{\varepsilon}}_{\text{noise}}"/>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0704" y="3302533"/>
            <a:ext cx="10161727" cy="850940"/>
          </a:xfrm>
          <a:prstGeom prst="rect">
            <a:avLst/>
          </a:prstGeom>
        </p:spPr>
      </p:pic>
      <p:sp>
        <p:nvSpPr>
          <p:cNvPr id="11" name="body-2"/>
          <p:cNvSpPr txBox="1"/>
          <p:nvPr/>
        </p:nvSpPr>
        <p:spPr>
          <a:xfrm>
            <a:off x="1060704" y="4314129"/>
            <a:ext cx="10161727" cy="1503883"/>
          </a:xfrm>
          <a:prstGeom prst="rect">
            <a:avLst/>
          </a:prstGeom>
          <a:noFill/>
        </p:spPr>
        <p:txBody>
          <a:bodyPr wrap="square" anchor="t" lIns="0" rIns="0" tIns="0" bIns="0">
            <a:noAutofit/>
          </a:bodyPr>
          <a:lstStyle/>
          <a:p>
            <a:pPr algn="l">
              <a:lnSpc>
                <a:spcPct val="104000"/>
              </a:lnSpc>
              <a:spcBef>
                <a:spcPts val="0"/>
              </a:spcBef>
              <a:spcAft>
                <a:spcPts val="0"/>
              </a:spcAft>
            </a:pPr>
            <a:r>
              <a:rPr sz="2300" b="1" i="0">
                <a:solidFill>
                  <a:srgbClr val="1A5276"/>
                </a:solidFill>
                <a:latin typeface="Segoe UI"/>
              </a:rPr>
              <a:t>Bias</a:t>
            </a:r>
            <a:r>
              <a:rPr sz="2300" b="0" i="0">
                <a:solidFill>
                  <a:srgbClr val="1C252B"/>
                </a:solidFill>
                <a:latin typeface="Segoe UI"/>
              </a:rPr>
              <a:t> is how far the average prediction is from the truth — the error of the model’s assumptions. </a:t>
            </a:r>
            <a:r>
              <a:rPr sz="2300" b="1" i="0">
                <a:solidFill>
                  <a:srgbClr val="1A5276"/>
                </a:solidFill>
                <a:latin typeface="Segoe UI"/>
              </a:rPr>
              <a:t>Variance</a:t>
            </a:r>
            <a:r>
              <a:rPr sz="2300" b="0" i="0">
                <a:solidFill>
                  <a:srgbClr val="1C252B"/>
                </a:solidFill>
                <a:latin typeface="Segoe UI"/>
              </a:rPr>
              <a:t> is how much the prediction changes from one training set to another — its sensitivity to the particular sample. </a:t>
            </a:r>
            <a:r>
              <a:rPr sz="2300" b="1" i="0">
                <a:solidFill>
                  <a:srgbClr val="1A5276"/>
                </a:solidFill>
                <a:latin typeface="Segoe UI"/>
              </a:rPr>
              <a:t>Noise</a:t>
            </a:r>
            <a:r>
              <a:rPr sz="2300" b="0" i="0">
                <a:solidFill>
                  <a:srgbClr val="1C252B"/>
                </a:solidFill>
                <a:latin typeface="Segoe UI"/>
              </a:rPr>
              <a:t> is the </a:t>
            </a:r>
            <a:r>
              <a:rPr sz="2300" b="1" i="0">
                <a:solidFill>
                  <a:srgbClr val="1A5276"/>
                </a:solidFill>
                <a:latin typeface="Segoe UI"/>
              </a:rPr>
              <a:t>irreducible error</a:t>
            </a:r>
            <a:r>
              <a:rPr sz="2300" b="0" i="0">
                <a:solidFill>
                  <a:srgbClr val="1C252B"/>
                </a:solidFill>
                <a:latin typeface="Segoe UI"/>
              </a:rPr>
              <a:t> in the labels themselves, which no model can remove.</a:t>
            </a:r>
          </a:p>
        </p:txBody>
      </p:sp>
      <p:sp>
        <p:nvSpPr>
          <p:cNvPr id="1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pfill">
            <a:extLst>
              <a:ext uri="{C183D7F6-B498-43B3-948B-1728B52AA6E4}">
                <adec:decorative xmlns:adec="http://schemas.microsoft.com/office/drawing/2017/decorative" val="1"/>
              </a:ext>
            </a:extLst>
          </p:cNvPr>
          <p:cNvSpPr/>
          <p:nvPr/>
        </p:nvSpPr>
        <p:spPr>
          <a:xfrm>
            <a:off x="0" y="0"/>
            <a:ext cx="2985721"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Bias and variance as target practice</a:t>
            </a:r>
          </a:p>
        </p:txBody>
      </p:sp>
      <p:sp>
        <p:nvSpPr>
          <p:cNvPr id="3" name="!!kicker"/>
          <p:cNvSpPr txBox="1"/>
          <p:nvPr/>
        </p:nvSpPr>
        <p:spPr>
          <a:xfrm>
            <a:off x="658368" y="402336"/>
            <a:ext cx="10874959"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36794"/>
                </a:solidFill>
                <a:latin typeface="Segoe UI"/>
              </a:rPr>
              <a:t>FIGURE 7.3</a:t>
            </a:r>
          </a:p>
        </p:txBody>
      </p:sp>
      <p:sp>
        <p:nvSpPr>
          <p:cNvPr id="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7  ·  Overfitting, Bias–Variance and Regularisation</a:t>
            </a:r>
          </a:p>
        </p:txBody>
      </p:sp>
      <p:sp>
        <p:nvSpPr>
          <p:cNvPr id="5"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§7.3  ·  Handout p. 52     </a:t>
            </a:r>
            <a:fld id="{25487E3E-51E2-4FDF-86DB-9658F1D620D4}" type="slidenum">
              <a:rPr lang="en-GB" sz="1000">
                <a:solidFill>
                  <a:srgbClr val="8795A1"/>
                </a:solidFill>
                <a:latin typeface="Segoe UI"/>
              </a:rPr>
              <a:t>13</a:t>
            </a:fld>
          </a:p>
        </p:txBody>
      </p:sp>
      <p:pic>
        <p:nvPicPr>
          <p:cNvPr id="6" name="!!figure" descr="Figure 7.3. Bias and variance as target practice. The goal is the top-left target; in practice lowering one tends to raise the othe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455349" y="1737360"/>
            <a:ext cx="7280995" cy="4009948"/>
          </a:xfrm>
          <a:prstGeom prst="rect">
            <a:avLst/>
          </a:prstGeom>
        </p:spPr>
      </p:pic>
      <p:sp>
        <p:nvSpPr>
          <p:cNvPr id="7" name="!!takebar">
            <a:extLst>
              <a:ext uri="{C183D7F6-B498-43B3-948B-1728B52AA6E4}">
                <adec:decorative xmlns:adec="http://schemas.microsoft.com/office/drawing/2017/decorative" val="1"/>
              </a:ext>
            </a:extLst>
          </p:cNvPr>
          <p:cNvSpPr/>
          <p:nvPr/>
        </p:nvSpPr>
        <p:spPr>
          <a:xfrm>
            <a:off x="658368" y="5930188"/>
            <a:ext cx="54864" cy="306019"/>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ake"/>
          <p:cNvSpPr txBox="1"/>
          <p:nvPr/>
        </p:nvSpPr>
        <p:spPr>
          <a:xfrm>
            <a:off x="877824" y="5911900"/>
            <a:ext cx="10600639" cy="488899"/>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3E4C57"/>
                </a:solidFill>
                <a:latin typeface="Segoe UI"/>
              </a:rPr>
              <a:t>The goal is the top-left target; in practice lowering one tends to raise the other.</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3234531"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Bias and Variance From Four Training Sets</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7  ·  Overfitting, Bias–Variance and Regularisation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§7.3  ·  Handout p. 52     </a:t>
            </a:r>
            <a:fld id="{4250069E-DCFA-4C0B-A187-EE8A157FD6A8}" type="slidenum">
              <a:rPr lang="en-GB" sz="1000">
                <a:solidFill>
                  <a:srgbClr val="8795A1"/>
                </a:solidFill>
                <a:latin typeface="Segoe UI"/>
              </a:rPr>
              <a:t>14</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349800"/>
          </a:xfrm>
          <a:prstGeom prst="roundRect">
            <a:avLst>
              <a:gd name="adj" fmla="val 2102"/>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349800"/>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616305"/>
          </a:xfrm>
          <a:prstGeom prst="rect">
            <a:avLst/>
          </a:prstGeom>
          <a:noFill/>
        </p:spPr>
        <p:txBody>
          <a:bodyPr wrap="square" anchor="t" lIns="0" rIns="0" tIns="0" bIns="0">
            <a:noAutofit/>
          </a:bodyPr>
          <a:lstStyle/>
          <a:p>
            <a:pPr algn="l">
              <a:lnSpc>
                <a:spcPct val="104000"/>
              </a:lnSpc>
              <a:spcBef>
                <a:spcPts val="0"/>
              </a:spcBef>
              <a:spcAft>
                <a:spcPts val="0"/>
              </a:spcAft>
            </a:pPr>
            <a:r>
              <a:rPr sz="1800" b="0" i="0">
                <a:solidFill>
                  <a:srgbClr val="1C252B"/>
                </a:solidFill>
                <a:latin typeface="Segoe UI"/>
              </a:rPr>
              <a:t>The true value at </a:t>
            </a:r>
            <a:r>
              <a:rPr sz="1800" b="0" i="1">
                <a:solidFill>
                  <a:srgbClr val="1C252B"/>
                </a:solidFill>
                <a:latin typeface="Cambria"/>
              </a:rPr>
              <a:t>x</a:t>
            </a:r>
            <a:r>
              <a:rPr sz="1800" b="0" i="0" baseline="-25000">
                <a:solidFill>
                  <a:srgbClr val="1C252B"/>
                </a:solidFill>
                <a:latin typeface="Cambria"/>
              </a:rPr>
              <a:t>0</a:t>
            </a:r>
            <a:r>
              <a:rPr sz="1800" b="0" i="0">
                <a:solidFill>
                  <a:srgbClr val="1C252B"/>
                </a:solidFill>
                <a:latin typeface="Segoe UI"/>
              </a:rPr>
              <a:t> is </a:t>
            </a:r>
            <a:r>
              <a:rPr sz="1800" b="0" i="1">
                <a:solidFill>
                  <a:srgbClr val="1C252B"/>
                </a:solidFill>
                <a:latin typeface="Cambria"/>
              </a:rPr>
              <a:t>f</a:t>
            </a:r>
            <a:r>
              <a:rPr sz="1800" b="0" i="0">
                <a:solidFill>
                  <a:srgbClr val="1C252B"/>
                </a:solidFill>
                <a:latin typeface="Cambria"/>
              </a:rPr>
              <a:t>(</a:t>
            </a:r>
            <a:r>
              <a:rPr sz="1800" b="0" i="1">
                <a:solidFill>
                  <a:srgbClr val="1C252B"/>
                </a:solidFill>
                <a:latin typeface="Cambria"/>
              </a:rPr>
              <a:t>x</a:t>
            </a:r>
            <a:r>
              <a:rPr sz="1800" b="0" i="0" baseline="-25000">
                <a:solidFill>
                  <a:srgbClr val="1C252B"/>
                </a:solidFill>
                <a:latin typeface="Cambria"/>
              </a:rPr>
              <a:t>0</a:t>
            </a:r>
            <a:r>
              <a:rPr sz="1800" b="0" i="0">
                <a:solidFill>
                  <a:srgbClr val="1C252B"/>
                </a:solidFill>
                <a:latin typeface="Cambria"/>
              </a:rPr>
              <a:t>) = 5</a:t>
            </a:r>
            <a:r>
              <a:rPr sz="1800" b="0" i="0">
                <a:solidFill>
                  <a:srgbClr val="1C252B"/>
                </a:solidFill>
                <a:latin typeface="Segoe UI"/>
              </a:rPr>
              <a:t>, and the label noise has variance </a:t>
            </a:r>
            <a:r>
              <a:rPr sz="1800" b="0" i="0">
                <a:solidFill>
                  <a:srgbClr val="1C252B"/>
                </a:solidFill>
                <a:latin typeface="Cambria"/>
              </a:rPr>
              <a:t>σ</a:t>
            </a:r>
            <a:r>
              <a:rPr sz="1800" b="0" i="0" baseline="30000">
                <a:solidFill>
                  <a:srgbClr val="1C252B"/>
                </a:solidFill>
                <a:latin typeface="Cambria"/>
              </a:rPr>
              <a:t>2</a:t>
            </a:r>
            <a:r>
              <a:rPr sz="1800" b="0" i="0" baseline="-25000">
                <a:solidFill>
                  <a:srgbClr val="1C252B"/>
                </a:solidFill>
                <a:latin typeface="Cambria"/>
              </a:rPr>
              <a:t>ε</a:t>
            </a:r>
            <a:r>
              <a:rPr sz="1800" b="0" i="0">
                <a:solidFill>
                  <a:srgbClr val="1C252B"/>
                </a:solidFill>
                <a:latin typeface="Cambria"/>
              </a:rPr>
              <a:t> = 1</a:t>
            </a:r>
            <a:r>
              <a:rPr sz="1800" b="0" i="0">
                <a:solidFill>
                  <a:srgbClr val="1C252B"/>
                </a:solidFill>
                <a:latin typeface="Segoe UI"/>
              </a:rPr>
              <a:t>. Two models are each trained on the same four random training sets and predict at </a:t>
            </a:r>
            <a:r>
              <a:rPr sz="1800" b="0" i="1">
                <a:solidFill>
                  <a:srgbClr val="1C252B"/>
                </a:solidFill>
                <a:latin typeface="Cambria"/>
              </a:rPr>
              <a:t>x</a:t>
            </a:r>
            <a:r>
              <a:rPr sz="1800" b="0" i="0" baseline="-25000">
                <a:solidFill>
                  <a:srgbClr val="1C252B"/>
                </a:solidFill>
                <a:latin typeface="Cambria"/>
              </a:rPr>
              <a:t>0</a:t>
            </a:r>
            <a:r>
              <a:rPr sz="1800" b="0" i="0">
                <a:solidFill>
                  <a:srgbClr val="1C252B"/>
                </a:solidFill>
                <a:latin typeface="Segoe UI"/>
              </a:rPr>
              <a:t>:</a:t>
            </a:r>
          </a:p>
        </p:txBody>
      </p:sp>
      <p:sp>
        <p:nvSpPr>
          <p:cNvPr id="10" name="body-1"/>
          <p:cNvSpPr txBox="1"/>
          <p:nvPr/>
        </p:nvSpPr>
        <p:spPr>
          <a:xfrm>
            <a:off x="1042416" y="2707995"/>
            <a:ext cx="10234879" cy="1266901"/>
          </a:xfrm>
          <a:prstGeom prst="rect">
            <a:avLst/>
          </a:prstGeom>
          <a:noFill/>
        </p:spPr>
        <p:txBody>
          <a:bodyPr wrap="square" anchor="t" lIns="0" rIns="0" tIns="0" bIns="0">
            <a:noAutofit/>
          </a:bodyPr>
          <a:lstStyle/>
          <a:p>
            <a:pPr algn="l" marL="201268" indent="-201268">
              <a:lnSpc>
                <a:spcPct val="104000"/>
              </a:lnSpc>
              <a:spcBef>
                <a:spcPts val="0"/>
              </a:spcBef>
              <a:spcAft>
                <a:spcPts val="630"/>
              </a:spcAft>
            </a:pPr>
            <a:r>
              <a:rPr sz="1800" b="1">
                <a:solidFill>
                  <a:srgbClr val="7D6608"/>
                </a:solidFill>
                <a:latin typeface="Segoe UI"/>
              </a:rPr>
              <a:t>•	</a:t>
            </a:r>
            <a:r>
              <a:rPr sz="1800" b="1" i="0">
                <a:solidFill>
                  <a:srgbClr val="7D6608"/>
                </a:solidFill>
                <a:latin typeface="Segoe UI"/>
              </a:rPr>
              <a:t>Simple model:</a:t>
            </a:r>
            <a:r>
              <a:rPr sz="1800" b="0" i="0">
                <a:solidFill>
                  <a:srgbClr val="1C252B"/>
                </a:solidFill>
                <a:latin typeface="Segoe UI"/>
              </a:rPr>
              <a:t> </a:t>
            </a:r>
            <a:r>
              <a:rPr sz="1800" b="0" i="0">
                <a:solidFill>
                  <a:srgbClr val="1C252B"/>
                </a:solidFill>
                <a:latin typeface="Cambria"/>
              </a:rPr>
              <a:t>3.8, 4.2, 4.0, 4.0</a:t>
            </a:r>
            <a:r>
              <a:rPr sz="1800" b="0" i="0">
                <a:solidFill>
                  <a:srgbClr val="1C252B"/>
                </a:solidFill>
                <a:latin typeface="Segoe UI"/>
              </a:rPr>
              <a:t>. Mean </a:t>
            </a:r>
            <a:r>
              <a:rPr sz="1800" b="0" i="0">
                <a:solidFill>
                  <a:srgbClr val="1C252B"/>
                </a:solidFill>
                <a:latin typeface="Cambria"/>
              </a:rPr>
              <a:t>4.0</a:t>
            </a:r>
            <a:r>
              <a:rPr sz="1800" b="0" i="0">
                <a:solidFill>
                  <a:srgbClr val="1C252B"/>
                </a:solidFill>
                <a:latin typeface="Segoe UI"/>
              </a:rPr>
              <a:t>. bias</a:t>
            </a:r>
            <a:r>
              <a:rPr sz="1800" b="0" i="0" baseline="30000">
                <a:solidFill>
                  <a:srgbClr val="1C252B"/>
                </a:solidFill>
                <a:latin typeface="Cambria"/>
              </a:rPr>
              <a:t>2</a:t>
            </a:r>
            <a:r>
              <a:rPr sz="1800" b="0" i="0">
                <a:solidFill>
                  <a:srgbClr val="1C252B"/>
                </a:solidFill>
                <a:latin typeface="Cambria"/>
              </a:rPr>
              <a:t> = (4.0 − 5)</a:t>
            </a:r>
            <a:r>
              <a:rPr sz="1800" b="0" i="0" baseline="30000">
                <a:solidFill>
                  <a:srgbClr val="1C252B"/>
                </a:solidFill>
                <a:latin typeface="Cambria"/>
              </a:rPr>
              <a:t>2</a:t>
            </a:r>
            <a:r>
              <a:rPr sz="1800" b="0" i="0">
                <a:solidFill>
                  <a:srgbClr val="1C252B"/>
                </a:solidFill>
                <a:latin typeface="Cambria"/>
              </a:rPr>
              <a:t> = 1.00</a:t>
            </a:r>
            <a:r>
              <a:rPr sz="1800" b="0" i="0">
                <a:solidFill>
                  <a:srgbClr val="1C252B"/>
                </a:solidFill>
                <a:latin typeface="Segoe UI"/>
              </a:rPr>
              <a:t>; variance </a:t>
            </a:r>
            <a:r>
              <a:rPr sz="1800" b="0" i="0">
                <a:solidFill>
                  <a:srgbClr val="1C252B"/>
                </a:solidFill>
                <a:latin typeface="Cambria"/>
              </a:rPr>
              <a:t>= (0.04 + 0.04 + 0 + 0)/4 = 0.02</a:t>
            </a:r>
            <a:r>
              <a:rPr sz="1800" b="0" i="0">
                <a:solidFill>
                  <a:srgbClr val="1C252B"/>
                </a:solidFill>
                <a:latin typeface="Segoe UI"/>
              </a:rPr>
              <a:t>.</a:t>
            </a:r>
          </a:p>
          <a:p>
            <a:pPr algn="l" marL="201268" indent="-201268">
              <a:lnSpc>
                <a:spcPct val="104000"/>
              </a:lnSpc>
              <a:spcBef>
                <a:spcPts val="0"/>
              </a:spcBef>
              <a:spcAft>
                <a:spcPts val="0"/>
              </a:spcAft>
            </a:pPr>
            <a:r>
              <a:rPr sz="1800" b="1">
                <a:solidFill>
                  <a:srgbClr val="7D6608"/>
                </a:solidFill>
                <a:latin typeface="Segoe UI"/>
              </a:rPr>
              <a:t>•	</a:t>
            </a:r>
            <a:r>
              <a:rPr sz="1800" b="1" i="0">
                <a:solidFill>
                  <a:srgbClr val="7D6608"/>
                </a:solidFill>
                <a:latin typeface="Segoe UI"/>
              </a:rPr>
              <a:t>Complex model:</a:t>
            </a:r>
            <a:r>
              <a:rPr sz="1800" b="0" i="0">
                <a:solidFill>
                  <a:srgbClr val="1C252B"/>
                </a:solidFill>
                <a:latin typeface="Segoe UI"/>
              </a:rPr>
              <a:t> </a:t>
            </a:r>
            <a:r>
              <a:rPr sz="1800" b="0" i="0">
                <a:solidFill>
                  <a:srgbClr val="1C252B"/>
                </a:solidFill>
                <a:latin typeface="Cambria"/>
              </a:rPr>
              <a:t>6.5, 3.4, 5.9, 4.2</a:t>
            </a:r>
            <a:r>
              <a:rPr sz="1800" b="0" i="0">
                <a:solidFill>
                  <a:srgbClr val="1C252B"/>
                </a:solidFill>
                <a:latin typeface="Segoe UI"/>
              </a:rPr>
              <a:t>. Mean </a:t>
            </a:r>
            <a:r>
              <a:rPr sz="1800" b="0" i="0">
                <a:solidFill>
                  <a:srgbClr val="1C252B"/>
                </a:solidFill>
                <a:latin typeface="Cambria"/>
              </a:rPr>
              <a:t>5.0</a:t>
            </a:r>
            <a:r>
              <a:rPr sz="1800" b="0" i="0">
                <a:solidFill>
                  <a:srgbClr val="1C252B"/>
                </a:solidFill>
                <a:latin typeface="Segoe UI"/>
              </a:rPr>
              <a:t>. bias</a:t>
            </a:r>
            <a:r>
              <a:rPr sz="1800" b="0" i="0" baseline="30000">
                <a:solidFill>
                  <a:srgbClr val="1C252B"/>
                </a:solidFill>
                <a:latin typeface="Cambria"/>
              </a:rPr>
              <a:t>2</a:t>
            </a:r>
            <a:r>
              <a:rPr sz="1800" b="0" i="0">
                <a:solidFill>
                  <a:srgbClr val="1C252B"/>
                </a:solidFill>
                <a:latin typeface="Cambria"/>
              </a:rPr>
              <a:t> = 0</a:t>
            </a:r>
            <a:r>
              <a:rPr sz="1800" b="0" i="0">
                <a:solidFill>
                  <a:srgbClr val="1C252B"/>
                </a:solidFill>
                <a:latin typeface="Segoe UI"/>
              </a:rPr>
              <a:t>; variance </a:t>
            </a:r>
            <a:r>
              <a:rPr sz="1800" b="0" i="0">
                <a:solidFill>
                  <a:srgbClr val="1C252B"/>
                </a:solidFill>
                <a:latin typeface="Cambria"/>
              </a:rPr>
              <a:t>= (2.25 + 2.56 + 0.81 + 0.64)/4 = 1.565</a:t>
            </a:r>
            <a:r>
              <a:rPr sz="1800" b="0" i="0">
                <a:solidFill>
                  <a:srgbClr val="1C252B"/>
                </a:solidFill>
                <a:latin typeface="Segoe UI"/>
              </a:rPr>
              <a:t>.</a:t>
            </a:r>
          </a:p>
        </p:txBody>
      </p:sp>
      <p:sp>
        <p:nvSpPr>
          <p:cNvPr id="11" name="body-2"/>
          <p:cNvSpPr txBox="1"/>
          <p:nvPr/>
        </p:nvSpPr>
        <p:spPr>
          <a:xfrm>
            <a:off x="1042416" y="4054906"/>
            <a:ext cx="10234879" cy="331012"/>
          </a:xfrm>
          <a:prstGeom prst="rect">
            <a:avLst/>
          </a:prstGeom>
          <a:noFill/>
        </p:spPr>
        <p:txBody>
          <a:bodyPr wrap="square" anchor="t" lIns="0" rIns="0" tIns="0" bIns="0">
            <a:noAutofit/>
          </a:bodyPr>
          <a:lstStyle/>
          <a:p>
            <a:pPr algn="l">
              <a:lnSpc>
                <a:spcPct val="104000"/>
              </a:lnSpc>
              <a:spcBef>
                <a:spcPts val="0"/>
              </a:spcBef>
              <a:spcAft>
                <a:spcPts val="0"/>
              </a:spcAft>
            </a:pPr>
            <a:r>
              <a:rPr sz="1800" b="1" i="0">
                <a:solidFill>
                  <a:srgbClr val="7D6608"/>
                </a:solidFill>
                <a:latin typeface="Segoe UI"/>
              </a:rPr>
              <a:t>Expected squared error</a:t>
            </a:r>
            <a:r>
              <a:rPr sz="1800" b="0" i="0">
                <a:solidFill>
                  <a:srgbClr val="1C252B"/>
                </a:solidFill>
                <a:latin typeface="Segoe UI"/>
              </a:rPr>
              <a:t> </a:t>
            </a:r>
            <a:r>
              <a:rPr sz="1800" b="0" i="0">
                <a:solidFill>
                  <a:srgbClr val="1C252B"/>
                </a:solidFill>
                <a:latin typeface="Cambria"/>
              </a:rPr>
              <a:t>=</a:t>
            </a:r>
            <a:r>
              <a:rPr sz="1800" b="0" i="0">
                <a:solidFill>
                  <a:srgbClr val="1C252B"/>
                </a:solidFill>
                <a:latin typeface="Segoe UI"/>
              </a:rPr>
              <a:t> bias</a:t>
            </a:r>
            <a:r>
              <a:rPr sz="1800" b="0" i="0" baseline="30000">
                <a:solidFill>
                  <a:srgbClr val="1C252B"/>
                </a:solidFill>
                <a:latin typeface="Cambria"/>
              </a:rPr>
              <a:t>2</a:t>
            </a:r>
            <a:r>
              <a:rPr sz="1800" b="0" i="0">
                <a:solidFill>
                  <a:srgbClr val="1C252B"/>
                </a:solidFill>
                <a:latin typeface="Segoe UI"/>
              </a:rPr>
              <a:t> </a:t>
            </a:r>
            <a:r>
              <a:rPr sz="1800" b="0" i="0">
                <a:solidFill>
                  <a:srgbClr val="1C252B"/>
                </a:solidFill>
                <a:latin typeface="Cambria"/>
              </a:rPr>
              <a:t>+</a:t>
            </a:r>
            <a:r>
              <a:rPr sz="1800" b="0" i="0">
                <a:solidFill>
                  <a:srgbClr val="1C252B"/>
                </a:solidFill>
                <a:latin typeface="Segoe UI"/>
              </a:rPr>
              <a:t> variance </a:t>
            </a:r>
            <a:r>
              <a:rPr sz="1800" b="0" i="0">
                <a:solidFill>
                  <a:srgbClr val="1C252B"/>
                </a:solidFill>
                <a:latin typeface="Cambria"/>
              </a:rPr>
              <a:t>+</a:t>
            </a:r>
            <a:r>
              <a:rPr sz="1800" b="0" i="0">
                <a:solidFill>
                  <a:srgbClr val="1C252B"/>
                </a:solidFill>
                <a:latin typeface="Segoe UI"/>
              </a:rPr>
              <a:t> noise:</a:t>
            </a:r>
          </a:p>
        </p:txBody>
      </p:sp>
      <p:sp>
        <p:nvSpPr>
          <p:cNvPr id="12" name="body-2bar">
            <a:extLst>
              <a:ext uri="{C183D7F6-B498-43B3-948B-1728B52AA6E4}">
                <adec:decorative xmlns:adec="http://schemas.microsoft.com/office/drawing/2017/decorative" val="1"/>
              </a:ext>
            </a:extLst>
          </p:cNvPr>
          <p:cNvSpPr/>
          <p:nvPr/>
        </p:nvSpPr>
        <p:spPr>
          <a:xfrm>
            <a:off x="841248" y="4073194"/>
            <a:ext cx="54864" cy="26700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body-3"/>
          <p:cNvSpPr txBox="1"/>
          <p:nvPr/>
        </p:nvSpPr>
        <p:spPr>
          <a:xfrm>
            <a:off x="1042416" y="4465929"/>
            <a:ext cx="10234879" cy="696315"/>
          </a:xfrm>
          <a:prstGeom prst="rect">
            <a:avLst/>
          </a:prstGeom>
          <a:noFill/>
        </p:spPr>
        <p:txBody>
          <a:bodyPr wrap="square" anchor="t" lIns="0" rIns="0" tIns="0" bIns="0">
            <a:noAutofit/>
          </a:bodyPr>
          <a:lstStyle/>
          <a:p>
            <a:pPr algn="l" marL="201268" indent="-201268">
              <a:lnSpc>
                <a:spcPct val="104000"/>
              </a:lnSpc>
              <a:spcBef>
                <a:spcPts val="0"/>
              </a:spcBef>
              <a:spcAft>
                <a:spcPts val="630"/>
              </a:spcAft>
            </a:pPr>
            <a:r>
              <a:rPr sz="1800" b="1">
                <a:solidFill>
                  <a:srgbClr val="7D6608"/>
                </a:solidFill>
                <a:latin typeface="Segoe UI"/>
              </a:rPr>
              <a:t>•	</a:t>
            </a:r>
            <a:r>
              <a:rPr sz="1800" b="0" i="0">
                <a:solidFill>
                  <a:srgbClr val="1C252B"/>
                </a:solidFill>
                <a:latin typeface="Segoe UI"/>
              </a:rPr>
              <a:t>simple: </a:t>
            </a:r>
            <a:r>
              <a:rPr sz="1800" b="0" i="0">
                <a:solidFill>
                  <a:srgbClr val="1C252B"/>
                </a:solidFill>
                <a:latin typeface="Cambria"/>
              </a:rPr>
              <a:t>1.00 + 0.02 + 1 = </a:t>
            </a:r>
            <a:r>
              <a:rPr sz="1800" b="1" i="0">
                <a:solidFill>
                  <a:srgbClr val="1C252B"/>
                </a:solidFill>
                <a:latin typeface="Cambria"/>
              </a:rPr>
              <a:t>2.02</a:t>
            </a:r>
          </a:p>
          <a:p>
            <a:pPr algn="l" marL="201268" indent="-201268">
              <a:lnSpc>
                <a:spcPct val="104000"/>
              </a:lnSpc>
              <a:spcBef>
                <a:spcPts val="0"/>
              </a:spcBef>
              <a:spcAft>
                <a:spcPts val="0"/>
              </a:spcAft>
            </a:pPr>
            <a:r>
              <a:rPr sz="1800" b="1">
                <a:solidFill>
                  <a:srgbClr val="7D6608"/>
                </a:solidFill>
                <a:latin typeface="Segoe UI"/>
              </a:rPr>
              <a:t>•	</a:t>
            </a:r>
            <a:r>
              <a:rPr sz="1800" b="0" i="0">
                <a:solidFill>
                  <a:srgbClr val="1C252B"/>
                </a:solidFill>
                <a:latin typeface="Segoe UI"/>
              </a:rPr>
              <a:t>complex: </a:t>
            </a:r>
            <a:r>
              <a:rPr sz="1800" b="0" i="0">
                <a:solidFill>
                  <a:srgbClr val="1C252B"/>
                </a:solidFill>
                <a:latin typeface="Cambria"/>
              </a:rPr>
              <a:t>0 + 1.565 + 1 = </a:t>
            </a:r>
            <a:r>
              <a:rPr sz="1800" b="1" i="0">
                <a:solidFill>
                  <a:srgbClr val="1C252B"/>
                </a:solidFill>
                <a:latin typeface="Cambria"/>
              </a:rPr>
              <a:t>2.57</a:t>
            </a:r>
          </a:p>
        </p:txBody>
      </p:sp>
      <p:sp>
        <p:nvSpPr>
          <p:cNvPr id="14" name="body-4"/>
          <p:cNvSpPr txBox="1"/>
          <p:nvPr/>
        </p:nvSpPr>
        <p:spPr>
          <a:xfrm>
            <a:off x="1042416" y="5242255"/>
            <a:ext cx="10234879" cy="616305"/>
          </a:xfrm>
          <a:prstGeom prst="rect">
            <a:avLst/>
          </a:prstGeom>
          <a:noFill/>
        </p:spPr>
        <p:txBody>
          <a:bodyPr wrap="square" anchor="t" lIns="0" rIns="0" tIns="0" bIns="0">
            <a:noAutofit/>
          </a:bodyPr>
          <a:lstStyle/>
          <a:p>
            <a:pPr algn="l">
              <a:lnSpc>
                <a:spcPct val="104000"/>
              </a:lnSpc>
              <a:spcBef>
                <a:spcPts val="0"/>
              </a:spcBef>
              <a:spcAft>
                <a:spcPts val="0"/>
              </a:spcAft>
            </a:pPr>
            <a:r>
              <a:rPr sz="1800" b="1" i="0">
                <a:solidFill>
                  <a:srgbClr val="7D6608"/>
                </a:solidFill>
                <a:latin typeface="Segoe UI"/>
              </a:rPr>
              <a:t>The biased model wins.</a:t>
            </a:r>
            <a:r>
              <a:rPr sz="1800" b="0" i="0">
                <a:solidFill>
                  <a:srgbClr val="1C252B"/>
                </a:solidFill>
                <a:latin typeface="Segoe UI"/>
              </a:rPr>
              <a:t> It is wrong on average, but consistently so; the unbiased model is right on average and wrong every single time. And neither can go below 1.0 — that is the noise.</a:t>
            </a:r>
          </a:p>
        </p:txBody>
      </p:sp>
      <p:sp>
        <p:nvSpPr>
          <p:cNvPr id="15" name="body-4bar">
            <a:extLst>
              <a:ext uri="{C183D7F6-B498-43B3-948B-1728B52AA6E4}">
                <adec:decorative xmlns:adec="http://schemas.microsoft.com/office/drawing/2017/decorative" val="1"/>
              </a:ext>
            </a:extLst>
          </p:cNvPr>
          <p:cNvSpPr/>
          <p:nvPr/>
        </p:nvSpPr>
        <p:spPr>
          <a:xfrm>
            <a:off x="841248" y="5260543"/>
            <a:ext cx="54864" cy="552297"/>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pfill">
            <a:extLst>
              <a:ext uri="{C183D7F6-B498-43B3-948B-1728B52AA6E4}">
                <adec:decorative xmlns:adec="http://schemas.microsoft.com/office/drawing/2017/decorative" val="1"/>
              </a:ext>
            </a:extLst>
          </p:cNvPr>
          <p:cNvSpPr/>
          <p:nvPr/>
        </p:nvSpPr>
        <p:spPr>
          <a:xfrm>
            <a:off x="0" y="0"/>
            <a:ext cx="3483341"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12"/>
                                        </p:tgtEl>
                                        <p:attrNameLst>
                                          <p:attrName>style.visibility</p:attrName>
                                        </p:attrNameLst>
                                      </p:cBhvr>
                                      <p:to>
                                        <p:strVal val="visible"/>
                                      </p:to>
                                    </p:set>
                                    <p:animEffect transition="in" filter="wipe(right)">
                                      <p:cBhvr>
                                        <p:cTn id="8" dur="420"/>
                                        <p:tgtEl>
                                          <p:spTgt spid="12"/>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420"/>
                                        <p:tgtEl>
                                          <p:spTgt spid="11"/>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13">
                                            <p:txEl>
                                              <p:pRg st="0" end="0"/>
                                            </p:txEl>
                                          </p:spTgt>
                                        </p:tgtEl>
                                        <p:attrNameLst>
                                          <p:attrName>style.visibility</p:attrName>
                                        </p:attrNameLst>
                                      </p:cBhvr>
                                      <p:to>
                                        <p:strVal val="visible"/>
                                      </p:to>
                                    </p:set>
                                    <p:animEffect transition="in" filter="fade">
                                      <p:cBhvr>
                                        <p:cTn id="16" dur="350"/>
                                        <p:tgtEl>
                                          <p:spTgt spid="13">
                                            <p:txEl>
                                              <p:pRg st="0" end="0"/>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3">
                                            <p:txEl>
                                              <p:pRg st="1" end="1"/>
                                            </p:txEl>
                                          </p:spTgt>
                                        </p:tgtEl>
                                        <p:attrNameLst>
                                          <p:attrName>style.visibility</p:attrName>
                                        </p:attrNameLst>
                                      </p:cBhvr>
                                      <p:to>
                                        <p:strVal val="visible"/>
                                      </p:to>
                                    </p:set>
                                    <p:animEffect transition="in" filter="fade">
                                      <p:cBhvr>
                                        <p:cTn id="21" dur="350"/>
                                        <p:tgtEl>
                                          <p:spTgt spid="13">
                                            <p:txEl>
                                              <p:pRg st="1" end="1"/>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5"/>
                                        </p:tgtEl>
                                        <p:attrNameLst>
                                          <p:attrName>style.visibility</p:attrName>
                                        </p:attrNameLst>
                                      </p:cBhvr>
                                      <p:to>
                                        <p:strVal val="visible"/>
                                      </p:to>
                                    </p:set>
                                    <p:animEffect transition="in" filter="wipe(right)">
                                      <p:cBhvr>
                                        <p:cTn id="26" dur="420"/>
                                        <p:tgtEl>
                                          <p:spTgt spid="15"/>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42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build="p"/>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The Trade-Off</a:t>
            </a:r>
          </a:p>
        </p:txBody>
      </p:sp>
      <p:pic>
        <p:nvPicPr>
          <p:cNvPr id="3" name="!!kicker-icon" descr="lightbulb-2E86C1.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52915"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E86C1"/>
                </a:solidFill>
                <a:latin typeface="Segoe UI"/>
              </a:rPr>
              <a:t>CONCEPT</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7  ·  Overfitting, Bias–Variance and Regularisation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§7.3  ·  Handout p. 52     </a:t>
            </a:r>
            <a:fld id="{5C5B186A-64E3-4DA9-B229-2FF7F62CD215}" type="slidenum">
              <a:rPr lang="en-GB" sz="1000">
                <a:solidFill>
                  <a:srgbClr val="8795A1"/>
                </a:solidFill>
                <a:latin typeface="Segoe UI"/>
              </a:rPr>
              <a:t>15</a:t>
            </a:fld>
          </a:p>
        </p:txBody>
      </p:sp>
      <p:sp>
        <p:nvSpPr>
          <p:cNvPr id="7" name="!!card">
            <a:extLst>
              <a:ext uri="{C183D7F6-B498-43B3-948B-1728B52AA6E4}">
                <adec:decorative xmlns:adec="http://schemas.microsoft.com/office/drawing/2017/decorative" val="1"/>
              </a:ext>
            </a:extLst>
          </p:cNvPr>
          <p:cNvSpPr/>
          <p:nvPr/>
        </p:nvSpPr>
        <p:spPr>
          <a:xfrm>
            <a:off x="658368" y="1737360"/>
            <a:ext cx="10874959" cy="2809036"/>
          </a:xfrm>
          <a:prstGeom prst="roundRect">
            <a:avLst>
              <a:gd name="adj" fmla="val 3255"/>
            </a:avLst>
          </a:prstGeom>
          <a:solidFill>
            <a:srgbClr val="EBF5FB"/>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2809036"/>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2232964"/>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Making a model more flexible lowers its bias and raises its variance; making it more rigid does the reverse. Test error is their sum plus noise, so it is U-shaped in complexity (Figure 7.2). The practical question is never “how do I eliminate bias?” or “how do I eliminate variance?” but “where is the bottom of the U, for this much data?” — because more data lowers variance and moves the bottom to the right.</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3732151"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Noisy Data</a:t>
            </a:r>
          </a:p>
        </p:txBody>
      </p:sp>
      <p:pic>
        <p:nvPicPr>
          <p:cNvPr id="3" name="!!kicker-icon" descr="quote-left-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5007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KEY IDEA</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7  ·  Overfitting, Bias–Variance and Regularisation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§7.4  ·  Handout p. 54     </a:t>
            </a:r>
            <a:fld id="{C47AA56A-1131-4B51-A9C9-CC39714556B7}" type="slidenum">
              <a:rPr lang="en-GB" sz="1000">
                <a:solidFill>
                  <a:srgbClr val="8795A1"/>
                </a:solidFill>
                <a:latin typeface="Segoe UI"/>
              </a:rPr>
              <a:t>16</a:t>
            </a:fld>
          </a:p>
        </p:txBody>
      </p:sp>
      <p:sp>
        <p:nvSpPr>
          <p:cNvPr id="7" name="!!stbar">
            <a:extLst>
              <a:ext uri="{C183D7F6-B498-43B3-948B-1728B52AA6E4}">
                <adec:decorative xmlns:adec="http://schemas.microsoft.com/office/drawing/2017/decorative" val="1"/>
              </a:ext>
            </a:extLst>
          </p:cNvPr>
          <p:cNvSpPr/>
          <p:nvPr/>
        </p:nvSpPr>
        <p:spPr>
          <a:xfrm>
            <a:off x="658368" y="1810512"/>
            <a:ext cx="73152" cy="4084320"/>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body-0"/>
          <p:cNvSpPr txBox="1"/>
          <p:nvPr/>
        </p:nvSpPr>
        <p:spPr>
          <a:xfrm>
            <a:off x="1042415" y="1792224"/>
            <a:ext cx="10417759" cy="4166616"/>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Noise is not only measurement error in the features. It is also </a:t>
            </a:r>
            <a:r>
              <a:rPr sz="2600" b="0" i="1">
                <a:solidFill>
                  <a:srgbClr val="1C252B"/>
                </a:solidFill>
                <a:latin typeface="Segoe UI"/>
              </a:rPr>
              <a:t>label</a:t>
            </a:r>
            <a:r>
              <a:rPr sz="2600" b="0" i="0">
                <a:solidFill>
                  <a:srgbClr val="1C252B"/>
                </a:solidFill>
                <a:latin typeface="Segoe UI"/>
              </a:rPr>
              <a:t> noise: a task recorded as late that was in fact cancelled, a bug report closed as “not a bug” by a tired reviewer. Noise sets the floor on achievable error, and it is exactly what an overfitting model memorises. Two consequences follow. First, a training error far below the noise level is a symptom, not an achievement — the model has fitted the noise. Second, the noisier the data, the simpler the model it will support: every method in Part III has a setting (tree depth and pruning, </a:t>
            </a:r>
            <a:r>
              <a:rPr sz="2600" b="0" i="1">
                <a:solidFill>
                  <a:srgbClr val="1C252B"/>
                </a:solidFill>
                <a:latin typeface="Cambria"/>
              </a:rPr>
              <a:t>k</a:t>
            </a:r>
            <a:r>
              <a:rPr sz="2600" b="0" i="0">
                <a:solidFill>
                  <a:srgbClr val="1C252B"/>
                </a:solidFill>
                <a:latin typeface="Segoe UI"/>
              </a:rPr>
              <a:t> in nearest neighbours, </a:t>
            </a:r>
            <a:r>
              <a:rPr sz="2600" b="0" i="1">
                <a:solidFill>
                  <a:srgbClr val="1C252B"/>
                </a:solidFill>
                <a:latin typeface="Cambria"/>
              </a:rPr>
              <a:t>C</a:t>
            </a:r>
            <a:r>
              <a:rPr sz="2600" b="0" i="0">
                <a:solidFill>
                  <a:srgbClr val="1C252B"/>
                </a:solidFill>
                <a:latin typeface="Segoe UI"/>
              </a:rPr>
              <a:t> in an SVM) whose job is to stop it chasing noise.</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3980961"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Diagnosing With Learning Curves</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BDD1DF"/>
                </a:solidFill>
                <a:latin typeface="Segoe UI"/>
              </a:rPr>
              <a:t>SECTION 5 OF 7</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7.5</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7.1   The Goal Is Generalisation</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7.2   Underfitting and Overfitting</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7.3   The Bias–Variance Decomposition</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7.4   Noisy Data</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236794"/>
                </a:solidFill>
                <a:latin typeface="Segoe UI"/>
              </a:rPr>
              <a:t>7.5   Diagnosing With Learning Curves</a:t>
            </a:r>
          </a:p>
        </p:txBody>
      </p:sp>
      <p:sp>
        <p:nvSpPr>
          <p:cNvPr id="11" name="!!dl5"/>
          <p:cNvSpPr txBox="1"/>
          <p:nvPr/>
        </p:nvSpPr>
        <p:spPr>
          <a:xfrm>
            <a:off x="4846320" y="553211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7.6   Regularisation</a:t>
            </a:r>
          </a:p>
        </p:txBody>
      </p:sp>
      <p:sp>
        <p:nvSpPr>
          <p:cNvPr id="12" name="!!dl6"/>
          <p:cNvSpPr txBox="1"/>
          <p:nvPr/>
        </p:nvSpPr>
        <p:spPr>
          <a:xfrm>
            <a:off x="4846320" y="580643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7.7   Model Selection With Cross-Validation</a:t>
            </a:r>
          </a:p>
        </p:txBody>
      </p:sp>
      <p:sp>
        <p:nvSpPr>
          <p:cNvPr id="13"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7</a:t>
            </a:r>
          </a:p>
        </p:txBody>
      </p:sp>
      <p:sp>
        <p:nvSpPr>
          <p:cNvPr id="14"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§7.5     </a:t>
            </a:r>
            <a:fld id="{5711298E-BCF0-491E-9555-4836C722F85B}" type="slidenum">
              <a:rPr lang="en-GB" sz="1000">
                <a:solidFill>
                  <a:srgbClr val="8795A1"/>
                </a:solidFill>
                <a:latin typeface="Segoe UI"/>
              </a:rPr>
              <a:t>17</a:t>
            </a:fld>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4229771"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Learning curves</a:t>
            </a:r>
          </a:p>
        </p:txBody>
      </p:sp>
      <p:sp>
        <p:nvSpPr>
          <p:cNvPr id="3" name="!!kicker"/>
          <p:cNvSpPr txBox="1"/>
          <p:nvPr/>
        </p:nvSpPr>
        <p:spPr>
          <a:xfrm>
            <a:off x="658368" y="402336"/>
            <a:ext cx="10874959"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36794"/>
                </a:solidFill>
                <a:latin typeface="Segoe UI"/>
              </a:rPr>
              <a:t>FIGURE 7.4</a:t>
            </a:r>
          </a:p>
        </p:txBody>
      </p:sp>
      <p:sp>
        <p:nvSpPr>
          <p:cNvPr id="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7  ·  Overfitting, Bias–Variance and Regularisation</a:t>
            </a:r>
          </a:p>
        </p:txBody>
      </p:sp>
      <p:sp>
        <p:nvSpPr>
          <p:cNvPr id="5"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§7.5  ·  Handout p. 54     </a:t>
            </a:r>
            <a:fld id="{E71DBEA9-292E-4CE8-AFF6-F593E43F0C2F}" type="slidenum">
              <a:rPr lang="en-GB" sz="1000">
                <a:solidFill>
                  <a:srgbClr val="8795A1"/>
                </a:solidFill>
                <a:latin typeface="Segoe UI"/>
              </a:rPr>
              <a:t>18</a:t>
            </a:fld>
          </a:p>
        </p:txBody>
      </p:sp>
      <p:pic>
        <p:nvPicPr>
          <p:cNvPr id="6" name="!!figure" descr="Figure 7.4. Learning curves. With high bias the curves meet early at an unacceptable level; with high variance there is a wide gap that more data would narrow."/>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59853" y="1737360"/>
            <a:ext cx="10471988" cy="3740505"/>
          </a:xfrm>
          <a:prstGeom prst="rect">
            <a:avLst/>
          </a:prstGeom>
        </p:spPr>
      </p:pic>
      <p:sp>
        <p:nvSpPr>
          <p:cNvPr id="7" name="!!takebar">
            <a:extLst>
              <a:ext uri="{C183D7F6-B498-43B3-948B-1728B52AA6E4}">
                <adec:decorative xmlns:adec="http://schemas.microsoft.com/office/drawing/2017/decorative" val="1"/>
              </a:ext>
            </a:extLst>
          </p:cNvPr>
          <p:cNvSpPr/>
          <p:nvPr/>
        </p:nvSpPr>
        <p:spPr>
          <a:xfrm>
            <a:off x="658368" y="5660745"/>
            <a:ext cx="54864" cy="575462"/>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ake"/>
          <p:cNvSpPr txBox="1"/>
          <p:nvPr/>
        </p:nvSpPr>
        <p:spPr>
          <a:xfrm>
            <a:off x="877824" y="5642457"/>
            <a:ext cx="10600639" cy="758342"/>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3E4C57"/>
                </a:solidFill>
                <a:latin typeface="Segoe UI"/>
              </a:rPr>
              <a:t>With high bias the curves meet early at an unacceptable level; with high variance there is a wide gap that more data would narrow.</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4478581"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Diagnosing With Learning Curves</a:t>
            </a:r>
          </a:p>
        </p:txBody>
      </p:sp>
      <p:pic>
        <p:nvPicPr>
          <p:cNvPr id="3" name="!!kicker-icon" descr="table-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5007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AT A GLANCE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7  ·  Overfitting, Bias–Variance and Regularisation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§7.5  ·  Handout p. 54     </a:t>
            </a:r>
            <a:fld id="{7CEC3C72-9749-4804-AE3F-9E1A40BE7797}" type="slidenum">
              <a:rPr lang="en-GB" sz="1000">
                <a:solidFill>
                  <a:srgbClr val="8795A1"/>
                </a:solidFill>
                <a:latin typeface="Segoe UI"/>
              </a:rPr>
              <a:t>19</a:t>
            </a:fld>
          </a:p>
        </p:txBody>
      </p:sp>
      <p:graphicFrame>
        <p:nvGraphicFramePr>
          <p:cNvPr id="7" name="!!table"/>
          <p:cNvGraphicFramePr>
            <a:graphicFrameLocks noGrp="1"/>
          </p:cNvGraphicFramePr>
          <p:nvPr/>
        </p:nvGraphicFramePr>
        <p:xfrm>
          <a:off x="658368" y="1737360"/>
          <a:ext cx="10874958" cy="2398776"/>
        </p:xfrm>
        <a:graphic>
          <a:graphicData uri="http://schemas.openxmlformats.org/drawingml/2006/table">
            <a:tbl>
              <a:tblPr firstRow="0" bandRow="0" firstCol="0" lastRow="0" lastCol="0" bandCol="0">
                <a:tableStyleId>{2D5ABB26-0587-4C30-8999-92F81FD0307C}</a:tableStyleId>
              </a:tblPr>
              <a:tblGrid>
                <a:gridCol w="2174991"/>
                <a:gridCol w="3189988"/>
                <a:gridCol w="5509979"/>
              </a:tblGrid>
              <a:tr h="405384">
                <a:tc>
                  <a:txBody>
                    <a:bodyPr wrap="square"/>
                    <a:lstStyle/>
                    <a:p>
                      <a:pPr algn="l"/>
                      <a:r>
                        <a:rPr sz="1700" b="1" i="0">
                          <a:solidFill>
                            <a:srgbClr val="1A5276"/>
                          </a:solidFill>
                          <a:latin typeface="Segoe UI"/>
                        </a:rPr>
                        <a:t>Diagnosis</a:t>
                      </a:r>
                      <a:endParaRPr sz="17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700" b="1" i="0">
                          <a:solidFill>
                            <a:srgbClr val="1A5276"/>
                          </a:solidFill>
                          <a:latin typeface="Segoe UI"/>
                        </a:rPr>
                        <a:t>Symptom</a:t>
                      </a:r>
                      <a:endParaRPr sz="17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700" b="1" i="0">
                          <a:solidFill>
                            <a:srgbClr val="1A5276"/>
                          </a:solidFill>
                          <a:latin typeface="Segoe UI"/>
                        </a:rPr>
                        <a:t>What helps</a:t>
                      </a:r>
                      <a:endParaRPr sz="17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r>
              <a:tr h="664464">
                <a:tc>
                  <a:txBody>
                    <a:bodyPr wrap="square"/>
                    <a:lstStyle/>
                    <a:p>
                      <a:pPr algn="l"/>
                      <a:r>
                        <a:rPr sz="1700" b="0" i="0">
                          <a:solidFill>
                            <a:srgbClr val="1C252B"/>
                          </a:solidFill>
                          <a:latin typeface="Segoe UI"/>
                        </a:rPr>
                        <a:t>High bias (underfitting)</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Training error high; validation close to it</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A more flexible model; more or better features; less regularisation. More data does </a:t>
                      </a:r>
                      <a:r>
                        <a:rPr sz="1700" b="0" i="1">
                          <a:solidFill>
                            <a:srgbClr val="1C252B"/>
                          </a:solidFill>
                          <a:latin typeface="Segoe UI"/>
                        </a:rPr>
                        <a:t>not</a:t>
                      </a:r>
                      <a:r>
                        <a:rPr sz="1700" b="0" i="0">
                          <a:solidFill>
                            <a:srgbClr val="1C252B"/>
                          </a:solidFill>
                          <a:latin typeface="Segoe UI"/>
                        </a:rPr>
                        <a:t> help</a:t>
                      </a:r>
                      <a:endParaRPr sz="1700"/>
                    </a:p>
                  </a:txBody>
                  <a:tcPr marL="109728" marR="109728" marT="64008" marB="45720" anchor="t">
                    <a:lnL w="0" cmpd="sng">
                      <a:noFill/>
                    </a:lnL>
                    <a:lnR w="0" cmpd="sng">
                      <a:noFill/>
                    </a:lnR>
                    <a:lnT w="9525" cmpd="sng">
                      <a:noFill/>
                    </a:lnT>
                    <a:lnB w="9525" cmpd="sng">
                      <a:noFill/>
                    </a:lnB>
                    <a:solidFill>
                      <a:srgbClr val="FFFFFF"/>
                    </a:solidFill>
                  </a:tcPr>
                </a:tc>
              </a:tr>
              <a:tr h="664464">
                <a:tc>
                  <a:txBody>
                    <a:bodyPr wrap="square"/>
                    <a:lstStyle/>
                    <a:p>
                      <a:pPr algn="l"/>
                      <a:r>
                        <a:rPr sz="1700" b="0" i="0">
                          <a:solidFill>
                            <a:srgbClr val="1C252B"/>
                          </a:solidFill>
                          <a:latin typeface="Segoe UI"/>
                        </a:rPr>
                        <a:t>High variance (overfitting)</a:t>
                      </a:r>
                      <a:endParaRPr sz="17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700" b="0" i="0">
                          <a:solidFill>
                            <a:srgbClr val="1C252B"/>
                          </a:solidFill>
                          <a:latin typeface="Segoe UI"/>
                        </a:rPr>
                        <a:t>Training error low; validation much higher</a:t>
                      </a:r>
                      <a:endParaRPr sz="17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700" b="0" i="0">
                          <a:solidFill>
                            <a:srgbClr val="1C252B"/>
                          </a:solidFill>
                          <a:latin typeface="Segoe UI"/>
                        </a:rPr>
                        <a:t>More data; fewer features; a simpler model; more regularisation; ensembles that average (Chapter 14)</a:t>
                      </a:r>
                      <a:endParaRPr sz="1700"/>
                    </a:p>
                  </a:txBody>
                  <a:tcPr marL="109728" marR="109728" marT="64008" marB="45720" anchor="t">
                    <a:lnL w="0" cmpd="sng">
                      <a:noFill/>
                    </a:lnL>
                    <a:lnR w="0" cmpd="sng">
                      <a:noFill/>
                    </a:lnR>
                    <a:lnT w="9525" cmpd="sng">
                      <a:noFill/>
                    </a:lnT>
                    <a:lnB w="9525" cmpd="sng">
                      <a:noFill/>
                    </a:lnB>
                    <a:solidFill>
                      <a:srgbClr val="F2F8FC"/>
                    </a:solidFill>
                  </a:tcPr>
                </a:tc>
              </a:tr>
              <a:tr h="664464">
                <a:tc>
                  <a:txBody>
                    <a:bodyPr wrap="square"/>
                    <a:lstStyle/>
                    <a:p>
                      <a:pPr algn="l"/>
                      <a:r>
                        <a:rPr sz="1700" b="0" i="0">
                          <a:solidFill>
                            <a:srgbClr val="1C252B"/>
                          </a:solidFill>
                          <a:latin typeface="Segoe UI"/>
                        </a:rPr>
                        <a:t>Both fine but still poor</a:t>
                      </a:r>
                      <a:endParaRPr sz="17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c>
                  <a:txBody>
                    <a:bodyPr wrap="square"/>
                    <a:lstStyle/>
                    <a:p>
                      <a:pPr algn="l"/>
                      <a:r>
                        <a:rPr sz="1700" b="0" i="0">
                          <a:solidFill>
                            <a:srgbClr val="1C252B"/>
                          </a:solidFill>
                          <a:latin typeface="Segoe UI"/>
                        </a:rPr>
                        <a:t>Both curves meet at the noise level</a:t>
                      </a:r>
                      <a:endParaRPr sz="17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c>
                  <a:txBody>
                    <a:bodyPr wrap="square"/>
                    <a:lstStyle/>
                    <a:p>
                      <a:pPr algn="l"/>
                      <a:r>
                        <a:rPr sz="1700" b="0" i="0">
                          <a:solidFill>
                            <a:srgbClr val="1C252B"/>
                          </a:solidFill>
                          <a:latin typeface="Segoe UI"/>
                        </a:rPr>
                        <a:t>Better data: cleaner labels, more informative features. The algorithm is not the problem</a:t>
                      </a:r>
                      <a:endParaRPr sz="17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r>
            </a:tbl>
          </a:graphicData>
        </a:graphic>
      </p:graphicFrame>
      <p:sp>
        <p:nvSpPr>
          <p:cNvPr id="8"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pfill">
            <a:extLst>
              <a:ext uri="{C183D7F6-B498-43B3-948B-1728B52AA6E4}">
                <adec:decorative xmlns:adec="http://schemas.microsoft.com/office/drawing/2017/decorative" val="1"/>
              </a:ext>
            </a:extLst>
          </p:cNvPr>
          <p:cNvSpPr/>
          <p:nvPr/>
        </p:nvSpPr>
        <p:spPr>
          <a:xfrm>
            <a:off x="0" y="0"/>
            <a:ext cx="4727392"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Regularisation</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BDD1DF"/>
                </a:solidFill>
                <a:latin typeface="Segoe UI"/>
              </a:rPr>
              <a:t>SECTION 6 OF 7</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7.6</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7.1   The Goal Is Generalisation</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7.2   Underfitting and Overfitting</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7.3   The Bias–Variance Decomposition</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7.4   Noisy Data</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7.5   Diagnosing With Learning Curves</a:t>
            </a:r>
          </a:p>
        </p:txBody>
      </p:sp>
      <p:sp>
        <p:nvSpPr>
          <p:cNvPr id="11" name="!!dl5"/>
          <p:cNvSpPr txBox="1"/>
          <p:nvPr/>
        </p:nvSpPr>
        <p:spPr>
          <a:xfrm>
            <a:off x="4846320" y="553211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236794"/>
                </a:solidFill>
                <a:latin typeface="Segoe UI"/>
              </a:rPr>
              <a:t>7.6   Regularisation</a:t>
            </a:r>
          </a:p>
        </p:txBody>
      </p:sp>
      <p:sp>
        <p:nvSpPr>
          <p:cNvPr id="12" name="!!dl6"/>
          <p:cNvSpPr txBox="1"/>
          <p:nvPr/>
        </p:nvSpPr>
        <p:spPr>
          <a:xfrm>
            <a:off x="4846320" y="580643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7.7   Model Selection With Cross-Validation</a:t>
            </a:r>
          </a:p>
        </p:txBody>
      </p:sp>
      <p:sp>
        <p:nvSpPr>
          <p:cNvPr id="13"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7</a:t>
            </a:r>
          </a:p>
        </p:txBody>
      </p:sp>
      <p:sp>
        <p:nvSpPr>
          <p:cNvPr id="14"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§7.6     </a:t>
            </a:r>
            <a:fld id="{AC8305BC-ACE5-4FB3-9A01-43ABE62A7E5D}" type="slidenum">
              <a:rPr lang="en-GB" sz="1000">
                <a:solidFill>
                  <a:srgbClr val="8795A1"/>
                </a:solidFill>
                <a:latin typeface="Segoe UI"/>
              </a:rPr>
              <a:t>20</a:t>
            </a:fld>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4976202"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Ridge and Lasso</a:t>
            </a:r>
          </a:p>
        </p:txBody>
      </p:sp>
      <p:pic>
        <p:nvPicPr>
          <p:cNvPr id="3" name="!!kicker-icon" descr="book-B35900.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35900"/>
                </a:solidFill>
                <a:latin typeface="Segoe UI"/>
              </a:rPr>
              <a:t>DEFINITION</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7  ·  Overfitting, Bias–Variance and Regularisation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§7.6  ·  Handout p. 54     </a:t>
            </a:r>
            <a:fld id="{C114290E-75F8-4F08-B389-E8B21DE5D6F6}" type="slidenum">
              <a:rPr lang="en-GB" sz="1000">
                <a:solidFill>
                  <a:srgbClr val="8795A1"/>
                </a:solidFill>
                <a:latin typeface="Segoe UI"/>
              </a:rPr>
              <a:t>21</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968668"/>
          </a:xfrm>
          <a:prstGeom prst="roundRect">
            <a:avLst>
              <a:gd name="adj" fmla="val 2304"/>
            </a:avLst>
          </a:prstGeom>
          <a:solidFill>
            <a:srgbClr val="FDF2E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968668"/>
          </a:xfrm>
          <a:prstGeom prst="rect">
            <a:avLst/>
          </a:prstGeom>
          <a:solidFill>
            <a:srgbClr val="B359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410260"/>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Add a penalty on the size of the weights to the training loss:</a:t>
            </a:r>
          </a:p>
        </p:txBody>
      </p:sp>
      <p:pic>
        <p:nvPicPr>
          <p:cNvPr id="10" name="body-1" descr="\text{Ridge (L2):}\quad \text{MSE} + \lambda\sum_{j} w_j^2 \qquad\qquad \text{Lasso (L1):}\quad \text{MSE} + \lambda\sum_{j} |w_j|"/>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0704" y="2573451"/>
            <a:ext cx="10161727" cy="838321"/>
          </a:xfrm>
          <a:prstGeom prst="rect">
            <a:avLst/>
          </a:prstGeom>
        </p:spPr>
      </p:pic>
      <p:sp>
        <p:nvSpPr>
          <p:cNvPr id="11" name="body-2"/>
          <p:cNvSpPr txBox="1"/>
          <p:nvPr/>
        </p:nvSpPr>
        <p:spPr>
          <a:xfrm>
            <a:off x="1060704" y="3572428"/>
            <a:ext cx="10161727" cy="1868424"/>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The </a:t>
            </a:r>
            <a:r>
              <a:rPr sz="2300" b="1" i="0">
                <a:solidFill>
                  <a:srgbClr val="1A5276"/>
                </a:solidFill>
                <a:latin typeface="Segoe UI"/>
              </a:rPr>
              <a:t>hyperparameter</a:t>
            </a:r>
            <a:r>
              <a:rPr sz="2300" b="0" i="0">
                <a:solidFill>
                  <a:srgbClr val="1C252B"/>
                </a:solidFill>
                <a:latin typeface="Segoe UI"/>
              </a:rPr>
              <a:t> </a:t>
            </a:r>
            <a:r>
              <a:rPr sz="2300" b="0" i="0">
                <a:solidFill>
                  <a:srgbClr val="1C252B"/>
                </a:solidFill>
                <a:latin typeface="Cambria"/>
              </a:rPr>
              <a:t>λ ≥ 0</a:t>
            </a:r>
            <a:r>
              <a:rPr sz="2300" b="0" i="0">
                <a:solidFill>
                  <a:srgbClr val="1C252B"/>
                </a:solidFill>
                <a:latin typeface="Segoe UI"/>
              </a:rPr>
              <a:t> sets the strength: </a:t>
            </a:r>
            <a:r>
              <a:rPr sz="2300" b="0" i="0">
                <a:solidFill>
                  <a:srgbClr val="1C252B"/>
                </a:solidFill>
                <a:latin typeface="Cambria"/>
              </a:rPr>
              <a:t>λ = 0</a:t>
            </a:r>
            <a:r>
              <a:rPr sz="2300" b="0" i="0">
                <a:solidFill>
                  <a:srgbClr val="1C252B"/>
                </a:solidFill>
                <a:latin typeface="Segoe UI"/>
              </a:rPr>
              <a:t> is ordinary least squares; a very large </a:t>
            </a:r>
            <a:r>
              <a:rPr sz="2300" b="0" i="0">
                <a:solidFill>
                  <a:srgbClr val="1C252B"/>
                </a:solidFill>
                <a:latin typeface="Cambria"/>
              </a:rPr>
              <a:t>λ</a:t>
            </a:r>
            <a:r>
              <a:rPr sz="2300" b="0" i="0">
                <a:solidFill>
                  <a:srgbClr val="1C252B"/>
                </a:solidFill>
                <a:latin typeface="Segoe UI"/>
              </a:rPr>
              <a:t> forces every weight to 0 (the bias </a:t>
            </a:r>
            <a:r>
              <a:rPr sz="2300" b="0" i="1">
                <a:solidFill>
                  <a:srgbClr val="1C252B"/>
                </a:solidFill>
                <a:latin typeface="Cambria"/>
              </a:rPr>
              <a:t>b</a:t>
            </a:r>
            <a:r>
              <a:rPr sz="2300" b="0" i="0">
                <a:solidFill>
                  <a:srgbClr val="1C252B"/>
                </a:solidFill>
                <a:latin typeface="Segoe UI"/>
              </a:rPr>
              <a:t> is not penalised). Ridge shrinks all weights smoothly; lasso drives some of them to exactly zero, so it also </a:t>
            </a:r>
            <a:r>
              <a:rPr sz="2300" b="0" i="1">
                <a:solidFill>
                  <a:srgbClr val="1C252B"/>
                </a:solidFill>
                <a:latin typeface="Segoe UI"/>
              </a:rPr>
              <a:t>selects features</a:t>
            </a:r>
            <a:r>
              <a:rPr sz="2300" b="0" i="0">
                <a:solidFill>
                  <a:srgbClr val="1C252B"/>
                </a:solidFill>
                <a:latin typeface="Segoe UI"/>
              </a:rPr>
              <a:t>. Features must be standardised first, or the penalty falls unequally on them.</a:t>
            </a:r>
          </a:p>
        </p:txBody>
      </p:sp>
      <p:sp>
        <p:nvSpPr>
          <p:cNvPr id="1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pfill">
            <a:extLst>
              <a:ext uri="{C183D7F6-B498-43B3-948B-1728B52AA6E4}">
                <adec:decorative xmlns:adec="http://schemas.microsoft.com/office/drawing/2017/decorative" val="1"/>
              </a:ext>
            </a:extLst>
          </p:cNvPr>
          <p:cNvSpPr/>
          <p:nvPr/>
        </p:nvSpPr>
        <p:spPr>
          <a:xfrm>
            <a:off x="0" y="0"/>
            <a:ext cx="5225012"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Ridge Shrinkage in One Dimension</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7  ·  Overfitting, Bias–Variance and Regularisation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§7.6  ·  Handout p. 54     </a:t>
            </a:r>
            <a:fld id="{22D87EC8-8F26-4A2C-AB3B-56725988E0A7}" type="slidenum">
              <a:rPr lang="en-GB" sz="1000">
                <a:solidFill>
                  <a:srgbClr val="8795A1"/>
                </a:solidFill>
                <a:latin typeface="Segoe UI"/>
              </a:rPr>
              <a:t>22</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542663"/>
          </a:xfrm>
          <a:prstGeom prst="roundRect">
            <a:avLst>
              <a:gd name="adj" fmla="val 2012"/>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542663"/>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711403"/>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Centred data </a:t>
            </a:r>
            <a:r>
              <a:rPr sz="2100" b="0" i="1">
                <a:solidFill>
                  <a:srgbClr val="1C252B"/>
                </a:solidFill>
                <a:latin typeface="Cambria"/>
              </a:rPr>
              <a:t>x</a:t>
            </a:r>
            <a:r>
              <a:rPr sz="2100" b="0" i="0">
                <a:solidFill>
                  <a:srgbClr val="1C252B"/>
                </a:solidFill>
                <a:latin typeface="Cambria"/>
              </a:rPr>
              <a:t> = −2, −1, 0, 1, 2</a:t>
            </a:r>
            <a:r>
              <a:rPr sz="2100" b="0" i="0">
                <a:solidFill>
                  <a:srgbClr val="1C252B"/>
                </a:solidFill>
                <a:latin typeface="Segoe UI"/>
              </a:rPr>
              <a:t> and </a:t>
            </a:r>
            <a:r>
              <a:rPr sz="2100" b="0" i="1">
                <a:solidFill>
                  <a:srgbClr val="1C252B"/>
                </a:solidFill>
                <a:latin typeface="Cambria"/>
              </a:rPr>
              <a:t>y</a:t>
            </a:r>
            <a:r>
              <a:rPr sz="2100" b="0" i="0">
                <a:solidFill>
                  <a:srgbClr val="1C252B"/>
                </a:solidFill>
                <a:latin typeface="Cambria"/>
              </a:rPr>
              <a:t> = −3, −1, 0, 2, 2</a:t>
            </a:r>
            <a:r>
              <a:rPr sz="2100" b="0" i="0">
                <a:solidFill>
                  <a:srgbClr val="1C252B"/>
                </a:solidFill>
                <a:latin typeface="Segoe UI"/>
              </a:rPr>
              <a:t>, fitted by </a:t>
            </a:r>
            <a:r>
              <a:rPr sz="2100" b="0" i="1">
                <a:solidFill>
                  <a:srgbClr val="1C252B"/>
                </a:solidFill>
                <a:latin typeface="Cambria"/>
              </a:rPr>
              <a:t>ŷ</a:t>
            </a:r>
            <a:r>
              <a:rPr sz="2100" b="0" i="0">
                <a:solidFill>
                  <a:srgbClr val="1C252B"/>
                </a:solidFill>
                <a:latin typeface="Cambria"/>
              </a:rPr>
              <a:t> = </a:t>
            </a:r>
            <a:r>
              <a:rPr sz="2100" b="0" i="1">
                <a:solidFill>
                  <a:srgbClr val="1C252B"/>
                </a:solidFill>
                <a:latin typeface="Cambria"/>
              </a:rPr>
              <a:t>wx</a:t>
            </a:r>
            <a:r>
              <a:rPr sz="2100" b="0" i="0">
                <a:solidFill>
                  <a:srgbClr val="1C252B"/>
                </a:solidFill>
                <a:latin typeface="Segoe UI"/>
              </a:rPr>
              <a:t>. Minimising </a:t>
            </a:r>
            <a:r>
              <a:rPr sz="2100" b="0" i="0">
                <a:solidFill>
                  <a:srgbClr val="1C252B"/>
                </a:solidFill>
                <a:latin typeface="Cambria"/>
              </a:rPr>
              <a:t>Σ(</a:t>
            </a:r>
            <a:r>
              <a:rPr sz="2100" b="0" i="1">
                <a:solidFill>
                  <a:srgbClr val="1C252B"/>
                </a:solidFill>
                <a:latin typeface="Cambria"/>
              </a:rPr>
              <a:t>y</a:t>
            </a:r>
            <a:r>
              <a:rPr sz="2100" b="0" i="1" baseline="-25000">
                <a:solidFill>
                  <a:srgbClr val="1C252B"/>
                </a:solidFill>
                <a:latin typeface="Cambria"/>
              </a:rPr>
              <a:t>i</a:t>
            </a:r>
            <a:r>
              <a:rPr sz="2100" b="0" i="0">
                <a:solidFill>
                  <a:srgbClr val="1C252B"/>
                </a:solidFill>
                <a:latin typeface="Cambria"/>
              </a:rPr>
              <a:t> − </a:t>
            </a:r>
            <a:r>
              <a:rPr sz="2100" b="0" i="1">
                <a:solidFill>
                  <a:srgbClr val="1C252B"/>
                </a:solidFill>
                <a:latin typeface="Cambria"/>
              </a:rPr>
              <a:t>wx</a:t>
            </a:r>
            <a:r>
              <a:rPr sz="2100" b="0" i="1" baseline="-25000">
                <a:solidFill>
                  <a:srgbClr val="1C252B"/>
                </a:solidFill>
                <a:latin typeface="Cambria"/>
              </a:rPr>
              <a:t>i</a:t>
            </a:r>
            <a:r>
              <a:rPr sz="2100" b="0" i="0">
                <a:solidFill>
                  <a:srgbClr val="1C252B"/>
                </a:solidFill>
                <a:latin typeface="Cambria"/>
              </a:rPr>
              <a:t>)</a:t>
            </a:r>
            <a:r>
              <a:rPr sz="2100" b="0" i="0" baseline="30000">
                <a:solidFill>
                  <a:srgbClr val="1C252B"/>
                </a:solidFill>
                <a:latin typeface="Cambria"/>
              </a:rPr>
              <a:t>2</a:t>
            </a:r>
            <a:r>
              <a:rPr sz="2100" b="0" i="0">
                <a:solidFill>
                  <a:srgbClr val="1C252B"/>
                </a:solidFill>
                <a:latin typeface="Cambria"/>
              </a:rPr>
              <a:t> + λ </a:t>
            </a:r>
            <a:r>
              <a:rPr sz="2100" b="0" i="1">
                <a:solidFill>
                  <a:srgbClr val="1C252B"/>
                </a:solidFill>
                <a:latin typeface="Cambria"/>
              </a:rPr>
              <a:t>w</a:t>
            </a:r>
            <a:r>
              <a:rPr sz="2100" b="0" i="0" baseline="30000">
                <a:solidFill>
                  <a:srgbClr val="1C252B"/>
                </a:solidFill>
                <a:latin typeface="Cambria"/>
              </a:rPr>
              <a:t>2</a:t>
            </a:r>
            <a:r>
              <a:rPr sz="2100" b="0" i="0">
                <a:solidFill>
                  <a:srgbClr val="1C252B"/>
                </a:solidFill>
                <a:latin typeface="Segoe UI"/>
              </a:rPr>
              <a:t> gives</a:t>
            </a:r>
          </a:p>
        </p:txBody>
      </p:sp>
      <p:pic>
        <p:nvPicPr>
          <p:cNvPr id="10" name="body-1" descr="w = \frac{\sum x_i y_i}{\sum x_i^2 + \lambda} \qquad\text{with}\quad \textstyle\sum x_i y_i = 6 + 1 + 0 + 2 + 4 = 13,\quad \sum x_i^2 = 10"/>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42416" y="2824048"/>
            <a:ext cx="10234879" cy="704545"/>
          </a:xfrm>
          <a:prstGeom prst="rect">
            <a:avLst/>
          </a:prstGeom>
        </p:spPr>
      </p:pic>
      <p:sp>
        <p:nvSpPr>
          <p:cNvPr id="11" name="body-2"/>
          <p:cNvSpPr txBox="1"/>
          <p:nvPr/>
        </p:nvSpPr>
        <p:spPr>
          <a:xfrm>
            <a:off x="1042416" y="3675278"/>
            <a:ext cx="10234879" cy="1230934"/>
          </a:xfrm>
          <a:prstGeom prst="rect">
            <a:avLst/>
          </a:prstGeom>
          <a:noFill/>
        </p:spPr>
        <p:txBody>
          <a:bodyPr wrap="square" anchor="t" lIns="0" rIns="0" tIns="0" bIns="0">
            <a:noAutofit/>
          </a:bodyPr>
          <a:lstStyle/>
          <a:p>
            <a:pPr algn="l" marL="234813" indent="-234813">
              <a:lnSpc>
                <a:spcPct val="104000"/>
              </a:lnSpc>
              <a:spcBef>
                <a:spcPts val="0"/>
              </a:spcBef>
              <a:spcAft>
                <a:spcPts val="735"/>
              </a:spcAft>
            </a:pPr>
            <a:r>
              <a:rPr sz="2100" b="1">
                <a:solidFill>
                  <a:srgbClr val="7D6608"/>
                </a:solidFill>
                <a:latin typeface="Segoe UI"/>
              </a:rPr>
              <a:t>•	</a:t>
            </a:r>
            <a:r>
              <a:rPr sz="2100" b="0" i="0">
                <a:solidFill>
                  <a:srgbClr val="1C252B"/>
                </a:solidFill>
                <a:latin typeface="Cambria"/>
              </a:rPr>
              <a:t>λ = 0</a:t>
            </a:r>
            <a:r>
              <a:rPr sz="2100" b="0" i="0">
                <a:solidFill>
                  <a:srgbClr val="1C252B"/>
                </a:solidFill>
                <a:latin typeface="Segoe UI"/>
              </a:rPr>
              <a:t>: </a:t>
            </a:r>
            <a:r>
              <a:rPr sz="2100" b="0" i="1">
                <a:solidFill>
                  <a:srgbClr val="1C252B"/>
                </a:solidFill>
                <a:latin typeface="Cambria"/>
              </a:rPr>
              <a:t>w</a:t>
            </a:r>
            <a:r>
              <a:rPr sz="2100" b="0" i="0">
                <a:solidFill>
                  <a:srgbClr val="1C252B"/>
                </a:solidFill>
                <a:latin typeface="Cambria"/>
              </a:rPr>
              <a:t> = 13/10 = </a:t>
            </a:r>
            <a:r>
              <a:rPr sz="2100" b="1" i="0">
                <a:solidFill>
                  <a:srgbClr val="1C252B"/>
                </a:solidFill>
                <a:latin typeface="Cambria"/>
              </a:rPr>
              <a:t>1.30</a:t>
            </a:r>
            <a:r>
              <a:rPr sz="2100" b="0" i="0">
                <a:solidFill>
                  <a:srgbClr val="1C252B"/>
                </a:solidFill>
                <a:latin typeface="Segoe UI"/>
              </a:rPr>
              <a:t> (least squares).</a:t>
            </a:r>
          </a:p>
          <a:p>
            <a:pPr algn="l" marL="234813" indent="-234813">
              <a:lnSpc>
                <a:spcPct val="104000"/>
              </a:lnSpc>
              <a:spcBef>
                <a:spcPts val="0"/>
              </a:spcBef>
              <a:spcAft>
                <a:spcPts val="735"/>
              </a:spcAft>
            </a:pPr>
            <a:r>
              <a:rPr sz="2100" b="1">
                <a:solidFill>
                  <a:srgbClr val="7D6608"/>
                </a:solidFill>
                <a:latin typeface="Segoe UI"/>
              </a:rPr>
              <a:t>•	</a:t>
            </a:r>
            <a:r>
              <a:rPr sz="2100" b="0" i="0">
                <a:solidFill>
                  <a:srgbClr val="1C252B"/>
                </a:solidFill>
                <a:latin typeface="Cambria"/>
              </a:rPr>
              <a:t>λ = 2</a:t>
            </a:r>
            <a:r>
              <a:rPr sz="2100" b="0" i="0">
                <a:solidFill>
                  <a:srgbClr val="1C252B"/>
                </a:solidFill>
                <a:latin typeface="Segoe UI"/>
              </a:rPr>
              <a:t>: </a:t>
            </a:r>
            <a:r>
              <a:rPr sz="2100" b="0" i="1">
                <a:solidFill>
                  <a:srgbClr val="1C252B"/>
                </a:solidFill>
                <a:latin typeface="Cambria"/>
              </a:rPr>
              <a:t>w</a:t>
            </a:r>
            <a:r>
              <a:rPr sz="2100" b="0" i="0">
                <a:solidFill>
                  <a:srgbClr val="1C252B"/>
                </a:solidFill>
                <a:latin typeface="Cambria"/>
              </a:rPr>
              <a:t> = 13/12 = </a:t>
            </a:r>
            <a:r>
              <a:rPr sz="2100" b="1" i="0">
                <a:solidFill>
                  <a:srgbClr val="1C252B"/>
                </a:solidFill>
                <a:latin typeface="Cambria"/>
              </a:rPr>
              <a:t>1.08</a:t>
            </a:r>
            <a:r>
              <a:rPr sz="2100" b="0" i="0">
                <a:solidFill>
                  <a:srgbClr val="1C252B"/>
                </a:solidFill>
                <a:latin typeface="Segoe UI"/>
              </a:rPr>
              <a:t>.</a:t>
            </a:r>
          </a:p>
          <a:p>
            <a:pPr algn="l" marL="234813" indent="-234813">
              <a:lnSpc>
                <a:spcPct val="104000"/>
              </a:lnSpc>
              <a:spcBef>
                <a:spcPts val="0"/>
              </a:spcBef>
              <a:spcAft>
                <a:spcPts val="0"/>
              </a:spcAft>
            </a:pPr>
            <a:r>
              <a:rPr sz="2100" b="1">
                <a:solidFill>
                  <a:srgbClr val="7D6608"/>
                </a:solidFill>
                <a:latin typeface="Segoe UI"/>
              </a:rPr>
              <a:t>•	</a:t>
            </a:r>
            <a:r>
              <a:rPr sz="2100" b="0" i="0">
                <a:solidFill>
                  <a:srgbClr val="1C252B"/>
                </a:solidFill>
                <a:latin typeface="Cambria"/>
              </a:rPr>
              <a:t>λ = 10</a:t>
            </a:r>
            <a:r>
              <a:rPr sz="2100" b="0" i="0">
                <a:solidFill>
                  <a:srgbClr val="1C252B"/>
                </a:solidFill>
                <a:latin typeface="Segoe UI"/>
              </a:rPr>
              <a:t>: </a:t>
            </a:r>
            <a:r>
              <a:rPr sz="2100" b="0" i="1">
                <a:solidFill>
                  <a:srgbClr val="1C252B"/>
                </a:solidFill>
                <a:latin typeface="Cambria"/>
              </a:rPr>
              <a:t>w</a:t>
            </a:r>
            <a:r>
              <a:rPr sz="2100" b="0" i="0">
                <a:solidFill>
                  <a:srgbClr val="1C252B"/>
                </a:solidFill>
                <a:latin typeface="Cambria"/>
              </a:rPr>
              <a:t> = 13/20 = </a:t>
            </a:r>
            <a:r>
              <a:rPr sz="2100" b="1" i="0">
                <a:solidFill>
                  <a:srgbClr val="1C252B"/>
                </a:solidFill>
                <a:latin typeface="Cambria"/>
              </a:rPr>
              <a:t>0.65</a:t>
            </a:r>
            <a:r>
              <a:rPr sz="2100" b="0" i="0">
                <a:solidFill>
                  <a:srgbClr val="1C252B"/>
                </a:solidFill>
                <a:latin typeface="Segoe UI"/>
              </a:rPr>
              <a:t>.</a:t>
            </a:r>
          </a:p>
        </p:txBody>
      </p:sp>
      <p:sp>
        <p:nvSpPr>
          <p:cNvPr id="12" name="body-3"/>
          <p:cNvSpPr txBox="1"/>
          <p:nvPr/>
        </p:nvSpPr>
        <p:spPr>
          <a:xfrm>
            <a:off x="1042416" y="5007178"/>
            <a:ext cx="10234879" cy="1044244"/>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The penalty adds </a:t>
            </a:r>
            <a:r>
              <a:rPr sz="2100" b="0" i="0">
                <a:solidFill>
                  <a:srgbClr val="1C252B"/>
                </a:solidFill>
                <a:latin typeface="Cambria"/>
              </a:rPr>
              <a:t>λ</a:t>
            </a:r>
            <a:r>
              <a:rPr sz="2100" b="0" i="0">
                <a:solidFill>
                  <a:srgbClr val="1C252B"/>
                </a:solidFill>
                <a:latin typeface="Segoe UI"/>
              </a:rPr>
              <a:t> to the denominator, so it pulls the weight towards zero — a little when the data is plentiful (</a:t>
            </a:r>
            <a:r>
              <a:rPr sz="2100" b="0" i="0">
                <a:solidFill>
                  <a:srgbClr val="1C252B"/>
                </a:solidFill>
                <a:latin typeface="Cambria"/>
              </a:rPr>
              <a:t>Σ </a:t>
            </a:r>
            <a:r>
              <a:rPr sz="2100" b="0" i="1">
                <a:solidFill>
                  <a:srgbClr val="1C252B"/>
                </a:solidFill>
                <a:latin typeface="Cambria"/>
              </a:rPr>
              <a:t>x</a:t>
            </a:r>
            <a:r>
              <a:rPr sz="2100" b="0" i="0" baseline="30000">
                <a:solidFill>
                  <a:srgbClr val="1C252B"/>
                </a:solidFill>
                <a:latin typeface="Cambria"/>
              </a:rPr>
              <a:t>2</a:t>
            </a:r>
            <a:r>
              <a:rPr sz="2100" b="0" i="0">
                <a:solidFill>
                  <a:srgbClr val="1C252B"/>
                </a:solidFill>
                <a:latin typeface="Segoe UI"/>
              </a:rPr>
              <a:t> large), a lot when it is not. That is exactly the behaviour wanted: shrink hardest where the data says least.</a:t>
            </a:r>
          </a:p>
        </p:txBody>
      </p:sp>
      <p:sp>
        <p:nvSpPr>
          <p:cNvPr id="2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pfill">
            <a:extLst>
              <a:ext uri="{C183D7F6-B498-43B3-948B-1728B52AA6E4}">
                <adec:decorative xmlns:adec="http://schemas.microsoft.com/office/drawing/2017/decorative" val="1"/>
              </a:ext>
            </a:extLst>
          </p:cNvPr>
          <p:cNvSpPr/>
          <p:nvPr/>
        </p:nvSpPr>
        <p:spPr>
          <a:xfrm>
            <a:off x="0" y="0"/>
            <a:ext cx="5473822"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wipe(right)">
                                      <p:cBhvr>
                                        <p:cTn id="8" dur="420"/>
                                        <p:tgtEl>
                                          <p:spTgt spid="10"/>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11">
                                            <p:txEl>
                                              <p:pRg st="0" end="0"/>
                                            </p:txEl>
                                          </p:spTgt>
                                        </p:tgtEl>
                                        <p:attrNameLst>
                                          <p:attrName>style.visibility</p:attrName>
                                        </p:attrNameLst>
                                      </p:cBhvr>
                                      <p:to>
                                        <p:strVal val="visible"/>
                                      </p:to>
                                    </p:set>
                                    <p:animEffect transition="in" filter="fade">
                                      <p:cBhvr>
                                        <p:cTn id="13" dur="350"/>
                                        <p:tgtEl>
                                          <p:spTgt spid="11">
                                            <p:txEl>
                                              <p:pRg st="0" end="0"/>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1">
                                            <p:txEl>
                                              <p:pRg st="1" end="1"/>
                                            </p:txEl>
                                          </p:spTgt>
                                        </p:tgtEl>
                                        <p:attrNameLst>
                                          <p:attrName>style.visibility</p:attrName>
                                        </p:attrNameLst>
                                      </p:cBhvr>
                                      <p:to>
                                        <p:strVal val="visible"/>
                                      </p:to>
                                    </p:set>
                                    <p:animEffect transition="in" filter="fade">
                                      <p:cBhvr>
                                        <p:cTn id="18" dur="350"/>
                                        <p:tgtEl>
                                          <p:spTgt spid="11">
                                            <p:txEl>
                                              <p:pRg st="1" end="1"/>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1">
                                            <p:txEl>
                                              <p:pRg st="2" end="2"/>
                                            </p:txEl>
                                          </p:spTgt>
                                        </p:tgtEl>
                                        <p:attrNameLst>
                                          <p:attrName>style.visibility</p:attrName>
                                        </p:attrNameLst>
                                      </p:cBhvr>
                                      <p:to>
                                        <p:strVal val="visible"/>
                                      </p:to>
                                    </p:set>
                                    <p:animEffect transition="in" filter="fade">
                                      <p:cBhvr>
                                        <p:cTn id="23" dur="350"/>
                                        <p:tgtEl>
                                          <p:spTgt spid="11">
                                            <p:txEl>
                                              <p:pRg st="2" end="2"/>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wipe(right)">
                                      <p:cBhvr>
                                        <p:cTn id="28" dur="42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build="p"/>
    </p:bld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Why lasso sets weights to zero</a:t>
            </a:r>
          </a:p>
        </p:txBody>
      </p:sp>
      <p:sp>
        <p:nvSpPr>
          <p:cNvPr id="3" name="!!kicker"/>
          <p:cNvSpPr txBox="1"/>
          <p:nvPr/>
        </p:nvSpPr>
        <p:spPr>
          <a:xfrm>
            <a:off x="658368" y="402336"/>
            <a:ext cx="10874959"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36794"/>
                </a:solidFill>
                <a:latin typeface="Segoe UI"/>
              </a:rPr>
              <a:t>FIGURE 7.5</a:t>
            </a:r>
          </a:p>
        </p:txBody>
      </p:sp>
      <p:sp>
        <p:nvSpPr>
          <p:cNvPr id="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7  ·  Overfitting, Bias–Variance and Regularisation</a:t>
            </a:r>
          </a:p>
        </p:txBody>
      </p:sp>
      <p:sp>
        <p:nvSpPr>
          <p:cNvPr id="5"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§7.6  ·  Handout p. 54     </a:t>
            </a:r>
            <a:fld id="{0E63A9DA-19DB-4942-A300-FE7E8E623420}" type="slidenum">
              <a:rPr lang="en-GB" sz="1000">
                <a:solidFill>
                  <a:srgbClr val="8795A1"/>
                </a:solidFill>
                <a:latin typeface="Segoe UI"/>
              </a:rPr>
              <a:t>23</a:t>
            </a:fld>
          </a:p>
        </p:txBody>
      </p:sp>
      <p:pic>
        <p:nvPicPr>
          <p:cNvPr id="6" name="!!figure" descr="Figure 7.5. Why lasso sets weights to zero. The regularised solution is where the smallest error ellipse (blue) first touches the region allowed by the penalty (green). A circle is touched at a generic point; a diamond is usually touched at a corner, where one weight is exactly zero."/>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605791" y="1737360"/>
            <a:ext cx="6980111" cy="3471062"/>
          </a:xfrm>
          <a:prstGeom prst="rect">
            <a:avLst/>
          </a:prstGeom>
        </p:spPr>
      </p:pic>
      <p:sp>
        <p:nvSpPr>
          <p:cNvPr id="7" name="!!takebar">
            <a:extLst>
              <a:ext uri="{C183D7F6-B498-43B3-948B-1728B52AA6E4}">
                <adec:decorative xmlns:adec="http://schemas.microsoft.com/office/drawing/2017/decorative" val="1"/>
              </a:ext>
            </a:extLst>
          </p:cNvPr>
          <p:cNvSpPr/>
          <p:nvPr/>
        </p:nvSpPr>
        <p:spPr>
          <a:xfrm>
            <a:off x="658368" y="5391302"/>
            <a:ext cx="54864" cy="844905"/>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ake"/>
          <p:cNvSpPr txBox="1"/>
          <p:nvPr/>
        </p:nvSpPr>
        <p:spPr>
          <a:xfrm>
            <a:off x="877824" y="5373014"/>
            <a:ext cx="10600639" cy="1027785"/>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3E4C57"/>
                </a:solidFill>
                <a:latin typeface="Segoe UI"/>
              </a:rPr>
              <a:t>The regularised solution is where the smallest error ellipse (blue) first touches the region allowed by the penalty (green). A circle is touched at a generic point; a diamond is usually touched at a corner, where one weight is exactly zero.</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5722632"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Regularisation Is Everywhere, Under Other Names</a:t>
            </a:r>
          </a:p>
        </p:txBody>
      </p:sp>
      <p:pic>
        <p:nvPicPr>
          <p:cNvPr id="3" name="!!kicker-icon" descr="exclamation-triangle-E74C3C.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45688"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E74C3C"/>
                </a:solidFill>
                <a:latin typeface="Segoe UI"/>
              </a:rPr>
              <a:t>WATCH OUT</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7  ·  Overfitting, Bias–Variance and Regularisation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§7.6  ·  Handout p. 54     </a:t>
            </a:r>
            <a:fld id="{4DEC6BB7-D285-43B7-9564-806845B0022C}" type="slidenum">
              <a:rPr lang="en-GB" sz="1000">
                <a:solidFill>
                  <a:srgbClr val="8795A1"/>
                </a:solidFill>
                <a:latin typeface="Segoe UI"/>
              </a:rPr>
              <a:t>24</a:t>
            </a:fld>
          </a:p>
        </p:txBody>
      </p:sp>
      <p:sp>
        <p:nvSpPr>
          <p:cNvPr id="7" name="!!card">
            <a:extLst>
              <a:ext uri="{C183D7F6-B498-43B3-948B-1728B52AA6E4}">
                <adec:decorative xmlns:adec="http://schemas.microsoft.com/office/drawing/2017/decorative" val="1"/>
              </a:ext>
            </a:extLst>
          </p:cNvPr>
          <p:cNvSpPr/>
          <p:nvPr/>
        </p:nvSpPr>
        <p:spPr>
          <a:xfrm>
            <a:off x="658368" y="1737360"/>
            <a:ext cx="10874959" cy="2809036"/>
          </a:xfrm>
          <a:prstGeom prst="roundRect">
            <a:avLst>
              <a:gd name="adj" fmla="val 3255"/>
            </a:avLst>
          </a:prstGeom>
          <a:solidFill>
            <a:srgbClr val="FDED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2809036"/>
          </a:xfrm>
          <a:prstGeom prst="rect">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2232964"/>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Every flexible model in this course has a knob that trades variance for bias. Maximum tree depth and pruning (Chapter 9); </a:t>
            </a:r>
            <a:r>
              <a:rPr sz="2300" b="0" i="1">
                <a:solidFill>
                  <a:srgbClr val="1C252B"/>
                </a:solidFill>
                <a:latin typeface="Cambria"/>
              </a:rPr>
              <a:t>k</a:t>
            </a:r>
            <a:r>
              <a:rPr sz="2300" b="0" i="0">
                <a:solidFill>
                  <a:srgbClr val="1C252B"/>
                </a:solidFill>
                <a:latin typeface="Segoe UI"/>
              </a:rPr>
              <a:t> in </a:t>
            </a:r>
            <a:r>
              <a:rPr sz="2300" b="0" i="1">
                <a:solidFill>
                  <a:srgbClr val="1C252B"/>
                </a:solidFill>
                <a:latin typeface="Cambria"/>
              </a:rPr>
              <a:t>k</a:t>
            </a:r>
            <a:r>
              <a:rPr sz="2300" b="0" i="0">
                <a:solidFill>
                  <a:srgbClr val="1C252B"/>
                </a:solidFill>
                <a:latin typeface="Segoe UI"/>
              </a:rPr>
              <a:t>-nearest neighbours (Chapter 11); </a:t>
            </a:r>
            <a:r>
              <a:rPr sz="2300" b="0" i="1">
                <a:solidFill>
                  <a:srgbClr val="1C252B"/>
                </a:solidFill>
                <a:latin typeface="Cambria"/>
              </a:rPr>
              <a:t>C</a:t>
            </a:r>
            <a:r>
              <a:rPr sz="2300" b="0" i="0">
                <a:solidFill>
                  <a:srgbClr val="1C252B"/>
                </a:solidFill>
                <a:latin typeface="Segoe UI"/>
              </a:rPr>
              <a:t> in SVMs (Chapter 12); weight decay, early stopping and dropout in neural networks (Chapter 13); </a:t>
            </a:r>
            <a:r>
              <a:rPr sz="2300" b="0" i="1">
                <a:solidFill>
                  <a:srgbClr val="1C252B"/>
                </a:solidFill>
                <a:latin typeface="Cambria"/>
              </a:rPr>
              <a:t>C</a:t>
            </a:r>
            <a:r>
              <a:rPr sz="2300" b="0" i="0">
                <a:solidFill>
                  <a:srgbClr val="1C252B"/>
                </a:solidFill>
                <a:latin typeface="Cambria"/>
              </a:rPr>
              <a:t> = 1/λ</a:t>
            </a:r>
            <a:r>
              <a:rPr sz="2300" b="0" i="0">
                <a:solidFill>
                  <a:srgbClr val="1C252B"/>
                </a:solidFill>
                <a:latin typeface="Segoe UI"/>
              </a:rPr>
              <a:t> in scikit-learn’s </a:t>
            </a:r>
            <a:r>
              <a:rPr sz="2150" b="0" i="0">
                <a:solidFill>
                  <a:srgbClr val="1F4E79"/>
                </a:solidFill>
                <a:latin typeface="Consolas"/>
              </a:rPr>
              <a:t>LogisticRegression</a:t>
            </a:r>
            <a:r>
              <a:rPr sz="2300" b="0" i="0">
                <a:solidFill>
                  <a:srgbClr val="1C252B"/>
                </a:solidFill>
                <a:latin typeface="Segoe UI"/>
              </a:rPr>
              <a:t> (Chapter 6). Once you see them as the same idea, tuning them is the same procedure — the one in the next section.</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5971442"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Model Selection With Cross-Validation</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BDD1DF"/>
                </a:solidFill>
                <a:latin typeface="Segoe UI"/>
              </a:rPr>
              <a:t>SECTION 7 OF 7</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7.7</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7.1   The Goal Is Generalisation</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7.2   Underfitting and Overfitting</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7.3   The Bias–Variance Decomposition</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7.4   Noisy Data</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7.5   Diagnosing With Learning Curves</a:t>
            </a:r>
          </a:p>
        </p:txBody>
      </p:sp>
      <p:sp>
        <p:nvSpPr>
          <p:cNvPr id="11" name="!!dl5"/>
          <p:cNvSpPr txBox="1"/>
          <p:nvPr/>
        </p:nvSpPr>
        <p:spPr>
          <a:xfrm>
            <a:off x="4846320" y="553211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7.6   Regularisation</a:t>
            </a:r>
          </a:p>
        </p:txBody>
      </p:sp>
      <p:sp>
        <p:nvSpPr>
          <p:cNvPr id="12" name="!!dl6"/>
          <p:cNvSpPr txBox="1"/>
          <p:nvPr/>
        </p:nvSpPr>
        <p:spPr>
          <a:xfrm>
            <a:off x="4846320" y="580643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236794"/>
                </a:solidFill>
                <a:latin typeface="Segoe UI"/>
              </a:rPr>
              <a:t>7.7   Model Selection With Cross-Validation</a:t>
            </a:r>
          </a:p>
        </p:txBody>
      </p:sp>
      <p:sp>
        <p:nvSpPr>
          <p:cNvPr id="13"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7</a:t>
            </a:r>
          </a:p>
        </p:txBody>
      </p:sp>
      <p:sp>
        <p:nvSpPr>
          <p:cNvPr id="14"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§7.7     </a:t>
            </a:r>
            <a:fld id="{238598A8-C7D0-4E35-AD74-58ECA6F6DE7F}" type="slidenum">
              <a:rPr lang="en-GB" sz="1000">
                <a:solidFill>
                  <a:srgbClr val="8795A1"/>
                </a:solidFill>
                <a:latin typeface="Segoe UI"/>
              </a:rPr>
              <a:t>25</a:t>
            </a:fld>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6220252"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k-Fold Cross-Validation</a:t>
            </a:r>
          </a:p>
        </p:txBody>
      </p:sp>
      <p:pic>
        <p:nvPicPr>
          <p:cNvPr id="3" name="!!kicker-icon" descr="book-B35900.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35900"/>
                </a:solidFill>
                <a:latin typeface="Segoe UI"/>
              </a:rPr>
              <a:t>DEFINITION</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7  ·  Overfitting, Bias–Variance and Regularisation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§7.7  ·  Handout p. 55     </a:t>
            </a:r>
            <a:fld id="{7944293B-1883-4B7D-BCE7-41E1F6FC85ED}" type="slidenum">
              <a:rPr lang="en-GB" sz="1000">
                <a:solidFill>
                  <a:srgbClr val="8795A1"/>
                </a:solidFill>
                <a:latin typeface="Segoe UI"/>
              </a:rPr>
              <a:t>26</a:t>
            </a:fld>
          </a:p>
        </p:txBody>
      </p:sp>
      <p:sp>
        <p:nvSpPr>
          <p:cNvPr id="7" name="!!card">
            <a:extLst>
              <a:ext uri="{C183D7F6-B498-43B3-948B-1728B52AA6E4}">
                <adec:decorative xmlns:adec="http://schemas.microsoft.com/office/drawing/2017/decorative" val="1"/>
              </a:ext>
            </a:extLst>
          </p:cNvPr>
          <p:cNvSpPr/>
          <p:nvPr/>
        </p:nvSpPr>
        <p:spPr>
          <a:xfrm>
            <a:off x="658368" y="1737360"/>
            <a:ext cx="10874959" cy="2079955"/>
          </a:xfrm>
          <a:prstGeom prst="roundRect">
            <a:avLst>
              <a:gd name="adj" fmla="val 4396"/>
            </a:avLst>
          </a:prstGeom>
          <a:solidFill>
            <a:srgbClr val="FDF2E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2079955"/>
          </a:xfrm>
          <a:prstGeom prst="rect">
            <a:avLst/>
          </a:prstGeom>
          <a:solidFill>
            <a:srgbClr val="B359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1503883"/>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Split the training data into </a:t>
            </a:r>
            <a:r>
              <a:rPr sz="2300" b="0" i="1">
                <a:solidFill>
                  <a:srgbClr val="1C252B"/>
                </a:solidFill>
                <a:latin typeface="Cambria"/>
              </a:rPr>
              <a:t>k</a:t>
            </a:r>
            <a:r>
              <a:rPr sz="2300" b="0" i="0">
                <a:solidFill>
                  <a:srgbClr val="1C252B"/>
                </a:solidFill>
                <a:latin typeface="Segoe UI"/>
              </a:rPr>
              <a:t> equal folds (typically 5 or 10). For each fold in turn, train on the other </a:t>
            </a:r>
            <a:r>
              <a:rPr sz="2300" b="0" i="1">
                <a:solidFill>
                  <a:srgbClr val="1C252B"/>
                </a:solidFill>
                <a:latin typeface="Cambria"/>
              </a:rPr>
              <a:t>k</a:t>
            </a:r>
            <a:r>
              <a:rPr sz="2300" b="0" i="0">
                <a:solidFill>
                  <a:srgbClr val="1C252B"/>
                </a:solidFill>
                <a:latin typeface="Cambria"/>
              </a:rPr>
              <a:t> − 1</a:t>
            </a:r>
            <a:r>
              <a:rPr sz="2300" b="0" i="0">
                <a:solidFill>
                  <a:srgbClr val="1C252B"/>
                </a:solidFill>
                <a:latin typeface="Segoe UI"/>
              </a:rPr>
              <a:t> folds and measure error on the held-out fold. The cross-validation score is the mean of the </a:t>
            </a:r>
            <a:r>
              <a:rPr sz="2300" b="0" i="1">
                <a:solidFill>
                  <a:srgbClr val="1C252B"/>
                </a:solidFill>
                <a:latin typeface="Cambria"/>
              </a:rPr>
              <a:t>k</a:t>
            </a:r>
            <a:r>
              <a:rPr sz="2300" b="0" i="0">
                <a:solidFill>
                  <a:srgbClr val="1C252B"/>
                </a:solidFill>
                <a:latin typeface="Segoe UI"/>
              </a:rPr>
              <a:t> errors; report their standard deviation too. Every example is used for validation exactly once.</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6469062"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Five-fold cross-validation on the training data</a:t>
            </a:r>
          </a:p>
        </p:txBody>
      </p:sp>
      <p:sp>
        <p:nvSpPr>
          <p:cNvPr id="3" name="!!kicker"/>
          <p:cNvSpPr txBox="1"/>
          <p:nvPr/>
        </p:nvSpPr>
        <p:spPr>
          <a:xfrm>
            <a:off x="658368" y="402336"/>
            <a:ext cx="10874959"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36794"/>
                </a:solidFill>
                <a:latin typeface="Segoe UI"/>
              </a:rPr>
              <a:t>FIGURE 7.6</a:t>
            </a:r>
          </a:p>
        </p:txBody>
      </p:sp>
      <p:sp>
        <p:nvSpPr>
          <p:cNvPr id="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7  ·  Overfitting, Bias–Variance and Regularisation</a:t>
            </a:r>
          </a:p>
        </p:txBody>
      </p:sp>
      <p:sp>
        <p:nvSpPr>
          <p:cNvPr id="5"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§7.7  ·  Handout p. 55     </a:t>
            </a:r>
            <a:fld id="{5781D815-9429-4F70-A7BE-75BF2686D6D0}" type="slidenum">
              <a:rPr lang="en-GB" sz="1000">
                <a:solidFill>
                  <a:srgbClr val="8795A1"/>
                </a:solidFill>
                <a:latin typeface="Segoe UI"/>
              </a:rPr>
              <a:t>27</a:t>
            </a:fld>
          </a:p>
        </p:txBody>
      </p:sp>
      <p:pic>
        <p:nvPicPr>
          <p:cNvPr id="6" name="!!figure" descr="Figure 7.6. Five-fold cross-validation on the training data. The test set is not part of the rotation."/>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915038"/>
            <a:ext cx="10874959" cy="2994643"/>
          </a:xfrm>
          <a:prstGeom prst="rect">
            <a:avLst/>
          </a:prstGeom>
        </p:spPr>
      </p:pic>
      <p:sp>
        <p:nvSpPr>
          <p:cNvPr id="7" name="!!takebar">
            <a:extLst>
              <a:ext uri="{C183D7F6-B498-43B3-948B-1728B52AA6E4}">
                <adec:decorative xmlns:adec="http://schemas.microsoft.com/office/drawing/2017/decorative" val="1"/>
              </a:ext>
            </a:extLst>
          </p:cNvPr>
          <p:cNvSpPr/>
          <p:nvPr/>
        </p:nvSpPr>
        <p:spPr>
          <a:xfrm>
            <a:off x="658368" y="5930188"/>
            <a:ext cx="54864" cy="306019"/>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ake"/>
          <p:cNvSpPr txBox="1"/>
          <p:nvPr/>
        </p:nvSpPr>
        <p:spPr>
          <a:xfrm>
            <a:off x="877824" y="5911900"/>
            <a:ext cx="10600639" cy="488899"/>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3E4C57"/>
                </a:solidFill>
                <a:latin typeface="Segoe UI"/>
              </a:rPr>
              <a:t>The test set is not part of the rotation.</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6717872"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Choosing λ by Cross-Validation</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7  ·  Overfitting, Bias–Variance and Regularisation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§7.7  ·  Handout p. 55     </a:t>
            </a:r>
            <a:fld id="{C7F50B5D-BCF6-4A5F-85AF-5128C0139627}" type="slidenum">
              <a:rPr lang="en-GB" sz="1000">
                <a:solidFill>
                  <a:srgbClr val="8795A1"/>
                </a:solidFill>
                <a:latin typeface="Segoe UI"/>
              </a:rPr>
              <a:t>28</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472025"/>
          </a:xfrm>
          <a:prstGeom prst="roundRect">
            <a:avLst>
              <a:gd name="adj" fmla="val 2044"/>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472025"/>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299313"/>
          </a:xfrm>
          <a:prstGeom prst="rect">
            <a:avLst/>
          </a:prstGeom>
          <a:noFill/>
        </p:spPr>
        <p:txBody>
          <a:bodyPr wrap="square" anchor="t" lIns="0" rIns="0" tIns="0" bIns="0">
            <a:noAutofit/>
          </a:bodyPr>
          <a:lstStyle/>
          <a:p>
            <a:pPr algn="l">
              <a:lnSpc>
                <a:spcPct val="104000"/>
              </a:lnSpc>
              <a:spcBef>
                <a:spcPts val="0"/>
              </a:spcBef>
              <a:spcAft>
                <a:spcPts val="0"/>
              </a:spcAft>
            </a:pPr>
            <a:r>
              <a:rPr sz="1600" b="0" i="0">
                <a:solidFill>
                  <a:srgbClr val="1C252B"/>
                </a:solidFill>
                <a:latin typeface="Segoe UI"/>
              </a:rPr>
              <a:t>Five-fold cross-validation of a degree-12 polynomial with ridge penalties, from this chapter’s lab:</a:t>
            </a:r>
          </a:p>
        </p:txBody>
      </p:sp>
      <p:graphicFrame>
        <p:nvGraphicFramePr>
          <p:cNvPr id="10" name="body-1"/>
          <p:cNvGraphicFramePr>
            <a:graphicFrameLocks noGrp="1"/>
          </p:cNvGraphicFramePr>
          <p:nvPr/>
        </p:nvGraphicFramePr>
        <p:xfrm>
          <a:off x="1042416" y="2377033"/>
          <a:ext cx="2563246" cy="2066544"/>
        </p:xfrm>
        <a:graphic>
          <a:graphicData uri="http://schemas.openxmlformats.org/drawingml/2006/table">
            <a:tbl>
              <a:tblPr firstRow="0" bandRow="0" firstCol="0" lastRow="0" lastCol="0" bandCol="0">
                <a:tableStyleId>{2D5ABB26-0587-4C30-8999-92F81FD0307C}</a:tableStyleId>
              </a:tblPr>
              <a:tblGrid>
                <a:gridCol w="629210"/>
                <a:gridCol w="975108"/>
                <a:gridCol w="958928"/>
              </a:tblGrid>
              <a:tr h="344424">
                <a:tc>
                  <a:txBody>
                    <a:bodyPr wrap="square"/>
                    <a:lstStyle/>
                    <a:p>
                      <a:pPr algn="l"/>
                      <a:r>
                        <a:rPr sz="1300" b="1" i="0">
                          <a:solidFill>
                            <a:srgbClr val="1A5276"/>
                          </a:solidFill>
                          <a:latin typeface="Cambria"/>
                        </a:rPr>
                        <a:t>λ</a:t>
                      </a:r>
                      <a:endParaRPr sz="13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r"/>
                      <a:r>
                        <a:rPr sz="1300" b="1" i="0">
                          <a:solidFill>
                            <a:srgbClr val="1A5276"/>
                          </a:solidFill>
                          <a:latin typeface="Segoe UI"/>
                        </a:rPr>
                        <a:t>CV RMSE</a:t>
                      </a:r>
                      <a:endParaRPr sz="13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endParaRPr sz="13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r>
              <a:tr h="344424">
                <a:tc>
                  <a:txBody>
                    <a:bodyPr wrap="square"/>
                    <a:lstStyle/>
                    <a:p>
                      <a:pPr algn="l"/>
                      <a:r>
                        <a:rPr sz="1300" b="0" i="0">
                          <a:solidFill>
                            <a:srgbClr val="1C252B"/>
                          </a:solidFill>
                          <a:latin typeface="Cambria"/>
                        </a:rPr>
                        <a:t>10</a:t>
                      </a:r>
                      <a:r>
                        <a:rPr sz="1300" b="0" i="0" baseline="30000">
                          <a:solidFill>
                            <a:srgbClr val="1C252B"/>
                          </a:solidFill>
                          <a:latin typeface="Cambria"/>
                        </a:rPr>
                        <a:t>−6</a:t>
                      </a:r>
                      <a:endParaRPr sz="13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r"/>
                      <a:r>
                        <a:rPr sz="1300" b="0" i="0">
                          <a:solidFill>
                            <a:srgbClr val="1C252B"/>
                          </a:solidFill>
                          <a:latin typeface="Segoe UI"/>
                        </a:rPr>
                        <a:t>0.388</a:t>
                      </a:r>
                      <a:endParaRPr sz="13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endParaRPr sz="1300"/>
                    </a:p>
                  </a:txBody>
                  <a:tcPr marL="109728" marR="109728" marT="64008" marB="45720" anchor="t">
                    <a:lnL w="0" cmpd="sng">
                      <a:noFill/>
                    </a:lnL>
                    <a:lnR w="0" cmpd="sng">
                      <a:noFill/>
                    </a:lnR>
                    <a:lnT w="9525" cmpd="sng">
                      <a:noFill/>
                    </a:lnT>
                    <a:lnB w="9525" cmpd="sng">
                      <a:noFill/>
                    </a:lnB>
                    <a:solidFill>
                      <a:srgbClr val="FFFFFF"/>
                    </a:solidFill>
                  </a:tcPr>
                </a:tc>
              </a:tr>
              <a:tr h="344424">
                <a:tc>
                  <a:txBody>
                    <a:bodyPr wrap="square"/>
                    <a:lstStyle/>
                    <a:p>
                      <a:pPr algn="l"/>
                      <a:r>
                        <a:rPr sz="1300" b="0" i="0">
                          <a:solidFill>
                            <a:srgbClr val="1C252B"/>
                          </a:solidFill>
                          <a:latin typeface="Cambria"/>
                        </a:rPr>
                        <a:t>10</a:t>
                      </a:r>
                      <a:r>
                        <a:rPr sz="1300" b="0" i="0" baseline="30000">
                          <a:solidFill>
                            <a:srgbClr val="1C252B"/>
                          </a:solidFill>
                          <a:latin typeface="Cambria"/>
                        </a:rPr>
                        <a:t>−3</a:t>
                      </a:r>
                      <a:endParaRPr sz="13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r"/>
                      <a:r>
                        <a:rPr sz="1300" b="0" i="0">
                          <a:solidFill>
                            <a:srgbClr val="1C252B"/>
                          </a:solidFill>
                          <a:latin typeface="Segoe UI"/>
                        </a:rPr>
                        <a:t>0.326</a:t>
                      </a:r>
                      <a:endParaRPr sz="13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300" b="0" i="0">
                          <a:solidFill>
                            <a:srgbClr val="1C252B"/>
                          </a:solidFill>
                          <a:latin typeface="Cambria"/>
                        </a:rPr>
                        <a:t>←</a:t>
                      </a:r>
                      <a:r>
                        <a:rPr sz="1300" b="0" i="0">
                          <a:solidFill>
                            <a:srgbClr val="1C252B"/>
                          </a:solidFill>
                          <a:latin typeface="Segoe UI"/>
                        </a:rPr>
                        <a:t> </a:t>
                      </a:r>
                      <a:r>
                        <a:rPr sz="1300" b="1" i="0">
                          <a:solidFill>
                            <a:srgbClr val="1C252B"/>
                          </a:solidFill>
                          <a:latin typeface="Segoe UI"/>
                        </a:rPr>
                        <a:t>lowest</a:t>
                      </a:r>
                      <a:endParaRPr sz="1300"/>
                    </a:p>
                  </a:txBody>
                  <a:tcPr marL="109728" marR="109728" marT="64008" marB="45720" anchor="t">
                    <a:lnL w="0" cmpd="sng">
                      <a:noFill/>
                    </a:lnL>
                    <a:lnR w="0" cmpd="sng">
                      <a:noFill/>
                    </a:lnR>
                    <a:lnT w="9525" cmpd="sng">
                      <a:noFill/>
                    </a:lnT>
                    <a:lnB w="9525" cmpd="sng">
                      <a:noFill/>
                    </a:lnB>
                    <a:solidFill>
                      <a:srgbClr val="F2F8FC"/>
                    </a:solidFill>
                  </a:tcPr>
                </a:tc>
              </a:tr>
              <a:tr h="344424">
                <a:tc>
                  <a:txBody>
                    <a:bodyPr wrap="square"/>
                    <a:lstStyle/>
                    <a:p>
                      <a:pPr algn="l"/>
                      <a:r>
                        <a:rPr sz="1300" b="0" i="0">
                          <a:solidFill>
                            <a:srgbClr val="1C252B"/>
                          </a:solidFill>
                          <a:latin typeface="Cambria"/>
                        </a:rPr>
                        <a:t>10</a:t>
                      </a:r>
                      <a:r>
                        <a:rPr sz="1300" b="0" i="0" baseline="30000">
                          <a:solidFill>
                            <a:srgbClr val="1C252B"/>
                          </a:solidFill>
                          <a:latin typeface="Cambria"/>
                        </a:rPr>
                        <a:t>−1</a:t>
                      </a:r>
                      <a:endParaRPr sz="13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r"/>
                      <a:r>
                        <a:rPr sz="1300" b="0" i="0">
                          <a:solidFill>
                            <a:srgbClr val="1C252B"/>
                          </a:solidFill>
                          <a:latin typeface="Segoe UI"/>
                        </a:rPr>
                        <a:t>0.330</a:t>
                      </a:r>
                      <a:endParaRPr sz="13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endParaRPr sz="1300"/>
                    </a:p>
                  </a:txBody>
                  <a:tcPr marL="109728" marR="109728" marT="64008" marB="45720" anchor="t">
                    <a:lnL w="0" cmpd="sng">
                      <a:noFill/>
                    </a:lnL>
                    <a:lnR w="0" cmpd="sng">
                      <a:noFill/>
                    </a:lnR>
                    <a:lnT w="9525" cmpd="sng">
                      <a:noFill/>
                    </a:lnT>
                    <a:lnB w="9525" cmpd="sng">
                      <a:noFill/>
                    </a:lnB>
                    <a:solidFill>
                      <a:srgbClr val="FFFFFF"/>
                    </a:solidFill>
                  </a:tcPr>
                </a:tc>
              </a:tr>
              <a:tr h="344424">
                <a:tc>
                  <a:txBody>
                    <a:bodyPr wrap="square"/>
                    <a:lstStyle/>
                    <a:p>
                      <a:pPr algn="l"/>
                      <a:r>
                        <a:rPr sz="1300" b="0" i="0">
                          <a:solidFill>
                            <a:srgbClr val="1C252B"/>
                          </a:solidFill>
                          <a:latin typeface="Cambria"/>
                        </a:rPr>
                        <a:t>10</a:t>
                      </a:r>
                      <a:endParaRPr sz="13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r"/>
                      <a:r>
                        <a:rPr sz="1300" b="0" i="0">
                          <a:solidFill>
                            <a:srgbClr val="1C252B"/>
                          </a:solidFill>
                          <a:latin typeface="Segoe UI"/>
                        </a:rPr>
                        <a:t>0.441</a:t>
                      </a:r>
                      <a:endParaRPr sz="13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endParaRPr sz="1300"/>
                    </a:p>
                  </a:txBody>
                  <a:tcPr marL="109728" marR="109728" marT="64008" marB="45720" anchor="t">
                    <a:lnL w="0" cmpd="sng">
                      <a:noFill/>
                    </a:lnL>
                    <a:lnR w="0" cmpd="sng">
                      <a:noFill/>
                    </a:lnR>
                    <a:lnT w="9525" cmpd="sng">
                      <a:noFill/>
                    </a:lnT>
                    <a:lnB w="9525" cmpd="sng">
                      <a:noFill/>
                    </a:lnB>
                    <a:solidFill>
                      <a:srgbClr val="F2F8FC"/>
                    </a:solidFill>
                  </a:tcPr>
                </a:tc>
              </a:tr>
              <a:tr h="344424">
                <a:tc>
                  <a:txBody>
                    <a:bodyPr wrap="square"/>
                    <a:lstStyle/>
                    <a:p>
                      <a:pPr algn="l"/>
                      <a:r>
                        <a:rPr sz="1300" b="0" i="0">
                          <a:solidFill>
                            <a:srgbClr val="1C252B"/>
                          </a:solidFill>
                          <a:latin typeface="Cambria"/>
                        </a:rPr>
                        <a:t>1000</a:t>
                      </a:r>
                      <a:endParaRPr sz="13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c>
                  <a:txBody>
                    <a:bodyPr wrap="square"/>
                    <a:lstStyle/>
                    <a:p>
                      <a:pPr algn="r"/>
                      <a:r>
                        <a:rPr sz="1300" b="0" i="0">
                          <a:solidFill>
                            <a:srgbClr val="1C252B"/>
                          </a:solidFill>
                          <a:latin typeface="Segoe UI"/>
                        </a:rPr>
                        <a:t>0.706</a:t>
                      </a:r>
                      <a:endParaRPr sz="13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c>
                  <a:txBody>
                    <a:bodyPr wrap="square"/>
                    <a:lstStyle/>
                    <a:p>
                      <a:pPr algn="l"/>
                      <a:endParaRPr sz="13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r>
            </a:tbl>
          </a:graphicData>
        </a:graphic>
      </p:graphicFrame>
      <p:sp>
        <p:nvSpPr>
          <p:cNvPr id="11" name="body-2"/>
          <p:cNvSpPr txBox="1"/>
          <p:nvPr/>
        </p:nvSpPr>
        <p:spPr>
          <a:xfrm>
            <a:off x="1042416" y="4555337"/>
            <a:ext cx="10234879" cy="806500"/>
          </a:xfrm>
          <a:prstGeom prst="rect">
            <a:avLst/>
          </a:prstGeom>
          <a:noFill/>
        </p:spPr>
        <p:txBody>
          <a:bodyPr wrap="square" anchor="t" lIns="0" rIns="0" tIns="0" bIns="0">
            <a:noAutofit/>
          </a:bodyPr>
          <a:lstStyle/>
          <a:p>
            <a:pPr algn="l">
              <a:lnSpc>
                <a:spcPct val="104000"/>
              </a:lnSpc>
              <a:spcBef>
                <a:spcPts val="0"/>
              </a:spcBef>
              <a:spcAft>
                <a:spcPts val="0"/>
              </a:spcAft>
            </a:pPr>
            <a:r>
              <a:rPr sz="1600" b="0" i="0">
                <a:solidFill>
                  <a:srgbClr val="1C252B"/>
                </a:solidFill>
                <a:latin typeface="Segoe UI"/>
              </a:rPr>
              <a:t>The U-shape again: too little penalty overfits, too much underfits. Choose </a:t>
            </a:r>
            <a:r>
              <a:rPr sz="1600" b="0" i="0">
                <a:solidFill>
                  <a:srgbClr val="1C252B"/>
                </a:solidFill>
                <a:latin typeface="Cambria"/>
              </a:rPr>
              <a:t>λ = 10</a:t>
            </a:r>
            <a:r>
              <a:rPr sz="1600" b="0" i="0" baseline="30000">
                <a:solidFill>
                  <a:srgbClr val="1C252B"/>
                </a:solidFill>
                <a:latin typeface="Cambria"/>
              </a:rPr>
              <a:t>−3</a:t>
            </a:r>
            <a:r>
              <a:rPr sz="1600" b="0" i="0">
                <a:solidFill>
                  <a:srgbClr val="1C252B"/>
                </a:solidFill>
                <a:latin typeface="Segoe UI"/>
              </a:rPr>
              <a:t>, refit on the whole training set, and only then measure the test set: RMSE 0.299. Unregularised, the same degree-12 polynomial had a CV RMSE of 2.14 — regularisation, not a lower degree, rescued it.</a:t>
            </a:r>
          </a:p>
        </p:txBody>
      </p:sp>
      <p:sp>
        <p:nvSpPr>
          <p:cNvPr id="12" name="body-3"/>
          <p:cNvSpPr txBox="1"/>
          <p:nvPr/>
        </p:nvSpPr>
        <p:spPr>
          <a:xfrm>
            <a:off x="1042416" y="5427878"/>
            <a:ext cx="10234879" cy="552907"/>
          </a:xfrm>
          <a:prstGeom prst="rect">
            <a:avLst/>
          </a:prstGeom>
          <a:noFill/>
        </p:spPr>
        <p:txBody>
          <a:bodyPr wrap="square" anchor="t" lIns="0" rIns="0" tIns="0" bIns="0">
            <a:noAutofit/>
          </a:bodyPr>
          <a:lstStyle/>
          <a:p>
            <a:pPr algn="l">
              <a:lnSpc>
                <a:spcPct val="104000"/>
              </a:lnSpc>
              <a:spcBef>
                <a:spcPts val="0"/>
              </a:spcBef>
              <a:spcAft>
                <a:spcPts val="0"/>
              </a:spcAft>
            </a:pPr>
            <a:r>
              <a:rPr sz="1600" b="1" i="0">
                <a:solidFill>
                  <a:srgbClr val="7D6608"/>
                </a:solidFill>
                <a:latin typeface="Segoe UI"/>
              </a:rPr>
              <a:t>Notice</a:t>
            </a:r>
            <a:r>
              <a:rPr sz="1600" b="0" i="0">
                <a:solidFill>
                  <a:srgbClr val="1C252B"/>
                </a:solidFill>
                <a:latin typeface="Segoe UI"/>
              </a:rPr>
              <a:t> that </a:t>
            </a:r>
            <a:r>
              <a:rPr sz="1600" b="0" i="0">
                <a:solidFill>
                  <a:srgbClr val="1C252B"/>
                </a:solidFill>
                <a:latin typeface="Cambria"/>
              </a:rPr>
              <a:t>10</a:t>
            </a:r>
            <a:r>
              <a:rPr sz="1600" b="0" i="0" baseline="30000">
                <a:solidFill>
                  <a:srgbClr val="1C252B"/>
                </a:solidFill>
                <a:latin typeface="Cambria"/>
              </a:rPr>
              <a:t>−3</a:t>
            </a:r>
            <a:r>
              <a:rPr sz="1600" b="0" i="0">
                <a:solidFill>
                  <a:srgbClr val="1C252B"/>
                </a:solidFill>
                <a:latin typeface="Segoe UI"/>
              </a:rPr>
              <a:t> and </a:t>
            </a:r>
            <a:r>
              <a:rPr sz="1600" b="0" i="0">
                <a:solidFill>
                  <a:srgbClr val="1C252B"/>
                </a:solidFill>
                <a:latin typeface="Cambria"/>
              </a:rPr>
              <a:t>10</a:t>
            </a:r>
            <a:r>
              <a:rPr sz="1600" b="0" i="0" baseline="30000">
                <a:solidFill>
                  <a:srgbClr val="1C252B"/>
                </a:solidFill>
                <a:latin typeface="Cambria"/>
              </a:rPr>
              <a:t>−1</a:t>
            </a:r>
            <a:r>
              <a:rPr sz="1600" b="0" i="0">
                <a:solidFill>
                  <a:srgbClr val="1C252B"/>
                </a:solidFill>
                <a:latin typeface="Segoe UI"/>
              </a:rPr>
              <a:t> are within 0.004 of each other, far less than the fold-to-fold variation. When candidates are this close, prefer the simpler model — here the larger penalty.</a:t>
            </a:r>
          </a:p>
        </p:txBody>
      </p:sp>
      <p:sp>
        <p:nvSpPr>
          <p:cNvPr id="13" name="body-3bar">
            <a:extLst>
              <a:ext uri="{C183D7F6-B498-43B3-948B-1728B52AA6E4}">
                <adec:decorative xmlns:adec="http://schemas.microsoft.com/office/drawing/2017/decorative" val="1"/>
              </a:ext>
            </a:extLst>
          </p:cNvPr>
          <p:cNvSpPr/>
          <p:nvPr/>
        </p:nvSpPr>
        <p:spPr>
          <a:xfrm>
            <a:off x="841248" y="5446166"/>
            <a:ext cx="54864" cy="488899"/>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pfill">
            <a:extLst>
              <a:ext uri="{C183D7F6-B498-43B3-948B-1728B52AA6E4}">
                <adec:decorative xmlns:adec="http://schemas.microsoft.com/office/drawing/2017/decorative" val="1"/>
              </a:ext>
            </a:extLst>
          </p:cNvPr>
          <p:cNvSpPr/>
          <p:nvPr/>
        </p:nvSpPr>
        <p:spPr>
          <a:xfrm>
            <a:off x="0" y="0"/>
            <a:ext cx="6966682"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wipe(right)">
                                      <p:cBhvr>
                                        <p:cTn id="8" dur="420"/>
                                        <p:tgtEl>
                                          <p:spTgt spid="10"/>
                                        </p:tgtEl>
                                      </p:cBhvr>
                                    </p:animEffect>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grpId="0" nodeType="click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wipe(right)">
                                      <p:cBhvr>
                                        <p:cTn id="13" dur="420"/>
                                        <p:tgtEl>
                                          <p:spTgt spid="11"/>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8" fill="hold" grpId="0" nodeType="clickEffect">
                                  <p:stCondLst>
                                    <p:cond delay="0"/>
                                  </p:stCondLst>
                                  <p:childTnLst>
                                    <p:set>
                                      <p:cBhvr>
                                        <p:cTn id="17" dur="1" fill="hold">
                                          <p:stCondLst>
                                            <p:cond delay="0"/>
                                          </p:stCondLst>
                                        </p:cTn>
                                        <p:tgtEl>
                                          <p:spTgt spid="13"/>
                                        </p:tgtEl>
                                        <p:attrNameLst>
                                          <p:attrName>style.visibility</p:attrName>
                                        </p:attrNameLst>
                                      </p:cBhvr>
                                      <p:to>
                                        <p:strVal val="visible"/>
                                      </p:to>
                                    </p:set>
                                    <p:animEffect transition="in" filter="wipe(right)">
                                      <p:cBhvr>
                                        <p:cTn id="18" dur="420"/>
                                        <p:tgtEl>
                                          <p:spTgt spid="13"/>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fade">
                                      <p:cBhvr>
                                        <p:cTn id="21" dur="42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Tuning on the Test Set Is Still Cheating When a Library Does It</a:t>
            </a:r>
          </a:p>
        </p:txBody>
      </p:sp>
      <p:pic>
        <p:nvPicPr>
          <p:cNvPr id="3" name="!!kicker-icon" descr="exclamation-triangle-E74C3C.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45688"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E74C3C"/>
                </a:solidFill>
                <a:latin typeface="Segoe UI"/>
              </a:rPr>
              <a:t>WATCH OUT</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7  ·  Overfitting, Bias–Variance and Regularisation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§7.7  ·  Handout p. 55     </a:t>
            </a:r>
            <a:fld id="{9667FE9D-938C-40D2-B702-AC89E4448CE9}" type="slidenum">
              <a:rPr lang="en-GB" sz="1000">
                <a:solidFill>
                  <a:srgbClr val="8795A1"/>
                </a:solidFill>
                <a:latin typeface="Segoe UI"/>
              </a:rPr>
              <a:t>29</a:t>
            </a:fld>
          </a:p>
        </p:txBody>
      </p:sp>
      <p:sp>
        <p:nvSpPr>
          <p:cNvPr id="7" name="!!card">
            <a:extLst>
              <a:ext uri="{C183D7F6-B498-43B3-948B-1728B52AA6E4}">
                <adec:decorative xmlns:adec="http://schemas.microsoft.com/office/drawing/2017/decorative" val="1"/>
              </a:ext>
            </a:extLst>
          </p:cNvPr>
          <p:cNvSpPr/>
          <p:nvPr/>
        </p:nvSpPr>
        <p:spPr>
          <a:xfrm>
            <a:off x="658368" y="1737360"/>
            <a:ext cx="10874959" cy="2809036"/>
          </a:xfrm>
          <a:prstGeom prst="roundRect">
            <a:avLst>
              <a:gd name="adj" fmla="val 3255"/>
            </a:avLst>
          </a:prstGeom>
          <a:solidFill>
            <a:srgbClr val="FDED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2809036"/>
          </a:xfrm>
          <a:prstGeom prst="rect">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2232964"/>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If you try thirty settings and report the best </a:t>
            </a:r>
            <a:r>
              <a:rPr sz="2300" b="0" i="1">
                <a:solidFill>
                  <a:srgbClr val="1C252B"/>
                </a:solidFill>
                <a:latin typeface="Segoe UI"/>
              </a:rPr>
              <a:t>test</a:t>
            </a:r>
            <a:r>
              <a:rPr sz="2300" b="0" i="0">
                <a:solidFill>
                  <a:srgbClr val="1C252B"/>
                </a:solidFill>
                <a:latin typeface="Segoe UI"/>
              </a:rPr>
              <a:t> score, the test set has become a validation set and the score is optimistic. Tune with cross-validation on the training data (</a:t>
            </a:r>
            <a:r>
              <a:rPr sz="2150" b="0" i="0">
                <a:solidFill>
                  <a:srgbClr val="1F4E79"/>
                </a:solidFill>
                <a:latin typeface="Consolas"/>
              </a:rPr>
              <a:t>GridSearchCV</a:t>
            </a:r>
            <a:r>
              <a:rPr sz="2300" b="0" i="0">
                <a:solidFill>
                  <a:srgbClr val="1C252B"/>
                </a:solidFill>
                <a:latin typeface="Segoe UI"/>
              </a:rPr>
              <a:t> does this), then use the test set once. When even the tuning procedure must be evaluated honestly — for a published comparison — wrap the whole search in an outer cross-validation loop: </a:t>
            </a:r>
            <a:r>
              <a:rPr sz="2300" b="1" i="0">
                <a:solidFill>
                  <a:srgbClr val="1A5276"/>
                </a:solidFill>
                <a:latin typeface="Segoe UI"/>
              </a:rPr>
              <a:t>nested cross-validation</a:t>
            </a:r>
            <a:r>
              <a:rPr sz="2300" b="0" i="0">
                <a:solidFill>
                  <a:srgbClr val="1C252B"/>
                </a:solidFill>
                <a:latin typeface="Segoe UI"/>
              </a:rPr>
              <a:t>.</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7215493"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Common pitfalls</a:t>
            </a:r>
          </a:p>
        </p:txBody>
      </p:sp>
      <p:pic>
        <p:nvPicPr>
          <p:cNvPr id="3" name="!!kicker-icon" descr="exclamation-circle-E74C3C.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2672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E74C3C"/>
                </a:solidFill>
                <a:latin typeface="Segoe UI"/>
              </a:rPr>
              <a:t>COMMON PITFALLS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7  ·  Overfitting, Bias–Variance and Regularisation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§7.7  ·  Handout p. 55     </a:t>
            </a:r>
            <a:fld id="{13028CCB-3A06-4337-A79C-CD0F2C18F0BA}" type="slidenum">
              <a:rPr lang="en-GB" sz="1000">
                <a:solidFill>
                  <a:srgbClr val="8795A1"/>
                </a:solidFill>
                <a:latin typeface="Segoe UI"/>
              </a:rPr>
              <a:t>30</a:t>
            </a:fld>
          </a:p>
        </p:txBody>
      </p:sp>
      <p:sp>
        <p:nvSpPr>
          <p:cNvPr id="7" name="!!pb0">
            <a:extLst>
              <a:ext uri="{C183D7F6-B498-43B3-948B-1728B52AA6E4}">
                <adec:decorative xmlns:adec="http://schemas.microsoft.com/office/drawing/2017/decorative" val="1"/>
              </a:ext>
            </a:extLst>
          </p:cNvPr>
          <p:cNvSpPr/>
          <p:nvPr/>
        </p:nvSpPr>
        <p:spPr>
          <a:xfrm>
            <a:off x="658368" y="1755648"/>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px0"/>
          <p:cNvSpPr txBox="1"/>
          <p:nvPr/>
        </p:nvSpPr>
        <p:spPr>
          <a:xfrm>
            <a:off x="658368" y="1778507"/>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9" name="!!pt0"/>
          <p:cNvSpPr txBox="1"/>
          <p:nvPr/>
        </p:nvSpPr>
        <p:spPr>
          <a:xfrm>
            <a:off x="1261872" y="1737360"/>
            <a:ext cx="10271455" cy="365760"/>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A93226"/>
                </a:solidFill>
                <a:latin typeface="Segoe UI"/>
              </a:rPr>
              <a:t>Celebrating zero training error.</a:t>
            </a:r>
            <a:r>
              <a:rPr sz="2100" b="0" i="0">
                <a:solidFill>
                  <a:srgbClr val="1C252B"/>
                </a:solidFill>
                <a:latin typeface="Segoe UI"/>
              </a:rPr>
              <a:t> With noisy labels it proves overfitting.</a:t>
            </a:r>
          </a:p>
        </p:txBody>
      </p:sp>
      <p:sp>
        <p:nvSpPr>
          <p:cNvPr id="10" name="!!pb1">
            <a:extLst>
              <a:ext uri="{C183D7F6-B498-43B3-948B-1728B52AA6E4}">
                <adec:decorative xmlns:adec="http://schemas.microsoft.com/office/drawing/2017/decorative" val="1"/>
              </a:ext>
            </a:extLst>
          </p:cNvPr>
          <p:cNvSpPr/>
          <p:nvPr/>
        </p:nvSpPr>
        <p:spPr>
          <a:xfrm>
            <a:off x="658368" y="2322576"/>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x1"/>
          <p:cNvSpPr txBox="1"/>
          <p:nvPr/>
        </p:nvSpPr>
        <p:spPr>
          <a:xfrm>
            <a:off x="658368" y="2345436"/>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2" name="!!pt1"/>
          <p:cNvSpPr txBox="1"/>
          <p:nvPr/>
        </p:nvSpPr>
        <p:spPr>
          <a:xfrm>
            <a:off x="1261872" y="2304288"/>
            <a:ext cx="10271455"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A93226"/>
                </a:solidFill>
                <a:latin typeface="Segoe UI"/>
              </a:rPr>
              <a:t>Collecting more data to cure high bias.</a:t>
            </a:r>
            <a:r>
              <a:rPr sz="2100" b="0" i="0">
                <a:solidFill>
                  <a:srgbClr val="1C252B"/>
                </a:solidFill>
                <a:latin typeface="Segoe UI"/>
              </a:rPr>
              <a:t> If training error is already high, more of the same data will not lower it.</a:t>
            </a:r>
          </a:p>
        </p:txBody>
      </p:sp>
      <p:sp>
        <p:nvSpPr>
          <p:cNvPr id="13" name="!!pb2">
            <a:extLst>
              <a:ext uri="{C183D7F6-B498-43B3-948B-1728B52AA6E4}">
                <adec:decorative xmlns:adec="http://schemas.microsoft.com/office/drawing/2017/decorative" val="1"/>
              </a:ext>
            </a:extLst>
          </p:cNvPr>
          <p:cNvSpPr/>
          <p:nvPr/>
        </p:nvSpPr>
        <p:spPr>
          <a:xfrm>
            <a:off x="658368" y="3189427"/>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px2"/>
          <p:cNvSpPr txBox="1"/>
          <p:nvPr/>
        </p:nvSpPr>
        <p:spPr>
          <a:xfrm>
            <a:off x="658368" y="3212287"/>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5" name="!!pt2"/>
          <p:cNvSpPr txBox="1"/>
          <p:nvPr/>
        </p:nvSpPr>
        <p:spPr>
          <a:xfrm>
            <a:off x="1261872" y="3171139"/>
            <a:ext cx="10271455"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A93226"/>
                </a:solidFill>
                <a:latin typeface="Segoe UI"/>
              </a:rPr>
              <a:t>Regularising unscaled features.</a:t>
            </a:r>
            <a:r>
              <a:rPr sz="2100" b="0" i="0">
                <a:solidFill>
                  <a:srgbClr val="1C252B"/>
                </a:solidFill>
                <a:latin typeface="Segoe UI"/>
              </a:rPr>
              <a:t> The penalty then depends on the units each feature happens to be measured in.</a:t>
            </a:r>
          </a:p>
        </p:txBody>
      </p:sp>
      <p:sp>
        <p:nvSpPr>
          <p:cNvPr id="16" name="!!pb3">
            <a:extLst>
              <a:ext uri="{C183D7F6-B498-43B3-948B-1728B52AA6E4}">
                <adec:decorative xmlns:adec="http://schemas.microsoft.com/office/drawing/2017/decorative" val="1"/>
              </a:ext>
            </a:extLst>
          </p:cNvPr>
          <p:cNvSpPr/>
          <p:nvPr/>
        </p:nvSpPr>
        <p:spPr>
          <a:xfrm>
            <a:off x="658368" y="4056278"/>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x3"/>
          <p:cNvSpPr txBox="1"/>
          <p:nvPr/>
        </p:nvSpPr>
        <p:spPr>
          <a:xfrm>
            <a:off x="658368" y="4079138"/>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8" name="!!pt3"/>
          <p:cNvSpPr txBox="1"/>
          <p:nvPr/>
        </p:nvSpPr>
        <p:spPr>
          <a:xfrm>
            <a:off x="1261872" y="4037990"/>
            <a:ext cx="10271455" cy="365760"/>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A93226"/>
                </a:solidFill>
                <a:latin typeface="Segoe UI"/>
              </a:rPr>
              <a:t>Reporting the best of many test scores.</a:t>
            </a:r>
            <a:r>
              <a:rPr sz="2100" b="0" i="0">
                <a:solidFill>
                  <a:srgbClr val="1C252B"/>
                </a:solidFill>
                <a:latin typeface="Segoe UI"/>
              </a:rPr>
              <a:t> Select on cross-validation; test once.</a:t>
            </a:r>
          </a:p>
        </p:txBody>
      </p:sp>
      <p:sp>
        <p:nvSpPr>
          <p:cNvPr id="19" name="!!pb4">
            <a:extLst>
              <a:ext uri="{C183D7F6-B498-43B3-948B-1728B52AA6E4}">
                <adec:decorative xmlns:adec="http://schemas.microsoft.com/office/drawing/2017/decorative" val="1"/>
              </a:ext>
            </a:extLst>
          </p:cNvPr>
          <p:cNvSpPr/>
          <p:nvPr/>
        </p:nvSpPr>
        <p:spPr>
          <a:xfrm>
            <a:off x="658368" y="4623206"/>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px4"/>
          <p:cNvSpPr txBox="1"/>
          <p:nvPr/>
        </p:nvSpPr>
        <p:spPr>
          <a:xfrm>
            <a:off x="658368" y="4646066"/>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21" name="!!pt4"/>
          <p:cNvSpPr txBox="1"/>
          <p:nvPr/>
        </p:nvSpPr>
        <p:spPr>
          <a:xfrm>
            <a:off x="1261872" y="4604918"/>
            <a:ext cx="10271455"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A93226"/>
                </a:solidFill>
                <a:latin typeface="Segoe UI"/>
              </a:rPr>
              <a:t>Choosing between near-identical CV scores.</a:t>
            </a:r>
            <a:r>
              <a:rPr sz="2100" b="0" i="0">
                <a:solidFill>
                  <a:srgbClr val="1C252B"/>
                </a:solidFill>
                <a:latin typeface="Segoe UI"/>
              </a:rPr>
              <a:t> Differences smaller than the fold-to-fold standard deviation are noise.</a:t>
            </a:r>
          </a:p>
        </p:txBody>
      </p:sp>
      <p:sp>
        <p:nvSpPr>
          <p:cNvPr id="5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pfill">
            <a:extLst>
              <a:ext uri="{C183D7F6-B498-43B3-948B-1728B52AA6E4}">
                <adec:decorative xmlns:adec="http://schemas.microsoft.com/office/drawing/2017/decorative" val="1"/>
              </a:ext>
            </a:extLst>
          </p:cNvPr>
          <p:cNvSpPr/>
          <p:nvPr/>
        </p:nvSpPr>
        <p:spPr>
          <a:xfrm>
            <a:off x="0" y="0"/>
            <a:ext cx="7464303"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zoom(in)">
                                      <p:cBhvr>
                                        <p:cTn id="8" dur="260"/>
                                        <p:tgtEl>
                                          <p:spTgt spid="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260"/>
                                        <p:tgtEl>
                                          <p:spTgt spid="8"/>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wipe(right)">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zoom(in)">
                                      <p:cBhvr>
                                        <p:cTn id="19" dur="26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260"/>
                                        <p:tgtEl>
                                          <p:spTgt spid="11"/>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right)">
                                      <p:cBhvr>
                                        <p:cTn id="25" dur="400"/>
                                        <p:tgtEl>
                                          <p:spTgt spid="12"/>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zoom(in)">
                                      <p:cBhvr>
                                        <p:cTn id="30" dur="260"/>
                                        <p:tgtEl>
                                          <p:spTgt spid="1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260"/>
                                        <p:tgtEl>
                                          <p:spTgt spid="14"/>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wipe(right)">
                                      <p:cBhvr>
                                        <p:cTn id="36" dur="400"/>
                                        <p:tgtEl>
                                          <p:spTgt spid="15"/>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zoom(in)">
                                      <p:cBhvr>
                                        <p:cTn id="41" dur="260"/>
                                        <p:tgtEl>
                                          <p:spTgt spid="1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7"/>
                                        </p:tgtEl>
                                        <p:attrNameLst>
                                          <p:attrName>style.visibility</p:attrName>
                                        </p:attrNameLst>
                                      </p:cBhvr>
                                      <p:to>
                                        <p:strVal val="visible"/>
                                      </p:to>
                                    </p:set>
                                    <p:animEffect transition="in" filter="fade">
                                      <p:cBhvr>
                                        <p:cTn id="44" dur="260"/>
                                        <p:tgtEl>
                                          <p:spTgt spid="17"/>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8"/>
                                        </p:tgtEl>
                                        <p:attrNameLst>
                                          <p:attrName>style.visibility</p:attrName>
                                        </p:attrNameLst>
                                      </p:cBhvr>
                                      <p:to>
                                        <p:strVal val="visible"/>
                                      </p:to>
                                    </p:set>
                                    <p:animEffect transition="in" filter="wipe(right)">
                                      <p:cBhvr>
                                        <p:cTn id="47" dur="400"/>
                                        <p:tgtEl>
                                          <p:spTgt spid="18"/>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zoom(in)">
                                      <p:cBhvr>
                                        <p:cTn id="52" dur="26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260"/>
                                        <p:tgtEl>
                                          <p:spTgt spid="20"/>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wipe(right)">
                                      <p:cBhvr>
                                        <p:cTn id="58" dur="4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Try it yourself: Find the Bottom of the U</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TRY IT YOURSELF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7  ·  Overfitting, Bias–Variance and Regularisation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§7.7  ·  Handout p. 55     </a:t>
            </a:r>
            <a:fld id="{9A9235BC-90FD-4035-A958-898B39CFCA17}" type="slidenum">
              <a:rPr lang="en-GB" sz="1000">
                <a:solidFill>
                  <a:srgbClr val="8795A1"/>
                </a:solidFill>
                <a:latin typeface="Segoe UI"/>
              </a:rPr>
              <a:t>31</a:t>
            </a:fld>
          </a:p>
        </p:txBody>
      </p:sp>
      <p:sp>
        <p:nvSpPr>
          <p:cNvPr id="7" name="!!labsteps-h"/>
          <p:cNvSpPr txBox="1"/>
          <p:nvPr/>
        </p:nvSpPr>
        <p:spPr>
          <a:xfrm>
            <a:off x="658368" y="1737360"/>
            <a:ext cx="10874959" cy="274320"/>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0E6655"/>
                </a:solidFill>
                <a:latin typeface="Segoe UI"/>
              </a:rPr>
              <a:t>WHAT YOU WILL DO</a:t>
            </a:r>
          </a:p>
        </p:txBody>
      </p:sp>
      <p:sp>
        <p:nvSpPr>
          <p:cNvPr id="8" name="!!labsteps"/>
          <p:cNvSpPr txBox="1"/>
          <p:nvPr/>
        </p:nvSpPr>
        <p:spPr>
          <a:xfrm>
            <a:off x="658368" y="2121408"/>
            <a:ext cx="10874959" cy="1466849"/>
          </a:xfrm>
          <a:prstGeom prst="rect">
            <a:avLst/>
          </a:prstGeom>
          <a:noFill/>
        </p:spPr>
        <p:txBody>
          <a:bodyPr wrap="square" anchor="t" lIns="0" rIns="0" tIns="0" bIns="0">
            <a:noAutofit/>
          </a:bodyPr>
          <a:lstStyle/>
          <a:p>
            <a:pPr algn="l" marL="459473" indent="-459473">
              <a:lnSpc>
                <a:spcPct val="100000"/>
              </a:lnSpc>
              <a:spcBef>
                <a:spcPts val="0"/>
              </a:spcBef>
              <a:spcAft>
                <a:spcPts val="570"/>
              </a:spcAft>
            </a:pPr>
            <a:r>
              <a:rPr sz="1900" b="1">
                <a:solidFill>
                  <a:srgbClr val="117A65"/>
                </a:solidFill>
                <a:latin typeface="Segoe UI"/>
              </a:rPr>
              <a:t>1.	</a:t>
            </a:r>
            <a:r>
              <a:rPr sz="1900" b="0" i="0">
                <a:solidFill>
                  <a:srgbClr val="1C252B"/>
                </a:solidFill>
                <a:latin typeface="Segoe UI"/>
              </a:rPr>
              <a:t>A release cycle: ticket volume rises and falls, plus noise</a:t>
            </a:r>
          </a:p>
          <a:p>
            <a:pPr algn="l" marL="459473" indent="-459473">
              <a:lnSpc>
                <a:spcPct val="100000"/>
              </a:lnSpc>
              <a:spcBef>
                <a:spcPts val="0"/>
              </a:spcBef>
              <a:spcAft>
                <a:spcPts val="570"/>
              </a:spcAft>
            </a:pPr>
            <a:r>
              <a:rPr sz="1900" b="1">
                <a:solidFill>
                  <a:srgbClr val="117A65"/>
                </a:solidFill>
                <a:latin typeface="Segoe UI"/>
              </a:rPr>
              <a:t>2.	</a:t>
            </a:r>
            <a:r>
              <a:rPr sz="1900" b="0" i="0">
                <a:solidFill>
                  <a:srgbClr val="1C252B"/>
                </a:solidFill>
                <a:latin typeface="Segoe UI"/>
              </a:rPr>
              <a:t>Complexity: training error against cross-validated error</a:t>
            </a:r>
          </a:p>
          <a:p>
            <a:pPr algn="l" marL="459473" indent="-459473">
              <a:lnSpc>
                <a:spcPct val="100000"/>
              </a:lnSpc>
              <a:spcBef>
                <a:spcPts val="0"/>
              </a:spcBef>
              <a:spcAft>
                <a:spcPts val="570"/>
              </a:spcAft>
            </a:pPr>
            <a:r>
              <a:rPr sz="1900" b="1">
                <a:solidFill>
                  <a:srgbClr val="117A65"/>
                </a:solidFill>
                <a:latin typeface="Segoe UI"/>
              </a:rPr>
              <a:t>3.	</a:t>
            </a:r>
            <a:r>
              <a:rPr sz="1900" b="0" i="0">
                <a:solidFill>
                  <a:srgbClr val="1C252B"/>
                </a:solidFill>
                <a:latin typeface="Segoe UI"/>
              </a:rPr>
              <a:t>Keep degree 12, but regularise; choose alpha by CV</a:t>
            </a:r>
          </a:p>
          <a:p>
            <a:pPr algn="l" marL="459473" indent="-459473">
              <a:lnSpc>
                <a:spcPct val="100000"/>
              </a:lnSpc>
              <a:spcBef>
                <a:spcPts val="0"/>
              </a:spcBef>
              <a:spcAft>
                <a:spcPts val="0"/>
              </a:spcAft>
            </a:pPr>
            <a:r>
              <a:rPr sz="1900" b="1">
                <a:solidFill>
                  <a:srgbClr val="117A65"/>
                </a:solidFill>
                <a:latin typeface="Segoe UI"/>
              </a:rPr>
              <a:t>4.	</a:t>
            </a:r>
            <a:r>
              <a:rPr sz="1900" b="0" i="0">
                <a:solidFill>
                  <a:srgbClr val="1C252B"/>
                </a:solidFill>
                <a:latin typeface="Segoe UI"/>
              </a:rPr>
              <a:t>Only now, once: the test set</a:t>
            </a:r>
          </a:p>
        </p:txBody>
      </p:sp>
      <p:sp>
        <p:nvSpPr>
          <p:cNvPr id="24" name="!!lfTHIS">
            <a:extLst>
              <a:ext uri="{C183D7F6-B498-43B3-948B-1728B52AA6E4}">
                <adec:decorative xmlns:adec="http://schemas.microsoft.com/office/drawing/2017/decorative" val="1"/>
              </a:ext>
            </a:extLst>
          </p:cNvPr>
          <p:cNvSpPr/>
          <p:nvPr/>
        </p:nvSpPr>
        <p:spPr>
          <a:xfrm>
            <a:off x="658368" y="5212080"/>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lfbTHIS">
            <a:extLst>
              <a:ext uri="{C183D7F6-B498-43B3-948B-1728B52AA6E4}">
                <adec:decorative xmlns:adec="http://schemas.microsoft.com/office/drawing/2017/decorative" val="1"/>
              </a:ext>
            </a:extLst>
          </p:cNvPr>
          <p:cNvSpPr/>
          <p:nvPr/>
        </p:nvSpPr>
        <p:spPr>
          <a:xfrm>
            <a:off x="658368" y="5212080"/>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lflTHIS"/>
          <p:cNvSpPr txBox="1"/>
          <p:nvPr/>
        </p:nvSpPr>
        <p:spPr>
          <a:xfrm>
            <a:off x="932688" y="5376672"/>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THIS WEEK'S LAB</a:t>
            </a:r>
          </a:p>
        </p:txBody>
      </p:sp>
      <p:sp>
        <p:nvSpPr>
          <p:cNvPr id="27" name="!!lfvTHIS"/>
          <p:cNvSpPr txBox="1"/>
          <p:nvPr/>
        </p:nvSpPr>
        <p:spPr>
          <a:xfrm>
            <a:off x="932688" y="5669280"/>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Week 6: Find the bottom of the U</a:t>
            </a:r>
          </a:p>
        </p:txBody>
      </p:sp>
      <p:sp>
        <p:nvSpPr>
          <p:cNvPr id="28" name="!!lfWHAT">
            <a:extLst>
              <a:ext uri="{C183D7F6-B498-43B3-948B-1728B52AA6E4}">
                <adec:decorative xmlns:adec="http://schemas.microsoft.com/office/drawing/2017/decorative" val="1"/>
              </a:ext>
            </a:extLst>
          </p:cNvPr>
          <p:cNvSpPr/>
          <p:nvPr/>
        </p:nvSpPr>
        <p:spPr>
          <a:xfrm>
            <a:off x="4374794" y="5212080"/>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lfbWHAT">
            <a:extLst>
              <a:ext uri="{C183D7F6-B498-43B3-948B-1728B52AA6E4}">
                <adec:decorative xmlns:adec="http://schemas.microsoft.com/office/drawing/2017/decorative" val="1"/>
              </a:ext>
            </a:extLst>
          </p:cNvPr>
          <p:cNvSpPr/>
          <p:nvPr/>
        </p:nvSpPr>
        <p:spPr>
          <a:xfrm>
            <a:off x="4374794" y="5212080"/>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lflWHAT"/>
          <p:cNvSpPr txBox="1"/>
          <p:nvPr/>
        </p:nvSpPr>
        <p:spPr>
          <a:xfrm>
            <a:off x="4649114" y="5376672"/>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WHAT YOU WILL RUN</a:t>
            </a:r>
          </a:p>
        </p:txBody>
      </p:sp>
      <p:sp>
        <p:nvSpPr>
          <p:cNvPr id="31" name="!!lfvWHAT"/>
          <p:cNvSpPr txBox="1"/>
          <p:nvPr/>
        </p:nvSpPr>
        <p:spPr>
          <a:xfrm>
            <a:off x="4649114" y="5669280"/>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1 listing, 38 lines of Python</a:t>
            </a:r>
          </a:p>
        </p:txBody>
      </p:sp>
      <p:sp>
        <p:nvSpPr>
          <p:cNvPr id="32" name="!!lfRUNN">
            <a:extLst>
              <a:ext uri="{C183D7F6-B498-43B3-948B-1728B52AA6E4}">
                <adec:decorative xmlns:adec="http://schemas.microsoft.com/office/drawing/2017/decorative" val="1"/>
              </a:ext>
            </a:extLst>
          </p:cNvPr>
          <p:cNvSpPr/>
          <p:nvPr/>
        </p:nvSpPr>
        <p:spPr>
          <a:xfrm>
            <a:off x="8091220" y="5212080"/>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lfbRUNN">
            <a:extLst>
              <a:ext uri="{C183D7F6-B498-43B3-948B-1728B52AA6E4}">
                <adec:decorative xmlns:adec="http://schemas.microsoft.com/office/drawing/2017/decorative" val="1"/>
              </a:ext>
            </a:extLst>
          </p:cNvPr>
          <p:cNvSpPr/>
          <p:nvPr/>
        </p:nvSpPr>
        <p:spPr>
          <a:xfrm>
            <a:off x="8091220" y="5212080"/>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lflRUNN"/>
          <p:cNvSpPr txBox="1"/>
          <p:nvPr/>
        </p:nvSpPr>
        <p:spPr>
          <a:xfrm>
            <a:off x="8365540" y="5376672"/>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RUNNABLE COPY</a:t>
            </a:r>
          </a:p>
        </p:txBody>
      </p:sp>
      <p:sp>
        <p:nvSpPr>
          <p:cNvPr id="35" name="!!lfvRUNN"/>
          <p:cNvSpPr txBox="1"/>
          <p:nvPr/>
        </p:nvSpPr>
        <p:spPr>
          <a:xfrm>
            <a:off x="8365540" y="5669280"/>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Consolas"/>
              </a:rPr>
              <a:t>code/ch07_find_bottom_u.py</a:t>
            </a:r>
          </a:p>
        </p:txBody>
      </p:sp>
      <p:sp>
        <p:nvSpPr>
          <p:cNvPr id="3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pfill">
            <a:extLst>
              <a:ext uri="{C183D7F6-B498-43B3-948B-1728B52AA6E4}">
                <adec:decorative xmlns:adec="http://schemas.microsoft.com/office/drawing/2017/decorative" val="1"/>
              </a:ext>
            </a:extLst>
          </p:cNvPr>
          <p:cNvSpPr/>
          <p:nvPr/>
        </p:nvSpPr>
        <p:spPr>
          <a:xfrm>
            <a:off x="0" y="0"/>
            <a:ext cx="7713113"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xEl>
                                              <p:pRg st="0" end="0"/>
                                            </p:txEl>
                                          </p:spTgt>
                                        </p:tgtEl>
                                        <p:attrNameLst>
                                          <p:attrName>style.visibility</p:attrName>
                                        </p:attrNameLst>
                                      </p:cBhvr>
                                      <p:to>
                                        <p:strVal val="visible"/>
                                      </p:to>
                                    </p:set>
                                    <p:animEffect transition="in" filter="fade">
                                      <p:cBhvr>
                                        <p:cTn id="8" dur="300"/>
                                        <p:tgtEl>
                                          <p:spTgt spid="8">
                                            <p:txEl>
                                              <p:pRg st="0" end="0"/>
                                            </p:txEl>
                                          </p:spTgt>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8">
                                            <p:txEl>
                                              <p:pRg st="1" end="1"/>
                                            </p:txEl>
                                          </p:spTgt>
                                        </p:tgtEl>
                                        <p:attrNameLst>
                                          <p:attrName>style.visibility</p:attrName>
                                        </p:attrNameLst>
                                      </p:cBhvr>
                                      <p:to>
                                        <p:strVal val="visible"/>
                                      </p:to>
                                    </p:set>
                                    <p:animEffect transition="in" filter="fade">
                                      <p:cBhvr>
                                        <p:cTn id="13" dur="300"/>
                                        <p:tgtEl>
                                          <p:spTgt spid="8">
                                            <p:txEl>
                                              <p:pRg st="1" end="1"/>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8">
                                            <p:txEl>
                                              <p:pRg st="2" end="2"/>
                                            </p:txEl>
                                          </p:spTgt>
                                        </p:tgtEl>
                                        <p:attrNameLst>
                                          <p:attrName>style.visibility</p:attrName>
                                        </p:attrNameLst>
                                      </p:cBhvr>
                                      <p:to>
                                        <p:strVal val="visible"/>
                                      </p:to>
                                    </p:set>
                                    <p:animEffect transition="in" filter="fade">
                                      <p:cBhvr>
                                        <p:cTn id="18" dur="300"/>
                                        <p:tgtEl>
                                          <p:spTgt spid="8">
                                            <p:txEl>
                                              <p:pRg st="2" end="2"/>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8">
                                            <p:txEl>
                                              <p:pRg st="3" end="3"/>
                                            </p:txEl>
                                          </p:spTgt>
                                        </p:tgtEl>
                                        <p:attrNameLst>
                                          <p:attrName>style.visibility</p:attrName>
                                        </p:attrNameLst>
                                      </p:cBhvr>
                                      <p:to>
                                        <p:strVal val="visible"/>
                                      </p:to>
                                    </p:set>
                                    <p:animEffect transition="in" filter="fade">
                                      <p:cBhvr>
                                        <p:cTn id="23" dur="300"/>
                                        <p:tgtEl>
                                          <p:spTgt spid="8">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Lst>
  </p:timing>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Find the Bottom of the U</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 OF 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7  ·  Overfitting, Bias–Variance and Regularisation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§7.7  ·  Handout p. 55     </a:t>
            </a:r>
            <a:fld id="{3E66ABFE-551C-41D5-9084-203B1A73563D}" type="slidenum">
              <a:rPr lang="en-GB" sz="1000">
                <a:solidFill>
                  <a:srgbClr val="8795A1"/>
                </a:solidFill>
                <a:latin typeface="Segoe UI"/>
              </a:rPr>
              <a:t>32</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Set-up</a:t>
            </a:r>
          </a:p>
        </p:txBody>
      </p:sp>
      <p:sp>
        <p:nvSpPr>
          <p:cNvPr id="8" name="!!code-bg">
            <a:extLst>
              <a:ext uri="{C183D7F6-B498-43B3-948B-1728B52AA6E4}">
                <adec:decorative xmlns:adec="http://schemas.microsoft.com/office/drawing/2017/decorative" val="1"/>
              </a:ext>
            </a:extLst>
          </p:cNvPr>
          <p:cNvSpPr/>
          <p:nvPr/>
        </p:nvSpPr>
        <p:spPr>
          <a:xfrm>
            <a:off x="658368" y="2084831"/>
            <a:ext cx="10874959" cy="2432304"/>
          </a:xfrm>
          <a:prstGeom prst="roundRect">
            <a:avLst>
              <a:gd name="adj" fmla="val 3759"/>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code/ch07_find_bottom_u.py</a:t>
            </a:r>
          </a:p>
        </p:txBody>
      </p:sp>
      <p:sp>
        <p:nvSpPr>
          <p:cNvPr id="14" name="!!code-text" descr="import numpy as np from sklearn.pipeline import make_pipeline from sklearn.preprocessing import PolynomialFeatures, StandardScaler from sklearn.linear_model import LinearRegression, Ridge from sklearn.model_selection import (train_test_split, KFold, cross_val_score, GridSearchCV)"/>
          <p:cNvSpPr txBox="1"/>
          <p:nvPr/>
        </p:nvSpPr>
        <p:spPr>
          <a:xfrm>
            <a:off x="1362456" y="2523744"/>
            <a:ext cx="9987991" cy="1938528"/>
          </a:xfrm>
          <a:prstGeom prst="rect">
            <a:avLst/>
          </a:prstGeom>
          <a:noFill/>
        </p:spPr>
        <p:txBody>
          <a:bodyPr wrap="none" anchor="t" lIns="0" rIns="0" tIns="0" bIns="0">
            <a:noAutofit/>
          </a:bodyPr>
          <a:lstStyle/>
          <a:p>
            <a:pPr>
              <a:lnSpc>
                <a:spcPct val="100000"/>
              </a:lnSpc>
              <a:spcAft>
                <a:spcPts val="0"/>
              </a:spcAft>
            </a:pPr>
            <a:r>
              <a:rPr sz="2000" i="0">
                <a:solidFill>
                  <a:srgbClr val="5DADE2"/>
                </a:solidFill>
                <a:latin typeface="Consolas"/>
              </a:rPr>
              <a:t>import</a:t>
            </a:r>
            <a:r>
              <a:rPr sz="2000" i="0">
                <a:solidFill>
                  <a:srgbClr val="E8EDF2"/>
                </a:solidFill>
                <a:latin typeface="Consolas"/>
              </a:rPr>
              <a:t> </a:t>
            </a:r>
            <a:r>
              <a:rPr sz="2000" i="0">
                <a:solidFill>
                  <a:srgbClr val="76D7C4"/>
                </a:solidFill>
                <a:latin typeface="Consolas"/>
              </a:rPr>
              <a:t>numpy</a:t>
            </a:r>
            <a:r>
              <a:rPr sz="2000" i="0">
                <a:solidFill>
                  <a:srgbClr val="E8EDF2"/>
                </a:solidFill>
                <a:latin typeface="Consolas"/>
              </a:rPr>
              <a:t> </a:t>
            </a:r>
            <a:r>
              <a:rPr sz="2000" i="0">
                <a:solidFill>
                  <a:srgbClr val="5DADE2"/>
                </a:solidFill>
                <a:latin typeface="Consolas"/>
              </a:rPr>
              <a:t>as</a:t>
            </a:r>
            <a:r>
              <a:rPr sz="2000" i="0">
                <a:solidFill>
                  <a:srgbClr val="E8EDF2"/>
                </a:solidFill>
                <a:latin typeface="Consolas"/>
              </a:rPr>
              <a:t> </a:t>
            </a:r>
            <a:r>
              <a:rPr sz="2000" i="0">
                <a:solidFill>
                  <a:srgbClr val="76D7C4"/>
                </a:solidFill>
                <a:latin typeface="Consolas"/>
              </a:rPr>
              <a:t>np</a:t>
            </a:r>
          </a:p>
          <a:p>
            <a:pPr>
              <a:lnSpc>
                <a:spcPct val="100000"/>
              </a:lnSpc>
              <a:spcAft>
                <a:spcPts val="0"/>
              </a:spcAft>
            </a:pPr>
            <a:r>
              <a:rPr sz="2000" i="0">
                <a:solidFill>
                  <a:srgbClr val="5DADE2"/>
                </a:solidFill>
                <a:latin typeface="Consolas"/>
              </a:rPr>
              <a:t>from</a:t>
            </a:r>
            <a:r>
              <a:rPr sz="2000" i="0">
                <a:solidFill>
                  <a:srgbClr val="E8EDF2"/>
                </a:solidFill>
                <a:latin typeface="Consolas"/>
              </a:rPr>
              <a:t> </a:t>
            </a:r>
            <a:r>
              <a:rPr sz="2000" i="0">
                <a:solidFill>
                  <a:srgbClr val="76D7C4"/>
                </a:solidFill>
                <a:latin typeface="Consolas"/>
              </a:rPr>
              <a:t>sklearn</a:t>
            </a:r>
            <a:r>
              <a:rPr sz="2000" i="0">
                <a:solidFill>
                  <a:srgbClr val="76D7C4"/>
                </a:solidFill>
                <a:latin typeface="Consolas"/>
              </a:rPr>
              <a:t>.</a:t>
            </a:r>
            <a:r>
              <a:rPr sz="2000" i="0">
                <a:solidFill>
                  <a:srgbClr val="76D7C4"/>
                </a:solidFill>
                <a:latin typeface="Consolas"/>
              </a:rPr>
              <a:t>pipeline</a:t>
            </a:r>
            <a:r>
              <a:rPr sz="2000" i="0">
                <a:solidFill>
                  <a:srgbClr val="E8EDF2"/>
                </a:solidFill>
                <a:latin typeface="Consolas"/>
              </a:rPr>
              <a:t> </a:t>
            </a:r>
            <a:r>
              <a:rPr sz="2000" i="0">
                <a:solidFill>
                  <a:srgbClr val="5DADE2"/>
                </a:solidFill>
                <a:latin typeface="Consolas"/>
              </a:rPr>
              <a:t>import</a:t>
            </a:r>
            <a:r>
              <a:rPr sz="2000" i="0">
                <a:solidFill>
                  <a:srgbClr val="E8EDF2"/>
                </a:solidFill>
                <a:latin typeface="Consolas"/>
              </a:rPr>
              <a:t> </a:t>
            </a:r>
            <a:r>
              <a:rPr sz="2000" i="0">
                <a:solidFill>
                  <a:srgbClr val="E8EDF2"/>
                </a:solidFill>
                <a:latin typeface="Consolas"/>
              </a:rPr>
              <a:t>make_pipeline</a:t>
            </a:r>
          </a:p>
          <a:p>
            <a:pPr>
              <a:lnSpc>
                <a:spcPct val="100000"/>
              </a:lnSpc>
              <a:spcAft>
                <a:spcPts val="0"/>
              </a:spcAft>
            </a:pPr>
            <a:r>
              <a:rPr sz="2000" i="0">
                <a:solidFill>
                  <a:srgbClr val="5DADE2"/>
                </a:solidFill>
                <a:latin typeface="Consolas"/>
              </a:rPr>
              <a:t>from</a:t>
            </a:r>
            <a:r>
              <a:rPr sz="2000" i="0">
                <a:solidFill>
                  <a:srgbClr val="E8EDF2"/>
                </a:solidFill>
                <a:latin typeface="Consolas"/>
              </a:rPr>
              <a:t> </a:t>
            </a:r>
            <a:r>
              <a:rPr sz="2000" i="0">
                <a:solidFill>
                  <a:srgbClr val="76D7C4"/>
                </a:solidFill>
                <a:latin typeface="Consolas"/>
              </a:rPr>
              <a:t>sklearn</a:t>
            </a:r>
            <a:r>
              <a:rPr sz="2000" i="0">
                <a:solidFill>
                  <a:srgbClr val="76D7C4"/>
                </a:solidFill>
                <a:latin typeface="Consolas"/>
              </a:rPr>
              <a:t>.</a:t>
            </a:r>
            <a:r>
              <a:rPr sz="2000" i="0">
                <a:solidFill>
                  <a:srgbClr val="76D7C4"/>
                </a:solidFill>
                <a:latin typeface="Consolas"/>
              </a:rPr>
              <a:t>preprocessing</a:t>
            </a:r>
            <a:r>
              <a:rPr sz="2000" i="0">
                <a:solidFill>
                  <a:srgbClr val="E8EDF2"/>
                </a:solidFill>
                <a:latin typeface="Consolas"/>
              </a:rPr>
              <a:t> </a:t>
            </a:r>
            <a:r>
              <a:rPr sz="2000" i="0">
                <a:solidFill>
                  <a:srgbClr val="5DADE2"/>
                </a:solidFill>
                <a:latin typeface="Consolas"/>
              </a:rPr>
              <a:t>import</a:t>
            </a:r>
            <a:r>
              <a:rPr sz="2000" i="0">
                <a:solidFill>
                  <a:srgbClr val="E8EDF2"/>
                </a:solidFill>
                <a:latin typeface="Consolas"/>
              </a:rPr>
              <a:t> </a:t>
            </a:r>
            <a:r>
              <a:rPr sz="2000" i="0">
                <a:solidFill>
                  <a:srgbClr val="E8EDF2"/>
                </a:solidFill>
                <a:latin typeface="Consolas"/>
              </a:rPr>
              <a:t>PolynomialFeatures</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StandardScaler</a:t>
            </a:r>
          </a:p>
          <a:p>
            <a:pPr>
              <a:lnSpc>
                <a:spcPct val="100000"/>
              </a:lnSpc>
              <a:spcAft>
                <a:spcPts val="0"/>
              </a:spcAft>
            </a:pPr>
            <a:r>
              <a:rPr sz="2000" i="0">
                <a:solidFill>
                  <a:srgbClr val="5DADE2"/>
                </a:solidFill>
                <a:latin typeface="Consolas"/>
              </a:rPr>
              <a:t>from</a:t>
            </a:r>
            <a:r>
              <a:rPr sz="2000" i="0">
                <a:solidFill>
                  <a:srgbClr val="E8EDF2"/>
                </a:solidFill>
                <a:latin typeface="Consolas"/>
              </a:rPr>
              <a:t> </a:t>
            </a:r>
            <a:r>
              <a:rPr sz="2000" i="0">
                <a:solidFill>
                  <a:srgbClr val="76D7C4"/>
                </a:solidFill>
                <a:latin typeface="Consolas"/>
              </a:rPr>
              <a:t>sklearn</a:t>
            </a:r>
            <a:r>
              <a:rPr sz="2000" i="0">
                <a:solidFill>
                  <a:srgbClr val="76D7C4"/>
                </a:solidFill>
                <a:latin typeface="Consolas"/>
              </a:rPr>
              <a:t>.</a:t>
            </a:r>
            <a:r>
              <a:rPr sz="2000" i="0">
                <a:solidFill>
                  <a:srgbClr val="76D7C4"/>
                </a:solidFill>
                <a:latin typeface="Consolas"/>
              </a:rPr>
              <a:t>linear_model</a:t>
            </a:r>
            <a:r>
              <a:rPr sz="2000" i="0">
                <a:solidFill>
                  <a:srgbClr val="E8EDF2"/>
                </a:solidFill>
                <a:latin typeface="Consolas"/>
              </a:rPr>
              <a:t> </a:t>
            </a:r>
            <a:r>
              <a:rPr sz="2000" i="0">
                <a:solidFill>
                  <a:srgbClr val="5DADE2"/>
                </a:solidFill>
                <a:latin typeface="Consolas"/>
              </a:rPr>
              <a:t>import</a:t>
            </a:r>
            <a:r>
              <a:rPr sz="2000" i="0">
                <a:solidFill>
                  <a:srgbClr val="E8EDF2"/>
                </a:solidFill>
                <a:latin typeface="Consolas"/>
              </a:rPr>
              <a:t> </a:t>
            </a:r>
            <a:r>
              <a:rPr sz="2000" i="0">
                <a:solidFill>
                  <a:srgbClr val="E8EDF2"/>
                </a:solidFill>
                <a:latin typeface="Consolas"/>
              </a:rPr>
              <a:t>LinearRegression</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Ridge</a:t>
            </a:r>
          </a:p>
          <a:p>
            <a:pPr>
              <a:lnSpc>
                <a:spcPct val="100000"/>
              </a:lnSpc>
              <a:spcAft>
                <a:spcPts val="0"/>
              </a:spcAft>
            </a:pPr>
            <a:r>
              <a:rPr sz="2000" i="0">
                <a:solidFill>
                  <a:srgbClr val="5DADE2"/>
                </a:solidFill>
                <a:latin typeface="Consolas"/>
              </a:rPr>
              <a:t>from</a:t>
            </a:r>
            <a:r>
              <a:rPr sz="2000" i="0">
                <a:solidFill>
                  <a:srgbClr val="E8EDF2"/>
                </a:solidFill>
                <a:latin typeface="Consolas"/>
              </a:rPr>
              <a:t> </a:t>
            </a:r>
            <a:r>
              <a:rPr sz="2000" i="0">
                <a:solidFill>
                  <a:srgbClr val="76D7C4"/>
                </a:solidFill>
                <a:latin typeface="Consolas"/>
              </a:rPr>
              <a:t>sklearn</a:t>
            </a:r>
            <a:r>
              <a:rPr sz="2000" i="0">
                <a:solidFill>
                  <a:srgbClr val="76D7C4"/>
                </a:solidFill>
                <a:latin typeface="Consolas"/>
              </a:rPr>
              <a:t>.</a:t>
            </a:r>
            <a:r>
              <a:rPr sz="2000" i="0">
                <a:solidFill>
                  <a:srgbClr val="76D7C4"/>
                </a:solidFill>
                <a:latin typeface="Consolas"/>
              </a:rPr>
              <a:t>model_selection</a:t>
            </a:r>
            <a:r>
              <a:rPr sz="2000" i="0">
                <a:solidFill>
                  <a:srgbClr val="E8EDF2"/>
                </a:solidFill>
                <a:latin typeface="Consolas"/>
              </a:rPr>
              <a:t> </a:t>
            </a:r>
            <a:r>
              <a:rPr sz="2000" i="0">
                <a:solidFill>
                  <a:srgbClr val="5DADE2"/>
                </a:solidFill>
                <a:latin typeface="Consolas"/>
              </a:rPr>
              <a:t>import</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train_test_split</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KFold</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E8EDF2"/>
                </a:solidFill>
                <a:latin typeface="Consolas"/>
              </a:rPr>
              <a:t>cross_val_score</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GridSearchCV</a:t>
            </a:r>
            <a:r>
              <a:rPr sz="2000" i="0">
                <a:solidFill>
                  <a:srgbClr val="AEB6BF"/>
                </a:solidFill>
                <a:latin typeface="Consolas"/>
              </a:rPr>
              <a:t>)</a:t>
            </a:r>
          </a:p>
        </p:txBody>
      </p:sp>
      <p:sp>
        <p:nvSpPr>
          <p:cNvPr id="15" name="!!code-num"/>
          <p:cNvSpPr txBox="1"/>
          <p:nvPr/>
        </p:nvSpPr>
        <p:spPr>
          <a:xfrm>
            <a:off x="768096" y="2523744"/>
            <a:ext cx="393192" cy="1938528"/>
          </a:xfrm>
          <a:prstGeom prst="rect">
            <a:avLst/>
          </a:prstGeom>
          <a:noFill/>
        </p:spPr>
        <p:txBody>
          <a:bodyPr wrap="none" anchor="t" lIns="0" rIns="0" tIns="0" bIns="0">
            <a:noAutofit/>
          </a:bodyPr>
          <a:lstStyle/>
          <a:p>
            <a:pPr algn="r">
              <a:lnSpc>
                <a:spcPct val="100000"/>
              </a:lnSpc>
            </a:pPr>
            <a:r>
              <a:rPr sz="2000">
                <a:solidFill>
                  <a:srgbClr val="4F5D6A"/>
                </a:solidFill>
                <a:latin typeface="Consolas"/>
              </a:rPr>
              <a:t>2</a:t>
            </a:r>
          </a:p>
          <a:p>
            <a:pPr algn="r">
              <a:lnSpc>
                <a:spcPct val="100000"/>
              </a:lnSpc>
            </a:pPr>
            <a:r>
              <a:rPr sz="2000">
                <a:solidFill>
                  <a:srgbClr val="4F5D6A"/>
                </a:solidFill>
                <a:latin typeface="Consolas"/>
              </a:rPr>
              <a:t>3</a:t>
            </a:r>
          </a:p>
          <a:p>
            <a:pPr algn="r">
              <a:lnSpc>
                <a:spcPct val="100000"/>
              </a:lnSpc>
            </a:pPr>
            <a:r>
              <a:rPr sz="2000">
                <a:solidFill>
                  <a:srgbClr val="4F5D6A"/>
                </a:solidFill>
                <a:latin typeface="Consolas"/>
              </a:rPr>
              <a:t>4</a:t>
            </a:r>
          </a:p>
          <a:p>
            <a:pPr algn="r">
              <a:lnSpc>
                <a:spcPct val="100000"/>
              </a:lnSpc>
            </a:pPr>
            <a:r>
              <a:rPr sz="2000">
                <a:solidFill>
                  <a:srgbClr val="4F5D6A"/>
                </a:solidFill>
                <a:latin typeface="Consolas"/>
              </a:rPr>
              <a:t>5</a:t>
            </a:r>
          </a:p>
          <a:p>
            <a:pPr algn="r">
              <a:lnSpc>
                <a:spcPct val="100000"/>
              </a:lnSpc>
            </a:pPr>
            <a:r>
              <a:rPr sz="2000">
                <a:solidFill>
                  <a:srgbClr val="4F5D6A"/>
                </a:solidFill>
                <a:latin typeface="Consolas"/>
              </a:rPr>
              <a:t>6</a:t>
            </a:r>
          </a:p>
          <a:p>
            <a:pPr algn="r">
              <a:lnSpc>
                <a:spcPct val="100000"/>
              </a:lnSpc>
            </a:pPr>
            <a:r>
              <a:rPr sz="2000">
                <a:solidFill>
                  <a:srgbClr val="4F5D6A"/>
                </a:solidFill>
                <a:latin typeface="Consolas"/>
              </a:rPr>
              <a:t>7</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7961923"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600">
        <p:fade/>
      </p:transition>
    </mc:Choice>
    <mc:Fallback>
      <p:transition spd="med">
        <p:fade/>
      </p:transition>
    </mc:Fallback>
  </mc:AlternateContent>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Find the Bottom of the U</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2 OF 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7  ·  Overfitting, Bias–Variance and Regularisation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§7.7  ·  Handout p. 55     </a:t>
            </a:r>
            <a:fld id="{C482D192-7590-4A16-8F96-696DFAEE5C2A}" type="slidenum">
              <a:rPr lang="en-GB" sz="1000">
                <a:solidFill>
                  <a:srgbClr val="8795A1"/>
                </a:solidFill>
                <a:latin typeface="Segoe UI"/>
              </a:rPr>
              <a:t>33</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A release cycle: ticket volume rises and falls, plus noise</a:t>
            </a:r>
          </a:p>
        </p:txBody>
      </p:sp>
      <p:sp>
        <p:nvSpPr>
          <p:cNvPr id="8" name="!!code-bg">
            <a:extLst>
              <a:ext uri="{C183D7F6-B498-43B3-948B-1728B52AA6E4}">
                <adec:decorative xmlns:adec="http://schemas.microsoft.com/office/drawing/2017/decorative" val="1"/>
              </a:ext>
            </a:extLst>
          </p:cNvPr>
          <p:cNvSpPr/>
          <p:nvPr/>
        </p:nvSpPr>
        <p:spPr>
          <a:xfrm>
            <a:off x="658368" y="2084831"/>
            <a:ext cx="10874959" cy="2798063"/>
          </a:xfrm>
          <a:prstGeom prst="roundRect">
            <a:avLst>
              <a:gd name="adj" fmla="val 3267"/>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code/ch07_find_bottom_u.py</a:t>
            </a:r>
          </a:p>
        </p:txBody>
      </p:sp>
      <p:sp>
        <p:nvSpPr>
          <p:cNvPr id="14" name="!!code-text" descr="# --- a release cycle: ticket volume rises and falls, plus noise --------- rng = np.random.default_rng(0) X = rng.uniform(0, 1, (60, 1)) y = np.sin(2 * np.pi * X[:, 0]) + rng.normal(0, 0.25, 60) X_tr, X_te, y_tr, y_te = train_test_split(X, y, test_size=0.25, random_state=0) cv = KFold(5, shuffle=True, random_state=0) rmse = &quot;neg_root_mean_squared_error&quot;"/>
          <p:cNvSpPr txBox="1"/>
          <p:nvPr/>
        </p:nvSpPr>
        <p:spPr>
          <a:xfrm>
            <a:off x="1362456" y="2523744"/>
            <a:ext cx="9987991" cy="2304287"/>
          </a:xfrm>
          <a:prstGeom prst="rect">
            <a:avLst/>
          </a:prstGeom>
          <a:noFill/>
        </p:spPr>
        <p:txBody>
          <a:bodyPr wrap="none" anchor="t" lIns="0" rIns="0" tIns="0" bIns="0">
            <a:noAutofit/>
          </a:bodyPr>
          <a:lstStyle/>
          <a:p>
            <a:pPr>
              <a:lnSpc>
                <a:spcPct val="100000"/>
              </a:lnSpc>
              <a:spcAft>
                <a:spcPts val="0"/>
              </a:spcAft>
            </a:pPr>
            <a:r>
              <a:rPr sz="1800" i="1">
                <a:solidFill>
                  <a:srgbClr val="8795A1"/>
                </a:solidFill>
                <a:latin typeface="Consolas"/>
              </a:rPr>
              <a:t># --- a release cycle: ticket volume rises and falls, plus noise ---------</a:t>
            </a:r>
          </a:p>
          <a:p>
            <a:pPr>
              <a:lnSpc>
                <a:spcPct val="100000"/>
              </a:lnSpc>
              <a:spcAft>
                <a:spcPts val="0"/>
              </a:spcAft>
            </a:pPr>
            <a:r>
              <a:rPr sz="1800" i="0">
                <a:solidFill>
                  <a:srgbClr val="E8EDF2"/>
                </a:solidFill>
                <a:latin typeface="Consolas"/>
              </a:rPr>
              <a:t>rng</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np</a:t>
            </a:r>
            <a:r>
              <a:rPr sz="1800" i="0">
                <a:solidFill>
                  <a:srgbClr val="AEB6BF"/>
                </a:solidFill>
                <a:latin typeface="Consolas"/>
              </a:rPr>
              <a:t>.</a:t>
            </a:r>
            <a:r>
              <a:rPr sz="1800" i="0">
                <a:solidFill>
                  <a:srgbClr val="E8EDF2"/>
                </a:solidFill>
                <a:latin typeface="Consolas"/>
              </a:rPr>
              <a:t>random</a:t>
            </a:r>
            <a:r>
              <a:rPr sz="1800" i="0">
                <a:solidFill>
                  <a:srgbClr val="AEB6BF"/>
                </a:solidFill>
                <a:latin typeface="Consolas"/>
              </a:rPr>
              <a:t>.</a:t>
            </a:r>
            <a:r>
              <a:rPr sz="1800" i="0">
                <a:solidFill>
                  <a:srgbClr val="E8EDF2"/>
                </a:solidFill>
                <a:latin typeface="Consolas"/>
              </a:rPr>
              <a:t>default_rng</a:t>
            </a:r>
            <a:r>
              <a:rPr sz="1800" i="0">
                <a:solidFill>
                  <a:srgbClr val="AEB6BF"/>
                </a:solidFill>
                <a:latin typeface="Consolas"/>
              </a:rPr>
              <a:t>(</a:t>
            </a:r>
            <a:r>
              <a:rPr sz="1800" i="0">
                <a:solidFill>
                  <a:srgbClr val="F7DC6F"/>
                </a:solidFill>
                <a:latin typeface="Consolas"/>
              </a:rPr>
              <a:t>0</a:t>
            </a:r>
            <a:r>
              <a:rPr sz="1800" i="0">
                <a:solidFill>
                  <a:srgbClr val="AEB6BF"/>
                </a:solidFill>
                <a:latin typeface="Consolas"/>
              </a:rPr>
              <a:t>)</a:t>
            </a:r>
          </a:p>
          <a:p>
            <a:pPr>
              <a:lnSpc>
                <a:spcPct val="100000"/>
              </a:lnSpc>
              <a:spcAft>
                <a:spcPts val="0"/>
              </a:spcAft>
            </a:pPr>
            <a:r>
              <a:rPr sz="1800" i="0">
                <a:solidFill>
                  <a:srgbClr val="E8EDF2"/>
                </a:solidFill>
                <a:latin typeface="Consolas"/>
              </a:rPr>
              <a:t>X</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rng</a:t>
            </a:r>
            <a:r>
              <a:rPr sz="1800" i="0">
                <a:solidFill>
                  <a:srgbClr val="AEB6BF"/>
                </a:solidFill>
                <a:latin typeface="Consolas"/>
              </a:rPr>
              <a:t>.</a:t>
            </a:r>
            <a:r>
              <a:rPr sz="1800" i="0">
                <a:solidFill>
                  <a:srgbClr val="E8EDF2"/>
                </a:solidFill>
                <a:latin typeface="Consolas"/>
              </a:rPr>
              <a:t>uniform</a:t>
            </a:r>
            <a:r>
              <a:rPr sz="1800" i="0">
                <a:solidFill>
                  <a:srgbClr val="AEB6BF"/>
                </a:solidFill>
                <a:latin typeface="Consolas"/>
              </a:rPr>
              <a:t>(</a:t>
            </a:r>
            <a:r>
              <a:rPr sz="1800" i="0">
                <a:solidFill>
                  <a:srgbClr val="F7DC6F"/>
                </a:solidFill>
                <a:latin typeface="Consolas"/>
              </a:rPr>
              <a:t>0</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1</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F7DC6F"/>
                </a:solidFill>
                <a:latin typeface="Consolas"/>
              </a:rPr>
              <a:t>60</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1</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y</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np</a:t>
            </a:r>
            <a:r>
              <a:rPr sz="1800" i="0">
                <a:solidFill>
                  <a:srgbClr val="AEB6BF"/>
                </a:solidFill>
                <a:latin typeface="Consolas"/>
              </a:rPr>
              <a:t>.</a:t>
            </a:r>
            <a:r>
              <a:rPr sz="1800" i="0">
                <a:solidFill>
                  <a:srgbClr val="E8EDF2"/>
                </a:solidFill>
                <a:latin typeface="Consolas"/>
              </a:rPr>
              <a:t>sin</a:t>
            </a:r>
            <a:r>
              <a:rPr sz="1800" i="0">
                <a:solidFill>
                  <a:srgbClr val="AEB6BF"/>
                </a:solidFill>
                <a:latin typeface="Consolas"/>
              </a:rPr>
              <a:t>(</a:t>
            </a:r>
            <a:r>
              <a:rPr sz="1800" i="0">
                <a:solidFill>
                  <a:srgbClr val="F7DC6F"/>
                </a:solidFill>
                <a:latin typeface="Consolas"/>
              </a:rPr>
              <a:t>2</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np</a:t>
            </a:r>
            <a:r>
              <a:rPr sz="1800" i="0">
                <a:solidFill>
                  <a:srgbClr val="AEB6BF"/>
                </a:solidFill>
                <a:latin typeface="Consolas"/>
              </a:rPr>
              <a:t>.</a:t>
            </a:r>
            <a:r>
              <a:rPr sz="1800" i="0">
                <a:solidFill>
                  <a:srgbClr val="E8EDF2"/>
                </a:solidFill>
                <a:latin typeface="Consolas"/>
              </a:rPr>
              <a:t>pi</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X</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0</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rng</a:t>
            </a:r>
            <a:r>
              <a:rPr sz="1800" i="0">
                <a:solidFill>
                  <a:srgbClr val="AEB6BF"/>
                </a:solidFill>
                <a:latin typeface="Consolas"/>
              </a:rPr>
              <a:t>.</a:t>
            </a:r>
            <a:r>
              <a:rPr sz="1800" i="0">
                <a:solidFill>
                  <a:srgbClr val="E8EDF2"/>
                </a:solidFill>
                <a:latin typeface="Consolas"/>
              </a:rPr>
              <a:t>normal</a:t>
            </a:r>
            <a:r>
              <a:rPr sz="1800" i="0">
                <a:solidFill>
                  <a:srgbClr val="AEB6BF"/>
                </a:solidFill>
                <a:latin typeface="Consolas"/>
              </a:rPr>
              <a:t>(</a:t>
            </a:r>
            <a:r>
              <a:rPr sz="1800" i="0">
                <a:solidFill>
                  <a:srgbClr val="F7DC6F"/>
                </a:solidFill>
                <a:latin typeface="Consolas"/>
              </a:rPr>
              <a:t>0</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0.25</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60</a:t>
            </a:r>
            <a:r>
              <a:rPr sz="1800" i="0">
                <a:solidFill>
                  <a:srgbClr val="AEB6BF"/>
                </a:solidFill>
                <a:latin typeface="Consolas"/>
              </a:rPr>
              <a:t>)</a:t>
            </a:r>
          </a:p>
          <a:p>
            <a:pPr>
              <a:lnSpc>
                <a:spcPct val="100000"/>
              </a:lnSpc>
              <a:spcAft>
                <a:spcPts val="0"/>
              </a:spcAft>
            </a:pPr>
            <a:r>
              <a:rPr sz="1800" i="0">
                <a:solidFill>
                  <a:srgbClr val="E8EDF2"/>
                </a:solidFill>
                <a:latin typeface="Consolas"/>
              </a:rPr>
              <a:t>X_tr</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X_te</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y_tr</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y_te</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train_test_split</a:t>
            </a:r>
            <a:r>
              <a:rPr sz="1800" i="0">
                <a:solidFill>
                  <a:srgbClr val="AEB6BF"/>
                </a:solidFill>
                <a:latin typeface="Consolas"/>
              </a:rPr>
              <a:t>(</a:t>
            </a:r>
            <a:r>
              <a:rPr sz="1800" i="0">
                <a:solidFill>
                  <a:srgbClr val="E8EDF2"/>
                </a:solidFill>
                <a:latin typeface="Consolas"/>
              </a:rPr>
              <a:t>X</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y</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test_size</a:t>
            </a:r>
            <a:r>
              <a:rPr sz="1800" i="0">
                <a:solidFill>
                  <a:srgbClr val="AEB6BF"/>
                </a:solidFill>
                <a:latin typeface="Consolas"/>
              </a:rPr>
              <a:t>=</a:t>
            </a:r>
            <a:r>
              <a:rPr sz="1800" i="0">
                <a:solidFill>
                  <a:srgbClr val="F7DC6F"/>
                </a:solidFill>
                <a:latin typeface="Consolas"/>
              </a:rPr>
              <a:t>0.25</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E8EDF2"/>
                </a:solidFill>
                <a:latin typeface="Consolas"/>
              </a:rPr>
              <a:t>random_state</a:t>
            </a:r>
            <a:r>
              <a:rPr sz="1800" i="0">
                <a:solidFill>
                  <a:srgbClr val="AEB6BF"/>
                </a:solidFill>
                <a:latin typeface="Consolas"/>
              </a:rPr>
              <a:t>=</a:t>
            </a:r>
            <a:r>
              <a:rPr sz="1800" i="0">
                <a:solidFill>
                  <a:srgbClr val="F7DC6F"/>
                </a:solidFill>
                <a:latin typeface="Consolas"/>
              </a:rPr>
              <a:t>0</a:t>
            </a:r>
            <a:r>
              <a:rPr sz="1800" i="0">
                <a:solidFill>
                  <a:srgbClr val="AEB6BF"/>
                </a:solidFill>
                <a:latin typeface="Consolas"/>
              </a:rPr>
              <a:t>)</a:t>
            </a:r>
          </a:p>
          <a:p>
            <a:pPr>
              <a:lnSpc>
                <a:spcPct val="100000"/>
              </a:lnSpc>
              <a:spcAft>
                <a:spcPts val="0"/>
              </a:spcAft>
            </a:pPr>
            <a:r>
              <a:rPr sz="1800" i="0">
                <a:solidFill>
                  <a:srgbClr val="E8EDF2"/>
                </a:solidFill>
                <a:latin typeface="Consolas"/>
              </a:rPr>
              <a:t>cv</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KFold</a:t>
            </a:r>
            <a:r>
              <a:rPr sz="1800" i="0">
                <a:solidFill>
                  <a:srgbClr val="AEB6BF"/>
                </a:solidFill>
                <a:latin typeface="Consolas"/>
              </a:rPr>
              <a:t>(</a:t>
            </a:r>
            <a:r>
              <a:rPr sz="1800" i="0">
                <a:solidFill>
                  <a:srgbClr val="F7DC6F"/>
                </a:solidFill>
                <a:latin typeface="Consolas"/>
              </a:rPr>
              <a:t>5</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shuffle</a:t>
            </a:r>
            <a:r>
              <a:rPr sz="1800" i="0">
                <a:solidFill>
                  <a:srgbClr val="AEB6BF"/>
                </a:solidFill>
                <a:latin typeface="Consolas"/>
              </a:rPr>
              <a:t>=</a:t>
            </a:r>
            <a:r>
              <a:rPr sz="1800" i="0">
                <a:solidFill>
                  <a:srgbClr val="5DADE2"/>
                </a:solidFill>
                <a:latin typeface="Consolas"/>
              </a:rPr>
              <a:t>True</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random_state</a:t>
            </a:r>
            <a:r>
              <a:rPr sz="1800" i="0">
                <a:solidFill>
                  <a:srgbClr val="AEB6BF"/>
                </a:solidFill>
                <a:latin typeface="Consolas"/>
              </a:rPr>
              <a:t>=</a:t>
            </a:r>
            <a:r>
              <a:rPr sz="1800" i="0">
                <a:solidFill>
                  <a:srgbClr val="F7DC6F"/>
                </a:solidFill>
                <a:latin typeface="Consolas"/>
              </a:rPr>
              <a:t>0</a:t>
            </a:r>
            <a:r>
              <a:rPr sz="1800" i="0">
                <a:solidFill>
                  <a:srgbClr val="AEB6BF"/>
                </a:solidFill>
                <a:latin typeface="Consolas"/>
              </a:rPr>
              <a:t>)</a:t>
            </a:r>
          </a:p>
          <a:p>
            <a:pPr>
              <a:lnSpc>
                <a:spcPct val="100000"/>
              </a:lnSpc>
              <a:spcAft>
                <a:spcPts val="0"/>
              </a:spcAft>
            </a:pPr>
            <a:r>
              <a:rPr sz="1800" i="0">
                <a:solidFill>
                  <a:srgbClr val="E8EDF2"/>
                </a:solidFill>
                <a:latin typeface="Consolas"/>
              </a:rPr>
              <a:t>rmse</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7DCEA0"/>
                </a:solidFill>
                <a:latin typeface="Consolas"/>
              </a:rPr>
              <a:t>"</a:t>
            </a:r>
            <a:r>
              <a:rPr sz="1800" i="0">
                <a:solidFill>
                  <a:srgbClr val="7DCEA0"/>
                </a:solidFill>
                <a:latin typeface="Consolas"/>
              </a:rPr>
              <a:t>neg_root_mean_squared_error</a:t>
            </a:r>
            <a:r>
              <a:rPr sz="1800" i="0">
                <a:solidFill>
                  <a:srgbClr val="7DCEA0"/>
                </a:solidFill>
                <a:latin typeface="Consolas"/>
              </a:rPr>
              <a:t>"</a:t>
            </a:r>
          </a:p>
        </p:txBody>
      </p:sp>
      <p:sp>
        <p:nvSpPr>
          <p:cNvPr id="15" name="!!code-num"/>
          <p:cNvSpPr txBox="1"/>
          <p:nvPr/>
        </p:nvSpPr>
        <p:spPr>
          <a:xfrm>
            <a:off x="768096" y="2523744"/>
            <a:ext cx="393192" cy="2304287"/>
          </a:xfrm>
          <a:prstGeom prst="rect">
            <a:avLst/>
          </a:prstGeom>
          <a:noFill/>
        </p:spPr>
        <p:txBody>
          <a:bodyPr wrap="none" anchor="t" lIns="0" rIns="0" tIns="0" bIns="0">
            <a:noAutofit/>
          </a:bodyPr>
          <a:lstStyle/>
          <a:p>
            <a:pPr algn="r">
              <a:lnSpc>
                <a:spcPct val="100000"/>
              </a:lnSpc>
            </a:pPr>
            <a:r>
              <a:rPr sz="1800">
                <a:solidFill>
                  <a:srgbClr val="4F5D6A"/>
                </a:solidFill>
                <a:latin typeface="Consolas"/>
              </a:rPr>
              <a:t>9</a:t>
            </a:r>
          </a:p>
          <a:p>
            <a:pPr algn="r">
              <a:lnSpc>
                <a:spcPct val="100000"/>
              </a:lnSpc>
            </a:pPr>
            <a:r>
              <a:rPr sz="1800">
                <a:solidFill>
                  <a:srgbClr val="4F5D6A"/>
                </a:solidFill>
                <a:latin typeface="Consolas"/>
              </a:rPr>
              <a:t>10</a:t>
            </a:r>
          </a:p>
          <a:p>
            <a:pPr algn="r">
              <a:lnSpc>
                <a:spcPct val="100000"/>
              </a:lnSpc>
            </a:pPr>
            <a:r>
              <a:rPr sz="1800">
                <a:solidFill>
                  <a:srgbClr val="4F5D6A"/>
                </a:solidFill>
                <a:latin typeface="Consolas"/>
              </a:rPr>
              <a:t>11</a:t>
            </a:r>
          </a:p>
          <a:p>
            <a:pPr algn="r">
              <a:lnSpc>
                <a:spcPct val="100000"/>
              </a:lnSpc>
            </a:pPr>
            <a:r>
              <a:rPr sz="1800">
                <a:solidFill>
                  <a:srgbClr val="4F5D6A"/>
                </a:solidFill>
                <a:latin typeface="Consolas"/>
              </a:rPr>
              <a:t>12</a:t>
            </a:r>
          </a:p>
          <a:p>
            <a:pPr algn="r">
              <a:lnSpc>
                <a:spcPct val="100000"/>
              </a:lnSpc>
            </a:pPr>
            <a:r>
              <a:rPr sz="1800">
                <a:solidFill>
                  <a:srgbClr val="4F5D6A"/>
                </a:solidFill>
                <a:latin typeface="Consolas"/>
              </a:rPr>
              <a:t>13</a:t>
            </a:r>
          </a:p>
          <a:p>
            <a:pPr algn="r">
              <a:lnSpc>
                <a:spcPct val="100000"/>
              </a:lnSpc>
            </a:pPr>
            <a:r>
              <a:rPr sz="1800">
                <a:solidFill>
                  <a:srgbClr val="4F5D6A"/>
                </a:solidFill>
                <a:latin typeface="Consolas"/>
              </a:rPr>
              <a:t>14</a:t>
            </a:r>
          </a:p>
          <a:p>
            <a:pPr algn="r">
              <a:lnSpc>
                <a:spcPct val="100000"/>
              </a:lnSpc>
            </a:pPr>
            <a:r>
              <a:rPr sz="1800">
                <a:solidFill>
                  <a:srgbClr val="4F5D6A"/>
                </a:solidFill>
                <a:latin typeface="Consolas"/>
              </a:rPr>
              <a:t>15</a:t>
            </a:r>
          </a:p>
          <a:p>
            <a:pPr algn="r">
              <a:lnSpc>
                <a:spcPct val="100000"/>
              </a:lnSpc>
            </a:pPr>
            <a:r>
              <a:rPr sz="1800">
                <a:solidFill>
                  <a:srgbClr val="4F5D6A"/>
                </a:solidFill>
                <a:latin typeface="Consolas"/>
              </a:rPr>
              <a:t>16</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8210733"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Find the Bottom of the U</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3 OF 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7  ·  Overfitting, Bias–Variance and Regularisation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§7.7  ·  Handout p. 55     </a:t>
            </a:r>
            <a:fld id="{49964917-8203-4E40-A2E3-5A139A9740A6}" type="slidenum">
              <a:rPr lang="en-GB" sz="1000">
                <a:solidFill>
                  <a:srgbClr val="8795A1"/>
                </a:solidFill>
                <a:latin typeface="Segoe UI"/>
              </a:rPr>
              <a:t>34</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Complexity: training error against cross-validated error</a:t>
            </a:r>
          </a:p>
        </p:txBody>
      </p:sp>
      <p:sp>
        <p:nvSpPr>
          <p:cNvPr id="8" name="!!code-bg">
            <a:extLst>
              <a:ext uri="{C183D7F6-B498-43B3-948B-1728B52AA6E4}">
                <adec:decorative xmlns:adec="http://schemas.microsoft.com/office/drawing/2017/decorative" val="1"/>
              </a:ext>
            </a:extLst>
          </p:cNvPr>
          <p:cNvSpPr/>
          <p:nvPr/>
        </p:nvSpPr>
        <p:spPr>
          <a:xfrm>
            <a:off x="658368" y="2084831"/>
            <a:ext cx="10874959" cy="3072383"/>
          </a:xfrm>
          <a:prstGeom prst="roundRect">
            <a:avLst>
              <a:gd name="adj" fmla="val 2976"/>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code/ch07_find_bottom_u.py</a:t>
            </a:r>
          </a:p>
        </p:txBody>
      </p:sp>
      <p:sp>
        <p:nvSpPr>
          <p:cNvPr id="14" name="!!code-text" descr="# --- 1. complexity: training error against cross-validated error --------- for deg in (1, 3, 6, 12): m = make_pipeline(PolynomialFeatures(deg), StandardScaler(), LinearRegression()) m.fit(X_tr, y_tr) train = np.sqrt(np.mean((m.predict(X_tr) - y_tr) ** 2)) cvs = -cross_val_score(m, X_tr, y_tr, cv=cv, scoring=rmse) print(f&quot;degree {deg:2d}: train RMSE {train:.3f} &quot; f&quot;CV RMSE {cvs.mean():.3f} +/- {cvs.std():.3f}&quot;)"/>
          <p:cNvSpPr txBox="1"/>
          <p:nvPr/>
        </p:nvSpPr>
        <p:spPr>
          <a:xfrm>
            <a:off x="1362456" y="2523744"/>
            <a:ext cx="9987991" cy="2578607"/>
          </a:xfrm>
          <a:prstGeom prst="rect">
            <a:avLst/>
          </a:prstGeom>
          <a:noFill/>
        </p:spPr>
        <p:txBody>
          <a:bodyPr wrap="none" anchor="t" lIns="0" rIns="0" tIns="0" bIns="0">
            <a:noAutofit/>
          </a:bodyPr>
          <a:lstStyle/>
          <a:p>
            <a:pPr>
              <a:lnSpc>
                <a:spcPct val="100000"/>
              </a:lnSpc>
              <a:spcAft>
                <a:spcPts val="0"/>
              </a:spcAft>
            </a:pPr>
            <a:r>
              <a:rPr sz="1800" i="1">
                <a:solidFill>
                  <a:srgbClr val="8795A1"/>
                </a:solidFill>
                <a:latin typeface="Consolas"/>
              </a:rPr>
              <a:t># --- 1. complexity: training error against cross-validated error ---------</a:t>
            </a:r>
          </a:p>
          <a:p>
            <a:pPr>
              <a:lnSpc>
                <a:spcPct val="100000"/>
              </a:lnSpc>
              <a:spcAft>
                <a:spcPts val="0"/>
              </a:spcAft>
            </a:pPr>
            <a:r>
              <a:rPr sz="1800" i="0">
                <a:solidFill>
                  <a:srgbClr val="5DADE2"/>
                </a:solidFill>
                <a:latin typeface="Consolas"/>
              </a:rPr>
              <a:t>for</a:t>
            </a:r>
            <a:r>
              <a:rPr sz="1800" i="0">
                <a:solidFill>
                  <a:srgbClr val="E8EDF2"/>
                </a:solidFill>
                <a:latin typeface="Consolas"/>
              </a:rPr>
              <a:t> </a:t>
            </a:r>
            <a:r>
              <a:rPr sz="1800" i="0">
                <a:solidFill>
                  <a:srgbClr val="E8EDF2"/>
                </a:solidFill>
                <a:latin typeface="Consolas"/>
              </a:rPr>
              <a:t>deg</a:t>
            </a:r>
            <a:r>
              <a:rPr sz="1800" i="0">
                <a:solidFill>
                  <a:srgbClr val="E8EDF2"/>
                </a:solidFill>
                <a:latin typeface="Consolas"/>
              </a:rPr>
              <a:t> </a:t>
            </a:r>
            <a:r>
              <a:rPr sz="1800" i="0">
                <a:solidFill>
                  <a:srgbClr val="AEB6BF"/>
                </a:solidFill>
                <a:latin typeface="Consolas"/>
              </a:rPr>
              <a:t>in</a:t>
            </a:r>
            <a:r>
              <a:rPr sz="1800" i="0">
                <a:solidFill>
                  <a:srgbClr val="E8EDF2"/>
                </a:solidFill>
                <a:latin typeface="Consolas"/>
              </a:rPr>
              <a:t> </a:t>
            </a:r>
            <a:r>
              <a:rPr sz="1800" i="0">
                <a:solidFill>
                  <a:srgbClr val="AEB6BF"/>
                </a:solidFill>
                <a:latin typeface="Consolas"/>
              </a:rPr>
              <a:t>(</a:t>
            </a:r>
            <a:r>
              <a:rPr sz="1800" i="0">
                <a:solidFill>
                  <a:srgbClr val="F7DC6F"/>
                </a:solidFill>
                <a:latin typeface="Consolas"/>
              </a:rPr>
              <a:t>1</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3</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6</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12</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E8EDF2"/>
                </a:solidFill>
                <a:latin typeface="Consolas"/>
              </a:rPr>
              <a:t>m</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make_pipeline</a:t>
            </a:r>
            <a:r>
              <a:rPr sz="1800" i="0">
                <a:solidFill>
                  <a:srgbClr val="AEB6BF"/>
                </a:solidFill>
                <a:latin typeface="Consolas"/>
              </a:rPr>
              <a:t>(</a:t>
            </a:r>
            <a:r>
              <a:rPr sz="1800" i="0">
                <a:solidFill>
                  <a:srgbClr val="E8EDF2"/>
                </a:solidFill>
                <a:latin typeface="Consolas"/>
              </a:rPr>
              <a:t>PolynomialFeatures</a:t>
            </a:r>
            <a:r>
              <a:rPr sz="1800" i="0">
                <a:solidFill>
                  <a:srgbClr val="AEB6BF"/>
                </a:solidFill>
                <a:latin typeface="Consolas"/>
              </a:rPr>
              <a:t>(</a:t>
            </a:r>
            <a:r>
              <a:rPr sz="1800" i="0">
                <a:solidFill>
                  <a:srgbClr val="E8EDF2"/>
                </a:solidFill>
                <a:latin typeface="Consolas"/>
              </a:rPr>
              <a:t>deg</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StandardScaler</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E8EDF2"/>
                </a:solidFill>
                <a:latin typeface="Consolas"/>
              </a:rPr>
              <a:t>LinearRegression</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E8EDF2"/>
                </a:solidFill>
                <a:latin typeface="Consolas"/>
              </a:rPr>
              <a:t>m</a:t>
            </a:r>
            <a:r>
              <a:rPr sz="1800" i="0">
                <a:solidFill>
                  <a:srgbClr val="AEB6BF"/>
                </a:solidFill>
                <a:latin typeface="Consolas"/>
              </a:rPr>
              <a:t>.</a:t>
            </a:r>
            <a:r>
              <a:rPr sz="1800" i="0">
                <a:solidFill>
                  <a:srgbClr val="E8EDF2"/>
                </a:solidFill>
                <a:latin typeface="Consolas"/>
              </a:rPr>
              <a:t>fit</a:t>
            </a:r>
            <a:r>
              <a:rPr sz="1800" i="0">
                <a:solidFill>
                  <a:srgbClr val="AEB6BF"/>
                </a:solidFill>
                <a:latin typeface="Consolas"/>
              </a:rPr>
              <a:t>(</a:t>
            </a:r>
            <a:r>
              <a:rPr sz="1800" i="0">
                <a:solidFill>
                  <a:srgbClr val="E8EDF2"/>
                </a:solidFill>
                <a:latin typeface="Consolas"/>
              </a:rPr>
              <a:t>X_tr</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y_tr</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E8EDF2"/>
                </a:solidFill>
                <a:latin typeface="Consolas"/>
              </a:rPr>
              <a:t>train</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np</a:t>
            </a:r>
            <a:r>
              <a:rPr sz="1800" i="0">
                <a:solidFill>
                  <a:srgbClr val="AEB6BF"/>
                </a:solidFill>
                <a:latin typeface="Consolas"/>
              </a:rPr>
              <a:t>.</a:t>
            </a:r>
            <a:r>
              <a:rPr sz="1800" i="0">
                <a:solidFill>
                  <a:srgbClr val="E8EDF2"/>
                </a:solidFill>
                <a:latin typeface="Consolas"/>
              </a:rPr>
              <a:t>sqrt</a:t>
            </a:r>
            <a:r>
              <a:rPr sz="1800" i="0">
                <a:solidFill>
                  <a:srgbClr val="AEB6BF"/>
                </a:solidFill>
                <a:latin typeface="Consolas"/>
              </a:rPr>
              <a:t>(</a:t>
            </a:r>
            <a:r>
              <a:rPr sz="1800" i="0">
                <a:solidFill>
                  <a:srgbClr val="E8EDF2"/>
                </a:solidFill>
                <a:latin typeface="Consolas"/>
              </a:rPr>
              <a:t>np</a:t>
            </a:r>
            <a:r>
              <a:rPr sz="1800" i="0">
                <a:solidFill>
                  <a:srgbClr val="AEB6BF"/>
                </a:solidFill>
                <a:latin typeface="Consolas"/>
              </a:rPr>
              <a:t>.</a:t>
            </a:r>
            <a:r>
              <a:rPr sz="1800" i="0">
                <a:solidFill>
                  <a:srgbClr val="E8EDF2"/>
                </a:solidFill>
                <a:latin typeface="Consolas"/>
              </a:rPr>
              <a:t>mean</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m</a:t>
            </a:r>
            <a:r>
              <a:rPr sz="1800" i="0">
                <a:solidFill>
                  <a:srgbClr val="AEB6BF"/>
                </a:solidFill>
                <a:latin typeface="Consolas"/>
              </a:rPr>
              <a:t>.</a:t>
            </a:r>
            <a:r>
              <a:rPr sz="1800" i="0">
                <a:solidFill>
                  <a:srgbClr val="E8EDF2"/>
                </a:solidFill>
                <a:latin typeface="Consolas"/>
              </a:rPr>
              <a:t>predict</a:t>
            </a:r>
            <a:r>
              <a:rPr sz="1800" i="0">
                <a:solidFill>
                  <a:srgbClr val="AEB6BF"/>
                </a:solidFill>
                <a:latin typeface="Consolas"/>
              </a:rPr>
              <a:t>(</a:t>
            </a:r>
            <a:r>
              <a:rPr sz="1800" i="0">
                <a:solidFill>
                  <a:srgbClr val="E8EDF2"/>
                </a:solidFill>
                <a:latin typeface="Consolas"/>
              </a:rPr>
              <a:t>X_tr</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y_tr</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2</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E8EDF2"/>
                </a:solidFill>
                <a:latin typeface="Consolas"/>
              </a:rPr>
              <a:t>cvs</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cross_val_score</a:t>
            </a:r>
            <a:r>
              <a:rPr sz="1800" i="0">
                <a:solidFill>
                  <a:srgbClr val="AEB6BF"/>
                </a:solidFill>
                <a:latin typeface="Consolas"/>
              </a:rPr>
              <a:t>(</a:t>
            </a:r>
            <a:r>
              <a:rPr sz="1800" i="0">
                <a:solidFill>
                  <a:srgbClr val="E8EDF2"/>
                </a:solidFill>
                <a:latin typeface="Consolas"/>
              </a:rPr>
              <a:t>m</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X_tr</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y_tr</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cv</a:t>
            </a:r>
            <a:r>
              <a:rPr sz="1800" i="0">
                <a:solidFill>
                  <a:srgbClr val="AEB6BF"/>
                </a:solidFill>
                <a:latin typeface="Consolas"/>
              </a:rPr>
              <a:t>=</a:t>
            </a:r>
            <a:r>
              <a:rPr sz="1800" i="0">
                <a:solidFill>
                  <a:srgbClr val="E8EDF2"/>
                </a:solidFill>
                <a:latin typeface="Consolas"/>
              </a:rPr>
              <a:t>cv</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scoring</a:t>
            </a:r>
            <a:r>
              <a:rPr sz="1800" i="0">
                <a:solidFill>
                  <a:srgbClr val="AEB6BF"/>
                </a:solidFill>
                <a:latin typeface="Consolas"/>
              </a:rPr>
              <a:t>=</a:t>
            </a:r>
            <a:r>
              <a:rPr sz="1800" i="0">
                <a:solidFill>
                  <a:srgbClr val="E8EDF2"/>
                </a:solidFill>
                <a:latin typeface="Consolas"/>
              </a:rPr>
              <a:t>rmse</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C39BD3"/>
                </a:solidFill>
                <a:latin typeface="Consolas"/>
              </a:rPr>
              <a:t>print</a:t>
            </a:r>
            <a:r>
              <a:rPr sz="1800" i="0">
                <a:solidFill>
                  <a:srgbClr val="AEB6BF"/>
                </a:solidFill>
                <a:latin typeface="Consolas"/>
              </a:rPr>
              <a:t>(</a:t>
            </a:r>
            <a:r>
              <a:rPr sz="1800" i="0">
                <a:solidFill>
                  <a:srgbClr val="7DCEA0"/>
                </a:solidFill>
                <a:latin typeface="Consolas"/>
              </a:rPr>
              <a:t>f</a:t>
            </a:r>
            <a:r>
              <a:rPr sz="1800" i="0">
                <a:solidFill>
                  <a:srgbClr val="7DCEA0"/>
                </a:solidFill>
                <a:latin typeface="Consolas"/>
              </a:rPr>
              <a:t>"</a:t>
            </a:r>
            <a:r>
              <a:rPr sz="1800" i="0">
                <a:solidFill>
                  <a:srgbClr val="7DCEA0"/>
                </a:solidFill>
                <a:latin typeface="Consolas"/>
              </a:rPr>
              <a:t>degree </a:t>
            </a:r>
            <a:r>
              <a:rPr sz="1800" i="0">
                <a:solidFill>
                  <a:srgbClr val="7DCEA0"/>
                </a:solidFill>
                <a:latin typeface="Consolas"/>
              </a:rPr>
              <a:t>{</a:t>
            </a:r>
            <a:r>
              <a:rPr sz="1800" i="0">
                <a:solidFill>
                  <a:srgbClr val="E8EDF2"/>
                </a:solidFill>
                <a:latin typeface="Consolas"/>
              </a:rPr>
              <a:t>deg</a:t>
            </a:r>
            <a:r>
              <a:rPr sz="1800" i="0">
                <a:solidFill>
                  <a:srgbClr val="7DCEA0"/>
                </a:solidFill>
                <a:latin typeface="Consolas"/>
              </a:rPr>
              <a:t>:</a:t>
            </a:r>
            <a:r>
              <a:rPr sz="1800" i="0">
                <a:solidFill>
                  <a:srgbClr val="7DCEA0"/>
                </a:solidFill>
                <a:latin typeface="Consolas"/>
              </a:rPr>
              <a:t>2d</a:t>
            </a:r>
            <a:r>
              <a:rPr sz="1800" i="0">
                <a:solidFill>
                  <a:srgbClr val="7DCEA0"/>
                </a:solidFill>
                <a:latin typeface="Consolas"/>
              </a:rPr>
              <a:t>}</a:t>
            </a:r>
            <a:r>
              <a:rPr sz="1800" i="0">
                <a:solidFill>
                  <a:srgbClr val="7DCEA0"/>
                </a:solidFill>
                <a:latin typeface="Consolas"/>
              </a:rPr>
              <a:t>: train RMSE </a:t>
            </a:r>
            <a:r>
              <a:rPr sz="1800" i="0">
                <a:solidFill>
                  <a:srgbClr val="7DCEA0"/>
                </a:solidFill>
                <a:latin typeface="Consolas"/>
              </a:rPr>
              <a:t>{</a:t>
            </a:r>
            <a:r>
              <a:rPr sz="1800" i="0">
                <a:solidFill>
                  <a:srgbClr val="E8EDF2"/>
                </a:solidFill>
                <a:latin typeface="Consolas"/>
              </a:rPr>
              <a:t>train</a:t>
            </a:r>
            <a:r>
              <a:rPr sz="1800" i="0">
                <a:solidFill>
                  <a:srgbClr val="7DCEA0"/>
                </a:solidFill>
                <a:latin typeface="Consolas"/>
              </a:rPr>
              <a:t>:</a:t>
            </a:r>
            <a:r>
              <a:rPr sz="1800" i="0">
                <a:solidFill>
                  <a:srgbClr val="7DCEA0"/>
                </a:solidFill>
                <a:latin typeface="Consolas"/>
              </a:rPr>
              <a:t>.3f</a:t>
            </a:r>
            <a:r>
              <a:rPr sz="1800" i="0">
                <a:solidFill>
                  <a:srgbClr val="7DCEA0"/>
                </a:solidFill>
                <a:latin typeface="Consolas"/>
              </a:rPr>
              <a:t>}</a:t>
            </a:r>
            <a:r>
              <a:rPr sz="1800" i="0">
                <a:solidFill>
                  <a:srgbClr val="7DCEA0"/>
                </a:solidFill>
                <a:latin typeface="Consolas"/>
              </a:rPr>
              <a:t>   </a:t>
            </a:r>
            <a:r>
              <a:rPr sz="1800" i="0">
                <a:solidFill>
                  <a:srgbClr val="7DCEA0"/>
                </a:solidFill>
                <a:latin typeface="Consolas"/>
              </a:rPr>
              <a:t>"</a:t>
            </a:r>
          </a:p>
          <a:p>
            <a:pPr>
              <a:lnSpc>
                <a:spcPct val="100000"/>
              </a:lnSpc>
              <a:spcAft>
                <a:spcPts val="0"/>
              </a:spcAft>
            </a:pPr>
            <a:r>
              <a:rPr sz="1800" i="0">
                <a:solidFill>
                  <a:srgbClr val="E8EDF2"/>
                </a:solidFill>
                <a:latin typeface="Consolas"/>
              </a:rPr>
              <a:t>          </a:t>
            </a:r>
            <a:r>
              <a:rPr sz="1800" i="0">
                <a:solidFill>
                  <a:srgbClr val="7DCEA0"/>
                </a:solidFill>
                <a:latin typeface="Consolas"/>
              </a:rPr>
              <a:t>f</a:t>
            </a:r>
            <a:r>
              <a:rPr sz="1800" i="0">
                <a:solidFill>
                  <a:srgbClr val="7DCEA0"/>
                </a:solidFill>
                <a:latin typeface="Consolas"/>
              </a:rPr>
              <a:t>"</a:t>
            </a:r>
            <a:r>
              <a:rPr sz="1800" i="0">
                <a:solidFill>
                  <a:srgbClr val="7DCEA0"/>
                </a:solidFill>
                <a:latin typeface="Consolas"/>
              </a:rPr>
              <a:t>CV RMSE </a:t>
            </a:r>
            <a:r>
              <a:rPr sz="1800" i="0">
                <a:solidFill>
                  <a:srgbClr val="7DCEA0"/>
                </a:solidFill>
                <a:latin typeface="Consolas"/>
              </a:rPr>
              <a:t>{</a:t>
            </a:r>
            <a:r>
              <a:rPr sz="1800" i="0">
                <a:solidFill>
                  <a:srgbClr val="E8EDF2"/>
                </a:solidFill>
                <a:latin typeface="Consolas"/>
              </a:rPr>
              <a:t>cvs</a:t>
            </a:r>
            <a:r>
              <a:rPr sz="1800" i="0">
                <a:solidFill>
                  <a:srgbClr val="AEB6BF"/>
                </a:solidFill>
                <a:latin typeface="Consolas"/>
              </a:rPr>
              <a:t>.</a:t>
            </a:r>
            <a:r>
              <a:rPr sz="1800" i="0">
                <a:solidFill>
                  <a:srgbClr val="E8EDF2"/>
                </a:solidFill>
                <a:latin typeface="Consolas"/>
              </a:rPr>
              <a:t>mean</a:t>
            </a:r>
            <a:r>
              <a:rPr sz="1800" i="0">
                <a:solidFill>
                  <a:srgbClr val="AEB6BF"/>
                </a:solidFill>
                <a:latin typeface="Consolas"/>
              </a:rPr>
              <a:t>(</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.3f</a:t>
            </a:r>
            <a:r>
              <a:rPr sz="1800" i="0">
                <a:solidFill>
                  <a:srgbClr val="7DCEA0"/>
                </a:solidFill>
                <a:latin typeface="Consolas"/>
              </a:rPr>
              <a:t>}</a:t>
            </a:r>
            <a:r>
              <a:rPr sz="1800" i="0">
                <a:solidFill>
                  <a:srgbClr val="7DCEA0"/>
                </a:solidFill>
                <a:latin typeface="Consolas"/>
              </a:rPr>
              <a:t> +/- </a:t>
            </a:r>
            <a:r>
              <a:rPr sz="1800" i="0">
                <a:solidFill>
                  <a:srgbClr val="7DCEA0"/>
                </a:solidFill>
                <a:latin typeface="Consolas"/>
              </a:rPr>
              <a:t>{</a:t>
            </a:r>
            <a:r>
              <a:rPr sz="1800" i="0">
                <a:solidFill>
                  <a:srgbClr val="E8EDF2"/>
                </a:solidFill>
                <a:latin typeface="Consolas"/>
              </a:rPr>
              <a:t>cvs</a:t>
            </a:r>
            <a:r>
              <a:rPr sz="1800" i="0">
                <a:solidFill>
                  <a:srgbClr val="AEB6BF"/>
                </a:solidFill>
                <a:latin typeface="Consolas"/>
              </a:rPr>
              <a:t>.</a:t>
            </a:r>
            <a:r>
              <a:rPr sz="1800" i="0">
                <a:solidFill>
                  <a:srgbClr val="E8EDF2"/>
                </a:solidFill>
                <a:latin typeface="Consolas"/>
              </a:rPr>
              <a:t>std</a:t>
            </a:r>
            <a:r>
              <a:rPr sz="1800" i="0">
                <a:solidFill>
                  <a:srgbClr val="AEB6BF"/>
                </a:solidFill>
                <a:latin typeface="Consolas"/>
              </a:rPr>
              <a:t>(</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.3f</a:t>
            </a:r>
            <a:r>
              <a:rPr sz="1800" i="0">
                <a:solidFill>
                  <a:srgbClr val="7DCEA0"/>
                </a:solidFill>
                <a:latin typeface="Consolas"/>
              </a:rPr>
              <a:t>}</a:t>
            </a:r>
            <a:r>
              <a:rPr sz="1800" i="0">
                <a:solidFill>
                  <a:srgbClr val="7DCEA0"/>
                </a:solidFill>
                <a:latin typeface="Consolas"/>
              </a:rPr>
              <a:t>"</a:t>
            </a:r>
            <a:r>
              <a:rPr sz="1800" i="0">
                <a:solidFill>
                  <a:srgbClr val="AEB6BF"/>
                </a:solidFill>
                <a:latin typeface="Consolas"/>
              </a:rPr>
              <a:t>)</a:t>
            </a:r>
          </a:p>
        </p:txBody>
      </p:sp>
      <p:sp>
        <p:nvSpPr>
          <p:cNvPr id="15" name="!!code-num"/>
          <p:cNvSpPr txBox="1"/>
          <p:nvPr/>
        </p:nvSpPr>
        <p:spPr>
          <a:xfrm>
            <a:off x="768096" y="2523744"/>
            <a:ext cx="393192" cy="2578607"/>
          </a:xfrm>
          <a:prstGeom prst="rect">
            <a:avLst/>
          </a:prstGeom>
          <a:noFill/>
        </p:spPr>
        <p:txBody>
          <a:bodyPr wrap="none" anchor="t" lIns="0" rIns="0" tIns="0" bIns="0">
            <a:noAutofit/>
          </a:bodyPr>
          <a:lstStyle/>
          <a:p>
            <a:pPr algn="r">
              <a:lnSpc>
                <a:spcPct val="100000"/>
              </a:lnSpc>
            </a:pPr>
            <a:r>
              <a:rPr sz="1800">
                <a:solidFill>
                  <a:srgbClr val="4F5D6A"/>
                </a:solidFill>
                <a:latin typeface="Consolas"/>
              </a:rPr>
              <a:t>18</a:t>
            </a:r>
          </a:p>
          <a:p>
            <a:pPr algn="r">
              <a:lnSpc>
                <a:spcPct val="100000"/>
              </a:lnSpc>
            </a:pPr>
            <a:r>
              <a:rPr sz="1800">
                <a:solidFill>
                  <a:srgbClr val="4F5D6A"/>
                </a:solidFill>
                <a:latin typeface="Consolas"/>
              </a:rPr>
              <a:t>19</a:t>
            </a:r>
          </a:p>
          <a:p>
            <a:pPr algn="r">
              <a:lnSpc>
                <a:spcPct val="100000"/>
              </a:lnSpc>
            </a:pPr>
            <a:r>
              <a:rPr sz="1800">
                <a:solidFill>
                  <a:srgbClr val="4F5D6A"/>
                </a:solidFill>
                <a:latin typeface="Consolas"/>
              </a:rPr>
              <a:t>20</a:t>
            </a:r>
          </a:p>
          <a:p>
            <a:pPr algn="r">
              <a:lnSpc>
                <a:spcPct val="100000"/>
              </a:lnSpc>
            </a:pPr>
            <a:r>
              <a:rPr sz="1800">
                <a:solidFill>
                  <a:srgbClr val="4F5D6A"/>
                </a:solidFill>
                <a:latin typeface="Consolas"/>
              </a:rPr>
              <a:t>21</a:t>
            </a:r>
          </a:p>
          <a:p>
            <a:pPr algn="r">
              <a:lnSpc>
                <a:spcPct val="100000"/>
              </a:lnSpc>
            </a:pPr>
            <a:r>
              <a:rPr sz="1800">
                <a:solidFill>
                  <a:srgbClr val="4F5D6A"/>
                </a:solidFill>
                <a:latin typeface="Consolas"/>
              </a:rPr>
              <a:t>22</a:t>
            </a:r>
          </a:p>
          <a:p>
            <a:pPr algn="r">
              <a:lnSpc>
                <a:spcPct val="100000"/>
              </a:lnSpc>
            </a:pPr>
            <a:r>
              <a:rPr sz="1800">
                <a:solidFill>
                  <a:srgbClr val="4F5D6A"/>
                </a:solidFill>
                <a:latin typeface="Consolas"/>
              </a:rPr>
              <a:t>23</a:t>
            </a:r>
          </a:p>
          <a:p>
            <a:pPr algn="r">
              <a:lnSpc>
                <a:spcPct val="100000"/>
              </a:lnSpc>
            </a:pPr>
            <a:r>
              <a:rPr sz="1800">
                <a:solidFill>
                  <a:srgbClr val="4F5D6A"/>
                </a:solidFill>
                <a:latin typeface="Consolas"/>
              </a:rPr>
              <a:t>24</a:t>
            </a:r>
          </a:p>
          <a:p>
            <a:pPr algn="r">
              <a:lnSpc>
                <a:spcPct val="100000"/>
              </a:lnSpc>
            </a:pPr>
            <a:r>
              <a:rPr sz="1800">
                <a:solidFill>
                  <a:srgbClr val="4F5D6A"/>
                </a:solidFill>
                <a:latin typeface="Consolas"/>
              </a:rPr>
              <a:t>25</a:t>
            </a:r>
          </a:p>
          <a:p>
            <a:pPr algn="r">
              <a:lnSpc>
                <a:spcPct val="100000"/>
              </a:lnSpc>
            </a:pPr>
            <a:r>
              <a:rPr sz="1800">
                <a:solidFill>
                  <a:srgbClr val="4F5D6A"/>
                </a:solidFill>
                <a:latin typeface="Consolas"/>
              </a:rPr>
              <a:t>26</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8459543"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Find the Bottom of the U</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4 OF 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7  ·  Overfitting, Bias–Variance and Regularisation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§7.7  ·  Handout p. 55     </a:t>
            </a:r>
            <a:fld id="{9C08C07E-0415-4024-8E0D-334736350EDE}" type="slidenum">
              <a:rPr lang="en-GB" sz="1000">
                <a:solidFill>
                  <a:srgbClr val="8795A1"/>
                </a:solidFill>
                <a:latin typeface="Segoe UI"/>
              </a:rPr>
              <a:t>35</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Keep degree 12, but regularise; choose alpha by CV</a:t>
            </a:r>
          </a:p>
        </p:txBody>
      </p:sp>
      <p:sp>
        <p:nvSpPr>
          <p:cNvPr id="8" name="!!code-bg">
            <a:extLst>
              <a:ext uri="{C183D7F6-B498-43B3-948B-1728B52AA6E4}">
                <adec:decorative xmlns:adec="http://schemas.microsoft.com/office/drawing/2017/decorative" val="1"/>
              </a:ext>
            </a:extLst>
          </p:cNvPr>
          <p:cNvSpPr/>
          <p:nvPr/>
        </p:nvSpPr>
        <p:spPr>
          <a:xfrm>
            <a:off x="658368" y="2084831"/>
            <a:ext cx="10874959" cy="2798063"/>
          </a:xfrm>
          <a:prstGeom prst="roundRect">
            <a:avLst>
              <a:gd name="adj" fmla="val 3267"/>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code/ch07_find_bottom_u.py</a:t>
            </a:r>
          </a:p>
        </p:txBody>
      </p:sp>
      <p:sp>
        <p:nvSpPr>
          <p:cNvPr id="14" name="!!code-text" descr="# --- 2. keep degree 12, but regularise; choose alpha by CV --------------- pipe = make_pipeline(PolynomialFeatures(12), StandardScaler(), Ridge()) grid = GridSearchCV(pipe, {&quot;ridge__alpha&quot;: [1e-6, 1e-3, 1e-1, 10, 1000]}, cv=cv, scoring=rmse).fit(X_tr, y_tr) for a, s in zip(grid.cv_results_[&quot;param_ridge__alpha&quot;], grid.cv_results_[&quot;mean_test_score&quot;]): print(f&quot;alpha {a:&gt;8g}: CV RMSE {-s:.3f}&quot;) print(&quot;chosen:&quot;, grid.best_params_)"/>
          <p:cNvSpPr txBox="1"/>
          <p:nvPr/>
        </p:nvSpPr>
        <p:spPr>
          <a:xfrm>
            <a:off x="1362456" y="2523744"/>
            <a:ext cx="9987991" cy="2304287"/>
          </a:xfrm>
          <a:prstGeom prst="rect">
            <a:avLst/>
          </a:prstGeom>
          <a:noFill/>
        </p:spPr>
        <p:txBody>
          <a:bodyPr wrap="none" anchor="t" lIns="0" rIns="0" tIns="0" bIns="0">
            <a:noAutofit/>
          </a:bodyPr>
          <a:lstStyle/>
          <a:p>
            <a:pPr>
              <a:lnSpc>
                <a:spcPct val="100000"/>
              </a:lnSpc>
              <a:spcAft>
                <a:spcPts val="0"/>
              </a:spcAft>
            </a:pPr>
            <a:r>
              <a:rPr sz="1800" i="1">
                <a:solidFill>
                  <a:srgbClr val="8795A1"/>
                </a:solidFill>
                <a:latin typeface="Consolas"/>
              </a:rPr>
              <a:t># --- 2. keep degree 12, but regularise; choose alpha by CV ---------------</a:t>
            </a:r>
          </a:p>
          <a:p>
            <a:pPr>
              <a:lnSpc>
                <a:spcPct val="100000"/>
              </a:lnSpc>
              <a:spcAft>
                <a:spcPts val="0"/>
              </a:spcAft>
            </a:pPr>
            <a:r>
              <a:rPr sz="1800" i="0">
                <a:solidFill>
                  <a:srgbClr val="E8EDF2"/>
                </a:solidFill>
                <a:latin typeface="Consolas"/>
              </a:rPr>
              <a:t>pipe</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make_pipeline</a:t>
            </a:r>
            <a:r>
              <a:rPr sz="1800" i="0">
                <a:solidFill>
                  <a:srgbClr val="AEB6BF"/>
                </a:solidFill>
                <a:latin typeface="Consolas"/>
              </a:rPr>
              <a:t>(</a:t>
            </a:r>
            <a:r>
              <a:rPr sz="1800" i="0">
                <a:solidFill>
                  <a:srgbClr val="E8EDF2"/>
                </a:solidFill>
                <a:latin typeface="Consolas"/>
              </a:rPr>
              <a:t>PolynomialFeatures</a:t>
            </a:r>
            <a:r>
              <a:rPr sz="1800" i="0">
                <a:solidFill>
                  <a:srgbClr val="AEB6BF"/>
                </a:solidFill>
                <a:latin typeface="Consolas"/>
              </a:rPr>
              <a:t>(</a:t>
            </a:r>
            <a:r>
              <a:rPr sz="1800" i="0">
                <a:solidFill>
                  <a:srgbClr val="F7DC6F"/>
                </a:solidFill>
                <a:latin typeface="Consolas"/>
              </a:rPr>
              <a:t>12</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StandardScaler</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Ridge</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grid</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GridSearchCV</a:t>
            </a:r>
            <a:r>
              <a:rPr sz="1800" i="0">
                <a:solidFill>
                  <a:srgbClr val="AEB6BF"/>
                </a:solidFill>
                <a:latin typeface="Consolas"/>
              </a:rPr>
              <a:t>(</a:t>
            </a:r>
            <a:r>
              <a:rPr sz="1800" i="0">
                <a:solidFill>
                  <a:srgbClr val="E8EDF2"/>
                </a:solidFill>
                <a:latin typeface="Consolas"/>
              </a:rPr>
              <a:t>pipe</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ridge__alpha</a:t>
            </a:r>
            <a:r>
              <a:rPr sz="1800" i="0">
                <a:solidFill>
                  <a:srgbClr val="7DCEA0"/>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F7DC6F"/>
                </a:solidFill>
                <a:latin typeface="Consolas"/>
              </a:rPr>
              <a:t>1e-6</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1e-3</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1e-1</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10</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1000</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E8EDF2"/>
                </a:solidFill>
                <a:latin typeface="Consolas"/>
              </a:rPr>
              <a:t>cv</a:t>
            </a:r>
            <a:r>
              <a:rPr sz="1800" i="0">
                <a:solidFill>
                  <a:srgbClr val="AEB6BF"/>
                </a:solidFill>
                <a:latin typeface="Consolas"/>
              </a:rPr>
              <a:t>=</a:t>
            </a:r>
            <a:r>
              <a:rPr sz="1800" i="0">
                <a:solidFill>
                  <a:srgbClr val="E8EDF2"/>
                </a:solidFill>
                <a:latin typeface="Consolas"/>
              </a:rPr>
              <a:t>cv</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scoring</a:t>
            </a:r>
            <a:r>
              <a:rPr sz="1800" i="0">
                <a:solidFill>
                  <a:srgbClr val="AEB6BF"/>
                </a:solidFill>
                <a:latin typeface="Consolas"/>
              </a:rPr>
              <a:t>=</a:t>
            </a:r>
            <a:r>
              <a:rPr sz="1800" i="0">
                <a:solidFill>
                  <a:srgbClr val="E8EDF2"/>
                </a:solidFill>
                <a:latin typeface="Consolas"/>
              </a:rPr>
              <a:t>rmse</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fit</a:t>
            </a:r>
            <a:r>
              <a:rPr sz="1800" i="0">
                <a:solidFill>
                  <a:srgbClr val="AEB6BF"/>
                </a:solidFill>
                <a:latin typeface="Consolas"/>
              </a:rPr>
              <a:t>(</a:t>
            </a:r>
            <a:r>
              <a:rPr sz="1800" i="0">
                <a:solidFill>
                  <a:srgbClr val="E8EDF2"/>
                </a:solidFill>
                <a:latin typeface="Consolas"/>
              </a:rPr>
              <a:t>X_tr</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y_tr</a:t>
            </a:r>
            <a:r>
              <a:rPr sz="1800" i="0">
                <a:solidFill>
                  <a:srgbClr val="AEB6BF"/>
                </a:solidFill>
                <a:latin typeface="Consolas"/>
              </a:rPr>
              <a:t>)</a:t>
            </a:r>
          </a:p>
          <a:p>
            <a:pPr>
              <a:lnSpc>
                <a:spcPct val="100000"/>
              </a:lnSpc>
              <a:spcAft>
                <a:spcPts val="0"/>
              </a:spcAft>
            </a:pPr>
            <a:r>
              <a:rPr sz="1800" i="0">
                <a:solidFill>
                  <a:srgbClr val="5DADE2"/>
                </a:solidFill>
                <a:latin typeface="Consolas"/>
              </a:rPr>
              <a:t>for</a:t>
            </a:r>
            <a:r>
              <a:rPr sz="1800" i="0">
                <a:solidFill>
                  <a:srgbClr val="E8EDF2"/>
                </a:solidFill>
                <a:latin typeface="Consolas"/>
              </a:rPr>
              <a:t> </a:t>
            </a:r>
            <a:r>
              <a:rPr sz="1800" i="0">
                <a:solidFill>
                  <a:srgbClr val="E8EDF2"/>
                </a:solidFill>
                <a:latin typeface="Consolas"/>
              </a:rPr>
              <a:t>a</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s</a:t>
            </a:r>
            <a:r>
              <a:rPr sz="1800" i="0">
                <a:solidFill>
                  <a:srgbClr val="E8EDF2"/>
                </a:solidFill>
                <a:latin typeface="Consolas"/>
              </a:rPr>
              <a:t> </a:t>
            </a:r>
            <a:r>
              <a:rPr sz="1800" i="0">
                <a:solidFill>
                  <a:srgbClr val="AEB6BF"/>
                </a:solidFill>
                <a:latin typeface="Consolas"/>
              </a:rPr>
              <a:t>in</a:t>
            </a:r>
            <a:r>
              <a:rPr sz="1800" i="0">
                <a:solidFill>
                  <a:srgbClr val="E8EDF2"/>
                </a:solidFill>
                <a:latin typeface="Consolas"/>
              </a:rPr>
              <a:t> </a:t>
            </a:r>
            <a:r>
              <a:rPr sz="1800" i="0">
                <a:solidFill>
                  <a:srgbClr val="C39BD3"/>
                </a:solidFill>
                <a:latin typeface="Consolas"/>
              </a:rPr>
              <a:t>zip</a:t>
            </a:r>
            <a:r>
              <a:rPr sz="1800" i="0">
                <a:solidFill>
                  <a:srgbClr val="AEB6BF"/>
                </a:solidFill>
                <a:latin typeface="Consolas"/>
              </a:rPr>
              <a:t>(</a:t>
            </a:r>
            <a:r>
              <a:rPr sz="1800" i="0">
                <a:solidFill>
                  <a:srgbClr val="E8EDF2"/>
                </a:solidFill>
                <a:latin typeface="Consolas"/>
              </a:rPr>
              <a:t>grid</a:t>
            </a:r>
            <a:r>
              <a:rPr sz="1800" i="0">
                <a:solidFill>
                  <a:srgbClr val="AEB6BF"/>
                </a:solidFill>
                <a:latin typeface="Consolas"/>
              </a:rPr>
              <a:t>.</a:t>
            </a:r>
            <a:r>
              <a:rPr sz="1800" i="0">
                <a:solidFill>
                  <a:srgbClr val="E8EDF2"/>
                </a:solidFill>
                <a:latin typeface="Consolas"/>
              </a:rPr>
              <a:t>cv_results_</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param_ridge__alpha</a:t>
            </a:r>
            <a:r>
              <a:rPr sz="1800" i="0">
                <a:solidFill>
                  <a:srgbClr val="7DCEA0"/>
                </a:solidFill>
                <a:latin typeface="Consolas"/>
              </a:rPr>
              <a:t>"</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E8EDF2"/>
                </a:solidFill>
                <a:latin typeface="Consolas"/>
              </a:rPr>
              <a:t>grid</a:t>
            </a:r>
            <a:r>
              <a:rPr sz="1800" i="0">
                <a:solidFill>
                  <a:srgbClr val="AEB6BF"/>
                </a:solidFill>
                <a:latin typeface="Consolas"/>
              </a:rPr>
              <a:t>.</a:t>
            </a:r>
            <a:r>
              <a:rPr sz="1800" i="0">
                <a:solidFill>
                  <a:srgbClr val="E8EDF2"/>
                </a:solidFill>
                <a:latin typeface="Consolas"/>
              </a:rPr>
              <a:t>cv_results_</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mean_test_score</a:t>
            </a:r>
            <a:r>
              <a:rPr sz="1800" i="0">
                <a:solidFill>
                  <a:srgbClr val="7DCEA0"/>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C39BD3"/>
                </a:solidFill>
                <a:latin typeface="Consolas"/>
              </a:rPr>
              <a:t>print</a:t>
            </a:r>
            <a:r>
              <a:rPr sz="1800" i="0">
                <a:solidFill>
                  <a:srgbClr val="AEB6BF"/>
                </a:solidFill>
                <a:latin typeface="Consolas"/>
              </a:rPr>
              <a:t>(</a:t>
            </a:r>
            <a:r>
              <a:rPr sz="1800" i="0">
                <a:solidFill>
                  <a:srgbClr val="7DCEA0"/>
                </a:solidFill>
                <a:latin typeface="Consolas"/>
              </a:rPr>
              <a:t>f</a:t>
            </a:r>
            <a:r>
              <a:rPr sz="1800" i="0">
                <a:solidFill>
                  <a:srgbClr val="7DCEA0"/>
                </a:solidFill>
                <a:latin typeface="Consolas"/>
              </a:rPr>
              <a:t>"</a:t>
            </a:r>
            <a:r>
              <a:rPr sz="1800" i="0">
                <a:solidFill>
                  <a:srgbClr val="7DCEA0"/>
                </a:solidFill>
                <a:latin typeface="Consolas"/>
              </a:rPr>
              <a:t>alpha </a:t>
            </a:r>
            <a:r>
              <a:rPr sz="1800" i="0">
                <a:solidFill>
                  <a:srgbClr val="7DCEA0"/>
                </a:solidFill>
                <a:latin typeface="Consolas"/>
              </a:rPr>
              <a:t>{</a:t>
            </a:r>
            <a:r>
              <a:rPr sz="1800" i="0">
                <a:solidFill>
                  <a:srgbClr val="E8EDF2"/>
                </a:solidFill>
                <a:latin typeface="Consolas"/>
              </a:rPr>
              <a:t>a</a:t>
            </a:r>
            <a:r>
              <a:rPr sz="1800" i="0">
                <a:solidFill>
                  <a:srgbClr val="7DCEA0"/>
                </a:solidFill>
                <a:latin typeface="Consolas"/>
              </a:rPr>
              <a:t>:</a:t>
            </a:r>
            <a:r>
              <a:rPr sz="1800" i="0">
                <a:solidFill>
                  <a:srgbClr val="7DCEA0"/>
                </a:solidFill>
                <a:latin typeface="Consolas"/>
              </a:rPr>
              <a:t>&gt;8g</a:t>
            </a:r>
            <a:r>
              <a:rPr sz="1800" i="0">
                <a:solidFill>
                  <a:srgbClr val="7DCEA0"/>
                </a:solidFill>
                <a:latin typeface="Consolas"/>
              </a:rPr>
              <a:t>}</a:t>
            </a:r>
            <a:r>
              <a:rPr sz="1800" i="0">
                <a:solidFill>
                  <a:srgbClr val="7DCEA0"/>
                </a:solidFill>
                <a:latin typeface="Consolas"/>
              </a:rPr>
              <a:t>: CV RMSE </a:t>
            </a:r>
            <a:r>
              <a:rPr sz="1800" i="0">
                <a:solidFill>
                  <a:srgbClr val="7DCEA0"/>
                </a:solidFill>
                <a:latin typeface="Consolas"/>
              </a:rPr>
              <a:t>{</a:t>
            </a:r>
            <a:r>
              <a:rPr sz="1800" i="0">
                <a:solidFill>
                  <a:srgbClr val="AEB6BF"/>
                </a:solidFill>
                <a:latin typeface="Consolas"/>
              </a:rPr>
              <a:t>-</a:t>
            </a:r>
            <a:r>
              <a:rPr sz="1800" i="0">
                <a:solidFill>
                  <a:srgbClr val="E8EDF2"/>
                </a:solidFill>
                <a:latin typeface="Consolas"/>
              </a:rPr>
              <a:t>s</a:t>
            </a:r>
            <a:r>
              <a:rPr sz="1800" i="0">
                <a:solidFill>
                  <a:srgbClr val="7DCEA0"/>
                </a:solidFill>
                <a:latin typeface="Consolas"/>
              </a:rPr>
              <a:t>:</a:t>
            </a:r>
            <a:r>
              <a:rPr sz="1800" i="0">
                <a:solidFill>
                  <a:srgbClr val="7DCEA0"/>
                </a:solidFill>
                <a:latin typeface="Consolas"/>
              </a:rPr>
              <a:t>.3f</a:t>
            </a:r>
            <a:r>
              <a:rPr sz="1800" i="0">
                <a:solidFill>
                  <a:srgbClr val="7DCEA0"/>
                </a:solidFill>
                <a:latin typeface="Consolas"/>
              </a:rPr>
              <a:t>}</a:t>
            </a:r>
            <a:r>
              <a:rPr sz="1800" i="0">
                <a:solidFill>
                  <a:srgbClr val="7DCEA0"/>
                </a:solidFill>
                <a:latin typeface="Consolas"/>
              </a:rPr>
              <a:t>"</a:t>
            </a:r>
            <a:r>
              <a:rPr sz="1800" i="0">
                <a:solidFill>
                  <a:srgbClr val="AEB6BF"/>
                </a:solidFill>
                <a:latin typeface="Consolas"/>
              </a:rPr>
              <a:t>)</a:t>
            </a:r>
          </a:p>
          <a:p>
            <a:pPr>
              <a:lnSpc>
                <a:spcPct val="100000"/>
              </a:lnSpc>
              <a:spcAft>
                <a:spcPts val="0"/>
              </a:spcAft>
            </a:pPr>
            <a:r>
              <a:rPr sz="1800" i="0">
                <a:solidFill>
                  <a:srgbClr val="C39BD3"/>
                </a:solidFill>
                <a:latin typeface="Consolas"/>
              </a:rPr>
              <a:t>print</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chosen:</a:t>
            </a:r>
            <a:r>
              <a:rPr sz="1800" i="0">
                <a:solidFill>
                  <a:srgbClr val="7DCEA0"/>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grid</a:t>
            </a:r>
            <a:r>
              <a:rPr sz="1800" i="0">
                <a:solidFill>
                  <a:srgbClr val="AEB6BF"/>
                </a:solidFill>
                <a:latin typeface="Consolas"/>
              </a:rPr>
              <a:t>.</a:t>
            </a:r>
            <a:r>
              <a:rPr sz="1800" i="0">
                <a:solidFill>
                  <a:srgbClr val="E8EDF2"/>
                </a:solidFill>
                <a:latin typeface="Consolas"/>
              </a:rPr>
              <a:t>best_params_</a:t>
            </a:r>
            <a:r>
              <a:rPr sz="1800" i="0">
                <a:solidFill>
                  <a:srgbClr val="AEB6BF"/>
                </a:solidFill>
                <a:latin typeface="Consolas"/>
              </a:rPr>
              <a:t>)</a:t>
            </a:r>
          </a:p>
        </p:txBody>
      </p:sp>
      <p:sp>
        <p:nvSpPr>
          <p:cNvPr id="15" name="!!code-num"/>
          <p:cNvSpPr txBox="1"/>
          <p:nvPr/>
        </p:nvSpPr>
        <p:spPr>
          <a:xfrm>
            <a:off x="768096" y="2523744"/>
            <a:ext cx="393192" cy="2304287"/>
          </a:xfrm>
          <a:prstGeom prst="rect">
            <a:avLst/>
          </a:prstGeom>
          <a:noFill/>
        </p:spPr>
        <p:txBody>
          <a:bodyPr wrap="none" anchor="t" lIns="0" rIns="0" tIns="0" bIns="0">
            <a:noAutofit/>
          </a:bodyPr>
          <a:lstStyle/>
          <a:p>
            <a:pPr algn="r">
              <a:lnSpc>
                <a:spcPct val="100000"/>
              </a:lnSpc>
            </a:pPr>
            <a:r>
              <a:rPr sz="1800">
                <a:solidFill>
                  <a:srgbClr val="4F5D6A"/>
                </a:solidFill>
                <a:latin typeface="Consolas"/>
              </a:rPr>
              <a:t>28</a:t>
            </a:r>
          </a:p>
          <a:p>
            <a:pPr algn="r">
              <a:lnSpc>
                <a:spcPct val="100000"/>
              </a:lnSpc>
            </a:pPr>
            <a:r>
              <a:rPr sz="1800">
                <a:solidFill>
                  <a:srgbClr val="4F5D6A"/>
                </a:solidFill>
                <a:latin typeface="Consolas"/>
              </a:rPr>
              <a:t>29</a:t>
            </a:r>
          </a:p>
          <a:p>
            <a:pPr algn="r">
              <a:lnSpc>
                <a:spcPct val="100000"/>
              </a:lnSpc>
            </a:pPr>
            <a:r>
              <a:rPr sz="1800">
                <a:solidFill>
                  <a:srgbClr val="4F5D6A"/>
                </a:solidFill>
                <a:latin typeface="Consolas"/>
              </a:rPr>
              <a:t>30</a:t>
            </a:r>
          </a:p>
          <a:p>
            <a:pPr algn="r">
              <a:lnSpc>
                <a:spcPct val="100000"/>
              </a:lnSpc>
            </a:pPr>
            <a:r>
              <a:rPr sz="1800">
                <a:solidFill>
                  <a:srgbClr val="4F5D6A"/>
                </a:solidFill>
                <a:latin typeface="Consolas"/>
              </a:rPr>
              <a:t>31</a:t>
            </a:r>
          </a:p>
          <a:p>
            <a:pPr algn="r">
              <a:lnSpc>
                <a:spcPct val="100000"/>
              </a:lnSpc>
            </a:pPr>
            <a:r>
              <a:rPr sz="1800">
                <a:solidFill>
                  <a:srgbClr val="4F5D6A"/>
                </a:solidFill>
                <a:latin typeface="Consolas"/>
              </a:rPr>
              <a:t>32</a:t>
            </a:r>
          </a:p>
          <a:p>
            <a:pPr algn="r">
              <a:lnSpc>
                <a:spcPct val="100000"/>
              </a:lnSpc>
            </a:pPr>
            <a:r>
              <a:rPr sz="1800">
                <a:solidFill>
                  <a:srgbClr val="4F5D6A"/>
                </a:solidFill>
                <a:latin typeface="Consolas"/>
              </a:rPr>
              <a:t>33</a:t>
            </a:r>
          </a:p>
          <a:p>
            <a:pPr algn="r">
              <a:lnSpc>
                <a:spcPct val="100000"/>
              </a:lnSpc>
            </a:pPr>
            <a:r>
              <a:rPr sz="1800">
                <a:solidFill>
                  <a:srgbClr val="4F5D6A"/>
                </a:solidFill>
                <a:latin typeface="Consolas"/>
              </a:rPr>
              <a:t>34</a:t>
            </a:r>
          </a:p>
          <a:p>
            <a:pPr algn="r">
              <a:lnSpc>
                <a:spcPct val="100000"/>
              </a:lnSpc>
            </a:pPr>
            <a:r>
              <a:rPr sz="1800">
                <a:solidFill>
                  <a:srgbClr val="4F5D6A"/>
                </a:solidFill>
                <a:latin typeface="Consolas"/>
              </a:rPr>
              <a:t>35</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8708353"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Find the Bottom of the U</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5 OF 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7  ·  Overfitting, Bias–Variance and Regularisation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§7.7  ·  Handout p. 55     </a:t>
            </a:r>
            <a:fld id="{57E8BC99-20D9-41B3-907E-FDB2C0ECB68B}" type="slidenum">
              <a:rPr lang="en-GB" sz="1000">
                <a:solidFill>
                  <a:srgbClr val="8795A1"/>
                </a:solidFill>
                <a:latin typeface="Segoe UI"/>
              </a:rPr>
              <a:t>36</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Only now, once: the test set</a:t>
            </a:r>
          </a:p>
        </p:txBody>
      </p:sp>
      <p:sp>
        <p:nvSpPr>
          <p:cNvPr id="8" name="!!code-bg">
            <a:extLst>
              <a:ext uri="{C183D7F6-B498-43B3-948B-1728B52AA6E4}">
                <adec:decorative xmlns:adec="http://schemas.microsoft.com/office/drawing/2017/decorative" val="1"/>
              </a:ext>
            </a:extLst>
          </p:cNvPr>
          <p:cNvSpPr/>
          <p:nvPr/>
        </p:nvSpPr>
        <p:spPr>
          <a:xfrm>
            <a:off x="658368" y="2084831"/>
            <a:ext cx="10874959" cy="1426463"/>
          </a:xfrm>
          <a:prstGeom prst="roundRect">
            <a:avLst>
              <a:gd name="adj" fmla="val 6410"/>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code/ch07_find_bottom_u.py</a:t>
            </a:r>
          </a:p>
        </p:txBody>
      </p:sp>
      <p:sp>
        <p:nvSpPr>
          <p:cNvPr id="14" name="!!code-text" descr="# --- 3. only now, once: the test set ------------------------------------- pred = grid.predict(X_te) print(&quot;test RMSE:&quot;, round(float(np.sqrt(np.mean((pred - y_te) ** 2))), 3))"/>
          <p:cNvSpPr txBox="1"/>
          <p:nvPr/>
        </p:nvSpPr>
        <p:spPr>
          <a:xfrm>
            <a:off x="1362456" y="2523744"/>
            <a:ext cx="9987991" cy="932687"/>
          </a:xfrm>
          <a:prstGeom prst="rect">
            <a:avLst/>
          </a:prstGeom>
          <a:noFill/>
        </p:spPr>
        <p:txBody>
          <a:bodyPr wrap="none" anchor="t" lIns="0" rIns="0" tIns="0" bIns="0">
            <a:noAutofit/>
          </a:bodyPr>
          <a:lstStyle/>
          <a:p>
            <a:pPr>
              <a:lnSpc>
                <a:spcPct val="100000"/>
              </a:lnSpc>
              <a:spcAft>
                <a:spcPts val="0"/>
              </a:spcAft>
            </a:pPr>
            <a:r>
              <a:rPr sz="1800" i="1">
                <a:solidFill>
                  <a:srgbClr val="8795A1"/>
                </a:solidFill>
                <a:latin typeface="Consolas"/>
              </a:rPr>
              <a:t># --- 3. only now, once: the test set -------------------------------------</a:t>
            </a:r>
          </a:p>
          <a:p>
            <a:pPr>
              <a:lnSpc>
                <a:spcPct val="100000"/>
              </a:lnSpc>
              <a:spcAft>
                <a:spcPts val="0"/>
              </a:spcAft>
            </a:pPr>
            <a:r>
              <a:rPr sz="1800" i="0">
                <a:solidFill>
                  <a:srgbClr val="E8EDF2"/>
                </a:solidFill>
                <a:latin typeface="Consolas"/>
              </a:rPr>
              <a:t>pred</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grid</a:t>
            </a:r>
            <a:r>
              <a:rPr sz="1800" i="0">
                <a:solidFill>
                  <a:srgbClr val="AEB6BF"/>
                </a:solidFill>
                <a:latin typeface="Consolas"/>
              </a:rPr>
              <a:t>.</a:t>
            </a:r>
            <a:r>
              <a:rPr sz="1800" i="0">
                <a:solidFill>
                  <a:srgbClr val="E8EDF2"/>
                </a:solidFill>
                <a:latin typeface="Consolas"/>
              </a:rPr>
              <a:t>predict</a:t>
            </a:r>
            <a:r>
              <a:rPr sz="1800" i="0">
                <a:solidFill>
                  <a:srgbClr val="AEB6BF"/>
                </a:solidFill>
                <a:latin typeface="Consolas"/>
              </a:rPr>
              <a:t>(</a:t>
            </a:r>
            <a:r>
              <a:rPr sz="1800" i="0">
                <a:solidFill>
                  <a:srgbClr val="E8EDF2"/>
                </a:solidFill>
                <a:latin typeface="Consolas"/>
              </a:rPr>
              <a:t>X_te</a:t>
            </a:r>
            <a:r>
              <a:rPr sz="1800" i="0">
                <a:solidFill>
                  <a:srgbClr val="AEB6BF"/>
                </a:solidFill>
                <a:latin typeface="Consolas"/>
              </a:rPr>
              <a:t>)</a:t>
            </a:r>
          </a:p>
          <a:p>
            <a:pPr>
              <a:lnSpc>
                <a:spcPct val="100000"/>
              </a:lnSpc>
              <a:spcAft>
                <a:spcPts val="0"/>
              </a:spcAft>
            </a:pPr>
            <a:r>
              <a:rPr sz="1800" i="0">
                <a:solidFill>
                  <a:srgbClr val="C39BD3"/>
                </a:solidFill>
                <a:latin typeface="Consolas"/>
              </a:rPr>
              <a:t>print</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test RMSE:</a:t>
            </a:r>
            <a:r>
              <a:rPr sz="1800" i="0">
                <a:solidFill>
                  <a:srgbClr val="7DCEA0"/>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C39BD3"/>
                </a:solidFill>
                <a:latin typeface="Consolas"/>
              </a:rPr>
              <a:t>round</a:t>
            </a:r>
            <a:r>
              <a:rPr sz="1800" i="0">
                <a:solidFill>
                  <a:srgbClr val="AEB6BF"/>
                </a:solidFill>
                <a:latin typeface="Consolas"/>
              </a:rPr>
              <a:t>(</a:t>
            </a:r>
            <a:r>
              <a:rPr sz="1800" i="0">
                <a:solidFill>
                  <a:srgbClr val="C39BD3"/>
                </a:solidFill>
                <a:latin typeface="Consolas"/>
              </a:rPr>
              <a:t>float</a:t>
            </a:r>
            <a:r>
              <a:rPr sz="1800" i="0">
                <a:solidFill>
                  <a:srgbClr val="AEB6BF"/>
                </a:solidFill>
                <a:latin typeface="Consolas"/>
              </a:rPr>
              <a:t>(</a:t>
            </a:r>
            <a:r>
              <a:rPr sz="1800" i="0">
                <a:solidFill>
                  <a:srgbClr val="E8EDF2"/>
                </a:solidFill>
                <a:latin typeface="Consolas"/>
              </a:rPr>
              <a:t>np</a:t>
            </a:r>
            <a:r>
              <a:rPr sz="1800" i="0">
                <a:solidFill>
                  <a:srgbClr val="AEB6BF"/>
                </a:solidFill>
                <a:latin typeface="Consolas"/>
              </a:rPr>
              <a:t>.</a:t>
            </a:r>
            <a:r>
              <a:rPr sz="1800" i="0">
                <a:solidFill>
                  <a:srgbClr val="E8EDF2"/>
                </a:solidFill>
                <a:latin typeface="Consolas"/>
              </a:rPr>
              <a:t>sqrt</a:t>
            </a:r>
            <a:r>
              <a:rPr sz="1800" i="0">
                <a:solidFill>
                  <a:srgbClr val="AEB6BF"/>
                </a:solidFill>
                <a:latin typeface="Consolas"/>
              </a:rPr>
              <a:t>(</a:t>
            </a:r>
            <a:r>
              <a:rPr sz="1800" i="0">
                <a:solidFill>
                  <a:srgbClr val="E8EDF2"/>
                </a:solidFill>
                <a:latin typeface="Consolas"/>
              </a:rPr>
              <a:t>np</a:t>
            </a:r>
            <a:r>
              <a:rPr sz="1800" i="0">
                <a:solidFill>
                  <a:srgbClr val="AEB6BF"/>
                </a:solidFill>
                <a:latin typeface="Consolas"/>
              </a:rPr>
              <a:t>.</a:t>
            </a:r>
            <a:r>
              <a:rPr sz="1800" i="0">
                <a:solidFill>
                  <a:srgbClr val="E8EDF2"/>
                </a:solidFill>
                <a:latin typeface="Consolas"/>
              </a:rPr>
              <a:t>mean</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pred</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y_te</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2</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3</a:t>
            </a:r>
            <a:r>
              <a:rPr sz="1800" i="0">
                <a:solidFill>
                  <a:srgbClr val="AEB6BF"/>
                </a:solidFill>
                <a:latin typeface="Consolas"/>
              </a:rPr>
              <a:t>)</a:t>
            </a:r>
            <a:r>
              <a:rPr sz="1800" i="0">
                <a:solidFill>
                  <a:srgbClr val="AEB6BF"/>
                </a:solidFill>
                <a:latin typeface="Consolas"/>
              </a:rPr>
              <a:t>)</a:t>
            </a:r>
          </a:p>
        </p:txBody>
      </p:sp>
      <p:sp>
        <p:nvSpPr>
          <p:cNvPr id="15" name="!!code-num"/>
          <p:cNvSpPr txBox="1"/>
          <p:nvPr/>
        </p:nvSpPr>
        <p:spPr>
          <a:xfrm>
            <a:off x="768096" y="2523744"/>
            <a:ext cx="393192" cy="932687"/>
          </a:xfrm>
          <a:prstGeom prst="rect">
            <a:avLst/>
          </a:prstGeom>
          <a:noFill/>
        </p:spPr>
        <p:txBody>
          <a:bodyPr wrap="none" anchor="t" lIns="0" rIns="0" tIns="0" bIns="0">
            <a:noAutofit/>
          </a:bodyPr>
          <a:lstStyle/>
          <a:p>
            <a:pPr algn="r">
              <a:lnSpc>
                <a:spcPct val="100000"/>
              </a:lnSpc>
            </a:pPr>
            <a:r>
              <a:rPr sz="1800">
                <a:solidFill>
                  <a:srgbClr val="4F5D6A"/>
                </a:solidFill>
                <a:latin typeface="Consolas"/>
              </a:rPr>
              <a:t>37</a:t>
            </a:r>
          </a:p>
          <a:p>
            <a:pPr algn="r">
              <a:lnSpc>
                <a:spcPct val="100000"/>
              </a:lnSpc>
            </a:pPr>
            <a:r>
              <a:rPr sz="1800">
                <a:solidFill>
                  <a:srgbClr val="4F5D6A"/>
                </a:solidFill>
                <a:latin typeface="Consolas"/>
              </a:rPr>
              <a:t>38</a:t>
            </a:r>
          </a:p>
          <a:p>
            <a:pPr algn="r">
              <a:lnSpc>
                <a:spcPct val="100000"/>
              </a:lnSpc>
            </a:pPr>
            <a:r>
              <a:rPr sz="1800">
                <a:solidFill>
                  <a:srgbClr val="4F5D6A"/>
                </a:solidFill>
                <a:latin typeface="Consolas"/>
              </a:rPr>
              <a:t>39</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8957163"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the lab shows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TRY IT YOURSELF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7  ·  Overfitting, Bias–Variance and Regularisation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§7.7  ·  Handout p. 55     </a:t>
            </a:r>
            <a:fld id="{D2239D76-6FBF-4E45-A934-99C0E30BF989}" type="slidenum">
              <a:rPr lang="en-GB" sz="1000">
                <a:solidFill>
                  <a:srgbClr val="8795A1"/>
                </a:solidFill>
                <a:latin typeface="Segoe UI"/>
              </a:rPr>
              <a:t>37</a:t>
            </a:fld>
          </a:p>
        </p:txBody>
      </p:sp>
      <p:sp>
        <p:nvSpPr>
          <p:cNvPr id="7" name="!!card">
            <a:extLst>
              <a:ext uri="{C183D7F6-B498-43B3-948B-1728B52AA6E4}">
                <adec:decorative xmlns:adec="http://schemas.microsoft.com/office/drawing/2017/decorative" val="1"/>
              </a:ext>
            </a:extLst>
          </p:cNvPr>
          <p:cNvSpPr/>
          <p:nvPr/>
        </p:nvSpPr>
        <p:spPr>
          <a:xfrm>
            <a:off x="658368" y="1737360"/>
            <a:ext cx="10874959" cy="1350873"/>
          </a:xfrm>
          <a:prstGeom prst="roundRect">
            <a:avLst>
              <a:gd name="adj" fmla="val 6768"/>
            </a:avLst>
          </a:prstGeom>
          <a:solidFill>
            <a:srgbClr val="EEF6F4"/>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1350873"/>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774801"/>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scikit-learn calls </a:t>
            </a:r>
            <a:r>
              <a:rPr sz="2300" b="0" i="0">
                <a:solidFill>
                  <a:srgbClr val="1C252B"/>
                </a:solidFill>
                <a:latin typeface="Cambria"/>
              </a:rPr>
              <a:t>λ</a:t>
            </a:r>
            <a:r>
              <a:rPr sz="2300" b="0" i="0">
                <a:solidFill>
                  <a:srgbClr val="1C252B"/>
                </a:solidFill>
                <a:latin typeface="Segoe UI"/>
              </a:rPr>
              <a:t> </a:t>
            </a:r>
            <a:r>
              <a:rPr sz="2150" b="0" i="0">
                <a:solidFill>
                  <a:srgbClr val="1F4E79"/>
                </a:solidFill>
                <a:latin typeface="Consolas"/>
              </a:rPr>
              <a:t>alpha</a:t>
            </a:r>
            <a:r>
              <a:rPr sz="2300" b="0" i="0">
                <a:solidFill>
                  <a:srgbClr val="1C252B"/>
                </a:solidFill>
                <a:latin typeface="Segoe UI"/>
              </a:rPr>
              <a:t>. Change the 60 samples to 600 and run again: which degrees stop overfitting, and why?</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9205973"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A model has training RMSE 0.05 and validation RMSE 0.90. Is the problem bias or variance? Name two remedies.</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1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Machine Learning  ·  Chapter 7  ·  Overfitting, Bias–Variance and Regularisation</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58  ·  answers in Appendix D     </a:t>
            </a:r>
            <a:fld id="{96657EED-F186-47C6-BFD4-D1DFC0D790A2}" type="slidenum">
              <a:rPr lang="en-GB" sz="1000">
                <a:solidFill>
                  <a:srgbClr val="D5DEE5"/>
                </a:solidFill>
                <a:latin typeface="Segoe UI"/>
              </a:rPr>
              <a:t>38</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747979"/>
          </a:xfrm>
        </p:spPr>
        <p:txBody>
          <a:bodyPr wrap="square" lIns="0" rIns="0" tIns="0" bIns="0" anchor="t">
            <a:noAutofit/>
          </a:bodyPr>
          <a:lstStyle/>
          <a:p>
            <a:pPr algn="l">
              <a:lnSpc>
                <a:spcPct val="96000"/>
              </a:lnSpc>
            </a:pPr>
            <a:r>
              <a:rPr sz="2400" b="0" i="0">
                <a:solidFill>
                  <a:srgbClr val="1A5276"/>
                </a:solidFill>
                <a:latin typeface="Segoe UI Semibold"/>
              </a:rPr>
              <a:t>A model has training RMSE 0.05 and validation RMSE 0.90. Is the problem bias or variance? Name two remedies.</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1 OF 3  ·  ANSWER</a:t>
            </a:r>
          </a:p>
        </p:txBody>
      </p:sp>
      <p:sp>
        <p:nvSpPr>
          <p:cNvPr id="5" name="!!abar">
            <a:extLst>
              <a:ext uri="{C183D7F6-B498-43B3-948B-1728B52AA6E4}">
                <adec:decorative xmlns:adec="http://schemas.microsoft.com/office/drawing/2017/decorative" val="1"/>
              </a:ext>
            </a:extLst>
          </p:cNvPr>
          <p:cNvSpPr/>
          <p:nvPr/>
        </p:nvSpPr>
        <p:spPr>
          <a:xfrm>
            <a:off x="658368" y="1762963"/>
            <a:ext cx="64008" cy="697382"/>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1762963"/>
            <a:ext cx="10509199" cy="743102"/>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Variance (overfitting). Remedies: more data, stronger regularisation or a simpler model, fewer features, early stopping, an averaging ensemble.</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7  ·  Overfitting, Bias–Variance and Regularisation</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58  ·  answers in Appendix D     </a:t>
            </a:r>
            <a:fld id="{529681FA-717E-4695-A240-DF9BBD99FCDF}" type="slidenum">
              <a:rPr lang="en-GB" sz="1000">
                <a:solidFill>
                  <a:srgbClr val="8795A1"/>
                </a:solidFill>
                <a:latin typeface="Segoe UI"/>
              </a:rPr>
              <a:t>39</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9703594"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Ten models trained on different samples predict </a:t>
            </a:r>
            <a:r>
              <a:rPr sz="3400" b="0" i="0">
                <a:solidFill>
                  <a:srgbClr val="FFFFFF"/>
                </a:solidFill>
                <a:latin typeface="Cambria"/>
              </a:rPr>
              <a:t>2, 2, 2, 2, 2, 2, 2, 2, 2, 2</a:t>
            </a:r>
            <a:r>
              <a:rPr sz="3400" b="0" i="0">
                <a:solidFill>
                  <a:srgbClr val="FFFFFF"/>
                </a:solidFill>
                <a:latin typeface="Segoe UI Semibold"/>
              </a:rPr>
              <a:t> at a point whose true value is 3. Give the bias</a:t>
            </a:r>
            <a:r>
              <a:rPr sz="3400" b="0" i="0" baseline="30000">
                <a:solidFill>
                  <a:srgbClr val="FFFFFF"/>
                </a:solidFill>
                <a:latin typeface="Cambria"/>
              </a:rPr>
              <a:t>2</a:t>
            </a:r>
            <a:r>
              <a:rPr sz="3400" b="0" i="0">
                <a:solidFill>
                  <a:srgbClr val="FFFFFF"/>
                </a:solidFill>
                <a:latin typeface="Segoe UI Semibold"/>
              </a:rPr>
              <a:t> and the variance.</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2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Machine Learning  ·  Chapter 7  ·  Overfitting, Bias–Variance and Regularisation</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58  ·  answers in Appendix D     </a:t>
            </a:r>
            <a:fld id="{B250827B-39F3-44AB-9206-1D41EEBF685D}" type="slidenum">
              <a:rPr lang="en-GB" sz="1000">
                <a:solidFill>
                  <a:srgbClr val="D5DEE5"/>
                </a:solidFill>
                <a:latin typeface="Segoe UI"/>
              </a:rPr>
              <a:t>40</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747979"/>
          </a:xfrm>
        </p:spPr>
        <p:txBody>
          <a:bodyPr wrap="square" lIns="0" rIns="0" tIns="0" bIns="0" anchor="t">
            <a:noAutofit/>
          </a:bodyPr>
          <a:lstStyle/>
          <a:p>
            <a:pPr algn="l">
              <a:lnSpc>
                <a:spcPct val="96000"/>
              </a:lnSpc>
            </a:pPr>
            <a:r>
              <a:rPr sz="2400" b="0" i="0">
                <a:solidFill>
                  <a:srgbClr val="1A5276"/>
                </a:solidFill>
                <a:latin typeface="Segoe UI Semibold"/>
              </a:rPr>
              <a:t>Ten models trained on different samples predict </a:t>
            </a:r>
            <a:r>
              <a:rPr sz="2400" b="0" i="0">
                <a:solidFill>
                  <a:srgbClr val="1A5276"/>
                </a:solidFill>
                <a:latin typeface="Cambria"/>
              </a:rPr>
              <a:t>2, 2, 2, 2, 2, 2, 2, 2, 2, 2</a:t>
            </a:r>
            <a:r>
              <a:rPr sz="2400" b="0" i="0">
                <a:solidFill>
                  <a:srgbClr val="1A5276"/>
                </a:solidFill>
                <a:latin typeface="Segoe UI Semibold"/>
              </a:rPr>
              <a:t> at a point whose true value is 3. Give the bias</a:t>
            </a:r>
            <a:r>
              <a:rPr sz="2400" b="0" i="0" baseline="30000">
                <a:solidFill>
                  <a:srgbClr val="1A5276"/>
                </a:solidFill>
                <a:latin typeface="Cambria"/>
              </a:rPr>
              <a:t>2</a:t>
            </a:r>
            <a:r>
              <a:rPr sz="2400" b="0" i="0">
                <a:solidFill>
                  <a:srgbClr val="1A5276"/>
                </a:solidFill>
                <a:latin typeface="Segoe UI Semibold"/>
              </a:rPr>
              <a:t> and the variance.</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2 OF 3  ·  ANSWER</a:t>
            </a:r>
          </a:p>
        </p:txBody>
      </p:sp>
      <p:sp>
        <p:nvSpPr>
          <p:cNvPr id="5" name="!!abar">
            <a:extLst>
              <a:ext uri="{C183D7F6-B498-43B3-948B-1728B52AA6E4}">
                <adec:decorative xmlns:adec="http://schemas.microsoft.com/office/drawing/2017/decorative" val="1"/>
              </a:ext>
            </a:extLst>
          </p:cNvPr>
          <p:cNvSpPr/>
          <p:nvPr/>
        </p:nvSpPr>
        <p:spPr>
          <a:xfrm>
            <a:off x="658368" y="1762963"/>
            <a:ext cx="64008" cy="348691"/>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1762963"/>
            <a:ext cx="10509199" cy="394411"/>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Bias</a:t>
            </a:r>
            <a:r>
              <a:rPr sz="2200" b="0" i="0" baseline="30000">
                <a:solidFill>
                  <a:srgbClr val="1C252B"/>
                </a:solidFill>
                <a:latin typeface="Cambria"/>
              </a:rPr>
              <a:t>2</a:t>
            </a:r>
            <a:r>
              <a:rPr sz="2200" b="0" i="0">
                <a:solidFill>
                  <a:srgbClr val="1C252B"/>
                </a:solidFill>
                <a:latin typeface="Cambria"/>
              </a:rPr>
              <a:t> = (2 − 3)</a:t>
            </a:r>
            <a:r>
              <a:rPr sz="2200" b="0" i="0" baseline="30000">
                <a:solidFill>
                  <a:srgbClr val="1C252B"/>
                </a:solidFill>
                <a:latin typeface="Cambria"/>
              </a:rPr>
              <a:t>2</a:t>
            </a:r>
            <a:r>
              <a:rPr sz="2200" b="0" i="0">
                <a:solidFill>
                  <a:srgbClr val="1C252B"/>
                </a:solidFill>
                <a:latin typeface="Cambria"/>
              </a:rPr>
              <a:t> = 1</a:t>
            </a:r>
            <a:r>
              <a:rPr sz="2200" b="0" i="0">
                <a:solidFill>
                  <a:srgbClr val="1C252B"/>
                </a:solidFill>
                <a:latin typeface="Segoe UI"/>
              </a:rPr>
              <a:t>. Variance </a:t>
            </a:r>
            <a:r>
              <a:rPr sz="2200" b="0" i="0">
                <a:solidFill>
                  <a:srgbClr val="1C252B"/>
                </a:solidFill>
                <a:latin typeface="Cambria"/>
              </a:rPr>
              <a:t>= 0</a:t>
            </a:r>
            <a:r>
              <a:rPr sz="2200" b="0" i="0">
                <a:solidFill>
                  <a:srgbClr val="1C252B"/>
                </a:solidFill>
                <a:latin typeface="Segoe UI"/>
              </a:rPr>
              <a:t>: every prediction is identical.</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7  ·  Overfitting, Bias–Variance and Regularisation</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58  ·  answers in Appendix D     </a:t>
            </a:r>
            <a:fld id="{02F25029-9816-4F47-BC0C-F4602B56B0D3}" type="slidenum">
              <a:rPr lang="en-GB" sz="1000">
                <a:solidFill>
                  <a:srgbClr val="8795A1"/>
                </a:solidFill>
                <a:latin typeface="Segoe UI"/>
              </a:rPr>
              <a:t>41</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10201214"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Why does lasso, but not ridge, perform feature selection?</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3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Machine Learning  ·  Chapter 7  ·  Overfitting, Bias–Variance and Regularisation</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58  ·  answers in Appendix D     </a:t>
            </a:r>
            <a:fld id="{13FCBB4A-CC06-4531-953C-3881C67A4976}" type="slidenum">
              <a:rPr lang="en-GB" sz="1000">
                <a:solidFill>
                  <a:srgbClr val="D5DEE5"/>
                </a:solidFill>
                <a:latin typeface="Segoe UI"/>
              </a:rPr>
              <a:t>42</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457200"/>
          </a:xfrm>
        </p:spPr>
        <p:txBody>
          <a:bodyPr wrap="square" lIns="0" rIns="0" tIns="0" bIns="0" anchor="t">
            <a:noAutofit/>
          </a:bodyPr>
          <a:lstStyle/>
          <a:p>
            <a:pPr algn="l">
              <a:lnSpc>
                <a:spcPct val="96000"/>
              </a:lnSpc>
            </a:pPr>
            <a:r>
              <a:rPr sz="2400" b="0" i="0">
                <a:solidFill>
                  <a:srgbClr val="1A5276"/>
                </a:solidFill>
                <a:latin typeface="Segoe UI Semibold"/>
              </a:rPr>
              <a:t>Why does lasso, but not ridge, perform feature selection?</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3 OF 3  ·  ANSWER</a:t>
            </a:r>
          </a:p>
        </p:txBody>
      </p:sp>
      <p:sp>
        <p:nvSpPr>
          <p:cNvPr id="5" name="!!abar">
            <a:extLst>
              <a:ext uri="{C183D7F6-B498-43B3-948B-1728B52AA6E4}">
                <adec:decorative xmlns:adec="http://schemas.microsoft.com/office/drawing/2017/decorative" val="1"/>
              </a:ext>
            </a:extLst>
          </p:cNvPr>
          <p:cNvSpPr/>
          <p:nvPr/>
        </p:nvSpPr>
        <p:spPr>
          <a:xfrm>
            <a:off x="658368" y="1411833"/>
            <a:ext cx="64008" cy="1046073"/>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1411833"/>
            <a:ext cx="10509199" cy="1091793"/>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The L1 constraint region is a diamond with corners on the axes; the error contours usually first touch it at a corner, where some weights are exactly zero. The L2 region is a circle with no corners, so weights shrink but rarely reach zero.</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7  ·  Overfitting, Bias–Variance and Regularisation</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58  ·  answers in Appendix D     </a:t>
            </a:r>
            <a:fld id="{448976E3-9986-4571-BD9A-4EC54CF98324}" type="slidenum">
              <a:rPr lang="en-GB" sz="1000">
                <a:solidFill>
                  <a:srgbClr val="8795A1"/>
                </a:solidFill>
                <a:latin typeface="Segoe UI"/>
              </a:rPr>
              <a:t>43</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10698834"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to take away</a:t>
            </a:r>
          </a:p>
        </p:txBody>
      </p:sp>
      <p:pic>
        <p:nvPicPr>
          <p:cNvPr id="3" name="!!kicker-icon" descr="clipboard-check-15425E.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6683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5425E"/>
                </a:solidFill>
                <a:latin typeface="Segoe UI"/>
              </a:rPr>
              <a:t>CHAPTER SUMMARY</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7  ·  Overfitting, Bias–Variance and Regularisation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58     </a:t>
            </a:r>
            <a:fld id="{88B6F2F9-3459-4B4D-8141-33F91ECFA6FD}" type="slidenum">
              <a:rPr lang="en-GB" sz="1000">
                <a:solidFill>
                  <a:srgbClr val="8795A1"/>
                </a:solidFill>
                <a:latin typeface="Segoe UI"/>
              </a:rPr>
              <a:t>44</a:t>
            </a:fld>
          </a:p>
        </p:txBody>
      </p:sp>
      <p:sp>
        <p:nvSpPr>
          <p:cNvPr id="7" name="!!sb0">
            <a:extLst>
              <a:ext uri="{C183D7F6-B498-43B3-948B-1728B52AA6E4}">
                <adec:decorative xmlns:adec="http://schemas.microsoft.com/office/drawing/2017/decorative" val="1"/>
              </a:ext>
            </a:extLst>
          </p:cNvPr>
          <p:cNvSpPr/>
          <p:nvPr/>
        </p:nvSpPr>
        <p:spPr>
          <a:xfrm>
            <a:off x="658368" y="1746504"/>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sbn0"/>
          <p:cNvSpPr txBox="1"/>
          <p:nvPr/>
        </p:nvSpPr>
        <p:spPr>
          <a:xfrm>
            <a:off x="658368" y="1801368"/>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1</a:t>
            </a:r>
          </a:p>
        </p:txBody>
      </p:sp>
      <p:sp>
        <p:nvSpPr>
          <p:cNvPr id="9" name="!!st0"/>
          <p:cNvSpPr txBox="1"/>
          <p:nvPr/>
        </p:nvSpPr>
        <p:spPr>
          <a:xfrm>
            <a:off x="1298448" y="1737360"/>
            <a:ext cx="10234879" cy="402336"/>
          </a:xfrm>
          <a:prstGeom prst="rect">
            <a:avLst/>
          </a:prstGeom>
          <a:noFill/>
        </p:spPr>
        <p:txBody>
          <a:bodyPr wrap="square" anchor="t" lIns="0" rIns="0" tIns="0" bIns="0">
            <a:noAutofit/>
          </a:bodyPr>
          <a:lstStyle/>
          <a:p>
            <a:pPr algn="l">
              <a:lnSpc>
                <a:spcPct val="104000"/>
              </a:lnSpc>
              <a:spcBef>
                <a:spcPts val="0"/>
              </a:spcBef>
              <a:spcAft>
                <a:spcPts val="0"/>
              </a:spcAft>
            </a:pPr>
            <a:r>
              <a:rPr sz="2000" b="0" i="0">
                <a:solidFill>
                  <a:srgbClr val="1C252B"/>
                </a:solidFill>
                <a:latin typeface="Segoe UI"/>
              </a:rPr>
              <a:t>Training error is optimistic; generalisation is judged on unseen data.</a:t>
            </a:r>
          </a:p>
        </p:txBody>
      </p:sp>
      <p:sp>
        <p:nvSpPr>
          <p:cNvPr id="10" name="!!sb1">
            <a:extLst>
              <a:ext uri="{C183D7F6-B498-43B3-948B-1728B52AA6E4}">
                <adec:decorative xmlns:adec="http://schemas.microsoft.com/office/drawing/2017/decorative" val="1"/>
              </a:ext>
            </a:extLst>
          </p:cNvPr>
          <p:cNvSpPr/>
          <p:nvPr/>
        </p:nvSpPr>
        <p:spPr>
          <a:xfrm>
            <a:off x="658368" y="2331720"/>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sbn1"/>
          <p:cNvSpPr txBox="1"/>
          <p:nvPr/>
        </p:nvSpPr>
        <p:spPr>
          <a:xfrm>
            <a:off x="658368" y="2386584"/>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2</a:t>
            </a:r>
          </a:p>
        </p:txBody>
      </p:sp>
      <p:sp>
        <p:nvSpPr>
          <p:cNvPr id="12" name="!!st1"/>
          <p:cNvSpPr txBox="1"/>
          <p:nvPr/>
        </p:nvSpPr>
        <p:spPr>
          <a:xfrm>
            <a:off x="1298448" y="2322576"/>
            <a:ext cx="10234879" cy="633984"/>
          </a:xfrm>
          <a:prstGeom prst="rect">
            <a:avLst/>
          </a:prstGeom>
          <a:noFill/>
        </p:spPr>
        <p:txBody>
          <a:bodyPr wrap="square" anchor="t" lIns="0" rIns="0" tIns="0" bIns="0">
            <a:noAutofit/>
          </a:bodyPr>
          <a:lstStyle/>
          <a:p>
            <a:pPr algn="l">
              <a:lnSpc>
                <a:spcPct val="104000"/>
              </a:lnSpc>
              <a:spcBef>
                <a:spcPts val="0"/>
              </a:spcBef>
              <a:spcAft>
                <a:spcPts val="0"/>
              </a:spcAft>
            </a:pPr>
            <a:r>
              <a:rPr sz="2000" b="0" i="0">
                <a:solidFill>
                  <a:srgbClr val="1C252B"/>
                </a:solidFill>
                <a:latin typeface="Segoe UI"/>
              </a:rPr>
              <a:t>Underfitting: both errors high. Overfitting: training error low, test error high. Test error is U-shaped in model complexity.</a:t>
            </a:r>
          </a:p>
        </p:txBody>
      </p:sp>
      <p:sp>
        <p:nvSpPr>
          <p:cNvPr id="13" name="!!sb2">
            <a:extLst>
              <a:ext uri="{C183D7F6-B498-43B3-948B-1728B52AA6E4}">
                <adec:decorative xmlns:adec="http://schemas.microsoft.com/office/drawing/2017/decorative" val="1"/>
              </a:ext>
            </a:extLst>
          </p:cNvPr>
          <p:cNvSpPr/>
          <p:nvPr/>
        </p:nvSpPr>
        <p:spPr>
          <a:xfrm>
            <a:off x="658368" y="3148584"/>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sbn2"/>
          <p:cNvSpPr txBox="1"/>
          <p:nvPr/>
        </p:nvSpPr>
        <p:spPr>
          <a:xfrm>
            <a:off x="658368" y="3203448"/>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3</a:t>
            </a:r>
          </a:p>
        </p:txBody>
      </p:sp>
      <p:sp>
        <p:nvSpPr>
          <p:cNvPr id="15" name="!!st2"/>
          <p:cNvSpPr txBox="1"/>
          <p:nvPr/>
        </p:nvSpPr>
        <p:spPr>
          <a:xfrm>
            <a:off x="1298448" y="3139440"/>
            <a:ext cx="10234879" cy="633984"/>
          </a:xfrm>
          <a:prstGeom prst="rect">
            <a:avLst/>
          </a:prstGeom>
          <a:noFill/>
        </p:spPr>
        <p:txBody>
          <a:bodyPr wrap="square" anchor="t" lIns="0" rIns="0" tIns="0" bIns="0">
            <a:noAutofit/>
          </a:bodyPr>
          <a:lstStyle/>
          <a:p>
            <a:pPr algn="l">
              <a:lnSpc>
                <a:spcPct val="104000"/>
              </a:lnSpc>
              <a:spcBef>
                <a:spcPts val="0"/>
              </a:spcBef>
              <a:spcAft>
                <a:spcPts val="0"/>
              </a:spcAft>
            </a:pPr>
            <a:r>
              <a:rPr sz="2000" b="0" i="0">
                <a:solidFill>
                  <a:srgbClr val="1C252B"/>
                </a:solidFill>
                <a:latin typeface="Segoe UI"/>
              </a:rPr>
              <a:t>Expected error </a:t>
            </a:r>
            <a:r>
              <a:rPr sz="2000" b="0" i="0">
                <a:solidFill>
                  <a:srgbClr val="1C252B"/>
                </a:solidFill>
                <a:latin typeface="Cambria"/>
              </a:rPr>
              <a:t>=</a:t>
            </a:r>
            <a:r>
              <a:rPr sz="2000" b="0" i="0">
                <a:solidFill>
                  <a:srgbClr val="1C252B"/>
                </a:solidFill>
                <a:latin typeface="Segoe UI"/>
              </a:rPr>
              <a:t> bias</a:t>
            </a:r>
            <a:r>
              <a:rPr sz="2000" b="0" i="0" baseline="30000">
                <a:solidFill>
                  <a:srgbClr val="1C252B"/>
                </a:solidFill>
                <a:latin typeface="Cambria"/>
              </a:rPr>
              <a:t>2</a:t>
            </a:r>
            <a:r>
              <a:rPr sz="2000" b="0" i="0">
                <a:solidFill>
                  <a:srgbClr val="1C252B"/>
                </a:solidFill>
                <a:latin typeface="Segoe UI"/>
              </a:rPr>
              <a:t> </a:t>
            </a:r>
            <a:r>
              <a:rPr sz="2000" b="0" i="0">
                <a:solidFill>
                  <a:srgbClr val="1C252B"/>
                </a:solidFill>
                <a:latin typeface="Cambria"/>
              </a:rPr>
              <a:t>+</a:t>
            </a:r>
            <a:r>
              <a:rPr sz="2000" b="0" i="0">
                <a:solidFill>
                  <a:srgbClr val="1C252B"/>
                </a:solidFill>
                <a:latin typeface="Segoe UI"/>
              </a:rPr>
              <a:t> variance </a:t>
            </a:r>
            <a:r>
              <a:rPr sz="2000" b="0" i="0">
                <a:solidFill>
                  <a:srgbClr val="1C252B"/>
                </a:solidFill>
                <a:latin typeface="Cambria"/>
              </a:rPr>
              <a:t>+</a:t>
            </a:r>
            <a:r>
              <a:rPr sz="2000" b="0" i="0">
                <a:solidFill>
                  <a:srgbClr val="1C252B"/>
                </a:solidFill>
                <a:latin typeface="Segoe UI"/>
              </a:rPr>
              <a:t> noise. Flexibility trades bias for variance; noise is a floor no model can go below.</a:t>
            </a:r>
          </a:p>
        </p:txBody>
      </p:sp>
      <p:sp>
        <p:nvSpPr>
          <p:cNvPr id="16" name="!!sb3">
            <a:extLst>
              <a:ext uri="{C183D7F6-B498-43B3-948B-1728B52AA6E4}">
                <adec:decorative xmlns:adec="http://schemas.microsoft.com/office/drawing/2017/decorative" val="1"/>
              </a:ext>
            </a:extLst>
          </p:cNvPr>
          <p:cNvSpPr/>
          <p:nvPr/>
        </p:nvSpPr>
        <p:spPr>
          <a:xfrm>
            <a:off x="658368" y="3965448"/>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sbn3"/>
          <p:cNvSpPr txBox="1"/>
          <p:nvPr/>
        </p:nvSpPr>
        <p:spPr>
          <a:xfrm>
            <a:off x="658368" y="4020312"/>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4</a:t>
            </a:r>
          </a:p>
        </p:txBody>
      </p:sp>
      <p:sp>
        <p:nvSpPr>
          <p:cNvPr id="18" name="!!st3"/>
          <p:cNvSpPr txBox="1"/>
          <p:nvPr/>
        </p:nvSpPr>
        <p:spPr>
          <a:xfrm>
            <a:off x="1298448" y="3956304"/>
            <a:ext cx="10234879" cy="633984"/>
          </a:xfrm>
          <a:prstGeom prst="rect">
            <a:avLst/>
          </a:prstGeom>
          <a:noFill/>
        </p:spPr>
        <p:txBody>
          <a:bodyPr wrap="square" anchor="t" lIns="0" rIns="0" tIns="0" bIns="0">
            <a:noAutofit/>
          </a:bodyPr>
          <a:lstStyle/>
          <a:p>
            <a:pPr algn="l">
              <a:lnSpc>
                <a:spcPct val="104000"/>
              </a:lnSpc>
              <a:spcBef>
                <a:spcPts val="0"/>
              </a:spcBef>
              <a:spcAft>
                <a:spcPts val="0"/>
              </a:spcAft>
            </a:pPr>
            <a:r>
              <a:rPr sz="2000" b="0" i="0">
                <a:solidFill>
                  <a:srgbClr val="1C252B"/>
                </a:solidFill>
                <a:latin typeface="Segoe UI"/>
              </a:rPr>
              <a:t>Learning curves diagnose the problem: converged and high means bias; a wide, closing gap means variance.</a:t>
            </a:r>
          </a:p>
        </p:txBody>
      </p:sp>
      <p:sp>
        <p:nvSpPr>
          <p:cNvPr id="19" name="!!sb4">
            <a:extLst>
              <a:ext uri="{C183D7F6-B498-43B3-948B-1728B52AA6E4}">
                <adec:decorative xmlns:adec="http://schemas.microsoft.com/office/drawing/2017/decorative" val="1"/>
              </a:ext>
            </a:extLst>
          </p:cNvPr>
          <p:cNvSpPr/>
          <p:nvPr/>
        </p:nvSpPr>
        <p:spPr>
          <a:xfrm>
            <a:off x="658368" y="4782312"/>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sbn4"/>
          <p:cNvSpPr txBox="1"/>
          <p:nvPr/>
        </p:nvSpPr>
        <p:spPr>
          <a:xfrm>
            <a:off x="658368" y="4837176"/>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5</a:t>
            </a:r>
          </a:p>
        </p:txBody>
      </p:sp>
      <p:sp>
        <p:nvSpPr>
          <p:cNvPr id="21" name="!!st4"/>
          <p:cNvSpPr txBox="1"/>
          <p:nvPr/>
        </p:nvSpPr>
        <p:spPr>
          <a:xfrm>
            <a:off x="1298448" y="4773168"/>
            <a:ext cx="10234879" cy="633984"/>
          </a:xfrm>
          <a:prstGeom prst="rect">
            <a:avLst/>
          </a:prstGeom>
          <a:noFill/>
        </p:spPr>
        <p:txBody>
          <a:bodyPr wrap="square" anchor="t" lIns="0" rIns="0" tIns="0" bIns="0">
            <a:noAutofit/>
          </a:bodyPr>
          <a:lstStyle/>
          <a:p>
            <a:pPr algn="l">
              <a:lnSpc>
                <a:spcPct val="104000"/>
              </a:lnSpc>
              <a:spcBef>
                <a:spcPts val="0"/>
              </a:spcBef>
              <a:spcAft>
                <a:spcPts val="0"/>
              </a:spcAft>
            </a:pPr>
            <a:r>
              <a:rPr sz="2000" b="0" i="0">
                <a:solidFill>
                  <a:srgbClr val="1C252B"/>
                </a:solidFill>
                <a:latin typeface="Segoe UI"/>
              </a:rPr>
              <a:t>Ridge (L2) shrinks weights; lasso (L1) also sets some to zero. The penalty strength is a hyperparameter.</a:t>
            </a:r>
          </a:p>
        </p:txBody>
      </p:sp>
      <p:sp>
        <p:nvSpPr>
          <p:cNvPr id="22" name="!!sb5">
            <a:extLst>
              <a:ext uri="{C183D7F6-B498-43B3-948B-1728B52AA6E4}">
                <adec:decorative xmlns:adec="http://schemas.microsoft.com/office/drawing/2017/decorative" val="1"/>
              </a:ext>
            </a:extLst>
          </p:cNvPr>
          <p:cNvSpPr/>
          <p:nvPr/>
        </p:nvSpPr>
        <p:spPr>
          <a:xfrm>
            <a:off x="658368" y="5599176"/>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sbn5"/>
          <p:cNvSpPr txBox="1"/>
          <p:nvPr/>
        </p:nvSpPr>
        <p:spPr>
          <a:xfrm>
            <a:off x="658368" y="5654040"/>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6</a:t>
            </a:r>
          </a:p>
        </p:txBody>
      </p:sp>
      <p:sp>
        <p:nvSpPr>
          <p:cNvPr id="24" name="!!st5"/>
          <p:cNvSpPr txBox="1"/>
          <p:nvPr/>
        </p:nvSpPr>
        <p:spPr>
          <a:xfrm>
            <a:off x="1298448" y="5590032"/>
            <a:ext cx="10234879" cy="633984"/>
          </a:xfrm>
          <a:prstGeom prst="rect">
            <a:avLst/>
          </a:prstGeom>
          <a:noFill/>
        </p:spPr>
        <p:txBody>
          <a:bodyPr wrap="square" anchor="t" lIns="0" rIns="0" tIns="0" bIns="0">
            <a:noAutofit/>
          </a:bodyPr>
          <a:lstStyle/>
          <a:p>
            <a:pPr algn="l">
              <a:lnSpc>
                <a:spcPct val="104000"/>
              </a:lnSpc>
              <a:spcBef>
                <a:spcPts val="0"/>
              </a:spcBef>
              <a:spcAft>
                <a:spcPts val="0"/>
              </a:spcAft>
            </a:pPr>
            <a:r>
              <a:rPr sz="2000" b="0" i="0">
                <a:solidFill>
                  <a:srgbClr val="1C252B"/>
                </a:solidFill>
                <a:latin typeface="Segoe UI"/>
              </a:rPr>
              <a:t>Choose hyperparameters by </a:t>
            </a:r>
            <a:r>
              <a:rPr sz="2000" b="0" i="1">
                <a:solidFill>
                  <a:srgbClr val="1C252B"/>
                </a:solidFill>
                <a:latin typeface="Cambria"/>
              </a:rPr>
              <a:t>k</a:t>
            </a:r>
            <a:r>
              <a:rPr sz="2000" b="0" i="0">
                <a:solidFill>
                  <a:srgbClr val="1C252B"/>
                </a:solidFill>
                <a:latin typeface="Segoe UI"/>
              </a:rPr>
              <a:t>-fold cross-validation on the training data, refit, then test once.</a:t>
            </a:r>
          </a:p>
        </p:txBody>
      </p:sp>
      <p:sp>
        <p:nvSpPr>
          <p:cNvPr id="7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1" name="!!pfill">
            <a:extLst>
              <a:ext uri="{C183D7F6-B498-43B3-948B-1728B52AA6E4}">
                <adec:decorative xmlns:adec="http://schemas.microsoft.com/office/drawing/2017/decorative" val="1"/>
              </a:ext>
            </a:extLst>
          </p:cNvPr>
          <p:cNvSpPr/>
          <p:nvPr/>
        </p:nvSpPr>
        <p:spPr>
          <a:xfrm>
            <a:off x="0" y="0"/>
            <a:ext cx="10947644"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zoom(in)">
                                      <p:cBhvr>
                                        <p:cTn id="8" dur="260"/>
                                        <p:tgtEl>
                                          <p:spTgt spid="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260"/>
                                        <p:tgtEl>
                                          <p:spTgt spid="8"/>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wipe(right)">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zoom(in)">
                                      <p:cBhvr>
                                        <p:cTn id="19" dur="26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260"/>
                                        <p:tgtEl>
                                          <p:spTgt spid="11"/>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right)">
                                      <p:cBhvr>
                                        <p:cTn id="25" dur="400"/>
                                        <p:tgtEl>
                                          <p:spTgt spid="12"/>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zoom(in)">
                                      <p:cBhvr>
                                        <p:cTn id="30" dur="260"/>
                                        <p:tgtEl>
                                          <p:spTgt spid="1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260"/>
                                        <p:tgtEl>
                                          <p:spTgt spid="14"/>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wipe(right)">
                                      <p:cBhvr>
                                        <p:cTn id="36" dur="400"/>
                                        <p:tgtEl>
                                          <p:spTgt spid="15"/>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zoom(in)">
                                      <p:cBhvr>
                                        <p:cTn id="41" dur="260"/>
                                        <p:tgtEl>
                                          <p:spTgt spid="1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7"/>
                                        </p:tgtEl>
                                        <p:attrNameLst>
                                          <p:attrName>style.visibility</p:attrName>
                                        </p:attrNameLst>
                                      </p:cBhvr>
                                      <p:to>
                                        <p:strVal val="visible"/>
                                      </p:to>
                                    </p:set>
                                    <p:animEffect transition="in" filter="fade">
                                      <p:cBhvr>
                                        <p:cTn id="44" dur="260"/>
                                        <p:tgtEl>
                                          <p:spTgt spid="17"/>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8"/>
                                        </p:tgtEl>
                                        <p:attrNameLst>
                                          <p:attrName>style.visibility</p:attrName>
                                        </p:attrNameLst>
                                      </p:cBhvr>
                                      <p:to>
                                        <p:strVal val="visible"/>
                                      </p:to>
                                    </p:set>
                                    <p:animEffect transition="in" filter="wipe(right)">
                                      <p:cBhvr>
                                        <p:cTn id="47" dur="400"/>
                                        <p:tgtEl>
                                          <p:spTgt spid="18"/>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zoom(in)">
                                      <p:cBhvr>
                                        <p:cTn id="52" dur="26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260"/>
                                        <p:tgtEl>
                                          <p:spTgt spid="20"/>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wipe(right)">
                                      <p:cBhvr>
                                        <p:cTn id="58" dur="400"/>
                                        <p:tgtEl>
                                          <p:spTgt spid="21"/>
                                        </p:tgtEl>
                                      </p:cBhvr>
                                    </p:animEffect>
                                  </p:childTnLst>
                                </p:cTn>
                              </p:par>
                            </p:childTnLst>
                          </p:cTn>
                        </p:par>
                      </p:childTnLst>
                    </p:cTn>
                  </p:par>
                  <p:par>
                    <p:cTn id="59" fill="hold">
                      <p:stCondLst>
                        <p:cond delay="indefinite"/>
                      </p:stCondLst>
                      <p:childTnLst>
                        <p:par>
                          <p:cTn id="60" fill="hold">
                            <p:stCondLst>
                              <p:cond delay="0"/>
                            </p:stCondLst>
                            <p:childTnLst>
                              <p:par>
                                <p:cTn id="61" presetID="23" presetClass="entr" presetSubtype="16" fill="hold" grpId="0" nodeType="clickEffect">
                                  <p:stCondLst>
                                    <p:cond delay="0"/>
                                  </p:stCondLst>
                                  <p:childTnLst>
                                    <p:set>
                                      <p:cBhvr>
                                        <p:cTn id="62" dur="1" fill="hold">
                                          <p:stCondLst>
                                            <p:cond delay="0"/>
                                          </p:stCondLst>
                                        </p:cTn>
                                        <p:tgtEl>
                                          <p:spTgt spid="22"/>
                                        </p:tgtEl>
                                        <p:attrNameLst>
                                          <p:attrName>style.visibility</p:attrName>
                                        </p:attrNameLst>
                                      </p:cBhvr>
                                      <p:to>
                                        <p:strVal val="visible"/>
                                      </p:to>
                                    </p:set>
                                    <p:animEffect transition="in" filter="zoom(in)">
                                      <p:cBhvr>
                                        <p:cTn id="63" dur="260"/>
                                        <p:tgtEl>
                                          <p:spTgt spid="22"/>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fade">
                                      <p:cBhvr>
                                        <p:cTn id="66" dur="260"/>
                                        <p:tgtEl>
                                          <p:spTgt spid="23"/>
                                        </p:tgtEl>
                                      </p:cBhvr>
                                    </p:animEffect>
                                  </p:childTnLst>
                                </p:cTn>
                              </p:par>
                              <p:par>
                                <p:cTn id="67" presetID="22" presetClass="entr" presetSubtype="8" fill="hold" grpId="0" nodeType="withEffect">
                                  <p:stCondLst>
                                    <p:cond delay="0"/>
                                  </p:stCondLst>
                                  <p:childTnLst>
                                    <p:set>
                                      <p:cBhvr>
                                        <p:cTn id="68" dur="1" fill="hold">
                                          <p:stCondLst>
                                            <p:cond delay="0"/>
                                          </p:stCondLst>
                                        </p:cTn>
                                        <p:tgtEl>
                                          <p:spTgt spid="24"/>
                                        </p:tgtEl>
                                        <p:attrNameLst>
                                          <p:attrName>style.visibility</p:attrName>
                                        </p:attrNameLst>
                                      </p:cBhvr>
                                      <p:to>
                                        <p:strVal val="visible"/>
                                      </p:to>
                                    </p:set>
                                    <p:animEffect transition="in" filter="wipe(right)">
                                      <p:cBhvr>
                                        <p:cTn id="69"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1 of 3</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7  ·  Overfitting, Bias–Variance and Regularisation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58     </a:t>
            </a:r>
            <a:fld id="{39A4EBAD-766D-4BF9-9AFE-D02255A6323A}" type="slidenum">
              <a:rPr lang="en-GB" sz="1000">
                <a:solidFill>
                  <a:srgbClr val="8795A1"/>
                </a:solidFill>
                <a:latin typeface="Segoe UI"/>
              </a:rPr>
              <a:t>45</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Adding training data is most useful when a model has:</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high bias</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high variance</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high noise</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low variance</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196454"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2 of 3</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7  ·  Overfitting, Bias–Variance and Regularisation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58     </a:t>
            </a:r>
            <a:fld id="{ED80045A-8A89-4990-8E04-89B4C15A1334}" type="slidenum">
              <a:rPr lang="en-GB" sz="1000">
                <a:solidFill>
                  <a:srgbClr val="8795A1"/>
                </a:solidFill>
                <a:latin typeface="Segoe UI"/>
              </a:rPr>
              <a:t>46</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As </a:t>
            </a:r>
            <a:r>
              <a:rPr sz="2600" b="0" i="0">
                <a:solidFill>
                  <a:srgbClr val="1C252B"/>
                </a:solidFill>
                <a:latin typeface="Cambria"/>
              </a:rPr>
              <a:t>λ</a:t>
            </a:r>
            <a:r>
              <a:rPr sz="2600" b="0" i="0">
                <a:solidFill>
                  <a:srgbClr val="1C252B"/>
                </a:solidFill>
                <a:latin typeface="Segoe UI"/>
              </a:rPr>
              <a:t> in ridge regression increases:</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bias and variance both fall</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bias rises and variance falls</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bias falls and variance rises</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neither changes</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445264"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3 of 3</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7  ·  Overfitting, Bias–Variance and Regularisation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58     </a:t>
            </a:r>
            <a:fld id="{B18D31C0-45E8-4432-979B-E9082DE21AF6}" type="slidenum">
              <a:rPr lang="en-GB" sz="1000">
                <a:solidFill>
                  <a:srgbClr val="8795A1"/>
                </a:solidFill>
                <a:latin typeface="Segoe UI"/>
              </a:rPr>
              <a:t>47</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Which of these is a hyperparameter?</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a regression weight</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the bias term </a:t>
            </a:r>
            <a:r>
              <a:rPr sz="2000" b="0" i="1">
                <a:solidFill>
                  <a:srgbClr val="1C252B"/>
                </a:solidFill>
                <a:latin typeface="Cambria"/>
              </a:rPr>
              <a:t>b</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the number of folds’ mean error</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the degree of a polynomial</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694074"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For your notebook</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QUESTIONS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7  ·  Overfitting, Bias–Variance and Regularisation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58     </a:t>
            </a:r>
            <a:fld id="{8F815330-24C7-4258-A934-637066D0C00E}" type="slidenum">
              <a:rPr lang="en-GB" sz="1000">
                <a:solidFill>
                  <a:srgbClr val="8795A1"/>
                </a:solidFill>
                <a:latin typeface="Segoe UI"/>
              </a:rPr>
              <a:t>48</a:t>
            </a:fld>
          </a:p>
        </p:txBody>
      </p:sp>
      <p:sp>
        <p:nvSpPr>
          <p:cNvPr id="7" name="!!rt0">
            <a:extLst>
              <a:ext uri="{C183D7F6-B498-43B3-948B-1728B52AA6E4}">
                <adec:decorative xmlns:adec="http://schemas.microsoft.com/office/drawing/2017/decorative" val="1"/>
              </a:ext>
            </a:extLst>
          </p:cNvPr>
          <p:cNvSpPr/>
          <p:nvPr/>
        </p:nvSpPr>
        <p:spPr>
          <a:xfrm>
            <a:off x="658368" y="1755648"/>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rtt0"/>
          <p:cNvSpPr txBox="1"/>
          <p:nvPr/>
        </p:nvSpPr>
        <p:spPr>
          <a:xfrm>
            <a:off x="658368" y="1796795"/>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9" name="!!rq0"/>
          <p:cNvSpPr txBox="1"/>
          <p:nvPr/>
        </p:nvSpPr>
        <p:spPr>
          <a:xfrm>
            <a:off x="1892807" y="1737360"/>
            <a:ext cx="9549079" cy="301142"/>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Explain why training error cannot be used to choose the degree of a polynomial.</a:t>
            </a:r>
          </a:p>
        </p:txBody>
      </p:sp>
      <p:sp>
        <p:nvSpPr>
          <p:cNvPr id="10" name="!!rt1">
            <a:extLst>
              <a:ext uri="{C183D7F6-B498-43B3-948B-1728B52AA6E4}">
                <adec:decorative xmlns:adec="http://schemas.microsoft.com/office/drawing/2017/decorative" val="1"/>
              </a:ext>
            </a:extLst>
          </p:cNvPr>
          <p:cNvSpPr/>
          <p:nvPr/>
        </p:nvSpPr>
        <p:spPr>
          <a:xfrm>
            <a:off x="658368" y="2276246"/>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tt1"/>
          <p:cNvSpPr txBox="1"/>
          <p:nvPr/>
        </p:nvSpPr>
        <p:spPr>
          <a:xfrm>
            <a:off x="658368" y="2317394"/>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12" name="!!rq1"/>
          <p:cNvSpPr txBox="1"/>
          <p:nvPr/>
        </p:nvSpPr>
        <p:spPr>
          <a:xfrm>
            <a:off x="1892807" y="2257958"/>
            <a:ext cx="9549079" cy="301142"/>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What is irreducible error, and why can no model remove it?</a:t>
            </a:r>
          </a:p>
        </p:txBody>
      </p:sp>
      <p:sp>
        <p:nvSpPr>
          <p:cNvPr id="13" name="!!rt2">
            <a:extLst>
              <a:ext uri="{C183D7F6-B498-43B3-948B-1728B52AA6E4}">
                <adec:decorative xmlns:adec="http://schemas.microsoft.com/office/drawing/2017/decorative" val="1"/>
              </a:ext>
            </a:extLst>
          </p:cNvPr>
          <p:cNvSpPr/>
          <p:nvPr/>
        </p:nvSpPr>
        <p:spPr>
          <a:xfrm>
            <a:off x="658368" y="2796844"/>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rtt2"/>
          <p:cNvSpPr txBox="1"/>
          <p:nvPr/>
        </p:nvSpPr>
        <p:spPr>
          <a:xfrm>
            <a:off x="658368" y="2837992"/>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15" name="!!rq2"/>
          <p:cNvSpPr txBox="1"/>
          <p:nvPr/>
        </p:nvSpPr>
        <p:spPr>
          <a:xfrm>
            <a:off x="1892807" y="2778556"/>
            <a:ext cx="9549079" cy="301142"/>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Describe nested cross-validation and when it is needed.</a:t>
            </a:r>
          </a:p>
        </p:txBody>
      </p:sp>
      <p:sp>
        <p:nvSpPr>
          <p:cNvPr id="16" name="!!rt3">
            <a:extLst>
              <a:ext uri="{C183D7F6-B498-43B3-948B-1728B52AA6E4}">
                <adec:decorative xmlns:adec="http://schemas.microsoft.com/office/drawing/2017/decorative" val="1"/>
              </a:ext>
            </a:extLst>
          </p:cNvPr>
          <p:cNvSpPr/>
          <p:nvPr/>
        </p:nvSpPr>
        <p:spPr>
          <a:xfrm>
            <a:off x="658368" y="3317443"/>
            <a:ext cx="1051560" cy="310896"/>
          </a:xfrm>
          <a:prstGeom prst="roundRect">
            <a:avLst>
              <a:gd name="adj" fmla="val 50000"/>
            </a:avLst>
          </a:prstGeom>
          <a:solidFill>
            <a:srgbClr val="E2EFE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rtt3"/>
          <p:cNvSpPr txBox="1"/>
          <p:nvPr/>
        </p:nvSpPr>
        <p:spPr>
          <a:xfrm>
            <a:off x="658368" y="3358591"/>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107964"/>
                </a:solidFill>
                <a:latin typeface="Segoe UI"/>
              </a:rPr>
              <a:t>APPLIED</a:t>
            </a:r>
          </a:p>
        </p:txBody>
      </p:sp>
      <p:sp>
        <p:nvSpPr>
          <p:cNvPr id="18" name="!!rq3"/>
          <p:cNvSpPr txBox="1"/>
          <p:nvPr/>
        </p:nvSpPr>
        <p:spPr>
          <a:xfrm>
            <a:off x="1892807" y="3299155"/>
            <a:ext cx="9549079" cy="903427"/>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Three models predict at a point with true value 10 and noise variance 4. Over five training sets they predict: A: </a:t>
            </a:r>
            <a:r>
              <a:rPr sz="1900" b="0" i="0">
                <a:solidFill>
                  <a:srgbClr val="1C252B"/>
                </a:solidFill>
                <a:latin typeface="Cambria"/>
              </a:rPr>
              <a:t>8, 8, 9, 8, 7</a:t>
            </a:r>
            <a:r>
              <a:rPr sz="1900" b="0" i="0">
                <a:solidFill>
                  <a:srgbClr val="1C252B"/>
                </a:solidFill>
                <a:latin typeface="Segoe UI"/>
              </a:rPr>
              <a:t>; B: </a:t>
            </a:r>
            <a:r>
              <a:rPr sz="1900" b="0" i="0">
                <a:solidFill>
                  <a:srgbClr val="1C252B"/>
                </a:solidFill>
                <a:latin typeface="Cambria"/>
              </a:rPr>
              <a:t>12, 7, 10, 13, 8</a:t>
            </a:r>
            <a:r>
              <a:rPr sz="1900" b="0" i="0">
                <a:solidFill>
                  <a:srgbClr val="1C252B"/>
                </a:solidFill>
                <a:latin typeface="Segoe UI"/>
              </a:rPr>
              <a:t>; C: </a:t>
            </a:r>
            <a:r>
              <a:rPr sz="1900" b="0" i="0">
                <a:solidFill>
                  <a:srgbClr val="1C252B"/>
                </a:solidFill>
                <a:latin typeface="Cambria"/>
              </a:rPr>
              <a:t>10, 10, 11, 9, 10</a:t>
            </a:r>
            <a:r>
              <a:rPr sz="1900" b="0" i="0">
                <a:solidFill>
                  <a:srgbClr val="1C252B"/>
                </a:solidFill>
                <a:latin typeface="Segoe UI"/>
              </a:rPr>
              <a:t>. Compute bias</a:t>
            </a:r>
            <a:r>
              <a:rPr sz="1900" b="0" i="0" baseline="30000">
                <a:solidFill>
                  <a:srgbClr val="1C252B"/>
                </a:solidFill>
                <a:latin typeface="Cambria"/>
              </a:rPr>
              <a:t>2</a:t>
            </a:r>
            <a:r>
              <a:rPr sz="1900" b="0" i="0">
                <a:solidFill>
                  <a:srgbClr val="1C252B"/>
                </a:solidFill>
                <a:latin typeface="Segoe UI"/>
              </a:rPr>
              <a:t>, variance and expected error for each, and rank them.</a:t>
            </a:r>
          </a:p>
        </p:txBody>
      </p:sp>
      <p:sp>
        <p:nvSpPr>
          <p:cNvPr id="19" name="!!rt4">
            <a:extLst>
              <a:ext uri="{C183D7F6-B498-43B3-948B-1728B52AA6E4}">
                <adec:decorative xmlns:adec="http://schemas.microsoft.com/office/drawing/2017/decorative" val="1"/>
              </a:ext>
            </a:extLst>
          </p:cNvPr>
          <p:cNvSpPr/>
          <p:nvPr/>
        </p:nvSpPr>
        <p:spPr>
          <a:xfrm>
            <a:off x="658368" y="4440326"/>
            <a:ext cx="1051560" cy="310896"/>
          </a:xfrm>
          <a:prstGeom prst="roundRect">
            <a:avLst>
              <a:gd name="adj" fmla="val 50000"/>
            </a:avLst>
          </a:prstGeom>
          <a:solidFill>
            <a:srgbClr val="E2EFE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rtt4"/>
          <p:cNvSpPr txBox="1"/>
          <p:nvPr/>
        </p:nvSpPr>
        <p:spPr>
          <a:xfrm>
            <a:off x="658368" y="4481474"/>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107964"/>
                </a:solidFill>
                <a:latin typeface="Segoe UI"/>
              </a:rPr>
              <a:t>APPLIED</a:t>
            </a:r>
          </a:p>
        </p:txBody>
      </p:sp>
      <p:sp>
        <p:nvSpPr>
          <p:cNvPr id="21" name="!!rq4"/>
          <p:cNvSpPr txBox="1"/>
          <p:nvPr/>
        </p:nvSpPr>
        <p:spPr>
          <a:xfrm>
            <a:off x="1892807" y="4422038"/>
            <a:ext cx="9549079" cy="60228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For the centred data </a:t>
            </a:r>
            <a:r>
              <a:rPr sz="1900" b="0" i="1">
                <a:solidFill>
                  <a:srgbClr val="1C252B"/>
                </a:solidFill>
                <a:latin typeface="Cambria"/>
              </a:rPr>
              <a:t>x</a:t>
            </a:r>
            <a:r>
              <a:rPr sz="1900" b="0" i="0">
                <a:solidFill>
                  <a:srgbClr val="1C252B"/>
                </a:solidFill>
                <a:latin typeface="Cambria"/>
              </a:rPr>
              <a:t> = −1, 0, 1, 2</a:t>
            </a:r>
            <a:r>
              <a:rPr sz="1900" b="0" i="0">
                <a:solidFill>
                  <a:srgbClr val="1C252B"/>
                </a:solidFill>
                <a:latin typeface="Segoe UI"/>
              </a:rPr>
              <a:t> (centre it first) and </a:t>
            </a:r>
            <a:r>
              <a:rPr sz="1900" b="0" i="1">
                <a:solidFill>
                  <a:srgbClr val="1C252B"/>
                </a:solidFill>
                <a:latin typeface="Cambria"/>
              </a:rPr>
              <a:t>y</a:t>
            </a:r>
            <a:r>
              <a:rPr sz="1900" b="0" i="0">
                <a:solidFill>
                  <a:srgbClr val="1C252B"/>
                </a:solidFill>
                <a:latin typeface="Cambria"/>
              </a:rPr>
              <a:t> = 1, 2, 2, 5</a:t>
            </a:r>
            <a:r>
              <a:rPr sz="1900" b="0" i="0">
                <a:solidFill>
                  <a:srgbClr val="1C252B"/>
                </a:solidFill>
                <a:latin typeface="Segoe UI"/>
              </a:rPr>
              <a:t> (centre it too), compute the ridge weight for </a:t>
            </a:r>
            <a:r>
              <a:rPr sz="1900" b="0" i="0">
                <a:solidFill>
                  <a:srgbClr val="1C252B"/>
                </a:solidFill>
                <a:latin typeface="Cambria"/>
              </a:rPr>
              <a:t>λ = 0, 1, 5</a:t>
            </a:r>
            <a:r>
              <a:rPr sz="1900" b="0" i="0">
                <a:solidFill>
                  <a:srgbClr val="1C252B"/>
                </a:solidFill>
                <a:latin typeface="Segoe UI"/>
              </a:rPr>
              <a:t> and describe the pattern.</a:t>
            </a:r>
          </a:p>
        </p:txBody>
      </p:sp>
      <p:sp>
        <p:nvSpPr>
          <p:cNvPr id="2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pfill">
            <a:extLst>
              <a:ext uri="{C183D7F6-B498-43B3-948B-1728B52AA6E4}">
                <adec:decorative xmlns:adec="http://schemas.microsoft.com/office/drawing/2017/decorative" val="1"/>
              </a:ext>
            </a:extLst>
          </p:cNvPr>
          <p:cNvSpPr/>
          <p:nvPr/>
        </p:nvSpPr>
        <p:spPr>
          <a:xfrm>
            <a:off x="0" y="0"/>
            <a:ext cx="11942885"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236794"/>
        </a:solidFill>
        <a:effectLst/>
      </p:bgPr>
    </p:bg>
    <p:spTree>
      <p:nvGrpSpPr>
        <p:cNvPr id="1" name=""/>
        <p:cNvGrpSpPr/>
        <p:nvPr/>
      </p:nvGrpSpPr>
      <p:grpSpPr/>
      <p:sp>
        <p:nvSpPr>
          <p:cNvPr id="3" name="!!wm">
            <a:extLst>
              <a:ext uri="{C183D7F6-B498-43B3-948B-1728B52AA6E4}">
                <adec:decorative xmlns:adec="http://schemas.microsoft.com/office/drawing/2017/decorative" val="1"/>
              </a:ext>
            </a:extLst>
          </p:cNvPr>
          <p:cNvSpPr txBox="1"/>
          <p:nvPr/>
        </p:nvSpPr>
        <p:spPr>
          <a:xfrm>
            <a:off x="6430975" y="-502920"/>
            <a:ext cx="5486400" cy="4572000"/>
          </a:xfrm>
          <a:prstGeom prst="rect">
            <a:avLst/>
          </a:prstGeom>
          <a:noFill/>
        </p:spPr>
        <p:txBody>
          <a:bodyPr wrap="square" anchor="t" lIns="0" rIns="0" tIns="0" bIns="0">
            <a:noAutofit/>
          </a:bodyPr>
          <a:lstStyle/>
          <a:p>
            <a:pPr algn="r">
              <a:lnSpc>
                <a:spcPct val="100000"/>
              </a:lnSpc>
              <a:spcBef>
                <a:spcPts val="0"/>
              </a:spcBef>
              <a:spcAft>
                <a:spcPts val="0"/>
              </a:spcAft>
            </a:pPr>
            <a:r>
              <a:rPr sz="28000" b="0" i="0">
                <a:solidFill>
                  <a:srgbClr val="35739D"/>
                </a:solidFill>
                <a:latin typeface="Segoe UI Black"/>
              </a:rPr>
              <a:t>07</a:t>
            </a:r>
          </a:p>
        </p:txBody>
      </p:sp>
      <p:sp>
        <p:nvSpPr>
          <p:cNvPr id="2" name="!!title"/>
          <p:cNvSpPr>
            <a:spLocks noGrp="1"/>
          </p:cNvSpPr>
          <p:nvPr>
            <p:ph type="title"/>
          </p:nvPr>
        </p:nvSpPr>
        <p:spPr>
          <a:xfrm>
            <a:off x="658368" y="1243584"/>
            <a:ext cx="8229600" cy="822960"/>
          </a:xfrm>
        </p:spPr>
        <p:txBody>
          <a:bodyPr wrap="square" lIns="0" rIns="0" tIns="0" bIns="0" anchor="t">
            <a:noAutofit/>
          </a:bodyPr>
          <a:lstStyle/>
          <a:p>
            <a:pPr algn="l">
              <a:lnSpc>
                <a:spcPct val="96000"/>
              </a:lnSpc>
            </a:pPr>
            <a:r>
              <a:rPr sz="4000" b="0">
                <a:solidFill>
                  <a:srgbClr val="FFFFFF"/>
                </a:solidFill>
                <a:latin typeface="Segoe UI Semibold"/>
              </a:rPr>
              <a:t>End of Chapter 7</a:t>
            </a:r>
          </a:p>
        </p:txBody>
      </p:sp>
      <p:sp>
        <p:nvSpPr>
          <p:cNvPr id="4" name="!!tbar">
            <a:extLst>
              <a:ext uri="{C183D7F6-B498-43B3-948B-1728B52AA6E4}">
                <adec:decorative xmlns:adec="http://schemas.microsoft.com/office/drawing/2017/decorative" val="1"/>
              </a:ext>
            </a:extLst>
          </p:cNvPr>
          <p:cNvSpPr/>
          <p:nvPr/>
        </p:nvSpPr>
        <p:spPr>
          <a:xfrm>
            <a:off x="658368" y="1024128"/>
            <a:ext cx="822960" cy="640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cl0">
            <a:extLst>
              <a:ext uri="{C183D7F6-B498-43B3-948B-1728B52AA6E4}">
                <adec:decorative xmlns:adec="http://schemas.microsoft.com/office/drawing/2017/decorative" val="1"/>
              </a:ext>
            </a:extLst>
          </p:cNvPr>
          <p:cNvSpPr/>
          <p:nvPr/>
        </p:nvSpPr>
        <p:spPr>
          <a:xfrm>
            <a:off x="658368" y="2286000"/>
            <a:ext cx="5300319" cy="1097280"/>
          </a:xfrm>
          <a:prstGeom prst="roundRect">
            <a:avLst>
              <a:gd name="adj" fmla="val 8333"/>
            </a:avLst>
          </a:prstGeom>
          <a:solidFill>
            <a:srgbClr val="1B507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cll0"/>
          <p:cNvSpPr txBox="1"/>
          <p:nvPr/>
        </p:nvSpPr>
        <p:spPr>
          <a:xfrm>
            <a:off x="932688" y="2468880"/>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ABC5D6"/>
                </a:solidFill>
                <a:latin typeface="Segoe UI"/>
              </a:rPr>
              <a:t>NEXT</a:t>
            </a:r>
          </a:p>
        </p:txBody>
      </p:sp>
      <p:sp>
        <p:nvSpPr>
          <p:cNvPr id="7" name="!!clv0"/>
          <p:cNvSpPr txBox="1"/>
          <p:nvPr/>
        </p:nvSpPr>
        <p:spPr>
          <a:xfrm>
            <a:off x="932688" y="2761488"/>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1900" b="0" i="0">
                <a:solidFill>
                  <a:srgbClr val="FFFFFF"/>
                </a:solidFill>
                <a:latin typeface="Segoe UI Semibold"/>
              </a:rPr>
              <a:t>Chapter 8 — Measuring Classifier Performance</a:t>
            </a:r>
          </a:p>
        </p:txBody>
      </p:sp>
      <p:sp>
        <p:nvSpPr>
          <p:cNvPr id="8" name="!!cl1">
            <a:extLst>
              <a:ext uri="{C183D7F6-B498-43B3-948B-1728B52AA6E4}">
                <adec:decorative xmlns:adec="http://schemas.microsoft.com/office/drawing/2017/decorative" val="1"/>
              </a:ext>
            </a:extLst>
          </p:cNvPr>
          <p:cNvSpPr/>
          <p:nvPr/>
        </p:nvSpPr>
        <p:spPr>
          <a:xfrm>
            <a:off x="6233007" y="2286000"/>
            <a:ext cx="5300319" cy="1097280"/>
          </a:xfrm>
          <a:prstGeom prst="roundRect">
            <a:avLst>
              <a:gd name="adj" fmla="val 8333"/>
            </a:avLst>
          </a:prstGeom>
          <a:solidFill>
            <a:srgbClr val="1B507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ll1"/>
          <p:cNvSpPr txBox="1"/>
          <p:nvPr/>
        </p:nvSpPr>
        <p:spPr>
          <a:xfrm>
            <a:off x="6507327" y="2468880"/>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ABC5D6"/>
                </a:solidFill>
                <a:latin typeface="Segoe UI"/>
              </a:rPr>
              <a:t>READ</a:t>
            </a:r>
          </a:p>
        </p:txBody>
      </p:sp>
      <p:sp>
        <p:nvSpPr>
          <p:cNvPr id="10" name="!!clv1"/>
          <p:cNvSpPr txBox="1"/>
          <p:nvPr/>
        </p:nvSpPr>
        <p:spPr>
          <a:xfrm>
            <a:off x="6507327" y="2761488"/>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2100" b="0" i="0">
                <a:solidFill>
                  <a:srgbClr val="FFFFFF"/>
                </a:solidFill>
                <a:latin typeface="Segoe UI Semibold"/>
              </a:rPr>
              <a:t>Handout Chapter 7, pages 51–58</a:t>
            </a:r>
          </a:p>
        </p:txBody>
      </p:sp>
      <p:sp>
        <p:nvSpPr>
          <p:cNvPr id="11" name="!!cl2">
            <a:extLst>
              <a:ext uri="{C183D7F6-B498-43B3-948B-1728B52AA6E4}">
                <adec:decorative xmlns:adec="http://schemas.microsoft.com/office/drawing/2017/decorative" val="1"/>
              </a:ext>
            </a:extLst>
          </p:cNvPr>
          <p:cNvSpPr/>
          <p:nvPr/>
        </p:nvSpPr>
        <p:spPr>
          <a:xfrm>
            <a:off x="658368" y="3584448"/>
            <a:ext cx="5300319" cy="1097280"/>
          </a:xfrm>
          <a:prstGeom prst="roundRect">
            <a:avLst>
              <a:gd name="adj" fmla="val 8333"/>
            </a:avLst>
          </a:prstGeom>
          <a:solidFill>
            <a:srgbClr val="1B507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ll2"/>
          <p:cNvSpPr txBox="1"/>
          <p:nvPr/>
        </p:nvSpPr>
        <p:spPr>
          <a:xfrm>
            <a:off x="932688" y="3767328"/>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ABC5D6"/>
                </a:solidFill>
                <a:latin typeface="Segoe UI"/>
              </a:rPr>
              <a:t>THIS WEEK'S LAB</a:t>
            </a:r>
          </a:p>
        </p:txBody>
      </p:sp>
      <p:sp>
        <p:nvSpPr>
          <p:cNvPr id="13" name="!!clv2"/>
          <p:cNvSpPr txBox="1"/>
          <p:nvPr/>
        </p:nvSpPr>
        <p:spPr>
          <a:xfrm>
            <a:off x="932688" y="4059935"/>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2100" b="0" i="0">
                <a:solidFill>
                  <a:srgbClr val="FFFFFF"/>
                </a:solidFill>
                <a:latin typeface="Segoe UI Semibold"/>
              </a:rPr>
              <a:t>Find the bottom of the U</a:t>
            </a:r>
          </a:p>
        </p:txBody>
      </p:sp>
      <p:sp>
        <p:nvSpPr>
          <p:cNvPr id="1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Machine Learning  ·  Chapter 7  ·  Overfitting, Bias–Variance and Regularisation</a:t>
            </a:r>
          </a:p>
        </p:txBody>
      </p:sp>
      <p:sp>
        <p:nvSpPr>
          <p:cNvPr id="15" name="!!footR"/>
          <p:cNvSpPr txBox="1"/>
          <p:nvPr/>
        </p:nvSpPr>
        <p:spPr>
          <a:xfrm>
            <a:off x="6639595" y="6437376"/>
            <a:ext cx="4893731" cy="237744"/>
          </a:xfrm>
          <a:prstGeom prst="rect">
            <a:avLst/>
          </a:prstGeom>
          <a:noFill/>
        </p:spPr>
        <p:txBody>
          <a:bodyPr wrap="square" anchor="t" lIns="0" rIns="0" tIns="0" bIns="0">
            <a:noAutofit/>
          </a:bodyPr>
          <a:lstStyle/>
          <a:p>
            <a:pPr algn="r"/>
            <a:fld id="{31749E14-48FC-44D3-A528-DFEFBE15871B}" type="slidenum">
              <a:rPr lang="en-GB" sz="1000">
                <a:solidFill>
                  <a:srgbClr val="D5DEE5"/>
                </a:solidFill>
                <a:latin typeface="Segoe UI"/>
              </a:rPr>
              <a:t>49</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theme/theme1.xml><?xml version="1.0" encoding="utf-8"?>
<a:theme xmlns:a="http://schemas.openxmlformats.org/drawingml/2006/main" name="Machine Learning Fall 2026">
  <a:themeElements>
    <a:clrScheme name="Machine Learning Fall 2026">
      <a:dk1>
        <a:srgbClr val="1C252B"/>
      </a:dk1>
      <a:lt1>
        <a:srgbClr val="FFFFFF"/>
      </a:lt1>
      <a:dk2>
        <a:srgbClr val="1A5276"/>
      </a:dk2>
      <a:lt2>
        <a:srgbClr val="EBF5FB"/>
      </a:lt2>
      <a:accent1>
        <a:srgbClr val="1A5276"/>
      </a:accent1>
      <a:accent2>
        <a:srgbClr val="2E86C1"/>
      </a:accent2>
      <a:accent3>
        <a:srgbClr val="E74C3C"/>
      </a:accent3>
      <a:accent4>
        <a:srgbClr val="27AE60"/>
      </a:accent4>
      <a:accent5>
        <a:srgbClr val="8E44AD"/>
      </a:accent5>
      <a:accent6>
        <a:srgbClr val="B7950B"/>
      </a:accent6>
      <a:hlink>
        <a:srgbClr val="2E86C1"/>
      </a:hlink>
      <a:folHlink>
        <a:srgbClr val="8E44AD"/>
      </a:folHlink>
    </a:clrScheme>
    <a:fontScheme name="Machine Learning Fall 2026">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7: Overfitting, Bias–Variance and Regularisation</dc:title>
  <dc:subject>Machine Learning — From Hypotheses to Decisions · BSIT · Fall 2026</dc:subject>
  <dc:creator>Dr. Mustafa Hameed</dc:creator>
  <cp:keywords>machine learning; lecture slides; BSIT; HEC; Fall 2026</cp:keywords>
  <dc:description>generated using python-pptx</dc:description>
  <cp:lastModifiedBy>Steve Canny</cp:lastModifiedBy>
  <cp:revision>1</cp:revision>
  <dcterms:created xsi:type="dcterms:W3CDTF">2013-01-27T09:14:16Z</dcterms:created>
  <dcterms:modified xsi:type="dcterms:W3CDTF">2013-01-27T09:15:58Z</dcterms:modified>
  <cp:category>Lecture slides</cp:category>
</cp:coreProperties>
</file>