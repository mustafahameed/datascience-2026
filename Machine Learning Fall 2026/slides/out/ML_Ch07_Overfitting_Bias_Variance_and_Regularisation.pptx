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01.svg" ContentType="image/svg+xml"/>
  <Override PartName="/ppt/media/image103.svg" ContentType="image/svg+xml"/>
  <Override PartName="/ppt/media/image104.svg" ContentType="image/svg+xml"/>
  <Override PartName="/ppt/media/image105.svg" ContentType="image/svg+xml"/>
  <Override PartName="/ppt/media/image106.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5.svg" ContentType="image/svg+xml"/>
  <Override PartName="/ppt/media/image86.svg" ContentType="image/svg+xml"/>
  <Override PartName="/ppt/media/image87.svg" ContentType="image/svg+xml"/>
  <Override PartName="/ppt/media/image88.svg" ContentType="image/svg+xml"/>
  <Override PartName="/ppt/media/image89.svg" ContentType="image/svg+xml"/>
  <Override PartName="/ppt/media/image90.svg" ContentType="image/svg+xml"/>
  <Override PartName="/ppt/media/image91.svg" ContentType="image/svg+xml"/>
  <Override PartName="/ppt/media/image93.svg" ContentType="image/svg+xml"/>
  <Override PartName="/ppt/media/image95.svg" ContentType="image/svg+xml"/>
  <Override PartName="/ppt/media/image96.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E7D73F0-35BD-4654-AA8D-B02CD49ED909}">
          <p14:sldIdLst>
            <p14:sldId id="256"/>
            <p14:sldId id="257"/>
            <p14:sldId id="258"/>
            <p14:sldId id="259"/>
            <p14:sldId id="260"/>
          </p14:sldIdLst>
        </p14:section>
        <p14:section name="7.1 The Goal Is Generalisation" id="{F377654A-7CCD-4F32-A7C7-8326302F5134}">
          <p14:sldIdLst>
            <p14:sldId id="261"/>
          </p14:sldIdLst>
        </p14:section>
        <p14:section name="7.2 Underfitting and Overfitting" id="{48A901E5-C99C-4DC0-BA6B-D34AB844CA7F}">
          <p14:sldIdLst>
            <p14:sldId id="262"/>
            <p14:sldId id="263"/>
            <p14:sldId id="264"/>
            <p14:sldId id="265"/>
          </p14:sldIdLst>
        </p14:section>
        <p14:section name="7.3 The Bias–Variance Decomposition" id="{F9F8BFBD-05A9-43FC-9671-0AB2432E5E68}">
          <p14:sldIdLst>
            <p14:sldId id="266"/>
            <p14:sldId id="267"/>
            <p14:sldId id="268"/>
            <p14:sldId id="269"/>
            <p14:sldId id="270"/>
          </p14:sldIdLst>
        </p14:section>
        <p14:section name="7.4 Noisy Data" id="{CF9A0F10-9498-4C30-B52D-BD8834E87D1C}">
          <p14:sldIdLst>
            <p14:sldId id="271"/>
          </p14:sldIdLst>
        </p14:section>
        <p14:section name="7.5 Diagnosing With Learning Curves" id="{493207D4-DE51-41DC-9037-5D1D9951DAF1}">
          <p14:sldIdLst>
            <p14:sldId id="272"/>
            <p14:sldId id="273"/>
            <p14:sldId id="274"/>
          </p14:sldIdLst>
        </p14:section>
        <p14:section name="7.6 Regularisation" id="{A1D9D523-0CE7-4FE2-9588-0C71718A5663}">
          <p14:sldIdLst>
            <p14:sldId id="275"/>
            <p14:sldId id="276"/>
            <p14:sldId id="277"/>
            <p14:sldId id="278"/>
            <p14:sldId id="279"/>
          </p14:sldIdLst>
        </p14:section>
        <p14:section name="7.7 Model Selection With Cross-Validation" id="{0E0A9389-EF3D-4A99-8390-5039F25207FE}">
          <p14:sldIdLst>
            <p14:sldId id="280"/>
            <p14:sldId id="281"/>
            <p14:sldId id="282"/>
            <p14:sldId id="283"/>
            <p14:sldId id="284"/>
          </p14:sldIdLst>
        </p14:section>
        <p14:section name="Pitfalls" id="{D40DF9EE-2902-4815-9A0A-09FB2CB31F25}">
          <p14:sldIdLst>
            <p14:sldId id="285"/>
          </p14:sldIdLst>
        </p14:section>
        <p14:section name="Four lenses" id="{D5B9170A-9139-4BDB-BBC6-2B27A3F735CB}">
          <p14:sldIdLst>
            <p14:sldId id="286"/>
            <p14:sldId id="287"/>
            <p14:sldId id="288"/>
            <p14:sldId id="289"/>
            <p14:sldId id="290"/>
          </p14:sldIdLst>
        </p14:section>
        <p14:section name="Lab" id="{BA4B3362-C0CE-4A35-9FB6-0E9BA4A5AE23}">
          <p14:sldIdLst>
            <p14:sldId id="291"/>
            <p14:sldId id="292"/>
            <p14:sldId id="293"/>
            <p14:sldId id="294"/>
            <p14:sldId id="295"/>
            <p14:sldId id="296"/>
            <p14:sldId id="297"/>
          </p14:sldIdLst>
        </p14:section>
        <p14:section name="Checkpoint" id="{993A2D41-25C1-47D5-982D-8A7C191D48FC}">
          <p14:sldIdLst>
            <p14:sldId id="298"/>
            <p14:sldId id="299"/>
            <p14:sldId id="300"/>
            <p14:sldId id="301"/>
            <p14:sldId id="302"/>
            <p14:sldId id="303"/>
          </p14:sldIdLst>
        </p14:section>
        <p14:section name="Wrap-up" id="{3B41AE58-2F1F-4B15-A778-429872A137D4}">
          <p14:sldIdLst>
            <p14:sldId id="304"/>
            <p14:sldId id="305"/>
            <p14:sldId id="306"/>
            <p14:sldId id="307"/>
            <p14:sldId id="308"/>
            <p14:sldId id="30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Overfitting, Bias–Variance and Regularisation. Part 2 — Linear Models and Generalization. Week 6: Overfitting, bias–variance, regularisation. Handout pages 52–59.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3 (training, validation and test sets; pipelines), Chapter 5 (polynomial features, MSE) and Chapter 6 (the growing weights on separable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generalisation; training error; true error; generalisation gap; underfitting; overfitting; model complexity; bias; variance; irreducible error (noise); learning curve; regularisation; ridge (L2); lasso (L1); hyperparameter; k-fold cross-validation; grid search; nested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7.1 fits polynomials of three degrees to the same ten noisy samples of a sine wave. Degree 1 is too rigid to follow the curve at all. Degree 9 has ten coefficients for ten points, so it passes through every one of them — training error exactly zero — and swings wildly between them. Degree 3 follows the shape and ignores the noise.</a:t>
            </a:r>
          </a:p>
          <a:p/>
          <a:p>
            <a:r>
              <a:t>Figure 7.1 (handout p. 53): Three polynomials fitted to the same ten points (blue); the dashed curve is the true function. Training error falls from left to right and reaches zero at degree 9, which is nonetheless the worst of the three on new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7.2 (handout p. 53): Training and test error for the polynomials of Figure 7.1, degree 0 to 9, with the test error measured on 2,000 fresh samples. Training error only ever falls; test error falls, bottoms out, and rises. The shape of that second curve is the whole of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test error rise again? Imagine repeating the whole experiment many times: draw a fresh training set, fit the model, predict at one fixed input x0. The predictions scatter. Their average may miss the truth, and they may be spread widely around their own average. Those are two different failings.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7.3 (handout p. 54): Bias and variance as target practice. The goal is the top-left target; in practice lowering one tends to raise the other.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learning curve plots training and validation error against the number of training examples. Its shape tells you which of bias and variance is the problem, and therefore what to do.</a:t>
            </a:r>
          </a:p>
          <a:p/>
          <a:p>
            <a:r>
              <a:t>Figure 7.4 (handout p. 55): Learning curves. With high bias the curves meet early at an unacceptable level; with high variance there is a wide gap that more data would narrow.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lower polynomial degree is one way to control complexity, but a crude one: the degree jumps in whole steps. Regularisation controls it smoothly, by keeping the high-degree terms but charging the model for large weights.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7.5 (handout p. 56): Why lasso sets weights to zero. The regularised solution is where the smallest error ellipse (blue) first touches the region allowed by the penalty (green). A circle is touched at a generic point; a diamond is usually touched at a corner, where one weight is exactly zero.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hyperparameter is a setting chosen before training — degree, λ, k, tree depth — as opposed to a parameter such as a weight, which training sets. Hyperparameters are chosen by validation error. With little data a single validation split is too noisy to trust, so it is replaced by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7.6 (handout p. 57): Five-fold cross-validation on the training data. The test set is not part of the rotation.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A dropout model trained on one cohort of 200 students is a high-variance model: retrained on next year’s cohort it gives different students different risks. Strong regularisation and a small number of well-understood features usually beat a flexible model here, because the data is small and the cohorts drift.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Effort data from one team is tiny and noisy, so the right model is nearly always simpler than it looks. A regression with two features that generalises beats one with twenty that fits last quarter perfectly; learning curves on project data usually show high variance.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Vibration data is plentiful but each machine is different. A model with low variance across machines — tested by holding out whole machines in cross-validation, not random readings — is worth more than one that is very accurate on the machines it was trained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An intrusion model that fits last month’s traffic perfectly has learned last month’s attacks, including their noise. Overfitting here is also a security weakness: a model that memorises exact signatures is evaded by the smallest variation. Regularised, simpler models degrade more gracefully.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Noisy samples of a sine wave.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Complexity: training error against cross-validated error.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Keep degree 12, but regularise; choose alpha by CV.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Only now, once: the test set.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Variance (overfitting). Remedies: more data, stronger regularisation or a simpler model, fewer features, early stopping, an averaging ensemble.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Bias2 = (2 − 3)2 = 1. Variance = 0: every prediction is identical.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L1 constraint region is a diamond with corners on the axes; the error contours usually first touch it at a corner, where some weights are exactly zero. The L2 region is a circle with no corners, so weights shrink but rarely reach zero.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8 — Measuring Classifier Performance. READ: Handout Chapter 7, pages 52–59. THIS WEEK'S LAB: Find the bottom of the 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6.xml"/><Relationship Id="rId9" Type="http://schemas.openxmlformats.org/officeDocument/2006/relationships/slide" Target="slide17.xml"/><Relationship Id="rId10" Type="http://schemas.openxmlformats.org/officeDocument/2006/relationships/slide" Target="slide20.xml"/><Relationship Id="rId11" Type="http://schemas.openxmlformats.org/officeDocument/2006/relationships/slide" Target="slide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8.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36.svg"/><Relationship Id="rId4" Type="http://schemas.openxmlformats.org/officeDocument/2006/relationships/image" Target="../media/image37.png"/><Relationship Id="rId5" Type="http://schemas.openxmlformats.org/officeDocument/2006/relationships/image" Target="../media/image38.sv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43.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4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7.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4.png"/><Relationship Id="rId7" Type="http://schemas.openxmlformats.org/officeDocument/2006/relationships/image" Target="../media/image55.svg"/><Relationship Id="rId8" Type="http://schemas.openxmlformats.org/officeDocument/2006/relationships/image" Target="../media/image56.png"/><Relationship Id="rId9" Type="http://schemas.openxmlformats.org/officeDocument/2006/relationships/image" Target="../media/image57.svg"/><Relationship Id="rId10" Type="http://schemas.openxmlformats.org/officeDocument/2006/relationships/image" Target="../media/image58.png"/><Relationship Id="rId11" Type="http://schemas.openxmlformats.org/officeDocument/2006/relationships/image" Target="../media/image59.svg"/><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image" Target="../media/image52.png"/><Relationship Id="rId5" Type="http://schemas.openxmlformats.org/officeDocument/2006/relationships/image" Target="../media/image62.svg"/><Relationship Id="rId6" Type="http://schemas.openxmlformats.org/officeDocument/2006/relationships/image" Target="../media/image54.png"/><Relationship Id="rId7" Type="http://schemas.openxmlformats.org/officeDocument/2006/relationships/image" Target="../media/image63.svg"/><Relationship Id="rId8" Type="http://schemas.openxmlformats.org/officeDocument/2006/relationships/image" Target="../media/image56.png"/><Relationship Id="rId9" Type="http://schemas.openxmlformats.org/officeDocument/2006/relationships/image" Target="../media/image64.svg"/><Relationship Id="rId10" Type="http://schemas.openxmlformats.org/officeDocument/2006/relationships/image" Target="../media/image58.png"/><Relationship Id="rId11" Type="http://schemas.openxmlformats.org/officeDocument/2006/relationships/image" Target="../media/image65.svg"/><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image" Target="../media/image54.png"/><Relationship Id="rId5" Type="http://schemas.openxmlformats.org/officeDocument/2006/relationships/image" Target="../media/image68.svg"/><Relationship Id="rId6" Type="http://schemas.openxmlformats.org/officeDocument/2006/relationships/image" Target="../media/image52.png"/><Relationship Id="rId7" Type="http://schemas.openxmlformats.org/officeDocument/2006/relationships/image" Target="../media/image69.svg"/><Relationship Id="rId8" Type="http://schemas.openxmlformats.org/officeDocument/2006/relationships/image" Target="../media/image56.png"/><Relationship Id="rId9" Type="http://schemas.openxmlformats.org/officeDocument/2006/relationships/image" Target="../media/image70.svg"/><Relationship Id="rId10" Type="http://schemas.openxmlformats.org/officeDocument/2006/relationships/image" Target="../media/image58.png"/><Relationship Id="rId11" Type="http://schemas.openxmlformats.org/officeDocument/2006/relationships/image" Target="../media/image71.svg"/><Relationship Id="rId1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56.png"/><Relationship Id="rId5" Type="http://schemas.openxmlformats.org/officeDocument/2006/relationships/image" Target="../media/image74.svg"/><Relationship Id="rId6" Type="http://schemas.openxmlformats.org/officeDocument/2006/relationships/image" Target="../media/image52.png"/><Relationship Id="rId7" Type="http://schemas.openxmlformats.org/officeDocument/2006/relationships/image" Target="../media/image75.svg"/><Relationship Id="rId8" Type="http://schemas.openxmlformats.org/officeDocument/2006/relationships/image" Target="../media/image54.png"/><Relationship Id="rId9" Type="http://schemas.openxmlformats.org/officeDocument/2006/relationships/image" Target="../media/image76.svg"/><Relationship Id="rId10" Type="http://schemas.openxmlformats.org/officeDocument/2006/relationships/image" Target="../media/image58.png"/><Relationship Id="rId11" Type="http://schemas.openxmlformats.org/officeDocument/2006/relationships/image" Target="../media/image77.svg"/><Relationship Id="rId1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image" Target="../media/image58.png"/><Relationship Id="rId5" Type="http://schemas.openxmlformats.org/officeDocument/2006/relationships/image" Target="../media/image80.svg"/><Relationship Id="rId6" Type="http://schemas.openxmlformats.org/officeDocument/2006/relationships/image" Target="../media/image52.png"/><Relationship Id="rId7" Type="http://schemas.openxmlformats.org/officeDocument/2006/relationships/image" Target="../media/image81.svg"/><Relationship Id="rId8" Type="http://schemas.openxmlformats.org/officeDocument/2006/relationships/image" Target="../media/image54.png"/><Relationship Id="rId9" Type="http://schemas.openxmlformats.org/officeDocument/2006/relationships/image" Target="../media/image82.svg"/><Relationship Id="rId10" Type="http://schemas.openxmlformats.org/officeDocument/2006/relationships/image" Target="../media/image56.png"/><Relationship Id="rId11" Type="http://schemas.openxmlformats.org/officeDocument/2006/relationships/image" Target="../media/image83.svg"/><Relationship Id="rId1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6.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7.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8.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9.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90.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91.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5.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6.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7.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8.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9.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0.png"/><Relationship Id="rId3" Type="http://schemas.openxmlformats.org/officeDocument/2006/relationships/image" Target="../media/image101.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 Id="rId3" Type="http://schemas.openxmlformats.org/officeDocument/2006/relationships/image" Target="../media/image104.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 Id="rId3" Type="http://schemas.openxmlformats.org/officeDocument/2006/relationships/image" Target="../media/image105.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 Id="rId3" Type="http://schemas.openxmlformats.org/officeDocument/2006/relationships/image" Target="../media/image106.sv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07</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Overfitting, Bias–Variance and Regularisation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LINEAR MODELS AND GENERALIZATION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7  ·  WEEK 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a:t>
            </a:r>
            <a:fld id="{8440644E-41C5-4F82-9A1E-FA17319BB523}"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89413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894138"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912988"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912988"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58034"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55803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33" name="!!dot8">
            <a:extLst>
              <a:ext uri="{C183D7F6-B498-43B3-948B-1728B52AA6E4}">
                <adec:decorative xmlns:adec="http://schemas.microsoft.com/office/drawing/2017/decorative" val="1"/>
              </a:ext>
            </a:extLst>
          </p:cNvPr>
          <p:cNvSpPr/>
          <p:nvPr/>
        </p:nvSpPr>
        <p:spPr>
          <a:xfrm>
            <a:off x="426931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778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6268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712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91541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Overfitting, Bias–Variance and Regularisation</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Machine Learning Workflow and Toolkit</a:t>
            </a:r>
          </a:p>
        </p:txBody>
      </p:sp>
      <p:sp>
        <p:nvSpPr>
          <p:cNvPr id="68" name="!!chipBU5">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5">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5"/>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Linear Regression</a:t>
            </a:r>
          </a:p>
        </p:txBody>
      </p:sp>
      <p:sp>
        <p:nvSpPr>
          <p:cNvPr id="71" name="!!chipBU6">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6">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6"/>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Logistic Regression</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8">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8">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8"/>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Measuring Classifier Performance</a:t>
            </a:r>
          </a:p>
        </p:txBody>
      </p:sp>
      <p:sp>
        <p:nvSpPr>
          <p:cNvPr id="78" name="!!chipUS9">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9">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9"/>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Decision Tree Learning</a:t>
            </a:r>
          </a:p>
        </p:txBody>
      </p:sp>
      <p:sp>
        <p:nvSpPr>
          <p:cNvPr id="81" name="!!chipUS1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1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1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Instance-Based Learning: k-Nearest Neighbours</a:t>
            </a:r>
          </a:p>
        </p:txBody>
      </p:sp>
      <p:sp>
        <p:nvSpPr>
          <p:cNvPr id="84" name="!!chipUS12">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bUS12">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tUS12"/>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Support Vector Machines</a:t>
            </a:r>
          </a:p>
        </p:txBody>
      </p:sp>
      <p:sp>
        <p:nvSpPr>
          <p:cNvPr id="87" name="!!chipUS13">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bUS13">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tUS13"/>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Artificial Neural Networks</a:t>
            </a:r>
          </a:p>
        </p:txBody>
      </p:sp>
      <p:sp>
        <p:nvSpPr>
          <p:cNvPr id="9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pfill">
            <a:extLst>
              <a:ext uri="{C183D7F6-B498-43B3-948B-1728B52AA6E4}">
                <adec:decorative xmlns:adec="http://schemas.microsoft.com/office/drawing/2017/decorative" val="1"/>
              </a:ext>
            </a:extLst>
          </p:cNvPr>
          <p:cNvSpPr/>
          <p:nvPr/>
        </p:nvSpPr>
        <p:spPr>
          <a:xfrm>
            <a:off x="0" y="0"/>
            <a:ext cx="45154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a:t>
            </a:r>
            <a:fld id="{845024AC-D4DA-48C5-80CA-EC80A271582F}"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Distinguish</a:t>
            </a:r>
            <a:r>
              <a:rPr sz="2100" b="0" i="0">
                <a:solidFill>
                  <a:srgbClr val="1C252B"/>
                </a:solidFill>
                <a:latin typeface="Segoe UI"/>
              </a:rPr>
              <a:t> training error from true error, and </a:t>
            </a:r>
            <a:r>
              <a:rPr sz="2100" b="1" i="0">
                <a:solidFill>
                  <a:srgbClr val="1C252B"/>
                </a:solidFill>
                <a:latin typeface="Segoe UI"/>
              </a:rPr>
              <a:t>recognise</a:t>
            </a:r>
            <a:r>
              <a:rPr sz="2100" b="0" i="0">
                <a:solidFill>
                  <a:srgbClr val="1C252B"/>
                </a:solidFill>
                <a:latin typeface="Segoe UI"/>
              </a:rPr>
              <a:t> underfitting and overfitting from both.</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Decompose</a:t>
            </a:r>
            <a:r>
              <a:rPr sz="2100" b="0" i="0">
                <a:solidFill>
                  <a:srgbClr val="1C252B"/>
                </a:solidFill>
                <a:latin typeface="Segoe UI"/>
              </a:rPr>
              <a:t> expected error into bias, variance and noise, and </a:t>
            </a:r>
            <a:r>
              <a:rPr sz="2100" b="1" i="0">
                <a:solidFill>
                  <a:srgbClr val="1C252B"/>
                </a:solidFill>
                <a:latin typeface="Segoe UI"/>
              </a:rPr>
              <a:t>compute</a:t>
            </a:r>
            <a:r>
              <a:rPr sz="2100" b="0" i="0">
                <a:solidFill>
                  <a:srgbClr val="1C252B"/>
                </a:solidFill>
                <a:latin typeface="Segoe UI"/>
              </a:rPr>
              <a:t> each from repeated predictions.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Diagnose</a:t>
            </a:r>
            <a:r>
              <a:rPr sz="2100" b="0" i="0">
                <a:solidFill>
                  <a:srgbClr val="1C252B"/>
                </a:solidFill>
                <a:latin typeface="Segoe UI"/>
              </a:rPr>
              <a:t> a model from its learning curves and </a:t>
            </a:r>
            <a:r>
              <a:rPr sz="2100" b="1" i="0">
                <a:solidFill>
                  <a:srgbClr val="1C252B"/>
                </a:solidFill>
                <a:latin typeface="Segoe UI"/>
              </a:rPr>
              <a:t>choose</a:t>
            </a:r>
            <a:r>
              <a:rPr sz="2100" b="0" i="0">
                <a:solidFill>
                  <a:srgbClr val="1C252B"/>
                </a:solidFill>
                <a:latin typeface="Segoe UI"/>
              </a:rPr>
              <a:t> the right remedy.</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Apply</a:t>
            </a:r>
            <a:r>
              <a:rPr sz="2100" b="0" i="0">
                <a:solidFill>
                  <a:srgbClr val="1C252B"/>
                </a:solidFill>
                <a:latin typeface="Segoe UI"/>
              </a:rPr>
              <a:t> ridge and lasso regularisation and </a:t>
            </a:r>
            <a:r>
              <a:rPr sz="2100" b="1" i="0">
                <a:solidFill>
                  <a:srgbClr val="1C252B"/>
                </a:solidFill>
                <a:latin typeface="Segoe UI"/>
              </a:rPr>
              <a:t>explain</a:t>
            </a:r>
            <a:r>
              <a:rPr sz="2100" b="0" i="0">
                <a:solidFill>
                  <a:srgbClr val="1C252B"/>
                </a:solidFill>
                <a:latin typeface="Segoe UI"/>
              </a:rPr>
              <a:t> how the penalty strength trades bias for variance.</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Select</a:t>
            </a:r>
            <a:r>
              <a:rPr sz="2100" b="0" i="0">
                <a:solidFill>
                  <a:srgbClr val="1C252B"/>
                </a:solidFill>
                <a:latin typeface="Segoe UI"/>
              </a:rPr>
              <a:t> a model and its hyperparameters with </a:t>
            </a:r>
            <a:r>
              <a:rPr sz="2100" b="0" i="1">
                <a:solidFill>
                  <a:srgbClr val="1C252B"/>
                </a:solidFill>
                <a:latin typeface="Cambria"/>
              </a:rPr>
              <a:t>k</a:t>
            </a:r>
            <a:r>
              <a:rPr sz="2100" b="0" i="0">
                <a:solidFill>
                  <a:srgbClr val="1C252B"/>
                </a:solidFill>
                <a:latin typeface="Segoe UI"/>
              </a:rPr>
              <a:t>-fold cross-validation, touching the test set only once.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7731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a:t>
            </a:r>
            <a:fld id="{718754ED-EA07-43BF-B0ED-736566EFA3A1}" type="slidenum">
              <a:rPr lang="en-GB" sz="1000">
                <a:solidFill>
                  <a:srgbClr val="8795A1"/>
                </a:solidFill>
                <a:latin typeface="Segoe UI"/>
              </a:rPr>
              <a:t>4</a:t>
            </a:fld>
          </a:p>
        </p:txBody>
      </p:sp>
      <p:sp>
        <p:nvSpPr>
          <p:cNvPr id="7" name="!!term-generalisation">
            <a:extLst>
              <a:ext uri="{C183D7F6-B498-43B3-948B-1728B52AA6E4}">
                <adec:decorative xmlns:adec="http://schemas.microsoft.com/office/drawing/2017/decorative" val="1"/>
              </a:ext>
            </a:extLst>
          </p:cNvPr>
          <p:cNvSpPr/>
          <p:nvPr/>
        </p:nvSpPr>
        <p:spPr>
          <a:xfrm>
            <a:off x="658368" y="1847088"/>
            <a:ext cx="16451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generalisat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generalisation"/>
          <p:cNvSpPr txBox="1"/>
          <p:nvPr/>
        </p:nvSpPr>
        <p:spPr>
          <a:xfrm>
            <a:off x="950976" y="1970532"/>
            <a:ext cx="146230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generalisation</a:t>
            </a:r>
          </a:p>
        </p:txBody>
      </p:sp>
      <p:sp>
        <p:nvSpPr>
          <p:cNvPr id="10" name="!!term-training error">
            <a:extLst>
              <a:ext uri="{C183D7F6-B498-43B3-948B-1728B52AA6E4}">
                <adec:decorative xmlns:adec="http://schemas.microsoft.com/office/drawing/2017/decorative" val="1"/>
              </a:ext>
            </a:extLst>
          </p:cNvPr>
          <p:cNvSpPr/>
          <p:nvPr/>
        </p:nvSpPr>
        <p:spPr>
          <a:xfrm>
            <a:off x="2449860" y="1847088"/>
            <a:ext cx="15713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training error">
            <a:extLst>
              <a:ext uri="{C183D7F6-B498-43B3-948B-1728B52AA6E4}">
                <adec:decorative xmlns:adec="http://schemas.microsoft.com/office/drawing/2017/decorative" val="1"/>
              </a:ext>
            </a:extLst>
          </p:cNvPr>
          <p:cNvSpPr/>
          <p:nvPr/>
        </p:nvSpPr>
        <p:spPr>
          <a:xfrm>
            <a:off x="257787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training error"/>
          <p:cNvSpPr txBox="1"/>
          <p:nvPr/>
        </p:nvSpPr>
        <p:spPr>
          <a:xfrm>
            <a:off x="2742468" y="1970532"/>
            <a:ext cx="138843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training error</a:t>
            </a:r>
          </a:p>
        </p:txBody>
      </p:sp>
      <p:sp>
        <p:nvSpPr>
          <p:cNvPr id="13" name="!!term-true error">
            <a:extLst>
              <a:ext uri="{C183D7F6-B498-43B3-948B-1728B52AA6E4}">
                <adec:decorative xmlns:adec="http://schemas.microsoft.com/office/drawing/2017/decorative" val="1"/>
              </a:ext>
            </a:extLst>
          </p:cNvPr>
          <p:cNvSpPr/>
          <p:nvPr/>
        </p:nvSpPr>
        <p:spPr>
          <a:xfrm>
            <a:off x="4167475" y="1847088"/>
            <a:ext cx="12555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rue error">
            <a:extLst>
              <a:ext uri="{C183D7F6-B498-43B3-948B-1728B52AA6E4}">
                <adec:decorative xmlns:adec="http://schemas.microsoft.com/office/drawing/2017/decorative" val="1"/>
              </a:ext>
            </a:extLst>
          </p:cNvPr>
          <p:cNvSpPr/>
          <p:nvPr/>
        </p:nvSpPr>
        <p:spPr>
          <a:xfrm>
            <a:off x="429549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rue error"/>
          <p:cNvSpPr txBox="1"/>
          <p:nvPr/>
        </p:nvSpPr>
        <p:spPr>
          <a:xfrm>
            <a:off x="4460083" y="1970532"/>
            <a:ext cx="10726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true error</a:t>
            </a:r>
          </a:p>
        </p:txBody>
      </p:sp>
      <p:sp>
        <p:nvSpPr>
          <p:cNvPr id="16" name="!!term-generalisation">
            <a:extLst>
              <a:ext uri="{C183D7F6-B498-43B3-948B-1728B52AA6E4}">
                <adec:decorative xmlns:adec="http://schemas.microsoft.com/office/drawing/2017/decorative" val="1"/>
              </a:ext>
            </a:extLst>
          </p:cNvPr>
          <p:cNvSpPr/>
          <p:nvPr/>
        </p:nvSpPr>
        <p:spPr>
          <a:xfrm>
            <a:off x="5569337" y="1847088"/>
            <a:ext cx="20260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generalisation">
            <a:extLst>
              <a:ext uri="{C183D7F6-B498-43B3-948B-1728B52AA6E4}">
                <adec:decorative xmlns:adec="http://schemas.microsoft.com/office/drawing/2017/decorative" val="1"/>
              </a:ext>
            </a:extLst>
          </p:cNvPr>
          <p:cNvSpPr/>
          <p:nvPr/>
        </p:nvSpPr>
        <p:spPr>
          <a:xfrm>
            <a:off x="569735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generalisation"/>
          <p:cNvSpPr txBox="1"/>
          <p:nvPr/>
        </p:nvSpPr>
        <p:spPr>
          <a:xfrm>
            <a:off x="5861945" y="1970532"/>
            <a:ext cx="18431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generalisation gap</a:t>
            </a:r>
          </a:p>
        </p:txBody>
      </p:sp>
      <p:sp>
        <p:nvSpPr>
          <p:cNvPr id="19" name="!!term-underfitting">
            <a:extLst>
              <a:ext uri="{C183D7F6-B498-43B3-948B-1728B52AA6E4}">
                <adec:decorative xmlns:adec="http://schemas.microsoft.com/office/drawing/2017/decorative" val="1"/>
              </a:ext>
            </a:extLst>
          </p:cNvPr>
          <p:cNvSpPr/>
          <p:nvPr/>
        </p:nvSpPr>
        <p:spPr>
          <a:xfrm>
            <a:off x="7741677" y="1847088"/>
            <a:ext cx="14536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underfitting">
            <a:extLst>
              <a:ext uri="{C183D7F6-B498-43B3-948B-1728B52AA6E4}">
                <adec:decorative xmlns:adec="http://schemas.microsoft.com/office/drawing/2017/decorative" val="1"/>
              </a:ext>
            </a:extLst>
          </p:cNvPr>
          <p:cNvSpPr/>
          <p:nvPr/>
        </p:nvSpPr>
        <p:spPr>
          <a:xfrm>
            <a:off x="78696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underfitting"/>
          <p:cNvSpPr txBox="1"/>
          <p:nvPr/>
        </p:nvSpPr>
        <p:spPr>
          <a:xfrm>
            <a:off x="8034285" y="1970532"/>
            <a:ext cx="127077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underfitting</a:t>
            </a:r>
          </a:p>
        </p:txBody>
      </p:sp>
      <p:sp>
        <p:nvSpPr>
          <p:cNvPr id="22" name="!!term-overfitting">
            <a:extLst>
              <a:ext uri="{C183D7F6-B498-43B3-948B-1728B52AA6E4}">
                <adec:decorative xmlns:adec="http://schemas.microsoft.com/office/drawing/2017/decorative" val="1"/>
              </a:ext>
            </a:extLst>
          </p:cNvPr>
          <p:cNvSpPr/>
          <p:nvPr/>
        </p:nvSpPr>
        <p:spPr>
          <a:xfrm>
            <a:off x="9341637" y="1847088"/>
            <a:ext cx="13261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overfitting">
            <a:extLst>
              <a:ext uri="{C183D7F6-B498-43B3-948B-1728B52AA6E4}">
                <adec:decorative xmlns:adec="http://schemas.microsoft.com/office/drawing/2017/decorative" val="1"/>
              </a:ext>
            </a:extLst>
          </p:cNvPr>
          <p:cNvSpPr/>
          <p:nvPr/>
        </p:nvSpPr>
        <p:spPr>
          <a:xfrm>
            <a:off x="946965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overfitting"/>
          <p:cNvSpPr txBox="1"/>
          <p:nvPr/>
        </p:nvSpPr>
        <p:spPr>
          <a:xfrm>
            <a:off x="9634245" y="1970532"/>
            <a:ext cx="114329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overfitting</a:t>
            </a:r>
          </a:p>
        </p:txBody>
      </p:sp>
      <p:sp>
        <p:nvSpPr>
          <p:cNvPr id="25" name="!!term-model complexi">
            <a:extLst>
              <a:ext uri="{C183D7F6-B498-43B3-948B-1728B52AA6E4}">
                <adec:decorative xmlns:adec="http://schemas.microsoft.com/office/drawing/2017/decorative" val="1"/>
              </a:ext>
            </a:extLst>
          </p:cNvPr>
          <p:cNvSpPr/>
          <p:nvPr/>
        </p:nvSpPr>
        <p:spPr>
          <a:xfrm>
            <a:off x="658368" y="2468880"/>
            <a:ext cx="19663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model complexi">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model complexi"/>
          <p:cNvSpPr txBox="1"/>
          <p:nvPr/>
        </p:nvSpPr>
        <p:spPr>
          <a:xfrm>
            <a:off x="950976" y="2592324"/>
            <a:ext cx="178350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model complexity</a:t>
            </a:r>
          </a:p>
        </p:txBody>
      </p:sp>
      <p:sp>
        <p:nvSpPr>
          <p:cNvPr id="28" name="!!term-bias">
            <a:extLst>
              <a:ext uri="{C183D7F6-B498-43B3-948B-1728B52AA6E4}">
                <adec:decorative xmlns:adec="http://schemas.microsoft.com/office/drawing/2017/decorative" val="1"/>
              </a:ext>
            </a:extLst>
          </p:cNvPr>
          <p:cNvSpPr/>
          <p:nvPr/>
        </p:nvSpPr>
        <p:spPr>
          <a:xfrm>
            <a:off x="2771054" y="2468880"/>
            <a:ext cx="7814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bias">
            <a:extLst>
              <a:ext uri="{C183D7F6-B498-43B3-948B-1728B52AA6E4}">
                <adec:decorative xmlns:adec="http://schemas.microsoft.com/office/drawing/2017/decorative" val="1"/>
              </a:ext>
            </a:extLst>
          </p:cNvPr>
          <p:cNvSpPr/>
          <p:nvPr/>
        </p:nvSpPr>
        <p:spPr>
          <a:xfrm>
            <a:off x="289907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bias"/>
          <p:cNvSpPr txBox="1"/>
          <p:nvPr/>
        </p:nvSpPr>
        <p:spPr>
          <a:xfrm>
            <a:off x="3063662" y="2592324"/>
            <a:ext cx="5986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bias</a:t>
            </a:r>
          </a:p>
        </p:txBody>
      </p:sp>
      <p:sp>
        <p:nvSpPr>
          <p:cNvPr id="31" name="!!term-variance">
            <a:extLst>
              <a:ext uri="{C183D7F6-B498-43B3-948B-1728B52AA6E4}">
                <adec:decorative xmlns:adec="http://schemas.microsoft.com/office/drawing/2017/decorative" val="1"/>
              </a:ext>
            </a:extLst>
          </p:cNvPr>
          <p:cNvSpPr/>
          <p:nvPr/>
        </p:nvSpPr>
        <p:spPr>
          <a:xfrm>
            <a:off x="3698839" y="2468880"/>
            <a:ext cx="11457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variance">
            <a:extLst>
              <a:ext uri="{C183D7F6-B498-43B3-948B-1728B52AA6E4}">
                <adec:decorative xmlns:adec="http://schemas.microsoft.com/office/drawing/2017/decorative" val="1"/>
              </a:ext>
            </a:extLst>
          </p:cNvPr>
          <p:cNvSpPr/>
          <p:nvPr/>
        </p:nvSpPr>
        <p:spPr>
          <a:xfrm>
            <a:off x="382685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variance"/>
          <p:cNvSpPr txBox="1"/>
          <p:nvPr/>
        </p:nvSpPr>
        <p:spPr>
          <a:xfrm>
            <a:off x="3991447" y="2592324"/>
            <a:ext cx="9628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variance</a:t>
            </a:r>
          </a:p>
        </p:txBody>
      </p:sp>
      <p:sp>
        <p:nvSpPr>
          <p:cNvPr id="34" name="!!term-irreducible er">
            <a:extLst>
              <a:ext uri="{C183D7F6-B498-43B3-948B-1728B52AA6E4}">
                <adec:decorative xmlns:adec="http://schemas.microsoft.com/office/drawing/2017/decorative" val="1"/>
              </a:ext>
            </a:extLst>
          </p:cNvPr>
          <p:cNvSpPr/>
          <p:nvPr/>
        </p:nvSpPr>
        <p:spPr>
          <a:xfrm>
            <a:off x="4990900" y="2468880"/>
            <a:ext cx="24439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irreducible er">
            <a:extLst>
              <a:ext uri="{C183D7F6-B498-43B3-948B-1728B52AA6E4}">
                <adec:decorative xmlns:adec="http://schemas.microsoft.com/office/drawing/2017/decorative" val="1"/>
              </a:ext>
            </a:extLst>
          </p:cNvPr>
          <p:cNvSpPr/>
          <p:nvPr/>
        </p:nvSpPr>
        <p:spPr>
          <a:xfrm>
            <a:off x="511891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irreducible er"/>
          <p:cNvSpPr txBox="1"/>
          <p:nvPr/>
        </p:nvSpPr>
        <p:spPr>
          <a:xfrm>
            <a:off x="5283508" y="2592324"/>
            <a:ext cx="226103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irreducible error (noise)</a:t>
            </a:r>
          </a:p>
        </p:txBody>
      </p:sp>
      <p:sp>
        <p:nvSpPr>
          <p:cNvPr id="37" name="!!term-learning curve">
            <a:extLst>
              <a:ext uri="{C183D7F6-B498-43B3-948B-1728B52AA6E4}">
                <adec:decorative xmlns:adec="http://schemas.microsoft.com/office/drawing/2017/decorative" val="1"/>
              </a:ext>
            </a:extLst>
          </p:cNvPr>
          <p:cNvSpPr/>
          <p:nvPr/>
        </p:nvSpPr>
        <p:spPr>
          <a:xfrm>
            <a:off x="7581122" y="2468880"/>
            <a:ext cx="16509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learning curve">
            <a:extLst>
              <a:ext uri="{C183D7F6-B498-43B3-948B-1728B52AA6E4}">
                <adec:decorative xmlns:adec="http://schemas.microsoft.com/office/drawing/2017/decorative" val="1"/>
              </a:ext>
            </a:extLst>
          </p:cNvPr>
          <p:cNvSpPr/>
          <p:nvPr/>
        </p:nvSpPr>
        <p:spPr>
          <a:xfrm>
            <a:off x="770913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learning curve"/>
          <p:cNvSpPr txBox="1"/>
          <p:nvPr/>
        </p:nvSpPr>
        <p:spPr>
          <a:xfrm>
            <a:off x="7873730" y="2592324"/>
            <a:ext cx="14680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learning curve</a:t>
            </a:r>
          </a:p>
        </p:txBody>
      </p:sp>
      <p:sp>
        <p:nvSpPr>
          <p:cNvPr id="40" name="!!term-regularisation">
            <a:extLst>
              <a:ext uri="{C183D7F6-B498-43B3-948B-1728B52AA6E4}">
                <adec:decorative xmlns:adec="http://schemas.microsoft.com/office/drawing/2017/decorative" val="1"/>
              </a:ext>
            </a:extLst>
          </p:cNvPr>
          <p:cNvSpPr/>
          <p:nvPr/>
        </p:nvSpPr>
        <p:spPr>
          <a:xfrm>
            <a:off x="9378347" y="2468880"/>
            <a:ext cx="16111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regularisation">
            <a:extLst>
              <a:ext uri="{C183D7F6-B498-43B3-948B-1728B52AA6E4}">
                <adec:decorative xmlns:adec="http://schemas.microsoft.com/office/drawing/2017/decorative" val="1"/>
              </a:ext>
            </a:extLst>
          </p:cNvPr>
          <p:cNvSpPr/>
          <p:nvPr/>
        </p:nvSpPr>
        <p:spPr>
          <a:xfrm>
            <a:off x="950636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regularisation"/>
          <p:cNvSpPr txBox="1"/>
          <p:nvPr/>
        </p:nvSpPr>
        <p:spPr>
          <a:xfrm>
            <a:off x="9670955" y="2592324"/>
            <a:ext cx="14282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regularisation</a:t>
            </a:r>
          </a:p>
        </p:txBody>
      </p:sp>
      <p:sp>
        <p:nvSpPr>
          <p:cNvPr id="43" name="!!term-ridge (L2)">
            <a:extLst>
              <a:ext uri="{C183D7F6-B498-43B3-948B-1728B52AA6E4}">
                <adec:decorative xmlns:adec="http://schemas.microsoft.com/office/drawing/2017/decorative" val="1"/>
              </a:ext>
            </a:extLst>
          </p:cNvPr>
          <p:cNvSpPr/>
          <p:nvPr/>
        </p:nvSpPr>
        <p:spPr>
          <a:xfrm>
            <a:off x="658368" y="3090672"/>
            <a:ext cx="12509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ridge (L2)">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ridge (L2)"/>
          <p:cNvSpPr txBox="1"/>
          <p:nvPr/>
        </p:nvSpPr>
        <p:spPr>
          <a:xfrm>
            <a:off x="950976" y="3214116"/>
            <a:ext cx="106805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ridge (L2)</a:t>
            </a:r>
          </a:p>
        </p:txBody>
      </p:sp>
      <p:sp>
        <p:nvSpPr>
          <p:cNvPr id="46" name="!!term-lasso (L1)">
            <a:extLst>
              <a:ext uri="{C183D7F6-B498-43B3-948B-1728B52AA6E4}">
                <adec:decorative xmlns:adec="http://schemas.microsoft.com/office/drawing/2017/decorative" val="1"/>
              </a:ext>
            </a:extLst>
          </p:cNvPr>
          <p:cNvSpPr/>
          <p:nvPr/>
        </p:nvSpPr>
        <p:spPr>
          <a:xfrm>
            <a:off x="2055605" y="3090672"/>
            <a:ext cx="12303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lasso (L1)">
            <a:extLst>
              <a:ext uri="{C183D7F6-B498-43B3-948B-1728B52AA6E4}">
                <adec:decorative xmlns:adec="http://schemas.microsoft.com/office/drawing/2017/decorative" val="1"/>
              </a:ext>
            </a:extLst>
          </p:cNvPr>
          <p:cNvSpPr/>
          <p:nvPr/>
        </p:nvSpPr>
        <p:spPr>
          <a:xfrm>
            <a:off x="218362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lasso (L1)"/>
          <p:cNvSpPr txBox="1"/>
          <p:nvPr/>
        </p:nvSpPr>
        <p:spPr>
          <a:xfrm>
            <a:off x="2348213" y="3214116"/>
            <a:ext cx="10474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lasso (L1)</a:t>
            </a:r>
          </a:p>
        </p:txBody>
      </p:sp>
      <p:sp>
        <p:nvSpPr>
          <p:cNvPr id="49" name="!!term-hyperparameter">
            <a:extLst>
              <a:ext uri="{C183D7F6-B498-43B3-948B-1728B52AA6E4}">
                <adec:decorative xmlns:adec="http://schemas.microsoft.com/office/drawing/2017/decorative" val="1"/>
              </a:ext>
            </a:extLst>
          </p:cNvPr>
          <p:cNvSpPr/>
          <p:nvPr/>
        </p:nvSpPr>
        <p:spPr>
          <a:xfrm>
            <a:off x="3432246" y="3090672"/>
            <a:ext cx="18100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hyperparameter">
            <a:extLst>
              <a:ext uri="{C183D7F6-B498-43B3-948B-1728B52AA6E4}">
                <adec:decorative xmlns:adec="http://schemas.microsoft.com/office/drawing/2017/decorative" val="1"/>
              </a:ext>
            </a:extLst>
          </p:cNvPr>
          <p:cNvSpPr/>
          <p:nvPr/>
        </p:nvSpPr>
        <p:spPr>
          <a:xfrm>
            <a:off x="356026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hyperparameter"/>
          <p:cNvSpPr txBox="1"/>
          <p:nvPr/>
        </p:nvSpPr>
        <p:spPr>
          <a:xfrm>
            <a:off x="3724854" y="3214116"/>
            <a:ext cx="162721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hyperparameter</a:t>
            </a:r>
          </a:p>
        </p:txBody>
      </p:sp>
      <p:sp>
        <p:nvSpPr>
          <p:cNvPr id="52" name="!!term-k-fold cross-v">
            <a:extLst>
              <a:ext uri="{C183D7F6-B498-43B3-948B-1728B52AA6E4}">
                <adec:decorative xmlns:adec="http://schemas.microsoft.com/office/drawing/2017/decorative" val="1"/>
              </a:ext>
            </a:extLst>
          </p:cNvPr>
          <p:cNvSpPr/>
          <p:nvPr/>
        </p:nvSpPr>
        <p:spPr>
          <a:xfrm>
            <a:off x="5388644" y="3090672"/>
            <a:ext cx="23521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k-fold cross-v">
            <a:extLst>
              <a:ext uri="{C183D7F6-B498-43B3-948B-1728B52AA6E4}">
                <adec:decorative xmlns:adec="http://schemas.microsoft.com/office/drawing/2017/decorative" val="1"/>
              </a:ext>
            </a:extLst>
          </p:cNvPr>
          <p:cNvSpPr/>
          <p:nvPr/>
        </p:nvSpPr>
        <p:spPr>
          <a:xfrm>
            <a:off x="551666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k-fold cross-v"/>
          <p:cNvSpPr txBox="1"/>
          <p:nvPr/>
        </p:nvSpPr>
        <p:spPr>
          <a:xfrm>
            <a:off x="5681252" y="3214116"/>
            <a:ext cx="21692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k-fold cross-validation</a:t>
            </a:r>
          </a:p>
        </p:txBody>
      </p:sp>
      <p:sp>
        <p:nvSpPr>
          <p:cNvPr id="55" name="!!term-grid search">
            <a:extLst>
              <a:ext uri="{C183D7F6-B498-43B3-948B-1728B52AA6E4}">
                <adec:decorative xmlns:adec="http://schemas.microsoft.com/office/drawing/2017/decorative" val="1"/>
              </a:ext>
            </a:extLst>
          </p:cNvPr>
          <p:cNvSpPr/>
          <p:nvPr/>
        </p:nvSpPr>
        <p:spPr>
          <a:xfrm>
            <a:off x="7887124" y="3090672"/>
            <a:ext cx="13859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grid search">
            <a:extLst>
              <a:ext uri="{C183D7F6-B498-43B3-948B-1728B52AA6E4}">
                <adec:decorative xmlns:adec="http://schemas.microsoft.com/office/drawing/2017/decorative" val="1"/>
              </a:ext>
            </a:extLst>
          </p:cNvPr>
          <p:cNvSpPr/>
          <p:nvPr/>
        </p:nvSpPr>
        <p:spPr>
          <a:xfrm>
            <a:off x="801514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grid search"/>
          <p:cNvSpPr txBox="1"/>
          <p:nvPr/>
        </p:nvSpPr>
        <p:spPr>
          <a:xfrm>
            <a:off x="8179732" y="3214116"/>
            <a:ext cx="120305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grid search</a:t>
            </a:r>
          </a:p>
        </p:txBody>
      </p:sp>
      <p:sp>
        <p:nvSpPr>
          <p:cNvPr id="58" name="!!term-nested cross-v">
            <a:extLst>
              <a:ext uri="{C183D7F6-B498-43B3-948B-1728B52AA6E4}">
                <adec:decorative xmlns:adec="http://schemas.microsoft.com/office/drawing/2017/decorative" val="1"/>
              </a:ext>
            </a:extLst>
          </p:cNvPr>
          <p:cNvSpPr/>
          <p:nvPr/>
        </p:nvSpPr>
        <p:spPr>
          <a:xfrm>
            <a:off x="658368" y="3712464"/>
            <a:ext cx="24178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nested cross-v">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nested cross-v"/>
          <p:cNvSpPr txBox="1"/>
          <p:nvPr/>
        </p:nvSpPr>
        <p:spPr>
          <a:xfrm>
            <a:off x="950976" y="3835908"/>
            <a:ext cx="223496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nested cross-validation</a:t>
            </a:r>
          </a:p>
        </p:txBody>
      </p:sp>
      <p:sp>
        <p:nvSpPr>
          <p:cNvPr id="61"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pfill">
            <a:extLst>
              <a:ext uri="{C183D7F6-B498-43B3-948B-1728B52AA6E4}">
                <adec:decorative xmlns:adec="http://schemas.microsoft.com/office/drawing/2017/decorative" val="1"/>
              </a:ext>
            </a:extLst>
          </p:cNvPr>
          <p:cNvSpPr/>
          <p:nvPr/>
        </p:nvSpPr>
        <p:spPr>
          <a:xfrm>
            <a:off x="0" y="0"/>
            <a:ext cx="90308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52–59     </a:t>
            </a:r>
            <a:fld id="{3340C864-DDDA-4100-8093-A939D9B3924B}" type="slidenum">
              <a:rPr lang="en-GB" sz="1000">
                <a:solidFill>
                  <a:srgbClr val="8795A1"/>
                </a:solidFill>
                <a:latin typeface="Segoe UI"/>
              </a:rPr>
              <a:t>5</a:t>
            </a:fld>
          </a:p>
        </p:txBody>
      </p:sp>
      <p:sp>
        <p:nvSpPr>
          <p:cNvPr id="7" name="!!ag0" descr="Go to section 7.1 The Goal Is Generalisatio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Goal Is Generalisation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52  ›</a:t>
            </a:r>
          </a:p>
        </p:txBody>
      </p:sp>
      <p:sp>
        <p:nvSpPr>
          <p:cNvPr id="12" name="!!ag1" descr="Go to section 7.2 Underfitting and Overfitting">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Underfitting and Overfitting</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52  ›</a:t>
            </a:r>
          </a:p>
        </p:txBody>
      </p:sp>
      <p:sp>
        <p:nvSpPr>
          <p:cNvPr id="17" name="!!ag2" descr="Go to section 7.3 The Bias–Variance Decomposition">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Bias–Variance Decomposition</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53  ›</a:t>
            </a:r>
          </a:p>
        </p:txBody>
      </p:sp>
      <p:sp>
        <p:nvSpPr>
          <p:cNvPr id="22" name="!!ag3" descr="Go to section 7.4 Noisy Data">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Noisy Data</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54  ›</a:t>
            </a:r>
          </a:p>
        </p:txBody>
      </p:sp>
      <p:sp>
        <p:nvSpPr>
          <p:cNvPr id="27" name="!!ag4" descr="Go to section 7.5 Diagnosing With Learning Curve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Diagnosing With Learning Curves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55  ›</a:t>
            </a:r>
          </a:p>
        </p:txBody>
      </p:sp>
      <p:sp>
        <p:nvSpPr>
          <p:cNvPr id="32" name="!!ag5" descr="Go to section 7.6 Regularisation">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Regularisation</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55  ›</a:t>
            </a:r>
          </a:p>
        </p:txBody>
      </p:sp>
      <p:sp>
        <p:nvSpPr>
          <p:cNvPr id="37" name="!!ag6" descr="Go to section 7.7 Model Selection With Cross-Validation">
            <a:hlinkClick action="ppaction://hlinksldjump" r:id="rId11"/>
          </p:cNvPr>
          <p:cNvSpPr/>
          <p:nvPr/>
        </p:nvSpPr>
        <p:spPr>
          <a:xfrm>
            <a:off x="658368" y="561441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61441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760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7.7</a:t>
            </a:r>
          </a:p>
        </p:txBody>
      </p:sp>
      <p:sp>
        <p:nvSpPr>
          <p:cNvPr id="40" name="!!agt6"/>
          <p:cNvSpPr txBox="1"/>
          <p:nvPr/>
        </p:nvSpPr>
        <p:spPr>
          <a:xfrm>
            <a:off x="1847088" y="5760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Model Selection With Cross-Validation</a:t>
            </a:r>
          </a:p>
        </p:txBody>
      </p:sp>
      <p:sp>
        <p:nvSpPr>
          <p:cNvPr id="41" name="!!agp6"/>
          <p:cNvSpPr txBox="1"/>
          <p:nvPr/>
        </p:nvSpPr>
        <p:spPr>
          <a:xfrm>
            <a:off x="9795967" y="5788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56  ›</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11288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Goal Is Generalisation</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  ·  Handout p. 52     </a:t>
            </a:r>
            <a:fld id="{5A6E620E-89FB-402F-9732-166A3EDED01D}"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284805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930347"/>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model’s </a:t>
            </a:r>
            <a:r>
              <a:rPr sz="2600" b="1" i="0">
                <a:solidFill>
                  <a:srgbClr val="1A5276"/>
                </a:solidFill>
                <a:latin typeface="Segoe UI"/>
              </a:rPr>
              <a:t>training error</a:t>
            </a:r>
            <a:r>
              <a:rPr sz="2600" b="0" i="0">
                <a:solidFill>
                  <a:srgbClr val="1C252B"/>
                </a:solidFill>
                <a:latin typeface="Segoe UI"/>
              </a:rPr>
              <a:t> is its error on the examples it learned from. Its </a:t>
            </a:r>
            <a:r>
              <a:rPr sz="2600" b="1" i="0">
                <a:solidFill>
                  <a:srgbClr val="1A5276"/>
                </a:solidFill>
                <a:latin typeface="Segoe UI"/>
              </a:rPr>
              <a:t>true error</a:t>
            </a:r>
            <a:r>
              <a:rPr sz="2600" b="0" i="0">
                <a:solidFill>
                  <a:srgbClr val="1C252B"/>
                </a:solidFill>
                <a:latin typeface="Segoe UI"/>
              </a:rPr>
              <a:t> is its expected error on new examples drawn from the same source — the only error anybody cares about. The difference between the two is the </a:t>
            </a:r>
            <a:r>
              <a:rPr sz="2600" b="1" i="0">
                <a:solidFill>
                  <a:srgbClr val="1A5276"/>
                </a:solidFill>
                <a:latin typeface="Segoe UI"/>
              </a:rPr>
              <a:t>generalisation gap</a:t>
            </a:r>
            <a:r>
              <a:rPr sz="2600" b="0" i="0">
                <a:solidFill>
                  <a:srgbClr val="1C252B"/>
                </a:solidFill>
                <a:latin typeface="Segoe UI"/>
              </a:rPr>
              <a:t>. Training error is easy to measure and always optimistic; true error cannot be measured at all, only estimated on data the model has never seen. Everything in this chapter follows from taking that distinction seriously.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Underfitting and Overfitting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The Goal Is Generalisation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7.2   Underfitting and Overfitting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The Bias–Variance Decomposition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Noisy Data</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7.5   Diagnosing With Learning Curves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7.6   Regularisation</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7.7   Model Selection With Cross-Validation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§7.2     </a:t>
            </a:r>
            <a:fld id="{4A7CED9E-FF55-48BA-A315-DAC56DD924DB}" type="slidenum">
              <a:rPr lang="en-GB" sz="1000">
                <a:solidFill>
                  <a:srgbClr val="8795A1"/>
                </a:solidFill>
                <a:latin typeface="Segoe UI"/>
              </a:rPr>
              <a:t>7</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58040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Underfitting and Overfitting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52     </a:t>
            </a:r>
            <a:fld id="{371B45DB-B967-4E4F-BCD1-75DB6EEB1244}" type="slidenum">
              <a:rPr lang="en-GB" sz="1000">
                <a:solidFill>
                  <a:srgbClr val="8795A1"/>
                </a:solidFill>
                <a:latin typeface="Segoe UI"/>
              </a:rPr>
              <a:t>8</a:t>
            </a:fld>
          </a:p>
        </p:txBody>
      </p:sp>
      <p:pic>
        <p:nvPicPr>
          <p:cNvPr id="6" name="!!figure" descr="Figure 7.1. Three polynomials fitted to the same ten points (blue); the dashed curve is the true function. Training error falls from left to right and reaches zero at degree 9, which is nonetheless the worst of the three on new data."/>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44288"/>
            <a:ext cx="10874959" cy="312948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Three polynomials fitted to the same ten points (blue); the dashed curve is the true function. Training error falls from left to right and reaches zero at degree 9, which is nonetheless the worst of the three on new data.</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0617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Underfitting and Overfitting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52     </a:t>
            </a:r>
            <a:fld id="{0C82EB71-0E4A-4214-B682-91C5E347EA31}"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model </a:t>
            </a:r>
            <a:r>
              <a:rPr sz="2300" b="1" i="0">
                <a:solidFill>
                  <a:srgbClr val="1A5276"/>
                </a:solidFill>
                <a:latin typeface="Segoe UI"/>
              </a:rPr>
              <a:t>underfits</a:t>
            </a:r>
            <a:r>
              <a:rPr sz="2300" b="0" i="0">
                <a:solidFill>
                  <a:srgbClr val="1C252B"/>
                </a:solidFill>
                <a:latin typeface="Segoe UI"/>
              </a:rPr>
              <a:t> when it is too simple to capture the pattern: both training and test error are high. A model </a:t>
            </a:r>
            <a:r>
              <a:rPr sz="2300" b="1" i="0">
                <a:solidFill>
                  <a:srgbClr val="1A5276"/>
                </a:solidFill>
                <a:latin typeface="Segoe UI"/>
              </a:rPr>
              <a:t>overfits</a:t>
            </a:r>
            <a:r>
              <a:rPr sz="2300" b="0" i="0">
                <a:solidFill>
                  <a:srgbClr val="1C252B"/>
                </a:solidFill>
                <a:latin typeface="Segoe UI"/>
              </a:rPr>
              <a:t> when it captures the noise in its particular training sample as well as the pattern: training error is low, test error is high, and the gap between them is large.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Underfitting and Overfitting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52     </a:t>
            </a:r>
            <a:fld id="{AD231557-9DF0-4095-8324-E3D996E8E362}" type="slidenum">
              <a:rPr lang="en-GB" sz="1000">
                <a:solidFill>
                  <a:srgbClr val="8795A1"/>
                </a:solidFill>
                <a:latin typeface="Segoe UI"/>
              </a:rPr>
              <a:t>10</a:t>
            </a:fld>
          </a:p>
        </p:txBody>
      </p:sp>
      <p:pic>
        <p:nvPicPr>
          <p:cNvPr id="6" name="!!figure" descr="Figure 7.2. Training and test error for the polynomials of Figure 7.1, degree 0 to 9, with the test error measured on 2,000 fresh samples. Training error only ever falls; test error falls, bottoms out, and rises. The shape of that second curve is the whole of this chapt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67292" y="1737360"/>
            <a:ext cx="6457111"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Training and test error for the polynomials of Figure 7.1, degree 0 to 9, with the test error measured on 2,000 fresh samples. Training error only ever falls; test error falls, bottoms out, and rises. The shape of that second curve is the whole of this chapter.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5772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Bias–Variance Decomposition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3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The Goal Is Generalisation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Underfitting and Overfitting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7.3   The Bias–Variance Decomposition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Noisy Data</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7.5   Diagnosing With Learning Curves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7.6   Regularisation</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7.7   Model Selection With Cross-Validation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§7.3     </a:t>
            </a:r>
            <a:fld id="{E6E6895D-55AA-463D-ABE6-F10E1246239C}" type="slidenum">
              <a:rPr lang="en-GB" sz="1000">
                <a:solidFill>
                  <a:srgbClr val="8795A1"/>
                </a:solidFill>
                <a:latin typeface="Segoe UI"/>
              </a:rPr>
              <a:t>11</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248349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Bias, Variance and Noise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§7.3  ·  Handout p. 53     </a:t>
            </a:r>
            <a:fld id="{4DE4ADD4-5896-4EEF-BFC6-979E40521AD6}"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45828"/>
          </a:xfrm>
          <a:prstGeom prst="roundRect">
            <a:avLst>
              <a:gd name="adj" fmla="val 210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4582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a fixed input </a:t>
            </a:r>
            <a:r>
              <a:rPr sz="2300" b="0" i="1">
                <a:solidFill>
                  <a:srgbClr val="1C252B"/>
                </a:solidFill>
                <a:latin typeface="Cambria"/>
              </a:rPr>
              <a:t>x</a:t>
            </a:r>
            <a:r>
              <a:rPr sz="2300" b="0" i="0" baseline="-25000">
                <a:solidFill>
                  <a:srgbClr val="1C252B"/>
                </a:solidFill>
                <a:latin typeface="Cambria"/>
              </a:rPr>
              <a:t>0</a:t>
            </a:r>
            <a:r>
              <a:rPr sz="2300" b="0" i="0">
                <a:solidFill>
                  <a:srgbClr val="1C252B"/>
                </a:solidFill>
                <a:latin typeface="Segoe UI"/>
              </a:rPr>
              <a:t> with true value </a:t>
            </a:r>
            <a:r>
              <a:rPr sz="2300" b="0" i="1">
                <a:solidFill>
                  <a:srgbClr val="1C252B"/>
                </a:solidFill>
                <a:latin typeface="Cambria"/>
              </a:rPr>
              <a:t>f</a:t>
            </a:r>
            <a:r>
              <a:rPr sz="2300" b="0" i="0">
                <a:solidFill>
                  <a:srgbClr val="1C252B"/>
                </a:solidFill>
                <a:latin typeface="Cambria"/>
              </a:rPr>
              <a:t>(</a:t>
            </a:r>
            <a:r>
              <a:rPr sz="2300" b="0" i="1">
                <a:solidFill>
                  <a:srgbClr val="1C252B"/>
                </a:solidFill>
                <a:latin typeface="Cambria"/>
              </a:rPr>
              <a:t>x</a:t>
            </a:r>
            <a:r>
              <a:rPr sz="2300" b="0" i="0" baseline="-25000">
                <a:solidFill>
                  <a:srgbClr val="1C252B"/>
                </a:solidFill>
                <a:latin typeface="Cambria"/>
              </a:rPr>
              <a:t>0</a:t>
            </a:r>
            <a:r>
              <a:rPr sz="2300" b="0" i="0">
                <a:solidFill>
                  <a:srgbClr val="1C252B"/>
                </a:solidFill>
                <a:latin typeface="Cambria"/>
              </a:rPr>
              <a:t>)</a:t>
            </a:r>
            <a:r>
              <a:rPr sz="2300" b="0" i="0">
                <a:solidFill>
                  <a:srgbClr val="1C252B"/>
                </a:solidFill>
                <a:latin typeface="Segoe UI"/>
              </a:rPr>
              <a:t>, let </a:t>
            </a:r>
            <a:r>
              <a:rPr sz="2300" b="0" i="1">
                <a:solidFill>
                  <a:srgbClr val="1C252B"/>
                </a:solidFill>
                <a:latin typeface="Cambria"/>
              </a:rPr>
              <a:t>f̂</a:t>
            </a:r>
            <a:r>
              <a:rPr sz="2300" b="0" i="0">
                <a:solidFill>
                  <a:srgbClr val="1C252B"/>
                </a:solidFill>
                <a:latin typeface="Cambria"/>
              </a:rPr>
              <a:t>(</a:t>
            </a:r>
            <a:r>
              <a:rPr sz="2300" b="0" i="1">
                <a:solidFill>
                  <a:srgbClr val="1C252B"/>
                </a:solidFill>
                <a:latin typeface="Cambria"/>
              </a:rPr>
              <a:t>x</a:t>
            </a:r>
            <a:r>
              <a:rPr sz="2300" b="0" i="0" baseline="-25000">
                <a:solidFill>
                  <a:srgbClr val="1C252B"/>
                </a:solidFill>
                <a:latin typeface="Cambria"/>
              </a:rPr>
              <a:t>0</a:t>
            </a:r>
            <a:r>
              <a:rPr sz="2300" b="0" i="0">
                <a:solidFill>
                  <a:srgbClr val="1C252B"/>
                </a:solidFill>
                <a:latin typeface="Cambria"/>
              </a:rPr>
              <a:t>)</a:t>
            </a:r>
            <a:r>
              <a:rPr sz="2300" b="0" i="0">
                <a:solidFill>
                  <a:srgbClr val="1C252B"/>
                </a:solidFill>
                <a:latin typeface="Segoe UI"/>
              </a:rPr>
              <a:t> be the prediction of a model trained on a random training set. Then the expected squared error on a new observation </a:t>
            </a:r>
            <a:r>
              <a:rPr sz="2300" b="0" i="1">
                <a:solidFill>
                  <a:srgbClr val="1C252B"/>
                </a:solidFill>
                <a:latin typeface="Cambria"/>
              </a:rPr>
              <a:t>y</a:t>
            </a:r>
            <a:r>
              <a:rPr sz="2300" b="0" i="0">
                <a:solidFill>
                  <a:srgbClr val="1C252B"/>
                </a:solidFill>
                <a:latin typeface="Cambria"/>
              </a:rPr>
              <a:t> = </a:t>
            </a:r>
            <a:r>
              <a:rPr sz="2300" b="0" i="1">
                <a:solidFill>
                  <a:srgbClr val="1C252B"/>
                </a:solidFill>
                <a:latin typeface="Cambria"/>
              </a:rPr>
              <a:t>f</a:t>
            </a:r>
            <a:r>
              <a:rPr sz="2300" b="0" i="0">
                <a:solidFill>
                  <a:srgbClr val="1C252B"/>
                </a:solidFill>
                <a:latin typeface="Cambria"/>
              </a:rPr>
              <a:t>(</a:t>
            </a:r>
            <a:r>
              <a:rPr sz="2300" b="0" i="1">
                <a:solidFill>
                  <a:srgbClr val="1C252B"/>
                </a:solidFill>
                <a:latin typeface="Cambria"/>
              </a:rPr>
              <a:t>x</a:t>
            </a:r>
            <a:r>
              <a:rPr sz="2300" b="0" i="0" baseline="-25000">
                <a:solidFill>
                  <a:srgbClr val="1C252B"/>
                </a:solidFill>
                <a:latin typeface="Cambria"/>
              </a:rPr>
              <a:t>0</a:t>
            </a:r>
            <a:r>
              <a:rPr sz="2300" b="0" i="0">
                <a:solidFill>
                  <a:srgbClr val="1C252B"/>
                </a:solidFill>
                <a:latin typeface="Cambria"/>
              </a:rPr>
              <a:t>) + ε</a:t>
            </a:r>
            <a:r>
              <a:rPr sz="2300" b="0" i="0">
                <a:solidFill>
                  <a:srgbClr val="1C252B"/>
                </a:solidFill>
                <a:latin typeface="Segoe UI"/>
              </a:rPr>
              <a:t> is</a:t>
            </a:r>
          </a:p>
        </p:txBody>
      </p:sp>
      <p:pic>
        <p:nvPicPr>
          <p:cNvPr id="10" name="body-1" descr="\mathbb{E}\big[(y - \hat{f}(x_0))^2\big] = \underbrace{\big(\mathbb{E}[\hat{f}(x_0)] - f(x_0)\big)^2}_{\text{bias}^2} + \underbrace{\mathbb{E}\big[(\hat{f}(x_0) - \mathbb{E}[\hat{f}(x_0)])^2\big]}_{\text{variance}} + \underbrace{\sigma^2_{\varepsilon}}_{\text{nois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850940"/>
          </a:xfrm>
          <a:prstGeom prst="rect">
            <a:avLst/>
          </a:prstGeom>
        </p:spPr>
      </p:pic>
      <p:sp>
        <p:nvSpPr>
          <p:cNvPr id="11" name="body-2"/>
          <p:cNvSpPr txBox="1"/>
          <p:nvPr/>
        </p:nvSpPr>
        <p:spPr>
          <a:xfrm>
            <a:off x="1060704" y="4314129"/>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Bias</a:t>
            </a:r>
            <a:r>
              <a:rPr sz="2300" b="0" i="0">
                <a:solidFill>
                  <a:srgbClr val="1C252B"/>
                </a:solidFill>
                <a:latin typeface="Segoe UI"/>
              </a:rPr>
              <a:t> is how far the average prediction is from the truth — the error of the model’s assumptions. </a:t>
            </a:r>
            <a:r>
              <a:rPr sz="2300" b="1" i="0">
                <a:solidFill>
                  <a:srgbClr val="1A5276"/>
                </a:solidFill>
                <a:latin typeface="Segoe UI"/>
              </a:rPr>
              <a:t>Variance</a:t>
            </a:r>
            <a:r>
              <a:rPr sz="2300" b="0" i="0">
                <a:solidFill>
                  <a:srgbClr val="1C252B"/>
                </a:solidFill>
                <a:latin typeface="Segoe UI"/>
              </a:rPr>
              <a:t> is how much the prediction changes from one training set to another — its sensitivity to the particular sample. </a:t>
            </a:r>
            <a:r>
              <a:rPr sz="2300" b="1" i="0">
                <a:solidFill>
                  <a:srgbClr val="1A5276"/>
                </a:solidFill>
                <a:latin typeface="Segoe UI"/>
              </a:rPr>
              <a:t>Noise</a:t>
            </a:r>
            <a:r>
              <a:rPr sz="2300" b="0" i="0">
                <a:solidFill>
                  <a:srgbClr val="1C252B"/>
                </a:solidFill>
                <a:latin typeface="Segoe UI"/>
              </a:rPr>
              <a:t> is the </a:t>
            </a:r>
            <a:r>
              <a:rPr sz="2300" b="1" i="0">
                <a:solidFill>
                  <a:srgbClr val="1A5276"/>
                </a:solidFill>
                <a:latin typeface="Segoe UI"/>
              </a:rPr>
              <a:t>irreducible error</a:t>
            </a:r>
            <a:r>
              <a:rPr sz="2300" b="0" i="0">
                <a:solidFill>
                  <a:srgbClr val="1C252B"/>
                </a:solidFill>
                <a:latin typeface="Segoe UI"/>
              </a:rPr>
              <a:t> in the labels themselves, which no model can remove.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Bias and variance as target practice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§7.3  ·  Handout p. 53     </a:t>
            </a:r>
            <a:fld id="{2A540507-A416-46E7-B303-F5B4932BCA70}" type="slidenum">
              <a:rPr lang="en-GB" sz="1000">
                <a:solidFill>
                  <a:srgbClr val="8795A1"/>
                </a:solidFill>
                <a:latin typeface="Segoe UI"/>
              </a:rPr>
              <a:t>13</a:t>
            </a:fld>
          </a:p>
        </p:txBody>
      </p:sp>
      <p:pic>
        <p:nvPicPr>
          <p:cNvPr id="6" name="!!figure" descr="Figure 7.3. Bias and variance as target practice. The goal is the top-left target; in practice lowering one tends to raise the oth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55349" y="1737360"/>
            <a:ext cx="7280995"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goal is the top-left target; in practice lowering one tends to raise the other.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350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Bias and Variance From Four Training Sets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§7.3  ·  Handout p. 53     </a:t>
            </a:r>
            <a:fld id="{1D9F982B-4FB1-4FE0-A095-223914DB3B2A}"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49800"/>
          </a:xfrm>
          <a:prstGeom prst="roundRect">
            <a:avLst>
              <a:gd name="adj" fmla="val 210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498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true value at </a:t>
            </a:r>
            <a:r>
              <a:rPr sz="1800" b="0" i="1">
                <a:solidFill>
                  <a:srgbClr val="1C252B"/>
                </a:solidFill>
                <a:latin typeface="Cambria"/>
              </a:rPr>
              <a:t>x</a:t>
            </a:r>
            <a:r>
              <a:rPr sz="1800" b="0" i="0" baseline="-25000">
                <a:solidFill>
                  <a:srgbClr val="1C252B"/>
                </a:solidFill>
                <a:latin typeface="Cambria"/>
              </a:rPr>
              <a:t>0</a:t>
            </a:r>
            <a:r>
              <a:rPr sz="1800" b="0" i="0">
                <a:solidFill>
                  <a:srgbClr val="1C252B"/>
                </a:solidFill>
                <a:latin typeface="Segoe UI"/>
              </a:rPr>
              <a:t> is </a:t>
            </a:r>
            <a:r>
              <a:rPr sz="1800" b="0" i="1">
                <a:solidFill>
                  <a:srgbClr val="1C252B"/>
                </a:solidFill>
                <a:latin typeface="Cambria"/>
              </a:rPr>
              <a:t>f</a:t>
            </a:r>
            <a:r>
              <a:rPr sz="1800" b="0" i="0">
                <a:solidFill>
                  <a:srgbClr val="1C252B"/>
                </a:solidFill>
                <a:latin typeface="Cambria"/>
              </a:rPr>
              <a:t>(</a:t>
            </a:r>
            <a:r>
              <a:rPr sz="1800" b="0" i="1">
                <a:solidFill>
                  <a:srgbClr val="1C252B"/>
                </a:solidFill>
                <a:latin typeface="Cambria"/>
              </a:rPr>
              <a:t>x</a:t>
            </a:r>
            <a:r>
              <a:rPr sz="1800" b="0" i="0" baseline="-25000">
                <a:solidFill>
                  <a:srgbClr val="1C252B"/>
                </a:solidFill>
                <a:latin typeface="Cambria"/>
              </a:rPr>
              <a:t>0</a:t>
            </a:r>
            <a:r>
              <a:rPr sz="1800" b="0" i="0">
                <a:solidFill>
                  <a:srgbClr val="1C252B"/>
                </a:solidFill>
                <a:latin typeface="Cambria"/>
              </a:rPr>
              <a:t>) = 5</a:t>
            </a:r>
            <a:r>
              <a:rPr sz="1800" b="0" i="0">
                <a:solidFill>
                  <a:srgbClr val="1C252B"/>
                </a:solidFill>
                <a:latin typeface="Segoe UI"/>
              </a:rPr>
              <a:t>, and the label noise has variance </a:t>
            </a:r>
            <a:r>
              <a:rPr sz="1800" b="0" i="0">
                <a:solidFill>
                  <a:srgbClr val="1C252B"/>
                </a:solidFill>
                <a:latin typeface="Cambria"/>
              </a:rPr>
              <a:t>σ</a:t>
            </a:r>
            <a:r>
              <a:rPr sz="1800" b="0" i="0" baseline="30000">
                <a:solidFill>
                  <a:srgbClr val="1C252B"/>
                </a:solidFill>
                <a:latin typeface="Cambria"/>
              </a:rPr>
              <a:t>2</a:t>
            </a:r>
            <a:r>
              <a:rPr sz="1800" b="0" i="0" baseline="-25000">
                <a:solidFill>
                  <a:srgbClr val="1C252B"/>
                </a:solidFill>
                <a:latin typeface="Cambria"/>
              </a:rPr>
              <a:t>ε</a:t>
            </a:r>
            <a:r>
              <a:rPr sz="1800" b="0" i="0">
                <a:solidFill>
                  <a:srgbClr val="1C252B"/>
                </a:solidFill>
                <a:latin typeface="Cambria"/>
              </a:rPr>
              <a:t> = 1</a:t>
            </a:r>
            <a:r>
              <a:rPr sz="1800" b="0" i="0">
                <a:solidFill>
                  <a:srgbClr val="1C252B"/>
                </a:solidFill>
                <a:latin typeface="Segoe UI"/>
              </a:rPr>
              <a:t>. Two models are each trained on the same four random training sets and predict at </a:t>
            </a:r>
            <a:r>
              <a:rPr sz="1800" b="0" i="1">
                <a:solidFill>
                  <a:srgbClr val="1C252B"/>
                </a:solidFill>
                <a:latin typeface="Cambria"/>
              </a:rPr>
              <a:t>x</a:t>
            </a:r>
            <a:r>
              <a:rPr sz="1800" b="0" i="0" baseline="-25000">
                <a:solidFill>
                  <a:srgbClr val="1C252B"/>
                </a:solidFill>
                <a:latin typeface="Cambria"/>
              </a:rPr>
              <a:t>0</a:t>
            </a:r>
            <a:r>
              <a:rPr sz="1800" b="0" i="0">
                <a:solidFill>
                  <a:srgbClr val="1C252B"/>
                </a:solidFill>
                <a:latin typeface="Segoe UI"/>
              </a:rPr>
              <a:t>:</a:t>
            </a:r>
          </a:p>
        </p:txBody>
      </p:sp>
      <p:sp>
        <p:nvSpPr>
          <p:cNvPr id="10" name="body-1"/>
          <p:cNvSpPr txBox="1"/>
          <p:nvPr/>
        </p:nvSpPr>
        <p:spPr>
          <a:xfrm>
            <a:off x="1042416" y="2707995"/>
            <a:ext cx="10234879" cy="1266901"/>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7D6608"/>
                </a:solidFill>
                <a:latin typeface="Segoe UI"/>
              </a:rPr>
              <a:t>•	</a:t>
            </a:r>
            <a:r>
              <a:rPr sz="1800" b="1" i="0">
                <a:solidFill>
                  <a:srgbClr val="7D6608"/>
                </a:solidFill>
                <a:latin typeface="Segoe UI"/>
              </a:rPr>
              <a:t>Simple model:</a:t>
            </a:r>
            <a:r>
              <a:rPr sz="1800" b="0" i="0">
                <a:solidFill>
                  <a:srgbClr val="1C252B"/>
                </a:solidFill>
                <a:latin typeface="Segoe UI"/>
              </a:rPr>
              <a:t> </a:t>
            </a:r>
            <a:r>
              <a:rPr sz="1800" b="0" i="0">
                <a:solidFill>
                  <a:srgbClr val="1C252B"/>
                </a:solidFill>
                <a:latin typeface="Cambria"/>
              </a:rPr>
              <a:t>3.8, 4.2, 4.0, 4.0</a:t>
            </a:r>
            <a:r>
              <a:rPr sz="1800" b="0" i="0">
                <a:solidFill>
                  <a:srgbClr val="1C252B"/>
                </a:solidFill>
                <a:latin typeface="Segoe UI"/>
              </a:rPr>
              <a:t>. Mean </a:t>
            </a:r>
            <a:r>
              <a:rPr sz="1800" b="0" i="0">
                <a:solidFill>
                  <a:srgbClr val="1C252B"/>
                </a:solidFill>
                <a:latin typeface="Cambria"/>
              </a:rPr>
              <a:t>4.0</a:t>
            </a:r>
            <a:r>
              <a:rPr sz="1800" b="0" i="0">
                <a:solidFill>
                  <a:srgbClr val="1C252B"/>
                </a:solidFill>
                <a:latin typeface="Segoe UI"/>
              </a:rPr>
              <a:t>. bias</a:t>
            </a:r>
            <a:r>
              <a:rPr sz="1800" b="0" i="0" baseline="30000">
                <a:solidFill>
                  <a:srgbClr val="1C252B"/>
                </a:solidFill>
                <a:latin typeface="Cambria"/>
              </a:rPr>
              <a:t>2</a:t>
            </a:r>
            <a:r>
              <a:rPr sz="1800" b="0" i="0">
                <a:solidFill>
                  <a:srgbClr val="1C252B"/>
                </a:solidFill>
                <a:latin typeface="Cambria"/>
              </a:rPr>
              <a:t> = (4.0 − 5)</a:t>
            </a:r>
            <a:r>
              <a:rPr sz="1800" b="0" i="0" baseline="30000">
                <a:solidFill>
                  <a:srgbClr val="1C252B"/>
                </a:solidFill>
                <a:latin typeface="Cambria"/>
              </a:rPr>
              <a:t>2</a:t>
            </a:r>
            <a:r>
              <a:rPr sz="1800" b="0" i="0">
                <a:solidFill>
                  <a:srgbClr val="1C252B"/>
                </a:solidFill>
                <a:latin typeface="Cambria"/>
              </a:rPr>
              <a:t> = 1.00</a:t>
            </a:r>
            <a:r>
              <a:rPr sz="1800" b="0" i="0">
                <a:solidFill>
                  <a:srgbClr val="1C252B"/>
                </a:solidFill>
                <a:latin typeface="Segoe UI"/>
              </a:rPr>
              <a:t>; variance </a:t>
            </a:r>
            <a:r>
              <a:rPr sz="1800" b="0" i="0">
                <a:solidFill>
                  <a:srgbClr val="1C252B"/>
                </a:solidFill>
                <a:latin typeface="Cambria"/>
              </a:rPr>
              <a:t>= (0.04 + 0.04 + 0 + 0)/4 = 0.02</a:t>
            </a:r>
            <a:r>
              <a:rPr sz="1800" b="0" i="0">
                <a:solidFill>
                  <a:srgbClr val="1C252B"/>
                </a:solidFill>
                <a:latin typeface="Segoe UI"/>
              </a:rPr>
              <a:t>.</a:t>
            </a:r>
          </a:p>
          <a:p>
            <a:pPr algn="l" marL="201268" indent="-201268">
              <a:lnSpc>
                <a:spcPct val="104000"/>
              </a:lnSpc>
              <a:spcBef>
                <a:spcPts val="0"/>
              </a:spcBef>
              <a:spcAft>
                <a:spcPts val="0"/>
              </a:spcAft>
            </a:pPr>
            <a:r>
              <a:rPr sz="1800" b="1">
                <a:solidFill>
                  <a:srgbClr val="7D6608"/>
                </a:solidFill>
                <a:latin typeface="Segoe UI"/>
              </a:rPr>
              <a:t>•	</a:t>
            </a:r>
            <a:r>
              <a:rPr sz="1800" b="1" i="0">
                <a:solidFill>
                  <a:srgbClr val="7D6608"/>
                </a:solidFill>
                <a:latin typeface="Segoe UI"/>
              </a:rPr>
              <a:t>Complex model:</a:t>
            </a:r>
            <a:r>
              <a:rPr sz="1800" b="0" i="0">
                <a:solidFill>
                  <a:srgbClr val="1C252B"/>
                </a:solidFill>
                <a:latin typeface="Segoe UI"/>
              </a:rPr>
              <a:t> </a:t>
            </a:r>
            <a:r>
              <a:rPr sz="1800" b="0" i="0">
                <a:solidFill>
                  <a:srgbClr val="1C252B"/>
                </a:solidFill>
                <a:latin typeface="Cambria"/>
              </a:rPr>
              <a:t>6.5, 3.4, 5.9, 4.2</a:t>
            </a:r>
            <a:r>
              <a:rPr sz="1800" b="0" i="0">
                <a:solidFill>
                  <a:srgbClr val="1C252B"/>
                </a:solidFill>
                <a:latin typeface="Segoe UI"/>
              </a:rPr>
              <a:t>. Mean </a:t>
            </a:r>
            <a:r>
              <a:rPr sz="1800" b="0" i="0">
                <a:solidFill>
                  <a:srgbClr val="1C252B"/>
                </a:solidFill>
                <a:latin typeface="Cambria"/>
              </a:rPr>
              <a:t>5.0</a:t>
            </a:r>
            <a:r>
              <a:rPr sz="1800" b="0" i="0">
                <a:solidFill>
                  <a:srgbClr val="1C252B"/>
                </a:solidFill>
                <a:latin typeface="Segoe UI"/>
              </a:rPr>
              <a:t>. bias</a:t>
            </a:r>
            <a:r>
              <a:rPr sz="1800" b="0" i="0" baseline="30000">
                <a:solidFill>
                  <a:srgbClr val="1C252B"/>
                </a:solidFill>
                <a:latin typeface="Cambria"/>
              </a:rPr>
              <a:t>2</a:t>
            </a:r>
            <a:r>
              <a:rPr sz="1800" b="0" i="0">
                <a:solidFill>
                  <a:srgbClr val="1C252B"/>
                </a:solidFill>
                <a:latin typeface="Cambria"/>
              </a:rPr>
              <a:t> = 0</a:t>
            </a:r>
            <a:r>
              <a:rPr sz="1800" b="0" i="0">
                <a:solidFill>
                  <a:srgbClr val="1C252B"/>
                </a:solidFill>
                <a:latin typeface="Segoe UI"/>
              </a:rPr>
              <a:t>; variance </a:t>
            </a:r>
            <a:r>
              <a:rPr sz="1800" b="0" i="0">
                <a:solidFill>
                  <a:srgbClr val="1C252B"/>
                </a:solidFill>
                <a:latin typeface="Cambria"/>
              </a:rPr>
              <a:t>= (2.25 + 2.56 + 0.81 + 0.64)/4 = 1.565</a:t>
            </a:r>
            <a:r>
              <a:rPr sz="1800" b="0" i="0">
                <a:solidFill>
                  <a:srgbClr val="1C252B"/>
                </a:solidFill>
                <a:latin typeface="Segoe UI"/>
              </a:rPr>
              <a:t>.</a:t>
            </a:r>
          </a:p>
        </p:txBody>
      </p:sp>
      <p:sp>
        <p:nvSpPr>
          <p:cNvPr id="11" name="body-2"/>
          <p:cNvSpPr txBox="1"/>
          <p:nvPr/>
        </p:nvSpPr>
        <p:spPr>
          <a:xfrm>
            <a:off x="1042416" y="4054906"/>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Expected squared error</a:t>
            </a:r>
            <a:r>
              <a:rPr sz="1800" b="0" i="0">
                <a:solidFill>
                  <a:srgbClr val="1C252B"/>
                </a:solidFill>
                <a:latin typeface="Segoe UI"/>
              </a:rPr>
              <a:t> </a:t>
            </a:r>
            <a:r>
              <a:rPr sz="1800" b="0" i="0">
                <a:solidFill>
                  <a:srgbClr val="1C252B"/>
                </a:solidFill>
                <a:latin typeface="Cambria"/>
              </a:rPr>
              <a:t>=</a:t>
            </a:r>
            <a:r>
              <a:rPr sz="1800" b="0" i="0">
                <a:solidFill>
                  <a:srgbClr val="1C252B"/>
                </a:solidFill>
                <a:latin typeface="Segoe UI"/>
              </a:rPr>
              <a:t> bias</a:t>
            </a:r>
            <a:r>
              <a:rPr sz="1800" b="0" i="0" baseline="30000">
                <a:solidFill>
                  <a:srgbClr val="1C252B"/>
                </a:solidFill>
                <a:latin typeface="Cambria"/>
              </a:rPr>
              <a:t>2</a:t>
            </a:r>
            <a:r>
              <a:rPr sz="1800" b="0" i="0">
                <a:solidFill>
                  <a:srgbClr val="1C252B"/>
                </a:solidFill>
                <a:latin typeface="Segoe UI"/>
              </a:rPr>
              <a:t> </a:t>
            </a:r>
            <a:r>
              <a:rPr sz="1800" b="0" i="0">
                <a:solidFill>
                  <a:srgbClr val="1C252B"/>
                </a:solidFill>
                <a:latin typeface="Cambria"/>
              </a:rPr>
              <a:t>+</a:t>
            </a:r>
            <a:r>
              <a:rPr sz="1800" b="0" i="0">
                <a:solidFill>
                  <a:srgbClr val="1C252B"/>
                </a:solidFill>
                <a:latin typeface="Segoe UI"/>
              </a:rPr>
              <a:t> variance </a:t>
            </a:r>
            <a:r>
              <a:rPr sz="1800" b="0" i="0">
                <a:solidFill>
                  <a:srgbClr val="1C252B"/>
                </a:solidFill>
                <a:latin typeface="Cambria"/>
              </a:rPr>
              <a:t>+</a:t>
            </a:r>
            <a:r>
              <a:rPr sz="1800" b="0" i="0">
                <a:solidFill>
                  <a:srgbClr val="1C252B"/>
                </a:solidFill>
                <a:latin typeface="Segoe UI"/>
              </a:rPr>
              <a:t> noise:</a:t>
            </a:r>
          </a:p>
        </p:txBody>
      </p:sp>
      <p:sp>
        <p:nvSpPr>
          <p:cNvPr id="12" name="body-2bar">
            <a:extLst>
              <a:ext uri="{C183D7F6-B498-43B3-948B-1728B52AA6E4}">
                <adec:decorative xmlns:adec="http://schemas.microsoft.com/office/drawing/2017/decorative" val="1"/>
              </a:ext>
            </a:extLst>
          </p:cNvPr>
          <p:cNvSpPr/>
          <p:nvPr/>
        </p:nvSpPr>
        <p:spPr>
          <a:xfrm>
            <a:off x="841248" y="4073194"/>
            <a:ext cx="54864" cy="267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4465929"/>
            <a:ext cx="10234879" cy="696315"/>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7D6608"/>
                </a:solidFill>
                <a:latin typeface="Segoe UI"/>
              </a:rPr>
              <a:t>•	</a:t>
            </a:r>
            <a:r>
              <a:rPr sz="1800" b="0" i="0">
                <a:solidFill>
                  <a:srgbClr val="1C252B"/>
                </a:solidFill>
                <a:latin typeface="Segoe UI"/>
              </a:rPr>
              <a:t>simple: </a:t>
            </a:r>
            <a:r>
              <a:rPr sz="1800" b="0" i="0">
                <a:solidFill>
                  <a:srgbClr val="1C252B"/>
                </a:solidFill>
                <a:latin typeface="Cambria"/>
              </a:rPr>
              <a:t>1.00 + 0.02 + 1 = </a:t>
            </a:r>
            <a:r>
              <a:rPr sz="1800" b="1" i="0">
                <a:solidFill>
                  <a:srgbClr val="1C252B"/>
                </a:solidFill>
                <a:latin typeface="Cambria"/>
              </a:rPr>
              <a:t>2.02</a:t>
            </a:r>
          </a:p>
          <a:p>
            <a:pPr algn="l" marL="201268" indent="-201268">
              <a:lnSpc>
                <a:spcPct val="104000"/>
              </a:lnSpc>
              <a:spcBef>
                <a:spcPts val="0"/>
              </a:spcBef>
              <a:spcAft>
                <a:spcPts val="0"/>
              </a:spcAft>
            </a:pPr>
            <a:r>
              <a:rPr sz="1800" b="1">
                <a:solidFill>
                  <a:srgbClr val="7D6608"/>
                </a:solidFill>
                <a:latin typeface="Segoe UI"/>
              </a:rPr>
              <a:t>•	</a:t>
            </a:r>
            <a:r>
              <a:rPr sz="1800" b="0" i="0">
                <a:solidFill>
                  <a:srgbClr val="1C252B"/>
                </a:solidFill>
                <a:latin typeface="Segoe UI"/>
              </a:rPr>
              <a:t>complex: </a:t>
            </a:r>
            <a:r>
              <a:rPr sz="1800" b="0" i="0">
                <a:solidFill>
                  <a:srgbClr val="1C252B"/>
                </a:solidFill>
                <a:latin typeface="Cambria"/>
              </a:rPr>
              <a:t>0 + 1.565 + 1 = </a:t>
            </a:r>
            <a:r>
              <a:rPr sz="1800" b="1" i="0">
                <a:solidFill>
                  <a:srgbClr val="1C252B"/>
                </a:solidFill>
                <a:latin typeface="Cambria"/>
              </a:rPr>
              <a:t>2.57</a:t>
            </a:r>
          </a:p>
        </p:txBody>
      </p:sp>
      <p:sp>
        <p:nvSpPr>
          <p:cNvPr id="14" name="body-4"/>
          <p:cNvSpPr txBox="1"/>
          <p:nvPr/>
        </p:nvSpPr>
        <p:spPr>
          <a:xfrm>
            <a:off x="1042416" y="5242255"/>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The biased model wins.</a:t>
            </a:r>
            <a:r>
              <a:rPr sz="1800" b="0" i="0">
                <a:solidFill>
                  <a:srgbClr val="1C252B"/>
                </a:solidFill>
                <a:latin typeface="Segoe UI"/>
              </a:rPr>
              <a:t> It is wrong on average, but consistently so; the unbiased model is right on average and wrong every single time. And neither can go below 1.0 — that is the noise.</a:t>
            </a:r>
          </a:p>
        </p:txBody>
      </p:sp>
      <p:sp>
        <p:nvSpPr>
          <p:cNvPr id="15" name="body-4bar">
            <a:extLst>
              <a:ext uri="{C183D7F6-B498-43B3-948B-1728B52AA6E4}">
                <adec:decorative xmlns:adec="http://schemas.microsoft.com/office/drawing/2017/decorative" val="1"/>
              </a:ext>
            </a:extLst>
          </p:cNvPr>
          <p:cNvSpPr/>
          <p:nvPr/>
        </p:nvSpPr>
        <p:spPr>
          <a:xfrm>
            <a:off x="841248" y="5260543"/>
            <a:ext cx="54864" cy="55229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pfill">
            <a:extLst>
              <a:ext uri="{C183D7F6-B498-43B3-948B-1728B52AA6E4}">
                <adec:decorative xmlns:adec="http://schemas.microsoft.com/office/drawing/2017/decorative" val="1"/>
              </a:ext>
            </a:extLst>
          </p:cNvPr>
          <p:cNvSpPr/>
          <p:nvPr/>
        </p:nvSpPr>
        <p:spPr>
          <a:xfrm>
            <a:off x="0" y="0"/>
            <a:ext cx="316080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wipe(right)">
                                      <p:cBhvr>
                                        <p:cTn id="8" dur="42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2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fade">
                                      <p:cBhvr>
                                        <p:cTn id="16" dur="350"/>
                                        <p:tgtEl>
                                          <p:spTgt spid="1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animEffect transition="in" filter="fade">
                                      <p:cBhvr>
                                        <p:cTn id="21" dur="350"/>
                                        <p:tgtEl>
                                          <p:spTgt spid="1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right)">
                                      <p:cBhvr>
                                        <p:cTn id="26" dur="42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Trade-Off</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§7.3  ·  Handout p. 53     </a:t>
            </a:r>
            <a:fld id="{2DB5F5D2-588F-4C14-9670-108409E954BA}"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Making a model more flexible lowers its bias and raises its variance; making it more rigid does the reverse. Test error is their sum plus noise, so it is U-shaped in complexity (Figure 7.2). The practical question is never “how do I eliminate bias?” or “how do I eliminate variance?” but “where is the bottom of the U, for this much data?” — because more data lowers variance and moves the bottom to the right.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38658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Noisy Data</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§7.4  ·  Handout p. 54     </a:t>
            </a:r>
            <a:fld id="{AA2D1907-2476-4239-A3BF-00DE1FD190E2}" type="slidenum">
              <a:rPr lang="en-GB" sz="1000">
                <a:solidFill>
                  <a:srgbClr val="8795A1"/>
                </a:solidFill>
                <a:latin typeface="Segoe UI"/>
              </a:rPr>
              <a:t>16</a:t>
            </a:fld>
          </a:p>
        </p:txBody>
      </p:sp>
      <p:sp>
        <p:nvSpPr>
          <p:cNvPr id="7" name="!!stbar">
            <a:extLst>
              <a:ext uri="{C183D7F6-B498-43B3-948B-1728B52AA6E4}">
                <adec:decorative xmlns:adec="http://schemas.microsoft.com/office/drawing/2017/decorative" val="1"/>
              </a:ext>
            </a:extLst>
          </p:cNvPr>
          <p:cNvSpPr/>
          <p:nvPr/>
        </p:nvSpPr>
        <p:spPr>
          <a:xfrm>
            <a:off x="658368" y="1810512"/>
            <a:ext cx="73152" cy="408432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4166616"/>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Noise is not only measurement error in the features. It is also </a:t>
            </a:r>
            <a:r>
              <a:rPr sz="2600" b="0" i="1">
                <a:solidFill>
                  <a:srgbClr val="1C252B"/>
                </a:solidFill>
                <a:latin typeface="Segoe UI"/>
              </a:rPr>
              <a:t>label</a:t>
            </a:r>
            <a:r>
              <a:rPr sz="2600" b="0" i="0">
                <a:solidFill>
                  <a:srgbClr val="1C252B"/>
                </a:solidFill>
                <a:latin typeface="Segoe UI"/>
              </a:rPr>
              <a:t> noise: a student recorded as failing who in fact withdrew, an intrusion alert closed as benign by a tired analyst. Noise sets the floor on achievable error, and it is exactly what an overfitting model memorises. Two consequences follow. First, a training error far below the noise level is a symptom, not an achievement — the model has fitted the noise. Second, the noisier the data, the simpler the model it will support: every method in Part III has a setting (tree depth and pruning, </a:t>
            </a:r>
            <a:r>
              <a:rPr sz="2600" b="0" i="1">
                <a:solidFill>
                  <a:srgbClr val="1C252B"/>
                </a:solidFill>
                <a:latin typeface="Cambria"/>
              </a:rPr>
              <a:t>k</a:t>
            </a:r>
            <a:r>
              <a:rPr sz="2600" b="0" i="0">
                <a:solidFill>
                  <a:srgbClr val="1C252B"/>
                </a:solidFill>
                <a:latin typeface="Segoe UI"/>
              </a:rPr>
              <a:t> in nearest neighbours, </a:t>
            </a:r>
            <a:r>
              <a:rPr sz="2600" b="0" i="1">
                <a:solidFill>
                  <a:srgbClr val="1C252B"/>
                </a:solidFill>
                <a:latin typeface="Cambria"/>
              </a:rPr>
              <a:t>C</a:t>
            </a:r>
            <a:r>
              <a:rPr sz="2600" b="0" i="0">
                <a:solidFill>
                  <a:srgbClr val="1C252B"/>
                </a:solidFill>
                <a:latin typeface="Segoe UI"/>
              </a:rPr>
              <a:t> in an SVM) whose job is to stop it chasing noise.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61235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Diagnosing With Learning Curves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5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The Goal Is Generalisation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Underfitting and Overfitting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The Bias–Variance Decomposition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Noisy Data</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7.5   Diagnosing With Learning Curves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7.6   Regularisation</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7.7   Model Selection With Cross-Validation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§7.5     </a:t>
            </a:r>
            <a:fld id="{A80818AA-4AD4-44C6-A1A2-2F63C1406B5A}" type="slidenum">
              <a:rPr lang="en-GB" sz="1000">
                <a:solidFill>
                  <a:srgbClr val="8795A1"/>
                </a:solidFill>
                <a:latin typeface="Segoe UI"/>
              </a:rPr>
              <a:t>17</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383812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curves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7.4</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55     </a:t>
            </a:r>
            <a:fld id="{241AB9A1-A7F2-4A9F-9176-5D44FC253459}" type="slidenum">
              <a:rPr lang="en-GB" sz="1000">
                <a:solidFill>
                  <a:srgbClr val="8795A1"/>
                </a:solidFill>
                <a:latin typeface="Segoe UI"/>
              </a:rPr>
              <a:t>18</a:t>
            </a:fld>
          </a:p>
        </p:txBody>
      </p:sp>
      <p:pic>
        <p:nvPicPr>
          <p:cNvPr id="6" name="!!figure" descr="Figure 7.4. Learning curves. With high bias the curves meet early at an unacceptable level; with high variance there is a wide gap that more data would narrow."/>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9853" y="1737360"/>
            <a:ext cx="1047198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With high bias the curves meet early at an unacceptable level; with high variance there is a wide gap that more data would narrow.</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Diagnosing With Learning Curves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55     </a:t>
            </a:r>
            <a:fld id="{9A123019-ABBF-4FF4-8A16-2043A2927C8F}" type="slidenum">
              <a:rPr lang="en-GB" sz="1000">
                <a:solidFill>
                  <a:srgbClr val="8795A1"/>
                </a:solidFill>
                <a:latin typeface="Segoe UI"/>
              </a:rPr>
              <a:t>19</a:t>
            </a:fld>
          </a:p>
        </p:txBody>
      </p:sp>
      <p:graphicFrame>
        <p:nvGraphicFramePr>
          <p:cNvPr id="7" name="!!table"/>
          <p:cNvGraphicFramePr>
            <a:graphicFrameLocks noGrp="1"/>
          </p:cNvGraphicFramePr>
          <p:nvPr/>
        </p:nvGraphicFramePr>
        <p:xfrm>
          <a:off x="658368" y="1737360"/>
          <a:ext cx="10874958" cy="2398776"/>
        </p:xfrm>
        <a:graphic>
          <a:graphicData uri="http://schemas.openxmlformats.org/drawingml/2006/table">
            <a:tbl>
              <a:tblPr firstRow="0" bandRow="0" firstCol="0" lastRow="0" lastCol="0" bandCol="0">
                <a:tableStyleId>{2D5ABB26-0587-4C30-8999-92F81FD0307C}</a:tableStyleId>
              </a:tblPr>
              <a:tblGrid>
                <a:gridCol w="2174991"/>
                <a:gridCol w="3189988"/>
                <a:gridCol w="5509979"/>
              </a:tblGrid>
              <a:tr h="405384">
                <a:tc>
                  <a:txBody>
                    <a:bodyPr wrap="square"/>
                    <a:lstStyle/>
                    <a:p>
                      <a:pPr algn="l"/>
                      <a:r>
                        <a:rPr sz="1700" b="1" i="0">
                          <a:solidFill>
                            <a:srgbClr val="1A5276"/>
                          </a:solidFill>
                          <a:latin typeface="Segoe UI"/>
                        </a:rPr>
                        <a:t>Diagnosis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Symptom</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helps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High bias (underfitting)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Training error high; validation close to it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more flexible model; more or better features; less regularisation. More data does </a:t>
                      </a:r>
                      <a:r>
                        <a:rPr sz="1700" b="0" i="1">
                          <a:solidFill>
                            <a:srgbClr val="1C252B"/>
                          </a:solidFill>
                          <a:latin typeface="Segoe UI"/>
                        </a:rPr>
                        <a:t>not</a:t>
                      </a:r>
                      <a:r>
                        <a:rPr sz="1700" b="0" i="0">
                          <a:solidFill>
                            <a:srgbClr val="1C252B"/>
                          </a:solidFill>
                          <a:latin typeface="Segoe UI"/>
                        </a:rPr>
                        <a:t> help</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High variance (overfitting)</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Training error low; validation much higher</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More data; fewer features; a simpler model; more regularisation; ensembles that average (Chapter 14)</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Both fine but still poor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Both curves meet at the noise level</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Better data: cleaner labels, more informative features. The algorithm is not the problem</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28967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Regularisation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6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The Goal Is Generalisation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Underfitting and Overfitting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The Bias–Variance Decomposition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Noisy Data</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7.5   Diagnosing With Learning Curves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7.6   Regularisation</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7.7   Model Selection With Cross-Validation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§7.6     </a:t>
            </a:r>
            <a:fld id="{707AE817-2A36-443F-BBD6-AB0772C27299}" type="slidenum">
              <a:rPr lang="en-GB" sz="1000">
                <a:solidFill>
                  <a:srgbClr val="8795A1"/>
                </a:solidFill>
                <a:latin typeface="Segoe UI"/>
              </a:rPr>
              <a:t>20</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45154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Ridge and Lasso</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§7.6  ·  Handout p. 55     </a:t>
            </a:r>
            <a:fld id="{48B4426F-FF5C-4B46-88ED-8A296B5A069B}"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68668"/>
          </a:xfrm>
          <a:prstGeom prst="roundRect">
            <a:avLst>
              <a:gd name="adj" fmla="val 230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6866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Add a penalty on the size of the weights to the training loss:</a:t>
            </a:r>
          </a:p>
        </p:txBody>
      </p:sp>
      <p:pic>
        <p:nvPicPr>
          <p:cNvPr id="10" name="body-1" descr="\text{Ridge (L2):}\quad \text{MSE} + \lambda\sum_{j} w_j^2 \qquad\qquad \text{Lasso (L1):}\quad \text{MSE} + \lambda\sum_{j} |w_j|"/>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838321"/>
          </a:xfrm>
          <a:prstGeom prst="rect">
            <a:avLst/>
          </a:prstGeom>
        </p:spPr>
      </p:pic>
      <p:sp>
        <p:nvSpPr>
          <p:cNvPr id="11" name="body-2"/>
          <p:cNvSpPr txBox="1"/>
          <p:nvPr/>
        </p:nvSpPr>
        <p:spPr>
          <a:xfrm>
            <a:off x="1060704" y="3572428"/>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hyperparameter</a:t>
            </a:r>
            <a:r>
              <a:rPr sz="2300" b="0" i="0">
                <a:solidFill>
                  <a:srgbClr val="1C252B"/>
                </a:solidFill>
                <a:latin typeface="Segoe UI"/>
              </a:rPr>
              <a:t> </a:t>
            </a:r>
            <a:r>
              <a:rPr sz="2300" b="0" i="0">
                <a:solidFill>
                  <a:srgbClr val="1C252B"/>
                </a:solidFill>
                <a:latin typeface="Cambria"/>
              </a:rPr>
              <a:t>λ ≥ 0</a:t>
            </a:r>
            <a:r>
              <a:rPr sz="2300" b="0" i="0">
                <a:solidFill>
                  <a:srgbClr val="1C252B"/>
                </a:solidFill>
                <a:latin typeface="Segoe UI"/>
              </a:rPr>
              <a:t> sets the strength: </a:t>
            </a:r>
            <a:r>
              <a:rPr sz="2300" b="0" i="0">
                <a:solidFill>
                  <a:srgbClr val="1C252B"/>
                </a:solidFill>
                <a:latin typeface="Cambria"/>
              </a:rPr>
              <a:t>λ = 0</a:t>
            </a:r>
            <a:r>
              <a:rPr sz="2300" b="0" i="0">
                <a:solidFill>
                  <a:srgbClr val="1C252B"/>
                </a:solidFill>
                <a:latin typeface="Segoe UI"/>
              </a:rPr>
              <a:t> is ordinary least squares; a very large </a:t>
            </a:r>
            <a:r>
              <a:rPr sz="2300" b="0" i="0">
                <a:solidFill>
                  <a:srgbClr val="1C252B"/>
                </a:solidFill>
                <a:latin typeface="Cambria"/>
              </a:rPr>
              <a:t>λ</a:t>
            </a:r>
            <a:r>
              <a:rPr sz="2300" b="0" i="0">
                <a:solidFill>
                  <a:srgbClr val="1C252B"/>
                </a:solidFill>
                <a:latin typeface="Segoe UI"/>
              </a:rPr>
              <a:t> forces every weight to 0 (the bias </a:t>
            </a:r>
            <a:r>
              <a:rPr sz="2300" b="0" i="1">
                <a:solidFill>
                  <a:srgbClr val="1C252B"/>
                </a:solidFill>
                <a:latin typeface="Cambria"/>
              </a:rPr>
              <a:t>b</a:t>
            </a:r>
            <a:r>
              <a:rPr sz="2300" b="0" i="0">
                <a:solidFill>
                  <a:srgbClr val="1C252B"/>
                </a:solidFill>
                <a:latin typeface="Segoe UI"/>
              </a:rPr>
              <a:t> is not penalised). Ridge shrinks all weights smoothly; lasso drives some of them to exactly zero, so it also </a:t>
            </a:r>
            <a:r>
              <a:rPr sz="2300" b="0" i="1">
                <a:solidFill>
                  <a:srgbClr val="1C252B"/>
                </a:solidFill>
                <a:latin typeface="Segoe UI"/>
              </a:rPr>
              <a:t>selects features</a:t>
            </a:r>
            <a:r>
              <a:rPr sz="2300" b="0" i="0">
                <a:solidFill>
                  <a:srgbClr val="1C252B"/>
                </a:solidFill>
                <a:latin typeface="Segoe UI"/>
              </a:rPr>
              <a:t>. Features must be standardised first, or the penalty falls unequally on them.</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74121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Ridge Shrinkage in One Dimension</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§7.6  ·  Handout p. 55     </a:t>
            </a:r>
            <a:fld id="{7B4F7774-BE35-4227-9687-B180C3E5A280}"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42663"/>
          </a:xfrm>
          <a:prstGeom prst="roundRect">
            <a:avLst>
              <a:gd name="adj" fmla="val 201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4266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Centred data </a:t>
            </a:r>
            <a:r>
              <a:rPr sz="2100" b="0" i="1">
                <a:solidFill>
                  <a:srgbClr val="1C252B"/>
                </a:solidFill>
                <a:latin typeface="Cambria"/>
              </a:rPr>
              <a:t>x</a:t>
            </a:r>
            <a:r>
              <a:rPr sz="2100" b="0" i="0">
                <a:solidFill>
                  <a:srgbClr val="1C252B"/>
                </a:solidFill>
                <a:latin typeface="Cambria"/>
              </a:rPr>
              <a:t> = −2, −1, 0, 1, 2</a:t>
            </a:r>
            <a:r>
              <a:rPr sz="2100" b="0" i="0">
                <a:solidFill>
                  <a:srgbClr val="1C252B"/>
                </a:solidFill>
                <a:latin typeface="Segoe UI"/>
              </a:rPr>
              <a:t> and </a:t>
            </a:r>
            <a:r>
              <a:rPr sz="2100" b="0" i="1">
                <a:solidFill>
                  <a:srgbClr val="1C252B"/>
                </a:solidFill>
                <a:latin typeface="Cambria"/>
              </a:rPr>
              <a:t>y</a:t>
            </a:r>
            <a:r>
              <a:rPr sz="2100" b="0" i="0">
                <a:solidFill>
                  <a:srgbClr val="1C252B"/>
                </a:solidFill>
                <a:latin typeface="Cambria"/>
              </a:rPr>
              <a:t> = −3, −1, 0, 2, 2</a:t>
            </a:r>
            <a:r>
              <a:rPr sz="2100" b="0" i="0">
                <a:solidFill>
                  <a:srgbClr val="1C252B"/>
                </a:solidFill>
                <a:latin typeface="Segoe UI"/>
              </a:rPr>
              <a:t>, fitted by </a:t>
            </a:r>
            <a:r>
              <a:rPr sz="2100" b="0" i="1">
                <a:solidFill>
                  <a:srgbClr val="1C252B"/>
                </a:solidFill>
                <a:latin typeface="Cambria"/>
              </a:rPr>
              <a:t>ŷ</a:t>
            </a:r>
            <a:r>
              <a:rPr sz="2100" b="0" i="0">
                <a:solidFill>
                  <a:srgbClr val="1C252B"/>
                </a:solidFill>
                <a:latin typeface="Cambria"/>
              </a:rPr>
              <a:t> = </a:t>
            </a:r>
            <a:r>
              <a:rPr sz="2100" b="0" i="1">
                <a:solidFill>
                  <a:srgbClr val="1C252B"/>
                </a:solidFill>
                <a:latin typeface="Cambria"/>
              </a:rPr>
              <a:t>wx</a:t>
            </a:r>
            <a:r>
              <a:rPr sz="2100" b="0" i="0">
                <a:solidFill>
                  <a:srgbClr val="1C252B"/>
                </a:solidFill>
                <a:latin typeface="Segoe UI"/>
              </a:rPr>
              <a:t>. Minimising </a:t>
            </a:r>
            <a:r>
              <a:rPr sz="2100" b="0" i="0">
                <a:solidFill>
                  <a:srgbClr val="1C252B"/>
                </a:solidFill>
                <a:latin typeface="Cambria"/>
              </a:rPr>
              <a:t>Σ(</a:t>
            </a:r>
            <a:r>
              <a:rPr sz="2100" b="0" i="1">
                <a:solidFill>
                  <a:srgbClr val="1C252B"/>
                </a:solidFill>
                <a:latin typeface="Cambria"/>
              </a:rPr>
              <a:t>y</a:t>
            </a:r>
            <a:r>
              <a:rPr sz="2100" b="0" i="1" baseline="-25000">
                <a:solidFill>
                  <a:srgbClr val="1C252B"/>
                </a:solidFill>
                <a:latin typeface="Cambria"/>
              </a:rPr>
              <a:t>i</a:t>
            </a:r>
            <a:r>
              <a:rPr sz="2100" b="0" i="0">
                <a:solidFill>
                  <a:srgbClr val="1C252B"/>
                </a:solidFill>
                <a:latin typeface="Cambria"/>
              </a:rPr>
              <a:t> − </a:t>
            </a:r>
            <a:r>
              <a:rPr sz="2100" b="0" i="1">
                <a:solidFill>
                  <a:srgbClr val="1C252B"/>
                </a:solidFill>
                <a:latin typeface="Cambria"/>
              </a:rPr>
              <a:t>wx</a:t>
            </a:r>
            <a:r>
              <a:rPr sz="2100" b="0" i="1" baseline="-25000">
                <a:solidFill>
                  <a:srgbClr val="1C252B"/>
                </a:solidFill>
                <a:latin typeface="Cambria"/>
              </a:rPr>
              <a:t>i</a:t>
            </a:r>
            <a:r>
              <a:rPr sz="2100" b="0" i="0">
                <a:solidFill>
                  <a:srgbClr val="1C252B"/>
                </a:solidFill>
                <a:latin typeface="Cambria"/>
              </a:rPr>
              <a:t>)</a:t>
            </a:r>
            <a:r>
              <a:rPr sz="2100" b="0" i="0" baseline="30000">
                <a:solidFill>
                  <a:srgbClr val="1C252B"/>
                </a:solidFill>
                <a:latin typeface="Cambria"/>
              </a:rPr>
              <a:t>2</a:t>
            </a:r>
            <a:r>
              <a:rPr sz="2100" b="0" i="0">
                <a:solidFill>
                  <a:srgbClr val="1C252B"/>
                </a:solidFill>
                <a:latin typeface="Cambria"/>
              </a:rPr>
              <a:t> + λ </a:t>
            </a:r>
            <a:r>
              <a:rPr sz="2100" b="0" i="1">
                <a:solidFill>
                  <a:srgbClr val="1C252B"/>
                </a:solidFill>
                <a:latin typeface="Cambria"/>
              </a:rPr>
              <a:t>w</a:t>
            </a:r>
            <a:r>
              <a:rPr sz="2100" b="0" i="0" baseline="30000">
                <a:solidFill>
                  <a:srgbClr val="1C252B"/>
                </a:solidFill>
                <a:latin typeface="Cambria"/>
              </a:rPr>
              <a:t>2</a:t>
            </a:r>
            <a:r>
              <a:rPr sz="2100" b="0" i="0">
                <a:solidFill>
                  <a:srgbClr val="1C252B"/>
                </a:solidFill>
                <a:latin typeface="Segoe UI"/>
              </a:rPr>
              <a:t> gives</a:t>
            </a:r>
          </a:p>
        </p:txBody>
      </p:sp>
      <p:pic>
        <p:nvPicPr>
          <p:cNvPr id="10" name="body-1" descr="w = \frac{\sum x_i y_i}{\sum x_i^2 + \lambda} \qquad\text{with}\quad \textstyle\sum x_i y_i = 6 + 1 + 0 + 2 + 4 = 13,\quad \sum x_i^2 = 1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824048"/>
            <a:ext cx="10234879" cy="704545"/>
          </a:xfrm>
          <a:prstGeom prst="rect">
            <a:avLst/>
          </a:prstGeom>
        </p:spPr>
      </p:pic>
      <p:sp>
        <p:nvSpPr>
          <p:cNvPr id="11" name="body-2"/>
          <p:cNvSpPr txBox="1"/>
          <p:nvPr/>
        </p:nvSpPr>
        <p:spPr>
          <a:xfrm>
            <a:off x="1042416" y="3675278"/>
            <a:ext cx="10234879" cy="1230934"/>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7D6608"/>
                </a:solidFill>
                <a:latin typeface="Segoe UI"/>
              </a:rPr>
              <a:t>•	</a:t>
            </a:r>
            <a:r>
              <a:rPr sz="2100" b="0" i="0">
                <a:solidFill>
                  <a:srgbClr val="1C252B"/>
                </a:solidFill>
                <a:latin typeface="Cambria"/>
              </a:rPr>
              <a:t>λ = 0</a:t>
            </a:r>
            <a:r>
              <a:rPr sz="2100" b="0" i="0">
                <a:solidFill>
                  <a:srgbClr val="1C252B"/>
                </a:solidFill>
                <a:latin typeface="Segoe UI"/>
              </a:rPr>
              <a:t>: </a:t>
            </a:r>
            <a:r>
              <a:rPr sz="2100" b="0" i="1">
                <a:solidFill>
                  <a:srgbClr val="1C252B"/>
                </a:solidFill>
                <a:latin typeface="Cambria"/>
              </a:rPr>
              <a:t>w</a:t>
            </a:r>
            <a:r>
              <a:rPr sz="2100" b="0" i="0">
                <a:solidFill>
                  <a:srgbClr val="1C252B"/>
                </a:solidFill>
                <a:latin typeface="Cambria"/>
              </a:rPr>
              <a:t> = 13/10 = </a:t>
            </a:r>
            <a:r>
              <a:rPr sz="2100" b="1" i="0">
                <a:solidFill>
                  <a:srgbClr val="1C252B"/>
                </a:solidFill>
                <a:latin typeface="Cambria"/>
              </a:rPr>
              <a:t>1.30</a:t>
            </a:r>
            <a:r>
              <a:rPr sz="2100" b="0" i="0">
                <a:solidFill>
                  <a:srgbClr val="1C252B"/>
                </a:solidFill>
                <a:latin typeface="Segoe UI"/>
              </a:rPr>
              <a:t> (least squares).</a:t>
            </a:r>
          </a:p>
          <a:p>
            <a:pPr algn="l" marL="234813" indent="-234813">
              <a:lnSpc>
                <a:spcPct val="104000"/>
              </a:lnSpc>
              <a:spcBef>
                <a:spcPts val="0"/>
              </a:spcBef>
              <a:spcAft>
                <a:spcPts val="735"/>
              </a:spcAft>
            </a:pPr>
            <a:r>
              <a:rPr sz="2100" b="1">
                <a:solidFill>
                  <a:srgbClr val="7D6608"/>
                </a:solidFill>
                <a:latin typeface="Segoe UI"/>
              </a:rPr>
              <a:t>•	</a:t>
            </a:r>
            <a:r>
              <a:rPr sz="2100" b="0" i="0">
                <a:solidFill>
                  <a:srgbClr val="1C252B"/>
                </a:solidFill>
                <a:latin typeface="Cambria"/>
              </a:rPr>
              <a:t>λ = 2</a:t>
            </a:r>
            <a:r>
              <a:rPr sz="2100" b="0" i="0">
                <a:solidFill>
                  <a:srgbClr val="1C252B"/>
                </a:solidFill>
                <a:latin typeface="Segoe UI"/>
              </a:rPr>
              <a:t>: </a:t>
            </a:r>
            <a:r>
              <a:rPr sz="2100" b="0" i="1">
                <a:solidFill>
                  <a:srgbClr val="1C252B"/>
                </a:solidFill>
                <a:latin typeface="Cambria"/>
              </a:rPr>
              <a:t>w</a:t>
            </a:r>
            <a:r>
              <a:rPr sz="2100" b="0" i="0">
                <a:solidFill>
                  <a:srgbClr val="1C252B"/>
                </a:solidFill>
                <a:latin typeface="Cambria"/>
              </a:rPr>
              <a:t> = 13/12 = </a:t>
            </a:r>
            <a:r>
              <a:rPr sz="2100" b="1" i="0">
                <a:solidFill>
                  <a:srgbClr val="1C252B"/>
                </a:solidFill>
                <a:latin typeface="Cambria"/>
              </a:rPr>
              <a:t>1.08</a:t>
            </a:r>
            <a:r>
              <a:rPr sz="2100" b="0" i="0">
                <a:solidFill>
                  <a:srgbClr val="1C252B"/>
                </a:solidFill>
                <a:latin typeface="Segoe UI"/>
              </a:rPr>
              <a:t>.</a:t>
            </a:r>
          </a:p>
          <a:p>
            <a:pPr algn="l" marL="234813" indent="-234813">
              <a:lnSpc>
                <a:spcPct val="104000"/>
              </a:lnSpc>
              <a:spcBef>
                <a:spcPts val="0"/>
              </a:spcBef>
              <a:spcAft>
                <a:spcPts val="0"/>
              </a:spcAft>
            </a:pPr>
            <a:r>
              <a:rPr sz="2100" b="1">
                <a:solidFill>
                  <a:srgbClr val="7D6608"/>
                </a:solidFill>
                <a:latin typeface="Segoe UI"/>
              </a:rPr>
              <a:t>•	</a:t>
            </a:r>
            <a:r>
              <a:rPr sz="2100" b="0" i="0">
                <a:solidFill>
                  <a:srgbClr val="1C252B"/>
                </a:solidFill>
                <a:latin typeface="Cambria"/>
              </a:rPr>
              <a:t>λ = 10</a:t>
            </a:r>
            <a:r>
              <a:rPr sz="2100" b="0" i="0">
                <a:solidFill>
                  <a:srgbClr val="1C252B"/>
                </a:solidFill>
                <a:latin typeface="Segoe UI"/>
              </a:rPr>
              <a:t>: </a:t>
            </a:r>
            <a:r>
              <a:rPr sz="2100" b="0" i="1">
                <a:solidFill>
                  <a:srgbClr val="1C252B"/>
                </a:solidFill>
                <a:latin typeface="Cambria"/>
              </a:rPr>
              <a:t>w</a:t>
            </a:r>
            <a:r>
              <a:rPr sz="2100" b="0" i="0">
                <a:solidFill>
                  <a:srgbClr val="1C252B"/>
                </a:solidFill>
                <a:latin typeface="Cambria"/>
              </a:rPr>
              <a:t> = 13/20 = </a:t>
            </a:r>
            <a:r>
              <a:rPr sz="2100" b="1" i="0">
                <a:solidFill>
                  <a:srgbClr val="1C252B"/>
                </a:solidFill>
                <a:latin typeface="Cambria"/>
              </a:rPr>
              <a:t>0.65</a:t>
            </a:r>
            <a:r>
              <a:rPr sz="2100" b="0" i="0">
                <a:solidFill>
                  <a:srgbClr val="1C252B"/>
                </a:solidFill>
                <a:latin typeface="Segoe UI"/>
              </a:rPr>
              <a:t>.</a:t>
            </a:r>
          </a:p>
        </p:txBody>
      </p:sp>
      <p:sp>
        <p:nvSpPr>
          <p:cNvPr id="12" name="body-3"/>
          <p:cNvSpPr txBox="1"/>
          <p:nvPr/>
        </p:nvSpPr>
        <p:spPr>
          <a:xfrm>
            <a:off x="1042416" y="5007178"/>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penalty adds </a:t>
            </a:r>
            <a:r>
              <a:rPr sz="2100" b="0" i="0">
                <a:solidFill>
                  <a:srgbClr val="1C252B"/>
                </a:solidFill>
                <a:latin typeface="Cambria"/>
              </a:rPr>
              <a:t>λ</a:t>
            </a:r>
            <a:r>
              <a:rPr sz="2100" b="0" i="0">
                <a:solidFill>
                  <a:srgbClr val="1C252B"/>
                </a:solidFill>
                <a:latin typeface="Segoe UI"/>
              </a:rPr>
              <a:t> to the denominator, so it pulls the weight towards zero — a little when the data is plentiful (</a:t>
            </a:r>
            <a:r>
              <a:rPr sz="2100" b="0" i="0">
                <a:solidFill>
                  <a:srgbClr val="1C252B"/>
                </a:solidFill>
                <a:latin typeface="Cambria"/>
              </a:rPr>
              <a:t>Σ </a:t>
            </a:r>
            <a:r>
              <a:rPr sz="2100" b="0" i="1">
                <a:solidFill>
                  <a:srgbClr val="1C252B"/>
                </a:solidFill>
                <a:latin typeface="Cambria"/>
              </a:rPr>
              <a:t>x</a:t>
            </a:r>
            <a:r>
              <a:rPr sz="2100" b="0" i="0" baseline="30000">
                <a:solidFill>
                  <a:srgbClr val="1C252B"/>
                </a:solidFill>
                <a:latin typeface="Cambria"/>
              </a:rPr>
              <a:t>2</a:t>
            </a:r>
            <a:r>
              <a:rPr sz="2100" b="0" i="0">
                <a:solidFill>
                  <a:srgbClr val="1C252B"/>
                </a:solidFill>
                <a:latin typeface="Segoe UI"/>
              </a:rPr>
              <a:t> large), a lot when it is not. That is exactly the behaviour wanted: shrink hardest where the data says least.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496698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right)">
                                      <p:cBhvr>
                                        <p:cTn id="2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lasso sets weights to zero</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7.5</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§7.6  ·  Handout p. 55     </a:t>
            </a:r>
            <a:fld id="{79C5007B-B62B-4F70-BCEA-C7E11CDEDF2D}" type="slidenum">
              <a:rPr lang="en-GB" sz="1000">
                <a:solidFill>
                  <a:srgbClr val="8795A1"/>
                </a:solidFill>
                <a:latin typeface="Segoe UI"/>
              </a:rPr>
              <a:t>23</a:t>
            </a:fld>
          </a:p>
        </p:txBody>
      </p:sp>
      <p:pic>
        <p:nvPicPr>
          <p:cNvPr id="6" name="!!figure" descr="Figure 7.5. Why lasso sets weights to zero. The regularised solution is where the smallest error ellipse (blue) first touches the region allowed by the penalty (green). A circle is touched at a generic point; a diamond is usually touched at a corner, where one weight is exactly zero."/>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05791" y="1737360"/>
            <a:ext cx="6980111"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regularised solution is where the smallest error ellipse (blue) first touches the region allowed by the penalty (green). A circle is touched at a generic point; a diamond is usually touched at a corner, where one weight is exactly zero.</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1927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Regularisation Is Everywhere, Under Other Names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§7.6  ·  Handout p. 55     </a:t>
            </a:r>
            <a:fld id="{E52F4AED-EA87-4123-B1E9-96318F369CE7}"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 flexible model in this course has a knob that trades variance for bias. Maximum tree depth and pruning (Chapter 9); </a:t>
            </a:r>
            <a:r>
              <a:rPr sz="2300" b="0" i="1">
                <a:solidFill>
                  <a:srgbClr val="1C252B"/>
                </a:solidFill>
                <a:latin typeface="Cambria"/>
              </a:rPr>
              <a:t>k</a:t>
            </a:r>
            <a:r>
              <a:rPr sz="2300" b="0" i="0">
                <a:solidFill>
                  <a:srgbClr val="1C252B"/>
                </a:solidFill>
                <a:latin typeface="Segoe UI"/>
              </a:rPr>
              <a:t> in </a:t>
            </a:r>
            <a:r>
              <a:rPr sz="2300" b="0" i="1">
                <a:solidFill>
                  <a:srgbClr val="1C252B"/>
                </a:solidFill>
                <a:latin typeface="Cambria"/>
              </a:rPr>
              <a:t>k</a:t>
            </a:r>
            <a:r>
              <a:rPr sz="2300" b="0" i="0">
                <a:solidFill>
                  <a:srgbClr val="1C252B"/>
                </a:solidFill>
                <a:latin typeface="Segoe UI"/>
              </a:rPr>
              <a:t>-nearest neighbours (Chapter 11); </a:t>
            </a:r>
            <a:r>
              <a:rPr sz="2300" b="0" i="1">
                <a:solidFill>
                  <a:srgbClr val="1C252B"/>
                </a:solidFill>
                <a:latin typeface="Cambria"/>
              </a:rPr>
              <a:t>C</a:t>
            </a:r>
            <a:r>
              <a:rPr sz="2300" b="0" i="0">
                <a:solidFill>
                  <a:srgbClr val="1C252B"/>
                </a:solidFill>
                <a:latin typeface="Segoe UI"/>
              </a:rPr>
              <a:t> in SVMs (Chapter 12); weight decay, early stopping and dropout in neural networks (Chapter 13); </a:t>
            </a:r>
            <a:r>
              <a:rPr sz="2300" b="0" i="1">
                <a:solidFill>
                  <a:srgbClr val="1C252B"/>
                </a:solidFill>
                <a:latin typeface="Cambria"/>
              </a:rPr>
              <a:t>C</a:t>
            </a:r>
            <a:r>
              <a:rPr sz="2300" b="0" i="0">
                <a:solidFill>
                  <a:srgbClr val="1C252B"/>
                </a:solidFill>
                <a:latin typeface="Cambria"/>
              </a:rPr>
              <a:t> = 1/λ</a:t>
            </a:r>
            <a:r>
              <a:rPr sz="2300" b="0" i="0">
                <a:solidFill>
                  <a:srgbClr val="1C252B"/>
                </a:solidFill>
                <a:latin typeface="Segoe UI"/>
              </a:rPr>
              <a:t> in scikit-learn’s </a:t>
            </a:r>
            <a:r>
              <a:rPr sz="2150" b="0" i="0">
                <a:solidFill>
                  <a:srgbClr val="1F4E79"/>
                </a:solidFill>
                <a:latin typeface="Consolas"/>
              </a:rPr>
              <a:t>LogisticRegression</a:t>
            </a:r>
            <a:r>
              <a:rPr sz="2300" b="0" i="0">
                <a:solidFill>
                  <a:srgbClr val="1C252B"/>
                </a:solidFill>
                <a:latin typeface="Segoe UI"/>
              </a:rPr>
              <a:t> (Chapter 6). Once you see them as the same idea, tuning them is the same procedure — the one in the next section.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Model Selection With Cross-Validation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7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7.7</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The Goal Is Generalisation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Underfitting and Overfitting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The Bias–Variance Decomposition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Noisy Data</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7.5   Diagnosing With Learning Curves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7.6   Regularisation</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7.7   Model Selection With Cross-Validation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§7.7     </a:t>
            </a:r>
            <a:fld id="{137790ED-5FBA-44F6-8A12-9D081B064900}" type="slidenum">
              <a:rPr lang="en-GB" sz="1000">
                <a:solidFill>
                  <a:srgbClr val="8795A1"/>
                </a:solidFill>
                <a:latin typeface="Segoe UI"/>
              </a:rPr>
              <a:t>25</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6443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k-Fold Cross-Validation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9CCC6397-BD9F-4D1F-A40D-83F61576E3EB}"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Split the training data into </a:t>
            </a:r>
            <a:r>
              <a:rPr sz="2300" b="0" i="1">
                <a:solidFill>
                  <a:srgbClr val="1C252B"/>
                </a:solidFill>
                <a:latin typeface="Cambria"/>
              </a:rPr>
              <a:t>k</a:t>
            </a:r>
            <a:r>
              <a:rPr sz="2300" b="0" i="0">
                <a:solidFill>
                  <a:srgbClr val="1C252B"/>
                </a:solidFill>
                <a:latin typeface="Segoe UI"/>
              </a:rPr>
              <a:t> equal folds (typically 5 or 10). For each fold in turn, train on the other </a:t>
            </a:r>
            <a:r>
              <a:rPr sz="2300" b="0" i="1">
                <a:solidFill>
                  <a:srgbClr val="1C252B"/>
                </a:solidFill>
                <a:latin typeface="Cambria"/>
              </a:rPr>
              <a:t>k</a:t>
            </a:r>
            <a:r>
              <a:rPr sz="2300" b="0" i="0">
                <a:solidFill>
                  <a:srgbClr val="1C252B"/>
                </a:solidFill>
                <a:latin typeface="Cambria"/>
              </a:rPr>
              <a:t> − 1</a:t>
            </a:r>
            <a:r>
              <a:rPr sz="2300" b="0" i="0">
                <a:solidFill>
                  <a:srgbClr val="1C252B"/>
                </a:solidFill>
                <a:latin typeface="Segoe UI"/>
              </a:rPr>
              <a:t> folds and measure error on the held-out fold. The cross-validation score is the mean of the </a:t>
            </a:r>
            <a:r>
              <a:rPr sz="2300" b="0" i="1">
                <a:solidFill>
                  <a:srgbClr val="1C252B"/>
                </a:solidFill>
                <a:latin typeface="Cambria"/>
              </a:rPr>
              <a:t>k</a:t>
            </a:r>
            <a:r>
              <a:rPr sz="2300" b="0" i="0">
                <a:solidFill>
                  <a:srgbClr val="1C252B"/>
                </a:solidFill>
                <a:latin typeface="Segoe UI"/>
              </a:rPr>
              <a:t> errors; report their standard deviation too. Every example is used for validation exactly once.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87007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Five-fold cross-validation on the training data</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7.6</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9ABF0B3A-9E61-4CC9-BCAF-AD2614E5EA94}" type="slidenum">
              <a:rPr lang="en-GB" sz="1000">
                <a:solidFill>
                  <a:srgbClr val="8795A1"/>
                </a:solidFill>
                <a:latin typeface="Segoe UI"/>
              </a:rPr>
              <a:t>27</a:t>
            </a:fld>
          </a:p>
        </p:txBody>
      </p:sp>
      <p:pic>
        <p:nvPicPr>
          <p:cNvPr id="6" name="!!figure" descr="Figure 7.6. Five-fold cross-validation on the training data. The test set is not part of the rota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15038"/>
            <a:ext cx="10874959" cy="2994643"/>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test set is not part of the rotation.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λ by Cross-Validation</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AA168989-9CF3-4590-9E64-141A9009A2A2}"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2025"/>
          </a:xfrm>
          <a:prstGeom prst="roundRect">
            <a:avLst>
              <a:gd name="adj" fmla="val 204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202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Five-fold cross-validation of a degree-12 polynomial with ridge penalties, from this chapter’s lab:</a:t>
            </a:r>
          </a:p>
        </p:txBody>
      </p:sp>
      <p:graphicFrame>
        <p:nvGraphicFramePr>
          <p:cNvPr id="10" name="body-1"/>
          <p:cNvGraphicFramePr>
            <a:graphicFrameLocks noGrp="1"/>
          </p:cNvGraphicFramePr>
          <p:nvPr/>
        </p:nvGraphicFramePr>
        <p:xfrm>
          <a:off x="1042416" y="2377033"/>
          <a:ext cx="2563246" cy="2066544"/>
        </p:xfrm>
        <a:graphic>
          <a:graphicData uri="http://schemas.openxmlformats.org/drawingml/2006/table">
            <a:tbl>
              <a:tblPr firstRow="0" bandRow="0" firstCol="0" lastRow="0" lastCol="0" bandCol="0">
                <a:tableStyleId>{2D5ABB26-0587-4C30-8999-92F81FD0307C}</a:tableStyleId>
              </a:tblPr>
              <a:tblGrid>
                <a:gridCol w="629210"/>
                <a:gridCol w="975108"/>
                <a:gridCol w="958928"/>
              </a:tblGrid>
              <a:tr h="344424">
                <a:tc>
                  <a:txBody>
                    <a:bodyPr wrap="square"/>
                    <a:lstStyle/>
                    <a:p>
                      <a:pPr algn="l"/>
                      <a:r>
                        <a:rPr sz="1300" b="1" i="0">
                          <a:solidFill>
                            <a:srgbClr val="1A5276"/>
                          </a:solidFill>
                          <a:latin typeface="Cambria"/>
                        </a:rPr>
                        <a:t>λ</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CV RMSE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l"/>
                      <a:r>
                        <a:rPr sz="1300" b="0" i="0">
                          <a:solidFill>
                            <a:srgbClr val="1C252B"/>
                          </a:solidFill>
                          <a:latin typeface="Cambria"/>
                        </a:rPr>
                        <a:t>10</a:t>
                      </a:r>
                      <a:r>
                        <a:rPr sz="1300" b="0" i="0" baseline="30000">
                          <a:solidFill>
                            <a:srgbClr val="1C252B"/>
                          </a:solidFill>
                          <a:latin typeface="Cambria"/>
                        </a:rPr>
                        <a:t>−6</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0.388</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Cambria"/>
                        </a:rPr>
                        <a:t>10</a:t>
                      </a:r>
                      <a:r>
                        <a:rPr sz="1300" b="0" i="0" baseline="30000">
                          <a:solidFill>
                            <a:srgbClr val="1C252B"/>
                          </a:solidFill>
                          <a:latin typeface="Cambria"/>
                        </a:rPr>
                        <a:t>−3</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0.326</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Cambria"/>
                        </a:rPr>
                        <a:t>←</a:t>
                      </a:r>
                      <a:r>
                        <a:rPr sz="1300" b="0" i="0">
                          <a:solidFill>
                            <a:srgbClr val="1C252B"/>
                          </a:solidFill>
                          <a:latin typeface="Segoe UI"/>
                        </a:rPr>
                        <a:t> </a:t>
                      </a:r>
                      <a:r>
                        <a:rPr sz="1300" b="1" i="0">
                          <a:solidFill>
                            <a:srgbClr val="1C252B"/>
                          </a:solidFill>
                          <a:latin typeface="Segoe UI"/>
                        </a:rPr>
                        <a:t>lowest</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Cambria"/>
                        </a:rPr>
                        <a:t>10</a:t>
                      </a:r>
                      <a:r>
                        <a:rPr sz="1300" b="0" i="0" baseline="30000">
                          <a:solidFill>
                            <a:srgbClr val="1C252B"/>
                          </a:solidFill>
                          <a:latin typeface="Cambria"/>
                        </a:rPr>
                        <a:t>−1</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0.330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Cambria"/>
                        </a:rPr>
                        <a:t>10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0.441</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Cambria"/>
                        </a:rPr>
                        <a:t>1000</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0.706</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555337"/>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U-shape again: too little penalty overfits, too much underfits. Choose </a:t>
            </a:r>
            <a:r>
              <a:rPr sz="1600" b="0" i="0">
                <a:solidFill>
                  <a:srgbClr val="1C252B"/>
                </a:solidFill>
                <a:latin typeface="Cambria"/>
              </a:rPr>
              <a:t>λ = 10</a:t>
            </a:r>
            <a:r>
              <a:rPr sz="1600" b="0" i="0" baseline="30000">
                <a:solidFill>
                  <a:srgbClr val="1C252B"/>
                </a:solidFill>
                <a:latin typeface="Cambria"/>
              </a:rPr>
              <a:t>−3</a:t>
            </a:r>
            <a:r>
              <a:rPr sz="1600" b="0" i="0">
                <a:solidFill>
                  <a:srgbClr val="1C252B"/>
                </a:solidFill>
                <a:latin typeface="Segoe UI"/>
              </a:rPr>
              <a:t>, refit on the whole training set, and only then measure the test set: RMSE 0.299. Unregularised, the same degree-12 polynomial had a CV RMSE of 2.14 — regularisation, not a lower degree, rescued it.</a:t>
            </a:r>
          </a:p>
        </p:txBody>
      </p:sp>
      <p:sp>
        <p:nvSpPr>
          <p:cNvPr id="12" name="body-3"/>
          <p:cNvSpPr txBox="1"/>
          <p:nvPr/>
        </p:nvSpPr>
        <p:spPr>
          <a:xfrm>
            <a:off x="1042416" y="5427878"/>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Notice</a:t>
            </a:r>
            <a:r>
              <a:rPr sz="1600" b="0" i="0">
                <a:solidFill>
                  <a:srgbClr val="1C252B"/>
                </a:solidFill>
                <a:latin typeface="Segoe UI"/>
              </a:rPr>
              <a:t> that </a:t>
            </a:r>
            <a:r>
              <a:rPr sz="1600" b="0" i="0">
                <a:solidFill>
                  <a:srgbClr val="1C252B"/>
                </a:solidFill>
                <a:latin typeface="Cambria"/>
              </a:rPr>
              <a:t>10</a:t>
            </a:r>
            <a:r>
              <a:rPr sz="1600" b="0" i="0" baseline="30000">
                <a:solidFill>
                  <a:srgbClr val="1C252B"/>
                </a:solidFill>
                <a:latin typeface="Cambria"/>
              </a:rPr>
              <a:t>−3</a:t>
            </a:r>
            <a:r>
              <a:rPr sz="1600" b="0" i="0">
                <a:solidFill>
                  <a:srgbClr val="1C252B"/>
                </a:solidFill>
                <a:latin typeface="Segoe UI"/>
              </a:rPr>
              <a:t> and </a:t>
            </a:r>
            <a:r>
              <a:rPr sz="1600" b="0" i="0">
                <a:solidFill>
                  <a:srgbClr val="1C252B"/>
                </a:solidFill>
                <a:latin typeface="Cambria"/>
              </a:rPr>
              <a:t>10</a:t>
            </a:r>
            <a:r>
              <a:rPr sz="1600" b="0" i="0" baseline="30000">
                <a:solidFill>
                  <a:srgbClr val="1C252B"/>
                </a:solidFill>
                <a:latin typeface="Cambria"/>
              </a:rPr>
              <a:t>−1</a:t>
            </a:r>
            <a:r>
              <a:rPr sz="1600" b="0" i="0">
                <a:solidFill>
                  <a:srgbClr val="1C252B"/>
                </a:solidFill>
                <a:latin typeface="Segoe UI"/>
              </a:rPr>
              <a:t> are within 0.004 of each other, far less than the fold-to-fold variation. When candidates are this close, prefer the simpler model — here the larger penalty.</a:t>
            </a:r>
          </a:p>
        </p:txBody>
      </p:sp>
      <p:sp>
        <p:nvSpPr>
          <p:cNvPr id="13" name="body-3bar">
            <a:extLst>
              <a:ext uri="{C183D7F6-B498-43B3-948B-1728B52AA6E4}">
                <adec:decorative xmlns:adec="http://schemas.microsoft.com/office/drawing/2017/decorative" val="1"/>
              </a:ext>
            </a:extLst>
          </p:cNvPr>
          <p:cNvSpPr/>
          <p:nvPr/>
        </p:nvSpPr>
        <p:spPr>
          <a:xfrm>
            <a:off x="841248" y="5446166"/>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632161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Tuning on the Test Set Is Still Cheating When a Library Does It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3269AF92-FDD0-4D30-BD22-57801DEF89D5}"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you try thirty settings and report the best </a:t>
            </a:r>
            <a:r>
              <a:rPr sz="2300" b="0" i="1">
                <a:solidFill>
                  <a:srgbClr val="1C252B"/>
                </a:solidFill>
                <a:latin typeface="Segoe UI"/>
              </a:rPr>
              <a:t>test</a:t>
            </a:r>
            <a:r>
              <a:rPr sz="2300" b="0" i="0">
                <a:solidFill>
                  <a:srgbClr val="1C252B"/>
                </a:solidFill>
                <a:latin typeface="Segoe UI"/>
              </a:rPr>
              <a:t> score, the test set has become a validation set and the score is optimistic. Tune with cross-validation on the training data (</a:t>
            </a:r>
            <a:r>
              <a:rPr sz="2150" b="0" i="0">
                <a:solidFill>
                  <a:srgbClr val="1F4E79"/>
                </a:solidFill>
                <a:latin typeface="Consolas"/>
              </a:rPr>
              <a:t>GridSearchCV</a:t>
            </a:r>
            <a:r>
              <a:rPr sz="2300" b="0" i="0">
                <a:solidFill>
                  <a:srgbClr val="1C252B"/>
                </a:solidFill>
                <a:latin typeface="Segoe UI"/>
              </a:rPr>
              <a:t> does this), then use the test set once. When even the tuning procedure must be evaluated honestly — for a published comparison — wrap the whole search in an outer cross-validation loop: </a:t>
            </a:r>
            <a:r>
              <a:rPr sz="2300" b="1" i="0">
                <a:solidFill>
                  <a:srgbClr val="1A5276"/>
                </a:solidFill>
                <a:latin typeface="Segoe UI"/>
              </a:rPr>
              <a:t>nested cross-validation</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54739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230C24BA-88F4-4302-8570-575B5EAA2CA8}" type="slidenum">
              <a:rPr lang="en-GB" sz="1000">
                <a:solidFill>
                  <a:srgbClr val="8795A1"/>
                </a:solidFill>
                <a:latin typeface="Segoe UI"/>
              </a:rPr>
              <a:t>30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Celebrating zero training error.</a:t>
            </a:r>
            <a:r>
              <a:rPr sz="2100" b="0" i="0">
                <a:solidFill>
                  <a:srgbClr val="1C252B"/>
                </a:solidFill>
                <a:latin typeface="Segoe UI"/>
              </a:rPr>
              <a:t> With noisy labels it proves overfitting.</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Collecting more data to cure high bias.</a:t>
            </a:r>
            <a:r>
              <a:rPr sz="2100" b="0" i="0">
                <a:solidFill>
                  <a:srgbClr val="1C252B"/>
                </a:solidFill>
                <a:latin typeface="Segoe UI"/>
              </a:rPr>
              <a:t> If training error is already high, more of the same data will not lower it.</a:t>
            </a:r>
          </a:p>
        </p:txBody>
      </p:sp>
      <p:sp>
        <p:nvSpPr>
          <p:cNvPr id="13" name="!!pb2">
            <a:extLst>
              <a:ext uri="{C183D7F6-B498-43B3-948B-1728B52AA6E4}">
                <adec:decorative xmlns:adec="http://schemas.microsoft.com/office/drawing/2017/decorative" val="1"/>
              </a:ext>
            </a:extLst>
          </p:cNvPr>
          <p:cNvSpPr/>
          <p:nvPr/>
        </p:nvSpPr>
        <p:spPr>
          <a:xfrm>
            <a:off x="658368" y="318942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1228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171139"/>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Regularising unscaled features.</a:t>
            </a:r>
            <a:r>
              <a:rPr sz="2100" b="0" i="0">
                <a:solidFill>
                  <a:srgbClr val="1C252B"/>
                </a:solidFill>
                <a:latin typeface="Segoe UI"/>
              </a:rPr>
              <a:t> The penalty then depends on the units each feature happens to be measured in.</a:t>
            </a:r>
          </a:p>
        </p:txBody>
      </p:sp>
      <p:sp>
        <p:nvSpPr>
          <p:cNvPr id="16" name="!!pb3">
            <a:extLst>
              <a:ext uri="{C183D7F6-B498-43B3-948B-1728B52AA6E4}">
                <adec:decorative xmlns:adec="http://schemas.microsoft.com/office/drawing/2017/decorative" val="1"/>
              </a:ext>
            </a:extLst>
          </p:cNvPr>
          <p:cNvSpPr/>
          <p:nvPr/>
        </p:nvSpPr>
        <p:spPr>
          <a:xfrm>
            <a:off x="658368" y="405627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7913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03799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Reporting the best of many test scores.</a:t>
            </a:r>
            <a:r>
              <a:rPr sz="2100" b="0" i="0">
                <a:solidFill>
                  <a:srgbClr val="1C252B"/>
                </a:solidFill>
                <a:latin typeface="Segoe UI"/>
              </a:rPr>
              <a:t> Select on cross-validation; test once.</a:t>
            </a:r>
          </a:p>
        </p:txBody>
      </p:sp>
      <p:sp>
        <p:nvSpPr>
          <p:cNvPr id="19" name="!!pb4">
            <a:extLst>
              <a:ext uri="{C183D7F6-B498-43B3-948B-1728B52AA6E4}">
                <adec:decorative xmlns:adec="http://schemas.microsoft.com/office/drawing/2017/decorative" val="1"/>
              </a:ext>
            </a:extLst>
          </p:cNvPr>
          <p:cNvSpPr/>
          <p:nvPr/>
        </p:nvSpPr>
        <p:spPr>
          <a:xfrm>
            <a:off x="658368" y="462320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64606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0491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Choosing between near-identical CV scores.</a:t>
            </a:r>
            <a:r>
              <a:rPr sz="2100" b="0" i="0">
                <a:solidFill>
                  <a:srgbClr val="1C252B"/>
                </a:solidFill>
                <a:latin typeface="Segoe UI"/>
              </a:rPr>
              <a:t> Differences smaller than the fold-to-fold standard deviation are noise.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Bias and Variance</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42883C95-BB8F-4D30-B73A-A916A04053B2}" type="slidenum">
              <a:rPr lang="en-GB" sz="1000">
                <a:solidFill>
                  <a:srgbClr val="8795A1"/>
                </a:solidFill>
                <a:latin typeface="Segoe UI"/>
              </a:rPr>
              <a:t>31</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dropout model trained on one cohort of 200 students is a high-variance model: retrained on next year’s cohort it gives different students different risks.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Effort data from one team is tiny and noisy, so the right model is nearly always simpler than it looks.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Vibration data is plentiful but each machine is different.</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 intrusion model that fits last month’s traffic perfectly has learned last month’s attacks, including their noise.</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99893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Bias and Variance</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EA2E4D32-4AF8-4E47-96F0-424861037CFF}" type="slidenum">
              <a:rPr lang="en-GB" sz="1000">
                <a:solidFill>
                  <a:srgbClr val="8795A1"/>
                </a:solidFill>
                <a:latin typeface="Segoe UI"/>
              </a:rPr>
              <a:t>32</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dropout model trained on one cohort of 200 students is a high-variance model: retrained on next year’s cohort it gives different students different risks. Strong regularisation and a small number of well-understood features usually beat a flexible model here, because the data is small and the cohorts drift.</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2470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Bias and Variance</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8930EDB6-6E5C-4F25-9C61-9A5FE3F6D145}" type="slidenum">
              <a:rPr lang="en-GB" sz="1000">
                <a:solidFill>
                  <a:srgbClr val="8795A1"/>
                </a:solidFill>
                <a:latin typeface="Segoe UI"/>
              </a:rPr>
              <a:t>33</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Effort data from one team is tiny and noisy, so the right model is nearly always simpler than it looks. A regression with two features that generalises beats one with twenty that fits last quarter perfectly; learning curves on project data usually show high variance.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5048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Bias and Variance</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2A56D3F3-5F12-4459-9F18-AFF31A960D16}" type="slidenum">
              <a:rPr lang="en-GB" sz="1000">
                <a:solidFill>
                  <a:srgbClr val="8795A1"/>
                </a:solidFill>
                <a:latin typeface="Segoe UI"/>
              </a:rPr>
              <a:t>34</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Vibration data is plentiful but each machine is different. A model with low variance across machines — tested by holding out whole machines in cross-validation, not random readings — is worth more than one that is very accurate on the machines it was trained on.</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67625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Bias and Variance</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889A5B40-0299-4B05-ADA8-0922512EDF3B}" type="slidenum">
              <a:rPr lang="en-GB" sz="1000">
                <a:solidFill>
                  <a:srgbClr val="8795A1"/>
                </a:solidFill>
                <a:latin typeface="Segoe UI"/>
              </a:rPr>
              <a:t>35</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 intrusion model that fits last month’s traffic perfectly has learned last month’s attacks, including their noise. Overfitting here is also a security weakness: a model that memorises exact signatures is evaded by the smallest variation. Regularised, simpler models degrade more gracefully.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90202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Find the Bottom of the U</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A0AFD88A-B8AC-4424-8963-1305604D10A7}" type="slidenum">
              <a:rPr lang="en-GB" sz="1000">
                <a:solidFill>
                  <a:srgbClr val="8795A1"/>
                </a:solidFill>
                <a:latin typeface="Segoe UI"/>
              </a:rPr>
              <a:t>36</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Noisy samples of a sine wave</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Complexity: training error against cross-validated error</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Keep degree 12, but regularise; choose alpha by CV</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Only now, once: the test set</a:t>
            </a:r>
          </a:p>
        </p:txBody>
      </p:sp>
      <p:sp>
        <p:nvSpPr>
          <p:cNvPr id="2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6: Find the bottom of the U</a:t>
            </a:r>
          </a:p>
        </p:txBody>
      </p:sp>
      <p:sp>
        <p:nvSpPr>
          <p:cNvPr id="2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38 lines of Python</a:t>
            </a:r>
          </a:p>
        </p:txBody>
      </p:sp>
      <p:sp>
        <p:nvSpPr>
          <p:cNvPr id="3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code/ch07_find_bottom_u.py</a:t>
            </a:r>
          </a:p>
        </p:txBody>
      </p:sp>
      <p:sp>
        <p:nvSpPr>
          <p:cNvPr id="3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 the Bottom of the U</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0243F418-A14B-4CB0-8872-77352027A71B}"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32304"/>
          </a:xfrm>
          <a:prstGeom prst="roundRect">
            <a:avLst>
              <a:gd name="adj" fmla="val 375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code/ch07_find_bottom_u.py</a:t>
            </a:r>
          </a:p>
        </p:txBody>
      </p:sp>
      <p:sp>
        <p:nvSpPr>
          <p:cNvPr id="14" name="!!code-text" descr="import numpy as np from sklearn.pipeline import make_pipeline from sklearn.preprocessing import PolynomialFeatures, StandardScaler from sklearn.linear_model import LinearRegression, Ridge from sklearn.model_selection import (train_test_split, KFold, cross_val_score, GridSearchCV)"/>
          <p:cNvSpPr txBox="1"/>
          <p:nvPr/>
        </p:nvSpPr>
        <p:spPr>
          <a:xfrm>
            <a:off x="1362456" y="2523744"/>
            <a:ext cx="9987991" cy="19385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pipeline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make_pipeline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preprocessing</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PolynomialFeatures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StandardScaler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linear_model</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LinearRegression</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Ridge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train_test_split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KFold</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cross_val_score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GridSearchCV</a:t>
            </a:r>
            <a:r>
              <a:rPr sz="2000" i="0">
                <a:solidFill>
                  <a:srgbClr val="AEB6BF"/>
                </a:solidFill>
                <a:latin typeface="Consolas"/>
              </a:rPr>
              <a:t>)</a:t>
            </a:r>
          </a:p>
        </p:txBody>
      </p:sp>
      <p:sp>
        <p:nvSpPr>
          <p:cNvPr id="15" name="!!code-num"/>
          <p:cNvSpPr txBox="1"/>
          <p:nvPr/>
        </p:nvSpPr>
        <p:spPr>
          <a:xfrm>
            <a:off x="768096" y="2523744"/>
            <a:ext cx="393192" cy="19385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5356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 the Bottom of the U</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0457624D-CB0D-4148-9DD9-6528F4F7007D}"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Noisy samples of a sine wave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code/ch07_find_bottom_u.py</a:t>
            </a:r>
          </a:p>
        </p:txBody>
      </p:sp>
      <p:sp>
        <p:nvSpPr>
          <p:cNvPr id="14" name="!!code-text" descr="# --- noisy samples of a sine wave ---------------------------------------- rng = np.random.default_rng(0) X = rng.uniform(0, 1, (60, 1)) y = np.sin(2 * np.pi * X[:, 0]) + rng.normal(0, 0.25, 60) X_tr, X_te, y_tr, y_te = train_test_split(X, y, test_size=0.25, random_state=0) cv = KFold(5, shuffle=True, random_state=0) rmse = &quot;neg_root_mean_squared_error&quot;"/>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noisy samples of a sine wave ----------------------------------------</a:t>
            </a:r>
          </a:p>
          <a:p>
            <a:pPr>
              <a:lnSpc>
                <a:spcPct val="100000"/>
              </a:lnSpc>
              <a:spcAft>
                <a:spcPts val="0"/>
              </a:spcAft>
            </a:pPr>
            <a:r>
              <a:rPr sz="1800" i="0">
                <a:solidFill>
                  <a:srgbClr val="E8EDF2"/>
                </a:solidFill>
                <a:latin typeface="Consolas"/>
              </a:rPr>
              <a:t>rng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default_rng</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uniform</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60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sin</a:t>
            </a:r>
            <a:r>
              <a:rPr sz="1800" i="0">
                <a:solidFill>
                  <a:srgbClr val="AEB6BF"/>
                </a:solidFill>
                <a:latin typeface="Consolas"/>
              </a:rPr>
              <a:t>(</a:t>
            </a:r>
            <a:r>
              <a:rPr sz="1800" i="0">
                <a:solidFill>
                  <a:srgbClr val="F7DC6F"/>
                </a:solidFill>
                <a:latin typeface="Consolas"/>
              </a:rPr>
              <a:t>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pi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normal</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0.25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60</a:t>
            </a:r>
            <a:r>
              <a:rPr sz="1800" i="0">
                <a:solidFill>
                  <a:srgbClr val="AEB6BF"/>
                </a:solidFill>
                <a:latin typeface="Consolas"/>
              </a:rPr>
              <a:t>)</a:t>
            </a:r>
          </a:p>
          <a:p>
            <a:pPr>
              <a:lnSpc>
                <a:spcPct val="100000"/>
              </a:lnSpc>
              <a:spcAft>
                <a:spcPts val="0"/>
              </a:spcAft>
            </a:pP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train_test_split</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test_size</a:t>
            </a:r>
            <a:r>
              <a:rPr sz="1800" i="0">
                <a:solidFill>
                  <a:srgbClr val="AEB6BF"/>
                </a:solidFill>
                <a:latin typeface="Consolas"/>
              </a:rPr>
              <a:t>=</a:t>
            </a:r>
            <a:r>
              <a:rPr sz="1800" i="0">
                <a:solidFill>
                  <a:srgbClr val="F7DC6F"/>
                </a:solidFill>
                <a:latin typeface="Consolas"/>
              </a:rPr>
              <a:t>0.25</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cv</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KFold</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shuffle</a:t>
            </a:r>
            <a:r>
              <a:rPr sz="1800" i="0">
                <a:solidFill>
                  <a:srgbClr val="AEB6BF"/>
                </a:solidFill>
                <a:latin typeface="Consolas"/>
              </a:rPr>
              <a:t>=</a:t>
            </a:r>
            <a:r>
              <a:rPr sz="1800" i="0">
                <a:solidFill>
                  <a:srgbClr val="5DADE2"/>
                </a:solidFill>
                <a:latin typeface="Consolas"/>
              </a:rPr>
              <a:t>True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rmse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neg_root_mean_squared_error</a:t>
            </a:r>
            <a:r>
              <a:rPr sz="1800" i="0">
                <a:solidFill>
                  <a:srgbClr val="7DCEA0"/>
                </a:solidFill>
                <a:latin typeface="Consolas"/>
              </a:rPr>
              <a: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7934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 the Bottom of the U</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757E66A2-8253-4A1D-AD31-F5FFEA6BCFCD}" type="slidenum">
              <a:rPr lang="en-GB" sz="1000">
                <a:solidFill>
                  <a:srgbClr val="8795A1"/>
                </a:solidFill>
                <a:latin typeface="Segoe UI"/>
              </a:rPr>
              <a:t>39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Complexity: training error against cross-validated error</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code/ch07_find_bottom_u.py</a:t>
            </a:r>
          </a:p>
        </p:txBody>
      </p:sp>
      <p:sp>
        <p:nvSpPr>
          <p:cNvPr id="14" name="!!code-text" descr="# --- 1. complexity: training error against cross-validated error --------- for deg in (1, 3, 6, 12): m = make_pipeline(PolynomialFeatures(deg), StandardScaler(), LinearRegression()) m.fit(X_tr, y_tr) train = np.sqrt(np.mean((m.predict(X_tr) - y_tr) ** 2)) cvs = -cross_val_score(m, X_tr, y_tr, cv=cv, scoring=rmse) print(f&quot;degree {deg:2d}: train RMSE {train:.3f} &quot; f&quot;CV RMSE {cvs.mean():.3f} +/- {cvs.std():.3f}&quot;)"/>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complexity: training error against cross-validated error ---------</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deg</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6</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12</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make_pipeline</a:t>
            </a:r>
            <a:r>
              <a:rPr sz="1800" i="0">
                <a:solidFill>
                  <a:srgbClr val="AEB6BF"/>
                </a:solidFill>
                <a:latin typeface="Consolas"/>
              </a:rPr>
              <a:t>(</a:t>
            </a:r>
            <a:r>
              <a:rPr sz="1800" i="0">
                <a:solidFill>
                  <a:srgbClr val="E8EDF2"/>
                </a:solidFill>
                <a:latin typeface="Consolas"/>
              </a:rPr>
              <a:t>PolynomialFeatures</a:t>
            </a:r>
            <a:r>
              <a:rPr sz="1800" i="0">
                <a:solidFill>
                  <a:srgbClr val="AEB6BF"/>
                </a:solidFill>
                <a:latin typeface="Consolas"/>
              </a:rPr>
              <a:t>(</a:t>
            </a:r>
            <a:r>
              <a:rPr sz="1800" i="0">
                <a:solidFill>
                  <a:srgbClr val="E8EDF2"/>
                </a:solidFill>
                <a:latin typeface="Consolas"/>
              </a:rPr>
              <a:t>deg</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StandardScaler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LinearRegression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train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sqrt</a:t>
            </a:r>
            <a:r>
              <a:rPr sz="1800" i="0">
                <a:solidFill>
                  <a:srgbClr val="AEB6BF"/>
                </a:solidFill>
                <a:latin typeface="Consolas"/>
              </a:rPr>
              <a:t>(</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predict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cvs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cross_val_score</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cv</a:t>
            </a:r>
            <a:r>
              <a:rPr sz="1800" i="0">
                <a:solidFill>
                  <a:srgbClr val="AEB6BF"/>
                </a:solidFill>
                <a:latin typeface="Consolas"/>
              </a:rPr>
              <a:t>=</a:t>
            </a:r>
            <a:r>
              <a:rPr sz="1800" i="0">
                <a:solidFill>
                  <a:srgbClr val="E8EDF2"/>
                </a:solidFill>
                <a:latin typeface="Consolas"/>
              </a:rPr>
              <a:t>cv</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scoring</a:t>
            </a:r>
            <a:r>
              <a:rPr sz="1800" i="0">
                <a:solidFill>
                  <a:srgbClr val="AEB6BF"/>
                </a:solidFill>
                <a:latin typeface="Consolas"/>
              </a:rPr>
              <a:t>=</a:t>
            </a:r>
            <a:r>
              <a:rPr sz="1800" i="0">
                <a:solidFill>
                  <a:srgbClr val="E8EDF2"/>
                </a:solidFill>
                <a:latin typeface="Consolas"/>
              </a:rPr>
              <a:t>rmse</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degree </a:t>
            </a:r>
            <a:r>
              <a:rPr sz="1800" i="0">
                <a:solidFill>
                  <a:srgbClr val="7DCEA0"/>
                </a:solidFill>
                <a:latin typeface="Consolas"/>
              </a:rPr>
              <a:t>{</a:t>
            </a:r>
            <a:r>
              <a:rPr sz="1800" i="0">
                <a:solidFill>
                  <a:srgbClr val="E8EDF2"/>
                </a:solidFill>
                <a:latin typeface="Consolas"/>
              </a:rPr>
              <a:t>deg</a:t>
            </a:r>
            <a:r>
              <a:rPr sz="1800" i="0">
                <a:solidFill>
                  <a:srgbClr val="7DCEA0"/>
                </a:solidFill>
                <a:latin typeface="Consolas"/>
              </a:rPr>
              <a:t>:</a:t>
            </a:r>
            <a:r>
              <a:rPr sz="1800" i="0">
                <a:solidFill>
                  <a:srgbClr val="7DCEA0"/>
                </a:solidFill>
                <a:latin typeface="Consolas"/>
              </a:rPr>
              <a:t>2d</a:t>
            </a:r>
            <a:r>
              <a:rPr sz="1800" i="0">
                <a:solidFill>
                  <a:srgbClr val="7DCEA0"/>
                </a:solidFill>
                <a:latin typeface="Consolas"/>
              </a:rPr>
              <a:t>}</a:t>
            </a:r>
            <a:r>
              <a:rPr sz="1800" i="0">
                <a:solidFill>
                  <a:srgbClr val="7DCEA0"/>
                </a:solidFill>
                <a:latin typeface="Consolas"/>
              </a:rPr>
              <a:t>: train RMSE </a:t>
            </a:r>
            <a:r>
              <a:rPr sz="1800" i="0">
                <a:solidFill>
                  <a:srgbClr val="7DCEA0"/>
                </a:solidFill>
                <a:latin typeface="Consolas"/>
              </a:rPr>
              <a:t>{</a:t>
            </a:r>
            <a:r>
              <a:rPr sz="1800" i="0">
                <a:solidFill>
                  <a:srgbClr val="E8EDF2"/>
                </a:solidFill>
                <a:latin typeface="Consolas"/>
              </a:rPr>
              <a:t>train</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CV RMSE </a:t>
            </a:r>
            <a:r>
              <a:rPr sz="1800" i="0">
                <a:solidFill>
                  <a:srgbClr val="7DCEA0"/>
                </a:solidFill>
                <a:latin typeface="Consolas"/>
              </a:rPr>
              <a:t>{</a:t>
            </a:r>
            <a:r>
              <a:rPr sz="1800" i="0">
                <a:solidFill>
                  <a:srgbClr val="E8EDF2"/>
                </a:solidFill>
                <a:latin typeface="Consolas"/>
              </a:rPr>
              <a:t>cvs</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 +/- </a:t>
            </a:r>
            <a:r>
              <a:rPr sz="1800" i="0">
                <a:solidFill>
                  <a:srgbClr val="7DCEA0"/>
                </a:solidFill>
                <a:latin typeface="Consolas"/>
              </a:rPr>
              <a:t>{</a:t>
            </a:r>
            <a:r>
              <a:rPr sz="1800" i="0">
                <a:solidFill>
                  <a:srgbClr val="E8EDF2"/>
                </a:solidFill>
                <a:latin typeface="Consolas"/>
              </a:rPr>
              <a:t>cvs</a:t>
            </a:r>
            <a:r>
              <a:rPr sz="1800" i="0">
                <a:solidFill>
                  <a:srgbClr val="AEB6BF"/>
                </a:solidFill>
                <a:latin typeface="Consolas"/>
              </a:rPr>
              <a:t>.</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0511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 the Bottom of the U</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2655B1CB-0D1B-4FDB-98F2-E0FA5405DFF7}" type="slidenum">
              <a:rPr lang="en-GB" sz="1000">
                <a:solidFill>
                  <a:srgbClr val="8795A1"/>
                </a:solidFill>
                <a:latin typeface="Segoe UI"/>
              </a:rPr>
              <a:t>40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Keep degree 12, but regularise; choose alpha by CV</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code/ch07_find_bottom_u.py</a:t>
            </a:r>
          </a:p>
        </p:txBody>
      </p:sp>
      <p:sp>
        <p:nvSpPr>
          <p:cNvPr id="14" name="!!code-text" descr="# --- 2. keep degree 12, but regularise; choose alpha by CV --------------- pipe = make_pipeline(PolynomialFeatures(12), StandardScaler(), Ridge()) grid = GridSearchCV(pipe, {&quot;ridge__alpha&quot;: [1e-6, 1e-3, 1e-1, 10, 1000]}, cv=cv, scoring=rmse).fit(X_tr, y_tr) for a, s in zip(grid.cv_results_[&quot;param_ridge__alpha&quot;], grid.cv_results_[&quot;mean_test_score&quot;]): print(f&quot;alpha {a:&gt;8g}: CV RMSE {-s:.3f}&quot;) print(&quot;chosen:&quot;, grid.best_params_)"/>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keep degree 12, but regularise; choose alpha by CV ---------------</a:t>
            </a:r>
          </a:p>
          <a:p>
            <a:pPr>
              <a:lnSpc>
                <a:spcPct val="100000"/>
              </a:lnSpc>
              <a:spcAft>
                <a:spcPts val="0"/>
              </a:spcAft>
            </a:pPr>
            <a:r>
              <a:rPr sz="1800" i="0">
                <a:solidFill>
                  <a:srgbClr val="E8EDF2"/>
                </a:solidFill>
                <a:latin typeface="Consolas"/>
              </a:rPr>
              <a:t>pipe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make_pipeline</a:t>
            </a:r>
            <a:r>
              <a:rPr sz="1800" i="0">
                <a:solidFill>
                  <a:srgbClr val="AEB6BF"/>
                </a:solidFill>
                <a:latin typeface="Consolas"/>
              </a:rPr>
              <a:t>(</a:t>
            </a:r>
            <a:r>
              <a:rPr sz="1800" i="0">
                <a:solidFill>
                  <a:srgbClr val="E8EDF2"/>
                </a:solidFill>
                <a:latin typeface="Consolas"/>
              </a:rPr>
              <a:t>PolynomialFeatures</a:t>
            </a:r>
            <a:r>
              <a:rPr sz="1800" i="0">
                <a:solidFill>
                  <a:srgbClr val="AEB6BF"/>
                </a:solidFill>
                <a:latin typeface="Consolas"/>
              </a:rPr>
              <a:t>(</a:t>
            </a:r>
            <a:r>
              <a:rPr sz="1800" i="0">
                <a:solidFill>
                  <a:srgbClr val="F7DC6F"/>
                </a:solidFill>
                <a:latin typeface="Consolas"/>
              </a:rPr>
              <a:t>12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StandardScaler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Ridge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grid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GridSearchCV</a:t>
            </a:r>
            <a:r>
              <a:rPr sz="1800" i="0">
                <a:solidFill>
                  <a:srgbClr val="AEB6BF"/>
                </a:solidFill>
                <a:latin typeface="Consolas"/>
              </a:rPr>
              <a:t>(</a:t>
            </a:r>
            <a:r>
              <a:rPr sz="1800" i="0">
                <a:solidFill>
                  <a:srgbClr val="E8EDF2"/>
                </a:solidFill>
                <a:latin typeface="Consolas"/>
              </a:rPr>
              <a:t>pipe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ridge__alpha</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1e-6</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1e-3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1e-1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1000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cv</a:t>
            </a:r>
            <a:r>
              <a:rPr sz="1800" i="0">
                <a:solidFill>
                  <a:srgbClr val="AEB6BF"/>
                </a:solidFill>
                <a:latin typeface="Consolas"/>
              </a:rPr>
              <a:t>=</a:t>
            </a:r>
            <a:r>
              <a:rPr sz="1800" i="0">
                <a:solidFill>
                  <a:srgbClr val="E8EDF2"/>
                </a:solidFill>
                <a:latin typeface="Consolas"/>
              </a:rPr>
              <a:t>cv</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scoring</a:t>
            </a:r>
            <a:r>
              <a:rPr sz="1800" i="0">
                <a:solidFill>
                  <a:srgbClr val="AEB6BF"/>
                </a:solidFill>
                <a:latin typeface="Consolas"/>
              </a:rPr>
              <a:t>=</a:t>
            </a:r>
            <a:r>
              <a:rPr sz="1800" i="0">
                <a:solidFill>
                  <a:srgbClr val="E8EDF2"/>
                </a:solidFill>
                <a:latin typeface="Consolas"/>
              </a:rPr>
              <a:t>rmse</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zip</a:t>
            </a:r>
            <a:r>
              <a:rPr sz="1800" i="0">
                <a:solidFill>
                  <a:srgbClr val="AEB6BF"/>
                </a:solidFill>
                <a:latin typeface="Consolas"/>
              </a:rPr>
              <a:t>(</a:t>
            </a: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cv_results_</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param_ridge__alpha</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cv_results_</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mean_test_score</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alpha </a:t>
            </a:r>
            <a:r>
              <a:rPr sz="1800" i="0">
                <a:solidFill>
                  <a:srgbClr val="7DCEA0"/>
                </a:solidFill>
                <a:latin typeface="Consolas"/>
              </a:rPr>
              <a:t>{</a:t>
            </a:r>
            <a:r>
              <a:rPr sz="1800" i="0">
                <a:solidFill>
                  <a:srgbClr val="E8EDF2"/>
                </a:solidFill>
                <a:latin typeface="Consolas"/>
              </a:rPr>
              <a:t>a</a:t>
            </a:r>
            <a:r>
              <a:rPr sz="1800" i="0">
                <a:solidFill>
                  <a:srgbClr val="7DCEA0"/>
                </a:solidFill>
                <a:latin typeface="Consolas"/>
              </a:rPr>
              <a:t>:</a:t>
            </a:r>
            <a:r>
              <a:rPr sz="1800" i="0">
                <a:solidFill>
                  <a:srgbClr val="7DCEA0"/>
                </a:solidFill>
                <a:latin typeface="Consolas"/>
              </a:rPr>
              <a:t>&gt;8g</a:t>
            </a:r>
            <a:r>
              <a:rPr sz="1800" i="0">
                <a:solidFill>
                  <a:srgbClr val="7DCEA0"/>
                </a:solidFill>
                <a:latin typeface="Consolas"/>
              </a:rPr>
              <a:t>}</a:t>
            </a:r>
            <a:r>
              <a:rPr sz="1800" i="0">
                <a:solidFill>
                  <a:srgbClr val="7DCEA0"/>
                </a:solidFill>
                <a:latin typeface="Consolas"/>
              </a:rPr>
              <a:t>: CV RMSE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s</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chosen: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best_params_</a:t>
            </a:r>
            <a:r>
              <a:rPr sz="1800" i="0">
                <a:solidFill>
                  <a:srgbClr val="AEB6BF"/>
                </a:solidFill>
                <a:latin typeface="Consolas"/>
              </a:rPr>
              <a: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3088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Find the Bottom of the U</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1716A977-4064-4C46-833E-D7FDA07B8381}" type="slidenum">
              <a:rPr lang="en-GB" sz="1000">
                <a:solidFill>
                  <a:srgbClr val="8795A1"/>
                </a:solidFill>
                <a:latin typeface="Segoe UI"/>
              </a:rPr>
              <a:t>41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Only now, once: the test set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code/ch07_find_bottom_u.py</a:t>
            </a:r>
          </a:p>
        </p:txBody>
      </p:sp>
      <p:sp>
        <p:nvSpPr>
          <p:cNvPr id="14" name="!!code-text" descr="# --- 3. only now, once: the test set ------------------------------------- pred = grid.predict(X_te) print(&quot;test RMSE:&quot;, round(float(np.sqrt(np.mean((pred - y_te) ** 2))), 3))"/>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only now, once: the test set -------------------------------------</a:t>
            </a:r>
          </a:p>
          <a:p>
            <a:pPr>
              <a:lnSpc>
                <a:spcPct val="100000"/>
              </a:lnSpc>
              <a:spcAft>
                <a:spcPts val="0"/>
              </a:spcAft>
            </a:pPr>
            <a:r>
              <a:rPr sz="1800" i="0">
                <a:solidFill>
                  <a:srgbClr val="E8EDF2"/>
                </a:solidFill>
                <a:latin typeface="Consolas"/>
              </a:rPr>
              <a:t>pred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predict</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test RMSE: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C39BD3"/>
                </a:solidFill>
                <a:latin typeface="Consolas"/>
              </a:rPr>
              <a:t>float</a:t>
            </a:r>
            <a:r>
              <a:rPr sz="1800" i="0">
                <a:solidFill>
                  <a:srgbClr val="AEB6BF"/>
                </a:solidFill>
                <a:latin typeface="Consolas"/>
              </a:rPr>
              <a:t>(</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sqrt</a:t>
            </a:r>
            <a:r>
              <a:rPr sz="1800" i="0">
                <a:solidFill>
                  <a:srgbClr val="AEB6BF"/>
                </a:solidFill>
                <a:latin typeface="Consolas"/>
              </a:rPr>
              <a:t>(</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pred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25665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56     </a:t>
            </a:r>
            <a:fld id="{6746E493-45BF-4A61-B058-75D89A1AB93B}" type="slidenum">
              <a:rPr lang="en-GB" sz="1000">
                <a:solidFill>
                  <a:srgbClr val="8795A1"/>
                </a:solidFill>
                <a:latin typeface="Segoe UI"/>
              </a:rPr>
              <a:t>42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scikit-learn calls </a:t>
            </a:r>
            <a:r>
              <a:rPr sz="2300" b="0" i="0">
                <a:solidFill>
                  <a:srgbClr val="1C252B"/>
                </a:solidFill>
                <a:latin typeface="Cambria"/>
              </a:rPr>
              <a:t>λ</a:t>
            </a:r>
            <a:r>
              <a:rPr sz="2300" b="0" i="0">
                <a:solidFill>
                  <a:srgbClr val="1C252B"/>
                </a:solidFill>
                <a:latin typeface="Segoe UI"/>
              </a:rPr>
              <a:t> </a:t>
            </a:r>
            <a:r>
              <a:rPr sz="2150" b="0" i="0">
                <a:solidFill>
                  <a:srgbClr val="1F4E79"/>
                </a:solidFill>
                <a:latin typeface="Consolas"/>
              </a:rPr>
              <a:t>alpha</a:t>
            </a:r>
            <a:r>
              <a:rPr sz="2300" b="0" i="0">
                <a:solidFill>
                  <a:srgbClr val="1C252B"/>
                </a:solidFill>
                <a:latin typeface="Segoe UI"/>
              </a:rPr>
              <a:t>. Change the 60 samples to 600 and run again: which degrees stop overfitting, and why?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48242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model has training RMSE 0.05 and validation RMSE 0.90. Is the problem bias or variance? Name two remedies.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7  ·  Overfitting, Bias–Variance and Regularisation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59  ·  answers in Appendix D     </a:t>
            </a:r>
            <a:fld id="{3A6E3D45-0EE0-496C-A9CE-D859F01CC01F}"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model has training RMSE 0.05 and validation RMSE 0.90. Is the problem bias or variance? Name two remedies.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Variance (overfitting). Remedies: more data, stronger regularisation or a simpler model, fewer features, early stopping, an averaging ensemble.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  answers in Appendix D     </a:t>
            </a:r>
            <a:fld id="{DFDBDD0B-0FAA-4F5C-A7AA-D2C5BFD84000}"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3397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Ten models trained on different samples predict </a:t>
            </a:r>
            <a:r>
              <a:rPr sz="3400" b="0" i="0">
                <a:solidFill>
                  <a:srgbClr val="FFFFFF"/>
                </a:solidFill>
                <a:latin typeface="Cambria"/>
              </a:rPr>
              <a:t>2, 2, 2, 2, 2, 2, 2, 2, 2, 2</a:t>
            </a:r>
            <a:r>
              <a:rPr sz="3400" b="0" i="0">
                <a:solidFill>
                  <a:srgbClr val="FFFFFF"/>
                </a:solidFill>
                <a:latin typeface="Segoe UI Semibold"/>
              </a:rPr>
              <a:t> at a point whose true value is 3. Give the bias</a:t>
            </a:r>
            <a:r>
              <a:rPr sz="3400" b="0" i="0" baseline="30000">
                <a:solidFill>
                  <a:srgbClr val="FFFFFF"/>
                </a:solidFill>
                <a:latin typeface="Cambria"/>
              </a:rPr>
              <a:t>2</a:t>
            </a:r>
            <a:r>
              <a:rPr sz="3400" b="0" i="0">
                <a:solidFill>
                  <a:srgbClr val="FFFFFF"/>
                </a:solidFill>
                <a:latin typeface="Segoe UI Semibold"/>
              </a:rPr>
              <a:t> and the variance.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7  ·  Overfitting, Bias–Variance and Regularisation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59  ·  answers in Appendix D     </a:t>
            </a:r>
            <a:fld id="{1B2E0BA7-AFDC-481B-8ED8-E06DC28E76FC}"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Ten models trained on different samples predict </a:t>
            </a:r>
            <a:r>
              <a:rPr sz="2400" b="0" i="0">
                <a:solidFill>
                  <a:srgbClr val="1A5276"/>
                </a:solidFill>
                <a:latin typeface="Cambria"/>
              </a:rPr>
              <a:t>2, 2, 2, 2, 2, 2, 2, 2, 2, 2</a:t>
            </a:r>
            <a:r>
              <a:rPr sz="2400" b="0" i="0">
                <a:solidFill>
                  <a:srgbClr val="1A5276"/>
                </a:solidFill>
                <a:latin typeface="Segoe UI Semibold"/>
              </a:rPr>
              <a:t> at a point whose true value is 3. Give the bias</a:t>
            </a:r>
            <a:r>
              <a:rPr sz="2400" b="0" i="0" baseline="30000">
                <a:solidFill>
                  <a:srgbClr val="1A5276"/>
                </a:solidFill>
                <a:latin typeface="Cambria"/>
              </a:rPr>
              <a:t>2</a:t>
            </a:r>
            <a:r>
              <a:rPr sz="2400" b="0" i="0">
                <a:solidFill>
                  <a:srgbClr val="1A5276"/>
                </a:solidFill>
                <a:latin typeface="Segoe UI Semibold"/>
              </a:rPr>
              <a:t> and the variance.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Bias</a:t>
            </a:r>
            <a:r>
              <a:rPr sz="2200" b="0" i="0" baseline="30000">
                <a:solidFill>
                  <a:srgbClr val="1C252B"/>
                </a:solidFill>
                <a:latin typeface="Cambria"/>
              </a:rPr>
              <a:t>2</a:t>
            </a:r>
            <a:r>
              <a:rPr sz="2200" b="0" i="0">
                <a:solidFill>
                  <a:srgbClr val="1C252B"/>
                </a:solidFill>
                <a:latin typeface="Cambria"/>
              </a:rPr>
              <a:t> = (2 − 3)</a:t>
            </a:r>
            <a:r>
              <a:rPr sz="2200" b="0" i="0" baseline="30000">
                <a:solidFill>
                  <a:srgbClr val="1C252B"/>
                </a:solidFill>
                <a:latin typeface="Cambria"/>
              </a:rPr>
              <a:t>2</a:t>
            </a:r>
            <a:r>
              <a:rPr sz="2200" b="0" i="0">
                <a:solidFill>
                  <a:srgbClr val="1C252B"/>
                </a:solidFill>
                <a:latin typeface="Cambria"/>
              </a:rPr>
              <a:t> = 1</a:t>
            </a:r>
            <a:r>
              <a:rPr sz="2200" b="0" i="0">
                <a:solidFill>
                  <a:srgbClr val="1C252B"/>
                </a:solidFill>
                <a:latin typeface="Segoe UI"/>
              </a:rPr>
              <a:t>. Variance </a:t>
            </a:r>
            <a:r>
              <a:rPr sz="2200" b="0" i="0">
                <a:solidFill>
                  <a:srgbClr val="1C252B"/>
                </a:solidFill>
                <a:latin typeface="Cambria"/>
              </a:rPr>
              <a:t>= 0</a:t>
            </a:r>
            <a:r>
              <a:rPr sz="2200" b="0" i="0">
                <a:solidFill>
                  <a:srgbClr val="1C252B"/>
                </a:solidFill>
                <a:latin typeface="Segoe UI"/>
              </a:rPr>
              <a:t>: every prediction is identical.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  answers in Appendix D     </a:t>
            </a:r>
            <a:fld id="{8100BFB2-54FE-40E6-B3A2-E61924633388}" type="slidenum">
              <a:rPr lang="en-GB" sz="1000">
                <a:solidFill>
                  <a:srgbClr val="8795A1"/>
                </a:solidFill>
                <a:latin typeface="Segoe UI"/>
              </a:rPr>
              <a:t>46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855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lasso, but not ridge, perform feature selection?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7  ·  Overfitting, Bias–Variance and Regularisation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59  ·  answers in Appendix D     </a:t>
            </a:r>
            <a:fld id="{226482D0-BE79-4040-9D21-6585B957EC1C}"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Why does lasso, but not ridge, perform feature selection?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L1 constraint region is a diamond with corners on the axes; the error contours usually first touch it at a corner, where some weights are exactly zero. The L2 region is a circle with no corners, so weights shrink but rarely reach zero.</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  answers in Appendix D     </a:t>
            </a:r>
            <a:fld id="{5067B5D4-B03F-4A9D-B2D0-D81188FE1D2E}" type="slidenum">
              <a:rPr lang="en-GB" sz="1000">
                <a:solidFill>
                  <a:srgbClr val="8795A1"/>
                </a:solidFill>
                <a:latin typeface="Segoe UI"/>
              </a:rPr>
              <a:t>48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646BFF13-A0FC-4DE6-AAF4-1C5FAD73473A}" type="slidenum">
              <a:rPr lang="en-GB" sz="1000">
                <a:solidFill>
                  <a:srgbClr val="8795A1"/>
                </a:solidFill>
                <a:latin typeface="Segoe UI"/>
              </a:rPr>
              <a:t>49</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Training error is optimistic; generalisation is judged on unseen data.</a:t>
            </a:r>
          </a:p>
        </p:txBody>
      </p:sp>
      <p:sp>
        <p:nvSpPr>
          <p:cNvPr id="10" name="!!sb1">
            <a:extLst>
              <a:ext uri="{C183D7F6-B498-43B3-948B-1728B52AA6E4}">
                <adec:decorative xmlns:adec="http://schemas.microsoft.com/office/drawing/2017/decorative" val="1"/>
              </a:ext>
            </a:extLst>
          </p:cNvPr>
          <p:cNvSpPr/>
          <p:nvPr/>
        </p:nvSpPr>
        <p:spPr>
          <a:xfrm>
            <a:off x="658368" y="233172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38658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322576"/>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Underfitting: both errors high. Overfitting: training error low, test error high. Test error is U-shaped in model complexity.</a:t>
            </a:r>
          </a:p>
        </p:txBody>
      </p:sp>
      <p:sp>
        <p:nvSpPr>
          <p:cNvPr id="13" name="!!sb2">
            <a:extLst>
              <a:ext uri="{C183D7F6-B498-43B3-948B-1728B52AA6E4}">
                <adec:decorative xmlns:adec="http://schemas.microsoft.com/office/drawing/2017/decorative" val="1"/>
              </a:ext>
            </a:extLst>
          </p:cNvPr>
          <p:cNvSpPr/>
          <p:nvPr/>
        </p:nvSpPr>
        <p:spPr>
          <a:xfrm>
            <a:off x="658368" y="314858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0344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3944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Expected error </a:t>
            </a:r>
            <a:r>
              <a:rPr sz="2000" b="0" i="0">
                <a:solidFill>
                  <a:srgbClr val="1C252B"/>
                </a:solidFill>
                <a:latin typeface="Cambria"/>
              </a:rPr>
              <a:t>=</a:t>
            </a:r>
            <a:r>
              <a:rPr sz="2000" b="0" i="0">
                <a:solidFill>
                  <a:srgbClr val="1C252B"/>
                </a:solidFill>
                <a:latin typeface="Segoe UI"/>
              </a:rPr>
              <a:t> bias</a:t>
            </a:r>
            <a:r>
              <a:rPr sz="2000" b="0" i="0" baseline="30000">
                <a:solidFill>
                  <a:srgbClr val="1C252B"/>
                </a:solidFill>
                <a:latin typeface="Cambria"/>
              </a:rPr>
              <a:t>2</a:t>
            </a:r>
            <a:r>
              <a:rPr sz="2000" b="0" i="0">
                <a:solidFill>
                  <a:srgbClr val="1C252B"/>
                </a:solidFill>
                <a:latin typeface="Segoe UI"/>
              </a:rPr>
              <a:t> </a:t>
            </a:r>
            <a:r>
              <a:rPr sz="2000" b="0" i="0">
                <a:solidFill>
                  <a:srgbClr val="1C252B"/>
                </a:solidFill>
                <a:latin typeface="Cambria"/>
              </a:rPr>
              <a:t>+</a:t>
            </a:r>
            <a:r>
              <a:rPr sz="2000" b="0" i="0">
                <a:solidFill>
                  <a:srgbClr val="1C252B"/>
                </a:solidFill>
                <a:latin typeface="Segoe UI"/>
              </a:rPr>
              <a:t> variance </a:t>
            </a:r>
            <a:r>
              <a:rPr sz="2000" b="0" i="0">
                <a:solidFill>
                  <a:srgbClr val="1C252B"/>
                </a:solidFill>
                <a:latin typeface="Cambria"/>
              </a:rPr>
              <a:t>+</a:t>
            </a:r>
            <a:r>
              <a:rPr sz="2000" b="0" i="0">
                <a:solidFill>
                  <a:srgbClr val="1C252B"/>
                </a:solidFill>
                <a:latin typeface="Segoe UI"/>
              </a:rPr>
              <a:t> noise. Flexibility trades bias for variance; noise is a floor no model can go below.</a:t>
            </a:r>
          </a:p>
        </p:txBody>
      </p:sp>
      <p:sp>
        <p:nvSpPr>
          <p:cNvPr id="16" name="!!sb3">
            <a:extLst>
              <a:ext uri="{C183D7F6-B498-43B3-948B-1728B52AA6E4}">
                <adec:decorative xmlns:adec="http://schemas.microsoft.com/office/drawing/2017/decorative" val="1"/>
              </a:ext>
            </a:extLst>
          </p:cNvPr>
          <p:cNvSpPr/>
          <p:nvPr/>
        </p:nvSpPr>
        <p:spPr>
          <a:xfrm>
            <a:off x="658368" y="396544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2031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56304"/>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Learning curves diagnose the problem: converged and high means bias; a wide, closing gap means variance.</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Ridge (L2) shrinks weights; lasso (L1) also sets some to zero. The penalty strength is a hyperparameter.</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Choose hyperparameters by </a:t>
            </a:r>
            <a:r>
              <a:rPr sz="2000" b="0" i="1">
                <a:solidFill>
                  <a:srgbClr val="1C252B"/>
                </a:solidFill>
                <a:latin typeface="Cambria"/>
              </a:rPr>
              <a:t>k</a:t>
            </a:r>
            <a:r>
              <a:rPr sz="2000" b="0" i="0">
                <a:solidFill>
                  <a:srgbClr val="1C252B"/>
                </a:solidFill>
                <a:latin typeface="Segoe UI"/>
              </a:rPr>
              <a:t>-fold cross-validation on the training data, refit, then test once.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6283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BF1CE71A-11AF-4C04-B63F-2180591F8E74}" type="slidenum">
              <a:rPr lang="en-GB" sz="1000">
                <a:solidFill>
                  <a:srgbClr val="8795A1"/>
                </a:solidFill>
                <a:latin typeface="Segoe UI"/>
              </a:rPr>
              <a:t>50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Adding training data is most useful when a model has: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high bias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high variance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high noise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low variance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886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20CB144C-202B-4872-A632-303A76A35BD6}" type="slidenum">
              <a:rPr lang="en-GB" sz="1000">
                <a:solidFill>
                  <a:srgbClr val="8795A1"/>
                </a:solidFill>
                <a:latin typeface="Segoe UI"/>
              </a:rPr>
              <a:t>51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As </a:t>
            </a:r>
            <a:r>
              <a:rPr sz="2600" b="0" i="0">
                <a:solidFill>
                  <a:srgbClr val="1C252B"/>
                </a:solidFill>
                <a:latin typeface="Cambria"/>
              </a:rPr>
              <a:t>λ</a:t>
            </a:r>
            <a:r>
              <a:rPr sz="2600" b="0" i="0">
                <a:solidFill>
                  <a:srgbClr val="1C252B"/>
                </a:solidFill>
                <a:latin typeface="Segoe UI"/>
              </a:rPr>
              <a:t> in ridge regression increases: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bias and variance both fall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bias rises and variance falls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bias falls and variance rises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neither changes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143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1A15DD59-1CFA-4DEC-B0C5-C5F89C0A4AC8}" type="slidenum">
              <a:rPr lang="en-GB" sz="1000">
                <a:solidFill>
                  <a:srgbClr val="8795A1"/>
                </a:solidFill>
                <a:latin typeface="Segoe UI"/>
              </a:rPr>
              <a:t>52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of these is a hyperparameter?</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regression weight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bias term </a:t>
            </a:r>
            <a:r>
              <a:rPr sz="2000" b="0" i="1">
                <a:solidFill>
                  <a:srgbClr val="1C252B"/>
                </a:solidFill>
                <a:latin typeface="Cambria"/>
              </a:rPr>
              <a:t>b</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number of folds’ mean error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degree of a polynomial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4015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7  ·  Overfitting, Bias–Variance and Regularisation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59     </a:t>
            </a:r>
            <a:fld id="{AEF246E1-0AA2-4CB2-BFAD-A0F712CDA9D1}" type="slidenum">
              <a:rPr lang="en-GB" sz="1000">
                <a:solidFill>
                  <a:srgbClr val="8795A1"/>
                </a:solidFill>
                <a:latin typeface="Segoe UI"/>
              </a:rPr>
              <a:t>53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training error cannot be used to choose the degree of a polynomial.</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What is irreducible error, and why can no model remove it?</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nested cross-validation and when it is needed.</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Three models predict at a point with true value 10 and noise variance 4. Over five training sets they predict: A: </a:t>
            </a:r>
            <a:r>
              <a:rPr sz="1900" b="0" i="0">
                <a:solidFill>
                  <a:srgbClr val="1C252B"/>
                </a:solidFill>
                <a:latin typeface="Cambria"/>
              </a:rPr>
              <a:t>8, 8, 9, 8, 7</a:t>
            </a:r>
            <a:r>
              <a:rPr sz="1900" b="0" i="0">
                <a:solidFill>
                  <a:srgbClr val="1C252B"/>
                </a:solidFill>
                <a:latin typeface="Segoe UI"/>
              </a:rPr>
              <a:t>; B: </a:t>
            </a:r>
            <a:r>
              <a:rPr sz="1900" b="0" i="0">
                <a:solidFill>
                  <a:srgbClr val="1C252B"/>
                </a:solidFill>
                <a:latin typeface="Cambria"/>
              </a:rPr>
              <a:t>12, 7, 10, 13, 8</a:t>
            </a:r>
            <a:r>
              <a:rPr sz="1900" b="0" i="0">
                <a:solidFill>
                  <a:srgbClr val="1C252B"/>
                </a:solidFill>
                <a:latin typeface="Segoe UI"/>
              </a:rPr>
              <a:t>; C: </a:t>
            </a:r>
            <a:r>
              <a:rPr sz="1900" b="0" i="0">
                <a:solidFill>
                  <a:srgbClr val="1C252B"/>
                </a:solidFill>
                <a:latin typeface="Cambria"/>
              </a:rPr>
              <a:t>10, 10, 11, 9, 10</a:t>
            </a:r>
            <a:r>
              <a:rPr sz="1900" b="0" i="0">
                <a:solidFill>
                  <a:srgbClr val="1C252B"/>
                </a:solidFill>
                <a:latin typeface="Segoe UI"/>
              </a:rPr>
              <a:t>. Compute bias</a:t>
            </a:r>
            <a:r>
              <a:rPr sz="1900" b="0" i="0" baseline="30000">
                <a:solidFill>
                  <a:srgbClr val="1C252B"/>
                </a:solidFill>
                <a:latin typeface="Cambria"/>
              </a:rPr>
              <a:t>2</a:t>
            </a:r>
            <a:r>
              <a:rPr sz="1900" b="0" i="0">
                <a:solidFill>
                  <a:srgbClr val="1C252B"/>
                </a:solidFill>
                <a:latin typeface="Segoe UI"/>
              </a:rPr>
              <a:t>, variance and expected error for each, and rank them.</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centred data </a:t>
            </a:r>
            <a:r>
              <a:rPr sz="1900" b="0" i="1">
                <a:solidFill>
                  <a:srgbClr val="1C252B"/>
                </a:solidFill>
                <a:latin typeface="Cambria"/>
              </a:rPr>
              <a:t>x</a:t>
            </a:r>
            <a:r>
              <a:rPr sz="1900" b="0" i="0">
                <a:solidFill>
                  <a:srgbClr val="1C252B"/>
                </a:solidFill>
                <a:latin typeface="Cambria"/>
              </a:rPr>
              <a:t> = −1, 0, 1, 2</a:t>
            </a:r>
            <a:r>
              <a:rPr sz="1900" b="0" i="0">
                <a:solidFill>
                  <a:srgbClr val="1C252B"/>
                </a:solidFill>
                <a:latin typeface="Segoe UI"/>
              </a:rPr>
              <a:t> (centre it first) and </a:t>
            </a:r>
            <a:r>
              <a:rPr sz="1900" b="0" i="1">
                <a:solidFill>
                  <a:srgbClr val="1C252B"/>
                </a:solidFill>
                <a:latin typeface="Cambria"/>
              </a:rPr>
              <a:t>y</a:t>
            </a:r>
            <a:r>
              <a:rPr sz="1900" b="0" i="0">
                <a:solidFill>
                  <a:srgbClr val="1C252B"/>
                </a:solidFill>
                <a:latin typeface="Cambria"/>
              </a:rPr>
              <a:t> = 1, 2, 2, 5</a:t>
            </a:r>
            <a:r>
              <a:rPr sz="1900" b="0" i="0">
                <a:solidFill>
                  <a:srgbClr val="1C252B"/>
                </a:solidFill>
                <a:latin typeface="Segoe UI"/>
              </a:rPr>
              <a:t> (centre it too), compute the ridge weight for </a:t>
            </a:r>
            <a:r>
              <a:rPr sz="1900" b="0" i="0">
                <a:solidFill>
                  <a:srgbClr val="1C252B"/>
                </a:solidFill>
                <a:latin typeface="Cambria"/>
              </a:rPr>
              <a:t>λ = 0, 1, 5</a:t>
            </a:r>
            <a:r>
              <a:rPr sz="1900" b="0" i="0">
                <a:solidFill>
                  <a:srgbClr val="1C252B"/>
                </a:solidFill>
                <a:latin typeface="Segoe UI"/>
              </a:rPr>
              <a:t> and describe the pattern.</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659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07</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7</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8 — Measuring Classifier Performance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7, pages 52–59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Find the bottom of the U</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7  ·  Overfitting, Bias–Variance and Regularisation</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57DC8970-DD2D-4C3D-B50C-93779E0A46A7}" type="slidenum">
              <a:rPr lang="en-GB" sz="1000">
                <a:solidFill>
                  <a:srgbClr val="D5DEE5"/>
                </a:solidFill>
                <a:latin typeface="Segoe UI"/>
              </a:rPr>
              <a:t>54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Overfitting, Bias–Variance and Regularisation</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