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9.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4A18740-DDAC-42E8-8FE9-9B03D8980A2D}">
          <p14:sldIdLst>
            <p14:sldId id="256"/>
            <p14:sldId id="257"/>
            <p14:sldId id="258"/>
            <p14:sldId id="259"/>
            <p14:sldId id="260"/>
          </p14:sldIdLst>
        </p14:section>
        <p14:section name="16.1 Why Fewer Dimensions" id="{F5265795-94B8-4E79-AE12-118A0E6926EE}">
          <p14:sldIdLst>
            <p14:sldId id="261"/>
          </p14:sldIdLst>
        </p14:section>
        <p14:section name="16.2 Principal Component Analysis" id="{974F2867-3491-468F-83D4-D55E02328D37}">
          <p14:sldIdLst>
            <p14:sldId id="262"/>
            <p14:sldId id="263"/>
            <p14:sldId id="264"/>
            <p14:sldId id="265"/>
            <p14:sldId id="266"/>
          </p14:sldIdLst>
        </p14:section>
        <p14:section name="16.3 How Many Components?" id="{4816601F-D93F-4E03-A952-6DF443A9CC2F}">
          <p14:sldIdLst>
            <p14:sldId id="267"/>
            <p14:sldId id="268"/>
            <p14:sldId id="269"/>
          </p14:sldIdLst>
        </p14:section>
        <p14:section name="16.4 Self-Organizing Maps" id="{FABD5CDF-0F45-441A-BA74-C158FE1EC39E}">
          <p14:sldIdLst>
            <p14:sldId id="270"/>
            <p14:sldId id="271"/>
            <p14:sldId id="272"/>
            <p14:sldId id="273"/>
            <p14:sldId id="274"/>
            <p14:sldId id="275"/>
          </p14:sldIdLst>
        </p14:section>
        <p14:section name="Pitfalls" id="{EA8109BF-F335-4BEC-853C-5AD95B12AF99}">
          <p14:sldIdLst>
            <p14:sldId id="276"/>
          </p14:sldIdLst>
        </p14:section>
        <p14:section name="Lab" id="{CD0A7F2A-4FFC-4D17-ACD5-FFFA23594264}">
          <p14:sldIdLst>
            <p14:sldId id="277"/>
            <p14:sldId id="278"/>
            <p14:sldId id="279"/>
            <p14:sldId id="280"/>
            <p14:sldId id="281"/>
            <p14:sldId id="282"/>
            <p14:sldId id="283"/>
          </p14:sldIdLst>
        </p14:section>
        <p14:section name="Checkpoint" id="{29A76B2B-04A9-40CC-95F6-8A319F588FCC}">
          <p14:sldIdLst>
            <p14:sldId id="284"/>
            <p14:sldId id="285"/>
            <p14:sldId id="286"/>
            <p14:sldId id="287"/>
            <p14:sldId id="288"/>
            <p14:sldId id="289"/>
          </p14:sldIdLst>
        </p14:section>
        <p14:section name="Wrap-up" id="{31CA5DA8-6736-4846-9F10-2D4E7EBD99CC}">
          <p14:sldIdLst>
            <p14:sldId id="290"/>
            <p14:sldId id="291"/>
            <p14:sldId id="292"/>
            <p14:sldId id="293"/>
            <p14:sldId id="294"/>
            <p14:sldId id="29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16: Dimensionality Reduction and Self-Organizing Maps. Part 4 — Learning Without Full Labels. Week 13: Clustering; PCA and self-organizing maps. Handout pages 118–124.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(vectors, variance, matrices), Chapter 11 (the curse of dimensionality), Chapter 15 (centroids and competitive assignment) and Chapter 13 (units, weights and a learning rate: a self-organizing map is a neural network, trained without backpropagation).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dimensionality reduction; feature selection vs. extraction; covariance matrix; principal component; eigenvector and eigenvalue; explained variance; scree plot; projection; reconstruction; self-organizing map (Kohonen map); competitive learning; best-matching unit; neighbourhood function; topology preservation; U-matrix.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Keeping the first m components and projecting each example onto them — zj = vj · (x − x̄) — replaces d features by m while losing as little variance as any linear projection can. Equivalently, it is the projection with the smallest reconstruction error: mapping the m scores back into the original space loses the least.</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16.1 (handout p. 120): The worked example. PCA rotates the axes to line up with the directions of greatest variance; dropping PC2 projects every point onto the green 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16.2 (handout p. 120): Cumulative explained variance for forty weekly project metrics. The curve rises steeply for four components and then flattens: four underlying factors drive almost everything the dashboard shows, and the rest is noise.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are in use: keep enough components to explain a target fraction of the variance (90% or 95% are common); keep the components before the elbow of the eigenvalue plot (the scree plot); or — when PCA is a step before a supervised model — treat the number of components as a hyperparameter and choose it by cross-validation. On the project metrics of this chapter’s lab, logistic regression predicting which projects finish late scores 54% on one component, 63% on two, 89% on four, and slightly less on ten (88%) or all forty (88%): the four components before the elbow carry everything that matters, and the rest only adds noise. The 90% rule would have kept nineteen.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self-organizing map (SOM, or Kohonen map, after Teuvo Kohonen) is a neural network that learns to lay high-dimensional data out on a two-dimensional grid, so that similar examples land on nearby grid cells. It is unsupervised, and its output is a picture: a map of the data that people can read.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16.3 (handout p. 121): A self-organizing map. Competition picks one winner; cooperation spreads the update over its neighbourhood on the grid, which is what makes the map smooth.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makes 1,000 projects whose forty weekly metrics are driven by four hidden factors (size, quality, churn, staffing) plus noise, and asks which finish late. Part 3 maps 150 projects of three kinds: maintenance, new builds and integrations, each described by four standardised features.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worked example: PCA by eigen-decomposition.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40 dashboard metrics: how many components?.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A self-organizing map in twenty lines.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A self-organizing map in twenty lines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(6 + 3)/(6 + 3 + 1) = 0.9.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PCA seeks directions of large variance, and a feature measured in large units has large variance whether or not it is informative; it would dominate the components purely because of its units.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BMU is the single unit whose weights are closest to the input (competition). Its neighbourhood is the units near it on the grid. Updating the neighbours as well makes adjacent units similar, which produces a smooth, topology-preserving map.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17 — Semi-Supervised Learning and the EM Algorithm. READ: Handout Chapter 16, pages 118–124. THIS WEEK'S LAB: k-means and a dendrogram; PCA and a SOM. ASSESSMENT: Quiz 3 (Ch 9–14).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9.png"/><Relationship Id="rId5" Type="http://schemas.openxmlformats.org/officeDocument/2006/relationships/image" Target="../media/image20.svg"/><Relationship Id="rId6" Type="http://schemas.openxmlformats.org/officeDocument/2006/relationships/image" Target="../media/image21.png"/><Relationship Id="rId7" Type="http://schemas.openxmlformats.org/officeDocument/2006/relationships/image" Target="../media/image22.sv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3.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0.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3.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2.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3.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4.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5.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16</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Dimensionality Reduction and Self-Organizing Maps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LEARNING WITHOUT FULL LABELS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16  ·  WEEK 13</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118     </a:t>
            </a:r>
            <a:fld id="{7B4686E6-EC65-4869-8F6B-DE79A8B9EAA0}"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333571" y="1755648"/>
            <a:ext cx="148461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333571" y="2029967"/>
            <a:ext cx="1484611"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5178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9603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4613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3698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870842"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7794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28036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1889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6898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5984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37374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2823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92412"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79241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5149796"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Dimensionality Reduction and Self-Organizing Maps</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68" name="!!chipBU11">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11">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11"/>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Instance-Based Learning: k-Nearest Neighbours</a:t>
            </a:r>
          </a:p>
        </p:txBody>
      </p:sp>
      <p:sp>
        <p:nvSpPr>
          <p:cNvPr id="71" name="!!chipBU13">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13">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13"/>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13  </a:t>
            </a:r>
            <a:r>
              <a:rPr sz="1400" b="0" i="0">
                <a:solidFill>
                  <a:srgbClr val="1C252B"/>
                </a:solidFill>
                <a:latin typeface="Segoe UI"/>
              </a:rPr>
              <a:t>Artificial Neural Networks</a:t>
            </a:r>
          </a:p>
        </p:txBody>
      </p:sp>
      <p:sp>
        <p:nvSpPr>
          <p:cNvPr id="74" name="!!chipBU15">
            <a:extLst>
              <a:ext uri="{C183D7F6-B498-43B3-948B-1728B52AA6E4}">
                <adec:decorative xmlns:adec="http://schemas.microsoft.com/office/drawing/2017/decorative" val="1"/>
              </a:ext>
            </a:extLst>
          </p:cNvPr>
          <p:cNvSpPr/>
          <p:nvPr/>
        </p:nvSpPr>
        <p:spPr>
          <a:xfrm>
            <a:off x="658368" y="5321808"/>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BU15">
            <a:extLst>
              <a:ext uri="{C183D7F6-B498-43B3-948B-1728B52AA6E4}">
                <adec:decorative xmlns:adec="http://schemas.microsoft.com/office/drawing/2017/decorative" val="1"/>
              </a:ext>
            </a:extLst>
          </p:cNvPr>
          <p:cNvSpPr/>
          <p:nvPr/>
        </p:nvSpPr>
        <p:spPr>
          <a:xfrm>
            <a:off x="658368" y="5321808"/>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BU15"/>
          <p:cNvSpPr txBox="1"/>
          <p:nvPr/>
        </p:nvSpPr>
        <p:spPr>
          <a:xfrm>
            <a:off x="859536"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15  </a:t>
            </a:r>
            <a:r>
              <a:rPr sz="1400" b="0" i="0">
                <a:solidFill>
                  <a:srgbClr val="1C252B"/>
                </a:solidFill>
                <a:latin typeface="Segoe UI"/>
              </a:rPr>
              <a:t>Clustering</a:t>
            </a:r>
          </a:p>
        </p:txBody>
      </p:sp>
      <p:sp>
        <p:nvSpPr>
          <p:cNvPr id="77"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8"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 later chapter depends on it</a:t>
            </a:r>
          </a:p>
        </p:txBody>
      </p:sp>
      <p:sp>
        <p:nvSpPr>
          <p:cNvPr id="7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pfill">
            <a:extLst>
              <a:ext uri="{C183D7F6-B498-43B3-948B-1728B52AA6E4}">
                <adec:decorative xmlns:adec="http://schemas.microsoft.com/office/drawing/2017/decorative" val="1"/>
              </a:ext>
            </a:extLst>
          </p:cNvPr>
          <p:cNvSpPr/>
          <p:nvPr/>
        </p:nvSpPr>
        <p:spPr>
          <a:xfrm>
            <a:off x="0" y="0"/>
            <a:ext cx="6095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118     </a:t>
            </a:r>
            <a:fld id="{3742FC26-31DD-4688-B1F1-0EC341155908}"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Explain</a:t>
            </a:r>
            <a:r>
              <a:rPr sz="2100" b="0" i="0">
                <a:solidFill>
                  <a:srgbClr val="1C252B"/>
                </a:solidFill>
                <a:latin typeface="Segoe UI"/>
              </a:rPr>
              <a:t> why reducing the number of features helps, with reference to the curse of dimensionality.</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Compute</a:t>
            </a:r>
            <a:r>
              <a:rPr sz="2100" b="0" i="0">
                <a:solidFill>
                  <a:srgbClr val="1C252B"/>
                </a:solidFill>
                <a:latin typeface="Segoe UI"/>
              </a:rPr>
              <a:t> principal components by hand for a small two-dimensional dataset, and the variance each explains.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Choose</a:t>
            </a:r>
            <a:r>
              <a:rPr sz="2100" b="0" i="0">
                <a:solidFill>
                  <a:srgbClr val="1C252B"/>
                </a:solidFill>
                <a:latin typeface="Segoe UI"/>
              </a:rPr>
              <a:t> how many components to keep, and </a:t>
            </a:r>
            <a:r>
              <a:rPr sz="2100" b="1" i="0">
                <a:solidFill>
                  <a:srgbClr val="1C252B"/>
                </a:solidFill>
                <a:latin typeface="Segoe UI"/>
              </a:rPr>
              <a:t>use</a:t>
            </a:r>
            <a:r>
              <a:rPr sz="2100" b="0" i="0">
                <a:solidFill>
                  <a:srgbClr val="1C252B"/>
                </a:solidFill>
                <a:latin typeface="Segoe UI"/>
              </a:rPr>
              <a:t> PCA inside a pipeline.</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Describe</a:t>
            </a:r>
            <a:r>
              <a:rPr sz="2100" b="0" i="0">
                <a:solidFill>
                  <a:srgbClr val="1C252B"/>
                </a:solidFill>
                <a:latin typeface="Segoe UI"/>
              </a:rPr>
              <a:t> the self-organizing map, and </a:t>
            </a:r>
            <a:r>
              <a:rPr sz="2100" b="1" i="0">
                <a:solidFill>
                  <a:srgbClr val="1C252B"/>
                </a:solidFill>
                <a:latin typeface="Segoe UI"/>
              </a:rPr>
              <a:t>perform</a:t>
            </a:r>
            <a:r>
              <a:rPr sz="2100" b="0" i="0">
                <a:solidFill>
                  <a:srgbClr val="1C252B"/>
                </a:solidFill>
                <a:latin typeface="Segoe UI"/>
              </a:rPr>
              <a:t> one training step by hand: best-matching unit, neighbourhood and update.</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1233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Contrast</a:t>
            </a:r>
            <a:r>
              <a:rPr sz="2100" b="0" i="0">
                <a:solidFill>
                  <a:srgbClr val="1C252B"/>
                </a:solidFill>
                <a:latin typeface="Segoe UI"/>
              </a:rPr>
              <a:t> PCA and SOM as ways of seeing high-dimensional data.</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1437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118     </a:t>
            </a:r>
            <a:fld id="{F04BC759-E1DD-4543-823E-E8969B50E48D}" type="slidenum">
              <a:rPr lang="en-GB" sz="1000">
                <a:solidFill>
                  <a:srgbClr val="8795A1"/>
                </a:solidFill>
                <a:latin typeface="Segoe UI"/>
              </a:rPr>
              <a:t>4</a:t>
            </a:fld>
          </a:p>
        </p:txBody>
      </p:sp>
      <p:sp>
        <p:nvSpPr>
          <p:cNvPr id="7" name="!!term-dimensionality">
            <a:extLst>
              <a:ext uri="{C183D7F6-B498-43B3-948B-1728B52AA6E4}">
                <adec:decorative xmlns:adec="http://schemas.microsoft.com/office/drawing/2017/decorative" val="1"/>
              </a:ext>
            </a:extLst>
          </p:cNvPr>
          <p:cNvSpPr/>
          <p:nvPr/>
        </p:nvSpPr>
        <p:spPr>
          <a:xfrm>
            <a:off x="658368" y="1847088"/>
            <a:ext cx="27001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dimensionality">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dimensionality"/>
          <p:cNvSpPr txBox="1"/>
          <p:nvPr/>
        </p:nvSpPr>
        <p:spPr>
          <a:xfrm>
            <a:off x="950976" y="1962911"/>
            <a:ext cx="251724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dimensionality reduction</a:t>
            </a:r>
          </a:p>
        </p:txBody>
      </p:sp>
      <p:sp>
        <p:nvSpPr>
          <p:cNvPr id="10" name="!!term-feature select">
            <a:extLst>
              <a:ext uri="{C183D7F6-B498-43B3-948B-1728B52AA6E4}">
                <adec:decorative xmlns:adec="http://schemas.microsoft.com/office/drawing/2017/decorative" val="1"/>
              </a:ext>
            </a:extLst>
          </p:cNvPr>
          <p:cNvSpPr/>
          <p:nvPr/>
        </p:nvSpPr>
        <p:spPr>
          <a:xfrm>
            <a:off x="3504792" y="1847088"/>
            <a:ext cx="32043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feature select">
            <a:extLst>
              <a:ext uri="{C183D7F6-B498-43B3-948B-1728B52AA6E4}">
                <adec:decorative xmlns:adec="http://schemas.microsoft.com/office/drawing/2017/decorative" val="1"/>
              </a:ext>
            </a:extLst>
          </p:cNvPr>
          <p:cNvSpPr/>
          <p:nvPr/>
        </p:nvSpPr>
        <p:spPr>
          <a:xfrm>
            <a:off x="363280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feature select"/>
          <p:cNvSpPr txBox="1"/>
          <p:nvPr/>
        </p:nvSpPr>
        <p:spPr>
          <a:xfrm>
            <a:off x="3797400" y="1962911"/>
            <a:ext cx="302151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feature selection vs. extraction</a:t>
            </a:r>
          </a:p>
        </p:txBody>
      </p:sp>
      <p:sp>
        <p:nvSpPr>
          <p:cNvPr id="13" name="!!term-covariance mat">
            <a:extLst>
              <a:ext uri="{C183D7F6-B498-43B3-948B-1728B52AA6E4}">
                <adec:decorative xmlns:adec="http://schemas.microsoft.com/office/drawing/2017/decorative" val="1"/>
              </a:ext>
            </a:extLst>
          </p:cNvPr>
          <p:cNvSpPr/>
          <p:nvPr/>
        </p:nvSpPr>
        <p:spPr>
          <a:xfrm>
            <a:off x="6855489" y="1847088"/>
            <a:ext cx="20385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covariance mat">
            <a:extLst>
              <a:ext uri="{C183D7F6-B498-43B3-948B-1728B52AA6E4}">
                <adec:decorative xmlns:adec="http://schemas.microsoft.com/office/drawing/2017/decorative" val="1"/>
              </a:ext>
            </a:extLst>
          </p:cNvPr>
          <p:cNvSpPr/>
          <p:nvPr/>
        </p:nvSpPr>
        <p:spPr>
          <a:xfrm>
            <a:off x="698350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covariance mat"/>
          <p:cNvSpPr txBox="1"/>
          <p:nvPr/>
        </p:nvSpPr>
        <p:spPr>
          <a:xfrm>
            <a:off x="7148097" y="1962911"/>
            <a:ext cx="185563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covariance matrix</a:t>
            </a:r>
          </a:p>
        </p:txBody>
      </p:sp>
      <p:sp>
        <p:nvSpPr>
          <p:cNvPr id="16" name="!!term-principal comp">
            <a:extLst>
              <a:ext uri="{C183D7F6-B498-43B3-948B-1728B52AA6E4}">
                <adec:decorative xmlns:adec="http://schemas.microsoft.com/office/drawing/2017/decorative" val="1"/>
              </a:ext>
            </a:extLst>
          </p:cNvPr>
          <p:cNvSpPr/>
          <p:nvPr/>
        </p:nvSpPr>
        <p:spPr>
          <a:xfrm>
            <a:off x="9040310" y="1847088"/>
            <a:ext cx="23328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principal comp">
            <a:extLst>
              <a:ext uri="{C183D7F6-B498-43B3-948B-1728B52AA6E4}">
                <adec:decorative xmlns:adec="http://schemas.microsoft.com/office/drawing/2017/decorative" val="1"/>
              </a:ext>
            </a:extLst>
          </p:cNvPr>
          <p:cNvSpPr/>
          <p:nvPr/>
        </p:nvSpPr>
        <p:spPr>
          <a:xfrm>
            <a:off x="916832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principal comp"/>
          <p:cNvSpPr txBox="1"/>
          <p:nvPr/>
        </p:nvSpPr>
        <p:spPr>
          <a:xfrm>
            <a:off x="9332918" y="1962911"/>
            <a:ext cx="21499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principal component</a:t>
            </a:r>
          </a:p>
        </p:txBody>
      </p:sp>
      <p:sp>
        <p:nvSpPr>
          <p:cNvPr id="19" name="!!term-eigenvector an">
            <a:extLst>
              <a:ext uri="{C183D7F6-B498-43B3-948B-1728B52AA6E4}">
                <adec:decorative xmlns:adec="http://schemas.microsoft.com/office/drawing/2017/decorative" val="1"/>
              </a:ext>
            </a:extLst>
          </p:cNvPr>
          <p:cNvSpPr/>
          <p:nvPr/>
        </p:nvSpPr>
        <p:spPr>
          <a:xfrm>
            <a:off x="658368" y="2468880"/>
            <a:ext cx="29578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eigenvector an">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eigenvector an"/>
          <p:cNvSpPr txBox="1"/>
          <p:nvPr/>
        </p:nvSpPr>
        <p:spPr>
          <a:xfrm>
            <a:off x="950976" y="2584704"/>
            <a:ext cx="277501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eigenvector and eigenvalue</a:t>
            </a:r>
          </a:p>
        </p:txBody>
      </p:sp>
      <p:sp>
        <p:nvSpPr>
          <p:cNvPr id="22" name="!!term-explained vari">
            <a:extLst>
              <a:ext uri="{C183D7F6-B498-43B3-948B-1728B52AA6E4}">
                <adec:decorative xmlns:adec="http://schemas.microsoft.com/office/drawing/2017/decorative" val="1"/>
              </a:ext>
            </a:extLst>
          </p:cNvPr>
          <p:cNvSpPr/>
          <p:nvPr/>
        </p:nvSpPr>
        <p:spPr>
          <a:xfrm>
            <a:off x="3762567" y="2468880"/>
            <a:ext cx="21286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explained vari">
            <a:extLst>
              <a:ext uri="{C183D7F6-B498-43B3-948B-1728B52AA6E4}">
                <adec:decorative xmlns:adec="http://schemas.microsoft.com/office/drawing/2017/decorative" val="1"/>
              </a:ext>
            </a:extLst>
          </p:cNvPr>
          <p:cNvSpPr/>
          <p:nvPr/>
        </p:nvSpPr>
        <p:spPr>
          <a:xfrm>
            <a:off x="389058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explained vari"/>
          <p:cNvSpPr txBox="1"/>
          <p:nvPr/>
        </p:nvSpPr>
        <p:spPr>
          <a:xfrm>
            <a:off x="4055175" y="2584704"/>
            <a:ext cx="194579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explained variance</a:t>
            </a:r>
          </a:p>
        </p:txBody>
      </p:sp>
      <p:sp>
        <p:nvSpPr>
          <p:cNvPr id="25" name="!!term-scree plot">
            <a:extLst>
              <a:ext uri="{C183D7F6-B498-43B3-948B-1728B52AA6E4}">
                <adec:decorative xmlns:adec="http://schemas.microsoft.com/office/drawing/2017/decorative" val="1"/>
              </a:ext>
            </a:extLst>
          </p:cNvPr>
          <p:cNvSpPr/>
          <p:nvPr/>
        </p:nvSpPr>
        <p:spPr>
          <a:xfrm>
            <a:off x="6037548" y="2468880"/>
            <a:ext cx="13319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cree plot">
            <a:extLst>
              <a:ext uri="{C183D7F6-B498-43B3-948B-1728B52AA6E4}">
                <adec:decorative xmlns:adec="http://schemas.microsoft.com/office/drawing/2017/decorative" val="1"/>
              </a:ext>
            </a:extLst>
          </p:cNvPr>
          <p:cNvSpPr/>
          <p:nvPr/>
        </p:nvSpPr>
        <p:spPr>
          <a:xfrm>
            <a:off x="616556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cree plot"/>
          <p:cNvSpPr txBox="1"/>
          <p:nvPr/>
        </p:nvSpPr>
        <p:spPr>
          <a:xfrm>
            <a:off x="6330156" y="2584704"/>
            <a:ext cx="114909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scree plot</a:t>
            </a:r>
          </a:p>
        </p:txBody>
      </p:sp>
      <p:sp>
        <p:nvSpPr>
          <p:cNvPr id="28" name="!!term-projection">
            <a:extLst>
              <a:ext uri="{C183D7F6-B498-43B3-948B-1728B52AA6E4}">
                <adec:decorative xmlns:adec="http://schemas.microsoft.com/office/drawing/2017/decorative" val="1"/>
              </a:ext>
            </a:extLst>
          </p:cNvPr>
          <p:cNvSpPr/>
          <p:nvPr/>
        </p:nvSpPr>
        <p:spPr>
          <a:xfrm>
            <a:off x="7515822" y="2468880"/>
            <a:ext cx="13678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projection">
            <a:extLst>
              <a:ext uri="{C183D7F6-B498-43B3-948B-1728B52AA6E4}">
                <adec:decorative xmlns:adec="http://schemas.microsoft.com/office/drawing/2017/decorative" val="1"/>
              </a:ext>
            </a:extLst>
          </p:cNvPr>
          <p:cNvSpPr/>
          <p:nvPr/>
        </p:nvSpPr>
        <p:spPr>
          <a:xfrm>
            <a:off x="764383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projection"/>
          <p:cNvSpPr txBox="1"/>
          <p:nvPr/>
        </p:nvSpPr>
        <p:spPr>
          <a:xfrm>
            <a:off x="7808430" y="2584704"/>
            <a:ext cx="118494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projection</a:t>
            </a:r>
          </a:p>
        </p:txBody>
      </p:sp>
      <p:sp>
        <p:nvSpPr>
          <p:cNvPr id="31" name="!!term-reconstruction">
            <a:extLst>
              <a:ext uri="{C183D7F6-B498-43B3-948B-1728B52AA6E4}">
                <adec:decorative xmlns:adec="http://schemas.microsoft.com/office/drawing/2017/decorative" val="1"/>
              </a:ext>
            </a:extLst>
          </p:cNvPr>
          <p:cNvSpPr/>
          <p:nvPr/>
        </p:nvSpPr>
        <p:spPr>
          <a:xfrm>
            <a:off x="9029953" y="2468880"/>
            <a:ext cx="175644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reconstruction">
            <a:extLst>
              <a:ext uri="{C183D7F6-B498-43B3-948B-1728B52AA6E4}">
                <adec:decorative xmlns:adec="http://schemas.microsoft.com/office/drawing/2017/decorative" val="1"/>
              </a:ext>
            </a:extLst>
          </p:cNvPr>
          <p:cNvSpPr/>
          <p:nvPr/>
        </p:nvSpPr>
        <p:spPr>
          <a:xfrm>
            <a:off x="915796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reconstruction"/>
          <p:cNvSpPr txBox="1"/>
          <p:nvPr/>
        </p:nvSpPr>
        <p:spPr>
          <a:xfrm>
            <a:off x="9322561" y="2584704"/>
            <a:ext cx="157356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reconstruction</a:t>
            </a:r>
          </a:p>
        </p:txBody>
      </p:sp>
      <p:sp>
        <p:nvSpPr>
          <p:cNvPr id="34" name="!!term-self-organizin">
            <a:extLst>
              <a:ext uri="{C183D7F6-B498-43B3-948B-1728B52AA6E4}">
                <adec:decorative xmlns:adec="http://schemas.microsoft.com/office/drawing/2017/decorative" val="1"/>
              </a:ext>
            </a:extLst>
          </p:cNvPr>
          <p:cNvSpPr/>
          <p:nvPr/>
        </p:nvSpPr>
        <p:spPr>
          <a:xfrm>
            <a:off x="658368" y="3090672"/>
            <a:ext cx="373540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self-organizi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self-organizin"/>
          <p:cNvSpPr txBox="1"/>
          <p:nvPr/>
        </p:nvSpPr>
        <p:spPr>
          <a:xfrm>
            <a:off x="950976" y="3206496"/>
            <a:ext cx="355252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self-organizing map (Kohonen map)</a:t>
            </a:r>
          </a:p>
        </p:txBody>
      </p:sp>
      <p:sp>
        <p:nvSpPr>
          <p:cNvPr id="37" name="!!term-competitive le">
            <a:extLst>
              <a:ext uri="{C183D7F6-B498-43B3-948B-1728B52AA6E4}">
                <adec:decorative xmlns:adec="http://schemas.microsoft.com/office/drawing/2017/decorative" val="1"/>
              </a:ext>
            </a:extLst>
          </p:cNvPr>
          <p:cNvSpPr/>
          <p:nvPr/>
        </p:nvSpPr>
        <p:spPr>
          <a:xfrm>
            <a:off x="4540079" y="3090672"/>
            <a:ext cx="23131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competitive le">
            <a:extLst>
              <a:ext uri="{C183D7F6-B498-43B3-948B-1728B52AA6E4}">
                <adec:decorative xmlns:adec="http://schemas.microsoft.com/office/drawing/2017/decorative" val="1"/>
              </a:ext>
            </a:extLst>
          </p:cNvPr>
          <p:cNvSpPr/>
          <p:nvPr/>
        </p:nvSpPr>
        <p:spPr>
          <a:xfrm>
            <a:off x="466809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competitive le"/>
          <p:cNvSpPr txBox="1"/>
          <p:nvPr/>
        </p:nvSpPr>
        <p:spPr>
          <a:xfrm>
            <a:off x="4832687" y="3206496"/>
            <a:ext cx="213029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competitive learning</a:t>
            </a:r>
          </a:p>
        </p:txBody>
      </p:sp>
      <p:sp>
        <p:nvSpPr>
          <p:cNvPr id="40" name="!!term-best-matching ">
            <a:extLst>
              <a:ext uri="{C183D7F6-B498-43B3-948B-1728B52AA6E4}">
                <adec:decorative xmlns:adec="http://schemas.microsoft.com/office/drawing/2017/decorative" val="1"/>
              </a:ext>
            </a:extLst>
          </p:cNvPr>
          <p:cNvSpPr/>
          <p:nvPr/>
        </p:nvSpPr>
        <p:spPr>
          <a:xfrm>
            <a:off x="6999557" y="3090672"/>
            <a:ext cx="21786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best-matching ">
            <a:extLst>
              <a:ext uri="{C183D7F6-B498-43B3-948B-1728B52AA6E4}">
                <adec:decorative xmlns:adec="http://schemas.microsoft.com/office/drawing/2017/decorative" val="1"/>
              </a:ext>
            </a:extLst>
          </p:cNvPr>
          <p:cNvSpPr/>
          <p:nvPr/>
        </p:nvSpPr>
        <p:spPr>
          <a:xfrm>
            <a:off x="712757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best-matching "/>
          <p:cNvSpPr txBox="1"/>
          <p:nvPr/>
        </p:nvSpPr>
        <p:spPr>
          <a:xfrm>
            <a:off x="7292165" y="3206496"/>
            <a:ext cx="199579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best-matching unit</a:t>
            </a:r>
          </a:p>
        </p:txBody>
      </p:sp>
      <p:sp>
        <p:nvSpPr>
          <p:cNvPr id="43" name="!!term-neighbourhood ">
            <a:extLst>
              <a:ext uri="{C183D7F6-B498-43B3-948B-1728B52AA6E4}">
                <adec:decorative xmlns:adec="http://schemas.microsoft.com/office/drawing/2017/decorative" val="1"/>
              </a:ext>
            </a:extLst>
          </p:cNvPr>
          <p:cNvSpPr/>
          <p:nvPr/>
        </p:nvSpPr>
        <p:spPr>
          <a:xfrm>
            <a:off x="658368" y="3712464"/>
            <a:ext cx="26804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neighbourhood ">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neighbourhood "/>
          <p:cNvSpPr txBox="1"/>
          <p:nvPr/>
        </p:nvSpPr>
        <p:spPr>
          <a:xfrm>
            <a:off x="950976" y="3828288"/>
            <a:ext cx="249759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neighbourhood function</a:t>
            </a:r>
          </a:p>
        </p:txBody>
      </p:sp>
      <p:sp>
        <p:nvSpPr>
          <p:cNvPr id="46" name="!!term-topology prese">
            <a:extLst>
              <a:ext uri="{C183D7F6-B498-43B3-948B-1728B52AA6E4}">
                <adec:decorative xmlns:adec="http://schemas.microsoft.com/office/drawing/2017/decorative" val="1"/>
              </a:ext>
            </a:extLst>
          </p:cNvPr>
          <p:cNvSpPr/>
          <p:nvPr/>
        </p:nvSpPr>
        <p:spPr>
          <a:xfrm>
            <a:off x="3485144" y="3712464"/>
            <a:ext cx="24595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topology prese">
            <a:extLst>
              <a:ext uri="{C183D7F6-B498-43B3-948B-1728B52AA6E4}">
                <adec:decorative xmlns:adec="http://schemas.microsoft.com/office/drawing/2017/decorative" val="1"/>
              </a:ext>
            </a:extLst>
          </p:cNvPr>
          <p:cNvSpPr/>
          <p:nvPr/>
        </p:nvSpPr>
        <p:spPr>
          <a:xfrm>
            <a:off x="3613160"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topology prese"/>
          <p:cNvSpPr txBox="1"/>
          <p:nvPr/>
        </p:nvSpPr>
        <p:spPr>
          <a:xfrm>
            <a:off x="3777752" y="3828288"/>
            <a:ext cx="227665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topology preservation</a:t>
            </a:r>
          </a:p>
        </p:txBody>
      </p:sp>
      <p:sp>
        <p:nvSpPr>
          <p:cNvPr id="49" name="!!term-U-matrix">
            <a:extLst>
              <a:ext uri="{C183D7F6-B498-43B3-948B-1728B52AA6E4}">
                <adec:decorative xmlns:adec="http://schemas.microsoft.com/office/drawing/2017/decorative" val="1"/>
              </a:ext>
            </a:extLst>
          </p:cNvPr>
          <p:cNvSpPr/>
          <p:nvPr/>
        </p:nvSpPr>
        <p:spPr>
          <a:xfrm>
            <a:off x="6090980" y="3712464"/>
            <a:ext cx="12358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U-matrix">
            <a:extLst>
              <a:ext uri="{C183D7F6-B498-43B3-948B-1728B52AA6E4}">
                <adec:decorative xmlns:adec="http://schemas.microsoft.com/office/drawing/2017/decorative" val="1"/>
              </a:ext>
            </a:extLst>
          </p:cNvPr>
          <p:cNvSpPr/>
          <p:nvPr/>
        </p:nvSpPr>
        <p:spPr>
          <a:xfrm>
            <a:off x="6218996"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U-matrix"/>
          <p:cNvSpPr txBox="1"/>
          <p:nvPr/>
        </p:nvSpPr>
        <p:spPr>
          <a:xfrm>
            <a:off x="6383588" y="3828288"/>
            <a:ext cx="105296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U-matrix</a:t>
            </a:r>
          </a:p>
        </p:txBody>
      </p:sp>
      <p:sp>
        <p:nvSpPr>
          <p:cNvPr id="52"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118–124     </a:t>
            </a:r>
            <a:fld id="{0B88F2FF-1093-41AD-8C47-3B0D857ACAC1}" type="slidenum">
              <a:rPr lang="en-GB" sz="1000">
                <a:solidFill>
                  <a:srgbClr val="8795A1"/>
                </a:solidFill>
                <a:latin typeface="Segoe UI"/>
              </a:rPr>
              <a:t>5</a:t>
            </a:fld>
          </a:p>
        </p:txBody>
      </p:sp>
      <p:sp>
        <p:nvSpPr>
          <p:cNvPr id="7" name="!!ag0" descr="Go to section 16.1 Why Fewer Dimension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16.1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Fewer Dimensions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118  ›</a:t>
            </a:r>
          </a:p>
        </p:txBody>
      </p:sp>
      <p:sp>
        <p:nvSpPr>
          <p:cNvPr id="12" name="!!ag1" descr="Go to section 16.2 Principal Component Analysi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16.2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Principal Component Analysis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119  ›</a:t>
            </a:r>
          </a:p>
        </p:txBody>
      </p:sp>
      <p:sp>
        <p:nvSpPr>
          <p:cNvPr id="17" name="!!ag2" descr="Go to section 16.3 How Many Component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16.3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How Many Components?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120  ›</a:t>
            </a:r>
          </a:p>
        </p:txBody>
      </p:sp>
      <p:sp>
        <p:nvSpPr>
          <p:cNvPr id="22" name="!!ag3" descr="Go to section 16.4 Self-Organizing Map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16.4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Self-Organizing Maps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121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52396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Fewer Dimensions</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§16.1  ·  Handout p. 118     </a:t>
            </a:r>
            <a:fld id="{54D8F6B3-06E2-4C44-ADA9-60C6F7739FE8}"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4337913"/>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4420209"/>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Chapter 11 showed what happens when there are too many features: distances concentrate, neighbours stop being meaningful, and every method that relies on distance degrades. High-dimensional data is also slow to process, impossible to look at, and often redundant — the forty metrics a project dashboard records each week (hours, story points, open bugs, test counts, change requests, …) rise and fall together, because a handful of underlying facts about the project drive them all. Two responses exist. </a:t>
            </a:r>
            <a:r>
              <a:rPr sz="2300" b="1" i="0">
                <a:solidFill>
                  <a:srgbClr val="1A5276"/>
                </a:solidFill>
                <a:latin typeface="Segoe UI"/>
              </a:rPr>
              <a:t>Feature selection</a:t>
            </a:r>
            <a:r>
              <a:rPr sz="2300" b="0" i="0">
                <a:solidFill>
                  <a:srgbClr val="1C252B"/>
                </a:solidFill>
                <a:latin typeface="Segoe UI"/>
              </a:rPr>
              <a:t> keeps a subset of the original features (a tree’s splits, lasso’s non-zero weights). </a:t>
            </a:r>
            <a:r>
              <a:rPr sz="2300" b="1" i="0">
                <a:solidFill>
                  <a:srgbClr val="1A5276"/>
                </a:solidFill>
                <a:latin typeface="Segoe UI"/>
              </a:rPr>
              <a:t>Feature extraction</a:t>
            </a:r>
            <a:r>
              <a:rPr sz="2300" b="0" i="0">
                <a:solidFill>
                  <a:srgbClr val="1C252B"/>
                </a:solidFill>
                <a:latin typeface="Segoe UI"/>
              </a:rPr>
              <a:t> builds a smaller set of new features from all the old ones. This chapter covers the two extraction methods in the HEC outline: principal component analysis, which is linear and has an exact solution, and the self-organizing map, a neural network that produces a two-dimensional map.</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82875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Principal Component Analysis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Why Fewer Dimensions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16.2   Principal Component Analysis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How Many Components?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16.4   Self-Organizing Maps</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§16.2     </a:t>
            </a:r>
            <a:fld id="{37229B28-E215-4A27-B367-B66AF3784265}" type="slidenum">
              <a:rPr lang="en-GB" sz="1000">
                <a:solidFill>
                  <a:srgbClr val="8795A1"/>
                </a:solidFill>
                <a:latin typeface="Segoe UI"/>
              </a:rPr>
              <a:t>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13354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Principal Components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  ·  Handout p. 119     </a:t>
            </a:r>
            <a:fld id="{833428F8-CDB7-4DB4-BED5-39D5A3C646F6}"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68121"/>
          </a:xfrm>
          <a:prstGeom prst="roundRect">
            <a:avLst>
              <a:gd name="adj" fmla="val 288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6812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he first principal component of a dataset is the direction along which the data varies most. The second is the direction of greatest remaining variance at right angles to the first, and so on. Computationally: centre the data, form its covariance matrix S (d × d), and find its eigenvectors — directions v with Sv = λv. Sorted by eigenvalue λ, the eigenvectors are the principal components, and each λ is the variance of the data along its component. The fraction λj / Σi λi is the explained variance of component j."/>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2546329"/>
          </a:xfrm>
          <a:prstGeom prst="rect">
            <a:avLst/>
          </a:prstGeom>
        </p:spPr>
      </p:pic>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PCA by Hand in Two Dimensions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  ·  Handout p. 119     </a:t>
            </a:r>
            <a:fld id="{3A82EC83-3736-468D-8298-64C85990142F}"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19072"/>
          </a:xfrm>
          <a:prstGeom prst="roundRect">
            <a:avLst>
              <a:gd name="adj" fmla="val 216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1907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Five examples: </a:t>
            </a:r>
            <a:r>
              <a:rPr sz="1900" b="0" i="0">
                <a:solidFill>
                  <a:srgbClr val="1C252B"/>
                </a:solidFill>
                <a:latin typeface="Cambria"/>
              </a:rPr>
              <a:t>(1, 2)</a:t>
            </a:r>
            <a:r>
              <a:rPr sz="1900" b="0" i="0">
                <a:solidFill>
                  <a:srgbClr val="1C252B"/>
                </a:solidFill>
                <a:latin typeface="Segoe UI"/>
              </a:rPr>
              <a:t>, </a:t>
            </a:r>
            <a:r>
              <a:rPr sz="1900" b="0" i="0">
                <a:solidFill>
                  <a:srgbClr val="1C252B"/>
                </a:solidFill>
                <a:latin typeface="Cambria"/>
              </a:rPr>
              <a:t>(2, 1)</a:t>
            </a:r>
            <a:r>
              <a:rPr sz="1900" b="0" i="0">
                <a:solidFill>
                  <a:srgbClr val="1C252B"/>
                </a:solidFill>
                <a:latin typeface="Segoe UI"/>
              </a:rPr>
              <a:t>, </a:t>
            </a:r>
            <a:r>
              <a:rPr sz="1900" b="0" i="0">
                <a:solidFill>
                  <a:srgbClr val="1C252B"/>
                </a:solidFill>
                <a:latin typeface="Cambria"/>
              </a:rPr>
              <a:t>(3, 3)</a:t>
            </a:r>
            <a:r>
              <a:rPr sz="1900" b="0" i="0">
                <a:solidFill>
                  <a:srgbClr val="1C252B"/>
                </a:solidFill>
                <a:latin typeface="Segoe UI"/>
              </a:rPr>
              <a:t>, </a:t>
            </a:r>
            <a:r>
              <a:rPr sz="1900" b="0" i="0">
                <a:solidFill>
                  <a:srgbClr val="1C252B"/>
                </a:solidFill>
                <a:latin typeface="Cambria"/>
              </a:rPr>
              <a:t>(4, 5)</a:t>
            </a:r>
            <a:r>
              <a:rPr sz="1900" b="0" i="0">
                <a:solidFill>
                  <a:srgbClr val="1C252B"/>
                </a:solidFill>
                <a:latin typeface="Segoe UI"/>
              </a:rPr>
              <a:t>, </a:t>
            </a:r>
            <a:r>
              <a:rPr sz="1900" b="0" i="0">
                <a:solidFill>
                  <a:srgbClr val="1C252B"/>
                </a:solidFill>
                <a:latin typeface="Cambria"/>
              </a:rPr>
              <a:t>(5, 4)</a:t>
            </a:r>
            <a:r>
              <a:rPr sz="1900" b="0" i="0">
                <a:solidFill>
                  <a:srgbClr val="1C252B"/>
                </a:solidFill>
                <a:latin typeface="Segoe UI"/>
              </a:rPr>
              <a:t>.</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Centre.</a:t>
            </a:r>
            <a:r>
              <a:rPr sz="1900" b="0" i="0">
                <a:solidFill>
                  <a:srgbClr val="1C252B"/>
                </a:solidFill>
                <a:latin typeface="Segoe UI"/>
              </a:rPr>
              <a:t> The mean is </a:t>
            </a:r>
            <a:r>
              <a:rPr sz="1900" b="0" i="0">
                <a:solidFill>
                  <a:srgbClr val="1C252B"/>
                </a:solidFill>
                <a:latin typeface="Cambria"/>
              </a:rPr>
              <a:t>(3, 3)</a:t>
            </a:r>
            <a:r>
              <a:rPr sz="1900" b="0" i="0">
                <a:solidFill>
                  <a:srgbClr val="1C252B"/>
                </a:solidFill>
                <a:latin typeface="Segoe UI"/>
              </a:rPr>
              <a:t>; centred data: </a:t>
            </a:r>
            <a:r>
              <a:rPr sz="1900" b="0" i="0">
                <a:solidFill>
                  <a:srgbClr val="1C252B"/>
                </a:solidFill>
                <a:latin typeface="Cambria"/>
              </a:rPr>
              <a:t>(−2, −1)</a:t>
            </a:r>
            <a:r>
              <a:rPr sz="1900" b="0" i="0">
                <a:solidFill>
                  <a:srgbClr val="1C252B"/>
                </a:solidFill>
                <a:latin typeface="Segoe UI"/>
              </a:rPr>
              <a:t>, </a:t>
            </a:r>
            <a:r>
              <a:rPr sz="1900" b="0" i="0">
                <a:solidFill>
                  <a:srgbClr val="1C252B"/>
                </a:solidFill>
                <a:latin typeface="Cambria"/>
              </a:rPr>
              <a:t>(−1, −2)</a:t>
            </a:r>
            <a:r>
              <a:rPr sz="1900" b="0" i="0">
                <a:solidFill>
                  <a:srgbClr val="1C252B"/>
                </a:solidFill>
                <a:latin typeface="Segoe UI"/>
              </a:rPr>
              <a:t>, </a:t>
            </a:r>
            <a:r>
              <a:rPr sz="1900" b="0" i="0">
                <a:solidFill>
                  <a:srgbClr val="1C252B"/>
                </a:solidFill>
                <a:latin typeface="Cambria"/>
              </a:rPr>
              <a:t>(0, 0)</a:t>
            </a:r>
            <a:r>
              <a:rPr sz="1900" b="0" i="0">
                <a:solidFill>
                  <a:srgbClr val="1C252B"/>
                </a:solidFill>
                <a:latin typeface="Segoe UI"/>
              </a:rPr>
              <a:t>, </a:t>
            </a:r>
            <a:r>
              <a:rPr sz="1900" b="0" i="0">
                <a:solidFill>
                  <a:srgbClr val="1C252B"/>
                </a:solidFill>
                <a:latin typeface="Cambria"/>
              </a:rPr>
              <a:t>(1, 2)</a:t>
            </a:r>
            <a:r>
              <a:rPr sz="1900" b="0" i="0">
                <a:solidFill>
                  <a:srgbClr val="1C252B"/>
                </a:solidFill>
                <a:latin typeface="Segoe UI"/>
              </a:rPr>
              <a:t>, </a:t>
            </a:r>
            <a:r>
              <a:rPr sz="1900" b="0" i="0">
                <a:solidFill>
                  <a:srgbClr val="1C252B"/>
                </a:solidFill>
                <a:latin typeface="Cambria"/>
              </a:rPr>
              <a:t>(2, 1)</a:t>
            </a:r>
            <a:r>
              <a:rPr sz="1900" b="0" i="0">
                <a:solidFill>
                  <a:srgbClr val="1C252B"/>
                </a:solidFill>
                <a:latin typeface="Segoe UI"/>
              </a:rPr>
              <a:t>.</a:t>
            </a:r>
          </a:p>
        </p:txBody>
      </p:sp>
      <p:sp>
        <p:nvSpPr>
          <p:cNvPr id="11" name="body-2"/>
          <p:cNvSpPr txBox="1"/>
          <p:nvPr/>
        </p:nvSpPr>
        <p:spPr>
          <a:xfrm>
            <a:off x="1042416" y="2879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Covariance</a:t>
            </a:r>
            <a:r>
              <a:rPr sz="1900" b="0" i="0">
                <a:solidFill>
                  <a:srgbClr val="1C252B"/>
                </a:solidFill>
                <a:latin typeface="Segoe UI"/>
              </a:rPr>
              <a:t> (dividing by </a:t>
            </a:r>
            <a:r>
              <a:rPr sz="1900" b="0" i="1">
                <a:solidFill>
                  <a:srgbClr val="1C252B"/>
                </a:solidFill>
                <a:latin typeface="Cambria"/>
              </a:rPr>
              <a:t>n</a:t>
            </a:r>
            <a:r>
              <a:rPr sz="1900" b="0" i="0">
                <a:solidFill>
                  <a:srgbClr val="1C252B"/>
                </a:solidFill>
                <a:latin typeface="Cambria"/>
              </a:rPr>
              <a:t> − 1 = 4</a:t>
            </a:r>
            <a:r>
              <a:rPr sz="1900" b="0" i="0">
                <a:solidFill>
                  <a:srgbClr val="1C252B"/>
                </a:solidFill>
                <a:latin typeface="Segoe UI"/>
              </a:rPr>
              <a:t>):</a:t>
            </a:r>
          </a:p>
        </p:txBody>
      </p:sp>
      <p:pic>
        <p:nvPicPr>
          <p:cNvPr id="12" name="body-3" descr="\operatorname{var}(x_1) = \tfrac{4 + 1 + 0 + 1 + 4}{4} = 2.5,\qquad \operatorname{var}(x_2) = 2.5,\qquad \operatorname{cov}(x_1, x_2) = \tfrac{2 + 2 + 0 + 2 + 2}{4} = 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313252"/>
            <a:ext cx="10234879" cy="405262"/>
          </a:xfrm>
          <a:prstGeom prst="rect">
            <a:avLst/>
          </a:prstGeom>
        </p:spPr>
      </p:pic>
      <p:pic>
        <p:nvPicPr>
          <p:cNvPr id="13" name="body-4" descr="S = \begin{pmatrix} 2.5 &amp; 2 \\ 2 &amp; 2.5 \end{pmatrix}"/>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851229"/>
            <a:ext cx="10234879" cy="662025"/>
          </a:xfrm>
          <a:prstGeom prst="rect">
            <a:avLst/>
          </a:prstGeom>
        </p:spPr>
      </p:pic>
      <p:sp>
        <p:nvSpPr>
          <p:cNvPr id="14" name="body-5"/>
          <p:cNvSpPr txBox="1"/>
          <p:nvPr/>
        </p:nvSpPr>
        <p:spPr>
          <a:xfrm>
            <a:off x="1042416" y="464596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Eigenvectors.</a:t>
            </a:r>
            <a:r>
              <a:rPr sz="1900" b="0" i="0">
                <a:solidFill>
                  <a:srgbClr val="1C252B"/>
                </a:solidFill>
                <a:latin typeface="Segoe UI"/>
              </a:rPr>
              <a:t> For this symmetric pattern they are </a:t>
            </a:r>
            <a:r>
              <a:rPr sz="1900" b="0" i="0">
                <a:solidFill>
                  <a:srgbClr val="1C252B"/>
                </a:solidFill>
                <a:latin typeface="Cambria"/>
              </a:rPr>
              <a:t>(1, 1)/√2</a:t>
            </a:r>
            <a:r>
              <a:rPr sz="1900" b="0" i="0">
                <a:solidFill>
                  <a:srgbClr val="1C252B"/>
                </a:solidFill>
                <a:latin typeface="Segoe UI"/>
              </a:rPr>
              <a:t> and </a:t>
            </a:r>
            <a:r>
              <a:rPr sz="1900" b="0" i="0">
                <a:solidFill>
                  <a:srgbClr val="1C252B"/>
                </a:solidFill>
                <a:latin typeface="Cambria"/>
              </a:rPr>
              <a:t>(1, −1)/√2</a:t>
            </a:r>
            <a:r>
              <a:rPr sz="1900" b="0" i="0">
                <a:solidFill>
                  <a:srgbClr val="1C252B"/>
                </a:solidFill>
                <a:latin typeface="Segoe UI"/>
              </a:rPr>
              <a:t>. Check: </a:t>
            </a:r>
            <a:r>
              <a:rPr sz="1900" b="0" i="1">
                <a:solidFill>
                  <a:srgbClr val="1C252B"/>
                </a:solidFill>
                <a:latin typeface="Cambria"/>
              </a:rPr>
              <a:t>S</a:t>
            </a:r>
            <a:r>
              <a:rPr sz="1900" b="0" i="0">
                <a:solidFill>
                  <a:srgbClr val="1C252B"/>
                </a:solidFill>
                <a:latin typeface="Cambria"/>
              </a:rPr>
              <a:t>(1,1) = (4.5, 4.5) = 4.5 (1,1)</a:t>
            </a:r>
            <a:r>
              <a:rPr sz="1900" b="0" i="0">
                <a:solidFill>
                  <a:srgbClr val="1C252B"/>
                </a:solidFill>
                <a:latin typeface="Segoe UI"/>
              </a:rPr>
              <a:t>, and </a:t>
            </a:r>
            <a:r>
              <a:rPr sz="1900" b="0" i="1">
                <a:solidFill>
                  <a:srgbClr val="1C252B"/>
                </a:solidFill>
                <a:latin typeface="Cambria"/>
              </a:rPr>
              <a:t>S</a:t>
            </a:r>
            <a:r>
              <a:rPr sz="1900" b="0" i="0">
                <a:solidFill>
                  <a:srgbClr val="1C252B"/>
                </a:solidFill>
                <a:latin typeface="Cambria"/>
              </a:rPr>
              <a:t>(1,−1) = (0.5, −0.5) = 0.5 (1,−1)</a:t>
            </a:r>
            <a:r>
              <a:rPr sz="1900" b="0" i="0">
                <a:solidFill>
                  <a:srgbClr val="1C252B"/>
                </a:solidFill>
                <a:latin typeface="Segoe UI"/>
              </a:rPr>
              <a:t>. So </a:t>
            </a:r>
            <a:r>
              <a:rPr sz="1900" b="0" i="0">
                <a:solidFill>
                  <a:srgbClr val="1C252B"/>
                </a:solidFill>
                <a:latin typeface="Cambria"/>
              </a:rPr>
              <a:t>λ</a:t>
            </a:r>
            <a:r>
              <a:rPr sz="1900" b="0" i="0" baseline="-25000">
                <a:solidFill>
                  <a:srgbClr val="1C252B"/>
                </a:solidFill>
                <a:latin typeface="Cambria"/>
              </a:rPr>
              <a:t>1</a:t>
            </a:r>
            <a:r>
              <a:rPr sz="1900" b="0" i="0">
                <a:solidFill>
                  <a:srgbClr val="1C252B"/>
                </a:solidFill>
                <a:latin typeface="Cambria"/>
              </a:rPr>
              <a:t> = </a:t>
            </a:r>
            <a:r>
              <a:rPr sz="1900" b="1" i="0">
                <a:solidFill>
                  <a:srgbClr val="1C252B"/>
                </a:solidFill>
                <a:latin typeface="Cambria"/>
              </a:rPr>
              <a:t>4.5</a:t>
            </a:r>
            <a:r>
              <a:rPr sz="1900" b="0" i="0">
                <a:solidFill>
                  <a:srgbClr val="1C252B"/>
                </a:solidFill>
                <a:latin typeface="Segoe UI"/>
              </a:rPr>
              <a:t>, </a:t>
            </a:r>
            <a:r>
              <a:rPr sz="1900" b="0" i="0">
                <a:solidFill>
                  <a:srgbClr val="1C252B"/>
                </a:solidFill>
                <a:latin typeface="Cambria"/>
              </a:rPr>
              <a:t>λ</a:t>
            </a:r>
            <a:r>
              <a:rPr sz="1900" b="0" i="0" baseline="-25000">
                <a:solidFill>
                  <a:srgbClr val="1C252B"/>
                </a:solidFill>
                <a:latin typeface="Cambria"/>
              </a:rPr>
              <a:t>2</a:t>
            </a:r>
            <a:r>
              <a:rPr sz="1900" b="0" i="0">
                <a:solidFill>
                  <a:srgbClr val="1C252B"/>
                </a:solidFill>
                <a:latin typeface="Cambria"/>
              </a:rPr>
              <a:t> = </a:t>
            </a:r>
            <a:r>
              <a:rPr sz="1900" b="1" i="0">
                <a:solidFill>
                  <a:srgbClr val="1C252B"/>
                </a:solidFill>
                <a:latin typeface="Cambria"/>
              </a:rPr>
              <a:t>0.5</a:t>
            </a:r>
            <a:r>
              <a:rPr sz="1900" b="0" i="0">
                <a:solidFill>
                  <a:srgbClr val="1C252B"/>
                </a:solidFill>
                <a:latin typeface="Segoe UI"/>
              </a:rPr>
              <a:t>.</a:t>
            </a:r>
          </a:p>
        </p:txBody>
      </p:sp>
      <p:sp>
        <p:nvSpPr>
          <p:cNvPr id="15" name="body-5bar">
            <a:extLst>
              <a:ext uri="{C183D7F6-B498-43B3-948B-1728B52AA6E4}">
                <adec:decorative xmlns:adec="http://schemas.microsoft.com/office/drawing/2017/decorative" val="1"/>
              </a:ext>
            </a:extLst>
          </p:cNvPr>
          <p:cNvSpPr/>
          <p:nvPr/>
        </p:nvSpPr>
        <p:spPr>
          <a:xfrm>
            <a:off x="841248" y="466425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body-6"/>
          <p:cNvSpPr txBox="1"/>
          <p:nvPr/>
        </p:nvSpPr>
        <p:spPr>
          <a:xfrm>
            <a:off x="1042416" y="538096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Explained variance:</a:t>
            </a:r>
            <a:r>
              <a:rPr sz="1900" b="0" i="0">
                <a:solidFill>
                  <a:srgbClr val="1C252B"/>
                </a:solidFill>
                <a:latin typeface="Segoe UI"/>
              </a:rPr>
              <a:t> PC1 carries </a:t>
            </a:r>
            <a:r>
              <a:rPr sz="1900" b="0" i="0">
                <a:solidFill>
                  <a:srgbClr val="1C252B"/>
                </a:solidFill>
                <a:latin typeface="Cambria"/>
              </a:rPr>
              <a:t>4.5/5 = </a:t>
            </a:r>
            <a:r>
              <a:rPr sz="1900" b="1" i="0">
                <a:solidFill>
                  <a:srgbClr val="1C252B"/>
                </a:solidFill>
                <a:latin typeface="Cambria"/>
              </a:rPr>
              <a:t>90%</a:t>
            </a:r>
            <a:r>
              <a:rPr sz="1900" b="0" i="0">
                <a:solidFill>
                  <a:srgbClr val="1C252B"/>
                </a:solidFill>
                <a:latin typeface="Segoe UI"/>
              </a:rPr>
              <a:t>, PC2 the remaining 10%.</a:t>
            </a:r>
          </a:p>
        </p:txBody>
      </p:sp>
      <p:sp>
        <p:nvSpPr>
          <p:cNvPr id="17" name="body-6bar">
            <a:extLst>
              <a:ext uri="{C183D7F6-B498-43B3-948B-1728B52AA6E4}">
                <adec:decorative xmlns:adec="http://schemas.microsoft.com/office/drawing/2017/decorative" val="1"/>
              </a:ext>
            </a:extLst>
          </p:cNvPr>
          <p:cNvSpPr/>
          <p:nvPr/>
        </p:nvSpPr>
        <p:spPr>
          <a:xfrm>
            <a:off x="841248" y="539925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27431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42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right)">
                                      <p:cBhvr>
                                        <p:cTn id="36" dur="42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PCA by Hand in Two Dimensions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  ·  Handout p. 119     </a:t>
            </a:r>
            <a:fld id="{3A9ED1FF-0A5E-4EA5-81C1-16E2331B9519}"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885924"/>
          </a:xfrm>
          <a:prstGeom prst="roundRect">
            <a:avLst>
              <a:gd name="adj" fmla="val 484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885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Scores on PC1:</a:t>
            </a:r>
            <a:r>
              <a:rPr sz="1900" b="0" i="0">
                <a:solidFill>
                  <a:srgbClr val="1C252B"/>
                </a:solidFill>
                <a:latin typeface="Segoe UI"/>
              </a:rPr>
              <a:t> </a:t>
            </a:r>
            <a:r>
              <a:rPr sz="1900" b="0" i="1">
                <a:solidFill>
                  <a:srgbClr val="1C252B"/>
                </a:solidFill>
                <a:latin typeface="Cambria"/>
              </a:rPr>
              <a:t>z</a:t>
            </a:r>
            <a:r>
              <a:rPr sz="1900" b="0" i="0">
                <a:solidFill>
                  <a:srgbClr val="1C252B"/>
                </a:solidFill>
                <a:latin typeface="Cambria"/>
              </a:rPr>
              <a:t> = (</a:t>
            </a:r>
            <a:r>
              <a:rPr sz="1900" b="0" i="1">
                <a:solidFill>
                  <a:srgbClr val="1C252B"/>
                </a:solidFill>
                <a:latin typeface="Cambria"/>
              </a:rPr>
              <a:t>x</a:t>
            </a:r>
            <a:r>
              <a:rPr sz="1900" b="0" i="0" baseline="-25000">
                <a:solidFill>
                  <a:srgbClr val="1C252B"/>
                </a:solidFill>
                <a:latin typeface="Cambria"/>
              </a:rPr>
              <a:t>1</a:t>
            </a:r>
            <a:r>
              <a:rPr sz="1900" b="0" i="0">
                <a:solidFill>
                  <a:srgbClr val="1C252B"/>
                </a:solidFill>
                <a:latin typeface="Cambria"/>
              </a:rPr>
              <a:t> + </a:t>
            </a:r>
            <a:r>
              <a:rPr sz="1900" b="0" i="1">
                <a:solidFill>
                  <a:srgbClr val="1C252B"/>
                </a:solidFill>
                <a:latin typeface="Cambria"/>
              </a:rPr>
              <a:t>x</a:t>
            </a:r>
            <a:r>
              <a:rPr sz="1900" b="0" i="0" baseline="-25000">
                <a:solidFill>
                  <a:srgbClr val="1C252B"/>
                </a:solidFill>
                <a:latin typeface="Cambria"/>
              </a:rPr>
              <a:t>2</a:t>
            </a:r>
            <a:r>
              <a:rPr sz="1900" b="0" i="0">
                <a:solidFill>
                  <a:srgbClr val="1C252B"/>
                </a:solidFill>
                <a:latin typeface="Cambria"/>
              </a:rPr>
              <a:t>)/√2</a:t>
            </a:r>
            <a:r>
              <a:rPr sz="1900" b="0" i="0">
                <a:solidFill>
                  <a:srgbClr val="1C252B"/>
                </a:solidFill>
                <a:latin typeface="Segoe UI"/>
              </a:rPr>
              <a:t> for each centred point: </a:t>
            </a:r>
            <a:r>
              <a:rPr sz="1900" b="0" i="0">
                <a:solidFill>
                  <a:srgbClr val="1C252B"/>
                </a:solidFill>
                <a:latin typeface="Cambria"/>
              </a:rPr>
              <a:t>−2.12, −2.12, 0, 2.12, 2.12</a:t>
            </a:r>
            <a:r>
              <a:rPr sz="1900" b="0" i="0">
                <a:solidFill>
                  <a:srgbClr val="1C252B"/>
                </a:solidFill>
                <a:latin typeface="Segoe UI"/>
              </a:rPr>
              <a: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44553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One number per example now keeps 90% of the variation. The discarded direction, </a:t>
            </a:r>
            <a:r>
              <a:rPr sz="1900" b="0" i="1">
                <a:solidFill>
                  <a:srgbClr val="1C252B"/>
                </a:solidFill>
                <a:latin typeface="Cambria"/>
              </a:rPr>
              <a:t>x</a:t>
            </a:r>
            <a:r>
              <a:rPr sz="1900" b="0" i="0" baseline="-25000">
                <a:solidFill>
                  <a:srgbClr val="1C252B"/>
                </a:solidFill>
                <a:latin typeface="Cambria"/>
              </a:rPr>
              <a:t>1</a:t>
            </a:r>
            <a:r>
              <a:rPr sz="1900" b="0" i="0">
                <a:solidFill>
                  <a:srgbClr val="1C252B"/>
                </a:solidFill>
                <a:latin typeface="Cambria"/>
              </a:rPr>
              <a:t> − </a:t>
            </a:r>
            <a:r>
              <a:rPr sz="1900" b="0" i="1">
                <a:solidFill>
                  <a:srgbClr val="1C252B"/>
                </a:solidFill>
                <a:latin typeface="Cambria"/>
              </a:rPr>
              <a:t>x</a:t>
            </a:r>
            <a:r>
              <a:rPr sz="1900" b="0" i="0" baseline="-25000">
                <a:solidFill>
                  <a:srgbClr val="1C252B"/>
                </a:solidFill>
                <a:latin typeface="Cambria"/>
              </a:rPr>
              <a:t>2</a:t>
            </a:r>
            <a:r>
              <a:rPr sz="1900" b="0" i="0">
                <a:solidFill>
                  <a:srgbClr val="1C252B"/>
                </a:solidFill>
                <a:latin typeface="Segoe UI"/>
              </a:rPr>
              <a:t>, only records which of the two coordinates is slightly larger — if that is noise, PCA has removed it.</a:t>
            </a: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worked example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16.1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  ·  Handout p. 119     </a:t>
            </a:r>
            <a:fld id="{BA0E7F32-A6B8-4E4C-9223-38129A463E13}" type="slidenum">
              <a:rPr lang="en-GB" sz="1000">
                <a:solidFill>
                  <a:srgbClr val="8795A1"/>
                </a:solidFill>
                <a:latin typeface="Segoe UI"/>
              </a:rPr>
              <a:t>11</a:t>
            </a:fld>
          </a:p>
        </p:txBody>
      </p:sp>
      <p:pic>
        <p:nvPicPr>
          <p:cNvPr id="6" name="!!figure" descr="Figure 16.1. The worked example. PCA rotates the axes to line up with the directions of greatest variance; dropping PC2 projects every point onto the green lin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97823" y="1737360"/>
            <a:ext cx="6996047"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PCA rotates the axes to line up with the directions of greatest variance; dropping PC2 projects every point onto the green line.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35271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How Many Components?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Why Fewer Dimensions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Principal Component Analysis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16.3   How Many Components?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16.4   Self-Organizing Maps</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§16.3     </a:t>
            </a:r>
            <a:fld id="{4CAE52BD-608F-4A97-838B-A4E3A05910BA}" type="slidenum">
              <a:rPr lang="en-GB" sz="1000">
                <a:solidFill>
                  <a:srgbClr val="8795A1"/>
                </a:solidFill>
                <a:latin typeface="Segoe UI"/>
              </a:rPr>
              <a:t>12</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Cumulative explained variance for forty weekly project metrics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16.2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§16.3  ·  Handout p. 120     </a:t>
            </a:r>
            <a:fld id="{588D1C36-B0A7-407D-851D-C6D8BF018D42}" type="slidenum">
              <a:rPr lang="en-GB" sz="1000">
                <a:solidFill>
                  <a:srgbClr val="8795A1"/>
                </a:solidFill>
                <a:latin typeface="Segoe UI"/>
              </a:rPr>
              <a:t>13</a:t>
            </a:fld>
          </a:p>
        </p:txBody>
      </p:sp>
      <p:pic>
        <p:nvPicPr>
          <p:cNvPr id="6" name="!!figure" descr="Figure 16.2. Cumulative explained variance for forty weekly project metrics. The curve rises steeply for four components and then flattens: four underlying factors drive almost everything the dashboard shows, and the rest is nois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74960" y="1737360"/>
            <a:ext cx="7441775"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curve rises steeply for four components and then flattens: four underlying factors drive almost everything the dashboard shows, and the rest is noise.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96230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Standardise First, and Remember What PCA Ignores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§16.3  ·  Handout p. 120     </a:t>
            </a:r>
            <a:fld id="{922C23AE-0575-4DBB-BACB-A46DF358F58E}"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PCA finds directions of large </a:t>
            </a:r>
            <a:r>
              <a:rPr sz="2300" b="0" i="1">
                <a:solidFill>
                  <a:srgbClr val="1C252B"/>
                </a:solidFill>
                <a:latin typeface="Segoe UI"/>
              </a:rPr>
              <a:t>variance</a:t>
            </a:r>
            <a:r>
              <a:rPr sz="2300" b="0" i="0">
                <a:solidFill>
                  <a:srgbClr val="1C252B"/>
                </a:solidFill>
                <a:latin typeface="Segoe UI"/>
              </a:rPr>
              <a:t>, so a feature measured in large units dominates the first component purely because of its units. Standardise first, unless the features share a scale that means something. And PCA is unsupervised: the direction of greatest variance need not be the direction that separates the classes. A small, discarded component can be the one that matters.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26709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Self-Organizing Maps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Why Fewer Dimensions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Principal Component Analysis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How Many Components?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16.4   Self-Organizing Maps</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§16.4     </a:t>
            </a:r>
            <a:fld id="{0F7F2A55-C8BB-4B05-A70F-73068EBD9D43}" type="slidenum">
              <a:rPr lang="en-GB" sz="1000">
                <a:solidFill>
                  <a:srgbClr val="8795A1"/>
                </a:solidFill>
                <a:latin typeface="Segoe UI"/>
              </a:rPr>
              <a:t>15</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57188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Self-Organizing Map</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58CCCF64-8477-48F0-A3C3-828AD4371919}"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97426"/>
          </a:xfrm>
          <a:prstGeom prst="roundRect">
            <a:avLst>
              <a:gd name="adj" fmla="val 223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9742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grid of units (often </a:t>
            </a:r>
            <a:r>
              <a:rPr sz="2100" b="0" i="0">
                <a:solidFill>
                  <a:srgbClr val="1C252B"/>
                </a:solidFill>
                <a:latin typeface="Cambria"/>
              </a:rPr>
              <a:t>10 × 10</a:t>
            </a:r>
            <a:r>
              <a:rPr sz="2100" b="0" i="0">
                <a:solidFill>
                  <a:srgbClr val="1C252B"/>
                </a:solidFill>
                <a:latin typeface="Segoe UI"/>
              </a:rPr>
              <a:t>), each holding a weight vector </a:t>
            </a:r>
            <a:r>
              <a:rPr sz="2100" b="1" i="1">
                <a:solidFill>
                  <a:srgbClr val="1C252B"/>
                </a:solidFill>
                <a:latin typeface="Cambria"/>
              </a:rPr>
              <a:t>w</a:t>
            </a:r>
            <a:r>
              <a:rPr sz="2100" b="0" i="1" baseline="-25000">
                <a:solidFill>
                  <a:srgbClr val="1C252B"/>
                </a:solidFill>
                <a:latin typeface="Cambria"/>
              </a:rPr>
              <a:t>u</a:t>
            </a:r>
            <a:r>
              <a:rPr sz="2100" b="0" i="0">
                <a:solidFill>
                  <a:srgbClr val="1C252B"/>
                </a:solidFill>
                <a:latin typeface="Segoe UI"/>
              </a:rPr>
              <a:t> of the same dimension as the data. Training repeats, for randomly chosen examples </a:t>
            </a:r>
            <a:r>
              <a:rPr sz="2100" b="1" i="1">
                <a:solidFill>
                  <a:srgbClr val="1C252B"/>
                </a:solidFill>
                <a:latin typeface="Cambria"/>
              </a:rPr>
              <a:t>x</a:t>
            </a:r>
            <a:r>
              <a:rPr sz="2100" b="0" i="0">
                <a:solidFill>
                  <a:srgbClr val="1C252B"/>
                </a:solidFill>
                <a:latin typeface="Segoe UI"/>
              </a:rPr>
              <a:t>:</a:t>
            </a:r>
          </a:p>
        </p:txBody>
      </p:sp>
      <p:sp>
        <p:nvSpPr>
          <p:cNvPr id="10" name="body-1"/>
          <p:cNvSpPr txBox="1"/>
          <p:nvPr/>
        </p:nvSpPr>
        <p:spPr>
          <a:xfrm>
            <a:off x="1060704" y="2860624"/>
            <a:ext cx="10161727" cy="1896617"/>
          </a:xfrm>
          <a:prstGeom prst="rect">
            <a:avLst/>
          </a:prstGeom>
          <a:noFill/>
        </p:spPr>
        <p:txBody>
          <a:bodyPr wrap="square" anchor="t" lIns="0" rIns="0" tIns="0" bIns="0">
            <a:noAutofit/>
          </a:bodyPr>
          <a:lstStyle/>
          <a:p>
            <a:pPr algn="l" marL="506575" indent="-506575">
              <a:lnSpc>
                <a:spcPct val="104000"/>
              </a:lnSpc>
              <a:spcBef>
                <a:spcPts val="0"/>
              </a:spcBef>
              <a:spcAft>
                <a:spcPts val="735"/>
              </a:spcAft>
            </a:pPr>
            <a:r>
              <a:rPr sz="2100" b="1">
                <a:solidFill>
                  <a:srgbClr val="8A4500"/>
                </a:solidFill>
                <a:latin typeface="Segoe UI"/>
              </a:rPr>
              <a:t>1.	</a:t>
            </a:r>
            <a:r>
              <a:rPr sz="2100" b="1" i="0">
                <a:solidFill>
                  <a:srgbClr val="8A4500"/>
                </a:solidFill>
                <a:latin typeface="Segoe UI"/>
              </a:rPr>
              <a:t>Compete:</a:t>
            </a:r>
            <a:r>
              <a:rPr sz="2100" b="0" i="0">
                <a:solidFill>
                  <a:srgbClr val="1C252B"/>
                </a:solidFill>
                <a:latin typeface="Segoe UI"/>
              </a:rPr>
              <a:t> find the </a:t>
            </a:r>
            <a:r>
              <a:rPr sz="2100" b="1" i="0">
                <a:solidFill>
                  <a:srgbClr val="1A5276"/>
                </a:solidFill>
                <a:latin typeface="Segoe UI"/>
              </a:rPr>
              <a:t>best-matching unit</a:t>
            </a:r>
            <a:r>
              <a:rPr sz="2100" b="0" i="0">
                <a:solidFill>
                  <a:srgbClr val="1C252B"/>
                </a:solidFill>
                <a:latin typeface="Segoe UI"/>
              </a:rPr>
              <a:t> (BMU), the unit whose weight vector is closest to </a:t>
            </a:r>
            <a:r>
              <a:rPr sz="2100" b="1" i="1">
                <a:solidFill>
                  <a:srgbClr val="1C252B"/>
                </a:solidFill>
                <a:latin typeface="Cambria"/>
              </a:rPr>
              <a:t>x</a:t>
            </a:r>
            <a:r>
              <a:rPr sz="2100" b="0" i="0">
                <a:solidFill>
                  <a:srgbClr val="1C252B"/>
                </a:solidFill>
                <a:latin typeface="Segoe UI"/>
              </a:rPr>
              <a:t>.</a:t>
            </a:r>
          </a:p>
          <a:p>
            <a:pPr algn="l" marL="506575" indent="-506575">
              <a:lnSpc>
                <a:spcPct val="104000"/>
              </a:lnSpc>
              <a:spcBef>
                <a:spcPts val="0"/>
              </a:spcBef>
              <a:spcAft>
                <a:spcPts val="735"/>
              </a:spcAft>
            </a:pPr>
            <a:r>
              <a:rPr sz="2100" b="1">
                <a:solidFill>
                  <a:srgbClr val="8A4500"/>
                </a:solidFill>
                <a:latin typeface="Segoe UI"/>
              </a:rPr>
              <a:t>2.	</a:t>
            </a:r>
            <a:r>
              <a:rPr sz="2100" b="1" i="0">
                <a:solidFill>
                  <a:srgbClr val="8A4500"/>
                </a:solidFill>
                <a:latin typeface="Segoe UI"/>
              </a:rPr>
              <a:t>Cooperate:</a:t>
            </a:r>
            <a:r>
              <a:rPr sz="2100" b="0" i="0">
                <a:solidFill>
                  <a:srgbClr val="1C252B"/>
                </a:solidFill>
                <a:latin typeface="Segoe UI"/>
              </a:rPr>
              <a:t> every unit </a:t>
            </a:r>
            <a:r>
              <a:rPr sz="2100" b="0" i="1">
                <a:solidFill>
                  <a:srgbClr val="1C252B"/>
                </a:solidFill>
                <a:latin typeface="Cambria"/>
              </a:rPr>
              <a:t>u</a:t>
            </a:r>
            <a:r>
              <a:rPr sz="2100" b="0" i="0">
                <a:solidFill>
                  <a:srgbClr val="1C252B"/>
                </a:solidFill>
                <a:latin typeface="Segoe UI"/>
              </a:rPr>
              <a:t> gets a </a:t>
            </a:r>
            <a:r>
              <a:rPr sz="2100" b="1" i="0">
                <a:solidFill>
                  <a:srgbClr val="1A5276"/>
                </a:solidFill>
                <a:latin typeface="Segoe UI"/>
              </a:rPr>
              <a:t>neighbourhood</a:t>
            </a:r>
            <a:r>
              <a:rPr sz="2100" b="0" i="0">
                <a:solidFill>
                  <a:srgbClr val="1C252B"/>
                </a:solidFill>
                <a:latin typeface="Segoe UI"/>
              </a:rPr>
              <a:t> weight </a:t>
            </a:r>
            <a:r>
              <a:rPr sz="2100" b="0" i="1">
                <a:solidFill>
                  <a:srgbClr val="1C252B"/>
                </a:solidFill>
                <a:latin typeface="Cambria"/>
              </a:rPr>
              <a:t>h</a:t>
            </a:r>
            <a:r>
              <a:rPr sz="2100" b="0" i="0">
                <a:solidFill>
                  <a:srgbClr val="1C252B"/>
                </a:solidFill>
                <a:latin typeface="Cambria"/>
              </a:rPr>
              <a:t>(</a:t>
            </a:r>
            <a:r>
              <a:rPr sz="2100" b="0" i="1">
                <a:solidFill>
                  <a:srgbClr val="1C252B"/>
                </a:solidFill>
                <a:latin typeface="Cambria"/>
              </a:rPr>
              <a:t>u</a:t>
            </a:r>
            <a:r>
              <a:rPr sz="2100" b="0" i="0">
                <a:solidFill>
                  <a:srgbClr val="1C252B"/>
                </a:solidFill>
                <a:latin typeface="Cambria"/>
              </a:rPr>
              <a:t>)</a:t>
            </a:r>
            <a:r>
              <a:rPr sz="2100" b="0" i="0">
                <a:solidFill>
                  <a:srgbClr val="1C252B"/>
                </a:solidFill>
                <a:latin typeface="Segoe UI"/>
              </a:rPr>
              <a:t>, 1 at the BMU and falling with distance </a:t>
            </a:r>
            <a:r>
              <a:rPr sz="2100" b="0" i="1">
                <a:solidFill>
                  <a:srgbClr val="1C252B"/>
                </a:solidFill>
                <a:latin typeface="Segoe UI"/>
              </a:rPr>
              <a:t>on the grid</a:t>
            </a:r>
            <a:r>
              <a:rPr sz="2100" b="0" i="0">
                <a:solidFill>
                  <a:srgbClr val="1C252B"/>
                </a:solidFill>
                <a:latin typeface="Segoe UI"/>
              </a:rPr>
              <a:t> — usually </a:t>
            </a:r>
            <a:r>
              <a:rPr sz="2100" b="0" i="1">
                <a:solidFill>
                  <a:srgbClr val="1C252B"/>
                </a:solidFill>
                <a:latin typeface="Cambria"/>
              </a:rPr>
              <a:t>h</a:t>
            </a:r>
            <a:r>
              <a:rPr sz="2100" b="0" i="0">
                <a:solidFill>
                  <a:srgbClr val="1C252B"/>
                </a:solidFill>
                <a:latin typeface="Cambria"/>
              </a:rPr>
              <a:t>(</a:t>
            </a:r>
            <a:r>
              <a:rPr sz="2100" b="0" i="1">
                <a:solidFill>
                  <a:srgbClr val="1C252B"/>
                </a:solidFill>
                <a:latin typeface="Cambria"/>
              </a:rPr>
              <a:t>u</a:t>
            </a:r>
            <a:r>
              <a:rPr sz="2100" b="0" i="0">
                <a:solidFill>
                  <a:srgbClr val="1C252B"/>
                </a:solidFill>
                <a:latin typeface="Cambria"/>
              </a:rPr>
              <a:t>) = exp(−</a:t>
            </a:r>
            <a:r>
              <a:rPr sz="2100" b="0" i="0">
                <a:solidFill>
                  <a:srgbClr val="1C252B"/>
                </a:solidFill>
                <a:latin typeface="Segoe UI"/>
              </a:rPr>
              <a:t>grid distance</a:t>
            </a:r>
            <a:r>
              <a:rPr sz="2100" b="0" i="0" baseline="30000">
                <a:solidFill>
                  <a:srgbClr val="1C252B"/>
                </a:solidFill>
                <a:latin typeface="Cambria"/>
              </a:rPr>
              <a:t>2</a:t>
            </a:r>
            <a:r>
              <a:rPr sz="2100" b="0" i="0">
                <a:solidFill>
                  <a:srgbClr val="1C252B"/>
                </a:solidFill>
                <a:latin typeface="Cambria"/>
              </a:rPr>
              <a:t> / 2σ</a:t>
            </a:r>
            <a:r>
              <a:rPr sz="2100" b="0" i="0" baseline="30000">
                <a:solidFill>
                  <a:srgbClr val="1C252B"/>
                </a:solidFill>
                <a:latin typeface="Cambria"/>
              </a:rPr>
              <a:t>2</a:t>
            </a:r>
            <a:r>
              <a:rPr sz="2100" b="0" i="0">
                <a:solidFill>
                  <a:srgbClr val="1C252B"/>
                </a:solidFill>
                <a:latin typeface="Cambria"/>
              </a:rPr>
              <a:t>)</a:t>
            </a:r>
            <a:r>
              <a:rPr sz="2100" b="0" i="0">
                <a:solidFill>
                  <a:srgbClr val="1C252B"/>
                </a:solidFill>
                <a:latin typeface="Segoe UI"/>
              </a:rPr>
              <a:t>.</a:t>
            </a:r>
          </a:p>
          <a:p>
            <a:pPr algn="l" marL="506575" indent="-506575">
              <a:lnSpc>
                <a:spcPct val="104000"/>
              </a:lnSpc>
              <a:spcBef>
                <a:spcPts val="0"/>
              </a:spcBef>
              <a:spcAft>
                <a:spcPts val="0"/>
              </a:spcAft>
            </a:pPr>
            <a:r>
              <a:rPr sz="2100" b="1">
                <a:solidFill>
                  <a:srgbClr val="8A4500"/>
                </a:solidFill>
                <a:latin typeface="Segoe UI"/>
              </a:rPr>
              <a:t>3.	</a:t>
            </a:r>
            <a:r>
              <a:rPr sz="2100" b="1" i="0">
                <a:solidFill>
                  <a:srgbClr val="8A4500"/>
                </a:solidFill>
                <a:latin typeface="Segoe UI"/>
              </a:rPr>
              <a:t>Adapt:</a:t>
            </a:r>
            <a:r>
              <a:rPr sz="2100" b="0" i="0">
                <a:solidFill>
                  <a:srgbClr val="1C252B"/>
                </a:solidFill>
                <a:latin typeface="Segoe UI"/>
              </a:rPr>
              <a:t> move every unit towards the example: </a:t>
            </a:r>
            <a:r>
              <a:rPr sz="2100" b="1" i="1">
                <a:solidFill>
                  <a:srgbClr val="1C252B"/>
                </a:solidFill>
                <a:latin typeface="Cambria"/>
              </a:rPr>
              <a:t>w</a:t>
            </a:r>
            <a:r>
              <a:rPr sz="2100" b="0" i="1" baseline="-25000">
                <a:solidFill>
                  <a:srgbClr val="1C252B"/>
                </a:solidFill>
                <a:latin typeface="Cambria"/>
              </a:rPr>
              <a:t>u</a:t>
            </a:r>
            <a:r>
              <a:rPr sz="2100" b="0" i="0">
                <a:solidFill>
                  <a:srgbClr val="1C252B"/>
                </a:solidFill>
                <a:latin typeface="Cambria"/>
              </a:rPr>
              <a:t> ← </a:t>
            </a:r>
            <a:r>
              <a:rPr sz="2100" b="1" i="1">
                <a:solidFill>
                  <a:srgbClr val="1C252B"/>
                </a:solidFill>
                <a:latin typeface="Cambria"/>
              </a:rPr>
              <a:t>w</a:t>
            </a:r>
            <a:r>
              <a:rPr sz="2100" b="0" i="1" baseline="-25000">
                <a:solidFill>
                  <a:srgbClr val="1C252B"/>
                </a:solidFill>
                <a:latin typeface="Cambria"/>
              </a:rPr>
              <a:t>u</a:t>
            </a:r>
            <a:r>
              <a:rPr sz="2100" b="0" i="0">
                <a:solidFill>
                  <a:srgbClr val="1C252B"/>
                </a:solidFill>
                <a:latin typeface="Cambria"/>
              </a:rPr>
              <a:t> + η </a:t>
            </a:r>
            <a:r>
              <a:rPr sz="2100" b="0" i="1">
                <a:solidFill>
                  <a:srgbClr val="1C252B"/>
                </a:solidFill>
                <a:latin typeface="Cambria"/>
              </a:rPr>
              <a:t>h</a:t>
            </a:r>
            <a:r>
              <a:rPr sz="2100" b="0" i="0">
                <a:solidFill>
                  <a:srgbClr val="1C252B"/>
                </a:solidFill>
                <a:latin typeface="Cambria"/>
              </a:rPr>
              <a:t>(</a:t>
            </a:r>
            <a:r>
              <a:rPr sz="2100" b="0" i="1">
                <a:solidFill>
                  <a:srgbClr val="1C252B"/>
                </a:solidFill>
                <a:latin typeface="Cambria"/>
              </a:rPr>
              <a:t>u</a:t>
            </a:r>
            <a:r>
              <a:rPr sz="2100" b="0" i="0">
                <a:solidFill>
                  <a:srgbClr val="1C252B"/>
                </a:solidFill>
                <a:latin typeface="Cambria"/>
              </a:rPr>
              <a:t>) (</a:t>
            </a:r>
            <a:r>
              <a:rPr sz="2100" b="1" i="1">
                <a:solidFill>
                  <a:srgbClr val="1C252B"/>
                </a:solidFill>
                <a:latin typeface="Cambria"/>
              </a:rPr>
              <a:t>x</a:t>
            </a:r>
            <a:r>
              <a:rPr sz="2100" b="0" i="0">
                <a:solidFill>
                  <a:srgbClr val="1C252B"/>
                </a:solidFill>
                <a:latin typeface="Cambria"/>
              </a:rPr>
              <a:t> − </a:t>
            </a:r>
            <a:r>
              <a:rPr sz="2100" b="1" i="1">
                <a:solidFill>
                  <a:srgbClr val="1C252B"/>
                </a:solidFill>
                <a:latin typeface="Cambria"/>
              </a:rPr>
              <a:t>w</a:t>
            </a:r>
            <a:r>
              <a:rPr sz="2100" b="0" i="1" baseline="-25000">
                <a:solidFill>
                  <a:srgbClr val="1C252B"/>
                </a:solidFill>
                <a:latin typeface="Cambria"/>
              </a:rPr>
              <a:t>u</a:t>
            </a:r>
            <a:r>
              <a:rPr sz="2100" b="0" i="0">
                <a:solidFill>
                  <a:srgbClr val="1C252B"/>
                </a:solidFill>
                <a:latin typeface="Cambria"/>
              </a:rPr>
              <a:t>)</a:t>
            </a:r>
            <a:r>
              <a:rPr sz="2100" b="0" i="0">
                <a:solidFill>
                  <a:srgbClr val="1C252B"/>
                </a:solidFill>
                <a:latin typeface="Segoe UI"/>
              </a:rPr>
              <a:t>.</a:t>
            </a:r>
          </a:p>
        </p:txBody>
      </p:sp>
      <p:sp>
        <p:nvSpPr>
          <p:cNvPr id="11" name="body-2"/>
          <p:cNvSpPr txBox="1"/>
          <p:nvPr/>
        </p:nvSpPr>
        <p:spPr>
          <a:xfrm>
            <a:off x="1060704" y="4858207"/>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Both the learning rate </a:t>
            </a:r>
            <a:r>
              <a:rPr sz="2100" b="0" i="0">
                <a:solidFill>
                  <a:srgbClr val="1C252B"/>
                </a:solidFill>
                <a:latin typeface="Cambria"/>
              </a:rPr>
              <a:t>η</a:t>
            </a:r>
            <a:r>
              <a:rPr sz="2100" b="0" i="0">
                <a:solidFill>
                  <a:srgbClr val="1C252B"/>
                </a:solidFill>
                <a:latin typeface="Segoe UI"/>
              </a:rPr>
              <a:t> and the neighbourhood width </a:t>
            </a:r>
            <a:r>
              <a:rPr sz="2100" b="0" i="0">
                <a:solidFill>
                  <a:srgbClr val="1C252B"/>
                </a:solidFill>
                <a:latin typeface="Cambria"/>
              </a:rPr>
              <a:t>σ</a:t>
            </a:r>
            <a:r>
              <a:rPr sz="2100" b="0" i="0">
                <a:solidFill>
                  <a:srgbClr val="1C252B"/>
                </a:solidFill>
                <a:latin typeface="Segoe UI"/>
              </a:rPr>
              <a:t> shrink during training: first the map organises roughly, then each unit fine-tunes.</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self-organizing map</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16.3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8D810722-C95C-44F1-BD51-2EC93D1A2A20}" type="slidenum">
              <a:rPr lang="en-GB" sz="1000">
                <a:solidFill>
                  <a:srgbClr val="8795A1"/>
                </a:solidFill>
                <a:latin typeface="Segoe UI"/>
              </a:rPr>
              <a:t>17</a:t>
            </a:fld>
          </a:p>
        </p:txBody>
      </p:sp>
      <p:pic>
        <p:nvPicPr>
          <p:cNvPr id="6" name="!!figure" descr="Figure 16.3. A self-organizing map. Competition picks one winner; cooperation spreads the update over its neighbourhood on the grid, which is what makes the map smooth."/>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6586" y="1737360"/>
            <a:ext cx="1075852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Competition picks one winner; cooperation spreads the update over its neighbourhood on the grid, which is what makes the map smooth.</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18147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SOM Update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E602ADC1-373F-4BD6-8B81-7474733017AB}"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49800"/>
          </a:xfrm>
          <a:prstGeom prst="roundRect">
            <a:avLst>
              <a:gd name="adj" fmla="val 210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498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one-dimensional map of three units with two-dimensional weights: </a:t>
            </a:r>
            <a:r>
              <a:rPr sz="1800" b="1" i="1">
                <a:solidFill>
                  <a:srgbClr val="1C252B"/>
                </a:solidFill>
                <a:latin typeface="Cambria"/>
              </a:rPr>
              <a:t>w</a:t>
            </a:r>
            <a:r>
              <a:rPr sz="1800" b="0" i="0" baseline="-25000">
                <a:solidFill>
                  <a:srgbClr val="1C252B"/>
                </a:solidFill>
                <a:latin typeface="Cambria"/>
              </a:rPr>
              <a:t>1</a:t>
            </a:r>
            <a:r>
              <a:rPr sz="1800" b="0" i="0">
                <a:solidFill>
                  <a:srgbClr val="1C252B"/>
                </a:solidFill>
                <a:latin typeface="Cambria"/>
              </a:rPr>
              <a:t> = (0.2, 0.8)</a:t>
            </a:r>
            <a:r>
              <a:rPr sz="1800" b="0" i="0">
                <a:solidFill>
                  <a:srgbClr val="1C252B"/>
                </a:solidFill>
                <a:latin typeface="Segoe UI"/>
              </a:rPr>
              <a:t>, </a:t>
            </a:r>
            <a:r>
              <a:rPr sz="1800" b="1" i="1">
                <a:solidFill>
                  <a:srgbClr val="1C252B"/>
                </a:solidFill>
                <a:latin typeface="Cambria"/>
              </a:rPr>
              <a:t>w</a:t>
            </a:r>
            <a:r>
              <a:rPr sz="1800" b="0" i="0" baseline="-25000">
                <a:solidFill>
                  <a:srgbClr val="1C252B"/>
                </a:solidFill>
                <a:latin typeface="Cambria"/>
              </a:rPr>
              <a:t>2</a:t>
            </a:r>
            <a:r>
              <a:rPr sz="1800" b="0" i="0">
                <a:solidFill>
                  <a:srgbClr val="1C252B"/>
                </a:solidFill>
                <a:latin typeface="Cambria"/>
              </a:rPr>
              <a:t> = (0.5, 0.5)</a:t>
            </a:r>
            <a:r>
              <a:rPr sz="1800" b="0" i="0">
                <a:solidFill>
                  <a:srgbClr val="1C252B"/>
                </a:solidFill>
                <a:latin typeface="Segoe UI"/>
              </a:rPr>
              <a:t>, </a:t>
            </a:r>
            <a:r>
              <a:rPr sz="1800" b="1" i="1">
                <a:solidFill>
                  <a:srgbClr val="1C252B"/>
                </a:solidFill>
                <a:latin typeface="Cambria"/>
              </a:rPr>
              <a:t>w</a:t>
            </a:r>
            <a:r>
              <a:rPr sz="1800" b="0" i="0" baseline="-25000">
                <a:solidFill>
                  <a:srgbClr val="1C252B"/>
                </a:solidFill>
                <a:latin typeface="Cambria"/>
              </a:rPr>
              <a:t>3</a:t>
            </a:r>
            <a:r>
              <a:rPr sz="1800" b="0" i="0">
                <a:solidFill>
                  <a:srgbClr val="1C252B"/>
                </a:solidFill>
                <a:latin typeface="Cambria"/>
              </a:rPr>
              <a:t> = (0.9, 0.1)</a:t>
            </a:r>
            <a:r>
              <a:rPr sz="1800" b="0" i="0">
                <a:solidFill>
                  <a:srgbClr val="1C252B"/>
                </a:solidFill>
                <a:latin typeface="Segoe UI"/>
              </a:rPr>
              <a:t>. Input </a:t>
            </a:r>
            <a:r>
              <a:rPr sz="1800" b="1" i="1">
                <a:solidFill>
                  <a:srgbClr val="1C252B"/>
                </a:solidFill>
                <a:latin typeface="Cambria"/>
              </a:rPr>
              <a:t>x</a:t>
            </a:r>
            <a:r>
              <a:rPr sz="1800" b="0" i="0">
                <a:solidFill>
                  <a:srgbClr val="1C252B"/>
                </a:solidFill>
                <a:latin typeface="Cambria"/>
              </a:rPr>
              <a:t> = (0.8, 0.3)</a:t>
            </a:r>
            <a:r>
              <a:rPr sz="1800" b="0" i="0">
                <a:solidFill>
                  <a:srgbClr val="1C252B"/>
                </a:solidFill>
                <a:latin typeface="Segoe UI"/>
              </a:rPr>
              <a:t>; learning rate </a:t>
            </a:r>
            <a:r>
              <a:rPr sz="1800" b="0" i="0">
                <a:solidFill>
                  <a:srgbClr val="1C252B"/>
                </a:solidFill>
                <a:latin typeface="Cambria"/>
              </a:rPr>
              <a:t>η = 0.5</a:t>
            </a:r>
            <a:r>
              <a:rPr sz="1800" b="0" i="0">
                <a:solidFill>
                  <a:srgbClr val="1C252B"/>
                </a:solidFill>
                <a:latin typeface="Segoe UI"/>
              </a:rPr>
              <a:t>; neighbourhood </a:t>
            </a:r>
            <a:r>
              <a:rPr sz="1800" b="0" i="1">
                <a:solidFill>
                  <a:srgbClr val="1C252B"/>
                </a:solidFill>
                <a:latin typeface="Cambria"/>
              </a:rPr>
              <a:t>h</a:t>
            </a:r>
            <a:r>
              <a:rPr sz="1800" b="0" i="0">
                <a:solidFill>
                  <a:srgbClr val="1C252B"/>
                </a:solidFill>
                <a:latin typeface="Cambria"/>
              </a:rPr>
              <a:t> = 1</a:t>
            </a:r>
            <a:r>
              <a:rPr sz="1800" b="0" i="0">
                <a:solidFill>
                  <a:srgbClr val="1C252B"/>
                </a:solidFill>
                <a:latin typeface="Segoe UI"/>
              </a:rPr>
              <a:t> for the BMU, </a:t>
            </a:r>
            <a:r>
              <a:rPr sz="1800" b="0" i="0">
                <a:solidFill>
                  <a:srgbClr val="1C252B"/>
                </a:solidFill>
                <a:latin typeface="Cambria"/>
              </a:rPr>
              <a:t>0.5</a:t>
            </a:r>
            <a:r>
              <a:rPr sz="1800" b="0" i="0">
                <a:solidFill>
                  <a:srgbClr val="1C252B"/>
                </a:solidFill>
                <a:latin typeface="Segoe UI"/>
              </a:rPr>
              <a:t> for its immediate neighbours, 0 beyond.</a:t>
            </a:r>
          </a:p>
        </p:txBody>
      </p:sp>
      <p:sp>
        <p:nvSpPr>
          <p:cNvPr id="10" name="body-1"/>
          <p:cNvSpPr txBox="1"/>
          <p:nvPr/>
        </p:nvSpPr>
        <p:spPr>
          <a:xfrm>
            <a:off x="1042416" y="2993288"/>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Compete.</a:t>
            </a:r>
            <a:r>
              <a:rPr sz="1800" b="0" i="0">
                <a:solidFill>
                  <a:srgbClr val="1C252B"/>
                </a:solidFill>
                <a:latin typeface="Segoe UI"/>
              </a:rPr>
              <a:t> Distances: </a:t>
            </a:r>
            <a:r>
              <a:rPr sz="1800" b="0" i="0">
                <a:solidFill>
                  <a:srgbClr val="1C252B"/>
                </a:solidFill>
                <a:latin typeface="Cambria"/>
              </a:rPr>
              <a:t>‖</a:t>
            </a:r>
            <a:r>
              <a:rPr sz="1800" b="1" i="1">
                <a:solidFill>
                  <a:srgbClr val="1C252B"/>
                </a:solidFill>
                <a:latin typeface="Cambria"/>
              </a:rPr>
              <a:t>x</a:t>
            </a:r>
            <a:r>
              <a:rPr sz="1800" b="0" i="0">
                <a:solidFill>
                  <a:srgbClr val="1C252B"/>
                </a:solidFill>
                <a:latin typeface="Cambria"/>
              </a:rPr>
              <a:t> − </a:t>
            </a:r>
            <a:r>
              <a:rPr sz="1800" b="1" i="1">
                <a:solidFill>
                  <a:srgbClr val="1C252B"/>
                </a:solidFill>
                <a:latin typeface="Cambria"/>
              </a:rPr>
              <a:t>w</a:t>
            </a:r>
            <a:r>
              <a:rPr sz="1800" b="0" i="0" baseline="-25000">
                <a:solidFill>
                  <a:srgbClr val="1C252B"/>
                </a:solidFill>
                <a:latin typeface="Cambria"/>
              </a:rPr>
              <a:t>1</a:t>
            </a:r>
            <a:r>
              <a:rPr sz="1800" b="0" i="0">
                <a:solidFill>
                  <a:srgbClr val="1C252B"/>
                </a:solidFill>
                <a:latin typeface="Cambria"/>
              </a:rPr>
              <a:t>‖ = √(0.6</a:t>
            </a:r>
            <a:r>
              <a:rPr sz="1800" b="0" i="0" baseline="30000">
                <a:solidFill>
                  <a:srgbClr val="1C252B"/>
                </a:solidFill>
                <a:latin typeface="Cambria"/>
              </a:rPr>
              <a:t>2</a:t>
            </a:r>
            <a:r>
              <a:rPr sz="1800" b="0" i="0">
                <a:solidFill>
                  <a:srgbClr val="1C252B"/>
                </a:solidFill>
                <a:latin typeface="Cambria"/>
              </a:rPr>
              <a:t> + 0.5</a:t>
            </a:r>
            <a:r>
              <a:rPr sz="1800" b="0" i="0" baseline="30000">
                <a:solidFill>
                  <a:srgbClr val="1C252B"/>
                </a:solidFill>
                <a:latin typeface="Cambria"/>
              </a:rPr>
              <a:t>2</a:t>
            </a:r>
            <a:r>
              <a:rPr sz="1800" b="0" i="0">
                <a:solidFill>
                  <a:srgbClr val="1C252B"/>
                </a:solidFill>
                <a:latin typeface="Cambria"/>
              </a:rPr>
              <a:t>) = 0.781</a:t>
            </a:r>
            <a:r>
              <a:rPr sz="1800" b="0" i="0">
                <a:solidFill>
                  <a:srgbClr val="1C252B"/>
                </a:solidFill>
                <a:latin typeface="Segoe UI"/>
              </a:rPr>
              <a:t>; </a:t>
            </a:r>
            <a:r>
              <a:rPr sz="1800" b="0" i="0">
                <a:solidFill>
                  <a:srgbClr val="1C252B"/>
                </a:solidFill>
                <a:latin typeface="Cambria"/>
              </a:rPr>
              <a:t>‖</a:t>
            </a:r>
            <a:r>
              <a:rPr sz="1800" b="1" i="1">
                <a:solidFill>
                  <a:srgbClr val="1C252B"/>
                </a:solidFill>
                <a:latin typeface="Cambria"/>
              </a:rPr>
              <a:t>x</a:t>
            </a:r>
            <a:r>
              <a:rPr sz="1800" b="0" i="0">
                <a:solidFill>
                  <a:srgbClr val="1C252B"/>
                </a:solidFill>
                <a:latin typeface="Cambria"/>
              </a:rPr>
              <a:t> − </a:t>
            </a:r>
            <a:r>
              <a:rPr sz="1800" b="1" i="1">
                <a:solidFill>
                  <a:srgbClr val="1C252B"/>
                </a:solidFill>
                <a:latin typeface="Cambria"/>
              </a:rPr>
              <a:t>w</a:t>
            </a:r>
            <a:r>
              <a:rPr sz="1800" b="0" i="0" baseline="-25000">
                <a:solidFill>
                  <a:srgbClr val="1C252B"/>
                </a:solidFill>
                <a:latin typeface="Cambria"/>
              </a:rPr>
              <a:t>2</a:t>
            </a:r>
            <a:r>
              <a:rPr sz="1800" b="0" i="0">
                <a:solidFill>
                  <a:srgbClr val="1C252B"/>
                </a:solidFill>
                <a:latin typeface="Cambria"/>
              </a:rPr>
              <a:t>‖ = √(0.3</a:t>
            </a:r>
            <a:r>
              <a:rPr sz="1800" b="0" i="0" baseline="30000">
                <a:solidFill>
                  <a:srgbClr val="1C252B"/>
                </a:solidFill>
                <a:latin typeface="Cambria"/>
              </a:rPr>
              <a:t>2</a:t>
            </a:r>
            <a:r>
              <a:rPr sz="1800" b="0" i="0">
                <a:solidFill>
                  <a:srgbClr val="1C252B"/>
                </a:solidFill>
                <a:latin typeface="Cambria"/>
              </a:rPr>
              <a:t> + 0.2</a:t>
            </a:r>
            <a:r>
              <a:rPr sz="1800" b="0" i="0" baseline="30000">
                <a:solidFill>
                  <a:srgbClr val="1C252B"/>
                </a:solidFill>
                <a:latin typeface="Cambria"/>
              </a:rPr>
              <a:t>2</a:t>
            </a:r>
            <a:r>
              <a:rPr sz="1800" b="0" i="0">
                <a:solidFill>
                  <a:srgbClr val="1C252B"/>
                </a:solidFill>
                <a:latin typeface="Cambria"/>
              </a:rPr>
              <a:t>) = 0.361</a:t>
            </a:r>
            <a:r>
              <a:rPr sz="1800" b="0" i="0">
                <a:solidFill>
                  <a:srgbClr val="1C252B"/>
                </a:solidFill>
                <a:latin typeface="Segoe UI"/>
              </a:rPr>
              <a:t>; </a:t>
            </a:r>
            <a:r>
              <a:rPr sz="1800" b="0" i="0">
                <a:solidFill>
                  <a:srgbClr val="1C252B"/>
                </a:solidFill>
                <a:latin typeface="Cambria"/>
              </a:rPr>
              <a:t>‖</a:t>
            </a:r>
            <a:r>
              <a:rPr sz="1800" b="1" i="1">
                <a:solidFill>
                  <a:srgbClr val="1C252B"/>
                </a:solidFill>
                <a:latin typeface="Cambria"/>
              </a:rPr>
              <a:t>x</a:t>
            </a:r>
            <a:r>
              <a:rPr sz="1800" b="0" i="0">
                <a:solidFill>
                  <a:srgbClr val="1C252B"/>
                </a:solidFill>
                <a:latin typeface="Cambria"/>
              </a:rPr>
              <a:t> − </a:t>
            </a:r>
            <a:r>
              <a:rPr sz="1800" b="1" i="1">
                <a:solidFill>
                  <a:srgbClr val="1C252B"/>
                </a:solidFill>
                <a:latin typeface="Cambria"/>
              </a:rPr>
              <a:t>w</a:t>
            </a:r>
            <a:r>
              <a:rPr sz="1800" b="0" i="0" baseline="-25000">
                <a:solidFill>
                  <a:srgbClr val="1C252B"/>
                </a:solidFill>
                <a:latin typeface="Cambria"/>
              </a:rPr>
              <a:t>3</a:t>
            </a:r>
            <a:r>
              <a:rPr sz="1800" b="0" i="0">
                <a:solidFill>
                  <a:srgbClr val="1C252B"/>
                </a:solidFill>
                <a:latin typeface="Cambria"/>
              </a:rPr>
              <a:t>‖ = √(0.1</a:t>
            </a:r>
            <a:r>
              <a:rPr sz="1800" b="0" i="0" baseline="30000">
                <a:solidFill>
                  <a:srgbClr val="1C252B"/>
                </a:solidFill>
                <a:latin typeface="Cambria"/>
              </a:rPr>
              <a:t>2</a:t>
            </a:r>
            <a:r>
              <a:rPr sz="1800" b="0" i="0">
                <a:solidFill>
                  <a:srgbClr val="1C252B"/>
                </a:solidFill>
                <a:latin typeface="Cambria"/>
              </a:rPr>
              <a:t> + 0.2</a:t>
            </a:r>
            <a:r>
              <a:rPr sz="1800" b="0" i="0" baseline="30000">
                <a:solidFill>
                  <a:srgbClr val="1C252B"/>
                </a:solidFill>
                <a:latin typeface="Cambria"/>
              </a:rPr>
              <a:t>2</a:t>
            </a:r>
            <a:r>
              <a:rPr sz="1800" b="0" i="0">
                <a:solidFill>
                  <a:srgbClr val="1C252B"/>
                </a:solidFill>
                <a:latin typeface="Cambria"/>
              </a:rPr>
              <a:t>) = 0.224</a:t>
            </a:r>
            <a:r>
              <a:rPr sz="1800" b="0" i="0">
                <a:solidFill>
                  <a:srgbClr val="1C252B"/>
                </a:solidFill>
                <a:latin typeface="Segoe UI"/>
              </a:rPr>
              <a:t>. </a:t>
            </a:r>
            <a:r>
              <a:rPr sz="1800" b="1" i="0">
                <a:solidFill>
                  <a:srgbClr val="1C252B"/>
                </a:solidFill>
                <a:latin typeface="Segoe UI"/>
              </a:rPr>
              <a:t>BMU: unit 3.</a:t>
            </a:r>
          </a:p>
        </p:txBody>
      </p:sp>
      <p:sp>
        <p:nvSpPr>
          <p:cNvPr id="11" name="body-2"/>
          <p:cNvSpPr txBox="1"/>
          <p:nvPr/>
        </p:nvSpPr>
        <p:spPr>
          <a:xfrm>
            <a:off x="1042416" y="3689603"/>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Adapt.</a:t>
            </a:r>
          </a:p>
        </p:txBody>
      </p:sp>
      <p:sp>
        <p:nvSpPr>
          <p:cNvPr id="12" name="body-3"/>
          <p:cNvSpPr txBox="1"/>
          <p:nvPr/>
        </p:nvSpPr>
        <p:spPr>
          <a:xfrm>
            <a:off x="1042416" y="4100626"/>
            <a:ext cx="10234879" cy="1061618"/>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7D6608"/>
                </a:solidFill>
                <a:latin typeface="Segoe UI"/>
              </a:rPr>
              <a:t>•	</a:t>
            </a:r>
            <a:r>
              <a:rPr sz="1800" b="0" i="0">
                <a:solidFill>
                  <a:srgbClr val="1C252B"/>
                </a:solidFill>
                <a:latin typeface="Segoe UI"/>
              </a:rPr>
              <a:t>Unit 3 (</a:t>
            </a:r>
            <a:r>
              <a:rPr sz="1800" b="0" i="1">
                <a:solidFill>
                  <a:srgbClr val="1C252B"/>
                </a:solidFill>
                <a:latin typeface="Cambria"/>
              </a:rPr>
              <a:t>h</a:t>
            </a:r>
            <a:r>
              <a:rPr sz="1800" b="0" i="0">
                <a:solidFill>
                  <a:srgbClr val="1C252B"/>
                </a:solidFill>
                <a:latin typeface="Cambria"/>
              </a:rPr>
              <a:t> = 1</a:t>
            </a:r>
            <a:r>
              <a:rPr sz="1800" b="0" i="0">
                <a:solidFill>
                  <a:srgbClr val="1C252B"/>
                </a:solidFill>
                <a:latin typeface="Segoe UI"/>
              </a:rPr>
              <a:t>): </a:t>
            </a:r>
            <a:r>
              <a:rPr sz="1800" b="1" i="1">
                <a:solidFill>
                  <a:srgbClr val="1C252B"/>
                </a:solidFill>
                <a:latin typeface="Cambria"/>
              </a:rPr>
              <a:t>w</a:t>
            </a:r>
            <a:r>
              <a:rPr sz="1800" b="0" i="0" baseline="-25000">
                <a:solidFill>
                  <a:srgbClr val="1C252B"/>
                </a:solidFill>
                <a:latin typeface="Cambria"/>
              </a:rPr>
              <a:t>3</a:t>
            </a:r>
            <a:r>
              <a:rPr sz="1800" b="0" i="0">
                <a:solidFill>
                  <a:srgbClr val="1C252B"/>
                </a:solidFill>
                <a:latin typeface="Cambria"/>
              </a:rPr>
              <a:t> + 0.5 × 1 × ((0.8, 0.3) − (0.9, 0.1)) = (0.9, 0.1) + (−0.05, 0.10) = </a:t>
            </a:r>
            <a:r>
              <a:rPr sz="1800" b="1" i="0">
                <a:solidFill>
                  <a:srgbClr val="1C252B"/>
                </a:solidFill>
                <a:latin typeface="Cambria"/>
              </a:rPr>
              <a:t>(0.85, 0.20)</a:t>
            </a:r>
            <a:r>
              <a:rPr sz="1800" b="0" i="0">
                <a:solidFill>
                  <a:srgbClr val="1C252B"/>
                </a:solidFill>
                <a:latin typeface="Segoe UI"/>
              </a:rPr>
              <a:t>.</a:t>
            </a:r>
          </a:p>
          <a:p>
            <a:pPr algn="l" marL="201268" indent="-201268">
              <a:lnSpc>
                <a:spcPct val="104000"/>
              </a:lnSpc>
              <a:spcBef>
                <a:spcPts val="0"/>
              </a:spcBef>
              <a:spcAft>
                <a:spcPts val="630"/>
              </a:spcAft>
            </a:pPr>
            <a:r>
              <a:rPr sz="1800" b="1">
                <a:solidFill>
                  <a:srgbClr val="7D6608"/>
                </a:solidFill>
                <a:latin typeface="Segoe UI"/>
              </a:rPr>
              <a:t>•	</a:t>
            </a:r>
            <a:r>
              <a:rPr sz="1800" b="0" i="0">
                <a:solidFill>
                  <a:srgbClr val="1C252B"/>
                </a:solidFill>
                <a:latin typeface="Segoe UI"/>
              </a:rPr>
              <a:t>Unit 2 (</a:t>
            </a:r>
            <a:r>
              <a:rPr sz="1800" b="0" i="1">
                <a:solidFill>
                  <a:srgbClr val="1C252B"/>
                </a:solidFill>
                <a:latin typeface="Cambria"/>
              </a:rPr>
              <a:t>h</a:t>
            </a:r>
            <a:r>
              <a:rPr sz="1800" b="0" i="0">
                <a:solidFill>
                  <a:srgbClr val="1C252B"/>
                </a:solidFill>
                <a:latin typeface="Cambria"/>
              </a:rPr>
              <a:t> = 0.5</a:t>
            </a:r>
            <a:r>
              <a:rPr sz="1800" b="0" i="0">
                <a:solidFill>
                  <a:srgbClr val="1C252B"/>
                </a:solidFill>
                <a:latin typeface="Segoe UI"/>
              </a:rPr>
              <a:t>, the BMU’s neighbour): </a:t>
            </a:r>
            <a:r>
              <a:rPr sz="1800" b="0" i="0">
                <a:solidFill>
                  <a:srgbClr val="1C252B"/>
                </a:solidFill>
                <a:latin typeface="Cambria"/>
              </a:rPr>
              <a:t>(0.5, 0.5) + 0.25 × (0.3, −0.2) = </a:t>
            </a:r>
            <a:r>
              <a:rPr sz="1800" b="1" i="0">
                <a:solidFill>
                  <a:srgbClr val="1C252B"/>
                </a:solidFill>
                <a:latin typeface="Cambria"/>
              </a:rPr>
              <a:t>(0.575, 0.45)</a:t>
            </a:r>
            <a:r>
              <a:rPr sz="1800" b="0" i="0">
                <a:solidFill>
                  <a:srgbClr val="1C252B"/>
                </a:solidFill>
                <a:latin typeface="Segoe UI"/>
              </a:rPr>
              <a:t>.</a:t>
            </a:r>
          </a:p>
          <a:p>
            <a:pPr algn="l" marL="201268" indent="-201268">
              <a:lnSpc>
                <a:spcPct val="104000"/>
              </a:lnSpc>
              <a:spcBef>
                <a:spcPts val="0"/>
              </a:spcBef>
              <a:spcAft>
                <a:spcPts val="0"/>
              </a:spcAft>
            </a:pPr>
            <a:r>
              <a:rPr sz="1800" b="1">
                <a:solidFill>
                  <a:srgbClr val="7D6608"/>
                </a:solidFill>
                <a:latin typeface="Segoe UI"/>
              </a:rPr>
              <a:t>•	</a:t>
            </a:r>
            <a:r>
              <a:rPr sz="1800" b="0" i="0">
                <a:solidFill>
                  <a:srgbClr val="1C252B"/>
                </a:solidFill>
                <a:latin typeface="Segoe UI"/>
              </a:rPr>
              <a:t>Unit 1 (</a:t>
            </a:r>
            <a:r>
              <a:rPr sz="1800" b="0" i="1">
                <a:solidFill>
                  <a:srgbClr val="1C252B"/>
                </a:solidFill>
                <a:latin typeface="Cambria"/>
              </a:rPr>
              <a:t>h</a:t>
            </a:r>
            <a:r>
              <a:rPr sz="1800" b="0" i="0">
                <a:solidFill>
                  <a:srgbClr val="1C252B"/>
                </a:solidFill>
                <a:latin typeface="Cambria"/>
              </a:rPr>
              <a:t> = 0</a:t>
            </a:r>
            <a:r>
              <a:rPr sz="1800" b="0" i="0">
                <a:solidFill>
                  <a:srgbClr val="1C252B"/>
                </a:solidFill>
                <a:latin typeface="Segoe UI"/>
              </a:rPr>
              <a:t>, two steps away on the map): unchanged.</a:t>
            </a:r>
          </a:p>
        </p:txBody>
      </p:sp>
      <p:sp>
        <p:nvSpPr>
          <p:cNvPr id="13" name="body-4"/>
          <p:cNvSpPr txBox="1"/>
          <p:nvPr/>
        </p:nvSpPr>
        <p:spPr>
          <a:xfrm>
            <a:off x="1042416" y="5242255"/>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Unit 2 moved towards </a:t>
            </a:r>
            <a:r>
              <a:rPr sz="1800" b="1" i="1">
                <a:solidFill>
                  <a:srgbClr val="1C252B"/>
                </a:solidFill>
                <a:latin typeface="Cambria"/>
              </a:rPr>
              <a:t>x</a:t>
            </a:r>
            <a:r>
              <a:rPr sz="1800" b="0" i="0">
                <a:solidFill>
                  <a:srgbClr val="1C252B"/>
                </a:solidFill>
                <a:latin typeface="Segoe UI"/>
              </a:rPr>
              <a:t> although it did not win — that is the cooperation. After many such steps, unit 3 represents inputs like </a:t>
            </a:r>
            <a:r>
              <a:rPr sz="1800" b="1" i="1">
                <a:solidFill>
                  <a:srgbClr val="1C252B"/>
                </a:solidFill>
                <a:latin typeface="Cambria"/>
              </a:rPr>
              <a:t>x</a:t>
            </a:r>
            <a:r>
              <a:rPr sz="1800" b="0" i="0">
                <a:solidFill>
                  <a:srgbClr val="1C252B"/>
                </a:solidFill>
                <a:latin typeface="Segoe UI"/>
              </a:rPr>
              <a:t>, and unit 2 inputs somewhere between unit 1’s and unit 3’s.</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548626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fade">
                                      <p:cBhvr>
                                        <p:cTn id="18" dur="35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Effect transition="in" filter="fade">
                                      <p:cBhvr>
                                        <p:cTn id="23" dur="350"/>
                                        <p:tgtEl>
                                          <p:spTgt spid="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xEl>
                                              <p:pRg st="2" end="2"/>
                                            </p:txEl>
                                          </p:spTgt>
                                        </p:tgtEl>
                                        <p:attrNameLst>
                                          <p:attrName>style.visibility</p:attrName>
                                        </p:attrNameLst>
                                      </p:cBhvr>
                                      <p:to>
                                        <p:strVal val="visible"/>
                                      </p:to>
                                    </p:set>
                                    <p:animEffect transition="in" filter="fade">
                                      <p:cBhvr>
                                        <p:cTn id="28" dur="350"/>
                                        <p:tgtEl>
                                          <p:spTgt spid="1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right)">
                                      <p:cBhvr>
                                        <p:cTn id="33"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a Trained Map</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EAE22A7A-7532-4E50-839A-1BB909842D52}"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38118"/>
          </a:xfrm>
          <a:prstGeom prst="roundRect">
            <a:avLst>
              <a:gd name="adj" fmla="val 258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3811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962046"/>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Each unit becomes a prototype for the examples that map to it, so a SOM is also a clustering (and with </a:t>
            </a:r>
            <a:r>
              <a:rPr sz="2300" b="0" i="0">
                <a:solidFill>
                  <a:srgbClr val="1C252B"/>
                </a:solidFill>
                <a:latin typeface="Cambria"/>
              </a:rPr>
              <a:t>σ → 0</a:t>
            </a:r>
            <a:r>
              <a:rPr sz="2300" b="0" i="0">
                <a:solidFill>
                  <a:srgbClr val="1C252B"/>
                </a:solidFill>
                <a:latin typeface="Segoe UI"/>
              </a:rPr>
              <a:t> it is exactly on-line </a:t>
            </a:r>
            <a:r>
              <a:rPr sz="2300" b="0" i="1">
                <a:solidFill>
                  <a:srgbClr val="1C252B"/>
                </a:solidFill>
                <a:latin typeface="Cambria"/>
              </a:rPr>
              <a:t>k</a:t>
            </a:r>
            <a:r>
              <a:rPr sz="2300" b="0" i="0">
                <a:solidFill>
                  <a:srgbClr val="1C252B"/>
                </a:solidFill>
                <a:latin typeface="Segoe UI"/>
              </a:rPr>
              <a:t>-means). Colour each unit by the class of the examples it attracts and the classes appear as regions — the lab’s six-by-six map of past projects puts maintenance work in one corner and the two similar kinds, new builds and integrations, next to each other elsewhere. The </a:t>
            </a:r>
            <a:r>
              <a:rPr sz="2300" b="1" i="0">
                <a:solidFill>
                  <a:srgbClr val="1A5276"/>
                </a:solidFill>
                <a:latin typeface="Segoe UI"/>
              </a:rPr>
              <a:t>U-matrix</a:t>
            </a:r>
            <a:r>
              <a:rPr sz="2300" b="0" i="0">
                <a:solidFill>
                  <a:srgbClr val="1C252B"/>
                </a:solidFill>
                <a:latin typeface="Segoe UI"/>
              </a:rPr>
              <a:t> colours each unit by the average distance to its neighbours’ weights: high values mark the borders between groups, so cluster boundaries become visible walls on the map.</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79105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Self-Organizing Maps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C2087091-9924-485D-9E92-83E8696085E4}" type="slidenum">
              <a:rPr lang="en-GB" sz="1000">
                <a:solidFill>
                  <a:srgbClr val="8795A1"/>
                </a:solidFill>
                <a:latin typeface="Segoe UI"/>
              </a:rPr>
              <a:t>20</a:t>
            </a:fld>
          </a:p>
        </p:txBody>
      </p:sp>
      <p:graphicFrame>
        <p:nvGraphicFramePr>
          <p:cNvPr id="7" name="!!table"/>
          <p:cNvGraphicFramePr>
            <a:graphicFrameLocks noGrp="1"/>
          </p:cNvGraphicFramePr>
          <p:nvPr/>
        </p:nvGraphicFramePr>
        <p:xfrm>
          <a:off x="658368" y="1737360"/>
          <a:ext cx="10874958" cy="2950464"/>
        </p:xfrm>
        <a:graphic>
          <a:graphicData uri="http://schemas.openxmlformats.org/drawingml/2006/table">
            <a:tbl>
              <a:tblPr firstRow="0" bandRow="0" firstCol="0" lastRow="0" lastCol="0" bandCol="0">
                <a:tableStyleId>{2D5ABB26-0587-4C30-8999-92F81FD0307C}</a:tableStyleId>
              </a:tblPr>
              <a:tblGrid>
                <a:gridCol w="2319991"/>
                <a:gridCol w="4204984"/>
                <a:gridCol w="4349983"/>
              </a:tblGrid>
              <a:tr h="405384">
                <a:tc>
                  <a:txBody>
                    <a:bodyPr wrap="square"/>
                    <a:lstStyle/>
                    <a:p>
                      <a:pPr algn="l"/>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PCA</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Self-organizing map</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Mapping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Linear projection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Non-linear; follows curved structure</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Solution</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Exact, unique (eigenvectors)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Iterative; depends on initialisation and schedule</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Output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1">
                          <a:solidFill>
                            <a:srgbClr val="1C252B"/>
                          </a:solidFill>
                          <a:latin typeface="Cambria"/>
                        </a:rPr>
                        <a:t>m</a:t>
                      </a:r>
                      <a:r>
                        <a:rPr sz="1700" b="0" i="0">
                          <a:solidFill>
                            <a:srgbClr val="1C252B"/>
                          </a:solidFill>
                          <a:latin typeface="Segoe UI"/>
                        </a:rPr>
                        <a:t> new numeric features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 position on a 2-D grid, plus prototypes</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Best for</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Compression, pre-processing, removing correlation</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Visual exploration, clustering, prototype-based summaries</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New examples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Project with the same components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Map to the BMU</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5C5A4B6C-FA76-49AD-9882-13C03835D108}"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Running PCA on unscaled features.</a:t>
            </a:r>
            <a:r>
              <a:rPr sz="2100" b="0" i="0">
                <a:solidFill>
                  <a:srgbClr val="1C252B"/>
                </a:solidFill>
                <a:latin typeface="Segoe UI"/>
              </a:rPr>
              <a:t> The component is then decided by units.</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Fitting PCA on all the data before splitting.</a:t>
            </a:r>
            <a:r>
              <a:rPr sz="2100" b="0" i="0">
                <a:solidFill>
                  <a:srgbClr val="1C252B"/>
                </a:solidFill>
                <a:latin typeface="Segoe UI"/>
              </a:rPr>
              <a:t> It is a fitted transformer: put it in the pipeline (Chapter 3).</a:t>
            </a:r>
          </a:p>
        </p:txBody>
      </p:sp>
      <p:sp>
        <p:nvSpPr>
          <p:cNvPr id="13" name="!!pb2">
            <a:extLst>
              <a:ext uri="{C183D7F6-B498-43B3-948B-1728B52AA6E4}">
                <adec:decorative xmlns:adec="http://schemas.microsoft.com/office/drawing/2017/decorative" val="1"/>
              </a:ext>
            </a:extLst>
          </p:cNvPr>
          <p:cNvSpPr/>
          <p:nvPr/>
        </p:nvSpPr>
        <p:spPr>
          <a:xfrm>
            <a:off x="658368" y="318942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1228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171139"/>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Assuming high variance means high relevance.</a:t>
            </a:r>
            <a:r>
              <a:rPr sz="2100" b="0" i="0">
                <a:solidFill>
                  <a:srgbClr val="1C252B"/>
                </a:solidFill>
                <a:latin typeface="Segoe UI"/>
              </a:rPr>
              <a:t> PCA does not look at the labels.</a:t>
            </a:r>
          </a:p>
        </p:txBody>
      </p:sp>
      <p:sp>
        <p:nvSpPr>
          <p:cNvPr id="16" name="!!pb3">
            <a:extLst>
              <a:ext uri="{C183D7F6-B498-43B3-948B-1728B52AA6E4}">
                <adec:decorative xmlns:adec="http://schemas.microsoft.com/office/drawing/2017/decorative" val="1"/>
              </a:ext>
            </a:extLst>
          </p:cNvPr>
          <p:cNvSpPr/>
          <p:nvPr/>
        </p:nvSpPr>
        <p:spPr>
          <a:xfrm>
            <a:off x="658368" y="37563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7792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38067"/>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Interpreting components as causes.</a:t>
            </a:r>
            <a:r>
              <a:rPr sz="2100" b="0" i="0">
                <a:solidFill>
                  <a:srgbClr val="1C252B"/>
                </a:solidFill>
                <a:latin typeface="Segoe UI"/>
              </a:rPr>
              <a:t> A component is a weighted mix of every feature; naming it takes care.</a:t>
            </a:r>
          </a:p>
        </p:txBody>
      </p:sp>
      <p:sp>
        <p:nvSpPr>
          <p:cNvPr id="19" name="!!pb4">
            <a:extLst>
              <a:ext uri="{C183D7F6-B498-43B3-948B-1728B52AA6E4}">
                <adec:decorative xmlns:adec="http://schemas.microsoft.com/office/drawing/2017/decorative" val="1"/>
              </a:ext>
            </a:extLst>
          </p:cNvPr>
          <p:cNvSpPr/>
          <p:nvPr/>
        </p:nvSpPr>
        <p:spPr>
          <a:xfrm>
            <a:off x="658368" y="462320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64606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04918"/>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Keeping the SOM neighbourhood wide to the end.</a:t>
            </a:r>
            <a:r>
              <a:rPr sz="2100" b="0" i="0">
                <a:solidFill>
                  <a:srgbClr val="1C252B"/>
                </a:solidFill>
                <a:latin typeface="Segoe UI"/>
              </a:rPr>
              <a:t> The map never fine-tunes; shrink </a:t>
            </a:r>
            <a:r>
              <a:rPr sz="2100" b="0" i="0">
                <a:solidFill>
                  <a:srgbClr val="1C252B"/>
                </a:solidFill>
                <a:latin typeface="Cambria"/>
              </a:rPr>
              <a:t>σ</a:t>
            </a:r>
            <a:r>
              <a:rPr sz="2100" b="0" i="0">
                <a:solidFill>
                  <a:srgbClr val="1C252B"/>
                </a:solidFill>
                <a:latin typeface="Segoe UI"/>
              </a:rPr>
              <a:t> and </a:t>
            </a:r>
            <a:r>
              <a:rPr sz="2100" b="0" i="0">
                <a:solidFill>
                  <a:srgbClr val="1C252B"/>
                </a:solidFill>
                <a:latin typeface="Cambria"/>
              </a:rPr>
              <a:t>η</a:t>
            </a:r>
            <a:r>
              <a:rPr sz="2100" b="0" i="0">
                <a:solidFill>
                  <a:srgbClr val="1C252B"/>
                </a:solidFill>
                <a:latin typeface="Segoe UI"/>
              </a:rPr>
              <a:t> over training.</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4006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PCA by Hand, PCA at Work, and a Map of Past Projects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66477C3C-6D7D-40F0-B3D5-B28187DB93DF}" type="slidenum">
              <a:rPr lang="en-GB" sz="1000">
                <a:solidFill>
                  <a:srgbClr val="8795A1"/>
                </a:solidFill>
                <a:latin typeface="Segoe UI"/>
              </a:rPr>
              <a:t>22</a:t>
            </a:fld>
          </a:p>
        </p:txBody>
      </p:sp>
      <p:sp>
        <p:nvSpPr>
          <p:cNvPr id="7" name="body-0"/>
          <p:cNvSpPr txBox="1"/>
          <p:nvPr/>
        </p:nvSpPr>
        <p:spPr>
          <a:xfrm>
            <a:off x="658368" y="1737360"/>
            <a:ext cx="1087495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Part 2 makes 1,000 projects whose forty weekly metrics are driven by four hidden factors (size, quality, churn, staffing) plus noise, and asks which finish late. Part 3 maps 150 projects of three kinds: maintenance, new builds and integrations, each described by four standardised features.</a:t>
            </a:r>
          </a:p>
        </p:txBody>
      </p:sp>
      <p:sp>
        <p:nvSpPr>
          <p:cNvPr id="8" name="!!labsteps-h"/>
          <p:cNvSpPr txBox="1"/>
          <p:nvPr/>
        </p:nvSpPr>
        <p:spPr>
          <a:xfrm>
            <a:off x="658368" y="29992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383280"/>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The worked example: PCA by eigen-decomposition</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40 dashboard metrics: how many components?</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A self-organizing map in twenty lines</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700" b="0" i="0">
                <a:solidFill>
                  <a:srgbClr val="1C252B"/>
                </a:solidFill>
                <a:latin typeface="Segoe UI"/>
              </a:rPr>
              <a:t>Week 13: k-means and a dendrogram; PCA and a SOM</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66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code/ch16_pca_hand_pca_work_map.py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70543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PCA by Hand, PCA at Work, and a Map of Past Projects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70543BFA-C7B2-4609-8319-E92C0F1AD676}"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432304"/>
          </a:xfrm>
          <a:prstGeom prst="roundRect">
            <a:avLst>
              <a:gd name="adj" fmla="val 375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code/ch16_pca_hand_pca_work_map.py</a:t>
            </a:r>
          </a:p>
        </p:txBody>
      </p:sp>
      <p:sp>
        <p:nvSpPr>
          <p:cNvPr id="14" name="!!code-text" descr="import numpy as np from sklearn.decomposition import PCA from sklearn.pipeline import make_pipeline from sklearn.preprocessing import StandardScaler from sklearn.linear_model import LogisticRegression from sklearn.model_selection import cross_val_score"/>
          <p:cNvSpPr txBox="1"/>
          <p:nvPr/>
        </p:nvSpPr>
        <p:spPr>
          <a:xfrm>
            <a:off x="1362456" y="2523744"/>
            <a:ext cx="9987991" cy="19385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decomposition</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PCA</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pipeline</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make_pipeline</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preprocessing</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StandardScaler</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linear_model</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LogisticRegression</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model_selection</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cross_val_score</a:t>
            </a:r>
          </a:p>
        </p:txBody>
      </p:sp>
      <p:sp>
        <p:nvSpPr>
          <p:cNvPr id="15" name="!!code-num"/>
          <p:cNvSpPr txBox="1"/>
          <p:nvPr/>
        </p:nvSpPr>
        <p:spPr>
          <a:xfrm>
            <a:off x="768096" y="2523744"/>
            <a:ext cx="393192" cy="19385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01022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PCA by Hand, PCA at Work, and a Map of Past Projects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77FB50FC-D15E-4029-A6F2-54C39C5A8741}"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worked example: PCA by eigen-decomposition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21024"/>
          </a:xfrm>
          <a:prstGeom prst="roundRect">
            <a:avLst>
              <a:gd name="adj" fmla="val 252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code/ch16_pca_hand_pca_work_map.py</a:t>
            </a:r>
          </a:p>
        </p:txBody>
      </p:sp>
      <p:sp>
        <p:nvSpPr>
          <p:cNvPr id="14" name="!!code-text" descr="# --- 1. the worked example: PCA by eigen-decomposition ------------------- X = np.array([[1, 2], [2, 1], [3, 3], [4, 5], [5, 4]], dtype=float) Xc = X - X.mean(axis=0) # centre S = np.cov(Xc, rowvar=False) # covariance, divides by n - 1 vals, vecs = np.linalg.eigh(S) # eigenvalues, ascending order = np.argsort(vals)[::-1] vals, vecs = vals[order], vecs[:, order] print(&quot;covariance:\n&quot;, S) print(&quot;eigenvalues:&quot;, vals, &quot; explained:&quot;, (vals / vals.sum()).round(3)) print(&quot;PC1 direction:&quot;, vecs[:, 0].round(3)) print(&quot;scores on PC1:&quot;, (Xc @ vecs[:, 0]).round(3))"/>
          <p:cNvSpPr txBox="1"/>
          <p:nvPr/>
        </p:nvSpPr>
        <p:spPr>
          <a:xfrm>
            <a:off x="1362456" y="2523744"/>
            <a:ext cx="9987991" cy="31272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the worked example: PCA by eigen-decomposition -------------------</a:t>
            </a:r>
          </a:p>
          <a:p>
            <a:pPr>
              <a:lnSpc>
                <a:spcPct val="100000"/>
              </a:lnSpc>
              <a:spcAft>
                <a:spcPts val="0"/>
              </a:spcAft>
            </a:pP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4</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dtype</a:t>
            </a:r>
            <a:r>
              <a:rPr sz="1800" i="0">
                <a:solidFill>
                  <a:srgbClr val="AEB6BF"/>
                </a:solidFill>
                <a:latin typeface="Consolas"/>
              </a:rPr>
              <a:t>=</a:t>
            </a:r>
            <a:r>
              <a:rPr sz="1800" i="0">
                <a:solidFill>
                  <a:srgbClr val="C39BD3"/>
                </a:solidFill>
                <a:latin typeface="Consolas"/>
              </a:rPr>
              <a:t>float</a:t>
            </a:r>
            <a:r>
              <a:rPr sz="1800" i="0">
                <a:solidFill>
                  <a:srgbClr val="AEB6BF"/>
                </a:solidFill>
                <a:latin typeface="Consolas"/>
              </a:rPr>
              <a:t>)</a:t>
            </a:r>
          </a:p>
          <a:p>
            <a:pPr>
              <a:lnSpc>
                <a:spcPct val="100000"/>
              </a:lnSpc>
              <a:spcAft>
                <a:spcPts val="0"/>
              </a:spcAft>
            </a:pPr>
            <a:r>
              <a:rPr sz="1800" i="0">
                <a:solidFill>
                  <a:srgbClr val="E8EDF2"/>
                </a:solidFill>
                <a:latin typeface="Consolas"/>
              </a:rPr>
              <a:t>Xc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E8EDF2"/>
                </a:solidFill>
                <a:latin typeface="Consolas"/>
              </a:rPr>
              <a:t>axis</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centre</a:t>
            </a:r>
          </a:p>
          <a:p>
            <a:pPr>
              <a:lnSpc>
                <a:spcPct val="100000"/>
              </a:lnSpc>
              <a:spcAft>
                <a:spcPts val="0"/>
              </a:spcAft>
            </a:pP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cov</a:t>
            </a:r>
            <a:r>
              <a:rPr sz="1800" i="0">
                <a:solidFill>
                  <a:srgbClr val="AEB6BF"/>
                </a:solidFill>
                <a:latin typeface="Consolas"/>
              </a:rPr>
              <a:t>(</a:t>
            </a:r>
            <a:r>
              <a:rPr sz="1800" i="0">
                <a:solidFill>
                  <a:srgbClr val="E8EDF2"/>
                </a:solidFill>
                <a:latin typeface="Consolas"/>
              </a:rPr>
              <a:t>Xc</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rowvar</a:t>
            </a:r>
            <a:r>
              <a:rPr sz="1800" i="0">
                <a:solidFill>
                  <a:srgbClr val="AEB6BF"/>
                </a:solidFill>
                <a:latin typeface="Consolas"/>
              </a:rPr>
              <a:t>=</a:t>
            </a:r>
            <a:r>
              <a:rPr sz="1800" i="0">
                <a:solidFill>
                  <a:srgbClr val="5DADE2"/>
                </a:solidFill>
                <a:latin typeface="Consolas"/>
              </a:rPr>
              <a:t>False</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covariance, divides by n - 1</a:t>
            </a:r>
          </a:p>
          <a:p>
            <a:pPr>
              <a:lnSpc>
                <a:spcPct val="100000"/>
              </a:lnSpc>
              <a:spcAft>
                <a:spcPts val="0"/>
              </a:spcAft>
            </a:pPr>
            <a:r>
              <a:rPr sz="1800" i="0">
                <a:solidFill>
                  <a:srgbClr val="E8EDF2"/>
                </a:solidFill>
                <a:latin typeface="Consolas"/>
              </a:rPr>
              <a:t>vals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vecs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linalg</a:t>
            </a:r>
            <a:r>
              <a:rPr sz="1800" i="0">
                <a:solidFill>
                  <a:srgbClr val="AEB6BF"/>
                </a:solidFill>
                <a:latin typeface="Consolas"/>
              </a:rPr>
              <a:t>.</a:t>
            </a:r>
            <a:r>
              <a:rPr sz="1800" i="0">
                <a:solidFill>
                  <a:srgbClr val="E8EDF2"/>
                </a:solidFill>
                <a:latin typeface="Consolas"/>
              </a:rPr>
              <a:t>eigh</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eigenvalues, ascending</a:t>
            </a:r>
          </a:p>
          <a:p>
            <a:pPr>
              <a:lnSpc>
                <a:spcPct val="100000"/>
              </a:lnSpc>
              <a:spcAft>
                <a:spcPts val="0"/>
              </a:spcAft>
            </a:pPr>
            <a:r>
              <a:rPr sz="1800" i="0">
                <a:solidFill>
                  <a:srgbClr val="E8EDF2"/>
                </a:solidFill>
                <a:latin typeface="Consolas"/>
              </a:rPr>
              <a:t>order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argsort</a:t>
            </a:r>
            <a:r>
              <a:rPr sz="1800" i="0">
                <a:solidFill>
                  <a:srgbClr val="AEB6BF"/>
                </a:solidFill>
                <a:latin typeface="Consolas"/>
              </a:rPr>
              <a:t>(</a:t>
            </a:r>
            <a:r>
              <a:rPr sz="1800" i="0">
                <a:solidFill>
                  <a:srgbClr val="E8EDF2"/>
                </a:solidFill>
                <a:latin typeface="Consolas"/>
              </a:rPr>
              <a:t>vals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p>
          <a:p>
            <a:pPr>
              <a:lnSpc>
                <a:spcPct val="100000"/>
              </a:lnSpc>
              <a:spcAft>
                <a:spcPts val="0"/>
              </a:spcAft>
            </a:pPr>
            <a:r>
              <a:rPr sz="1800" i="0">
                <a:solidFill>
                  <a:srgbClr val="E8EDF2"/>
                </a:solidFill>
                <a:latin typeface="Consolas"/>
              </a:rPr>
              <a:t>vals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vecs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vals</a:t>
            </a:r>
            <a:r>
              <a:rPr sz="1800" i="0">
                <a:solidFill>
                  <a:srgbClr val="AEB6BF"/>
                </a:solidFill>
                <a:latin typeface="Consolas"/>
              </a:rPr>
              <a:t>[</a:t>
            </a:r>
            <a:r>
              <a:rPr sz="1800" i="0">
                <a:solidFill>
                  <a:srgbClr val="E8EDF2"/>
                </a:solidFill>
                <a:latin typeface="Consolas"/>
              </a:rPr>
              <a:t>order</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vecs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order</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covariance:</a:t>
            </a:r>
            <a:r>
              <a:rPr sz="1800" i="0">
                <a:solidFill>
                  <a:srgbClr val="7DCEA0"/>
                </a:solidFill>
                <a:latin typeface="Consolas"/>
              </a:rPr>
              <a:t>\n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eigenvalues: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vals</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 explained: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vals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vals</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PC1 direction: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vecs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scores on PC1:</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Xc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vecs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31272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PCA by Hand, PCA at Work, and a Map of Past Projects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1CD874CA-1FB2-4A32-98BE-7A4B04F6A0DA}"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40 dashboard metrics: how many components?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code/ch16_pca_hand_pca_work_map.py</a:t>
            </a:r>
          </a:p>
        </p:txBody>
      </p:sp>
      <p:sp>
        <p:nvSpPr>
          <p:cNvPr id="14" name="!!code-text" descr="# --- 2. 40 dashboard metrics: how many components? ----------------------- rng = np.random.default_rng(16) n, d = 1000, 40 # projects, weekly metrics Z = rng.normal(size=(n, 4)) # hidden: size, quality, churn, staff A = rng.normal(size=(4, d)) # how each metric reflects them Xm = Z @ A + rng.normal(0, 1.0, (n, d)) # what the dashboard records ym = (Z[:, 0] - Z[:, 1] + 0.5 * Z[:, 2] + rng.normal(0, 0.5, n) &gt; 0) # late pca = PCA().fit(StandardScaler().fit_transform(Xm)) cum = np.cumsum(pca.explained_variance_ratio_) for target in (0.5, 0.8, 0.9, 0.95): print(f&quot;{target:.0%} of variance needs {np.argmax(cum &gt;= target) + 1} &quot; f&quot;of {d} components&quot;) for k in (1, 2, 4, 10, 40): pipe = make_pipeline(StandardScaler(), PCA(k), LogisticRegression()) acc = cross_val_score(pipe, Xm, ym, cv=5).mean() print(f&quot;logistic regression on {k:2d} components: accuracy {acc:.3f}&quot;)"/>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--- 2. 40 dashboard metrics: how many components? -----------------------</a:t>
            </a:r>
          </a:p>
          <a:p>
            <a:pPr>
              <a:lnSpc>
                <a:spcPct val="100000"/>
              </a:lnSpc>
              <a:spcAft>
                <a:spcPts val="0"/>
              </a:spcAft>
            </a:pPr>
            <a:r>
              <a:rPr sz="1400" i="0">
                <a:solidFill>
                  <a:srgbClr val="E8EDF2"/>
                </a:solidFill>
                <a:latin typeface="Consolas"/>
              </a:rPr>
              <a:t>rng</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random</a:t>
            </a:r>
            <a:r>
              <a:rPr sz="1400" i="0">
                <a:solidFill>
                  <a:srgbClr val="AEB6BF"/>
                </a:solidFill>
                <a:latin typeface="Consolas"/>
              </a:rPr>
              <a:t>.</a:t>
            </a:r>
            <a:r>
              <a:rPr sz="1400" i="0">
                <a:solidFill>
                  <a:srgbClr val="E8EDF2"/>
                </a:solidFill>
                <a:latin typeface="Consolas"/>
              </a:rPr>
              <a:t>default_rng</a:t>
            </a:r>
            <a:r>
              <a:rPr sz="1400" i="0">
                <a:solidFill>
                  <a:srgbClr val="AEB6BF"/>
                </a:solidFill>
                <a:latin typeface="Consolas"/>
              </a:rPr>
              <a:t>(</a:t>
            </a:r>
            <a:r>
              <a:rPr sz="1400" i="0">
                <a:solidFill>
                  <a:srgbClr val="F7DC6F"/>
                </a:solidFill>
                <a:latin typeface="Consolas"/>
              </a:rPr>
              <a:t>16</a:t>
            </a:r>
            <a:r>
              <a:rPr sz="1400" i="0">
                <a:solidFill>
                  <a:srgbClr val="AEB6BF"/>
                </a:solidFill>
                <a:latin typeface="Consolas"/>
              </a:rPr>
              <a:t>)</a:t>
            </a:r>
          </a:p>
          <a:p>
            <a:pPr>
              <a:lnSpc>
                <a:spcPct val="100000"/>
              </a:lnSpc>
              <a:spcAft>
                <a:spcPts val="0"/>
              </a:spcAft>
            </a:pPr>
            <a:r>
              <a:rPr sz="1400" i="0">
                <a:solidFill>
                  <a:srgbClr val="E8EDF2"/>
                </a:solidFill>
                <a:latin typeface="Consolas"/>
              </a:rPr>
              <a:t>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1000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40</a:t>
            </a:r>
            <a:r>
              <a:rPr sz="1400" i="0">
                <a:solidFill>
                  <a:srgbClr val="E8EDF2"/>
                </a:solidFill>
                <a:latin typeface="Consolas"/>
              </a:rPr>
              <a:t>                          </a:t>
            </a:r>
            <a:r>
              <a:rPr sz="1400" i="1">
                <a:solidFill>
                  <a:srgbClr val="8795A1"/>
                </a:solidFill>
                <a:latin typeface="Consolas"/>
              </a:rPr>
              <a:t># projects, weekly metrics</a:t>
            </a:r>
          </a:p>
          <a:p>
            <a:pPr>
              <a:lnSpc>
                <a:spcPct val="100000"/>
              </a:lnSpc>
              <a:spcAft>
                <a:spcPts val="0"/>
              </a:spcAft>
            </a:pPr>
            <a:r>
              <a:rPr sz="1400" i="0">
                <a:solidFill>
                  <a:srgbClr val="E8EDF2"/>
                </a:solidFill>
                <a:latin typeface="Consolas"/>
              </a:rPr>
              <a:t>Z</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rng</a:t>
            </a:r>
            <a:r>
              <a:rPr sz="1400" i="0">
                <a:solidFill>
                  <a:srgbClr val="AEB6BF"/>
                </a:solidFill>
                <a:latin typeface="Consolas"/>
              </a:rPr>
              <a:t>.</a:t>
            </a:r>
            <a:r>
              <a:rPr sz="1400" i="0">
                <a:solidFill>
                  <a:srgbClr val="E8EDF2"/>
                </a:solidFill>
                <a:latin typeface="Consolas"/>
              </a:rPr>
              <a:t>normal</a:t>
            </a:r>
            <a:r>
              <a:rPr sz="1400" i="0">
                <a:solidFill>
                  <a:srgbClr val="AEB6BF"/>
                </a:solidFill>
                <a:latin typeface="Consolas"/>
              </a:rPr>
              <a:t>(</a:t>
            </a:r>
            <a:r>
              <a:rPr sz="1400" i="0">
                <a:solidFill>
                  <a:srgbClr val="E8EDF2"/>
                </a:solidFill>
                <a:latin typeface="Consolas"/>
              </a:rPr>
              <a:t>size</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n</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4</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hidden: size, quality, churn, staff</a:t>
            </a:r>
          </a:p>
          <a:p>
            <a:pPr>
              <a:lnSpc>
                <a:spcPct val="100000"/>
              </a:lnSpc>
              <a:spcAft>
                <a:spcPts val="0"/>
              </a:spcAft>
            </a:pPr>
            <a:r>
              <a:rPr sz="1400" i="0">
                <a:solidFill>
                  <a:srgbClr val="E8EDF2"/>
                </a:solidFill>
                <a:latin typeface="Consolas"/>
              </a:rPr>
              <a:t>A</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rng</a:t>
            </a:r>
            <a:r>
              <a:rPr sz="1400" i="0">
                <a:solidFill>
                  <a:srgbClr val="AEB6BF"/>
                </a:solidFill>
                <a:latin typeface="Consolas"/>
              </a:rPr>
              <a:t>.</a:t>
            </a:r>
            <a:r>
              <a:rPr sz="1400" i="0">
                <a:solidFill>
                  <a:srgbClr val="E8EDF2"/>
                </a:solidFill>
                <a:latin typeface="Consolas"/>
              </a:rPr>
              <a:t>normal</a:t>
            </a:r>
            <a:r>
              <a:rPr sz="1400" i="0">
                <a:solidFill>
                  <a:srgbClr val="AEB6BF"/>
                </a:solidFill>
                <a:latin typeface="Consolas"/>
              </a:rPr>
              <a:t>(</a:t>
            </a:r>
            <a:r>
              <a:rPr sz="1400" i="0">
                <a:solidFill>
                  <a:srgbClr val="E8EDF2"/>
                </a:solidFill>
                <a:latin typeface="Consolas"/>
              </a:rPr>
              <a:t>size</a:t>
            </a:r>
            <a:r>
              <a:rPr sz="1400" i="0">
                <a:solidFill>
                  <a:srgbClr val="AEB6BF"/>
                </a:solidFill>
                <a:latin typeface="Consolas"/>
              </a:rPr>
              <a:t>=</a:t>
            </a:r>
            <a:r>
              <a:rPr sz="1400" i="0">
                <a:solidFill>
                  <a:srgbClr val="AEB6BF"/>
                </a:solidFill>
                <a:latin typeface="Consolas"/>
              </a:rPr>
              <a:t>(</a:t>
            </a:r>
            <a:r>
              <a:rPr sz="1400" i="0">
                <a:solidFill>
                  <a:srgbClr val="F7DC6F"/>
                </a:solidFill>
                <a:latin typeface="Consolas"/>
              </a:rPr>
              <a:t>4</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how each metric reflects them</a:t>
            </a:r>
          </a:p>
          <a:p>
            <a:pPr>
              <a:lnSpc>
                <a:spcPct val="100000"/>
              </a:lnSpc>
              <a:spcAft>
                <a:spcPts val="0"/>
              </a:spcAft>
            </a:pPr>
            <a:r>
              <a:rPr sz="1400" i="0">
                <a:solidFill>
                  <a:srgbClr val="E8EDF2"/>
                </a:solidFill>
                <a:latin typeface="Consolas"/>
              </a:rPr>
              <a:t>Xm</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Z</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rng</a:t>
            </a:r>
            <a:r>
              <a:rPr sz="1400" i="0">
                <a:solidFill>
                  <a:srgbClr val="AEB6BF"/>
                </a:solidFill>
                <a:latin typeface="Consolas"/>
              </a:rPr>
              <a:t>.</a:t>
            </a:r>
            <a:r>
              <a:rPr sz="1400" i="0">
                <a:solidFill>
                  <a:srgbClr val="E8EDF2"/>
                </a:solidFill>
                <a:latin typeface="Consolas"/>
              </a:rPr>
              <a:t>normal</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1.0</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what the dashboard records</a:t>
            </a:r>
          </a:p>
          <a:p>
            <a:pPr>
              <a:lnSpc>
                <a:spcPct val="100000"/>
              </a:lnSpc>
              <a:spcAft>
                <a:spcPts val="0"/>
              </a:spcAft>
            </a:pPr>
            <a:r>
              <a:rPr sz="1400" i="0">
                <a:solidFill>
                  <a:srgbClr val="E8EDF2"/>
                </a:solidFill>
                <a:latin typeface="Consolas"/>
              </a:rPr>
              <a:t>ym</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Z</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Z</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0.5</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Z</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rng</a:t>
            </a:r>
            <a:r>
              <a:rPr sz="1400" i="0">
                <a:solidFill>
                  <a:srgbClr val="AEB6BF"/>
                </a:solidFill>
                <a:latin typeface="Consolas"/>
              </a:rPr>
              <a:t>.</a:t>
            </a:r>
            <a:r>
              <a:rPr sz="1400" i="0">
                <a:solidFill>
                  <a:srgbClr val="E8EDF2"/>
                </a:solidFill>
                <a:latin typeface="Consolas"/>
              </a:rPr>
              <a:t>normal</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0.5</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&gt;</a:t>
            </a:r>
            <a:r>
              <a:rPr sz="1400" i="0">
                <a:solidFill>
                  <a:srgbClr val="E8EDF2"/>
                </a:solidFill>
                <a:latin typeface="Consolas"/>
              </a:rPr>
              <a:t> </a:t>
            </a:r>
            <a:r>
              <a:rPr sz="1400" i="0">
                <a:solidFill>
                  <a:srgbClr val="F7DC6F"/>
                </a:solidFill>
                <a:latin typeface="Consolas"/>
              </a:rPr>
              <a:t>0</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late</a:t>
            </a:r>
          </a:p>
          <a:p>
            <a:pPr>
              <a:lnSpc>
                <a:spcPct val="100000"/>
              </a:lnSpc>
              <a:spcAft>
                <a:spcPts val="0"/>
              </a:spcAft>
            </a:pPr>
            <a:r>
              <a:rPr sz="1400" i="0">
                <a:solidFill>
                  <a:srgbClr val="E8EDF2"/>
                </a:solidFill>
                <a:latin typeface="Consolas"/>
              </a:rPr>
              <a:t>pca</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PCA</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fit</a:t>
            </a:r>
            <a:r>
              <a:rPr sz="1400" i="0">
                <a:solidFill>
                  <a:srgbClr val="AEB6BF"/>
                </a:solidFill>
                <a:latin typeface="Consolas"/>
              </a:rPr>
              <a:t>(</a:t>
            </a:r>
            <a:r>
              <a:rPr sz="1400" i="0">
                <a:solidFill>
                  <a:srgbClr val="E8EDF2"/>
                </a:solidFill>
                <a:latin typeface="Consolas"/>
              </a:rPr>
              <a:t>StandardScaler</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fit_transform</a:t>
            </a:r>
            <a:r>
              <a:rPr sz="1400" i="0">
                <a:solidFill>
                  <a:srgbClr val="AEB6BF"/>
                </a:solidFill>
                <a:latin typeface="Consolas"/>
              </a:rPr>
              <a:t>(</a:t>
            </a:r>
            <a:r>
              <a:rPr sz="1400" i="0">
                <a:solidFill>
                  <a:srgbClr val="E8EDF2"/>
                </a:solidFill>
                <a:latin typeface="Consolas"/>
              </a:rPr>
              <a:t>Xm</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cum</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cumsum</a:t>
            </a:r>
            <a:r>
              <a:rPr sz="1400" i="0">
                <a:solidFill>
                  <a:srgbClr val="AEB6BF"/>
                </a:solidFill>
                <a:latin typeface="Consolas"/>
              </a:rPr>
              <a:t>(</a:t>
            </a:r>
            <a:r>
              <a:rPr sz="1400" i="0">
                <a:solidFill>
                  <a:srgbClr val="E8EDF2"/>
                </a:solidFill>
                <a:latin typeface="Consolas"/>
              </a:rPr>
              <a:t>pca</a:t>
            </a:r>
            <a:r>
              <a:rPr sz="1400" i="0">
                <a:solidFill>
                  <a:srgbClr val="AEB6BF"/>
                </a:solidFill>
                <a:latin typeface="Consolas"/>
              </a:rPr>
              <a:t>.</a:t>
            </a:r>
            <a:r>
              <a:rPr sz="1400" i="0">
                <a:solidFill>
                  <a:srgbClr val="E8EDF2"/>
                </a:solidFill>
                <a:latin typeface="Consolas"/>
              </a:rPr>
              <a:t>explained_variance_ratio_</a:t>
            </a:r>
            <a:r>
              <a:rPr sz="1400" i="0">
                <a:solidFill>
                  <a:srgbClr val="AEB6BF"/>
                </a:solidFill>
                <a:latin typeface="Consolas"/>
              </a:rPr>
              <a:t>)</a:t>
            </a:r>
          </a:p>
          <a:p>
            <a:pPr>
              <a:lnSpc>
                <a:spcPct val="100000"/>
              </a:lnSpc>
              <a:spcAft>
                <a:spcPts val="0"/>
              </a:spcAft>
            </a:pP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target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0.5</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0.8</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0.9</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0.95</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f</a:t>
            </a:r>
            <a:r>
              <a:rPr sz="1400" i="0">
                <a:solidFill>
                  <a:srgbClr val="7DCEA0"/>
                </a:solidFill>
                <a:latin typeface="Consolas"/>
              </a:rPr>
              <a:t>"</a:t>
            </a:r>
            <a:r>
              <a:rPr sz="1400" i="0">
                <a:solidFill>
                  <a:srgbClr val="7DCEA0"/>
                </a:solidFill>
                <a:latin typeface="Consolas"/>
              </a:rPr>
              <a:t>{</a:t>
            </a:r>
            <a:r>
              <a:rPr sz="1400" i="0">
                <a:solidFill>
                  <a:srgbClr val="E8EDF2"/>
                </a:solidFill>
                <a:latin typeface="Consolas"/>
              </a:rPr>
              <a:t>target</a:t>
            </a:r>
            <a:r>
              <a:rPr sz="1400" i="0">
                <a:solidFill>
                  <a:srgbClr val="7DCEA0"/>
                </a:solidFill>
                <a:latin typeface="Consolas"/>
              </a:rPr>
              <a:t>:</a:t>
            </a:r>
            <a:r>
              <a:rPr sz="1400" i="0">
                <a:solidFill>
                  <a:srgbClr val="7DCEA0"/>
                </a:solidFill>
                <a:latin typeface="Consolas"/>
              </a:rPr>
              <a:t>.0%</a:t>
            </a:r>
            <a:r>
              <a:rPr sz="1400" i="0">
                <a:solidFill>
                  <a:srgbClr val="7DCEA0"/>
                </a:solidFill>
                <a:latin typeface="Consolas"/>
              </a:rPr>
              <a:t>}</a:t>
            </a:r>
            <a:r>
              <a:rPr sz="1400" i="0">
                <a:solidFill>
                  <a:srgbClr val="7DCEA0"/>
                </a:solidFill>
                <a:latin typeface="Consolas"/>
              </a:rPr>
              <a:t> of variance needs </a:t>
            </a:r>
            <a:r>
              <a:rPr sz="1400" i="0">
                <a:solidFill>
                  <a:srgbClr val="7DCEA0"/>
                </a:solidFill>
                <a:latin typeface="Consolas"/>
              </a:rPr>
              <a:t>{</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argmax</a:t>
            </a:r>
            <a:r>
              <a:rPr sz="1400" i="0">
                <a:solidFill>
                  <a:srgbClr val="AEB6BF"/>
                </a:solidFill>
                <a:latin typeface="Consolas"/>
              </a:rPr>
              <a:t>(</a:t>
            </a:r>
            <a:r>
              <a:rPr sz="1400" i="0">
                <a:solidFill>
                  <a:srgbClr val="E8EDF2"/>
                </a:solidFill>
                <a:latin typeface="Consolas"/>
              </a:rPr>
              <a:t>cum</a:t>
            </a:r>
            <a:r>
              <a:rPr sz="1400" i="0">
                <a:solidFill>
                  <a:srgbClr val="E8EDF2"/>
                </a:solidFill>
                <a:latin typeface="Consolas"/>
              </a:rPr>
              <a:t> </a:t>
            </a:r>
            <a:r>
              <a:rPr sz="1400" i="0">
                <a:solidFill>
                  <a:srgbClr val="AEB6BF"/>
                </a:solidFill>
                <a:latin typeface="Consolas"/>
              </a:rPr>
              <a:t>&gt;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target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7DCEA0"/>
                </a:solidFill>
                <a:latin typeface="Consolas"/>
              </a:rPr>
              <a:t>}</a:t>
            </a:r>
            <a:r>
              <a:rPr sz="1400" i="0">
                <a:solidFill>
                  <a:srgbClr val="7DCEA0"/>
                </a:solidFill>
                <a:latin typeface="Consolas"/>
              </a:rPr>
              <a:t> </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f</a:t>
            </a:r>
            <a:r>
              <a:rPr sz="1400" i="0">
                <a:solidFill>
                  <a:srgbClr val="7DCEA0"/>
                </a:solidFill>
                <a:latin typeface="Consolas"/>
              </a:rPr>
              <a:t>"</a:t>
            </a:r>
            <a:r>
              <a:rPr sz="1400" i="0">
                <a:solidFill>
                  <a:srgbClr val="7DCEA0"/>
                </a:solidFill>
                <a:latin typeface="Consolas"/>
              </a:rPr>
              <a:t>of </a:t>
            </a:r>
            <a:r>
              <a:rPr sz="1400" i="0">
                <a:solidFill>
                  <a:srgbClr val="7DCEA0"/>
                </a:solidFill>
                <a:latin typeface="Consolas"/>
              </a:rPr>
              <a:t>{</a:t>
            </a:r>
            <a:r>
              <a:rPr sz="1400" i="0">
                <a:solidFill>
                  <a:srgbClr val="E8EDF2"/>
                </a:solidFill>
                <a:latin typeface="Consolas"/>
              </a:rPr>
              <a:t>d</a:t>
            </a:r>
            <a:r>
              <a:rPr sz="1400" i="0">
                <a:solidFill>
                  <a:srgbClr val="7DCEA0"/>
                </a:solidFill>
                <a:latin typeface="Consolas"/>
              </a:rPr>
              <a:t>}</a:t>
            </a:r>
            <a:r>
              <a:rPr sz="1400" i="0">
                <a:solidFill>
                  <a:srgbClr val="7DCEA0"/>
                </a:solidFill>
                <a:latin typeface="Consolas"/>
              </a:rPr>
              <a:t> components</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4</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40</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pipe</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make_pipeline</a:t>
            </a:r>
            <a:r>
              <a:rPr sz="1400" i="0">
                <a:solidFill>
                  <a:srgbClr val="AEB6BF"/>
                </a:solidFill>
                <a:latin typeface="Consolas"/>
              </a:rPr>
              <a:t>(</a:t>
            </a:r>
            <a:r>
              <a:rPr sz="1400" i="0">
                <a:solidFill>
                  <a:srgbClr val="E8EDF2"/>
                </a:solidFill>
                <a:latin typeface="Consolas"/>
              </a:rPr>
              <a:t>StandardScaler</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PCA</a:t>
            </a:r>
            <a:r>
              <a:rPr sz="1400" i="0">
                <a:solidFill>
                  <a:srgbClr val="AEB6BF"/>
                </a:solidFill>
                <a:latin typeface="Consolas"/>
              </a:rPr>
              <a:t>(</a:t>
            </a:r>
            <a:r>
              <a:rPr sz="1400" i="0">
                <a:solidFill>
                  <a:srgbClr val="E8EDF2"/>
                </a:solidFill>
                <a:latin typeface="Consolas"/>
              </a:rPr>
              <a:t>k</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LogisticRegression</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acc</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cross_val_score</a:t>
            </a:r>
            <a:r>
              <a:rPr sz="1400" i="0">
                <a:solidFill>
                  <a:srgbClr val="AEB6BF"/>
                </a:solidFill>
                <a:latin typeface="Consolas"/>
              </a:rPr>
              <a:t>(</a:t>
            </a:r>
            <a:r>
              <a:rPr sz="1400" i="0">
                <a:solidFill>
                  <a:srgbClr val="E8EDF2"/>
                </a:solidFill>
                <a:latin typeface="Consolas"/>
              </a:rPr>
              <a:t>pipe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Xm</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ym</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cv</a:t>
            </a:r>
            <a:r>
              <a:rPr sz="1400" i="0">
                <a:solidFill>
                  <a:srgbClr val="AEB6BF"/>
                </a:solidFill>
                <a:latin typeface="Consolas"/>
              </a:rPr>
              <a:t>=</a:t>
            </a:r>
            <a:r>
              <a:rPr sz="1400" i="0">
                <a:solidFill>
                  <a:srgbClr val="F7DC6F"/>
                </a:solidFill>
                <a:latin typeface="Consolas"/>
              </a:rPr>
              <a:t>5</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mean</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f</a:t>
            </a:r>
            <a:r>
              <a:rPr sz="1400" i="0">
                <a:solidFill>
                  <a:srgbClr val="7DCEA0"/>
                </a:solidFill>
                <a:latin typeface="Consolas"/>
              </a:rPr>
              <a:t>"</a:t>
            </a:r>
            <a:r>
              <a:rPr sz="1400" i="0">
                <a:solidFill>
                  <a:srgbClr val="7DCEA0"/>
                </a:solidFill>
                <a:latin typeface="Consolas"/>
              </a:rPr>
              <a:t>logistic regression on </a:t>
            </a:r>
            <a:r>
              <a:rPr sz="1400" i="0">
                <a:solidFill>
                  <a:srgbClr val="7DCEA0"/>
                </a:solidFill>
                <a:latin typeface="Consolas"/>
              </a:rPr>
              <a:t>{</a:t>
            </a:r>
            <a:r>
              <a:rPr sz="1400" i="0">
                <a:solidFill>
                  <a:srgbClr val="E8EDF2"/>
                </a:solidFill>
                <a:latin typeface="Consolas"/>
              </a:rPr>
              <a:t>k</a:t>
            </a:r>
            <a:r>
              <a:rPr sz="1400" i="0">
                <a:solidFill>
                  <a:srgbClr val="7DCEA0"/>
                </a:solidFill>
                <a:latin typeface="Consolas"/>
              </a:rPr>
              <a:t>:</a:t>
            </a:r>
            <a:r>
              <a:rPr sz="1400" i="0">
                <a:solidFill>
                  <a:srgbClr val="7DCEA0"/>
                </a:solidFill>
                <a:latin typeface="Consolas"/>
              </a:rPr>
              <a:t>2d</a:t>
            </a:r>
            <a:r>
              <a:rPr sz="1400" i="0">
                <a:solidFill>
                  <a:srgbClr val="7DCEA0"/>
                </a:solidFill>
                <a:latin typeface="Consolas"/>
              </a:rPr>
              <a:t>}</a:t>
            </a:r>
            <a:r>
              <a:rPr sz="1400" i="0">
                <a:solidFill>
                  <a:srgbClr val="7DCEA0"/>
                </a:solidFill>
                <a:latin typeface="Consolas"/>
              </a:rPr>
              <a:t> components: accuracy </a:t>
            </a:r>
            <a:r>
              <a:rPr sz="1400" i="0">
                <a:solidFill>
                  <a:srgbClr val="7DCEA0"/>
                </a:solidFill>
                <a:latin typeface="Consolas"/>
              </a:rPr>
              <a:t>{</a:t>
            </a:r>
            <a:r>
              <a:rPr sz="1400" i="0">
                <a:solidFill>
                  <a:srgbClr val="E8EDF2"/>
                </a:solidFill>
                <a:latin typeface="Consolas"/>
              </a:rPr>
              <a:t>acc</a:t>
            </a:r>
            <a:r>
              <a:rPr sz="1400" i="0">
                <a:solidFill>
                  <a:srgbClr val="7DCEA0"/>
                </a:solidFill>
                <a:latin typeface="Consolas"/>
              </a:rPr>
              <a:t>:</a:t>
            </a:r>
            <a:r>
              <a:rPr sz="1400" i="0">
                <a:solidFill>
                  <a:srgbClr val="7DCEA0"/>
                </a:solidFill>
                <a:latin typeface="Consolas"/>
              </a:rPr>
              <a:t>.3f</a:t>
            </a:r>
            <a:r>
              <a:rPr sz="1400" i="0">
                <a:solidFill>
                  <a:srgbClr val="7DCEA0"/>
                </a:solidFill>
                <a:latin typeface="Consolas"/>
              </a:rPr>
              <a:t>}</a:t>
            </a:r>
            <a:r>
              <a:rPr sz="1400" i="0">
                <a:solidFill>
                  <a:srgbClr val="7DCEA0"/>
                </a:solidFill>
                <a:latin typeface="Consolas"/>
              </a:rPr>
              <a:t>"</a:t>
            </a:r>
            <a:r>
              <a:rPr sz="14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21</a:t>
            </a:r>
          </a:p>
          <a:p>
            <a:pPr algn="r">
              <a:lnSpc>
                <a:spcPct val="100000"/>
              </a:lnSpc>
            </a:pPr>
            <a:r>
              <a:rPr sz="1400">
                <a:solidFill>
                  <a:srgbClr val="4F5D6A"/>
                </a:solidFill>
                <a:latin typeface="Consolas"/>
              </a:rPr>
              <a:t>22</a:t>
            </a:r>
          </a:p>
          <a:p>
            <a:pPr algn="r">
              <a:lnSpc>
                <a:spcPct val="100000"/>
              </a:lnSpc>
            </a:pPr>
            <a:r>
              <a:rPr sz="1400">
                <a:solidFill>
                  <a:srgbClr val="4F5D6A"/>
                </a:solidFill>
                <a:latin typeface="Consolas"/>
              </a:rPr>
              <a:t>23</a:t>
            </a:r>
          </a:p>
          <a:p>
            <a:pPr algn="r">
              <a:lnSpc>
                <a:spcPct val="100000"/>
              </a:lnSpc>
            </a:pPr>
            <a:r>
              <a:rPr sz="1400">
                <a:solidFill>
                  <a:srgbClr val="4F5D6A"/>
                </a:solidFill>
                <a:latin typeface="Consolas"/>
              </a:rPr>
              <a:t>24</a:t>
            </a:r>
          </a:p>
          <a:p>
            <a:pPr algn="r">
              <a:lnSpc>
                <a:spcPct val="100000"/>
              </a:lnSpc>
            </a:pPr>
            <a:r>
              <a:rPr sz="1400">
                <a:solidFill>
                  <a:srgbClr val="4F5D6A"/>
                </a:solidFill>
                <a:latin typeface="Consolas"/>
              </a:rPr>
              <a:t>25</a:t>
            </a:r>
          </a:p>
          <a:p>
            <a:pPr algn="r">
              <a:lnSpc>
                <a:spcPct val="100000"/>
              </a:lnSpc>
            </a:pPr>
            <a:r>
              <a:rPr sz="1400">
                <a:solidFill>
                  <a:srgbClr val="4F5D6A"/>
                </a:solidFill>
                <a:latin typeface="Consolas"/>
              </a:rPr>
              <a:t>26</a:t>
            </a:r>
          </a:p>
          <a:p>
            <a:pPr algn="r">
              <a:lnSpc>
                <a:spcPct val="100000"/>
              </a:lnSpc>
            </a:pPr>
            <a:r>
              <a:rPr sz="1400">
                <a:solidFill>
                  <a:srgbClr val="4F5D6A"/>
                </a:solidFill>
                <a:latin typeface="Consolas"/>
              </a:rPr>
              <a:t>27</a:t>
            </a:r>
          </a:p>
          <a:p>
            <a:pPr algn="r">
              <a:lnSpc>
                <a:spcPct val="100000"/>
              </a:lnSpc>
            </a:pPr>
            <a:r>
              <a:rPr sz="1400">
                <a:solidFill>
                  <a:srgbClr val="4F5D6A"/>
                </a:solidFill>
                <a:latin typeface="Consolas"/>
              </a:rPr>
              <a:t>28</a:t>
            </a:r>
          </a:p>
          <a:p>
            <a:pPr algn="r">
              <a:lnSpc>
                <a:spcPct val="100000"/>
              </a:lnSpc>
            </a:pPr>
            <a:r>
              <a:rPr sz="1400">
                <a:solidFill>
                  <a:srgbClr val="4F5D6A"/>
                </a:solidFill>
                <a:latin typeface="Consolas"/>
              </a:rPr>
              <a:t>29</a:t>
            </a:r>
          </a:p>
          <a:p>
            <a:pPr algn="r">
              <a:lnSpc>
                <a:spcPct val="100000"/>
              </a:lnSpc>
            </a:pPr>
            <a:r>
              <a:rPr sz="1400">
                <a:solidFill>
                  <a:srgbClr val="4F5D6A"/>
                </a:solidFill>
                <a:latin typeface="Consolas"/>
              </a:rPr>
              <a:t>30</a:t>
            </a:r>
          </a:p>
          <a:p>
            <a:pPr algn="r">
              <a:lnSpc>
                <a:spcPct val="100000"/>
              </a:lnSpc>
            </a:pPr>
            <a:r>
              <a:rPr sz="1400">
                <a:solidFill>
                  <a:srgbClr val="4F5D6A"/>
                </a:solidFill>
                <a:latin typeface="Consolas"/>
              </a:rPr>
              <a:t>31</a:t>
            </a:r>
          </a:p>
          <a:p>
            <a:pPr algn="r">
              <a:lnSpc>
                <a:spcPct val="100000"/>
              </a:lnSpc>
            </a:pPr>
            <a:r>
              <a:rPr sz="1400">
                <a:solidFill>
                  <a:srgbClr val="4F5D6A"/>
                </a:solidFill>
                <a:latin typeface="Consolas"/>
              </a:rPr>
              <a:t>32</a:t>
            </a:r>
          </a:p>
          <a:p>
            <a:pPr algn="r">
              <a:lnSpc>
                <a:spcPct val="100000"/>
              </a:lnSpc>
            </a:pPr>
            <a:r>
              <a:rPr sz="1400">
                <a:solidFill>
                  <a:srgbClr val="4F5D6A"/>
                </a:solidFill>
                <a:latin typeface="Consolas"/>
              </a:rPr>
              <a:t>33</a:t>
            </a:r>
          </a:p>
          <a:p>
            <a:pPr algn="r">
              <a:lnSpc>
                <a:spcPct val="100000"/>
              </a:lnSpc>
            </a:pPr>
            <a:r>
              <a:rPr sz="1400">
                <a:solidFill>
                  <a:srgbClr val="4F5D6A"/>
                </a:solidFill>
                <a:latin typeface="Consolas"/>
              </a:rPr>
              <a:t>34</a:t>
            </a:r>
          </a:p>
          <a:p>
            <a:pPr algn="r">
              <a:lnSpc>
                <a:spcPct val="100000"/>
              </a:lnSpc>
            </a:pPr>
            <a:r>
              <a:rPr sz="1400">
                <a:solidFill>
                  <a:srgbClr val="4F5D6A"/>
                </a:solidFill>
                <a:latin typeface="Consolas"/>
              </a:rPr>
              <a:t>35</a:t>
            </a:r>
          </a:p>
          <a:p>
            <a:pPr algn="r">
              <a:lnSpc>
                <a:spcPct val="100000"/>
              </a:lnSpc>
            </a:pPr>
            <a:r>
              <a:rPr sz="1400">
                <a:solidFill>
                  <a:srgbClr val="4F5D6A"/>
                </a:solidFill>
                <a:latin typeface="Consolas"/>
              </a:rPr>
              <a:t>36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1980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PCA by Hand, PCA at Work, and a Map of Past Projects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866EFE54-4717-4EB8-8D12-A7101A499048}"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self-organizing map in twenty lines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code/ch16_pca_hand_pca_work_map.py</a:t>
            </a:r>
          </a:p>
        </p:txBody>
      </p:sp>
      <p:sp>
        <p:nvSpPr>
          <p:cNvPr id="14" name="!!code-text" descr="# --- 3. a self-organizing map in twenty lines ---------------------------- rng = np.random.default_rng(16) kinds = np.repeat([0, 1, 2], 50) # maintenance, build, integration centre = np.array([[-1.5, -1.2, -1.5, -0.5], # small, short, little new [0.8, 0.9, 1.2, 0.2], # new build [0.8, 0.6, 0.3, 1.0]]) # many integrations Xi = centre[kinds] + rng.normal(0, 0.45, (150, 4)) Xi = StandardScaler().fit_transform(Xi) rows, cols = 6, 6 grid = np.array([(r, c) for r in range(rows) for c in range(cols)]) rng = np.random.default_rng(0) W = rng.normal(0, 0.5, (rows * cols, Xi.shape[1])) steps = 3000"/>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a self-organizing map in twenty lines ----------------------------</a:t>
            </a:r>
          </a:p>
          <a:p>
            <a:pPr>
              <a:lnSpc>
                <a:spcPct val="100000"/>
              </a:lnSpc>
              <a:spcAft>
                <a:spcPts val="0"/>
              </a:spcAft>
            </a:pPr>
            <a:r>
              <a:rPr sz="1800" i="0">
                <a:solidFill>
                  <a:srgbClr val="E8EDF2"/>
                </a:solidFill>
                <a:latin typeface="Consolas"/>
              </a:rPr>
              <a:t>rng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E8EDF2"/>
                </a:solidFill>
                <a:latin typeface="Consolas"/>
              </a:rPr>
              <a:t>default_rng</a:t>
            </a:r>
            <a:r>
              <a:rPr sz="1800" i="0">
                <a:solidFill>
                  <a:srgbClr val="AEB6BF"/>
                </a:solidFill>
                <a:latin typeface="Consolas"/>
              </a:rPr>
              <a:t>(</a:t>
            </a:r>
            <a:r>
              <a:rPr sz="1800" i="0">
                <a:solidFill>
                  <a:srgbClr val="F7DC6F"/>
                </a:solidFill>
                <a:latin typeface="Consolas"/>
              </a:rPr>
              <a:t>16</a:t>
            </a:r>
            <a:r>
              <a:rPr sz="1800" i="0">
                <a:solidFill>
                  <a:srgbClr val="AEB6BF"/>
                </a:solidFill>
                <a:latin typeface="Consolas"/>
              </a:rPr>
              <a:t>)</a:t>
            </a:r>
          </a:p>
          <a:p>
            <a:pPr>
              <a:lnSpc>
                <a:spcPct val="100000"/>
              </a:lnSpc>
              <a:spcAft>
                <a:spcPts val="0"/>
              </a:spcAft>
            </a:pPr>
            <a:r>
              <a:rPr sz="1800" i="0">
                <a:solidFill>
                  <a:srgbClr val="E8EDF2"/>
                </a:solidFill>
                <a:latin typeface="Consolas"/>
              </a:rPr>
              <a:t>kinds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repeat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50</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maintenance, build, integration</a:t>
            </a:r>
          </a:p>
          <a:p>
            <a:pPr>
              <a:lnSpc>
                <a:spcPct val="100000"/>
              </a:lnSpc>
              <a:spcAft>
                <a:spcPts val="0"/>
              </a:spcAft>
            </a:pPr>
            <a:r>
              <a:rPr sz="1800" i="0">
                <a:solidFill>
                  <a:srgbClr val="E8EDF2"/>
                </a:solidFill>
                <a:latin typeface="Consolas"/>
              </a:rPr>
              <a:t>centre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1.5</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1.2</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1.5</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small, short, little new</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0.8</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0.9</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1.2</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new build</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0.8</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0.6</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many integrations</a:t>
            </a:r>
          </a:p>
          <a:p>
            <a:pPr>
              <a:lnSpc>
                <a:spcPct val="100000"/>
              </a:lnSpc>
              <a:spcAft>
                <a:spcPts val="0"/>
              </a:spcAft>
            </a:pPr>
            <a:r>
              <a:rPr sz="1800" i="0">
                <a:solidFill>
                  <a:srgbClr val="E8EDF2"/>
                </a:solidFill>
                <a:latin typeface="Consolas"/>
              </a:rPr>
              <a:t>Xi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centre</a:t>
            </a:r>
            <a:r>
              <a:rPr sz="1800" i="0">
                <a:solidFill>
                  <a:srgbClr val="AEB6BF"/>
                </a:solidFill>
                <a:latin typeface="Consolas"/>
              </a:rPr>
              <a:t>[</a:t>
            </a:r>
            <a:r>
              <a:rPr sz="1800" i="0">
                <a:solidFill>
                  <a:srgbClr val="E8EDF2"/>
                </a:solidFill>
                <a:latin typeface="Consolas"/>
              </a:rPr>
              <a:t>kinds</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normal</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0.45</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150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Xi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StandardScaler</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fit_transform</a:t>
            </a:r>
            <a:r>
              <a:rPr sz="1800" i="0">
                <a:solidFill>
                  <a:srgbClr val="AEB6BF"/>
                </a:solidFill>
                <a:latin typeface="Consolas"/>
              </a:rPr>
              <a:t>(</a:t>
            </a:r>
            <a:r>
              <a:rPr sz="1800" i="0">
                <a:solidFill>
                  <a:srgbClr val="E8EDF2"/>
                </a:solidFill>
                <a:latin typeface="Consolas"/>
              </a:rPr>
              <a:t>Xi</a:t>
            </a:r>
            <a:r>
              <a:rPr sz="1800" i="0">
                <a:solidFill>
                  <a:srgbClr val="AEB6BF"/>
                </a:solidFill>
                <a:latin typeface="Consolas"/>
              </a:rPr>
              <a:t>)</a:t>
            </a:r>
          </a:p>
          <a:p>
            <a:pPr>
              <a:lnSpc>
                <a:spcPct val="100000"/>
              </a:lnSpc>
              <a:spcAft>
                <a:spcPts val="0"/>
              </a:spcAft>
            </a:pPr>
            <a:r>
              <a:rPr sz="1800" i="0">
                <a:solidFill>
                  <a:srgbClr val="E8EDF2"/>
                </a:solidFill>
                <a:latin typeface="Consolas"/>
              </a:rPr>
              <a:t>rows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cols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6</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6</a:t>
            </a:r>
          </a:p>
          <a:p>
            <a:pPr>
              <a:lnSpc>
                <a:spcPct val="100000"/>
              </a:lnSpc>
              <a:spcAft>
                <a:spcPts val="0"/>
              </a:spcAft>
            </a:pPr>
            <a:r>
              <a:rPr sz="1800" i="0">
                <a:solidFill>
                  <a:srgbClr val="E8EDF2"/>
                </a:solidFill>
                <a:latin typeface="Consolas"/>
              </a:rPr>
              <a:t>grid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r</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range</a:t>
            </a:r>
            <a:r>
              <a:rPr sz="1800" i="0">
                <a:solidFill>
                  <a:srgbClr val="AEB6BF"/>
                </a:solidFill>
                <a:latin typeface="Consolas"/>
              </a:rPr>
              <a:t>(</a:t>
            </a:r>
            <a:r>
              <a:rPr sz="1800" i="0">
                <a:solidFill>
                  <a:srgbClr val="E8EDF2"/>
                </a:solidFill>
                <a:latin typeface="Consolas"/>
              </a:rPr>
              <a:t>rows</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range</a:t>
            </a:r>
            <a:r>
              <a:rPr sz="1800" i="0">
                <a:solidFill>
                  <a:srgbClr val="AEB6BF"/>
                </a:solidFill>
                <a:latin typeface="Consolas"/>
              </a:rPr>
              <a:t>(</a:t>
            </a:r>
            <a:r>
              <a:rPr sz="1800" i="0">
                <a:solidFill>
                  <a:srgbClr val="E8EDF2"/>
                </a:solidFill>
                <a:latin typeface="Consolas"/>
              </a:rPr>
              <a:t>cols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rng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E8EDF2"/>
                </a:solidFill>
                <a:latin typeface="Consolas"/>
              </a:rPr>
              <a:t>default_rng</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normal</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rows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cols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Xi</a:t>
            </a:r>
            <a:r>
              <a:rPr sz="1800" i="0">
                <a:solidFill>
                  <a:srgbClr val="AEB6BF"/>
                </a:solidFill>
                <a:latin typeface="Consolas"/>
              </a:rPr>
              <a:t>.</a:t>
            </a:r>
            <a:r>
              <a:rPr sz="1800" i="0">
                <a:solidFill>
                  <a:srgbClr val="E8EDF2"/>
                </a:solidFill>
                <a:latin typeface="Consolas"/>
              </a:rPr>
              <a:t>shape</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steps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3000</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38</a:t>
            </a:r>
          </a:p>
          <a:p>
            <a:pPr algn="r">
              <a:lnSpc>
                <a:spcPct val="100000"/>
              </a:lnSpc>
            </a:pPr>
            <a:r>
              <a:rPr sz="1800">
                <a:solidFill>
                  <a:srgbClr val="4F5D6A"/>
                </a:solidFill>
                <a:latin typeface="Consolas"/>
              </a:rPr>
              <a:t>39</a:t>
            </a:r>
          </a:p>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a:p>
            <a:pPr algn="r">
              <a:lnSpc>
                <a:spcPct val="100000"/>
              </a:lnSpc>
            </a:pPr>
            <a:r>
              <a:rPr sz="1800">
                <a:solidFill>
                  <a:srgbClr val="4F5D6A"/>
                </a:solidFill>
                <a:latin typeface="Consolas"/>
              </a:rPr>
              <a:t>43</a:t>
            </a:r>
          </a:p>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a:p>
            <a:pPr algn="r">
              <a:lnSpc>
                <a:spcPct val="100000"/>
              </a:lnSpc>
            </a:pPr>
            <a:r>
              <a:rPr sz="1800">
                <a:solidFill>
                  <a:srgbClr val="4F5D6A"/>
                </a:solidFill>
                <a:latin typeface="Consolas"/>
              </a:rPr>
              <a:t>46</a:t>
            </a:r>
          </a:p>
          <a:p>
            <a:pPr algn="r">
              <a:lnSpc>
                <a:spcPct val="100000"/>
              </a:lnSpc>
            </a:pPr>
            <a:r>
              <a:rPr sz="1800">
                <a:solidFill>
                  <a:srgbClr val="4F5D6A"/>
                </a:solidFill>
                <a:latin typeface="Consolas"/>
              </a:rPr>
              <a:t>47</a:t>
            </a:r>
          </a:p>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a:p>
            <a:pPr algn="r">
              <a:lnSpc>
                <a:spcPct val="100000"/>
              </a:lnSpc>
            </a:pPr>
            <a:r>
              <a:rPr sz="1800">
                <a:solidFill>
                  <a:srgbClr val="4F5D6A"/>
                </a:solidFill>
                <a:latin typeface="Consolas"/>
              </a:rPr>
              <a:t>50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2460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PCA by Hand, PCA at Work, and a Map of Past Projects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DB494BBE-1292-4A16-95EA-EDDCB1125D84}"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self-organizing map in twenty lines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code/ch16_pca_hand_pca_work_map.py</a:t>
            </a:r>
          </a:p>
        </p:txBody>
      </p:sp>
      <p:sp>
        <p:nvSpPr>
          <p:cNvPr id="14" name="!!code-text" descr="for t in range(steps): x = Xi[rng.integers(len(Xi))] bmu = np.argmin(((W - x) ** 2).sum(axis=1)) # best-matching unit eta = 0.5 * (1 - t / steps) # learning rate decays sigma = 3.0 * (1 - t / steps) + 0.5 # neighbourhood shrinks d2 = ((grid - grid[bmu]) ** 2).sum(axis=1) # distance on the map h = np.exp(-d2 / (2 * sigma ** 2)) # neighbourhood weight W += eta * h[:, None] * (x - W) # label each unit with the kind of project that most often maps to it hits = {} for x, y in zip(Xi, kinds): u = np.argmin(((W - x) ** 2).sum(axis=1)) hits.setdefault(u, []).append(y) names = &quot;mbi&quot; # maintenance, build, integration for r in range(rows): print(&quot; &quot;.join(names[np.bincount(hits[r * cols + c]).argmax()] if r * cols + c in hits else &quot;.&quot; for c in range(cols)))"/>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range</a:t>
            </a:r>
            <a:r>
              <a:rPr sz="1300" i="0">
                <a:solidFill>
                  <a:srgbClr val="AEB6BF"/>
                </a:solidFill>
                <a:latin typeface="Consolas"/>
              </a:rPr>
              <a:t>(</a:t>
            </a:r>
            <a:r>
              <a:rPr sz="1300" i="0">
                <a:solidFill>
                  <a:srgbClr val="E8EDF2"/>
                </a:solidFill>
                <a:latin typeface="Consolas"/>
              </a:rPr>
              <a:t>steps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x</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Xi</a:t>
            </a:r>
            <a:r>
              <a:rPr sz="1300" i="0">
                <a:solidFill>
                  <a:srgbClr val="AEB6BF"/>
                </a:solidFill>
                <a:latin typeface="Consolas"/>
              </a:rPr>
              <a:t>[</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integers</a:t>
            </a:r>
            <a:r>
              <a:rPr sz="1300" i="0">
                <a:solidFill>
                  <a:srgbClr val="AEB6BF"/>
                </a:solidFill>
                <a:latin typeface="Consolas"/>
              </a:rPr>
              <a:t>(</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Xi</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bmu</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argmin</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W</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sum</a:t>
            </a:r>
            <a:r>
              <a:rPr sz="1300" i="0">
                <a:solidFill>
                  <a:srgbClr val="AEB6BF"/>
                </a:solidFill>
                <a:latin typeface="Consolas"/>
              </a:rPr>
              <a:t>(</a:t>
            </a:r>
            <a:r>
              <a:rPr sz="1300" i="0">
                <a:solidFill>
                  <a:srgbClr val="E8EDF2"/>
                </a:solidFill>
                <a:latin typeface="Consolas"/>
              </a:rPr>
              <a:t>axis</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best-matching unit</a:t>
            </a:r>
          </a:p>
          <a:p>
            <a:pPr>
              <a:lnSpc>
                <a:spcPct val="100000"/>
              </a:lnSpc>
              <a:spcAft>
                <a:spcPts val="0"/>
              </a:spcAft>
            </a:pPr>
            <a:r>
              <a:rPr sz="1300" i="0">
                <a:solidFill>
                  <a:srgbClr val="E8EDF2"/>
                </a:solidFill>
                <a:latin typeface="Consolas"/>
              </a:rPr>
              <a:t>    </a:t>
            </a:r>
            <a:r>
              <a:rPr sz="1300" i="0">
                <a:solidFill>
                  <a:srgbClr val="E8EDF2"/>
                </a:solidFill>
                <a:latin typeface="Consolas"/>
              </a:rPr>
              <a:t>eta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0.5</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1</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steps</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learning rate decays</a:t>
            </a:r>
          </a:p>
          <a:p>
            <a:pPr>
              <a:lnSpc>
                <a:spcPct val="100000"/>
              </a:lnSpc>
              <a:spcAft>
                <a:spcPts val="0"/>
              </a:spcAft>
            </a:pPr>
            <a:r>
              <a:rPr sz="1300" i="0">
                <a:solidFill>
                  <a:srgbClr val="E8EDF2"/>
                </a:solidFill>
                <a:latin typeface="Consolas"/>
              </a:rPr>
              <a:t>    </a:t>
            </a:r>
            <a:r>
              <a:rPr sz="1300" i="0">
                <a:solidFill>
                  <a:srgbClr val="E8EDF2"/>
                </a:solidFill>
                <a:latin typeface="Consolas"/>
              </a:rPr>
              <a:t>sigma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3.0</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1</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steps</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0.5</a:t>
            </a:r>
            <a:r>
              <a:rPr sz="1300" i="0">
                <a:solidFill>
                  <a:srgbClr val="E8EDF2"/>
                </a:solidFill>
                <a:latin typeface="Consolas"/>
              </a:rPr>
              <a:t>           </a:t>
            </a:r>
            <a:r>
              <a:rPr sz="1300" i="1">
                <a:solidFill>
                  <a:srgbClr val="8795A1"/>
                </a:solidFill>
                <a:latin typeface="Consolas"/>
              </a:rPr>
              <a:t># neighbourhood shrinks</a:t>
            </a:r>
          </a:p>
          <a:p>
            <a:pPr>
              <a:lnSpc>
                <a:spcPct val="100000"/>
              </a:lnSpc>
              <a:spcAft>
                <a:spcPts val="0"/>
              </a:spcAft>
            </a:pPr>
            <a:r>
              <a:rPr sz="1300" i="0">
                <a:solidFill>
                  <a:srgbClr val="E8EDF2"/>
                </a:solidFill>
                <a:latin typeface="Consolas"/>
              </a:rPr>
              <a:t>    </a:t>
            </a:r>
            <a:r>
              <a:rPr sz="1300" i="0">
                <a:solidFill>
                  <a:srgbClr val="E8EDF2"/>
                </a:solidFill>
                <a:latin typeface="Consolas"/>
              </a:rPr>
              <a:t>d2</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grid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grid</a:t>
            </a:r>
            <a:r>
              <a:rPr sz="1300" i="0">
                <a:solidFill>
                  <a:srgbClr val="AEB6BF"/>
                </a:solidFill>
                <a:latin typeface="Consolas"/>
              </a:rPr>
              <a:t>[</a:t>
            </a:r>
            <a:r>
              <a:rPr sz="1300" i="0">
                <a:solidFill>
                  <a:srgbClr val="E8EDF2"/>
                </a:solidFill>
                <a:latin typeface="Consolas"/>
              </a:rPr>
              <a:t>bmu</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sum</a:t>
            </a:r>
            <a:r>
              <a:rPr sz="1300" i="0">
                <a:solidFill>
                  <a:srgbClr val="AEB6BF"/>
                </a:solidFill>
                <a:latin typeface="Consolas"/>
              </a:rPr>
              <a:t>(</a:t>
            </a:r>
            <a:r>
              <a:rPr sz="1300" i="0">
                <a:solidFill>
                  <a:srgbClr val="E8EDF2"/>
                </a:solidFill>
                <a:latin typeface="Consolas"/>
              </a:rPr>
              <a:t>axis</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distance on the map</a:t>
            </a:r>
          </a:p>
          <a:p>
            <a:pPr>
              <a:lnSpc>
                <a:spcPct val="100000"/>
              </a:lnSpc>
              <a:spcAft>
                <a:spcPts val="0"/>
              </a:spcAft>
            </a:pPr>
            <a:r>
              <a:rPr sz="1300" i="0">
                <a:solidFill>
                  <a:srgbClr val="E8EDF2"/>
                </a:solidFill>
                <a:latin typeface="Consolas"/>
              </a:rPr>
              <a:t>    </a:t>
            </a:r>
            <a:r>
              <a:rPr sz="1300" i="0">
                <a:solidFill>
                  <a:srgbClr val="E8EDF2"/>
                </a:solidFill>
                <a:latin typeface="Consolas"/>
              </a:rPr>
              <a:t>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exp</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d2</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2</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sigma</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neighbourhood weight</a:t>
            </a:r>
          </a:p>
          <a:p>
            <a:pPr>
              <a:lnSpc>
                <a:spcPct val="100000"/>
              </a:lnSpc>
              <a:spcAft>
                <a:spcPts val="0"/>
              </a:spcAft>
            </a:pPr>
            <a:r>
              <a:rPr sz="1300" i="0">
                <a:solidFill>
                  <a:srgbClr val="E8EDF2"/>
                </a:solidFill>
                <a:latin typeface="Consolas"/>
              </a:rPr>
              <a:t>    </a:t>
            </a:r>
            <a:r>
              <a:rPr sz="1300" i="0">
                <a:solidFill>
                  <a:srgbClr val="E8EDF2"/>
                </a:solidFill>
                <a:latin typeface="Consolas"/>
              </a:rPr>
              <a:t>W</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eta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h</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None</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x</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a:t>
            </a:r>
            <a:r>
              <a:rPr sz="1300" i="0">
                <a:solidFill>
                  <a:srgbClr val="AEB6BF"/>
                </a:solidFill>
                <a:latin typeface="Consolas"/>
              </a:rPr>
              <a:t>)</a:t>
            </a:r>
          </a:p>
          <a:p>
            <a:pPr>
              <a:lnSpc>
                <a:spcPct val="100000"/>
              </a:lnSpc>
              <a:spcAft>
                <a:spcPts val="0"/>
              </a:spcAft>
            </a:pPr>
            <a:r>
              <a:rPr sz="1300" i="1">
                <a:solidFill>
                  <a:srgbClr val="8795A1"/>
                </a:solidFill>
                <a:latin typeface="Consolas"/>
              </a:rPr>
              <a:t># label each unit with the kind of project that most often maps to it</a:t>
            </a:r>
          </a:p>
          <a:p>
            <a:pPr>
              <a:lnSpc>
                <a:spcPct val="100000"/>
              </a:lnSpc>
              <a:spcAft>
                <a:spcPts val="0"/>
              </a:spcAft>
            </a:pPr>
            <a:r>
              <a:rPr sz="1300" i="0">
                <a:solidFill>
                  <a:srgbClr val="E8EDF2"/>
                </a:solidFill>
                <a:latin typeface="Consolas"/>
              </a:rPr>
              <a:t>hits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y</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zip</a:t>
            </a:r>
            <a:r>
              <a:rPr sz="1300" i="0">
                <a:solidFill>
                  <a:srgbClr val="AEB6BF"/>
                </a:solidFill>
                <a:latin typeface="Consolas"/>
              </a:rPr>
              <a:t>(</a:t>
            </a:r>
            <a:r>
              <a:rPr sz="1300" i="0">
                <a:solidFill>
                  <a:srgbClr val="E8EDF2"/>
                </a:solidFill>
                <a:latin typeface="Consolas"/>
              </a:rPr>
              <a:t>Xi</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kinds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u</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argmin</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W</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sum</a:t>
            </a:r>
            <a:r>
              <a:rPr sz="1300" i="0">
                <a:solidFill>
                  <a:srgbClr val="AEB6BF"/>
                </a:solidFill>
                <a:latin typeface="Consolas"/>
              </a:rPr>
              <a:t>(</a:t>
            </a:r>
            <a:r>
              <a:rPr sz="1300" i="0">
                <a:solidFill>
                  <a:srgbClr val="E8EDF2"/>
                </a:solidFill>
                <a:latin typeface="Consolas"/>
              </a:rPr>
              <a:t>axis</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hits</a:t>
            </a:r>
            <a:r>
              <a:rPr sz="1300" i="0">
                <a:solidFill>
                  <a:srgbClr val="AEB6BF"/>
                </a:solidFill>
                <a:latin typeface="Consolas"/>
              </a:rPr>
              <a:t>.</a:t>
            </a:r>
            <a:r>
              <a:rPr sz="1300" i="0">
                <a:solidFill>
                  <a:srgbClr val="E8EDF2"/>
                </a:solidFill>
                <a:latin typeface="Consolas"/>
              </a:rPr>
              <a:t>setdefault</a:t>
            </a:r>
            <a:r>
              <a:rPr sz="1300" i="0">
                <a:solidFill>
                  <a:srgbClr val="AEB6BF"/>
                </a:solidFill>
                <a:latin typeface="Consolas"/>
              </a:rPr>
              <a:t>(</a:t>
            </a:r>
            <a:r>
              <a:rPr sz="1300" i="0">
                <a:solidFill>
                  <a:srgbClr val="E8EDF2"/>
                </a:solidFill>
                <a:latin typeface="Consolas"/>
              </a:rPr>
              <a:t>u</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append</a:t>
            </a:r>
            <a:r>
              <a:rPr sz="1300" i="0">
                <a:solidFill>
                  <a:srgbClr val="AEB6BF"/>
                </a:solidFill>
                <a:latin typeface="Consolas"/>
              </a:rPr>
              <a:t>(</a:t>
            </a:r>
            <a:r>
              <a:rPr sz="1300" i="0">
                <a:solidFill>
                  <a:srgbClr val="E8EDF2"/>
                </a:solidFill>
                <a:latin typeface="Consolas"/>
              </a:rPr>
              <a:t>y</a:t>
            </a:r>
            <a:r>
              <a:rPr sz="1300" i="0">
                <a:solidFill>
                  <a:srgbClr val="AEB6BF"/>
                </a:solidFill>
                <a:latin typeface="Consolas"/>
              </a:rPr>
              <a:t>)</a:t>
            </a:r>
          </a:p>
          <a:p>
            <a:pPr>
              <a:lnSpc>
                <a:spcPct val="100000"/>
              </a:lnSpc>
              <a:spcAft>
                <a:spcPts val="0"/>
              </a:spcAft>
            </a:pPr>
            <a:r>
              <a:rPr sz="1300" i="0">
                <a:solidFill>
                  <a:srgbClr val="E8EDF2"/>
                </a:solidFill>
                <a:latin typeface="Consolas"/>
              </a:rPr>
              <a:t>names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mbi</a:t>
            </a:r>
            <a:r>
              <a:rPr sz="1300" i="0">
                <a:solidFill>
                  <a:srgbClr val="7DCEA0"/>
                </a:solidFill>
                <a:latin typeface="Consolas"/>
              </a:rPr>
              <a:t>"</a:t>
            </a:r>
            <a:r>
              <a:rPr sz="1300" i="0">
                <a:solidFill>
                  <a:srgbClr val="E8EDF2"/>
                </a:solidFill>
                <a:latin typeface="Consolas"/>
              </a:rPr>
              <a:t>                       </a:t>
            </a:r>
            <a:r>
              <a:rPr sz="1300" i="1">
                <a:solidFill>
                  <a:srgbClr val="8795A1"/>
                </a:solidFill>
                <a:latin typeface="Consolas"/>
              </a:rPr>
              <a:t># maintenance, build, integration</a:t>
            </a:r>
          </a:p>
          <a:p>
            <a:pPr>
              <a:lnSpc>
                <a:spcPct val="100000"/>
              </a:lnSpc>
              <a:spcAft>
                <a:spcPts val="0"/>
              </a:spcAft>
            </a:pP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r</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range</a:t>
            </a:r>
            <a:r>
              <a:rPr sz="1300" i="0">
                <a:solidFill>
                  <a:srgbClr val="AEB6BF"/>
                </a:solidFill>
                <a:latin typeface="Consolas"/>
              </a:rPr>
              <a:t>(</a:t>
            </a:r>
            <a:r>
              <a:rPr sz="1300" i="0">
                <a:solidFill>
                  <a:srgbClr val="E8EDF2"/>
                </a:solidFill>
                <a:latin typeface="Consolas"/>
              </a:rPr>
              <a:t>rows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join</a:t>
            </a:r>
            <a:r>
              <a:rPr sz="1300" i="0">
                <a:solidFill>
                  <a:srgbClr val="AEB6BF"/>
                </a:solidFill>
                <a:latin typeface="Consolas"/>
              </a:rPr>
              <a:t>(</a:t>
            </a:r>
            <a:r>
              <a:rPr sz="1300" i="0">
                <a:solidFill>
                  <a:srgbClr val="E8EDF2"/>
                </a:solidFill>
                <a:latin typeface="Consolas"/>
              </a:rPr>
              <a:t>names</a:t>
            </a:r>
            <a:r>
              <a:rPr sz="1300" i="0">
                <a:solidFill>
                  <a:srgbClr val="AEB6BF"/>
                </a:solidFill>
                <a:latin typeface="Consolas"/>
              </a:rPr>
              <a:t>[</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bincount</a:t>
            </a:r>
            <a:r>
              <a:rPr sz="1300" i="0">
                <a:solidFill>
                  <a:srgbClr val="AEB6BF"/>
                </a:solidFill>
                <a:latin typeface="Consolas"/>
              </a:rPr>
              <a:t>(</a:t>
            </a:r>
            <a:r>
              <a:rPr sz="1300" i="0">
                <a:solidFill>
                  <a:srgbClr val="E8EDF2"/>
                </a:solidFill>
                <a:latin typeface="Consolas"/>
              </a:rPr>
              <a:t>hits</a:t>
            </a:r>
            <a:r>
              <a:rPr sz="1300" i="0">
                <a:solidFill>
                  <a:srgbClr val="AEB6BF"/>
                </a:solidFill>
                <a:latin typeface="Consolas"/>
              </a:rPr>
              <a:t>[</a:t>
            </a:r>
            <a:r>
              <a:rPr sz="1300" i="0">
                <a:solidFill>
                  <a:srgbClr val="E8EDF2"/>
                </a:solidFill>
                <a:latin typeface="Consolas"/>
              </a:rPr>
              <a:t>r</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cols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argmax</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r</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cols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hits</a:t>
            </a:r>
            <a:r>
              <a:rPr sz="1300" i="0">
                <a:solidFill>
                  <a:srgbClr val="E8EDF2"/>
                </a:solidFill>
                <a:latin typeface="Consolas"/>
              </a:rPr>
              <a:t> </a:t>
            </a:r>
            <a:r>
              <a:rPr sz="1300" i="0">
                <a:solidFill>
                  <a:srgbClr val="5DADE2"/>
                </a:solidFill>
                <a:latin typeface="Consolas"/>
              </a:rPr>
              <a:t>else</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a:t>
            </a:r>
            <a:r>
              <a:rPr sz="1300" i="0">
                <a:solidFill>
                  <a:srgbClr val="7DCEA0"/>
                </a:solidFill>
                <a:latin typeface="Consolas"/>
              </a:rPr>
              <a:t>"</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c</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range</a:t>
            </a:r>
            <a:r>
              <a:rPr sz="1300" i="0">
                <a:solidFill>
                  <a:srgbClr val="AEB6BF"/>
                </a:solidFill>
                <a:latin typeface="Consolas"/>
              </a:rPr>
              <a:t>(</a:t>
            </a:r>
            <a:r>
              <a:rPr sz="1300" i="0">
                <a:solidFill>
                  <a:srgbClr val="E8EDF2"/>
                </a:solidFill>
                <a:latin typeface="Consolas"/>
              </a:rPr>
              <a:t>cols</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51</a:t>
            </a:r>
          </a:p>
          <a:p>
            <a:pPr algn="r">
              <a:lnSpc>
                <a:spcPct val="100000"/>
              </a:lnSpc>
            </a:pPr>
            <a:r>
              <a:rPr sz="1300">
                <a:solidFill>
                  <a:srgbClr val="4F5D6A"/>
                </a:solidFill>
                <a:latin typeface="Consolas"/>
              </a:rPr>
              <a:t>52</a:t>
            </a:r>
          </a:p>
          <a:p>
            <a:pPr algn="r">
              <a:lnSpc>
                <a:spcPct val="100000"/>
              </a:lnSpc>
            </a:pPr>
            <a:r>
              <a:rPr sz="1300">
                <a:solidFill>
                  <a:srgbClr val="4F5D6A"/>
                </a:solidFill>
                <a:latin typeface="Consolas"/>
              </a:rPr>
              <a:t>53</a:t>
            </a:r>
          </a:p>
          <a:p>
            <a:pPr algn="r">
              <a:lnSpc>
                <a:spcPct val="100000"/>
              </a:lnSpc>
            </a:pPr>
            <a:r>
              <a:rPr sz="1300">
                <a:solidFill>
                  <a:srgbClr val="4F5D6A"/>
                </a:solidFill>
                <a:latin typeface="Consolas"/>
              </a:rPr>
              <a:t>54</a:t>
            </a:r>
          </a:p>
          <a:p>
            <a:pPr algn="r">
              <a:lnSpc>
                <a:spcPct val="100000"/>
              </a:lnSpc>
            </a:pPr>
            <a:r>
              <a:rPr sz="1300">
                <a:solidFill>
                  <a:srgbClr val="4F5D6A"/>
                </a:solidFill>
                <a:latin typeface="Consolas"/>
              </a:rPr>
              <a:t>55</a:t>
            </a:r>
          </a:p>
          <a:p>
            <a:pPr algn="r">
              <a:lnSpc>
                <a:spcPct val="100000"/>
              </a:lnSpc>
            </a:pPr>
            <a:r>
              <a:rPr sz="1300">
                <a:solidFill>
                  <a:srgbClr val="4F5D6A"/>
                </a:solidFill>
                <a:latin typeface="Consolas"/>
              </a:rPr>
              <a:t>56</a:t>
            </a:r>
          </a:p>
          <a:p>
            <a:pPr algn="r">
              <a:lnSpc>
                <a:spcPct val="100000"/>
              </a:lnSpc>
            </a:pPr>
            <a:r>
              <a:rPr sz="1300">
                <a:solidFill>
                  <a:srgbClr val="4F5D6A"/>
                </a:solidFill>
                <a:latin typeface="Consolas"/>
              </a:rPr>
              <a:t>57</a:t>
            </a:r>
          </a:p>
          <a:p>
            <a:pPr algn="r">
              <a:lnSpc>
                <a:spcPct val="100000"/>
              </a:lnSpc>
            </a:pPr>
            <a:r>
              <a:rPr sz="1300">
                <a:solidFill>
                  <a:srgbClr val="4F5D6A"/>
                </a:solidFill>
                <a:latin typeface="Consolas"/>
              </a:rPr>
              <a:t>58</a:t>
            </a:r>
          </a:p>
          <a:p>
            <a:pPr algn="r">
              <a:lnSpc>
                <a:spcPct val="100000"/>
              </a:lnSpc>
            </a:pPr>
            <a:r>
              <a:rPr sz="1300">
                <a:solidFill>
                  <a:srgbClr val="4F5D6A"/>
                </a:solidFill>
                <a:latin typeface="Consolas"/>
              </a:rPr>
              <a:t>59</a:t>
            </a:r>
          </a:p>
          <a:p>
            <a:pPr algn="r">
              <a:lnSpc>
                <a:spcPct val="100000"/>
              </a:lnSpc>
            </a:pPr>
            <a:r>
              <a:rPr sz="1300">
                <a:solidFill>
                  <a:srgbClr val="4F5D6A"/>
                </a:solidFill>
                <a:latin typeface="Consolas"/>
              </a:rPr>
              <a:t>60</a:t>
            </a:r>
          </a:p>
          <a:p>
            <a:pPr algn="r">
              <a:lnSpc>
                <a:spcPct val="100000"/>
              </a:lnSpc>
            </a:pPr>
            <a:r>
              <a:rPr sz="1300">
                <a:solidFill>
                  <a:srgbClr val="4F5D6A"/>
                </a:solidFill>
                <a:latin typeface="Consolas"/>
              </a:rPr>
              <a:t>61</a:t>
            </a:r>
          </a:p>
          <a:p>
            <a:pPr algn="r">
              <a:lnSpc>
                <a:spcPct val="100000"/>
              </a:lnSpc>
            </a:pPr>
            <a:r>
              <a:rPr sz="1300">
                <a:solidFill>
                  <a:srgbClr val="4F5D6A"/>
                </a:solidFill>
                <a:latin typeface="Consolas"/>
              </a:rPr>
              <a:t>62</a:t>
            </a:r>
          </a:p>
          <a:p>
            <a:pPr algn="r">
              <a:lnSpc>
                <a:spcPct val="100000"/>
              </a:lnSpc>
            </a:pPr>
            <a:r>
              <a:rPr sz="1300">
                <a:solidFill>
                  <a:srgbClr val="4F5D6A"/>
                </a:solidFill>
                <a:latin typeface="Consolas"/>
              </a:rPr>
              <a:t>63</a:t>
            </a:r>
          </a:p>
          <a:p>
            <a:pPr algn="r">
              <a:lnSpc>
                <a:spcPct val="100000"/>
              </a:lnSpc>
            </a:pPr>
            <a:r>
              <a:rPr sz="1300">
                <a:solidFill>
                  <a:srgbClr val="4F5D6A"/>
                </a:solidFill>
                <a:latin typeface="Consolas"/>
              </a:rPr>
              <a:t>64</a:t>
            </a:r>
          </a:p>
          <a:p>
            <a:pPr algn="r">
              <a:lnSpc>
                <a:spcPct val="100000"/>
              </a:lnSpc>
            </a:pPr>
            <a:r>
              <a:rPr sz="1300">
                <a:solidFill>
                  <a:srgbClr val="4F5D6A"/>
                </a:solidFill>
                <a:latin typeface="Consolas"/>
              </a:rPr>
              <a:t>65</a:t>
            </a:r>
          </a:p>
          <a:p>
            <a:pPr algn="r">
              <a:lnSpc>
                <a:spcPct val="100000"/>
              </a:lnSpc>
            </a:pPr>
            <a:r>
              <a:rPr sz="1300">
                <a:solidFill>
                  <a:srgbClr val="4F5D6A"/>
                </a:solidFill>
                <a:latin typeface="Consolas"/>
              </a:rPr>
              <a:t>66</a:t>
            </a:r>
          </a:p>
          <a:p>
            <a:pPr algn="r">
              <a:lnSpc>
                <a:spcPct val="100000"/>
              </a:lnSpc>
            </a:pPr>
            <a:r>
              <a:rPr sz="1300">
                <a:solidFill>
                  <a:srgbClr val="4F5D6A"/>
                </a:solidFill>
                <a:latin typeface="Consolas"/>
              </a:rPr>
              <a:t>67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2939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121     </a:t>
            </a:r>
            <a:fld id="{9E9992E1-21C0-4B67-8BE6-BF3F9D40C0BD}"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last block prints the map: </a:t>
            </a:r>
            <a:r>
              <a:rPr sz="2150" b="0" i="0">
                <a:solidFill>
                  <a:srgbClr val="1F4E79"/>
                </a:solidFill>
                <a:latin typeface="Consolas"/>
              </a:rPr>
              <a:t>m</a:t>
            </a:r>
            <a:r>
              <a:rPr sz="2300" b="0" i="0">
                <a:solidFill>
                  <a:srgbClr val="1C252B"/>
                </a:solidFill>
                <a:latin typeface="Segoe UI"/>
              </a:rPr>
              <a:t>, </a:t>
            </a:r>
            <a:r>
              <a:rPr sz="2150" b="0" i="0">
                <a:solidFill>
                  <a:srgbClr val="1F4E79"/>
                </a:solidFill>
                <a:latin typeface="Consolas"/>
              </a:rPr>
              <a:t>b</a:t>
            </a:r>
            <a:r>
              <a:rPr sz="2300" b="0" i="0">
                <a:solidFill>
                  <a:srgbClr val="1C252B"/>
                </a:solidFill>
                <a:latin typeface="Segoe UI"/>
              </a:rPr>
              <a:t> and </a:t>
            </a:r>
            <a:r>
              <a:rPr sz="2150" b="0" i="0">
                <a:solidFill>
                  <a:srgbClr val="1F4E79"/>
                </a:solidFill>
                <a:latin typeface="Consolas"/>
              </a:rPr>
              <a:t>i</a:t>
            </a:r>
            <a:r>
              <a:rPr sz="2300" b="0" i="0">
                <a:solidFill>
                  <a:srgbClr val="1C252B"/>
                </a:solidFill>
                <a:latin typeface="Segoe UI"/>
              </a:rPr>
              <a:t> mark units that maintenance, new-build and integration projects map to, and </a:t>
            </a:r>
            <a:r>
              <a:rPr sz="2150" b="0" i="0">
                <a:solidFill>
                  <a:srgbClr val="1F4E79"/>
                </a:solidFill>
                <a:latin typeface="Consolas"/>
              </a:rPr>
              <a:t>.</a:t>
            </a:r>
            <a:r>
              <a:rPr sz="2300" b="0" i="0">
                <a:solidFill>
                  <a:srgbClr val="1C252B"/>
                </a:solidFill>
                <a:latin typeface="Segoe UI"/>
              </a:rPr>
              <a:t> an unused unit. Rerun it with </a:t>
            </a:r>
            <a:r>
              <a:rPr sz="2150" b="0" i="0">
                <a:solidFill>
                  <a:srgbClr val="1F4E79"/>
                </a:solidFill>
                <a:latin typeface="Consolas"/>
              </a:rPr>
              <a:t>sigma = 0.5</a:t>
            </a:r>
            <a:r>
              <a:rPr sz="2300" b="0" i="0">
                <a:solidFill>
                  <a:srgbClr val="1C252B"/>
                </a:solidFill>
                <a:latin typeface="Segoe UI"/>
              </a:rPr>
              <a:t> throughout (no shrinking neighbourhood): is the map still organised?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covariance matrix has eigenvalues 6, 3 and 1. What fraction of the variance do the first two components explain?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16  ·  Dimensionality Reduction and Self-Organizing Maps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124  ·  answers in Appendix D     </a:t>
            </a:r>
            <a:fld id="{E5EB24C3-E091-4B51-85A5-4F303F98B0E3}" type="slidenum">
              <a:rPr lang="en-GB" sz="1000">
                <a:solidFill>
                  <a:srgbClr val="D5DEE5"/>
                </a:solidFill>
                <a:latin typeface="Segoe UI"/>
              </a:rPr>
              <a:t>29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covariance matrix has eigenvalues 6, 3 and 1. What fraction of the variance do the first two components explain?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(6 + 3)/(6 + 3 + 1) = 0.9</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  answers in Appendix D     </a:t>
            </a:r>
            <a:fld id="{556A958A-CCDA-4A40-B97D-9960C2973FB5}" type="slidenum">
              <a:rPr lang="en-GB" sz="1000">
                <a:solidFill>
                  <a:srgbClr val="8795A1"/>
                </a:solidFill>
                <a:latin typeface="Segoe UI"/>
              </a:rPr>
              <a:t>30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must features usually be standardised before PCA?</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16  ·  Dimensionality Reduction and Self-Organizing Maps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124  ·  answers in Appendix D     </a:t>
            </a:r>
            <a:fld id="{29ABFE8B-2C01-442B-B26D-A3153A1A2B3D}"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Why must features usually be standardised before PCA?</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PCA seeks directions of large variance, and a feature measured in large units has large variance whether or not it is informative; it would dominate the components purely because of its units.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  answers in Appendix D     </a:t>
            </a:r>
            <a:fld id="{BB6E2FD7-7247-4D96-BDD9-5817F95A12D0}"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In a SOM, what is the difference between the best-matching unit and its neighbourhood, and why are both updated?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16  ·  Dimensionality Reduction and Self-Organizing Maps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124  ·  answers in Appendix D     </a:t>
            </a:r>
            <a:fld id="{49BC20FC-8B6D-4A81-BA19-99BB21E85DBC}"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In a SOM, what is the difference between the best-matching unit and its neighbourhood, and why are both updated?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BMU is the single unit whose weights are closest to the input (competition). Its neighbourhood is the units near it </a:t>
            </a:r>
            <a:r>
              <a:rPr sz="2200" b="0" i="1">
                <a:solidFill>
                  <a:srgbClr val="1C252B"/>
                </a:solidFill>
                <a:latin typeface="Segoe UI"/>
              </a:rPr>
              <a:t>on the grid</a:t>
            </a:r>
            <a:r>
              <a:rPr sz="2200" b="0" i="0">
                <a:solidFill>
                  <a:srgbClr val="1C252B"/>
                </a:solidFill>
                <a:latin typeface="Segoe UI"/>
              </a:rPr>
              <a:t>. Updating the neighbours as well makes adjacent units similar, which produces a smooth, topology-preserving map.</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  answers in Appendix D     </a:t>
            </a:r>
            <a:fld id="{339D5016-12E9-4DC4-BF06-AFB8E6D9E5A8}"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6294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a:t>
            </a:r>
            <a:fld id="{24AFFD4F-64B2-4304-8A45-3AC5D8E10BF5}" type="slidenum">
              <a:rPr lang="en-GB" sz="1000">
                <a:solidFill>
                  <a:srgbClr val="8795A1"/>
                </a:solidFill>
                <a:latin typeface="Segoe UI"/>
              </a:rPr>
              <a:t>35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Reducing dimensions fights the curse of dimensionality, removes redundancy and makes data visible; selection keeps features, extraction builds new ones.</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99852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PCA’s components are the eigenvectors of the covariance matrix; each eigenvalue is the variance along its component. Keep enough to explain a target fraction, or tune the number by cross-validation.</a:t>
            </a:r>
          </a:p>
        </p:txBody>
      </p:sp>
      <p:sp>
        <p:nvSpPr>
          <p:cNvPr id="13" name="!!sb2">
            <a:extLst>
              <a:ext uri="{C183D7F6-B498-43B3-948B-1728B52AA6E4}">
                <adec:decorative xmlns:adec="http://schemas.microsoft.com/office/drawing/2017/decorative" val="1"/>
              </a:ext>
            </a:extLst>
          </p:cNvPr>
          <p:cNvSpPr/>
          <p:nvPr/>
        </p:nvSpPr>
        <p:spPr>
          <a:xfrm>
            <a:off x="658368" y="377647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83133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767327"/>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Standardise before PCA, fit it inside the pipeline, and remember it ignores the labels.</a:t>
            </a:r>
          </a:p>
        </p:txBody>
      </p:sp>
      <p:sp>
        <p:nvSpPr>
          <p:cNvPr id="16" name="!!sb3">
            <a:extLst>
              <a:ext uri="{C183D7F6-B498-43B3-948B-1728B52AA6E4}">
                <adec:decorative xmlns:adec="http://schemas.microsoft.com/office/drawing/2017/decorative" val="1"/>
              </a:ext>
            </a:extLst>
          </p:cNvPr>
          <p:cNvSpPr/>
          <p:nvPr/>
        </p:nvSpPr>
        <p:spPr>
          <a:xfrm>
            <a:off x="658368" y="436168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41655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352543"/>
            <a:ext cx="10234879" cy="99852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SOM finds the best-matching unit for each input and moves it and its grid neighbours towards the input; with a shrinking neighbourhood it produces a smooth, topology-preserving 2-D map.</a:t>
            </a:r>
          </a:p>
        </p:txBody>
      </p:sp>
      <p:sp>
        <p:nvSpPr>
          <p:cNvPr id="19" name="!!sb4">
            <a:extLst>
              <a:ext uri="{C183D7F6-B498-43B3-948B-1728B52AA6E4}">
                <adec:decorative xmlns:adec="http://schemas.microsoft.com/office/drawing/2017/decorative" val="1"/>
              </a:ext>
            </a:extLst>
          </p:cNvPr>
          <p:cNvSpPr/>
          <p:nvPr/>
        </p:nvSpPr>
        <p:spPr>
          <a:xfrm>
            <a:off x="658368" y="554309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59795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533948"/>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PCA is linear, exact and for compression; the SOM is non-linear, iterative and for visual exploration.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66773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a:t>
            </a:r>
            <a:fld id="{FE269613-2B07-445D-AB48-8FAA4CE23313}" type="slidenum">
              <a:rPr lang="en-GB" sz="1000">
                <a:solidFill>
                  <a:srgbClr val="8795A1"/>
                </a:solidFill>
                <a:latin typeface="Segoe UI"/>
              </a:rPr>
              <a:t>36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first principal component is the direction of:</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greatest class separation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greatest variance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smallest variance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first feature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a:t>
            </a:r>
            <a:fld id="{561EBCC6-A5EF-40A5-94DA-840B2B235EEC}"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a SOM, the neighbourhood function is measured by distance: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 the input space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on the grid of units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between classes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between eigenvalues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7731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a:t>
            </a:r>
            <a:fld id="{D5E5A468-CC68-4A49-A4F5-BE2EF1915E76}"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Principal components are: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correlated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at right angles to each other</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always three in number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original features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821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16  ·  Dimensionality Reduction and Self-Organizing Maps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a:t>
            </a:r>
            <a:fld id="{BA6B4EBD-E440-4A54-B17D-4CF6E0583390}" type="slidenum">
              <a:rPr lang="en-GB" sz="1000">
                <a:solidFill>
                  <a:srgbClr val="8795A1"/>
                </a:solidFill>
                <a:latin typeface="Segoe UI"/>
              </a:rPr>
              <a:t>39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difference between feature selection and feature extraction, with one method of each.</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might a discarded low-variance component matter for classification?</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What does a U-matrix show?</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points </a:t>
            </a:r>
            <a:r>
              <a:rPr sz="1900" b="0" i="0">
                <a:solidFill>
                  <a:srgbClr val="1C252B"/>
                </a:solidFill>
                <a:latin typeface="Cambria"/>
              </a:rPr>
              <a:t>(1, 3)</a:t>
            </a:r>
            <a:r>
              <a:rPr sz="1900" b="0" i="0">
                <a:solidFill>
                  <a:srgbClr val="1C252B"/>
                </a:solidFill>
                <a:latin typeface="Segoe UI"/>
              </a:rPr>
              <a:t>, </a:t>
            </a:r>
            <a:r>
              <a:rPr sz="1900" b="0" i="0">
                <a:solidFill>
                  <a:srgbClr val="1C252B"/>
                </a:solidFill>
                <a:latin typeface="Cambria"/>
              </a:rPr>
              <a:t>(3, 1)</a:t>
            </a:r>
            <a:r>
              <a:rPr sz="1900" b="0" i="0">
                <a:solidFill>
                  <a:srgbClr val="1C252B"/>
                </a:solidFill>
                <a:latin typeface="Segoe UI"/>
              </a:rPr>
              <a:t>, </a:t>
            </a:r>
            <a:r>
              <a:rPr sz="1900" b="0" i="0">
                <a:solidFill>
                  <a:srgbClr val="1C252B"/>
                </a:solidFill>
                <a:latin typeface="Cambria"/>
              </a:rPr>
              <a:t>(4, 4)</a:t>
            </a:r>
            <a:r>
              <a:rPr sz="1900" b="0" i="0">
                <a:solidFill>
                  <a:srgbClr val="1C252B"/>
                </a:solidFill>
                <a:latin typeface="Segoe UI"/>
              </a:rPr>
              <a:t>, </a:t>
            </a:r>
            <a:r>
              <a:rPr sz="1900" b="0" i="0">
                <a:solidFill>
                  <a:srgbClr val="1C252B"/>
                </a:solidFill>
                <a:latin typeface="Cambria"/>
              </a:rPr>
              <a:t>(5, 7)</a:t>
            </a:r>
            <a:r>
              <a:rPr sz="1900" b="0" i="0">
                <a:solidFill>
                  <a:srgbClr val="1C252B"/>
                </a:solidFill>
                <a:latin typeface="Segoe UI"/>
              </a:rPr>
              <a:t> and </a:t>
            </a:r>
            <a:r>
              <a:rPr sz="1900" b="0" i="0">
                <a:solidFill>
                  <a:srgbClr val="1C252B"/>
                </a:solidFill>
                <a:latin typeface="Cambria"/>
              </a:rPr>
              <a:t>(7, 5)</a:t>
            </a:r>
            <a:r>
              <a:rPr sz="1900" b="0" i="0">
                <a:solidFill>
                  <a:srgbClr val="1C252B"/>
                </a:solidFill>
                <a:latin typeface="Segoe UI"/>
              </a:rPr>
              <a:t>, compute the covariance matrix, verify that </a:t>
            </a:r>
            <a:r>
              <a:rPr sz="1900" b="0" i="0">
                <a:solidFill>
                  <a:srgbClr val="1C252B"/>
                </a:solidFill>
                <a:latin typeface="Cambria"/>
              </a:rPr>
              <a:t>(1, 1)</a:t>
            </a:r>
            <a:r>
              <a:rPr sz="1900" b="0" i="0">
                <a:solidFill>
                  <a:srgbClr val="1C252B"/>
                </a:solidFill>
                <a:latin typeface="Segoe UI"/>
              </a:rPr>
              <a:t> is an eigenvector, and find the fraction of the variance the first principal component explains.</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Continue the SOM worked example with the next input </a:t>
            </a:r>
            <a:r>
              <a:rPr sz="1900" b="0" i="0">
                <a:solidFill>
                  <a:srgbClr val="1C252B"/>
                </a:solidFill>
                <a:latin typeface="Cambria"/>
              </a:rPr>
              <a:t>(0.3, 0.7)</a:t>
            </a:r>
            <a:r>
              <a:rPr sz="1900" b="0" i="0">
                <a:solidFill>
                  <a:srgbClr val="1C252B"/>
                </a:solidFill>
                <a:latin typeface="Segoe UI"/>
              </a:rPr>
              <a:t>, using the updated weights. Which unit wins, and what are the three weight vectors afterwards?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8690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16</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16</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17 — Semi-Supervised Learning and the EM Algorithm</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16, pages 118–124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k-means and a dendrogram; PCA and a SOM</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3 (Ch 9–14)</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16  ·  Dimensionality Reduction and Self-Organizing Maps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0DB769CB-2D0B-4F3A-A23C-D12D62B1B913}"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16: Dimensionality Reduction and Self-Organizing Maps</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