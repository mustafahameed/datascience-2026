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3.svg" ContentType="image/svg+xml"/>
  <Override PartName="/ppt/media/image24.svg" ContentType="image/svg+xml"/>
  <Override PartName="/ppt/media/image26.svg" ContentType="image/svg+xml"/>
  <Override PartName="/ppt/media/image28.svg" ContentType="image/svg+xml"/>
  <Override PartName="/ppt/media/image29.svg" ContentType="image/svg+xml"/>
  <Override PartName="/ppt/media/image31.svg" ContentType="image/svg+xml"/>
  <Override PartName="/ppt/media/image33.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3.svg" ContentType="image/svg+xml"/>
  <Override PartName="/ppt/media/image84.svg" ContentType="image/svg+xml"/>
  <Override PartName="/ppt/media/image85.svg" ContentType="image/svg+xml"/>
  <Override PartName="/ppt/media/image86.svg" ContentType="image/svg+xml"/>
  <Override PartName="/ppt/media/image88.svg" ContentType="image/svg+xml"/>
  <Override PartName="/ppt/media/image90.svg" ContentType="image/svg+xml"/>
  <Override PartName="/ppt/media/image91.svg" ContentType="image/svg+xml"/>
  <Override PartName="/ppt/media/image92.svg" ContentType="image/svg+xml"/>
  <Override PartName="/ppt/media/image93.svg" ContentType="image/svg+xml"/>
  <Override PartName="/ppt/media/image9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4C19C7C-21DE-42F7-8516-6D0ACBC60829}">
          <p14:sldIdLst>
            <p14:sldId id="256"/>
            <p14:sldId id="257"/>
            <p14:sldId id="258"/>
            <p14:sldId id="259"/>
            <p14:sldId id="260"/>
          </p14:sldIdLst>
        </p14:section>
        <p14:section name="15.1 Finding Groups Without Labels" id="{267A4DD8-9DF2-4B3F-8BD0-9C25EEB5022E}">
          <p14:sldIdLst>
            <p14:sldId id="261"/>
          </p14:sldIdLst>
        </p14:section>
        <p14:section name="15.2 k-Means" id="{8584202F-9DFD-4341-8E15-83D0EC07BAA5}">
          <p14:sldIdLst>
            <p14:sldId id="262"/>
            <p14:sldId id="263"/>
            <p14:sldId id="264"/>
            <p14:sldId id="265"/>
            <p14:sldId id="266"/>
          </p14:sldIdLst>
        </p14:section>
        <p14:section name="15.3 Hierarchical Agglomerative Clustering" id="{6EA2F86F-F3F4-464A-8BEC-680E106B6840}">
          <p14:sldIdLst>
            <p14:sldId id="267"/>
            <p14:sldId id="268"/>
            <p14:sldId id="269"/>
            <p14:sldId id="270"/>
            <p14:sldId id="271"/>
          </p14:sldIdLst>
        </p14:section>
        <p14:section name="15.4 How Many Clusters?" id="{9B9B6BDA-CB90-40E9-B0E1-22EF69C87B6C}">
          <p14:sldIdLst>
            <p14:sldId id="272"/>
            <p14:sldId id="273"/>
            <p14:sldId id="274"/>
            <p14:sldId id="275"/>
          </p14:sldIdLst>
        </p14:section>
        <p14:section name="Pitfalls" id="{8A46FF16-A3B6-4AF5-AC02-74D6294CFE09}">
          <p14:sldIdLst>
            <p14:sldId id="276"/>
          </p14:sldIdLst>
        </p14:section>
        <p14:section name="Four lenses" id="{B7C8D78F-BE74-4200-89D8-B09DD44269D0}">
          <p14:sldIdLst>
            <p14:sldId id="277"/>
            <p14:sldId id="278"/>
            <p14:sldId id="279"/>
            <p14:sldId id="280"/>
            <p14:sldId id="281"/>
          </p14:sldIdLst>
        </p14:section>
        <p14:section name="Lab" id="{ACD1D5FD-A5BC-4C8B-B90E-493B4DABE730}">
          <p14:sldIdLst>
            <p14:sldId id="282"/>
            <p14:sldId id="283"/>
            <p14:sldId id="284"/>
            <p14:sldId id="285"/>
            <p14:sldId id="286"/>
            <p14:sldId id="287"/>
            <p14:sldId id="288"/>
          </p14:sldIdLst>
        </p14:section>
        <p14:section name="Checkpoint" id="{4E764479-18FA-451E-A16B-AC7354C9FD7B}">
          <p14:sldIdLst>
            <p14:sldId id="289"/>
            <p14:sldId id="290"/>
            <p14:sldId id="291"/>
            <p14:sldId id="292"/>
            <p14:sldId id="293"/>
            <p14:sldId id="294"/>
          </p14:sldIdLst>
        </p14:section>
        <p14:section name="Wrap-up" id="{5032BB79-8A4D-4418-AFD9-E667FEE764EB}">
          <p14:sldIdLst>
            <p14:sldId id="295"/>
            <p14:sldId id="296"/>
            <p14:sldId id="297"/>
            <p14:sldId id="298"/>
            <p14:sldId id="299"/>
            <p14:sldId id="300"/>
            <p14:sldId id="30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15: Clustering. Part 4 — Learning Without Full Labels. Week 13: Clustering; PCA and self-organizing maps. Handout pages 115–120.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(distance), Chapter 3 (scaling) and Chapter 11 (distance measures and the curse of dimensionality, which clustering inherits in full).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clustering; partitional vs. hierarchical; centroid; k-means (Lloyd’s algorithm); within-cluster sum of squares (WCSS); local minimum; k-means++; agglomerative clustering; dendrogram; single, complete, average and Ward linkage; chaining; elbow method; silhouette coefficient; adjusted Rand index.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15.1 (handout p. 116): Three snapshots of k-means on the worked example. Assignment and update alternate until no point changes cluster.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15.2 (handout p. 117): Dendrograms for the points 1, 2, 4, 9, 11. The merges happen in almost the same order, but at different heights: complete linkage keeps groups compact and makes the gap between them obvious.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elbow method. Plot WCSS against k. WCSS always falls as k rises — with k = n it is zero — so look for the elbow, the k after which extra clusters buy little. The silhouette. For each example, let a be its mean distance to the other members of its own cluster and b its mean distance to the members of the nearest other cluster. Its silhouette is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 1: well inside its cluster. Near 0: on a boundary. Negative: probably in the wrong cluster. The mean silhouette over all examples scores a whole clustering; pick the k that maximises it. A point with a = 2 and b = 6 has s = (6 − 2)/6 = 0.67.</a:t>
            </a:r>
          </a:p>
          <a:p/>
          <a:p>
            <a:r>
              <a:t>Figure 15.3 (handout p. 118): Choosing k for 600 points generated from four clusters. The WCSS curve bends sharply at k = 4 and the silhouette peaks there: both agree with the truth.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Cluster students by how they study — when they log in, how they use videos and quizzes — and advisers can tailor support to “last-minute crammers” or “steady early starters”. The names come from people looking at the clusters, and the clusters change if you add or remove a behavioural feature.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Clustering past projects on size, duration, team and technology yields project archetypes, each with its own typical overrun. A new project is estimated from its archetype — nearest-centroid classification built from an unsupervised start.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Clustering a machine’s sensor readings recovers its operating modes — idle, normal load, heavy load — without anyone labelling them. A reading far from every centroid is a candidate anomaly; one that drifts from its mode’s centroid over weeks is wear.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Clustering malware by behaviour groups new samples into families, so analysts examine one sample per cluster instead of thousands. Network traffic clusters separate normal services; a small, tight new cluster appearing overnight deserves attention.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The worked example: k-means from A2 and A4.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Choosing k: the elbow and the silhouette.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Hierarchical clustering: linkage heights on five numbers.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Against the truth, and why scale matters.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1 and 4 go to 2; 6, 7 and 9 go to 8. New centroids: (1 + 4)/2 = 2.5 and (6 + 7 + 9)/3 = 7.33.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Neither step can increase the WCSS and there are finitely many possible assignments, so it must stop. But it stops at a local minimum that depends on the starting centroids.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s = (2 − 3)/3 = −0.33. The point is, on average, closer to another cluster than to its own: it is probably in the wrong cluster.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16 — Dimensionality Reduction and Self-Organizing Maps. READ: Handout Chapter 15, pages 115–120. THIS WEEK'S LAB: k-means and a dendrogram; PCA and a SOM. ASSESSMENT: Quiz 3 (Ch 9–14).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4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3.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4.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9.svg"/><Relationship Id="rId4" Type="http://schemas.openxmlformats.org/officeDocument/2006/relationships/image" Target="../media/image30.png"/><Relationship Id="rId5" Type="http://schemas.openxmlformats.org/officeDocument/2006/relationships/image" Target="../media/image31.sv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4.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image" Target="../media/image39.png"/><Relationship Id="rId5" Type="http://schemas.openxmlformats.org/officeDocument/2006/relationships/image" Target="../media/image40.svg"/><Relationship Id="rId6" Type="http://schemas.openxmlformats.org/officeDocument/2006/relationships/image" Target="../media/image41.png"/><Relationship Id="rId7" Type="http://schemas.openxmlformats.org/officeDocument/2006/relationships/image" Target="../media/image42.svg"/><Relationship Id="rId8" Type="http://schemas.openxmlformats.org/officeDocument/2006/relationships/image" Target="../media/image43.png"/><Relationship Id="rId9" Type="http://schemas.openxmlformats.org/officeDocument/2006/relationships/image" Target="../media/image44.svg"/><Relationship Id="rId10" Type="http://schemas.openxmlformats.org/officeDocument/2006/relationships/image" Target="../media/image45.png"/><Relationship Id="rId11" Type="http://schemas.openxmlformats.org/officeDocument/2006/relationships/image" Target="../media/image46.svg"/><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image" Target="../media/image39.png"/><Relationship Id="rId5" Type="http://schemas.openxmlformats.org/officeDocument/2006/relationships/image" Target="../media/image49.svg"/><Relationship Id="rId6" Type="http://schemas.openxmlformats.org/officeDocument/2006/relationships/image" Target="../media/image41.png"/><Relationship Id="rId7" Type="http://schemas.openxmlformats.org/officeDocument/2006/relationships/image" Target="../media/image50.svg"/><Relationship Id="rId8" Type="http://schemas.openxmlformats.org/officeDocument/2006/relationships/image" Target="../media/image43.png"/><Relationship Id="rId9" Type="http://schemas.openxmlformats.org/officeDocument/2006/relationships/image" Target="../media/image51.svg"/><Relationship Id="rId10" Type="http://schemas.openxmlformats.org/officeDocument/2006/relationships/image" Target="../media/image45.png"/><Relationship Id="rId11" Type="http://schemas.openxmlformats.org/officeDocument/2006/relationships/image" Target="../media/image52.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image" Target="../media/image41.png"/><Relationship Id="rId5" Type="http://schemas.openxmlformats.org/officeDocument/2006/relationships/image" Target="../media/image55.svg"/><Relationship Id="rId6" Type="http://schemas.openxmlformats.org/officeDocument/2006/relationships/image" Target="../media/image39.png"/><Relationship Id="rId7" Type="http://schemas.openxmlformats.org/officeDocument/2006/relationships/image" Target="../media/image56.svg"/><Relationship Id="rId8" Type="http://schemas.openxmlformats.org/officeDocument/2006/relationships/image" Target="../media/image43.png"/><Relationship Id="rId9" Type="http://schemas.openxmlformats.org/officeDocument/2006/relationships/image" Target="../media/image57.svg"/><Relationship Id="rId10" Type="http://schemas.openxmlformats.org/officeDocument/2006/relationships/image" Target="../media/image45.png"/><Relationship Id="rId11" Type="http://schemas.openxmlformats.org/officeDocument/2006/relationships/image" Target="../media/image58.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image" Target="../media/image43.png"/><Relationship Id="rId5" Type="http://schemas.openxmlformats.org/officeDocument/2006/relationships/image" Target="../media/image61.svg"/><Relationship Id="rId6" Type="http://schemas.openxmlformats.org/officeDocument/2006/relationships/image" Target="../media/image39.png"/><Relationship Id="rId7" Type="http://schemas.openxmlformats.org/officeDocument/2006/relationships/image" Target="../media/image62.svg"/><Relationship Id="rId8" Type="http://schemas.openxmlformats.org/officeDocument/2006/relationships/image" Target="../media/image41.png"/><Relationship Id="rId9" Type="http://schemas.openxmlformats.org/officeDocument/2006/relationships/image" Target="../media/image63.svg"/><Relationship Id="rId10" Type="http://schemas.openxmlformats.org/officeDocument/2006/relationships/image" Target="../media/image45.png"/><Relationship Id="rId11" Type="http://schemas.openxmlformats.org/officeDocument/2006/relationships/image" Target="../media/image64.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6.svg"/><Relationship Id="rId4" Type="http://schemas.openxmlformats.org/officeDocument/2006/relationships/image" Target="../media/image45.png"/><Relationship Id="rId5" Type="http://schemas.openxmlformats.org/officeDocument/2006/relationships/image" Target="../media/image67.svg"/><Relationship Id="rId6" Type="http://schemas.openxmlformats.org/officeDocument/2006/relationships/image" Target="../media/image39.png"/><Relationship Id="rId7" Type="http://schemas.openxmlformats.org/officeDocument/2006/relationships/image" Target="../media/image68.svg"/><Relationship Id="rId8" Type="http://schemas.openxmlformats.org/officeDocument/2006/relationships/image" Target="../media/image41.png"/><Relationship Id="rId9" Type="http://schemas.openxmlformats.org/officeDocument/2006/relationships/image" Target="../media/image69.svg"/><Relationship Id="rId10" Type="http://schemas.openxmlformats.org/officeDocument/2006/relationships/image" Target="../media/image43.png"/><Relationship Id="rId11" Type="http://schemas.openxmlformats.org/officeDocument/2006/relationships/image" Target="../media/image70.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2.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3.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4.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5.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6.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7.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8.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0.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2.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3.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4.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5.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6.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image" Target="../media/image88.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image" Target="../media/image90.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image" Target="../media/image91.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image" Target="../media/image92.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image" Target="../media/image93.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94.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74EA0"/>
                </a:solidFill>
                <a:latin typeface="Segoe UI Black"/>
              </a:rPr>
              <a:t>15</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Clustering</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PART IV  ·  LEARNING WITHOUT FULL LABELS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CHAPTER 15  ·  WEEK 13</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4D8EA"/>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82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C0AE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D0C3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0AE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115     </a:t>
            </a:r>
            <a:fld id="{47F8DE80-CD73-4C9D-B614-62CA323B2329}"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602092"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602092"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489019" y="1755648"/>
            <a:ext cx="132916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A3A95"/>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489019" y="2029967"/>
            <a:ext cx="1329163" cy="4572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54889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457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95841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8669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42263"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508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05178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9603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4613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3698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870842"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7794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28036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1889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6898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5984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382886" y="2112264"/>
            <a:ext cx="566928" cy="566928"/>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82886"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15</a:t>
            </a:r>
          </a:p>
        </p:txBody>
      </p:sp>
      <p:sp>
        <p:nvSpPr>
          <p:cNvPr id="49" name="!!dot16">
            <a:extLst>
              <a:ext uri="{C183D7F6-B498-43B3-948B-1728B52AA6E4}">
                <adec:decorative xmlns:adec="http://schemas.microsoft.com/office/drawing/2017/decorative" val="1"/>
              </a:ext>
            </a:extLst>
          </p:cNvPr>
          <p:cNvSpPr/>
          <p:nvPr/>
        </p:nvSpPr>
        <p:spPr>
          <a:xfrm>
            <a:off x="8094164"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27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503691"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4122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4740270"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A3A95"/>
                </a:solidFill>
                <a:latin typeface="Segoe UI"/>
              </a:rPr>
              <a:t>Clustering</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Mathematics for Machine Learning</a:t>
            </a:r>
          </a:p>
        </p:txBody>
      </p:sp>
      <p:sp>
        <p:nvSpPr>
          <p:cNvPr id="68" name="!!chipBU3">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3">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3"/>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The Machine Learning Workflow and Toolkit</a:t>
            </a:r>
          </a:p>
        </p:txBody>
      </p:sp>
      <p:sp>
        <p:nvSpPr>
          <p:cNvPr id="71" name="!!chipBU11">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11">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11"/>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11  </a:t>
            </a:r>
            <a:r>
              <a:rPr sz="1400" b="0" i="0">
                <a:solidFill>
                  <a:srgbClr val="1C252B"/>
                </a:solidFill>
                <a:latin typeface="Segoe UI"/>
              </a:rPr>
              <a:t>Instance-Based Learning: k-Nearest Neighbours</a:t>
            </a:r>
          </a:p>
        </p:txBody>
      </p:sp>
      <p:sp>
        <p:nvSpPr>
          <p:cNvPr id="7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5" name="!!chipUS16">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16">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16"/>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16  </a:t>
            </a:r>
            <a:r>
              <a:rPr sz="1400" b="0" i="0">
                <a:solidFill>
                  <a:srgbClr val="1C252B"/>
                </a:solidFill>
                <a:latin typeface="Segoe UI"/>
              </a:rPr>
              <a:t>Dimensionality Reduction and Self-Organizing Maps</a:t>
            </a:r>
          </a:p>
        </p:txBody>
      </p:sp>
      <p:sp>
        <p:nvSpPr>
          <p:cNvPr id="78" name="!!chipUS17">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17">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17"/>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17  </a:t>
            </a:r>
            <a:r>
              <a:rPr sz="1400" b="0" i="0">
                <a:solidFill>
                  <a:srgbClr val="1C252B"/>
                </a:solidFill>
                <a:latin typeface="Segoe UI"/>
              </a:rPr>
              <a:t>Semi-Supervised Learning and the EM Algorithm</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53007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115     </a:t>
            </a:r>
            <a:fld id="{9E91F83F-7964-4D49-A9D9-80763C28C765}"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Explain</a:t>
            </a:r>
            <a:r>
              <a:rPr sz="2100" b="0" i="0">
                <a:solidFill>
                  <a:srgbClr val="1C252B"/>
                </a:solidFill>
                <a:latin typeface="Segoe UI"/>
              </a:rPr>
              <a:t> what clustering is for, and why its answer depends on choices the analyst makes.</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Trace</a:t>
            </a:r>
            <a:r>
              <a:rPr sz="2100" b="0" i="0">
                <a:solidFill>
                  <a:srgbClr val="1C252B"/>
                </a:solidFill>
                <a:latin typeface="Segoe UI"/>
              </a:rPr>
              <a:t> </a:t>
            </a:r>
            <a:r>
              <a:rPr sz="2100" b="0" i="1">
                <a:solidFill>
                  <a:srgbClr val="1C252B"/>
                </a:solidFill>
                <a:latin typeface="Cambria"/>
              </a:rPr>
              <a:t>k</a:t>
            </a:r>
            <a:r>
              <a:rPr sz="2100" b="0" i="0">
                <a:solidFill>
                  <a:srgbClr val="1C252B"/>
                </a:solidFill>
                <a:latin typeface="Segoe UI"/>
              </a:rPr>
              <a:t>-means by hand through assignment and update steps to convergence.</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664915"/>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Build</a:t>
            </a:r>
            <a:r>
              <a:rPr sz="2100" b="0" i="0">
                <a:solidFill>
                  <a:srgbClr val="1C252B"/>
                </a:solidFill>
                <a:latin typeface="Segoe UI"/>
              </a:rPr>
              <a:t> a dendrogram by hierarchical agglomerative clustering under single, complete and average linkage.</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6377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Choose</a:t>
            </a:r>
            <a:r>
              <a:rPr sz="2100" b="0" i="0">
                <a:solidFill>
                  <a:srgbClr val="1C252B"/>
                </a:solidFill>
                <a:latin typeface="Segoe UI"/>
              </a:rPr>
              <a:t> the number of clusters with the elbow method and the silhouette coefficient.</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6727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Evaluate</a:t>
            </a:r>
            <a:r>
              <a:rPr sz="2100" b="0" i="0">
                <a:solidFill>
                  <a:srgbClr val="1C252B"/>
                </a:solidFill>
                <a:latin typeface="Segoe UI"/>
              </a:rPr>
              <a:t> a clustering internally and, when labels exist, externally.</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951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115     </a:t>
            </a:r>
            <a:fld id="{97E99BD3-3825-40CD-8453-FFA26C8A2A93}" type="slidenum">
              <a:rPr lang="en-GB" sz="1000">
                <a:solidFill>
                  <a:srgbClr val="8795A1"/>
                </a:solidFill>
                <a:latin typeface="Segoe UI"/>
              </a:rPr>
              <a:t>4</a:t>
            </a:fld>
          </a:p>
        </p:txBody>
      </p:sp>
      <p:sp>
        <p:nvSpPr>
          <p:cNvPr id="7" name="!!term-clustering">
            <a:extLst>
              <a:ext uri="{C183D7F6-B498-43B3-948B-1728B52AA6E4}">
                <adec:decorative xmlns:adec="http://schemas.microsoft.com/office/drawing/2017/decorative" val="1"/>
              </a:ext>
            </a:extLst>
          </p:cNvPr>
          <p:cNvSpPr/>
          <p:nvPr/>
        </p:nvSpPr>
        <p:spPr>
          <a:xfrm>
            <a:off x="658368" y="1847088"/>
            <a:ext cx="133032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clustering">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clustering"/>
          <p:cNvSpPr txBox="1"/>
          <p:nvPr/>
        </p:nvSpPr>
        <p:spPr>
          <a:xfrm>
            <a:off x="950976" y="1962911"/>
            <a:ext cx="114744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clustering</a:t>
            </a:r>
          </a:p>
        </p:txBody>
      </p:sp>
      <p:sp>
        <p:nvSpPr>
          <p:cNvPr id="10" name="!!term-partitional vs">
            <a:extLst>
              <a:ext uri="{C183D7F6-B498-43B3-948B-1728B52AA6E4}">
                <adec:decorative xmlns:adec="http://schemas.microsoft.com/office/drawing/2017/decorative" val="1"/>
              </a:ext>
            </a:extLst>
          </p:cNvPr>
          <p:cNvSpPr/>
          <p:nvPr/>
        </p:nvSpPr>
        <p:spPr>
          <a:xfrm>
            <a:off x="2135000" y="1847088"/>
            <a:ext cx="27596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partitional vs">
            <a:extLst>
              <a:ext uri="{C183D7F6-B498-43B3-948B-1728B52AA6E4}">
                <adec:decorative xmlns:adec="http://schemas.microsoft.com/office/drawing/2017/decorative" val="1"/>
              </a:ext>
            </a:extLst>
          </p:cNvPr>
          <p:cNvSpPr/>
          <p:nvPr/>
        </p:nvSpPr>
        <p:spPr>
          <a:xfrm>
            <a:off x="226301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partitional vs"/>
          <p:cNvSpPr txBox="1"/>
          <p:nvPr/>
        </p:nvSpPr>
        <p:spPr>
          <a:xfrm>
            <a:off x="2427608" y="1962911"/>
            <a:ext cx="257677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partitional vs. hierarchical</a:t>
            </a:r>
          </a:p>
        </p:txBody>
      </p:sp>
      <p:sp>
        <p:nvSpPr>
          <p:cNvPr id="13" name="!!term-centroid">
            <a:extLst>
              <a:ext uri="{C183D7F6-B498-43B3-948B-1728B52AA6E4}">
                <adec:decorative xmlns:adec="http://schemas.microsoft.com/office/drawing/2017/decorative" val="1"/>
              </a:ext>
            </a:extLst>
          </p:cNvPr>
          <p:cNvSpPr/>
          <p:nvPr/>
        </p:nvSpPr>
        <p:spPr>
          <a:xfrm>
            <a:off x="5040961" y="1847088"/>
            <a:ext cx="11964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centroid">
            <a:extLst>
              <a:ext uri="{C183D7F6-B498-43B3-948B-1728B52AA6E4}">
                <adec:decorative xmlns:adec="http://schemas.microsoft.com/office/drawing/2017/decorative" val="1"/>
              </a:ext>
            </a:extLst>
          </p:cNvPr>
          <p:cNvSpPr/>
          <p:nvPr/>
        </p:nvSpPr>
        <p:spPr>
          <a:xfrm>
            <a:off x="516897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centroid"/>
          <p:cNvSpPr txBox="1"/>
          <p:nvPr/>
        </p:nvSpPr>
        <p:spPr>
          <a:xfrm>
            <a:off x="5333569" y="1962911"/>
            <a:ext cx="101353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centroid</a:t>
            </a:r>
          </a:p>
        </p:txBody>
      </p:sp>
      <p:sp>
        <p:nvSpPr>
          <p:cNvPr id="16" name="!!term-k-means (Lloyd">
            <a:extLst>
              <a:ext uri="{C183D7F6-B498-43B3-948B-1728B52AA6E4}">
                <adec:decorative xmlns:adec="http://schemas.microsoft.com/office/drawing/2017/decorative" val="1"/>
              </a:ext>
            </a:extLst>
          </p:cNvPr>
          <p:cNvSpPr/>
          <p:nvPr/>
        </p:nvSpPr>
        <p:spPr>
          <a:xfrm>
            <a:off x="6383685" y="1847088"/>
            <a:ext cx="29751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k-means (Lloyd">
            <a:extLst>
              <a:ext uri="{C183D7F6-B498-43B3-948B-1728B52AA6E4}">
                <adec:decorative xmlns:adec="http://schemas.microsoft.com/office/drawing/2017/decorative" val="1"/>
              </a:ext>
            </a:extLst>
          </p:cNvPr>
          <p:cNvSpPr/>
          <p:nvPr/>
        </p:nvSpPr>
        <p:spPr>
          <a:xfrm>
            <a:off x="651170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k-means (Lloyd"/>
          <p:cNvSpPr txBox="1"/>
          <p:nvPr/>
        </p:nvSpPr>
        <p:spPr>
          <a:xfrm>
            <a:off x="6676293" y="1962911"/>
            <a:ext cx="279231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k-means (Lloyd’s algorithm)</a:t>
            </a:r>
          </a:p>
        </p:txBody>
      </p:sp>
      <p:sp>
        <p:nvSpPr>
          <p:cNvPr id="19" name="!!term-within-cluster">
            <a:extLst>
              <a:ext uri="{C183D7F6-B498-43B3-948B-1728B52AA6E4}">
                <adec:decorative xmlns:adec="http://schemas.microsoft.com/office/drawing/2017/decorative" val="1"/>
              </a:ext>
            </a:extLst>
          </p:cNvPr>
          <p:cNvSpPr/>
          <p:nvPr/>
        </p:nvSpPr>
        <p:spPr>
          <a:xfrm>
            <a:off x="658368" y="2468880"/>
            <a:ext cx="38441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within-cluster">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within-cluster"/>
          <p:cNvSpPr txBox="1"/>
          <p:nvPr/>
        </p:nvSpPr>
        <p:spPr>
          <a:xfrm>
            <a:off x="950976" y="2584704"/>
            <a:ext cx="366125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within-cluster sum of squares (WCSS)</a:t>
            </a:r>
          </a:p>
        </p:txBody>
      </p:sp>
      <p:sp>
        <p:nvSpPr>
          <p:cNvPr id="22" name="!!term-local minimum">
            <a:extLst>
              <a:ext uri="{C183D7F6-B498-43B3-948B-1728B52AA6E4}">
                <adec:decorative xmlns:adec="http://schemas.microsoft.com/office/drawing/2017/decorative" val="1"/>
              </a:ext>
            </a:extLst>
          </p:cNvPr>
          <p:cNvSpPr/>
          <p:nvPr/>
        </p:nvSpPr>
        <p:spPr>
          <a:xfrm>
            <a:off x="4648805" y="2468880"/>
            <a:ext cx="17890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local minimum">
            <a:extLst>
              <a:ext uri="{C183D7F6-B498-43B3-948B-1728B52AA6E4}">
                <adec:decorative xmlns:adec="http://schemas.microsoft.com/office/drawing/2017/decorative" val="1"/>
              </a:ext>
            </a:extLst>
          </p:cNvPr>
          <p:cNvSpPr/>
          <p:nvPr/>
        </p:nvSpPr>
        <p:spPr>
          <a:xfrm>
            <a:off x="477682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local minimum"/>
          <p:cNvSpPr txBox="1"/>
          <p:nvPr/>
        </p:nvSpPr>
        <p:spPr>
          <a:xfrm>
            <a:off x="4941413" y="2584704"/>
            <a:ext cx="160614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local minimum</a:t>
            </a:r>
          </a:p>
        </p:txBody>
      </p:sp>
      <p:sp>
        <p:nvSpPr>
          <p:cNvPr id="25" name="!!term-k-means++">
            <a:extLst>
              <a:ext uri="{C183D7F6-B498-43B3-948B-1728B52AA6E4}">
                <adec:decorative xmlns:adec="http://schemas.microsoft.com/office/drawing/2017/decorative" val="1"/>
              </a:ext>
            </a:extLst>
          </p:cNvPr>
          <p:cNvSpPr/>
          <p:nvPr/>
        </p:nvSpPr>
        <p:spPr>
          <a:xfrm>
            <a:off x="6584138" y="2468880"/>
            <a:ext cx="15056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k-means++">
            <a:extLst>
              <a:ext uri="{C183D7F6-B498-43B3-948B-1728B52AA6E4}">
                <adec:decorative xmlns:adec="http://schemas.microsoft.com/office/drawing/2017/decorative" val="1"/>
              </a:ext>
            </a:extLst>
          </p:cNvPr>
          <p:cNvSpPr/>
          <p:nvPr/>
        </p:nvSpPr>
        <p:spPr>
          <a:xfrm>
            <a:off x="671215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k-means++"/>
          <p:cNvSpPr txBox="1"/>
          <p:nvPr/>
        </p:nvSpPr>
        <p:spPr>
          <a:xfrm>
            <a:off x="6876746" y="2584704"/>
            <a:ext cx="132280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k-means++</a:t>
            </a:r>
          </a:p>
        </p:txBody>
      </p:sp>
      <p:sp>
        <p:nvSpPr>
          <p:cNvPr id="28" name="!!term-agglomerative ">
            <a:extLst>
              <a:ext uri="{C183D7F6-B498-43B3-948B-1728B52AA6E4}">
                <adec:decorative xmlns:adec="http://schemas.microsoft.com/office/drawing/2017/decorative" val="1"/>
              </a:ext>
            </a:extLst>
          </p:cNvPr>
          <p:cNvSpPr/>
          <p:nvPr/>
        </p:nvSpPr>
        <p:spPr>
          <a:xfrm>
            <a:off x="8236129" y="2468880"/>
            <a:ext cx="270094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agglomerative ">
            <a:extLst>
              <a:ext uri="{C183D7F6-B498-43B3-948B-1728B52AA6E4}">
                <adec:decorative xmlns:adec="http://schemas.microsoft.com/office/drawing/2017/decorative" val="1"/>
              </a:ext>
            </a:extLst>
          </p:cNvPr>
          <p:cNvSpPr/>
          <p:nvPr/>
        </p:nvSpPr>
        <p:spPr>
          <a:xfrm>
            <a:off x="836414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agglomerative "/>
          <p:cNvSpPr txBox="1"/>
          <p:nvPr/>
        </p:nvSpPr>
        <p:spPr>
          <a:xfrm>
            <a:off x="8528737" y="2584704"/>
            <a:ext cx="251806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agglomerative clustering</a:t>
            </a:r>
          </a:p>
        </p:txBody>
      </p:sp>
      <p:sp>
        <p:nvSpPr>
          <p:cNvPr id="31" name="!!term-dendrogram">
            <a:extLst>
              <a:ext uri="{C183D7F6-B498-43B3-948B-1728B52AA6E4}">
                <adec:decorative xmlns:adec="http://schemas.microsoft.com/office/drawing/2017/decorative" val="1"/>
              </a:ext>
            </a:extLst>
          </p:cNvPr>
          <p:cNvSpPr/>
          <p:nvPr/>
        </p:nvSpPr>
        <p:spPr>
          <a:xfrm>
            <a:off x="658368" y="3090672"/>
            <a:ext cx="15804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dendrogram">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dendrogram"/>
          <p:cNvSpPr txBox="1"/>
          <p:nvPr/>
        </p:nvSpPr>
        <p:spPr>
          <a:xfrm>
            <a:off x="950976" y="3206496"/>
            <a:ext cx="139760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dendrogram</a:t>
            </a:r>
          </a:p>
        </p:txBody>
      </p:sp>
      <p:sp>
        <p:nvSpPr>
          <p:cNvPr id="34" name="!!term-single, comple">
            <a:extLst>
              <a:ext uri="{C183D7F6-B498-43B3-948B-1728B52AA6E4}">
                <adec:decorative xmlns:adec="http://schemas.microsoft.com/office/drawing/2017/decorative" val="1"/>
              </a:ext>
            </a:extLst>
          </p:cNvPr>
          <p:cNvSpPr/>
          <p:nvPr/>
        </p:nvSpPr>
        <p:spPr>
          <a:xfrm>
            <a:off x="2385152" y="3090672"/>
            <a:ext cx="44194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single, comple">
            <a:extLst>
              <a:ext uri="{C183D7F6-B498-43B3-948B-1728B52AA6E4}">
                <adec:decorative xmlns:adec="http://schemas.microsoft.com/office/drawing/2017/decorative" val="1"/>
              </a:ext>
            </a:extLst>
          </p:cNvPr>
          <p:cNvSpPr/>
          <p:nvPr/>
        </p:nvSpPr>
        <p:spPr>
          <a:xfrm>
            <a:off x="251316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single, comple"/>
          <p:cNvSpPr txBox="1"/>
          <p:nvPr/>
        </p:nvSpPr>
        <p:spPr>
          <a:xfrm>
            <a:off x="2677760" y="3206496"/>
            <a:ext cx="423653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single, complete, average and Ward linkage</a:t>
            </a:r>
          </a:p>
        </p:txBody>
      </p:sp>
      <p:sp>
        <p:nvSpPr>
          <p:cNvPr id="37" name="!!term-chaining">
            <a:extLst>
              <a:ext uri="{C183D7F6-B498-43B3-948B-1728B52AA6E4}">
                <adec:decorative xmlns:adec="http://schemas.microsoft.com/office/drawing/2017/decorative" val="1"/>
              </a:ext>
            </a:extLst>
          </p:cNvPr>
          <p:cNvSpPr/>
          <p:nvPr/>
        </p:nvSpPr>
        <p:spPr>
          <a:xfrm>
            <a:off x="6950873" y="3090672"/>
            <a:ext cx="12144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chaining">
            <a:extLst>
              <a:ext uri="{C183D7F6-B498-43B3-948B-1728B52AA6E4}">
                <adec:decorative xmlns:adec="http://schemas.microsoft.com/office/drawing/2017/decorative" val="1"/>
              </a:ext>
            </a:extLst>
          </p:cNvPr>
          <p:cNvSpPr/>
          <p:nvPr/>
        </p:nvSpPr>
        <p:spPr>
          <a:xfrm>
            <a:off x="707888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chaining"/>
          <p:cNvSpPr txBox="1"/>
          <p:nvPr/>
        </p:nvSpPr>
        <p:spPr>
          <a:xfrm>
            <a:off x="7243481" y="3206496"/>
            <a:ext cx="103161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chaining</a:t>
            </a:r>
          </a:p>
        </p:txBody>
      </p:sp>
      <p:sp>
        <p:nvSpPr>
          <p:cNvPr id="40" name="!!term-elbow method">
            <a:extLst>
              <a:ext uri="{C183D7F6-B498-43B3-948B-1728B52AA6E4}">
                <adec:decorative xmlns:adec="http://schemas.microsoft.com/office/drawing/2017/decorative" val="1"/>
              </a:ext>
            </a:extLst>
          </p:cNvPr>
          <p:cNvSpPr/>
          <p:nvPr/>
        </p:nvSpPr>
        <p:spPr>
          <a:xfrm>
            <a:off x="8311671" y="3090672"/>
            <a:ext cx="176540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elbow method">
            <a:extLst>
              <a:ext uri="{C183D7F6-B498-43B3-948B-1728B52AA6E4}">
                <adec:decorative xmlns:adec="http://schemas.microsoft.com/office/drawing/2017/decorative" val="1"/>
              </a:ext>
            </a:extLst>
          </p:cNvPr>
          <p:cNvSpPr/>
          <p:nvPr/>
        </p:nvSpPr>
        <p:spPr>
          <a:xfrm>
            <a:off x="843968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elbow method"/>
          <p:cNvSpPr txBox="1"/>
          <p:nvPr/>
        </p:nvSpPr>
        <p:spPr>
          <a:xfrm>
            <a:off x="8604279" y="3206496"/>
            <a:ext cx="158252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elbow method</a:t>
            </a:r>
          </a:p>
        </p:txBody>
      </p:sp>
      <p:sp>
        <p:nvSpPr>
          <p:cNvPr id="43" name="!!term-silhouette coe">
            <a:extLst>
              <a:ext uri="{C183D7F6-B498-43B3-948B-1728B52AA6E4}">
                <adec:decorative xmlns:adec="http://schemas.microsoft.com/office/drawing/2017/decorative" val="1"/>
              </a:ext>
            </a:extLst>
          </p:cNvPr>
          <p:cNvSpPr/>
          <p:nvPr/>
        </p:nvSpPr>
        <p:spPr>
          <a:xfrm>
            <a:off x="658368" y="3712464"/>
            <a:ext cx="234467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silhouette coe">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silhouette coe"/>
          <p:cNvSpPr txBox="1"/>
          <p:nvPr/>
        </p:nvSpPr>
        <p:spPr>
          <a:xfrm>
            <a:off x="950976" y="3828288"/>
            <a:ext cx="216179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silhouette coefficient</a:t>
            </a:r>
          </a:p>
        </p:txBody>
      </p:sp>
      <p:sp>
        <p:nvSpPr>
          <p:cNvPr id="46" name="!!term-adjusted Rand ">
            <a:extLst>
              <a:ext uri="{C183D7F6-B498-43B3-948B-1728B52AA6E4}">
                <adec:decorative xmlns:adec="http://schemas.microsoft.com/office/drawing/2017/decorative" val="1"/>
              </a:ext>
            </a:extLst>
          </p:cNvPr>
          <p:cNvSpPr/>
          <p:nvPr/>
        </p:nvSpPr>
        <p:spPr>
          <a:xfrm>
            <a:off x="3149350" y="3712464"/>
            <a:ext cx="22980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adjusted Rand ">
            <a:extLst>
              <a:ext uri="{C183D7F6-B498-43B3-948B-1728B52AA6E4}">
                <adec:decorative xmlns:adec="http://schemas.microsoft.com/office/drawing/2017/decorative" val="1"/>
              </a:ext>
            </a:extLst>
          </p:cNvPr>
          <p:cNvSpPr/>
          <p:nvPr/>
        </p:nvSpPr>
        <p:spPr>
          <a:xfrm>
            <a:off x="3277366"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adjusted Rand "/>
          <p:cNvSpPr txBox="1"/>
          <p:nvPr/>
        </p:nvSpPr>
        <p:spPr>
          <a:xfrm>
            <a:off x="3441958" y="3828288"/>
            <a:ext cx="211516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adjusted Rand index</a:t>
            </a:r>
          </a:p>
        </p:txBody>
      </p:sp>
      <p:sp>
        <p:nvSpPr>
          <p:cNvPr id="49"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pfill">
            <a:extLst>
              <a:ext uri="{C183D7F6-B498-43B3-948B-1728B52AA6E4}">
                <adec:decorative xmlns:adec="http://schemas.microsoft.com/office/drawing/2017/decorative" val="1"/>
              </a:ext>
            </a:extLst>
          </p:cNvPr>
          <p:cNvSpPr/>
          <p:nvPr/>
        </p:nvSpPr>
        <p:spPr>
          <a:xfrm>
            <a:off x="0" y="0"/>
            <a:ext cx="10601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115–120     </a:t>
            </a:r>
            <a:fld id="{E13E20C0-8E83-47E8-8C07-4F635096ED6D}" type="slidenum">
              <a:rPr lang="en-GB" sz="1000">
                <a:solidFill>
                  <a:srgbClr val="8795A1"/>
                </a:solidFill>
                <a:latin typeface="Segoe UI"/>
              </a:rPr>
              <a:t>5</a:t>
            </a:fld>
          </a:p>
        </p:txBody>
      </p:sp>
      <p:sp>
        <p:nvSpPr>
          <p:cNvPr id="7" name="!!ag0" descr="Go to section 15.1 Finding Groups Without Label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15.1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Finding Groups Without Labels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115  ›</a:t>
            </a:r>
          </a:p>
        </p:txBody>
      </p:sp>
      <p:sp>
        <p:nvSpPr>
          <p:cNvPr id="12" name="!!ag1" descr="Go to section 15.2 k-Mean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15.2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k-Means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115  ›</a:t>
            </a:r>
          </a:p>
        </p:txBody>
      </p:sp>
      <p:sp>
        <p:nvSpPr>
          <p:cNvPr id="17" name="!!ag2" descr="Go to section 15.3 Hierarchical Agglomerative Clustering">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15.3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Hierarchical Agglomerative Clustering</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117  ›</a:t>
            </a:r>
          </a:p>
        </p:txBody>
      </p:sp>
      <p:sp>
        <p:nvSpPr>
          <p:cNvPr id="22" name="!!ag3" descr="Go to section 15.4 How Many Cluster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15.4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How Many Clusters?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118  ›</a:t>
            </a:r>
          </a:p>
        </p:txBody>
      </p:sp>
      <p:sp>
        <p:nvSpPr>
          <p:cNvPr id="27" name="!!ag4" descr="Go to section 15.5 Beyond the HEC Outline">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15.5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Beyond the HEC Outline</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118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3251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Finding Groups Without Labels</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§15.1  ·  Handout p. 115     </a:t>
            </a:r>
            <a:fld id="{18DEE991-1AB2-4051-9732-B5B263919377}"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3952697"/>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1A5276"/>
                </a:solidFill>
                <a:latin typeface="Segoe UI"/>
              </a:rPr>
              <a:t>Clustering</a:t>
            </a:r>
            <a:r>
              <a:rPr sz="2200" b="0" i="0">
                <a:solidFill>
                  <a:srgbClr val="1C252B"/>
                </a:solidFill>
                <a:latin typeface="Segoe UI"/>
              </a:rPr>
              <a:t> divides examples into groups — </a:t>
            </a:r>
            <a:r>
              <a:rPr sz="2200" b="1" i="0">
                <a:solidFill>
                  <a:srgbClr val="1A5276"/>
                </a:solidFill>
                <a:latin typeface="Segoe UI"/>
              </a:rPr>
              <a:t>clusters</a:t>
            </a:r>
            <a:r>
              <a:rPr sz="2200" b="0" i="0">
                <a:solidFill>
                  <a:srgbClr val="1C252B"/>
                </a:solidFill>
                <a:latin typeface="Segoe UI"/>
              </a:rPr>
              <a:t> — so that examples in the same group are similar and examples in different groups are not. There are no labels to learn from and no right answer to check against. What counts as “similar” is a choice (of features, their scaling and a distance), and so is the number of groups; change either and the clusters change.</a:t>
            </a:r>
          </a:p>
        </p:txBody>
      </p:sp>
      <p:sp>
        <p:nvSpPr>
          <p:cNvPr id="9" name="body-1"/>
          <p:cNvSpPr txBox="1"/>
          <p:nvPr/>
        </p:nvSpPr>
        <p:spPr>
          <a:xfrm>
            <a:off x="1042415" y="3689350"/>
            <a:ext cx="1041775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That makes clustering exploratory: a way of proposing structure for a person to examine. Customer segments, kinds of network traffic, families of malware, modes in which a machine operates — each is a clustering that someone then named and decided was useful. Two families of algorithm cover the HEC outline: </a:t>
            </a:r>
            <a:r>
              <a:rPr sz="2200" b="1" i="0">
                <a:solidFill>
                  <a:srgbClr val="1A5276"/>
                </a:solidFill>
                <a:latin typeface="Segoe UI"/>
              </a:rPr>
              <a:t>partitional</a:t>
            </a:r>
            <a:r>
              <a:rPr sz="2200" b="0" i="0">
                <a:solidFill>
                  <a:srgbClr val="1C252B"/>
                </a:solidFill>
                <a:latin typeface="Segoe UI"/>
              </a:rPr>
              <a:t> methods such as </a:t>
            </a:r>
            <a:r>
              <a:rPr sz="2200" b="0" i="1">
                <a:solidFill>
                  <a:srgbClr val="1C252B"/>
                </a:solidFill>
                <a:latin typeface="Cambria"/>
              </a:rPr>
              <a:t>k</a:t>
            </a:r>
            <a:r>
              <a:rPr sz="2200" b="0" i="0">
                <a:solidFill>
                  <a:srgbClr val="1C252B"/>
                </a:solidFill>
                <a:latin typeface="Segoe UI"/>
              </a:rPr>
              <a:t>-means divide the data into a fixed number of groups; </a:t>
            </a:r>
            <a:r>
              <a:rPr sz="2200" b="1" i="0">
                <a:solidFill>
                  <a:srgbClr val="1A5276"/>
                </a:solidFill>
                <a:latin typeface="Segoe UI"/>
              </a:rPr>
              <a:t>hierarchical</a:t>
            </a:r>
            <a:r>
              <a:rPr sz="2200" b="0" i="0">
                <a:solidFill>
                  <a:srgbClr val="1C252B"/>
                </a:solidFill>
                <a:latin typeface="Segoe UI"/>
              </a:rPr>
              <a:t> methods build a whole tree of nested groupings.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59022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k-Means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15.2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15.1   Finding Groups Without Labels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15.2   k-Means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15.3   Hierarchical Agglomerative Clustering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15.4   How Many Clusters?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15.5   Beyond the HEC Outline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§15.2     </a:t>
            </a:r>
            <a:fld id="{C1F81E26-F1D3-42C8-B6C1-92DF72E54626}" type="slidenum">
              <a:rPr lang="en-GB" sz="1000">
                <a:solidFill>
                  <a:srgbClr val="8795A1"/>
                </a:solidFill>
                <a:latin typeface="Segoe UI"/>
              </a:rPr>
              <a:t>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85525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k-Means (Lloyd’s Algorithm)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§15.2  ·  Handout p. 115     </a:t>
            </a:r>
            <a:fld id="{CE95237F-E0C8-4F1F-83B1-190E6EBA5F08}"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78426"/>
          </a:xfrm>
          <a:prstGeom prst="roundRect">
            <a:avLst>
              <a:gd name="adj" fmla="val 204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7842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Choose </a:t>
            </a:r>
            <a:r>
              <a:rPr sz="2200" b="0" i="1">
                <a:solidFill>
                  <a:srgbClr val="1C252B"/>
                </a:solidFill>
                <a:latin typeface="Cambria"/>
              </a:rPr>
              <a:t>k</a:t>
            </a:r>
            <a:r>
              <a:rPr sz="2200" b="0" i="0">
                <a:solidFill>
                  <a:srgbClr val="1C252B"/>
                </a:solidFill>
                <a:latin typeface="Segoe UI"/>
              </a:rPr>
              <a:t> and place </a:t>
            </a:r>
            <a:r>
              <a:rPr sz="2200" b="0" i="1">
                <a:solidFill>
                  <a:srgbClr val="1C252B"/>
                </a:solidFill>
                <a:latin typeface="Cambria"/>
              </a:rPr>
              <a:t>k</a:t>
            </a:r>
            <a:r>
              <a:rPr sz="2200" b="0" i="0">
                <a:solidFill>
                  <a:srgbClr val="1C252B"/>
                </a:solidFill>
                <a:latin typeface="Segoe UI"/>
              </a:rPr>
              <a:t> initial </a:t>
            </a:r>
            <a:r>
              <a:rPr sz="2200" b="1" i="0">
                <a:solidFill>
                  <a:srgbClr val="1A5276"/>
                </a:solidFill>
                <a:latin typeface="Segoe UI"/>
              </a:rPr>
              <a:t>centroids</a:t>
            </a:r>
            <a:r>
              <a:rPr sz="2200" b="0" i="0">
                <a:solidFill>
                  <a:srgbClr val="1C252B"/>
                </a:solidFill>
                <a:latin typeface="Segoe UI"/>
              </a:rPr>
              <a:t>. Repeat until nothing changes:</a:t>
            </a:r>
          </a:p>
        </p:txBody>
      </p:sp>
      <p:sp>
        <p:nvSpPr>
          <p:cNvPr id="10" name="body-1"/>
          <p:cNvSpPr txBox="1"/>
          <p:nvPr/>
        </p:nvSpPr>
        <p:spPr>
          <a:xfrm>
            <a:off x="1060704" y="2550617"/>
            <a:ext cx="10161727" cy="840892"/>
          </a:xfrm>
          <a:prstGeom prst="rect">
            <a:avLst/>
          </a:prstGeom>
          <a:noFill/>
        </p:spPr>
        <p:txBody>
          <a:bodyPr wrap="square" anchor="t" lIns="0" rIns="0" tIns="0" bIns="0">
            <a:noAutofit/>
          </a:bodyPr>
          <a:lstStyle/>
          <a:p>
            <a:pPr algn="l" marL="530697" indent="-530697">
              <a:lnSpc>
                <a:spcPct val="104000"/>
              </a:lnSpc>
              <a:spcBef>
                <a:spcPts val="0"/>
              </a:spcBef>
              <a:spcAft>
                <a:spcPts val="769"/>
              </a:spcAft>
            </a:pPr>
            <a:r>
              <a:rPr sz="2200" b="1">
                <a:solidFill>
                  <a:srgbClr val="8A4500"/>
                </a:solidFill>
                <a:latin typeface="Segoe UI"/>
              </a:rPr>
              <a:t>1.	</a:t>
            </a:r>
            <a:r>
              <a:rPr sz="2200" b="1" i="0">
                <a:solidFill>
                  <a:srgbClr val="8A4500"/>
                </a:solidFill>
                <a:latin typeface="Segoe UI"/>
              </a:rPr>
              <a:t>Assign</a:t>
            </a:r>
            <a:r>
              <a:rPr sz="2200" b="0" i="0">
                <a:solidFill>
                  <a:srgbClr val="1C252B"/>
                </a:solidFill>
                <a:latin typeface="Segoe UI"/>
              </a:rPr>
              <a:t> each example to its nearest centroid.</a:t>
            </a:r>
          </a:p>
          <a:p>
            <a:pPr algn="l" marL="530697" indent="-530697">
              <a:lnSpc>
                <a:spcPct val="104000"/>
              </a:lnSpc>
              <a:spcBef>
                <a:spcPts val="0"/>
              </a:spcBef>
              <a:spcAft>
                <a:spcPts val="0"/>
              </a:spcAft>
            </a:pPr>
            <a:r>
              <a:rPr sz="2200" b="1">
                <a:solidFill>
                  <a:srgbClr val="8A4500"/>
                </a:solidFill>
                <a:latin typeface="Segoe UI"/>
              </a:rPr>
              <a:t>2.	</a:t>
            </a:r>
            <a:r>
              <a:rPr sz="2200" b="1" i="0">
                <a:solidFill>
                  <a:srgbClr val="8A4500"/>
                </a:solidFill>
                <a:latin typeface="Segoe UI"/>
              </a:rPr>
              <a:t>Update</a:t>
            </a:r>
            <a:r>
              <a:rPr sz="2200" b="0" i="0">
                <a:solidFill>
                  <a:srgbClr val="1C252B"/>
                </a:solidFill>
                <a:latin typeface="Segoe UI"/>
              </a:rPr>
              <a:t> each centroid to the mean of the examples assigned to it.</a:t>
            </a:r>
          </a:p>
        </p:txBody>
      </p:sp>
      <p:sp>
        <p:nvSpPr>
          <p:cNvPr id="11" name="body-2"/>
          <p:cNvSpPr txBox="1"/>
          <p:nvPr/>
        </p:nvSpPr>
        <p:spPr>
          <a:xfrm>
            <a:off x="1060704" y="3499459"/>
            <a:ext cx="10161727"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Each step can only lower the </a:t>
            </a:r>
            <a:r>
              <a:rPr sz="2200" b="1" i="0">
                <a:solidFill>
                  <a:srgbClr val="1A5276"/>
                </a:solidFill>
                <a:latin typeface="Segoe UI"/>
              </a:rPr>
              <a:t>within-cluster sum of squares</a:t>
            </a:r>
          </a:p>
        </p:txBody>
      </p:sp>
      <p:pic>
        <p:nvPicPr>
          <p:cNvPr id="12" name="body-3" descr="\text{WCSS} = \sum_{j=1}^{k}\ \sum_{\mathbf{x} \in C_j} \|\mathbf{x} - \boldsymbol{\mu}_j\|^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4001820"/>
            <a:ext cx="10161727" cy="1052017"/>
          </a:xfrm>
          <a:prstGeom prst="rect">
            <a:avLst/>
          </a:prstGeom>
        </p:spPr>
      </p:pic>
      <p:sp>
        <p:nvSpPr>
          <p:cNvPr id="13" name="body-4"/>
          <p:cNvSpPr txBox="1"/>
          <p:nvPr/>
        </p:nvSpPr>
        <p:spPr>
          <a:xfrm>
            <a:off x="1060704" y="5207508"/>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so the algorithm always converges — but to a </a:t>
            </a:r>
            <a:r>
              <a:rPr sz="2200" b="1" i="0">
                <a:solidFill>
                  <a:srgbClr val="1A5276"/>
                </a:solidFill>
                <a:latin typeface="Segoe UI"/>
              </a:rPr>
              <a:t>local</a:t>
            </a:r>
            <a:r>
              <a:rPr sz="2200" b="0" i="0">
                <a:solidFill>
                  <a:srgbClr val="1C252B"/>
                </a:solidFill>
                <a:latin typeface="Segoe UI"/>
              </a:rPr>
              <a:t> minimum that depends on where it started.</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12029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k-Means by Hand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§15.2  ·  Handout p. 115     </a:t>
            </a:r>
            <a:fld id="{833A36FA-744B-4E04-BF72-5D0382B628E7}"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36796"/>
          </a:xfrm>
          <a:prstGeom prst="roundRect">
            <a:avLst>
              <a:gd name="adj" fmla="val 2383"/>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367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58460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Seven points: A1 </a:t>
            </a:r>
            <a:r>
              <a:rPr sz="1700" b="0" i="0">
                <a:solidFill>
                  <a:srgbClr val="1C252B"/>
                </a:solidFill>
                <a:latin typeface="Cambria"/>
              </a:rPr>
              <a:t>(1, 1)</a:t>
            </a:r>
            <a:r>
              <a:rPr sz="1700" b="0" i="0">
                <a:solidFill>
                  <a:srgbClr val="1C252B"/>
                </a:solidFill>
                <a:latin typeface="Segoe UI"/>
              </a:rPr>
              <a:t>, A2 </a:t>
            </a:r>
            <a:r>
              <a:rPr sz="1700" b="0" i="0">
                <a:solidFill>
                  <a:srgbClr val="1C252B"/>
                </a:solidFill>
                <a:latin typeface="Cambria"/>
              </a:rPr>
              <a:t>(1.5, 2)</a:t>
            </a:r>
            <a:r>
              <a:rPr sz="1700" b="0" i="0">
                <a:solidFill>
                  <a:srgbClr val="1C252B"/>
                </a:solidFill>
                <a:latin typeface="Segoe UI"/>
              </a:rPr>
              <a:t>, A3 </a:t>
            </a:r>
            <a:r>
              <a:rPr sz="1700" b="0" i="0">
                <a:solidFill>
                  <a:srgbClr val="1C252B"/>
                </a:solidFill>
                <a:latin typeface="Cambria"/>
              </a:rPr>
              <a:t>(3, 4)</a:t>
            </a:r>
            <a:r>
              <a:rPr sz="1700" b="0" i="0">
                <a:solidFill>
                  <a:srgbClr val="1C252B"/>
                </a:solidFill>
                <a:latin typeface="Segoe UI"/>
              </a:rPr>
              <a:t>, A4 </a:t>
            </a:r>
            <a:r>
              <a:rPr sz="1700" b="0" i="0">
                <a:solidFill>
                  <a:srgbClr val="1C252B"/>
                </a:solidFill>
                <a:latin typeface="Cambria"/>
              </a:rPr>
              <a:t>(5, 7)</a:t>
            </a:r>
            <a:r>
              <a:rPr sz="1700" b="0" i="0">
                <a:solidFill>
                  <a:srgbClr val="1C252B"/>
                </a:solidFill>
                <a:latin typeface="Segoe UI"/>
              </a:rPr>
              <a:t>, A5 </a:t>
            </a:r>
            <a:r>
              <a:rPr sz="1700" b="0" i="0">
                <a:solidFill>
                  <a:srgbClr val="1C252B"/>
                </a:solidFill>
                <a:latin typeface="Cambria"/>
              </a:rPr>
              <a:t>(3.5, 5)</a:t>
            </a:r>
            <a:r>
              <a:rPr sz="1700" b="0" i="0">
                <a:solidFill>
                  <a:srgbClr val="1C252B"/>
                </a:solidFill>
                <a:latin typeface="Segoe UI"/>
              </a:rPr>
              <a:t>, A6 </a:t>
            </a:r>
            <a:r>
              <a:rPr sz="1700" b="0" i="0">
                <a:solidFill>
                  <a:srgbClr val="1C252B"/>
                </a:solidFill>
                <a:latin typeface="Cambria"/>
              </a:rPr>
              <a:t>(4.5, 5)</a:t>
            </a:r>
            <a:r>
              <a:rPr sz="1700" b="0" i="0">
                <a:solidFill>
                  <a:srgbClr val="1C252B"/>
                </a:solidFill>
                <a:latin typeface="Segoe UI"/>
              </a:rPr>
              <a:t>, A7 </a:t>
            </a:r>
            <a:r>
              <a:rPr sz="1700" b="0" i="0">
                <a:solidFill>
                  <a:srgbClr val="1C252B"/>
                </a:solidFill>
                <a:latin typeface="Cambria"/>
              </a:rPr>
              <a:t>(3.5, 4.5)</a:t>
            </a:r>
            <a:r>
              <a:rPr sz="1700" b="0" i="0">
                <a:solidFill>
                  <a:srgbClr val="1C252B"/>
                </a:solidFill>
                <a:latin typeface="Segoe UI"/>
              </a:rPr>
              <a:t>. </a:t>
            </a:r>
            <a:r>
              <a:rPr sz="1700" b="0" i="1">
                <a:solidFill>
                  <a:srgbClr val="1C252B"/>
                </a:solidFill>
                <a:latin typeface="Cambria"/>
              </a:rPr>
              <a:t>k</a:t>
            </a:r>
            <a:r>
              <a:rPr sz="1700" b="0" i="0">
                <a:solidFill>
                  <a:srgbClr val="1C252B"/>
                </a:solidFill>
                <a:latin typeface="Cambria"/>
              </a:rPr>
              <a:t> = 2</a:t>
            </a:r>
            <a:r>
              <a:rPr sz="1700" b="0" i="0">
                <a:solidFill>
                  <a:srgbClr val="1C252B"/>
                </a:solidFill>
                <a:latin typeface="Segoe UI"/>
              </a:rPr>
              <a:t>, with initial centroids A2 and A4.</a:t>
            </a:r>
          </a:p>
        </p:txBody>
      </p:sp>
      <p:sp>
        <p:nvSpPr>
          <p:cNvPr id="10" name="body-1"/>
          <p:cNvSpPr txBox="1"/>
          <p:nvPr/>
        </p:nvSpPr>
        <p:spPr>
          <a:xfrm>
            <a:off x="1042416" y="2669311"/>
            <a:ext cx="10234879" cy="58460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Iteration 1 — assign.</a:t>
            </a:r>
            <a:r>
              <a:rPr sz="1700" b="0" i="0">
                <a:solidFill>
                  <a:srgbClr val="1C252B"/>
                </a:solidFill>
                <a:latin typeface="Segoe UI"/>
              </a:rPr>
              <a:t> Distances to </a:t>
            </a:r>
            <a:r>
              <a:rPr sz="1700" b="0" i="0">
                <a:solidFill>
                  <a:srgbClr val="1C252B"/>
                </a:solidFill>
                <a:latin typeface="Cambria"/>
              </a:rPr>
              <a:t>μ</a:t>
            </a:r>
            <a:r>
              <a:rPr sz="1700" b="0" i="0" baseline="-25000">
                <a:solidFill>
                  <a:srgbClr val="1C252B"/>
                </a:solidFill>
                <a:latin typeface="Cambria"/>
              </a:rPr>
              <a:t>1</a:t>
            </a:r>
            <a:r>
              <a:rPr sz="1700" b="0" i="0">
                <a:solidFill>
                  <a:srgbClr val="1C252B"/>
                </a:solidFill>
                <a:latin typeface="Cambria"/>
              </a:rPr>
              <a:t> = (1.5, 2)</a:t>
            </a:r>
            <a:r>
              <a:rPr sz="1700" b="0" i="0">
                <a:solidFill>
                  <a:srgbClr val="1C252B"/>
                </a:solidFill>
                <a:latin typeface="Segoe UI"/>
              </a:rPr>
              <a:t> and </a:t>
            </a:r>
            <a:r>
              <a:rPr sz="1700" b="0" i="0">
                <a:solidFill>
                  <a:srgbClr val="1C252B"/>
                </a:solidFill>
                <a:latin typeface="Cambria"/>
              </a:rPr>
              <a:t>μ</a:t>
            </a:r>
            <a:r>
              <a:rPr sz="1700" b="0" i="0" baseline="-25000">
                <a:solidFill>
                  <a:srgbClr val="1C252B"/>
                </a:solidFill>
                <a:latin typeface="Cambria"/>
              </a:rPr>
              <a:t>2</a:t>
            </a:r>
            <a:r>
              <a:rPr sz="1700" b="0" i="0">
                <a:solidFill>
                  <a:srgbClr val="1C252B"/>
                </a:solidFill>
                <a:latin typeface="Cambria"/>
              </a:rPr>
              <a:t> = (5, 7)</a:t>
            </a:r>
            <a:r>
              <a:rPr sz="1700" b="0" i="0">
                <a:solidFill>
                  <a:srgbClr val="1C252B"/>
                </a:solidFill>
                <a:latin typeface="Segoe UI"/>
              </a:rPr>
              <a:t>: A1 1.12 / 7.21; A2 0 / 6.10; A3 2.50 / 3.61; A4 6.10 / 0; A5 3.61 / 2.50; A6 4.24 / 2.06; A7 3.20 / 2.92. So </a:t>
            </a:r>
            <a:r>
              <a:rPr sz="1700" b="0" i="1">
                <a:solidFill>
                  <a:srgbClr val="1C252B"/>
                </a:solidFill>
                <a:latin typeface="Cambria"/>
              </a:rPr>
              <a:t>C</a:t>
            </a:r>
            <a:r>
              <a:rPr sz="1700" b="0" i="0" baseline="-25000">
                <a:solidFill>
                  <a:srgbClr val="1C252B"/>
                </a:solidFill>
                <a:latin typeface="Cambria"/>
              </a:rPr>
              <a:t>1</a:t>
            </a:r>
            <a:r>
              <a:rPr sz="1700" b="0" i="0">
                <a:solidFill>
                  <a:srgbClr val="1C252B"/>
                </a:solidFill>
                <a:latin typeface="Cambria"/>
              </a:rPr>
              <a:t> = {</a:t>
            </a:r>
            <a:r>
              <a:rPr sz="1700" b="0" i="0">
                <a:solidFill>
                  <a:srgbClr val="1C252B"/>
                </a:solidFill>
                <a:latin typeface="Segoe UI"/>
              </a:rPr>
              <a:t>A1, A2, A3</a:t>
            </a:r>
            <a:r>
              <a:rPr sz="1700" b="0" i="0">
                <a:solidFill>
                  <a:srgbClr val="1C252B"/>
                </a:solidFill>
                <a:latin typeface="Cambria"/>
              </a:rPr>
              <a:t>}</a:t>
            </a:r>
            <a:r>
              <a:rPr sz="1700" b="0" i="0">
                <a:solidFill>
                  <a:srgbClr val="1C252B"/>
                </a:solidFill>
                <a:latin typeface="Segoe UI"/>
              </a:rPr>
              <a:t>, </a:t>
            </a:r>
            <a:r>
              <a:rPr sz="1700" b="0" i="1">
                <a:solidFill>
                  <a:srgbClr val="1C252B"/>
                </a:solidFill>
                <a:latin typeface="Cambria"/>
              </a:rPr>
              <a:t>C</a:t>
            </a:r>
            <a:r>
              <a:rPr sz="1700" b="0" i="0" baseline="-25000">
                <a:solidFill>
                  <a:srgbClr val="1C252B"/>
                </a:solidFill>
                <a:latin typeface="Cambria"/>
              </a:rPr>
              <a:t>2</a:t>
            </a:r>
            <a:r>
              <a:rPr sz="1700" b="0" i="0">
                <a:solidFill>
                  <a:srgbClr val="1C252B"/>
                </a:solidFill>
                <a:latin typeface="Cambria"/>
              </a:rPr>
              <a:t> = {</a:t>
            </a:r>
            <a:r>
              <a:rPr sz="1700" b="0" i="0">
                <a:solidFill>
                  <a:srgbClr val="1C252B"/>
                </a:solidFill>
                <a:latin typeface="Segoe UI"/>
              </a:rPr>
              <a:t>A4, A5, A6, A7</a:t>
            </a:r>
            <a:r>
              <a:rPr sz="1700" b="0" i="0">
                <a:solidFill>
                  <a:srgbClr val="1C252B"/>
                </a:solidFill>
                <a:latin typeface="Cambria"/>
              </a:rPr>
              <a:t>}</a:t>
            </a:r>
            <a:r>
              <a:rPr sz="1700" b="0" i="0">
                <a:solidFill>
                  <a:srgbClr val="1C252B"/>
                </a:solidFill>
                <a:latin typeface="Segoe UI"/>
              </a:rPr>
              <a:t>.</a:t>
            </a:r>
          </a:p>
        </p:txBody>
      </p:sp>
      <p:sp>
        <p:nvSpPr>
          <p:cNvPr id="11" name="body-2"/>
          <p:cNvSpPr txBox="1"/>
          <p:nvPr/>
        </p:nvSpPr>
        <p:spPr>
          <a:xfrm>
            <a:off x="1042416" y="3326942"/>
            <a:ext cx="10234879" cy="58460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Update.</a:t>
            </a:r>
            <a:r>
              <a:rPr sz="1700" b="0" i="0">
                <a:solidFill>
                  <a:srgbClr val="1C252B"/>
                </a:solidFill>
                <a:latin typeface="Segoe UI"/>
              </a:rPr>
              <a:t> </a:t>
            </a:r>
            <a:r>
              <a:rPr sz="1700" b="0" i="0">
                <a:solidFill>
                  <a:srgbClr val="1C252B"/>
                </a:solidFill>
                <a:latin typeface="Cambria"/>
              </a:rPr>
              <a:t>μ</a:t>
            </a:r>
            <a:r>
              <a:rPr sz="1700" b="0" i="0" baseline="-25000">
                <a:solidFill>
                  <a:srgbClr val="1C252B"/>
                </a:solidFill>
                <a:latin typeface="Cambria"/>
              </a:rPr>
              <a:t>1</a:t>
            </a:r>
            <a:r>
              <a:rPr sz="1700" b="0" i="0">
                <a:solidFill>
                  <a:srgbClr val="1C252B"/>
                </a:solidFill>
                <a:latin typeface="Cambria"/>
              </a:rPr>
              <a:t> = ((1+1.5+3)/3, (1+2+4)/3) = (1.83, 2.33)</a:t>
            </a:r>
            <a:r>
              <a:rPr sz="1700" b="0" i="0">
                <a:solidFill>
                  <a:srgbClr val="1C252B"/>
                </a:solidFill>
                <a:latin typeface="Segoe UI"/>
              </a:rPr>
              <a:t>; </a:t>
            </a:r>
            <a:r>
              <a:rPr sz="1700" b="0" i="0">
                <a:solidFill>
                  <a:srgbClr val="1C252B"/>
                </a:solidFill>
                <a:latin typeface="Cambria"/>
              </a:rPr>
              <a:t>μ</a:t>
            </a:r>
            <a:r>
              <a:rPr sz="1700" b="0" i="0" baseline="-25000">
                <a:solidFill>
                  <a:srgbClr val="1C252B"/>
                </a:solidFill>
                <a:latin typeface="Cambria"/>
              </a:rPr>
              <a:t>2</a:t>
            </a:r>
            <a:r>
              <a:rPr sz="1700" b="0" i="0">
                <a:solidFill>
                  <a:srgbClr val="1C252B"/>
                </a:solidFill>
                <a:latin typeface="Cambria"/>
              </a:rPr>
              <a:t> = ((5+3.5+4.5+3.5)/4, (7+5+5+4.5)/4) = (4.13, 5.38)</a:t>
            </a:r>
            <a:r>
              <a:rPr sz="1700" b="0" i="0">
                <a:solidFill>
                  <a:srgbClr val="1C252B"/>
                </a:solidFill>
                <a:latin typeface="Segoe UI"/>
              </a:rPr>
              <a:t>. WCSS </a:t>
            </a:r>
            <a:r>
              <a:rPr sz="1700" b="0" i="0">
                <a:solidFill>
                  <a:srgbClr val="1C252B"/>
                </a:solidFill>
                <a:latin typeface="Cambria"/>
              </a:rPr>
              <a:t>= 12.21</a:t>
            </a:r>
            <a:r>
              <a:rPr sz="1700" b="0" i="0">
                <a:solidFill>
                  <a:srgbClr val="1C252B"/>
                </a:solidFill>
                <a:latin typeface="Segoe UI"/>
              </a:rPr>
              <a:t>.</a:t>
            </a:r>
          </a:p>
        </p:txBody>
      </p:sp>
      <p:sp>
        <p:nvSpPr>
          <p:cNvPr id="12" name="body-3"/>
          <p:cNvSpPr txBox="1"/>
          <p:nvPr/>
        </p:nvSpPr>
        <p:spPr>
          <a:xfrm>
            <a:off x="1042416" y="3984574"/>
            <a:ext cx="10234879" cy="315163"/>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Iteration 2 — assign.</a:t>
            </a:r>
            <a:r>
              <a:rPr sz="1700" b="0" i="0">
                <a:solidFill>
                  <a:srgbClr val="1C252B"/>
                </a:solidFill>
                <a:latin typeface="Segoe UI"/>
              </a:rPr>
              <a:t> A3 is now 2.03 from </a:t>
            </a:r>
            <a:r>
              <a:rPr sz="1700" b="0" i="0">
                <a:solidFill>
                  <a:srgbClr val="1C252B"/>
                </a:solidFill>
                <a:latin typeface="Cambria"/>
              </a:rPr>
              <a:t>μ</a:t>
            </a:r>
            <a:r>
              <a:rPr sz="1700" b="0" i="0" baseline="-25000">
                <a:solidFill>
                  <a:srgbClr val="1C252B"/>
                </a:solidFill>
                <a:latin typeface="Cambria"/>
              </a:rPr>
              <a:t>1</a:t>
            </a:r>
            <a:r>
              <a:rPr sz="1700" b="0" i="0">
                <a:solidFill>
                  <a:srgbClr val="1C252B"/>
                </a:solidFill>
                <a:latin typeface="Segoe UI"/>
              </a:rPr>
              <a:t> and </a:t>
            </a:r>
            <a:r>
              <a:rPr sz="1700" b="1" i="0">
                <a:solidFill>
                  <a:srgbClr val="1C252B"/>
                </a:solidFill>
                <a:latin typeface="Segoe UI"/>
              </a:rPr>
              <a:t>1.78</a:t>
            </a:r>
            <a:r>
              <a:rPr sz="1700" b="0" i="0">
                <a:solidFill>
                  <a:srgbClr val="1C252B"/>
                </a:solidFill>
                <a:latin typeface="Segoe UI"/>
              </a:rPr>
              <a:t> from </a:t>
            </a:r>
            <a:r>
              <a:rPr sz="1700" b="0" i="0">
                <a:solidFill>
                  <a:srgbClr val="1C252B"/>
                </a:solidFill>
                <a:latin typeface="Cambria"/>
              </a:rPr>
              <a:t>μ</a:t>
            </a:r>
            <a:r>
              <a:rPr sz="1700" b="0" i="0" baseline="-25000">
                <a:solidFill>
                  <a:srgbClr val="1C252B"/>
                </a:solidFill>
                <a:latin typeface="Cambria"/>
              </a:rPr>
              <a:t>2</a:t>
            </a:r>
            <a:r>
              <a:rPr sz="1700" b="0" i="0">
                <a:solidFill>
                  <a:srgbClr val="1C252B"/>
                </a:solidFill>
                <a:latin typeface="Segoe UI"/>
              </a:rPr>
              <a:t>: it moves to </a:t>
            </a:r>
            <a:r>
              <a:rPr sz="1700" b="0" i="1">
                <a:solidFill>
                  <a:srgbClr val="1C252B"/>
                </a:solidFill>
                <a:latin typeface="Cambria"/>
              </a:rPr>
              <a:t>C</a:t>
            </a:r>
            <a:r>
              <a:rPr sz="1700" b="0" i="0" baseline="-25000">
                <a:solidFill>
                  <a:srgbClr val="1C252B"/>
                </a:solidFill>
                <a:latin typeface="Cambria"/>
              </a:rPr>
              <a:t>2</a:t>
            </a:r>
            <a:r>
              <a:rPr sz="1700" b="0" i="0">
                <a:solidFill>
                  <a:srgbClr val="1C252B"/>
                </a:solidFill>
                <a:latin typeface="Segoe UI"/>
              </a:rPr>
              <a:t>. Every other point stays.</a:t>
            </a:r>
          </a:p>
        </p:txBody>
      </p:sp>
      <p:sp>
        <p:nvSpPr>
          <p:cNvPr id="13" name="body-4"/>
          <p:cNvSpPr txBox="1"/>
          <p:nvPr/>
        </p:nvSpPr>
        <p:spPr>
          <a:xfrm>
            <a:off x="1042416" y="4372762"/>
            <a:ext cx="10234879" cy="315163"/>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Update.</a:t>
            </a:r>
            <a:r>
              <a:rPr sz="1700" b="0" i="0">
                <a:solidFill>
                  <a:srgbClr val="1C252B"/>
                </a:solidFill>
                <a:latin typeface="Segoe UI"/>
              </a:rPr>
              <a:t> </a:t>
            </a:r>
            <a:r>
              <a:rPr sz="1700" b="0" i="0">
                <a:solidFill>
                  <a:srgbClr val="1C252B"/>
                </a:solidFill>
                <a:latin typeface="Cambria"/>
              </a:rPr>
              <a:t>μ</a:t>
            </a:r>
            <a:r>
              <a:rPr sz="1700" b="0" i="0" baseline="-25000">
                <a:solidFill>
                  <a:srgbClr val="1C252B"/>
                </a:solidFill>
                <a:latin typeface="Cambria"/>
              </a:rPr>
              <a:t>1</a:t>
            </a:r>
            <a:r>
              <a:rPr sz="1700" b="0" i="0">
                <a:solidFill>
                  <a:srgbClr val="1C252B"/>
                </a:solidFill>
                <a:latin typeface="Cambria"/>
              </a:rPr>
              <a:t> = (1.25, 1.5)</a:t>
            </a:r>
            <a:r>
              <a:rPr sz="1700" b="0" i="0">
                <a:solidFill>
                  <a:srgbClr val="1C252B"/>
                </a:solidFill>
                <a:latin typeface="Segoe UI"/>
              </a:rPr>
              <a:t>, </a:t>
            </a:r>
            <a:r>
              <a:rPr sz="1700" b="0" i="0">
                <a:solidFill>
                  <a:srgbClr val="1C252B"/>
                </a:solidFill>
                <a:latin typeface="Cambria"/>
              </a:rPr>
              <a:t>μ</a:t>
            </a:r>
            <a:r>
              <a:rPr sz="1700" b="0" i="0" baseline="-25000">
                <a:solidFill>
                  <a:srgbClr val="1C252B"/>
                </a:solidFill>
                <a:latin typeface="Cambria"/>
              </a:rPr>
              <a:t>2</a:t>
            </a:r>
            <a:r>
              <a:rPr sz="1700" b="0" i="0">
                <a:solidFill>
                  <a:srgbClr val="1C252B"/>
                </a:solidFill>
                <a:latin typeface="Cambria"/>
              </a:rPr>
              <a:t> = (3.9, 5.1)</a:t>
            </a:r>
            <a:r>
              <a:rPr sz="1700" b="0" i="0">
                <a:solidFill>
                  <a:srgbClr val="1C252B"/>
                </a:solidFill>
                <a:latin typeface="Segoe UI"/>
              </a:rPr>
              <a:t>. WCSS </a:t>
            </a:r>
            <a:r>
              <a:rPr sz="1700" b="0" i="0">
                <a:solidFill>
                  <a:srgbClr val="1C252B"/>
                </a:solidFill>
                <a:latin typeface="Cambria"/>
              </a:rPr>
              <a:t>= 8.53</a:t>
            </a:r>
            <a:r>
              <a:rPr sz="1700" b="0" i="0">
                <a:solidFill>
                  <a:srgbClr val="1C252B"/>
                </a:solidFill>
                <a:latin typeface="Segoe UI"/>
              </a:rPr>
              <a:t>.</a:t>
            </a:r>
          </a:p>
        </p:txBody>
      </p:sp>
      <p:sp>
        <p:nvSpPr>
          <p:cNvPr id="14" name="body-5"/>
          <p:cNvSpPr txBox="1"/>
          <p:nvPr/>
        </p:nvSpPr>
        <p:spPr>
          <a:xfrm>
            <a:off x="1042416" y="4760950"/>
            <a:ext cx="10234879" cy="58460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Iteration 3.</a:t>
            </a:r>
            <a:r>
              <a:rPr sz="1700" b="0" i="0">
                <a:solidFill>
                  <a:srgbClr val="1C252B"/>
                </a:solidFill>
                <a:latin typeface="Segoe UI"/>
              </a:rPr>
              <a:t> No point changes cluster, so the centroids stop moving: </a:t>
            </a:r>
            <a:r>
              <a:rPr sz="1700" b="1" i="0">
                <a:solidFill>
                  <a:srgbClr val="1C252B"/>
                </a:solidFill>
                <a:latin typeface="Segoe UI"/>
              </a:rPr>
              <a:t>converged</a:t>
            </a:r>
            <a:r>
              <a:rPr sz="1700" b="0" i="0">
                <a:solidFill>
                  <a:srgbClr val="1C252B"/>
                </a:solidFill>
                <a:latin typeface="Segoe UI"/>
              </a:rPr>
              <a:t>, with </a:t>
            </a:r>
            <a:r>
              <a:rPr sz="1700" b="0" i="1">
                <a:solidFill>
                  <a:srgbClr val="1C252B"/>
                </a:solidFill>
                <a:latin typeface="Cambria"/>
              </a:rPr>
              <a:t>C</a:t>
            </a:r>
            <a:r>
              <a:rPr sz="1700" b="0" i="0" baseline="-25000">
                <a:solidFill>
                  <a:srgbClr val="1C252B"/>
                </a:solidFill>
                <a:latin typeface="Cambria"/>
              </a:rPr>
              <a:t>1</a:t>
            </a:r>
            <a:r>
              <a:rPr sz="1700" b="0" i="0">
                <a:solidFill>
                  <a:srgbClr val="1C252B"/>
                </a:solidFill>
                <a:latin typeface="Cambria"/>
              </a:rPr>
              <a:t> = {</a:t>
            </a:r>
            <a:r>
              <a:rPr sz="1700" b="0" i="0">
                <a:solidFill>
                  <a:srgbClr val="1C252B"/>
                </a:solidFill>
                <a:latin typeface="Segoe UI"/>
              </a:rPr>
              <a:t>A1, A2</a:t>
            </a:r>
            <a:r>
              <a:rPr sz="1700" b="0" i="0">
                <a:solidFill>
                  <a:srgbClr val="1C252B"/>
                </a:solidFill>
                <a:latin typeface="Cambria"/>
              </a:rPr>
              <a:t>}</a:t>
            </a:r>
            <a:r>
              <a:rPr sz="1700" b="0" i="0">
                <a:solidFill>
                  <a:srgbClr val="1C252B"/>
                </a:solidFill>
                <a:latin typeface="Segoe UI"/>
              </a:rPr>
              <a:t> and </a:t>
            </a:r>
            <a:r>
              <a:rPr sz="1700" b="0" i="1">
                <a:solidFill>
                  <a:srgbClr val="1C252B"/>
                </a:solidFill>
                <a:latin typeface="Cambria"/>
              </a:rPr>
              <a:t>C</a:t>
            </a:r>
            <a:r>
              <a:rPr sz="1700" b="0" i="0" baseline="-25000">
                <a:solidFill>
                  <a:srgbClr val="1C252B"/>
                </a:solidFill>
                <a:latin typeface="Cambria"/>
              </a:rPr>
              <a:t>2</a:t>
            </a:r>
            <a:r>
              <a:rPr sz="1700" b="0" i="0">
                <a:solidFill>
                  <a:srgbClr val="1C252B"/>
                </a:solidFill>
                <a:latin typeface="Cambria"/>
              </a:rPr>
              <a:t> = {</a:t>
            </a:r>
            <a:r>
              <a:rPr sz="1700" b="0" i="0">
                <a:solidFill>
                  <a:srgbClr val="1C252B"/>
                </a:solidFill>
                <a:latin typeface="Segoe UI"/>
              </a:rPr>
              <a:t>A3, …, A7</a:t>
            </a:r>
            <a:r>
              <a:rPr sz="1700" b="0" i="0">
                <a:solidFill>
                  <a:srgbClr val="1C252B"/>
                </a:solidFill>
                <a:latin typeface="Cambria"/>
              </a:rPr>
              <a:t>}</a:t>
            </a:r>
            <a:r>
              <a:rPr sz="1700" b="0" i="0">
                <a:solidFill>
                  <a:srgbClr val="1C252B"/>
                </a:solidFill>
                <a:latin typeface="Segoe UI"/>
              </a:rPr>
              <a:t>.</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238533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snapshots of k-means on the worked example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15.1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§15.2  ·  Handout p. 115     </a:t>
            </a:r>
            <a:fld id="{F958FBC0-50A0-4C12-B0D6-2FC1FBE76B12}" type="slidenum">
              <a:rPr lang="en-GB" sz="1000">
                <a:solidFill>
                  <a:srgbClr val="8795A1"/>
                </a:solidFill>
                <a:latin typeface="Segoe UI"/>
              </a:rPr>
              <a:t>10</a:t>
            </a:fld>
          </a:p>
        </p:txBody>
      </p:sp>
      <p:pic>
        <p:nvPicPr>
          <p:cNvPr id="6" name="!!figure" descr="Figure 15.1. Three snapshots of k-means on the worked example. Assignment and update alternate until no point changes cluste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27428" y="1737360"/>
            <a:ext cx="9336837"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Assignment and update alternate until no point changes cluster.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65036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k-Means Goes Wrong</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§15.2  ·  Handout p. 115     </a:t>
            </a:r>
            <a:fld id="{A389B3C8-18C8-41E1-8281-AB879B4B12D2}"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02073"/>
          </a:xfrm>
          <a:prstGeom prst="roundRect">
            <a:avLst>
              <a:gd name="adj" fmla="val 2077"/>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02073"/>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826001"/>
          </a:xfrm>
          <a:prstGeom prst="rect">
            <a:avLst/>
          </a:prstGeom>
          <a:noFill/>
        </p:spPr>
        <p:txBody>
          <a:bodyPr wrap="square" anchor="t" lIns="0" rIns="0" tIns="0" bIns="0">
            <a:noAutofit/>
          </a:bodyPr>
          <a:lstStyle/>
          <a:p>
            <a:pPr algn="l" marL="245994" indent="-245994">
              <a:lnSpc>
                <a:spcPct val="104000"/>
              </a:lnSpc>
              <a:spcBef>
                <a:spcPts val="0"/>
              </a:spcBef>
              <a:spcAft>
                <a:spcPts val="769"/>
              </a:spcAft>
            </a:pPr>
            <a:r>
              <a:rPr sz="2200" b="1">
                <a:solidFill>
                  <a:srgbClr val="A93226"/>
                </a:solidFill>
                <a:latin typeface="Segoe UI"/>
              </a:rPr>
              <a:t>•	</a:t>
            </a:r>
            <a:r>
              <a:rPr sz="2200" b="1" i="0">
                <a:solidFill>
                  <a:srgbClr val="A93226"/>
                </a:solidFill>
                <a:latin typeface="Segoe UI"/>
              </a:rPr>
              <a:t>Bad starts.</a:t>
            </a:r>
            <a:r>
              <a:rPr sz="2200" b="0" i="0">
                <a:solidFill>
                  <a:srgbClr val="1C252B"/>
                </a:solidFill>
                <a:latin typeface="Segoe UI"/>
              </a:rPr>
              <a:t> Different initial centroids can converge to different, worse clusterings. Run it many times and keep the lowest WCSS (</a:t>
            </a:r>
            <a:r>
              <a:rPr sz="2050" b="0" i="0">
                <a:solidFill>
                  <a:srgbClr val="1F4E79"/>
                </a:solidFill>
                <a:latin typeface="Consolas"/>
              </a:rPr>
              <a:t>n_init</a:t>
            </a:r>
            <a:r>
              <a:rPr sz="2200" b="0" i="0">
                <a:solidFill>
                  <a:srgbClr val="1C252B"/>
                </a:solidFill>
                <a:latin typeface="Segoe UI"/>
              </a:rPr>
              <a:t>), and start with </a:t>
            </a:r>
            <a:r>
              <a:rPr sz="2200" b="1" i="1">
                <a:solidFill>
                  <a:srgbClr val="1C252B"/>
                </a:solidFill>
                <a:latin typeface="Cambria"/>
              </a:rPr>
              <a:t>k</a:t>
            </a:r>
            <a:r>
              <a:rPr sz="2200" b="1" i="0">
                <a:solidFill>
                  <a:srgbClr val="1A5276"/>
                </a:solidFill>
                <a:latin typeface="Segoe UI"/>
              </a:rPr>
              <a:t>-means++</a:t>
            </a:r>
            <a:r>
              <a:rPr sz="2200" b="0" i="0">
                <a:solidFill>
                  <a:srgbClr val="1C252B"/>
                </a:solidFill>
                <a:latin typeface="Segoe UI"/>
              </a:rPr>
              <a:t>, which spreads the initial centroids out.</a:t>
            </a:r>
          </a:p>
          <a:p>
            <a:pPr algn="l" marL="245994" indent="-245994">
              <a:lnSpc>
                <a:spcPct val="104000"/>
              </a:lnSpc>
              <a:spcBef>
                <a:spcPts val="0"/>
              </a:spcBef>
              <a:spcAft>
                <a:spcPts val="769"/>
              </a:spcAft>
            </a:pPr>
            <a:r>
              <a:rPr sz="2200" b="1">
                <a:solidFill>
                  <a:srgbClr val="A93226"/>
                </a:solidFill>
                <a:latin typeface="Segoe UI"/>
              </a:rPr>
              <a:t>•	</a:t>
            </a:r>
            <a:r>
              <a:rPr sz="2200" b="1" i="0">
                <a:solidFill>
                  <a:srgbClr val="A93226"/>
                </a:solidFill>
                <a:latin typeface="Segoe UI"/>
              </a:rPr>
              <a:t>Its shape bias.</a:t>
            </a:r>
            <a:r>
              <a:rPr sz="2200" b="0" i="0">
                <a:solidFill>
                  <a:srgbClr val="1C252B"/>
                </a:solidFill>
                <a:latin typeface="Segoe UI"/>
              </a:rPr>
              <a:t> Every cluster is the set of points nearest a centroid, so </a:t>
            </a:r>
            <a:r>
              <a:rPr sz="2200" b="0" i="1">
                <a:solidFill>
                  <a:srgbClr val="1C252B"/>
                </a:solidFill>
                <a:latin typeface="Cambria"/>
              </a:rPr>
              <a:t>k</a:t>
            </a:r>
            <a:r>
              <a:rPr sz="2200" b="0" i="0">
                <a:solidFill>
                  <a:srgbClr val="1C252B"/>
                </a:solidFill>
                <a:latin typeface="Segoe UI"/>
              </a:rPr>
              <a:t>-means assumes round, similar-sized clusters. Long, curved or very unequal clusters are cut badly.</a:t>
            </a:r>
          </a:p>
          <a:p>
            <a:pPr algn="l" marL="245994" indent="-245994">
              <a:lnSpc>
                <a:spcPct val="104000"/>
              </a:lnSpc>
              <a:spcBef>
                <a:spcPts val="0"/>
              </a:spcBef>
              <a:spcAft>
                <a:spcPts val="769"/>
              </a:spcAft>
            </a:pPr>
            <a:r>
              <a:rPr sz="2200" b="1">
                <a:solidFill>
                  <a:srgbClr val="A93226"/>
                </a:solidFill>
                <a:latin typeface="Segoe UI"/>
              </a:rPr>
              <a:t>•	</a:t>
            </a:r>
            <a:r>
              <a:rPr sz="2200" b="1" i="0">
                <a:solidFill>
                  <a:srgbClr val="A93226"/>
                </a:solidFill>
                <a:latin typeface="Segoe UI"/>
              </a:rPr>
              <a:t>Scale.</a:t>
            </a:r>
            <a:r>
              <a:rPr sz="2200" b="0" i="0">
                <a:solidFill>
                  <a:srgbClr val="1C252B"/>
                </a:solidFill>
                <a:latin typeface="Segoe UI"/>
              </a:rPr>
              <a:t> It is built on Euclidean distance; unscaled features decide everything (Chapter 11).</a:t>
            </a:r>
          </a:p>
          <a:p>
            <a:pPr algn="l" marL="245994" indent="-245994">
              <a:lnSpc>
                <a:spcPct val="104000"/>
              </a:lnSpc>
              <a:spcBef>
                <a:spcPts val="0"/>
              </a:spcBef>
              <a:spcAft>
                <a:spcPts val="0"/>
              </a:spcAft>
            </a:pPr>
            <a:r>
              <a:rPr sz="2200" b="1">
                <a:solidFill>
                  <a:srgbClr val="A93226"/>
                </a:solidFill>
                <a:latin typeface="Segoe UI"/>
              </a:rPr>
              <a:t>•	</a:t>
            </a:r>
            <a:r>
              <a:rPr sz="2200" b="1" i="0">
                <a:solidFill>
                  <a:srgbClr val="A93226"/>
                </a:solidFill>
                <a:latin typeface="Segoe UI"/>
              </a:rPr>
              <a:t>Outliers.</a:t>
            </a:r>
            <a:r>
              <a:rPr sz="2200" b="0" i="0">
                <a:solidFill>
                  <a:srgbClr val="1C252B"/>
                </a:solidFill>
                <a:latin typeface="Segoe UI"/>
              </a:rPr>
              <a:t> A mean is pulled by extreme values; one wild point can capture a centroid of its own.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291540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Hierarchical Agglomerative Clustering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15.3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15.1   Finding Groups Without Labels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15.2   k-Means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15.3   Hierarchical Agglomerative Clustering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15.4   How Many Clusters?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15.5   Beyond the HEC Outline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§15.3     </a:t>
            </a:r>
            <a:fld id="{24C04DD1-BC32-4E4B-B08E-17B625ABF886}" type="slidenum">
              <a:rPr lang="en-GB" sz="1000">
                <a:solidFill>
                  <a:srgbClr val="8795A1"/>
                </a:solidFill>
                <a:latin typeface="Segoe UI"/>
              </a:rPr>
              <a:t>12</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18044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Agglomerative Clustering and Linkage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117     </a:t>
            </a:r>
            <a:fld id="{FE1D48F4-05EA-4464-BC0A-641D3218ACC5}"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70019"/>
          </a:xfrm>
          <a:prstGeom prst="roundRect">
            <a:avLst>
              <a:gd name="adj" fmla="val 209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70019"/>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Start with every example in a cluster of its own. Repeatedly merge the two </a:t>
            </a:r>
            <a:r>
              <a:rPr sz="2300" b="0" i="1">
                <a:solidFill>
                  <a:srgbClr val="1C252B"/>
                </a:solidFill>
                <a:latin typeface="Segoe UI"/>
              </a:rPr>
              <a:t>closest</a:t>
            </a:r>
            <a:r>
              <a:rPr sz="2300" b="0" i="0">
                <a:solidFill>
                  <a:srgbClr val="1C252B"/>
                </a:solidFill>
                <a:latin typeface="Segoe UI"/>
              </a:rPr>
              <a:t> clusters until one remains. The record of merges, drawn as a tree whose heights are the merge distances, is a </a:t>
            </a:r>
            <a:r>
              <a:rPr sz="2300" b="1" i="0">
                <a:solidFill>
                  <a:srgbClr val="1A5276"/>
                </a:solidFill>
                <a:latin typeface="Segoe UI"/>
              </a:rPr>
              <a:t>dendrogram</a:t>
            </a:r>
            <a:r>
              <a:rPr sz="2300" b="0" i="0">
                <a:solidFill>
                  <a:srgbClr val="1C252B"/>
                </a:solidFill>
                <a:latin typeface="Segoe UI"/>
              </a:rPr>
              <a:t>. The distance between two clusters is defined by the </a:t>
            </a:r>
            <a:r>
              <a:rPr sz="2300" b="1" i="0">
                <a:solidFill>
                  <a:srgbClr val="1A5276"/>
                </a:solidFill>
                <a:latin typeface="Segoe UI"/>
              </a:rPr>
              <a:t>linkage</a:t>
            </a:r>
            <a:r>
              <a:rPr sz="2300" b="0" i="0">
                <a:solidFill>
                  <a:srgbClr val="1C252B"/>
                </a:solidFill>
                <a:latin typeface="Segoe UI"/>
              </a:rPr>
              <a:t>:</a:t>
            </a:r>
          </a:p>
        </p:txBody>
      </p:sp>
      <p:sp>
        <p:nvSpPr>
          <p:cNvPr id="10" name="body-1"/>
          <p:cNvSpPr txBox="1"/>
          <p:nvPr/>
        </p:nvSpPr>
        <p:spPr>
          <a:xfrm>
            <a:off x="1060704" y="3667074"/>
            <a:ext cx="10161727" cy="2175128"/>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8A4500"/>
                </a:solidFill>
                <a:latin typeface="Segoe UI"/>
              </a:rPr>
              <a:t>•	</a:t>
            </a:r>
            <a:r>
              <a:rPr sz="2300" b="1" i="0">
                <a:solidFill>
                  <a:srgbClr val="1A5276"/>
                </a:solidFill>
                <a:latin typeface="Segoe UI"/>
              </a:rPr>
              <a:t>single</a:t>
            </a:r>
            <a:r>
              <a:rPr sz="2300" b="0" i="0">
                <a:solidFill>
                  <a:srgbClr val="1C252B"/>
                </a:solidFill>
                <a:latin typeface="Segoe UI"/>
              </a:rPr>
              <a:t>: the distance between their </a:t>
            </a:r>
            <a:r>
              <a:rPr sz="2300" b="0" i="1">
                <a:solidFill>
                  <a:srgbClr val="1C252B"/>
                </a:solidFill>
                <a:latin typeface="Segoe UI"/>
              </a:rPr>
              <a:t>closest</a:t>
            </a:r>
            <a:r>
              <a:rPr sz="2300" b="0" i="0">
                <a:solidFill>
                  <a:srgbClr val="1C252B"/>
                </a:solidFill>
                <a:latin typeface="Segoe UI"/>
              </a:rPr>
              <a:t> members;</a:t>
            </a:r>
          </a:p>
          <a:p>
            <a:pPr algn="l" marL="257176" indent="-257176">
              <a:lnSpc>
                <a:spcPct val="104000"/>
              </a:lnSpc>
              <a:spcBef>
                <a:spcPts val="0"/>
              </a:spcBef>
              <a:spcAft>
                <a:spcPts val="804"/>
              </a:spcAft>
            </a:pPr>
            <a:r>
              <a:rPr sz="2300" b="1">
                <a:solidFill>
                  <a:srgbClr val="8A4500"/>
                </a:solidFill>
                <a:latin typeface="Segoe UI"/>
              </a:rPr>
              <a:t>•	</a:t>
            </a:r>
            <a:r>
              <a:rPr sz="2300" b="1" i="0">
                <a:solidFill>
                  <a:srgbClr val="1A5276"/>
                </a:solidFill>
                <a:latin typeface="Segoe UI"/>
              </a:rPr>
              <a:t>complete</a:t>
            </a:r>
            <a:r>
              <a:rPr sz="2300" b="0" i="0">
                <a:solidFill>
                  <a:srgbClr val="1C252B"/>
                </a:solidFill>
                <a:latin typeface="Segoe UI"/>
              </a:rPr>
              <a:t>: the distance between their </a:t>
            </a:r>
            <a:r>
              <a:rPr sz="2300" b="0" i="1">
                <a:solidFill>
                  <a:srgbClr val="1C252B"/>
                </a:solidFill>
                <a:latin typeface="Segoe UI"/>
              </a:rPr>
              <a:t>farthest</a:t>
            </a:r>
            <a:r>
              <a:rPr sz="2300" b="0" i="0">
                <a:solidFill>
                  <a:srgbClr val="1C252B"/>
                </a:solidFill>
                <a:latin typeface="Segoe UI"/>
              </a:rPr>
              <a:t> members;</a:t>
            </a:r>
          </a:p>
          <a:p>
            <a:pPr algn="l" marL="257176" indent="-257176">
              <a:lnSpc>
                <a:spcPct val="104000"/>
              </a:lnSpc>
              <a:spcBef>
                <a:spcPts val="0"/>
              </a:spcBef>
              <a:spcAft>
                <a:spcPts val="804"/>
              </a:spcAft>
            </a:pPr>
            <a:r>
              <a:rPr sz="2300" b="1">
                <a:solidFill>
                  <a:srgbClr val="8A4500"/>
                </a:solidFill>
                <a:latin typeface="Segoe UI"/>
              </a:rPr>
              <a:t>•	</a:t>
            </a:r>
            <a:r>
              <a:rPr sz="2300" b="1" i="0">
                <a:solidFill>
                  <a:srgbClr val="1A5276"/>
                </a:solidFill>
                <a:latin typeface="Segoe UI"/>
              </a:rPr>
              <a:t>average</a:t>
            </a:r>
            <a:r>
              <a:rPr sz="2300" b="0" i="0">
                <a:solidFill>
                  <a:srgbClr val="1C252B"/>
                </a:solidFill>
                <a:latin typeface="Segoe UI"/>
              </a:rPr>
              <a:t>: the average distance over all pairs of members;</a:t>
            </a:r>
          </a:p>
          <a:p>
            <a:pPr algn="l" marL="257176" indent="-257176">
              <a:lnSpc>
                <a:spcPct val="104000"/>
              </a:lnSpc>
              <a:spcBef>
                <a:spcPts val="0"/>
              </a:spcBef>
              <a:spcAft>
                <a:spcPts val="0"/>
              </a:spcAft>
            </a:pPr>
            <a:r>
              <a:rPr sz="2300" b="1">
                <a:solidFill>
                  <a:srgbClr val="8A4500"/>
                </a:solidFill>
                <a:latin typeface="Segoe UI"/>
              </a:rPr>
              <a:t>•	</a:t>
            </a:r>
            <a:r>
              <a:rPr sz="2300" b="1" i="0">
                <a:solidFill>
                  <a:srgbClr val="1A5276"/>
                </a:solidFill>
                <a:latin typeface="Segoe UI"/>
              </a:rPr>
              <a:t>Ward</a:t>
            </a:r>
            <a:r>
              <a:rPr sz="2300" b="0" i="0">
                <a:solidFill>
                  <a:srgbClr val="1C252B"/>
                </a:solidFill>
                <a:latin typeface="Segoe UI"/>
              </a:rPr>
              <a:t>: the increase in WCSS that merging them would cause — the </a:t>
            </a:r>
            <a:r>
              <a:rPr sz="2300" b="0" i="1">
                <a:solidFill>
                  <a:srgbClr val="1C252B"/>
                </a:solidFill>
                <a:latin typeface="Cambria"/>
              </a:rPr>
              <a:t>k</a:t>
            </a:r>
            <a:r>
              <a:rPr sz="2300" b="0" i="0">
                <a:solidFill>
                  <a:srgbClr val="1C252B"/>
                </a:solidFill>
                <a:latin typeface="Segoe UI"/>
              </a:rPr>
              <a:t>-means criterion, applied hierarchically.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344547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Single and Complete Linkage on Five Numbers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117     </a:t>
            </a:r>
            <a:fld id="{8B907A1B-613C-41CC-8F06-4A927115E485}"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54651"/>
          </a:xfrm>
          <a:prstGeom prst="roundRect">
            <a:avLst>
              <a:gd name="adj" fmla="val 205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5465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Points on a line: 1, 2, 4, 9, 11.</a:t>
            </a:r>
          </a:p>
        </p:txBody>
      </p:sp>
      <p:sp>
        <p:nvSpPr>
          <p:cNvPr id="10" name="body-1"/>
          <p:cNvSpPr txBox="1"/>
          <p:nvPr/>
        </p:nvSpPr>
        <p:spPr>
          <a:xfrm>
            <a:off x="1042416" y="2468371"/>
            <a:ext cx="1023487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Single linkage.</a:t>
            </a:r>
            <a:r>
              <a:rPr sz="2000" b="0" i="0">
                <a:solidFill>
                  <a:srgbClr val="1C252B"/>
                </a:solidFill>
                <a:latin typeface="Segoe UI"/>
              </a:rPr>
              <a:t> Closest pair: {1, 2} at distance 1. Next, {1, 2} to 4 is </a:t>
            </a:r>
            <a:r>
              <a:rPr sz="2000" b="0" i="0">
                <a:solidFill>
                  <a:srgbClr val="1C252B"/>
                </a:solidFill>
                <a:latin typeface="Cambria"/>
              </a:rPr>
              <a:t>|2 − 4| = 2</a:t>
            </a:r>
            <a:r>
              <a:rPr sz="2000" b="0" i="0">
                <a:solidFill>
                  <a:srgbClr val="1C252B"/>
                </a:solidFill>
                <a:latin typeface="Segoe UI"/>
              </a:rPr>
              <a:t> and 9 to 11 is also 2: merge {1, 2, 4} and {9, 11}, both at height 2. Last, the two groups are </a:t>
            </a:r>
            <a:r>
              <a:rPr sz="2000" b="0" i="0">
                <a:solidFill>
                  <a:srgbClr val="1C252B"/>
                </a:solidFill>
                <a:latin typeface="Cambria"/>
              </a:rPr>
              <a:t>|4 − 9| = 5</a:t>
            </a:r>
            <a:r>
              <a:rPr sz="2000" b="0" i="0">
                <a:solidFill>
                  <a:srgbClr val="1C252B"/>
                </a:solidFill>
                <a:latin typeface="Segoe UI"/>
              </a:rPr>
              <a:t> apart. </a:t>
            </a:r>
            <a:r>
              <a:rPr sz="2000" b="1" i="0">
                <a:solidFill>
                  <a:srgbClr val="1C252B"/>
                </a:solidFill>
                <a:latin typeface="Segoe UI"/>
              </a:rPr>
              <a:t>Heights: 1, 2, 2, 5.</a:t>
            </a:r>
          </a:p>
        </p:txBody>
      </p:sp>
      <p:sp>
        <p:nvSpPr>
          <p:cNvPr id="11" name="body-2"/>
          <p:cNvSpPr txBox="1"/>
          <p:nvPr/>
        </p:nvSpPr>
        <p:spPr>
          <a:xfrm>
            <a:off x="1042416" y="3559047"/>
            <a:ext cx="1023487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Complete linkage.</a:t>
            </a:r>
            <a:r>
              <a:rPr sz="2000" b="0" i="0">
                <a:solidFill>
                  <a:srgbClr val="1C252B"/>
                </a:solidFill>
                <a:latin typeface="Segoe UI"/>
              </a:rPr>
              <a:t> {1, 2} at 1. Now {1, 2} to 4 is </a:t>
            </a:r>
            <a:r>
              <a:rPr sz="2000" b="0" i="0">
                <a:solidFill>
                  <a:srgbClr val="1C252B"/>
                </a:solidFill>
                <a:latin typeface="Cambria"/>
              </a:rPr>
              <a:t>|1 − 4| = 3</a:t>
            </a:r>
            <a:r>
              <a:rPr sz="2000" b="0" i="0">
                <a:solidFill>
                  <a:srgbClr val="1C252B"/>
                </a:solidFill>
                <a:latin typeface="Segoe UI"/>
              </a:rPr>
              <a:t> (the farthest pair), while 9 to 11 is 2, so {9, 11} merges first, at 2; then {1, 2, 4} at 3. Last, the farthest pair across the groups is </a:t>
            </a:r>
            <a:r>
              <a:rPr sz="2000" b="0" i="0">
                <a:solidFill>
                  <a:srgbClr val="1C252B"/>
                </a:solidFill>
                <a:latin typeface="Cambria"/>
              </a:rPr>
              <a:t>|1 − 11| = 10</a:t>
            </a:r>
            <a:r>
              <a:rPr sz="2000" b="0" i="0">
                <a:solidFill>
                  <a:srgbClr val="1C252B"/>
                </a:solidFill>
                <a:latin typeface="Segoe UI"/>
              </a:rPr>
              <a:t>. </a:t>
            </a:r>
            <a:r>
              <a:rPr sz="2000" b="1" i="0">
                <a:solidFill>
                  <a:srgbClr val="1C252B"/>
                </a:solidFill>
                <a:latin typeface="Segoe UI"/>
              </a:rPr>
              <a:t>Heights: 1, 2, 3, 10.</a:t>
            </a:r>
          </a:p>
        </p:txBody>
      </p:sp>
      <p:sp>
        <p:nvSpPr>
          <p:cNvPr id="12" name="body-3"/>
          <p:cNvSpPr txBox="1"/>
          <p:nvPr/>
        </p:nvSpPr>
        <p:spPr>
          <a:xfrm>
            <a:off x="1042416" y="4649723"/>
            <a:ext cx="10234879"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Both find the same two groups, but complete linkage separates them by a much taller final merge. Average linkage gives a final height of </a:t>
            </a:r>
            <a:r>
              <a:rPr sz="2000" b="0" i="0">
                <a:solidFill>
                  <a:srgbClr val="1C252B"/>
                </a:solidFill>
                <a:latin typeface="Cambria"/>
              </a:rPr>
              <a:t>(8 + 10 + 7 + 9 + 5 + 7)/6 = 7.67</a:t>
            </a:r>
            <a:r>
              <a:rPr sz="2000" b="0" i="0">
                <a:solidFill>
                  <a:srgbClr val="1C252B"/>
                </a:solidFill>
                <a:latin typeface="Segoe UI"/>
              </a:rPr>
              <a:t>. </a:t>
            </a:r>
            <a:r>
              <a:rPr sz="2000" b="1" i="0">
                <a:solidFill>
                  <a:srgbClr val="1C252B"/>
                </a:solidFill>
                <a:latin typeface="Segoe UI"/>
              </a:rPr>
              <a:t>Cutting</a:t>
            </a:r>
            <a:r>
              <a:rPr sz="2000" b="0" i="0">
                <a:solidFill>
                  <a:srgbClr val="1C252B"/>
                </a:solidFill>
                <a:latin typeface="Segoe UI"/>
              </a:rPr>
              <a:t> a dendrogram at any height yields a flat clustering: cut complete linkage anywhere between 3 and 10 and you get {1, 2, 4} and {9, 11}.</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371051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Dendrograms for the points 1, 2, 4, 9, 11</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15.2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117     </a:t>
            </a:r>
            <a:fld id="{FEBE38F0-1802-4BFE-A480-D37B6634C190}" type="slidenum">
              <a:rPr lang="en-GB" sz="1000">
                <a:solidFill>
                  <a:srgbClr val="8795A1"/>
                </a:solidFill>
                <a:latin typeface="Segoe UI"/>
              </a:rPr>
              <a:t>15</a:t>
            </a:fld>
          </a:p>
        </p:txBody>
      </p:sp>
      <p:pic>
        <p:nvPicPr>
          <p:cNvPr id="6" name="!!figure" descr="Figure 15.2. Dendrograms for the points 1, 2, 4, 9, 11. The merges happen in almost the same order, but at different heights: complete linkage keeps groups compact and makes the gap between them obviou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0326" y="1737360"/>
            <a:ext cx="10251041"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merges happen in almost the same order, but at different heights: complete linkage keeps groups compact and makes the gap between them obvious.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97555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Chaining, and Which Linkage to Use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117     </a:t>
            </a:r>
            <a:fld id="{A0246C28-B09E-45C5-8FF2-F18BBC5BCF69}"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02659"/>
          </a:xfrm>
          <a:prstGeom prst="roundRect">
            <a:avLst>
              <a:gd name="adj" fmla="val 234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0265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326587"/>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Single linkage merges two clusters as soon as </a:t>
            </a:r>
            <a:r>
              <a:rPr sz="2300" b="0" i="1">
                <a:solidFill>
                  <a:srgbClr val="1C252B"/>
                </a:solidFill>
                <a:latin typeface="Segoe UI"/>
              </a:rPr>
              <a:t>any</a:t>
            </a:r>
            <a:r>
              <a:rPr sz="2300" b="0" i="0">
                <a:solidFill>
                  <a:srgbClr val="1C252B"/>
                </a:solidFill>
                <a:latin typeface="Segoe UI"/>
              </a:rPr>
              <a:t> pair of their members is close, so a thin line of points can join two genuinely separate groups into one long “chain”. That lets it find elongated or curved clusters, and also makes it fragile with noise. Complete linkage does the opposite: it favours compact, roughly equal clusters and is pulled by outliers. Average linkage sits between them. Ward’s method behaves like </a:t>
            </a:r>
            <a:r>
              <a:rPr sz="2300" b="0" i="1">
                <a:solidFill>
                  <a:srgbClr val="1C252B"/>
                </a:solidFill>
                <a:latin typeface="Cambria"/>
              </a:rPr>
              <a:t>k</a:t>
            </a:r>
            <a:r>
              <a:rPr sz="2300" b="0" i="0">
                <a:solidFill>
                  <a:srgbClr val="1C252B"/>
                </a:solidFill>
                <a:latin typeface="Segoe UI"/>
              </a:rPr>
              <a:t>-means and is a good default. Unlike </a:t>
            </a:r>
            <a:r>
              <a:rPr sz="2300" b="0" i="1">
                <a:solidFill>
                  <a:srgbClr val="1C252B"/>
                </a:solidFill>
                <a:latin typeface="Cambria"/>
              </a:rPr>
              <a:t>k</a:t>
            </a:r>
            <a:r>
              <a:rPr sz="2300" b="0" i="0">
                <a:solidFill>
                  <a:srgbClr val="1C252B"/>
                </a:solidFill>
                <a:latin typeface="Segoe UI"/>
              </a:rPr>
              <a:t>-means, hierarchical clustering needs no </a:t>
            </a:r>
            <a:r>
              <a:rPr sz="2300" b="0" i="1">
                <a:solidFill>
                  <a:srgbClr val="1C252B"/>
                </a:solidFill>
                <a:latin typeface="Cambria"/>
              </a:rPr>
              <a:t>k</a:t>
            </a:r>
            <a:r>
              <a:rPr sz="2300" b="0" i="0">
                <a:solidFill>
                  <a:srgbClr val="1C252B"/>
                </a:solidFill>
                <a:latin typeface="Segoe UI"/>
              </a:rPr>
              <a:t> in advance and gives the same answer every run — but it must compute all </a:t>
            </a:r>
            <a:r>
              <a:rPr sz="2300" b="0" i="1">
                <a:solidFill>
                  <a:srgbClr val="1C252B"/>
                </a:solidFill>
                <a:latin typeface="Cambria"/>
              </a:rPr>
              <a:t>n</a:t>
            </a:r>
            <a:r>
              <a:rPr sz="2300" b="0" i="0" baseline="30000">
                <a:solidFill>
                  <a:srgbClr val="1C252B"/>
                </a:solidFill>
                <a:latin typeface="Cambria"/>
              </a:rPr>
              <a:t>2</a:t>
            </a:r>
            <a:r>
              <a:rPr sz="2300" b="0" i="0">
                <a:solidFill>
                  <a:srgbClr val="1C252B"/>
                </a:solidFill>
                <a:latin typeface="Segoe UI"/>
              </a:rPr>
              <a:t> pairwise distances, which limits it to tens of thousands of examples.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24058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How Many Clusters?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15.4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15.1   Finding Groups Without Labels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15.2   k-Means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15.3   Hierarchical Agglomerative Clustering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15.4   How Many Clusters?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15.5   Beyond the HEC Outline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§15.4     </a:t>
            </a:r>
            <a:fld id="{0EF567F8-1E30-472B-BBFC-FFABF4C2029F}" type="slidenum">
              <a:rPr lang="en-GB" sz="1000">
                <a:solidFill>
                  <a:srgbClr val="8795A1"/>
                </a:solidFill>
                <a:latin typeface="Segoe UI"/>
              </a:rPr>
              <a:t>17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50562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Many Clusters?</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§15.4  ·  Handout p. 118     </a:t>
            </a:r>
            <a:fld id="{D0FF1457-74BB-438B-9EB1-628901B7853A}"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612984"/>
          </a:xfrm>
          <a:prstGeom prst="roundRect">
            <a:avLst>
              <a:gd name="adj" fmla="val 3499"/>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61298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The silhouette.</a:t>
            </a:r>
            <a:r>
              <a:rPr sz="2300" b="0" i="0">
                <a:solidFill>
                  <a:srgbClr val="1C252B"/>
                </a:solidFill>
                <a:latin typeface="Segoe UI"/>
              </a:rPr>
              <a:t> For each example, let </a:t>
            </a:r>
            <a:r>
              <a:rPr sz="2300" b="0" i="1">
                <a:solidFill>
                  <a:srgbClr val="1C252B"/>
                </a:solidFill>
                <a:latin typeface="Cambria"/>
              </a:rPr>
              <a:t>a</a:t>
            </a:r>
            <a:r>
              <a:rPr sz="2300" b="0" i="0">
                <a:solidFill>
                  <a:srgbClr val="1C252B"/>
                </a:solidFill>
                <a:latin typeface="Segoe UI"/>
              </a:rPr>
              <a:t> be its mean distance to the other members of its own cluster and </a:t>
            </a:r>
            <a:r>
              <a:rPr sz="2300" b="0" i="1">
                <a:solidFill>
                  <a:srgbClr val="1C252B"/>
                </a:solidFill>
                <a:latin typeface="Cambria"/>
              </a:rPr>
              <a:t>b</a:t>
            </a:r>
            <a:r>
              <a:rPr sz="2300" b="0" i="0">
                <a:solidFill>
                  <a:srgbClr val="1C252B"/>
                </a:solidFill>
                <a:latin typeface="Segoe UI"/>
              </a:rPr>
              <a:t> its mean distance to the members of the nearest other cluster. Its </a:t>
            </a:r>
            <a:r>
              <a:rPr sz="2300" b="1" i="0">
                <a:solidFill>
                  <a:srgbClr val="1A5276"/>
                </a:solidFill>
                <a:latin typeface="Segoe UI"/>
              </a:rPr>
              <a:t>silhouette</a:t>
            </a:r>
            <a:r>
              <a:rPr sz="2300" b="0" i="0">
                <a:solidFill>
                  <a:srgbClr val="1C252B"/>
                </a:solidFill>
                <a:latin typeface="Segoe UI"/>
              </a:rPr>
              <a:t> is</a:t>
            </a:r>
          </a:p>
        </p:txBody>
      </p:sp>
      <p:pic>
        <p:nvPicPr>
          <p:cNvPr id="10" name="body-1" descr="s = \frac{b - a}{\max(a, b)} \qquad (-1 \le s \le 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302533"/>
            <a:ext cx="10161727" cy="736914"/>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77066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Choosing k for 600 points generated from four clusters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15.3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§15.4  ·  Handout p. 118     </a:t>
            </a:r>
            <a:fld id="{2A679DA7-EC33-48FD-9594-AEED38F8ADFC}" type="slidenum">
              <a:rPr lang="en-GB" sz="1000">
                <a:solidFill>
                  <a:srgbClr val="8795A1"/>
                </a:solidFill>
                <a:latin typeface="Segoe UI"/>
              </a:rPr>
              <a:t>19</a:t>
            </a:fld>
          </a:p>
        </p:txBody>
      </p:sp>
      <p:pic>
        <p:nvPicPr>
          <p:cNvPr id="6" name="!!figure" descr="Figure 15.3. Choosing k for 600 points generated from four clusters. The WCSS curve bends sharply at k = 4 and the silhouette peaks there: both agree with the truth."/>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5890" y="1737360"/>
            <a:ext cx="10759914"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WCSS curve bends sharply at k = 4 and the silhouette peaks there: both agree with the truth.</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03570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Judging a Clustering</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§15.4  ·  Handout p. 118     </a:t>
            </a:r>
            <a:fld id="{20159DAA-0D83-4A13-9449-0DF8880CC23A}"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A93226"/>
                </a:solidFill>
                <a:latin typeface="Segoe UI"/>
              </a:rPr>
              <a:t>Internal</a:t>
            </a:r>
            <a:r>
              <a:rPr sz="2300" b="0" i="0">
                <a:solidFill>
                  <a:srgbClr val="1C252B"/>
                </a:solidFill>
                <a:latin typeface="Segoe UI"/>
              </a:rPr>
              <a:t> measures (WCSS, silhouette) use only the data, and reward whatever shape the measure assumes. </a:t>
            </a:r>
            <a:r>
              <a:rPr sz="2300" b="1" i="0">
                <a:solidFill>
                  <a:srgbClr val="1C252B"/>
                </a:solidFill>
                <a:latin typeface="Segoe UI"/>
              </a:rPr>
              <a:t>External</a:t>
            </a:r>
            <a:r>
              <a:rPr sz="2300" b="0" i="0">
                <a:solidFill>
                  <a:srgbClr val="1C252B"/>
                </a:solidFill>
                <a:latin typeface="Segoe UI"/>
              </a:rPr>
              <a:t> measures such as the </a:t>
            </a:r>
            <a:r>
              <a:rPr sz="2300" b="1" i="0">
                <a:solidFill>
                  <a:srgbClr val="1A5276"/>
                </a:solidFill>
                <a:latin typeface="Segoe UI"/>
              </a:rPr>
              <a:t>adjusted Rand index</a:t>
            </a:r>
            <a:r>
              <a:rPr sz="2300" b="0" i="0">
                <a:solidFill>
                  <a:srgbClr val="1C252B"/>
                </a:solidFill>
                <a:latin typeface="Segoe UI"/>
              </a:rPr>
              <a:t> compare the clusters with known labels, when some exist: 1 for perfect agreement, about 0 for chance. The most important test is neither: can a domain expert name the clusters, and do the names lead to a different decision for each? A clustering nobody can use is not a result.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30073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§15.5  ·  Handout p. 118     </a:t>
            </a:r>
            <a:fld id="{7FECAE4A-7413-4CB8-8F93-C8FC51FEFA11}" type="slidenum">
              <a:rPr lang="en-GB" sz="1000">
                <a:solidFill>
                  <a:srgbClr val="8795A1"/>
                </a:solidFill>
                <a:latin typeface="Segoe UI"/>
              </a:rPr>
              <a:t>21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Clustering unscaled features.</a:t>
            </a:r>
            <a:r>
              <a:rPr sz="2100" b="0" i="0">
                <a:solidFill>
                  <a:srgbClr val="1C252B"/>
                </a:solidFill>
                <a:latin typeface="Segoe UI"/>
              </a:rPr>
              <a:t> The feature with the largest units decides the clusters.</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Running </a:t>
            </a:r>
            <a:r>
              <a:rPr sz="2100" b="1" i="1">
                <a:solidFill>
                  <a:srgbClr val="1C252B"/>
                </a:solidFill>
                <a:latin typeface="Cambria"/>
              </a:rPr>
              <a:t>k</a:t>
            </a:r>
            <a:r>
              <a:rPr sz="2100" b="1" i="0">
                <a:solidFill>
                  <a:srgbClr val="1C252B"/>
                </a:solidFill>
                <a:latin typeface="Segoe UI"/>
              </a:rPr>
              <a:t>-means once.</a:t>
            </a:r>
            <a:r>
              <a:rPr sz="2100" b="0" i="0">
                <a:solidFill>
                  <a:srgbClr val="1C252B"/>
                </a:solidFill>
                <a:latin typeface="Segoe UI"/>
              </a:rPr>
              <a:t> Use many starts and </a:t>
            </a:r>
            <a:r>
              <a:rPr sz="2100" b="0" i="1">
                <a:solidFill>
                  <a:srgbClr val="1C252B"/>
                </a:solidFill>
                <a:latin typeface="Cambria"/>
              </a:rPr>
              <a:t>k</a:t>
            </a:r>
            <a:r>
              <a:rPr sz="2100" b="0" i="0">
                <a:solidFill>
                  <a:srgbClr val="1C252B"/>
                </a:solidFill>
                <a:latin typeface="Segoe UI"/>
              </a:rPr>
              <a:t>-means++.</a:t>
            </a:r>
          </a:p>
        </p:txBody>
      </p:sp>
      <p:sp>
        <p:nvSpPr>
          <p:cNvPr id="13" name="!!pb2">
            <a:extLst>
              <a:ext uri="{C183D7F6-B498-43B3-948B-1728B52AA6E4}">
                <adec:decorative xmlns:adec="http://schemas.microsoft.com/office/drawing/2017/decorative" val="1"/>
              </a:ext>
            </a:extLst>
          </p:cNvPr>
          <p:cNvSpPr/>
          <p:nvPr/>
        </p:nvSpPr>
        <p:spPr>
          <a:xfrm>
            <a:off x="658368" y="288950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291236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2871216"/>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Choosing </a:t>
            </a:r>
            <a:r>
              <a:rPr sz="2100" b="1" i="1">
                <a:solidFill>
                  <a:srgbClr val="1C252B"/>
                </a:solidFill>
                <a:latin typeface="Cambria"/>
              </a:rPr>
              <a:t>k</a:t>
            </a:r>
            <a:r>
              <a:rPr sz="2100" b="1" i="0">
                <a:solidFill>
                  <a:srgbClr val="1C252B"/>
                </a:solidFill>
                <a:latin typeface="Segoe UI"/>
              </a:rPr>
              <a:t> by WCSS alone.</a:t>
            </a:r>
            <a:r>
              <a:rPr sz="2100" b="0" i="0">
                <a:solidFill>
                  <a:srgbClr val="1C252B"/>
                </a:solidFill>
                <a:latin typeface="Segoe UI"/>
              </a:rPr>
              <a:t> It always falls; look for the elbow and check the silhouette.</a:t>
            </a:r>
          </a:p>
        </p:txBody>
      </p:sp>
      <p:sp>
        <p:nvSpPr>
          <p:cNvPr id="16" name="!!pb3">
            <a:extLst>
              <a:ext uri="{C183D7F6-B498-43B3-948B-1728B52AA6E4}">
                <adec:decorative xmlns:adec="http://schemas.microsoft.com/office/drawing/2017/decorative" val="1"/>
              </a:ext>
            </a:extLst>
          </p:cNvPr>
          <p:cNvSpPr/>
          <p:nvPr/>
        </p:nvSpPr>
        <p:spPr>
          <a:xfrm>
            <a:off x="658368" y="375635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77921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38067"/>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Treating clusters as discovered facts.</a:t>
            </a:r>
            <a:r>
              <a:rPr sz="2100" b="0" i="0">
                <a:solidFill>
                  <a:srgbClr val="1C252B"/>
                </a:solidFill>
                <a:latin typeface="Segoe UI"/>
              </a:rPr>
              <a:t> They reflect the features, scaling, distance and </a:t>
            </a:r>
            <a:r>
              <a:rPr sz="2100" b="0" i="1">
                <a:solidFill>
                  <a:srgbClr val="1C252B"/>
                </a:solidFill>
                <a:latin typeface="Cambria"/>
              </a:rPr>
              <a:t>k</a:t>
            </a:r>
            <a:r>
              <a:rPr sz="2100" b="0" i="0">
                <a:solidFill>
                  <a:srgbClr val="1C252B"/>
                </a:solidFill>
                <a:latin typeface="Segoe UI"/>
              </a:rPr>
              <a:t> chosen; a different choice gives different clusters.</a:t>
            </a:r>
          </a:p>
        </p:txBody>
      </p:sp>
      <p:sp>
        <p:nvSpPr>
          <p:cNvPr id="19" name="!!pb4">
            <a:extLst>
              <a:ext uri="{C183D7F6-B498-43B3-948B-1728B52AA6E4}">
                <adec:decorative xmlns:adec="http://schemas.microsoft.com/office/drawing/2017/decorative" val="1"/>
              </a:ext>
            </a:extLst>
          </p:cNvPr>
          <p:cNvSpPr/>
          <p:nvPr/>
        </p:nvSpPr>
        <p:spPr>
          <a:xfrm>
            <a:off x="658368" y="462320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64606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04918"/>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Forcing </a:t>
            </a:r>
            <a:r>
              <a:rPr sz="2100" b="1" i="1">
                <a:solidFill>
                  <a:srgbClr val="1C252B"/>
                </a:solidFill>
                <a:latin typeface="Cambria"/>
              </a:rPr>
              <a:t>k</a:t>
            </a:r>
            <a:r>
              <a:rPr sz="2100" b="1" i="0">
                <a:solidFill>
                  <a:srgbClr val="1C252B"/>
                </a:solidFill>
                <a:latin typeface="Segoe UI"/>
              </a:rPr>
              <a:t>-means onto non-round clusters.</a:t>
            </a:r>
            <a:r>
              <a:rPr sz="2100" b="0" i="0">
                <a:solidFill>
                  <a:srgbClr val="1C252B"/>
                </a:solidFill>
                <a:latin typeface="Segoe UI"/>
              </a:rPr>
              <a:t> Use single linkage, DBSCAN or a mixture model instead.</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556577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Clustering</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E94A1B33-FB1E-4EE1-942C-69569BB73966}" type="slidenum">
              <a:rPr lang="en-GB" sz="1000">
                <a:solidFill>
                  <a:srgbClr val="8795A1"/>
                </a:solidFill>
                <a:latin typeface="Segoe UI"/>
              </a:rPr>
              <a:t>22</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Cluster students by how they study — when they log in, how they use videos and quizzes — and advisers can tailor support to “last-minute crammers” or “steady early starters”.</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Clustering past projects on size, duration, team and technology yields project archetypes, each with its own typical overrun.</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Clustering a machine’s sensor readings recovers its operating modes — idle, normal load, heavy load — without anyone labelling them.</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Clustering malware by behaviour groups new samples into families, so analysts examine one sample per cluster instead of thousands.</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58308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Clustering</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EAC9CD31-9AAE-40A5-89AA-4709D2F7EF10}" type="slidenum">
              <a:rPr lang="en-GB" sz="1000">
                <a:solidFill>
                  <a:srgbClr val="8795A1"/>
                </a:solidFill>
                <a:latin typeface="Segoe UI"/>
              </a:rPr>
              <a:t>23</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Cluster students by how they study — when they log in, how they use videos and quizzes — and advisers can tailor support to “last-minute crammers” or “steady early starters”. The names come from people looking at the clusters, and the clusters change if you add or remove a behavioural feature.</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Clustering</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D146BE65-4100-4107-BC94-46FFF1D3AE9F}" type="slidenum">
              <a:rPr lang="en-GB" sz="1000">
                <a:solidFill>
                  <a:srgbClr val="8795A1"/>
                </a:solidFill>
                <a:latin typeface="Segoe UI"/>
              </a:rPr>
              <a:t>24</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Clustering past projects on size, duration, team and technology yields project archetypes, each with its own typical overrun. A new project is estimated from its archetype — nearest-centroid classification built from an unsupervised start.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3608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Clustering</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59321ADF-6F44-48EA-B63D-55EEFB1100D7}" type="slidenum">
              <a:rPr lang="en-GB" sz="1000">
                <a:solidFill>
                  <a:srgbClr val="8795A1"/>
                </a:solidFill>
                <a:latin typeface="Segoe UI"/>
              </a:rPr>
              <a:t>25</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Clustering a machine’s sensor readings recovers its operating modes — idle, normal load, heavy load — without anyone labelling them. A reading far from every centroid is a candidate anomaly; one that drifts from its mode’s centroid over weeks is wear.</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62592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Clustering</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2F09C7C3-2A4A-4048-A2DC-6707C2F26D13}" type="slidenum">
              <a:rPr lang="en-GB" sz="1000">
                <a:solidFill>
                  <a:srgbClr val="8795A1"/>
                </a:solidFill>
                <a:latin typeface="Segoe UI"/>
              </a:rPr>
              <a:t>26</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Clustering malware by behaviour groups new samples into families, so analysts examine one sample per cluster instead of thousands. Network traffic clusters separate normal services; a small, tight new cluster appearing overnight deserves attention.</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89095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k-Means, a Dendrogram and the Choice of 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§15.5  ·  Handout p. 118     </a:t>
            </a:r>
            <a:fld id="{8027F477-35AD-489B-A85E-51997D39789F}" type="slidenum">
              <a:rPr lang="en-GB" sz="1000">
                <a:solidFill>
                  <a:srgbClr val="8795A1"/>
                </a:solidFill>
                <a:latin typeface="Segoe UI"/>
              </a:rPr>
              <a:t>27</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4668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The worked example: k-means from A2 and A4</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Choosing k: the elbow and the silhouette</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Hierarchical clustering: linkage heights on five numbers</a:t>
            </a:r>
          </a:p>
          <a:p>
            <a:pPr algn="l" marL="459473" indent="-459473">
              <a:lnSpc>
                <a:spcPct val="100000"/>
              </a:lnSpc>
              <a:spcBef>
                <a:spcPts val="0"/>
              </a:spcBef>
              <a:spcAft>
                <a:spcPts val="0"/>
              </a:spcAft>
            </a:pPr>
            <a:r>
              <a:rPr sz="1900" b="1">
                <a:solidFill>
                  <a:srgbClr val="117A65"/>
                </a:solidFill>
                <a:latin typeface="Segoe UI"/>
              </a:rPr>
              <a:t>4.	</a:t>
            </a:r>
            <a:r>
              <a:rPr sz="1900" b="0" i="0">
                <a:solidFill>
                  <a:srgbClr val="1C252B"/>
                </a:solidFill>
                <a:latin typeface="Segoe UI"/>
              </a:rPr>
              <a:t>Against the truth, and why scale matters</a:t>
            </a:r>
          </a:p>
        </p:txBody>
      </p:sp>
      <p:sp>
        <p:nvSpPr>
          <p:cNvPr id="2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700" b="0" i="0">
                <a:solidFill>
                  <a:srgbClr val="1C252B"/>
                </a:solidFill>
                <a:latin typeface="Segoe UI"/>
              </a:rPr>
              <a:t>Week 13: k-means and a dendrogram; PCA and a SOM</a:t>
            </a:r>
          </a:p>
        </p:txBody>
      </p:sp>
      <p:sp>
        <p:nvSpPr>
          <p:cNvPr id="2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46 lines of Python</a:t>
            </a:r>
          </a:p>
        </p:txBody>
      </p:sp>
      <p:sp>
        <p:nvSpPr>
          <p:cNvPr id="3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code/ch15_k_means_dendrogram.py</a:t>
            </a:r>
          </a:p>
        </p:txBody>
      </p:sp>
      <p:sp>
        <p:nvSpPr>
          <p:cNvPr id="3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pfill">
            <a:extLst>
              <a:ext uri="{C183D7F6-B498-43B3-948B-1728B52AA6E4}">
                <adec:decorative xmlns:adec="http://schemas.microsoft.com/office/drawing/2017/decorative" val="1"/>
              </a:ext>
            </a:extLst>
          </p:cNvPr>
          <p:cNvSpPr/>
          <p:nvPr/>
        </p:nvSpPr>
        <p:spPr>
          <a:xfrm>
            <a:off x="0" y="0"/>
            <a:ext cx="715599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fade">
                                      <p:cBhvr>
                                        <p:cTn id="23" dur="3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k-Means, a Dendrogram and the Choice of 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§15.5  ·  Handout p. 118     </a:t>
            </a:r>
            <a:fld id="{3AE3D498-991D-44C7-8656-2CCB97188442}"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935224"/>
          </a:xfrm>
          <a:prstGeom prst="roundRect">
            <a:avLst>
              <a:gd name="adj" fmla="val 311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code/ch15_k_means_dendrogram.py</a:t>
            </a:r>
          </a:p>
        </p:txBody>
      </p:sp>
      <p:sp>
        <p:nvSpPr>
          <p:cNvPr id="14" name="!!code-text" descr="import warnings import numpy as np from scipy.cluster.hierarchy import linkage, fcluster from sklearn.datasets import make_blobs from sklearn.cluster import KMeans, AgglomerativeClustering from sklearn.metrics import silhouette_score, adjusted_rand_score from sklearn.preprocessing import StandardScaler warnings.filterwarnings(&quot;ignore&quot;, message=&quot;KMeans is known to have a memory&quot;)"/>
          <p:cNvSpPr txBox="1"/>
          <p:nvPr/>
        </p:nvSpPr>
        <p:spPr>
          <a:xfrm>
            <a:off x="1362456" y="2523744"/>
            <a:ext cx="9987991" cy="2441448"/>
          </a:xfrm>
          <a:prstGeom prst="rect">
            <a:avLst/>
          </a:prstGeom>
          <a:noFill/>
        </p:spPr>
        <p:txBody>
          <a:bodyPr wrap="none" anchor="t" lIns="0" rIns="0" tIns="0" bIns="0">
            <a:noAutofit/>
          </a:bodyPr>
          <a:lstStyle/>
          <a:p>
            <a:pPr>
              <a:lnSpc>
                <a:spcPct val="100000"/>
              </a:lnSpc>
              <a:spcAft>
                <a:spcPts val="0"/>
              </a:spcAft>
            </a:pPr>
            <a:r>
              <a:rPr sz="1700" i="0">
                <a:solidFill>
                  <a:srgbClr val="5DADE2"/>
                </a:solidFill>
                <a:latin typeface="Consolas"/>
              </a:rPr>
              <a:t>import</a:t>
            </a:r>
            <a:r>
              <a:rPr sz="1700" i="0">
                <a:solidFill>
                  <a:srgbClr val="E8EDF2"/>
                </a:solidFill>
                <a:latin typeface="Consolas"/>
              </a:rPr>
              <a:t> </a:t>
            </a:r>
            <a:r>
              <a:rPr sz="1700" i="0">
                <a:solidFill>
                  <a:srgbClr val="76D7C4"/>
                </a:solidFill>
                <a:latin typeface="Consolas"/>
              </a:rPr>
              <a:t>warnings</a:t>
            </a:r>
          </a:p>
          <a:p>
            <a:pPr>
              <a:lnSpc>
                <a:spcPct val="100000"/>
              </a:lnSpc>
              <a:spcAft>
                <a:spcPts val="0"/>
              </a:spcAft>
            </a:pPr>
            <a:r>
              <a:rPr sz="1700" i="0">
                <a:solidFill>
                  <a:srgbClr val="5DADE2"/>
                </a:solidFill>
                <a:latin typeface="Consolas"/>
              </a:rPr>
              <a:t>import</a:t>
            </a:r>
            <a:r>
              <a:rPr sz="1700" i="0">
                <a:solidFill>
                  <a:srgbClr val="E8EDF2"/>
                </a:solidFill>
                <a:latin typeface="Consolas"/>
              </a:rPr>
              <a:t> </a:t>
            </a:r>
            <a:r>
              <a:rPr sz="1700" i="0">
                <a:solidFill>
                  <a:srgbClr val="76D7C4"/>
                </a:solidFill>
                <a:latin typeface="Consolas"/>
              </a:rPr>
              <a:t>numpy</a:t>
            </a:r>
            <a:r>
              <a:rPr sz="1700" i="0">
                <a:solidFill>
                  <a:srgbClr val="E8EDF2"/>
                </a:solidFill>
                <a:latin typeface="Consolas"/>
              </a:rPr>
              <a:t> </a:t>
            </a:r>
            <a:r>
              <a:rPr sz="1700" i="0">
                <a:solidFill>
                  <a:srgbClr val="5DADE2"/>
                </a:solidFill>
                <a:latin typeface="Consolas"/>
              </a:rPr>
              <a:t>as</a:t>
            </a:r>
            <a:r>
              <a:rPr sz="1700" i="0">
                <a:solidFill>
                  <a:srgbClr val="E8EDF2"/>
                </a:solidFill>
                <a:latin typeface="Consolas"/>
              </a:rPr>
              <a:t> </a:t>
            </a:r>
            <a:r>
              <a:rPr sz="1700" i="0">
                <a:solidFill>
                  <a:srgbClr val="76D7C4"/>
                </a:solidFill>
                <a:latin typeface="Consolas"/>
              </a:rPr>
              <a:t>np</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scipy</a:t>
            </a:r>
            <a:r>
              <a:rPr sz="1700" i="0">
                <a:solidFill>
                  <a:srgbClr val="76D7C4"/>
                </a:solidFill>
                <a:latin typeface="Consolas"/>
              </a:rPr>
              <a:t>.</a:t>
            </a:r>
            <a:r>
              <a:rPr sz="1700" i="0">
                <a:solidFill>
                  <a:srgbClr val="76D7C4"/>
                </a:solidFill>
                <a:latin typeface="Consolas"/>
              </a:rPr>
              <a:t>cluster</a:t>
            </a:r>
            <a:r>
              <a:rPr sz="1700" i="0">
                <a:solidFill>
                  <a:srgbClr val="76D7C4"/>
                </a:solidFill>
                <a:latin typeface="Consolas"/>
              </a:rPr>
              <a:t>.</a:t>
            </a:r>
            <a:r>
              <a:rPr sz="1700" i="0">
                <a:solidFill>
                  <a:srgbClr val="76D7C4"/>
                </a:solidFill>
                <a:latin typeface="Consolas"/>
              </a:rPr>
              <a:t>hierarchy</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linkage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fcluster</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datasets</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make_blobs</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cluster</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KMeans</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AgglomerativeClustering</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metrics</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silhouette_score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adjusted_rand_score</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preprocessing</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StandardScaler</a:t>
            </a:r>
          </a:p>
          <a:p>
            <a:pPr>
              <a:lnSpc>
                <a:spcPct val="100000"/>
              </a:lnSpc>
              <a:spcAft>
                <a:spcPts val="0"/>
              </a:spcAft>
            </a:pPr>
            <a:r>
              <a:rPr sz="1700">
                <a:latin typeface="Consolas"/>
              </a:rPr>
              <a:t> </a:t>
            </a:r>
          </a:p>
          <a:p>
            <a:pPr>
              <a:lnSpc>
                <a:spcPct val="100000"/>
              </a:lnSpc>
              <a:spcAft>
                <a:spcPts val="0"/>
              </a:spcAft>
            </a:pPr>
            <a:r>
              <a:rPr sz="1700" i="0">
                <a:solidFill>
                  <a:srgbClr val="E8EDF2"/>
                </a:solidFill>
                <a:latin typeface="Consolas"/>
              </a:rPr>
              <a:t>warnings</a:t>
            </a:r>
            <a:r>
              <a:rPr sz="1700" i="0">
                <a:solidFill>
                  <a:srgbClr val="AEB6BF"/>
                </a:solidFill>
                <a:latin typeface="Consolas"/>
              </a:rPr>
              <a:t>.</a:t>
            </a:r>
            <a:r>
              <a:rPr sz="1700" i="0">
                <a:solidFill>
                  <a:srgbClr val="E8EDF2"/>
                </a:solidFill>
                <a:latin typeface="Consolas"/>
              </a:rPr>
              <a:t>filterwarnings</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ignore</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message</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KMeans is known to have a memory</a:t>
            </a:r>
            <a:r>
              <a:rPr sz="1700" i="0">
                <a:solidFill>
                  <a:srgbClr val="7DCEA0"/>
                </a:solidFill>
                <a:latin typeface="Consolas"/>
              </a:rPr>
              <a:t>"</a:t>
            </a:r>
            <a:r>
              <a:rPr sz="1700" i="0">
                <a:solidFill>
                  <a:srgbClr val="AEB6BF"/>
                </a:solidFill>
                <a:latin typeface="Consolas"/>
              </a:rPr>
              <a:t>)</a:t>
            </a:r>
          </a:p>
        </p:txBody>
      </p:sp>
      <p:sp>
        <p:nvSpPr>
          <p:cNvPr id="15" name="!!code-num"/>
          <p:cNvSpPr txBox="1"/>
          <p:nvPr/>
        </p:nvSpPr>
        <p:spPr>
          <a:xfrm>
            <a:off x="768096" y="2523744"/>
            <a:ext cx="393192" cy="244144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2</a:t>
            </a:r>
          </a:p>
          <a:p>
            <a:pPr algn="r">
              <a:lnSpc>
                <a:spcPct val="100000"/>
              </a:lnSpc>
            </a:pPr>
            <a:r>
              <a:rPr sz="1700">
                <a:solidFill>
                  <a:srgbClr val="4F5D6A"/>
                </a:solidFill>
                <a:latin typeface="Consolas"/>
              </a:rPr>
              <a:t>3</a:t>
            </a:r>
          </a:p>
          <a:p>
            <a:pPr algn="r">
              <a:lnSpc>
                <a:spcPct val="100000"/>
              </a:lnSpc>
            </a:pPr>
            <a:r>
              <a:rPr sz="1700">
                <a:solidFill>
                  <a:srgbClr val="4F5D6A"/>
                </a:solidFill>
                <a:latin typeface="Consolas"/>
              </a:rPr>
              <a:t>4</a:t>
            </a:r>
          </a:p>
          <a:p>
            <a:pPr algn="r">
              <a:lnSpc>
                <a:spcPct val="100000"/>
              </a:lnSpc>
            </a:pPr>
            <a:r>
              <a:rPr sz="1700">
                <a:solidFill>
                  <a:srgbClr val="4F5D6A"/>
                </a:solidFill>
                <a:latin typeface="Consolas"/>
              </a:rPr>
              <a:t>5</a:t>
            </a:r>
          </a:p>
          <a:p>
            <a:pPr algn="r">
              <a:lnSpc>
                <a:spcPct val="100000"/>
              </a:lnSpc>
            </a:pPr>
            <a:r>
              <a:rPr sz="1700">
                <a:solidFill>
                  <a:srgbClr val="4F5D6A"/>
                </a:solidFill>
                <a:latin typeface="Consolas"/>
              </a:rPr>
              <a:t>6</a:t>
            </a:r>
          </a:p>
          <a:p>
            <a:pPr algn="r">
              <a:lnSpc>
                <a:spcPct val="100000"/>
              </a:lnSpc>
            </a:pPr>
            <a:r>
              <a:rPr sz="1700">
                <a:solidFill>
                  <a:srgbClr val="4F5D6A"/>
                </a:solidFill>
                <a:latin typeface="Consolas"/>
              </a:rPr>
              <a:t>7</a:t>
            </a:r>
          </a:p>
          <a:p>
            <a:pPr algn="r">
              <a:lnSpc>
                <a:spcPct val="100000"/>
              </a:lnSpc>
            </a:pPr>
            <a:r>
              <a:rPr sz="1700">
                <a:solidFill>
                  <a:srgbClr val="4F5D6A"/>
                </a:solidFill>
                <a:latin typeface="Consolas"/>
              </a:rPr>
              <a:t>8</a:t>
            </a:r>
          </a:p>
          <a:p>
            <a:pPr algn="r">
              <a:lnSpc>
                <a:spcPct val="100000"/>
              </a:lnSpc>
            </a:pPr>
            <a:r>
              <a:rPr sz="1700">
                <a:solidFill>
                  <a:srgbClr val="4F5D6A"/>
                </a:solidFill>
                <a:latin typeface="Consolas"/>
              </a:rPr>
              <a:t>9</a:t>
            </a:r>
          </a:p>
          <a:p>
            <a:pPr algn="r">
              <a:lnSpc>
                <a:spcPct val="100000"/>
              </a:lnSpc>
            </a:pPr>
            <a:r>
              <a:rPr sz="1700">
                <a:solidFill>
                  <a:srgbClr val="4F5D6A"/>
                </a:solidFill>
                <a:latin typeface="Consolas"/>
              </a:rPr>
              <a:t>10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2103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k-Means, a Dendrogram and the Choice of 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§15.5  ·  Handout p. 118     </a:t>
            </a:r>
            <a:fld id="{71B74AF3-9357-450A-B623-67902061FA41}"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worked example: k-means from A2 and A4</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49424"/>
          </a:xfrm>
          <a:prstGeom prst="roundRect">
            <a:avLst>
              <a:gd name="adj" fmla="val 406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code/ch15_k_means_dendrogram.py</a:t>
            </a:r>
          </a:p>
        </p:txBody>
      </p:sp>
      <p:sp>
        <p:nvSpPr>
          <p:cNvPr id="14" name="!!code-text" descr="# --- 1. the worked example: k-means from A2 and A4 ----------------------- P = np.array([[1, 1], [1.5, 2], [3, 4], [5, 7], [3.5, 5], [4.5, 5], [3.5, 4.5]]) km = KMeans(n_clusters=2, init=P[[1, 3]], n_init=1).fit(P) print(&quot;centroids:&quot;, km.cluster_centers_.round(3).tolist(), &quot; WCSS:&quot;, round(km.inertia_, 3), &quot; iterations:&quot;, km.n_iter_)"/>
          <p:cNvSpPr txBox="1"/>
          <p:nvPr/>
        </p:nvSpPr>
        <p:spPr>
          <a:xfrm>
            <a:off x="1362456" y="2523744"/>
            <a:ext cx="9987991" cy="17556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the worked example: k-means from A2 and A4 -----------------------</a:t>
            </a:r>
          </a:p>
          <a:p>
            <a:pPr>
              <a:lnSpc>
                <a:spcPct val="100000"/>
              </a:lnSpc>
              <a:spcAft>
                <a:spcPts val="0"/>
              </a:spcAft>
            </a:pP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4</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7</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3.5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4.5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3.5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4.5</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km</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KMeans</a:t>
            </a:r>
            <a:r>
              <a:rPr sz="1800" i="0">
                <a:solidFill>
                  <a:srgbClr val="AEB6BF"/>
                </a:solidFill>
                <a:latin typeface="Consolas"/>
              </a:rPr>
              <a:t>(</a:t>
            </a:r>
            <a:r>
              <a:rPr sz="1800" i="0">
                <a:solidFill>
                  <a:srgbClr val="E8EDF2"/>
                </a:solidFill>
                <a:latin typeface="Consolas"/>
              </a:rPr>
              <a:t>n_clusters</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init</a:t>
            </a:r>
            <a:r>
              <a:rPr sz="1800" i="0">
                <a:solidFill>
                  <a:srgbClr val="AEB6BF"/>
                </a:solidFill>
                <a:latin typeface="Consolas"/>
              </a:rPr>
              <a:t>=</a:t>
            </a:r>
            <a:r>
              <a:rPr sz="1800" i="0">
                <a:solidFill>
                  <a:srgbClr val="E8EDF2"/>
                </a:solidFill>
                <a:latin typeface="Consolas"/>
              </a:rPr>
              <a:t>P</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n_init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P</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centroids: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km</a:t>
            </a:r>
            <a:r>
              <a:rPr sz="1800" i="0">
                <a:solidFill>
                  <a:srgbClr val="AEB6BF"/>
                </a:solidFill>
                <a:latin typeface="Consolas"/>
              </a:rPr>
              <a:t>.</a:t>
            </a:r>
            <a:r>
              <a:rPr sz="1800" i="0">
                <a:solidFill>
                  <a:srgbClr val="E8EDF2"/>
                </a:solidFill>
                <a:latin typeface="Consolas"/>
              </a:rPr>
              <a:t>cluster_centers_</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tolist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 WCSS: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E8EDF2"/>
                </a:solidFill>
                <a:latin typeface="Consolas"/>
              </a:rPr>
              <a:t>km</a:t>
            </a:r>
            <a:r>
              <a:rPr sz="1800" i="0">
                <a:solidFill>
                  <a:srgbClr val="AEB6BF"/>
                </a:solidFill>
                <a:latin typeface="Consolas"/>
              </a:rPr>
              <a:t>.</a:t>
            </a:r>
            <a:r>
              <a:rPr sz="1800" i="0">
                <a:solidFill>
                  <a:srgbClr val="E8EDF2"/>
                </a:solidFill>
                <a:latin typeface="Consolas"/>
              </a:rPr>
              <a:t>inertia_</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 iterations: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km</a:t>
            </a:r>
            <a:r>
              <a:rPr sz="1800" i="0">
                <a:solidFill>
                  <a:srgbClr val="AEB6BF"/>
                </a:solidFill>
                <a:latin typeface="Consolas"/>
              </a:rPr>
              <a:t>.</a:t>
            </a:r>
            <a:r>
              <a:rPr sz="1800" i="0">
                <a:solidFill>
                  <a:srgbClr val="E8EDF2"/>
                </a:solidFill>
                <a:latin typeface="Consolas"/>
              </a:rPr>
              <a:t>n_iter_</a:t>
            </a:r>
            <a:r>
              <a:rPr sz="1800" i="0">
                <a:solidFill>
                  <a:srgbClr val="AEB6BF"/>
                </a:solidFill>
                <a:latin typeface="Consolas"/>
              </a:rPr>
              <a:t>)</a:t>
            </a:r>
          </a:p>
        </p:txBody>
      </p:sp>
      <p:sp>
        <p:nvSpPr>
          <p:cNvPr id="15" name="!!code-num"/>
          <p:cNvSpPr txBox="1"/>
          <p:nvPr/>
        </p:nvSpPr>
        <p:spPr>
          <a:xfrm>
            <a:off x="768096" y="2523744"/>
            <a:ext cx="393192" cy="17556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8606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k-Means, a Dendrogram and the Choice of 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§15.5  ·  Handout p. 118     </a:t>
            </a:r>
            <a:fld id="{EA7B1F89-F7E0-43C7-AF89-709346E80906}"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Choosing k: the elbow and the silhouette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523744"/>
          </a:xfrm>
          <a:prstGeom prst="roundRect">
            <a:avLst>
              <a:gd name="adj" fmla="val 362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code/ch15_k_means_dendrogram.py</a:t>
            </a:r>
          </a:p>
        </p:txBody>
      </p:sp>
      <p:sp>
        <p:nvSpPr>
          <p:cNvPr id="14" name="!!code-text" descr="# --- 2. choosing k: the elbow and the silhouette ------------------------- X, truth = make_blobs(n_samples=600, centers=4, cluster_std=1.0, random_state=3) for k in range(2, 8): m = KMeans(n_clusters=k, n_init=10, random_state=0).fit(X) print(f&quot;k={k}: WCSS {m.inertia_:8.1f} &quot; f&quot;silhouette {silhouette_score(X, m.labels_):.3f}&quot;)"/>
          <p:cNvSpPr txBox="1"/>
          <p:nvPr/>
        </p:nvSpPr>
        <p:spPr>
          <a:xfrm>
            <a:off x="1362456" y="2523744"/>
            <a:ext cx="9987991" cy="20299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choosing k: the elbow and the silhouette -------------------------</a:t>
            </a:r>
          </a:p>
          <a:p>
            <a:pPr>
              <a:lnSpc>
                <a:spcPct val="100000"/>
              </a:lnSpc>
              <a:spcAft>
                <a:spcPts val="0"/>
              </a:spcAft>
            </a:pP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truth</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make_blobs</a:t>
            </a:r>
            <a:r>
              <a:rPr sz="1800" i="0">
                <a:solidFill>
                  <a:srgbClr val="AEB6BF"/>
                </a:solidFill>
                <a:latin typeface="Consolas"/>
              </a:rPr>
              <a:t>(</a:t>
            </a:r>
            <a:r>
              <a:rPr sz="1800" i="0">
                <a:solidFill>
                  <a:srgbClr val="E8EDF2"/>
                </a:solidFill>
                <a:latin typeface="Consolas"/>
              </a:rPr>
              <a:t>n_samples</a:t>
            </a:r>
            <a:r>
              <a:rPr sz="1800" i="0">
                <a:solidFill>
                  <a:srgbClr val="AEB6BF"/>
                </a:solidFill>
                <a:latin typeface="Consolas"/>
              </a:rPr>
              <a:t>=</a:t>
            </a:r>
            <a:r>
              <a:rPr sz="1800" i="0">
                <a:solidFill>
                  <a:srgbClr val="F7DC6F"/>
                </a:solidFill>
                <a:latin typeface="Consolas"/>
              </a:rPr>
              <a:t>600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centers</a:t>
            </a:r>
            <a:r>
              <a:rPr sz="1800" i="0">
                <a:solidFill>
                  <a:srgbClr val="AEB6BF"/>
                </a:solidFill>
                <a:latin typeface="Consolas"/>
              </a:rPr>
              <a:t>=</a:t>
            </a:r>
            <a:r>
              <a:rPr sz="1800" i="0">
                <a:solidFill>
                  <a:srgbClr val="F7DC6F"/>
                </a:solidFill>
                <a:latin typeface="Consolas"/>
              </a:rPr>
              <a:t>4</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cluster_std</a:t>
            </a:r>
            <a:r>
              <a:rPr sz="1800" i="0">
                <a:solidFill>
                  <a:srgbClr val="AEB6BF"/>
                </a:solidFill>
                <a:latin typeface="Consolas"/>
              </a:rPr>
              <a:t>=</a:t>
            </a:r>
            <a:r>
              <a:rPr sz="1800" i="0">
                <a:solidFill>
                  <a:srgbClr val="F7DC6F"/>
                </a:solidFill>
                <a:latin typeface="Consolas"/>
              </a:rPr>
              <a:t>1.0</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k</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range</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8</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m</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KMeans</a:t>
            </a:r>
            <a:r>
              <a:rPr sz="1800" i="0">
                <a:solidFill>
                  <a:srgbClr val="AEB6BF"/>
                </a:solidFill>
                <a:latin typeface="Consolas"/>
              </a:rPr>
              <a:t>(</a:t>
            </a:r>
            <a:r>
              <a:rPr sz="1800" i="0">
                <a:solidFill>
                  <a:srgbClr val="E8EDF2"/>
                </a:solidFill>
                <a:latin typeface="Consolas"/>
              </a:rPr>
              <a:t>n_clusters</a:t>
            </a:r>
            <a:r>
              <a:rPr sz="1800" i="0">
                <a:solidFill>
                  <a:srgbClr val="AEB6BF"/>
                </a:solidFill>
                <a:latin typeface="Consolas"/>
              </a:rPr>
              <a:t>=</a:t>
            </a:r>
            <a:r>
              <a:rPr sz="1800" i="0">
                <a:solidFill>
                  <a:srgbClr val="E8EDF2"/>
                </a:solidFill>
                <a:latin typeface="Consolas"/>
              </a:rPr>
              <a:t>k</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n_init</a:t>
            </a:r>
            <a:r>
              <a:rPr sz="1800" i="0">
                <a:solidFill>
                  <a:srgbClr val="AEB6BF"/>
                </a:solidFill>
                <a:latin typeface="Consolas"/>
              </a:rPr>
              <a:t>=</a:t>
            </a:r>
            <a:r>
              <a:rPr sz="1800" i="0">
                <a:solidFill>
                  <a:srgbClr val="F7DC6F"/>
                </a:solidFill>
                <a:latin typeface="Consolas"/>
              </a:rPr>
              <a:t>10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k=</a:t>
            </a:r>
            <a:r>
              <a:rPr sz="1800" i="0">
                <a:solidFill>
                  <a:srgbClr val="7DCEA0"/>
                </a:solidFill>
                <a:latin typeface="Consolas"/>
              </a:rPr>
              <a:t>{</a:t>
            </a:r>
            <a:r>
              <a:rPr sz="1800" i="0">
                <a:solidFill>
                  <a:srgbClr val="E8EDF2"/>
                </a:solidFill>
                <a:latin typeface="Consolas"/>
              </a:rPr>
              <a:t>k</a:t>
            </a:r>
            <a:r>
              <a:rPr sz="1800" i="0">
                <a:solidFill>
                  <a:srgbClr val="7DCEA0"/>
                </a:solidFill>
                <a:latin typeface="Consolas"/>
              </a:rPr>
              <a:t>}</a:t>
            </a:r>
            <a:r>
              <a:rPr sz="1800" i="0">
                <a:solidFill>
                  <a:srgbClr val="7DCEA0"/>
                </a:solidFill>
                <a:latin typeface="Consolas"/>
              </a:rPr>
              <a:t>: WCSS </a:t>
            </a:r>
            <a:r>
              <a:rPr sz="1800" i="0">
                <a:solidFill>
                  <a:srgbClr val="7DCEA0"/>
                </a:solidFill>
                <a:latin typeface="Consolas"/>
              </a:rPr>
              <a:t>{</a:t>
            </a:r>
            <a:r>
              <a:rPr sz="1800" i="0">
                <a:solidFill>
                  <a:srgbClr val="E8EDF2"/>
                </a:solidFill>
                <a:latin typeface="Consolas"/>
              </a:rPr>
              <a:t>m</a:t>
            </a:r>
            <a:r>
              <a:rPr sz="1800" i="0">
                <a:solidFill>
                  <a:srgbClr val="AEB6BF"/>
                </a:solidFill>
                <a:latin typeface="Consolas"/>
              </a:rPr>
              <a:t>.</a:t>
            </a:r>
            <a:r>
              <a:rPr sz="1800" i="0">
                <a:solidFill>
                  <a:srgbClr val="E8EDF2"/>
                </a:solidFill>
                <a:latin typeface="Consolas"/>
              </a:rPr>
              <a:t>inertia_</a:t>
            </a:r>
            <a:r>
              <a:rPr sz="1800" i="0">
                <a:solidFill>
                  <a:srgbClr val="7DCEA0"/>
                </a:solidFill>
                <a:latin typeface="Consolas"/>
              </a:rPr>
              <a:t>:</a:t>
            </a:r>
            <a:r>
              <a:rPr sz="1800" i="0">
                <a:solidFill>
                  <a:srgbClr val="7DCEA0"/>
                </a:solidFill>
                <a:latin typeface="Consolas"/>
              </a:rPr>
              <a:t>8.1f</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silhouette </a:t>
            </a:r>
            <a:r>
              <a:rPr sz="1800" i="0">
                <a:solidFill>
                  <a:srgbClr val="7DCEA0"/>
                </a:solidFill>
                <a:latin typeface="Consolas"/>
              </a:rPr>
              <a:t>{</a:t>
            </a:r>
            <a:r>
              <a:rPr sz="1800" i="0">
                <a:solidFill>
                  <a:srgbClr val="E8EDF2"/>
                </a:solidFill>
                <a:latin typeface="Consolas"/>
              </a:rPr>
              <a:t>silhouette_score</a:t>
            </a:r>
            <a:r>
              <a:rPr sz="1800" i="0">
                <a:solidFill>
                  <a:srgbClr val="AEB6BF"/>
                </a:solidFill>
                <a:latin typeface="Consolas"/>
              </a:rPr>
              <a:t>(</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t>
            </a:r>
            <a:r>
              <a:rPr sz="1800" i="0">
                <a:solidFill>
                  <a:srgbClr val="AEB6BF"/>
                </a:solidFill>
                <a:latin typeface="Consolas"/>
              </a:rPr>
              <a:t>.</a:t>
            </a:r>
            <a:r>
              <a:rPr sz="1800" i="0">
                <a:solidFill>
                  <a:srgbClr val="E8EDF2"/>
                </a:solidFill>
                <a:latin typeface="Consolas"/>
              </a:rPr>
              <a:t>labels_</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20299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5110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k-Means, a Dendrogram and the Choice of 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§15.5  ·  Handout p. 118     </a:t>
            </a:r>
            <a:fld id="{C71E166D-4F28-49DA-AFC9-8992838FCF5A}"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Hierarchical clustering: linkage heights on five numbers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523744"/>
          </a:xfrm>
          <a:prstGeom prst="roundRect">
            <a:avLst>
              <a:gd name="adj" fmla="val 362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code/ch15_k_means_dendrogram.py</a:t>
            </a:r>
          </a:p>
        </p:txBody>
      </p:sp>
      <p:sp>
        <p:nvSpPr>
          <p:cNvPr id="14" name="!!code-text" descr="# --- 3. hierarchical clustering: linkage heights on five numbers --------- x = np.array([[1.0], [2.0], [4.0], [9.0], [11.0]]) for method in (&quot;single&quot;, &quot;complete&quot;, &quot;average&quot;): Z = linkage(x, method) print(f&quot;{method:8s} merge heights: {Z[:, 2].round(2).tolist()}&quot;) print(&quot;complete linkage cut into 2 groups:&quot;, fcluster(linkage(x, &quot;complete&quot;), 2, criterion=&quot;maxclust&quot;).tolist())"/>
          <p:cNvSpPr txBox="1"/>
          <p:nvPr/>
        </p:nvSpPr>
        <p:spPr>
          <a:xfrm>
            <a:off x="1362456" y="2523744"/>
            <a:ext cx="9987991" cy="20299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hierarchical clustering: linkage heights on five numbers ---------</a:t>
            </a:r>
          </a:p>
          <a:p>
            <a:pPr>
              <a:lnSpc>
                <a:spcPct val="100000"/>
              </a:lnSpc>
              <a:spcAft>
                <a:spcPts val="0"/>
              </a:spcAft>
            </a:pP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2.0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4.0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9.0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11.0</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method</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single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complete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average</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Z</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linkage</a:t>
            </a:r>
            <a:r>
              <a:rPr sz="1800" i="0">
                <a:solidFill>
                  <a:srgbClr val="AEB6BF"/>
                </a:solidFill>
                <a:latin typeface="Consolas"/>
              </a:rPr>
              <a:t>(</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method</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a:t>
            </a:r>
            <a:r>
              <a:rPr sz="1800" i="0">
                <a:solidFill>
                  <a:srgbClr val="E8EDF2"/>
                </a:solidFill>
                <a:latin typeface="Consolas"/>
              </a:rPr>
              <a:t>method</a:t>
            </a:r>
            <a:r>
              <a:rPr sz="1800" i="0">
                <a:solidFill>
                  <a:srgbClr val="7DCEA0"/>
                </a:solidFill>
                <a:latin typeface="Consolas"/>
              </a:rPr>
              <a:t>:</a:t>
            </a:r>
            <a:r>
              <a:rPr sz="1800" i="0">
                <a:solidFill>
                  <a:srgbClr val="7DCEA0"/>
                </a:solidFill>
                <a:latin typeface="Consolas"/>
              </a:rPr>
              <a:t>8s</a:t>
            </a:r>
            <a:r>
              <a:rPr sz="1800" i="0">
                <a:solidFill>
                  <a:srgbClr val="7DCEA0"/>
                </a:solidFill>
                <a:latin typeface="Consolas"/>
              </a:rPr>
              <a:t>}</a:t>
            </a:r>
            <a:r>
              <a:rPr sz="1800" i="0">
                <a:solidFill>
                  <a:srgbClr val="7DCEA0"/>
                </a:solidFill>
                <a:latin typeface="Consolas"/>
              </a:rPr>
              <a:t> merge heights: </a:t>
            </a:r>
            <a:r>
              <a:rPr sz="1800" i="0">
                <a:solidFill>
                  <a:srgbClr val="7DCEA0"/>
                </a:solidFill>
                <a:latin typeface="Consolas"/>
              </a:rPr>
              <a:t>{</a:t>
            </a:r>
            <a:r>
              <a:rPr sz="1800" i="0">
                <a:solidFill>
                  <a:srgbClr val="E8EDF2"/>
                </a:solidFill>
                <a:latin typeface="Consolas"/>
              </a:rPr>
              <a:t>Z</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tolist</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complete linkage cut into 2 groups:</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fcluster</a:t>
            </a:r>
            <a:r>
              <a:rPr sz="1800" i="0">
                <a:solidFill>
                  <a:srgbClr val="AEB6BF"/>
                </a:solidFill>
                <a:latin typeface="Consolas"/>
              </a:rPr>
              <a:t>(</a:t>
            </a:r>
            <a:r>
              <a:rPr sz="1800" i="0">
                <a:solidFill>
                  <a:srgbClr val="E8EDF2"/>
                </a:solidFill>
                <a:latin typeface="Consolas"/>
              </a:rPr>
              <a:t>linkage</a:t>
            </a:r>
            <a:r>
              <a:rPr sz="1800" i="0">
                <a:solidFill>
                  <a:srgbClr val="AEB6BF"/>
                </a:solidFill>
                <a:latin typeface="Consolas"/>
              </a:rPr>
              <a:t>(</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complete</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criterion</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maxclust</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tolist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20299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27</a:t>
            </a:r>
          </a:p>
          <a:p>
            <a:pPr algn="r">
              <a:lnSpc>
                <a:spcPct val="100000"/>
              </a:lnSpc>
            </a:pPr>
            <a:r>
              <a:rPr sz="1800">
                <a:solidFill>
                  <a:srgbClr val="4F5D6A"/>
                </a:solidFill>
                <a:latin typeface="Consolas"/>
              </a:rPr>
              <a:t>28</a:t>
            </a:r>
          </a:p>
          <a:p>
            <a:pPr algn="r">
              <a:lnSpc>
                <a:spcPct val="100000"/>
              </a:lnSpc>
            </a:pPr>
            <a:r>
              <a:rPr sz="1800">
                <a:solidFill>
                  <a:srgbClr val="4F5D6A"/>
                </a:solidFill>
                <a:latin typeface="Consolas"/>
              </a:rPr>
              <a:t>29</a:t>
            </a:r>
          </a:p>
          <a:p>
            <a:pPr algn="r">
              <a:lnSpc>
                <a:spcPct val="100000"/>
              </a:lnSpc>
            </a:pPr>
            <a:r>
              <a:rPr sz="1800">
                <a:solidFill>
                  <a:srgbClr val="4F5D6A"/>
                </a:solidFill>
                <a:latin typeface="Consolas"/>
              </a:rPr>
              <a:t>30</a:t>
            </a:r>
          </a:p>
          <a:p>
            <a:pPr algn="r">
              <a:lnSpc>
                <a:spcPct val="100000"/>
              </a:lnSpc>
            </a:pPr>
            <a:r>
              <a:rPr sz="1800">
                <a:solidFill>
                  <a:srgbClr val="4F5D6A"/>
                </a:solidFill>
                <a:latin typeface="Consolas"/>
              </a:rPr>
              <a:t>31</a:t>
            </a:r>
          </a:p>
          <a:p>
            <a:pPr algn="r">
              <a:lnSpc>
                <a:spcPct val="100000"/>
              </a:lnSpc>
            </a:pPr>
            <a:r>
              <a:rPr sz="1800">
                <a:solidFill>
                  <a:srgbClr val="4F5D6A"/>
                </a:solidFill>
                <a:latin typeface="Consolas"/>
              </a:rPr>
              <a:t>32</a:t>
            </a:r>
          </a:p>
          <a:p>
            <a:pPr algn="r">
              <a:lnSpc>
                <a:spcPct val="100000"/>
              </a:lnSpc>
            </a:pPr>
            <a:r>
              <a:rPr sz="1800">
                <a:solidFill>
                  <a:srgbClr val="4F5D6A"/>
                </a:solidFill>
                <a:latin typeface="Consolas"/>
              </a:rPr>
              <a:t>33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1614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k-Means, a Dendrogram and the Choice of 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§15.5  ·  Handout p. 118     </a:t>
            </a:r>
            <a:fld id="{3EF82775-76D7-4A73-9906-D2CD4551FB95}"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Against the truth, and why scale matters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code/ch15_k_means_dendrogram.py</a:t>
            </a:r>
          </a:p>
        </p:txBody>
      </p:sp>
      <p:sp>
        <p:nvSpPr>
          <p:cNvPr id="14" name="!!code-text" descr="# --- 4. against the truth, and why scale matters ------------------------- km4 = KMeans(4, n_init=10, random_state=0).fit_predict(X) hac = AgglomerativeClustering(n_clusters=4, linkage=&quot;ward&quot;).fit(X) print(&quot;adjusted Rand, k-means:&quot;, round(adjusted_rand_score(truth, km4), 3), &quot; ward HAC:&quot;, round(adjusted_rand_score(truth, hac.labels_), 3)) Xs = X.copy() Xs[:, 1] *= 100 # one feature in other units raw = KMeans(4, n_init=10, random_state=0).fit_predict(Xs) fix = KMeans(4, n_init=10, random_state=0).fit_predict( StandardScaler().fit_transform(Xs)) print(&quot;rescaled feature, adjusted Rand: raw&quot;, round(adjusted_rand_score(truth, raw), 3), &quot; standardised&quot;, round(adjusted_rand_score(truth, fix), 3))"/>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--- 4. against the truth, and why scale matters -------------------------</a:t>
            </a:r>
          </a:p>
          <a:p>
            <a:pPr>
              <a:lnSpc>
                <a:spcPct val="100000"/>
              </a:lnSpc>
              <a:spcAft>
                <a:spcPts val="0"/>
              </a:spcAft>
            </a:pPr>
            <a:r>
              <a:rPr sz="1700" i="0">
                <a:solidFill>
                  <a:srgbClr val="E8EDF2"/>
                </a:solidFill>
                <a:latin typeface="Consolas"/>
              </a:rPr>
              <a:t>km4</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KMeans</a:t>
            </a:r>
            <a:r>
              <a:rPr sz="1700" i="0">
                <a:solidFill>
                  <a:srgbClr val="AEB6BF"/>
                </a:solidFill>
                <a:latin typeface="Consolas"/>
              </a:rPr>
              <a:t>(</a:t>
            </a:r>
            <a:r>
              <a:rPr sz="1700" i="0">
                <a:solidFill>
                  <a:srgbClr val="F7DC6F"/>
                </a:solidFill>
                <a:latin typeface="Consolas"/>
              </a:rPr>
              <a:t>4</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n_init</a:t>
            </a:r>
            <a:r>
              <a:rPr sz="1700" i="0">
                <a:solidFill>
                  <a:srgbClr val="AEB6BF"/>
                </a:solidFill>
                <a:latin typeface="Consolas"/>
              </a:rPr>
              <a:t>=</a:t>
            </a:r>
            <a:r>
              <a:rPr sz="1700" i="0">
                <a:solidFill>
                  <a:srgbClr val="F7DC6F"/>
                </a:solidFill>
                <a:latin typeface="Consolas"/>
              </a:rPr>
              <a:t>10</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random_state</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fit_predict</a:t>
            </a:r>
            <a:r>
              <a:rPr sz="1700" i="0">
                <a:solidFill>
                  <a:srgbClr val="AEB6BF"/>
                </a:solidFill>
                <a:latin typeface="Consolas"/>
              </a:rPr>
              <a:t>(</a:t>
            </a:r>
            <a:r>
              <a:rPr sz="1700" i="0">
                <a:solidFill>
                  <a:srgbClr val="E8EDF2"/>
                </a:solidFill>
                <a:latin typeface="Consolas"/>
              </a:rPr>
              <a:t>X</a:t>
            </a:r>
            <a:r>
              <a:rPr sz="1700" i="0">
                <a:solidFill>
                  <a:srgbClr val="AEB6BF"/>
                </a:solidFill>
                <a:latin typeface="Consolas"/>
              </a:rPr>
              <a:t>)</a:t>
            </a:r>
          </a:p>
          <a:p>
            <a:pPr>
              <a:lnSpc>
                <a:spcPct val="100000"/>
              </a:lnSpc>
              <a:spcAft>
                <a:spcPts val="0"/>
              </a:spcAft>
            </a:pPr>
            <a:r>
              <a:rPr sz="1700" i="0">
                <a:solidFill>
                  <a:srgbClr val="E8EDF2"/>
                </a:solidFill>
                <a:latin typeface="Consolas"/>
              </a:rPr>
              <a:t>hac</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AgglomerativeClustering</a:t>
            </a:r>
            <a:r>
              <a:rPr sz="1700" i="0">
                <a:solidFill>
                  <a:srgbClr val="AEB6BF"/>
                </a:solidFill>
                <a:latin typeface="Consolas"/>
              </a:rPr>
              <a:t>(</a:t>
            </a:r>
            <a:r>
              <a:rPr sz="1700" i="0">
                <a:solidFill>
                  <a:srgbClr val="E8EDF2"/>
                </a:solidFill>
                <a:latin typeface="Consolas"/>
              </a:rPr>
              <a:t>n_clusters</a:t>
            </a:r>
            <a:r>
              <a:rPr sz="1700" i="0">
                <a:solidFill>
                  <a:srgbClr val="AEB6BF"/>
                </a:solidFill>
                <a:latin typeface="Consolas"/>
              </a:rPr>
              <a:t>=</a:t>
            </a:r>
            <a:r>
              <a:rPr sz="1700" i="0">
                <a:solidFill>
                  <a:srgbClr val="F7DC6F"/>
                </a:solidFill>
                <a:latin typeface="Consolas"/>
              </a:rPr>
              <a:t>4</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linkage</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ward</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fit</a:t>
            </a:r>
            <a:r>
              <a:rPr sz="1700" i="0">
                <a:solidFill>
                  <a:srgbClr val="AEB6BF"/>
                </a:solidFill>
                <a:latin typeface="Consolas"/>
              </a:rPr>
              <a:t>(</a:t>
            </a:r>
            <a:r>
              <a:rPr sz="1700" i="0">
                <a:solidFill>
                  <a:srgbClr val="E8EDF2"/>
                </a:solidFill>
                <a:latin typeface="Consolas"/>
              </a:rPr>
              <a:t>X</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adjusted Rand, k-means:</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C39BD3"/>
                </a:solidFill>
                <a:latin typeface="Consolas"/>
              </a:rPr>
              <a:t>round</a:t>
            </a:r>
            <a:r>
              <a:rPr sz="1700" i="0">
                <a:solidFill>
                  <a:srgbClr val="AEB6BF"/>
                </a:solidFill>
                <a:latin typeface="Consolas"/>
              </a:rPr>
              <a:t>(</a:t>
            </a:r>
            <a:r>
              <a:rPr sz="1700" i="0">
                <a:solidFill>
                  <a:srgbClr val="E8EDF2"/>
                </a:solidFill>
                <a:latin typeface="Consolas"/>
              </a:rPr>
              <a:t>adjusted_rand_score</a:t>
            </a:r>
            <a:r>
              <a:rPr sz="1700" i="0">
                <a:solidFill>
                  <a:srgbClr val="AEB6BF"/>
                </a:solidFill>
                <a:latin typeface="Consolas"/>
              </a:rPr>
              <a:t>(</a:t>
            </a:r>
            <a:r>
              <a:rPr sz="1700" i="0">
                <a:solidFill>
                  <a:srgbClr val="E8EDF2"/>
                </a:solidFill>
                <a:latin typeface="Consolas"/>
              </a:rPr>
              <a:t>truth</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km4</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3</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 ward HAC:</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C39BD3"/>
                </a:solidFill>
                <a:latin typeface="Consolas"/>
              </a:rPr>
              <a:t>round</a:t>
            </a:r>
            <a:r>
              <a:rPr sz="1700" i="0">
                <a:solidFill>
                  <a:srgbClr val="AEB6BF"/>
                </a:solidFill>
                <a:latin typeface="Consolas"/>
              </a:rPr>
              <a:t>(</a:t>
            </a:r>
            <a:r>
              <a:rPr sz="1700" i="0">
                <a:solidFill>
                  <a:srgbClr val="E8EDF2"/>
                </a:solidFill>
                <a:latin typeface="Consolas"/>
              </a:rPr>
              <a:t>adjusted_rand_score</a:t>
            </a:r>
            <a:r>
              <a:rPr sz="1700" i="0">
                <a:solidFill>
                  <a:srgbClr val="AEB6BF"/>
                </a:solidFill>
                <a:latin typeface="Consolas"/>
              </a:rPr>
              <a:t>(</a:t>
            </a:r>
            <a:r>
              <a:rPr sz="1700" i="0">
                <a:solidFill>
                  <a:srgbClr val="E8EDF2"/>
                </a:solidFill>
                <a:latin typeface="Consolas"/>
              </a:rPr>
              <a:t>truth</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hac</a:t>
            </a:r>
            <a:r>
              <a:rPr sz="1700" i="0">
                <a:solidFill>
                  <a:srgbClr val="AEB6BF"/>
                </a:solidFill>
                <a:latin typeface="Consolas"/>
              </a:rPr>
              <a:t>.</a:t>
            </a:r>
            <a:r>
              <a:rPr sz="1700" i="0">
                <a:solidFill>
                  <a:srgbClr val="E8EDF2"/>
                </a:solidFill>
                <a:latin typeface="Consolas"/>
              </a:rPr>
              <a:t>labels_</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3</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Xs</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X</a:t>
            </a:r>
            <a:r>
              <a:rPr sz="1700" i="0">
                <a:solidFill>
                  <a:srgbClr val="AEB6BF"/>
                </a:solidFill>
                <a:latin typeface="Consolas"/>
              </a:rPr>
              <a:t>.</a:t>
            </a:r>
            <a:r>
              <a:rPr sz="1700" i="0">
                <a:solidFill>
                  <a:srgbClr val="E8EDF2"/>
                </a:solidFill>
                <a:latin typeface="Consolas"/>
              </a:rPr>
              <a:t>copy</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Xs</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100</a:t>
            </a:r>
            <a:r>
              <a:rPr sz="1700" i="0">
                <a:solidFill>
                  <a:srgbClr val="E8EDF2"/>
                </a:solidFill>
                <a:latin typeface="Consolas"/>
              </a:rPr>
              <a:t>                                   </a:t>
            </a:r>
            <a:r>
              <a:rPr sz="1700" i="1">
                <a:solidFill>
                  <a:srgbClr val="8795A1"/>
                </a:solidFill>
                <a:latin typeface="Consolas"/>
              </a:rPr>
              <a:t># one feature in other units</a:t>
            </a:r>
          </a:p>
          <a:p>
            <a:pPr>
              <a:lnSpc>
                <a:spcPct val="100000"/>
              </a:lnSpc>
              <a:spcAft>
                <a:spcPts val="0"/>
              </a:spcAft>
            </a:pPr>
            <a:r>
              <a:rPr sz="1700" i="0">
                <a:solidFill>
                  <a:srgbClr val="E8EDF2"/>
                </a:solidFill>
                <a:latin typeface="Consolas"/>
              </a:rPr>
              <a:t>raw</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KMeans</a:t>
            </a:r>
            <a:r>
              <a:rPr sz="1700" i="0">
                <a:solidFill>
                  <a:srgbClr val="AEB6BF"/>
                </a:solidFill>
                <a:latin typeface="Consolas"/>
              </a:rPr>
              <a:t>(</a:t>
            </a:r>
            <a:r>
              <a:rPr sz="1700" i="0">
                <a:solidFill>
                  <a:srgbClr val="F7DC6F"/>
                </a:solidFill>
                <a:latin typeface="Consolas"/>
              </a:rPr>
              <a:t>4</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n_init</a:t>
            </a:r>
            <a:r>
              <a:rPr sz="1700" i="0">
                <a:solidFill>
                  <a:srgbClr val="AEB6BF"/>
                </a:solidFill>
                <a:latin typeface="Consolas"/>
              </a:rPr>
              <a:t>=</a:t>
            </a:r>
            <a:r>
              <a:rPr sz="1700" i="0">
                <a:solidFill>
                  <a:srgbClr val="F7DC6F"/>
                </a:solidFill>
                <a:latin typeface="Consolas"/>
              </a:rPr>
              <a:t>10</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random_state</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fit_predict</a:t>
            </a:r>
            <a:r>
              <a:rPr sz="1700" i="0">
                <a:solidFill>
                  <a:srgbClr val="AEB6BF"/>
                </a:solidFill>
                <a:latin typeface="Consolas"/>
              </a:rPr>
              <a:t>(</a:t>
            </a:r>
            <a:r>
              <a:rPr sz="1700" i="0">
                <a:solidFill>
                  <a:srgbClr val="E8EDF2"/>
                </a:solidFill>
                <a:latin typeface="Consolas"/>
              </a:rPr>
              <a:t>Xs</a:t>
            </a:r>
            <a:r>
              <a:rPr sz="1700" i="0">
                <a:solidFill>
                  <a:srgbClr val="AEB6BF"/>
                </a:solidFill>
                <a:latin typeface="Consolas"/>
              </a:rPr>
              <a:t>)</a:t>
            </a:r>
          </a:p>
          <a:p>
            <a:pPr>
              <a:lnSpc>
                <a:spcPct val="100000"/>
              </a:lnSpc>
              <a:spcAft>
                <a:spcPts val="0"/>
              </a:spcAft>
            </a:pPr>
            <a:r>
              <a:rPr sz="1700" i="0">
                <a:solidFill>
                  <a:srgbClr val="E8EDF2"/>
                </a:solidFill>
                <a:latin typeface="Consolas"/>
              </a:rPr>
              <a:t>fix</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KMeans</a:t>
            </a:r>
            <a:r>
              <a:rPr sz="1700" i="0">
                <a:solidFill>
                  <a:srgbClr val="AEB6BF"/>
                </a:solidFill>
                <a:latin typeface="Consolas"/>
              </a:rPr>
              <a:t>(</a:t>
            </a:r>
            <a:r>
              <a:rPr sz="1700" i="0">
                <a:solidFill>
                  <a:srgbClr val="F7DC6F"/>
                </a:solidFill>
                <a:latin typeface="Consolas"/>
              </a:rPr>
              <a:t>4</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n_init</a:t>
            </a:r>
            <a:r>
              <a:rPr sz="1700" i="0">
                <a:solidFill>
                  <a:srgbClr val="AEB6BF"/>
                </a:solidFill>
                <a:latin typeface="Consolas"/>
              </a:rPr>
              <a:t>=</a:t>
            </a:r>
            <a:r>
              <a:rPr sz="1700" i="0">
                <a:solidFill>
                  <a:srgbClr val="F7DC6F"/>
                </a:solidFill>
                <a:latin typeface="Consolas"/>
              </a:rPr>
              <a:t>10</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random_state</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fit_predict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StandardScaler</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fit_transform</a:t>
            </a:r>
            <a:r>
              <a:rPr sz="1700" i="0">
                <a:solidFill>
                  <a:srgbClr val="AEB6BF"/>
                </a:solidFill>
                <a:latin typeface="Consolas"/>
              </a:rPr>
              <a:t>(</a:t>
            </a:r>
            <a:r>
              <a:rPr sz="1700" i="0">
                <a:solidFill>
                  <a:srgbClr val="E8EDF2"/>
                </a:solidFill>
                <a:latin typeface="Consolas"/>
              </a:rPr>
              <a:t>Xs</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rescaled feature, adjusted Rand: raw</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round</a:t>
            </a:r>
            <a:r>
              <a:rPr sz="1700" i="0">
                <a:solidFill>
                  <a:srgbClr val="AEB6BF"/>
                </a:solidFill>
                <a:latin typeface="Consolas"/>
              </a:rPr>
              <a:t>(</a:t>
            </a:r>
            <a:r>
              <a:rPr sz="1700" i="0">
                <a:solidFill>
                  <a:srgbClr val="E8EDF2"/>
                </a:solidFill>
                <a:latin typeface="Consolas"/>
              </a:rPr>
              <a:t>adjusted_rand_score</a:t>
            </a:r>
            <a:r>
              <a:rPr sz="1700" i="0">
                <a:solidFill>
                  <a:srgbClr val="AEB6BF"/>
                </a:solidFill>
                <a:latin typeface="Consolas"/>
              </a:rPr>
              <a:t>(</a:t>
            </a:r>
            <a:r>
              <a:rPr sz="1700" i="0">
                <a:solidFill>
                  <a:srgbClr val="E8EDF2"/>
                </a:solidFill>
                <a:latin typeface="Consolas"/>
              </a:rPr>
              <a:t>truth</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raw</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3</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 standardised</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round</a:t>
            </a:r>
            <a:r>
              <a:rPr sz="1700" i="0">
                <a:solidFill>
                  <a:srgbClr val="AEB6BF"/>
                </a:solidFill>
                <a:latin typeface="Consolas"/>
              </a:rPr>
              <a:t>(</a:t>
            </a:r>
            <a:r>
              <a:rPr sz="1700" i="0">
                <a:solidFill>
                  <a:srgbClr val="E8EDF2"/>
                </a:solidFill>
                <a:latin typeface="Consolas"/>
              </a:rPr>
              <a:t>adjusted_rand_score</a:t>
            </a:r>
            <a:r>
              <a:rPr sz="1700" i="0">
                <a:solidFill>
                  <a:srgbClr val="AEB6BF"/>
                </a:solidFill>
                <a:latin typeface="Consolas"/>
              </a:rPr>
              <a:t>(</a:t>
            </a:r>
            <a:r>
              <a:rPr sz="1700" i="0">
                <a:solidFill>
                  <a:srgbClr val="E8EDF2"/>
                </a:solidFill>
                <a:latin typeface="Consolas"/>
              </a:rPr>
              <a:t>truth</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fix</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3</a:t>
            </a:r>
            <a:r>
              <a:rPr sz="1700" i="0">
                <a:solidFill>
                  <a:srgbClr val="AEB6BF"/>
                </a:solidFill>
                <a:latin typeface="Consolas"/>
              </a:rPr>
              <a:t>)</a:t>
            </a:r>
            <a:r>
              <a:rPr sz="1700" i="0">
                <a:solidFill>
                  <a:srgbClr val="AEB6BF"/>
                </a:solidFill>
                <a:latin typeface="Consolas"/>
              </a:rPr>
              <a:t>)</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35</a:t>
            </a:r>
          </a:p>
          <a:p>
            <a:pPr algn="r">
              <a:lnSpc>
                <a:spcPct val="100000"/>
              </a:lnSpc>
            </a:pPr>
            <a:r>
              <a:rPr sz="1700">
                <a:solidFill>
                  <a:srgbClr val="4F5D6A"/>
                </a:solidFill>
                <a:latin typeface="Consolas"/>
              </a:rPr>
              <a:t>36</a:t>
            </a:r>
          </a:p>
          <a:p>
            <a:pPr algn="r">
              <a:lnSpc>
                <a:spcPct val="100000"/>
              </a:lnSpc>
            </a:pPr>
            <a:r>
              <a:rPr sz="1700">
                <a:solidFill>
                  <a:srgbClr val="4F5D6A"/>
                </a:solidFill>
                <a:latin typeface="Consolas"/>
              </a:rPr>
              <a:t>37</a:t>
            </a:r>
          </a:p>
          <a:p>
            <a:pPr algn="r">
              <a:lnSpc>
                <a:spcPct val="100000"/>
              </a:lnSpc>
            </a:pPr>
            <a:r>
              <a:rPr sz="1700">
                <a:solidFill>
                  <a:srgbClr val="4F5D6A"/>
                </a:solidFill>
                <a:latin typeface="Consolas"/>
              </a:rPr>
              <a:t>38</a:t>
            </a:r>
          </a:p>
          <a:p>
            <a:pPr algn="r">
              <a:lnSpc>
                <a:spcPct val="100000"/>
              </a:lnSpc>
            </a:pPr>
            <a:r>
              <a:rPr sz="1700">
                <a:solidFill>
                  <a:srgbClr val="4F5D6A"/>
                </a:solidFill>
                <a:latin typeface="Consolas"/>
              </a:rPr>
              <a:t>39</a:t>
            </a:r>
          </a:p>
          <a:p>
            <a:pPr algn="r">
              <a:lnSpc>
                <a:spcPct val="100000"/>
              </a:lnSpc>
            </a:pPr>
            <a:r>
              <a:rPr sz="1700">
                <a:solidFill>
                  <a:srgbClr val="4F5D6A"/>
                </a:solidFill>
                <a:latin typeface="Consolas"/>
              </a:rPr>
              <a:t>40</a:t>
            </a:r>
          </a:p>
          <a:p>
            <a:pPr algn="r">
              <a:lnSpc>
                <a:spcPct val="100000"/>
              </a:lnSpc>
            </a:pPr>
            <a:r>
              <a:rPr sz="1700">
                <a:solidFill>
                  <a:srgbClr val="4F5D6A"/>
                </a:solidFill>
                <a:latin typeface="Consolas"/>
              </a:rPr>
              <a:t>41</a:t>
            </a:r>
          </a:p>
          <a:p>
            <a:pPr algn="r">
              <a:lnSpc>
                <a:spcPct val="100000"/>
              </a:lnSpc>
            </a:pPr>
            <a:r>
              <a:rPr sz="1700">
                <a:solidFill>
                  <a:srgbClr val="4F5D6A"/>
                </a:solidFill>
                <a:latin typeface="Consolas"/>
              </a:rPr>
              <a:t>42</a:t>
            </a:r>
          </a:p>
          <a:p>
            <a:pPr algn="r">
              <a:lnSpc>
                <a:spcPct val="100000"/>
              </a:lnSpc>
            </a:pPr>
            <a:r>
              <a:rPr sz="1700">
                <a:solidFill>
                  <a:srgbClr val="4F5D6A"/>
                </a:solidFill>
                <a:latin typeface="Consolas"/>
              </a:rPr>
              <a:t>43</a:t>
            </a:r>
          </a:p>
          <a:p>
            <a:pPr algn="r">
              <a:lnSpc>
                <a:spcPct val="100000"/>
              </a:lnSpc>
            </a:pPr>
            <a:r>
              <a:rPr sz="1700">
                <a:solidFill>
                  <a:srgbClr val="4F5D6A"/>
                </a:solidFill>
                <a:latin typeface="Consolas"/>
              </a:rPr>
              <a:t>44</a:t>
            </a:r>
          </a:p>
          <a:p>
            <a:pPr algn="r">
              <a:lnSpc>
                <a:spcPct val="100000"/>
              </a:lnSpc>
            </a:pPr>
            <a:r>
              <a:rPr sz="1700">
                <a:solidFill>
                  <a:srgbClr val="4F5D6A"/>
                </a:solidFill>
                <a:latin typeface="Consolas"/>
              </a:rPr>
              <a:t>45</a:t>
            </a:r>
          </a:p>
          <a:p>
            <a:pPr algn="r">
              <a:lnSpc>
                <a:spcPct val="100000"/>
              </a:lnSpc>
            </a:pPr>
            <a:r>
              <a:rPr sz="1700">
                <a:solidFill>
                  <a:srgbClr val="4F5D6A"/>
                </a:solidFill>
                <a:latin typeface="Consolas"/>
              </a:rPr>
              <a:t>46</a:t>
            </a:r>
          </a:p>
          <a:p>
            <a:pPr algn="r">
              <a:lnSpc>
                <a:spcPct val="100000"/>
              </a:lnSpc>
            </a:pPr>
            <a:r>
              <a:rPr sz="1700">
                <a:solidFill>
                  <a:srgbClr val="4F5D6A"/>
                </a:solidFill>
                <a:latin typeface="Consolas"/>
              </a:rPr>
              <a:t>47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8117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§15.5  ·  Handout p. 118     </a:t>
            </a:r>
            <a:fld id="{82E44055-5238-4C06-913E-514C10A67481}" type="slidenum">
              <a:rPr lang="en-GB" sz="1000">
                <a:solidFill>
                  <a:srgbClr val="8795A1"/>
                </a:solidFill>
                <a:latin typeface="Segoe UI"/>
              </a:rPr>
              <a:t>33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warning filter hides a harmless message scikit-learn prints on some Windows installations. Change </a:t>
            </a:r>
            <a:r>
              <a:rPr sz="2150" b="0" i="0">
                <a:solidFill>
                  <a:srgbClr val="1F4E79"/>
                </a:solidFill>
                <a:latin typeface="Consolas"/>
              </a:rPr>
              <a:t>cluster_std</a:t>
            </a:r>
            <a:r>
              <a:rPr sz="2300" b="0" i="0">
                <a:solidFill>
                  <a:srgbClr val="1C252B"/>
                </a:solidFill>
                <a:latin typeface="Segoe UI"/>
              </a:rPr>
              <a:t> to 2.5 in part 2: do the elbow and the silhouette still agree?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74621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Two centroids are at 2 and 8 on a line. Assign the points 1, 4, 6, 7, 9 and compute the new centroids.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15  ·  Clustering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120  ·  answers in Appendix D     </a:t>
            </a:r>
            <a:fld id="{09F37F78-51C3-4923-A8C1-48CE0CD299EF}"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Two centroids are at 2 and 8 on a line. Assign the points 1, 4, 6, 7, 9 and compute the new centroids.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1 and 4 go to 2; 6, 7 and 9 go to 8. New centroids: </a:t>
            </a:r>
            <a:r>
              <a:rPr sz="2200" b="0" i="0">
                <a:solidFill>
                  <a:srgbClr val="1C252B"/>
                </a:solidFill>
                <a:latin typeface="Cambria"/>
              </a:rPr>
              <a:t>(1 + 4)/2 = 2.5</a:t>
            </a:r>
            <a:r>
              <a:rPr sz="2200" b="0" i="0">
                <a:solidFill>
                  <a:srgbClr val="1C252B"/>
                </a:solidFill>
                <a:latin typeface="Segoe UI"/>
              </a:rPr>
              <a:t> and </a:t>
            </a:r>
            <a:r>
              <a:rPr sz="2200" b="0" i="0">
                <a:solidFill>
                  <a:srgbClr val="1C252B"/>
                </a:solidFill>
                <a:latin typeface="Cambria"/>
              </a:rPr>
              <a:t>(6 + 7 + 9)/3 = 7.33</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  answers in Appendix D     </a:t>
            </a:r>
            <a:fld id="{4038D708-5D68-4080-AF62-EA9B5B45C537}"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27628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a:t>
            </a:r>
            <a:r>
              <a:rPr sz="3400" b="0" i="1">
                <a:solidFill>
                  <a:srgbClr val="FFFFFF"/>
                </a:solidFill>
                <a:latin typeface="Cambria"/>
              </a:rPr>
              <a:t>k</a:t>
            </a:r>
            <a:r>
              <a:rPr sz="3400" b="0" i="0">
                <a:solidFill>
                  <a:srgbClr val="FFFFFF"/>
                </a:solidFill>
                <a:latin typeface="Segoe UI Semibold"/>
              </a:rPr>
              <a:t>-means always converge, and why might it converge to a poor answer?</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15  ·  Clustering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120  ·  answers in Appendix D     </a:t>
            </a:r>
            <a:fld id="{96E3BB92-B0A4-4468-8591-CF0B84EE8949}"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does </a:t>
            </a:r>
            <a:r>
              <a:rPr sz="2400" b="0" i="1">
                <a:solidFill>
                  <a:srgbClr val="1A5276"/>
                </a:solidFill>
                <a:latin typeface="Cambria"/>
              </a:rPr>
              <a:t>k</a:t>
            </a:r>
            <a:r>
              <a:rPr sz="2400" b="0" i="0">
                <a:solidFill>
                  <a:srgbClr val="1A5276"/>
                </a:solidFill>
                <a:latin typeface="Segoe UI Semibold"/>
              </a:rPr>
              <a:t>-means always converge, and why might it converge to a poor answer?</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Neither step can increase the WCSS and there are finitely many possible assignments, so it must stop. But it stops at a local minimum that depends on the starting centroids.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  answers in Appendix D     </a:t>
            </a:r>
            <a:fld id="{E8EFDD6B-24F5-406B-B710-31CBF4E18E1D}"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0636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point has </a:t>
            </a:r>
            <a:r>
              <a:rPr sz="3400" b="0" i="1">
                <a:solidFill>
                  <a:srgbClr val="FFFFFF"/>
                </a:solidFill>
                <a:latin typeface="Cambria"/>
              </a:rPr>
              <a:t>a</a:t>
            </a:r>
            <a:r>
              <a:rPr sz="3400" b="0" i="0">
                <a:solidFill>
                  <a:srgbClr val="FFFFFF"/>
                </a:solidFill>
                <a:latin typeface="Cambria"/>
              </a:rPr>
              <a:t> = 3</a:t>
            </a:r>
            <a:r>
              <a:rPr sz="3400" b="0" i="0">
                <a:solidFill>
                  <a:srgbClr val="FFFFFF"/>
                </a:solidFill>
                <a:latin typeface="Segoe UI Semibold"/>
              </a:rPr>
              <a:t> and </a:t>
            </a:r>
            <a:r>
              <a:rPr sz="3400" b="0" i="1">
                <a:solidFill>
                  <a:srgbClr val="FFFFFF"/>
                </a:solidFill>
                <a:latin typeface="Cambria"/>
              </a:rPr>
              <a:t>b</a:t>
            </a:r>
            <a:r>
              <a:rPr sz="3400" b="0" i="0">
                <a:solidFill>
                  <a:srgbClr val="FFFFFF"/>
                </a:solidFill>
                <a:latin typeface="Cambria"/>
              </a:rPr>
              <a:t> = 2</a:t>
            </a:r>
            <a:r>
              <a:rPr sz="3400" b="0" i="0">
                <a:solidFill>
                  <a:srgbClr val="FFFFFF"/>
                </a:solidFill>
                <a:latin typeface="Segoe UI Semibold"/>
              </a:rPr>
              <a:t>. Compute its silhouette and say what it means.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15  ·  Clustering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120  ·  answers in Appendix D     </a:t>
            </a:r>
            <a:fld id="{D40FAB14-C76D-4C4D-9C43-BEC34B999149}"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A point has </a:t>
            </a:r>
            <a:r>
              <a:rPr sz="2400" b="0" i="1">
                <a:solidFill>
                  <a:srgbClr val="1A5276"/>
                </a:solidFill>
                <a:latin typeface="Cambria"/>
              </a:rPr>
              <a:t>a</a:t>
            </a:r>
            <a:r>
              <a:rPr sz="2400" b="0" i="0">
                <a:solidFill>
                  <a:srgbClr val="1A5276"/>
                </a:solidFill>
                <a:latin typeface="Cambria"/>
              </a:rPr>
              <a:t> = 3</a:t>
            </a:r>
            <a:r>
              <a:rPr sz="2400" b="0" i="0">
                <a:solidFill>
                  <a:srgbClr val="1A5276"/>
                </a:solidFill>
                <a:latin typeface="Segoe UI Semibold"/>
              </a:rPr>
              <a:t> and </a:t>
            </a:r>
            <a:r>
              <a:rPr sz="2400" b="0" i="1">
                <a:solidFill>
                  <a:srgbClr val="1A5276"/>
                </a:solidFill>
                <a:latin typeface="Cambria"/>
              </a:rPr>
              <a:t>b</a:t>
            </a:r>
            <a:r>
              <a:rPr sz="2400" b="0" i="0">
                <a:solidFill>
                  <a:srgbClr val="1A5276"/>
                </a:solidFill>
                <a:latin typeface="Cambria"/>
              </a:rPr>
              <a:t> = 2</a:t>
            </a:r>
            <a:r>
              <a:rPr sz="2400" b="0" i="0">
                <a:solidFill>
                  <a:srgbClr val="1A5276"/>
                </a:solidFill>
                <a:latin typeface="Segoe UI Semibold"/>
              </a:rPr>
              <a:t>. Compute its silhouette and say what it means.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s</a:t>
            </a:r>
            <a:r>
              <a:rPr sz="2200" b="0" i="0">
                <a:solidFill>
                  <a:srgbClr val="1C252B"/>
                </a:solidFill>
                <a:latin typeface="Cambria"/>
              </a:rPr>
              <a:t> = (2 − 3)/3 = −0.33</a:t>
            </a:r>
            <a:r>
              <a:rPr sz="2200" b="0" i="0">
                <a:solidFill>
                  <a:srgbClr val="1C252B"/>
                </a:solidFill>
                <a:latin typeface="Segoe UI"/>
              </a:rPr>
              <a:t>. The point is, on average, closer to another cluster than to its own: it is probably in the wrong cluster.</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  answers in Appendix D     </a:t>
            </a:r>
            <a:fld id="{23392F2C-49FB-4C03-BB16-33AD8B44E48E}"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3643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1876BB56-5962-4B5D-A9E0-2FE1A2C516C7}" type="slidenum">
              <a:rPr lang="en-GB" sz="1000">
                <a:solidFill>
                  <a:srgbClr val="8795A1"/>
                </a:solidFill>
                <a:latin typeface="Segoe UI"/>
              </a:rPr>
              <a:t>40</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Clustering proposes groups without labels; the result depends on features, scaling, distance and the number of clusters.</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998524"/>
          </a:xfrm>
          <a:prstGeom prst="rect">
            <a:avLst/>
          </a:prstGeom>
          <a:noFill/>
        </p:spPr>
        <p:txBody>
          <a:bodyPr wrap="square" anchor="t" lIns="0" rIns="0" tIns="0" bIns="0">
            <a:noAutofit/>
          </a:bodyPr>
          <a:lstStyle/>
          <a:p>
            <a:pPr algn="l">
              <a:lnSpc>
                <a:spcPct val="104000"/>
              </a:lnSpc>
              <a:spcBef>
                <a:spcPts val="0"/>
              </a:spcBef>
              <a:spcAft>
                <a:spcPts val="0"/>
              </a:spcAft>
            </a:pPr>
            <a:r>
              <a:rPr sz="2100" b="0" i="1">
                <a:solidFill>
                  <a:srgbClr val="1C252B"/>
                </a:solidFill>
                <a:latin typeface="Cambria"/>
              </a:rPr>
              <a:t>k</a:t>
            </a:r>
            <a:r>
              <a:rPr sz="2100" b="0" i="0">
                <a:solidFill>
                  <a:srgbClr val="1C252B"/>
                </a:solidFill>
                <a:latin typeface="Segoe UI"/>
              </a:rPr>
              <a:t>-means alternates assignment to the nearest centroid with moving each centroid to its cluster’s mean, lowering WCSS until it converges to a local minimum; use many starts and </a:t>
            </a:r>
            <a:r>
              <a:rPr sz="2100" b="0" i="1">
                <a:solidFill>
                  <a:srgbClr val="1C252B"/>
                </a:solidFill>
                <a:latin typeface="Cambria"/>
              </a:rPr>
              <a:t>k</a:t>
            </a:r>
            <a:r>
              <a:rPr sz="2100" b="0" i="0">
                <a:solidFill>
                  <a:srgbClr val="1C252B"/>
                </a:solidFill>
                <a:latin typeface="Segoe UI"/>
              </a:rPr>
              <a:t>-means++.</a:t>
            </a:r>
          </a:p>
        </p:txBody>
      </p:sp>
      <p:sp>
        <p:nvSpPr>
          <p:cNvPr id="13" name="!!sb2">
            <a:extLst>
              <a:ext uri="{C183D7F6-B498-43B3-948B-1728B52AA6E4}">
                <adec:decorative xmlns:adec="http://schemas.microsoft.com/office/drawing/2017/decorative" val="1"/>
              </a:ext>
            </a:extLst>
          </p:cNvPr>
          <p:cNvSpPr/>
          <p:nvPr/>
        </p:nvSpPr>
        <p:spPr>
          <a:xfrm>
            <a:off x="658368" y="377647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83133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767327"/>
            <a:ext cx="10234879" cy="99852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Agglomerative clustering merges the closest clusters step by step into a dendrogram; the linkage (single, complete, average, Ward) defines “closest”. Single linkage chains; complete linkage keeps groups compact.</a:t>
            </a:r>
          </a:p>
        </p:txBody>
      </p:sp>
      <p:sp>
        <p:nvSpPr>
          <p:cNvPr id="16" name="!!sb3">
            <a:extLst>
              <a:ext uri="{C183D7F6-B498-43B3-948B-1728B52AA6E4}">
                <adec:decorative xmlns:adec="http://schemas.microsoft.com/office/drawing/2017/decorative" val="1"/>
              </a:ext>
            </a:extLst>
          </p:cNvPr>
          <p:cNvSpPr/>
          <p:nvPr/>
        </p:nvSpPr>
        <p:spPr>
          <a:xfrm>
            <a:off x="658368" y="495787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501274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948732"/>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Choose </a:t>
            </a:r>
            <a:r>
              <a:rPr sz="2100" b="0" i="1">
                <a:solidFill>
                  <a:srgbClr val="1C252B"/>
                </a:solidFill>
                <a:latin typeface="Cambria"/>
              </a:rPr>
              <a:t>k</a:t>
            </a:r>
            <a:r>
              <a:rPr sz="2100" b="0" i="0">
                <a:solidFill>
                  <a:srgbClr val="1C252B"/>
                </a:solidFill>
                <a:latin typeface="Segoe UI"/>
              </a:rPr>
              <a:t> with the elbow of the WCSS curve and the maximum mean silhouette; judge the result by whether it can be named and used.</a:t>
            </a:r>
          </a:p>
        </p:txBody>
      </p:sp>
      <p:sp>
        <p:nvSpPr>
          <p:cNvPr id="4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pfill">
            <a:extLst>
              <a:ext uri="{C183D7F6-B498-43B3-948B-1728B52AA6E4}">
                <adec:decorative xmlns:adec="http://schemas.microsoft.com/office/drawing/2017/decorative" val="1"/>
              </a:ext>
            </a:extLst>
          </p:cNvPr>
          <p:cNvSpPr/>
          <p:nvPr/>
        </p:nvSpPr>
        <p:spPr>
          <a:xfrm>
            <a:off x="0" y="0"/>
            <a:ext cx="1060147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B2BDAC18-E870-4CA2-B8BF-3EE4A63D6BFB}"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a:t>
            </a:r>
            <a:r>
              <a:rPr sz="2600" b="0" i="1">
                <a:solidFill>
                  <a:srgbClr val="1C252B"/>
                </a:solidFill>
                <a:latin typeface="Cambria"/>
              </a:rPr>
              <a:t>k</a:t>
            </a:r>
            <a:r>
              <a:rPr sz="2600" b="0" i="0">
                <a:solidFill>
                  <a:srgbClr val="1C252B"/>
                </a:solidFill>
                <a:latin typeface="Segoe UI"/>
              </a:rPr>
              <a:t>-means update step moves each centroid to:</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median of its cluster</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mean of its cluster</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farthest point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random point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08665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0A911FCA-8E43-4447-8C20-E00F95D35B4E}" type="slidenum">
              <a:rPr lang="en-GB" sz="1000">
                <a:solidFill>
                  <a:srgbClr val="8795A1"/>
                </a:solidFill>
                <a:latin typeface="Segoe UI"/>
              </a:rPr>
              <a:t>42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linkage is most prone to chaining?</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single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complete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average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Ward</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1315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129E4FA9-469E-46BE-A560-7DC985BC5D6B}" type="slidenum">
              <a:rPr lang="en-GB" sz="1000">
                <a:solidFill>
                  <a:srgbClr val="8795A1"/>
                </a:solidFill>
                <a:latin typeface="Segoe UI"/>
              </a:rPr>
              <a:t>43</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silhouette close to </a:t>
            </a:r>
            <a:r>
              <a:rPr sz="2600" b="0" i="0">
                <a:solidFill>
                  <a:srgbClr val="1C252B"/>
                </a:solidFill>
                <a:latin typeface="Cambria"/>
              </a:rPr>
              <a:t>−1</a:t>
            </a:r>
            <a:r>
              <a:rPr sz="2600" b="0" i="0">
                <a:solidFill>
                  <a:srgbClr val="1C252B"/>
                </a:solidFill>
                <a:latin typeface="Segoe UI"/>
              </a:rPr>
              <a:t> suggests the point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well clustered</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on a boundary</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probably in the wrong cluster</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an outlier with no cluster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965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12B10D9A-223A-442C-B039-ECEBD6C83CB2}" type="slidenum">
              <a:rPr lang="en-GB" sz="1000">
                <a:solidFill>
                  <a:srgbClr val="8795A1"/>
                </a:solidFill>
                <a:latin typeface="Segoe UI"/>
              </a:rPr>
              <a:t>44</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can the WCSS alone not be used to choose </a:t>
            </a:r>
            <a:r>
              <a:rPr sz="1900" b="0" i="1">
                <a:solidFill>
                  <a:srgbClr val="1C252B"/>
                </a:solidFill>
                <a:latin typeface="Cambria"/>
              </a:rPr>
              <a:t>k</a:t>
            </a:r>
            <a:r>
              <a:rPr sz="1900" b="0" i="0">
                <a:solidFill>
                  <a:srgbClr val="1C252B"/>
                </a:solidFill>
                <a:latin typeface="Segoe UI"/>
              </a:rPr>
              <a:t>?</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two situations where hierarchical clustering is preferable to </a:t>
            </a:r>
            <a:r>
              <a:rPr sz="1900" b="0" i="1">
                <a:solidFill>
                  <a:srgbClr val="1C252B"/>
                </a:solidFill>
                <a:latin typeface="Cambria"/>
              </a:rPr>
              <a:t>k</a:t>
            </a:r>
            <a:r>
              <a:rPr sz="1900" b="0" i="0">
                <a:solidFill>
                  <a:srgbClr val="1C252B"/>
                </a:solidFill>
                <a:latin typeface="Segoe UI"/>
              </a:rPr>
              <a:t>-means.</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role of </a:t>
            </a:r>
            <a:r>
              <a:rPr sz="1900" b="0" i="1">
                <a:solidFill>
                  <a:srgbClr val="1C252B"/>
                </a:solidFill>
                <a:latin typeface="Cambria"/>
              </a:rPr>
              <a:t>k</a:t>
            </a:r>
            <a:r>
              <a:rPr sz="1900" b="0" i="0">
                <a:solidFill>
                  <a:srgbClr val="1C252B"/>
                </a:solidFill>
                <a:latin typeface="Segoe UI"/>
              </a:rPr>
              <a:t>-means++.</a:t>
            </a:r>
          </a:p>
        </p:txBody>
      </p:sp>
      <p:sp>
        <p:nvSpPr>
          <p:cNvPr id="16" name="!!rt3">
            <a:extLst>
              <a:ext uri="{C183D7F6-B498-43B3-948B-1728B52AA6E4}">
                <adec:decorative xmlns:adec="http://schemas.microsoft.com/office/drawing/2017/decorative" val="1"/>
              </a:ext>
            </a:extLst>
          </p:cNvPr>
          <p:cNvSpPr/>
          <p:nvPr/>
        </p:nvSpPr>
        <p:spPr>
          <a:xfrm>
            <a:off x="658368" y="331744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35859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299155"/>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Run </a:t>
            </a:r>
            <a:r>
              <a:rPr sz="1900" b="0" i="1">
                <a:solidFill>
                  <a:srgbClr val="1C252B"/>
                </a:solidFill>
                <a:latin typeface="Cambria"/>
              </a:rPr>
              <a:t>k</a:t>
            </a:r>
            <a:r>
              <a:rPr sz="1900" b="0" i="0">
                <a:solidFill>
                  <a:srgbClr val="1C252B"/>
                </a:solidFill>
                <a:latin typeface="Segoe UI"/>
              </a:rPr>
              <a:t>-means by hand on the worked example with initial centroids A1 and A7. Does it reach the same final clusters?</a:t>
            </a:r>
          </a:p>
        </p:txBody>
      </p:sp>
      <p:sp>
        <p:nvSpPr>
          <p:cNvPr id="19" name="!!rt4">
            <a:extLst>
              <a:ext uri="{C183D7F6-B498-43B3-948B-1728B52AA6E4}">
                <adec:decorative xmlns:adec="http://schemas.microsoft.com/office/drawing/2017/decorative" val="1"/>
              </a:ext>
            </a:extLst>
          </p:cNvPr>
          <p:cNvSpPr/>
          <p:nvPr/>
        </p:nvSpPr>
        <p:spPr>
          <a:xfrm>
            <a:off x="658368" y="413918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18033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120895"/>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Build single- and complete-linkage dendrograms for the points 0, 3, 4, 10, 12, 20 and state the two-cluster cut of each.</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66162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Beyond the HEC Outline</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15  ·  Clustering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§15.5  ·  Handout p. 118     </a:t>
            </a:r>
            <a:fld id="{6C1041E8-8859-41C9-A48C-12CA43EE7205}" type="slidenum">
              <a:rPr lang="en-GB" sz="1000">
                <a:solidFill>
                  <a:srgbClr val="8795A1"/>
                </a:solidFill>
                <a:latin typeface="Segoe UI"/>
              </a:rPr>
              <a:t>45</a:t>
            </a:fld>
          </a:p>
        </p:txBody>
      </p:sp>
      <p:sp>
        <p:nvSpPr>
          <p:cNvPr id="7" name="!!stbar">
            <a:extLst>
              <a:ext uri="{C183D7F6-B498-43B3-948B-1728B52AA6E4}">
                <adec:decorative xmlns:adec="http://schemas.microsoft.com/office/drawing/2017/decorative" val="1"/>
              </a:ext>
            </a:extLst>
          </p:cNvPr>
          <p:cNvSpPr/>
          <p:nvPr/>
        </p:nvSpPr>
        <p:spPr>
          <a:xfrm>
            <a:off x="658368" y="1810512"/>
            <a:ext cx="73152" cy="2848051"/>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2930347"/>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Two methods complete the picture. </a:t>
            </a:r>
            <a:r>
              <a:rPr sz="2600" b="1" i="0">
                <a:solidFill>
                  <a:srgbClr val="1C252B"/>
                </a:solidFill>
                <a:latin typeface="Segoe UI"/>
              </a:rPr>
              <a:t>DBSCAN</a:t>
            </a:r>
            <a:r>
              <a:rPr sz="2600" b="0" i="0">
                <a:solidFill>
                  <a:srgbClr val="1C252B"/>
                </a:solidFill>
                <a:latin typeface="Segoe UI"/>
              </a:rPr>
              <a:t> grows clusters from dense regions and labels isolated points as noise, so it finds clusters of any shape without being told </a:t>
            </a:r>
            <a:r>
              <a:rPr sz="2600" b="0" i="1">
                <a:solidFill>
                  <a:srgbClr val="1C252B"/>
                </a:solidFill>
                <a:latin typeface="Cambria"/>
              </a:rPr>
              <a:t>k</a:t>
            </a:r>
            <a:r>
              <a:rPr sz="2600" b="0" i="0">
                <a:solidFill>
                  <a:srgbClr val="1C252B"/>
                </a:solidFill>
                <a:latin typeface="Segoe UI"/>
              </a:rPr>
              <a:t> — it belongs to the Data Mining course, with outlier detection. </a:t>
            </a:r>
            <a:r>
              <a:rPr sz="2600" b="1" i="0">
                <a:solidFill>
                  <a:srgbClr val="1C252B"/>
                </a:solidFill>
                <a:latin typeface="Segoe UI"/>
              </a:rPr>
              <a:t>Gaussian mixture models</a:t>
            </a:r>
            <a:r>
              <a:rPr sz="2600" b="0" i="0">
                <a:solidFill>
                  <a:srgbClr val="1C252B"/>
                </a:solidFill>
                <a:latin typeface="Segoe UI"/>
              </a:rPr>
              <a:t> replace </a:t>
            </a:r>
            <a:r>
              <a:rPr sz="2600" b="0" i="1">
                <a:solidFill>
                  <a:srgbClr val="1C252B"/>
                </a:solidFill>
                <a:latin typeface="Cambria"/>
              </a:rPr>
              <a:t>k</a:t>
            </a:r>
            <a:r>
              <a:rPr sz="2600" b="0" i="0">
                <a:solidFill>
                  <a:srgbClr val="1C252B"/>
                </a:solidFill>
                <a:latin typeface="Segoe UI"/>
              </a:rPr>
              <a:t>-means’s hard assignments by probabilities; they are fitted with the EM algorithm of Chapter 17, of which </a:t>
            </a:r>
            <a:r>
              <a:rPr sz="2600" b="0" i="1">
                <a:solidFill>
                  <a:srgbClr val="1C252B"/>
                </a:solidFill>
                <a:latin typeface="Cambria"/>
              </a:rPr>
              <a:t>k</a:t>
            </a:r>
            <a:r>
              <a:rPr sz="2600" b="0" i="0">
                <a:solidFill>
                  <a:srgbClr val="1C252B"/>
                </a:solidFill>
                <a:latin typeface="Segoe UI"/>
              </a:rPr>
              <a:t>-means turns out to be a special case.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192665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54A9D"/>
                </a:solidFill>
                <a:latin typeface="Segoe UI Black"/>
              </a:rPr>
              <a:t>15</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15</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16 — Dimensionality Reduction and Self-Organizing Maps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15, pages 115–120</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k-means and a dendrogram; PCA and a SOM</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Quiz 3 (Ch 9–14)</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15  ·  Clustering</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7FBA922D-FFFF-4315-A907-0522B9B302E9}" type="slidenum">
              <a:rPr lang="en-GB" sz="1000">
                <a:solidFill>
                  <a:srgbClr val="D5DEE5"/>
                </a:solidFill>
                <a:latin typeface="Segoe UI"/>
              </a:rPr>
              <a:t>46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15: Clustering</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