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00.svg" ContentType="image/svg+xml"/>
  <Override PartName="/ppt/media/image101.svg" ContentType="image/svg+xml"/>
  <Override PartName="/ppt/media/image102.svg" ContentType="image/svg+xml"/>
  <Override PartName="/ppt/media/image103.svg" ContentType="image/svg+xml"/>
  <Override PartName="/ppt/media/image104.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20.svg" ContentType="image/svg+xml"/>
  <Override PartName="/ppt/media/image22.svg" ContentType="image/svg+xml"/>
  <Override PartName="/ppt/media/image23.svg" ContentType="image/svg+xml"/>
  <Override PartName="/ppt/media/image25.svg" ContentType="image/svg+xml"/>
  <Override PartName="/ppt/media/image26.svg" ContentType="image/svg+xml"/>
  <Override PartName="/ppt/media/image28.svg" ContentType="image/svg+xml"/>
  <Override PartName="/ppt/media/image30.svg" ContentType="image/svg+xml"/>
  <Override PartName="/ppt/media/image31.svg" ContentType="image/svg+xml"/>
  <Override PartName="/ppt/media/image33.svg" ContentType="image/svg+xml"/>
  <Override PartName="/ppt/media/image34.svg" ContentType="image/svg+xml"/>
  <Override PartName="/ppt/media/image36.svg" ContentType="image/svg+xml"/>
  <Override PartName="/ppt/media/image37.svg" ContentType="image/svg+xml"/>
  <Override PartName="/ppt/media/image39.svg" ContentType="image/svg+xml"/>
  <Override PartName="/ppt/media/image4.svg" ContentType="image/svg+xml"/>
  <Override PartName="/ppt/media/image41.svg" ContentType="image/svg+xml"/>
  <Override PartName="/ppt/media/image43.svg" ContentType="image/svg+xml"/>
  <Override PartName="/ppt/media/image45.svg" ContentType="image/svg+xml"/>
  <Override PartName="/ppt/media/image47.svg" ContentType="image/svg+xml"/>
  <Override PartName="/ppt/media/image49.svg" ContentType="image/svg+xml"/>
  <Override PartName="/ppt/media/image51.svg" ContentType="image/svg+xml"/>
  <Override PartName="/ppt/media/image53.svg" ContentType="image/svg+xml"/>
  <Override PartName="/ppt/media/image55.svg" ContentType="image/svg+xml"/>
  <Override PartName="/ppt/media/image57.svg" ContentType="image/svg+xml"/>
  <Override PartName="/ppt/media/image59.svg" ContentType="image/svg+xml"/>
  <Override PartName="/ppt/media/image6.svg" ContentType="image/svg+xml"/>
  <Override PartName="/ppt/media/image60.svg" ContentType="image/svg+xml"/>
  <Override PartName="/ppt/media/image61.svg" ContentType="image/svg+xml"/>
  <Override PartName="/ppt/media/image62.svg" ContentType="image/svg+xml"/>
  <Override PartName="/ppt/media/image63.svg" ContentType="image/svg+xml"/>
  <Override PartName="/ppt/media/image65.svg" ContentType="image/svg+xml"/>
  <Override PartName="/ppt/media/image66.svg" ContentType="image/svg+xml"/>
  <Override PartName="/ppt/media/image67.svg" ContentType="image/svg+xml"/>
  <Override PartName="/ppt/media/image68.svg" ContentType="image/svg+xml"/>
  <Override PartName="/ppt/media/image69.svg" ContentType="image/svg+xml"/>
  <Override PartName="/ppt/media/image71.svg" ContentType="image/svg+xml"/>
  <Override PartName="/ppt/media/image72.svg" ContentType="image/svg+xml"/>
  <Override PartName="/ppt/media/image73.svg" ContentType="image/svg+xml"/>
  <Override PartName="/ppt/media/image74.svg" ContentType="image/svg+xml"/>
  <Override PartName="/ppt/media/image75.svg" ContentType="image/svg+xml"/>
  <Override PartName="/ppt/media/image77.svg" ContentType="image/svg+xml"/>
  <Override PartName="/ppt/media/image78.svg" ContentType="image/svg+xml"/>
  <Override PartName="/ppt/media/image79.svg" ContentType="image/svg+xml"/>
  <Override PartName="/ppt/media/image8.svg" ContentType="image/svg+xml"/>
  <Override PartName="/ppt/media/image80.svg" ContentType="image/svg+xml"/>
  <Override PartName="/ppt/media/image81.svg" ContentType="image/svg+xml"/>
  <Override PartName="/ppt/media/image83.svg" ContentType="image/svg+xml"/>
  <Override PartName="/ppt/media/image84.svg" ContentType="image/svg+xml"/>
  <Override PartName="/ppt/media/image85.svg" ContentType="image/svg+xml"/>
  <Override PartName="/ppt/media/image86.svg" ContentType="image/svg+xml"/>
  <Override PartName="/ppt/media/image87.svg" ContentType="image/svg+xml"/>
  <Override PartName="/ppt/media/image88.svg" ContentType="image/svg+xml"/>
  <Override PartName="/ppt/media/image90.svg" ContentType="image/svg+xml"/>
  <Override PartName="/ppt/media/image92.svg" ContentType="image/svg+xml"/>
  <Override PartName="/ppt/media/image93.svg" ContentType="image/svg+xml"/>
  <Override PartName="/ppt/media/image94.svg" ContentType="image/svg+xml"/>
  <Override PartName="/ppt/media/image95.svg" ContentType="image/svg+xml"/>
  <Override PartName="/ppt/media/image96.svg" ContentType="image/svg+xml"/>
  <Override PartName="/ppt/media/image9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050EFCF-2DD1-47B1-91F4-5A5FF106D757}">
          <p14:sldIdLst>
            <p14:sldId id="256"/>
            <p14:sldId id="257"/>
            <p14:sldId id="258"/>
            <p14:sldId id="259"/>
            <p14:sldId id="260"/>
          </p14:sldIdLst>
        </p14:section>
        <p14:section name="12.1 Which Line?" id="{9F2E0BDA-817A-4257-B5F7-8E8AC4F6E92C}">
          <p14:sldIdLst>
            <p14:sldId id="261"/>
          </p14:sldIdLst>
        </p14:section>
        <p14:section name="12.2 The Maximum-Margin Hyperplane" id="{2BC16F46-8564-4D0B-A8D5-509F744A4ACC}">
          <p14:sldIdLst>
            <p14:sldId id="262"/>
            <p14:sldId id="263"/>
            <p14:sldId id="264"/>
            <p14:sldId id="265"/>
          </p14:sldIdLst>
        </p14:section>
        <p14:section name="12.3 Soft Margins and the Hinge Loss" id="{526282A2-B7E9-4472-953B-C6D5D7EBE3E5}">
          <p14:sldIdLst>
            <p14:sldId id="266"/>
            <p14:sldId id="267"/>
            <p14:sldId id="268"/>
            <p14:sldId id="269"/>
            <p14:sldId id="270"/>
          </p14:sldIdLst>
        </p14:section>
        <p14:section name="12.4 The Kernel Trick" id="{0C848B78-0A0F-408D-A2B5-1608DD7B4E9C}">
          <p14:sldIdLst>
            <p14:sldId id="271"/>
            <p14:sldId id="272"/>
            <p14:sldId id="273"/>
            <p14:sldId id="274"/>
            <p14:sldId id="275"/>
            <p14:sldId id="276"/>
          </p14:sldIdLst>
        </p14:section>
        <p14:section name="Pitfalls" id="{1EA4A8A9-D7F3-466F-A605-F6E265B943BB}">
          <p14:sldIdLst>
            <p14:sldId id="277"/>
          </p14:sldIdLst>
        </p14:section>
        <p14:section name="Four lenses" id="{09DD6F7A-5BDA-48A6-84EE-FB36329A5DC6}">
          <p14:sldIdLst>
            <p14:sldId id="278"/>
            <p14:sldId id="279"/>
            <p14:sldId id="280"/>
            <p14:sldId id="281"/>
            <p14:sldId id="282"/>
          </p14:sldIdLst>
        </p14:section>
        <p14:section name="Lab" id="{BD374232-4F61-4492-BD2F-C53E8B80A7C6}">
          <p14:sldIdLst>
            <p14:sldId id="283"/>
            <p14:sldId id="284"/>
            <p14:sldId id="285"/>
            <p14:sldId id="286"/>
            <p14:sldId id="287"/>
            <p14:sldId id="288"/>
          </p14:sldIdLst>
        </p14:section>
        <p14:section name="Checkpoint" id="{2B541B3F-C1D8-4906-A6C2-8047D3890880}">
          <p14:sldIdLst>
            <p14:sldId id="289"/>
            <p14:sldId id="290"/>
            <p14:sldId id="291"/>
            <p14:sldId id="292"/>
            <p14:sldId id="293"/>
            <p14:sldId id="294"/>
          </p14:sldIdLst>
        </p14:section>
        <p14:section name="Wrap-up" id="{7C9BA7A5-D4B2-4845-87E0-AD7287760057}">
          <p14:sldIdLst>
            <p14:sldId id="295"/>
            <p14:sldId id="296"/>
            <p14:sldId id="297"/>
            <p14:sldId id="298"/>
            <p14:sldId id="299"/>
            <p14:sldId id="300"/>
            <p14:sldId id="301"/>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12: Support Vector Machines. Part 3 — Supervised Learning Algorithms. Week 10: Nearest neighbours; support vector machines. Handout pages 91–97.</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2 (dot products, norms), Chapter 6 (linear decision boundaries, the loss view of classification) and Chapter 7 (regularisation and tuning by cross-validation).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separating hyperplane; margin; maximum-margin classifier; support vectors; hard margin; soft margin; slack variable; C; hinge loss; dual form; feature map; kernel trick; polynomial kernel; RBF kernel; γ; support vector regression.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12.1 (handout p. 92): The maximum-margin hyperplane. The solid line separates the classes; the dashed lines bound the widest empty band; the points on the dashed lines are the support vectors.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data is rarely separable, and even when it is, one mislabelled point can drag the hard-margin boundary into a bad place. The soft-margin SVM lets points violate the margin at a price. Each point gets a slack variable ξi ≥ 0 measuring how far it is on the wrong side of its margin: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hyperparameter C sets the price. A large C punishes every violation heavily: narrow margin, few violations, high variance. A small C tolerates violations to buy a wider margin: more bias, less variance. C is the SVM’s regularisation knob, and it is tuned by cross-validation.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12.2 (handout p. 93): Three losses as a function of y f(x), positive when the example is correctly classified. The hinge is exactly zero for points beyond the margin, which is why only support vectors affect the SVM; the logistic loss is never quite zero.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problems no straight line can solve — one class surrounding another, say. The standard remedy (Chapter 5) is to add non-linear features, such as squares and products, and fit a linear model in the enlarged space. That works, but the enlarged space can be enormous: all products of pairs of 1,000 features is half a million features.</a:t>
            </a:r>
          </a:p>
          <a:p/>
          <a:p>
            <a:r>
              <a:t>Figure 12.3 (handout p. 94): Lifting data into more dimensions. The inner class (blue) and the outer class (red) cannot be separated on the line, but after adding x2 as a second feature a horizontal line separates them; in the original space that line is two thresholds.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 table row by row: pick the row the room is most likely to get wrong and ask why.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method, four domains. Each of the next four slides opens one lens in full.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Analytics. With a few hundred students and a dozen engagement features, an RBF SVM is often among the most accurate classifiers available — and among the hardest to explain. The support vectors do give one explanation: the borderline students the model learned the boundary from, which advisers can examine directly.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 Management. Text classification of requirement statements (functional or not, ambiguous or not) with a linear SVM over word counts is a classic, strong baseline: high-dimensional, sparse data is where linear SVMs are at their best.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Internet of Things. A trained linear SVM is a single weight vector, so inference on a device is one dot product. Kernel SVMs must store their support vectors — often thousands — which may not fit; count them before choosing.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Cybersecurity. SVMs were for years the standard malware and intrusion classifier over static file features. The margin gives some robustness to small changes an attacker makes, but only in the directions the features capture; an attacker who changes features the model ignores is not slowed at all.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the room will have at the end of the lab, then let them start. Circulate rather than lecture.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Set-up.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The worked example: a maximum-margin line.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A problem no line can solve.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Tune C and gamma together, features scaled.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‖w‖ = 5, so the margin is 2/5 = 0.4. f(1, 1) = 3 + 4 − 5 = 2 &gt; 0: positive.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The margin narrows and the model tolerates fewer violations, so training errors fall — and the risk of overfitting rises.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Because both the SVM’s optimisation and its decision function use the training examples only through dot products xi · xj, and each dot product can be replaced by a kernel.</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13 — Artificial Neural Networks. READ: Handout Chapter 12, pages 91–97. THIS WEEK'S LAB: Neighbours, scaling and k; margins and kernels. ASSESSMENT: Assignment 2 set.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7.xml"/><Relationship Id="rId7" Type="http://schemas.openxmlformats.org/officeDocument/2006/relationships/slide" Target="slide11.xml"/><Relationship Id="rId8" Type="http://schemas.openxmlformats.org/officeDocument/2006/relationships/slide" Target="slide16.xml"/><Relationship Id="rId9" Type="http://schemas.openxmlformats.org/officeDocument/2006/relationships/slide" Target="slide4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image" Target="../media/image15.png"/><Relationship Id="rId5" Type="http://schemas.openxmlformats.org/officeDocument/2006/relationships/image" Target="../media/image16.sv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20.svg"/><Relationship Id="rId4" Type="http://schemas.openxmlformats.org/officeDocument/2006/relationships/image" Target="../media/image21.png"/><Relationship Id="rId5" Type="http://schemas.openxmlformats.org/officeDocument/2006/relationships/image" Target="../media/image22.sv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23.svg"/><Relationship Id="rId4" Type="http://schemas.openxmlformats.org/officeDocument/2006/relationships/image" Target="../media/image24.png"/><Relationship Id="rId5" Type="http://schemas.openxmlformats.org/officeDocument/2006/relationships/image" Target="../media/image25.sv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26.svg"/><Relationship Id="rId4" Type="http://schemas.openxmlformats.org/officeDocument/2006/relationships/image" Target="../media/image27.png"/><Relationship Id="rId5" Type="http://schemas.openxmlformats.org/officeDocument/2006/relationships/image" Target="../media/image28.sv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image" Target="../media/image30.sv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31.sv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33.sv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34.svg"/><Relationship Id="rId4" Type="http://schemas.openxmlformats.org/officeDocument/2006/relationships/image" Target="../media/image35.png"/><Relationship Id="rId5" Type="http://schemas.openxmlformats.org/officeDocument/2006/relationships/image" Target="../media/image36.sv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37.svg"/><Relationship Id="rId4" Type="http://schemas.openxmlformats.org/officeDocument/2006/relationships/image" Target="../media/image38.png"/><Relationship Id="rId5" Type="http://schemas.openxmlformats.org/officeDocument/2006/relationships/image" Target="../media/image39.svg"/><Relationship Id="rId6" Type="http://schemas.openxmlformats.org/officeDocument/2006/relationships/image" Target="../media/image40.png"/><Relationship Id="rId7" Type="http://schemas.openxmlformats.org/officeDocument/2006/relationships/image" Target="../media/image41.svg"/><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2.png"/><Relationship Id="rId3" Type="http://schemas.openxmlformats.org/officeDocument/2006/relationships/image" Target="../media/image43.sv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4.png"/><Relationship Id="rId3" Type="http://schemas.openxmlformats.org/officeDocument/2006/relationships/image" Target="../media/image45.sv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6.png"/><Relationship Id="rId3" Type="http://schemas.openxmlformats.org/officeDocument/2006/relationships/image" Target="../media/image47.sv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8.png"/><Relationship Id="rId3" Type="http://schemas.openxmlformats.org/officeDocument/2006/relationships/image" Target="../media/image49.svg"/><Relationship Id="rId4" Type="http://schemas.openxmlformats.org/officeDocument/2006/relationships/image" Target="../media/image50.png"/><Relationship Id="rId5" Type="http://schemas.openxmlformats.org/officeDocument/2006/relationships/image" Target="../media/image51.svg"/><Relationship Id="rId6" Type="http://schemas.openxmlformats.org/officeDocument/2006/relationships/image" Target="../media/image52.png"/><Relationship Id="rId7" Type="http://schemas.openxmlformats.org/officeDocument/2006/relationships/image" Target="../media/image53.svg"/><Relationship Id="rId8" Type="http://schemas.openxmlformats.org/officeDocument/2006/relationships/image" Target="../media/image54.png"/><Relationship Id="rId9" Type="http://schemas.openxmlformats.org/officeDocument/2006/relationships/image" Target="../media/image55.svg"/><Relationship Id="rId10" Type="http://schemas.openxmlformats.org/officeDocument/2006/relationships/image" Target="../media/image56.png"/><Relationship Id="rId11" Type="http://schemas.openxmlformats.org/officeDocument/2006/relationships/image" Target="../media/image57.svg"/><Relationship Id="rId1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8.png"/><Relationship Id="rId3" Type="http://schemas.openxmlformats.org/officeDocument/2006/relationships/image" Target="../media/image59.svg"/><Relationship Id="rId4" Type="http://schemas.openxmlformats.org/officeDocument/2006/relationships/image" Target="../media/image50.png"/><Relationship Id="rId5" Type="http://schemas.openxmlformats.org/officeDocument/2006/relationships/image" Target="../media/image60.svg"/><Relationship Id="rId6" Type="http://schemas.openxmlformats.org/officeDocument/2006/relationships/image" Target="../media/image52.png"/><Relationship Id="rId7" Type="http://schemas.openxmlformats.org/officeDocument/2006/relationships/image" Target="../media/image61.svg"/><Relationship Id="rId8" Type="http://schemas.openxmlformats.org/officeDocument/2006/relationships/image" Target="../media/image54.png"/><Relationship Id="rId9" Type="http://schemas.openxmlformats.org/officeDocument/2006/relationships/image" Target="../media/image62.svg"/><Relationship Id="rId10" Type="http://schemas.openxmlformats.org/officeDocument/2006/relationships/image" Target="../media/image56.png"/><Relationship Id="rId11" Type="http://schemas.openxmlformats.org/officeDocument/2006/relationships/image" Target="../media/image63.svg"/><Relationship Id="rId1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4.png"/><Relationship Id="rId3" Type="http://schemas.openxmlformats.org/officeDocument/2006/relationships/image" Target="../media/image65.svg"/><Relationship Id="rId4" Type="http://schemas.openxmlformats.org/officeDocument/2006/relationships/image" Target="../media/image52.png"/><Relationship Id="rId5" Type="http://schemas.openxmlformats.org/officeDocument/2006/relationships/image" Target="../media/image66.svg"/><Relationship Id="rId6" Type="http://schemas.openxmlformats.org/officeDocument/2006/relationships/image" Target="../media/image50.png"/><Relationship Id="rId7" Type="http://schemas.openxmlformats.org/officeDocument/2006/relationships/image" Target="../media/image67.svg"/><Relationship Id="rId8" Type="http://schemas.openxmlformats.org/officeDocument/2006/relationships/image" Target="../media/image54.png"/><Relationship Id="rId9" Type="http://schemas.openxmlformats.org/officeDocument/2006/relationships/image" Target="../media/image68.svg"/><Relationship Id="rId10" Type="http://schemas.openxmlformats.org/officeDocument/2006/relationships/image" Target="../media/image56.png"/><Relationship Id="rId11" Type="http://schemas.openxmlformats.org/officeDocument/2006/relationships/image" Target="../media/image69.svg"/><Relationship Id="rId1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0.png"/><Relationship Id="rId3" Type="http://schemas.openxmlformats.org/officeDocument/2006/relationships/image" Target="../media/image71.svg"/><Relationship Id="rId4" Type="http://schemas.openxmlformats.org/officeDocument/2006/relationships/image" Target="../media/image54.png"/><Relationship Id="rId5" Type="http://schemas.openxmlformats.org/officeDocument/2006/relationships/image" Target="../media/image72.svg"/><Relationship Id="rId6" Type="http://schemas.openxmlformats.org/officeDocument/2006/relationships/image" Target="../media/image50.png"/><Relationship Id="rId7" Type="http://schemas.openxmlformats.org/officeDocument/2006/relationships/image" Target="../media/image73.svg"/><Relationship Id="rId8" Type="http://schemas.openxmlformats.org/officeDocument/2006/relationships/image" Target="../media/image52.png"/><Relationship Id="rId9" Type="http://schemas.openxmlformats.org/officeDocument/2006/relationships/image" Target="../media/image74.svg"/><Relationship Id="rId10" Type="http://schemas.openxmlformats.org/officeDocument/2006/relationships/image" Target="../media/image56.png"/><Relationship Id="rId11" Type="http://schemas.openxmlformats.org/officeDocument/2006/relationships/image" Target="../media/image75.svg"/><Relationship Id="rId1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6.png"/><Relationship Id="rId3" Type="http://schemas.openxmlformats.org/officeDocument/2006/relationships/image" Target="../media/image77.svg"/><Relationship Id="rId4" Type="http://schemas.openxmlformats.org/officeDocument/2006/relationships/image" Target="../media/image56.png"/><Relationship Id="rId5" Type="http://schemas.openxmlformats.org/officeDocument/2006/relationships/image" Target="../media/image78.svg"/><Relationship Id="rId6" Type="http://schemas.openxmlformats.org/officeDocument/2006/relationships/image" Target="../media/image50.png"/><Relationship Id="rId7" Type="http://schemas.openxmlformats.org/officeDocument/2006/relationships/image" Target="../media/image79.svg"/><Relationship Id="rId8" Type="http://schemas.openxmlformats.org/officeDocument/2006/relationships/image" Target="../media/image52.png"/><Relationship Id="rId9" Type="http://schemas.openxmlformats.org/officeDocument/2006/relationships/image" Target="../media/image80.svg"/><Relationship Id="rId10" Type="http://schemas.openxmlformats.org/officeDocument/2006/relationships/image" Target="../media/image54.png"/><Relationship Id="rId11" Type="http://schemas.openxmlformats.org/officeDocument/2006/relationships/image" Target="../media/image81.svg"/><Relationship Id="rId1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2.png"/><Relationship Id="rId3" Type="http://schemas.openxmlformats.org/officeDocument/2006/relationships/image" Target="../media/image83.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2.png"/><Relationship Id="rId3" Type="http://schemas.openxmlformats.org/officeDocument/2006/relationships/image" Target="../media/image84.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2.png"/><Relationship Id="rId3" Type="http://schemas.openxmlformats.org/officeDocument/2006/relationships/image" Target="../media/image85.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2.png"/><Relationship Id="rId3" Type="http://schemas.openxmlformats.org/officeDocument/2006/relationships/image" Target="../media/image86.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2.png"/><Relationship Id="rId3" Type="http://schemas.openxmlformats.org/officeDocument/2006/relationships/image" Target="../media/image87.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2.png"/><Relationship Id="rId3" Type="http://schemas.openxmlformats.org/officeDocument/2006/relationships/image" Target="../media/image88.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9.png"/><Relationship Id="rId3" Type="http://schemas.openxmlformats.org/officeDocument/2006/relationships/image" Target="../media/image90.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1.png"/><Relationship Id="rId3" Type="http://schemas.openxmlformats.org/officeDocument/2006/relationships/image" Target="../media/image92.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9.png"/><Relationship Id="rId3" Type="http://schemas.openxmlformats.org/officeDocument/2006/relationships/image" Target="../media/image93.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1.png"/><Relationship Id="rId3" Type="http://schemas.openxmlformats.org/officeDocument/2006/relationships/image" Target="../media/image94.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9.png"/><Relationship Id="rId3" Type="http://schemas.openxmlformats.org/officeDocument/2006/relationships/image" Target="../media/image95.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1.png"/><Relationship Id="rId3" Type="http://schemas.openxmlformats.org/officeDocument/2006/relationships/image" Target="../media/image96.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7.png"/><Relationship Id="rId3" Type="http://schemas.openxmlformats.org/officeDocument/2006/relationships/image" Target="../media/image98.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9.png"/><Relationship Id="rId3" Type="http://schemas.openxmlformats.org/officeDocument/2006/relationships/image" Target="../media/image100.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9.png"/><Relationship Id="rId3" Type="http://schemas.openxmlformats.org/officeDocument/2006/relationships/image" Target="../media/image101.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9.png"/><Relationship Id="rId3" Type="http://schemas.openxmlformats.org/officeDocument/2006/relationships/image" Target="../media/image102.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9.png"/><Relationship Id="rId3" Type="http://schemas.openxmlformats.org/officeDocument/2006/relationships/image" Target="../media/image103.sv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04.sv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7A43"/>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328756"/>
                </a:solidFill>
                <a:latin typeface="Segoe UI Black"/>
              </a:rPr>
              <a:t>12</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Support Vector Machines</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DACA"/>
                </a:solidFill>
                <a:latin typeface="Segoe UI"/>
              </a:rPr>
              <a:t>PART III  ·  SUPERVISED LEARNING ALGORITHMS</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DACA"/>
                </a:solidFill>
                <a:latin typeface="Segoe UI"/>
              </a:rPr>
              <a:t>CHAPTER 12  ·  WEEK 10</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D1E4D9"/>
                </a:solidFill>
                <a:latin typeface="Segoe UI"/>
              </a:rPr>
              <a:t>Machine Learning — From Hypotheses to Decisions</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1358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A5C0B0"/>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BDD0C5"/>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A5C0B0"/>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91     </a:t>
            </a:r>
            <a:fld id="{31EF6CE2-6D9A-4341-9F31-709F9563FAF6}" type="slidenum">
              <a:rPr lang="en-GB" sz="1000">
                <a:solidFill>
                  <a:srgbClr val="8795A1"/>
                </a:solidFill>
                <a:latin typeface="Segoe UI"/>
              </a:rPr>
              <a:t>2</a:t>
            </a:fld>
          </a:p>
        </p:txBody>
      </p:sp>
      <p:sp>
        <p:nvSpPr>
          <p:cNvPr id="7" name="!!rp1"/>
          <p:cNvSpPr txBox="1"/>
          <p:nvPr/>
        </p:nvSpPr>
        <p:spPr>
          <a:xfrm>
            <a:off x="777239"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689666"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689666"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4602092" y="1755648"/>
            <a:ext cx="2713191"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B7A43"/>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4602092" y="2029967"/>
            <a:ext cx="2713191" cy="4572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7644467"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7644467"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9147366"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9147366"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10650266" y="1755648"/>
            <a:ext cx="764189"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10650266" y="2029967"/>
            <a:ext cx="764189"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36464"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450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045990"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19545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729837"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6383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139363"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0479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548890"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4574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3958416"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386697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642263"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5508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051789"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496034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5461316"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36987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5879986" y="2112264"/>
            <a:ext cx="566928" cy="566928"/>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5879986"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12</a:t>
            </a:r>
          </a:p>
        </p:txBody>
      </p:sp>
      <p:sp>
        <p:nvSpPr>
          <p:cNvPr id="43" name="!!dot13">
            <a:extLst>
              <a:ext uri="{C183D7F6-B498-43B3-948B-1728B52AA6E4}">
                <adec:decorative xmlns:adec="http://schemas.microsoft.com/office/drawing/2017/decorative" val="1"/>
              </a:ext>
            </a:extLst>
          </p:cNvPr>
          <p:cNvSpPr/>
          <p:nvPr/>
        </p:nvSpPr>
        <p:spPr>
          <a:xfrm>
            <a:off x="6591265"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49982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7000791"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690935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684638"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59319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8094164"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80027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8503691"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41225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9187537"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90960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597064"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5056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10006590"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99151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3237370"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1B7A43"/>
                </a:solidFill>
                <a:latin typeface="Segoe UI"/>
              </a:rPr>
              <a:t>Support Vector Machines</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2">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2">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2"/>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2  </a:t>
            </a:r>
            <a:r>
              <a:rPr sz="1400" b="0" i="0">
                <a:solidFill>
                  <a:srgbClr val="1C252B"/>
                </a:solidFill>
                <a:latin typeface="Segoe UI"/>
              </a:rPr>
              <a:t>Mathematics for Machine Learning</a:t>
            </a:r>
          </a:p>
        </p:txBody>
      </p:sp>
      <p:sp>
        <p:nvSpPr>
          <p:cNvPr id="68" name="!!chipBU6">
            <a:extLst>
              <a:ext uri="{C183D7F6-B498-43B3-948B-1728B52AA6E4}">
                <adec:decorative xmlns:adec="http://schemas.microsoft.com/office/drawing/2017/decorative" val="1"/>
              </a:ext>
            </a:extLst>
          </p:cNvPr>
          <p:cNvSpPr/>
          <p:nvPr/>
        </p:nvSpPr>
        <p:spPr>
          <a:xfrm>
            <a:off x="658368" y="4297680"/>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bBU6">
            <a:extLst>
              <a:ext uri="{C183D7F6-B498-43B3-948B-1728B52AA6E4}">
                <adec:decorative xmlns:adec="http://schemas.microsoft.com/office/drawing/2017/decorative" val="1"/>
              </a:ext>
            </a:extLst>
          </p:cNvPr>
          <p:cNvSpPr/>
          <p:nvPr/>
        </p:nvSpPr>
        <p:spPr>
          <a:xfrm>
            <a:off x="658368" y="4297680"/>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tBU6"/>
          <p:cNvSpPr txBox="1"/>
          <p:nvPr/>
        </p:nvSpPr>
        <p:spPr>
          <a:xfrm>
            <a:off x="859536"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6  </a:t>
            </a:r>
            <a:r>
              <a:rPr sz="1400" b="0" i="0">
                <a:solidFill>
                  <a:srgbClr val="1C252B"/>
                </a:solidFill>
                <a:latin typeface="Segoe UI"/>
              </a:rPr>
              <a:t>Logistic Regression</a:t>
            </a:r>
          </a:p>
        </p:txBody>
      </p:sp>
      <p:sp>
        <p:nvSpPr>
          <p:cNvPr id="71" name="!!chipBU7">
            <a:extLst>
              <a:ext uri="{C183D7F6-B498-43B3-948B-1728B52AA6E4}">
                <adec:decorative xmlns:adec="http://schemas.microsoft.com/office/drawing/2017/decorative" val="1"/>
              </a:ext>
            </a:extLst>
          </p:cNvPr>
          <p:cNvSpPr/>
          <p:nvPr/>
        </p:nvSpPr>
        <p:spPr>
          <a:xfrm>
            <a:off x="658368" y="4809744"/>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chipbBU7">
            <a:extLst>
              <a:ext uri="{C183D7F6-B498-43B3-948B-1728B52AA6E4}">
                <adec:decorative xmlns:adec="http://schemas.microsoft.com/office/drawing/2017/decorative" val="1"/>
              </a:ext>
            </a:extLst>
          </p:cNvPr>
          <p:cNvSpPr/>
          <p:nvPr/>
        </p:nvSpPr>
        <p:spPr>
          <a:xfrm>
            <a:off x="658368" y="4809744"/>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tBU7"/>
          <p:cNvSpPr txBox="1"/>
          <p:nvPr/>
        </p:nvSpPr>
        <p:spPr>
          <a:xfrm>
            <a:off x="859536"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7  </a:t>
            </a:r>
            <a:r>
              <a:rPr sz="1400" b="0" i="0">
                <a:solidFill>
                  <a:srgbClr val="1C252B"/>
                </a:solidFill>
                <a:latin typeface="Segoe UI"/>
              </a:rPr>
              <a:t>Overfitting, Bias–Variance and Regularisation</a:t>
            </a:r>
          </a:p>
        </p:txBody>
      </p:sp>
      <p:sp>
        <p:nvSpPr>
          <p:cNvPr id="74"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75" name="!!chipUS14">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chipbUS14">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7" name="!!chiptUS14"/>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14  </a:t>
            </a:r>
            <a:r>
              <a:rPr sz="1400" b="0" i="0">
                <a:solidFill>
                  <a:srgbClr val="1C252B"/>
                </a:solidFill>
                <a:latin typeface="Segoe UI"/>
              </a:rPr>
              <a:t>Ensemble Learning</a:t>
            </a:r>
          </a:p>
        </p:txBody>
      </p:sp>
      <p:sp>
        <p:nvSpPr>
          <p:cNvPr id="7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9" name="!!pfill">
            <a:extLst>
              <a:ext uri="{C183D7F6-B498-43B3-948B-1728B52AA6E4}">
                <adec:decorative xmlns:adec="http://schemas.microsoft.com/office/drawing/2017/decorative" val="1"/>
              </a:ext>
            </a:extLst>
          </p:cNvPr>
          <p:cNvSpPr/>
          <p:nvPr/>
        </p:nvSpPr>
        <p:spPr>
          <a:xfrm>
            <a:off x="0" y="0"/>
            <a:ext cx="53007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91     </a:t>
            </a:r>
            <a:fld id="{226147B8-B23F-4CD6-9F66-669ECEBF6DC0}"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Explain</a:t>
            </a:r>
            <a:r>
              <a:rPr sz="2100" b="0" i="0">
                <a:solidFill>
                  <a:srgbClr val="1C252B"/>
                </a:solidFill>
                <a:latin typeface="Segoe UI"/>
              </a:rPr>
              <a:t> why the maximum-margin hyperplane is preferred among all separating hyperplanes, and </a:t>
            </a:r>
            <a:r>
              <a:rPr sz="2100" b="1" i="0">
                <a:solidFill>
                  <a:srgbClr val="1C252B"/>
                </a:solidFill>
                <a:latin typeface="Segoe UI"/>
              </a:rPr>
              <a:t>identify</a:t>
            </a:r>
            <a:r>
              <a:rPr sz="2100" b="0" i="0">
                <a:solidFill>
                  <a:srgbClr val="1C252B"/>
                </a:solidFill>
                <a:latin typeface="Segoe UI"/>
              </a:rPr>
              <a:t> its support vectors.</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111703"/>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Compute</a:t>
            </a:r>
            <a:r>
              <a:rPr sz="2100" b="0" i="0">
                <a:solidFill>
                  <a:srgbClr val="1C252B"/>
                </a:solidFill>
                <a:latin typeface="Segoe UI"/>
              </a:rPr>
              <a:t> the margin of a linear SVM and </a:t>
            </a:r>
            <a:r>
              <a:rPr sz="2100" b="1" i="0">
                <a:solidFill>
                  <a:srgbClr val="1C252B"/>
                </a:solidFill>
                <a:latin typeface="Segoe UI"/>
              </a:rPr>
              <a:t>classify</a:t>
            </a:r>
            <a:r>
              <a:rPr sz="2100" b="0" i="0">
                <a:solidFill>
                  <a:srgbClr val="1C252B"/>
                </a:solidFill>
                <a:latin typeface="Segoe UI"/>
              </a:rPr>
              <a:t> a point with its decision function.</a:t>
            </a:r>
          </a:p>
        </p:txBody>
      </p:sp>
      <p:sp>
        <p:nvSpPr>
          <p:cNvPr id="14" name="!!ob2">
            <a:extLst>
              <a:ext uri="{C183D7F6-B498-43B3-948B-1728B52AA6E4}">
                <adec:decorative xmlns:adec="http://schemas.microsoft.com/office/drawing/2017/decorative" val="1"/>
              </a:ext>
            </a:extLst>
          </p:cNvPr>
          <p:cNvSpPr/>
          <p:nvPr/>
        </p:nvSpPr>
        <p:spPr>
          <a:xfrm>
            <a:off x="658368" y="3674059"/>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733495"/>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715207"/>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Describe</a:t>
            </a:r>
            <a:r>
              <a:rPr sz="2100" b="0" i="0">
                <a:solidFill>
                  <a:srgbClr val="1C252B"/>
                </a:solidFill>
                <a:latin typeface="Segoe UI"/>
              </a:rPr>
              <a:t> the soft-margin SVM and the role of </a:t>
            </a:r>
            <a:r>
              <a:rPr sz="2100" b="0" i="1">
                <a:solidFill>
                  <a:srgbClr val="1C252B"/>
                </a:solidFill>
                <a:latin typeface="Cambria"/>
              </a:rPr>
              <a:t>C</a:t>
            </a:r>
            <a:r>
              <a:rPr sz="2100" b="0" i="0">
                <a:solidFill>
                  <a:srgbClr val="1C252B"/>
                </a:solidFill>
                <a:latin typeface="Segoe UI"/>
              </a:rPr>
              <a:t>, and </a:t>
            </a:r>
            <a:r>
              <a:rPr sz="2100" b="1" i="0">
                <a:solidFill>
                  <a:srgbClr val="1C252B"/>
                </a:solidFill>
                <a:latin typeface="Segoe UI"/>
              </a:rPr>
              <a:t>compute</a:t>
            </a:r>
            <a:r>
              <a:rPr sz="2100" b="0" i="0">
                <a:solidFill>
                  <a:srgbClr val="1C252B"/>
                </a:solidFill>
                <a:latin typeface="Segoe UI"/>
              </a:rPr>
              <a:t> the hinge loss.</a:t>
            </a:r>
          </a:p>
        </p:txBody>
      </p:sp>
      <p:sp>
        <p:nvSpPr>
          <p:cNvPr id="17" name="!!ob3">
            <a:extLst>
              <a:ext uri="{C183D7F6-B498-43B3-948B-1728B52AA6E4}">
                <adec:decorative xmlns:adec="http://schemas.microsoft.com/office/drawing/2017/decorative" val="1"/>
              </a:ext>
            </a:extLst>
          </p:cNvPr>
          <p:cNvSpPr/>
          <p:nvPr/>
        </p:nvSpPr>
        <p:spPr>
          <a:xfrm>
            <a:off x="658368" y="4277563"/>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336999"/>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268419"/>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Explain</a:t>
            </a:r>
            <a:r>
              <a:rPr sz="2100" b="0" i="0">
                <a:solidFill>
                  <a:srgbClr val="1C252B"/>
                </a:solidFill>
                <a:latin typeface="Segoe UI"/>
              </a:rPr>
              <a:t> the kernel trick, and </a:t>
            </a:r>
            <a:r>
              <a:rPr sz="2100" b="1" i="0">
                <a:solidFill>
                  <a:srgbClr val="1C252B"/>
                </a:solidFill>
                <a:latin typeface="Segoe UI"/>
              </a:rPr>
              <a:t>verify</a:t>
            </a:r>
            <a:r>
              <a:rPr sz="2100" b="0" i="0">
                <a:solidFill>
                  <a:srgbClr val="1C252B"/>
                </a:solidFill>
                <a:latin typeface="Segoe UI"/>
              </a:rPr>
              <a:t> a polynomial kernel against its explicit feature map.</a:t>
            </a:r>
          </a:p>
        </p:txBody>
      </p:sp>
      <p:sp>
        <p:nvSpPr>
          <p:cNvPr id="20" name="!!ob4">
            <a:extLst>
              <a:ext uri="{C183D7F6-B498-43B3-948B-1728B52AA6E4}">
                <adec:decorative xmlns:adec="http://schemas.microsoft.com/office/drawing/2017/decorative" val="1"/>
              </a:ext>
            </a:extLst>
          </p:cNvPr>
          <p:cNvSpPr/>
          <p:nvPr/>
        </p:nvSpPr>
        <p:spPr>
          <a:xfrm>
            <a:off x="658368" y="5126126"/>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185562"/>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167274"/>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Tune</a:t>
            </a:r>
            <a:r>
              <a:rPr sz="2100" b="0" i="0">
                <a:solidFill>
                  <a:srgbClr val="1C252B"/>
                </a:solidFill>
                <a:latin typeface="Segoe UI"/>
              </a:rPr>
              <a:t> </a:t>
            </a:r>
            <a:r>
              <a:rPr sz="2100" b="0" i="1">
                <a:solidFill>
                  <a:srgbClr val="1C252B"/>
                </a:solidFill>
                <a:latin typeface="Cambria"/>
              </a:rPr>
              <a:t>C</a:t>
            </a:r>
            <a:r>
              <a:rPr sz="2100" b="0" i="0">
                <a:solidFill>
                  <a:srgbClr val="1C252B"/>
                </a:solidFill>
                <a:latin typeface="Segoe UI"/>
              </a:rPr>
              <a:t> and the RBF width </a:t>
            </a:r>
            <a:r>
              <a:rPr sz="2100" b="0" i="0">
                <a:solidFill>
                  <a:srgbClr val="1C252B"/>
                </a:solidFill>
                <a:latin typeface="Cambria"/>
              </a:rPr>
              <a:t>γ</a:t>
            </a:r>
            <a:r>
              <a:rPr sz="2100" b="0" i="0">
                <a:solidFill>
                  <a:srgbClr val="1C252B"/>
                </a:solidFill>
                <a:latin typeface="Segoe UI"/>
              </a:rPr>
              <a:t> by cross-validation.</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79511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91     </a:t>
            </a:r>
            <a:fld id="{57F50C9B-3797-4224-8485-964DB6218E11}" type="slidenum">
              <a:rPr lang="en-GB" sz="1000">
                <a:solidFill>
                  <a:srgbClr val="8795A1"/>
                </a:solidFill>
                <a:latin typeface="Segoe UI"/>
              </a:rPr>
              <a:t>4</a:t>
            </a:fld>
          </a:p>
        </p:txBody>
      </p:sp>
      <p:sp>
        <p:nvSpPr>
          <p:cNvPr id="7" name="!!term-separating hyp">
            <a:extLst>
              <a:ext uri="{C183D7F6-B498-43B3-948B-1728B52AA6E4}">
                <adec:decorative xmlns:adec="http://schemas.microsoft.com/office/drawing/2017/decorative" val="1"/>
              </a:ext>
            </a:extLst>
          </p:cNvPr>
          <p:cNvSpPr/>
          <p:nvPr/>
        </p:nvSpPr>
        <p:spPr>
          <a:xfrm>
            <a:off x="658368" y="1847088"/>
            <a:ext cx="248000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separating hyp">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separating hyp"/>
          <p:cNvSpPr txBox="1"/>
          <p:nvPr/>
        </p:nvSpPr>
        <p:spPr>
          <a:xfrm>
            <a:off x="950976" y="1962911"/>
            <a:ext cx="229712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separating hyperplane</a:t>
            </a:r>
          </a:p>
        </p:txBody>
      </p:sp>
      <p:sp>
        <p:nvSpPr>
          <p:cNvPr id="10" name="!!term-margin">
            <a:extLst>
              <a:ext uri="{C183D7F6-B498-43B3-948B-1728B52AA6E4}">
                <adec:decorative xmlns:adec="http://schemas.microsoft.com/office/drawing/2017/decorative" val="1"/>
              </a:ext>
            </a:extLst>
          </p:cNvPr>
          <p:cNvSpPr/>
          <p:nvPr/>
        </p:nvSpPr>
        <p:spPr>
          <a:xfrm>
            <a:off x="3284677" y="1847088"/>
            <a:ext cx="108449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margin">
            <a:extLst>
              <a:ext uri="{C183D7F6-B498-43B3-948B-1728B52AA6E4}">
                <adec:decorative xmlns:adec="http://schemas.microsoft.com/office/drawing/2017/decorative" val="1"/>
              </a:ext>
            </a:extLst>
          </p:cNvPr>
          <p:cNvSpPr/>
          <p:nvPr/>
        </p:nvSpPr>
        <p:spPr>
          <a:xfrm>
            <a:off x="3412693"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margin"/>
          <p:cNvSpPr txBox="1"/>
          <p:nvPr/>
        </p:nvSpPr>
        <p:spPr>
          <a:xfrm>
            <a:off x="3577285" y="1962911"/>
            <a:ext cx="90161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margin</a:t>
            </a:r>
          </a:p>
        </p:txBody>
      </p:sp>
      <p:sp>
        <p:nvSpPr>
          <p:cNvPr id="13" name="!!term-maximum-margin">
            <a:extLst>
              <a:ext uri="{C183D7F6-B498-43B3-948B-1728B52AA6E4}">
                <adec:decorative xmlns:adec="http://schemas.microsoft.com/office/drawing/2017/decorative" val="1"/>
              </a:ext>
            </a:extLst>
          </p:cNvPr>
          <p:cNvSpPr/>
          <p:nvPr/>
        </p:nvSpPr>
        <p:spPr>
          <a:xfrm>
            <a:off x="4515479" y="1847088"/>
            <a:ext cx="290054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maximum-margin">
            <a:extLst>
              <a:ext uri="{C183D7F6-B498-43B3-948B-1728B52AA6E4}">
                <adec:decorative xmlns:adec="http://schemas.microsoft.com/office/drawing/2017/decorative" val="1"/>
              </a:ext>
            </a:extLst>
          </p:cNvPr>
          <p:cNvSpPr/>
          <p:nvPr/>
        </p:nvSpPr>
        <p:spPr>
          <a:xfrm>
            <a:off x="4643495"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maximum-margin"/>
          <p:cNvSpPr txBox="1"/>
          <p:nvPr/>
        </p:nvSpPr>
        <p:spPr>
          <a:xfrm>
            <a:off x="4808087" y="1962911"/>
            <a:ext cx="2717664"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maximum-margin classifier</a:t>
            </a:r>
          </a:p>
        </p:txBody>
      </p:sp>
      <p:sp>
        <p:nvSpPr>
          <p:cNvPr id="16" name="!!term-support vector">
            <a:extLst>
              <a:ext uri="{C183D7F6-B498-43B3-948B-1728B52AA6E4}">
                <adec:decorative xmlns:adec="http://schemas.microsoft.com/office/drawing/2017/decorative" val="1"/>
              </a:ext>
            </a:extLst>
          </p:cNvPr>
          <p:cNvSpPr/>
          <p:nvPr/>
        </p:nvSpPr>
        <p:spPr>
          <a:xfrm>
            <a:off x="7562327" y="1847088"/>
            <a:ext cx="186371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support vector">
            <a:extLst>
              <a:ext uri="{C183D7F6-B498-43B3-948B-1728B52AA6E4}">
                <adec:decorative xmlns:adec="http://schemas.microsoft.com/office/drawing/2017/decorative" val="1"/>
              </a:ext>
            </a:extLst>
          </p:cNvPr>
          <p:cNvSpPr/>
          <p:nvPr/>
        </p:nvSpPr>
        <p:spPr>
          <a:xfrm>
            <a:off x="7690343"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support vector"/>
          <p:cNvSpPr txBox="1"/>
          <p:nvPr/>
        </p:nvSpPr>
        <p:spPr>
          <a:xfrm>
            <a:off x="7854935" y="1962911"/>
            <a:ext cx="168083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support vectors</a:t>
            </a:r>
          </a:p>
        </p:txBody>
      </p:sp>
      <p:sp>
        <p:nvSpPr>
          <p:cNvPr id="19" name="!!term-hard margin">
            <a:extLst>
              <a:ext uri="{C183D7F6-B498-43B3-948B-1728B52AA6E4}">
                <adec:decorative xmlns:adec="http://schemas.microsoft.com/office/drawing/2017/decorative" val="1"/>
              </a:ext>
            </a:extLst>
          </p:cNvPr>
          <p:cNvSpPr/>
          <p:nvPr/>
        </p:nvSpPr>
        <p:spPr>
          <a:xfrm>
            <a:off x="9572347" y="1847088"/>
            <a:ext cx="155826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hard margin">
            <a:extLst>
              <a:ext uri="{C183D7F6-B498-43B3-948B-1728B52AA6E4}">
                <adec:decorative xmlns:adec="http://schemas.microsoft.com/office/drawing/2017/decorative" val="1"/>
              </a:ext>
            </a:extLst>
          </p:cNvPr>
          <p:cNvSpPr/>
          <p:nvPr/>
        </p:nvSpPr>
        <p:spPr>
          <a:xfrm>
            <a:off x="9700363"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hard margin"/>
          <p:cNvSpPr txBox="1"/>
          <p:nvPr/>
        </p:nvSpPr>
        <p:spPr>
          <a:xfrm>
            <a:off x="9864955" y="1962911"/>
            <a:ext cx="1375380"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hard margin</a:t>
            </a:r>
          </a:p>
        </p:txBody>
      </p:sp>
      <p:sp>
        <p:nvSpPr>
          <p:cNvPr id="22" name="!!term-soft margin">
            <a:extLst>
              <a:ext uri="{C183D7F6-B498-43B3-948B-1728B52AA6E4}">
                <adec:decorative xmlns:adec="http://schemas.microsoft.com/office/drawing/2017/decorative" val="1"/>
              </a:ext>
            </a:extLst>
          </p:cNvPr>
          <p:cNvSpPr/>
          <p:nvPr/>
        </p:nvSpPr>
        <p:spPr>
          <a:xfrm>
            <a:off x="658368" y="2468880"/>
            <a:ext cx="148576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soft margin">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soft margin"/>
          <p:cNvSpPr txBox="1"/>
          <p:nvPr/>
        </p:nvSpPr>
        <p:spPr>
          <a:xfrm>
            <a:off x="950976" y="2584704"/>
            <a:ext cx="1302880"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soft margin</a:t>
            </a:r>
          </a:p>
        </p:txBody>
      </p:sp>
      <p:sp>
        <p:nvSpPr>
          <p:cNvPr id="25" name="!!term-slack variable">
            <a:extLst>
              <a:ext uri="{C183D7F6-B498-43B3-948B-1728B52AA6E4}">
                <adec:decorative xmlns:adec="http://schemas.microsoft.com/office/drawing/2017/decorative" val="1"/>
              </a:ext>
            </a:extLst>
          </p:cNvPr>
          <p:cNvSpPr/>
          <p:nvPr/>
        </p:nvSpPr>
        <p:spPr>
          <a:xfrm>
            <a:off x="2290432" y="2468880"/>
            <a:ext cx="165093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slack variable">
            <a:extLst>
              <a:ext uri="{C183D7F6-B498-43B3-948B-1728B52AA6E4}">
                <adec:decorative xmlns:adec="http://schemas.microsoft.com/office/drawing/2017/decorative" val="1"/>
              </a:ext>
            </a:extLst>
          </p:cNvPr>
          <p:cNvSpPr/>
          <p:nvPr/>
        </p:nvSpPr>
        <p:spPr>
          <a:xfrm>
            <a:off x="2418448"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slack variable"/>
          <p:cNvSpPr txBox="1"/>
          <p:nvPr/>
        </p:nvSpPr>
        <p:spPr>
          <a:xfrm>
            <a:off x="2583040" y="2584704"/>
            <a:ext cx="1468053"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slack variable</a:t>
            </a:r>
          </a:p>
        </p:txBody>
      </p:sp>
      <p:sp>
        <p:nvSpPr>
          <p:cNvPr id="28" name="!!term-C">
            <a:extLst>
              <a:ext uri="{C183D7F6-B498-43B3-948B-1728B52AA6E4}">
                <adec:decorative xmlns:adec="http://schemas.microsoft.com/office/drawing/2017/decorative" val="1"/>
              </a:ext>
            </a:extLst>
          </p:cNvPr>
          <p:cNvSpPr/>
          <p:nvPr/>
        </p:nvSpPr>
        <p:spPr>
          <a:xfrm>
            <a:off x="4087669" y="2468880"/>
            <a:ext cx="56720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C">
            <a:extLst>
              <a:ext uri="{C183D7F6-B498-43B3-948B-1728B52AA6E4}">
                <adec:decorative xmlns:adec="http://schemas.microsoft.com/office/drawing/2017/decorative" val="1"/>
              </a:ext>
            </a:extLst>
          </p:cNvPr>
          <p:cNvSpPr/>
          <p:nvPr/>
        </p:nvSpPr>
        <p:spPr>
          <a:xfrm>
            <a:off x="4215685"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C"/>
          <p:cNvSpPr txBox="1"/>
          <p:nvPr/>
        </p:nvSpPr>
        <p:spPr>
          <a:xfrm>
            <a:off x="4380277" y="2584704"/>
            <a:ext cx="38432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C</a:t>
            </a:r>
          </a:p>
        </p:txBody>
      </p:sp>
      <p:sp>
        <p:nvSpPr>
          <p:cNvPr id="31" name="!!term-hinge loss">
            <a:extLst>
              <a:ext uri="{C183D7F6-B498-43B3-948B-1728B52AA6E4}">
                <adec:decorative xmlns:adec="http://schemas.microsoft.com/office/drawing/2017/decorative" val="1"/>
              </a:ext>
            </a:extLst>
          </p:cNvPr>
          <p:cNvSpPr/>
          <p:nvPr/>
        </p:nvSpPr>
        <p:spPr>
          <a:xfrm>
            <a:off x="4801182" y="2468880"/>
            <a:ext cx="135833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hinge loss">
            <a:extLst>
              <a:ext uri="{C183D7F6-B498-43B3-948B-1728B52AA6E4}">
                <adec:decorative xmlns:adec="http://schemas.microsoft.com/office/drawing/2017/decorative" val="1"/>
              </a:ext>
            </a:extLst>
          </p:cNvPr>
          <p:cNvSpPr/>
          <p:nvPr/>
        </p:nvSpPr>
        <p:spPr>
          <a:xfrm>
            <a:off x="4929198"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hinge loss"/>
          <p:cNvSpPr txBox="1"/>
          <p:nvPr/>
        </p:nvSpPr>
        <p:spPr>
          <a:xfrm>
            <a:off x="5093790" y="2584704"/>
            <a:ext cx="117545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hinge loss</a:t>
            </a:r>
          </a:p>
        </p:txBody>
      </p:sp>
      <p:sp>
        <p:nvSpPr>
          <p:cNvPr id="34" name="!!term-dual form">
            <a:extLst>
              <a:ext uri="{C183D7F6-B498-43B3-948B-1728B52AA6E4}">
                <adec:decorative xmlns:adec="http://schemas.microsoft.com/office/drawing/2017/decorative" val="1"/>
              </a:ext>
            </a:extLst>
          </p:cNvPr>
          <p:cNvSpPr/>
          <p:nvPr/>
        </p:nvSpPr>
        <p:spPr>
          <a:xfrm>
            <a:off x="6305821" y="2468880"/>
            <a:ext cx="132765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dual form">
            <a:extLst>
              <a:ext uri="{C183D7F6-B498-43B3-948B-1728B52AA6E4}">
                <adec:decorative xmlns:adec="http://schemas.microsoft.com/office/drawing/2017/decorative" val="1"/>
              </a:ext>
            </a:extLst>
          </p:cNvPr>
          <p:cNvSpPr/>
          <p:nvPr/>
        </p:nvSpPr>
        <p:spPr>
          <a:xfrm>
            <a:off x="6433837"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dual form"/>
          <p:cNvSpPr txBox="1"/>
          <p:nvPr/>
        </p:nvSpPr>
        <p:spPr>
          <a:xfrm>
            <a:off x="6598429" y="2584704"/>
            <a:ext cx="1144773"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dual form</a:t>
            </a:r>
          </a:p>
        </p:txBody>
      </p:sp>
      <p:sp>
        <p:nvSpPr>
          <p:cNvPr id="37" name="!!term-feature map">
            <a:extLst>
              <a:ext uri="{C183D7F6-B498-43B3-948B-1728B52AA6E4}">
                <adec:decorative xmlns:adec="http://schemas.microsoft.com/office/drawing/2017/decorative" val="1"/>
              </a:ext>
            </a:extLst>
          </p:cNvPr>
          <p:cNvSpPr/>
          <p:nvPr/>
        </p:nvSpPr>
        <p:spPr>
          <a:xfrm>
            <a:off x="7779779" y="2468880"/>
            <a:ext cx="154835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feature map">
            <a:extLst>
              <a:ext uri="{C183D7F6-B498-43B3-948B-1728B52AA6E4}">
                <adec:decorative xmlns:adec="http://schemas.microsoft.com/office/drawing/2017/decorative" val="1"/>
              </a:ext>
            </a:extLst>
          </p:cNvPr>
          <p:cNvSpPr/>
          <p:nvPr/>
        </p:nvSpPr>
        <p:spPr>
          <a:xfrm>
            <a:off x="7907795"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feature map"/>
          <p:cNvSpPr txBox="1"/>
          <p:nvPr/>
        </p:nvSpPr>
        <p:spPr>
          <a:xfrm>
            <a:off x="8072387" y="2584704"/>
            <a:ext cx="1365474"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feature map</a:t>
            </a:r>
          </a:p>
        </p:txBody>
      </p:sp>
      <p:sp>
        <p:nvSpPr>
          <p:cNvPr id="40" name="!!term-kernel trick">
            <a:extLst>
              <a:ext uri="{C183D7F6-B498-43B3-948B-1728B52AA6E4}">
                <adec:decorative xmlns:adec="http://schemas.microsoft.com/office/drawing/2017/decorative" val="1"/>
              </a:ext>
            </a:extLst>
          </p:cNvPr>
          <p:cNvSpPr/>
          <p:nvPr/>
        </p:nvSpPr>
        <p:spPr>
          <a:xfrm>
            <a:off x="9474437" y="2468880"/>
            <a:ext cx="144635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kernel trick">
            <a:extLst>
              <a:ext uri="{C183D7F6-B498-43B3-948B-1728B52AA6E4}">
                <adec:decorative xmlns:adec="http://schemas.microsoft.com/office/drawing/2017/decorative" val="1"/>
              </a:ext>
            </a:extLst>
          </p:cNvPr>
          <p:cNvSpPr/>
          <p:nvPr/>
        </p:nvSpPr>
        <p:spPr>
          <a:xfrm>
            <a:off x="9602453"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kernel trick"/>
          <p:cNvSpPr txBox="1"/>
          <p:nvPr/>
        </p:nvSpPr>
        <p:spPr>
          <a:xfrm>
            <a:off x="9767045" y="2584704"/>
            <a:ext cx="126347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kernel trick</a:t>
            </a:r>
          </a:p>
        </p:txBody>
      </p:sp>
      <p:sp>
        <p:nvSpPr>
          <p:cNvPr id="43" name="!!term-polynomial ker">
            <a:extLst>
              <a:ext uri="{C183D7F6-B498-43B3-948B-1728B52AA6E4}">
                <adec:decorative xmlns:adec="http://schemas.microsoft.com/office/drawing/2017/decorative" val="1"/>
              </a:ext>
            </a:extLst>
          </p:cNvPr>
          <p:cNvSpPr/>
          <p:nvPr/>
        </p:nvSpPr>
        <p:spPr>
          <a:xfrm>
            <a:off x="658368" y="3090672"/>
            <a:ext cx="207187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polynomial ker">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polynomial ker"/>
          <p:cNvSpPr txBox="1"/>
          <p:nvPr/>
        </p:nvSpPr>
        <p:spPr>
          <a:xfrm>
            <a:off x="950976" y="3206496"/>
            <a:ext cx="1888993"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polynomial kernel</a:t>
            </a:r>
          </a:p>
        </p:txBody>
      </p:sp>
      <p:sp>
        <p:nvSpPr>
          <p:cNvPr id="46" name="!!term-RBF kernel">
            <a:extLst>
              <a:ext uri="{C183D7F6-B498-43B3-948B-1728B52AA6E4}">
                <adec:decorative xmlns:adec="http://schemas.microsoft.com/office/drawing/2017/decorative" val="1"/>
              </a:ext>
            </a:extLst>
          </p:cNvPr>
          <p:cNvSpPr/>
          <p:nvPr/>
        </p:nvSpPr>
        <p:spPr>
          <a:xfrm>
            <a:off x="2876545" y="3090672"/>
            <a:ext cx="139888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RBF kernel">
            <a:extLst>
              <a:ext uri="{C183D7F6-B498-43B3-948B-1728B52AA6E4}">
                <adec:decorative xmlns:adec="http://schemas.microsoft.com/office/drawing/2017/decorative" val="1"/>
              </a:ext>
            </a:extLst>
          </p:cNvPr>
          <p:cNvSpPr/>
          <p:nvPr/>
        </p:nvSpPr>
        <p:spPr>
          <a:xfrm>
            <a:off x="3004561"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RBF kernel"/>
          <p:cNvSpPr txBox="1"/>
          <p:nvPr/>
        </p:nvSpPr>
        <p:spPr>
          <a:xfrm>
            <a:off x="3169153" y="3206496"/>
            <a:ext cx="121600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RBF kernel</a:t>
            </a:r>
          </a:p>
        </p:txBody>
      </p:sp>
      <p:sp>
        <p:nvSpPr>
          <p:cNvPr id="49" name="!!term-γ">
            <a:extLst>
              <a:ext uri="{C183D7F6-B498-43B3-948B-1728B52AA6E4}">
                <adec:decorative xmlns:adec="http://schemas.microsoft.com/office/drawing/2017/decorative" val="1"/>
              </a:ext>
            </a:extLst>
          </p:cNvPr>
          <p:cNvSpPr/>
          <p:nvPr/>
        </p:nvSpPr>
        <p:spPr>
          <a:xfrm>
            <a:off x="4421737" y="3090672"/>
            <a:ext cx="54648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rmd-γ">
            <a:extLst>
              <a:ext uri="{C183D7F6-B498-43B3-948B-1728B52AA6E4}">
                <adec:decorative xmlns:adec="http://schemas.microsoft.com/office/drawing/2017/decorative" val="1"/>
              </a:ext>
            </a:extLst>
          </p:cNvPr>
          <p:cNvSpPr/>
          <p:nvPr/>
        </p:nvSpPr>
        <p:spPr>
          <a:xfrm>
            <a:off x="4549753"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rmt-γ"/>
          <p:cNvSpPr txBox="1"/>
          <p:nvPr/>
        </p:nvSpPr>
        <p:spPr>
          <a:xfrm>
            <a:off x="4714345" y="3206496"/>
            <a:ext cx="363602"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γ</a:t>
            </a:r>
          </a:p>
        </p:txBody>
      </p:sp>
      <p:sp>
        <p:nvSpPr>
          <p:cNvPr id="52" name="!!term-support vector">
            <a:extLst>
              <a:ext uri="{C183D7F6-B498-43B3-948B-1728B52AA6E4}">
                <adec:decorative xmlns:adec="http://schemas.microsoft.com/office/drawing/2017/decorative" val="1"/>
              </a:ext>
            </a:extLst>
          </p:cNvPr>
          <p:cNvSpPr/>
          <p:nvPr/>
        </p:nvSpPr>
        <p:spPr>
          <a:xfrm>
            <a:off x="5114523" y="3090672"/>
            <a:ext cx="278033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rmd-support vector">
            <a:extLst>
              <a:ext uri="{C183D7F6-B498-43B3-948B-1728B52AA6E4}">
                <adec:decorative xmlns:adec="http://schemas.microsoft.com/office/drawing/2017/decorative" val="1"/>
              </a:ext>
            </a:extLst>
          </p:cNvPr>
          <p:cNvSpPr/>
          <p:nvPr/>
        </p:nvSpPr>
        <p:spPr>
          <a:xfrm>
            <a:off x="5242539"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rmt-support vector"/>
          <p:cNvSpPr txBox="1"/>
          <p:nvPr/>
        </p:nvSpPr>
        <p:spPr>
          <a:xfrm>
            <a:off x="5407131" y="3206496"/>
            <a:ext cx="259745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support vector regression</a:t>
            </a:r>
          </a:p>
        </p:txBody>
      </p:sp>
      <p:sp>
        <p:nvSpPr>
          <p:cNvPr id="55" name="!!termnote"/>
          <p:cNvSpPr txBox="1"/>
          <p:nvPr/>
        </p:nvSpPr>
        <p:spPr>
          <a:xfrm>
            <a:off x="658368" y="3913632"/>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5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pfill">
            <a:extLst>
              <a:ext uri="{C183D7F6-B498-43B3-948B-1728B52AA6E4}">
                <adec:decorative xmlns:adec="http://schemas.microsoft.com/office/drawing/2017/decorative" val="1"/>
              </a:ext>
            </a:extLst>
          </p:cNvPr>
          <p:cNvSpPr/>
          <p:nvPr/>
        </p:nvSpPr>
        <p:spPr>
          <a:xfrm>
            <a:off x="0" y="0"/>
            <a:ext cx="106014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91–97     </a:t>
            </a:r>
            <a:fld id="{628431D5-2C37-495F-8D59-919840C38BD6}" type="slidenum">
              <a:rPr lang="en-GB" sz="1000">
                <a:solidFill>
                  <a:srgbClr val="8795A1"/>
                </a:solidFill>
                <a:latin typeface="Segoe UI"/>
              </a:rPr>
              <a:t>5</a:t>
            </a:fld>
          </a:p>
        </p:txBody>
      </p:sp>
      <p:sp>
        <p:nvSpPr>
          <p:cNvPr id="7" name="!!ag0" descr="Go to section 12.1 Which Line?">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12.1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Which Line?</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91  ›</a:t>
            </a:r>
          </a:p>
        </p:txBody>
      </p:sp>
      <p:sp>
        <p:nvSpPr>
          <p:cNvPr id="12" name="!!ag1" descr="Go to section 12.2 The Maximum-Margin Hyperplane">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12.2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Maximum-Margin Hyperplane</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91  ›</a:t>
            </a:r>
          </a:p>
        </p:txBody>
      </p:sp>
      <p:sp>
        <p:nvSpPr>
          <p:cNvPr id="17" name="!!ag2" descr="Go to section 12.3 Soft Margins and the Hinge Loss">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12.3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Soft Margins and the Hinge Loss</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92  ›</a:t>
            </a:r>
          </a:p>
        </p:txBody>
      </p:sp>
      <p:sp>
        <p:nvSpPr>
          <p:cNvPr id="22" name="!!ag3" descr="Go to section 12.4 The Kernel Trick">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12.4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Kernel Trick</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93  ›</a:t>
            </a:r>
          </a:p>
        </p:txBody>
      </p:sp>
      <p:sp>
        <p:nvSpPr>
          <p:cNvPr id="27" name="!!ag4" descr="Go to section 12.5 Practicalities">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12.5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Practicalities</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95  ›</a:t>
            </a:r>
          </a:p>
        </p:txBody>
      </p:sp>
      <p:sp>
        <p:nvSpPr>
          <p:cNvPr id="3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pfill">
            <a:extLst>
              <a:ext uri="{C183D7F6-B498-43B3-948B-1728B52AA6E4}">
                <adec:decorative xmlns:adec="http://schemas.microsoft.com/office/drawing/2017/decorative" val="1"/>
              </a:ext>
            </a:extLst>
          </p:cNvPr>
          <p:cNvSpPr/>
          <p:nvPr/>
        </p:nvSpPr>
        <p:spPr>
          <a:xfrm>
            <a:off x="0" y="0"/>
            <a:ext cx="132518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Which Line?</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§12.1  ·  Handout p. 91     </a:t>
            </a:r>
            <a:fld id="{B86B8A87-8A0A-4E61-89B1-F0681EFDB34C}" type="slidenum">
              <a:rPr lang="en-GB" sz="1000">
                <a:solidFill>
                  <a:srgbClr val="8795A1"/>
                </a:solidFill>
                <a:latin typeface="Segoe UI"/>
              </a:rPr>
              <a:t>6</a:t>
            </a:fld>
          </a:p>
        </p:txBody>
      </p:sp>
      <p:sp>
        <p:nvSpPr>
          <p:cNvPr id="7" name="!!stbar">
            <a:extLst>
              <a:ext uri="{C183D7F6-B498-43B3-948B-1728B52AA6E4}">
                <adec:decorative xmlns:adec="http://schemas.microsoft.com/office/drawing/2017/decorative" val="1"/>
              </a:ext>
            </a:extLst>
          </p:cNvPr>
          <p:cNvSpPr/>
          <p:nvPr/>
        </p:nvSpPr>
        <p:spPr>
          <a:xfrm>
            <a:off x="658368" y="1810512"/>
            <a:ext cx="73152" cy="408432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4166616"/>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When two classes can be separated by a straight line, they can usually be separated by infinitely many. Logistic regression picks the one that maximises likelihood; the perceptron of Chapter 13 picks whichever it reaches first. A </a:t>
            </a:r>
            <a:r>
              <a:rPr sz="2600" b="1" i="0">
                <a:solidFill>
                  <a:srgbClr val="1A5276"/>
                </a:solidFill>
                <a:latin typeface="Segoe UI"/>
              </a:rPr>
              <a:t>support vector machine</a:t>
            </a:r>
            <a:r>
              <a:rPr sz="2600" b="0" i="0">
                <a:solidFill>
                  <a:srgbClr val="1C252B"/>
                </a:solidFill>
                <a:latin typeface="Segoe UI"/>
              </a:rPr>
              <a:t> picks the line that stays as far as possible from the nearest examples of both classes — the one with the widest </a:t>
            </a:r>
            <a:r>
              <a:rPr sz="2600" b="1" i="0">
                <a:solidFill>
                  <a:srgbClr val="1A5276"/>
                </a:solidFill>
                <a:latin typeface="Segoe UI"/>
              </a:rPr>
              <a:t>margin</a:t>
            </a:r>
            <a:r>
              <a:rPr sz="2600" b="0" i="0">
                <a:solidFill>
                  <a:srgbClr val="1C252B"/>
                </a:solidFill>
                <a:latin typeface="Segoe UI"/>
              </a:rPr>
              <a:t>. The intuition is that a boundary with room to spare on both sides is the least likely to be crossed by small perturbations of new data, and the theory agrees: a wider margin gives a tighter bound on the error on unseen data, regardless of the number of features.</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59022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The Maximum-Margin Hyperplane</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BD7C7"/>
                </a:solidFill>
                <a:latin typeface="Segoe UI"/>
              </a:rPr>
              <a:t>SECTION 2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12.2</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12.1   Which Line?</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B7A43"/>
                </a:solidFill>
                <a:latin typeface="Segoe UI"/>
              </a:rPr>
              <a:t>12.2   The Maximum-Margin Hyperplane</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12.3   Soft Margins and the Hinge Loss</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12.4   The Kernel Trick</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12.5   Practicalities</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§12.2     </a:t>
            </a:r>
            <a:fld id="{1814DB4A-4F53-4EFA-A4F3-2423EA3C49A0}" type="slidenum">
              <a:rPr lang="en-GB" sz="1000">
                <a:solidFill>
                  <a:srgbClr val="8795A1"/>
                </a:solidFill>
                <a:latin typeface="Segoe UI"/>
              </a:rPr>
              <a:t>7</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185525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Hyperplane, Margin and Support Vectors</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§12.2  ·  Handout p. 91     </a:t>
            </a:r>
            <a:fld id="{B15E666A-7FF1-4CCC-8868-6FAEF60B5B6B}" type="slidenum">
              <a:rPr lang="en-GB" sz="1000">
                <a:solidFill>
                  <a:srgbClr val="8795A1"/>
                </a:solidFill>
                <a:latin typeface="Segoe UI"/>
              </a:rPr>
              <a:t>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247093"/>
          </a:xfrm>
          <a:prstGeom prst="roundRect">
            <a:avLst>
              <a:gd name="adj" fmla="val 2153"/>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247093"/>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440484"/>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A linear classifier predicts sign</a:t>
            </a:r>
            <a:r>
              <a:rPr sz="2200" b="0" i="0">
                <a:solidFill>
                  <a:srgbClr val="1C252B"/>
                </a:solidFill>
                <a:latin typeface="Cambria"/>
              </a:rPr>
              <a:t>(</a:t>
            </a:r>
            <a:r>
              <a:rPr sz="2200" b="1" i="1">
                <a:solidFill>
                  <a:srgbClr val="1C252B"/>
                </a:solidFill>
                <a:latin typeface="Cambria"/>
              </a:rPr>
              <a:t>w</a:t>
            </a:r>
            <a:r>
              <a:rPr sz="2200" b="0" i="0">
                <a:solidFill>
                  <a:srgbClr val="1C252B"/>
                </a:solidFill>
                <a:latin typeface="Cambria"/>
              </a:rPr>
              <a:t>·</a:t>
            </a:r>
            <a:r>
              <a:rPr sz="2200" b="1" i="1">
                <a:solidFill>
                  <a:srgbClr val="1C252B"/>
                </a:solidFill>
                <a:latin typeface="Cambria"/>
              </a:rPr>
              <a:t>x</a:t>
            </a:r>
            <a:r>
              <a:rPr sz="2200" b="0" i="0">
                <a:solidFill>
                  <a:srgbClr val="1C252B"/>
                </a:solidFill>
                <a:latin typeface="Cambria"/>
              </a:rPr>
              <a:t> + </a:t>
            </a:r>
            <a:r>
              <a:rPr sz="2200" b="0" i="1">
                <a:solidFill>
                  <a:srgbClr val="1C252B"/>
                </a:solidFill>
                <a:latin typeface="Cambria"/>
              </a:rPr>
              <a:t>b</a:t>
            </a:r>
            <a:r>
              <a:rPr sz="2200" b="0" i="0">
                <a:solidFill>
                  <a:srgbClr val="1C252B"/>
                </a:solidFill>
                <a:latin typeface="Cambria"/>
              </a:rPr>
              <a:t>)</a:t>
            </a:r>
            <a:r>
              <a:rPr sz="2200" b="0" i="0">
                <a:solidFill>
                  <a:srgbClr val="1C252B"/>
                </a:solidFill>
                <a:latin typeface="Segoe UI"/>
              </a:rPr>
              <a:t> with labels </a:t>
            </a:r>
            <a:r>
              <a:rPr sz="2200" b="0" i="1">
                <a:solidFill>
                  <a:srgbClr val="1C252B"/>
                </a:solidFill>
                <a:latin typeface="Cambria"/>
              </a:rPr>
              <a:t>y</a:t>
            </a:r>
            <a:r>
              <a:rPr sz="2200" b="0" i="0">
                <a:solidFill>
                  <a:srgbClr val="1C252B"/>
                </a:solidFill>
                <a:latin typeface="Cambria"/>
              </a:rPr>
              <a:t> ∈ {−1, +1}</a:t>
            </a:r>
            <a:r>
              <a:rPr sz="2200" b="0" i="0">
                <a:solidFill>
                  <a:srgbClr val="1C252B"/>
                </a:solidFill>
                <a:latin typeface="Segoe UI"/>
              </a:rPr>
              <a:t>. The distance of a point </a:t>
            </a:r>
            <a:r>
              <a:rPr sz="2200" b="1" i="1">
                <a:solidFill>
                  <a:srgbClr val="1C252B"/>
                </a:solidFill>
                <a:latin typeface="Cambria"/>
              </a:rPr>
              <a:t>x</a:t>
            </a:r>
            <a:r>
              <a:rPr sz="2200" b="0" i="0">
                <a:solidFill>
                  <a:srgbClr val="1C252B"/>
                </a:solidFill>
                <a:latin typeface="Segoe UI"/>
              </a:rPr>
              <a:t> from the hyperplane </a:t>
            </a:r>
            <a:r>
              <a:rPr sz="2200" b="1" i="1">
                <a:solidFill>
                  <a:srgbClr val="1C252B"/>
                </a:solidFill>
                <a:latin typeface="Cambria"/>
              </a:rPr>
              <a:t>w</a:t>
            </a:r>
            <a:r>
              <a:rPr sz="2200" b="0" i="0">
                <a:solidFill>
                  <a:srgbClr val="1C252B"/>
                </a:solidFill>
                <a:latin typeface="Cambria"/>
              </a:rPr>
              <a:t>·</a:t>
            </a:r>
            <a:r>
              <a:rPr sz="2200" b="1" i="1">
                <a:solidFill>
                  <a:srgbClr val="1C252B"/>
                </a:solidFill>
                <a:latin typeface="Cambria"/>
              </a:rPr>
              <a:t>x</a:t>
            </a:r>
            <a:r>
              <a:rPr sz="2200" b="0" i="0">
                <a:solidFill>
                  <a:srgbClr val="1C252B"/>
                </a:solidFill>
                <a:latin typeface="Cambria"/>
              </a:rPr>
              <a:t> + </a:t>
            </a:r>
            <a:r>
              <a:rPr sz="2200" b="0" i="1">
                <a:solidFill>
                  <a:srgbClr val="1C252B"/>
                </a:solidFill>
                <a:latin typeface="Cambria"/>
              </a:rPr>
              <a:t>b</a:t>
            </a:r>
            <a:r>
              <a:rPr sz="2200" b="0" i="0">
                <a:solidFill>
                  <a:srgbClr val="1C252B"/>
                </a:solidFill>
                <a:latin typeface="Cambria"/>
              </a:rPr>
              <a:t> = 0</a:t>
            </a:r>
            <a:r>
              <a:rPr sz="2200" b="0" i="0">
                <a:solidFill>
                  <a:srgbClr val="1C252B"/>
                </a:solidFill>
                <a:latin typeface="Segoe UI"/>
              </a:rPr>
              <a:t> is </a:t>
            </a:r>
            <a:r>
              <a:rPr sz="2200" b="0" i="0">
                <a:solidFill>
                  <a:srgbClr val="1C252B"/>
                </a:solidFill>
                <a:latin typeface="Cambria"/>
              </a:rPr>
              <a:t>|</a:t>
            </a:r>
            <a:r>
              <a:rPr sz="2200" b="1" i="1">
                <a:solidFill>
                  <a:srgbClr val="1C252B"/>
                </a:solidFill>
                <a:latin typeface="Cambria"/>
              </a:rPr>
              <a:t>w</a:t>
            </a:r>
            <a:r>
              <a:rPr sz="2200" b="0" i="0">
                <a:solidFill>
                  <a:srgbClr val="1C252B"/>
                </a:solidFill>
                <a:latin typeface="Cambria"/>
              </a:rPr>
              <a:t>·</a:t>
            </a:r>
            <a:r>
              <a:rPr sz="2200" b="1" i="1">
                <a:solidFill>
                  <a:srgbClr val="1C252B"/>
                </a:solidFill>
                <a:latin typeface="Cambria"/>
              </a:rPr>
              <a:t>x</a:t>
            </a:r>
            <a:r>
              <a:rPr sz="2200" b="0" i="0">
                <a:solidFill>
                  <a:srgbClr val="1C252B"/>
                </a:solidFill>
                <a:latin typeface="Cambria"/>
              </a:rPr>
              <a:t> + </a:t>
            </a:r>
            <a:r>
              <a:rPr sz="2200" b="0" i="1">
                <a:solidFill>
                  <a:srgbClr val="1C252B"/>
                </a:solidFill>
                <a:latin typeface="Cambria"/>
              </a:rPr>
              <a:t>b</a:t>
            </a:r>
            <a:r>
              <a:rPr sz="2200" b="0" i="0">
                <a:solidFill>
                  <a:srgbClr val="1C252B"/>
                </a:solidFill>
                <a:latin typeface="Cambria"/>
              </a:rPr>
              <a:t>| / ‖</a:t>
            </a:r>
            <a:r>
              <a:rPr sz="2200" b="1" i="1">
                <a:solidFill>
                  <a:srgbClr val="1C252B"/>
                </a:solidFill>
                <a:latin typeface="Cambria"/>
              </a:rPr>
              <a:t>w</a:t>
            </a:r>
            <a:r>
              <a:rPr sz="2200" b="0" i="0">
                <a:solidFill>
                  <a:srgbClr val="1C252B"/>
                </a:solidFill>
                <a:latin typeface="Cambria"/>
              </a:rPr>
              <a:t>‖</a:t>
            </a:r>
            <a:r>
              <a:rPr sz="2200" b="0" i="0">
                <a:solidFill>
                  <a:srgbClr val="1C252B"/>
                </a:solidFill>
                <a:latin typeface="Segoe UI"/>
              </a:rPr>
              <a:t>. Scale </a:t>
            </a:r>
            <a:r>
              <a:rPr sz="2200" b="1" i="1">
                <a:solidFill>
                  <a:srgbClr val="1C252B"/>
                </a:solidFill>
                <a:latin typeface="Cambria"/>
              </a:rPr>
              <a:t>w</a:t>
            </a:r>
            <a:r>
              <a:rPr sz="2200" b="0" i="0">
                <a:solidFill>
                  <a:srgbClr val="1C252B"/>
                </a:solidFill>
                <a:latin typeface="Segoe UI"/>
              </a:rPr>
              <a:t> and </a:t>
            </a:r>
            <a:r>
              <a:rPr sz="2200" b="0" i="1">
                <a:solidFill>
                  <a:srgbClr val="1C252B"/>
                </a:solidFill>
                <a:latin typeface="Cambria"/>
              </a:rPr>
              <a:t>b</a:t>
            </a:r>
            <a:r>
              <a:rPr sz="2200" b="0" i="0">
                <a:solidFill>
                  <a:srgbClr val="1C252B"/>
                </a:solidFill>
                <a:latin typeface="Segoe UI"/>
              </a:rPr>
              <a:t> so that the closest points satisfy </a:t>
            </a:r>
            <a:r>
              <a:rPr sz="2200" b="0" i="1">
                <a:solidFill>
                  <a:srgbClr val="1C252B"/>
                </a:solidFill>
                <a:latin typeface="Cambria"/>
              </a:rPr>
              <a:t>y</a:t>
            </a:r>
            <a:r>
              <a:rPr sz="2200" b="0" i="1" baseline="-25000">
                <a:solidFill>
                  <a:srgbClr val="1C252B"/>
                </a:solidFill>
                <a:latin typeface="Cambria"/>
              </a:rPr>
              <a:t>i</a:t>
            </a:r>
            <a:r>
              <a:rPr sz="2200" b="0" i="0">
                <a:solidFill>
                  <a:srgbClr val="1C252B"/>
                </a:solidFill>
                <a:latin typeface="Cambria"/>
              </a:rPr>
              <a:t>(</a:t>
            </a:r>
            <a:r>
              <a:rPr sz="2200" b="1" i="1">
                <a:solidFill>
                  <a:srgbClr val="1C252B"/>
                </a:solidFill>
                <a:latin typeface="Cambria"/>
              </a:rPr>
              <a:t>w</a:t>
            </a:r>
            <a:r>
              <a:rPr sz="2200" b="0" i="0">
                <a:solidFill>
                  <a:srgbClr val="1C252B"/>
                </a:solidFill>
                <a:latin typeface="Cambria"/>
              </a:rPr>
              <a:t>·</a:t>
            </a:r>
            <a:r>
              <a:rPr sz="2200" b="1" i="1">
                <a:solidFill>
                  <a:srgbClr val="1C252B"/>
                </a:solidFill>
                <a:latin typeface="Cambria"/>
              </a:rPr>
              <a:t>x</a:t>
            </a:r>
            <a:r>
              <a:rPr sz="2200" b="0" i="1" baseline="-25000">
                <a:solidFill>
                  <a:srgbClr val="1C252B"/>
                </a:solidFill>
                <a:latin typeface="Cambria"/>
              </a:rPr>
              <a:t>i</a:t>
            </a:r>
            <a:r>
              <a:rPr sz="2200" b="0" i="0">
                <a:solidFill>
                  <a:srgbClr val="1C252B"/>
                </a:solidFill>
                <a:latin typeface="Cambria"/>
              </a:rPr>
              <a:t> + </a:t>
            </a:r>
            <a:r>
              <a:rPr sz="2200" b="0" i="1">
                <a:solidFill>
                  <a:srgbClr val="1C252B"/>
                </a:solidFill>
                <a:latin typeface="Cambria"/>
              </a:rPr>
              <a:t>b</a:t>
            </a:r>
            <a:r>
              <a:rPr sz="2200" b="0" i="0">
                <a:solidFill>
                  <a:srgbClr val="1C252B"/>
                </a:solidFill>
                <a:latin typeface="Cambria"/>
              </a:rPr>
              <a:t>) = 1</a:t>
            </a:r>
            <a:r>
              <a:rPr sz="2200" b="0" i="0">
                <a:solidFill>
                  <a:srgbClr val="1C252B"/>
                </a:solidFill>
                <a:latin typeface="Segoe UI"/>
              </a:rPr>
              <a:t>; then the </a:t>
            </a:r>
            <a:r>
              <a:rPr sz="2200" b="1" i="0">
                <a:solidFill>
                  <a:srgbClr val="1A5276"/>
                </a:solidFill>
                <a:latin typeface="Segoe UI"/>
              </a:rPr>
              <a:t>margin</a:t>
            </a:r>
            <a:r>
              <a:rPr sz="2200" b="0" i="0">
                <a:solidFill>
                  <a:srgbClr val="1C252B"/>
                </a:solidFill>
                <a:latin typeface="Segoe UI"/>
              </a:rPr>
              <a:t> — the width of the empty band between the classes — is </a:t>
            </a:r>
            <a:r>
              <a:rPr sz="2200" b="0" i="0">
                <a:solidFill>
                  <a:srgbClr val="1C252B"/>
                </a:solidFill>
                <a:latin typeface="Cambria"/>
              </a:rPr>
              <a:t>2/‖</a:t>
            </a:r>
            <a:r>
              <a:rPr sz="2200" b="1" i="1">
                <a:solidFill>
                  <a:srgbClr val="1C252B"/>
                </a:solidFill>
                <a:latin typeface="Cambria"/>
              </a:rPr>
              <a:t>w</a:t>
            </a:r>
            <a:r>
              <a:rPr sz="2200" b="0" i="0">
                <a:solidFill>
                  <a:srgbClr val="1C252B"/>
                </a:solidFill>
                <a:latin typeface="Cambria"/>
              </a:rPr>
              <a:t>‖</a:t>
            </a:r>
            <a:r>
              <a:rPr sz="2200" b="0" i="0">
                <a:solidFill>
                  <a:srgbClr val="1C252B"/>
                </a:solidFill>
                <a:latin typeface="Segoe UI"/>
              </a:rPr>
              <a:t>. The hard-margin SVM solves</a:t>
            </a:r>
          </a:p>
        </p:txBody>
      </p:sp>
      <p:pic>
        <p:nvPicPr>
          <p:cNvPr id="10" name="body-1" descr="\min_{\mathbf{w}, b}\ \tfrac{1}{2}\|\mathbf{w}\|^2 \quad\text{subject to}\quad y_i(\mathbf{w}\cdot\mathbf{x}_i + b) \ge 1 \ \text{ for every } i"/>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3596690"/>
            <a:ext cx="10161727" cy="528431"/>
          </a:xfrm>
          <a:prstGeom prst="rect">
            <a:avLst/>
          </a:prstGeom>
        </p:spPr>
      </p:pic>
      <p:sp>
        <p:nvSpPr>
          <p:cNvPr id="11" name="body-2"/>
          <p:cNvSpPr txBox="1"/>
          <p:nvPr/>
        </p:nvSpPr>
        <p:spPr>
          <a:xfrm>
            <a:off x="1060704" y="4278792"/>
            <a:ext cx="10161727" cy="1440484"/>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The training points that lie exactly on the edges of the band are the </a:t>
            </a:r>
            <a:r>
              <a:rPr sz="2200" b="1" i="0">
                <a:solidFill>
                  <a:srgbClr val="1A5276"/>
                </a:solidFill>
                <a:latin typeface="Segoe UI"/>
              </a:rPr>
              <a:t>support vectors</a:t>
            </a:r>
            <a:r>
              <a:rPr sz="2200" b="0" i="0">
                <a:solidFill>
                  <a:srgbClr val="1C252B"/>
                </a:solidFill>
                <a:latin typeface="Segoe UI"/>
              </a:rPr>
              <a:t>. They alone determine the solution: every other point could be moved or deleted, as long as it stayed outside the band, and the hyperplane would not change.</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212029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maximum-margin hyperplane</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B7A43"/>
                </a:solidFill>
                <a:latin typeface="Segoe UI"/>
              </a:rPr>
              <a:t>FIGURE 12.1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§12.2  ·  Handout p. 91     </a:t>
            </a:r>
            <a:fld id="{B6C988E7-EE6E-4F48-B123-0D2FC054DB00}" type="slidenum">
              <a:rPr lang="en-GB" sz="1000">
                <a:solidFill>
                  <a:srgbClr val="8795A1"/>
                </a:solidFill>
                <a:latin typeface="Segoe UI"/>
              </a:rPr>
              <a:t>9</a:t>
            </a:fld>
          </a:p>
        </p:txBody>
      </p:sp>
      <p:pic>
        <p:nvPicPr>
          <p:cNvPr id="6" name="!!figure" descr="Figure 12.1. The maximum-margin hyperplane. The solid line separates the classes; the dashed lines bound the widest empty band; the points on the dashed lines are the support vectors."/>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787770" y="1737360"/>
            <a:ext cx="6616154"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solid line separates the classes; the dashed lines bound the widest empty band; the points on the dashed lines are the support vectors.</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238533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 Maximum-Margin Line by Hand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§12.2  ·  Handout p. 91     </a:t>
            </a:r>
            <a:fld id="{4FE7C2C9-6794-4B34-B722-8BEDF28949F0}" type="slidenum">
              <a:rPr lang="en-GB" sz="1000">
                <a:solidFill>
                  <a:srgbClr val="8795A1"/>
                </a:solidFill>
                <a:latin typeface="Segoe UI"/>
              </a:rPr>
              <a:t>10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63369"/>
          </a:xfrm>
          <a:prstGeom prst="roundRect">
            <a:avLst>
              <a:gd name="adj" fmla="val 2048"/>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6336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616305"/>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The six points of Figure 12.1. The closest opposite-class pair is </a:t>
            </a:r>
            <a:r>
              <a:rPr sz="1800" b="0" i="0">
                <a:solidFill>
                  <a:srgbClr val="1C252B"/>
                </a:solidFill>
                <a:latin typeface="Cambria"/>
              </a:rPr>
              <a:t>(2,2)</a:t>
            </a:r>
            <a:r>
              <a:rPr sz="1800" b="0" i="0">
                <a:solidFill>
                  <a:srgbClr val="1C252B"/>
                </a:solidFill>
                <a:latin typeface="Segoe UI"/>
              </a:rPr>
              <a:t> and </a:t>
            </a:r>
            <a:r>
              <a:rPr sz="1800" b="0" i="0">
                <a:solidFill>
                  <a:srgbClr val="1C252B"/>
                </a:solidFill>
                <a:latin typeface="Cambria"/>
              </a:rPr>
              <a:t>(0,0)</a:t>
            </a:r>
            <a:r>
              <a:rPr sz="1800" b="0" i="0">
                <a:solidFill>
                  <a:srgbClr val="1C252B"/>
                </a:solidFill>
                <a:latin typeface="Segoe UI"/>
              </a:rPr>
              <a:t>, so the boundary is perpendicular to the segment between them: </a:t>
            </a:r>
            <a:r>
              <a:rPr sz="1800" b="1" i="1">
                <a:solidFill>
                  <a:srgbClr val="1C252B"/>
                </a:solidFill>
                <a:latin typeface="Cambria"/>
              </a:rPr>
              <a:t>w</a:t>
            </a:r>
            <a:r>
              <a:rPr sz="1800" b="0" i="0">
                <a:solidFill>
                  <a:srgbClr val="1C252B"/>
                </a:solidFill>
                <a:latin typeface="Cambria"/>
              </a:rPr>
              <a:t> = </a:t>
            </a:r>
            <a:r>
              <a:rPr sz="1800" b="0" i="1">
                <a:solidFill>
                  <a:srgbClr val="1C252B"/>
                </a:solidFill>
                <a:latin typeface="Cambria"/>
              </a:rPr>
              <a:t>a</a:t>
            </a:r>
            <a:r>
              <a:rPr sz="1800" b="0" i="0">
                <a:solidFill>
                  <a:srgbClr val="1C252B"/>
                </a:solidFill>
                <a:latin typeface="Cambria"/>
              </a:rPr>
              <a:t> (1, 1)</a:t>
            </a:r>
            <a:r>
              <a:rPr sz="1800" b="0" i="0">
                <a:solidFill>
                  <a:srgbClr val="1C252B"/>
                </a:solidFill>
                <a:latin typeface="Segoe UI"/>
              </a:rPr>
              <a:t> for some </a:t>
            </a:r>
            <a:r>
              <a:rPr sz="1800" b="0" i="1">
                <a:solidFill>
                  <a:srgbClr val="1C252B"/>
                </a:solidFill>
                <a:latin typeface="Cambria"/>
              </a:rPr>
              <a:t>a</a:t>
            </a:r>
            <a:r>
              <a:rPr sz="1800" b="0" i="0">
                <a:solidFill>
                  <a:srgbClr val="1C252B"/>
                </a:solidFill>
                <a:latin typeface="Cambria"/>
              </a:rPr>
              <a:t> &gt; 0</a:t>
            </a:r>
            <a:r>
              <a:rPr sz="1800" b="0" i="0">
                <a:solidFill>
                  <a:srgbClr val="1C252B"/>
                </a:solidFill>
                <a:latin typeface="Segoe UI"/>
              </a:rPr>
              <a:t>.</a:t>
            </a:r>
          </a:p>
        </p:txBody>
      </p:sp>
      <p:sp>
        <p:nvSpPr>
          <p:cNvPr id="10" name="body-1"/>
          <p:cNvSpPr txBox="1"/>
          <p:nvPr/>
        </p:nvSpPr>
        <p:spPr>
          <a:xfrm>
            <a:off x="1042416" y="2707995"/>
            <a:ext cx="10234879" cy="331012"/>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7D6608"/>
                </a:solidFill>
                <a:latin typeface="Segoe UI"/>
              </a:rPr>
              <a:t>Canonical scaling.</a:t>
            </a:r>
            <a:r>
              <a:rPr sz="1800" b="0" i="0">
                <a:solidFill>
                  <a:srgbClr val="1C252B"/>
                </a:solidFill>
                <a:latin typeface="Segoe UI"/>
              </a:rPr>
              <a:t> Put the support vectors exactly on the margins:</a:t>
            </a:r>
          </a:p>
        </p:txBody>
      </p:sp>
      <p:pic>
        <p:nvPicPr>
          <p:cNvPr id="11" name="body-2" descr="\mathbf{w}\cdot(2,2) + b = 4a + b = +1, \qquad \mathbf{w}\cdot(0,0) + b = b = -1"/>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3119018"/>
            <a:ext cx="10234879" cy="307421"/>
          </a:xfrm>
          <a:prstGeom prst="rect">
            <a:avLst/>
          </a:prstGeom>
        </p:spPr>
      </p:pic>
      <p:sp>
        <p:nvSpPr>
          <p:cNvPr id="12" name="body-3"/>
          <p:cNvSpPr txBox="1"/>
          <p:nvPr/>
        </p:nvSpPr>
        <p:spPr>
          <a:xfrm>
            <a:off x="1042416" y="3552169"/>
            <a:ext cx="10234879" cy="331012"/>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So </a:t>
            </a:r>
            <a:r>
              <a:rPr sz="1800" b="0" i="1">
                <a:solidFill>
                  <a:srgbClr val="1C252B"/>
                </a:solidFill>
                <a:latin typeface="Cambria"/>
              </a:rPr>
              <a:t>b</a:t>
            </a:r>
            <a:r>
              <a:rPr sz="1800" b="0" i="0">
                <a:solidFill>
                  <a:srgbClr val="1C252B"/>
                </a:solidFill>
                <a:latin typeface="Cambria"/>
              </a:rPr>
              <a:t> = −1</a:t>
            </a:r>
            <a:r>
              <a:rPr sz="1800" b="0" i="0">
                <a:solidFill>
                  <a:srgbClr val="1C252B"/>
                </a:solidFill>
                <a:latin typeface="Segoe UI"/>
              </a:rPr>
              <a:t>, </a:t>
            </a:r>
            <a:r>
              <a:rPr sz="1800" b="0" i="1">
                <a:solidFill>
                  <a:srgbClr val="1C252B"/>
                </a:solidFill>
                <a:latin typeface="Cambria"/>
              </a:rPr>
              <a:t>a</a:t>
            </a:r>
            <a:r>
              <a:rPr sz="1800" b="0" i="0">
                <a:solidFill>
                  <a:srgbClr val="1C252B"/>
                </a:solidFill>
                <a:latin typeface="Cambria"/>
              </a:rPr>
              <a:t> = 0.5</a:t>
            </a:r>
            <a:r>
              <a:rPr sz="1800" b="0" i="0">
                <a:solidFill>
                  <a:srgbClr val="1C252B"/>
                </a:solidFill>
                <a:latin typeface="Segoe UI"/>
              </a:rPr>
              <a:t>: </a:t>
            </a:r>
            <a:r>
              <a:rPr sz="1800" b="1" i="1">
                <a:solidFill>
                  <a:srgbClr val="1C252B"/>
                </a:solidFill>
                <a:latin typeface="Cambria"/>
              </a:rPr>
              <a:t>w</a:t>
            </a:r>
            <a:r>
              <a:rPr sz="1800" b="0" i="0">
                <a:solidFill>
                  <a:srgbClr val="1C252B"/>
                </a:solidFill>
                <a:latin typeface="Cambria"/>
              </a:rPr>
              <a:t> = (0.5, 0.5)</a:t>
            </a:r>
            <a:r>
              <a:rPr sz="1800" b="0" i="0">
                <a:solidFill>
                  <a:srgbClr val="1C252B"/>
                </a:solidFill>
                <a:latin typeface="Segoe UI"/>
              </a:rPr>
              <a:t>. The boundary is </a:t>
            </a:r>
            <a:r>
              <a:rPr sz="1800" b="0" i="0">
                <a:solidFill>
                  <a:srgbClr val="1C252B"/>
                </a:solidFill>
                <a:latin typeface="Cambria"/>
              </a:rPr>
              <a:t>0.5</a:t>
            </a:r>
            <a:r>
              <a:rPr sz="1800" b="0" i="1">
                <a:solidFill>
                  <a:srgbClr val="1C252B"/>
                </a:solidFill>
                <a:latin typeface="Cambria"/>
              </a:rPr>
              <a:t>x</a:t>
            </a:r>
            <a:r>
              <a:rPr sz="1800" b="0" i="0" baseline="-25000">
                <a:solidFill>
                  <a:srgbClr val="1C252B"/>
                </a:solidFill>
                <a:latin typeface="Cambria"/>
              </a:rPr>
              <a:t>1</a:t>
            </a:r>
            <a:r>
              <a:rPr sz="1800" b="0" i="0">
                <a:solidFill>
                  <a:srgbClr val="1C252B"/>
                </a:solidFill>
                <a:latin typeface="Cambria"/>
              </a:rPr>
              <a:t> + 0.5</a:t>
            </a:r>
            <a:r>
              <a:rPr sz="1800" b="0" i="1">
                <a:solidFill>
                  <a:srgbClr val="1C252B"/>
                </a:solidFill>
                <a:latin typeface="Cambria"/>
              </a:rPr>
              <a:t>x</a:t>
            </a:r>
            <a:r>
              <a:rPr sz="1800" b="0" i="0" baseline="-25000">
                <a:solidFill>
                  <a:srgbClr val="1C252B"/>
                </a:solidFill>
                <a:latin typeface="Cambria"/>
              </a:rPr>
              <a:t>2</a:t>
            </a:r>
            <a:r>
              <a:rPr sz="1800" b="0" i="0">
                <a:solidFill>
                  <a:srgbClr val="1C252B"/>
                </a:solidFill>
                <a:latin typeface="Cambria"/>
              </a:rPr>
              <a:t> − 1 = 0</a:t>
            </a:r>
            <a:r>
              <a:rPr sz="1800" b="0" i="0">
                <a:solidFill>
                  <a:srgbClr val="1C252B"/>
                </a:solidFill>
                <a:latin typeface="Segoe UI"/>
              </a:rPr>
              <a:t>, i.e. </a:t>
            </a:r>
            <a:r>
              <a:rPr sz="1800" b="0" i="1">
                <a:solidFill>
                  <a:srgbClr val="1C252B"/>
                </a:solidFill>
                <a:latin typeface="Cambria"/>
              </a:rPr>
              <a:t>x</a:t>
            </a:r>
            <a:r>
              <a:rPr sz="1800" b="0" i="0" baseline="-25000">
                <a:solidFill>
                  <a:srgbClr val="1C252B"/>
                </a:solidFill>
                <a:latin typeface="Cambria"/>
              </a:rPr>
              <a:t>1</a:t>
            </a:r>
            <a:r>
              <a:rPr sz="1800" b="0" i="0">
                <a:solidFill>
                  <a:srgbClr val="1C252B"/>
                </a:solidFill>
                <a:latin typeface="Cambria"/>
              </a:rPr>
              <a:t> + </a:t>
            </a:r>
            <a:r>
              <a:rPr sz="1800" b="0" i="1">
                <a:solidFill>
                  <a:srgbClr val="1C252B"/>
                </a:solidFill>
                <a:latin typeface="Cambria"/>
              </a:rPr>
              <a:t>x</a:t>
            </a:r>
            <a:r>
              <a:rPr sz="1800" b="0" i="0" baseline="-25000">
                <a:solidFill>
                  <a:srgbClr val="1C252B"/>
                </a:solidFill>
                <a:latin typeface="Cambria"/>
              </a:rPr>
              <a:t>2</a:t>
            </a:r>
            <a:r>
              <a:rPr sz="1800" b="0" i="0">
                <a:solidFill>
                  <a:srgbClr val="1C252B"/>
                </a:solidFill>
                <a:latin typeface="Cambria"/>
              </a:rPr>
              <a:t> = 2</a:t>
            </a:r>
            <a:r>
              <a:rPr sz="1800" b="0" i="0">
                <a:solidFill>
                  <a:srgbClr val="1C252B"/>
                </a:solidFill>
                <a:latin typeface="Segoe UI"/>
              </a:rPr>
              <a:t>.</a:t>
            </a:r>
          </a:p>
        </p:txBody>
      </p:sp>
      <p:sp>
        <p:nvSpPr>
          <p:cNvPr id="13" name="body-4"/>
          <p:cNvSpPr txBox="1"/>
          <p:nvPr/>
        </p:nvSpPr>
        <p:spPr>
          <a:xfrm>
            <a:off x="1042416" y="3963192"/>
            <a:ext cx="10234879" cy="331012"/>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7D6608"/>
                </a:solidFill>
                <a:latin typeface="Segoe UI"/>
              </a:rPr>
              <a:t>Margin:</a:t>
            </a:r>
            <a:r>
              <a:rPr sz="1800" b="0" i="0">
                <a:solidFill>
                  <a:srgbClr val="1C252B"/>
                </a:solidFill>
                <a:latin typeface="Segoe UI"/>
              </a:rPr>
              <a:t> </a:t>
            </a:r>
            <a:r>
              <a:rPr sz="1800" b="0" i="0">
                <a:solidFill>
                  <a:srgbClr val="1C252B"/>
                </a:solidFill>
                <a:latin typeface="Cambria"/>
              </a:rPr>
              <a:t>‖</a:t>
            </a:r>
            <a:r>
              <a:rPr sz="1800" b="1" i="1">
                <a:solidFill>
                  <a:srgbClr val="1C252B"/>
                </a:solidFill>
                <a:latin typeface="Cambria"/>
              </a:rPr>
              <a:t>w</a:t>
            </a:r>
            <a:r>
              <a:rPr sz="1800" b="0" i="0">
                <a:solidFill>
                  <a:srgbClr val="1C252B"/>
                </a:solidFill>
                <a:latin typeface="Cambria"/>
              </a:rPr>
              <a:t>‖ = √(0.25 + 0.25) = 0.707</a:t>
            </a:r>
            <a:r>
              <a:rPr sz="1800" b="0" i="0">
                <a:solidFill>
                  <a:srgbClr val="1C252B"/>
                </a:solidFill>
                <a:latin typeface="Segoe UI"/>
              </a:rPr>
              <a:t>, so </a:t>
            </a:r>
            <a:r>
              <a:rPr sz="1800" b="0" i="0">
                <a:solidFill>
                  <a:srgbClr val="1C252B"/>
                </a:solidFill>
                <a:latin typeface="Cambria"/>
              </a:rPr>
              <a:t>2/‖</a:t>
            </a:r>
            <a:r>
              <a:rPr sz="1800" b="1" i="1">
                <a:solidFill>
                  <a:srgbClr val="1C252B"/>
                </a:solidFill>
                <a:latin typeface="Cambria"/>
              </a:rPr>
              <a:t>w</a:t>
            </a:r>
            <a:r>
              <a:rPr sz="1800" b="0" i="0">
                <a:solidFill>
                  <a:srgbClr val="1C252B"/>
                </a:solidFill>
                <a:latin typeface="Cambria"/>
              </a:rPr>
              <a:t>‖ = </a:t>
            </a:r>
            <a:r>
              <a:rPr sz="1800" b="1" i="0">
                <a:solidFill>
                  <a:srgbClr val="1C252B"/>
                </a:solidFill>
                <a:latin typeface="Cambria"/>
              </a:rPr>
              <a:t>2.83</a:t>
            </a:r>
            <a:r>
              <a:rPr sz="1800" b="0" i="0">
                <a:solidFill>
                  <a:srgbClr val="1C252B"/>
                </a:solidFill>
                <a:latin typeface="Segoe UI"/>
              </a:rPr>
              <a:t> — exactly the distance from </a:t>
            </a:r>
            <a:r>
              <a:rPr sz="1800" b="0" i="0">
                <a:solidFill>
                  <a:srgbClr val="1C252B"/>
                </a:solidFill>
                <a:latin typeface="Cambria"/>
              </a:rPr>
              <a:t>(0,0)</a:t>
            </a:r>
            <a:r>
              <a:rPr sz="1800" b="0" i="0">
                <a:solidFill>
                  <a:srgbClr val="1C252B"/>
                </a:solidFill>
                <a:latin typeface="Segoe UI"/>
              </a:rPr>
              <a:t> to </a:t>
            </a:r>
            <a:r>
              <a:rPr sz="1800" b="0" i="0">
                <a:solidFill>
                  <a:srgbClr val="1C252B"/>
                </a:solidFill>
                <a:latin typeface="Cambria"/>
              </a:rPr>
              <a:t>(2,2)</a:t>
            </a:r>
            <a:r>
              <a:rPr sz="1800" b="0" i="0">
                <a:solidFill>
                  <a:srgbClr val="1C252B"/>
                </a:solidFill>
                <a:latin typeface="Segoe UI"/>
              </a:rPr>
              <a:t>.</a:t>
            </a:r>
          </a:p>
        </p:txBody>
      </p:sp>
      <p:sp>
        <p:nvSpPr>
          <p:cNvPr id="14" name="body-4bar">
            <a:extLst>
              <a:ext uri="{C183D7F6-B498-43B3-948B-1728B52AA6E4}">
                <adec:decorative xmlns:adec="http://schemas.microsoft.com/office/drawing/2017/decorative" val="1"/>
              </a:ext>
            </a:extLst>
          </p:cNvPr>
          <p:cNvSpPr/>
          <p:nvPr/>
        </p:nvSpPr>
        <p:spPr>
          <a:xfrm>
            <a:off x="841248" y="3981480"/>
            <a:ext cx="54864" cy="267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body-5"/>
          <p:cNvSpPr txBox="1"/>
          <p:nvPr/>
        </p:nvSpPr>
        <p:spPr>
          <a:xfrm>
            <a:off x="1042416" y="4374215"/>
            <a:ext cx="10234879" cy="61630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7D6608"/>
                </a:solidFill>
                <a:latin typeface="Segoe UI"/>
              </a:rPr>
              <a:t>Check the constraints:</a:t>
            </a:r>
            <a:r>
              <a:rPr sz="1800" b="0" i="0">
                <a:solidFill>
                  <a:srgbClr val="1C252B"/>
                </a:solidFill>
                <a:latin typeface="Segoe UI"/>
              </a:rPr>
              <a:t> </a:t>
            </a:r>
            <a:r>
              <a:rPr sz="1800" b="0" i="0">
                <a:solidFill>
                  <a:srgbClr val="1C252B"/>
                </a:solidFill>
                <a:latin typeface="Cambria"/>
              </a:rPr>
              <a:t>(3,2)</a:t>
            </a:r>
            <a:r>
              <a:rPr sz="1800" b="0" i="0">
                <a:solidFill>
                  <a:srgbClr val="1C252B"/>
                </a:solidFill>
                <a:latin typeface="Segoe UI"/>
              </a:rPr>
              <a:t>: </a:t>
            </a:r>
            <a:r>
              <a:rPr sz="1800" b="0" i="1">
                <a:solidFill>
                  <a:srgbClr val="1C252B"/>
                </a:solidFill>
                <a:latin typeface="Cambria"/>
              </a:rPr>
              <a:t>f</a:t>
            </a:r>
            <a:r>
              <a:rPr sz="1800" b="0" i="0">
                <a:solidFill>
                  <a:srgbClr val="1C252B"/>
                </a:solidFill>
                <a:latin typeface="Cambria"/>
              </a:rPr>
              <a:t> = 1.5 ≥ 1</a:t>
            </a:r>
            <a:r>
              <a:rPr sz="1800" b="0" i="0">
                <a:solidFill>
                  <a:srgbClr val="1C252B"/>
                </a:solidFill>
                <a:latin typeface="Segoe UI"/>
              </a:rPr>
              <a:t>; </a:t>
            </a:r>
            <a:r>
              <a:rPr sz="1800" b="0" i="0">
                <a:solidFill>
                  <a:srgbClr val="1C252B"/>
                </a:solidFill>
                <a:latin typeface="Cambria"/>
              </a:rPr>
              <a:t>(2,4)</a:t>
            </a:r>
            <a:r>
              <a:rPr sz="1800" b="0" i="0">
                <a:solidFill>
                  <a:srgbClr val="1C252B"/>
                </a:solidFill>
                <a:latin typeface="Segoe UI"/>
              </a:rPr>
              <a:t>: </a:t>
            </a:r>
            <a:r>
              <a:rPr sz="1800" b="0" i="1">
                <a:solidFill>
                  <a:srgbClr val="1C252B"/>
                </a:solidFill>
                <a:latin typeface="Cambria"/>
              </a:rPr>
              <a:t>f</a:t>
            </a:r>
            <a:r>
              <a:rPr sz="1800" b="0" i="0">
                <a:solidFill>
                  <a:srgbClr val="1C252B"/>
                </a:solidFill>
                <a:latin typeface="Cambria"/>
              </a:rPr>
              <a:t> = 2 ≥ 1</a:t>
            </a:r>
            <a:r>
              <a:rPr sz="1800" b="0" i="0">
                <a:solidFill>
                  <a:srgbClr val="1C252B"/>
                </a:solidFill>
                <a:latin typeface="Segoe UI"/>
              </a:rPr>
              <a:t>; </a:t>
            </a:r>
            <a:r>
              <a:rPr sz="1800" b="0" i="0">
                <a:solidFill>
                  <a:srgbClr val="1C252B"/>
                </a:solidFill>
                <a:latin typeface="Cambria"/>
              </a:rPr>
              <a:t>(−1,−1)</a:t>
            </a:r>
            <a:r>
              <a:rPr sz="1800" b="0" i="0">
                <a:solidFill>
                  <a:srgbClr val="1C252B"/>
                </a:solidFill>
                <a:latin typeface="Segoe UI"/>
              </a:rPr>
              <a:t>: </a:t>
            </a:r>
            <a:r>
              <a:rPr sz="1800" b="0" i="1">
                <a:solidFill>
                  <a:srgbClr val="1C252B"/>
                </a:solidFill>
                <a:latin typeface="Cambria"/>
              </a:rPr>
              <a:t>f</a:t>
            </a:r>
            <a:r>
              <a:rPr sz="1800" b="0" i="0">
                <a:solidFill>
                  <a:srgbClr val="1C252B"/>
                </a:solidFill>
                <a:latin typeface="Cambria"/>
              </a:rPr>
              <a:t> = −2 ≤ −1</a:t>
            </a:r>
            <a:r>
              <a:rPr sz="1800" b="0" i="0">
                <a:solidFill>
                  <a:srgbClr val="1C252B"/>
                </a:solidFill>
                <a:latin typeface="Segoe UI"/>
              </a:rPr>
              <a:t>; </a:t>
            </a:r>
            <a:r>
              <a:rPr sz="1800" b="0" i="0">
                <a:solidFill>
                  <a:srgbClr val="1C252B"/>
                </a:solidFill>
                <a:latin typeface="Cambria"/>
              </a:rPr>
              <a:t>(1,−2)</a:t>
            </a:r>
            <a:r>
              <a:rPr sz="1800" b="0" i="0">
                <a:solidFill>
                  <a:srgbClr val="1C252B"/>
                </a:solidFill>
                <a:latin typeface="Segoe UI"/>
              </a:rPr>
              <a:t>: </a:t>
            </a:r>
            <a:r>
              <a:rPr sz="1800" b="0" i="1">
                <a:solidFill>
                  <a:srgbClr val="1C252B"/>
                </a:solidFill>
                <a:latin typeface="Cambria"/>
              </a:rPr>
              <a:t>f</a:t>
            </a:r>
            <a:r>
              <a:rPr sz="1800" b="0" i="0">
                <a:solidFill>
                  <a:srgbClr val="1C252B"/>
                </a:solidFill>
                <a:latin typeface="Cambria"/>
              </a:rPr>
              <a:t> = −1.5 ≤ −1</a:t>
            </a:r>
            <a:r>
              <a:rPr sz="1800" b="0" i="0">
                <a:solidFill>
                  <a:srgbClr val="1C252B"/>
                </a:solidFill>
                <a:latin typeface="Segoe UI"/>
              </a:rPr>
              <a:t>. All satisfied.</a:t>
            </a:r>
          </a:p>
        </p:txBody>
      </p:sp>
      <p:sp>
        <p:nvSpPr>
          <p:cNvPr id="16" name="body-5bar">
            <a:extLst>
              <a:ext uri="{C183D7F6-B498-43B3-948B-1728B52AA6E4}">
                <adec:decorative xmlns:adec="http://schemas.microsoft.com/office/drawing/2017/decorative" val="1"/>
              </a:ext>
            </a:extLst>
          </p:cNvPr>
          <p:cNvSpPr/>
          <p:nvPr/>
        </p:nvSpPr>
        <p:spPr>
          <a:xfrm>
            <a:off x="841248" y="4392503"/>
            <a:ext cx="54864" cy="552297"/>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body-6"/>
          <p:cNvSpPr txBox="1"/>
          <p:nvPr/>
        </p:nvSpPr>
        <p:spPr>
          <a:xfrm>
            <a:off x="1042416" y="5070530"/>
            <a:ext cx="10234879" cy="901598"/>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7D6608"/>
                </a:solidFill>
                <a:latin typeface="Segoe UI"/>
              </a:rPr>
              <a:t>Classify</a:t>
            </a:r>
            <a:r>
              <a:rPr sz="1800" b="0" i="0">
                <a:solidFill>
                  <a:srgbClr val="1C252B"/>
                </a:solidFill>
                <a:latin typeface="Segoe UI"/>
              </a:rPr>
              <a:t> </a:t>
            </a:r>
            <a:r>
              <a:rPr sz="1800" b="0" i="0">
                <a:solidFill>
                  <a:srgbClr val="1C252B"/>
                </a:solidFill>
                <a:latin typeface="Cambria"/>
              </a:rPr>
              <a:t>(1.5, 1)</a:t>
            </a:r>
            <a:r>
              <a:rPr sz="1800" b="0" i="0">
                <a:solidFill>
                  <a:srgbClr val="1C252B"/>
                </a:solidFill>
                <a:latin typeface="Segoe UI"/>
              </a:rPr>
              <a:t>: </a:t>
            </a:r>
            <a:r>
              <a:rPr sz="1800" b="0" i="1">
                <a:solidFill>
                  <a:srgbClr val="1C252B"/>
                </a:solidFill>
                <a:latin typeface="Cambria"/>
              </a:rPr>
              <a:t>f</a:t>
            </a:r>
            <a:r>
              <a:rPr sz="1800" b="0" i="0">
                <a:solidFill>
                  <a:srgbClr val="1C252B"/>
                </a:solidFill>
                <a:latin typeface="Cambria"/>
              </a:rPr>
              <a:t> = 0.75 + 0.5 − 1 = 0.25 &gt; 0</a:t>
            </a:r>
            <a:r>
              <a:rPr sz="1800" b="0" i="0">
                <a:solidFill>
                  <a:srgbClr val="1C252B"/>
                </a:solidFill>
                <a:latin typeface="Segoe UI"/>
              </a:rPr>
              <a:t>, so </a:t>
            </a:r>
            <a:r>
              <a:rPr sz="1800" b="1" i="0">
                <a:solidFill>
                  <a:srgbClr val="1C252B"/>
                </a:solidFill>
                <a:latin typeface="Segoe UI"/>
              </a:rPr>
              <a:t>positive</a:t>
            </a:r>
            <a:r>
              <a:rPr sz="1800" b="0" i="0">
                <a:solidFill>
                  <a:srgbClr val="1C252B"/>
                </a:solidFill>
                <a:latin typeface="Segoe UI"/>
              </a:rPr>
              <a:t>, at distance </a:t>
            </a:r>
            <a:r>
              <a:rPr sz="1800" b="0" i="0">
                <a:solidFill>
                  <a:srgbClr val="1C252B"/>
                </a:solidFill>
                <a:latin typeface="Cambria"/>
              </a:rPr>
              <a:t>0.25/0.707 = 0.35</a:t>
            </a:r>
            <a:r>
              <a:rPr sz="1800" b="0" i="0">
                <a:solidFill>
                  <a:srgbClr val="1C252B"/>
                </a:solidFill>
                <a:latin typeface="Segoe UI"/>
              </a:rPr>
              <a:t> from the boundary — inside the margin band, so a point the SVM is not confident about. scikit-learn’s </a:t>
            </a:r>
            <a:r>
              <a:rPr sz="1700" b="0" i="0">
                <a:solidFill>
                  <a:srgbClr val="1F4E79"/>
                </a:solidFill>
                <a:latin typeface="Consolas"/>
              </a:rPr>
              <a:t>SVC</a:t>
            </a:r>
            <a:r>
              <a:rPr sz="1800" b="0" i="0">
                <a:solidFill>
                  <a:srgbClr val="1C252B"/>
                </a:solidFill>
                <a:latin typeface="Segoe UI"/>
              </a:rPr>
              <a:t> returns the same </a:t>
            </a:r>
            <a:r>
              <a:rPr sz="1800" b="1" i="1">
                <a:solidFill>
                  <a:srgbClr val="1C252B"/>
                </a:solidFill>
                <a:latin typeface="Cambria"/>
              </a:rPr>
              <a:t>w</a:t>
            </a:r>
            <a:r>
              <a:rPr sz="1800" b="0" i="0">
                <a:solidFill>
                  <a:srgbClr val="1C252B"/>
                </a:solidFill>
                <a:latin typeface="Segoe UI"/>
              </a:rPr>
              <a:t>, </a:t>
            </a:r>
            <a:r>
              <a:rPr sz="1800" b="0" i="1">
                <a:solidFill>
                  <a:srgbClr val="1C252B"/>
                </a:solidFill>
                <a:latin typeface="Cambria"/>
              </a:rPr>
              <a:t>b</a:t>
            </a:r>
            <a:r>
              <a:rPr sz="1800" b="0" i="0">
                <a:solidFill>
                  <a:srgbClr val="1C252B"/>
                </a:solidFill>
                <a:latin typeface="Segoe UI"/>
              </a:rPr>
              <a:t> and support vectors (this chapter’s lab).</a:t>
            </a:r>
          </a:p>
        </p:txBody>
      </p:sp>
      <p:sp>
        <p:nvSpPr>
          <p:cNvPr id="18" name="body-6bar">
            <a:extLst>
              <a:ext uri="{C183D7F6-B498-43B3-948B-1728B52AA6E4}">
                <adec:decorative xmlns:adec="http://schemas.microsoft.com/office/drawing/2017/decorative" val="1"/>
              </a:ext>
            </a:extLst>
          </p:cNvPr>
          <p:cNvSpPr/>
          <p:nvPr/>
        </p:nvSpPr>
        <p:spPr>
          <a:xfrm>
            <a:off x="841248" y="5088818"/>
            <a:ext cx="54864" cy="837590"/>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pfill">
            <a:extLst>
              <a:ext uri="{C183D7F6-B498-43B3-948B-1728B52AA6E4}">
                <adec:decorative xmlns:adec="http://schemas.microsoft.com/office/drawing/2017/decorative" val="1"/>
              </a:ext>
            </a:extLst>
          </p:cNvPr>
          <p:cNvSpPr/>
          <p:nvPr/>
        </p:nvSpPr>
        <p:spPr>
          <a:xfrm>
            <a:off x="0" y="0"/>
            <a:ext cx="265036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right)">
                                      <p:cBhvr>
                                        <p:cTn id="18" dur="42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wipe(right)">
                                      <p:cBhvr>
                                        <p:cTn id="23" dur="420"/>
                                        <p:tgtEl>
                                          <p:spTgt spid="1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420"/>
                                        <p:tgtEl>
                                          <p:spTgt spid="13"/>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wipe(right)">
                                      <p:cBhvr>
                                        <p:cTn id="31" dur="420"/>
                                        <p:tgtEl>
                                          <p:spTgt spid="1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420"/>
                                        <p:tgtEl>
                                          <p:spTgt spid="15"/>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wipe(right)">
                                      <p:cBhvr>
                                        <p:cTn id="39" dur="420"/>
                                        <p:tgtEl>
                                          <p:spTgt spid="1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7"/>
                                        </p:tgtEl>
                                        <p:attrNameLst>
                                          <p:attrName>style.visibility</p:attrName>
                                        </p:attrNameLst>
                                      </p:cBhvr>
                                      <p:to>
                                        <p:strVal val="visible"/>
                                      </p:to>
                                    </p:set>
                                    <p:animEffect transition="in" filter="fade">
                                      <p:cBhvr>
                                        <p:cTn id="42" dur="4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Soft Margins and the Hinge Loss</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BD7C7"/>
                </a:solidFill>
                <a:latin typeface="Segoe UI"/>
              </a:rPr>
              <a:t>SECTION 3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12.3</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12.1   Which Line?</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12.2   The Maximum-Margin Hyperplane</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B7A43"/>
                </a:solidFill>
                <a:latin typeface="Segoe UI"/>
              </a:rPr>
              <a:t>12.3   Soft Margins and the Hinge Loss</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12.4   The Kernel Trick</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12.5   Practicalities</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§12.3     </a:t>
            </a:r>
            <a:fld id="{38675E4A-9C9E-486F-9858-B27E9FDA88EE}" type="slidenum">
              <a:rPr lang="en-GB" sz="1000">
                <a:solidFill>
                  <a:srgbClr val="8795A1"/>
                </a:solidFill>
                <a:latin typeface="Segoe UI"/>
              </a:rPr>
              <a:t>11</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291540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Soft Margins and the Hinge Loss</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§12.3  ·  Handout p. 92     </a:t>
            </a:r>
            <a:fld id="{819E17FC-547B-411E-A9BC-B9BB6D9D8BBF}" type="slidenum">
              <a:rPr lang="en-GB" sz="1000">
                <a:solidFill>
                  <a:srgbClr val="8795A1"/>
                </a:solidFill>
                <a:latin typeface="Segoe UI"/>
              </a:rPr>
              <a:t>12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032663"/>
          </a:xfrm>
          <a:prstGeom prst="roundRect">
            <a:avLst>
              <a:gd name="adj" fmla="val 3015"/>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032663"/>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Real data is rarely separable, and even when it is, one mislabelled point can drag the hard-margin boundary into a bad place. The </a:t>
            </a:r>
            <a:r>
              <a:rPr sz="2300" b="1" i="0">
                <a:solidFill>
                  <a:srgbClr val="1A5276"/>
                </a:solidFill>
                <a:latin typeface="Segoe UI"/>
              </a:rPr>
              <a:t>soft-margin</a:t>
            </a:r>
            <a:r>
              <a:rPr sz="2300" b="0" i="0">
                <a:solidFill>
                  <a:srgbClr val="1C252B"/>
                </a:solidFill>
                <a:latin typeface="Segoe UI"/>
              </a:rPr>
              <a:t> SVM lets points violate the margin at a price. Each point gets a </a:t>
            </a:r>
            <a:r>
              <a:rPr sz="2300" b="1" i="0">
                <a:solidFill>
                  <a:srgbClr val="1A5276"/>
                </a:solidFill>
                <a:latin typeface="Segoe UI"/>
              </a:rPr>
              <a:t>slack variable</a:t>
            </a:r>
            <a:r>
              <a:rPr sz="2300" b="0" i="0">
                <a:solidFill>
                  <a:srgbClr val="1C252B"/>
                </a:solidFill>
                <a:latin typeface="Segoe UI"/>
              </a:rPr>
              <a:t> </a:t>
            </a:r>
            <a:r>
              <a:rPr sz="2300" b="0" i="0">
                <a:solidFill>
                  <a:srgbClr val="1C252B"/>
                </a:solidFill>
                <a:latin typeface="Cambria"/>
              </a:rPr>
              <a:t>ξ</a:t>
            </a:r>
            <a:r>
              <a:rPr sz="2300" b="0" i="1" baseline="-25000">
                <a:solidFill>
                  <a:srgbClr val="1C252B"/>
                </a:solidFill>
                <a:latin typeface="Cambria"/>
              </a:rPr>
              <a:t>i</a:t>
            </a:r>
            <a:r>
              <a:rPr sz="2300" b="0" i="0">
                <a:solidFill>
                  <a:srgbClr val="1C252B"/>
                </a:solidFill>
                <a:latin typeface="Cambria"/>
              </a:rPr>
              <a:t> ≥ 0</a:t>
            </a:r>
            <a:r>
              <a:rPr sz="2300" b="0" i="0">
                <a:solidFill>
                  <a:srgbClr val="1C252B"/>
                </a:solidFill>
                <a:latin typeface="Segoe UI"/>
              </a:rPr>
              <a:t> measuring how far it is on the wrong side of its margin:</a:t>
            </a:r>
          </a:p>
        </p:txBody>
      </p:sp>
      <p:pic>
        <p:nvPicPr>
          <p:cNvPr id="10" name="body-1" descr="\min_{\mathbf{w}, b, \boldsymbol{\xi}}\ \tfrac{1}{2}\|\mathbf{w}\|^2 + C\sum_i \xi_i \quad\text{subject to}\quad y_i(\mathbf{w}\cdot\mathbf{x}_i + b) \ge 1 - \xi_i"/>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3667074"/>
            <a:ext cx="10161727" cy="792053"/>
          </a:xfrm>
          <a:prstGeom prst="rect">
            <a:avLst/>
          </a:prstGeom>
        </p:spPr>
      </p:pic>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318044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Hinge Loss</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§12.3  ·  Handout p. 92     </a:t>
            </a:r>
            <a:fld id="{DA5A729B-19C7-4FF0-BE0D-DB3B385969E4}" type="slidenum">
              <a:rPr lang="en-GB" sz="1000">
                <a:solidFill>
                  <a:srgbClr val="8795A1"/>
                </a:solidFill>
                <a:latin typeface="Segoe UI"/>
              </a:rPr>
              <a:t>13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011035"/>
          </a:xfrm>
          <a:prstGeom prst="roundRect">
            <a:avLst>
              <a:gd name="adj" fmla="val 2279"/>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011035"/>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At the optimum each slack equals </a:t>
            </a:r>
            <a:r>
              <a:rPr sz="2300" b="0" i="0">
                <a:solidFill>
                  <a:srgbClr val="1C252B"/>
                </a:solidFill>
                <a:latin typeface="Cambria"/>
              </a:rPr>
              <a:t>max(0, 1 − </a:t>
            </a:r>
            <a:r>
              <a:rPr sz="2300" b="0" i="1">
                <a:solidFill>
                  <a:srgbClr val="1C252B"/>
                </a:solidFill>
                <a:latin typeface="Cambria"/>
              </a:rPr>
              <a:t>y</a:t>
            </a:r>
            <a:r>
              <a:rPr sz="2300" b="0" i="1" baseline="-25000">
                <a:solidFill>
                  <a:srgbClr val="1C252B"/>
                </a:solidFill>
                <a:latin typeface="Cambria"/>
              </a:rPr>
              <a:t>i</a:t>
            </a:r>
            <a:r>
              <a:rPr sz="2300" b="0" i="0">
                <a:solidFill>
                  <a:srgbClr val="1C252B"/>
                </a:solidFill>
                <a:latin typeface="Cambria"/>
              </a:rPr>
              <a:t> </a:t>
            </a:r>
            <a:r>
              <a:rPr sz="2300" b="0" i="1">
                <a:solidFill>
                  <a:srgbClr val="1C252B"/>
                </a:solidFill>
                <a:latin typeface="Cambria"/>
              </a:rPr>
              <a:t>f</a:t>
            </a:r>
            <a:r>
              <a:rPr sz="2300" b="0" i="0">
                <a:solidFill>
                  <a:srgbClr val="1C252B"/>
                </a:solidFill>
                <a:latin typeface="Cambria"/>
              </a:rPr>
              <a:t>(</a:t>
            </a:r>
            <a:r>
              <a:rPr sz="2300" b="1" i="1">
                <a:solidFill>
                  <a:srgbClr val="1C252B"/>
                </a:solidFill>
                <a:latin typeface="Cambria"/>
              </a:rPr>
              <a:t>x</a:t>
            </a:r>
            <a:r>
              <a:rPr sz="2300" b="0" i="1" baseline="-25000">
                <a:solidFill>
                  <a:srgbClr val="1C252B"/>
                </a:solidFill>
                <a:latin typeface="Cambria"/>
              </a:rPr>
              <a:t>i</a:t>
            </a:r>
            <a:r>
              <a:rPr sz="2300" b="0" i="0">
                <a:solidFill>
                  <a:srgbClr val="1C252B"/>
                </a:solidFill>
                <a:latin typeface="Cambria"/>
              </a:rPr>
              <a:t>))</a:t>
            </a:r>
            <a:r>
              <a:rPr sz="2300" b="0" i="0">
                <a:solidFill>
                  <a:srgbClr val="1C252B"/>
                </a:solidFill>
                <a:latin typeface="Segoe UI"/>
              </a:rPr>
              <a:t>, so the soft-margin SVM is equivalent to minimising</a:t>
            </a:r>
          </a:p>
        </p:txBody>
      </p:sp>
      <p:pic>
        <p:nvPicPr>
          <p:cNvPr id="10" name="body-1" descr="\underbrace{\sum_i \max\big(0,\ 1 - y_i f(\mathbf{x}_i)\big)}_{\text{hinge loss}} \;+\; \frac{1}{2C}\|\mathbf{w}\|^2"/>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937992"/>
            <a:ext cx="10161727" cy="1245229"/>
          </a:xfrm>
          <a:prstGeom prst="rect">
            <a:avLst/>
          </a:prstGeom>
        </p:spPr>
      </p:pic>
      <p:sp>
        <p:nvSpPr>
          <p:cNvPr id="11" name="body-2"/>
          <p:cNvSpPr txBox="1"/>
          <p:nvPr/>
        </p:nvSpPr>
        <p:spPr>
          <a:xfrm>
            <a:off x="1060704" y="4343877"/>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 a loss plus an L2 penalty, the same shape as regularised logistic regression with the cross-entropy replaced by the </a:t>
            </a:r>
            <a:r>
              <a:rPr sz="2300" b="1" i="0">
                <a:solidFill>
                  <a:srgbClr val="1A5276"/>
                </a:solidFill>
                <a:latin typeface="Segoe UI"/>
              </a:rPr>
              <a:t>hinge</a:t>
            </a:r>
            <a:r>
              <a:rPr sz="2300" b="0" i="0">
                <a:solidFill>
                  <a:srgbClr val="1C252B"/>
                </a:solidFill>
                <a:latin typeface="Segoe UI"/>
              </a:rPr>
              <a:t>. Points beyond the margin on the correct side cost nothing.</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344547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Three losses as a function of y f(x), positive when the example is correctly classified</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B7A43"/>
                </a:solidFill>
                <a:latin typeface="Segoe UI"/>
              </a:rPr>
              <a:t>FIGURE 12.2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§12.3  ·  Handout p. 92     </a:t>
            </a:r>
            <a:fld id="{8C1A7489-725D-4FE4-A275-697A24208002}" type="slidenum">
              <a:rPr lang="en-GB" sz="1000">
                <a:solidFill>
                  <a:srgbClr val="8795A1"/>
                </a:solidFill>
                <a:latin typeface="Segoe UI"/>
              </a:rPr>
              <a:t>14</a:t>
            </a:fld>
          </a:p>
        </p:txBody>
      </p:sp>
      <p:pic>
        <p:nvPicPr>
          <p:cNvPr id="6" name="!!figure" descr="Figure 12.2. Three losses as a function of y f(x), positive when the example is correctly classified. The hinge is exactly zero for points beyond the margin, which is why only support vectors affect the SVM; the logistic loss is never quite zero."/>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720182" y="1737360"/>
            <a:ext cx="6751329"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hinge is exactly zero for points beyond the margin, which is why only support vectors affect the SVM; the logistic loss is never quite zero.</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371051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Hinge Losses</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§12.3  ·  Handout p. 92     </a:t>
            </a:r>
            <a:fld id="{4CB4156D-C0D8-4EA3-9A17-9849CCE6AB39}" type="slidenum">
              <a:rPr lang="en-GB" sz="1000">
                <a:solidFill>
                  <a:srgbClr val="8795A1"/>
                </a:solidFill>
                <a:latin typeface="Segoe UI"/>
              </a:rPr>
              <a:t>15</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784777"/>
          </a:xfrm>
          <a:prstGeom prst="roundRect">
            <a:avLst>
              <a:gd name="adj" fmla="val 2415"/>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784777"/>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78561"/>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Four training points have margins </a:t>
            </a:r>
            <a:r>
              <a:rPr sz="2100" b="0" i="1">
                <a:solidFill>
                  <a:srgbClr val="1C252B"/>
                </a:solidFill>
                <a:latin typeface="Cambria"/>
              </a:rPr>
              <a:t>y</a:t>
            </a:r>
            <a:r>
              <a:rPr sz="2100" b="0" i="0">
                <a:solidFill>
                  <a:srgbClr val="1C252B"/>
                </a:solidFill>
                <a:latin typeface="Cambria"/>
              </a:rPr>
              <a:t> </a:t>
            </a:r>
            <a:r>
              <a:rPr sz="2100" b="0" i="1">
                <a:solidFill>
                  <a:srgbClr val="1C252B"/>
                </a:solidFill>
                <a:latin typeface="Cambria"/>
              </a:rPr>
              <a:t>f</a:t>
            </a:r>
            <a:r>
              <a:rPr sz="2100" b="0" i="0">
                <a:solidFill>
                  <a:srgbClr val="1C252B"/>
                </a:solidFill>
                <a:latin typeface="Cambria"/>
              </a:rPr>
              <a:t>(</a:t>
            </a:r>
            <a:r>
              <a:rPr sz="2100" b="1" i="1">
                <a:solidFill>
                  <a:srgbClr val="1C252B"/>
                </a:solidFill>
                <a:latin typeface="Cambria"/>
              </a:rPr>
              <a:t>x</a:t>
            </a:r>
            <a:r>
              <a:rPr sz="2100" b="0" i="0">
                <a:solidFill>
                  <a:srgbClr val="1C252B"/>
                </a:solidFill>
                <a:latin typeface="Cambria"/>
              </a:rPr>
              <a:t>) = 2, 1, 0.5, −0.5</a:t>
            </a:r>
            <a:r>
              <a:rPr sz="2100" b="0" i="0">
                <a:solidFill>
                  <a:srgbClr val="1C252B"/>
                </a:solidFill>
                <a:latin typeface="Segoe UI"/>
              </a:rPr>
              <a:t>:</a:t>
            </a:r>
          </a:p>
        </p:txBody>
      </p:sp>
      <p:sp>
        <p:nvSpPr>
          <p:cNvPr id="10" name="body-1"/>
          <p:cNvSpPr txBox="1"/>
          <p:nvPr/>
        </p:nvSpPr>
        <p:spPr>
          <a:xfrm>
            <a:off x="1042416" y="2491206"/>
            <a:ext cx="10234879" cy="1657121"/>
          </a:xfrm>
          <a:prstGeom prst="rect">
            <a:avLst/>
          </a:prstGeom>
          <a:noFill/>
        </p:spPr>
        <p:txBody>
          <a:bodyPr wrap="square" anchor="t" lIns="0" rIns="0" tIns="0" bIns="0">
            <a:noAutofit/>
          </a:bodyPr>
          <a:lstStyle/>
          <a:p>
            <a:pPr algn="l" marL="234813" indent="-234813">
              <a:lnSpc>
                <a:spcPct val="104000"/>
              </a:lnSpc>
              <a:spcBef>
                <a:spcPts val="0"/>
              </a:spcBef>
              <a:spcAft>
                <a:spcPts val="735"/>
              </a:spcAft>
            </a:pPr>
            <a:r>
              <a:rPr sz="2100" b="1">
                <a:solidFill>
                  <a:srgbClr val="7D6608"/>
                </a:solidFill>
                <a:latin typeface="Segoe UI"/>
              </a:rPr>
              <a:t>•	</a:t>
            </a:r>
            <a:r>
              <a:rPr sz="2100" b="0" i="1">
                <a:solidFill>
                  <a:srgbClr val="1C252B"/>
                </a:solidFill>
                <a:latin typeface="Cambria"/>
              </a:rPr>
              <a:t>y</a:t>
            </a:r>
            <a:r>
              <a:rPr sz="2100" b="0" i="0">
                <a:solidFill>
                  <a:srgbClr val="1C252B"/>
                </a:solidFill>
                <a:latin typeface="Cambria"/>
              </a:rPr>
              <a:t> </a:t>
            </a:r>
            <a:r>
              <a:rPr sz="2100" b="0" i="1">
                <a:solidFill>
                  <a:srgbClr val="1C252B"/>
                </a:solidFill>
                <a:latin typeface="Cambria"/>
              </a:rPr>
              <a:t>f</a:t>
            </a:r>
            <a:r>
              <a:rPr sz="2100" b="0" i="0">
                <a:solidFill>
                  <a:srgbClr val="1C252B"/>
                </a:solidFill>
                <a:latin typeface="Cambria"/>
              </a:rPr>
              <a:t> = 2</a:t>
            </a:r>
            <a:r>
              <a:rPr sz="2100" b="0" i="0">
                <a:solidFill>
                  <a:srgbClr val="1C252B"/>
                </a:solidFill>
                <a:latin typeface="Segoe UI"/>
              </a:rPr>
              <a:t>: </a:t>
            </a:r>
            <a:r>
              <a:rPr sz="2100" b="0" i="0">
                <a:solidFill>
                  <a:srgbClr val="1C252B"/>
                </a:solidFill>
                <a:latin typeface="Cambria"/>
              </a:rPr>
              <a:t>max(0, 1 − 2) = </a:t>
            </a:r>
            <a:r>
              <a:rPr sz="2100" b="1" i="0">
                <a:solidFill>
                  <a:srgbClr val="1C252B"/>
                </a:solidFill>
                <a:latin typeface="Cambria"/>
              </a:rPr>
              <a:t>0</a:t>
            </a:r>
            <a:r>
              <a:rPr sz="2100" b="0" i="0">
                <a:solidFill>
                  <a:srgbClr val="1C252B"/>
                </a:solidFill>
                <a:latin typeface="Segoe UI"/>
              </a:rPr>
              <a:t> — well clear; irrelevant to the solution.</a:t>
            </a:r>
          </a:p>
          <a:p>
            <a:pPr algn="l" marL="234813" indent="-234813">
              <a:lnSpc>
                <a:spcPct val="104000"/>
              </a:lnSpc>
              <a:spcBef>
                <a:spcPts val="0"/>
              </a:spcBef>
              <a:spcAft>
                <a:spcPts val="735"/>
              </a:spcAft>
            </a:pPr>
            <a:r>
              <a:rPr sz="2100" b="1">
                <a:solidFill>
                  <a:srgbClr val="7D6608"/>
                </a:solidFill>
                <a:latin typeface="Segoe UI"/>
              </a:rPr>
              <a:t>•	</a:t>
            </a:r>
            <a:r>
              <a:rPr sz="2100" b="0" i="1">
                <a:solidFill>
                  <a:srgbClr val="1C252B"/>
                </a:solidFill>
                <a:latin typeface="Cambria"/>
              </a:rPr>
              <a:t>y</a:t>
            </a:r>
            <a:r>
              <a:rPr sz="2100" b="0" i="0">
                <a:solidFill>
                  <a:srgbClr val="1C252B"/>
                </a:solidFill>
                <a:latin typeface="Cambria"/>
              </a:rPr>
              <a:t> </a:t>
            </a:r>
            <a:r>
              <a:rPr sz="2100" b="0" i="1">
                <a:solidFill>
                  <a:srgbClr val="1C252B"/>
                </a:solidFill>
                <a:latin typeface="Cambria"/>
              </a:rPr>
              <a:t>f</a:t>
            </a:r>
            <a:r>
              <a:rPr sz="2100" b="0" i="0">
                <a:solidFill>
                  <a:srgbClr val="1C252B"/>
                </a:solidFill>
                <a:latin typeface="Cambria"/>
              </a:rPr>
              <a:t> = 1</a:t>
            </a:r>
            <a:r>
              <a:rPr sz="2100" b="0" i="0">
                <a:solidFill>
                  <a:srgbClr val="1C252B"/>
                </a:solidFill>
                <a:latin typeface="Segoe UI"/>
              </a:rPr>
              <a:t>: </a:t>
            </a:r>
            <a:r>
              <a:rPr sz="2100" b="0" i="0">
                <a:solidFill>
                  <a:srgbClr val="1C252B"/>
                </a:solidFill>
                <a:latin typeface="Cambria"/>
              </a:rPr>
              <a:t>max(0, 0) = </a:t>
            </a:r>
            <a:r>
              <a:rPr sz="2100" b="1" i="0">
                <a:solidFill>
                  <a:srgbClr val="1C252B"/>
                </a:solidFill>
                <a:latin typeface="Cambria"/>
              </a:rPr>
              <a:t>0</a:t>
            </a:r>
            <a:r>
              <a:rPr sz="2100" b="0" i="0">
                <a:solidFill>
                  <a:srgbClr val="1C252B"/>
                </a:solidFill>
                <a:latin typeface="Segoe UI"/>
              </a:rPr>
              <a:t> — exactly on the margin; a support vector.</a:t>
            </a:r>
          </a:p>
          <a:p>
            <a:pPr algn="l" marL="234813" indent="-234813">
              <a:lnSpc>
                <a:spcPct val="104000"/>
              </a:lnSpc>
              <a:spcBef>
                <a:spcPts val="0"/>
              </a:spcBef>
              <a:spcAft>
                <a:spcPts val="735"/>
              </a:spcAft>
            </a:pPr>
            <a:r>
              <a:rPr sz="2100" b="1">
                <a:solidFill>
                  <a:srgbClr val="7D6608"/>
                </a:solidFill>
                <a:latin typeface="Segoe UI"/>
              </a:rPr>
              <a:t>•	</a:t>
            </a:r>
            <a:r>
              <a:rPr sz="2100" b="0" i="1">
                <a:solidFill>
                  <a:srgbClr val="1C252B"/>
                </a:solidFill>
                <a:latin typeface="Cambria"/>
              </a:rPr>
              <a:t>y</a:t>
            </a:r>
            <a:r>
              <a:rPr sz="2100" b="0" i="0">
                <a:solidFill>
                  <a:srgbClr val="1C252B"/>
                </a:solidFill>
                <a:latin typeface="Cambria"/>
              </a:rPr>
              <a:t> </a:t>
            </a:r>
            <a:r>
              <a:rPr sz="2100" b="0" i="1">
                <a:solidFill>
                  <a:srgbClr val="1C252B"/>
                </a:solidFill>
                <a:latin typeface="Cambria"/>
              </a:rPr>
              <a:t>f</a:t>
            </a:r>
            <a:r>
              <a:rPr sz="2100" b="0" i="0">
                <a:solidFill>
                  <a:srgbClr val="1C252B"/>
                </a:solidFill>
                <a:latin typeface="Cambria"/>
              </a:rPr>
              <a:t> = 0.5</a:t>
            </a:r>
            <a:r>
              <a:rPr sz="2100" b="0" i="0">
                <a:solidFill>
                  <a:srgbClr val="1C252B"/>
                </a:solidFill>
                <a:latin typeface="Segoe UI"/>
              </a:rPr>
              <a:t>: </a:t>
            </a:r>
            <a:r>
              <a:rPr sz="2100" b="1" i="0">
                <a:solidFill>
                  <a:srgbClr val="1C252B"/>
                </a:solidFill>
                <a:latin typeface="Cambria"/>
              </a:rPr>
              <a:t>0.5</a:t>
            </a:r>
            <a:r>
              <a:rPr sz="2100" b="0" i="0">
                <a:solidFill>
                  <a:srgbClr val="1C252B"/>
                </a:solidFill>
                <a:latin typeface="Segoe UI"/>
              </a:rPr>
              <a:t> — correctly classified but inside the margin.</a:t>
            </a:r>
          </a:p>
          <a:p>
            <a:pPr algn="l" marL="234813" indent="-234813">
              <a:lnSpc>
                <a:spcPct val="104000"/>
              </a:lnSpc>
              <a:spcBef>
                <a:spcPts val="0"/>
              </a:spcBef>
              <a:spcAft>
                <a:spcPts val="0"/>
              </a:spcAft>
            </a:pPr>
            <a:r>
              <a:rPr sz="2100" b="1">
                <a:solidFill>
                  <a:srgbClr val="7D6608"/>
                </a:solidFill>
                <a:latin typeface="Segoe UI"/>
              </a:rPr>
              <a:t>•	</a:t>
            </a:r>
            <a:r>
              <a:rPr sz="2100" b="0" i="1">
                <a:solidFill>
                  <a:srgbClr val="1C252B"/>
                </a:solidFill>
                <a:latin typeface="Cambria"/>
              </a:rPr>
              <a:t>y</a:t>
            </a:r>
            <a:r>
              <a:rPr sz="2100" b="0" i="0">
                <a:solidFill>
                  <a:srgbClr val="1C252B"/>
                </a:solidFill>
                <a:latin typeface="Cambria"/>
              </a:rPr>
              <a:t> </a:t>
            </a:r>
            <a:r>
              <a:rPr sz="2100" b="0" i="1">
                <a:solidFill>
                  <a:srgbClr val="1C252B"/>
                </a:solidFill>
                <a:latin typeface="Cambria"/>
              </a:rPr>
              <a:t>f</a:t>
            </a:r>
            <a:r>
              <a:rPr sz="2100" b="0" i="0">
                <a:solidFill>
                  <a:srgbClr val="1C252B"/>
                </a:solidFill>
                <a:latin typeface="Cambria"/>
              </a:rPr>
              <a:t> = −0.5</a:t>
            </a:r>
            <a:r>
              <a:rPr sz="2100" b="0" i="0">
                <a:solidFill>
                  <a:srgbClr val="1C252B"/>
                </a:solidFill>
                <a:latin typeface="Segoe UI"/>
              </a:rPr>
              <a:t>: </a:t>
            </a:r>
            <a:r>
              <a:rPr sz="2100" b="1" i="0">
                <a:solidFill>
                  <a:srgbClr val="1C252B"/>
                </a:solidFill>
                <a:latin typeface="Cambria"/>
              </a:rPr>
              <a:t>1.5</a:t>
            </a:r>
            <a:r>
              <a:rPr sz="2100" b="0" i="0">
                <a:solidFill>
                  <a:srgbClr val="1C252B"/>
                </a:solidFill>
                <a:latin typeface="Segoe UI"/>
              </a:rPr>
              <a:t> — misclassified.</a:t>
            </a:r>
          </a:p>
        </p:txBody>
      </p:sp>
      <p:sp>
        <p:nvSpPr>
          <p:cNvPr id="11" name="body-2"/>
          <p:cNvSpPr txBox="1"/>
          <p:nvPr/>
        </p:nvSpPr>
        <p:spPr>
          <a:xfrm>
            <a:off x="1042416" y="4249292"/>
            <a:ext cx="10234879" cy="1044244"/>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The last three all influence the boundary; the first does not. With </a:t>
            </a:r>
            <a:r>
              <a:rPr sz="2100" b="0" i="1">
                <a:solidFill>
                  <a:srgbClr val="1C252B"/>
                </a:solidFill>
                <a:latin typeface="Cambria"/>
              </a:rPr>
              <a:t>C</a:t>
            </a:r>
            <a:r>
              <a:rPr sz="2100" b="0" i="0">
                <a:solidFill>
                  <a:srgbClr val="1C252B"/>
                </a:solidFill>
                <a:latin typeface="Segoe UI"/>
              </a:rPr>
              <a:t> large the optimiser will work hard to remove the last two losses; with </a:t>
            </a:r>
            <a:r>
              <a:rPr sz="2100" b="0" i="1">
                <a:solidFill>
                  <a:srgbClr val="1C252B"/>
                </a:solidFill>
                <a:latin typeface="Cambria"/>
              </a:rPr>
              <a:t>C</a:t>
            </a:r>
            <a:r>
              <a:rPr sz="2100" b="0" i="0">
                <a:solidFill>
                  <a:srgbClr val="1C252B"/>
                </a:solidFill>
                <a:latin typeface="Segoe UI"/>
              </a:rPr>
              <a:t> small it will accept them for a wider margin.</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397555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1"/>
                                        </p:tgtEl>
                                        <p:attrNameLst>
                                          <p:attrName>style.visibility</p:attrName>
                                        </p:attrNameLst>
                                      </p:cBhvr>
                                      <p:to>
                                        <p:strVal val="visible"/>
                                      </p:to>
                                    </p:set>
                                    <p:animEffect transition="in" filter="wipe(right)">
                                      <p:cBhvr>
                                        <p:cTn id="8" dur="42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The Kernel Trick</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BD7C7"/>
                </a:solidFill>
                <a:latin typeface="Segoe UI"/>
              </a:rPr>
              <a:t>SECTION 4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12.4</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12.1   Which Line?</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12.2   The Maximum-Margin Hyperplane</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12.3   Soft Margins and the Hinge Loss</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B7A43"/>
                </a:solidFill>
                <a:latin typeface="Segoe UI"/>
              </a:rPr>
              <a:t>12.4   The Kernel Trick</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12.5   Practicalities</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§12.4     </a:t>
            </a:r>
            <a:fld id="{3CFD4705-0F13-4252-9A58-09EA227B1382}" type="slidenum">
              <a:rPr lang="en-GB" sz="1000">
                <a:solidFill>
                  <a:srgbClr val="8795A1"/>
                </a:solidFill>
                <a:latin typeface="Segoe UI"/>
              </a:rPr>
              <a:t>16</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424058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Lifting data into more dimensions</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B7A43"/>
                </a:solidFill>
                <a:latin typeface="Segoe UI"/>
              </a:rPr>
              <a:t>FIGURE 12.3</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§12.4  ·  Handout p. 93     </a:t>
            </a:r>
            <a:fld id="{891C1170-37C7-4F8F-BA2A-8968CDA60DA5}" type="slidenum">
              <a:rPr lang="en-GB" sz="1000">
                <a:solidFill>
                  <a:srgbClr val="8795A1"/>
                </a:solidFill>
                <a:latin typeface="Segoe UI"/>
              </a:rPr>
              <a:t>17</a:t>
            </a:fld>
          </a:p>
        </p:txBody>
      </p:sp>
      <p:pic>
        <p:nvPicPr>
          <p:cNvPr id="6" name="!!figure" descr="Figure 12.3. Lifting data into more dimensions. The inner class (blue) and the outer class (red) cannot be separated on the line, but after adding x2 as a second feature a horizontal line separates them; in the original space that line is two thresholds."/>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802427"/>
            <a:ext cx="10874959" cy="3368692"/>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inner class (blue) and the outer class (red) cannot be separated on the line, but after adding x2 as a second feature a horizontal line separates them; in the original space that line is two thresholds.</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4505626"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Kernel</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§12.4  ·  Handout p. 93     </a:t>
            </a:r>
            <a:fld id="{F6A26FDE-1D77-4F26-A282-2280B705B295}" type="slidenum">
              <a:rPr lang="en-GB" sz="1000">
                <a:solidFill>
                  <a:srgbClr val="8795A1"/>
                </a:solidFill>
                <a:latin typeface="Segoe UI"/>
              </a:rPr>
              <a:t>18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77064"/>
          </a:xfrm>
          <a:prstGeom prst="roundRect">
            <a:avLst>
              <a:gd name="adj" fmla="val 2042"/>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77064"/>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440484"/>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A </a:t>
            </a:r>
            <a:r>
              <a:rPr sz="2200" b="1" i="0">
                <a:solidFill>
                  <a:srgbClr val="1A5276"/>
                </a:solidFill>
                <a:latin typeface="Segoe UI"/>
              </a:rPr>
              <a:t>kernel</a:t>
            </a:r>
            <a:r>
              <a:rPr sz="2200" b="0" i="0">
                <a:solidFill>
                  <a:srgbClr val="1C252B"/>
                </a:solidFill>
                <a:latin typeface="Segoe UI"/>
              </a:rPr>
              <a:t> is a function </a:t>
            </a:r>
            <a:r>
              <a:rPr sz="2200" b="0" i="1">
                <a:solidFill>
                  <a:srgbClr val="1C252B"/>
                </a:solidFill>
                <a:latin typeface="Cambria"/>
              </a:rPr>
              <a:t>K</a:t>
            </a:r>
            <a:r>
              <a:rPr sz="2200" b="0" i="0">
                <a:solidFill>
                  <a:srgbClr val="1C252B"/>
                </a:solidFill>
                <a:latin typeface="Cambria"/>
              </a:rPr>
              <a:t>(</a:t>
            </a:r>
            <a:r>
              <a:rPr sz="2200" b="1" i="1">
                <a:solidFill>
                  <a:srgbClr val="1C252B"/>
                </a:solidFill>
                <a:latin typeface="Cambria"/>
              </a:rPr>
              <a:t>x</a:t>
            </a:r>
            <a:r>
              <a:rPr sz="2200" b="0" i="0">
                <a:solidFill>
                  <a:srgbClr val="1C252B"/>
                </a:solidFill>
                <a:latin typeface="Cambria"/>
              </a:rPr>
              <a:t>, </a:t>
            </a:r>
            <a:r>
              <a:rPr sz="2200" b="1" i="1">
                <a:solidFill>
                  <a:srgbClr val="1C252B"/>
                </a:solidFill>
                <a:latin typeface="Cambria"/>
              </a:rPr>
              <a:t>z</a:t>
            </a:r>
            <a:r>
              <a:rPr sz="2200" b="0" i="0">
                <a:solidFill>
                  <a:srgbClr val="1C252B"/>
                </a:solidFill>
                <a:latin typeface="Cambria"/>
              </a:rPr>
              <a:t>)</a:t>
            </a:r>
            <a:r>
              <a:rPr sz="2200" b="0" i="0">
                <a:solidFill>
                  <a:srgbClr val="1C252B"/>
                </a:solidFill>
                <a:latin typeface="Segoe UI"/>
              </a:rPr>
              <a:t> that equals the dot product </a:t>
            </a:r>
            <a:r>
              <a:rPr sz="2200" b="0" i="0">
                <a:solidFill>
                  <a:srgbClr val="1C252B"/>
                </a:solidFill>
                <a:latin typeface="Cambria"/>
              </a:rPr>
              <a:t>φ(</a:t>
            </a:r>
            <a:r>
              <a:rPr sz="2200" b="1" i="1">
                <a:solidFill>
                  <a:srgbClr val="1C252B"/>
                </a:solidFill>
                <a:latin typeface="Cambria"/>
              </a:rPr>
              <a:t>x</a:t>
            </a:r>
            <a:r>
              <a:rPr sz="2200" b="0" i="0">
                <a:solidFill>
                  <a:srgbClr val="1C252B"/>
                </a:solidFill>
                <a:latin typeface="Cambria"/>
              </a:rPr>
              <a:t>)·φ(</a:t>
            </a:r>
            <a:r>
              <a:rPr sz="2200" b="1" i="1">
                <a:solidFill>
                  <a:srgbClr val="1C252B"/>
                </a:solidFill>
                <a:latin typeface="Cambria"/>
              </a:rPr>
              <a:t>z</a:t>
            </a:r>
            <a:r>
              <a:rPr sz="2200" b="0" i="0">
                <a:solidFill>
                  <a:srgbClr val="1C252B"/>
                </a:solidFill>
                <a:latin typeface="Cambria"/>
              </a:rPr>
              <a:t>)</a:t>
            </a:r>
            <a:r>
              <a:rPr sz="2200" b="0" i="0">
                <a:solidFill>
                  <a:srgbClr val="1C252B"/>
                </a:solidFill>
                <a:latin typeface="Segoe UI"/>
              </a:rPr>
              <a:t> in some </a:t>
            </a:r>
            <a:r>
              <a:rPr sz="2200" b="1" i="0">
                <a:solidFill>
                  <a:srgbClr val="1A5276"/>
                </a:solidFill>
                <a:latin typeface="Segoe UI"/>
              </a:rPr>
              <a:t>feature space</a:t>
            </a:r>
            <a:r>
              <a:rPr sz="2200" b="0" i="0">
                <a:solidFill>
                  <a:srgbClr val="1C252B"/>
                </a:solidFill>
                <a:latin typeface="Segoe UI"/>
              </a:rPr>
              <a:t> </a:t>
            </a:r>
            <a:r>
              <a:rPr sz="2200" b="0" i="0">
                <a:solidFill>
                  <a:srgbClr val="1C252B"/>
                </a:solidFill>
                <a:latin typeface="Cambria"/>
              </a:rPr>
              <a:t>φ</a:t>
            </a:r>
            <a:r>
              <a:rPr sz="2200" b="0" i="0">
                <a:solidFill>
                  <a:srgbClr val="1C252B"/>
                </a:solidFill>
                <a:latin typeface="Segoe UI"/>
              </a:rPr>
              <a:t>, but is computed without ever constructing </a:t>
            </a:r>
            <a:r>
              <a:rPr sz="2200" b="0" i="0">
                <a:solidFill>
                  <a:srgbClr val="1C252B"/>
                </a:solidFill>
                <a:latin typeface="Cambria"/>
              </a:rPr>
              <a:t>φ</a:t>
            </a:r>
            <a:r>
              <a:rPr sz="2200" b="0" i="0">
                <a:solidFill>
                  <a:srgbClr val="1C252B"/>
                </a:solidFill>
                <a:latin typeface="Segoe UI"/>
              </a:rPr>
              <a:t>. Because the SVM’s optimisation and its decision function use the data only through dot products,</a:t>
            </a:r>
          </a:p>
        </p:txBody>
      </p:sp>
      <p:pic>
        <p:nvPicPr>
          <p:cNvPr id="10" name="body-1" descr="f(\mathbf{x}) = \sum_{i \in \text{SV}} \alpha_i\, y_i\, K(\mathbf{x}_i, \mathbf{x}) + b"/>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3596690"/>
            <a:ext cx="10161727" cy="758403"/>
          </a:xfrm>
          <a:prstGeom prst="rect">
            <a:avLst/>
          </a:prstGeom>
        </p:spPr>
      </p:pic>
      <p:sp>
        <p:nvSpPr>
          <p:cNvPr id="11" name="body-2"/>
          <p:cNvSpPr txBox="1"/>
          <p:nvPr/>
        </p:nvSpPr>
        <p:spPr>
          <a:xfrm>
            <a:off x="1060704" y="4508764"/>
            <a:ext cx="10161727" cy="1440484"/>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replacing every dot product by a kernel fits a linear boundary in the feature space — a non-linear boundary in the original one — at the cost of computing </a:t>
            </a:r>
            <a:r>
              <a:rPr sz="2200" b="0" i="1">
                <a:solidFill>
                  <a:srgbClr val="1C252B"/>
                </a:solidFill>
                <a:latin typeface="Cambria"/>
              </a:rPr>
              <a:t>K</a:t>
            </a:r>
            <a:r>
              <a:rPr sz="2200" b="0" i="0">
                <a:solidFill>
                  <a:srgbClr val="1C252B"/>
                </a:solidFill>
                <a:latin typeface="Segoe UI"/>
              </a:rPr>
              <a:t>. This is the </a:t>
            </a:r>
            <a:r>
              <a:rPr sz="2200" b="1" i="0">
                <a:solidFill>
                  <a:srgbClr val="1A5276"/>
                </a:solidFill>
                <a:latin typeface="Segoe UI"/>
              </a:rPr>
              <a:t>kernel trick</a:t>
            </a:r>
            <a:r>
              <a:rPr sz="2200" b="0" i="0">
                <a:solidFill>
                  <a:srgbClr val="1C252B"/>
                </a:solidFill>
                <a:latin typeface="Segoe UI"/>
              </a:rPr>
              <a:t>. The sum runs over support vectors only: all other </a:t>
            </a:r>
            <a:r>
              <a:rPr sz="2200" b="0" i="0">
                <a:solidFill>
                  <a:srgbClr val="1C252B"/>
                </a:solidFill>
                <a:latin typeface="Cambria"/>
              </a:rPr>
              <a:t>α</a:t>
            </a:r>
            <a:r>
              <a:rPr sz="2200" b="0" i="1" baseline="-25000">
                <a:solidFill>
                  <a:srgbClr val="1C252B"/>
                </a:solidFill>
                <a:latin typeface="Cambria"/>
              </a:rPr>
              <a:t>i</a:t>
            </a:r>
            <a:r>
              <a:rPr sz="2200" b="0" i="0">
                <a:solidFill>
                  <a:srgbClr val="1C252B"/>
                </a:solidFill>
                <a:latin typeface="Segoe UI"/>
              </a:rPr>
              <a:t> are zero.</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477066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Kernel Computes the Big Dot Product Cheaply</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§12.4  ·  Handout p. 93     </a:t>
            </a:r>
            <a:fld id="{29621EEB-4FB5-404A-8951-2627AAF28A9A}" type="slidenum">
              <a:rPr lang="en-GB" sz="1000">
                <a:solidFill>
                  <a:srgbClr val="8795A1"/>
                </a:solidFill>
                <a:latin typeface="Segoe UI"/>
              </a:rPr>
              <a:t>19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735400"/>
          </a:xfrm>
          <a:prstGeom prst="roundRect">
            <a:avLst>
              <a:gd name="adj" fmla="val 2447"/>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735400"/>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78561"/>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Take </a:t>
            </a:r>
            <a:r>
              <a:rPr sz="2100" b="0" i="1">
                <a:solidFill>
                  <a:srgbClr val="1C252B"/>
                </a:solidFill>
                <a:latin typeface="Cambria"/>
              </a:rPr>
              <a:t>K</a:t>
            </a:r>
            <a:r>
              <a:rPr sz="2100" b="0" i="0">
                <a:solidFill>
                  <a:srgbClr val="1C252B"/>
                </a:solidFill>
                <a:latin typeface="Cambria"/>
              </a:rPr>
              <a:t>(</a:t>
            </a:r>
            <a:r>
              <a:rPr sz="2100" b="1" i="1">
                <a:solidFill>
                  <a:srgbClr val="1C252B"/>
                </a:solidFill>
                <a:latin typeface="Cambria"/>
              </a:rPr>
              <a:t>x</a:t>
            </a:r>
            <a:r>
              <a:rPr sz="2100" b="0" i="0">
                <a:solidFill>
                  <a:srgbClr val="1C252B"/>
                </a:solidFill>
                <a:latin typeface="Cambria"/>
              </a:rPr>
              <a:t>, </a:t>
            </a:r>
            <a:r>
              <a:rPr sz="2100" b="1" i="1">
                <a:solidFill>
                  <a:srgbClr val="1C252B"/>
                </a:solidFill>
                <a:latin typeface="Cambria"/>
              </a:rPr>
              <a:t>z</a:t>
            </a:r>
            <a:r>
              <a:rPr sz="2100" b="0" i="0">
                <a:solidFill>
                  <a:srgbClr val="1C252B"/>
                </a:solidFill>
                <a:latin typeface="Cambria"/>
              </a:rPr>
              <a:t>) = (</a:t>
            </a:r>
            <a:r>
              <a:rPr sz="2100" b="1" i="1">
                <a:solidFill>
                  <a:srgbClr val="1C252B"/>
                </a:solidFill>
                <a:latin typeface="Cambria"/>
              </a:rPr>
              <a:t>x</a:t>
            </a:r>
            <a:r>
              <a:rPr sz="2100" b="0" i="0">
                <a:solidFill>
                  <a:srgbClr val="1C252B"/>
                </a:solidFill>
                <a:latin typeface="Cambria"/>
              </a:rPr>
              <a:t>·</a:t>
            </a:r>
            <a:r>
              <a:rPr sz="2100" b="1" i="1">
                <a:solidFill>
                  <a:srgbClr val="1C252B"/>
                </a:solidFill>
                <a:latin typeface="Cambria"/>
              </a:rPr>
              <a:t>z</a:t>
            </a:r>
            <a:r>
              <a:rPr sz="2100" b="0" i="0">
                <a:solidFill>
                  <a:srgbClr val="1C252B"/>
                </a:solidFill>
                <a:latin typeface="Cambria"/>
              </a:rPr>
              <a:t>)</a:t>
            </a:r>
            <a:r>
              <a:rPr sz="2100" b="0" i="0" baseline="30000">
                <a:solidFill>
                  <a:srgbClr val="1C252B"/>
                </a:solidFill>
                <a:latin typeface="Cambria"/>
              </a:rPr>
              <a:t>2</a:t>
            </a:r>
            <a:r>
              <a:rPr sz="2100" b="0" i="0">
                <a:solidFill>
                  <a:srgbClr val="1C252B"/>
                </a:solidFill>
                <a:latin typeface="Segoe UI"/>
              </a:rPr>
              <a:t> in two dimensions, and </a:t>
            </a:r>
            <a:r>
              <a:rPr sz="2100" b="1" i="1">
                <a:solidFill>
                  <a:srgbClr val="1C252B"/>
                </a:solidFill>
                <a:latin typeface="Cambria"/>
              </a:rPr>
              <a:t>x</a:t>
            </a:r>
            <a:r>
              <a:rPr sz="2100" b="0" i="0">
                <a:solidFill>
                  <a:srgbClr val="1C252B"/>
                </a:solidFill>
                <a:latin typeface="Cambria"/>
              </a:rPr>
              <a:t> = (1, 2)</a:t>
            </a:r>
            <a:r>
              <a:rPr sz="2100" b="0" i="0">
                <a:solidFill>
                  <a:srgbClr val="1C252B"/>
                </a:solidFill>
                <a:latin typeface="Segoe UI"/>
              </a:rPr>
              <a:t>, </a:t>
            </a:r>
            <a:r>
              <a:rPr sz="2100" b="1" i="1">
                <a:solidFill>
                  <a:srgbClr val="1C252B"/>
                </a:solidFill>
                <a:latin typeface="Cambria"/>
              </a:rPr>
              <a:t>z</a:t>
            </a:r>
            <a:r>
              <a:rPr sz="2100" b="0" i="0">
                <a:solidFill>
                  <a:srgbClr val="1C252B"/>
                </a:solidFill>
                <a:latin typeface="Cambria"/>
              </a:rPr>
              <a:t> = (3, 1)</a:t>
            </a:r>
            <a:r>
              <a:rPr sz="2100" b="0" i="0">
                <a:solidFill>
                  <a:srgbClr val="1C252B"/>
                </a:solidFill>
                <a:latin typeface="Segoe UI"/>
              </a:rPr>
              <a:t>.</a:t>
            </a:r>
          </a:p>
        </p:txBody>
      </p:sp>
      <p:sp>
        <p:nvSpPr>
          <p:cNvPr id="10" name="body-1"/>
          <p:cNvSpPr txBox="1"/>
          <p:nvPr/>
        </p:nvSpPr>
        <p:spPr>
          <a:xfrm>
            <a:off x="1042416" y="2491206"/>
            <a:ext cx="10234879" cy="378561"/>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D6608"/>
                </a:solidFill>
                <a:latin typeface="Segoe UI"/>
              </a:rPr>
              <a:t>The kernel:</a:t>
            </a:r>
            <a:r>
              <a:rPr sz="2100" b="0" i="0">
                <a:solidFill>
                  <a:srgbClr val="1C252B"/>
                </a:solidFill>
                <a:latin typeface="Segoe UI"/>
              </a:rPr>
              <a:t> </a:t>
            </a:r>
            <a:r>
              <a:rPr sz="2100" b="1" i="1">
                <a:solidFill>
                  <a:srgbClr val="1C252B"/>
                </a:solidFill>
                <a:latin typeface="Cambria"/>
              </a:rPr>
              <a:t>x</a:t>
            </a:r>
            <a:r>
              <a:rPr sz="2100" b="0" i="0">
                <a:solidFill>
                  <a:srgbClr val="1C252B"/>
                </a:solidFill>
                <a:latin typeface="Cambria"/>
              </a:rPr>
              <a:t>·</a:t>
            </a:r>
            <a:r>
              <a:rPr sz="2100" b="1" i="1">
                <a:solidFill>
                  <a:srgbClr val="1C252B"/>
                </a:solidFill>
                <a:latin typeface="Cambria"/>
              </a:rPr>
              <a:t>z</a:t>
            </a:r>
            <a:r>
              <a:rPr sz="2100" b="0" i="0">
                <a:solidFill>
                  <a:srgbClr val="1C252B"/>
                </a:solidFill>
                <a:latin typeface="Cambria"/>
              </a:rPr>
              <a:t> = 3 + 2 = 5</a:t>
            </a:r>
            <a:r>
              <a:rPr sz="2100" b="0" i="0">
                <a:solidFill>
                  <a:srgbClr val="1C252B"/>
                </a:solidFill>
                <a:latin typeface="Segoe UI"/>
              </a:rPr>
              <a:t>, so </a:t>
            </a:r>
            <a:r>
              <a:rPr sz="2100" b="0" i="1">
                <a:solidFill>
                  <a:srgbClr val="1C252B"/>
                </a:solidFill>
                <a:latin typeface="Cambria"/>
              </a:rPr>
              <a:t>K</a:t>
            </a:r>
            <a:r>
              <a:rPr sz="2100" b="0" i="0">
                <a:solidFill>
                  <a:srgbClr val="1C252B"/>
                </a:solidFill>
                <a:latin typeface="Cambria"/>
              </a:rPr>
              <a:t> = 25</a:t>
            </a:r>
            <a:r>
              <a:rPr sz="2100" b="0" i="0">
                <a:solidFill>
                  <a:srgbClr val="1C252B"/>
                </a:solidFill>
                <a:latin typeface="Segoe UI"/>
              </a:rPr>
              <a:t>. One dot product and one squaring.</a:t>
            </a:r>
          </a:p>
        </p:txBody>
      </p:sp>
      <p:sp>
        <p:nvSpPr>
          <p:cNvPr id="11" name="body-2"/>
          <p:cNvSpPr txBox="1"/>
          <p:nvPr/>
        </p:nvSpPr>
        <p:spPr>
          <a:xfrm>
            <a:off x="1042416" y="2970733"/>
            <a:ext cx="10234879" cy="378561"/>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D6608"/>
                </a:solidFill>
                <a:latin typeface="Segoe UI"/>
              </a:rPr>
              <a:t>The long way:</a:t>
            </a:r>
            <a:r>
              <a:rPr sz="2100" b="0" i="0">
                <a:solidFill>
                  <a:srgbClr val="1C252B"/>
                </a:solidFill>
                <a:latin typeface="Segoe UI"/>
              </a:rPr>
              <a:t> this kernel corresponds to </a:t>
            </a:r>
            <a:r>
              <a:rPr sz="2100" b="0" i="0">
                <a:solidFill>
                  <a:srgbClr val="1C252B"/>
                </a:solidFill>
                <a:latin typeface="Cambria"/>
              </a:rPr>
              <a:t>φ(</a:t>
            </a:r>
            <a:r>
              <a:rPr sz="2100" b="1" i="1">
                <a:solidFill>
                  <a:srgbClr val="1C252B"/>
                </a:solidFill>
                <a:latin typeface="Cambria"/>
              </a:rPr>
              <a:t>x</a:t>
            </a:r>
            <a:r>
              <a:rPr sz="2100" b="0" i="0">
                <a:solidFill>
                  <a:srgbClr val="1C252B"/>
                </a:solidFill>
                <a:latin typeface="Cambria"/>
              </a:rPr>
              <a:t>) = (</a:t>
            </a:r>
            <a:r>
              <a:rPr sz="2100" b="0" i="1">
                <a:solidFill>
                  <a:srgbClr val="1C252B"/>
                </a:solidFill>
                <a:latin typeface="Cambria"/>
              </a:rPr>
              <a:t>x</a:t>
            </a:r>
            <a:r>
              <a:rPr sz="2100" b="0" i="0" baseline="-25000">
                <a:solidFill>
                  <a:srgbClr val="1C252B"/>
                </a:solidFill>
                <a:latin typeface="Cambria"/>
              </a:rPr>
              <a:t>1</a:t>
            </a:r>
            <a:r>
              <a:rPr sz="2100" b="0" i="0" baseline="30000">
                <a:solidFill>
                  <a:srgbClr val="1C252B"/>
                </a:solidFill>
                <a:latin typeface="Cambria"/>
              </a:rPr>
              <a:t>2</a:t>
            </a:r>
            <a:r>
              <a:rPr sz="2100" b="0" i="0">
                <a:solidFill>
                  <a:srgbClr val="1C252B"/>
                </a:solidFill>
                <a:latin typeface="Cambria"/>
              </a:rPr>
              <a:t>, √2 </a:t>
            </a:r>
            <a:r>
              <a:rPr sz="2100" b="0" i="1">
                <a:solidFill>
                  <a:srgbClr val="1C252B"/>
                </a:solidFill>
                <a:latin typeface="Cambria"/>
              </a:rPr>
              <a:t>x</a:t>
            </a:r>
            <a:r>
              <a:rPr sz="2100" b="0" i="0" baseline="-25000">
                <a:solidFill>
                  <a:srgbClr val="1C252B"/>
                </a:solidFill>
                <a:latin typeface="Cambria"/>
              </a:rPr>
              <a:t>1</a:t>
            </a:r>
            <a:r>
              <a:rPr sz="2100" b="0" i="0">
                <a:solidFill>
                  <a:srgbClr val="1C252B"/>
                </a:solidFill>
                <a:latin typeface="Cambria"/>
              </a:rPr>
              <a:t> </a:t>
            </a:r>
            <a:r>
              <a:rPr sz="2100" b="0" i="1">
                <a:solidFill>
                  <a:srgbClr val="1C252B"/>
                </a:solidFill>
                <a:latin typeface="Cambria"/>
              </a:rPr>
              <a:t>x</a:t>
            </a:r>
            <a:r>
              <a:rPr sz="2100" b="0" i="0" baseline="-25000">
                <a:solidFill>
                  <a:srgbClr val="1C252B"/>
                </a:solidFill>
                <a:latin typeface="Cambria"/>
              </a:rPr>
              <a:t>2</a:t>
            </a:r>
            <a:r>
              <a:rPr sz="2100" b="0" i="0">
                <a:solidFill>
                  <a:srgbClr val="1C252B"/>
                </a:solidFill>
                <a:latin typeface="Cambria"/>
              </a:rPr>
              <a:t>, </a:t>
            </a:r>
            <a:r>
              <a:rPr sz="2100" b="0" i="1">
                <a:solidFill>
                  <a:srgbClr val="1C252B"/>
                </a:solidFill>
                <a:latin typeface="Cambria"/>
              </a:rPr>
              <a:t>x</a:t>
            </a:r>
            <a:r>
              <a:rPr sz="2100" b="0" i="0" baseline="-25000">
                <a:solidFill>
                  <a:srgbClr val="1C252B"/>
                </a:solidFill>
                <a:latin typeface="Cambria"/>
              </a:rPr>
              <a:t>2</a:t>
            </a:r>
            <a:r>
              <a:rPr sz="2100" b="0" i="0" baseline="30000">
                <a:solidFill>
                  <a:srgbClr val="1C252B"/>
                </a:solidFill>
                <a:latin typeface="Cambria"/>
              </a:rPr>
              <a:t>2</a:t>
            </a:r>
            <a:r>
              <a:rPr sz="2100" b="0" i="0">
                <a:solidFill>
                  <a:srgbClr val="1C252B"/>
                </a:solidFill>
                <a:latin typeface="Cambria"/>
              </a:rPr>
              <a:t>)</a:t>
            </a:r>
            <a:r>
              <a:rPr sz="2100" b="0" i="0">
                <a:solidFill>
                  <a:srgbClr val="1C252B"/>
                </a:solidFill>
                <a:latin typeface="Segoe UI"/>
              </a:rPr>
              <a:t>:</a:t>
            </a:r>
          </a:p>
        </p:txBody>
      </p:sp>
      <p:pic>
        <p:nvPicPr>
          <p:cNvPr id="12" name="body-3" descr="\phi(1,2) = (1,\ 2\sqrt{2},\ 4), \qquad \phi(3,1) = (9,\ 3\sqrt{2},\ 1)"/>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3450259"/>
            <a:ext cx="10234879" cy="394563"/>
          </a:xfrm>
          <a:prstGeom prst="rect">
            <a:avLst/>
          </a:prstGeom>
        </p:spPr>
      </p:pic>
      <p:pic>
        <p:nvPicPr>
          <p:cNvPr id="13" name="body-4" descr="\phi(\mathbf{x})\cdot\phi(\mathbf{z}) = 9 + 2\sqrt{2}\cdot 3\sqrt{2} + 4 = 9 + 12 + 4 = \mathbf{25}"/>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42416" y="3991508"/>
            <a:ext cx="10234879" cy="394563"/>
          </a:xfrm>
          <a:prstGeom prst="rect">
            <a:avLst/>
          </a:prstGeom>
        </p:spPr>
      </p:pic>
      <p:sp>
        <p:nvSpPr>
          <p:cNvPr id="14" name="body-5"/>
          <p:cNvSpPr txBox="1"/>
          <p:nvPr/>
        </p:nvSpPr>
        <p:spPr>
          <a:xfrm>
            <a:off x="1042416" y="4532757"/>
            <a:ext cx="10234879" cy="71140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The same number. For degree </a:t>
            </a:r>
            <a:r>
              <a:rPr sz="2100" b="0" i="1">
                <a:solidFill>
                  <a:srgbClr val="1C252B"/>
                </a:solidFill>
                <a:latin typeface="Cambria"/>
              </a:rPr>
              <a:t>p</a:t>
            </a:r>
            <a:r>
              <a:rPr sz="2100" b="0" i="0">
                <a:solidFill>
                  <a:srgbClr val="1C252B"/>
                </a:solidFill>
                <a:latin typeface="Segoe UI"/>
              </a:rPr>
              <a:t> on </a:t>
            </a:r>
            <a:r>
              <a:rPr sz="2100" b="0" i="1">
                <a:solidFill>
                  <a:srgbClr val="1C252B"/>
                </a:solidFill>
                <a:latin typeface="Cambria"/>
              </a:rPr>
              <a:t>d</a:t>
            </a:r>
            <a:r>
              <a:rPr sz="2100" b="0" i="0">
                <a:solidFill>
                  <a:srgbClr val="1C252B"/>
                </a:solidFill>
                <a:latin typeface="Segoe UI"/>
              </a:rPr>
              <a:t> features the feature space has on the order of </a:t>
            </a:r>
            <a:r>
              <a:rPr sz="2100" b="0" i="1">
                <a:solidFill>
                  <a:srgbClr val="1C252B"/>
                </a:solidFill>
                <a:latin typeface="Cambria"/>
              </a:rPr>
              <a:t>d</a:t>
            </a:r>
            <a:r>
              <a:rPr sz="2100" b="0" i="1" baseline="30000">
                <a:solidFill>
                  <a:srgbClr val="1C252B"/>
                </a:solidFill>
                <a:latin typeface="Cambria"/>
              </a:rPr>
              <a:t>p</a:t>
            </a:r>
            <a:r>
              <a:rPr sz="2100" b="0" i="0">
                <a:solidFill>
                  <a:srgbClr val="1C252B"/>
                </a:solidFill>
                <a:latin typeface="Segoe UI"/>
              </a:rPr>
              <a:t> dimensions; the kernel is still one dot product and one power.</a:t>
            </a:r>
          </a:p>
        </p:txBody>
      </p:sp>
      <p:sp>
        <p:nvSpPr>
          <p:cNvPr id="2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pfill">
            <a:extLst>
              <a:ext uri="{C183D7F6-B498-43B3-948B-1728B52AA6E4}">
                <adec:decorative xmlns:adec="http://schemas.microsoft.com/office/drawing/2017/decorative" val="1"/>
              </a:ext>
            </a:extLst>
          </p:cNvPr>
          <p:cNvSpPr/>
          <p:nvPr/>
        </p:nvSpPr>
        <p:spPr>
          <a:xfrm>
            <a:off x="0" y="0"/>
            <a:ext cx="503570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right)">
                                      <p:cBhvr>
                                        <p:cTn id="18" dur="42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wipe(right)">
                                      <p:cBhvr>
                                        <p:cTn id="23" dur="420"/>
                                        <p:tgtEl>
                                          <p:spTgt spid="13"/>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right)">
                                      <p:cBhvr>
                                        <p:cTn id="28" dur="42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Kernel Trick</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§12.4  ·  Handout p. 93     </a:t>
            </a:r>
            <a:fld id="{0EDAC0F7-5223-4681-89E4-4873A6365D3A}" type="slidenum">
              <a:rPr lang="en-GB" sz="1000">
                <a:solidFill>
                  <a:srgbClr val="8795A1"/>
                </a:solidFill>
                <a:latin typeface="Segoe UI"/>
              </a:rPr>
              <a:t>20</a:t>
            </a:fld>
          </a:p>
        </p:txBody>
      </p:sp>
      <p:graphicFrame>
        <p:nvGraphicFramePr>
          <p:cNvPr id="7" name="!!table"/>
          <p:cNvGraphicFramePr>
            <a:graphicFrameLocks noGrp="1"/>
          </p:cNvGraphicFramePr>
          <p:nvPr/>
        </p:nvGraphicFramePr>
        <p:xfrm>
          <a:off x="658368" y="1737360"/>
          <a:ext cx="10874958" cy="2398776"/>
        </p:xfrm>
        <a:graphic>
          <a:graphicData uri="http://schemas.openxmlformats.org/drawingml/2006/table">
            <a:tbl>
              <a:tblPr firstRow="0" bandRow="0" firstCol="0" lastRow="0" lastCol="0" bandCol="0">
                <a:tableStyleId>{2D5ABB26-0587-4C30-8999-92F81FD0307C}</a:tableStyleId>
              </a:tblPr>
              <a:tblGrid>
                <a:gridCol w="2174991"/>
                <a:gridCol w="3189988"/>
                <a:gridCol w="5509979"/>
              </a:tblGrid>
              <a:tr h="405384">
                <a:tc>
                  <a:txBody>
                    <a:bodyPr wrap="square"/>
                    <a:lstStyle/>
                    <a:p>
                      <a:pPr algn="l"/>
                      <a:r>
                        <a:rPr sz="1700" b="1" i="0">
                          <a:solidFill>
                            <a:srgbClr val="1A5276"/>
                          </a:solidFill>
                          <a:latin typeface="Segoe UI"/>
                        </a:rPr>
                        <a:t>Kernel</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1">
                          <a:solidFill>
                            <a:srgbClr val="1A5276"/>
                          </a:solidFill>
                          <a:latin typeface="Cambria"/>
                        </a:rPr>
                        <a:t>K</a:t>
                      </a:r>
                      <a:r>
                        <a:rPr sz="1700" b="1" i="0">
                          <a:solidFill>
                            <a:srgbClr val="1A5276"/>
                          </a:solidFill>
                          <a:latin typeface="Cambria"/>
                        </a:rPr>
                        <a:t>(</a:t>
                      </a:r>
                      <a:r>
                        <a:rPr sz="1700" b="1" i="1">
                          <a:solidFill>
                            <a:srgbClr val="1A5276"/>
                          </a:solidFill>
                          <a:latin typeface="Cambria"/>
                        </a:rPr>
                        <a:t>x</a:t>
                      </a:r>
                      <a:r>
                        <a:rPr sz="1700" b="1" i="0">
                          <a:solidFill>
                            <a:srgbClr val="1A5276"/>
                          </a:solidFill>
                          <a:latin typeface="Cambria"/>
                        </a:rPr>
                        <a:t>, </a:t>
                      </a:r>
                      <a:r>
                        <a:rPr sz="1700" b="1" i="1">
                          <a:solidFill>
                            <a:srgbClr val="1A5276"/>
                          </a:solidFill>
                          <a:latin typeface="Cambria"/>
                        </a:rPr>
                        <a:t>z</a:t>
                      </a:r>
                      <a:r>
                        <a:rPr sz="1700" b="1" i="0">
                          <a:solidFill>
                            <a:srgbClr val="1A5276"/>
                          </a:solidFill>
                          <a:latin typeface="Cambria"/>
                        </a:rPr>
                        <a:t>)</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Use and settings</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405384">
                <a:tc>
                  <a:txBody>
                    <a:bodyPr wrap="square"/>
                    <a:lstStyle/>
                    <a:p>
                      <a:pPr algn="l"/>
                      <a:r>
                        <a:rPr sz="1700" b="0" i="0">
                          <a:solidFill>
                            <a:srgbClr val="1C252B"/>
                          </a:solidFill>
                          <a:latin typeface="Segoe UI"/>
                        </a:rPr>
                        <a:t>Linear</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1" i="1">
                          <a:solidFill>
                            <a:srgbClr val="1C252B"/>
                          </a:solidFill>
                          <a:latin typeface="Cambria"/>
                        </a:rPr>
                        <a:t>x</a:t>
                      </a:r>
                      <a:r>
                        <a:rPr sz="1700" b="0" i="0">
                          <a:solidFill>
                            <a:srgbClr val="1C252B"/>
                          </a:solidFill>
                          <a:latin typeface="Cambria"/>
                        </a:rPr>
                        <a:t>·</a:t>
                      </a:r>
                      <a:r>
                        <a:rPr sz="1700" b="1" i="1">
                          <a:solidFill>
                            <a:srgbClr val="1C252B"/>
                          </a:solidFill>
                          <a:latin typeface="Cambria"/>
                        </a:rPr>
                        <a:t>z</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Many features, text; fast. Tune </a:t>
                      </a:r>
                      <a:r>
                        <a:rPr sz="1700" b="0" i="1">
                          <a:solidFill>
                            <a:srgbClr val="1C252B"/>
                          </a:solidFill>
                          <a:latin typeface="Cambria"/>
                        </a:rPr>
                        <a:t>C</a:t>
                      </a:r>
                      <a:r>
                        <a:rPr sz="1700" b="0" i="0">
                          <a:solidFill>
                            <a:srgbClr val="1C252B"/>
                          </a:solidFill>
                          <a:latin typeface="Segoe UI"/>
                        </a:rPr>
                        <a:t> only</a:t>
                      </a:r>
                      <a:endParaRPr sz="1700"/>
                    </a:p>
                  </a:txBody>
                  <a:tcPr marL="109728" marR="109728" marT="64008" marB="45720" anchor="t">
                    <a:lnL w="0" cmpd="sng">
                      <a:noFill/>
                    </a:lnL>
                    <a:lnR w="0" cmpd="sng">
                      <a:noFill/>
                    </a:lnR>
                    <a:lnT w="9525" cmpd="sng">
                      <a:noFill/>
                    </a:lnT>
                    <a:lnB w="9525" cmpd="sng">
                      <a:noFill/>
                    </a:lnB>
                    <a:solidFill>
                      <a:srgbClr val="FFFFFF"/>
                    </a:solidFill>
                  </a:tcPr>
                </a:tc>
              </a:tr>
              <a:tr h="405384">
                <a:tc>
                  <a:txBody>
                    <a:bodyPr wrap="square"/>
                    <a:lstStyle/>
                    <a:p>
                      <a:pPr algn="l"/>
                      <a:r>
                        <a:rPr sz="1700" b="0" i="0">
                          <a:solidFill>
                            <a:srgbClr val="1C252B"/>
                          </a:solidFill>
                          <a:latin typeface="Segoe UI"/>
                        </a:rPr>
                        <a:t>Polynomial</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Cambria"/>
                        </a:rPr>
                        <a:t>(γ </a:t>
                      </a:r>
                      <a:r>
                        <a:rPr sz="1700" b="1" i="1">
                          <a:solidFill>
                            <a:srgbClr val="1C252B"/>
                          </a:solidFill>
                          <a:latin typeface="Cambria"/>
                        </a:rPr>
                        <a:t>x</a:t>
                      </a:r>
                      <a:r>
                        <a:rPr sz="1700" b="0" i="0">
                          <a:solidFill>
                            <a:srgbClr val="1C252B"/>
                          </a:solidFill>
                          <a:latin typeface="Cambria"/>
                        </a:rPr>
                        <a:t>·</a:t>
                      </a:r>
                      <a:r>
                        <a:rPr sz="1700" b="1" i="1">
                          <a:solidFill>
                            <a:srgbClr val="1C252B"/>
                          </a:solidFill>
                          <a:latin typeface="Cambria"/>
                        </a:rPr>
                        <a:t>z</a:t>
                      </a:r>
                      <a:r>
                        <a:rPr sz="1700" b="0" i="0">
                          <a:solidFill>
                            <a:srgbClr val="1C252B"/>
                          </a:solidFill>
                          <a:latin typeface="Cambria"/>
                        </a:rPr>
                        <a:t> + </a:t>
                      </a:r>
                      <a:r>
                        <a:rPr sz="1700" b="0" i="1">
                          <a:solidFill>
                            <a:srgbClr val="1C252B"/>
                          </a:solidFill>
                          <a:latin typeface="Cambria"/>
                        </a:rPr>
                        <a:t>r</a:t>
                      </a:r>
                      <a:r>
                        <a:rPr sz="1700" b="0" i="0">
                          <a:solidFill>
                            <a:srgbClr val="1C252B"/>
                          </a:solidFill>
                          <a:latin typeface="Cambria"/>
                        </a:rPr>
                        <a:t>)</a:t>
                      </a:r>
                      <a:r>
                        <a:rPr sz="1700" b="0" i="1" baseline="30000">
                          <a:solidFill>
                            <a:srgbClr val="1C252B"/>
                          </a:solidFill>
                          <a:latin typeface="Cambria"/>
                        </a:rPr>
                        <a:t>p</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Interactions of up to </a:t>
                      </a:r>
                      <a:r>
                        <a:rPr sz="1700" b="0" i="1">
                          <a:solidFill>
                            <a:srgbClr val="1C252B"/>
                          </a:solidFill>
                          <a:latin typeface="Cambria"/>
                        </a:rPr>
                        <a:t>p</a:t>
                      </a:r>
                      <a:r>
                        <a:rPr sz="1700" b="0" i="0">
                          <a:solidFill>
                            <a:srgbClr val="1C252B"/>
                          </a:solidFill>
                          <a:latin typeface="Segoe UI"/>
                        </a:rPr>
                        <a:t> features; tune </a:t>
                      </a:r>
                      <a:r>
                        <a:rPr sz="1700" b="0" i="1">
                          <a:solidFill>
                            <a:srgbClr val="1C252B"/>
                          </a:solidFill>
                          <a:latin typeface="Cambria"/>
                        </a:rPr>
                        <a:t>p</a:t>
                      </a:r>
                      <a:r>
                        <a:rPr sz="1700" b="0" i="0">
                          <a:solidFill>
                            <a:srgbClr val="1C252B"/>
                          </a:solidFill>
                          <a:latin typeface="Segoe UI"/>
                        </a:rPr>
                        <a:t>, </a:t>
                      </a:r>
                      <a:r>
                        <a:rPr sz="1700" b="0" i="1">
                          <a:solidFill>
                            <a:srgbClr val="1C252B"/>
                          </a:solidFill>
                          <a:latin typeface="Cambria"/>
                        </a:rPr>
                        <a:t>C</a:t>
                      </a:r>
                      <a:endParaRPr sz="1700"/>
                    </a:p>
                  </a:txBody>
                  <a:tcPr marL="109728" marR="109728" marT="64008" marB="45720" anchor="t">
                    <a:lnL w="0" cmpd="sng">
                      <a:noFill/>
                    </a:lnL>
                    <a:lnR w="0" cmpd="sng">
                      <a:noFill/>
                    </a:lnR>
                    <a:lnT w="9525" cmpd="sng">
                      <a:noFill/>
                    </a:lnT>
                    <a:lnB w="9525" cmpd="sng">
                      <a:noFill/>
                    </a:lnB>
                    <a:solidFill>
                      <a:srgbClr val="F2F8FC"/>
                    </a:solidFill>
                  </a:tcPr>
                </a:tc>
              </a:tr>
              <a:tr h="1182624">
                <a:tc>
                  <a:txBody>
                    <a:bodyPr wrap="square"/>
                    <a:lstStyle/>
                    <a:p>
                      <a:pPr algn="l"/>
                      <a:r>
                        <a:rPr sz="1700" b="0" i="0">
                          <a:solidFill>
                            <a:srgbClr val="1C252B"/>
                          </a:solidFill>
                          <a:latin typeface="Segoe UI"/>
                        </a:rPr>
                        <a:t>RBF (Gaussian)</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0">
                          <a:solidFill>
                            <a:srgbClr val="1C252B"/>
                          </a:solidFill>
                          <a:latin typeface="Cambria"/>
                        </a:rPr>
                        <a:t>exp(−γ‖</a:t>
                      </a:r>
                      <a:r>
                        <a:rPr sz="1700" b="1" i="1">
                          <a:solidFill>
                            <a:srgbClr val="1C252B"/>
                          </a:solidFill>
                          <a:latin typeface="Cambria"/>
                        </a:rPr>
                        <a:t>x</a:t>
                      </a:r>
                      <a:r>
                        <a:rPr sz="1700" b="0" i="0">
                          <a:solidFill>
                            <a:srgbClr val="1C252B"/>
                          </a:solidFill>
                          <a:latin typeface="Cambria"/>
                        </a:rPr>
                        <a:t> − </a:t>
                      </a:r>
                      <a:r>
                        <a:rPr sz="1700" b="1" i="1">
                          <a:solidFill>
                            <a:srgbClr val="1C252B"/>
                          </a:solidFill>
                          <a:latin typeface="Cambria"/>
                        </a:rPr>
                        <a:t>z</a:t>
                      </a:r>
                      <a:r>
                        <a:rPr sz="1700" b="0" i="0">
                          <a:solidFill>
                            <a:srgbClr val="1C252B"/>
                          </a:solidFill>
                          <a:latin typeface="Cambria"/>
                        </a:rPr>
                        <a:t>‖</a:t>
                      </a:r>
                      <a:r>
                        <a:rPr sz="1700" b="0" i="0" baseline="30000">
                          <a:solidFill>
                            <a:srgbClr val="1C252B"/>
                          </a:solidFill>
                          <a:latin typeface="Cambria"/>
                        </a:rPr>
                        <a:t>2</a:t>
                      </a:r>
                      <a:r>
                        <a:rPr sz="1700" b="0" i="0">
                          <a:solidFill>
                            <a:srgbClr val="1C252B"/>
                          </a:solidFill>
                          <a:latin typeface="Cambria"/>
                        </a:rPr>
                        <a:t>)</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0">
                          <a:solidFill>
                            <a:srgbClr val="1C252B"/>
                          </a:solidFill>
                          <a:latin typeface="Segoe UI"/>
                        </a:rPr>
                        <a:t>The default for non-linear problems. Large </a:t>
                      </a:r>
                      <a:r>
                        <a:rPr sz="1700" b="0" i="0">
                          <a:solidFill>
                            <a:srgbClr val="1C252B"/>
                          </a:solidFill>
                          <a:latin typeface="Cambria"/>
                        </a:rPr>
                        <a:t>γ</a:t>
                      </a:r>
                      <a:r>
                        <a:rPr sz="1700" b="0" i="0">
                          <a:solidFill>
                            <a:srgbClr val="1C252B"/>
                          </a:solidFill>
                          <a:latin typeface="Segoe UI"/>
                        </a:rPr>
                        <a:t>: each point’s influence is narrow, the boundary wiggles (variance). Small </a:t>
                      </a:r>
                      <a:r>
                        <a:rPr sz="1700" b="0" i="0">
                          <a:solidFill>
                            <a:srgbClr val="1C252B"/>
                          </a:solidFill>
                          <a:latin typeface="Cambria"/>
                        </a:rPr>
                        <a:t>γ</a:t>
                      </a:r>
                      <a:r>
                        <a:rPr sz="1700" b="0" i="0">
                          <a:solidFill>
                            <a:srgbClr val="1C252B"/>
                          </a:solidFill>
                          <a:latin typeface="Segoe UI"/>
                        </a:rPr>
                        <a:t>: smooth boundary (bias). Tune </a:t>
                      </a:r>
                      <a:r>
                        <a:rPr sz="1700" b="0" i="1">
                          <a:solidFill>
                            <a:srgbClr val="1C252B"/>
                          </a:solidFill>
                          <a:latin typeface="Cambria"/>
                        </a:rPr>
                        <a:t>C</a:t>
                      </a:r>
                      <a:r>
                        <a:rPr sz="1700" b="0" i="0">
                          <a:solidFill>
                            <a:srgbClr val="1C252B"/>
                          </a:solidFill>
                          <a:latin typeface="Segoe UI"/>
                        </a:rPr>
                        <a:t> and </a:t>
                      </a:r>
                      <a:r>
                        <a:rPr sz="1700" b="0" i="0">
                          <a:solidFill>
                            <a:srgbClr val="1C252B"/>
                          </a:solidFill>
                          <a:latin typeface="Cambria"/>
                        </a:rPr>
                        <a:t>γ</a:t>
                      </a:r>
                      <a:r>
                        <a:rPr sz="1700" b="0" i="0">
                          <a:solidFill>
                            <a:srgbClr val="1C252B"/>
                          </a:solidFill>
                          <a:latin typeface="Segoe UI"/>
                        </a:rPr>
                        <a:t> together</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530073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Scale the Features, Then Tune C and γ Together</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§12.4  ·  Handout p. 93     </a:t>
            </a:r>
            <a:fld id="{7E5FCAD6-0ACA-441A-A72D-346AA771F21D}" type="slidenum">
              <a:rPr lang="en-GB" sz="1000">
                <a:solidFill>
                  <a:srgbClr val="8795A1"/>
                </a:solidFill>
                <a:latin typeface="Segoe UI"/>
              </a:rPr>
              <a:t>21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809036"/>
          </a:xfrm>
          <a:prstGeom prst="roundRect">
            <a:avLst>
              <a:gd name="adj" fmla="val 3255"/>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809036"/>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23296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RBF kernel is a function of distance, so everything said about scaling in Chapter 11 applies. And </a:t>
            </a:r>
            <a:r>
              <a:rPr sz="2300" b="0" i="1">
                <a:solidFill>
                  <a:srgbClr val="1C252B"/>
                </a:solidFill>
                <a:latin typeface="Cambria"/>
              </a:rPr>
              <a:t>C</a:t>
            </a:r>
            <a:r>
              <a:rPr sz="2300" b="0" i="0">
                <a:solidFill>
                  <a:srgbClr val="1C252B"/>
                </a:solidFill>
                <a:latin typeface="Segoe UI"/>
              </a:rPr>
              <a:t> and </a:t>
            </a:r>
            <a:r>
              <a:rPr sz="2300" b="0" i="0">
                <a:solidFill>
                  <a:srgbClr val="1C252B"/>
                </a:solidFill>
                <a:latin typeface="Cambria"/>
              </a:rPr>
              <a:t>γ</a:t>
            </a:r>
            <a:r>
              <a:rPr sz="2300" b="0" i="0">
                <a:solidFill>
                  <a:srgbClr val="1C252B"/>
                </a:solidFill>
                <a:latin typeface="Segoe UI"/>
              </a:rPr>
              <a:t> interact — a larger </a:t>
            </a:r>
            <a:r>
              <a:rPr sz="2300" b="0" i="0">
                <a:solidFill>
                  <a:srgbClr val="1C252B"/>
                </a:solidFill>
                <a:latin typeface="Cambria"/>
              </a:rPr>
              <a:t>γ</a:t>
            </a:r>
            <a:r>
              <a:rPr sz="2300" b="0" i="0">
                <a:solidFill>
                  <a:srgbClr val="1C252B"/>
                </a:solidFill>
                <a:latin typeface="Segoe UI"/>
              </a:rPr>
              <a:t> often wants a smaller </a:t>
            </a:r>
            <a:r>
              <a:rPr sz="2300" b="0" i="1">
                <a:solidFill>
                  <a:srgbClr val="1C252B"/>
                </a:solidFill>
                <a:latin typeface="Cambria"/>
              </a:rPr>
              <a:t>C</a:t>
            </a:r>
            <a:r>
              <a:rPr sz="2300" b="0" i="0">
                <a:solidFill>
                  <a:srgbClr val="1C252B"/>
                </a:solidFill>
                <a:latin typeface="Segoe UI"/>
              </a:rPr>
              <a:t> — so search them as a grid, on a logarithmic scale (</a:t>
            </a:r>
            <a:r>
              <a:rPr sz="2150" b="0" i="0">
                <a:solidFill>
                  <a:srgbClr val="1F4E79"/>
                </a:solidFill>
                <a:latin typeface="Consolas"/>
              </a:rPr>
              <a:t>C</a:t>
            </a:r>
            <a:r>
              <a:rPr sz="2300" b="0" i="0">
                <a:solidFill>
                  <a:srgbClr val="1C252B"/>
                </a:solidFill>
                <a:latin typeface="Segoe UI"/>
              </a:rPr>
              <a:t> in </a:t>
            </a:r>
            <a:r>
              <a:rPr sz="2300" b="0" i="0">
                <a:solidFill>
                  <a:srgbClr val="1C252B"/>
                </a:solidFill>
                <a:latin typeface="Cambria"/>
              </a:rPr>
              <a:t>{0.1, 1, 10, 100}</a:t>
            </a:r>
            <a:r>
              <a:rPr sz="2300" b="0" i="0">
                <a:solidFill>
                  <a:srgbClr val="1C252B"/>
                </a:solidFill>
                <a:latin typeface="Segoe UI"/>
              </a:rPr>
              <a:t>, </a:t>
            </a:r>
            <a:r>
              <a:rPr sz="2150" b="0" i="0">
                <a:solidFill>
                  <a:srgbClr val="1F4E79"/>
                </a:solidFill>
                <a:latin typeface="Consolas"/>
              </a:rPr>
              <a:t>gamma</a:t>
            </a:r>
            <a:r>
              <a:rPr sz="2300" b="0" i="0">
                <a:solidFill>
                  <a:srgbClr val="1C252B"/>
                </a:solidFill>
                <a:latin typeface="Segoe UI"/>
              </a:rPr>
              <a:t> in </a:t>
            </a:r>
            <a:r>
              <a:rPr sz="2300" b="0" i="0">
                <a:solidFill>
                  <a:srgbClr val="1C252B"/>
                </a:solidFill>
                <a:latin typeface="Cambria"/>
              </a:rPr>
              <a:t>{0.001, 0.01, 0.1, 1}</a:t>
            </a:r>
            <a:r>
              <a:rPr sz="2300" b="0" i="0">
                <a:solidFill>
                  <a:srgbClr val="1C252B"/>
                </a:solidFill>
                <a:latin typeface="Segoe UI"/>
              </a:rPr>
              <a:t>), by cross-validation. On the breast cancer data this finds </a:t>
            </a:r>
            <a:r>
              <a:rPr sz="2300" b="0" i="1">
                <a:solidFill>
                  <a:srgbClr val="1C252B"/>
                </a:solidFill>
                <a:latin typeface="Cambria"/>
              </a:rPr>
              <a:t>C</a:t>
            </a:r>
            <a:r>
              <a:rPr sz="2300" b="0" i="0">
                <a:solidFill>
                  <a:srgbClr val="1C252B"/>
                </a:solidFill>
                <a:latin typeface="Cambria"/>
              </a:rPr>
              <a:t> = 10</a:t>
            </a:r>
            <a:r>
              <a:rPr sz="2300" b="0" i="0">
                <a:solidFill>
                  <a:srgbClr val="1C252B"/>
                </a:solidFill>
                <a:latin typeface="Segoe UI"/>
              </a:rPr>
              <a:t>, </a:t>
            </a:r>
            <a:r>
              <a:rPr sz="2300" b="0" i="0">
                <a:solidFill>
                  <a:srgbClr val="1C252B"/>
                </a:solidFill>
                <a:latin typeface="Cambria"/>
              </a:rPr>
              <a:t>γ = 0.01</a:t>
            </a:r>
            <a:r>
              <a:rPr sz="2300" b="0" i="0">
                <a:solidFill>
                  <a:srgbClr val="1C252B"/>
                </a:solidFill>
                <a:latin typeface="Segoe UI"/>
              </a:rPr>
              <a:t> and 97.9% accuracy using 64 of the 569 examples as support vectors.</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556577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§12.5  ·  Handout p. 95     </a:t>
            </a:r>
            <a:fld id="{FA8C2AD6-1A88-40CC-8101-D975A438C128}" type="slidenum">
              <a:rPr lang="en-GB" sz="1000">
                <a:solidFill>
                  <a:srgbClr val="8795A1"/>
                </a:solidFill>
                <a:latin typeface="Segoe UI"/>
              </a:rPr>
              <a:t>22</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Not scaling features.</a:t>
            </a:r>
            <a:r>
              <a:rPr sz="2100" b="0" i="0">
                <a:solidFill>
                  <a:srgbClr val="1C252B"/>
                </a:solidFill>
                <a:latin typeface="Segoe UI"/>
              </a:rPr>
              <a:t> The RBF kernel and the margin are both distances.</a:t>
            </a:r>
          </a:p>
        </p:txBody>
      </p:sp>
      <p:sp>
        <p:nvSpPr>
          <p:cNvPr id="10" name="!!pb1">
            <a:extLst>
              <a:ext uri="{C183D7F6-B498-43B3-948B-1728B52AA6E4}">
                <adec:decorative xmlns:adec="http://schemas.microsoft.com/office/drawing/2017/decorative" val="1"/>
              </a:ext>
            </a:extLst>
          </p:cNvPr>
          <p:cNvSpPr/>
          <p:nvPr/>
        </p:nvSpPr>
        <p:spPr>
          <a:xfrm>
            <a:off x="658368" y="2322576"/>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345436"/>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304288"/>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Tuning </a:t>
            </a:r>
            <a:r>
              <a:rPr sz="2100" b="1" i="1">
                <a:solidFill>
                  <a:srgbClr val="1C252B"/>
                </a:solidFill>
                <a:latin typeface="Cambria"/>
              </a:rPr>
              <a:t>C</a:t>
            </a:r>
            <a:r>
              <a:rPr sz="2100" b="1" i="0">
                <a:solidFill>
                  <a:srgbClr val="1C252B"/>
                </a:solidFill>
                <a:latin typeface="Segoe UI"/>
              </a:rPr>
              <a:t> and </a:t>
            </a:r>
            <a:r>
              <a:rPr sz="2100" b="1" i="0">
                <a:solidFill>
                  <a:srgbClr val="1C252B"/>
                </a:solidFill>
                <a:latin typeface="Cambria"/>
              </a:rPr>
              <a:t>γ</a:t>
            </a:r>
            <a:r>
              <a:rPr sz="2100" b="1" i="0">
                <a:solidFill>
                  <a:srgbClr val="1C252B"/>
                </a:solidFill>
                <a:latin typeface="Segoe UI"/>
              </a:rPr>
              <a:t> separately.</a:t>
            </a:r>
            <a:r>
              <a:rPr sz="2100" b="0" i="0">
                <a:solidFill>
                  <a:srgbClr val="1C252B"/>
                </a:solidFill>
                <a:latin typeface="Segoe UI"/>
              </a:rPr>
              <a:t> They interact; use a grid.</a:t>
            </a:r>
          </a:p>
        </p:txBody>
      </p:sp>
      <p:sp>
        <p:nvSpPr>
          <p:cNvPr id="13" name="!!pb2">
            <a:extLst>
              <a:ext uri="{C183D7F6-B498-43B3-948B-1728B52AA6E4}">
                <adec:decorative xmlns:adec="http://schemas.microsoft.com/office/drawing/2017/decorative" val="1"/>
              </a:ext>
            </a:extLst>
          </p:cNvPr>
          <p:cNvSpPr/>
          <p:nvPr/>
        </p:nvSpPr>
        <p:spPr>
          <a:xfrm>
            <a:off x="658368" y="2889504"/>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2912364"/>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2871216"/>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Using a huge </a:t>
            </a:r>
            <a:r>
              <a:rPr sz="2100" b="1" i="1">
                <a:solidFill>
                  <a:srgbClr val="1C252B"/>
                </a:solidFill>
                <a:latin typeface="Cambria"/>
              </a:rPr>
              <a:t>C</a:t>
            </a:r>
            <a:r>
              <a:rPr sz="2100" b="1" i="0">
                <a:solidFill>
                  <a:srgbClr val="1C252B"/>
                </a:solidFill>
                <a:latin typeface="Segoe UI"/>
              </a:rPr>
              <a:t> on noisy data.</a:t>
            </a:r>
            <a:r>
              <a:rPr sz="2100" b="0" i="0">
                <a:solidFill>
                  <a:srgbClr val="1C252B"/>
                </a:solidFill>
                <a:latin typeface="Segoe UI"/>
              </a:rPr>
              <a:t> The hard margin chases every mislabelled point.</a:t>
            </a:r>
          </a:p>
        </p:txBody>
      </p:sp>
      <p:sp>
        <p:nvSpPr>
          <p:cNvPr id="16" name="!!pb3">
            <a:extLst>
              <a:ext uri="{C183D7F6-B498-43B3-948B-1728B52AA6E4}">
                <adec:decorative xmlns:adec="http://schemas.microsoft.com/office/drawing/2017/decorative" val="1"/>
              </a:ext>
            </a:extLst>
          </p:cNvPr>
          <p:cNvSpPr/>
          <p:nvPr/>
        </p:nvSpPr>
        <p:spPr>
          <a:xfrm>
            <a:off x="658368" y="3456432"/>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3479292"/>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3438144"/>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Reading </a:t>
            </a:r>
            <a:r>
              <a:rPr sz="2100" b="1" i="1">
                <a:solidFill>
                  <a:srgbClr val="1C252B"/>
                </a:solidFill>
                <a:latin typeface="Cambria"/>
              </a:rPr>
              <a:t>f</a:t>
            </a:r>
            <a:r>
              <a:rPr sz="2100" b="1" i="0">
                <a:solidFill>
                  <a:srgbClr val="1C252B"/>
                </a:solidFill>
                <a:latin typeface="Cambria"/>
              </a:rPr>
              <a:t>(</a:t>
            </a:r>
            <a:r>
              <a:rPr sz="2100" b="1" i="1">
                <a:solidFill>
                  <a:srgbClr val="1C252B"/>
                </a:solidFill>
                <a:latin typeface="Cambria"/>
              </a:rPr>
              <a:t>x</a:t>
            </a:r>
            <a:r>
              <a:rPr sz="2100" b="1" i="0">
                <a:solidFill>
                  <a:srgbClr val="1C252B"/>
                </a:solidFill>
                <a:latin typeface="Cambria"/>
              </a:rPr>
              <a:t>)</a:t>
            </a:r>
            <a:r>
              <a:rPr sz="2100" b="1" i="0">
                <a:solidFill>
                  <a:srgbClr val="1C252B"/>
                </a:solidFill>
                <a:latin typeface="Segoe UI"/>
              </a:rPr>
              <a:t> as a probability.</a:t>
            </a:r>
            <a:r>
              <a:rPr sz="2100" b="0" i="0">
                <a:solidFill>
                  <a:srgbClr val="1C252B"/>
                </a:solidFill>
                <a:latin typeface="Segoe UI"/>
              </a:rPr>
              <a:t> It is a signed distance; calibrate if probabilities are needed.</a:t>
            </a:r>
          </a:p>
        </p:txBody>
      </p:sp>
      <p:sp>
        <p:nvSpPr>
          <p:cNvPr id="19" name="!!pb4">
            <a:extLst>
              <a:ext uri="{C183D7F6-B498-43B3-948B-1728B52AA6E4}">
                <adec:decorative xmlns:adec="http://schemas.microsoft.com/office/drawing/2017/decorative" val="1"/>
              </a:ext>
            </a:extLst>
          </p:cNvPr>
          <p:cNvSpPr/>
          <p:nvPr/>
        </p:nvSpPr>
        <p:spPr>
          <a:xfrm>
            <a:off x="658368" y="4323283"/>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4346143"/>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4304995"/>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Running a kernel SVM on a million rows.</a:t>
            </a:r>
            <a:r>
              <a:rPr sz="2100" b="0" i="0">
                <a:solidFill>
                  <a:srgbClr val="1C252B"/>
                </a:solidFill>
                <a:latin typeface="Segoe UI"/>
              </a:rPr>
              <a:t> Use a linear SVM, or a different model.</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583081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Four lenses: Support Vector Machines</a:t>
            </a:r>
          </a:p>
        </p:txBody>
      </p:sp>
      <p:pic>
        <p:nvPicPr>
          <p:cNvPr id="3" name="!!kicker-icon" descr="compass-123953.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23953"/>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97     </a:t>
            </a:r>
            <a:fld id="{EAB801D5-21D8-41D8-A735-81D50294EA22}" type="slidenum">
              <a:rPr lang="en-GB" sz="1000">
                <a:solidFill>
                  <a:srgbClr val="8795A1"/>
                </a:solidFill>
                <a:latin typeface="Segoe UI"/>
              </a:rPr>
              <a:t>23</a:t>
            </a:fld>
          </a:p>
        </p:txBody>
      </p:sp>
      <p:sp>
        <p:nvSpPr>
          <p:cNvPr id="7" name="!!lens-LA">
            <a:extLst>
              <a:ext uri="{C183D7F6-B498-43B3-948B-1728B52AA6E4}">
                <adec:decorative xmlns:adec="http://schemas.microsoft.com/office/drawing/2017/decorative" val="1"/>
              </a:ext>
            </a:extLst>
          </p:cNvPr>
          <p:cNvSpPr/>
          <p:nvPr/>
        </p:nvSpPr>
        <p:spPr>
          <a:xfrm>
            <a:off x="658368" y="1737360"/>
            <a:ext cx="5318607" cy="2176272"/>
          </a:xfrm>
          <a:prstGeom prst="roundRect">
            <a:avLst>
              <a:gd name="adj" fmla="val 4201"/>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LA">
            <a:extLst>
              <a:ext uri="{C183D7F6-B498-43B3-948B-1728B52AA6E4}">
                <adec:decorative xmlns:adec="http://schemas.microsoft.com/office/drawing/2017/decorative" val="1"/>
              </a:ext>
            </a:extLst>
          </p:cNvPr>
          <p:cNvSpPr/>
          <p:nvPr/>
        </p:nvSpPr>
        <p:spPr>
          <a:xfrm>
            <a:off x="658368" y="1737360"/>
            <a:ext cx="5318607"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LA">
            <a:extLst>
              <a:ext uri="{C183D7F6-B498-43B3-948B-1728B52AA6E4}">
                <adec:decorative xmlns:adec="http://schemas.microsoft.com/office/drawing/2017/decorative" val="1"/>
              </a:ext>
            </a:extLst>
          </p:cNvPr>
          <p:cNvSpPr/>
          <p:nvPr/>
        </p:nvSpPr>
        <p:spPr>
          <a:xfrm>
            <a:off x="658368" y="2121408"/>
            <a:ext cx="5318607"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LA" descr="graduation-cap-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419498" cy="256032"/>
          </a:xfrm>
          <a:prstGeom prst="rect">
            <a:avLst/>
          </a:prstGeom>
        </p:spPr>
      </p:pic>
      <p:sp>
        <p:nvSpPr>
          <p:cNvPr id="11" name="!!lensn-LA"/>
          <p:cNvSpPr txBox="1"/>
          <p:nvPr/>
        </p:nvSpPr>
        <p:spPr>
          <a:xfrm>
            <a:off x="1425337" y="1837943"/>
            <a:ext cx="4460197"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LEARNING ANALYTICS</a:t>
            </a:r>
          </a:p>
        </p:txBody>
      </p:sp>
      <p:sp>
        <p:nvSpPr>
          <p:cNvPr id="12" name="!!lensb-LA-0"/>
          <p:cNvSpPr txBox="1"/>
          <p:nvPr/>
        </p:nvSpPr>
        <p:spPr>
          <a:xfrm>
            <a:off x="896112" y="2414016"/>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With a few hundred students and a dozen engagement features, an RBF SVM is often among the most accurate classifiers available — and among the hardest to explain.</a:t>
            </a:r>
          </a:p>
        </p:txBody>
      </p:sp>
      <p:sp>
        <p:nvSpPr>
          <p:cNvPr id="13" name="!!lens-PM">
            <a:extLst>
              <a:ext uri="{C183D7F6-B498-43B3-948B-1728B52AA6E4}">
                <adec:decorative xmlns:adec="http://schemas.microsoft.com/office/drawing/2017/decorative" val="1"/>
              </a:ext>
            </a:extLst>
          </p:cNvPr>
          <p:cNvSpPr/>
          <p:nvPr/>
        </p:nvSpPr>
        <p:spPr>
          <a:xfrm>
            <a:off x="6214719" y="1737360"/>
            <a:ext cx="5318607" cy="2176272"/>
          </a:xfrm>
          <a:prstGeom prst="roundRect">
            <a:avLst>
              <a:gd name="adj" fmla="val 4201"/>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PM">
            <a:extLst>
              <a:ext uri="{C183D7F6-B498-43B3-948B-1728B52AA6E4}">
                <adec:decorative xmlns:adec="http://schemas.microsoft.com/office/drawing/2017/decorative" val="1"/>
              </a:ext>
            </a:extLst>
          </p:cNvPr>
          <p:cNvSpPr/>
          <p:nvPr/>
        </p:nvSpPr>
        <p:spPr>
          <a:xfrm>
            <a:off x="6214719" y="1737360"/>
            <a:ext cx="5318607"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PM">
            <a:extLst>
              <a:ext uri="{C183D7F6-B498-43B3-948B-1728B52AA6E4}">
                <adec:decorative xmlns:adec="http://schemas.microsoft.com/office/drawing/2017/decorative" val="1"/>
              </a:ext>
            </a:extLst>
          </p:cNvPr>
          <p:cNvSpPr/>
          <p:nvPr/>
        </p:nvSpPr>
        <p:spPr>
          <a:xfrm>
            <a:off x="6214719" y="2121408"/>
            <a:ext cx="5318607"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PM" descr="tasks-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415887" y="1856231"/>
            <a:ext cx="301783" cy="256032"/>
          </a:xfrm>
          <a:prstGeom prst="rect">
            <a:avLst/>
          </a:prstGeom>
        </p:spPr>
      </p:pic>
      <p:sp>
        <p:nvSpPr>
          <p:cNvPr id="17" name="!!lensn-PM"/>
          <p:cNvSpPr txBox="1"/>
          <p:nvPr/>
        </p:nvSpPr>
        <p:spPr>
          <a:xfrm>
            <a:off x="6863974" y="1837943"/>
            <a:ext cx="4577912"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PROJECT MANAGEMENT</a:t>
            </a:r>
          </a:p>
        </p:txBody>
      </p:sp>
      <p:sp>
        <p:nvSpPr>
          <p:cNvPr id="18" name="!!lensb-PM-0"/>
          <p:cNvSpPr txBox="1"/>
          <p:nvPr/>
        </p:nvSpPr>
        <p:spPr>
          <a:xfrm>
            <a:off x="6452463" y="2414016"/>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Text classification of requirement statements (functional or not, ambiguous or not) with a linear SVM over word counts is a classic, strong baseline: high-dimensional, sparse data is where linear SVMs are at their best.</a:t>
            </a:r>
          </a:p>
        </p:txBody>
      </p:sp>
      <p:sp>
        <p:nvSpPr>
          <p:cNvPr id="19" name="!!lens-IOT">
            <a:extLst>
              <a:ext uri="{C183D7F6-B498-43B3-948B-1728B52AA6E4}">
                <adec:decorative xmlns:adec="http://schemas.microsoft.com/office/drawing/2017/decorative" val="1"/>
              </a:ext>
            </a:extLst>
          </p:cNvPr>
          <p:cNvSpPr/>
          <p:nvPr/>
        </p:nvSpPr>
        <p:spPr>
          <a:xfrm>
            <a:off x="658368" y="4133087"/>
            <a:ext cx="5318607" cy="2176272"/>
          </a:xfrm>
          <a:prstGeom prst="roundRect">
            <a:avLst>
              <a:gd name="adj" fmla="val 4201"/>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IOT">
            <a:extLst>
              <a:ext uri="{C183D7F6-B498-43B3-948B-1728B52AA6E4}">
                <adec:decorative xmlns:adec="http://schemas.microsoft.com/office/drawing/2017/decorative" val="1"/>
              </a:ext>
            </a:extLst>
          </p:cNvPr>
          <p:cNvSpPr/>
          <p:nvPr/>
        </p:nvSpPr>
        <p:spPr>
          <a:xfrm>
            <a:off x="658368" y="4133087"/>
            <a:ext cx="5318607"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lensh2-IOT">
            <a:extLst>
              <a:ext uri="{C183D7F6-B498-43B3-948B-1728B52AA6E4}">
                <adec:decorative xmlns:adec="http://schemas.microsoft.com/office/drawing/2017/decorative" val="1"/>
              </a:ext>
            </a:extLst>
          </p:cNvPr>
          <p:cNvSpPr/>
          <p:nvPr/>
        </p:nvSpPr>
        <p:spPr>
          <a:xfrm>
            <a:off x="658368" y="4517136"/>
            <a:ext cx="5318607"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2" name="!!lensi-IOT" descr="microchip-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59536" y="4251959"/>
            <a:ext cx="256032" cy="256032"/>
          </a:xfrm>
          <a:prstGeom prst="rect">
            <a:avLst/>
          </a:prstGeom>
        </p:spPr>
      </p:pic>
      <p:sp>
        <p:nvSpPr>
          <p:cNvPr id="23" name="!!lensn-IOT"/>
          <p:cNvSpPr txBox="1"/>
          <p:nvPr/>
        </p:nvSpPr>
        <p:spPr>
          <a:xfrm>
            <a:off x="1261872" y="4233672"/>
            <a:ext cx="4623663"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INTERNET OF THINGS</a:t>
            </a:r>
          </a:p>
        </p:txBody>
      </p:sp>
      <p:sp>
        <p:nvSpPr>
          <p:cNvPr id="24" name="!!lensb-IOT-0"/>
          <p:cNvSpPr txBox="1"/>
          <p:nvPr/>
        </p:nvSpPr>
        <p:spPr>
          <a:xfrm>
            <a:off x="896112" y="4809744"/>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 trained linear SVM is a single weight vector, so inference on a device is one dot product.</a:t>
            </a:r>
          </a:p>
        </p:txBody>
      </p:sp>
      <p:sp>
        <p:nvSpPr>
          <p:cNvPr id="25" name="!!lens-SEC">
            <a:extLst>
              <a:ext uri="{C183D7F6-B498-43B3-948B-1728B52AA6E4}">
                <adec:decorative xmlns:adec="http://schemas.microsoft.com/office/drawing/2017/decorative" val="1"/>
              </a:ext>
            </a:extLst>
          </p:cNvPr>
          <p:cNvSpPr/>
          <p:nvPr/>
        </p:nvSpPr>
        <p:spPr>
          <a:xfrm>
            <a:off x="6214719" y="4133087"/>
            <a:ext cx="5318607" cy="2176272"/>
          </a:xfrm>
          <a:prstGeom prst="roundRect">
            <a:avLst>
              <a:gd name="adj" fmla="val 4201"/>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lensh-SEC">
            <a:extLst>
              <a:ext uri="{C183D7F6-B498-43B3-948B-1728B52AA6E4}">
                <adec:decorative xmlns:adec="http://schemas.microsoft.com/office/drawing/2017/decorative" val="1"/>
              </a:ext>
            </a:extLst>
          </p:cNvPr>
          <p:cNvSpPr/>
          <p:nvPr/>
        </p:nvSpPr>
        <p:spPr>
          <a:xfrm>
            <a:off x="6214719" y="4133087"/>
            <a:ext cx="5318607"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lensh2-SEC">
            <a:extLst>
              <a:ext uri="{C183D7F6-B498-43B3-948B-1728B52AA6E4}">
                <adec:decorative xmlns:adec="http://schemas.microsoft.com/office/drawing/2017/decorative" val="1"/>
              </a:ext>
            </a:extLst>
          </p:cNvPr>
          <p:cNvSpPr/>
          <p:nvPr/>
        </p:nvSpPr>
        <p:spPr>
          <a:xfrm>
            <a:off x="6214719" y="4517136"/>
            <a:ext cx="5318607"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8"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415887" y="4251959"/>
            <a:ext cx="256032" cy="256032"/>
          </a:xfrm>
          <a:prstGeom prst="rect">
            <a:avLst/>
          </a:prstGeom>
        </p:spPr>
      </p:pic>
      <p:sp>
        <p:nvSpPr>
          <p:cNvPr id="29" name="!!lensn-SEC"/>
          <p:cNvSpPr txBox="1"/>
          <p:nvPr/>
        </p:nvSpPr>
        <p:spPr>
          <a:xfrm>
            <a:off x="6818223" y="4233672"/>
            <a:ext cx="4623663"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CYBERSECURITY</a:t>
            </a:r>
          </a:p>
        </p:txBody>
      </p:sp>
      <p:sp>
        <p:nvSpPr>
          <p:cNvPr id="30" name="!!lensb-SEC-0"/>
          <p:cNvSpPr txBox="1"/>
          <p:nvPr/>
        </p:nvSpPr>
        <p:spPr>
          <a:xfrm>
            <a:off x="6452463" y="4809744"/>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SVMs were for years the standard malware and intrusion classifier over static file features.</a:t>
            </a:r>
          </a:p>
        </p:txBody>
      </p:sp>
      <p:sp>
        <p:nvSpPr>
          <p:cNvPr id="3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pfill">
            <a:extLst>
              <a:ext uri="{C183D7F6-B498-43B3-948B-1728B52AA6E4}">
                <adec:decorative xmlns:adec="http://schemas.microsoft.com/office/drawing/2017/decorative" val="1"/>
              </a:ext>
            </a:extLst>
          </p:cNvPr>
          <p:cNvSpPr/>
          <p:nvPr/>
        </p:nvSpPr>
        <p:spPr>
          <a:xfrm>
            <a:off x="0" y="0"/>
            <a:ext cx="609584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Learning Analytics: Support Vector Machines</a:t>
            </a:r>
          </a:p>
        </p:txBody>
      </p:sp>
      <p:pic>
        <p:nvPicPr>
          <p:cNvPr id="3" name="!!kicker-icon" descr="compass-6C3483.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6C3483"/>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97     </a:t>
            </a:r>
            <a:fld id="{83A9ABBD-21C6-498D-AA7F-B7501A59A1CD}" type="slidenum">
              <a:rPr lang="en-GB" sz="1000">
                <a:solidFill>
                  <a:srgbClr val="8795A1"/>
                </a:solidFill>
                <a:latin typeface="Segoe UI"/>
              </a:rPr>
              <a:t>24</a:t>
            </a:fld>
          </a:p>
        </p:txBody>
      </p:sp>
      <p:sp>
        <p:nvSpPr>
          <p:cNvPr id="7" name="!!lens-LA">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6F3F8"/>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LA">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LA">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LA" descr="graduation-cap-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419498" cy="256032"/>
          </a:xfrm>
          <a:prstGeom prst="rect">
            <a:avLst/>
          </a:prstGeom>
        </p:spPr>
      </p:pic>
      <p:sp>
        <p:nvSpPr>
          <p:cNvPr id="11" name="!!lensn-LA"/>
          <p:cNvSpPr txBox="1"/>
          <p:nvPr/>
        </p:nvSpPr>
        <p:spPr>
          <a:xfrm>
            <a:off x="1425337" y="1837943"/>
            <a:ext cx="7181909"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LEARNING ANALYTICS</a:t>
            </a:r>
          </a:p>
        </p:txBody>
      </p:sp>
      <p:sp>
        <p:nvSpPr>
          <p:cNvPr id="12" name="!!lensb-LA-0"/>
          <p:cNvSpPr txBox="1"/>
          <p:nvPr/>
        </p:nvSpPr>
        <p:spPr>
          <a:xfrm>
            <a:off x="896112" y="2432304"/>
            <a:ext cx="7583119" cy="2137867"/>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With a few hundred students and a dozen engagement features, an RBF SVM is often among the most accurate classifiers available — and among the hardest to explain. The support vectors do give one explanation: the borderline students the model learned the boundary from, which advisers can examine directly.</a:t>
            </a:r>
          </a:p>
        </p:txBody>
      </p:sp>
      <p:sp>
        <p:nvSpPr>
          <p:cNvPr id="13" name="!!lens-PM">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PM">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PM">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PM" descr="tasks-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301783" cy="256032"/>
          </a:xfrm>
          <a:prstGeom prst="rect">
            <a:avLst/>
          </a:prstGeom>
        </p:spPr>
      </p:pic>
      <p:sp>
        <p:nvSpPr>
          <p:cNvPr id="17" name="!!lensn-PM"/>
          <p:cNvSpPr txBox="1"/>
          <p:nvPr/>
        </p:nvSpPr>
        <p:spPr>
          <a:xfrm>
            <a:off x="9585686" y="1837943"/>
            <a:ext cx="1856200"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Project Management</a:t>
            </a:r>
          </a:p>
        </p:txBody>
      </p:sp>
      <p:sp>
        <p:nvSpPr>
          <p:cNvPr id="18" name="!!lens-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IOT">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IOT" descr="microchip-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256032" cy="256032"/>
          </a:xfrm>
          <a:prstGeom prst="rect">
            <a:avLst/>
          </a:prstGeom>
        </p:spPr>
      </p:pic>
      <p:sp>
        <p:nvSpPr>
          <p:cNvPr id="22" name="!!lensn-IOT"/>
          <p:cNvSpPr txBox="1"/>
          <p:nvPr/>
        </p:nvSpPr>
        <p:spPr>
          <a:xfrm>
            <a:off x="9539935" y="2496312"/>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Internet of Things</a:t>
            </a:r>
          </a:p>
        </p:txBody>
      </p:sp>
      <p:sp>
        <p:nvSpPr>
          <p:cNvPr id="23" name="!!lens-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SEC">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SEC"/>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Cybersecurity</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636088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Project Management: Support Vector Machines</a:t>
            </a:r>
          </a:p>
        </p:txBody>
      </p:sp>
      <p:pic>
        <p:nvPicPr>
          <p:cNvPr id="3" name="!!kicker-icon" descr="compass-1F618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F618D"/>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97     </a:t>
            </a:r>
            <a:fld id="{6D53BCE6-A9A7-4780-B298-58BB978E897C}" type="slidenum">
              <a:rPr lang="en-GB" sz="1000">
                <a:solidFill>
                  <a:srgbClr val="8795A1"/>
                </a:solidFill>
                <a:latin typeface="Segoe UI"/>
              </a:rPr>
              <a:t>25</a:t>
            </a:fld>
          </a:p>
        </p:txBody>
      </p:sp>
      <p:sp>
        <p:nvSpPr>
          <p:cNvPr id="7" name="!!lens-PM">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2F6F8"/>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PM">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PM">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PM" descr="tasks-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301783" cy="256032"/>
          </a:xfrm>
          <a:prstGeom prst="rect">
            <a:avLst/>
          </a:prstGeom>
        </p:spPr>
      </p:pic>
      <p:sp>
        <p:nvSpPr>
          <p:cNvPr id="11" name="!!lensn-PM"/>
          <p:cNvSpPr txBox="1"/>
          <p:nvPr/>
        </p:nvSpPr>
        <p:spPr>
          <a:xfrm>
            <a:off x="1307622" y="1837943"/>
            <a:ext cx="7299624"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PROJECT MANAGEMENT</a:t>
            </a:r>
          </a:p>
        </p:txBody>
      </p:sp>
      <p:sp>
        <p:nvSpPr>
          <p:cNvPr id="12" name="!!lensb-PM-0"/>
          <p:cNvSpPr txBox="1"/>
          <p:nvPr/>
        </p:nvSpPr>
        <p:spPr>
          <a:xfrm>
            <a:off x="896112" y="2432304"/>
            <a:ext cx="7583119" cy="1440484"/>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Text classification of requirement statements (functional or not, ambiguous or not) with a linear SVM over word counts is a classic, strong baseline: high-dimensional, sparse data is where linear SVMs are at their best.</a:t>
            </a:r>
          </a:p>
        </p:txBody>
      </p:sp>
      <p:sp>
        <p:nvSpPr>
          <p:cNvPr id="13" name="!!lens-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LA">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LA" descr="graduation-cap-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419498" cy="256032"/>
          </a:xfrm>
          <a:prstGeom prst="rect">
            <a:avLst/>
          </a:prstGeom>
        </p:spPr>
      </p:pic>
      <p:sp>
        <p:nvSpPr>
          <p:cNvPr id="17" name="!!lensn-LA"/>
          <p:cNvSpPr txBox="1"/>
          <p:nvPr/>
        </p:nvSpPr>
        <p:spPr>
          <a:xfrm>
            <a:off x="9703401" y="1837943"/>
            <a:ext cx="1738485"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Learning Analytics</a:t>
            </a:r>
          </a:p>
        </p:txBody>
      </p:sp>
      <p:sp>
        <p:nvSpPr>
          <p:cNvPr id="18" name="!!lens-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IOT">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IOT" descr="microchip-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256032" cy="256032"/>
          </a:xfrm>
          <a:prstGeom prst="rect">
            <a:avLst/>
          </a:prstGeom>
        </p:spPr>
      </p:pic>
      <p:sp>
        <p:nvSpPr>
          <p:cNvPr id="22" name="!!lensn-IOT"/>
          <p:cNvSpPr txBox="1"/>
          <p:nvPr/>
        </p:nvSpPr>
        <p:spPr>
          <a:xfrm>
            <a:off x="9539935" y="2496312"/>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Internet of Things</a:t>
            </a:r>
          </a:p>
        </p:txBody>
      </p:sp>
      <p:sp>
        <p:nvSpPr>
          <p:cNvPr id="23" name="!!lens-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SEC">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SEC"/>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Cybersecurity</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662592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Internet of Things: Support Vector Machines</a:t>
            </a:r>
          </a:p>
        </p:txBody>
      </p:sp>
      <p:pic>
        <p:nvPicPr>
          <p:cNvPr id="3" name="!!kicker-icon" descr="compass-117864.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864"/>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97     </a:t>
            </a:r>
            <a:fld id="{EA2190D2-D79F-4970-81BD-D661BE0B1CFA}" type="slidenum">
              <a:rPr lang="en-GB" sz="1000">
                <a:solidFill>
                  <a:srgbClr val="8795A1"/>
                </a:solidFill>
                <a:latin typeface="Segoe UI"/>
              </a:rPr>
              <a:t>26</a:t>
            </a:fld>
          </a:p>
        </p:txBody>
      </p:sp>
      <p:sp>
        <p:nvSpPr>
          <p:cNvPr id="7" name="!!lens-IOT">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1F7F6"/>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IOT">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IOT">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IOT" descr="microchip-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256032" cy="256032"/>
          </a:xfrm>
          <a:prstGeom prst="rect">
            <a:avLst/>
          </a:prstGeom>
        </p:spPr>
      </p:pic>
      <p:sp>
        <p:nvSpPr>
          <p:cNvPr id="11" name="!!lensn-IOT"/>
          <p:cNvSpPr txBox="1"/>
          <p:nvPr/>
        </p:nvSpPr>
        <p:spPr>
          <a:xfrm>
            <a:off x="1261872" y="1837943"/>
            <a:ext cx="7345375"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INTERNET OF THINGS</a:t>
            </a:r>
          </a:p>
        </p:txBody>
      </p:sp>
      <p:sp>
        <p:nvSpPr>
          <p:cNvPr id="12" name="!!lensb-IOT-0"/>
          <p:cNvSpPr txBox="1"/>
          <p:nvPr/>
        </p:nvSpPr>
        <p:spPr>
          <a:xfrm>
            <a:off x="896112" y="2432304"/>
            <a:ext cx="7583119" cy="1440484"/>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A trained linear SVM is a single weight vector, so inference on a device is one dot product. Kernel SVMs must store their support vectors — often thousands — which may not fit; count them before choosing.</a:t>
            </a:r>
          </a:p>
        </p:txBody>
      </p:sp>
      <p:sp>
        <p:nvSpPr>
          <p:cNvPr id="13" name="!!lens-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LA">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LA" descr="graduation-cap-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419498" cy="256032"/>
          </a:xfrm>
          <a:prstGeom prst="rect">
            <a:avLst/>
          </a:prstGeom>
        </p:spPr>
      </p:pic>
      <p:sp>
        <p:nvSpPr>
          <p:cNvPr id="17" name="!!lensn-LA"/>
          <p:cNvSpPr txBox="1"/>
          <p:nvPr/>
        </p:nvSpPr>
        <p:spPr>
          <a:xfrm>
            <a:off x="9703401" y="1837943"/>
            <a:ext cx="1738485"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Learning Analytics</a:t>
            </a:r>
          </a:p>
        </p:txBody>
      </p:sp>
      <p:sp>
        <p:nvSpPr>
          <p:cNvPr id="18" name="!!lens-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PM">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PM" descr="tasks-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301783" cy="256032"/>
          </a:xfrm>
          <a:prstGeom prst="rect">
            <a:avLst/>
          </a:prstGeom>
        </p:spPr>
      </p:pic>
      <p:sp>
        <p:nvSpPr>
          <p:cNvPr id="22" name="!!lensn-PM"/>
          <p:cNvSpPr txBox="1"/>
          <p:nvPr/>
        </p:nvSpPr>
        <p:spPr>
          <a:xfrm>
            <a:off x="9585686" y="2496312"/>
            <a:ext cx="1856200"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Project Management</a:t>
            </a:r>
          </a:p>
        </p:txBody>
      </p:sp>
      <p:sp>
        <p:nvSpPr>
          <p:cNvPr id="23" name="!!lens-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SEC">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SEC"/>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Cybersecurity</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689095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Cybersecurity: Support Vector Machines</a:t>
            </a:r>
          </a:p>
        </p:txBody>
      </p:sp>
      <p:pic>
        <p:nvPicPr>
          <p:cNvPr id="3" name="!!kicker-icon" descr="compass-922B2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922B21"/>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97     </a:t>
            </a:r>
            <a:fld id="{180F3366-247E-46E0-8294-F3E69FF60A0C}" type="slidenum">
              <a:rPr lang="en-GB" sz="1000">
                <a:solidFill>
                  <a:srgbClr val="8795A1"/>
                </a:solidFill>
                <a:latin typeface="Segoe UI"/>
              </a:rPr>
              <a:t>27</a:t>
            </a:fld>
          </a:p>
        </p:txBody>
      </p:sp>
      <p:sp>
        <p:nvSpPr>
          <p:cNvPr id="7" name="!!lens-SEC">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8F2F2"/>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SEC">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SEC">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SEC" descr="shield-alt-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256032" cy="256032"/>
          </a:xfrm>
          <a:prstGeom prst="rect">
            <a:avLst/>
          </a:prstGeom>
        </p:spPr>
      </p:pic>
      <p:sp>
        <p:nvSpPr>
          <p:cNvPr id="11" name="!!lensn-SEC"/>
          <p:cNvSpPr txBox="1"/>
          <p:nvPr/>
        </p:nvSpPr>
        <p:spPr>
          <a:xfrm>
            <a:off x="1261872" y="1837943"/>
            <a:ext cx="7345375"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CYBERSECURITY</a:t>
            </a:r>
          </a:p>
        </p:txBody>
      </p:sp>
      <p:sp>
        <p:nvSpPr>
          <p:cNvPr id="12" name="!!lensb-SEC-0"/>
          <p:cNvSpPr txBox="1"/>
          <p:nvPr/>
        </p:nvSpPr>
        <p:spPr>
          <a:xfrm>
            <a:off x="896112" y="2432304"/>
            <a:ext cx="7583119"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SVMs were for years the standard malware and intrusion classifier over static file features. The margin gives some robustness to small changes an attacker makes, but only in the directions the features capture; an attacker who changes features the model ignores is not slowed at all.</a:t>
            </a:r>
          </a:p>
        </p:txBody>
      </p:sp>
      <p:sp>
        <p:nvSpPr>
          <p:cNvPr id="13" name="!!lens-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LA">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LA" descr="graduation-cap-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419498" cy="256032"/>
          </a:xfrm>
          <a:prstGeom prst="rect">
            <a:avLst/>
          </a:prstGeom>
        </p:spPr>
      </p:pic>
      <p:sp>
        <p:nvSpPr>
          <p:cNvPr id="17" name="!!lensn-LA"/>
          <p:cNvSpPr txBox="1"/>
          <p:nvPr/>
        </p:nvSpPr>
        <p:spPr>
          <a:xfrm>
            <a:off x="9703401" y="1837943"/>
            <a:ext cx="1738485"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Learning Analytics</a:t>
            </a:r>
          </a:p>
        </p:txBody>
      </p:sp>
      <p:sp>
        <p:nvSpPr>
          <p:cNvPr id="18" name="!!lens-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PM">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PM" descr="tasks-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301783" cy="256032"/>
          </a:xfrm>
          <a:prstGeom prst="rect">
            <a:avLst/>
          </a:prstGeom>
        </p:spPr>
      </p:pic>
      <p:sp>
        <p:nvSpPr>
          <p:cNvPr id="22" name="!!lensn-PM"/>
          <p:cNvSpPr txBox="1"/>
          <p:nvPr/>
        </p:nvSpPr>
        <p:spPr>
          <a:xfrm>
            <a:off x="9585686" y="2496312"/>
            <a:ext cx="1856200"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Project Management</a:t>
            </a:r>
          </a:p>
        </p:txBody>
      </p:sp>
      <p:sp>
        <p:nvSpPr>
          <p:cNvPr id="23" name="!!lens-IOT">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IOT">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IOT">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IOT" descr="microchip-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IOT"/>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Internet of Things</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715599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Margins, Kernels and a Tuning Grid</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§12.5  ·  Handout p. 95     </a:t>
            </a:r>
            <a:fld id="{C9FE4D77-B7F5-40C0-8DD6-2E7E72E1D317}" type="slidenum">
              <a:rPr lang="en-GB" sz="1000">
                <a:solidFill>
                  <a:srgbClr val="8795A1"/>
                </a:solidFill>
                <a:latin typeface="Segoe UI"/>
              </a:rPr>
              <a:t>28</a:t>
            </a:fld>
          </a:p>
        </p:txBody>
      </p:sp>
      <p:sp>
        <p:nvSpPr>
          <p:cNvPr id="7" name="!!labsteps-h"/>
          <p:cNvSpPr txBox="1"/>
          <p:nvPr/>
        </p:nvSpPr>
        <p:spPr>
          <a:xfrm>
            <a:off x="658368" y="1737360"/>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8" name="!!labsteps"/>
          <p:cNvSpPr txBox="1"/>
          <p:nvPr/>
        </p:nvSpPr>
        <p:spPr>
          <a:xfrm>
            <a:off x="658368" y="2121408"/>
            <a:ext cx="10874959" cy="1104900"/>
          </a:xfrm>
          <a:prstGeom prst="rect">
            <a:avLst/>
          </a:prstGeom>
          <a:noFill/>
        </p:spPr>
        <p:txBody>
          <a:bodyPr wrap="square" anchor="t" lIns="0" rIns="0" tIns="0" bIns="0">
            <a:noAutofit/>
          </a:bodyPr>
          <a:lstStyle/>
          <a:p>
            <a:pPr algn="l" marL="459473" indent="-459473">
              <a:lnSpc>
                <a:spcPct val="100000"/>
              </a:lnSpc>
              <a:spcBef>
                <a:spcPts val="0"/>
              </a:spcBef>
              <a:spcAft>
                <a:spcPts val="570"/>
              </a:spcAft>
            </a:pPr>
            <a:r>
              <a:rPr sz="1900" b="1">
                <a:solidFill>
                  <a:srgbClr val="117A65"/>
                </a:solidFill>
                <a:latin typeface="Segoe UI"/>
              </a:rPr>
              <a:t>1.	</a:t>
            </a:r>
            <a:r>
              <a:rPr sz="1900" b="0" i="0">
                <a:solidFill>
                  <a:srgbClr val="1C252B"/>
                </a:solidFill>
                <a:latin typeface="Segoe UI"/>
              </a:rPr>
              <a:t>The worked example: a maximum-margin line</a:t>
            </a:r>
          </a:p>
          <a:p>
            <a:pPr algn="l" marL="459473" indent="-459473">
              <a:lnSpc>
                <a:spcPct val="100000"/>
              </a:lnSpc>
              <a:spcBef>
                <a:spcPts val="0"/>
              </a:spcBef>
              <a:spcAft>
                <a:spcPts val="570"/>
              </a:spcAft>
            </a:pPr>
            <a:r>
              <a:rPr sz="1900" b="1">
                <a:solidFill>
                  <a:srgbClr val="117A65"/>
                </a:solidFill>
                <a:latin typeface="Segoe UI"/>
              </a:rPr>
              <a:t>2.	</a:t>
            </a:r>
            <a:r>
              <a:rPr sz="1900" b="0" i="0">
                <a:solidFill>
                  <a:srgbClr val="1C252B"/>
                </a:solidFill>
                <a:latin typeface="Segoe UI"/>
              </a:rPr>
              <a:t>A problem no line can solve</a:t>
            </a:r>
          </a:p>
          <a:p>
            <a:pPr algn="l" marL="459473" indent="-459473">
              <a:lnSpc>
                <a:spcPct val="100000"/>
              </a:lnSpc>
              <a:spcBef>
                <a:spcPts val="0"/>
              </a:spcBef>
              <a:spcAft>
                <a:spcPts val="0"/>
              </a:spcAft>
            </a:pPr>
            <a:r>
              <a:rPr sz="1900" b="1">
                <a:solidFill>
                  <a:srgbClr val="117A65"/>
                </a:solidFill>
                <a:latin typeface="Segoe UI"/>
              </a:rPr>
              <a:t>3.	</a:t>
            </a:r>
            <a:r>
              <a:rPr sz="1900" b="0" i="0">
                <a:solidFill>
                  <a:srgbClr val="1C252B"/>
                </a:solidFill>
                <a:latin typeface="Segoe UI"/>
              </a:rPr>
              <a:t>Tune C and gamma together, features scaled</a:t>
            </a:r>
          </a:p>
        </p:txBody>
      </p:sp>
      <p:sp>
        <p:nvSpPr>
          <p:cNvPr id="19" name="!!lfTHIS">
            <a:extLst>
              <a:ext uri="{C183D7F6-B498-43B3-948B-1728B52AA6E4}">
                <adec:decorative xmlns:adec="http://schemas.microsoft.com/office/drawing/2017/decorative" val="1"/>
              </a:ext>
            </a:extLst>
          </p:cNvPr>
          <p:cNvSpPr/>
          <p:nvPr/>
        </p:nvSpPr>
        <p:spPr>
          <a:xfrm>
            <a:off x="658368"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fbTHIS">
            <a:extLst>
              <a:ext uri="{C183D7F6-B498-43B3-948B-1728B52AA6E4}">
                <adec:decorative xmlns:adec="http://schemas.microsoft.com/office/drawing/2017/decorative" val="1"/>
              </a:ext>
            </a:extLst>
          </p:cNvPr>
          <p:cNvSpPr/>
          <p:nvPr/>
        </p:nvSpPr>
        <p:spPr>
          <a:xfrm>
            <a:off x="658368"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lflTHIS"/>
          <p:cNvSpPr txBox="1"/>
          <p:nvPr/>
        </p:nvSpPr>
        <p:spPr>
          <a:xfrm>
            <a:off x="932688"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22" name="!!lfvTHIS"/>
          <p:cNvSpPr txBox="1"/>
          <p:nvPr/>
        </p:nvSpPr>
        <p:spPr>
          <a:xfrm>
            <a:off x="932688"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700" b="0" i="0">
                <a:solidFill>
                  <a:srgbClr val="1C252B"/>
                </a:solidFill>
                <a:latin typeface="Segoe UI"/>
              </a:rPr>
              <a:t>Week 10: Neighbours, scaling and k; margins and kernels</a:t>
            </a:r>
          </a:p>
        </p:txBody>
      </p:sp>
      <p:sp>
        <p:nvSpPr>
          <p:cNvPr id="23" name="!!lfWHAT">
            <a:extLst>
              <a:ext uri="{C183D7F6-B498-43B3-948B-1728B52AA6E4}">
                <adec:decorative xmlns:adec="http://schemas.microsoft.com/office/drawing/2017/decorative" val="1"/>
              </a:ext>
            </a:extLst>
          </p:cNvPr>
          <p:cNvSpPr/>
          <p:nvPr/>
        </p:nvSpPr>
        <p:spPr>
          <a:xfrm>
            <a:off x="4374794"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fbWHAT">
            <a:extLst>
              <a:ext uri="{C183D7F6-B498-43B3-948B-1728B52AA6E4}">
                <adec:decorative xmlns:adec="http://schemas.microsoft.com/office/drawing/2017/decorative" val="1"/>
              </a:ext>
            </a:extLst>
          </p:cNvPr>
          <p:cNvSpPr/>
          <p:nvPr/>
        </p:nvSpPr>
        <p:spPr>
          <a:xfrm>
            <a:off x="4374794"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flWHAT"/>
          <p:cNvSpPr txBox="1"/>
          <p:nvPr/>
        </p:nvSpPr>
        <p:spPr>
          <a:xfrm>
            <a:off x="4649114"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26" name="!!lfvWHAT"/>
          <p:cNvSpPr txBox="1"/>
          <p:nvPr/>
        </p:nvSpPr>
        <p:spPr>
          <a:xfrm>
            <a:off x="4649114"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33 lines of Python</a:t>
            </a:r>
          </a:p>
        </p:txBody>
      </p:sp>
      <p:sp>
        <p:nvSpPr>
          <p:cNvPr id="27" name="!!lfRUNN">
            <a:extLst>
              <a:ext uri="{C183D7F6-B498-43B3-948B-1728B52AA6E4}">
                <adec:decorative xmlns:adec="http://schemas.microsoft.com/office/drawing/2017/decorative" val="1"/>
              </a:ext>
            </a:extLst>
          </p:cNvPr>
          <p:cNvSpPr/>
          <p:nvPr/>
        </p:nvSpPr>
        <p:spPr>
          <a:xfrm>
            <a:off x="8091220"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lfbRUNN">
            <a:extLst>
              <a:ext uri="{C183D7F6-B498-43B3-948B-1728B52AA6E4}">
                <adec:decorative xmlns:adec="http://schemas.microsoft.com/office/drawing/2017/decorative" val="1"/>
              </a:ext>
            </a:extLst>
          </p:cNvPr>
          <p:cNvSpPr/>
          <p:nvPr/>
        </p:nvSpPr>
        <p:spPr>
          <a:xfrm>
            <a:off x="8091220"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lflRUNN"/>
          <p:cNvSpPr txBox="1"/>
          <p:nvPr/>
        </p:nvSpPr>
        <p:spPr>
          <a:xfrm>
            <a:off x="8365540"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30" name="!!lfvRUNN"/>
          <p:cNvSpPr txBox="1"/>
          <p:nvPr/>
        </p:nvSpPr>
        <p:spPr>
          <a:xfrm>
            <a:off x="8365540"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code/ch12_margins_kernels_tuning.py</a:t>
            </a:r>
          </a:p>
        </p:txBody>
      </p:sp>
      <p:sp>
        <p:nvSpPr>
          <p:cNvPr id="3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pfill">
            <a:extLst>
              <a:ext uri="{C183D7F6-B498-43B3-948B-1728B52AA6E4}">
                <adec:decorative xmlns:adec="http://schemas.microsoft.com/office/drawing/2017/decorative" val="1"/>
              </a:ext>
            </a:extLst>
          </p:cNvPr>
          <p:cNvSpPr/>
          <p:nvPr/>
        </p:nvSpPr>
        <p:spPr>
          <a:xfrm>
            <a:off x="0" y="0"/>
            <a:ext cx="742103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xEl>
                                              <p:pRg st="0" end="0"/>
                                            </p:txEl>
                                          </p:spTgt>
                                        </p:tgtEl>
                                        <p:attrNameLst>
                                          <p:attrName>style.visibility</p:attrName>
                                        </p:attrNameLst>
                                      </p:cBhvr>
                                      <p:to>
                                        <p:strVal val="visible"/>
                                      </p:to>
                                    </p:set>
                                    <p:animEffect transition="in" filter="fade">
                                      <p:cBhvr>
                                        <p:cTn id="8" dur="300"/>
                                        <p:tgtEl>
                                          <p:spTgt spid="8">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8">
                                            <p:txEl>
                                              <p:pRg st="1" end="1"/>
                                            </p:txEl>
                                          </p:spTgt>
                                        </p:tgtEl>
                                        <p:attrNameLst>
                                          <p:attrName>style.visibility</p:attrName>
                                        </p:attrNameLst>
                                      </p:cBhvr>
                                      <p:to>
                                        <p:strVal val="visible"/>
                                      </p:to>
                                    </p:set>
                                    <p:animEffect transition="in" filter="fade">
                                      <p:cBhvr>
                                        <p:cTn id="13" dur="300"/>
                                        <p:tgtEl>
                                          <p:spTgt spid="8">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xEl>
                                              <p:pRg st="2" end="2"/>
                                            </p:txEl>
                                          </p:spTgt>
                                        </p:tgtEl>
                                        <p:attrNameLst>
                                          <p:attrName>style.visibility</p:attrName>
                                        </p:attrNameLst>
                                      </p:cBhvr>
                                      <p:to>
                                        <p:strVal val="visible"/>
                                      </p:to>
                                    </p:set>
                                    <p:animEffect transition="in" filter="fade">
                                      <p:cBhvr>
                                        <p:cTn id="18" dur="3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Margins, Kernels and a Tuning Grid</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§12.5  ·  Handout p. 95     </a:t>
            </a:r>
            <a:fld id="{34DFFC18-01BF-49E5-8C8D-C987B0D94EB4}" type="slidenum">
              <a:rPr lang="en-GB" sz="1000">
                <a:solidFill>
                  <a:srgbClr val="8795A1"/>
                </a:solidFill>
                <a:latin typeface="Segoe UI"/>
              </a:rPr>
              <a:t>29</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432304"/>
          </a:xfrm>
          <a:prstGeom prst="roundRect">
            <a:avLst>
              <a:gd name="adj" fmla="val 3759"/>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code/ch12_margins_kernels_tuning.py</a:t>
            </a:r>
          </a:p>
        </p:txBody>
      </p:sp>
      <p:sp>
        <p:nvSpPr>
          <p:cNvPr id="14" name="!!code-text" descr="import numpy as np from sklearn.svm import SVC from sklearn.datasets import make_circles, load_breast_cancer from sklearn.model_selection import cross_val_score, GridSearchCV from sklearn.pipeline import make_pipeline from sklearn.preprocessing import StandardScaler"/>
          <p:cNvSpPr txBox="1"/>
          <p:nvPr/>
        </p:nvSpPr>
        <p:spPr>
          <a:xfrm>
            <a:off x="1362456" y="2523744"/>
            <a:ext cx="9987991" cy="1938528"/>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import</a:t>
            </a:r>
            <a:r>
              <a:rPr sz="2000" i="0">
                <a:solidFill>
                  <a:srgbClr val="E8EDF2"/>
                </a:solidFill>
                <a:latin typeface="Consolas"/>
              </a:rPr>
              <a:t> </a:t>
            </a:r>
            <a:r>
              <a:rPr sz="2000" i="0">
                <a:solidFill>
                  <a:srgbClr val="76D7C4"/>
                </a:solidFill>
                <a:latin typeface="Consolas"/>
              </a:rPr>
              <a:t>numpy</a:t>
            </a:r>
            <a:r>
              <a:rPr sz="2000" i="0">
                <a:solidFill>
                  <a:srgbClr val="E8EDF2"/>
                </a:solidFill>
                <a:latin typeface="Consolas"/>
              </a:rPr>
              <a:t> </a:t>
            </a:r>
            <a:r>
              <a:rPr sz="2000" i="0">
                <a:solidFill>
                  <a:srgbClr val="5DADE2"/>
                </a:solidFill>
                <a:latin typeface="Consolas"/>
              </a:rPr>
              <a:t>as</a:t>
            </a:r>
            <a:r>
              <a:rPr sz="2000" i="0">
                <a:solidFill>
                  <a:srgbClr val="E8EDF2"/>
                </a:solidFill>
                <a:latin typeface="Consolas"/>
              </a:rPr>
              <a:t> </a:t>
            </a:r>
            <a:r>
              <a:rPr sz="2000" i="0">
                <a:solidFill>
                  <a:srgbClr val="76D7C4"/>
                </a:solidFill>
                <a:latin typeface="Consolas"/>
              </a:rPr>
              <a:t>np</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svm</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SVC</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datasets</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make_circles</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load_breast_cancer</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model_selection</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cross_val_score</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GridSearchCV</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pipeline</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make_pipeline</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preprocessing</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StandardScaler</a:t>
            </a:r>
          </a:p>
        </p:txBody>
      </p:sp>
      <p:sp>
        <p:nvSpPr>
          <p:cNvPr id="15" name="!!code-num"/>
          <p:cNvSpPr txBox="1"/>
          <p:nvPr/>
        </p:nvSpPr>
        <p:spPr>
          <a:xfrm>
            <a:off x="768096" y="2523744"/>
            <a:ext cx="393192" cy="19385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2</a:t>
            </a:r>
          </a:p>
          <a:p>
            <a:pPr algn="r">
              <a:lnSpc>
                <a:spcPct val="100000"/>
              </a:lnSpc>
            </a:pPr>
            <a:r>
              <a:rPr sz="2000">
                <a:solidFill>
                  <a:srgbClr val="4F5D6A"/>
                </a:solidFill>
                <a:latin typeface="Consolas"/>
              </a:rPr>
              <a:t>3</a:t>
            </a:r>
          </a:p>
          <a:p>
            <a:pPr algn="r">
              <a:lnSpc>
                <a:spcPct val="100000"/>
              </a:lnSpc>
            </a:pPr>
            <a:r>
              <a:rPr sz="2000">
                <a:solidFill>
                  <a:srgbClr val="4F5D6A"/>
                </a:solidFill>
                <a:latin typeface="Consolas"/>
              </a:rPr>
              <a:t>4</a:t>
            </a:r>
          </a:p>
          <a:p>
            <a:pPr algn="r">
              <a:lnSpc>
                <a:spcPct val="100000"/>
              </a:lnSpc>
            </a:pPr>
            <a:r>
              <a:rPr sz="2000">
                <a:solidFill>
                  <a:srgbClr val="4F5D6A"/>
                </a:solidFill>
                <a:latin typeface="Consolas"/>
              </a:rPr>
              <a:t>5</a:t>
            </a:r>
          </a:p>
          <a:p>
            <a:pPr algn="r">
              <a:lnSpc>
                <a:spcPct val="100000"/>
              </a:lnSpc>
            </a:pPr>
            <a:r>
              <a:rPr sz="2000">
                <a:solidFill>
                  <a:srgbClr val="4F5D6A"/>
                </a:solidFill>
                <a:latin typeface="Consolas"/>
              </a:rPr>
              <a:t>6</a:t>
            </a:r>
          </a:p>
          <a:p>
            <a:pPr algn="r">
              <a:lnSpc>
                <a:spcPct val="100000"/>
              </a:lnSpc>
            </a:pPr>
            <a:r>
              <a:rPr sz="2000">
                <a:solidFill>
                  <a:srgbClr val="4F5D6A"/>
                </a:solidFill>
                <a:latin typeface="Consolas"/>
              </a:rPr>
              <a:t>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68606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Margins, Kernels and a Tuning Grid</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§12.5  ·  Handout p. 95     </a:t>
            </a:r>
            <a:fld id="{2A29FA81-430C-4817-9852-0E8D83D35C6A}" type="slidenum">
              <a:rPr lang="en-GB" sz="1000">
                <a:solidFill>
                  <a:srgbClr val="8795A1"/>
                </a:solidFill>
                <a:latin typeface="Segoe UI"/>
              </a:rPr>
              <a:t>30</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worked example: a maximum-margin line</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072383"/>
          </a:xfrm>
          <a:prstGeom prst="roundRect">
            <a:avLst>
              <a:gd name="adj" fmla="val 29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code/ch12_margins_kernels_tuning.py</a:t>
            </a:r>
          </a:p>
        </p:txBody>
      </p:sp>
      <p:sp>
        <p:nvSpPr>
          <p:cNvPr id="14" name="!!code-text" descr="# --- 1. the worked example: a maximum-margin line ------------------------ X = np.array([[2, 2], [3, 2], [2, 4], [0, 0], [-1, -1], [1, -2]]) y = np.array([1, 1, 1, -1, -1, -1]) svm = SVC(kernel=&quot;linear&quot;, C=1e6).fit(X, y) # huge C = hard margin w, b = svm.coef_[0], svm.intercept_[0] print(&quot;w =&quot;, w.round(3), &quot; b =&quot;, round(b, 3)) print(&quot;margin width 2/||w|| =&quot;, round(2 / np.linalg.norm(w), 3)) print(&quot;support vectors:&quot;, svm.support_vectors_.tolist()) print(&quot;f(1.5, 1) =&quot;, round(float(svm.decision_function([[1.5, 1]])[0]), 3))"/>
          <p:cNvSpPr txBox="1"/>
          <p:nvPr/>
        </p:nvSpPr>
        <p:spPr>
          <a:xfrm>
            <a:off x="1362456" y="2523744"/>
            <a:ext cx="9987991" cy="2578607"/>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--- 1. the worked example: a maximum-margin line ------------------------</a:t>
            </a:r>
          </a:p>
          <a:p>
            <a:pPr>
              <a:lnSpc>
                <a:spcPct val="100000"/>
              </a:lnSpc>
              <a:spcAft>
                <a:spcPts val="0"/>
              </a:spcAft>
            </a:pPr>
            <a:r>
              <a:rPr sz="1800" i="0">
                <a:solidFill>
                  <a:srgbClr val="E8EDF2"/>
                </a:solidFill>
                <a:latin typeface="Consolas"/>
              </a:rPr>
              <a:t>X</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array</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2</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2</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3</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2</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2</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4</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2</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y</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array</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svm</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SVC</a:t>
            </a:r>
            <a:r>
              <a:rPr sz="1800" i="0">
                <a:solidFill>
                  <a:srgbClr val="AEB6BF"/>
                </a:solidFill>
                <a:latin typeface="Consolas"/>
              </a:rPr>
              <a:t>(</a:t>
            </a:r>
            <a:r>
              <a:rPr sz="1800" i="0">
                <a:solidFill>
                  <a:srgbClr val="E8EDF2"/>
                </a:solidFill>
                <a:latin typeface="Consolas"/>
              </a:rPr>
              <a:t>kernel</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linear</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a:t>
            </a:r>
            <a:r>
              <a:rPr sz="1800" i="0">
                <a:solidFill>
                  <a:srgbClr val="AEB6BF"/>
                </a:solidFill>
                <a:latin typeface="Consolas"/>
              </a:rPr>
              <a:t>=</a:t>
            </a:r>
            <a:r>
              <a:rPr sz="1800" i="0">
                <a:solidFill>
                  <a:srgbClr val="F7DC6F"/>
                </a:solidFill>
                <a:latin typeface="Consolas"/>
              </a:rPr>
              <a:t>1e6</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fit</a:t>
            </a:r>
            <a:r>
              <a:rPr sz="1800" i="0">
                <a:solidFill>
                  <a:srgbClr val="AEB6BF"/>
                </a:solidFill>
                <a:latin typeface="Consolas"/>
              </a:rPr>
              <a:t>(</a:t>
            </a:r>
            <a:r>
              <a:rPr sz="1800" i="0">
                <a:solidFill>
                  <a:srgbClr val="E8EDF2"/>
                </a:solidFill>
                <a:latin typeface="Consolas"/>
              </a:rPr>
              <a:t>X</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huge C = hard margin</a:t>
            </a:r>
          </a:p>
          <a:p>
            <a:pPr>
              <a:lnSpc>
                <a:spcPct val="100000"/>
              </a:lnSpc>
              <a:spcAft>
                <a:spcPts val="0"/>
              </a:spcAft>
            </a:pPr>
            <a:r>
              <a:rPr sz="1800" i="0">
                <a:solidFill>
                  <a:srgbClr val="E8EDF2"/>
                </a:solidFill>
                <a:latin typeface="Consolas"/>
              </a:rPr>
              <a:t>w</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b</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svm</a:t>
            </a:r>
            <a:r>
              <a:rPr sz="1800" i="0">
                <a:solidFill>
                  <a:srgbClr val="AEB6BF"/>
                </a:solidFill>
                <a:latin typeface="Consolas"/>
              </a:rPr>
              <a:t>.</a:t>
            </a:r>
            <a:r>
              <a:rPr sz="1800" i="0">
                <a:solidFill>
                  <a:srgbClr val="E8EDF2"/>
                </a:solidFill>
                <a:latin typeface="Consolas"/>
              </a:rPr>
              <a:t>coef_</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svm</a:t>
            </a:r>
            <a:r>
              <a:rPr sz="1800" i="0">
                <a:solidFill>
                  <a:srgbClr val="AEB6BF"/>
                </a:solidFill>
                <a:latin typeface="Consolas"/>
              </a:rPr>
              <a:t>.</a:t>
            </a:r>
            <a:r>
              <a:rPr sz="1800" i="0">
                <a:solidFill>
                  <a:srgbClr val="E8EDF2"/>
                </a:solidFill>
                <a:latin typeface="Consolas"/>
              </a:rPr>
              <a:t>intercept_</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w =</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w</a:t>
            </a:r>
            <a:r>
              <a:rPr sz="1800" i="0">
                <a:solidFill>
                  <a:srgbClr val="AEB6BF"/>
                </a:solidFill>
                <a:latin typeface="Consolas"/>
              </a:rPr>
              <a:t>.</a:t>
            </a:r>
            <a:r>
              <a:rPr sz="1800" i="0">
                <a:solidFill>
                  <a:srgbClr val="E8EDF2"/>
                </a:solidFill>
                <a:latin typeface="Consolas"/>
              </a:rPr>
              <a:t>round</a:t>
            </a:r>
            <a:r>
              <a:rPr sz="1800" i="0">
                <a:solidFill>
                  <a:srgbClr val="AEB6BF"/>
                </a:solidFill>
                <a:latin typeface="Consolas"/>
              </a:rPr>
              <a:t>(</a:t>
            </a:r>
            <a:r>
              <a:rPr sz="1800" i="0">
                <a:solidFill>
                  <a:srgbClr val="F7DC6F"/>
                </a:solidFill>
                <a:latin typeface="Consolas"/>
              </a:rPr>
              <a:t>3</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 b =</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round</a:t>
            </a:r>
            <a:r>
              <a:rPr sz="1800" i="0">
                <a:solidFill>
                  <a:srgbClr val="AEB6BF"/>
                </a:solidFill>
                <a:latin typeface="Consolas"/>
              </a:rPr>
              <a:t>(</a:t>
            </a:r>
            <a:r>
              <a:rPr sz="1800" i="0">
                <a:solidFill>
                  <a:srgbClr val="E8EDF2"/>
                </a:solidFill>
                <a:latin typeface="Consolas"/>
              </a:rPr>
              <a:t>b</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3</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margin width 2/||w|| =</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round</a:t>
            </a:r>
            <a:r>
              <a:rPr sz="1800" i="0">
                <a:solidFill>
                  <a:srgbClr val="AEB6BF"/>
                </a:solidFill>
                <a:latin typeface="Consolas"/>
              </a:rPr>
              <a:t>(</a:t>
            </a:r>
            <a:r>
              <a:rPr sz="1800" i="0">
                <a:solidFill>
                  <a:srgbClr val="F7DC6F"/>
                </a:solidFill>
                <a:latin typeface="Consolas"/>
              </a:rPr>
              <a:t>2</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linalg</a:t>
            </a:r>
            <a:r>
              <a:rPr sz="1800" i="0">
                <a:solidFill>
                  <a:srgbClr val="AEB6BF"/>
                </a:solidFill>
                <a:latin typeface="Consolas"/>
              </a:rPr>
              <a:t>.</a:t>
            </a:r>
            <a:r>
              <a:rPr sz="1800" i="0">
                <a:solidFill>
                  <a:srgbClr val="E8EDF2"/>
                </a:solidFill>
                <a:latin typeface="Consolas"/>
              </a:rPr>
              <a:t>norm</a:t>
            </a:r>
            <a:r>
              <a:rPr sz="1800" i="0">
                <a:solidFill>
                  <a:srgbClr val="AEB6BF"/>
                </a:solidFill>
                <a:latin typeface="Consolas"/>
              </a:rPr>
              <a:t>(</a:t>
            </a:r>
            <a:r>
              <a:rPr sz="1800" i="0">
                <a:solidFill>
                  <a:srgbClr val="E8EDF2"/>
                </a:solidFill>
                <a:latin typeface="Consolas"/>
              </a:rPr>
              <a:t>w</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3</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support vectors:</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svm</a:t>
            </a:r>
            <a:r>
              <a:rPr sz="1800" i="0">
                <a:solidFill>
                  <a:srgbClr val="AEB6BF"/>
                </a:solidFill>
                <a:latin typeface="Consolas"/>
              </a:rPr>
              <a:t>.</a:t>
            </a:r>
            <a:r>
              <a:rPr sz="1800" i="0">
                <a:solidFill>
                  <a:srgbClr val="E8EDF2"/>
                </a:solidFill>
                <a:latin typeface="Consolas"/>
              </a:rPr>
              <a:t>support_vectors_</a:t>
            </a:r>
            <a:r>
              <a:rPr sz="1800" i="0">
                <a:solidFill>
                  <a:srgbClr val="AEB6BF"/>
                </a:solidFill>
                <a:latin typeface="Consolas"/>
              </a:rPr>
              <a:t>.</a:t>
            </a:r>
            <a:r>
              <a:rPr sz="1800" i="0">
                <a:solidFill>
                  <a:srgbClr val="E8EDF2"/>
                </a:solidFill>
                <a:latin typeface="Consolas"/>
              </a:rPr>
              <a:t>tolist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f(1.5, 1) =</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round</a:t>
            </a:r>
            <a:r>
              <a:rPr sz="1800" i="0">
                <a:solidFill>
                  <a:srgbClr val="AEB6BF"/>
                </a:solidFill>
                <a:latin typeface="Consolas"/>
              </a:rPr>
              <a:t>(</a:t>
            </a:r>
            <a:r>
              <a:rPr sz="1800" i="0">
                <a:solidFill>
                  <a:srgbClr val="C39BD3"/>
                </a:solidFill>
                <a:latin typeface="Consolas"/>
              </a:rPr>
              <a:t>float</a:t>
            </a:r>
            <a:r>
              <a:rPr sz="1800" i="0">
                <a:solidFill>
                  <a:srgbClr val="AEB6BF"/>
                </a:solidFill>
                <a:latin typeface="Consolas"/>
              </a:rPr>
              <a:t>(</a:t>
            </a:r>
            <a:r>
              <a:rPr sz="1800" i="0">
                <a:solidFill>
                  <a:srgbClr val="E8EDF2"/>
                </a:solidFill>
                <a:latin typeface="Consolas"/>
              </a:rPr>
              <a:t>svm</a:t>
            </a:r>
            <a:r>
              <a:rPr sz="1800" i="0">
                <a:solidFill>
                  <a:srgbClr val="AEB6BF"/>
                </a:solidFill>
                <a:latin typeface="Consolas"/>
              </a:rPr>
              <a:t>.</a:t>
            </a:r>
            <a:r>
              <a:rPr sz="1800" i="0">
                <a:solidFill>
                  <a:srgbClr val="E8EDF2"/>
                </a:solidFill>
                <a:latin typeface="Consolas"/>
              </a:rPr>
              <a:t>decision_function</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1.5</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3</a:t>
            </a:r>
            <a:r>
              <a:rPr sz="1800" i="0">
                <a:solidFill>
                  <a:srgbClr val="AEB6BF"/>
                </a:solidFill>
                <a:latin typeface="Consolas"/>
              </a:rPr>
              <a:t>)</a:t>
            </a:r>
            <a:r>
              <a:rPr sz="1800" i="0">
                <a:solidFill>
                  <a:srgbClr val="AEB6BF"/>
                </a:solidFill>
                <a:latin typeface="Consolas"/>
              </a:rPr>
              <a:t>)</a:t>
            </a:r>
          </a:p>
        </p:txBody>
      </p:sp>
      <p:sp>
        <p:nvSpPr>
          <p:cNvPr id="15" name="!!code-num"/>
          <p:cNvSpPr txBox="1"/>
          <p:nvPr/>
        </p:nvSpPr>
        <p:spPr>
          <a:xfrm>
            <a:off x="768096" y="2523744"/>
            <a:ext cx="393192" cy="2578607"/>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9</a:t>
            </a:r>
          </a:p>
          <a:p>
            <a:pPr algn="r">
              <a:lnSpc>
                <a:spcPct val="100000"/>
              </a:lnSpc>
            </a:pPr>
            <a:r>
              <a:rPr sz="1800">
                <a:solidFill>
                  <a:srgbClr val="4F5D6A"/>
                </a:solidFill>
                <a:latin typeface="Consolas"/>
              </a:rPr>
              <a:t>10</a:t>
            </a:r>
          </a:p>
          <a:p>
            <a:pPr algn="r">
              <a:lnSpc>
                <a:spcPct val="100000"/>
              </a:lnSpc>
            </a:pPr>
            <a:r>
              <a:rPr sz="1800">
                <a:solidFill>
                  <a:srgbClr val="4F5D6A"/>
                </a:solidFill>
                <a:latin typeface="Consolas"/>
              </a:rPr>
              <a:t>11</a:t>
            </a:r>
          </a:p>
          <a:p>
            <a:pPr algn="r">
              <a:lnSpc>
                <a:spcPct val="100000"/>
              </a:lnSpc>
            </a:pPr>
            <a:r>
              <a:rPr sz="1800">
                <a:solidFill>
                  <a:srgbClr val="4F5D6A"/>
                </a:solidFill>
                <a:latin typeface="Consolas"/>
              </a:rPr>
              <a:t>12</a:t>
            </a:r>
          </a:p>
          <a:p>
            <a:pPr algn="r">
              <a:lnSpc>
                <a:spcPct val="100000"/>
              </a:lnSpc>
            </a:pPr>
            <a:r>
              <a:rPr sz="1800">
                <a:solidFill>
                  <a:srgbClr val="4F5D6A"/>
                </a:solidFill>
                <a:latin typeface="Consolas"/>
              </a:rPr>
              <a:t>13</a:t>
            </a:r>
          </a:p>
          <a:p>
            <a:pPr algn="r">
              <a:lnSpc>
                <a:spcPct val="100000"/>
              </a:lnSpc>
            </a:pPr>
            <a:r>
              <a:rPr sz="1800">
                <a:solidFill>
                  <a:srgbClr val="4F5D6A"/>
                </a:solidFill>
                <a:latin typeface="Consolas"/>
              </a:rPr>
              <a:t>14</a:t>
            </a:r>
          </a:p>
          <a:p>
            <a:pPr algn="r">
              <a:lnSpc>
                <a:spcPct val="100000"/>
              </a:lnSpc>
            </a:pPr>
            <a:r>
              <a:rPr sz="1800">
                <a:solidFill>
                  <a:srgbClr val="4F5D6A"/>
                </a:solidFill>
                <a:latin typeface="Consolas"/>
              </a:rPr>
              <a:t>15</a:t>
            </a:r>
          </a:p>
          <a:p>
            <a:pPr algn="r">
              <a:lnSpc>
                <a:spcPct val="100000"/>
              </a:lnSpc>
            </a:pPr>
            <a:r>
              <a:rPr sz="1800">
                <a:solidFill>
                  <a:srgbClr val="4F5D6A"/>
                </a:solidFill>
                <a:latin typeface="Consolas"/>
              </a:rPr>
              <a:t>16</a:t>
            </a:r>
          </a:p>
          <a:p>
            <a:pPr algn="r">
              <a:lnSpc>
                <a:spcPct val="100000"/>
              </a:lnSpc>
            </a:pPr>
            <a:r>
              <a:rPr sz="1800">
                <a:solidFill>
                  <a:srgbClr val="4F5D6A"/>
                </a:solidFill>
                <a:latin typeface="Consolas"/>
              </a:rPr>
              <a:t>17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95110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Margins, Kernels and a Tuning Grid</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§12.5  ·  Handout p. 95     </a:t>
            </a:r>
            <a:fld id="{FA06FC62-CA4D-403E-9C0D-93C7C2D93BC4}" type="slidenum">
              <a:rPr lang="en-GB" sz="1000">
                <a:solidFill>
                  <a:srgbClr val="8795A1"/>
                </a:solidFill>
                <a:latin typeface="Segoe UI"/>
              </a:rPr>
              <a:t>31</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A problem no line can solve</a:t>
            </a:r>
          </a:p>
        </p:txBody>
      </p:sp>
      <p:sp>
        <p:nvSpPr>
          <p:cNvPr id="8" name="!!code-bg">
            <a:extLst>
              <a:ext uri="{C183D7F6-B498-43B3-948B-1728B52AA6E4}">
                <adec:decorative xmlns:adec="http://schemas.microsoft.com/office/drawing/2017/decorative" val="1"/>
              </a:ext>
            </a:extLst>
          </p:cNvPr>
          <p:cNvSpPr/>
          <p:nvPr/>
        </p:nvSpPr>
        <p:spPr>
          <a:xfrm>
            <a:off x="658368" y="2084831"/>
            <a:ext cx="10874959" cy="1975104"/>
          </a:xfrm>
          <a:prstGeom prst="roundRect">
            <a:avLst>
              <a:gd name="adj" fmla="val 4629"/>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code/ch12_margins_kernels_tuning.py</a:t>
            </a:r>
          </a:p>
        </p:txBody>
      </p:sp>
      <p:sp>
        <p:nvSpPr>
          <p:cNvPr id="14" name="!!code-text" descr="# --- 2. a problem no line can solve -------------------------------------- Xc, yc = make_circles(n_samples=400, noise=0.08, factor=0.4, random_state=0) for kernel in (&quot;linear&quot;, &quot;poly&quot;, &quot;rbf&quot;): acc = cross_val_score(SVC(kernel=kernel, degree=2), Xc, yc, cv=5).mean() print(f&quot;circles, {kernel:6s} kernel: accuracy {acc:.3f}&quot;)"/>
          <p:cNvSpPr txBox="1"/>
          <p:nvPr/>
        </p:nvSpPr>
        <p:spPr>
          <a:xfrm>
            <a:off x="1362456" y="2523744"/>
            <a:ext cx="9987991" cy="1481328"/>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--- 2. a problem no line can solve --------------------------------------</a:t>
            </a:r>
          </a:p>
          <a:p>
            <a:pPr>
              <a:lnSpc>
                <a:spcPct val="100000"/>
              </a:lnSpc>
              <a:spcAft>
                <a:spcPts val="0"/>
              </a:spcAft>
            </a:pPr>
            <a:r>
              <a:rPr sz="1800" i="0">
                <a:solidFill>
                  <a:srgbClr val="E8EDF2"/>
                </a:solidFill>
                <a:latin typeface="Consolas"/>
              </a:rPr>
              <a:t>Xc</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yc</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make_circles</a:t>
            </a:r>
            <a:r>
              <a:rPr sz="1800" i="0">
                <a:solidFill>
                  <a:srgbClr val="AEB6BF"/>
                </a:solidFill>
                <a:latin typeface="Consolas"/>
              </a:rPr>
              <a:t>(</a:t>
            </a:r>
            <a:r>
              <a:rPr sz="1800" i="0">
                <a:solidFill>
                  <a:srgbClr val="E8EDF2"/>
                </a:solidFill>
                <a:latin typeface="Consolas"/>
              </a:rPr>
              <a:t>n_samples</a:t>
            </a:r>
            <a:r>
              <a:rPr sz="1800" i="0">
                <a:solidFill>
                  <a:srgbClr val="AEB6BF"/>
                </a:solidFill>
                <a:latin typeface="Consolas"/>
              </a:rPr>
              <a:t>=</a:t>
            </a:r>
            <a:r>
              <a:rPr sz="1800" i="0">
                <a:solidFill>
                  <a:srgbClr val="F7DC6F"/>
                </a:solidFill>
                <a:latin typeface="Consolas"/>
              </a:rPr>
              <a:t>400</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noise</a:t>
            </a:r>
            <a:r>
              <a:rPr sz="1800" i="0">
                <a:solidFill>
                  <a:srgbClr val="AEB6BF"/>
                </a:solidFill>
                <a:latin typeface="Consolas"/>
              </a:rPr>
              <a:t>=</a:t>
            </a:r>
            <a:r>
              <a:rPr sz="1800" i="0">
                <a:solidFill>
                  <a:srgbClr val="F7DC6F"/>
                </a:solidFill>
                <a:latin typeface="Consolas"/>
              </a:rPr>
              <a:t>0.08</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factor</a:t>
            </a:r>
            <a:r>
              <a:rPr sz="1800" i="0">
                <a:solidFill>
                  <a:srgbClr val="AEB6BF"/>
                </a:solidFill>
                <a:latin typeface="Consolas"/>
              </a:rPr>
              <a:t>=</a:t>
            </a:r>
            <a:r>
              <a:rPr sz="1800" i="0">
                <a:solidFill>
                  <a:srgbClr val="F7DC6F"/>
                </a:solidFill>
                <a:latin typeface="Consolas"/>
              </a:rPr>
              <a:t>0.4</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random_state</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p>
          <a:p>
            <a:pPr>
              <a:lnSpc>
                <a:spcPct val="100000"/>
              </a:lnSpc>
              <a:spcAft>
                <a:spcPts val="0"/>
              </a:spcAft>
            </a:pP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kernel</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linear</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poly</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rbf</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acc</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cross_val_score</a:t>
            </a:r>
            <a:r>
              <a:rPr sz="1800" i="0">
                <a:solidFill>
                  <a:srgbClr val="AEB6BF"/>
                </a:solidFill>
                <a:latin typeface="Consolas"/>
              </a:rPr>
              <a:t>(</a:t>
            </a:r>
            <a:r>
              <a:rPr sz="1800" i="0">
                <a:solidFill>
                  <a:srgbClr val="E8EDF2"/>
                </a:solidFill>
                <a:latin typeface="Consolas"/>
              </a:rPr>
              <a:t>SVC</a:t>
            </a:r>
            <a:r>
              <a:rPr sz="1800" i="0">
                <a:solidFill>
                  <a:srgbClr val="AEB6BF"/>
                </a:solidFill>
                <a:latin typeface="Consolas"/>
              </a:rPr>
              <a:t>(</a:t>
            </a:r>
            <a:r>
              <a:rPr sz="1800" i="0">
                <a:solidFill>
                  <a:srgbClr val="E8EDF2"/>
                </a:solidFill>
                <a:latin typeface="Consolas"/>
              </a:rPr>
              <a:t>kernel</a:t>
            </a:r>
            <a:r>
              <a:rPr sz="1800" i="0">
                <a:solidFill>
                  <a:srgbClr val="AEB6BF"/>
                </a:solidFill>
                <a:latin typeface="Consolas"/>
              </a:rPr>
              <a:t>=</a:t>
            </a:r>
            <a:r>
              <a:rPr sz="1800" i="0">
                <a:solidFill>
                  <a:srgbClr val="E8EDF2"/>
                </a:solidFill>
                <a:latin typeface="Consolas"/>
              </a:rPr>
              <a:t>kernel</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degree</a:t>
            </a:r>
            <a:r>
              <a:rPr sz="1800" i="0">
                <a:solidFill>
                  <a:srgbClr val="AEB6BF"/>
                </a:solidFill>
                <a:latin typeface="Consolas"/>
              </a:rPr>
              <a:t>=</a:t>
            </a:r>
            <a:r>
              <a:rPr sz="1800" i="0">
                <a:solidFill>
                  <a:srgbClr val="F7DC6F"/>
                </a:solidFill>
                <a:latin typeface="Consolas"/>
              </a:rPr>
              <a:t>2</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Xc</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yc</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cv</a:t>
            </a:r>
            <a:r>
              <a:rPr sz="1800" i="0">
                <a:solidFill>
                  <a:srgbClr val="AEB6BF"/>
                </a:solidFill>
                <a:latin typeface="Consolas"/>
              </a:rPr>
              <a:t>=</a:t>
            </a:r>
            <a:r>
              <a:rPr sz="1800" i="0">
                <a:solidFill>
                  <a:srgbClr val="F7DC6F"/>
                </a:solidFill>
                <a:latin typeface="Consolas"/>
              </a:rPr>
              <a:t>5</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mean</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f</a:t>
            </a:r>
            <a:r>
              <a:rPr sz="1800" i="0">
                <a:solidFill>
                  <a:srgbClr val="7DCEA0"/>
                </a:solidFill>
                <a:latin typeface="Consolas"/>
              </a:rPr>
              <a:t>"</a:t>
            </a:r>
            <a:r>
              <a:rPr sz="1800" i="0">
                <a:solidFill>
                  <a:srgbClr val="7DCEA0"/>
                </a:solidFill>
                <a:latin typeface="Consolas"/>
              </a:rPr>
              <a:t>circles, </a:t>
            </a:r>
            <a:r>
              <a:rPr sz="1800" i="0">
                <a:solidFill>
                  <a:srgbClr val="7DCEA0"/>
                </a:solidFill>
                <a:latin typeface="Consolas"/>
              </a:rPr>
              <a:t>{</a:t>
            </a:r>
            <a:r>
              <a:rPr sz="1800" i="0">
                <a:solidFill>
                  <a:srgbClr val="E8EDF2"/>
                </a:solidFill>
                <a:latin typeface="Consolas"/>
              </a:rPr>
              <a:t>kernel</a:t>
            </a:r>
            <a:r>
              <a:rPr sz="1800" i="0">
                <a:solidFill>
                  <a:srgbClr val="7DCEA0"/>
                </a:solidFill>
                <a:latin typeface="Consolas"/>
              </a:rPr>
              <a:t>:</a:t>
            </a:r>
            <a:r>
              <a:rPr sz="1800" i="0">
                <a:solidFill>
                  <a:srgbClr val="7DCEA0"/>
                </a:solidFill>
                <a:latin typeface="Consolas"/>
              </a:rPr>
              <a:t>6s</a:t>
            </a:r>
            <a:r>
              <a:rPr sz="1800" i="0">
                <a:solidFill>
                  <a:srgbClr val="7DCEA0"/>
                </a:solidFill>
                <a:latin typeface="Consolas"/>
              </a:rPr>
              <a:t>}</a:t>
            </a:r>
            <a:r>
              <a:rPr sz="1800" i="0">
                <a:solidFill>
                  <a:srgbClr val="7DCEA0"/>
                </a:solidFill>
                <a:latin typeface="Consolas"/>
              </a:rPr>
              <a:t> kernel: accuracy </a:t>
            </a:r>
            <a:r>
              <a:rPr sz="1800" i="0">
                <a:solidFill>
                  <a:srgbClr val="7DCEA0"/>
                </a:solidFill>
                <a:latin typeface="Consolas"/>
              </a:rPr>
              <a:t>{</a:t>
            </a:r>
            <a:r>
              <a:rPr sz="1800" i="0">
                <a:solidFill>
                  <a:srgbClr val="E8EDF2"/>
                </a:solidFill>
                <a:latin typeface="Consolas"/>
              </a:rPr>
              <a:t>acc</a:t>
            </a:r>
            <a:r>
              <a:rPr sz="1800" i="0">
                <a:solidFill>
                  <a:srgbClr val="7DCEA0"/>
                </a:solidFill>
                <a:latin typeface="Consolas"/>
              </a:rPr>
              <a:t>:</a:t>
            </a:r>
            <a:r>
              <a:rPr sz="1800" i="0">
                <a:solidFill>
                  <a:srgbClr val="7DCEA0"/>
                </a:solidFill>
                <a:latin typeface="Consolas"/>
              </a:rPr>
              <a:t>.3f</a:t>
            </a:r>
            <a:r>
              <a:rPr sz="1800" i="0">
                <a:solidFill>
                  <a:srgbClr val="7DCEA0"/>
                </a:solidFill>
                <a:latin typeface="Consolas"/>
              </a:rPr>
              <a:t>}</a:t>
            </a:r>
            <a:r>
              <a:rPr sz="1800" i="0">
                <a:solidFill>
                  <a:srgbClr val="7DCEA0"/>
                </a:solidFill>
                <a:latin typeface="Consolas"/>
              </a:rPr>
              <a:t>"</a:t>
            </a:r>
            <a:r>
              <a:rPr sz="1800" i="0">
                <a:solidFill>
                  <a:srgbClr val="AEB6BF"/>
                </a:solidFill>
                <a:latin typeface="Consolas"/>
              </a:rPr>
              <a:t>)</a:t>
            </a:r>
          </a:p>
        </p:txBody>
      </p:sp>
      <p:sp>
        <p:nvSpPr>
          <p:cNvPr id="15" name="!!code-num"/>
          <p:cNvSpPr txBox="1"/>
          <p:nvPr/>
        </p:nvSpPr>
        <p:spPr>
          <a:xfrm>
            <a:off x="768096" y="2523744"/>
            <a:ext cx="393192" cy="148132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19</a:t>
            </a:r>
          </a:p>
          <a:p>
            <a:pPr algn="r">
              <a:lnSpc>
                <a:spcPct val="100000"/>
              </a:lnSpc>
            </a:pPr>
            <a:r>
              <a:rPr sz="1800">
                <a:solidFill>
                  <a:srgbClr val="4F5D6A"/>
                </a:solidFill>
                <a:latin typeface="Consolas"/>
              </a:rPr>
              <a:t>20</a:t>
            </a:r>
          </a:p>
          <a:p>
            <a:pPr algn="r">
              <a:lnSpc>
                <a:spcPct val="100000"/>
              </a:lnSpc>
            </a:pPr>
            <a:r>
              <a:rPr sz="1800">
                <a:solidFill>
                  <a:srgbClr val="4F5D6A"/>
                </a:solidFill>
                <a:latin typeface="Consolas"/>
              </a:rPr>
              <a:t>21</a:t>
            </a:r>
          </a:p>
          <a:p>
            <a:pPr algn="r">
              <a:lnSpc>
                <a:spcPct val="100000"/>
              </a:lnSpc>
            </a:pPr>
            <a:r>
              <a:rPr sz="1800">
                <a:solidFill>
                  <a:srgbClr val="4F5D6A"/>
                </a:solidFill>
                <a:latin typeface="Consolas"/>
              </a:rPr>
              <a:t>22</a:t>
            </a:r>
          </a:p>
          <a:p>
            <a:pPr algn="r">
              <a:lnSpc>
                <a:spcPct val="100000"/>
              </a:lnSpc>
            </a:pPr>
            <a:r>
              <a:rPr sz="1800">
                <a:solidFill>
                  <a:srgbClr val="4F5D6A"/>
                </a:solidFill>
                <a:latin typeface="Consolas"/>
              </a:rPr>
              <a:t>23</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21614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Margins, Kernels and a Tuning Grid</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§12.5  ·  Handout p. 95     </a:t>
            </a:r>
            <a:fld id="{CCF87C0D-A55C-4826-BA2B-8C5024F1D28A}" type="slidenum">
              <a:rPr lang="en-GB" sz="1000">
                <a:solidFill>
                  <a:srgbClr val="8795A1"/>
                </a:solidFill>
                <a:latin typeface="Segoe UI"/>
              </a:rPr>
              <a:t>32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Tune C and gamma together, features scaled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346704"/>
          </a:xfrm>
          <a:prstGeom prst="roundRect">
            <a:avLst>
              <a:gd name="adj" fmla="val 273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code/ch12_margins_kernels_tuning.py</a:t>
            </a:r>
          </a:p>
        </p:txBody>
      </p:sp>
      <p:sp>
        <p:nvSpPr>
          <p:cNvPr id="14" name="!!code-text" descr="# --- 3. tune C and gamma together, features scaled ----------------------- Xb, yb = load_breast_cancer(return_X_y=True) pipe = make_pipeline(StandardScaler(), SVC(kernel=&quot;rbf&quot;)) grid = GridSearchCV(pipe, {&quot;svc__C&quot;: [0.1, 1, 10, 100], &quot;svc__gamma&quot;: [0.001, 0.01, 0.1, 1]}, cv=5) grid.fit(Xb, yb) print(&quot;best:&quot;, grid.best_params_, &quot;CV accuracy&quot;, round(grid.best_score_, 3)) print(&quot;support vectors used:&quot;, grid.best_estimator_[-1].n_support_.sum(), &quot;of&quot;, len(yb))"/>
          <p:cNvSpPr txBox="1"/>
          <p:nvPr/>
        </p:nvSpPr>
        <p:spPr>
          <a:xfrm>
            <a:off x="1362456" y="2523744"/>
            <a:ext cx="9987991" cy="2852928"/>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--- 3. tune C and gamma together, features scaled -----------------------</a:t>
            </a:r>
          </a:p>
          <a:p>
            <a:pPr>
              <a:lnSpc>
                <a:spcPct val="100000"/>
              </a:lnSpc>
              <a:spcAft>
                <a:spcPts val="0"/>
              </a:spcAft>
            </a:pPr>
            <a:r>
              <a:rPr sz="1800" i="0">
                <a:solidFill>
                  <a:srgbClr val="E8EDF2"/>
                </a:solidFill>
                <a:latin typeface="Consolas"/>
              </a:rPr>
              <a:t>Xb</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yb</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load_breast_cancer</a:t>
            </a:r>
            <a:r>
              <a:rPr sz="1800" i="0">
                <a:solidFill>
                  <a:srgbClr val="AEB6BF"/>
                </a:solidFill>
                <a:latin typeface="Consolas"/>
              </a:rPr>
              <a:t>(</a:t>
            </a:r>
            <a:r>
              <a:rPr sz="1800" i="0">
                <a:solidFill>
                  <a:srgbClr val="E8EDF2"/>
                </a:solidFill>
                <a:latin typeface="Consolas"/>
              </a:rPr>
              <a:t>return_X_y</a:t>
            </a:r>
            <a:r>
              <a:rPr sz="1800" i="0">
                <a:solidFill>
                  <a:srgbClr val="AEB6BF"/>
                </a:solidFill>
                <a:latin typeface="Consolas"/>
              </a:rPr>
              <a:t>=</a:t>
            </a:r>
            <a:r>
              <a:rPr sz="1800" i="0">
                <a:solidFill>
                  <a:srgbClr val="5DADE2"/>
                </a:solidFill>
                <a:latin typeface="Consolas"/>
              </a:rPr>
              <a:t>True</a:t>
            </a:r>
            <a:r>
              <a:rPr sz="1800" i="0">
                <a:solidFill>
                  <a:srgbClr val="AEB6BF"/>
                </a:solidFill>
                <a:latin typeface="Consolas"/>
              </a:rPr>
              <a:t>)</a:t>
            </a:r>
          </a:p>
          <a:p>
            <a:pPr>
              <a:lnSpc>
                <a:spcPct val="100000"/>
              </a:lnSpc>
              <a:spcAft>
                <a:spcPts val="0"/>
              </a:spcAft>
            </a:pPr>
            <a:r>
              <a:rPr sz="1800" i="0">
                <a:solidFill>
                  <a:srgbClr val="E8EDF2"/>
                </a:solidFill>
                <a:latin typeface="Consolas"/>
              </a:rPr>
              <a:t>pipe</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make_pipeline</a:t>
            </a:r>
            <a:r>
              <a:rPr sz="1800" i="0">
                <a:solidFill>
                  <a:srgbClr val="AEB6BF"/>
                </a:solidFill>
                <a:latin typeface="Consolas"/>
              </a:rPr>
              <a:t>(</a:t>
            </a:r>
            <a:r>
              <a:rPr sz="1800" i="0">
                <a:solidFill>
                  <a:srgbClr val="E8EDF2"/>
                </a:solidFill>
                <a:latin typeface="Consolas"/>
              </a:rPr>
              <a:t>StandardScaler</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SVC</a:t>
            </a:r>
            <a:r>
              <a:rPr sz="1800" i="0">
                <a:solidFill>
                  <a:srgbClr val="AEB6BF"/>
                </a:solidFill>
                <a:latin typeface="Consolas"/>
              </a:rPr>
              <a:t>(</a:t>
            </a:r>
            <a:r>
              <a:rPr sz="1800" i="0">
                <a:solidFill>
                  <a:srgbClr val="E8EDF2"/>
                </a:solidFill>
                <a:latin typeface="Consolas"/>
              </a:rPr>
              <a:t>kernel</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rbf</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grid</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GridSearchCV</a:t>
            </a:r>
            <a:r>
              <a:rPr sz="1800" i="0">
                <a:solidFill>
                  <a:srgbClr val="AEB6BF"/>
                </a:solidFill>
                <a:latin typeface="Consolas"/>
              </a:rPr>
              <a:t>(</a:t>
            </a:r>
            <a:r>
              <a:rPr sz="1800" i="0">
                <a:solidFill>
                  <a:srgbClr val="E8EDF2"/>
                </a:solidFill>
                <a:latin typeface="Consolas"/>
              </a:rPr>
              <a:t>pipe</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svc__C</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0.1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100</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svc__gamma</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0.001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0.01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cv</a:t>
            </a:r>
            <a:r>
              <a:rPr sz="1800" i="0">
                <a:solidFill>
                  <a:srgbClr val="AEB6BF"/>
                </a:solidFill>
                <a:latin typeface="Consolas"/>
              </a:rPr>
              <a:t>=</a:t>
            </a:r>
            <a:r>
              <a:rPr sz="1800" i="0">
                <a:solidFill>
                  <a:srgbClr val="F7DC6F"/>
                </a:solidFill>
                <a:latin typeface="Consolas"/>
              </a:rPr>
              <a:t>5</a:t>
            </a:r>
            <a:r>
              <a:rPr sz="1800" i="0">
                <a:solidFill>
                  <a:srgbClr val="AEB6BF"/>
                </a:solidFill>
                <a:latin typeface="Consolas"/>
              </a:rPr>
              <a:t>)</a:t>
            </a:r>
          </a:p>
          <a:p>
            <a:pPr>
              <a:lnSpc>
                <a:spcPct val="100000"/>
              </a:lnSpc>
              <a:spcAft>
                <a:spcPts val="0"/>
              </a:spcAft>
            </a:pPr>
            <a:r>
              <a:rPr sz="1800" i="0">
                <a:solidFill>
                  <a:srgbClr val="E8EDF2"/>
                </a:solidFill>
                <a:latin typeface="Consolas"/>
              </a:rPr>
              <a:t>grid</a:t>
            </a:r>
            <a:r>
              <a:rPr sz="1800" i="0">
                <a:solidFill>
                  <a:srgbClr val="AEB6BF"/>
                </a:solidFill>
                <a:latin typeface="Consolas"/>
              </a:rPr>
              <a:t>.</a:t>
            </a:r>
            <a:r>
              <a:rPr sz="1800" i="0">
                <a:solidFill>
                  <a:srgbClr val="E8EDF2"/>
                </a:solidFill>
                <a:latin typeface="Consolas"/>
              </a:rPr>
              <a:t>fit</a:t>
            </a:r>
            <a:r>
              <a:rPr sz="1800" i="0">
                <a:solidFill>
                  <a:srgbClr val="AEB6BF"/>
                </a:solidFill>
                <a:latin typeface="Consolas"/>
              </a:rPr>
              <a:t>(</a:t>
            </a:r>
            <a:r>
              <a:rPr sz="1800" i="0">
                <a:solidFill>
                  <a:srgbClr val="E8EDF2"/>
                </a:solidFill>
                <a:latin typeface="Consolas"/>
              </a:rPr>
              <a:t>Xb</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yb</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best:</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grid</a:t>
            </a:r>
            <a:r>
              <a:rPr sz="1800" i="0">
                <a:solidFill>
                  <a:srgbClr val="AEB6BF"/>
                </a:solidFill>
                <a:latin typeface="Consolas"/>
              </a:rPr>
              <a:t>.</a:t>
            </a:r>
            <a:r>
              <a:rPr sz="1800" i="0">
                <a:solidFill>
                  <a:srgbClr val="E8EDF2"/>
                </a:solidFill>
                <a:latin typeface="Consolas"/>
              </a:rPr>
              <a:t>best_params_</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CV accuracy</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round</a:t>
            </a:r>
            <a:r>
              <a:rPr sz="1800" i="0">
                <a:solidFill>
                  <a:srgbClr val="AEB6BF"/>
                </a:solidFill>
                <a:latin typeface="Consolas"/>
              </a:rPr>
              <a:t>(</a:t>
            </a:r>
            <a:r>
              <a:rPr sz="1800" i="0">
                <a:solidFill>
                  <a:srgbClr val="E8EDF2"/>
                </a:solidFill>
                <a:latin typeface="Consolas"/>
              </a:rPr>
              <a:t>grid</a:t>
            </a:r>
            <a:r>
              <a:rPr sz="1800" i="0">
                <a:solidFill>
                  <a:srgbClr val="AEB6BF"/>
                </a:solidFill>
                <a:latin typeface="Consolas"/>
              </a:rPr>
              <a:t>.</a:t>
            </a:r>
            <a:r>
              <a:rPr sz="1800" i="0">
                <a:solidFill>
                  <a:srgbClr val="E8EDF2"/>
                </a:solidFill>
                <a:latin typeface="Consolas"/>
              </a:rPr>
              <a:t>best_score_</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3</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support vectors used:</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grid</a:t>
            </a:r>
            <a:r>
              <a:rPr sz="1800" i="0">
                <a:solidFill>
                  <a:srgbClr val="AEB6BF"/>
                </a:solidFill>
                <a:latin typeface="Consolas"/>
              </a:rPr>
              <a:t>.</a:t>
            </a:r>
            <a:r>
              <a:rPr sz="1800" i="0">
                <a:solidFill>
                  <a:srgbClr val="E8EDF2"/>
                </a:solidFill>
                <a:latin typeface="Consolas"/>
              </a:rPr>
              <a:t>best_estimator_</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n_support_</a:t>
            </a:r>
            <a:r>
              <a:rPr sz="1800" i="0">
                <a:solidFill>
                  <a:srgbClr val="AEB6BF"/>
                </a:solidFill>
                <a:latin typeface="Consolas"/>
              </a:rPr>
              <a:t>.</a:t>
            </a:r>
            <a:r>
              <a:rPr sz="1800" i="0">
                <a:solidFill>
                  <a:srgbClr val="E8EDF2"/>
                </a:solidFill>
                <a:latin typeface="Consolas"/>
              </a:rPr>
              <a:t>sum</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of</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len</a:t>
            </a:r>
            <a:r>
              <a:rPr sz="1800" i="0">
                <a:solidFill>
                  <a:srgbClr val="AEB6BF"/>
                </a:solidFill>
                <a:latin typeface="Consolas"/>
              </a:rPr>
              <a:t>(</a:t>
            </a:r>
            <a:r>
              <a:rPr sz="1800" i="0">
                <a:solidFill>
                  <a:srgbClr val="E8EDF2"/>
                </a:solidFill>
                <a:latin typeface="Consolas"/>
              </a:rPr>
              <a:t>yb</a:t>
            </a:r>
            <a:r>
              <a:rPr sz="1800" i="0">
                <a:solidFill>
                  <a:srgbClr val="AEB6BF"/>
                </a:solidFill>
                <a:latin typeface="Consolas"/>
              </a:rPr>
              <a:t>)</a:t>
            </a:r>
            <a:r>
              <a:rPr sz="1800" i="0">
                <a:solidFill>
                  <a:srgbClr val="AEB6BF"/>
                </a:solidFill>
                <a:latin typeface="Consolas"/>
              </a:rPr>
              <a:t>)</a:t>
            </a:r>
          </a:p>
        </p:txBody>
      </p:sp>
      <p:sp>
        <p:nvSpPr>
          <p:cNvPr id="15" name="!!code-num"/>
          <p:cNvSpPr txBox="1"/>
          <p:nvPr/>
        </p:nvSpPr>
        <p:spPr>
          <a:xfrm>
            <a:off x="768096" y="2523744"/>
            <a:ext cx="393192" cy="285292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25</a:t>
            </a:r>
          </a:p>
          <a:p>
            <a:pPr algn="r">
              <a:lnSpc>
                <a:spcPct val="100000"/>
              </a:lnSpc>
            </a:pPr>
            <a:r>
              <a:rPr sz="1800">
                <a:solidFill>
                  <a:srgbClr val="4F5D6A"/>
                </a:solidFill>
                <a:latin typeface="Consolas"/>
              </a:rPr>
              <a:t>26</a:t>
            </a:r>
          </a:p>
          <a:p>
            <a:pPr algn="r">
              <a:lnSpc>
                <a:spcPct val="100000"/>
              </a:lnSpc>
            </a:pPr>
            <a:r>
              <a:rPr sz="1800">
                <a:solidFill>
                  <a:srgbClr val="4F5D6A"/>
                </a:solidFill>
                <a:latin typeface="Consolas"/>
              </a:rPr>
              <a:t>27</a:t>
            </a:r>
          </a:p>
          <a:p>
            <a:pPr algn="r">
              <a:lnSpc>
                <a:spcPct val="100000"/>
              </a:lnSpc>
            </a:pPr>
            <a:r>
              <a:rPr sz="1800">
                <a:solidFill>
                  <a:srgbClr val="4F5D6A"/>
                </a:solidFill>
                <a:latin typeface="Consolas"/>
              </a:rPr>
              <a:t>28</a:t>
            </a:r>
          </a:p>
          <a:p>
            <a:pPr algn="r">
              <a:lnSpc>
                <a:spcPct val="100000"/>
              </a:lnSpc>
            </a:pPr>
            <a:r>
              <a:rPr sz="1800">
                <a:solidFill>
                  <a:srgbClr val="4F5D6A"/>
                </a:solidFill>
                <a:latin typeface="Consolas"/>
              </a:rPr>
              <a:t>29</a:t>
            </a:r>
          </a:p>
          <a:p>
            <a:pPr algn="r">
              <a:lnSpc>
                <a:spcPct val="100000"/>
              </a:lnSpc>
            </a:pPr>
            <a:r>
              <a:rPr sz="1800">
                <a:solidFill>
                  <a:srgbClr val="4F5D6A"/>
                </a:solidFill>
                <a:latin typeface="Consolas"/>
              </a:rPr>
              <a:t>30</a:t>
            </a:r>
          </a:p>
          <a:p>
            <a:pPr algn="r">
              <a:lnSpc>
                <a:spcPct val="100000"/>
              </a:lnSpc>
            </a:pPr>
            <a:r>
              <a:rPr sz="1800">
                <a:solidFill>
                  <a:srgbClr val="4F5D6A"/>
                </a:solidFill>
                <a:latin typeface="Consolas"/>
              </a:rPr>
              <a:t>31</a:t>
            </a:r>
          </a:p>
          <a:p>
            <a:pPr algn="r">
              <a:lnSpc>
                <a:spcPct val="100000"/>
              </a:lnSpc>
            </a:pPr>
            <a:r>
              <a:rPr sz="1800">
                <a:solidFill>
                  <a:srgbClr val="4F5D6A"/>
                </a:solidFill>
                <a:latin typeface="Consolas"/>
              </a:rPr>
              <a:t>32</a:t>
            </a:r>
          </a:p>
          <a:p>
            <a:pPr algn="r">
              <a:lnSpc>
                <a:spcPct val="100000"/>
              </a:lnSpc>
            </a:pPr>
            <a:r>
              <a:rPr sz="1800">
                <a:solidFill>
                  <a:srgbClr val="4F5D6A"/>
                </a:solidFill>
                <a:latin typeface="Consolas"/>
              </a:rPr>
              <a:t>33</a:t>
            </a:r>
          </a:p>
          <a:p>
            <a:pPr algn="r">
              <a:lnSpc>
                <a:spcPct val="100000"/>
              </a:lnSpc>
            </a:pPr>
            <a:r>
              <a:rPr sz="1800">
                <a:solidFill>
                  <a:srgbClr val="4F5D6A"/>
                </a:solidFill>
                <a:latin typeface="Consolas"/>
              </a:rPr>
              <a:t>34</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48117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§12.5  ·  Handout p. 95     </a:t>
            </a:r>
            <a:fld id="{02B95232-1607-409A-AA13-F332AA0C49F2}" type="slidenum">
              <a:rPr lang="en-GB" sz="1000">
                <a:solidFill>
                  <a:srgbClr val="8795A1"/>
                </a:solidFill>
                <a:latin typeface="Segoe UI"/>
              </a:rPr>
              <a:t>33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715414"/>
          </a:xfrm>
          <a:prstGeom prst="roundRect">
            <a:avLst>
              <a:gd name="adj" fmla="val 5330"/>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71541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In part 1, add the point </a:t>
            </a:r>
            <a:r>
              <a:rPr sz="2300" b="0" i="0">
                <a:solidFill>
                  <a:srgbClr val="1C252B"/>
                </a:solidFill>
                <a:latin typeface="Cambria"/>
              </a:rPr>
              <a:t>(1, 1.5)</a:t>
            </a:r>
            <a:r>
              <a:rPr sz="2300" b="0" i="0">
                <a:solidFill>
                  <a:srgbClr val="1C252B"/>
                </a:solidFill>
                <a:latin typeface="Segoe UI"/>
              </a:rPr>
              <a:t> with label </a:t>
            </a:r>
            <a:r>
              <a:rPr sz="2300" b="0" i="0">
                <a:solidFill>
                  <a:srgbClr val="1C252B"/>
                </a:solidFill>
                <a:latin typeface="Cambria"/>
              </a:rPr>
              <a:t>+1</a:t>
            </a:r>
            <a:r>
              <a:rPr sz="2300" b="0" i="0">
                <a:solidFill>
                  <a:srgbClr val="1C252B"/>
                </a:solidFill>
                <a:latin typeface="Segoe UI"/>
              </a:rPr>
              <a:t> and rerun. It lies inside the old margin: which support vectors change, and what happens to the margin width?</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8746216"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 linear SVM has </a:t>
            </a:r>
            <a:r>
              <a:rPr sz="3400" b="1" i="1">
                <a:solidFill>
                  <a:srgbClr val="FFFFFF"/>
                </a:solidFill>
                <a:latin typeface="Cambria"/>
              </a:rPr>
              <a:t>w</a:t>
            </a:r>
            <a:r>
              <a:rPr sz="3400" b="0" i="0">
                <a:solidFill>
                  <a:srgbClr val="FFFFFF"/>
                </a:solidFill>
                <a:latin typeface="Cambria"/>
              </a:rPr>
              <a:t> = (3, 4)</a:t>
            </a:r>
            <a:r>
              <a:rPr sz="3400" b="0" i="0">
                <a:solidFill>
                  <a:srgbClr val="FFFFFF"/>
                </a:solidFill>
                <a:latin typeface="Segoe UI Semibold"/>
              </a:rPr>
              <a:t> and </a:t>
            </a:r>
            <a:r>
              <a:rPr sz="3400" b="0" i="1">
                <a:solidFill>
                  <a:srgbClr val="FFFFFF"/>
                </a:solidFill>
                <a:latin typeface="Cambria"/>
              </a:rPr>
              <a:t>b</a:t>
            </a:r>
            <a:r>
              <a:rPr sz="3400" b="0" i="0">
                <a:solidFill>
                  <a:srgbClr val="FFFFFF"/>
                </a:solidFill>
                <a:latin typeface="Cambria"/>
              </a:rPr>
              <a:t> = −5</a:t>
            </a:r>
            <a:r>
              <a:rPr sz="3400" b="0" i="0">
                <a:solidFill>
                  <a:srgbClr val="FFFFFF"/>
                </a:solidFill>
                <a:latin typeface="Segoe UI Semibold"/>
              </a:rPr>
              <a:t>. What is its margin width, and how is </a:t>
            </a:r>
            <a:r>
              <a:rPr sz="3400" b="0" i="0">
                <a:solidFill>
                  <a:srgbClr val="FFFFFF"/>
                </a:solidFill>
                <a:latin typeface="Cambria"/>
              </a:rPr>
              <a:t>(1, 1)</a:t>
            </a:r>
            <a:r>
              <a:rPr sz="3400" b="0" i="0">
                <a:solidFill>
                  <a:srgbClr val="FFFFFF"/>
                </a:solidFill>
                <a:latin typeface="Segoe UI Semibold"/>
              </a:rPr>
              <a:t> classified?</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12  ·  Support Vector Machines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97  ·  answers in Appendix D     </a:t>
            </a:r>
            <a:fld id="{0BE32CC1-8582-4C13-ABB8-5A567327B33D}" type="slidenum">
              <a:rPr lang="en-GB" sz="1000">
                <a:solidFill>
                  <a:srgbClr val="D5DEE5"/>
                </a:solidFill>
                <a:latin typeface="Segoe UI"/>
              </a:rPr>
              <a:t>34</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A linear SVM has </a:t>
            </a:r>
            <a:r>
              <a:rPr sz="2400" b="1" i="1">
                <a:solidFill>
                  <a:srgbClr val="1A5276"/>
                </a:solidFill>
                <a:latin typeface="Cambria"/>
              </a:rPr>
              <a:t>w</a:t>
            </a:r>
            <a:r>
              <a:rPr sz="2400" b="0" i="0">
                <a:solidFill>
                  <a:srgbClr val="1A5276"/>
                </a:solidFill>
                <a:latin typeface="Cambria"/>
              </a:rPr>
              <a:t> = (3, 4)</a:t>
            </a:r>
            <a:r>
              <a:rPr sz="2400" b="0" i="0">
                <a:solidFill>
                  <a:srgbClr val="1A5276"/>
                </a:solidFill>
                <a:latin typeface="Segoe UI Semibold"/>
              </a:rPr>
              <a:t> and </a:t>
            </a:r>
            <a:r>
              <a:rPr sz="2400" b="0" i="1">
                <a:solidFill>
                  <a:srgbClr val="1A5276"/>
                </a:solidFill>
                <a:latin typeface="Cambria"/>
              </a:rPr>
              <a:t>b</a:t>
            </a:r>
            <a:r>
              <a:rPr sz="2400" b="0" i="0">
                <a:solidFill>
                  <a:srgbClr val="1A5276"/>
                </a:solidFill>
                <a:latin typeface="Cambria"/>
              </a:rPr>
              <a:t> = −5</a:t>
            </a:r>
            <a:r>
              <a:rPr sz="2400" b="0" i="0">
                <a:solidFill>
                  <a:srgbClr val="1A5276"/>
                </a:solidFill>
                <a:latin typeface="Segoe UI Semibold"/>
              </a:rPr>
              <a:t>. What is its margin width, and how is </a:t>
            </a:r>
            <a:r>
              <a:rPr sz="2400" b="0" i="0">
                <a:solidFill>
                  <a:srgbClr val="1A5276"/>
                </a:solidFill>
                <a:latin typeface="Cambria"/>
              </a:rPr>
              <a:t>(1, 1)</a:t>
            </a:r>
            <a:r>
              <a:rPr sz="2400" b="0" i="0">
                <a:solidFill>
                  <a:srgbClr val="1A5276"/>
                </a:solidFill>
                <a:latin typeface="Segoe UI Semibold"/>
              </a:rPr>
              <a:t> classified?</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348691"/>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394411"/>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Cambria"/>
              </a:rPr>
              <a:t>‖</a:t>
            </a:r>
            <a:r>
              <a:rPr sz="2200" b="1" i="1">
                <a:solidFill>
                  <a:srgbClr val="1C252B"/>
                </a:solidFill>
                <a:latin typeface="Cambria"/>
              </a:rPr>
              <a:t>w</a:t>
            </a:r>
            <a:r>
              <a:rPr sz="2200" b="0" i="0">
                <a:solidFill>
                  <a:srgbClr val="1C252B"/>
                </a:solidFill>
                <a:latin typeface="Cambria"/>
              </a:rPr>
              <a:t>‖ = 5</a:t>
            </a:r>
            <a:r>
              <a:rPr sz="2200" b="0" i="0">
                <a:solidFill>
                  <a:srgbClr val="1C252B"/>
                </a:solidFill>
                <a:latin typeface="Segoe UI"/>
              </a:rPr>
              <a:t>, so the margin is </a:t>
            </a:r>
            <a:r>
              <a:rPr sz="2200" b="0" i="0">
                <a:solidFill>
                  <a:srgbClr val="1C252B"/>
                </a:solidFill>
                <a:latin typeface="Cambria"/>
              </a:rPr>
              <a:t>2/5 = 0.4</a:t>
            </a:r>
            <a:r>
              <a:rPr sz="2200" b="0" i="0">
                <a:solidFill>
                  <a:srgbClr val="1C252B"/>
                </a:solidFill>
                <a:latin typeface="Segoe UI"/>
              </a:rPr>
              <a:t>. </a:t>
            </a:r>
            <a:r>
              <a:rPr sz="2200" b="0" i="1">
                <a:solidFill>
                  <a:srgbClr val="1C252B"/>
                </a:solidFill>
                <a:latin typeface="Cambria"/>
              </a:rPr>
              <a:t>f</a:t>
            </a:r>
            <a:r>
              <a:rPr sz="2200" b="0" i="0">
                <a:solidFill>
                  <a:srgbClr val="1C252B"/>
                </a:solidFill>
                <a:latin typeface="Cambria"/>
              </a:rPr>
              <a:t>(1, 1) = 3 + 4 − 5 = 2 &gt; 0</a:t>
            </a:r>
            <a:r>
              <a:rPr sz="2200" b="0" i="0">
                <a:solidFill>
                  <a:srgbClr val="1C252B"/>
                </a:solidFill>
                <a:latin typeface="Segoe UI"/>
              </a:rPr>
              <a:t>: positive.</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97  ·  answers in Appendix D     </a:t>
            </a:r>
            <a:fld id="{65146E31-A147-4C08-9813-A2B407098DB5}" type="slidenum">
              <a:rPr lang="en-GB" sz="1000">
                <a:solidFill>
                  <a:srgbClr val="8795A1"/>
                </a:solidFill>
                <a:latin typeface="Segoe UI"/>
              </a:rPr>
              <a:t>35</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27628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What happens to the margin and to training errors as </a:t>
            </a:r>
            <a:r>
              <a:rPr sz="3400" b="0" i="1">
                <a:solidFill>
                  <a:srgbClr val="FFFFFF"/>
                </a:solidFill>
                <a:latin typeface="Cambria"/>
              </a:rPr>
              <a:t>C</a:t>
            </a:r>
            <a:r>
              <a:rPr sz="3400" b="0" i="0">
                <a:solidFill>
                  <a:srgbClr val="FFFFFF"/>
                </a:solidFill>
                <a:latin typeface="Segoe UI Semibold"/>
              </a:rPr>
              <a:t> is increased?</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12  ·  Support Vector Machines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97  ·  answers in Appendix D     </a:t>
            </a:r>
            <a:fld id="{3C0F0AFC-7C9C-4B7F-8F95-5500544110B7}" type="slidenum">
              <a:rPr lang="en-GB" sz="1000">
                <a:solidFill>
                  <a:srgbClr val="D5DEE5"/>
                </a:solidFill>
                <a:latin typeface="Segoe UI"/>
              </a:rPr>
              <a:t>36</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457200"/>
          </a:xfrm>
        </p:spPr>
        <p:txBody>
          <a:bodyPr wrap="square" lIns="0" rIns="0" tIns="0" bIns="0" anchor="t">
            <a:noAutofit/>
          </a:bodyPr>
          <a:lstStyle/>
          <a:p>
            <a:pPr algn="l">
              <a:lnSpc>
                <a:spcPct val="96000"/>
              </a:lnSpc>
            </a:pPr>
            <a:r>
              <a:rPr sz="2400" b="0" i="0">
                <a:solidFill>
                  <a:srgbClr val="1A5276"/>
                </a:solidFill>
                <a:latin typeface="Segoe UI Semibold"/>
              </a:rPr>
              <a:t>What happens to the margin and to training errors as </a:t>
            </a:r>
            <a:r>
              <a:rPr sz="2400" b="0" i="1">
                <a:solidFill>
                  <a:srgbClr val="1A5276"/>
                </a:solidFill>
                <a:latin typeface="Cambria"/>
              </a:rPr>
              <a:t>C</a:t>
            </a:r>
            <a:r>
              <a:rPr sz="2400" b="0" i="0">
                <a:solidFill>
                  <a:srgbClr val="1A5276"/>
                </a:solidFill>
                <a:latin typeface="Segoe UI Semibold"/>
              </a:rPr>
              <a:t> is increased?</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1411833"/>
            <a:ext cx="64008" cy="69738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411833"/>
            <a:ext cx="10509199" cy="743102"/>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The margin narrows and the model tolerates fewer violations, so training errors fall — and the risk of overfitting rises.</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97  ·  answers in Appendix D     </a:t>
            </a:r>
            <a:fld id="{4CE14C28-4DA4-4756-B23C-ED9512D4A6DE}" type="slidenum">
              <a:rPr lang="en-GB" sz="1000">
                <a:solidFill>
                  <a:srgbClr val="8795A1"/>
                </a:solidFill>
                <a:latin typeface="Segoe UI"/>
              </a:rPr>
              <a:t>37</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80636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Why can the kernel trick be applied to the SVM at all?</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12  ·  Support Vector Machines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97  ·  answers in Appendix D     </a:t>
            </a:r>
            <a:fld id="{DB4EBB67-3497-41EE-B527-57C2587F51A4}" type="slidenum">
              <a:rPr lang="en-GB" sz="1000">
                <a:solidFill>
                  <a:srgbClr val="D5DEE5"/>
                </a:solidFill>
                <a:latin typeface="Segoe UI"/>
              </a:rPr>
              <a:t>38</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457200"/>
          </a:xfrm>
        </p:spPr>
        <p:txBody>
          <a:bodyPr wrap="square" lIns="0" rIns="0" tIns="0" bIns="0" anchor="t">
            <a:noAutofit/>
          </a:bodyPr>
          <a:lstStyle/>
          <a:p>
            <a:pPr algn="l">
              <a:lnSpc>
                <a:spcPct val="96000"/>
              </a:lnSpc>
            </a:pPr>
            <a:r>
              <a:rPr sz="2400" b="0" i="0">
                <a:solidFill>
                  <a:srgbClr val="1A5276"/>
                </a:solidFill>
                <a:latin typeface="Segoe UI Semibold"/>
              </a:rPr>
              <a:t>Why can the kernel trick be applied to the SVM at all?</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1411833"/>
            <a:ext cx="64008" cy="1046073"/>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411833"/>
            <a:ext cx="10509199" cy="1091793"/>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Because both the SVM’s optimisation and its decision function use the training examples only through dot products </a:t>
            </a:r>
            <a:r>
              <a:rPr sz="2200" b="1" i="1">
                <a:solidFill>
                  <a:srgbClr val="1C252B"/>
                </a:solidFill>
                <a:latin typeface="Cambria"/>
              </a:rPr>
              <a:t>x</a:t>
            </a:r>
            <a:r>
              <a:rPr sz="2200" b="0" i="1" baseline="-25000">
                <a:solidFill>
                  <a:srgbClr val="1C252B"/>
                </a:solidFill>
                <a:latin typeface="Cambria"/>
              </a:rPr>
              <a:t>i</a:t>
            </a:r>
            <a:r>
              <a:rPr sz="2200" b="0" i="0">
                <a:solidFill>
                  <a:srgbClr val="1C252B"/>
                </a:solidFill>
                <a:latin typeface="Cambria"/>
              </a:rPr>
              <a:t> · </a:t>
            </a:r>
            <a:r>
              <a:rPr sz="2200" b="1" i="1">
                <a:solidFill>
                  <a:srgbClr val="1C252B"/>
                </a:solidFill>
                <a:latin typeface="Cambria"/>
              </a:rPr>
              <a:t>x</a:t>
            </a:r>
            <a:r>
              <a:rPr sz="2200" b="0" i="1" baseline="-25000">
                <a:solidFill>
                  <a:srgbClr val="1C252B"/>
                </a:solidFill>
                <a:latin typeface="Cambria"/>
              </a:rPr>
              <a:t>j</a:t>
            </a:r>
            <a:r>
              <a:rPr sz="2200" b="0" i="0">
                <a:solidFill>
                  <a:srgbClr val="1C252B"/>
                </a:solidFill>
                <a:latin typeface="Segoe UI"/>
              </a:rPr>
              <a:t>, and each dot product can be replaced by a kernel.</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97  ·  answers in Appendix D     </a:t>
            </a:r>
            <a:fld id="{706DD6E5-4BCD-42AA-BC4E-0D8CEFE1B6BF}" type="slidenum">
              <a:rPr lang="en-GB" sz="1000">
                <a:solidFill>
                  <a:srgbClr val="8795A1"/>
                </a:solidFill>
                <a:latin typeface="Segoe UI"/>
              </a:rPr>
              <a:t>39</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33643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97     </a:t>
            </a:r>
            <a:fld id="{81C1F2D9-B7EB-4C75-80EB-5DDF6F800ACF}" type="slidenum">
              <a:rPr lang="en-GB" sz="1000">
                <a:solidFill>
                  <a:srgbClr val="8795A1"/>
                </a:solidFill>
                <a:latin typeface="Segoe UI"/>
              </a:rPr>
              <a:t>40</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Of all separating hyperplanes the SVM chooses the one with the widest margin, </a:t>
            </a:r>
            <a:r>
              <a:rPr sz="2100" b="0" i="0">
                <a:solidFill>
                  <a:srgbClr val="1C252B"/>
                </a:solidFill>
                <a:latin typeface="Cambria"/>
              </a:rPr>
              <a:t>2/‖</a:t>
            </a:r>
            <a:r>
              <a:rPr sz="2100" b="1" i="1">
                <a:solidFill>
                  <a:srgbClr val="1C252B"/>
                </a:solidFill>
                <a:latin typeface="Cambria"/>
              </a:rPr>
              <a:t>w</a:t>
            </a:r>
            <a:r>
              <a:rPr sz="2100" b="0" i="0">
                <a:solidFill>
                  <a:srgbClr val="1C252B"/>
                </a:solidFill>
                <a:latin typeface="Cambria"/>
              </a:rPr>
              <a:t>‖</a:t>
            </a:r>
            <a:r>
              <a:rPr sz="2100" b="0" i="0">
                <a:solidFill>
                  <a:srgbClr val="1C252B"/>
                </a:solidFill>
                <a:latin typeface="Segoe UI"/>
              </a:rPr>
              <a:t>; it is determined by the support vectors alone.</a:t>
            </a:r>
          </a:p>
        </p:txBody>
      </p:sp>
      <p:sp>
        <p:nvSpPr>
          <p:cNvPr id="10" name="!!sb1">
            <a:extLst>
              <a:ext uri="{C183D7F6-B498-43B3-948B-1728B52AA6E4}">
                <adec:decorative xmlns:adec="http://schemas.microsoft.com/office/drawing/2017/decorative" val="1"/>
              </a:ext>
            </a:extLst>
          </p:cNvPr>
          <p:cNvSpPr/>
          <p:nvPr/>
        </p:nvSpPr>
        <p:spPr>
          <a:xfrm>
            <a:off x="658368" y="2595067"/>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649931"/>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585923"/>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The soft-margin SVM allows violations priced by </a:t>
            </a:r>
            <a:r>
              <a:rPr sz="2100" b="0" i="1">
                <a:solidFill>
                  <a:srgbClr val="1C252B"/>
                </a:solidFill>
                <a:latin typeface="Cambria"/>
              </a:rPr>
              <a:t>C</a:t>
            </a:r>
            <a:r>
              <a:rPr sz="2100" b="0" i="0">
                <a:solidFill>
                  <a:srgbClr val="1C252B"/>
                </a:solidFill>
                <a:latin typeface="Segoe UI"/>
              </a:rPr>
              <a:t>, and is equivalent to hinge loss plus an L2 penalty. Large </a:t>
            </a:r>
            <a:r>
              <a:rPr sz="2100" b="0" i="1">
                <a:solidFill>
                  <a:srgbClr val="1C252B"/>
                </a:solidFill>
                <a:latin typeface="Cambria"/>
              </a:rPr>
              <a:t>C</a:t>
            </a:r>
            <a:r>
              <a:rPr sz="2100" b="0" i="0">
                <a:solidFill>
                  <a:srgbClr val="1C252B"/>
                </a:solidFill>
                <a:latin typeface="Segoe UI"/>
              </a:rPr>
              <a:t>: narrow margin, high variance.</a:t>
            </a:r>
          </a:p>
        </p:txBody>
      </p:sp>
      <p:sp>
        <p:nvSpPr>
          <p:cNvPr id="13" name="!!sb2">
            <a:extLst>
              <a:ext uri="{C183D7F6-B498-43B3-948B-1728B52AA6E4}">
                <adec:decorative xmlns:adec="http://schemas.microsoft.com/office/drawing/2017/decorative" val="1"/>
              </a:ext>
            </a:extLst>
          </p:cNvPr>
          <p:cNvSpPr/>
          <p:nvPr/>
        </p:nvSpPr>
        <p:spPr>
          <a:xfrm>
            <a:off x="658368" y="344363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49849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434486"/>
            <a:ext cx="10234879" cy="402336"/>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The hinge loss is zero beyond the margin, which is why only support vectors matter.</a:t>
            </a:r>
          </a:p>
        </p:txBody>
      </p:sp>
      <p:sp>
        <p:nvSpPr>
          <p:cNvPr id="16" name="!!sb3">
            <a:extLst>
              <a:ext uri="{C183D7F6-B498-43B3-948B-1728B52AA6E4}">
                <adec:decorative xmlns:adec="http://schemas.microsoft.com/office/drawing/2017/decorative" val="1"/>
              </a:ext>
            </a:extLst>
          </p:cNvPr>
          <p:cNvSpPr/>
          <p:nvPr/>
        </p:nvSpPr>
        <p:spPr>
          <a:xfrm>
            <a:off x="658368" y="402884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08371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4019702"/>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Kernels compute dot products in a large feature space without building it; the RBF kernel is the default for non-linear problems.</a:t>
            </a:r>
          </a:p>
        </p:txBody>
      </p:sp>
      <p:sp>
        <p:nvSpPr>
          <p:cNvPr id="19" name="!!sb4">
            <a:extLst>
              <a:ext uri="{C183D7F6-B498-43B3-948B-1728B52AA6E4}">
                <adec:decorative xmlns:adec="http://schemas.microsoft.com/office/drawing/2017/decorative" val="1"/>
              </a:ext>
            </a:extLst>
          </p:cNvPr>
          <p:cNvSpPr/>
          <p:nvPr/>
        </p:nvSpPr>
        <p:spPr>
          <a:xfrm>
            <a:off x="658368" y="4877409"/>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4932273"/>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4868265"/>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Scale the features and tune </a:t>
            </a:r>
            <a:r>
              <a:rPr sz="2100" b="0" i="1">
                <a:solidFill>
                  <a:srgbClr val="1C252B"/>
                </a:solidFill>
                <a:latin typeface="Cambria"/>
              </a:rPr>
              <a:t>C</a:t>
            </a:r>
            <a:r>
              <a:rPr sz="2100" b="0" i="0">
                <a:solidFill>
                  <a:srgbClr val="1C252B"/>
                </a:solidFill>
                <a:latin typeface="Segoe UI"/>
              </a:rPr>
              <a:t> and </a:t>
            </a:r>
            <a:r>
              <a:rPr sz="2100" b="0" i="0">
                <a:solidFill>
                  <a:srgbClr val="1C252B"/>
                </a:solidFill>
                <a:latin typeface="Cambria"/>
              </a:rPr>
              <a:t>γ</a:t>
            </a:r>
            <a:r>
              <a:rPr sz="2100" b="0" i="0">
                <a:solidFill>
                  <a:srgbClr val="1C252B"/>
                </a:solidFill>
                <a:latin typeface="Segoe UI"/>
              </a:rPr>
              <a:t> together on a logarithmic grid by cross-validation.</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1060147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97     </a:t>
            </a:r>
            <a:fld id="{C399EE3C-E752-451E-B606-8337BB7548CF}" type="slidenum">
              <a:rPr lang="en-GB" sz="1000">
                <a:solidFill>
                  <a:srgbClr val="8795A1"/>
                </a:solidFill>
                <a:latin typeface="Segoe UI"/>
              </a:rPr>
              <a:t>41</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support vectors of an SVM are:</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all training points</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points on or inside the margin</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misclassified points only</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cluster centres</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086651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97     </a:t>
            </a:r>
            <a:fld id="{D9B85FDC-C324-45DB-B447-8CD5DB0482FD}" type="slidenum">
              <a:rPr lang="en-GB" sz="1000">
                <a:solidFill>
                  <a:srgbClr val="8795A1"/>
                </a:solidFill>
                <a:latin typeface="Segoe UI"/>
              </a:rPr>
              <a:t>42</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With the RBF kernel, a very large </a:t>
            </a:r>
            <a:r>
              <a:rPr sz="2600" b="0" i="0">
                <a:solidFill>
                  <a:srgbClr val="1C252B"/>
                </a:solidFill>
                <a:latin typeface="Cambria"/>
              </a:rPr>
              <a:t>γ</a:t>
            </a:r>
            <a:r>
              <a:rPr sz="2600" b="0" i="0">
                <a:solidFill>
                  <a:srgbClr val="1C252B"/>
                </a:solidFill>
                <a:latin typeface="Segoe UI"/>
              </a:rPr>
              <a:t> tends to:</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underfit</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overfit</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have no effect</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make the model linear</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13154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97     </a:t>
            </a:r>
            <a:fld id="{1554B30E-2B9C-4765-A6DD-50201F50F770}" type="slidenum">
              <a:rPr lang="en-GB" sz="1000">
                <a:solidFill>
                  <a:srgbClr val="8795A1"/>
                </a:solidFill>
                <a:latin typeface="Segoe UI"/>
              </a:rPr>
              <a:t>43</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hinge loss of a point with </a:t>
            </a:r>
            <a:r>
              <a:rPr sz="2600" b="0" i="1">
                <a:solidFill>
                  <a:srgbClr val="1C252B"/>
                </a:solidFill>
                <a:latin typeface="Cambria"/>
              </a:rPr>
              <a:t>y</a:t>
            </a:r>
            <a:r>
              <a:rPr sz="2600" b="0" i="0">
                <a:solidFill>
                  <a:srgbClr val="1C252B"/>
                </a:solidFill>
                <a:latin typeface="Cambria"/>
              </a:rPr>
              <a:t> </a:t>
            </a:r>
            <a:r>
              <a:rPr sz="2600" b="0" i="1">
                <a:solidFill>
                  <a:srgbClr val="1C252B"/>
                </a:solidFill>
                <a:latin typeface="Cambria"/>
              </a:rPr>
              <a:t>f</a:t>
            </a:r>
            <a:r>
              <a:rPr sz="2600" b="0" i="0">
                <a:solidFill>
                  <a:srgbClr val="1C252B"/>
                </a:solidFill>
                <a:latin typeface="Cambria"/>
              </a:rPr>
              <a:t>(</a:t>
            </a:r>
            <a:r>
              <a:rPr sz="2600" b="1" i="1">
                <a:solidFill>
                  <a:srgbClr val="1C252B"/>
                </a:solidFill>
                <a:latin typeface="Cambria"/>
              </a:rPr>
              <a:t>x</a:t>
            </a:r>
            <a:r>
              <a:rPr sz="2600" b="0" i="0">
                <a:solidFill>
                  <a:srgbClr val="1C252B"/>
                </a:solidFill>
                <a:latin typeface="Cambria"/>
              </a:rPr>
              <a:t>) = 0.3</a:t>
            </a:r>
            <a:r>
              <a:rPr sz="2600" b="0" i="0">
                <a:solidFill>
                  <a:srgbClr val="1C252B"/>
                </a:solidFill>
                <a:latin typeface="Segoe UI"/>
              </a:rPr>
              <a:t> is: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0</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0.3</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0.7</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1.3</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39658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97     </a:t>
            </a:r>
            <a:fld id="{00F95AB1-3C34-47CA-BA80-E981E7061672}" type="slidenum">
              <a:rPr lang="en-GB" sz="1000">
                <a:solidFill>
                  <a:srgbClr val="8795A1"/>
                </a:solidFill>
                <a:latin typeface="Segoe UI"/>
              </a:rPr>
              <a:t>44</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Why is a wider margin expected to generalise better?</a:t>
            </a:r>
          </a:p>
        </p:txBody>
      </p:sp>
      <p:sp>
        <p:nvSpPr>
          <p:cNvPr id="10" name="!!rt1">
            <a:extLst>
              <a:ext uri="{C183D7F6-B498-43B3-948B-1728B52AA6E4}">
                <adec:decorative xmlns:adec="http://schemas.microsoft.com/office/drawing/2017/decorative" val="1"/>
              </a:ext>
            </a:extLst>
          </p:cNvPr>
          <p:cNvSpPr/>
          <p:nvPr/>
        </p:nvSpPr>
        <p:spPr>
          <a:xfrm>
            <a:off x="658368" y="2276246"/>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317394"/>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257958"/>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Compare the hinge loss with the logistic loss.</a:t>
            </a:r>
          </a:p>
        </p:txBody>
      </p:sp>
      <p:sp>
        <p:nvSpPr>
          <p:cNvPr id="13" name="!!rt2">
            <a:extLst>
              <a:ext uri="{C183D7F6-B498-43B3-948B-1728B52AA6E4}">
                <adec:decorative xmlns:adec="http://schemas.microsoft.com/office/drawing/2017/decorative" val="1"/>
              </a:ext>
            </a:extLst>
          </p:cNvPr>
          <p:cNvSpPr/>
          <p:nvPr/>
        </p:nvSpPr>
        <p:spPr>
          <a:xfrm>
            <a:off x="658368" y="2796844"/>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2837992"/>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2778556"/>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the kernel trick without formulas.</a:t>
            </a:r>
          </a:p>
        </p:txBody>
      </p:sp>
      <p:sp>
        <p:nvSpPr>
          <p:cNvPr id="16" name="!!rt3">
            <a:extLst>
              <a:ext uri="{C183D7F6-B498-43B3-948B-1728B52AA6E4}">
                <adec:decorative xmlns:adec="http://schemas.microsoft.com/office/drawing/2017/decorative" val="1"/>
              </a:ext>
            </a:extLst>
          </p:cNvPr>
          <p:cNvSpPr/>
          <p:nvPr/>
        </p:nvSpPr>
        <p:spPr>
          <a:xfrm>
            <a:off x="658368" y="3317443"/>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3358591"/>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3299155"/>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For support vectors </a:t>
            </a:r>
            <a:r>
              <a:rPr sz="1900" b="0" i="0">
                <a:solidFill>
                  <a:srgbClr val="1C252B"/>
                </a:solidFill>
                <a:latin typeface="Cambria"/>
              </a:rPr>
              <a:t>(1, 3)</a:t>
            </a:r>
            <a:r>
              <a:rPr sz="1900" b="0" i="0">
                <a:solidFill>
                  <a:srgbClr val="1C252B"/>
                </a:solidFill>
                <a:latin typeface="Segoe UI"/>
              </a:rPr>
              <a:t> (label </a:t>
            </a:r>
            <a:r>
              <a:rPr sz="1900" b="0" i="0">
                <a:solidFill>
                  <a:srgbClr val="1C252B"/>
                </a:solidFill>
                <a:latin typeface="Cambria"/>
              </a:rPr>
              <a:t>+1</a:t>
            </a:r>
            <a:r>
              <a:rPr sz="1900" b="0" i="0">
                <a:solidFill>
                  <a:srgbClr val="1C252B"/>
                </a:solidFill>
                <a:latin typeface="Segoe UI"/>
              </a:rPr>
              <a:t>) and </a:t>
            </a:r>
            <a:r>
              <a:rPr sz="1900" b="0" i="0">
                <a:solidFill>
                  <a:srgbClr val="1C252B"/>
                </a:solidFill>
                <a:latin typeface="Cambria"/>
              </a:rPr>
              <a:t>(1, 1)</a:t>
            </a:r>
            <a:r>
              <a:rPr sz="1900" b="0" i="0">
                <a:solidFill>
                  <a:srgbClr val="1C252B"/>
                </a:solidFill>
                <a:latin typeface="Segoe UI"/>
              </a:rPr>
              <a:t> (label </a:t>
            </a:r>
            <a:r>
              <a:rPr sz="1900" b="0" i="0">
                <a:solidFill>
                  <a:srgbClr val="1C252B"/>
                </a:solidFill>
                <a:latin typeface="Cambria"/>
              </a:rPr>
              <a:t>−1</a:t>
            </a:r>
            <a:r>
              <a:rPr sz="1900" b="0" i="0">
                <a:solidFill>
                  <a:srgbClr val="1C252B"/>
                </a:solidFill>
                <a:latin typeface="Segoe UI"/>
              </a:rPr>
              <a:t>), find </a:t>
            </a:r>
            <a:r>
              <a:rPr sz="1900" b="1" i="1">
                <a:solidFill>
                  <a:srgbClr val="1C252B"/>
                </a:solidFill>
                <a:latin typeface="Cambria"/>
              </a:rPr>
              <a:t>w</a:t>
            </a:r>
            <a:r>
              <a:rPr sz="1900" b="0" i="0">
                <a:solidFill>
                  <a:srgbClr val="1C252B"/>
                </a:solidFill>
                <a:latin typeface="Segoe UI"/>
              </a:rPr>
              <a:t>, </a:t>
            </a:r>
            <a:r>
              <a:rPr sz="1900" b="0" i="1">
                <a:solidFill>
                  <a:srgbClr val="1C252B"/>
                </a:solidFill>
                <a:latin typeface="Cambria"/>
              </a:rPr>
              <a:t>b</a:t>
            </a:r>
            <a:r>
              <a:rPr sz="1900" b="0" i="0">
                <a:solidFill>
                  <a:srgbClr val="1C252B"/>
                </a:solidFill>
                <a:latin typeface="Segoe UI"/>
              </a:rPr>
              <a:t> and the margin of the maximum-margin line, and classify </a:t>
            </a:r>
            <a:r>
              <a:rPr sz="1900" b="0" i="0">
                <a:solidFill>
                  <a:srgbClr val="1C252B"/>
                </a:solidFill>
                <a:latin typeface="Cambria"/>
              </a:rPr>
              <a:t>(4, 2.5)</a:t>
            </a:r>
            <a:r>
              <a:rPr sz="1900" b="0" i="0">
                <a:solidFill>
                  <a:srgbClr val="1C252B"/>
                </a:solidFill>
                <a:latin typeface="Segoe UI"/>
              </a:rPr>
              <a:t>.</a:t>
            </a:r>
          </a:p>
        </p:txBody>
      </p:sp>
      <p:sp>
        <p:nvSpPr>
          <p:cNvPr id="19" name="!!rt4">
            <a:extLst>
              <a:ext uri="{C183D7F6-B498-43B3-948B-1728B52AA6E4}">
                <adec:decorative xmlns:adec="http://schemas.microsoft.com/office/drawing/2017/decorative" val="1"/>
              </a:ext>
            </a:extLst>
          </p:cNvPr>
          <p:cNvSpPr/>
          <p:nvPr/>
        </p:nvSpPr>
        <p:spPr>
          <a:xfrm>
            <a:off x="658368" y="4139183"/>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rtt4"/>
          <p:cNvSpPr txBox="1"/>
          <p:nvPr/>
        </p:nvSpPr>
        <p:spPr>
          <a:xfrm>
            <a:off x="658368" y="4180331"/>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21" name="!!rq4"/>
          <p:cNvSpPr txBox="1"/>
          <p:nvPr/>
        </p:nvSpPr>
        <p:spPr>
          <a:xfrm>
            <a:off x="1892807" y="4120895"/>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Verify that </a:t>
            </a:r>
            <a:r>
              <a:rPr sz="1900" b="0" i="1">
                <a:solidFill>
                  <a:srgbClr val="1C252B"/>
                </a:solidFill>
                <a:latin typeface="Cambria"/>
              </a:rPr>
              <a:t>K</a:t>
            </a:r>
            <a:r>
              <a:rPr sz="1900" b="0" i="0">
                <a:solidFill>
                  <a:srgbClr val="1C252B"/>
                </a:solidFill>
                <a:latin typeface="Cambria"/>
              </a:rPr>
              <a:t>(</a:t>
            </a:r>
            <a:r>
              <a:rPr sz="1900" b="1" i="1">
                <a:solidFill>
                  <a:srgbClr val="1C252B"/>
                </a:solidFill>
                <a:latin typeface="Cambria"/>
              </a:rPr>
              <a:t>x</a:t>
            </a:r>
            <a:r>
              <a:rPr sz="1900" b="0" i="0">
                <a:solidFill>
                  <a:srgbClr val="1C252B"/>
                </a:solidFill>
                <a:latin typeface="Cambria"/>
              </a:rPr>
              <a:t>, </a:t>
            </a:r>
            <a:r>
              <a:rPr sz="1900" b="1" i="1">
                <a:solidFill>
                  <a:srgbClr val="1C252B"/>
                </a:solidFill>
                <a:latin typeface="Cambria"/>
              </a:rPr>
              <a:t>z</a:t>
            </a:r>
            <a:r>
              <a:rPr sz="1900" b="0" i="0">
                <a:solidFill>
                  <a:srgbClr val="1C252B"/>
                </a:solidFill>
                <a:latin typeface="Cambria"/>
              </a:rPr>
              <a:t>) = (</a:t>
            </a:r>
            <a:r>
              <a:rPr sz="1900" b="1" i="1">
                <a:solidFill>
                  <a:srgbClr val="1C252B"/>
                </a:solidFill>
                <a:latin typeface="Cambria"/>
              </a:rPr>
              <a:t>x</a:t>
            </a:r>
            <a:r>
              <a:rPr sz="1900" b="0" i="0">
                <a:solidFill>
                  <a:srgbClr val="1C252B"/>
                </a:solidFill>
                <a:latin typeface="Cambria"/>
              </a:rPr>
              <a:t>·</a:t>
            </a:r>
            <a:r>
              <a:rPr sz="1900" b="1" i="1">
                <a:solidFill>
                  <a:srgbClr val="1C252B"/>
                </a:solidFill>
                <a:latin typeface="Cambria"/>
              </a:rPr>
              <a:t>z</a:t>
            </a:r>
            <a:r>
              <a:rPr sz="1900" b="0" i="0">
                <a:solidFill>
                  <a:srgbClr val="1C252B"/>
                </a:solidFill>
                <a:latin typeface="Cambria"/>
              </a:rPr>
              <a:t>)</a:t>
            </a:r>
            <a:r>
              <a:rPr sz="1900" b="0" i="0" baseline="30000">
                <a:solidFill>
                  <a:srgbClr val="1C252B"/>
                </a:solidFill>
                <a:latin typeface="Cambria"/>
              </a:rPr>
              <a:t>2</a:t>
            </a:r>
            <a:r>
              <a:rPr sz="1900" b="0" i="0">
                <a:solidFill>
                  <a:srgbClr val="1C252B"/>
                </a:solidFill>
                <a:latin typeface="Segoe UI"/>
              </a:rPr>
              <a:t> equals </a:t>
            </a:r>
            <a:r>
              <a:rPr sz="1900" b="0" i="0">
                <a:solidFill>
                  <a:srgbClr val="1C252B"/>
                </a:solidFill>
                <a:latin typeface="Cambria"/>
              </a:rPr>
              <a:t>φ(</a:t>
            </a:r>
            <a:r>
              <a:rPr sz="1900" b="1" i="1">
                <a:solidFill>
                  <a:srgbClr val="1C252B"/>
                </a:solidFill>
                <a:latin typeface="Cambria"/>
              </a:rPr>
              <a:t>x</a:t>
            </a:r>
            <a:r>
              <a:rPr sz="1900" b="0" i="0">
                <a:solidFill>
                  <a:srgbClr val="1C252B"/>
                </a:solidFill>
                <a:latin typeface="Cambria"/>
              </a:rPr>
              <a:t>)·φ(</a:t>
            </a:r>
            <a:r>
              <a:rPr sz="1900" b="1" i="1">
                <a:solidFill>
                  <a:srgbClr val="1C252B"/>
                </a:solidFill>
                <a:latin typeface="Cambria"/>
              </a:rPr>
              <a:t>z</a:t>
            </a:r>
            <a:r>
              <a:rPr sz="1900" b="0" i="0">
                <a:solidFill>
                  <a:srgbClr val="1C252B"/>
                </a:solidFill>
                <a:latin typeface="Cambria"/>
              </a:rPr>
              <a:t>)</a:t>
            </a:r>
            <a:r>
              <a:rPr sz="1900" b="0" i="0">
                <a:solidFill>
                  <a:srgbClr val="1C252B"/>
                </a:solidFill>
                <a:latin typeface="Segoe UI"/>
              </a:rPr>
              <a:t> for </a:t>
            </a:r>
            <a:r>
              <a:rPr sz="1900" b="1" i="1">
                <a:solidFill>
                  <a:srgbClr val="1C252B"/>
                </a:solidFill>
                <a:latin typeface="Cambria"/>
              </a:rPr>
              <a:t>x</a:t>
            </a:r>
            <a:r>
              <a:rPr sz="1900" b="0" i="0">
                <a:solidFill>
                  <a:srgbClr val="1C252B"/>
                </a:solidFill>
                <a:latin typeface="Cambria"/>
              </a:rPr>
              <a:t> = (2, −1)</a:t>
            </a:r>
            <a:r>
              <a:rPr sz="1900" b="0" i="0">
                <a:solidFill>
                  <a:srgbClr val="1C252B"/>
                </a:solidFill>
                <a:latin typeface="Segoe UI"/>
              </a:rPr>
              <a:t> and </a:t>
            </a:r>
            <a:r>
              <a:rPr sz="1900" b="1" i="1">
                <a:solidFill>
                  <a:srgbClr val="1C252B"/>
                </a:solidFill>
                <a:latin typeface="Cambria"/>
              </a:rPr>
              <a:t>z</a:t>
            </a:r>
            <a:r>
              <a:rPr sz="1900" b="0" i="0">
                <a:solidFill>
                  <a:srgbClr val="1C252B"/>
                </a:solidFill>
                <a:latin typeface="Cambria"/>
              </a:rPr>
              <a:t> = (1, 3)</a:t>
            </a:r>
            <a:r>
              <a:rPr sz="1900" b="0" i="0">
                <a:solidFill>
                  <a:srgbClr val="1C252B"/>
                </a:solidFill>
                <a:latin typeface="Segoe UI"/>
              </a:rPr>
              <a:t>.</a:t>
            </a:r>
          </a:p>
        </p:txBody>
      </p:sp>
      <p:sp>
        <p:nvSpPr>
          <p:cNvPr id="2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fill">
            <a:extLst>
              <a:ext uri="{C183D7F6-B498-43B3-948B-1728B52AA6E4}">
                <adec:decorative xmlns:adec="http://schemas.microsoft.com/office/drawing/2017/decorative" val="1"/>
              </a:ext>
            </a:extLst>
          </p:cNvPr>
          <p:cNvSpPr/>
          <p:nvPr/>
        </p:nvSpPr>
        <p:spPr>
          <a:xfrm>
            <a:off x="0" y="0"/>
            <a:ext cx="1166162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Practicalities</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12  ·  Support Vector Machines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§12.5  ·  Handout p. 95     </a:t>
            </a:r>
            <a:fld id="{9DF20C92-5BEB-4DD7-826A-4376D73BC72F}" type="slidenum">
              <a:rPr lang="en-GB" sz="1000">
                <a:solidFill>
                  <a:srgbClr val="8795A1"/>
                </a:solidFill>
                <a:latin typeface="Segoe UI"/>
              </a:rPr>
              <a:t>45</a:t>
            </a:fld>
          </a:p>
        </p:txBody>
      </p:sp>
      <p:sp>
        <p:nvSpPr>
          <p:cNvPr id="7" name="!!stbar">
            <a:extLst>
              <a:ext uri="{C183D7F6-B498-43B3-948B-1728B52AA6E4}">
                <adec:decorative xmlns:adec="http://schemas.microsoft.com/office/drawing/2017/decorative" val="1"/>
              </a:ext>
            </a:extLst>
          </p:cNvPr>
          <p:cNvSpPr/>
          <p:nvPr/>
        </p:nvSpPr>
        <p:spPr>
          <a:xfrm>
            <a:off x="658368" y="1810512"/>
            <a:ext cx="73152" cy="43261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679704"/>
          </a:xfrm>
          <a:prstGeom prst="rect">
            <a:avLst/>
          </a:prstGeom>
          <a:noFill/>
        </p:spPr>
        <p:txBody>
          <a:bodyPr wrap="square" anchor="t" lIns="0" rIns="0" tIns="0" bIns="0">
            <a:noAutofit/>
          </a:bodyPr>
          <a:lstStyle/>
          <a:p>
            <a:pPr algn="l">
              <a:lnSpc>
                <a:spcPct val="104000"/>
              </a:lnSpc>
              <a:spcBef>
                <a:spcPts val="0"/>
              </a:spcBef>
              <a:spcAft>
                <a:spcPts val="0"/>
              </a:spcAft>
            </a:pPr>
            <a:r>
              <a:rPr sz="2000" b="1" i="0">
                <a:solidFill>
                  <a:srgbClr val="1A5276"/>
                </a:solidFill>
                <a:latin typeface="Segoe UI"/>
              </a:rPr>
              <a:t>More than two classes.</a:t>
            </a:r>
            <a:r>
              <a:rPr sz="2000" b="0" i="0">
                <a:solidFill>
                  <a:srgbClr val="1C252B"/>
                </a:solidFill>
                <a:latin typeface="Segoe UI"/>
              </a:rPr>
              <a:t> The SVM is inherently binary. scikit-learn’s </a:t>
            </a:r>
            <a:r>
              <a:rPr sz="1900" b="0" i="0">
                <a:solidFill>
                  <a:srgbClr val="1F4E79"/>
                </a:solidFill>
                <a:latin typeface="Consolas"/>
              </a:rPr>
              <a:t>SVC</a:t>
            </a:r>
            <a:r>
              <a:rPr sz="2000" b="0" i="0">
                <a:solidFill>
                  <a:srgbClr val="1C252B"/>
                </a:solidFill>
                <a:latin typeface="Segoe UI"/>
              </a:rPr>
              <a:t> trains one classifier per pair of classes (one-vs-one) and lets them vote; </a:t>
            </a:r>
            <a:r>
              <a:rPr sz="1900" b="0" i="0">
                <a:solidFill>
                  <a:srgbClr val="1F4E79"/>
                </a:solidFill>
                <a:latin typeface="Consolas"/>
              </a:rPr>
              <a:t>LinearSVC</a:t>
            </a:r>
            <a:r>
              <a:rPr sz="2000" b="0" i="0">
                <a:solidFill>
                  <a:srgbClr val="1C252B"/>
                </a:solidFill>
                <a:latin typeface="Segoe UI"/>
              </a:rPr>
              <a:t> uses one-vs-rest.</a:t>
            </a:r>
          </a:p>
        </p:txBody>
      </p:sp>
      <p:sp>
        <p:nvSpPr>
          <p:cNvPr id="9" name="body-1"/>
          <p:cNvSpPr txBox="1"/>
          <p:nvPr/>
        </p:nvSpPr>
        <p:spPr>
          <a:xfrm>
            <a:off x="1042415" y="2565908"/>
            <a:ext cx="10417759" cy="679704"/>
          </a:xfrm>
          <a:prstGeom prst="rect">
            <a:avLst/>
          </a:prstGeom>
          <a:noFill/>
        </p:spPr>
        <p:txBody>
          <a:bodyPr wrap="square" anchor="t" lIns="0" rIns="0" tIns="0" bIns="0">
            <a:noAutofit/>
          </a:bodyPr>
          <a:lstStyle/>
          <a:p>
            <a:pPr algn="l">
              <a:lnSpc>
                <a:spcPct val="104000"/>
              </a:lnSpc>
              <a:spcBef>
                <a:spcPts val="0"/>
              </a:spcBef>
              <a:spcAft>
                <a:spcPts val="0"/>
              </a:spcAft>
            </a:pPr>
            <a:r>
              <a:rPr sz="2000" b="1" i="0">
                <a:solidFill>
                  <a:srgbClr val="1A5276"/>
                </a:solidFill>
                <a:latin typeface="Segoe UI"/>
              </a:rPr>
              <a:t>Probabilities.</a:t>
            </a:r>
            <a:r>
              <a:rPr sz="2000" b="0" i="0">
                <a:solidFill>
                  <a:srgbClr val="1C252B"/>
                </a:solidFill>
                <a:latin typeface="Segoe UI"/>
              </a:rPr>
              <a:t> The decision function </a:t>
            </a:r>
            <a:r>
              <a:rPr sz="2000" b="0" i="1">
                <a:solidFill>
                  <a:srgbClr val="1C252B"/>
                </a:solidFill>
                <a:latin typeface="Cambria"/>
              </a:rPr>
              <a:t>f</a:t>
            </a:r>
            <a:r>
              <a:rPr sz="2000" b="0" i="0">
                <a:solidFill>
                  <a:srgbClr val="1C252B"/>
                </a:solidFill>
                <a:latin typeface="Cambria"/>
              </a:rPr>
              <a:t>(</a:t>
            </a:r>
            <a:r>
              <a:rPr sz="2000" b="1" i="1">
                <a:solidFill>
                  <a:srgbClr val="1C252B"/>
                </a:solidFill>
                <a:latin typeface="Cambria"/>
              </a:rPr>
              <a:t>x</a:t>
            </a:r>
            <a:r>
              <a:rPr sz="2000" b="0" i="0">
                <a:solidFill>
                  <a:srgbClr val="1C252B"/>
                </a:solidFill>
                <a:latin typeface="Cambria"/>
              </a:rPr>
              <a:t>)</a:t>
            </a:r>
            <a:r>
              <a:rPr sz="2000" b="0" i="0">
                <a:solidFill>
                  <a:srgbClr val="1C252B"/>
                </a:solidFill>
                <a:latin typeface="Segoe UI"/>
              </a:rPr>
              <a:t> is a distance, not a probability. </a:t>
            </a:r>
            <a:r>
              <a:rPr sz="1900" b="0" i="0">
                <a:solidFill>
                  <a:srgbClr val="1F4E79"/>
                </a:solidFill>
                <a:latin typeface="Consolas"/>
              </a:rPr>
              <a:t>SVC(probability=True)</a:t>
            </a:r>
            <a:r>
              <a:rPr sz="2000" b="0" i="0">
                <a:solidFill>
                  <a:srgbClr val="1C252B"/>
                </a:solidFill>
                <a:latin typeface="Segoe UI"/>
              </a:rPr>
              <a:t> fits a sigmoid to it afterwards (Platt scaling), at extra cost.</a:t>
            </a:r>
          </a:p>
        </p:txBody>
      </p:sp>
      <p:sp>
        <p:nvSpPr>
          <p:cNvPr id="10" name="body-2"/>
          <p:cNvSpPr txBox="1"/>
          <p:nvPr/>
        </p:nvSpPr>
        <p:spPr>
          <a:xfrm>
            <a:off x="1042415" y="3339592"/>
            <a:ext cx="10417759" cy="996696"/>
          </a:xfrm>
          <a:prstGeom prst="rect">
            <a:avLst/>
          </a:prstGeom>
          <a:noFill/>
        </p:spPr>
        <p:txBody>
          <a:bodyPr wrap="square" anchor="t" lIns="0" rIns="0" tIns="0" bIns="0">
            <a:noAutofit/>
          </a:bodyPr>
          <a:lstStyle/>
          <a:p>
            <a:pPr algn="l">
              <a:lnSpc>
                <a:spcPct val="104000"/>
              </a:lnSpc>
              <a:spcBef>
                <a:spcPts val="0"/>
              </a:spcBef>
              <a:spcAft>
                <a:spcPts val="0"/>
              </a:spcAft>
            </a:pPr>
            <a:r>
              <a:rPr sz="2000" b="1" i="0">
                <a:solidFill>
                  <a:srgbClr val="1A5276"/>
                </a:solidFill>
                <a:latin typeface="Segoe UI"/>
              </a:rPr>
              <a:t>Scale of data.</a:t>
            </a:r>
            <a:r>
              <a:rPr sz="2000" b="0" i="0">
                <a:solidFill>
                  <a:srgbClr val="1C252B"/>
                </a:solidFill>
                <a:latin typeface="Segoe UI"/>
              </a:rPr>
              <a:t> Training cost grows between the square and the cube of the number of examples, so kernel SVMs suit datasets of up to tens of thousands of rows. Linear SVMs scale to millions.</a:t>
            </a:r>
          </a:p>
        </p:txBody>
      </p:sp>
      <p:sp>
        <p:nvSpPr>
          <p:cNvPr id="11" name="body-3"/>
          <p:cNvSpPr txBox="1"/>
          <p:nvPr/>
        </p:nvSpPr>
        <p:spPr>
          <a:xfrm>
            <a:off x="1042415" y="4430268"/>
            <a:ext cx="10417759" cy="996696"/>
          </a:xfrm>
          <a:prstGeom prst="rect">
            <a:avLst/>
          </a:prstGeom>
          <a:noFill/>
        </p:spPr>
        <p:txBody>
          <a:bodyPr wrap="square" anchor="t" lIns="0" rIns="0" tIns="0" bIns="0">
            <a:noAutofit/>
          </a:bodyPr>
          <a:lstStyle/>
          <a:p>
            <a:pPr algn="l">
              <a:lnSpc>
                <a:spcPct val="104000"/>
              </a:lnSpc>
              <a:spcBef>
                <a:spcPts val="0"/>
              </a:spcBef>
              <a:spcAft>
                <a:spcPts val="0"/>
              </a:spcAft>
            </a:pPr>
            <a:r>
              <a:rPr sz="2000" b="1" i="0">
                <a:solidFill>
                  <a:srgbClr val="1A5276"/>
                </a:solidFill>
                <a:latin typeface="Segoe UI"/>
              </a:rPr>
              <a:t>Regression.</a:t>
            </a:r>
            <a:r>
              <a:rPr sz="2000" b="0" i="0">
                <a:solidFill>
                  <a:srgbClr val="1C252B"/>
                </a:solidFill>
                <a:latin typeface="Segoe UI"/>
              </a:rPr>
              <a:t> </a:t>
            </a:r>
            <a:r>
              <a:rPr sz="2000" b="1" i="0">
                <a:solidFill>
                  <a:srgbClr val="1A5276"/>
                </a:solidFill>
                <a:latin typeface="Segoe UI"/>
              </a:rPr>
              <a:t>Support vector regression</a:t>
            </a:r>
            <a:r>
              <a:rPr sz="2000" b="0" i="0">
                <a:solidFill>
                  <a:srgbClr val="1C252B"/>
                </a:solidFill>
                <a:latin typeface="Segoe UI"/>
              </a:rPr>
              <a:t> ignores errors smaller than a tube of width </a:t>
            </a:r>
            <a:r>
              <a:rPr sz="2000" b="0" i="0">
                <a:solidFill>
                  <a:srgbClr val="1C252B"/>
                </a:solidFill>
                <a:latin typeface="Cambria"/>
              </a:rPr>
              <a:t>ε</a:t>
            </a:r>
            <a:r>
              <a:rPr sz="2000" b="0" i="0">
                <a:solidFill>
                  <a:srgbClr val="1C252B"/>
                </a:solidFill>
                <a:latin typeface="Segoe UI"/>
              </a:rPr>
              <a:t> around the prediction and charges linearly beyond it — the regression counterpart of the hinge.</a:t>
            </a:r>
          </a:p>
        </p:txBody>
      </p:sp>
      <p:sp>
        <p:nvSpPr>
          <p:cNvPr id="12" name="body-4"/>
          <p:cNvSpPr txBox="1"/>
          <p:nvPr/>
        </p:nvSpPr>
        <p:spPr>
          <a:xfrm>
            <a:off x="1042415" y="5520944"/>
            <a:ext cx="10417759" cy="679704"/>
          </a:xfrm>
          <a:prstGeom prst="rect">
            <a:avLst/>
          </a:prstGeom>
          <a:noFill/>
        </p:spPr>
        <p:txBody>
          <a:bodyPr wrap="square" anchor="t" lIns="0" rIns="0" tIns="0" bIns="0">
            <a:noAutofit/>
          </a:bodyPr>
          <a:lstStyle/>
          <a:p>
            <a:pPr algn="l">
              <a:lnSpc>
                <a:spcPct val="104000"/>
              </a:lnSpc>
              <a:spcBef>
                <a:spcPts val="0"/>
              </a:spcBef>
              <a:spcAft>
                <a:spcPts val="0"/>
              </a:spcAft>
            </a:pPr>
            <a:r>
              <a:rPr sz="2000" b="1" i="0">
                <a:solidFill>
                  <a:srgbClr val="1A5276"/>
                </a:solidFill>
                <a:latin typeface="Segoe UI"/>
              </a:rPr>
              <a:t>Inductive bias.</a:t>
            </a:r>
            <a:r>
              <a:rPr sz="2000" b="0" i="0">
                <a:solidFill>
                  <a:srgbClr val="1C252B"/>
                </a:solidFill>
                <a:latin typeface="Segoe UI"/>
              </a:rPr>
              <a:t> Among the hypotheses consistent with the data (up to the slack allowed), prefer the one with the largest margin.</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92665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450"/>
                                        <p:tgtEl>
                                          <p:spTgt spid="1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450"/>
                                        <p:tgtEl>
                                          <p:spTgt spid="1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B7A43"/>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2D8552"/>
                </a:solidFill>
                <a:latin typeface="Segoe UI Black"/>
              </a:rPr>
              <a:t>12</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12</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FFFFFF"/>
                </a:solidFill>
                <a:latin typeface="Segoe UI Semibold"/>
              </a:rPr>
              <a:t>Chapter 13 — Artificial Neural Networks</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12, pages 91–97</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Neighbours, scaling and k; margins and kernels</a:t>
            </a:r>
          </a:p>
        </p:txBody>
      </p:sp>
      <p:sp>
        <p:nvSpPr>
          <p:cNvPr id="14" name="!!cl3">
            <a:extLst>
              <a:ext uri="{C183D7F6-B498-43B3-948B-1728B52AA6E4}">
                <adec:decorative xmlns:adec="http://schemas.microsoft.com/office/drawing/2017/decorative" val="1"/>
              </a:ext>
            </a:extLst>
          </p:cNvPr>
          <p:cNvSpPr/>
          <p:nvPr/>
        </p:nvSpPr>
        <p:spPr>
          <a:xfrm>
            <a:off x="6233007" y="3584448"/>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cll3"/>
          <p:cNvSpPr txBox="1"/>
          <p:nvPr/>
        </p:nvSpPr>
        <p:spPr>
          <a:xfrm>
            <a:off x="6507327"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ASSESSMENT</a:t>
            </a:r>
          </a:p>
        </p:txBody>
      </p:sp>
      <p:sp>
        <p:nvSpPr>
          <p:cNvPr id="16" name="!!clv3"/>
          <p:cNvSpPr txBox="1"/>
          <p:nvPr/>
        </p:nvSpPr>
        <p:spPr>
          <a:xfrm>
            <a:off x="6507327"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Assignment 2 set</a:t>
            </a:r>
          </a:p>
        </p:txBody>
      </p:sp>
      <p:sp>
        <p:nvSpPr>
          <p:cNvPr id="1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12  ·  Support Vector Machines</a:t>
            </a:r>
          </a:p>
        </p:txBody>
      </p:sp>
      <p:sp>
        <p:nvSpPr>
          <p:cNvPr id="18" name="!!footR"/>
          <p:cNvSpPr txBox="1"/>
          <p:nvPr/>
        </p:nvSpPr>
        <p:spPr>
          <a:xfrm>
            <a:off x="6639595" y="6437376"/>
            <a:ext cx="4893731" cy="237744"/>
          </a:xfrm>
          <a:prstGeom prst="rect">
            <a:avLst/>
          </a:prstGeom>
          <a:noFill/>
        </p:spPr>
        <p:txBody>
          <a:bodyPr wrap="square" anchor="t" lIns="0" rIns="0" tIns="0" bIns="0">
            <a:noAutofit/>
          </a:bodyPr>
          <a:lstStyle/>
          <a:p>
            <a:pPr algn="r"/>
            <a:fld id="{68D52983-AF6B-4B1D-AE89-32283E0A64EA}" type="slidenum">
              <a:rPr lang="en-GB" sz="1000">
                <a:solidFill>
                  <a:srgbClr val="D5DEE5"/>
                </a:solidFill>
                <a:latin typeface="Segoe UI"/>
              </a:rPr>
              <a:t>46</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Machine Learning Fall 2026">
  <a:themeElements>
    <a:clrScheme name="Machine Learning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Machine Learning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12: Support Vector Machines</dc:title>
  <dc:subject>Machine Learning — From Hypotheses to Decisions · BSIT · Fall 2026</dc:subject>
  <dc:creator>Dr. Mustafa Hameed</dc:creator>
  <cp:keywords>machine learning;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