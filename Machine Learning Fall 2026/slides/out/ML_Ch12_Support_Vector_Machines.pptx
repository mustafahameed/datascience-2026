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411E36-EBBF-4175-BB06-AFB0D237F69F}">
          <p14:sldIdLst>
            <p14:sldId id="256"/>
            <p14:sldId id="257"/>
            <p14:sldId id="258"/>
            <p14:sldId id="259"/>
            <p14:sldId id="260"/>
          </p14:sldIdLst>
        </p14:section>
        <p14:section name="12.1 Which Line?" id="{A977CBA3-2A7E-4101-B53E-C4E38333711A}">
          <p14:sldIdLst>
            <p14:sldId id="261"/>
          </p14:sldIdLst>
        </p14:section>
        <p14:section name="12.2 The Maximum-Margin Hyperplane" id="{8D3B1948-A891-467E-BAC6-AE1830141C51}">
          <p14:sldIdLst>
            <p14:sldId id="262"/>
            <p14:sldId id="263"/>
            <p14:sldId id="264"/>
            <p14:sldId id="265"/>
          </p14:sldIdLst>
        </p14:section>
        <p14:section name="12.3 Soft Margins and the Hinge Loss" id="{8B115190-8092-43AA-84E1-905678D4BC9E}">
          <p14:sldIdLst>
            <p14:sldId id="266"/>
            <p14:sldId id="267"/>
            <p14:sldId id="268"/>
            <p14:sldId id="269"/>
            <p14:sldId id="270"/>
          </p14:sldIdLst>
        </p14:section>
        <p14:section name="12.4 The Kernel Trick" id="{98BD4C51-F2F0-43AB-B627-EA0A294B4A87}">
          <p14:sldIdLst>
            <p14:sldId id="271"/>
            <p14:sldId id="272"/>
            <p14:sldId id="273"/>
            <p14:sldId id="274"/>
            <p14:sldId id="275"/>
            <p14:sldId id="276"/>
          </p14:sldIdLst>
        </p14:section>
        <p14:section name="Pitfalls" id="{3CC57041-83A7-47C1-BB94-5DAE22394F9B}">
          <p14:sldIdLst>
            <p14:sldId id="277"/>
          </p14:sldIdLst>
        </p14:section>
        <p14:section name="Lab" id="{CDE37CE4-1938-4B81-8AC0-758C4B7EF376}">
          <p14:sldIdLst>
            <p14:sldId id="278"/>
            <p14:sldId id="279"/>
            <p14:sldId id="280"/>
            <p14:sldId id="281"/>
            <p14:sldId id="282"/>
            <p14:sldId id="283"/>
          </p14:sldIdLst>
        </p14:section>
        <p14:section name="Checkpoint" id="{F583FD91-4626-4138-9223-4F606FCE1AA9}">
          <p14:sldIdLst>
            <p14:sldId id="284"/>
            <p14:sldId id="285"/>
            <p14:sldId id="286"/>
            <p14:sldId id="287"/>
            <p14:sldId id="288"/>
            <p14:sldId id="289"/>
          </p14:sldIdLst>
        </p14:section>
        <p14:section name="Wrap-up" id="{2649BC92-316E-4318-B7F3-5D1D90D3FBD5}">
          <p14:sldIdLst>
            <p14:sldId id="290"/>
            <p14:sldId id="291"/>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12: Support Vector Machines. Part 3 — Supervised Learning Algorithms. Week 10: Nearest neighbours; support vector machines. Handout pages 89–94.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(dot products, norms), Chapter 6 (linear decision boundaries, the loss view of classification) and Chapter 7 (regularisation and tuning by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separating hyperplane; margin; maximum-margin classifier; support vectors; hard margin; soft margin; slack variable; C; hinge loss; dual form; feature map; kernel trick; polynomial kernel; RBF kernel; γ; support vector regression.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12.1 (handout p. 90): The maximum-margin hyperplane. The solid line separates the classes; the dashed lines bound the widest empty band; the points on the dashed lines are the support vectors.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data is rarely separable, and even when it is, one mislabelled point can drag the hard-margin boundary into a bad place. The soft-margin SVM lets points violate the margin at a price. Each point gets a slack variable ξi ≥ 0 measuring how far it is on the wrong side of its margin: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hyperparameter C sets the price. A large C punishes every violation heavily: narrow margin, few violations, high variance. A small C tolerates violations to buy a wider margin: more bias, less variance. C is the SVM’s regularisation knob, and it is tuned by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12.2 (handout p. 91): Three losses as a function of y f(x), positive when the example is correctly classified. The hinge is exactly zero for points beyond the margin, which is why only support vectors affect the SVM; the logistic loss is never quite zero.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problems no straight line can solve — one class surrounding another, say. The standard remedy (Chapter 5) is to add non-linear features, such as squares and products, and fit a linear model in the enlarged space. That works, but the enlarged space can be enormous: all products of pairs of 1,000 features is half a million features.</a:t>
            </a:r>
          </a:p>
          <a:p/>
          <a:p>
            <a:r>
              <a:t>Figure 12.3 (handout p. 92): Lifting data into more dimensions. The inner class (blue) and the outer class (red) cannot be separated on the line, but after adding x2 as a second feature a horizontal line separates them; in the original space that line is two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a maximum-margin line.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problem no line can solve.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Tune C and gamma together, features scaled.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 = 5, so the margin is 2/5 = 0.4. f(1, 1) = 3 + 4 − 5 = 2 &gt; 0: positive.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margin narrows and the model tolerates fewer violations, so training errors fall — and the risk of overfitting rises.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both the SVM’s optimisation and its decision function use the training examples only through dot products xi · xj, and each dot product can be replaced by a kernel.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13 — Artificial Neural Networks. READ: Handout Chapter 12, pages 89–94. THIS WEEK'S LAB: Neighbours, scaling and k; margins and kernels.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6.xml"/><Relationship Id="rId9" Type="http://schemas.openxmlformats.org/officeDocument/2006/relationships/slide" Target="slide4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image" Target="../media/image27.png"/><Relationship Id="rId5" Type="http://schemas.openxmlformats.org/officeDocument/2006/relationships/image" Target="../media/image28.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1.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image" Target="../media/image45.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0.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1.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3.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9.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7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Support Vector Machines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12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89     </a:t>
            </a:r>
            <a:fld id="{B1C0A314-C66F-45A6-8A66-B3BF7D2275D3}"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71319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713191"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9986"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7998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3237370"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Support Vector Machines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Logistic Regression</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Ensemble Learning</a:t>
            </a:r>
          </a:p>
        </p:txBody>
      </p:sp>
      <p:sp>
        <p:nvSpPr>
          <p:cNvPr id="7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89     </a:t>
            </a:r>
            <a:fld id="{97119A28-F7A2-422E-9BB3-CE3B5D47C32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why the maximum-margin hyperplane is preferred among all separating hyperplanes, and </a:t>
            </a:r>
            <a:r>
              <a:rPr sz="2100" b="1" i="0">
                <a:solidFill>
                  <a:srgbClr val="1C252B"/>
                </a:solidFill>
                <a:latin typeface="Segoe UI"/>
              </a:rPr>
              <a:t>identify</a:t>
            </a:r>
            <a:r>
              <a:rPr sz="2100" b="0" i="0">
                <a:solidFill>
                  <a:srgbClr val="1C252B"/>
                </a:solidFill>
                <a:latin typeface="Segoe UI"/>
              </a:rPr>
              <a:t> its support vectors.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the margin of a linear SVM and </a:t>
            </a:r>
            <a:r>
              <a:rPr sz="2100" b="1" i="0">
                <a:solidFill>
                  <a:srgbClr val="1C252B"/>
                </a:solidFill>
                <a:latin typeface="Segoe UI"/>
              </a:rPr>
              <a:t>classify</a:t>
            </a:r>
            <a:r>
              <a:rPr sz="2100" b="0" i="0">
                <a:solidFill>
                  <a:srgbClr val="1C252B"/>
                </a:solidFill>
                <a:latin typeface="Segoe UI"/>
              </a:rPr>
              <a:t> a point with its decision function.</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the soft-margin SVM and the role of </a:t>
            </a:r>
            <a:r>
              <a:rPr sz="2100" b="0" i="1">
                <a:solidFill>
                  <a:srgbClr val="1C252B"/>
                </a:solidFill>
                <a:latin typeface="Cambria"/>
              </a:rPr>
              <a:t>C</a:t>
            </a:r>
            <a:r>
              <a:rPr sz="2100" b="0" i="0">
                <a:solidFill>
                  <a:srgbClr val="1C252B"/>
                </a:solidFill>
                <a:latin typeface="Segoe UI"/>
              </a:rPr>
              <a:t>, and </a:t>
            </a:r>
            <a:r>
              <a:rPr sz="2100" b="1" i="0">
                <a:solidFill>
                  <a:srgbClr val="1C252B"/>
                </a:solidFill>
                <a:latin typeface="Segoe UI"/>
              </a:rPr>
              <a:t>compute</a:t>
            </a:r>
            <a:r>
              <a:rPr sz="2100" b="0" i="0">
                <a:solidFill>
                  <a:srgbClr val="1C252B"/>
                </a:solidFill>
                <a:latin typeface="Segoe UI"/>
              </a:rPr>
              <a:t> the hinge loss.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the kernel trick, and </a:t>
            </a:r>
            <a:r>
              <a:rPr sz="2100" b="1" i="0">
                <a:solidFill>
                  <a:srgbClr val="1C252B"/>
                </a:solidFill>
                <a:latin typeface="Segoe UI"/>
              </a:rPr>
              <a:t>verify</a:t>
            </a:r>
            <a:r>
              <a:rPr sz="2100" b="0" i="0">
                <a:solidFill>
                  <a:srgbClr val="1C252B"/>
                </a:solidFill>
                <a:latin typeface="Segoe UI"/>
              </a:rPr>
              <a:t> a polynomial kernel against its explicit feature map.</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Tune</a:t>
            </a:r>
            <a:r>
              <a:rPr sz="2100" b="0" i="0">
                <a:solidFill>
                  <a:srgbClr val="1C252B"/>
                </a:solidFill>
                <a:latin typeface="Segoe UI"/>
              </a:rPr>
              <a:t> </a:t>
            </a:r>
            <a:r>
              <a:rPr sz="2100" b="0" i="1">
                <a:solidFill>
                  <a:srgbClr val="1C252B"/>
                </a:solidFill>
                <a:latin typeface="Cambria"/>
              </a:rPr>
              <a:t>C</a:t>
            </a:r>
            <a:r>
              <a:rPr sz="2100" b="0" i="0">
                <a:solidFill>
                  <a:srgbClr val="1C252B"/>
                </a:solidFill>
                <a:latin typeface="Segoe UI"/>
              </a:rPr>
              <a:t> and the RBF width </a:t>
            </a:r>
            <a:r>
              <a:rPr sz="2100" b="0" i="0">
                <a:solidFill>
                  <a:srgbClr val="1C252B"/>
                </a:solidFill>
                <a:latin typeface="Cambria"/>
              </a:rPr>
              <a:t>γ</a:t>
            </a:r>
            <a:r>
              <a:rPr sz="2100" b="0" i="0">
                <a:solidFill>
                  <a:srgbClr val="1C252B"/>
                </a:solidFill>
                <a:latin typeface="Segoe UI"/>
              </a:rPr>
              <a:t> by cross-validation.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89     </a:t>
            </a:r>
            <a:fld id="{1216BF21-0424-470D-B8A2-EB73CD496B51}" type="slidenum">
              <a:rPr lang="en-GB" sz="1000">
                <a:solidFill>
                  <a:srgbClr val="8795A1"/>
                </a:solidFill>
                <a:latin typeface="Segoe UI"/>
              </a:rPr>
              <a:t>4</a:t>
            </a:fld>
          </a:p>
        </p:txBody>
      </p:sp>
      <p:sp>
        <p:nvSpPr>
          <p:cNvPr id="7" name="!!term-separating hyp">
            <a:extLst>
              <a:ext uri="{C183D7F6-B498-43B3-948B-1728B52AA6E4}">
                <adec:decorative xmlns:adec="http://schemas.microsoft.com/office/drawing/2017/decorative" val="1"/>
              </a:ext>
            </a:extLst>
          </p:cNvPr>
          <p:cNvSpPr/>
          <p:nvPr/>
        </p:nvSpPr>
        <p:spPr>
          <a:xfrm>
            <a:off x="658368" y="1847088"/>
            <a:ext cx="24800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eparating hyp">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eparating hyp"/>
          <p:cNvSpPr txBox="1"/>
          <p:nvPr/>
        </p:nvSpPr>
        <p:spPr>
          <a:xfrm>
            <a:off x="950976" y="1962911"/>
            <a:ext cx="229712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separating hyperplane</a:t>
            </a:r>
          </a:p>
        </p:txBody>
      </p:sp>
      <p:sp>
        <p:nvSpPr>
          <p:cNvPr id="10" name="!!term-margin">
            <a:extLst>
              <a:ext uri="{C183D7F6-B498-43B3-948B-1728B52AA6E4}">
                <adec:decorative xmlns:adec="http://schemas.microsoft.com/office/drawing/2017/decorative" val="1"/>
              </a:ext>
            </a:extLst>
          </p:cNvPr>
          <p:cNvSpPr/>
          <p:nvPr/>
        </p:nvSpPr>
        <p:spPr>
          <a:xfrm>
            <a:off x="3284677" y="1847088"/>
            <a:ext cx="10844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argin">
            <a:extLst>
              <a:ext uri="{C183D7F6-B498-43B3-948B-1728B52AA6E4}">
                <adec:decorative xmlns:adec="http://schemas.microsoft.com/office/drawing/2017/decorative" val="1"/>
              </a:ext>
            </a:extLst>
          </p:cNvPr>
          <p:cNvSpPr/>
          <p:nvPr/>
        </p:nvSpPr>
        <p:spPr>
          <a:xfrm>
            <a:off x="34126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argin"/>
          <p:cNvSpPr txBox="1"/>
          <p:nvPr/>
        </p:nvSpPr>
        <p:spPr>
          <a:xfrm>
            <a:off x="3577285" y="1962911"/>
            <a:ext cx="90161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margin</a:t>
            </a:r>
          </a:p>
        </p:txBody>
      </p:sp>
      <p:sp>
        <p:nvSpPr>
          <p:cNvPr id="13" name="!!term-maximum-margin">
            <a:extLst>
              <a:ext uri="{C183D7F6-B498-43B3-948B-1728B52AA6E4}">
                <adec:decorative xmlns:adec="http://schemas.microsoft.com/office/drawing/2017/decorative" val="1"/>
              </a:ext>
            </a:extLst>
          </p:cNvPr>
          <p:cNvSpPr/>
          <p:nvPr/>
        </p:nvSpPr>
        <p:spPr>
          <a:xfrm>
            <a:off x="4515479" y="1847088"/>
            <a:ext cx="29005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aximum-margin">
            <a:extLst>
              <a:ext uri="{C183D7F6-B498-43B3-948B-1728B52AA6E4}">
                <adec:decorative xmlns:adec="http://schemas.microsoft.com/office/drawing/2017/decorative" val="1"/>
              </a:ext>
            </a:extLst>
          </p:cNvPr>
          <p:cNvSpPr/>
          <p:nvPr/>
        </p:nvSpPr>
        <p:spPr>
          <a:xfrm>
            <a:off x="464349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aximum-margin"/>
          <p:cNvSpPr txBox="1"/>
          <p:nvPr/>
        </p:nvSpPr>
        <p:spPr>
          <a:xfrm>
            <a:off x="4808087" y="1962911"/>
            <a:ext cx="271766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maximum-margin classifier</a:t>
            </a:r>
          </a:p>
        </p:txBody>
      </p:sp>
      <p:sp>
        <p:nvSpPr>
          <p:cNvPr id="16" name="!!term-support vector">
            <a:extLst>
              <a:ext uri="{C183D7F6-B498-43B3-948B-1728B52AA6E4}">
                <adec:decorative xmlns:adec="http://schemas.microsoft.com/office/drawing/2017/decorative" val="1"/>
              </a:ext>
            </a:extLst>
          </p:cNvPr>
          <p:cNvSpPr/>
          <p:nvPr/>
        </p:nvSpPr>
        <p:spPr>
          <a:xfrm>
            <a:off x="7562327" y="1847088"/>
            <a:ext cx="18637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upport vector">
            <a:extLst>
              <a:ext uri="{C183D7F6-B498-43B3-948B-1728B52AA6E4}">
                <adec:decorative xmlns:adec="http://schemas.microsoft.com/office/drawing/2017/decorative" val="1"/>
              </a:ext>
            </a:extLst>
          </p:cNvPr>
          <p:cNvSpPr/>
          <p:nvPr/>
        </p:nvSpPr>
        <p:spPr>
          <a:xfrm>
            <a:off x="769034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upport vector"/>
          <p:cNvSpPr txBox="1"/>
          <p:nvPr/>
        </p:nvSpPr>
        <p:spPr>
          <a:xfrm>
            <a:off x="7854935" y="1962911"/>
            <a:ext cx="168083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support vectors</a:t>
            </a:r>
          </a:p>
        </p:txBody>
      </p:sp>
      <p:sp>
        <p:nvSpPr>
          <p:cNvPr id="19" name="!!term-hard margin">
            <a:extLst>
              <a:ext uri="{C183D7F6-B498-43B3-948B-1728B52AA6E4}">
                <adec:decorative xmlns:adec="http://schemas.microsoft.com/office/drawing/2017/decorative" val="1"/>
              </a:ext>
            </a:extLst>
          </p:cNvPr>
          <p:cNvSpPr/>
          <p:nvPr/>
        </p:nvSpPr>
        <p:spPr>
          <a:xfrm>
            <a:off x="9572347" y="1847088"/>
            <a:ext cx="15582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hard margin">
            <a:extLst>
              <a:ext uri="{C183D7F6-B498-43B3-948B-1728B52AA6E4}">
                <adec:decorative xmlns:adec="http://schemas.microsoft.com/office/drawing/2017/decorative" val="1"/>
              </a:ext>
            </a:extLst>
          </p:cNvPr>
          <p:cNvSpPr/>
          <p:nvPr/>
        </p:nvSpPr>
        <p:spPr>
          <a:xfrm>
            <a:off x="970036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hard margin"/>
          <p:cNvSpPr txBox="1"/>
          <p:nvPr/>
        </p:nvSpPr>
        <p:spPr>
          <a:xfrm>
            <a:off x="9864955" y="1962911"/>
            <a:ext cx="13753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hard margin</a:t>
            </a:r>
          </a:p>
        </p:txBody>
      </p:sp>
      <p:sp>
        <p:nvSpPr>
          <p:cNvPr id="22" name="!!term-soft margin">
            <a:extLst>
              <a:ext uri="{C183D7F6-B498-43B3-948B-1728B52AA6E4}">
                <adec:decorative xmlns:adec="http://schemas.microsoft.com/office/drawing/2017/decorative" val="1"/>
              </a:ext>
            </a:extLst>
          </p:cNvPr>
          <p:cNvSpPr/>
          <p:nvPr/>
        </p:nvSpPr>
        <p:spPr>
          <a:xfrm>
            <a:off x="658368" y="2468880"/>
            <a:ext cx="14857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oft margi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oft margin"/>
          <p:cNvSpPr txBox="1"/>
          <p:nvPr/>
        </p:nvSpPr>
        <p:spPr>
          <a:xfrm>
            <a:off x="950976" y="2584704"/>
            <a:ext cx="130288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soft margin</a:t>
            </a:r>
          </a:p>
        </p:txBody>
      </p:sp>
      <p:sp>
        <p:nvSpPr>
          <p:cNvPr id="25" name="!!term-slack variable">
            <a:extLst>
              <a:ext uri="{C183D7F6-B498-43B3-948B-1728B52AA6E4}">
                <adec:decorative xmlns:adec="http://schemas.microsoft.com/office/drawing/2017/decorative" val="1"/>
              </a:ext>
            </a:extLst>
          </p:cNvPr>
          <p:cNvSpPr/>
          <p:nvPr/>
        </p:nvSpPr>
        <p:spPr>
          <a:xfrm>
            <a:off x="2290432" y="2468880"/>
            <a:ext cx="16509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lack variable">
            <a:extLst>
              <a:ext uri="{C183D7F6-B498-43B3-948B-1728B52AA6E4}">
                <adec:decorative xmlns:adec="http://schemas.microsoft.com/office/drawing/2017/decorative" val="1"/>
              </a:ext>
            </a:extLst>
          </p:cNvPr>
          <p:cNvSpPr/>
          <p:nvPr/>
        </p:nvSpPr>
        <p:spPr>
          <a:xfrm>
            <a:off x="241844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lack variable"/>
          <p:cNvSpPr txBox="1"/>
          <p:nvPr/>
        </p:nvSpPr>
        <p:spPr>
          <a:xfrm>
            <a:off x="2583040" y="2584704"/>
            <a:ext cx="14680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slack variable</a:t>
            </a:r>
          </a:p>
        </p:txBody>
      </p:sp>
      <p:sp>
        <p:nvSpPr>
          <p:cNvPr id="28" name="!!term-C">
            <a:extLst>
              <a:ext uri="{C183D7F6-B498-43B3-948B-1728B52AA6E4}">
                <adec:decorative xmlns:adec="http://schemas.microsoft.com/office/drawing/2017/decorative" val="1"/>
              </a:ext>
            </a:extLst>
          </p:cNvPr>
          <p:cNvSpPr/>
          <p:nvPr/>
        </p:nvSpPr>
        <p:spPr>
          <a:xfrm>
            <a:off x="4087669" y="2468880"/>
            <a:ext cx="5672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
            <a:extLst>
              <a:ext uri="{C183D7F6-B498-43B3-948B-1728B52AA6E4}">
                <adec:decorative xmlns:adec="http://schemas.microsoft.com/office/drawing/2017/decorative" val="1"/>
              </a:ext>
            </a:extLst>
          </p:cNvPr>
          <p:cNvSpPr/>
          <p:nvPr/>
        </p:nvSpPr>
        <p:spPr>
          <a:xfrm>
            <a:off x="421568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
          <p:cNvSpPr txBox="1"/>
          <p:nvPr/>
        </p:nvSpPr>
        <p:spPr>
          <a:xfrm>
            <a:off x="4380277" y="2584704"/>
            <a:ext cx="38432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a:t>
            </a:r>
          </a:p>
        </p:txBody>
      </p:sp>
      <p:sp>
        <p:nvSpPr>
          <p:cNvPr id="31" name="!!term-hinge loss">
            <a:extLst>
              <a:ext uri="{C183D7F6-B498-43B3-948B-1728B52AA6E4}">
                <adec:decorative xmlns:adec="http://schemas.microsoft.com/office/drawing/2017/decorative" val="1"/>
              </a:ext>
            </a:extLst>
          </p:cNvPr>
          <p:cNvSpPr/>
          <p:nvPr/>
        </p:nvSpPr>
        <p:spPr>
          <a:xfrm>
            <a:off x="4801182" y="2468880"/>
            <a:ext cx="13583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hinge loss">
            <a:extLst>
              <a:ext uri="{C183D7F6-B498-43B3-948B-1728B52AA6E4}">
                <adec:decorative xmlns:adec="http://schemas.microsoft.com/office/drawing/2017/decorative" val="1"/>
              </a:ext>
            </a:extLst>
          </p:cNvPr>
          <p:cNvSpPr/>
          <p:nvPr/>
        </p:nvSpPr>
        <p:spPr>
          <a:xfrm>
            <a:off x="492919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hinge loss"/>
          <p:cNvSpPr txBox="1"/>
          <p:nvPr/>
        </p:nvSpPr>
        <p:spPr>
          <a:xfrm>
            <a:off x="5093790" y="2584704"/>
            <a:ext cx="117545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hinge loss</a:t>
            </a:r>
          </a:p>
        </p:txBody>
      </p:sp>
      <p:sp>
        <p:nvSpPr>
          <p:cNvPr id="34" name="!!term-dual form">
            <a:extLst>
              <a:ext uri="{C183D7F6-B498-43B3-948B-1728B52AA6E4}">
                <adec:decorative xmlns:adec="http://schemas.microsoft.com/office/drawing/2017/decorative" val="1"/>
              </a:ext>
            </a:extLst>
          </p:cNvPr>
          <p:cNvSpPr/>
          <p:nvPr/>
        </p:nvSpPr>
        <p:spPr>
          <a:xfrm>
            <a:off x="6305821" y="2468880"/>
            <a:ext cx="13276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dual form">
            <a:extLst>
              <a:ext uri="{C183D7F6-B498-43B3-948B-1728B52AA6E4}">
                <adec:decorative xmlns:adec="http://schemas.microsoft.com/office/drawing/2017/decorative" val="1"/>
              </a:ext>
            </a:extLst>
          </p:cNvPr>
          <p:cNvSpPr/>
          <p:nvPr/>
        </p:nvSpPr>
        <p:spPr>
          <a:xfrm>
            <a:off x="643383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dual form"/>
          <p:cNvSpPr txBox="1"/>
          <p:nvPr/>
        </p:nvSpPr>
        <p:spPr>
          <a:xfrm>
            <a:off x="6598429" y="2584704"/>
            <a:ext cx="11447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dual form</a:t>
            </a:r>
          </a:p>
        </p:txBody>
      </p:sp>
      <p:sp>
        <p:nvSpPr>
          <p:cNvPr id="37" name="!!term-feature map">
            <a:extLst>
              <a:ext uri="{C183D7F6-B498-43B3-948B-1728B52AA6E4}">
                <adec:decorative xmlns:adec="http://schemas.microsoft.com/office/drawing/2017/decorative" val="1"/>
              </a:ext>
            </a:extLst>
          </p:cNvPr>
          <p:cNvSpPr/>
          <p:nvPr/>
        </p:nvSpPr>
        <p:spPr>
          <a:xfrm>
            <a:off x="7779779" y="2468880"/>
            <a:ext cx="15483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feature map">
            <a:extLst>
              <a:ext uri="{C183D7F6-B498-43B3-948B-1728B52AA6E4}">
                <adec:decorative xmlns:adec="http://schemas.microsoft.com/office/drawing/2017/decorative" val="1"/>
              </a:ext>
            </a:extLst>
          </p:cNvPr>
          <p:cNvSpPr/>
          <p:nvPr/>
        </p:nvSpPr>
        <p:spPr>
          <a:xfrm>
            <a:off x="790779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feature map"/>
          <p:cNvSpPr txBox="1"/>
          <p:nvPr/>
        </p:nvSpPr>
        <p:spPr>
          <a:xfrm>
            <a:off x="8072387" y="2584704"/>
            <a:ext cx="136547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map</a:t>
            </a:r>
          </a:p>
        </p:txBody>
      </p:sp>
      <p:sp>
        <p:nvSpPr>
          <p:cNvPr id="40" name="!!term-kernel trick">
            <a:extLst>
              <a:ext uri="{C183D7F6-B498-43B3-948B-1728B52AA6E4}">
                <adec:decorative xmlns:adec="http://schemas.microsoft.com/office/drawing/2017/decorative" val="1"/>
              </a:ext>
            </a:extLst>
          </p:cNvPr>
          <p:cNvSpPr/>
          <p:nvPr/>
        </p:nvSpPr>
        <p:spPr>
          <a:xfrm>
            <a:off x="9474437" y="2468880"/>
            <a:ext cx="144635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kernel trick">
            <a:extLst>
              <a:ext uri="{C183D7F6-B498-43B3-948B-1728B52AA6E4}">
                <adec:decorative xmlns:adec="http://schemas.microsoft.com/office/drawing/2017/decorative" val="1"/>
              </a:ext>
            </a:extLst>
          </p:cNvPr>
          <p:cNvSpPr/>
          <p:nvPr/>
        </p:nvSpPr>
        <p:spPr>
          <a:xfrm>
            <a:off x="96024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kernel trick"/>
          <p:cNvSpPr txBox="1"/>
          <p:nvPr/>
        </p:nvSpPr>
        <p:spPr>
          <a:xfrm>
            <a:off x="9767045" y="2584704"/>
            <a:ext cx="126347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kernel trick</a:t>
            </a:r>
          </a:p>
        </p:txBody>
      </p:sp>
      <p:sp>
        <p:nvSpPr>
          <p:cNvPr id="43" name="!!term-polynomial ker">
            <a:extLst>
              <a:ext uri="{C183D7F6-B498-43B3-948B-1728B52AA6E4}">
                <adec:decorative xmlns:adec="http://schemas.microsoft.com/office/drawing/2017/decorative" val="1"/>
              </a:ext>
            </a:extLst>
          </p:cNvPr>
          <p:cNvSpPr/>
          <p:nvPr/>
        </p:nvSpPr>
        <p:spPr>
          <a:xfrm>
            <a:off x="658368" y="3090672"/>
            <a:ext cx="20718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olynomial ke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olynomial ker"/>
          <p:cNvSpPr txBox="1"/>
          <p:nvPr/>
        </p:nvSpPr>
        <p:spPr>
          <a:xfrm>
            <a:off x="950976" y="3206496"/>
            <a:ext cx="188899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polynomial kernel</a:t>
            </a:r>
          </a:p>
        </p:txBody>
      </p:sp>
      <p:sp>
        <p:nvSpPr>
          <p:cNvPr id="46" name="!!term-RBF kernel">
            <a:extLst>
              <a:ext uri="{C183D7F6-B498-43B3-948B-1728B52AA6E4}">
                <adec:decorative xmlns:adec="http://schemas.microsoft.com/office/drawing/2017/decorative" val="1"/>
              </a:ext>
            </a:extLst>
          </p:cNvPr>
          <p:cNvSpPr/>
          <p:nvPr/>
        </p:nvSpPr>
        <p:spPr>
          <a:xfrm>
            <a:off x="2876545" y="3090672"/>
            <a:ext cx="13988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RBF kernel">
            <a:extLst>
              <a:ext uri="{C183D7F6-B498-43B3-948B-1728B52AA6E4}">
                <adec:decorative xmlns:adec="http://schemas.microsoft.com/office/drawing/2017/decorative" val="1"/>
              </a:ext>
            </a:extLst>
          </p:cNvPr>
          <p:cNvSpPr/>
          <p:nvPr/>
        </p:nvSpPr>
        <p:spPr>
          <a:xfrm>
            <a:off x="300456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RBF kernel"/>
          <p:cNvSpPr txBox="1"/>
          <p:nvPr/>
        </p:nvSpPr>
        <p:spPr>
          <a:xfrm>
            <a:off x="3169153" y="3206496"/>
            <a:ext cx="121600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RBF kernel</a:t>
            </a:r>
          </a:p>
        </p:txBody>
      </p:sp>
      <p:sp>
        <p:nvSpPr>
          <p:cNvPr id="49" name="!!term-γ">
            <a:extLst>
              <a:ext uri="{C183D7F6-B498-43B3-948B-1728B52AA6E4}">
                <adec:decorative xmlns:adec="http://schemas.microsoft.com/office/drawing/2017/decorative" val="1"/>
              </a:ext>
            </a:extLst>
          </p:cNvPr>
          <p:cNvSpPr/>
          <p:nvPr/>
        </p:nvSpPr>
        <p:spPr>
          <a:xfrm>
            <a:off x="4421737" y="3090672"/>
            <a:ext cx="5464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γ">
            <a:extLst>
              <a:ext uri="{C183D7F6-B498-43B3-948B-1728B52AA6E4}">
                <adec:decorative xmlns:adec="http://schemas.microsoft.com/office/drawing/2017/decorative" val="1"/>
              </a:ext>
            </a:extLst>
          </p:cNvPr>
          <p:cNvSpPr/>
          <p:nvPr/>
        </p:nvSpPr>
        <p:spPr>
          <a:xfrm>
            <a:off x="454975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γ"/>
          <p:cNvSpPr txBox="1"/>
          <p:nvPr/>
        </p:nvSpPr>
        <p:spPr>
          <a:xfrm>
            <a:off x="4714345" y="3206496"/>
            <a:ext cx="3636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γ</a:t>
            </a:r>
          </a:p>
        </p:txBody>
      </p:sp>
      <p:sp>
        <p:nvSpPr>
          <p:cNvPr id="52" name="!!term-support vector">
            <a:extLst>
              <a:ext uri="{C183D7F6-B498-43B3-948B-1728B52AA6E4}">
                <adec:decorative xmlns:adec="http://schemas.microsoft.com/office/drawing/2017/decorative" val="1"/>
              </a:ext>
            </a:extLst>
          </p:cNvPr>
          <p:cNvSpPr/>
          <p:nvPr/>
        </p:nvSpPr>
        <p:spPr>
          <a:xfrm>
            <a:off x="5114523" y="3090672"/>
            <a:ext cx="27803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upport vector">
            <a:extLst>
              <a:ext uri="{C183D7F6-B498-43B3-948B-1728B52AA6E4}">
                <adec:decorative xmlns:adec="http://schemas.microsoft.com/office/drawing/2017/decorative" val="1"/>
              </a:ext>
            </a:extLst>
          </p:cNvPr>
          <p:cNvSpPr/>
          <p:nvPr/>
        </p:nvSpPr>
        <p:spPr>
          <a:xfrm>
            <a:off x="52425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upport vector"/>
          <p:cNvSpPr txBox="1"/>
          <p:nvPr/>
        </p:nvSpPr>
        <p:spPr>
          <a:xfrm>
            <a:off x="5407131" y="3206496"/>
            <a:ext cx="25974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support vector regression</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89–94     </a:t>
            </a:r>
            <a:fld id="{C32088C0-4568-4585-8093-1E473E5B90F1}" type="slidenum">
              <a:rPr lang="en-GB" sz="1000">
                <a:solidFill>
                  <a:srgbClr val="8795A1"/>
                </a:solidFill>
                <a:latin typeface="Segoe UI"/>
              </a:rPr>
              <a:t>5</a:t>
            </a:fld>
          </a:p>
        </p:txBody>
      </p:sp>
      <p:sp>
        <p:nvSpPr>
          <p:cNvPr id="7" name="!!ag0" descr="Go to section 12.1 Which Lin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Which Line?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89  ›</a:t>
            </a:r>
          </a:p>
        </p:txBody>
      </p:sp>
      <p:sp>
        <p:nvSpPr>
          <p:cNvPr id="12" name="!!ag1" descr="Go to section 12.2 The Maximum-Margin Hyperplan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Maximum-Margin Hyperplane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89  ›</a:t>
            </a:r>
          </a:p>
        </p:txBody>
      </p:sp>
      <p:sp>
        <p:nvSpPr>
          <p:cNvPr id="17" name="!!ag2" descr="Go to section 12.3 Soft Margins and the Hinge Los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Soft Margins and the Hinge Loss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90  ›</a:t>
            </a:r>
          </a:p>
        </p:txBody>
      </p:sp>
      <p:sp>
        <p:nvSpPr>
          <p:cNvPr id="22" name="!!ag3" descr="Go to section 12.4 The Kernel Trick">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Kernel Trick</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91  ›</a:t>
            </a:r>
          </a:p>
        </p:txBody>
      </p:sp>
      <p:sp>
        <p:nvSpPr>
          <p:cNvPr id="27" name="!!ag4" descr="Go to section 12.5 Practicalitie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Practicalities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93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Which Line?</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§12.1  ·  Handout p. 89     </a:t>
            </a:r>
            <a:fld id="{A409F788-827E-47F9-AE82-6E256BB9068A}"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08432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416661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When two classes can be separated by a straight line, they can usually be separated by infinitely many. Logistic regression picks the one that maximises likelihood; the perceptron of Chapter 13 picks whichever it reaches first. A </a:t>
            </a:r>
            <a:r>
              <a:rPr sz="2600" b="1" i="0">
                <a:solidFill>
                  <a:srgbClr val="1A5276"/>
                </a:solidFill>
                <a:latin typeface="Segoe UI"/>
              </a:rPr>
              <a:t>support vector machine</a:t>
            </a:r>
            <a:r>
              <a:rPr sz="2600" b="0" i="0">
                <a:solidFill>
                  <a:srgbClr val="1C252B"/>
                </a:solidFill>
                <a:latin typeface="Segoe UI"/>
              </a:rPr>
              <a:t> picks the line that stays as far as possible from the nearest examples of both classes — the one with the widest </a:t>
            </a:r>
            <a:r>
              <a:rPr sz="2600" b="1" i="0">
                <a:solidFill>
                  <a:srgbClr val="1A5276"/>
                </a:solidFill>
                <a:latin typeface="Segoe UI"/>
              </a:rPr>
              <a:t>margin</a:t>
            </a:r>
            <a:r>
              <a:rPr sz="2600" b="0" i="0">
                <a:solidFill>
                  <a:srgbClr val="1C252B"/>
                </a:solidFill>
                <a:latin typeface="Segoe UI"/>
              </a:rPr>
              <a:t>. The intuition is that a boundary with room to spare on both sides is the least likely to be crossed by small perturbations of new data, and the theory agrees: a wider margin gives a tighter bound on the error on unseen data, regardless of the number of features.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Maximum-Margin Hyperplane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Which Line?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12.2   The Maximum-Margin Hyperplane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Soft Margins and the Hinge Loss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The Kernel Trick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Practicalities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§12.2     </a:t>
            </a:r>
            <a:fld id="{1A6B1F39-08C0-4708-9D3E-17E5137023DA}"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Hyperplane, Margin and Support Vectors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89     </a:t>
            </a:r>
            <a:fld id="{77CF2DC3-F8F4-4066-8B2B-F214840E9FC7}"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7093"/>
          </a:xfrm>
          <a:prstGeom prst="roundRect">
            <a:avLst>
              <a:gd name="adj" fmla="val 215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709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linear classifier predicts sign</a:t>
            </a:r>
            <a:r>
              <a:rPr sz="2200" b="0" i="0">
                <a:solidFill>
                  <a:srgbClr val="1C252B"/>
                </a:solidFill>
                <a:latin typeface="Cambria"/>
              </a:rPr>
              <a:t>(</a:t>
            </a:r>
            <a:r>
              <a:rPr sz="2200" b="1" i="1">
                <a:solidFill>
                  <a:srgbClr val="1C252B"/>
                </a:solidFill>
                <a:latin typeface="Cambria"/>
              </a:rPr>
              <a:t>w</a:t>
            </a:r>
            <a:r>
              <a:rPr sz="2200" b="0" i="0">
                <a:solidFill>
                  <a:srgbClr val="1C252B"/>
                </a:solidFill>
                <a:latin typeface="Cambria"/>
              </a:rPr>
              <a:t>·</a:t>
            </a:r>
            <a:r>
              <a:rPr sz="2200" b="1" i="1">
                <a:solidFill>
                  <a:srgbClr val="1C252B"/>
                </a:solidFill>
                <a:latin typeface="Cambria"/>
              </a:rPr>
              <a:t>x</a:t>
            </a:r>
            <a:r>
              <a:rPr sz="2200" b="0" i="0">
                <a:solidFill>
                  <a:srgbClr val="1C252B"/>
                </a:solidFill>
                <a:latin typeface="Cambria"/>
              </a:rPr>
              <a:t> + </a:t>
            </a:r>
            <a:r>
              <a:rPr sz="2200" b="0" i="1">
                <a:solidFill>
                  <a:srgbClr val="1C252B"/>
                </a:solidFill>
                <a:latin typeface="Cambria"/>
              </a:rPr>
              <a:t>b</a:t>
            </a:r>
            <a:r>
              <a:rPr sz="2200" b="0" i="0">
                <a:solidFill>
                  <a:srgbClr val="1C252B"/>
                </a:solidFill>
                <a:latin typeface="Cambria"/>
              </a:rPr>
              <a:t>)</a:t>
            </a:r>
            <a:r>
              <a:rPr sz="2200" b="0" i="0">
                <a:solidFill>
                  <a:srgbClr val="1C252B"/>
                </a:solidFill>
                <a:latin typeface="Segoe UI"/>
              </a:rPr>
              <a:t> with labels </a:t>
            </a:r>
            <a:r>
              <a:rPr sz="2200" b="0" i="1">
                <a:solidFill>
                  <a:srgbClr val="1C252B"/>
                </a:solidFill>
                <a:latin typeface="Cambria"/>
              </a:rPr>
              <a:t>y</a:t>
            </a:r>
            <a:r>
              <a:rPr sz="2200" b="0" i="0">
                <a:solidFill>
                  <a:srgbClr val="1C252B"/>
                </a:solidFill>
                <a:latin typeface="Cambria"/>
              </a:rPr>
              <a:t> ∈ {−1, +1}</a:t>
            </a:r>
            <a:r>
              <a:rPr sz="2200" b="0" i="0">
                <a:solidFill>
                  <a:srgbClr val="1C252B"/>
                </a:solidFill>
                <a:latin typeface="Segoe UI"/>
              </a:rPr>
              <a:t>. The distance of a point </a:t>
            </a:r>
            <a:r>
              <a:rPr sz="2200" b="1" i="1">
                <a:solidFill>
                  <a:srgbClr val="1C252B"/>
                </a:solidFill>
                <a:latin typeface="Cambria"/>
              </a:rPr>
              <a:t>x</a:t>
            </a:r>
            <a:r>
              <a:rPr sz="2200" b="0" i="0">
                <a:solidFill>
                  <a:srgbClr val="1C252B"/>
                </a:solidFill>
                <a:latin typeface="Segoe UI"/>
              </a:rPr>
              <a:t> from the hyperplane </a:t>
            </a:r>
            <a:r>
              <a:rPr sz="2200" b="1" i="1">
                <a:solidFill>
                  <a:srgbClr val="1C252B"/>
                </a:solidFill>
                <a:latin typeface="Cambria"/>
              </a:rPr>
              <a:t>w</a:t>
            </a:r>
            <a:r>
              <a:rPr sz="2200" b="0" i="0">
                <a:solidFill>
                  <a:srgbClr val="1C252B"/>
                </a:solidFill>
                <a:latin typeface="Cambria"/>
              </a:rPr>
              <a:t>·</a:t>
            </a:r>
            <a:r>
              <a:rPr sz="2200" b="1" i="1">
                <a:solidFill>
                  <a:srgbClr val="1C252B"/>
                </a:solidFill>
                <a:latin typeface="Cambria"/>
              </a:rPr>
              <a:t>x</a:t>
            </a:r>
            <a:r>
              <a:rPr sz="2200" b="0" i="0">
                <a:solidFill>
                  <a:srgbClr val="1C252B"/>
                </a:solidFill>
                <a:latin typeface="Cambria"/>
              </a:rPr>
              <a:t> + </a:t>
            </a:r>
            <a:r>
              <a:rPr sz="2200" b="0" i="1">
                <a:solidFill>
                  <a:srgbClr val="1C252B"/>
                </a:solidFill>
                <a:latin typeface="Cambria"/>
              </a:rPr>
              <a:t>b</a:t>
            </a:r>
            <a:r>
              <a:rPr sz="2200" b="0" i="0">
                <a:solidFill>
                  <a:srgbClr val="1C252B"/>
                </a:solidFill>
                <a:latin typeface="Cambria"/>
              </a:rPr>
              <a:t> = 0</a:t>
            </a:r>
            <a:r>
              <a:rPr sz="2200" b="0" i="0">
                <a:solidFill>
                  <a:srgbClr val="1C252B"/>
                </a:solidFill>
                <a:latin typeface="Segoe UI"/>
              </a:rPr>
              <a:t> is </a:t>
            </a:r>
            <a:r>
              <a:rPr sz="2200" b="0" i="0">
                <a:solidFill>
                  <a:srgbClr val="1C252B"/>
                </a:solidFill>
                <a:latin typeface="Cambria"/>
              </a:rPr>
              <a:t>|</a:t>
            </a:r>
            <a:r>
              <a:rPr sz="2200" b="1" i="1">
                <a:solidFill>
                  <a:srgbClr val="1C252B"/>
                </a:solidFill>
                <a:latin typeface="Cambria"/>
              </a:rPr>
              <a:t>w</a:t>
            </a:r>
            <a:r>
              <a:rPr sz="2200" b="0" i="0">
                <a:solidFill>
                  <a:srgbClr val="1C252B"/>
                </a:solidFill>
                <a:latin typeface="Cambria"/>
              </a:rPr>
              <a:t>·</a:t>
            </a:r>
            <a:r>
              <a:rPr sz="2200" b="1" i="1">
                <a:solidFill>
                  <a:srgbClr val="1C252B"/>
                </a:solidFill>
                <a:latin typeface="Cambria"/>
              </a:rPr>
              <a:t>x</a:t>
            </a:r>
            <a:r>
              <a:rPr sz="2200" b="0" i="0">
                <a:solidFill>
                  <a:srgbClr val="1C252B"/>
                </a:solidFill>
                <a:latin typeface="Cambria"/>
              </a:rPr>
              <a:t> + </a:t>
            </a:r>
            <a:r>
              <a:rPr sz="2200" b="0" i="1">
                <a:solidFill>
                  <a:srgbClr val="1C252B"/>
                </a:solidFill>
                <a:latin typeface="Cambria"/>
              </a:rPr>
              <a:t>b</a:t>
            </a:r>
            <a:r>
              <a:rPr sz="2200" b="0" i="0">
                <a:solidFill>
                  <a:srgbClr val="1C252B"/>
                </a:solidFill>
                <a:latin typeface="Cambria"/>
              </a:rPr>
              <a:t>| / ‖</a:t>
            </a:r>
            <a:r>
              <a:rPr sz="2200" b="1" i="1">
                <a:solidFill>
                  <a:srgbClr val="1C252B"/>
                </a:solidFill>
                <a:latin typeface="Cambria"/>
              </a:rPr>
              <a:t>w</a:t>
            </a:r>
            <a:r>
              <a:rPr sz="2200" b="0" i="0">
                <a:solidFill>
                  <a:srgbClr val="1C252B"/>
                </a:solidFill>
                <a:latin typeface="Cambria"/>
              </a:rPr>
              <a:t>‖</a:t>
            </a:r>
            <a:r>
              <a:rPr sz="2200" b="0" i="0">
                <a:solidFill>
                  <a:srgbClr val="1C252B"/>
                </a:solidFill>
                <a:latin typeface="Segoe UI"/>
              </a:rPr>
              <a:t>. Scale </a:t>
            </a:r>
            <a:r>
              <a:rPr sz="2200" b="1" i="1">
                <a:solidFill>
                  <a:srgbClr val="1C252B"/>
                </a:solidFill>
                <a:latin typeface="Cambria"/>
              </a:rPr>
              <a:t>w</a:t>
            </a:r>
            <a:r>
              <a:rPr sz="2200" b="0" i="0">
                <a:solidFill>
                  <a:srgbClr val="1C252B"/>
                </a:solidFill>
                <a:latin typeface="Segoe UI"/>
              </a:rPr>
              <a:t> and </a:t>
            </a:r>
            <a:r>
              <a:rPr sz="2200" b="0" i="1">
                <a:solidFill>
                  <a:srgbClr val="1C252B"/>
                </a:solidFill>
                <a:latin typeface="Cambria"/>
              </a:rPr>
              <a:t>b</a:t>
            </a:r>
            <a:r>
              <a:rPr sz="2200" b="0" i="0">
                <a:solidFill>
                  <a:srgbClr val="1C252B"/>
                </a:solidFill>
                <a:latin typeface="Segoe UI"/>
              </a:rPr>
              <a:t> so that the closest points satisfy </a:t>
            </a:r>
            <a:r>
              <a:rPr sz="2200" b="0" i="1">
                <a:solidFill>
                  <a:srgbClr val="1C252B"/>
                </a:solidFill>
                <a:latin typeface="Cambria"/>
              </a:rPr>
              <a:t>y</a:t>
            </a:r>
            <a:r>
              <a:rPr sz="2200" b="0" i="1" baseline="-25000">
                <a:solidFill>
                  <a:srgbClr val="1C252B"/>
                </a:solidFill>
                <a:latin typeface="Cambria"/>
              </a:rPr>
              <a:t>i</a:t>
            </a:r>
            <a:r>
              <a:rPr sz="2200" b="0" i="0">
                <a:solidFill>
                  <a:srgbClr val="1C252B"/>
                </a:solidFill>
                <a:latin typeface="Cambria"/>
              </a:rPr>
              <a:t>(</a:t>
            </a:r>
            <a:r>
              <a:rPr sz="2200" b="1" i="1">
                <a:solidFill>
                  <a:srgbClr val="1C252B"/>
                </a:solidFill>
                <a:latin typeface="Cambria"/>
              </a:rPr>
              <a:t>w</a:t>
            </a:r>
            <a:r>
              <a:rPr sz="2200" b="0" i="0">
                <a:solidFill>
                  <a:srgbClr val="1C252B"/>
                </a:solidFill>
                <a:latin typeface="Cambria"/>
              </a:rPr>
              <a:t>·</a:t>
            </a:r>
            <a:r>
              <a:rPr sz="2200" b="1" i="1">
                <a:solidFill>
                  <a:srgbClr val="1C252B"/>
                </a:solidFill>
                <a:latin typeface="Cambria"/>
              </a:rPr>
              <a:t>x</a:t>
            </a:r>
            <a:r>
              <a:rPr sz="2200" b="0" i="1" baseline="-25000">
                <a:solidFill>
                  <a:srgbClr val="1C252B"/>
                </a:solidFill>
                <a:latin typeface="Cambria"/>
              </a:rPr>
              <a:t>i</a:t>
            </a:r>
            <a:r>
              <a:rPr sz="2200" b="0" i="0">
                <a:solidFill>
                  <a:srgbClr val="1C252B"/>
                </a:solidFill>
                <a:latin typeface="Cambria"/>
              </a:rPr>
              <a:t> + </a:t>
            </a:r>
            <a:r>
              <a:rPr sz="2200" b="0" i="1">
                <a:solidFill>
                  <a:srgbClr val="1C252B"/>
                </a:solidFill>
                <a:latin typeface="Cambria"/>
              </a:rPr>
              <a:t>b</a:t>
            </a:r>
            <a:r>
              <a:rPr sz="2200" b="0" i="0">
                <a:solidFill>
                  <a:srgbClr val="1C252B"/>
                </a:solidFill>
                <a:latin typeface="Cambria"/>
              </a:rPr>
              <a:t>) = 1</a:t>
            </a:r>
            <a:r>
              <a:rPr sz="2200" b="0" i="0">
                <a:solidFill>
                  <a:srgbClr val="1C252B"/>
                </a:solidFill>
                <a:latin typeface="Segoe UI"/>
              </a:rPr>
              <a:t>; then the </a:t>
            </a:r>
            <a:r>
              <a:rPr sz="2200" b="1" i="0">
                <a:solidFill>
                  <a:srgbClr val="1A5276"/>
                </a:solidFill>
                <a:latin typeface="Segoe UI"/>
              </a:rPr>
              <a:t>margin</a:t>
            </a:r>
            <a:r>
              <a:rPr sz="2200" b="0" i="0">
                <a:solidFill>
                  <a:srgbClr val="1C252B"/>
                </a:solidFill>
                <a:latin typeface="Segoe UI"/>
              </a:rPr>
              <a:t> — the width of the empty band between the classes — is </a:t>
            </a:r>
            <a:r>
              <a:rPr sz="2200" b="0" i="0">
                <a:solidFill>
                  <a:srgbClr val="1C252B"/>
                </a:solidFill>
                <a:latin typeface="Cambria"/>
              </a:rPr>
              <a:t>2/‖</a:t>
            </a:r>
            <a:r>
              <a:rPr sz="2200" b="1" i="1">
                <a:solidFill>
                  <a:srgbClr val="1C252B"/>
                </a:solidFill>
                <a:latin typeface="Cambria"/>
              </a:rPr>
              <a:t>w</a:t>
            </a:r>
            <a:r>
              <a:rPr sz="2200" b="0" i="0">
                <a:solidFill>
                  <a:srgbClr val="1C252B"/>
                </a:solidFill>
                <a:latin typeface="Cambria"/>
              </a:rPr>
              <a:t>‖</a:t>
            </a:r>
            <a:r>
              <a:rPr sz="2200" b="0" i="0">
                <a:solidFill>
                  <a:srgbClr val="1C252B"/>
                </a:solidFill>
                <a:latin typeface="Segoe UI"/>
              </a:rPr>
              <a:t>. The hard-margin SVM solves</a:t>
            </a:r>
          </a:p>
        </p:txBody>
      </p:sp>
      <p:pic>
        <p:nvPicPr>
          <p:cNvPr id="10" name="body-1" descr="\min_{\mathbf{w}, b}\ \tfrac{1}{2}\|\mathbf{w}\|^2 \quad\text{subject to}\quad y_i(\mathbf{w}\cdot\mathbf{x}_i + b) \ge 1 \ \text{ for every } i"/>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596690"/>
            <a:ext cx="10161727" cy="528431"/>
          </a:xfrm>
          <a:prstGeom prst="rect">
            <a:avLst/>
          </a:prstGeom>
        </p:spPr>
      </p:pic>
      <p:sp>
        <p:nvSpPr>
          <p:cNvPr id="11" name="body-2"/>
          <p:cNvSpPr txBox="1"/>
          <p:nvPr/>
        </p:nvSpPr>
        <p:spPr>
          <a:xfrm>
            <a:off x="1060704" y="4278792"/>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training points that lie exactly on the edges of the band are the </a:t>
            </a:r>
            <a:r>
              <a:rPr sz="2200" b="1" i="0">
                <a:solidFill>
                  <a:srgbClr val="1A5276"/>
                </a:solidFill>
                <a:latin typeface="Segoe UI"/>
              </a:rPr>
              <a:t>support vectors</a:t>
            </a:r>
            <a:r>
              <a:rPr sz="2200" b="0" i="0">
                <a:solidFill>
                  <a:srgbClr val="1C252B"/>
                </a:solidFill>
                <a:latin typeface="Segoe UI"/>
              </a:rPr>
              <a:t>. They alone determine the solution: every other point could be moved or deleted, as long as it stayed outside the band, and the hyperplane would not change.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maximum-margin hyperplane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89     </a:t>
            </a:r>
            <a:fld id="{9BF7D0B0-D24D-47A3-A7A7-51173F20844A}" type="slidenum">
              <a:rPr lang="en-GB" sz="1000">
                <a:solidFill>
                  <a:srgbClr val="8795A1"/>
                </a:solidFill>
                <a:latin typeface="Segoe UI"/>
              </a:rPr>
              <a:t>9</a:t>
            </a:fld>
          </a:p>
        </p:txBody>
      </p:sp>
      <p:pic>
        <p:nvPicPr>
          <p:cNvPr id="6" name="!!figure" descr="Figure 12.1. The maximum-margin hyperplane. The solid line separates the classes; the dashed lines bound the widest empty band; the points on the dashed lines are the support vector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87770" y="1737360"/>
            <a:ext cx="661615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solid line separates the classes; the dashed lines bound the widest empty band; the points on the dashed lines are the support vectors.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Maximum-Margin Line by Hand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§12.2  ·  Handout p. 89     </a:t>
            </a:r>
            <a:fld id="{83567FD3-F83A-45AA-8D25-946B67F7E556}"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63369"/>
          </a:xfrm>
          <a:prstGeom prst="roundRect">
            <a:avLst>
              <a:gd name="adj" fmla="val 20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6336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six points of Figure 12.1. The closest opposite-class pair is </a:t>
            </a:r>
            <a:r>
              <a:rPr sz="1800" b="0" i="0">
                <a:solidFill>
                  <a:srgbClr val="1C252B"/>
                </a:solidFill>
                <a:latin typeface="Cambria"/>
              </a:rPr>
              <a:t>(2,2)</a:t>
            </a:r>
            <a:r>
              <a:rPr sz="1800" b="0" i="0">
                <a:solidFill>
                  <a:srgbClr val="1C252B"/>
                </a:solidFill>
                <a:latin typeface="Segoe UI"/>
              </a:rPr>
              <a:t> and </a:t>
            </a:r>
            <a:r>
              <a:rPr sz="1800" b="0" i="0">
                <a:solidFill>
                  <a:srgbClr val="1C252B"/>
                </a:solidFill>
                <a:latin typeface="Cambria"/>
              </a:rPr>
              <a:t>(0,0)</a:t>
            </a:r>
            <a:r>
              <a:rPr sz="1800" b="0" i="0">
                <a:solidFill>
                  <a:srgbClr val="1C252B"/>
                </a:solidFill>
                <a:latin typeface="Segoe UI"/>
              </a:rPr>
              <a:t>, so the boundary is perpendicular to the segment between them: </a:t>
            </a:r>
            <a:r>
              <a:rPr sz="1800" b="1" i="1">
                <a:solidFill>
                  <a:srgbClr val="1C252B"/>
                </a:solidFill>
                <a:latin typeface="Cambria"/>
              </a:rPr>
              <a:t>w</a:t>
            </a:r>
            <a:r>
              <a:rPr sz="1800" b="0" i="0">
                <a:solidFill>
                  <a:srgbClr val="1C252B"/>
                </a:solidFill>
                <a:latin typeface="Cambria"/>
              </a:rPr>
              <a:t> = </a:t>
            </a:r>
            <a:r>
              <a:rPr sz="1800" b="0" i="1">
                <a:solidFill>
                  <a:srgbClr val="1C252B"/>
                </a:solidFill>
                <a:latin typeface="Cambria"/>
              </a:rPr>
              <a:t>a</a:t>
            </a:r>
            <a:r>
              <a:rPr sz="1800" b="0" i="0">
                <a:solidFill>
                  <a:srgbClr val="1C252B"/>
                </a:solidFill>
                <a:latin typeface="Cambria"/>
              </a:rPr>
              <a:t> (1, 1)</a:t>
            </a:r>
            <a:r>
              <a:rPr sz="1800" b="0" i="0">
                <a:solidFill>
                  <a:srgbClr val="1C252B"/>
                </a:solidFill>
                <a:latin typeface="Segoe UI"/>
              </a:rPr>
              <a:t> for some </a:t>
            </a:r>
            <a:r>
              <a:rPr sz="1800" b="0" i="1">
                <a:solidFill>
                  <a:srgbClr val="1C252B"/>
                </a:solidFill>
                <a:latin typeface="Cambria"/>
              </a:rPr>
              <a:t>a</a:t>
            </a:r>
            <a:r>
              <a:rPr sz="1800" b="0" i="0">
                <a:solidFill>
                  <a:srgbClr val="1C252B"/>
                </a:solidFill>
                <a:latin typeface="Cambria"/>
              </a:rPr>
              <a:t> &gt; 0</a:t>
            </a:r>
            <a:r>
              <a:rPr sz="1800" b="0" i="0">
                <a:solidFill>
                  <a:srgbClr val="1C252B"/>
                </a:solidFill>
                <a:latin typeface="Segoe UI"/>
              </a:rPr>
              <a:t>.</a:t>
            </a:r>
          </a:p>
        </p:txBody>
      </p:sp>
      <p:sp>
        <p:nvSpPr>
          <p:cNvPr id="10" name="body-1"/>
          <p:cNvSpPr txBox="1"/>
          <p:nvPr/>
        </p:nvSpPr>
        <p:spPr>
          <a:xfrm>
            <a:off x="1042416" y="2707995"/>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Canonical scaling.</a:t>
            </a:r>
            <a:r>
              <a:rPr sz="1800" b="0" i="0">
                <a:solidFill>
                  <a:srgbClr val="1C252B"/>
                </a:solidFill>
                <a:latin typeface="Segoe UI"/>
              </a:rPr>
              <a:t> Put the support vectors exactly on the margins:</a:t>
            </a:r>
          </a:p>
        </p:txBody>
      </p:sp>
      <p:pic>
        <p:nvPicPr>
          <p:cNvPr id="11" name="body-2" descr="\mathbf{w}\cdot(2,2) + b = 4a + b = +1, \qquad \mathbf{w}\cdot(0,0) + b = b =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19018"/>
            <a:ext cx="10234879" cy="307421"/>
          </a:xfrm>
          <a:prstGeom prst="rect">
            <a:avLst/>
          </a:prstGeom>
        </p:spPr>
      </p:pic>
      <p:sp>
        <p:nvSpPr>
          <p:cNvPr id="12" name="body-3"/>
          <p:cNvSpPr txBox="1"/>
          <p:nvPr/>
        </p:nvSpPr>
        <p:spPr>
          <a:xfrm>
            <a:off x="1042416" y="3552169"/>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So </a:t>
            </a:r>
            <a:r>
              <a:rPr sz="1800" b="0" i="1">
                <a:solidFill>
                  <a:srgbClr val="1C252B"/>
                </a:solidFill>
                <a:latin typeface="Cambria"/>
              </a:rPr>
              <a:t>b</a:t>
            </a:r>
            <a:r>
              <a:rPr sz="1800" b="0" i="0">
                <a:solidFill>
                  <a:srgbClr val="1C252B"/>
                </a:solidFill>
                <a:latin typeface="Cambria"/>
              </a:rPr>
              <a:t> = −1</a:t>
            </a:r>
            <a:r>
              <a:rPr sz="1800" b="0" i="0">
                <a:solidFill>
                  <a:srgbClr val="1C252B"/>
                </a:solidFill>
                <a:latin typeface="Segoe UI"/>
              </a:rPr>
              <a:t>, </a:t>
            </a:r>
            <a:r>
              <a:rPr sz="1800" b="0" i="1">
                <a:solidFill>
                  <a:srgbClr val="1C252B"/>
                </a:solidFill>
                <a:latin typeface="Cambria"/>
              </a:rPr>
              <a:t>a</a:t>
            </a:r>
            <a:r>
              <a:rPr sz="1800" b="0" i="0">
                <a:solidFill>
                  <a:srgbClr val="1C252B"/>
                </a:solidFill>
                <a:latin typeface="Cambria"/>
              </a:rPr>
              <a:t> = 0.5</a:t>
            </a:r>
            <a:r>
              <a:rPr sz="1800" b="0" i="0">
                <a:solidFill>
                  <a:srgbClr val="1C252B"/>
                </a:solidFill>
                <a:latin typeface="Segoe UI"/>
              </a:rPr>
              <a:t>: </a:t>
            </a:r>
            <a:r>
              <a:rPr sz="1800" b="1" i="1">
                <a:solidFill>
                  <a:srgbClr val="1C252B"/>
                </a:solidFill>
                <a:latin typeface="Cambria"/>
              </a:rPr>
              <a:t>w</a:t>
            </a:r>
            <a:r>
              <a:rPr sz="1800" b="0" i="0">
                <a:solidFill>
                  <a:srgbClr val="1C252B"/>
                </a:solidFill>
                <a:latin typeface="Cambria"/>
              </a:rPr>
              <a:t> = (0.5, 0.5)</a:t>
            </a:r>
            <a:r>
              <a:rPr sz="1800" b="0" i="0">
                <a:solidFill>
                  <a:srgbClr val="1C252B"/>
                </a:solidFill>
                <a:latin typeface="Segoe UI"/>
              </a:rPr>
              <a:t>. The boundary is </a:t>
            </a:r>
            <a:r>
              <a:rPr sz="1800" b="0" i="0">
                <a:solidFill>
                  <a:srgbClr val="1C252B"/>
                </a:solidFill>
                <a:latin typeface="Cambria"/>
              </a:rPr>
              <a:t>0.5</a:t>
            </a:r>
            <a:r>
              <a:rPr sz="1800" b="0" i="1">
                <a:solidFill>
                  <a:srgbClr val="1C252B"/>
                </a:solidFill>
                <a:latin typeface="Cambria"/>
              </a:rPr>
              <a:t>x</a:t>
            </a:r>
            <a:r>
              <a:rPr sz="1800" b="0" i="0" baseline="-25000">
                <a:solidFill>
                  <a:srgbClr val="1C252B"/>
                </a:solidFill>
                <a:latin typeface="Cambria"/>
              </a:rPr>
              <a:t>1</a:t>
            </a:r>
            <a:r>
              <a:rPr sz="1800" b="0" i="0">
                <a:solidFill>
                  <a:srgbClr val="1C252B"/>
                </a:solidFill>
                <a:latin typeface="Cambria"/>
              </a:rPr>
              <a:t> + 0.5</a:t>
            </a:r>
            <a:r>
              <a:rPr sz="1800" b="0" i="1">
                <a:solidFill>
                  <a:srgbClr val="1C252B"/>
                </a:solidFill>
                <a:latin typeface="Cambria"/>
              </a:rPr>
              <a:t>x</a:t>
            </a:r>
            <a:r>
              <a:rPr sz="1800" b="0" i="0" baseline="-25000">
                <a:solidFill>
                  <a:srgbClr val="1C252B"/>
                </a:solidFill>
                <a:latin typeface="Cambria"/>
              </a:rPr>
              <a:t>2</a:t>
            </a:r>
            <a:r>
              <a:rPr sz="1800" b="0" i="0">
                <a:solidFill>
                  <a:srgbClr val="1C252B"/>
                </a:solidFill>
                <a:latin typeface="Cambria"/>
              </a:rPr>
              <a:t> − 1 = 0</a:t>
            </a:r>
            <a:r>
              <a:rPr sz="1800" b="0" i="0">
                <a:solidFill>
                  <a:srgbClr val="1C252B"/>
                </a:solidFill>
                <a:latin typeface="Segoe UI"/>
              </a:rPr>
              <a:t>, i.e. </a:t>
            </a:r>
            <a:r>
              <a:rPr sz="1800" b="0" i="1">
                <a:solidFill>
                  <a:srgbClr val="1C252B"/>
                </a:solidFill>
                <a:latin typeface="Cambria"/>
              </a:rPr>
              <a:t>x</a:t>
            </a:r>
            <a:r>
              <a:rPr sz="1800" b="0" i="0" baseline="-25000">
                <a:solidFill>
                  <a:srgbClr val="1C252B"/>
                </a:solidFill>
                <a:latin typeface="Cambria"/>
              </a:rPr>
              <a:t>1</a:t>
            </a:r>
            <a:r>
              <a:rPr sz="1800" b="0" i="0">
                <a:solidFill>
                  <a:srgbClr val="1C252B"/>
                </a:solidFill>
                <a:latin typeface="Cambria"/>
              </a:rPr>
              <a:t> + </a:t>
            </a:r>
            <a:r>
              <a:rPr sz="1800" b="0" i="1">
                <a:solidFill>
                  <a:srgbClr val="1C252B"/>
                </a:solidFill>
                <a:latin typeface="Cambria"/>
              </a:rPr>
              <a:t>x</a:t>
            </a:r>
            <a:r>
              <a:rPr sz="1800" b="0" i="0" baseline="-25000">
                <a:solidFill>
                  <a:srgbClr val="1C252B"/>
                </a:solidFill>
                <a:latin typeface="Cambria"/>
              </a:rPr>
              <a:t>2</a:t>
            </a:r>
            <a:r>
              <a:rPr sz="1800" b="0" i="0">
                <a:solidFill>
                  <a:srgbClr val="1C252B"/>
                </a:solidFill>
                <a:latin typeface="Cambria"/>
              </a:rPr>
              <a:t> = 2</a:t>
            </a:r>
            <a:r>
              <a:rPr sz="1800" b="0" i="0">
                <a:solidFill>
                  <a:srgbClr val="1C252B"/>
                </a:solidFill>
                <a:latin typeface="Segoe UI"/>
              </a:rPr>
              <a:t>.</a:t>
            </a:r>
          </a:p>
        </p:txBody>
      </p:sp>
      <p:sp>
        <p:nvSpPr>
          <p:cNvPr id="13" name="body-4"/>
          <p:cNvSpPr txBox="1"/>
          <p:nvPr/>
        </p:nvSpPr>
        <p:spPr>
          <a:xfrm>
            <a:off x="1042416" y="3963192"/>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Margin:</a:t>
            </a:r>
            <a:r>
              <a:rPr sz="1800" b="0" i="0">
                <a:solidFill>
                  <a:srgbClr val="1C252B"/>
                </a:solidFill>
                <a:latin typeface="Segoe UI"/>
              </a:rPr>
              <a:t> </a:t>
            </a:r>
            <a:r>
              <a:rPr sz="1800" b="0" i="0">
                <a:solidFill>
                  <a:srgbClr val="1C252B"/>
                </a:solidFill>
                <a:latin typeface="Cambria"/>
              </a:rPr>
              <a:t>‖</a:t>
            </a:r>
            <a:r>
              <a:rPr sz="1800" b="1" i="1">
                <a:solidFill>
                  <a:srgbClr val="1C252B"/>
                </a:solidFill>
                <a:latin typeface="Cambria"/>
              </a:rPr>
              <a:t>w</a:t>
            </a:r>
            <a:r>
              <a:rPr sz="1800" b="0" i="0">
                <a:solidFill>
                  <a:srgbClr val="1C252B"/>
                </a:solidFill>
                <a:latin typeface="Cambria"/>
              </a:rPr>
              <a:t>‖ = √(0.25 + 0.25) = 0.707</a:t>
            </a:r>
            <a:r>
              <a:rPr sz="1800" b="0" i="0">
                <a:solidFill>
                  <a:srgbClr val="1C252B"/>
                </a:solidFill>
                <a:latin typeface="Segoe UI"/>
              </a:rPr>
              <a:t>, so </a:t>
            </a:r>
            <a:r>
              <a:rPr sz="1800" b="0" i="0">
                <a:solidFill>
                  <a:srgbClr val="1C252B"/>
                </a:solidFill>
                <a:latin typeface="Cambria"/>
              </a:rPr>
              <a:t>2/‖</a:t>
            </a:r>
            <a:r>
              <a:rPr sz="1800" b="1" i="1">
                <a:solidFill>
                  <a:srgbClr val="1C252B"/>
                </a:solidFill>
                <a:latin typeface="Cambria"/>
              </a:rPr>
              <a:t>w</a:t>
            </a:r>
            <a:r>
              <a:rPr sz="1800" b="0" i="0">
                <a:solidFill>
                  <a:srgbClr val="1C252B"/>
                </a:solidFill>
                <a:latin typeface="Cambria"/>
              </a:rPr>
              <a:t>‖ = </a:t>
            </a:r>
            <a:r>
              <a:rPr sz="1800" b="1" i="0">
                <a:solidFill>
                  <a:srgbClr val="1C252B"/>
                </a:solidFill>
                <a:latin typeface="Cambria"/>
              </a:rPr>
              <a:t>2.83</a:t>
            </a:r>
            <a:r>
              <a:rPr sz="1800" b="0" i="0">
                <a:solidFill>
                  <a:srgbClr val="1C252B"/>
                </a:solidFill>
                <a:latin typeface="Segoe UI"/>
              </a:rPr>
              <a:t> — exactly the distance from </a:t>
            </a:r>
            <a:r>
              <a:rPr sz="1800" b="0" i="0">
                <a:solidFill>
                  <a:srgbClr val="1C252B"/>
                </a:solidFill>
                <a:latin typeface="Cambria"/>
              </a:rPr>
              <a:t>(0,0)</a:t>
            </a:r>
            <a:r>
              <a:rPr sz="1800" b="0" i="0">
                <a:solidFill>
                  <a:srgbClr val="1C252B"/>
                </a:solidFill>
                <a:latin typeface="Segoe UI"/>
              </a:rPr>
              <a:t> to </a:t>
            </a:r>
            <a:r>
              <a:rPr sz="1800" b="0" i="0">
                <a:solidFill>
                  <a:srgbClr val="1C252B"/>
                </a:solidFill>
                <a:latin typeface="Cambria"/>
              </a:rPr>
              <a:t>(2,2)</a:t>
            </a:r>
            <a:r>
              <a:rPr sz="1800" b="0" i="0">
                <a:solidFill>
                  <a:srgbClr val="1C252B"/>
                </a:solidFill>
                <a:latin typeface="Segoe UI"/>
              </a:rPr>
              <a:t>.</a:t>
            </a:r>
          </a:p>
        </p:txBody>
      </p:sp>
      <p:sp>
        <p:nvSpPr>
          <p:cNvPr id="14" name="body-4bar">
            <a:extLst>
              <a:ext uri="{C183D7F6-B498-43B3-948B-1728B52AA6E4}">
                <adec:decorative xmlns:adec="http://schemas.microsoft.com/office/drawing/2017/decorative" val="1"/>
              </a:ext>
            </a:extLst>
          </p:cNvPr>
          <p:cNvSpPr/>
          <p:nvPr/>
        </p:nvSpPr>
        <p:spPr>
          <a:xfrm>
            <a:off x="841248" y="3981480"/>
            <a:ext cx="54864" cy="267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4374215"/>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Check the constraints:</a:t>
            </a:r>
            <a:r>
              <a:rPr sz="1800" b="0" i="0">
                <a:solidFill>
                  <a:srgbClr val="1C252B"/>
                </a:solidFill>
                <a:latin typeface="Segoe UI"/>
              </a:rPr>
              <a:t> </a:t>
            </a:r>
            <a:r>
              <a:rPr sz="1800" b="0" i="0">
                <a:solidFill>
                  <a:srgbClr val="1C252B"/>
                </a:solidFill>
                <a:latin typeface="Cambria"/>
              </a:rPr>
              <a:t>(3,2)</a:t>
            </a:r>
            <a:r>
              <a:rPr sz="1800" b="0" i="0">
                <a:solidFill>
                  <a:srgbClr val="1C252B"/>
                </a:solidFill>
                <a:latin typeface="Segoe UI"/>
              </a:rPr>
              <a:t>: </a:t>
            </a:r>
            <a:r>
              <a:rPr sz="1800" b="0" i="1">
                <a:solidFill>
                  <a:srgbClr val="1C252B"/>
                </a:solidFill>
                <a:latin typeface="Cambria"/>
              </a:rPr>
              <a:t>f</a:t>
            </a:r>
            <a:r>
              <a:rPr sz="1800" b="0" i="0">
                <a:solidFill>
                  <a:srgbClr val="1C252B"/>
                </a:solidFill>
                <a:latin typeface="Cambria"/>
              </a:rPr>
              <a:t> = 1.5 ≥ 1</a:t>
            </a:r>
            <a:r>
              <a:rPr sz="1800" b="0" i="0">
                <a:solidFill>
                  <a:srgbClr val="1C252B"/>
                </a:solidFill>
                <a:latin typeface="Segoe UI"/>
              </a:rPr>
              <a:t>; </a:t>
            </a:r>
            <a:r>
              <a:rPr sz="1800" b="0" i="0">
                <a:solidFill>
                  <a:srgbClr val="1C252B"/>
                </a:solidFill>
                <a:latin typeface="Cambria"/>
              </a:rPr>
              <a:t>(2,4)</a:t>
            </a:r>
            <a:r>
              <a:rPr sz="1800" b="0" i="0">
                <a:solidFill>
                  <a:srgbClr val="1C252B"/>
                </a:solidFill>
                <a:latin typeface="Segoe UI"/>
              </a:rPr>
              <a:t>: </a:t>
            </a:r>
            <a:r>
              <a:rPr sz="1800" b="0" i="1">
                <a:solidFill>
                  <a:srgbClr val="1C252B"/>
                </a:solidFill>
                <a:latin typeface="Cambria"/>
              </a:rPr>
              <a:t>f</a:t>
            </a:r>
            <a:r>
              <a:rPr sz="1800" b="0" i="0">
                <a:solidFill>
                  <a:srgbClr val="1C252B"/>
                </a:solidFill>
                <a:latin typeface="Cambria"/>
              </a:rPr>
              <a:t> = 2 ≥ 1</a:t>
            </a:r>
            <a:r>
              <a:rPr sz="1800" b="0" i="0">
                <a:solidFill>
                  <a:srgbClr val="1C252B"/>
                </a:solidFill>
                <a:latin typeface="Segoe UI"/>
              </a:rPr>
              <a:t>; </a:t>
            </a:r>
            <a:r>
              <a:rPr sz="1800" b="0" i="0">
                <a:solidFill>
                  <a:srgbClr val="1C252B"/>
                </a:solidFill>
                <a:latin typeface="Cambria"/>
              </a:rPr>
              <a:t>(−1,−1)</a:t>
            </a:r>
            <a:r>
              <a:rPr sz="1800" b="0" i="0">
                <a:solidFill>
                  <a:srgbClr val="1C252B"/>
                </a:solidFill>
                <a:latin typeface="Segoe UI"/>
              </a:rPr>
              <a:t>: </a:t>
            </a:r>
            <a:r>
              <a:rPr sz="1800" b="0" i="1">
                <a:solidFill>
                  <a:srgbClr val="1C252B"/>
                </a:solidFill>
                <a:latin typeface="Cambria"/>
              </a:rPr>
              <a:t>f</a:t>
            </a:r>
            <a:r>
              <a:rPr sz="1800" b="0" i="0">
                <a:solidFill>
                  <a:srgbClr val="1C252B"/>
                </a:solidFill>
                <a:latin typeface="Cambria"/>
              </a:rPr>
              <a:t> = −2 ≤ −1</a:t>
            </a:r>
            <a:r>
              <a:rPr sz="1800" b="0" i="0">
                <a:solidFill>
                  <a:srgbClr val="1C252B"/>
                </a:solidFill>
                <a:latin typeface="Segoe UI"/>
              </a:rPr>
              <a:t>; </a:t>
            </a:r>
            <a:r>
              <a:rPr sz="1800" b="0" i="0">
                <a:solidFill>
                  <a:srgbClr val="1C252B"/>
                </a:solidFill>
                <a:latin typeface="Cambria"/>
              </a:rPr>
              <a:t>(1,−2)</a:t>
            </a:r>
            <a:r>
              <a:rPr sz="1800" b="0" i="0">
                <a:solidFill>
                  <a:srgbClr val="1C252B"/>
                </a:solidFill>
                <a:latin typeface="Segoe UI"/>
              </a:rPr>
              <a:t>: </a:t>
            </a:r>
            <a:r>
              <a:rPr sz="1800" b="0" i="1">
                <a:solidFill>
                  <a:srgbClr val="1C252B"/>
                </a:solidFill>
                <a:latin typeface="Cambria"/>
              </a:rPr>
              <a:t>f</a:t>
            </a:r>
            <a:r>
              <a:rPr sz="1800" b="0" i="0">
                <a:solidFill>
                  <a:srgbClr val="1C252B"/>
                </a:solidFill>
                <a:latin typeface="Cambria"/>
              </a:rPr>
              <a:t> = −1.5 ≤ −1</a:t>
            </a:r>
            <a:r>
              <a:rPr sz="1800" b="0" i="0">
                <a:solidFill>
                  <a:srgbClr val="1C252B"/>
                </a:solidFill>
                <a:latin typeface="Segoe UI"/>
              </a:rPr>
              <a:t>. All satisfied.</a:t>
            </a:r>
          </a:p>
        </p:txBody>
      </p:sp>
      <p:sp>
        <p:nvSpPr>
          <p:cNvPr id="16" name="body-5bar">
            <a:extLst>
              <a:ext uri="{C183D7F6-B498-43B3-948B-1728B52AA6E4}">
                <adec:decorative xmlns:adec="http://schemas.microsoft.com/office/drawing/2017/decorative" val="1"/>
              </a:ext>
            </a:extLst>
          </p:cNvPr>
          <p:cNvSpPr/>
          <p:nvPr/>
        </p:nvSpPr>
        <p:spPr>
          <a:xfrm>
            <a:off x="841248" y="4392503"/>
            <a:ext cx="54864" cy="55229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body-6"/>
          <p:cNvSpPr txBox="1"/>
          <p:nvPr/>
        </p:nvSpPr>
        <p:spPr>
          <a:xfrm>
            <a:off x="1042416" y="5070530"/>
            <a:ext cx="10234879"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Classify</a:t>
            </a:r>
            <a:r>
              <a:rPr sz="1800" b="0" i="0">
                <a:solidFill>
                  <a:srgbClr val="1C252B"/>
                </a:solidFill>
                <a:latin typeface="Segoe UI"/>
              </a:rPr>
              <a:t> </a:t>
            </a:r>
            <a:r>
              <a:rPr sz="1800" b="0" i="0">
                <a:solidFill>
                  <a:srgbClr val="1C252B"/>
                </a:solidFill>
                <a:latin typeface="Cambria"/>
              </a:rPr>
              <a:t>(1.5, 1)</a:t>
            </a:r>
            <a:r>
              <a:rPr sz="1800" b="0" i="0">
                <a:solidFill>
                  <a:srgbClr val="1C252B"/>
                </a:solidFill>
                <a:latin typeface="Segoe UI"/>
              </a:rPr>
              <a:t>: </a:t>
            </a:r>
            <a:r>
              <a:rPr sz="1800" b="0" i="1">
                <a:solidFill>
                  <a:srgbClr val="1C252B"/>
                </a:solidFill>
                <a:latin typeface="Cambria"/>
              </a:rPr>
              <a:t>f</a:t>
            </a:r>
            <a:r>
              <a:rPr sz="1800" b="0" i="0">
                <a:solidFill>
                  <a:srgbClr val="1C252B"/>
                </a:solidFill>
                <a:latin typeface="Cambria"/>
              </a:rPr>
              <a:t> = 0.75 + 0.5 − 1 = 0.25 &gt; 0</a:t>
            </a:r>
            <a:r>
              <a:rPr sz="1800" b="0" i="0">
                <a:solidFill>
                  <a:srgbClr val="1C252B"/>
                </a:solidFill>
                <a:latin typeface="Segoe UI"/>
              </a:rPr>
              <a:t>, so </a:t>
            </a:r>
            <a:r>
              <a:rPr sz="1800" b="1" i="0">
                <a:solidFill>
                  <a:srgbClr val="1C252B"/>
                </a:solidFill>
                <a:latin typeface="Segoe UI"/>
              </a:rPr>
              <a:t>positive</a:t>
            </a:r>
            <a:r>
              <a:rPr sz="1800" b="0" i="0">
                <a:solidFill>
                  <a:srgbClr val="1C252B"/>
                </a:solidFill>
                <a:latin typeface="Segoe UI"/>
              </a:rPr>
              <a:t>, at distance </a:t>
            </a:r>
            <a:r>
              <a:rPr sz="1800" b="0" i="0">
                <a:solidFill>
                  <a:srgbClr val="1C252B"/>
                </a:solidFill>
                <a:latin typeface="Cambria"/>
              </a:rPr>
              <a:t>0.25/0.707 = 0.35</a:t>
            </a:r>
            <a:r>
              <a:rPr sz="1800" b="0" i="0">
                <a:solidFill>
                  <a:srgbClr val="1C252B"/>
                </a:solidFill>
                <a:latin typeface="Segoe UI"/>
              </a:rPr>
              <a:t> from the boundary — inside the margin band, so a point the SVM is not confident about. scikit-learn’s </a:t>
            </a:r>
            <a:r>
              <a:rPr sz="1700" b="0" i="0">
                <a:solidFill>
                  <a:srgbClr val="1F4E79"/>
                </a:solidFill>
                <a:latin typeface="Consolas"/>
              </a:rPr>
              <a:t>SVC</a:t>
            </a:r>
            <a:r>
              <a:rPr sz="1800" b="0" i="0">
                <a:solidFill>
                  <a:srgbClr val="1C252B"/>
                </a:solidFill>
                <a:latin typeface="Segoe UI"/>
              </a:rPr>
              <a:t> returns the same </a:t>
            </a:r>
            <a:r>
              <a:rPr sz="1800" b="1" i="1">
                <a:solidFill>
                  <a:srgbClr val="1C252B"/>
                </a:solidFill>
                <a:latin typeface="Cambria"/>
              </a:rPr>
              <a:t>w</a:t>
            </a:r>
            <a:r>
              <a:rPr sz="1800" b="0" i="0">
                <a:solidFill>
                  <a:srgbClr val="1C252B"/>
                </a:solidFill>
                <a:latin typeface="Segoe UI"/>
              </a:rPr>
              <a:t>, </a:t>
            </a:r>
            <a:r>
              <a:rPr sz="1800" b="0" i="1">
                <a:solidFill>
                  <a:srgbClr val="1C252B"/>
                </a:solidFill>
                <a:latin typeface="Cambria"/>
              </a:rPr>
              <a:t>b</a:t>
            </a:r>
            <a:r>
              <a:rPr sz="1800" b="0" i="0">
                <a:solidFill>
                  <a:srgbClr val="1C252B"/>
                </a:solidFill>
                <a:latin typeface="Segoe UI"/>
              </a:rPr>
              <a:t> and support vectors (this chapter’s lab).</a:t>
            </a:r>
          </a:p>
        </p:txBody>
      </p:sp>
      <p:sp>
        <p:nvSpPr>
          <p:cNvPr id="18" name="body-6bar">
            <a:extLst>
              <a:ext uri="{C183D7F6-B498-43B3-948B-1728B52AA6E4}">
                <adec:decorative xmlns:adec="http://schemas.microsoft.com/office/drawing/2017/decorative" val="1"/>
              </a:ext>
            </a:extLst>
          </p:cNvPr>
          <p:cNvSpPr/>
          <p:nvPr/>
        </p:nvSpPr>
        <p:spPr>
          <a:xfrm>
            <a:off x="841248" y="5088818"/>
            <a:ext cx="54864" cy="83759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right)">
                                      <p:cBhvr>
                                        <p:cTn id="31" dur="42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right)">
                                      <p:cBhvr>
                                        <p:cTn id="39" dur="42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Soft Margins and the Hinge Loss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Which Line?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The Maximum-Margin Hyperplane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12.3   Soft Margins and the Hinge Loss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12.4   The Kernel Trick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Practicalities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§12.3     </a:t>
            </a:r>
            <a:fld id="{63A1EB96-7AE4-43BA-9913-AC31526F881A}" type="slidenum">
              <a:rPr lang="en-GB" sz="1000">
                <a:solidFill>
                  <a:srgbClr val="8795A1"/>
                </a:solidFill>
                <a:latin typeface="Segoe UI"/>
              </a:rPr>
              <a:t>11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Soft Margins and the Hinge Loss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90     </a:t>
            </a:r>
            <a:fld id="{6BB90BD3-7FEE-4142-B25A-EE06CC58E5BE}"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32663"/>
          </a:xfrm>
          <a:prstGeom prst="roundRect">
            <a:avLst>
              <a:gd name="adj" fmla="val 301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3266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Real data is rarely separable, and even when it is, one mislabelled point can drag the hard-margin boundary into a bad place. The </a:t>
            </a:r>
            <a:r>
              <a:rPr sz="2300" b="1" i="0">
                <a:solidFill>
                  <a:srgbClr val="1A5276"/>
                </a:solidFill>
                <a:latin typeface="Segoe UI"/>
              </a:rPr>
              <a:t>soft-margin</a:t>
            </a:r>
            <a:r>
              <a:rPr sz="2300" b="0" i="0">
                <a:solidFill>
                  <a:srgbClr val="1C252B"/>
                </a:solidFill>
                <a:latin typeface="Segoe UI"/>
              </a:rPr>
              <a:t> SVM lets points violate the margin at a price. Each point gets a </a:t>
            </a:r>
            <a:r>
              <a:rPr sz="2300" b="1" i="0">
                <a:solidFill>
                  <a:srgbClr val="1A5276"/>
                </a:solidFill>
                <a:latin typeface="Segoe UI"/>
              </a:rPr>
              <a:t>slack variable</a:t>
            </a:r>
            <a:r>
              <a:rPr sz="2300" b="0" i="0">
                <a:solidFill>
                  <a:srgbClr val="1C252B"/>
                </a:solidFill>
                <a:latin typeface="Segoe UI"/>
              </a:rPr>
              <a:t> </a:t>
            </a:r>
            <a:r>
              <a:rPr sz="2300" b="0" i="0">
                <a:solidFill>
                  <a:srgbClr val="1C252B"/>
                </a:solidFill>
                <a:latin typeface="Cambria"/>
              </a:rPr>
              <a:t>ξ</a:t>
            </a:r>
            <a:r>
              <a:rPr sz="2300" b="0" i="1" baseline="-25000">
                <a:solidFill>
                  <a:srgbClr val="1C252B"/>
                </a:solidFill>
                <a:latin typeface="Cambria"/>
              </a:rPr>
              <a:t>i</a:t>
            </a:r>
            <a:r>
              <a:rPr sz="2300" b="0" i="0">
                <a:solidFill>
                  <a:srgbClr val="1C252B"/>
                </a:solidFill>
                <a:latin typeface="Cambria"/>
              </a:rPr>
              <a:t> ≥ 0</a:t>
            </a:r>
            <a:r>
              <a:rPr sz="2300" b="0" i="0">
                <a:solidFill>
                  <a:srgbClr val="1C252B"/>
                </a:solidFill>
                <a:latin typeface="Segoe UI"/>
              </a:rPr>
              <a:t> measuring how far it is on the wrong side of its margin:</a:t>
            </a:r>
          </a:p>
        </p:txBody>
      </p:sp>
      <p:pic>
        <p:nvPicPr>
          <p:cNvPr id="10" name="body-1" descr="\min_{\mathbf{w}, b, \boldsymbol{\xi}}\ \tfrac{1}{2}\|\mathbf{w}\|^2 + C\sum_i \xi_i \quad\text{subject to}\quad y_i(\mathbf{w}\cdot\mathbf{x}_i + b) \ge 1 - \xi_i"/>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667074"/>
            <a:ext cx="10161727" cy="792053"/>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Hinge Loss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90     </a:t>
            </a:r>
            <a:fld id="{360086C7-4575-42E1-8637-378037D605E3}"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11035"/>
          </a:xfrm>
          <a:prstGeom prst="roundRect">
            <a:avLst>
              <a:gd name="adj" fmla="val 2279"/>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1103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At the optimum each slack equals </a:t>
            </a:r>
            <a:r>
              <a:rPr sz="2300" b="0" i="0">
                <a:solidFill>
                  <a:srgbClr val="1C252B"/>
                </a:solidFill>
                <a:latin typeface="Cambria"/>
              </a:rPr>
              <a:t>max(0, 1 − </a:t>
            </a:r>
            <a:r>
              <a:rPr sz="2300" b="0" i="1">
                <a:solidFill>
                  <a:srgbClr val="1C252B"/>
                </a:solidFill>
                <a:latin typeface="Cambria"/>
              </a:rPr>
              <a:t>y</a:t>
            </a:r>
            <a:r>
              <a:rPr sz="2300" b="0" i="1" baseline="-25000">
                <a:solidFill>
                  <a:srgbClr val="1C252B"/>
                </a:solidFill>
                <a:latin typeface="Cambria"/>
              </a:rPr>
              <a:t>i</a:t>
            </a:r>
            <a:r>
              <a:rPr sz="2300" b="0" i="0">
                <a:solidFill>
                  <a:srgbClr val="1C252B"/>
                </a:solidFill>
                <a:latin typeface="Cambria"/>
              </a:rPr>
              <a:t> </a:t>
            </a:r>
            <a:r>
              <a:rPr sz="2300" b="0" i="1">
                <a:solidFill>
                  <a:srgbClr val="1C252B"/>
                </a:solidFill>
                <a:latin typeface="Cambria"/>
              </a:rPr>
              <a:t>f</a:t>
            </a:r>
            <a:r>
              <a:rPr sz="2300" b="0" i="0">
                <a:solidFill>
                  <a:srgbClr val="1C252B"/>
                </a:solidFill>
                <a:latin typeface="Cambria"/>
              </a:rPr>
              <a:t>(</a:t>
            </a:r>
            <a:r>
              <a:rPr sz="2300" b="1" i="1">
                <a:solidFill>
                  <a:srgbClr val="1C252B"/>
                </a:solidFill>
                <a:latin typeface="Cambria"/>
              </a:rPr>
              <a:t>x</a:t>
            </a:r>
            <a:r>
              <a:rPr sz="2300" b="0" i="1" baseline="-25000">
                <a:solidFill>
                  <a:srgbClr val="1C252B"/>
                </a:solidFill>
                <a:latin typeface="Cambria"/>
              </a:rPr>
              <a:t>i</a:t>
            </a:r>
            <a:r>
              <a:rPr sz="2300" b="0" i="0">
                <a:solidFill>
                  <a:srgbClr val="1C252B"/>
                </a:solidFill>
                <a:latin typeface="Cambria"/>
              </a:rPr>
              <a:t>))</a:t>
            </a:r>
            <a:r>
              <a:rPr sz="2300" b="0" i="0">
                <a:solidFill>
                  <a:srgbClr val="1C252B"/>
                </a:solidFill>
                <a:latin typeface="Segoe UI"/>
              </a:rPr>
              <a:t>, so the soft-margin SVM is equivalent to minimising</a:t>
            </a:r>
          </a:p>
        </p:txBody>
      </p:sp>
      <p:pic>
        <p:nvPicPr>
          <p:cNvPr id="10" name="body-1" descr="\underbrace{\sum_i \max\big(0,\ 1 - y_i f(\mathbf{x}_i)\big)}_{\text{hinge loss}} \;+\; \frac{1}{2C}\|\mathbf{w}\|^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1245229"/>
          </a:xfrm>
          <a:prstGeom prst="rect">
            <a:avLst/>
          </a:prstGeom>
        </p:spPr>
      </p:pic>
      <p:sp>
        <p:nvSpPr>
          <p:cNvPr id="11" name="body-2"/>
          <p:cNvSpPr txBox="1"/>
          <p:nvPr/>
        </p:nvSpPr>
        <p:spPr>
          <a:xfrm>
            <a:off x="1060704" y="4343877"/>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 a loss plus an L2 penalty, the same shape as regularised logistic regression with the cross-entropy replaced by the </a:t>
            </a:r>
            <a:r>
              <a:rPr sz="2300" b="1" i="0">
                <a:solidFill>
                  <a:srgbClr val="1A5276"/>
                </a:solidFill>
                <a:latin typeface="Segoe UI"/>
              </a:rPr>
              <a:t>hinge</a:t>
            </a:r>
            <a:r>
              <a:rPr sz="2300" b="0" i="0">
                <a:solidFill>
                  <a:srgbClr val="1C252B"/>
                </a:solidFill>
                <a:latin typeface="Segoe UI"/>
              </a:rPr>
              <a:t>. Points beyond the margin on the correct side cost nothing.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losses as a function of y f(x), positive when the example is correctly classified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90     </a:t>
            </a:r>
            <a:fld id="{D1DC8D36-1CD0-4D74-A071-196B1AD949A6}" type="slidenum">
              <a:rPr lang="en-GB" sz="1000">
                <a:solidFill>
                  <a:srgbClr val="8795A1"/>
                </a:solidFill>
                <a:latin typeface="Segoe UI"/>
              </a:rPr>
              <a:t>14</a:t>
            </a:fld>
          </a:p>
        </p:txBody>
      </p:sp>
      <p:pic>
        <p:nvPicPr>
          <p:cNvPr id="6" name="!!figure" descr="Figure 12.2. Three losses as a function of y f(x), positive when the example is correctly classified. The hinge is exactly zero for points beyond the margin, which is why only support vectors affect the SVM; the logistic loss is never quite zero."/>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20182" y="1737360"/>
            <a:ext cx="675132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hinge is exactly zero for points beyond the margin, which is why only support vectors affect the SVM; the logistic loss is never quite zero.</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Hinge Losses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§12.3  ·  Handout p. 90     </a:t>
            </a:r>
            <a:fld id="{66375D18-6574-4AB9-9C59-5F0325A157F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84777"/>
          </a:xfrm>
          <a:prstGeom prst="roundRect">
            <a:avLst>
              <a:gd name="adj" fmla="val 24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8477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Four training points have margins </a:t>
            </a:r>
            <a:r>
              <a:rPr sz="2100" b="0" i="1">
                <a:solidFill>
                  <a:srgbClr val="1C252B"/>
                </a:solidFill>
                <a:latin typeface="Cambria"/>
              </a:rPr>
              <a:t>y</a:t>
            </a:r>
            <a:r>
              <a:rPr sz="2100" b="0" i="0">
                <a:solidFill>
                  <a:srgbClr val="1C252B"/>
                </a:solidFill>
                <a:latin typeface="Cambria"/>
              </a:rPr>
              <a:t> </a:t>
            </a:r>
            <a:r>
              <a:rPr sz="2100" b="0" i="1">
                <a:solidFill>
                  <a:srgbClr val="1C252B"/>
                </a:solidFill>
                <a:latin typeface="Cambria"/>
              </a:rPr>
              <a:t>f</a:t>
            </a:r>
            <a:r>
              <a:rPr sz="2100" b="0" i="0">
                <a:solidFill>
                  <a:srgbClr val="1C252B"/>
                </a:solidFill>
                <a:latin typeface="Cambria"/>
              </a:rPr>
              <a:t>(</a:t>
            </a:r>
            <a:r>
              <a:rPr sz="2100" b="1" i="1">
                <a:solidFill>
                  <a:srgbClr val="1C252B"/>
                </a:solidFill>
                <a:latin typeface="Cambria"/>
              </a:rPr>
              <a:t>x</a:t>
            </a:r>
            <a:r>
              <a:rPr sz="2100" b="0" i="0">
                <a:solidFill>
                  <a:srgbClr val="1C252B"/>
                </a:solidFill>
                <a:latin typeface="Cambria"/>
              </a:rPr>
              <a:t>) = 2, 1, 0.5, −0.5</a:t>
            </a:r>
            <a:r>
              <a:rPr sz="2100" b="0" i="0">
                <a:solidFill>
                  <a:srgbClr val="1C252B"/>
                </a:solidFill>
                <a:latin typeface="Segoe UI"/>
              </a:rPr>
              <a:t>:</a:t>
            </a:r>
          </a:p>
        </p:txBody>
      </p:sp>
      <p:sp>
        <p:nvSpPr>
          <p:cNvPr id="10" name="body-1"/>
          <p:cNvSpPr txBox="1"/>
          <p:nvPr/>
        </p:nvSpPr>
        <p:spPr>
          <a:xfrm>
            <a:off x="1042416" y="2491206"/>
            <a:ext cx="10234879" cy="165712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1">
                <a:solidFill>
                  <a:srgbClr val="1C252B"/>
                </a:solidFill>
                <a:latin typeface="Cambria"/>
              </a:rPr>
              <a:t>y</a:t>
            </a:r>
            <a:r>
              <a:rPr sz="2100" b="0" i="0">
                <a:solidFill>
                  <a:srgbClr val="1C252B"/>
                </a:solidFill>
                <a:latin typeface="Cambria"/>
              </a:rPr>
              <a:t> </a:t>
            </a:r>
            <a:r>
              <a:rPr sz="2100" b="0" i="1">
                <a:solidFill>
                  <a:srgbClr val="1C252B"/>
                </a:solidFill>
                <a:latin typeface="Cambria"/>
              </a:rPr>
              <a:t>f</a:t>
            </a:r>
            <a:r>
              <a:rPr sz="2100" b="0" i="0">
                <a:solidFill>
                  <a:srgbClr val="1C252B"/>
                </a:solidFill>
                <a:latin typeface="Cambria"/>
              </a:rPr>
              <a:t> = 2</a:t>
            </a:r>
            <a:r>
              <a:rPr sz="2100" b="0" i="0">
                <a:solidFill>
                  <a:srgbClr val="1C252B"/>
                </a:solidFill>
                <a:latin typeface="Segoe UI"/>
              </a:rPr>
              <a:t>: </a:t>
            </a:r>
            <a:r>
              <a:rPr sz="2100" b="0" i="0">
                <a:solidFill>
                  <a:srgbClr val="1C252B"/>
                </a:solidFill>
                <a:latin typeface="Cambria"/>
              </a:rPr>
              <a:t>max(0, 1 − 2) = </a:t>
            </a:r>
            <a:r>
              <a:rPr sz="2100" b="1" i="0">
                <a:solidFill>
                  <a:srgbClr val="1C252B"/>
                </a:solidFill>
                <a:latin typeface="Cambria"/>
              </a:rPr>
              <a:t>0</a:t>
            </a:r>
            <a:r>
              <a:rPr sz="2100" b="0" i="0">
                <a:solidFill>
                  <a:srgbClr val="1C252B"/>
                </a:solidFill>
                <a:latin typeface="Segoe UI"/>
              </a:rPr>
              <a:t> — well clear; irrelevant to the solution.</a:t>
            </a:r>
          </a:p>
          <a:p>
            <a:pPr algn="l" marL="234813" indent="-234813">
              <a:lnSpc>
                <a:spcPct val="104000"/>
              </a:lnSpc>
              <a:spcBef>
                <a:spcPts val="0"/>
              </a:spcBef>
              <a:spcAft>
                <a:spcPts val="735"/>
              </a:spcAft>
            </a:pPr>
            <a:r>
              <a:rPr sz="2100" b="1">
                <a:solidFill>
                  <a:srgbClr val="7D6608"/>
                </a:solidFill>
                <a:latin typeface="Segoe UI"/>
              </a:rPr>
              <a:t>•	</a:t>
            </a:r>
            <a:r>
              <a:rPr sz="2100" b="0" i="1">
                <a:solidFill>
                  <a:srgbClr val="1C252B"/>
                </a:solidFill>
                <a:latin typeface="Cambria"/>
              </a:rPr>
              <a:t>y</a:t>
            </a:r>
            <a:r>
              <a:rPr sz="2100" b="0" i="0">
                <a:solidFill>
                  <a:srgbClr val="1C252B"/>
                </a:solidFill>
                <a:latin typeface="Cambria"/>
              </a:rPr>
              <a:t> </a:t>
            </a:r>
            <a:r>
              <a:rPr sz="2100" b="0" i="1">
                <a:solidFill>
                  <a:srgbClr val="1C252B"/>
                </a:solidFill>
                <a:latin typeface="Cambria"/>
              </a:rPr>
              <a:t>f</a:t>
            </a:r>
            <a:r>
              <a:rPr sz="2100" b="0" i="0">
                <a:solidFill>
                  <a:srgbClr val="1C252B"/>
                </a:solidFill>
                <a:latin typeface="Cambria"/>
              </a:rPr>
              <a:t> = 1</a:t>
            </a:r>
            <a:r>
              <a:rPr sz="2100" b="0" i="0">
                <a:solidFill>
                  <a:srgbClr val="1C252B"/>
                </a:solidFill>
                <a:latin typeface="Segoe UI"/>
              </a:rPr>
              <a:t>: </a:t>
            </a:r>
            <a:r>
              <a:rPr sz="2100" b="0" i="0">
                <a:solidFill>
                  <a:srgbClr val="1C252B"/>
                </a:solidFill>
                <a:latin typeface="Cambria"/>
              </a:rPr>
              <a:t>max(0, 0) = </a:t>
            </a:r>
            <a:r>
              <a:rPr sz="2100" b="1" i="0">
                <a:solidFill>
                  <a:srgbClr val="1C252B"/>
                </a:solidFill>
                <a:latin typeface="Cambria"/>
              </a:rPr>
              <a:t>0</a:t>
            </a:r>
            <a:r>
              <a:rPr sz="2100" b="0" i="0">
                <a:solidFill>
                  <a:srgbClr val="1C252B"/>
                </a:solidFill>
                <a:latin typeface="Segoe UI"/>
              </a:rPr>
              <a:t> — exactly on the margin; a support vector.</a:t>
            </a:r>
          </a:p>
          <a:p>
            <a:pPr algn="l" marL="234813" indent="-234813">
              <a:lnSpc>
                <a:spcPct val="104000"/>
              </a:lnSpc>
              <a:spcBef>
                <a:spcPts val="0"/>
              </a:spcBef>
              <a:spcAft>
                <a:spcPts val="735"/>
              </a:spcAft>
            </a:pPr>
            <a:r>
              <a:rPr sz="2100" b="1">
                <a:solidFill>
                  <a:srgbClr val="7D6608"/>
                </a:solidFill>
                <a:latin typeface="Segoe UI"/>
              </a:rPr>
              <a:t>•	</a:t>
            </a:r>
            <a:r>
              <a:rPr sz="2100" b="0" i="1">
                <a:solidFill>
                  <a:srgbClr val="1C252B"/>
                </a:solidFill>
                <a:latin typeface="Cambria"/>
              </a:rPr>
              <a:t>y</a:t>
            </a:r>
            <a:r>
              <a:rPr sz="2100" b="0" i="0">
                <a:solidFill>
                  <a:srgbClr val="1C252B"/>
                </a:solidFill>
                <a:latin typeface="Cambria"/>
              </a:rPr>
              <a:t> </a:t>
            </a:r>
            <a:r>
              <a:rPr sz="2100" b="0" i="1">
                <a:solidFill>
                  <a:srgbClr val="1C252B"/>
                </a:solidFill>
                <a:latin typeface="Cambria"/>
              </a:rPr>
              <a:t>f</a:t>
            </a:r>
            <a:r>
              <a:rPr sz="2100" b="0" i="0">
                <a:solidFill>
                  <a:srgbClr val="1C252B"/>
                </a:solidFill>
                <a:latin typeface="Cambria"/>
              </a:rPr>
              <a:t> = 0.5</a:t>
            </a:r>
            <a:r>
              <a:rPr sz="2100" b="0" i="0">
                <a:solidFill>
                  <a:srgbClr val="1C252B"/>
                </a:solidFill>
                <a:latin typeface="Segoe UI"/>
              </a:rPr>
              <a:t>: </a:t>
            </a:r>
            <a:r>
              <a:rPr sz="2100" b="1" i="0">
                <a:solidFill>
                  <a:srgbClr val="1C252B"/>
                </a:solidFill>
                <a:latin typeface="Cambria"/>
              </a:rPr>
              <a:t>0.5</a:t>
            </a:r>
            <a:r>
              <a:rPr sz="2100" b="0" i="0">
                <a:solidFill>
                  <a:srgbClr val="1C252B"/>
                </a:solidFill>
                <a:latin typeface="Segoe UI"/>
              </a:rPr>
              <a:t> — correctly classified but inside the margin.</a:t>
            </a:r>
          </a:p>
          <a:p>
            <a:pPr algn="l" marL="234813" indent="-234813">
              <a:lnSpc>
                <a:spcPct val="104000"/>
              </a:lnSpc>
              <a:spcBef>
                <a:spcPts val="0"/>
              </a:spcBef>
              <a:spcAft>
                <a:spcPts val="0"/>
              </a:spcAft>
            </a:pPr>
            <a:r>
              <a:rPr sz="2100" b="1">
                <a:solidFill>
                  <a:srgbClr val="7D6608"/>
                </a:solidFill>
                <a:latin typeface="Segoe UI"/>
              </a:rPr>
              <a:t>•	</a:t>
            </a:r>
            <a:r>
              <a:rPr sz="2100" b="0" i="1">
                <a:solidFill>
                  <a:srgbClr val="1C252B"/>
                </a:solidFill>
                <a:latin typeface="Cambria"/>
              </a:rPr>
              <a:t>y</a:t>
            </a:r>
            <a:r>
              <a:rPr sz="2100" b="0" i="0">
                <a:solidFill>
                  <a:srgbClr val="1C252B"/>
                </a:solidFill>
                <a:latin typeface="Cambria"/>
              </a:rPr>
              <a:t> </a:t>
            </a:r>
            <a:r>
              <a:rPr sz="2100" b="0" i="1">
                <a:solidFill>
                  <a:srgbClr val="1C252B"/>
                </a:solidFill>
                <a:latin typeface="Cambria"/>
              </a:rPr>
              <a:t>f</a:t>
            </a:r>
            <a:r>
              <a:rPr sz="2100" b="0" i="0">
                <a:solidFill>
                  <a:srgbClr val="1C252B"/>
                </a:solidFill>
                <a:latin typeface="Cambria"/>
              </a:rPr>
              <a:t> = −0.5</a:t>
            </a:r>
            <a:r>
              <a:rPr sz="2100" b="0" i="0">
                <a:solidFill>
                  <a:srgbClr val="1C252B"/>
                </a:solidFill>
                <a:latin typeface="Segoe UI"/>
              </a:rPr>
              <a:t>: </a:t>
            </a:r>
            <a:r>
              <a:rPr sz="2100" b="1" i="0">
                <a:solidFill>
                  <a:srgbClr val="1C252B"/>
                </a:solidFill>
                <a:latin typeface="Cambria"/>
              </a:rPr>
              <a:t>1.5</a:t>
            </a:r>
            <a:r>
              <a:rPr sz="2100" b="0" i="0">
                <a:solidFill>
                  <a:srgbClr val="1C252B"/>
                </a:solidFill>
                <a:latin typeface="Segoe UI"/>
              </a:rPr>
              <a:t> — misclassified.</a:t>
            </a:r>
          </a:p>
        </p:txBody>
      </p:sp>
      <p:sp>
        <p:nvSpPr>
          <p:cNvPr id="11" name="body-2"/>
          <p:cNvSpPr txBox="1"/>
          <p:nvPr/>
        </p:nvSpPr>
        <p:spPr>
          <a:xfrm>
            <a:off x="1042416" y="4249292"/>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last three all influence the boundary; the first does not. With </a:t>
            </a:r>
            <a:r>
              <a:rPr sz="2100" b="0" i="1">
                <a:solidFill>
                  <a:srgbClr val="1C252B"/>
                </a:solidFill>
                <a:latin typeface="Cambria"/>
              </a:rPr>
              <a:t>C</a:t>
            </a:r>
            <a:r>
              <a:rPr sz="2100" b="0" i="0">
                <a:solidFill>
                  <a:srgbClr val="1C252B"/>
                </a:solidFill>
                <a:latin typeface="Segoe UI"/>
              </a:rPr>
              <a:t> large the optimiser will work hard to remove the last two losses; with </a:t>
            </a:r>
            <a:r>
              <a:rPr sz="2100" b="0" i="1">
                <a:solidFill>
                  <a:srgbClr val="1C252B"/>
                </a:solidFill>
                <a:latin typeface="Cambria"/>
              </a:rPr>
              <a:t>C</a:t>
            </a:r>
            <a:r>
              <a:rPr sz="2100" b="0" i="0">
                <a:solidFill>
                  <a:srgbClr val="1C252B"/>
                </a:solidFill>
                <a:latin typeface="Segoe UI"/>
              </a:rPr>
              <a:t> small it will accept them for a wider margin.</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Kernel Trick</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12.4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12.1   Which Line?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12.2   The Maximum-Margin Hyperplane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12.3   Soft Margins and the Hinge Loss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12.4   The Kernel Trick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12.5   Practicalities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§12.4     </a:t>
            </a:r>
            <a:fld id="{3E608401-E1B8-4901-8135-E2E121D9EBB1}" type="slidenum">
              <a:rPr lang="en-GB" sz="1000">
                <a:solidFill>
                  <a:srgbClr val="8795A1"/>
                </a:solidFill>
                <a:latin typeface="Segoe UI"/>
              </a:rPr>
              <a:t>16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Lifting data into more dimensions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12.3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91     </a:t>
            </a:r>
            <a:fld id="{9A080B76-FC3E-4051-90A6-E0947F6FCBBC}" type="slidenum">
              <a:rPr lang="en-GB" sz="1000">
                <a:solidFill>
                  <a:srgbClr val="8795A1"/>
                </a:solidFill>
                <a:latin typeface="Segoe UI"/>
              </a:rPr>
              <a:t>17</a:t>
            </a:fld>
          </a:p>
        </p:txBody>
      </p:sp>
      <p:pic>
        <p:nvPicPr>
          <p:cNvPr id="6" name="!!figure" descr="Figure 12.3. Lifting data into more dimensions. The inner class (blue) and the outer class (red) cannot be separated on the line, but after adding x2 as a second feature a horizontal line separates them; in the original space that line is two threshold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02427"/>
            <a:ext cx="10874959" cy="336869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inner class (blue) and the outer class (red) cannot be separated on the line, but after adding x2 as a second feature a horizontal line separates them; in the original space that line is two thresholds.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Kernel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91     </a:t>
            </a:r>
            <a:fld id="{DB339950-4B57-4C1B-B7D2-E6EBC5EF51C4}"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7064"/>
          </a:xfrm>
          <a:prstGeom prst="roundRect">
            <a:avLst>
              <a:gd name="adj" fmla="val 20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706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kernel</a:t>
            </a:r>
            <a:r>
              <a:rPr sz="2200" b="0" i="0">
                <a:solidFill>
                  <a:srgbClr val="1C252B"/>
                </a:solidFill>
                <a:latin typeface="Segoe UI"/>
              </a:rPr>
              <a:t> is a function </a:t>
            </a:r>
            <a:r>
              <a:rPr sz="2200" b="0" i="1">
                <a:solidFill>
                  <a:srgbClr val="1C252B"/>
                </a:solidFill>
                <a:latin typeface="Cambria"/>
              </a:rPr>
              <a:t>K</a:t>
            </a:r>
            <a:r>
              <a:rPr sz="2200" b="0" i="0">
                <a:solidFill>
                  <a:srgbClr val="1C252B"/>
                </a:solidFill>
                <a:latin typeface="Cambria"/>
              </a:rPr>
              <a:t>(</a:t>
            </a:r>
            <a:r>
              <a:rPr sz="2200" b="1" i="1">
                <a:solidFill>
                  <a:srgbClr val="1C252B"/>
                </a:solidFill>
                <a:latin typeface="Cambria"/>
              </a:rPr>
              <a:t>x</a:t>
            </a:r>
            <a:r>
              <a:rPr sz="2200" b="0" i="0">
                <a:solidFill>
                  <a:srgbClr val="1C252B"/>
                </a:solidFill>
                <a:latin typeface="Cambria"/>
              </a:rPr>
              <a:t>, </a:t>
            </a:r>
            <a:r>
              <a:rPr sz="2200" b="1" i="1">
                <a:solidFill>
                  <a:srgbClr val="1C252B"/>
                </a:solidFill>
                <a:latin typeface="Cambria"/>
              </a:rPr>
              <a:t>z</a:t>
            </a:r>
            <a:r>
              <a:rPr sz="2200" b="0" i="0">
                <a:solidFill>
                  <a:srgbClr val="1C252B"/>
                </a:solidFill>
                <a:latin typeface="Cambria"/>
              </a:rPr>
              <a:t>)</a:t>
            </a:r>
            <a:r>
              <a:rPr sz="2200" b="0" i="0">
                <a:solidFill>
                  <a:srgbClr val="1C252B"/>
                </a:solidFill>
                <a:latin typeface="Segoe UI"/>
              </a:rPr>
              <a:t> that equals the dot product </a:t>
            </a:r>
            <a:r>
              <a:rPr sz="2200" b="0" i="0">
                <a:solidFill>
                  <a:srgbClr val="1C252B"/>
                </a:solidFill>
                <a:latin typeface="Cambria"/>
              </a:rPr>
              <a:t>φ(</a:t>
            </a:r>
            <a:r>
              <a:rPr sz="2200" b="1" i="1">
                <a:solidFill>
                  <a:srgbClr val="1C252B"/>
                </a:solidFill>
                <a:latin typeface="Cambria"/>
              </a:rPr>
              <a:t>x</a:t>
            </a:r>
            <a:r>
              <a:rPr sz="2200" b="0" i="0">
                <a:solidFill>
                  <a:srgbClr val="1C252B"/>
                </a:solidFill>
                <a:latin typeface="Cambria"/>
              </a:rPr>
              <a:t>)·φ(</a:t>
            </a:r>
            <a:r>
              <a:rPr sz="2200" b="1" i="1">
                <a:solidFill>
                  <a:srgbClr val="1C252B"/>
                </a:solidFill>
                <a:latin typeface="Cambria"/>
              </a:rPr>
              <a:t>z</a:t>
            </a:r>
            <a:r>
              <a:rPr sz="2200" b="0" i="0">
                <a:solidFill>
                  <a:srgbClr val="1C252B"/>
                </a:solidFill>
                <a:latin typeface="Cambria"/>
              </a:rPr>
              <a:t>)</a:t>
            </a:r>
            <a:r>
              <a:rPr sz="2200" b="0" i="0">
                <a:solidFill>
                  <a:srgbClr val="1C252B"/>
                </a:solidFill>
                <a:latin typeface="Segoe UI"/>
              </a:rPr>
              <a:t> in some </a:t>
            </a:r>
            <a:r>
              <a:rPr sz="2200" b="1" i="0">
                <a:solidFill>
                  <a:srgbClr val="1A5276"/>
                </a:solidFill>
                <a:latin typeface="Segoe UI"/>
              </a:rPr>
              <a:t>feature space</a:t>
            </a:r>
            <a:r>
              <a:rPr sz="2200" b="0" i="0">
                <a:solidFill>
                  <a:srgbClr val="1C252B"/>
                </a:solidFill>
                <a:latin typeface="Segoe UI"/>
              </a:rPr>
              <a:t> </a:t>
            </a:r>
            <a:r>
              <a:rPr sz="2200" b="0" i="0">
                <a:solidFill>
                  <a:srgbClr val="1C252B"/>
                </a:solidFill>
                <a:latin typeface="Cambria"/>
              </a:rPr>
              <a:t>φ</a:t>
            </a:r>
            <a:r>
              <a:rPr sz="2200" b="0" i="0">
                <a:solidFill>
                  <a:srgbClr val="1C252B"/>
                </a:solidFill>
                <a:latin typeface="Segoe UI"/>
              </a:rPr>
              <a:t>, but is computed without ever constructing </a:t>
            </a:r>
            <a:r>
              <a:rPr sz="2200" b="0" i="0">
                <a:solidFill>
                  <a:srgbClr val="1C252B"/>
                </a:solidFill>
                <a:latin typeface="Cambria"/>
              </a:rPr>
              <a:t>φ</a:t>
            </a:r>
            <a:r>
              <a:rPr sz="2200" b="0" i="0">
                <a:solidFill>
                  <a:srgbClr val="1C252B"/>
                </a:solidFill>
                <a:latin typeface="Segoe UI"/>
              </a:rPr>
              <a:t>. Because the SVM’s optimisation and its decision function use the data only through dot products,</a:t>
            </a:r>
          </a:p>
        </p:txBody>
      </p:sp>
      <p:pic>
        <p:nvPicPr>
          <p:cNvPr id="10" name="body-1" descr="f(\mathbf{x}) = \sum_{i \in \text{SV}} \alpha_i\, y_i\, K(\mathbf{x}_i, \mathbf{x}) + 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596690"/>
            <a:ext cx="10161727" cy="758403"/>
          </a:xfrm>
          <a:prstGeom prst="rect">
            <a:avLst/>
          </a:prstGeom>
        </p:spPr>
      </p:pic>
      <p:sp>
        <p:nvSpPr>
          <p:cNvPr id="11" name="body-2"/>
          <p:cNvSpPr txBox="1"/>
          <p:nvPr/>
        </p:nvSpPr>
        <p:spPr>
          <a:xfrm>
            <a:off x="1060704" y="4508764"/>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replacing every dot product by a kernel fits a linear boundary in the feature space — a non-linear boundary in the original one — at the cost of computing </a:t>
            </a:r>
            <a:r>
              <a:rPr sz="2200" b="0" i="1">
                <a:solidFill>
                  <a:srgbClr val="1C252B"/>
                </a:solidFill>
                <a:latin typeface="Cambria"/>
              </a:rPr>
              <a:t>K</a:t>
            </a:r>
            <a:r>
              <a:rPr sz="2200" b="0" i="0">
                <a:solidFill>
                  <a:srgbClr val="1C252B"/>
                </a:solidFill>
                <a:latin typeface="Segoe UI"/>
              </a:rPr>
              <a:t>. This is the </a:t>
            </a:r>
            <a:r>
              <a:rPr sz="2200" b="1" i="0">
                <a:solidFill>
                  <a:srgbClr val="1A5276"/>
                </a:solidFill>
                <a:latin typeface="Segoe UI"/>
              </a:rPr>
              <a:t>kernel trick</a:t>
            </a:r>
            <a:r>
              <a:rPr sz="2200" b="0" i="0">
                <a:solidFill>
                  <a:srgbClr val="1C252B"/>
                </a:solidFill>
                <a:latin typeface="Segoe UI"/>
              </a:rPr>
              <a:t>. The sum runs over support vectors only: all other </a:t>
            </a:r>
            <a:r>
              <a:rPr sz="2200" b="0" i="0">
                <a:solidFill>
                  <a:srgbClr val="1C252B"/>
                </a:solidFill>
                <a:latin typeface="Cambria"/>
              </a:rPr>
              <a:t>α</a:t>
            </a:r>
            <a:r>
              <a:rPr sz="2200" b="0" i="1" baseline="-25000">
                <a:solidFill>
                  <a:srgbClr val="1C252B"/>
                </a:solidFill>
                <a:latin typeface="Cambria"/>
              </a:rPr>
              <a:t>i</a:t>
            </a:r>
            <a:r>
              <a:rPr sz="2200" b="0" i="0">
                <a:solidFill>
                  <a:srgbClr val="1C252B"/>
                </a:solidFill>
                <a:latin typeface="Segoe UI"/>
              </a:rPr>
              <a:t> are zero.</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Kernel Computes the Big Dot Product Cheaply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91     </a:t>
            </a:r>
            <a:fld id="{F903EFA6-6ED3-483F-A5B2-96221E754202}"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35400"/>
          </a:xfrm>
          <a:prstGeom prst="roundRect">
            <a:avLst>
              <a:gd name="adj" fmla="val 244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354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Take </a:t>
            </a:r>
            <a:r>
              <a:rPr sz="2100" b="0" i="1">
                <a:solidFill>
                  <a:srgbClr val="1C252B"/>
                </a:solidFill>
                <a:latin typeface="Cambria"/>
              </a:rPr>
              <a:t>K</a:t>
            </a:r>
            <a:r>
              <a:rPr sz="2100" b="0" i="0">
                <a:solidFill>
                  <a:srgbClr val="1C252B"/>
                </a:solidFill>
                <a:latin typeface="Cambria"/>
              </a:rPr>
              <a:t>(</a:t>
            </a:r>
            <a:r>
              <a:rPr sz="2100" b="1" i="1">
                <a:solidFill>
                  <a:srgbClr val="1C252B"/>
                </a:solidFill>
                <a:latin typeface="Cambria"/>
              </a:rPr>
              <a:t>x</a:t>
            </a:r>
            <a:r>
              <a:rPr sz="2100" b="0" i="0">
                <a:solidFill>
                  <a:srgbClr val="1C252B"/>
                </a:solidFill>
                <a:latin typeface="Cambria"/>
              </a:rPr>
              <a:t>, </a:t>
            </a:r>
            <a:r>
              <a:rPr sz="2100" b="1" i="1">
                <a:solidFill>
                  <a:srgbClr val="1C252B"/>
                </a:solidFill>
                <a:latin typeface="Cambria"/>
              </a:rPr>
              <a:t>z</a:t>
            </a:r>
            <a:r>
              <a:rPr sz="2100" b="0" i="0">
                <a:solidFill>
                  <a:srgbClr val="1C252B"/>
                </a:solidFill>
                <a:latin typeface="Cambria"/>
              </a:rPr>
              <a:t>) = (</a:t>
            </a:r>
            <a:r>
              <a:rPr sz="2100" b="1" i="1">
                <a:solidFill>
                  <a:srgbClr val="1C252B"/>
                </a:solidFill>
                <a:latin typeface="Cambria"/>
              </a:rPr>
              <a:t>x</a:t>
            </a:r>
            <a:r>
              <a:rPr sz="2100" b="0" i="0">
                <a:solidFill>
                  <a:srgbClr val="1C252B"/>
                </a:solidFill>
                <a:latin typeface="Cambria"/>
              </a:rPr>
              <a:t>·</a:t>
            </a:r>
            <a:r>
              <a:rPr sz="2100" b="1" i="1">
                <a:solidFill>
                  <a:srgbClr val="1C252B"/>
                </a:solidFill>
                <a:latin typeface="Cambria"/>
              </a:rPr>
              <a:t>z</a:t>
            </a:r>
            <a:r>
              <a:rPr sz="2100" b="0" i="0">
                <a:solidFill>
                  <a:srgbClr val="1C252B"/>
                </a:solidFill>
                <a:latin typeface="Cambria"/>
              </a:rPr>
              <a:t>)</a:t>
            </a:r>
            <a:r>
              <a:rPr sz="2100" b="0" i="0" baseline="30000">
                <a:solidFill>
                  <a:srgbClr val="1C252B"/>
                </a:solidFill>
                <a:latin typeface="Cambria"/>
              </a:rPr>
              <a:t>2</a:t>
            </a:r>
            <a:r>
              <a:rPr sz="2100" b="0" i="0">
                <a:solidFill>
                  <a:srgbClr val="1C252B"/>
                </a:solidFill>
                <a:latin typeface="Segoe UI"/>
              </a:rPr>
              <a:t> in two dimensions, and </a:t>
            </a:r>
            <a:r>
              <a:rPr sz="2100" b="1" i="1">
                <a:solidFill>
                  <a:srgbClr val="1C252B"/>
                </a:solidFill>
                <a:latin typeface="Cambria"/>
              </a:rPr>
              <a:t>x</a:t>
            </a:r>
            <a:r>
              <a:rPr sz="2100" b="0" i="0">
                <a:solidFill>
                  <a:srgbClr val="1C252B"/>
                </a:solidFill>
                <a:latin typeface="Cambria"/>
              </a:rPr>
              <a:t> = (1, 2)</a:t>
            </a:r>
            <a:r>
              <a:rPr sz="2100" b="0" i="0">
                <a:solidFill>
                  <a:srgbClr val="1C252B"/>
                </a:solidFill>
                <a:latin typeface="Segoe UI"/>
              </a:rPr>
              <a:t>, </a:t>
            </a:r>
            <a:r>
              <a:rPr sz="2100" b="1" i="1">
                <a:solidFill>
                  <a:srgbClr val="1C252B"/>
                </a:solidFill>
                <a:latin typeface="Cambria"/>
              </a:rPr>
              <a:t>z</a:t>
            </a:r>
            <a:r>
              <a:rPr sz="2100" b="0" i="0">
                <a:solidFill>
                  <a:srgbClr val="1C252B"/>
                </a:solidFill>
                <a:latin typeface="Cambria"/>
              </a:rPr>
              <a:t> = (3, 1)</a:t>
            </a:r>
            <a:r>
              <a:rPr sz="2100" b="0" i="0">
                <a:solidFill>
                  <a:srgbClr val="1C252B"/>
                </a:solidFill>
                <a:latin typeface="Segoe UI"/>
              </a:rPr>
              <a:t>.</a:t>
            </a:r>
          </a:p>
        </p:txBody>
      </p:sp>
      <p:sp>
        <p:nvSpPr>
          <p:cNvPr id="10" name="body-1"/>
          <p:cNvSpPr txBox="1"/>
          <p:nvPr/>
        </p:nvSpPr>
        <p:spPr>
          <a:xfrm>
            <a:off x="1042416" y="2491206"/>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The kernel:</a:t>
            </a:r>
            <a:r>
              <a:rPr sz="2100" b="0" i="0">
                <a:solidFill>
                  <a:srgbClr val="1C252B"/>
                </a:solidFill>
                <a:latin typeface="Segoe UI"/>
              </a:rPr>
              <a:t> </a:t>
            </a:r>
            <a:r>
              <a:rPr sz="2100" b="1" i="1">
                <a:solidFill>
                  <a:srgbClr val="1C252B"/>
                </a:solidFill>
                <a:latin typeface="Cambria"/>
              </a:rPr>
              <a:t>x</a:t>
            </a:r>
            <a:r>
              <a:rPr sz="2100" b="0" i="0">
                <a:solidFill>
                  <a:srgbClr val="1C252B"/>
                </a:solidFill>
                <a:latin typeface="Cambria"/>
              </a:rPr>
              <a:t>·</a:t>
            </a:r>
            <a:r>
              <a:rPr sz="2100" b="1" i="1">
                <a:solidFill>
                  <a:srgbClr val="1C252B"/>
                </a:solidFill>
                <a:latin typeface="Cambria"/>
              </a:rPr>
              <a:t>z</a:t>
            </a:r>
            <a:r>
              <a:rPr sz="2100" b="0" i="0">
                <a:solidFill>
                  <a:srgbClr val="1C252B"/>
                </a:solidFill>
                <a:latin typeface="Cambria"/>
              </a:rPr>
              <a:t> = 3 + 2 = 5</a:t>
            </a:r>
            <a:r>
              <a:rPr sz="2100" b="0" i="0">
                <a:solidFill>
                  <a:srgbClr val="1C252B"/>
                </a:solidFill>
                <a:latin typeface="Segoe UI"/>
              </a:rPr>
              <a:t>, so </a:t>
            </a:r>
            <a:r>
              <a:rPr sz="2100" b="0" i="1">
                <a:solidFill>
                  <a:srgbClr val="1C252B"/>
                </a:solidFill>
                <a:latin typeface="Cambria"/>
              </a:rPr>
              <a:t>K</a:t>
            </a:r>
            <a:r>
              <a:rPr sz="2100" b="0" i="0">
                <a:solidFill>
                  <a:srgbClr val="1C252B"/>
                </a:solidFill>
                <a:latin typeface="Cambria"/>
              </a:rPr>
              <a:t> = 25</a:t>
            </a:r>
            <a:r>
              <a:rPr sz="2100" b="0" i="0">
                <a:solidFill>
                  <a:srgbClr val="1C252B"/>
                </a:solidFill>
                <a:latin typeface="Segoe UI"/>
              </a:rPr>
              <a:t>. One dot product and one squaring.</a:t>
            </a:r>
          </a:p>
        </p:txBody>
      </p:sp>
      <p:sp>
        <p:nvSpPr>
          <p:cNvPr id="11" name="body-2"/>
          <p:cNvSpPr txBox="1"/>
          <p:nvPr/>
        </p:nvSpPr>
        <p:spPr>
          <a:xfrm>
            <a:off x="1042416" y="2970733"/>
            <a:ext cx="10234879" cy="378561"/>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D6608"/>
                </a:solidFill>
                <a:latin typeface="Segoe UI"/>
              </a:rPr>
              <a:t>The long way:</a:t>
            </a:r>
            <a:r>
              <a:rPr sz="2100" b="0" i="0">
                <a:solidFill>
                  <a:srgbClr val="1C252B"/>
                </a:solidFill>
                <a:latin typeface="Segoe UI"/>
              </a:rPr>
              <a:t> this kernel corresponds to </a:t>
            </a:r>
            <a:r>
              <a:rPr sz="2100" b="0" i="0">
                <a:solidFill>
                  <a:srgbClr val="1C252B"/>
                </a:solidFill>
                <a:latin typeface="Cambria"/>
              </a:rPr>
              <a:t>φ(</a:t>
            </a:r>
            <a:r>
              <a:rPr sz="2100" b="1" i="1">
                <a:solidFill>
                  <a:srgbClr val="1C252B"/>
                </a:solidFill>
                <a:latin typeface="Cambria"/>
              </a:rPr>
              <a:t>x</a:t>
            </a:r>
            <a:r>
              <a:rPr sz="2100" b="0" i="0">
                <a:solidFill>
                  <a:srgbClr val="1C252B"/>
                </a:solidFill>
                <a:latin typeface="Cambria"/>
              </a:rPr>
              <a:t>) = (</a:t>
            </a:r>
            <a:r>
              <a:rPr sz="2100" b="0" i="1">
                <a:solidFill>
                  <a:srgbClr val="1C252B"/>
                </a:solidFill>
                <a:latin typeface="Cambria"/>
              </a:rPr>
              <a:t>x</a:t>
            </a:r>
            <a:r>
              <a:rPr sz="2100" b="0" i="0" baseline="-25000">
                <a:solidFill>
                  <a:srgbClr val="1C252B"/>
                </a:solidFill>
                <a:latin typeface="Cambria"/>
              </a:rPr>
              <a:t>1</a:t>
            </a:r>
            <a:r>
              <a:rPr sz="2100" b="0" i="0" baseline="30000">
                <a:solidFill>
                  <a:srgbClr val="1C252B"/>
                </a:solidFill>
                <a:latin typeface="Cambria"/>
              </a:rPr>
              <a:t>2</a:t>
            </a:r>
            <a:r>
              <a:rPr sz="2100" b="0" i="0">
                <a:solidFill>
                  <a:srgbClr val="1C252B"/>
                </a:solidFill>
                <a:latin typeface="Cambria"/>
              </a:rPr>
              <a:t>, √2 </a:t>
            </a:r>
            <a:r>
              <a:rPr sz="2100" b="0" i="1">
                <a:solidFill>
                  <a:srgbClr val="1C252B"/>
                </a:solidFill>
                <a:latin typeface="Cambria"/>
              </a:rPr>
              <a:t>x</a:t>
            </a:r>
            <a:r>
              <a:rPr sz="2100" b="0" i="0" baseline="-25000">
                <a:solidFill>
                  <a:srgbClr val="1C252B"/>
                </a:solidFill>
                <a:latin typeface="Cambria"/>
              </a:rPr>
              <a:t>1</a:t>
            </a:r>
            <a:r>
              <a:rPr sz="2100" b="0" i="0">
                <a:solidFill>
                  <a:srgbClr val="1C252B"/>
                </a:solidFill>
                <a:latin typeface="Cambria"/>
              </a:rPr>
              <a:t> </a:t>
            </a:r>
            <a:r>
              <a:rPr sz="2100" b="0" i="1">
                <a:solidFill>
                  <a:srgbClr val="1C252B"/>
                </a:solidFill>
                <a:latin typeface="Cambria"/>
              </a:rPr>
              <a:t>x</a:t>
            </a:r>
            <a:r>
              <a:rPr sz="2100" b="0" i="0" baseline="-25000">
                <a:solidFill>
                  <a:srgbClr val="1C252B"/>
                </a:solidFill>
                <a:latin typeface="Cambria"/>
              </a:rPr>
              <a:t>2</a:t>
            </a:r>
            <a:r>
              <a:rPr sz="2100" b="0" i="0">
                <a:solidFill>
                  <a:srgbClr val="1C252B"/>
                </a:solidFill>
                <a:latin typeface="Cambria"/>
              </a:rPr>
              <a:t>, </a:t>
            </a:r>
            <a:r>
              <a:rPr sz="2100" b="0" i="1">
                <a:solidFill>
                  <a:srgbClr val="1C252B"/>
                </a:solidFill>
                <a:latin typeface="Cambria"/>
              </a:rPr>
              <a:t>x</a:t>
            </a:r>
            <a:r>
              <a:rPr sz="2100" b="0" i="0" baseline="-25000">
                <a:solidFill>
                  <a:srgbClr val="1C252B"/>
                </a:solidFill>
                <a:latin typeface="Cambria"/>
              </a:rPr>
              <a:t>2</a:t>
            </a:r>
            <a:r>
              <a:rPr sz="2100" b="0" i="0" baseline="30000">
                <a:solidFill>
                  <a:srgbClr val="1C252B"/>
                </a:solidFill>
                <a:latin typeface="Cambria"/>
              </a:rPr>
              <a:t>2</a:t>
            </a:r>
            <a:r>
              <a:rPr sz="2100" b="0" i="0">
                <a:solidFill>
                  <a:srgbClr val="1C252B"/>
                </a:solidFill>
                <a:latin typeface="Cambria"/>
              </a:rPr>
              <a:t>)</a:t>
            </a:r>
            <a:r>
              <a:rPr sz="2100" b="0" i="0">
                <a:solidFill>
                  <a:srgbClr val="1C252B"/>
                </a:solidFill>
                <a:latin typeface="Segoe UI"/>
              </a:rPr>
              <a:t>:</a:t>
            </a:r>
          </a:p>
        </p:txBody>
      </p:sp>
      <p:pic>
        <p:nvPicPr>
          <p:cNvPr id="12" name="body-3" descr="\phi(1,2) = (1,\ 2\sqrt{2},\ 4), \qquad \phi(3,1) = (9,\ 3\sqrt{2},\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50259"/>
            <a:ext cx="10234879" cy="394563"/>
          </a:xfrm>
          <a:prstGeom prst="rect">
            <a:avLst/>
          </a:prstGeom>
        </p:spPr>
      </p:pic>
      <p:pic>
        <p:nvPicPr>
          <p:cNvPr id="13" name="body-4" descr="\phi(\mathbf{x})\cdot\phi(\mathbf{z}) = 9 + 2\sqrt{2}\cdot 3\sqrt{2} + 4 = 9 + 12 + 4 = \mathbf{2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991508"/>
            <a:ext cx="10234879" cy="394563"/>
          </a:xfrm>
          <a:prstGeom prst="rect">
            <a:avLst/>
          </a:prstGeom>
        </p:spPr>
      </p:pic>
      <p:sp>
        <p:nvSpPr>
          <p:cNvPr id="14" name="body-5"/>
          <p:cNvSpPr txBox="1"/>
          <p:nvPr/>
        </p:nvSpPr>
        <p:spPr>
          <a:xfrm>
            <a:off x="1042416" y="4532757"/>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same number. For degree </a:t>
            </a:r>
            <a:r>
              <a:rPr sz="2100" b="0" i="1">
                <a:solidFill>
                  <a:srgbClr val="1C252B"/>
                </a:solidFill>
                <a:latin typeface="Cambria"/>
              </a:rPr>
              <a:t>p</a:t>
            </a:r>
            <a:r>
              <a:rPr sz="2100" b="0" i="0">
                <a:solidFill>
                  <a:srgbClr val="1C252B"/>
                </a:solidFill>
                <a:latin typeface="Segoe UI"/>
              </a:rPr>
              <a:t> on </a:t>
            </a:r>
            <a:r>
              <a:rPr sz="2100" b="0" i="1">
                <a:solidFill>
                  <a:srgbClr val="1C252B"/>
                </a:solidFill>
                <a:latin typeface="Cambria"/>
              </a:rPr>
              <a:t>d</a:t>
            </a:r>
            <a:r>
              <a:rPr sz="2100" b="0" i="0">
                <a:solidFill>
                  <a:srgbClr val="1C252B"/>
                </a:solidFill>
                <a:latin typeface="Segoe UI"/>
              </a:rPr>
              <a:t> features the feature space has on the order of </a:t>
            </a:r>
            <a:r>
              <a:rPr sz="2100" b="0" i="1">
                <a:solidFill>
                  <a:srgbClr val="1C252B"/>
                </a:solidFill>
                <a:latin typeface="Cambria"/>
              </a:rPr>
              <a:t>d</a:t>
            </a:r>
            <a:r>
              <a:rPr sz="2100" b="0" i="1" baseline="30000">
                <a:solidFill>
                  <a:srgbClr val="1C252B"/>
                </a:solidFill>
                <a:latin typeface="Cambria"/>
              </a:rPr>
              <a:t>p</a:t>
            </a:r>
            <a:r>
              <a:rPr sz="2100" b="0" i="0">
                <a:solidFill>
                  <a:srgbClr val="1C252B"/>
                </a:solidFill>
                <a:latin typeface="Segoe UI"/>
              </a:rPr>
              <a:t> dimensions; the kernel is still one dot product and one power.</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Kernel Trick</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91     </a:t>
            </a:r>
            <a:fld id="{F2077CAE-9BFB-4CF4-9D66-65D121C8F451}" type="slidenum">
              <a:rPr lang="en-GB" sz="1000">
                <a:solidFill>
                  <a:srgbClr val="8795A1"/>
                </a:solidFill>
                <a:latin typeface="Segoe UI"/>
              </a:rPr>
              <a:t>20</a:t>
            </a:fld>
          </a:p>
        </p:txBody>
      </p:sp>
      <p:graphicFrame>
        <p:nvGraphicFramePr>
          <p:cNvPr id="7" name="!!table"/>
          <p:cNvGraphicFramePr>
            <a:graphicFrameLocks noGrp="1"/>
          </p:cNvGraphicFramePr>
          <p:nvPr/>
        </p:nvGraphicFramePr>
        <p:xfrm>
          <a:off x="658368" y="1737360"/>
          <a:ext cx="10874958" cy="2398776"/>
        </p:xfrm>
        <a:graphic>
          <a:graphicData uri="http://schemas.openxmlformats.org/drawingml/2006/table">
            <a:tbl>
              <a:tblPr firstRow="0" bandRow="0" firstCol="0" lastRow="0" lastCol="0" bandCol="0">
                <a:tableStyleId>{2D5ABB26-0587-4C30-8999-92F81FD0307C}</a:tableStyleId>
              </a:tblPr>
              <a:tblGrid>
                <a:gridCol w="2174991"/>
                <a:gridCol w="3189988"/>
                <a:gridCol w="5509979"/>
              </a:tblGrid>
              <a:tr h="405384">
                <a:tc>
                  <a:txBody>
                    <a:bodyPr wrap="square"/>
                    <a:lstStyle/>
                    <a:p>
                      <a:pPr algn="l"/>
                      <a:r>
                        <a:rPr sz="1700" b="1" i="0">
                          <a:solidFill>
                            <a:srgbClr val="1A5276"/>
                          </a:solidFill>
                          <a:latin typeface="Segoe UI"/>
                        </a:rPr>
                        <a:t>Kernel</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1">
                          <a:solidFill>
                            <a:srgbClr val="1A5276"/>
                          </a:solidFill>
                          <a:latin typeface="Cambria"/>
                        </a:rPr>
                        <a:t>K</a:t>
                      </a:r>
                      <a:r>
                        <a:rPr sz="1700" b="1" i="0">
                          <a:solidFill>
                            <a:srgbClr val="1A5276"/>
                          </a:solidFill>
                          <a:latin typeface="Cambria"/>
                        </a:rPr>
                        <a:t>(</a:t>
                      </a:r>
                      <a:r>
                        <a:rPr sz="1700" b="1" i="1">
                          <a:solidFill>
                            <a:srgbClr val="1A5276"/>
                          </a:solidFill>
                          <a:latin typeface="Cambria"/>
                        </a:rPr>
                        <a:t>x</a:t>
                      </a:r>
                      <a:r>
                        <a:rPr sz="1700" b="1" i="0">
                          <a:solidFill>
                            <a:srgbClr val="1A5276"/>
                          </a:solidFill>
                          <a:latin typeface="Cambria"/>
                        </a:rPr>
                        <a:t>, </a:t>
                      </a:r>
                      <a:r>
                        <a:rPr sz="1700" b="1" i="1">
                          <a:solidFill>
                            <a:srgbClr val="1A5276"/>
                          </a:solidFill>
                          <a:latin typeface="Cambria"/>
                        </a:rPr>
                        <a:t>z</a:t>
                      </a:r>
                      <a:r>
                        <a:rPr sz="1700" b="1" i="0">
                          <a:solidFill>
                            <a:srgbClr val="1A5276"/>
                          </a:solidFill>
                          <a:latin typeface="Cambria"/>
                        </a:rPr>
                        <a: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 and settings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Linear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1">
                          <a:solidFill>
                            <a:srgbClr val="1C252B"/>
                          </a:solidFill>
                          <a:latin typeface="Cambria"/>
                        </a:rPr>
                        <a:t>x</a:t>
                      </a:r>
                      <a:r>
                        <a:rPr sz="1700" b="0" i="0">
                          <a:solidFill>
                            <a:srgbClr val="1C252B"/>
                          </a:solidFill>
                          <a:latin typeface="Cambria"/>
                        </a:rPr>
                        <a:t>·</a:t>
                      </a:r>
                      <a:r>
                        <a:rPr sz="1700" b="1" i="1">
                          <a:solidFill>
                            <a:srgbClr val="1C252B"/>
                          </a:solidFill>
                          <a:latin typeface="Cambria"/>
                        </a:rPr>
                        <a:t>z</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Many features, text; fast. Tune </a:t>
                      </a:r>
                      <a:r>
                        <a:rPr sz="1700" b="0" i="1">
                          <a:solidFill>
                            <a:srgbClr val="1C252B"/>
                          </a:solidFill>
                          <a:latin typeface="Cambria"/>
                        </a:rPr>
                        <a:t>C</a:t>
                      </a:r>
                      <a:r>
                        <a:rPr sz="1700" b="0" i="0">
                          <a:solidFill>
                            <a:srgbClr val="1C252B"/>
                          </a:solidFill>
                          <a:latin typeface="Segoe UI"/>
                        </a:rPr>
                        <a:t> only</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Polynomial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Cambria"/>
                        </a:rPr>
                        <a:t>(γ </a:t>
                      </a:r>
                      <a:r>
                        <a:rPr sz="1700" b="1" i="1">
                          <a:solidFill>
                            <a:srgbClr val="1C252B"/>
                          </a:solidFill>
                          <a:latin typeface="Cambria"/>
                        </a:rPr>
                        <a:t>x</a:t>
                      </a:r>
                      <a:r>
                        <a:rPr sz="1700" b="0" i="0">
                          <a:solidFill>
                            <a:srgbClr val="1C252B"/>
                          </a:solidFill>
                          <a:latin typeface="Cambria"/>
                        </a:rPr>
                        <a:t>·</a:t>
                      </a:r>
                      <a:r>
                        <a:rPr sz="1700" b="1" i="1">
                          <a:solidFill>
                            <a:srgbClr val="1C252B"/>
                          </a:solidFill>
                          <a:latin typeface="Cambria"/>
                        </a:rPr>
                        <a:t>z</a:t>
                      </a:r>
                      <a:r>
                        <a:rPr sz="1700" b="0" i="0">
                          <a:solidFill>
                            <a:srgbClr val="1C252B"/>
                          </a:solidFill>
                          <a:latin typeface="Cambria"/>
                        </a:rPr>
                        <a:t> + </a:t>
                      </a:r>
                      <a:r>
                        <a:rPr sz="1700" b="0" i="1">
                          <a:solidFill>
                            <a:srgbClr val="1C252B"/>
                          </a:solidFill>
                          <a:latin typeface="Cambria"/>
                        </a:rPr>
                        <a:t>r</a:t>
                      </a:r>
                      <a:r>
                        <a:rPr sz="1700" b="0" i="0">
                          <a:solidFill>
                            <a:srgbClr val="1C252B"/>
                          </a:solidFill>
                          <a:latin typeface="Cambria"/>
                        </a:rPr>
                        <a:t>)</a:t>
                      </a:r>
                      <a:r>
                        <a:rPr sz="1700" b="0" i="1" baseline="30000">
                          <a:solidFill>
                            <a:srgbClr val="1C252B"/>
                          </a:solidFill>
                          <a:latin typeface="Cambria"/>
                        </a:rPr>
                        <a:t>p</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Interactions of up to </a:t>
                      </a:r>
                      <a:r>
                        <a:rPr sz="1700" b="0" i="1">
                          <a:solidFill>
                            <a:srgbClr val="1C252B"/>
                          </a:solidFill>
                          <a:latin typeface="Cambria"/>
                        </a:rPr>
                        <a:t>p</a:t>
                      </a:r>
                      <a:r>
                        <a:rPr sz="1700" b="0" i="0">
                          <a:solidFill>
                            <a:srgbClr val="1C252B"/>
                          </a:solidFill>
                          <a:latin typeface="Segoe UI"/>
                        </a:rPr>
                        <a:t> features; tune </a:t>
                      </a:r>
                      <a:r>
                        <a:rPr sz="1700" b="0" i="1">
                          <a:solidFill>
                            <a:srgbClr val="1C252B"/>
                          </a:solidFill>
                          <a:latin typeface="Cambria"/>
                        </a:rPr>
                        <a:t>p</a:t>
                      </a:r>
                      <a:r>
                        <a:rPr sz="1700" b="0" i="0">
                          <a:solidFill>
                            <a:srgbClr val="1C252B"/>
                          </a:solidFill>
                          <a:latin typeface="Segoe UI"/>
                        </a:rPr>
                        <a:t>, </a:t>
                      </a:r>
                      <a:r>
                        <a:rPr sz="1700" b="0" i="1">
                          <a:solidFill>
                            <a:srgbClr val="1C252B"/>
                          </a:solidFill>
                          <a:latin typeface="Cambria"/>
                        </a:rPr>
                        <a:t>C</a:t>
                      </a:r>
                      <a:endParaRPr sz="1700"/>
                    </a:p>
                  </a:txBody>
                  <a:tcPr marL="109728" marR="109728" marT="64008" marB="45720" anchor="t">
                    <a:lnL w="0" cmpd="sng">
                      <a:noFill/>
                    </a:lnL>
                    <a:lnR w="0" cmpd="sng">
                      <a:noFill/>
                    </a:lnR>
                    <a:lnT w="9525" cmpd="sng">
                      <a:noFill/>
                    </a:lnT>
                    <a:lnB w="9525" cmpd="sng">
                      <a:noFill/>
                    </a:lnB>
                    <a:solidFill>
                      <a:srgbClr val="F2F8FC"/>
                    </a:solidFill>
                  </a:tcPr>
                </a:tc>
              </a:tr>
              <a:tr h="1182624">
                <a:tc>
                  <a:txBody>
                    <a:bodyPr wrap="square"/>
                    <a:lstStyle/>
                    <a:p>
                      <a:pPr algn="l"/>
                      <a:r>
                        <a:rPr sz="1700" b="0" i="0">
                          <a:solidFill>
                            <a:srgbClr val="1C252B"/>
                          </a:solidFill>
                          <a:latin typeface="Segoe UI"/>
                        </a:rPr>
                        <a:t>RBF (Gaussian)</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Cambria"/>
                        </a:rPr>
                        <a:t>exp(−γ‖</a:t>
                      </a:r>
                      <a:r>
                        <a:rPr sz="1700" b="1" i="1">
                          <a:solidFill>
                            <a:srgbClr val="1C252B"/>
                          </a:solidFill>
                          <a:latin typeface="Cambria"/>
                        </a:rPr>
                        <a:t>x</a:t>
                      </a:r>
                      <a:r>
                        <a:rPr sz="1700" b="0" i="0">
                          <a:solidFill>
                            <a:srgbClr val="1C252B"/>
                          </a:solidFill>
                          <a:latin typeface="Cambria"/>
                        </a:rPr>
                        <a:t> − </a:t>
                      </a:r>
                      <a:r>
                        <a:rPr sz="1700" b="1" i="1">
                          <a:solidFill>
                            <a:srgbClr val="1C252B"/>
                          </a:solidFill>
                          <a:latin typeface="Cambria"/>
                        </a:rPr>
                        <a:t>z</a:t>
                      </a:r>
                      <a:r>
                        <a:rPr sz="1700" b="0" i="0">
                          <a:solidFill>
                            <a:srgbClr val="1C252B"/>
                          </a:solidFill>
                          <a:latin typeface="Cambria"/>
                        </a:rPr>
                        <a:t>‖</a:t>
                      </a:r>
                      <a:r>
                        <a:rPr sz="1700" b="0" i="0" baseline="30000">
                          <a:solidFill>
                            <a:srgbClr val="1C252B"/>
                          </a:solidFill>
                          <a:latin typeface="Cambria"/>
                        </a:rPr>
                        <a:t>2</a:t>
                      </a:r>
                      <a:r>
                        <a:rPr sz="1700" b="0" i="0">
                          <a:solidFill>
                            <a:srgbClr val="1C252B"/>
                          </a:solidFill>
                          <a:latin typeface="Cambria"/>
                        </a:rPr>
                        <a: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default for non-linear problems. Large </a:t>
                      </a:r>
                      <a:r>
                        <a:rPr sz="1700" b="0" i="0">
                          <a:solidFill>
                            <a:srgbClr val="1C252B"/>
                          </a:solidFill>
                          <a:latin typeface="Cambria"/>
                        </a:rPr>
                        <a:t>γ</a:t>
                      </a:r>
                      <a:r>
                        <a:rPr sz="1700" b="0" i="0">
                          <a:solidFill>
                            <a:srgbClr val="1C252B"/>
                          </a:solidFill>
                          <a:latin typeface="Segoe UI"/>
                        </a:rPr>
                        <a:t>: each point’s influence is narrow, the boundary wiggles (variance). Small </a:t>
                      </a:r>
                      <a:r>
                        <a:rPr sz="1700" b="0" i="0">
                          <a:solidFill>
                            <a:srgbClr val="1C252B"/>
                          </a:solidFill>
                          <a:latin typeface="Cambria"/>
                        </a:rPr>
                        <a:t>γ</a:t>
                      </a:r>
                      <a:r>
                        <a:rPr sz="1700" b="0" i="0">
                          <a:solidFill>
                            <a:srgbClr val="1C252B"/>
                          </a:solidFill>
                          <a:latin typeface="Segoe UI"/>
                        </a:rPr>
                        <a:t>: smooth boundary (bias). Tune </a:t>
                      </a:r>
                      <a:r>
                        <a:rPr sz="1700" b="0" i="1">
                          <a:solidFill>
                            <a:srgbClr val="1C252B"/>
                          </a:solidFill>
                          <a:latin typeface="Cambria"/>
                        </a:rPr>
                        <a:t>C</a:t>
                      </a:r>
                      <a:r>
                        <a:rPr sz="1700" b="0" i="0">
                          <a:solidFill>
                            <a:srgbClr val="1C252B"/>
                          </a:solidFill>
                          <a:latin typeface="Segoe UI"/>
                        </a:rPr>
                        <a:t> and </a:t>
                      </a:r>
                      <a:r>
                        <a:rPr sz="1700" b="0" i="0">
                          <a:solidFill>
                            <a:srgbClr val="1C252B"/>
                          </a:solidFill>
                          <a:latin typeface="Cambria"/>
                        </a:rPr>
                        <a:t>γ</a:t>
                      </a:r>
                      <a:r>
                        <a:rPr sz="1700" b="0" i="0">
                          <a:solidFill>
                            <a:srgbClr val="1C252B"/>
                          </a:solidFill>
                          <a:latin typeface="Segoe UI"/>
                        </a:rPr>
                        <a:t> together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Scale the Features, Then Tune C and γ Together</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§12.4  ·  Handout p. 91     </a:t>
            </a:r>
            <a:fld id="{6CCD05AF-19B7-42CF-83AB-4712A19CD711}"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RBF kernel is a function of distance, so everything said about scaling in Chapter 11 applies. And </a:t>
            </a:r>
            <a:r>
              <a:rPr sz="2300" b="0" i="1">
                <a:solidFill>
                  <a:srgbClr val="1C252B"/>
                </a:solidFill>
                <a:latin typeface="Cambria"/>
              </a:rPr>
              <a:t>C</a:t>
            </a:r>
            <a:r>
              <a:rPr sz="2300" b="0" i="0">
                <a:solidFill>
                  <a:srgbClr val="1C252B"/>
                </a:solidFill>
                <a:latin typeface="Segoe UI"/>
              </a:rPr>
              <a:t> and </a:t>
            </a:r>
            <a:r>
              <a:rPr sz="2300" b="0" i="0">
                <a:solidFill>
                  <a:srgbClr val="1C252B"/>
                </a:solidFill>
                <a:latin typeface="Cambria"/>
              </a:rPr>
              <a:t>γ</a:t>
            </a:r>
            <a:r>
              <a:rPr sz="2300" b="0" i="0">
                <a:solidFill>
                  <a:srgbClr val="1C252B"/>
                </a:solidFill>
                <a:latin typeface="Segoe UI"/>
              </a:rPr>
              <a:t> interact — a larger </a:t>
            </a:r>
            <a:r>
              <a:rPr sz="2300" b="0" i="0">
                <a:solidFill>
                  <a:srgbClr val="1C252B"/>
                </a:solidFill>
                <a:latin typeface="Cambria"/>
              </a:rPr>
              <a:t>γ</a:t>
            </a:r>
            <a:r>
              <a:rPr sz="2300" b="0" i="0">
                <a:solidFill>
                  <a:srgbClr val="1C252B"/>
                </a:solidFill>
                <a:latin typeface="Segoe UI"/>
              </a:rPr>
              <a:t> often wants a smaller </a:t>
            </a:r>
            <a:r>
              <a:rPr sz="2300" b="0" i="1">
                <a:solidFill>
                  <a:srgbClr val="1C252B"/>
                </a:solidFill>
                <a:latin typeface="Cambria"/>
              </a:rPr>
              <a:t>C</a:t>
            </a:r>
            <a:r>
              <a:rPr sz="2300" b="0" i="0">
                <a:solidFill>
                  <a:srgbClr val="1C252B"/>
                </a:solidFill>
                <a:latin typeface="Segoe UI"/>
              </a:rPr>
              <a:t> — so search them as a grid, on a logarithmic scale (</a:t>
            </a:r>
            <a:r>
              <a:rPr sz="2150" b="0" i="0">
                <a:solidFill>
                  <a:srgbClr val="1F4E79"/>
                </a:solidFill>
                <a:latin typeface="Consolas"/>
              </a:rPr>
              <a:t>C</a:t>
            </a:r>
            <a:r>
              <a:rPr sz="2300" b="0" i="0">
                <a:solidFill>
                  <a:srgbClr val="1C252B"/>
                </a:solidFill>
                <a:latin typeface="Segoe UI"/>
              </a:rPr>
              <a:t> in </a:t>
            </a:r>
            <a:r>
              <a:rPr sz="2300" b="0" i="0">
                <a:solidFill>
                  <a:srgbClr val="1C252B"/>
                </a:solidFill>
                <a:latin typeface="Cambria"/>
              </a:rPr>
              <a:t>{0.1, 1, 10, 100}</a:t>
            </a:r>
            <a:r>
              <a:rPr sz="2300" b="0" i="0">
                <a:solidFill>
                  <a:srgbClr val="1C252B"/>
                </a:solidFill>
                <a:latin typeface="Segoe UI"/>
              </a:rPr>
              <a:t>, </a:t>
            </a:r>
            <a:r>
              <a:rPr sz="2150" b="0" i="0">
                <a:solidFill>
                  <a:srgbClr val="1F4E79"/>
                </a:solidFill>
                <a:latin typeface="Consolas"/>
              </a:rPr>
              <a:t>gamma</a:t>
            </a:r>
            <a:r>
              <a:rPr sz="2300" b="0" i="0">
                <a:solidFill>
                  <a:srgbClr val="1C252B"/>
                </a:solidFill>
                <a:latin typeface="Segoe UI"/>
              </a:rPr>
              <a:t> in </a:t>
            </a:r>
            <a:r>
              <a:rPr sz="2300" b="0" i="0">
                <a:solidFill>
                  <a:srgbClr val="1C252B"/>
                </a:solidFill>
                <a:latin typeface="Cambria"/>
              </a:rPr>
              <a:t>{0.001, 0.01, 0.1, 1}</a:t>
            </a:r>
            <a:r>
              <a:rPr sz="2300" b="0" i="0">
                <a:solidFill>
                  <a:srgbClr val="1C252B"/>
                </a:solidFill>
                <a:latin typeface="Segoe UI"/>
              </a:rPr>
              <a:t>), by cross-validation. On the 600 projects of Chapter 11’s lab this finds </a:t>
            </a:r>
            <a:r>
              <a:rPr sz="2300" b="0" i="1">
                <a:solidFill>
                  <a:srgbClr val="1C252B"/>
                </a:solidFill>
                <a:latin typeface="Cambria"/>
              </a:rPr>
              <a:t>C</a:t>
            </a:r>
            <a:r>
              <a:rPr sz="2300" b="0" i="0">
                <a:solidFill>
                  <a:srgbClr val="1C252B"/>
                </a:solidFill>
                <a:latin typeface="Cambria"/>
              </a:rPr>
              <a:t> = 100</a:t>
            </a:r>
            <a:r>
              <a:rPr sz="2300" b="0" i="0">
                <a:solidFill>
                  <a:srgbClr val="1C252B"/>
                </a:solidFill>
                <a:latin typeface="Segoe UI"/>
              </a:rPr>
              <a:t>, </a:t>
            </a:r>
            <a:r>
              <a:rPr sz="2300" b="0" i="0">
                <a:solidFill>
                  <a:srgbClr val="1C252B"/>
                </a:solidFill>
                <a:latin typeface="Cambria"/>
              </a:rPr>
              <a:t>γ = 0.01</a:t>
            </a:r>
            <a:r>
              <a:rPr sz="2300" b="0" i="0">
                <a:solidFill>
                  <a:srgbClr val="1C252B"/>
                </a:solidFill>
                <a:latin typeface="Segoe UI"/>
              </a:rPr>
              <a:t> and 93.2% accuracy — better than the best </a:t>
            </a:r>
            <a:r>
              <a:rPr sz="2300" b="0" i="1">
                <a:solidFill>
                  <a:srgbClr val="1C252B"/>
                </a:solidFill>
                <a:latin typeface="Cambria"/>
              </a:rPr>
              <a:t>k</a:t>
            </a:r>
            <a:r>
              <a:rPr sz="2300" b="0" i="0">
                <a:solidFill>
                  <a:srgbClr val="1C252B"/>
                </a:solidFill>
                <a:latin typeface="Segoe UI"/>
              </a:rPr>
              <a:t>-NN — using 183 of the projects as support vectors. </a:t>
            </a:r>
            <a:r>
              <a:rPr sz="2300" b="0" i="1">
                <a:solidFill>
                  <a:srgbClr val="1C252B"/>
                </a:solidFill>
                <a:latin typeface="Cambria"/>
              </a:rPr>
              <a:t>C</a:t>
            </a:r>
            <a:r>
              <a:rPr sz="2300" b="0" i="0">
                <a:solidFill>
                  <a:srgbClr val="1C252B"/>
                </a:solidFill>
                <a:latin typeface="Segoe UI"/>
              </a:rPr>
              <a:t> landed on the edge of the grid, so the next step would be to extend the grid upwards.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0C6F146A-C71D-4264-99A6-348173D5D4B6}"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Not scaling features.</a:t>
            </a:r>
            <a:r>
              <a:rPr sz="2100" b="0" i="0">
                <a:solidFill>
                  <a:srgbClr val="1C252B"/>
                </a:solidFill>
                <a:latin typeface="Segoe UI"/>
              </a:rPr>
              <a:t> The RBF kernel and the margin are both distances.</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Tuning </a:t>
            </a:r>
            <a:r>
              <a:rPr sz="2100" b="1" i="1">
                <a:solidFill>
                  <a:srgbClr val="1C252B"/>
                </a:solidFill>
                <a:latin typeface="Cambria"/>
              </a:rPr>
              <a:t>C</a:t>
            </a:r>
            <a:r>
              <a:rPr sz="2100" b="1" i="0">
                <a:solidFill>
                  <a:srgbClr val="1C252B"/>
                </a:solidFill>
                <a:latin typeface="Segoe UI"/>
              </a:rPr>
              <a:t> and </a:t>
            </a:r>
            <a:r>
              <a:rPr sz="2100" b="1" i="0">
                <a:solidFill>
                  <a:srgbClr val="1C252B"/>
                </a:solidFill>
                <a:latin typeface="Cambria"/>
              </a:rPr>
              <a:t>γ</a:t>
            </a:r>
            <a:r>
              <a:rPr sz="2100" b="1" i="0">
                <a:solidFill>
                  <a:srgbClr val="1C252B"/>
                </a:solidFill>
                <a:latin typeface="Segoe UI"/>
              </a:rPr>
              <a:t> separately.</a:t>
            </a:r>
            <a:r>
              <a:rPr sz="2100" b="0" i="0">
                <a:solidFill>
                  <a:srgbClr val="1C252B"/>
                </a:solidFill>
                <a:latin typeface="Segoe UI"/>
              </a:rPr>
              <a:t> They interact; use a grid.</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a huge </a:t>
            </a:r>
            <a:r>
              <a:rPr sz="2100" b="1" i="1">
                <a:solidFill>
                  <a:srgbClr val="1C252B"/>
                </a:solidFill>
                <a:latin typeface="Cambria"/>
              </a:rPr>
              <a:t>C</a:t>
            </a:r>
            <a:r>
              <a:rPr sz="2100" b="1" i="0">
                <a:solidFill>
                  <a:srgbClr val="1C252B"/>
                </a:solidFill>
                <a:latin typeface="Segoe UI"/>
              </a:rPr>
              <a:t> on noisy data.</a:t>
            </a:r>
            <a:r>
              <a:rPr sz="2100" b="0" i="0">
                <a:solidFill>
                  <a:srgbClr val="1C252B"/>
                </a:solidFill>
                <a:latin typeface="Segoe UI"/>
              </a:rPr>
              <a:t> The hard margin chases every mislabelled point.</a:t>
            </a:r>
          </a:p>
        </p:txBody>
      </p:sp>
      <p:sp>
        <p:nvSpPr>
          <p:cNvPr id="16" name="!!pb3">
            <a:extLst>
              <a:ext uri="{C183D7F6-B498-43B3-948B-1728B52AA6E4}">
                <adec:decorative xmlns:adec="http://schemas.microsoft.com/office/drawing/2017/decorative" val="1"/>
              </a:ext>
            </a:extLst>
          </p:cNvPr>
          <p:cNvSpPr/>
          <p:nvPr/>
        </p:nvSpPr>
        <p:spPr>
          <a:xfrm>
            <a:off x="658368" y="345643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47929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43814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Reading </a:t>
            </a:r>
            <a:r>
              <a:rPr sz="2100" b="1" i="1">
                <a:solidFill>
                  <a:srgbClr val="1C252B"/>
                </a:solidFill>
                <a:latin typeface="Cambria"/>
              </a:rPr>
              <a:t>f</a:t>
            </a:r>
            <a:r>
              <a:rPr sz="2100" b="1" i="0">
                <a:solidFill>
                  <a:srgbClr val="1C252B"/>
                </a:solidFill>
                <a:latin typeface="Cambria"/>
              </a:rPr>
              <a:t>(</a:t>
            </a:r>
            <a:r>
              <a:rPr sz="2100" b="1" i="1">
                <a:solidFill>
                  <a:srgbClr val="1C252B"/>
                </a:solidFill>
                <a:latin typeface="Cambria"/>
              </a:rPr>
              <a:t>x</a:t>
            </a:r>
            <a:r>
              <a:rPr sz="2100" b="1" i="0">
                <a:solidFill>
                  <a:srgbClr val="1C252B"/>
                </a:solidFill>
                <a:latin typeface="Cambria"/>
              </a:rPr>
              <a:t>)</a:t>
            </a:r>
            <a:r>
              <a:rPr sz="2100" b="1" i="0">
                <a:solidFill>
                  <a:srgbClr val="1C252B"/>
                </a:solidFill>
                <a:latin typeface="Segoe UI"/>
              </a:rPr>
              <a:t> as a probability.</a:t>
            </a:r>
            <a:r>
              <a:rPr sz="2100" b="0" i="0">
                <a:solidFill>
                  <a:srgbClr val="1C252B"/>
                </a:solidFill>
                <a:latin typeface="Segoe UI"/>
              </a:rPr>
              <a:t> It is a signed distance; calibrate if probabilities are needed.</a:t>
            </a:r>
          </a:p>
        </p:txBody>
      </p:sp>
      <p:sp>
        <p:nvSpPr>
          <p:cNvPr id="19" name="!!pb4">
            <a:extLst>
              <a:ext uri="{C183D7F6-B498-43B3-948B-1728B52AA6E4}">
                <adec:decorative xmlns:adec="http://schemas.microsoft.com/office/drawing/2017/decorative" val="1"/>
              </a:ext>
            </a:extLst>
          </p:cNvPr>
          <p:cNvSpPr/>
          <p:nvPr/>
        </p:nvSpPr>
        <p:spPr>
          <a:xfrm>
            <a:off x="658368" y="43232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4614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04995"/>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Running a kernel SVM on a million rows.</a:t>
            </a:r>
            <a:r>
              <a:rPr sz="2100" b="0" i="0">
                <a:solidFill>
                  <a:srgbClr val="1C252B"/>
                </a:solidFill>
                <a:latin typeface="Segoe UI"/>
              </a:rPr>
              <a:t> Use a linear SVM, or a different model.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Margins, Kernels and a Tuning Grid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E322843D-B4D8-49E6-B4FE-E51232B8DED0}" type="slidenum">
              <a:rPr lang="en-GB" sz="1000">
                <a:solidFill>
                  <a:srgbClr val="8795A1"/>
                </a:solidFill>
                <a:latin typeface="Segoe UI"/>
              </a:rPr>
              <a:t>23</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 a maximum-margin line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A problem no line can solve</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Tune C and gamma together, features scaled</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10: Neighbours, scaling and k; margins and kernels</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41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code/ch12_margins_kernels_tuning.py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Margins, Kernels and a Tuning Grid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BF68C487-87E3-4CA8-B70D-15AD09C969CD}"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code/ch12_margins_kernels_tuning.py</a:t>
            </a:r>
          </a:p>
        </p:txBody>
      </p:sp>
      <p:sp>
        <p:nvSpPr>
          <p:cNvPr id="14" name="!!code-text" descr="import numpy as np from sklearn.svm import SVC from sklearn.datasets import make_circles from sklearn.model_selection import cross_val_score, GridSearchCV from sklearn.pipeline import make_pipeline from sklearn.preprocessing import StandardScaler"/>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svm</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SVC</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make_circles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cross_val_score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GridSearchCV</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Margins, Kernels and a Tuning Grid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E777C386-E96C-4696-B706-04C4BDEB6E6B}"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 a maximum-margin line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code/ch12_margins_kernels_tuning.py</a:t>
            </a:r>
          </a:p>
        </p:txBody>
      </p:sp>
      <p:sp>
        <p:nvSpPr>
          <p:cNvPr id="14" name="!!code-text" descr="# --- 1. the worked example: a maximum-margin line ------------------------ X = np.array([[2, 2], [3, 2], [2, 4], [0, 0], [-1, -1], [1, -2]]) y = np.array([1, 1, 1, -1, -1, -1]) svm = SVC(kernel=&quot;linear&quot;, C=1e6).fit(X, y) # huge C = hard margin w, b = svm.coef_[0], svm.intercept_[0] print(&quot;w =&quot;, w.round(3), &quot; b =&quot;, round(b, 3)) print(&quot;margin width 2/||w|| =&quot;, round(2 / np.linalg.norm(w), 3)) print(&quot;support vectors:&quot;, svm.support_vectors_.tolist()) print(&quot;f(1.5, 1) =&quot;, round(float(svm.decision_function([[1.5, 1]])[0]), 3))"/>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worked example: a maximum-margin line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svm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SVC</a:t>
            </a:r>
            <a:r>
              <a:rPr sz="1800" i="0">
                <a:solidFill>
                  <a:srgbClr val="AEB6BF"/>
                </a:solidFill>
                <a:latin typeface="Consolas"/>
              </a:rPr>
              <a:t>(</a:t>
            </a:r>
            <a:r>
              <a:rPr sz="1800" i="0">
                <a:solidFill>
                  <a:srgbClr val="E8EDF2"/>
                </a:solidFill>
                <a:latin typeface="Consolas"/>
              </a:rPr>
              <a:t>kernel</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linear</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a:t>
            </a:r>
            <a:r>
              <a:rPr sz="1800" i="0">
                <a:solidFill>
                  <a:srgbClr val="AEB6BF"/>
                </a:solidFill>
                <a:latin typeface="Consolas"/>
              </a:rPr>
              <a:t>=</a:t>
            </a:r>
            <a:r>
              <a:rPr sz="1800" i="0">
                <a:solidFill>
                  <a:srgbClr val="F7DC6F"/>
                </a:solidFill>
                <a:latin typeface="Consolas"/>
              </a:rPr>
              <a:t>1e6</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huge C = hard margin</a:t>
            </a:r>
          </a:p>
          <a:p>
            <a:pPr>
              <a:lnSpc>
                <a:spcPct val="100000"/>
              </a:lnSpc>
              <a:spcAft>
                <a:spcPts val="0"/>
              </a:spcAft>
            </a:pPr>
            <a:r>
              <a:rPr sz="1800" i="0">
                <a:solidFill>
                  <a:srgbClr val="E8EDF2"/>
                </a:solidFill>
                <a:latin typeface="Consolas"/>
              </a:rPr>
              <a:t>w</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svm</a:t>
            </a:r>
            <a:r>
              <a:rPr sz="1800" i="0">
                <a:solidFill>
                  <a:srgbClr val="AEB6BF"/>
                </a:solidFill>
                <a:latin typeface="Consolas"/>
              </a:rPr>
              <a:t>.</a:t>
            </a:r>
            <a:r>
              <a:rPr sz="1800" i="0">
                <a:solidFill>
                  <a:srgbClr val="E8EDF2"/>
                </a:solidFill>
                <a:latin typeface="Consolas"/>
              </a:rPr>
              <a:t>coef_</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svm</a:t>
            </a:r>
            <a:r>
              <a:rPr sz="1800" i="0">
                <a:solidFill>
                  <a:srgbClr val="AEB6BF"/>
                </a:solidFill>
                <a:latin typeface="Consolas"/>
              </a:rPr>
              <a:t>.</a:t>
            </a:r>
            <a:r>
              <a:rPr sz="1800" i="0">
                <a:solidFill>
                  <a:srgbClr val="E8EDF2"/>
                </a:solidFill>
                <a:latin typeface="Consolas"/>
              </a:rPr>
              <a:t>intercept_</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w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 b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b</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margin width 2/||w||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linalg</a:t>
            </a:r>
            <a:r>
              <a:rPr sz="1800" i="0">
                <a:solidFill>
                  <a:srgbClr val="AEB6BF"/>
                </a:solidFill>
                <a:latin typeface="Consolas"/>
              </a:rPr>
              <a:t>.</a:t>
            </a:r>
            <a:r>
              <a:rPr sz="1800" i="0">
                <a:solidFill>
                  <a:srgbClr val="E8EDF2"/>
                </a:solidFill>
                <a:latin typeface="Consolas"/>
              </a:rPr>
              <a:t>norm</a:t>
            </a:r>
            <a:r>
              <a:rPr sz="1800" i="0">
                <a:solidFill>
                  <a:srgbClr val="AEB6BF"/>
                </a:solidFill>
                <a:latin typeface="Consolas"/>
              </a:rPr>
              <a:t>(</a:t>
            </a:r>
            <a:r>
              <a:rPr sz="1800" i="0">
                <a:solidFill>
                  <a:srgbClr val="E8EDF2"/>
                </a:solidFill>
                <a:latin typeface="Consolas"/>
              </a:rPr>
              <a:t>w</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support vectors: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svm</a:t>
            </a:r>
            <a:r>
              <a:rPr sz="1800" i="0">
                <a:solidFill>
                  <a:srgbClr val="AEB6BF"/>
                </a:solidFill>
                <a:latin typeface="Consolas"/>
              </a:rPr>
              <a:t>.</a:t>
            </a:r>
            <a:r>
              <a:rPr sz="1800" i="0">
                <a:solidFill>
                  <a:srgbClr val="E8EDF2"/>
                </a:solidFill>
                <a:latin typeface="Consolas"/>
              </a:rPr>
              <a:t>support_vectors_</a:t>
            </a:r>
            <a:r>
              <a:rPr sz="1800" i="0">
                <a:solidFill>
                  <a:srgbClr val="AEB6BF"/>
                </a:solidFill>
                <a:latin typeface="Consolas"/>
              </a:rPr>
              <a:t>.</a:t>
            </a:r>
            <a:r>
              <a:rPr sz="1800" i="0">
                <a:solidFill>
                  <a:srgbClr val="E8EDF2"/>
                </a:solidFill>
                <a:latin typeface="Consolas"/>
              </a:rPr>
              <a:t>tolist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f(1.5, 1)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C39BD3"/>
                </a:solidFill>
                <a:latin typeface="Consolas"/>
              </a:rPr>
              <a:t>float</a:t>
            </a:r>
            <a:r>
              <a:rPr sz="1800" i="0">
                <a:solidFill>
                  <a:srgbClr val="AEB6BF"/>
                </a:solidFill>
                <a:latin typeface="Consolas"/>
              </a:rPr>
              <a:t>(</a:t>
            </a:r>
            <a:r>
              <a:rPr sz="1800" i="0">
                <a:solidFill>
                  <a:srgbClr val="E8EDF2"/>
                </a:solidFill>
                <a:latin typeface="Consolas"/>
              </a:rPr>
              <a:t>svm</a:t>
            </a:r>
            <a:r>
              <a:rPr sz="1800" i="0">
                <a:solidFill>
                  <a:srgbClr val="AEB6BF"/>
                </a:solidFill>
                <a:latin typeface="Consolas"/>
              </a:rPr>
              <a:t>.</a:t>
            </a:r>
            <a:r>
              <a:rPr sz="1800" i="0">
                <a:solidFill>
                  <a:srgbClr val="E8EDF2"/>
                </a:solidFill>
                <a:latin typeface="Consolas"/>
              </a:rPr>
              <a:t>decision_function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Margins, Kernels and a Tuning Grid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8BAEFE88-D05A-4E2A-9BFB-A3B9DB02F4A7}"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problem no line can solve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code/ch12_margins_kernels_tuning.py</a:t>
            </a:r>
          </a:p>
        </p:txBody>
      </p:sp>
      <p:sp>
        <p:nvSpPr>
          <p:cNvPr id="14" name="!!code-text" descr="# --- 2. a problem no line can solve -------------------------------------- Xc, yc = make_circles(n_samples=400, noise=0.08, factor=0.4, random_state=0) for kernel in (&quot;linear&quot;, &quot;poly&quot;, &quot;rbf&quot;): acc = cross_val_score(SVC(kernel=kernel, degree=2), Xc, yc, cv=5).mean() print(f&quot;circles, {kernel:6s} kernel: accuracy {acc:.3f}&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a problem no line can solve --------------------------------------</a:t>
            </a:r>
          </a:p>
          <a:p>
            <a:pPr>
              <a:lnSpc>
                <a:spcPct val="100000"/>
              </a:lnSpc>
              <a:spcAft>
                <a:spcPts val="0"/>
              </a:spcAft>
            </a:pPr>
            <a:r>
              <a:rPr sz="1800" i="0">
                <a:solidFill>
                  <a:srgbClr val="E8EDF2"/>
                </a:solidFill>
                <a:latin typeface="Consolas"/>
              </a:rPr>
              <a:t>Xc</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make_circles</a:t>
            </a:r>
            <a:r>
              <a:rPr sz="1800" i="0">
                <a:solidFill>
                  <a:srgbClr val="AEB6BF"/>
                </a:solidFill>
                <a:latin typeface="Consolas"/>
              </a:rPr>
              <a:t>(</a:t>
            </a:r>
            <a:r>
              <a:rPr sz="1800" i="0">
                <a:solidFill>
                  <a:srgbClr val="E8EDF2"/>
                </a:solidFill>
                <a:latin typeface="Consolas"/>
              </a:rPr>
              <a:t>n_samples</a:t>
            </a:r>
            <a:r>
              <a:rPr sz="1800" i="0">
                <a:solidFill>
                  <a:srgbClr val="AEB6BF"/>
                </a:solidFill>
                <a:latin typeface="Consolas"/>
              </a:rPr>
              <a:t>=</a:t>
            </a:r>
            <a:r>
              <a:rPr sz="1800" i="0">
                <a:solidFill>
                  <a:srgbClr val="F7DC6F"/>
                </a:solidFill>
                <a:latin typeface="Consolas"/>
              </a:rPr>
              <a:t>400</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noise</a:t>
            </a:r>
            <a:r>
              <a:rPr sz="1800" i="0">
                <a:solidFill>
                  <a:srgbClr val="AEB6BF"/>
                </a:solidFill>
                <a:latin typeface="Consolas"/>
              </a:rPr>
              <a:t>=</a:t>
            </a:r>
            <a:r>
              <a:rPr sz="1800" i="0">
                <a:solidFill>
                  <a:srgbClr val="F7DC6F"/>
                </a:solidFill>
                <a:latin typeface="Consolas"/>
              </a:rPr>
              <a:t>0.08</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factor</a:t>
            </a:r>
            <a:r>
              <a:rPr sz="1800" i="0">
                <a:solidFill>
                  <a:srgbClr val="AEB6BF"/>
                </a:solidFill>
                <a:latin typeface="Consolas"/>
              </a:rPr>
              <a:t>=</a:t>
            </a:r>
            <a:r>
              <a:rPr sz="1800" i="0">
                <a:solidFill>
                  <a:srgbClr val="F7DC6F"/>
                </a:solidFill>
                <a:latin typeface="Consolas"/>
              </a:rPr>
              <a:t>0.4</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kernel</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linear</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poly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rbf</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acc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cross_val_score</a:t>
            </a:r>
            <a:r>
              <a:rPr sz="1800" i="0">
                <a:solidFill>
                  <a:srgbClr val="AEB6BF"/>
                </a:solidFill>
                <a:latin typeface="Consolas"/>
              </a:rPr>
              <a:t>(</a:t>
            </a:r>
            <a:r>
              <a:rPr sz="1800" i="0">
                <a:solidFill>
                  <a:srgbClr val="E8EDF2"/>
                </a:solidFill>
                <a:latin typeface="Consolas"/>
              </a:rPr>
              <a:t>SVC</a:t>
            </a:r>
            <a:r>
              <a:rPr sz="1800" i="0">
                <a:solidFill>
                  <a:srgbClr val="AEB6BF"/>
                </a:solidFill>
                <a:latin typeface="Consolas"/>
              </a:rPr>
              <a:t>(</a:t>
            </a:r>
            <a:r>
              <a:rPr sz="1800" i="0">
                <a:solidFill>
                  <a:srgbClr val="E8EDF2"/>
                </a:solidFill>
                <a:latin typeface="Consolas"/>
              </a:rPr>
              <a:t>kernel</a:t>
            </a:r>
            <a:r>
              <a:rPr sz="1800" i="0">
                <a:solidFill>
                  <a:srgbClr val="AEB6BF"/>
                </a:solidFill>
                <a:latin typeface="Consolas"/>
              </a:rPr>
              <a:t>=</a:t>
            </a:r>
            <a:r>
              <a:rPr sz="1800" i="0">
                <a:solidFill>
                  <a:srgbClr val="E8EDF2"/>
                </a:solidFill>
                <a:latin typeface="Consolas"/>
              </a:rPr>
              <a:t>kernel</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degree</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Xc</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yc</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circles, </a:t>
            </a:r>
            <a:r>
              <a:rPr sz="1800" i="0">
                <a:solidFill>
                  <a:srgbClr val="7DCEA0"/>
                </a:solidFill>
                <a:latin typeface="Consolas"/>
              </a:rPr>
              <a:t>{</a:t>
            </a:r>
            <a:r>
              <a:rPr sz="1800" i="0">
                <a:solidFill>
                  <a:srgbClr val="E8EDF2"/>
                </a:solidFill>
                <a:latin typeface="Consolas"/>
              </a:rPr>
              <a:t>kernel</a:t>
            </a:r>
            <a:r>
              <a:rPr sz="1800" i="0">
                <a:solidFill>
                  <a:srgbClr val="7DCEA0"/>
                </a:solidFill>
                <a:latin typeface="Consolas"/>
              </a:rPr>
              <a:t>:</a:t>
            </a:r>
            <a:r>
              <a:rPr sz="1800" i="0">
                <a:solidFill>
                  <a:srgbClr val="7DCEA0"/>
                </a:solidFill>
                <a:latin typeface="Consolas"/>
              </a:rPr>
              <a:t>6s</a:t>
            </a:r>
            <a:r>
              <a:rPr sz="1800" i="0">
                <a:solidFill>
                  <a:srgbClr val="7DCEA0"/>
                </a:solidFill>
                <a:latin typeface="Consolas"/>
              </a:rPr>
              <a:t>}</a:t>
            </a:r>
            <a:r>
              <a:rPr sz="1800" i="0">
                <a:solidFill>
                  <a:srgbClr val="7DCEA0"/>
                </a:solidFill>
                <a:latin typeface="Consolas"/>
              </a:rPr>
              <a:t> kernel: accuracy </a:t>
            </a:r>
            <a:r>
              <a:rPr sz="1800" i="0">
                <a:solidFill>
                  <a:srgbClr val="7DCEA0"/>
                </a:solidFill>
                <a:latin typeface="Consolas"/>
              </a:rPr>
              <a:t>{</a:t>
            </a:r>
            <a:r>
              <a:rPr sz="1800" i="0">
                <a:solidFill>
                  <a:srgbClr val="E8EDF2"/>
                </a:solidFill>
                <a:latin typeface="Consolas"/>
              </a:rPr>
              <a:t>acc</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Margins, Kernels and a Tuning Grid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29D57201-F47F-4546-9DC5-FBDCA4B8C49D}"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Tune C and gamma together, features scaled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code/ch12_margins_kernels_tuning.py</a:t>
            </a:r>
          </a:p>
        </p:txBody>
      </p:sp>
      <p:sp>
        <p:nvSpPr>
          <p:cNvPr id="14" name="!!code-text" descr="# --- 3. tune C and gamma together, features scaled ----------------------- rng = np.random.default_rng(11) # the projects of Chapter 11 n = 600 Xb = np.column_stack([rng.uniform(20, 100, n), # requirement stability rng.uniform(20, 100, n), # team experience rng.uniform(50, 2000, n), # budget, thousand USD rng.uniform(4, 52, n)]) # planned weeks yb = (Xb[:, 0] * Xb[:, 1] &lt; 2500).astype(int) # 1 = late flip = rng.random(n) &lt; 0.05 yb[flip] = 1 - yb[flip] pipe = make_pipeline(StandardScaler(), SVC(kernel=&quot;rbf&quot;)) grid = GridSearchCV(pipe, {&quot;svc__C&quot;: [0.1, 1, 10, 100], &quot;svc__gamma&quot;: [0.001, 0.01, 0.1, 1]}, cv=5) grid.fit(Xb, yb) print(&quot;best:&quot;, grid.best_params_, &quot;CV accuracy&quot;, round(grid.best_score_, 3)) print(&quot;support vectors used:&quot;, grid.best_estimator_[-1].n_support_.sum(), &quot;of&quot;, len(yb))"/>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--- 3. tune C and gamma together, features scaled -----------------------</a:t>
            </a:r>
          </a:p>
          <a:p>
            <a:pPr>
              <a:lnSpc>
                <a:spcPct val="100000"/>
              </a:lnSpc>
              <a:spcAft>
                <a:spcPts val="0"/>
              </a:spcAft>
            </a:pPr>
            <a:r>
              <a:rPr sz="1300" i="0">
                <a:solidFill>
                  <a:srgbClr val="E8EDF2"/>
                </a:solidFill>
                <a:latin typeface="Consolas"/>
              </a:rPr>
              <a:t>rng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default_rng</a:t>
            </a:r>
            <a:r>
              <a:rPr sz="1300" i="0">
                <a:solidFill>
                  <a:srgbClr val="AEB6BF"/>
                </a:solidFill>
                <a:latin typeface="Consolas"/>
              </a:rPr>
              <a:t>(</a:t>
            </a:r>
            <a:r>
              <a:rPr sz="1300" i="0">
                <a:solidFill>
                  <a:srgbClr val="F7DC6F"/>
                </a:solidFill>
                <a:latin typeface="Consolas"/>
              </a:rPr>
              <a:t>11</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the projects of Chapter 11</a:t>
            </a:r>
          </a:p>
          <a:p>
            <a:pPr>
              <a:lnSpc>
                <a:spcPct val="100000"/>
              </a:lnSpc>
              <a:spcAft>
                <a:spcPts val="0"/>
              </a:spcAft>
            </a:pPr>
            <a:r>
              <a:rPr sz="1300" i="0">
                <a:solidFill>
                  <a:srgbClr val="E8EDF2"/>
                </a:solidFill>
                <a:latin typeface="Consolas"/>
              </a:rPr>
              <a:t>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600</a:t>
            </a:r>
          </a:p>
          <a:p>
            <a:pPr>
              <a:lnSpc>
                <a:spcPct val="100000"/>
              </a:lnSpc>
              <a:spcAft>
                <a:spcPts val="0"/>
              </a:spcAft>
            </a:pPr>
            <a:r>
              <a:rPr sz="1300" i="0">
                <a:solidFill>
                  <a:srgbClr val="E8EDF2"/>
                </a:solidFill>
                <a:latin typeface="Consolas"/>
              </a:rPr>
              <a:t>Xb</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np</a:t>
            </a:r>
            <a:r>
              <a:rPr sz="1300" i="0">
                <a:solidFill>
                  <a:srgbClr val="AEB6BF"/>
                </a:solidFill>
                <a:latin typeface="Consolas"/>
              </a:rPr>
              <a:t>.</a:t>
            </a:r>
            <a:r>
              <a:rPr sz="1300" i="0">
                <a:solidFill>
                  <a:srgbClr val="E8EDF2"/>
                </a:solidFill>
                <a:latin typeface="Consolas"/>
              </a:rPr>
              <a:t>column_stack</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uniform</a:t>
            </a:r>
            <a:r>
              <a:rPr sz="1300" i="0">
                <a:solidFill>
                  <a:srgbClr val="AEB6BF"/>
                </a:solidFill>
                <a:latin typeface="Consolas"/>
              </a:rPr>
              <a:t>(</a:t>
            </a:r>
            <a:r>
              <a:rPr sz="1300" i="0">
                <a:solidFill>
                  <a:srgbClr val="F7DC6F"/>
                </a:solidFill>
                <a:latin typeface="Consolas"/>
              </a:rPr>
              <a:t>20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requirement stability</a:t>
            </a:r>
          </a:p>
          <a:p>
            <a:pPr>
              <a:lnSpc>
                <a:spcPct val="100000"/>
              </a:lnSpc>
              <a:spcAft>
                <a:spcPts val="0"/>
              </a:spcAft>
            </a:pP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uniform</a:t>
            </a:r>
            <a:r>
              <a:rPr sz="1300" i="0">
                <a:solidFill>
                  <a:srgbClr val="AEB6BF"/>
                </a:solidFill>
                <a:latin typeface="Consolas"/>
              </a:rPr>
              <a:t>(</a:t>
            </a:r>
            <a:r>
              <a:rPr sz="1300" i="0">
                <a:solidFill>
                  <a:srgbClr val="F7DC6F"/>
                </a:solidFill>
                <a:latin typeface="Consolas"/>
              </a:rPr>
              <a:t>20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team experience</a:t>
            </a:r>
          </a:p>
          <a:p>
            <a:pPr>
              <a:lnSpc>
                <a:spcPct val="100000"/>
              </a:lnSpc>
              <a:spcAft>
                <a:spcPts val="0"/>
              </a:spcAft>
            </a:pP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uniform</a:t>
            </a:r>
            <a:r>
              <a:rPr sz="1300" i="0">
                <a:solidFill>
                  <a:srgbClr val="AEB6BF"/>
                </a:solidFill>
                <a:latin typeface="Consolas"/>
              </a:rPr>
              <a:t>(</a:t>
            </a:r>
            <a:r>
              <a:rPr sz="1300" i="0">
                <a:solidFill>
                  <a:srgbClr val="F7DC6F"/>
                </a:solidFill>
                <a:latin typeface="Consolas"/>
              </a:rPr>
              <a:t>50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2000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budget, thousand USD</a:t>
            </a:r>
          </a:p>
          <a:p>
            <a:pPr>
              <a:lnSpc>
                <a:spcPct val="100000"/>
              </a:lnSpc>
              <a:spcAft>
                <a:spcPts val="0"/>
              </a:spcAft>
            </a:pP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uniform</a:t>
            </a:r>
            <a:r>
              <a:rPr sz="1300" i="0">
                <a:solidFill>
                  <a:srgbClr val="AEB6BF"/>
                </a:solidFill>
                <a:latin typeface="Consolas"/>
              </a:rPr>
              <a:t>(</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52</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planned weeks</a:t>
            </a:r>
          </a:p>
          <a:p>
            <a:pPr>
              <a:lnSpc>
                <a:spcPct val="100000"/>
              </a:lnSpc>
              <a:spcAft>
                <a:spcPts val="0"/>
              </a:spcAft>
            </a:pPr>
            <a:r>
              <a:rPr sz="1300" i="0">
                <a:solidFill>
                  <a:srgbClr val="E8EDF2"/>
                </a:solidFill>
                <a:latin typeface="Consolas"/>
              </a:rPr>
              <a:t>yb</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Xb</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Xb</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F7DC6F"/>
                </a:solidFill>
                <a:latin typeface="Consolas"/>
              </a:rPr>
              <a:t>2500</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astype</a:t>
            </a:r>
            <a:r>
              <a:rPr sz="1300" i="0">
                <a:solidFill>
                  <a:srgbClr val="AEB6BF"/>
                </a:solidFill>
                <a:latin typeface="Consolas"/>
              </a:rPr>
              <a:t>(</a:t>
            </a:r>
            <a:r>
              <a:rPr sz="1300" i="0">
                <a:solidFill>
                  <a:srgbClr val="C39BD3"/>
                </a:solidFill>
                <a:latin typeface="Consolas"/>
              </a:rPr>
              <a:t>int</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1 = late</a:t>
            </a:r>
          </a:p>
          <a:p>
            <a:pPr>
              <a:lnSpc>
                <a:spcPct val="100000"/>
              </a:lnSpc>
              <a:spcAft>
                <a:spcPts val="0"/>
              </a:spcAft>
            </a:pPr>
            <a:r>
              <a:rPr sz="1300" i="0">
                <a:solidFill>
                  <a:srgbClr val="E8EDF2"/>
                </a:solidFill>
                <a:latin typeface="Consolas"/>
              </a:rPr>
              <a:t>flip</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n</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F7DC6F"/>
                </a:solidFill>
                <a:latin typeface="Consolas"/>
              </a:rPr>
              <a:t>0.05</a:t>
            </a:r>
          </a:p>
          <a:p>
            <a:pPr>
              <a:lnSpc>
                <a:spcPct val="100000"/>
              </a:lnSpc>
              <a:spcAft>
                <a:spcPts val="0"/>
              </a:spcAft>
            </a:pPr>
            <a:r>
              <a:rPr sz="1300" i="0">
                <a:solidFill>
                  <a:srgbClr val="E8EDF2"/>
                </a:solidFill>
                <a:latin typeface="Consolas"/>
              </a:rPr>
              <a:t>yb</a:t>
            </a:r>
            <a:r>
              <a:rPr sz="1300" i="0">
                <a:solidFill>
                  <a:srgbClr val="AEB6BF"/>
                </a:solidFill>
                <a:latin typeface="Consolas"/>
              </a:rPr>
              <a:t>[</a:t>
            </a:r>
            <a:r>
              <a:rPr sz="1300" i="0">
                <a:solidFill>
                  <a:srgbClr val="E8EDF2"/>
                </a:solidFill>
                <a:latin typeface="Consolas"/>
              </a:rPr>
              <a:t>flip</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yb</a:t>
            </a:r>
            <a:r>
              <a:rPr sz="1300" i="0">
                <a:solidFill>
                  <a:srgbClr val="AEB6BF"/>
                </a:solidFill>
                <a:latin typeface="Consolas"/>
              </a:rPr>
              <a:t>[</a:t>
            </a:r>
            <a:r>
              <a:rPr sz="1300" i="0">
                <a:solidFill>
                  <a:srgbClr val="E8EDF2"/>
                </a:solidFill>
                <a:latin typeface="Consolas"/>
              </a:rPr>
              <a:t>flip</a:t>
            </a:r>
            <a:r>
              <a:rPr sz="1300" i="0">
                <a:solidFill>
                  <a:srgbClr val="AEB6BF"/>
                </a:solidFill>
                <a:latin typeface="Consolas"/>
              </a:rPr>
              <a:t>]</a:t>
            </a:r>
          </a:p>
          <a:p>
            <a:pPr>
              <a:lnSpc>
                <a:spcPct val="100000"/>
              </a:lnSpc>
              <a:spcAft>
                <a:spcPts val="0"/>
              </a:spcAft>
            </a:pPr>
            <a:r>
              <a:rPr sz="1300" i="0">
                <a:solidFill>
                  <a:srgbClr val="E8EDF2"/>
                </a:solidFill>
                <a:latin typeface="Consolas"/>
              </a:rPr>
              <a:t>pipe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make_pipeline</a:t>
            </a:r>
            <a:r>
              <a:rPr sz="1300" i="0">
                <a:solidFill>
                  <a:srgbClr val="AEB6BF"/>
                </a:solidFill>
                <a:latin typeface="Consolas"/>
              </a:rPr>
              <a:t>(</a:t>
            </a:r>
            <a:r>
              <a:rPr sz="1300" i="0">
                <a:solidFill>
                  <a:srgbClr val="E8EDF2"/>
                </a:solidFill>
                <a:latin typeface="Consolas"/>
              </a:rPr>
              <a:t>StandardScaler</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SVC</a:t>
            </a:r>
            <a:r>
              <a:rPr sz="1300" i="0">
                <a:solidFill>
                  <a:srgbClr val="AEB6BF"/>
                </a:solidFill>
                <a:latin typeface="Consolas"/>
              </a:rPr>
              <a:t>(</a:t>
            </a:r>
            <a:r>
              <a:rPr sz="1300" i="0">
                <a:solidFill>
                  <a:srgbClr val="E8EDF2"/>
                </a:solidFill>
                <a:latin typeface="Consolas"/>
              </a:rPr>
              <a:t>kernel</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rbf</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grid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GridSearchCV</a:t>
            </a:r>
            <a:r>
              <a:rPr sz="1300" i="0">
                <a:solidFill>
                  <a:srgbClr val="AEB6BF"/>
                </a:solidFill>
                <a:latin typeface="Consolas"/>
              </a:rPr>
              <a:t>(</a:t>
            </a:r>
            <a:r>
              <a:rPr sz="1300" i="0">
                <a:solidFill>
                  <a:srgbClr val="E8EDF2"/>
                </a:solidFill>
                <a:latin typeface="Consolas"/>
              </a:rPr>
              <a:t>pipe</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svc__C</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0.1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100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svc__gamma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0.001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0.01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0.1</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cv</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p>
          <a:p>
            <a:pPr>
              <a:lnSpc>
                <a:spcPct val="100000"/>
              </a:lnSpc>
              <a:spcAft>
                <a:spcPts val="0"/>
              </a:spcAft>
            </a:pP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fit</a:t>
            </a:r>
            <a:r>
              <a:rPr sz="1300" i="0">
                <a:solidFill>
                  <a:srgbClr val="AEB6BF"/>
                </a:solidFill>
                <a:latin typeface="Consolas"/>
              </a:rPr>
              <a:t>(</a:t>
            </a:r>
            <a:r>
              <a:rPr sz="1300" i="0">
                <a:solidFill>
                  <a:srgbClr val="E8EDF2"/>
                </a:solidFill>
                <a:latin typeface="Consolas"/>
              </a:rPr>
              <a:t>Xb</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yb</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best: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best_params_</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CV accuracy</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round</a:t>
            </a:r>
            <a:r>
              <a:rPr sz="1300" i="0">
                <a:solidFill>
                  <a:srgbClr val="AEB6BF"/>
                </a:solidFill>
                <a:latin typeface="Consolas"/>
              </a:rPr>
              <a:t>(</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best_score_</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support vectors used:</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grid</a:t>
            </a:r>
            <a:r>
              <a:rPr sz="1300" i="0">
                <a:solidFill>
                  <a:srgbClr val="AEB6BF"/>
                </a:solidFill>
                <a:latin typeface="Consolas"/>
              </a:rPr>
              <a:t>.</a:t>
            </a:r>
            <a:r>
              <a:rPr sz="1300" i="0">
                <a:solidFill>
                  <a:srgbClr val="E8EDF2"/>
                </a:solidFill>
                <a:latin typeface="Consolas"/>
              </a:rPr>
              <a:t>best_estimator_</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n_support_</a:t>
            </a:r>
            <a:r>
              <a:rPr sz="1300" i="0">
                <a:solidFill>
                  <a:srgbClr val="AEB6BF"/>
                </a:solidFill>
                <a:latin typeface="Consolas"/>
              </a:rPr>
              <a:t>.</a:t>
            </a:r>
            <a:r>
              <a:rPr sz="1300" i="0">
                <a:solidFill>
                  <a:srgbClr val="E8EDF2"/>
                </a:solidFill>
                <a:latin typeface="Consolas"/>
              </a:rPr>
              <a:t>sum</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of</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yb</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a:p>
            <a:pPr algn="r">
              <a:lnSpc>
                <a:spcPct val="100000"/>
              </a:lnSpc>
            </a:pPr>
            <a:r>
              <a:rPr sz="1300">
                <a:solidFill>
                  <a:srgbClr val="4F5D6A"/>
                </a:solidFill>
                <a:latin typeface="Consolas"/>
              </a:rPr>
              <a:t>36</a:t>
            </a:r>
          </a:p>
          <a:p>
            <a:pPr algn="r">
              <a:lnSpc>
                <a:spcPct val="100000"/>
              </a:lnSpc>
            </a:pPr>
            <a:r>
              <a:rPr sz="1300">
                <a:solidFill>
                  <a:srgbClr val="4F5D6A"/>
                </a:solidFill>
                <a:latin typeface="Consolas"/>
              </a:rPr>
              <a:t>37</a:t>
            </a:r>
          </a:p>
          <a:p>
            <a:pPr algn="r">
              <a:lnSpc>
                <a:spcPct val="100000"/>
              </a:lnSpc>
            </a:pPr>
            <a:r>
              <a:rPr sz="1300">
                <a:solidFill>
                  <a:srgbClr val="4F5D6A"/>
                </a:solidFill>
                <a:latin typeface="Consolas"/>
              </a:rPr>
              <a:t>38</a:t>
            </a:r>
          </a:p>
          <a:p>
            <a:pPr algn="r">
              <a:lnSpc>
                <a:spcPct val="100000"/>
              </a:lnSpc>
            </a:pPr>
            <a:r>
              <a:rPr sz="1300">
                <a:solidFill>
                  <a:srgbClr val="4F5D6A"/>
                </a:solidFill>
                <a:latin typeface="Consolas"/>
              </a:rPr>
              <a:t>39</a:t>
            </a:r>
          </a:p>
          <a:p>
            <a:pPr algn="r">
              <a:lnSpc>
                <a:spcPct val="100000"/>
              </a:lnSpc>
            </a:pPr>
            <a:r>
              <a:rPr sz="1300">
                <a:solidFill>
                  <a:srgbClr val="4F5D6A"/>
                </a:solidFill>
                <a:latin typeface="Consolas"/>
              </a:rPr>
              <a:t>40</a:t>
            </a:r>
          </a:p>
          <a:p>
            <a:pPr algn="r">
              <a:lnSpc>
                <a:spcPct val="100000"/>
              </a:lnSpc>
            </a:pPr>
            <a:r>
              <a:rPr sz="1300">
                <a:solidFill>
                  <a:srgbClr val="4F5D6A"/>
                </a:solidFill>
                <a:latin typeface="Consolas"/>
              </a:rPr>
              <a:t>41</a:t>
            </a:r>
          </a:p>
          <a:p>
            <a:pPr algn="r">
              <a:lnSpc>
                <a:spcPct val="100000"/>
              </a:lnSpc>
            </a:pPr>
            <a:r>
              <a:rPr sz="13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B0BCC2E0-1E3B-4C02-A3F8-E6FE5BF3A500}"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 part 1, add the point </a:t>
            </a:r>
            <a:r>
              <a:rPr sz="2300" b="0" i="0">
                <a:solidFill>
                  <a:srgbClr val="1C252B"/>
                </a:solidFill>
                <a:latin typeface="Cambria"/>
              </a:rPr>
              <a:t>(1, 1.5)</a:t>
            </a:r>
            <a:r>
              <a:rPr sz="2300" b="0" i="0">
                <a:solidFill>
                  <a:srgbClr val="1C252B"/>
                </a:solidFill>
                <a:latin typeface="Segoe UI"/>
              </a:rPr>
              <a:t> with label </a:t>
            </a:r>
            <a:r>
              <a:rPr sz="2300" b="0" i="0">
                <a:solidFill>
                  <a:srgbClr val="1C252B"/>
                </a:solidFill>
                <a:latin typeface="Cambria"/>
              </a:rPr>
              <a:t>+1</a:t>
            </a:r>
            <a:r>
              <a:rPr sz="2300" b="0" i="0">
                <a:solidFill>
                  <a:srgbClr val="1C252B"/>
                </a:solidFill>
                <a:latin typeface="Segoe UI"/>
              </a:rPr>
              <a:t> and rerun. It lies inside the old margin: which support vectors change, and what happens to the margin width?</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linear SVM has </a:t>
            </a:r>
            <a:r>
              <a:rPr sz="3400" b="1" i="1">
                <a:solidFill>
                  <a:srgbClr val="FFFFFF"/>
                </a:solidFill>
                <a:latin typeface="Cambria"/>
              </a:rPr>
              <a:t>w</a:t>
            </a:r>
            <a:r>
              <a:rPr sz="3400" b="0" i="0">
                <a:solidFill>
                  <a:srgbClr val="FFFFFF"/>
                </a:solidFill>
                <a:latin typeface="Cambria"/>
              </a:rPr>
              <a:t> = (3, 4)</a:t>
            </a:r>
            <a:r>
              <a:rPr sz="3400" b="0" i="0">
                <a:solidFill>
                  <a:srgbClr val="FFFFFF"/>
                </a:solidFill>
                <a:latin typeface="Segoe UI Semibold"/>
              </a:rPr>
              <a:t> and </a:t>
            </a:r>
            <a:r>
              <a:rPr sz="3400" b="0" i="1">
                <a:solidFill>
                  <a:srgbClr val="FFFFFF"/>
                </a:solidFill>
                <a:latin typeface="Cambria"/>
              </a:rPr>
              <a:t>b</a:t>
            </a:r>
            <a:r>
              <a:rPr sz="3400" b="0" i="0">
                <a:solidFill>
                  <a:srgbClr val="FFFFFF"/>
                </a:solidFill>
                <a:latin typeface="Cambria"/>
              </a:rPr>
              <a:t> = −5</a:t>
            </a:r>
            <a:r>
              <a:rPr sz="3400" b="0" i="0">
                <a:solidFill>
                  <a:srgbClr val="FFFFFF"/>
                </a:solidFill>
                <a:latin typeface="Segoe UI Semibold"/>
              </a:rPr>
              <a:t>. What is its margin width, and how is </a:t>
            </a:r>
            <a:r>
              <a:rPr sz="3400" b="0" i="0">
                <a:solidFill>
                  <a:srgbClr val="FFFFFF"/>
                </a:solidFill>
                <a:latin typeface="Cambria"/>
              </a:rPr>
              <a:t>(1, 1)</a:t>
            </a:r>
            <a:r>
              <a:rPr sz="3400" b="0" i="0">
                <a:solidFill>
                  <a:srgbClr val="FFFFFF"/>
                </a:solidFill>
                <a:latin typeface="Segoe UI Semibold"/>
              </a:rPr>
              <a:t> classified?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12  ·  Support Vector Machines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DD63592D-F4E4-4A34-B363-E9688D9C87A3}"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linear SVM has </a:t>
            </a:r>
            <a:r>
              <a:rPr sz="2400" b="1" i="1">
                <a:solidFill>
                  <a:srgbClr val="1A5276"/>
                </a:solidFill>
                <a:latin typeface="Cambria"/>
              </a:rPr>
              <a:t>w</a:t>
            </a:r>
            <a:r>
              <a:rPr sz="2400" b="0" i="0">
                <a:solidFill>
                  <a:srgbClr val="1A5276"/>
                </a:solidFill>
                <a:latin typeface="Cambria"/>
              </a:rPr>
              <a:t> = (3, 4)</a:t>
            </a:r>
            <a:r>
              <a:rPr sz="2400" b="0" i="0">
                <a:solidFill>
                  <a:srgbClr val="1A5276"/>
                </a:solidFill>
                <a:latin typeface="Segoe UI Semibold"/>
              </a:rPr>
              <a:t> and </a:t>
            </a:r>
            <a:r>
              <a:rPr sz="2400" b="0" i="1">
                <a:solidFill>
                  <a:srgbClr val="1A5276"/>
                </a:solidFill>
                <a:latin typeface="Cambria"/>
              </a:rPr>
              <a:t>b</a:t>
            </a:r>
            <a:r>
              <a:rPr sz="2400" b="0" i="0">
                <a:solidFill>
                  <a:srgbClr val="1A5276"/>
                </a:solidFill>
                <a:latin typeface="Cambria"/>
              </a:rPr>
              <a:t> = −5</a:t>
            </a:r>
            <a:r>
              <a:rPr sz="2400" b="0" i="0">
                <a:solidFill>
                  <a:srgbClr val="1A5276"/>
                </a:solidFill>
                <a:latin typeface="Segoe UI Semibold"/>
              </a:rPr>
              <a:t>. What is its margin width, and how is </a:t>
            </a:r>
            <a:r>
              <a:rPr sz="2400" b="0" i="0">
                <a:solidFill>
                  <a:srgbClr val="1A5276"/>
                </a:solidFill>
                <a:latin typeface="Cambria"/>
              </a:rPr>
              <a:t>(1, 1)</a:t>
            </a:r>
            <a:r>
              <a:rPr sz="2400" b="0" i="0">
                <a:solidFill>
                  <a:srgbClr val="1A5276"/>
                </a:solidFill>
                <a:latin typeface="Segoe UI Semibold"/>
              </a:rPr>
              <a:t> classified?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a:t>
            </a:r>
            <a:r>
              <a:rPr sz="2200" b="1" i="1">
                <a:solidFill>
                  <a:srgbClr val="1C252B"/>
                </a:solidFill>
                <a:latin typeface="Cambria"/>
              </a:rPr>
              <a:t>w</a:t>
            </a:r>
            <a:r>
              <a:rPr sz="2200" b="0" i="0">
                <a:solidFill>
                  <a:srgbClr val="1C252B"/>
                </a:solidFill>
                <a:latin typeface="Cambria"/>
              </a:rPr>
              <a:t>‖ = 5</a:t>
            </a:r>
            <a:r>
              <a:rPr sz="2200" b="0" i="0">
                <a:solidFill>
                  <a:srgbClr val="1C252B"/>
                </a:solidFill>
                <a:latin typeface="Segoe UI"/>
              </a:rPr>
              <a:t>, so the margin is </a:t>
            </a:r>
            <a:r>
              <a:rPr sz="2200" b="0" i="0">
                <a:solidFill>
                  <a:srgbClr val="1C252B"/>
                </a:solidFill>
                <a:latin typeface="Cambria"/>
              </a:rPr>
              <a:t>2/5 = 0.4</a:t>
            </a:r>
            <a:r>
              <a:rPr sz="2200" b="0" i="0">
                <a:solidFill>
                  <a:srgbClr val="1C252B"/>
                </a:solidFill>
                <a:latin typeface="Segoe UI"/>
              </a:rPr>
              <a:t>. </a:t>
            </a:r>
            <a:r>
              <a:rPr sz="2200" b="0" i="1">
                <a:solidFill>
                  <a:srgbClr val="1C252B"/>
                </a:solidFill>
                <a:latin typeface="Cambria"/>
              </a:rPr>
              <a:t>f</a:t>
            </a:r>
            <a:r>
              <a:rPr sz="2200" b="0" i="0">
                <a:solidFill>
                  <a:srgbClr val="1C252B"/>
                </a:solidFill>
                <a:latin typeface="Cambria"/>
              </a:rPr>
              <a:t>(1, 1) = 3 + 4 − 5 = 2 &gt; 0</a:t>
            </a:r>
            <a:r>
              <a:rPr sz="2200" b="0" i="0">
                <a:solidFill>
                  <a:srgbClr val="1C252B"/>
                </a:solidFill>
                <a:latin typeface="Segoe UI"/>
              </a:rPr>
              <a:t>: positive.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74554FDA-F24F-4ECE-A804-3626B2D56B6E}"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happens to the margin and to training errors as </a:t>
            </a:r>
            <a:r>
              <a:rPr sz="3400" b="0" i="1">
                <a:solidFill>
                  <a:srgbClr val="FFFFFF"/>
                </a:solidFill>
                <a:latin typeface="Cambria"/>
              </a:rPr>
              <a:t>C</a:t>
            </a:r>
            <a:r>
              <a:rPr sz="3400" b="0" i="0">
                <a:solidFill>
                  <a:srgbClr val="FFFFFF"/>
                </a:solidFill>
                <a:latin typeface="Segoe UI Semibold"/>
              </a:rPr>
              <a:t> is increased?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12  ·  Support Vector Machines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636385C6-50EB-4B33-A92D-9F04DFCEB951}"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What happens to the margin and to training errors as </a:t>
            </a:r>
            <a:r>
              <a:rPr sz="2400" b="0" i="1">
                <a:solidFill>
                  <a:srgbClr val="1A5276"/>
                </a:solidFill>
                <a:latin typeface="Cambria"/>
              </a:rPr>
              <a:t>C</a:t>
            </a:r>
            <a:r>
              <a:rPr sz="2400" b="0" i="0">
                <a:solidFill>
                  <a:srgbClr val="1A5276"/>
                </a:solidFill>
                <a:latin typeface="Segoe UI Semibold"/>
              </a:rPr>
              <a:t> is increased?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margin narrows and the model tolerates fewer violations, so training errors fall — and the risk of overfitting rises.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E856ECAF-2AA0-4CA1-8A9A-3EC10C2D2323}"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the kernel trick be applied to the SVM at all?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12  ·  Support Vector Machines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94  ·  answers in Appendix D     </a:t>
            </a:r>
            <a:fld id="{4247B564-494A-40FC-BB13-94FCF48E9704}"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can the kernel trick be applied to the SVM at all?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both the SVM’s optimisation and its decision function use the training examples only through dot products </a:t>
            </a:r>
            <a:r>
              <a:rPr sz="2200" b="1" i="1">
                <a:solidFill>
                  <a:srgbClr val="1C252B"/>
                </a:solidFill>
                <a:latin typeface="Cambria"/>
              </a:rPr>
              <a:t>x</a:t>
            </a:r>
            <a:r>
              <a:rPr sz="2200" b="0" i="1" baseline="-25000">
                <a:solidFill>
                  <a:srgbClr val="1C252B"/>
                </a:solidFill>
                <a:latin typeface="Cambria"/>
              </a:rPr>
              <a:t>i</a:t>
            </a:r>
            <a:r>
              <a:rPr sz="2200" b="0" i="0">
                <a:solidFill>
                  <a:srgbClr val="1C252B"/>
                </a:solidFill>
                <a:latin typeface="Cambria"/>
              </a:rPr>
              <a:t> · </a:t>
            </a:r>
            <a:r>
              <a:rPr sz="2200" b="1" i="1">
                <a:solidFill>
                  <a:srgbClr val="1C252B"/>
                </a:solidFill>
                <a:latin typeface="Cambria"/>
              </a:rPr>
              <a:t>x</a:t>
            </a:r>
            <a:r>
              <a:rPr sz="2200" b="0" i="1" baseline="-25000">
                <a:solidFill>
                  <a:srgbClr val="1C252B"/>
                </a:solidFill>
                <a:latin typeface="Cambria"/>
              </a:rPr>
              <a:t>j</a:t>
            </a:r>
            <a:r>
              <a:rPr sz="2200" b="0" i="0">
                <a:solidFill>
                  <a:srgbClr val="1C252B"/>
                </a:solidFill>
                <a:latin typeface="Segoe UI"/>
              </a:rPr>
              <a:t>, and each dot product can be replaced by a kernel.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  answers in Appendix D     </a:t>
            </a:r>
            <a:fld id="{5EEDBD70-D7A8-4D80-A87B-4D672171700C}"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187639B5-59C2-41B1-9BBD-A88228ABE0C2}"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Of all separating hyperplanes the SVM chooses the one with the widest margin, </a:t>
            </a:r>
            <a:r>
              <a:rPr sz="2100" b="0" i="0">
                <a:solidFill>
                  <a:srgbClr val="1C252B"/>
                </a:solidFill>
                <a:latin typeface="Cambria"/>
              </a:rPr>
              <a:t>2/‖</a:t>
            </a:r>
            <a:r>
              <a:rPr sz="2100" b="1" i="1">
                <a:solidFill>
                  <a:srgbClr val="1C252B"/>
                </a:solidFill>
                <a:latin typeface="Cambria"/>
              </a:rPr>
              <a:t>w</a:t>
            </a:r>
            <a:r>
              <a:rPr sz="2100" b="0" i="0">
                <a:solidFill>
                  <a:srgbClr val="1C252B"/>
                </a:solidFill>
                <a:latin typeface="Cambria"/>
              </a:rPr>
              <a:t>‖</a:t>
            </a:r>
            <a:r>
              <a:rPr sz="2100" b="0" i="0">
                <a:solidFill>
                  <a:srgbClr val="1C252B"/>
                </a:solidFill>
                <a:latin typeface="Segoe UI"/>
              </a:rPr>
              <a:t>; it is determined by the support vectors alone.</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soft-margin SVM allows violations priced by </a:t>
            </a:r>
            <a:r>
              <a:rPr sz="2100" b="0" i="1">
                <a:solidFill>
                  <a:srgbClr val="1C252B"/>
                </a:solidFill>
                <a:latin typeface="Cambria"/>
              </a:rPr>
              <a:t>C</a:t>
            </a:r>
            <a:r>
              <a:rPr sz="2100" b="0" i="0">
                <a:solidFill>
                  <a:srgbClr val="1C252B"/>
                </a:solidFill>
                <a:latin typeface="Segoe UI"/>
              </a:rPr>
              <a:t>, and is equivalent to hinge loss plus an L2 penalty. Large </a:t>
            </a:r>
            <a:r>
              <a:rPr sz="2100" b="0" i="1">
                <a:solidFill>
                  <a:srgbClr val="1C252B"/>
                </a:solidFill>
                <a:latin typeface="Cambria"/>
              </a:rPr>
              <a:t>C</a:t>
            </a:r>
            <a:r>
              <a:rPr sz="2100" b="0" i="0">
                <a:solidFill>
                  <a:srgbClr val="1C252B"/>
                </a:solidFill>
                <a:latin typeface="Segoe UI"/>
              </a:rPr>
              <a:t>: narrow margin, high variance.</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hinge loss is zero beyond the margin, which is why only support vectors matter.</a:t>
            </a:r>
          </a:p>
        </p:txBody>
      </p:sp>
      <p:sp>
        <p:nvSpPr>
          <p:cNvPr id="16" name="!!sb3">
            <a:extLst>
              <a:ext uri="{C183D7F6-B498-43B3-948B-1728B52AA6E4}">
                <adec:decorative xmlns:adec="http://schemas.microsoft.com/office/drawing/2017/decorative" val="1"/>
              </a:ext>
            </a:extLst>
          </p:cNvPr>
          <p:cNvSpPr/>
          <p:nvPr/>
        </p:nvSpPr>
        <p:spPr>
          <a:xfrm>
            <a:off x="658368" y="40288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837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19702"/>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Kernels compute dot products in a large feature space without building it; the RBF kernel is the default for non-linear problems.</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Scale the features and tune </a:t>
            </a:r>
            <a:r>
              <a:rPr sz="2100" b="0" i="1">
                <a:solidFill>
                  <a:srgbClr val="1C252B"/>
                </a:solidFill>
                <a:latin typeface="Cambria"/>
              </a:rPr>
              <a:t>C</a:t>
            </a:r>
            <a:r>
              <a:rPr sz="2100" b="0" i="0">
                <a:solidFill>
                  <a:srgbClr val="1C252B"/>
                </a:solidFill>
                <a:latin typeface="Segoe UI"/>
              </a:rPr>
              <a:t> and </a:t>
            </a:r>
            <a:r>
              <a:rPr sz="2100" b="0" i="0">
                <a:solidFill>
                  <a:srgbClr val="1C252B"/>
                </a:solidFill>
                <a:latin typeface="Cambria"/>
              </a:rPr>
              <a:t>γ</a:t>
            </a:r>
            <a:r>
              <a:rPr sz="2100" b="0" i="0">
                <a:solidFill>
                  <a:srgbClr val="1C252B"/>
                </a:solidFill>
                <a:latin typeface="Segoe UI"/>
              </a:rPr>
              <a:t> together on a logarithmic grid by cross-validation.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4075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EA66034A-C5DB-4B97-9C30-EBFDCEFE52B5}"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support vectors of an SVM are: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training points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points on or inside the margin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misclassified points only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cluster centres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D3BD4012-7876-4A6E-9D1C-A02B5B4D2249}"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 the RBF kernel, a very large </a:t>
            </a:r>
            <a:r>
              <a:rPr sz="2600" b="0" i="0">
                <a:solidFill>
                  <a:srgbClr val="1C252B"/>
                </a:solidFill>
                <a:latin typeface="Cambria"/>
              </a:rPr>
              <a:t>γ</a:t>
            </a:r>
            <a:r>
              <a:rPr sz="2600" b="0" i="0">
                <a:solidFill>
                  <a:srgbClr val="1C252B"/>
                </a:solidFill>
                <a:latin typeface="Segoe UI"/>
              </a:rPr>
              <a:t> tends to:</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underfit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overfit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have no effect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make the model linear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FEBE2D36-5CD3-4CCD-B5BA-BC1FFD802A7A}"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hinge loss of a point with </a:t>
            </a:r>
            <a:r>
              <a:rPr sz="2600" b="0" i="1">
                <a:solidFill>
                  <a:srgbClr val="1C252B"/>
                </a:solidFill>
                <a:latin typeface="Cambria"/>
              </a:rPr>
              <a:t>y</a:t>
            </a:r>
            <a:r>
              <a:rPr sz="2600" b="0" i="0">
                <a:solidFill>
                  <a:srgbClr val="1C252B"/>
                </a:solidFill>
                <a:latin typeface="Cambria"/>
              </a:rPr>
              <a:t> </a:t>
            </a:r>
            <a:r>
              <a:rPr sz="2600" b="0" i="1">
                <a:solidFill>
                  <a:srgbClr val="1C252B"/>
                </a:solidFill>
                <a:latin typeface="Cambria"/>
              </a:rPr>
              <a:t>f</a:t>
            </a:r>
            <a:r>
              <a:rPr sz="2600" b="0" i="0">
                <a:solidFill>
                  <a:srgbClr val="1C252B"/>
                </a:solidFill>
                <a:latin typeface="Cambria"/>
              </a:rPr>
              <a:t>(</a:t>
            </a:r>
            <a:r>
              <a:rPr sz="2600" b="1" i="1">
                <a:solidFill>
                  <a:srgbClr val="1C252B"/>
                </a:solidFill>
                <a:latin typeface="Cambria"/>
              </a:rPr>
              <a:t>x</a:t>
            </a:r>
            <a:r>
              <a:rPr sz="2600" b="0" i="0">
                <a:solidFill>
                  <a:srgbClr val="1C252B"/>
                </a:solidFill>
                <a:latin typeface="Cambria"/>
              </a:rPr>
              <a:t>) = 0.3</a:t>
            </a:r>
            <a:r>
              <a:rPr sz="2600" b="0" i="0">
                <a:solidFill>
                  <a:srgbClr val="1C252B"/>
                </a:solidFill>
                <a:latin typeface="Segoe UI"/>
              </a:rPr>
              <a: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0.3</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0.7</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1.3</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94     </a:t>
            </a:r>
            <a:fld id="{B361BE46-1485-4626-BA90-6DB2064A6059}"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wider margin expected to generalise better?</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Compare the hinge loss with the logistic loss.</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kernel trick without formulas.</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support vectors </a:t>
            </a:r>
            <a:r>
              <a:rPr sz="1900" b="0" i="0">
                <a:solidFill>
                  <a:srgbClr val="1C252B"/>
                </a:solidFill>
                <a:latin typeface="Cambria"/>
              </a:rPr>
              <a:t>(1, 3)</a:t>
            </a:r>
            <a:r>
              <a:rPr sz="1900" b="0" i="0">
                <a:solidFill>
                  <a:srgbClr val="1C252B"/>
                </a:solidFill>
                <a:latin typeface="Segoe UI"/>
              </a:rPr>
              <a:t> (label </a:t>
            </a:r>
            <a:r>
              <a:rPr sz="1900" b="0" i="0">
                <a:solidFill>
                  <a:srgbClr val="1C252B"/>
                </a:solidFill>
                <a:latin typeface="Cambria"/>
              </a:rPr>
              <a:t>+1</a:t>
            </a:r>
            <a:r>
              <a:rPr sz="1900" b="0" i="0">
                <a:solidFill>
                  <a:srgbClr val="1C252B"/>
                </a:solidFill>
                <a:latin typeface="Segoe UI"/>
              </a:rPr>
              <a:t>) and </a:t>
            </a:r>
            <a:r>
              <a:rPr sz="1900" b="0" i="0">
                <a:solidFill>
                  <a:srgbClr val="1C252B"/>
                </a:solidFill>
                <a:latin typeface="Cambria"/>
              </a:rPr>
              <a:t>(1, 1)</a:t>
            </a:r>
            <a:r>
              <a:rPr sz="1900" b="0" i="0">
                <a:solidFill>
                  <a:srgbClr val="1C252B"/>
                </a:solidFill>
                <a:latin typeface="Segoe UI"/>
              </a:rPr>
              <a:t> (label </a:t>
            </a:r>
            <a:r>
              <a:rPr sz="1900" b="0" i="0">
                <a:solidFill>
                  <a:srgbClr val="1C252B"/>
                </a:solidFill>
                <a:latin typeface="Cambria"/>
              </a:rPr>
              <a:t>−1</a:t>
            </a:r>
            <a:r>
              <a:rPr sz="1900" b="0" i="0">
                <a:solidFill>
                  <a:srgbClr val="1C252B"/>
                </a:solidFill>
                <a:latin typeface="Segoe UI"/>
              </a:rPr>
              <a:t>), find </a:t>
            </a:r>
            <a:r>
              <a:rPr sz="1900" b="1" i="1">
                <a:solidFill>
                  <a:srgbClr val="1C252B"/>
                </a:solidFill>
                <a:latin typeface="Cambria"/>
              </a:rPr>
              <a:t>w</a:t>
            </a:r>
            <a:r>
              <a:rPr sz="1900" b="0" i="0">
                <a:solidFill>
                  <a:srgbClr val="1C252B"/>
                </a:solidFill>
                <a:latin typeface="Segoe UI"/>
              </a:rPr>
              <a:t>, </a:t>
            </a:r>
            <a:r>
              <a:rPr sz="1900" b="0" i="1">
                <a:solidFill>
                  <a:srgbClr val="1C252B"/>
                </a:solidFill>
                <a:latin typeface="Cambria"/>
              </a:rPr>
              <a:t>b</a:t>
            </a:r>
            <a:r>
              <a:rPr sz="1900" b="0" i="0">
                <a:solidFill>
                  <a:srgbClr val="1C252B"/>
                </a:solidFill>
                <a:latin typeface="Segoe UI"/>
              </a:rPr>
              <a:t> and the margin of the maximum-margin line, and classify </a:t>
            </a:r>
            <a:r>
              <a:rPr sz="1900" b="0" i="0">
                <a:solidFill>
                  <a:srgbClr val="1C252B"/>
                </a:solidFill>
                <a:latin typeface="Cambria"/>
              </a:rPr>
              <a:t>(4, 2.5)</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Verify that </a:t>
            </a:r>
            <a:r>
              <a:rPr sz="1900" b="0" i="1">
                <a:solidFill>
                  <a:srgbClr val="1C252B"/>
                </a:solidFill>
                <a:latin typeface="Cambria"/>
              </a:rPr>
              <a:t>K</a:t>
            </a:r>
            <a:r>
              <a:rPr sz="1900" b="0" i="0">
                <a:solidFill>
                  <a:srgbClr val="1C252B"/>
                </a:solidFill>
                <a:latin typeface="Cambria"/>
              </a:rPr>
              <a:t>(</a:t>
            </a:r>
            <a:r>
              <a:rPr sz="1900" b="1" i="1">
                <a:solidFill>
                  <a:srgbClr val="1C252B"/>
                </a:solidFill>
                <a:latin typeface="Cambria"/>
              </a:rPr>
              <a:t>x</a:t>
            </a:r>
            <a:r>
              <a:rPr sz="1900" b="0" i="0">
                <a:solidFill>
                  <a:srgbClr val="1C252B"/>
                </a:solidFill>
                <a:latin typeface="Cambria"/>
              </a:rPr>
              <a:t>, </a:t>
            </a:r>
            <a:r>
              <a:rPr sz="1900" b="1" i="1">
                <a:solidFill>
                  <a:srgbClr val="1C252B"/>
                </a:solidFill>
                <a:latin typeface="Cambria"/>
              </a:rPr>
              <a:t>z</a:t>
            </a:r>
            <a:r>
              <a:rPr sz="1900" b="0" i="0">
                <a:solidFill>
                  <a:srgbClr val="1C252B"/>
                </a:solidFill>
                <a:latin typeface="Cambria"/>
              </a:rPr>
              <a:t>) = (</a:t>
            </a:r>
            <a:r>
              <a:rPr sz="1900" b="1" i="1">
                <a:solidFill>
                  <a:srgbClr val="1C252B"/>
                </a:solidFill>
                <a:latin typeface="Cambria"/>
              </a:rPr>
              <a:t>x</a:t>
            </a:r>
            <a:r>
              <a:rPr sz="1900" b="0" i="0">
                <a:solidFill>
                  <a:srgbClr val="1C252B"/>
                </a:solidFill>
                <a:latin typeface="Cambria"/>
              </a:rPr>
              <a:t>·</a:t>
            </a:r>
            <a:r>
              <a:rPr sz="1900" b="1" i="1">
                <a:solidFill>
                  <a:srgbClr val="1C252B"/>
                </a:solidFill>
                <a:latin typeface="Cambria"/>
              </a:rPr>
              <a:t>z</a:t>
            </a:r>
            <a:r>
              <a:rPr sz="1900" b="0" i="0">
                <a:solidFill>
                  <a:srgbClr val="1C252B"/>
                </a:solidFill>
                <a:latin typeface="Cambria"/>
              </a:rPr>
              <a:t>)</a:t>
            </a:r>
            <a:r>
              <a:rPr sz="1900" b="0" i="0" baseline="30000">
                <a:solidFill>
                  <a:srgbClr val="1C252B"/>
                </a:solidFill>
                <a:latin typeface="Cambria"/>
              </a:rPr>
              <a:t>2</a:t>
            </a:r>
            <a:r>
              <a:rPr sz="1900" b="0" i="0">
                <a:solidFill>
                  <a:srgbClr val="1C252B"/>
                </a:solidFill>
                <a:latin typeface="Segoe UI"/>
              </a:rPr>
              <a:t> equals </a:t>
            </a:r>
            <a:r>
              <a:rPr sz="1900" b="0" i="0">
                <a:solidFill>
                  <a:srgbClr val="1C252B"/>
                </a:solidFill>
                <a:latin typeface="Cambria"/>
              </a:rPr>
              <a:t>φ(</a:t>
            </a:r>
            <a:r>
              <a:rPr sz="1900" b="1" i="1">
                <a:solidFill>
                  <a:srgbClr val="1C252B"/>
                </a:solidFill>
                <a:latin typeface="Cambria"/>
              </a:rPr>
              <a:t>x</a:t>
            </a:r>
            <a:r>
              <a:rPr sz="1900" b="0" i="0">
                <a:solidFill>
                  <a:srgbClr val="1C252B"/>
                </a:solidFill>
                <a:latin typeface="Cambria"/>
              </a:rPr>
              <a:t>)·φ(</a:t>
            </a:r>
            <a:r>
              <a:rPr sz="1900" b="1" i="1">
                <a:solidFill>
                  <a:srgbClr val="1C252B"/>
                </a:solidFill>
                <a:latin typeface="Cambria"/>
              </a:rPr>
              <a:t>z</a:t>
            </a:r>
            <a:r>
              <a:rPr sz="1900" b="0" i="0">
                <a:solidFill>
                  <a:srgbClr val="1C252B"/>
                </a:solidFill>
                <a:latin typeface="Cambria"/>
              </a:rPr>
              <a:t>)</a:t>
            </a:r>
            <a:r>
              <a:rPr sz="1900" b="0" i="0">
                <a:solidFill>
                  <a:srgbClr val="1C252B"/>
                </a:solidFill>
                <a:latin typeface="Segoe UI"/>
              </a:rPr>
              <a:t> for </a:t>
            </a:r>
            <a:r>
              <a:rPr sz="1900" b="1" i="1">
                <a:solidFill>
                  <a:srgbClr val="1C252B"/>
                </a:solidFill>
                <a:latin typeface="Cambria"/>
              </a:rPr>
              <a:t>x</a:t>
            </a:r>
            <a:r>
              <a:rPr sz="1900" b="0" i="0">
                <a:solidFill>
                  <a:srgbClr val="1C252B"/>
                </a:solidFill>
                <a:latin typeface="Cambria"/>
              </a:rPr>
              <a:t> = (2, −1)</a:t>
            </a:r>
            <a:r>
              <a:rPr sz="1900" b="0" i="0">
                <a:solidFill>
                  <a:srgbClr val="1C252B"/>
                </a:solidFill>
                <a:latin typeface="Segoe UI"/>
              </a:rPr>
              <a:t> and </a:t>
            </a:r>
            <a:r>
              <a:rPr sz="1900" b="1" i="1">
                <a:solidFill>
                  <a:srgbClr val="1C252B"/>
                </a:solidFill>
                <a:latin typeface="Cambria"/>
              </a:rPr>
              <a:t>z</a:t>
            </a:r>
            <a:r>
              <a:rPr sz="1900" b="0" i="0">
                <a:solidFill>
                  <a:srgbClr val="1C252B"/>
                </a:solidFill>
                <a:latin typeface="Cambria"/>
              </a:rPr>
              <a:t> = (1, 3)</a:t>
            </a:r>
            <a:r>
              <a:rPr sz="1900" b="0" i="0">
                <a:solidFill>
                  <a:srgbClr val="1C252B"/>
                </a:solidFill>
                <a:latin typeface="Segoe UI"/>
              </a:rPr>
              <a: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Practicalities</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12  ·  Support Vector Machines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§12.5  ·  Handout p. 93     </a:t>
            </a:r>
            <a:fld id="{05F726CB-D677-4405-AE37-61BD50178E1A}" type="slidenum">
              <a:rPr lang="en-GB" sz="1000">
                <a:solidFill>
                  <a:srgbClr val="8795A1"/>
                </a:solidFill>
                <a:latin typeface="Segoe UI"/>
              </a:rPr>
              <a:t>40</a:t>
            </a:fld>
          </a:p>
        </p:txBody>
      </p:sp>
      <p:sp>
        <p:nvSpPr>
          <p:cNvPr id="7" name="!!stbar">
            <a:extLst>
              <a:ext uri="{C183D7F6-B498-43B3-948B-1728B52AA6E4}">
                <adec:decorative xmlns:adec="http://schemas.microsoft.com/office/drawing/2017/decorative" val="1"/>
              </a:ext>
            </a:extLst>
          </p:cNvPr>
          <p:cNvSpPr/>
          <p:nvPr/>
        </p:nvSpPr>
        <p:spPr>
          <a:xfrm>
            <a:off x="658368" y="1810512"/>
            <a:ext cx="73152" cy="43261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More than two classes.</a:t>
            </a:r>
            <a:r>
              <a:rPr sz="2000" b="0" i="0">
                <a:solidFill>
                  <a:srgbClr val="1C252B"/>
                </a:solidFill>
                <a:latin typeface="Segoe UI"/>
              </a:rPr>
              <a:t> The SVM is inherently binary. scikit-learn’s </a:t>
            </a:r>
            <a:r>
              <a:rPr sz="1900" b="0" i="0">
                <a:solidFill>
                  <a:srgbClr val="1F4E79"/>
                </a:solidFill>
                <a:latin typeface="Consolas"/>
              </a:rPr>
              <a:t>SVC</a:t>
            </a:r>
            <a:r>
              <a:rPr sz="2000" b="0" i="0">
                <a:solidFill>
                  <a:srgbClr val="1C252B"/>
                </a:solidFill>
                <a:latin typeface="Segoe UI"/>
              </a:rPr>
              <a:t> trains one classifier per pair of classes (one-vs-one) and lets them vote; </a:t>
            </a:r>
            <a:r>
              <a:rPr sz="1900" b="0" i="0">
                <a:solidFill>
                  <a:srgbClr val="1F4E79"/>
                </a:solidFill>
                <a:latin typeface="Consolas"/>
              </a:rPr>
              <a:t>LinearSVC</a:t>
            </a:r>
            <a:r>
              <a:rPr sz="2000" b="0" i="0">
                <a:solidFill>
                  <a:srgbClr val="1C252B"/>
                </a:solidFill>
                <a:latin typeface="Segoe UI"/>
              </a:rPr>
              <a:t> uses one-vs-rest.</a:t>
            </a:r>
          </a:p>
        </p:txBody>
      </p:sp>
      <p:sp>
        <p:nvSpPr>
          <p:cNvPr id="9" name="body-1"/>
          <p:cNvSpPr txBox="1"/>
          <p:nvPr/>
        </p:nvSpPr>
        <p:spPr>
          <a:xfrm>
            <a:off x="1042415" y="2565908"/>
            <a:ext cx="104177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Probabilities.</a:t>
            </a:r>
            <a:r>
              <a:rPr sz="2000" b="0" i="0">
                <a:solidFill>
                  <a:srgbClr val="1C252B"/>
                </a:solidFill>
                <a:latin typeface="Segoe UI"/>
              </a:rPr>
              <a:t> The decision function </a:t>
            </a:r>
            <a:r>
              <a:rPr sz="2000" b="0" i="1">
                <a:solidFill>
                  <a:srgbClr val="1C252B"/>
                </a:solidFill>
                <a:latin typeface="Cambria"/>
              </a:rPr>
              <a:t>f</a:t>
            </a:r>
            <a:r>
              <a:rPr sz="2000" b="0" i="0">
                <a:solidFill>
                  <a:srgbClr val="1C252B"/>
                </a:solidFill>
                <a:latin typeface="Cambria"/>
              </a:rPr>
              <a:t>(</a:t>
            </a:r>
            <a:r>
              <a:rPr sz="2000" b="1" i="1">
                <a:solidFill>
                  <a:srgbClr val="1C252B"/>
                </a:solidFill>
                <a:latin typeface="Cambria"/>
              </a:rPr>
              <a:t>x</a:t>
            </a:r>
            <a:r>
              <a:rPr sz="2000" b="0" i="0">
                <a:solidFill>
                  <a:srgbClr val="1C252B"/>
                </a:solidFill>
                <a:latin typeface="Cambria"/>
              </a:rPr>
              <a:t>)</a:t>
            </a:r>
            <a:r>
              <a:rPr sz="2000" b="0" i="0">
                <a:solidFill>
                  <a:srgbClr val="1C252B"/>
                </a:solidFill>
                <a:latin typeface="Segoe UI"/>
              </a:rPr>
              <a:t> is a distance, not a probability. </a:t>
            </a:r>
            <a:r>
              <a:rPr sz="1900" b="0" i="0">
                <a:solidFill>
                  <a:srgbClr val="1F4E79"/>
                </a:solidFill>
                <a:latin typeface="Consolas"/>
              </a:rPr>
              <a:t>SVC(probability=True)</a:t>
            </a:r>
            <a:r>
              <a:rPr sz="2000" b="0" i="0">
                <a:solidFill>
                  <a:srgbClr val="1C252B"/>
                </a:solidFill>
                <a:latin typeface="Segoe UI"/>
              </a:rPr>
              <a:t> fits a sigmoid to it afterwards (Platt scaling), at extra cost.</a:t>
            </a:r>
          </a:p>
        </p:txBody>
      </p:sp>
      <p:sp>
        <p:nvSpPr>
          <p:cNvPr id="10" name="body-2"/>
          <p:cNvSpPr txBox="1"/>
          <p:nvPr/>
        </p:nvSpPr>
        <p:spPr>
          <a:xfrm>
            <a:off x="1042415" y="3339592"/>
            <a:ext cx="104177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Scale of data.</a:t>
            </a:r>
            <a:r>
              <a:rPr sz="2000" b="0" i="0">
                <a:solidFill>
                  <a:srgbClr val="1C252B"/>
                </a:solidFill>
                <a:latin typeface="Segoe UI"/>
              </a:rPr>
              <a:t> Training cost grows between the square and the cube of the number of examples, so kernel SVMs suit datasets of up to tens of thousands of rows. Linear SVMs scale to millions.</a:t>
            </a:r>
          </a:p>
        </p:txBody>
      </p:sp>
      <p:sp>
        <p:nvSpPr>
          <p:cNvPr id="11" name="body-3"/>
          <p:cNvSpPr txBox="1"/>
          <p:nvPr/>
        </p:nvSpPr>
        <p:spPr>
          <a:xfrm>
            <a:off x="1042415" y="4430268"/>
            <a:ext cx="104177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Regression.</a:t>
            </a:r>
            <a:r>
              <a:rPr sz="2000" b="0" i="0">
                <a:solidFill>
                  <a:srgbClr val="1C252B"/>
                </a:solidFill>
                <a:latin typeface="Segoe UI"/>
              </a:rPr>
              <a:t> </a:t>
            </a:r>
            <a:r>
              <a:rPr sz="2000" b="1" i="0">
                <a:solidFill>
                  <a:srgbClr val="1A5276"/>
                </a:solidFill>
                <a:latin typeface="Segoe UI"/>
              </a:rPr>
              <a:t>Support vector regression</a:t>
            </a:r>
            <a:r>
              <a:rPr sz="2000" b="0" i="0">
                <a:solidFill>
                  <a:srgbClr val="1C252B"/>
                </a:solidFill>
                <a:latin typeface="Segoe UI"/>
              </a:rPr>
              <a:t> ignores errors smaller than a tube of width </a:t>
            </a:r>
            <a:r>
              <a:rPr sz="2000" b="0" i="0">
                <a:solidFill>
                  <a:srgbClr val="1C252B"/>
                </a:solidFill>
                <a:latin typeface="Cambria"/>
              </a:rPr>
              <a:t>ε</a:t>
            </a:r>
            <a:r>
              <a:rPr sz="2000" b="0" i="0">
                <a:solidFill>
                  <a:srgbClr val="1C252B"/>
                </a:solidFill>
                <a:latin typeface="Segoe UI"/>
              </a:rPr>
              <a:t> around the prediction and charges linearly beyond it — the regression counterpart of the hinge.</a:t>
            </a:r>
          </a:p>
        </p:txBody>
      </p:sp>
      <p:sp>
        <p:nvSpPr>
          <p:cNvPr id="12" name="body-4"/>
          <p:cNvSpPr txBox="1"/>
          <p:nvPr/>
        </p:nvSpPr>
        <p:spPr>
          <a:xfrm>
            <a:off x="1042415" y="5520944"/>
            <a:ext cx="104177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Inductive bias.</a:t>
            </a:r>
            <a:r>
              <a:rPr sz="2000" b="0" i="0">
                <a:solidFill>
                  <a:srgbClr val="1C252B"/>
                </a:solidFill>
                <a:latin typeface="Segoe UI"/>
              </a:rPr>
              <a:t> Among the hypotheses consistent with the data (up to the slack allowed), prefer the one with the largest margin.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Chapter 13 — Artificial Neural Networks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12, pages 89–94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Neighbours, scaling and k; margins and kernels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12  ·  Support Vector Machines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A3C726E6-2BF7-4A24-A698-1F7EA84C3B74}"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Support Vector Machines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