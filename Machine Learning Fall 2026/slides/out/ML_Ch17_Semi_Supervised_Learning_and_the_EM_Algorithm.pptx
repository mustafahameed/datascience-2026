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media/image100.svg" ContentType="image/svg+xml"/>
  <Override PartName="/ppt/media/image11.svg" ContentType="image/svg+xml"/>
  <Override PartName="/ppt/media/image13.svg" ContentType="image/svg+xml"/>
  <Override PartName="/ppt/media/image15.svg" ContentType="image/svg+xml"/>
  <Override PartName="/ppt/media/image16.svg" ContentType="image/svg+xml"/>
  <Override PartName="/ppt/media/image18.svg" ContentType="image/svg+xml"/>
  <Override PartName="/ppt/media/image20.svg" ContentType="image/svg+xml"/>
  <Override PartName="/ppt/media/image22.svg" ContentType="image/svg+xml"/>
  <Override PartName="/ppt/media/image23.svg" ContentType="image/svg+xml"/>
  <Override PartName="/ppt/media/image25.svg" ContentType="image/svg+xml"/>
  <Override PartName="/ppt/media/image27.svg" ContentType="image/svg+xml"/>
  <Override PartName="/ppt/media/image29.svg" ContentType="image/svg+xml"/>
  <Override PartName="/ppt/media/image31.svg" ContentType="image/svg+xml"/>
  <Override PartName="/ppt/media/image32.svg" ContentType="image/svg+xml"/>
  <Override PartName="/ppt/media/image34.svg" ContentType="image/svg+xml"/>
  <Override PartName="/ppt/media/image36.svg" ContentType="image/svg+xml"/>
  <Override PartName="/ppt/media/image38.svg" ContentType="image/svg+xml"/>
  <Override PartName="/ppt/media/image4.svg" ContentType="image/svg+xml"/>
  <Override PartName="/ppt/media/image40.svg" ContentType="image/svg+xml"/>
  <Override PartName="/ppt/media/image41.svg" ContentType="image/svg+xml"/>
  <Override PartName="/ppt/media/image42.svg" ContentType="image/svg+xml"/>
  <Override PartName="/ppt/media/image44.svg" ContentType="image/svg+xml"/>
  <Override PartName="/ppt/media/image46.svg" ContentType="image/svg+xml"/>
  <Override PartName="/ppt/media/image48.svg" ContentType="image/svg+xml"/>
  <Override PartName="/ppt/media/image50.svg" ContentType="image/svg+xml"/>
  <Override PartName="/ppt/media/image52.svg" ContentType="image/svg+xml"/>
  <Override PartName="/ppt/media/image54.svg" ContentType="image/svg+xml"/>
  <Override PartName="/ppt/media/image56.svg" ContentType="image/svg+xml"/>
  <Override PartName="/ppt/media/image57.svg" ContentType="image/svg+xml"/>
  <Override PartName="/ppt/media/image58.svg" ContentType="image/svg+xml"/>
  <Override PartName="/ppt/media/image59.svg" ContentType="image/svg+xml"/>
  <Override PartName="/ppt/media/image6.svg" ContentType="image/svg+xml"/>
  <Override PartName="/ppt/media/image60.svg" ContentType="image/svg+xml"/>
  <Override PartName="/ppt/media/image62.svg" ContentType="image/svg+xml"/>
  <Override PartName="/ppt/media/image63.svg" ContentType="image/svg+xml"/>
  <Override PartName="/ppt/media/image64.svg" ContentType="image/svg+xml"/>
  <Override PartName="/ppt/media/image65.svg" ContentType="image/svg+xml"/>
  <Override PartName="/ppt/media/image66.svg" ContentType="image/svg+xml"/>
  <Override PartName="/ppt/media/image68.svg" ContentType="image/svg+xml"/>
  <Override PartName="/ppt/media/image69.svg" ContentType="image/svg+xml"/>
  <Override PartName="/ppt/media/image70.svg" ContentType="image/svg+xml"/>
  <Override PartName="/ppt/media/image71.svg" ContentType="image/svg+xml"/>
  <Override PartName="/ppt/media/image72.svg" ContentType="image/svg+xml"/>
  <Override PartName="/ppt/media/image74.svg" ContentType="image/svg+xml"/>
  <Override PartName="/ppt/media/image75.svg" ContentType="image/svg+xml"/>
  <Override PartName="/ppt/media/image76.svg" ContentType="image/svg+xml"/>
  <Override PartName="/ppt/media/image77.svg" ContentType="image/svg+xml"/>
  <Override PartName="/ppt/media/image78.svg" ContentType="image/svg+xml"/>
  <Override PartName="/ppt/media/image8.svg" ContentType="image/svg+xml"/>
  <Override PartName="/ppt/media/image80.svg" ContentType="image/svg+xml"/>
  <Override PartName="/ppt/media/image81.svg" ContentType="image/svg+xml"/>
  <Override PartName="/ppt/media/image82.svg" ContentType="image/svg+xml"/>
  <Override PartName="/ppt/media/image83.svg" ContentType="image/svg+xml"/>
  <Override PartName="/ppt/media/image84.svg" ContentType="image/svg+xml"/>
  <Override PartName="/ppt/media/image85.svg" ContentType="image/svg+xml"/>
  <Override PartName="/ppt/media/image87.svg" ContentType="image/svg+xml"/>
  <Override PartName="/ppt/media/image89.svg" ContentType="image/svg+xml"/>
  <Override PartName="/ppt/media/image90.svg" ContentType="image/svg+xml"/>
  <Override PartName="/ppt/media/image91.svg" ContentType="image/svg+xml"/>
  <Override PartName="/ppt/media/image92.svg" ContentType="image/svg+xml"/>
  <Override PartName="/ppt/media/image93.svg" ContentType="image/svg+xml"/>
  <Override PartName="/ppt/media/image95.svg" ContentType="image/svg+xml"/>
  <Override PartName="/ppt/media/image97.svg" ContentType="image/svg+xml"/>
  <Override PartName="/ppt/media/image98.svg" ContentType="image/svg+xml"/>
  <Override PartName="/ppt/media/image9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7553422-9341-4CB4-BB6D-4E0879C2C604}">
          <p14:sldIdLst>
            <p14:sldId id="256"/>
            <p14:sldId id="257"/>
            <p14:sldId id="258"/>
            <p14:sldId id="259"/>
            <p14:sldId id="260"/>
          </p14:sldIdLst>
        </p14:section>
        <p14:section name="17.1 Few Labels, Many Examples" id="{38D84532-DBD8-466D-8CF9-847212F7C707}">
          <p14:sldIdLst>
            <p14:sldId id="261"/>
            <p14:sldId id="262"/>
            <p14:sldId id="263"/>
            <p14:sldId id="264"/>
          </p14:sldIdLst>
        </p14:section>
        <p14:section name="17.2 Self-Training" id="{73229FD6-B506-48CD-8112-9946E403C9EC}">
          <p14:sldIdLst>
            <p14:sldId id="265"/>
          </p14:sldIdLst>
        </p14:section>
        <p14:section name="17.3 Mixture Models and Hidden Variables" id="{FE976187-6B45-4558-BCDA-8606BC4BFE3A}">
          <p14:sldIdLst>
            <p14:sldId id="266"/>
          </p14:sldIdLst>
        </p14:section>
        <p14:section name="17.4 The EM Algorithm" id="{E490442F-5CC5-4489-B9E0-360A655C5E1C}">
          <p14:sldIdLst>
            <p14:sldId id="267"/>
            <p14:sldId id="268"/>
            <p14:sldId id="269"/>
            <p14:sldId id="270"/>
            <p14:sldId id="271"/>
            <p14:sldId id="272"/>
            <p14:sldId id="273"/>
          </p14:sldIdLst>
        </p14:section>
        <p14:section name="17.5 EM With Labelled and Unlabelled Data" id="{152870EC-3459-499B-9485-439C8997EDD5}">
          <p14:sldIdLst>
            <p14:sldId id="274"/>
            <p14:sldId id="275"/>
            <p14:sldId id="276"/>
          </p14:sldIdLst>
        </p14:section>
        <p14:section name="Pitfalls" id="{3183D0A6-E661-456F-99FA-7AF41711FC23}">
          <p14:sldIdLst>
            <p14:sldId id="277"/>
          </p14:sldIdLst>
        </p14:section>
        <p14:section name="Four lenses" id="{657D4543-7E72-40BE-B389-88D5ACB9F969}">
          <p14:sldIdLst>
            <p14:sldId id="278"/>
            <p14:sldId id="279"/>
            <p14:sldId id="280"/>
            <p14:sldId id="281"/>
            <p14:sldId id="282"/>
          </p14:sldIdLst>
        </p14:section>
        <p14:section name="Lab" id="{4D5E0531-E62E-45A8-BA5A-5F6392F7DDD6}">
          <p14:sldIdLst>
            <p14:sldId id="283"/>
            <p14:sldId id="284"/>
            <p14:sldId id="285"/>
            <p14:sldId id="286"/>
            <p14:sldId id="287"/>
            <p14:sldId id="288"/>
          </p14:sldIdLst>
        </p14:section>
        <p14:section name="Checkpoint" id="{DC681A96-6D9B-4374-9A5D-C542F21B0288}">
          <p14:sldIdLst>
            <p14:sldId id="289"/>
            <p14:sldId id="290"/>
            <p14:sldId id="291"/>
            <p14:sldId id="292"/>
            <p14:sldId id="293"/>
            <p14:sldId id="294"/>
          </p14:sldIdLst>
        </p14:section>
        <p14:section name="Wrap-up" id="{398FA08D-116A-4AC5-9789-E519BC0DE0F5}">
          <p14:sldIdLst>
            <p14:sldId id="295"/>
            <p14:sldId id="296"/>
            <p14:sldId id="297"/>
            <p14:sldId id="298"/>
            <p14:sldId id="299"/>
            <p14:sldId id="300"/>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17: Semi-Supervised Learning and the EM Algorithm. Part 4 — Learning Without Full Labels. Week 14: Semi-supervised learning and EM; hidden Markov models. Handout pages 128–136.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chapter. Before you start: Chapter 2 (the Gaussian, maximum likelihood), Chapter 10 (posteriors and naive Bayes) and Chapter 15 (k-means). The algorithm of this chapter returns in Chapter 18.</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out: they are the chapter's contract with the room. Each click adds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they arrive one at a time. This slide is for the students' notes. Terms: semi-supervised learning; smoothness, cluster and manifold assumptions; self-training (pseudo-labelling); confirmation bias; latent (hidden) variable; mixture model; Gaussian mixture; mixing weight; responsibility; EM algorithm; E-step; M-step; local maximum; hard vs. soft assignment; label propagation.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route through the chapter. Each row is a link: click it to jump to that section in the slide show.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Labels are expensive. A radiologist labels a scan; a security analyst investigates a binary; a teacher marks an essay. Unlabelled examples are nearly free: every scan in the archive, every file on every machine, every essay ever submitted. Semi-supervised learning uses both — a small labelled set and a large unlabelled one — to learn a better classifier than the labelled set alone would give.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17.1 (handout p. 129): The cluster assumption. With two labelled points (blue circle, red square) a classifier puts the boundary between them, through the middle of a cluster. The unlabelled points (grey) reveal two clusters and a gap, and the boundary belongs in the gap.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works with any classifier that gives probabilities, and on the handwritten digits of this chapter’s lab it lifts accuracy from 80% with 50 labels to 90% using the 1,207 unlabelled images as well (all 1,257 labels give 97%). Its risk is confirmation bias: an early confident mistake becomes a training label, is reinforced at every round, and is never corrected. A high confidence threshold limits the damage. A more principled approach models how the data was generated. Suppose each example was produced by first picking a class (or cluster) z, then drawing x from that class’s distribution. For labelled examples z is observed; for unlabelled ones it is a hidden (latent) variable.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17.2 (handout p. 130): EM on the worked example. Each point is coloured by its responsibilities; x = 3 starts out shared between the components. Two iterations move the second Gaussian onto the group it explains.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17.3 (handout p. 131): The EM loop. Whenever a model would be easy to fit if some variable were observed, EM fills that variable in with probabilities and fits as if it were observed.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labelled examples anchor each component to a class — they say which cluster is which — and the unlabelled examples say where the clusters really are. The authors report that adding unlabelled documents to small labelled sets reduced text-classification error by up to 30%.</a:t>
            </a:r>
          </a:p>
          <a:p/>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Graph-based methods such as label propagation take the smoothness assumption literally: connect each example to its nearest neighbours in a graph, fix the labelled nodes, and let labels diffuse along the edges until they settle. They follow curved clusters that a Gaussian mixture cannot represent.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method, four domains. Each of the next four slides opens one lens in full.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Learning Analytics. A few hundred essays have been marked by a teacher; tens of thousands have not. Self-training a quality classifier on both is attractive, and dangerous: an early confident mistake about a style of writing becomes a rule. Keep a human in the loop for the pseudo-labels that change decisions.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Project Management. Only a few projects have a formal post-mortem label (“failed because of scope creep”), but all projects have metrics. EM over labelled and unlabelled projects estimates the typical metric profile of each failure mode from far more than the labelled handful.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Internet of Things. Engineers can label only a few fault episodes, but sensors record years of unlabelled operation. A Gaussian mixture of normal operating modes, anchored by the few labelled faults, is a practical starting point for a fault detector.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Cybersecurity. Security labels are scarce, slow and expensive — each needs an analyst. Semi-supervised malware and intrusion classifiers are standard, and so is their failure mode: an attacker who knows the model self-trains can feed it examples designed to be pseudo-labelled benign.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what the room will have at the end of the lab, then let them start. Circulate rather than lecture.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Set-up.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EM for two Gaussian means (sigma = 1 known, equal weights).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Two labels, four unlabelled points.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Self-training with 50 labels out of 1,257.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Examples in the same cluster tend to share a label, so the decision boundary should pass through low-density regions. It fails when classes overlap inside one cluster — for example fraudulent transactions designed to look exactly like normal ones.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The E-step computes, with the current parameters, each example’s responsibilities (the probability that each component produced it). The M-step re-estimates the parameters from the responsibility-weighted examples.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k-means makes hard assignments and estimates only means (implicitly round, equal clusters); EM for a Gaussian mixture makes soft assignments and also estimates covariances and mixing weights, maximising the likelihood.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these for independent study. Model answers are not printed in the handout.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NEXT: Chapter 18 — Hidden Markov Models. READ: Handout Chapter 17, pages 128–136. THIS WEEK'S LAB: EM by hand; forward, Viterbi, Baum–Welch. ASSESSMENT: Project experiments frozen.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3000" kern="1200" b="0">
          <a:solidFill>
            <a:srgbClr val="1A5276"/>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sv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notesSlide" Target="../notesSlides/notesSlide5.xml"/><Relationship Id="rId5" Type="http://schemas.openxmlformats.org/officeDocument/2006/relationships/slide" Target="slide6.xml"/><Relationship Id="rId6" Type="http://schemas.openxmlformats.org/officeDocument/2006/relationships/slide" Target="slide10.xml"/><Relationship Id="rId7" Type="http://schemas.openxmlformats.org/officeDocument/2006/relationships/slide" Target="slide11.xml"/><Relationship Id="rId8" Type="http://schemas.openxmlformats.org/officeDocument/2006/relationships/slide" Target="slide12.xml"/><Relationship Id="rId9" Type="http://schemas.openxmlformats.org/officeDocument/2006/relationships/slide" Target="slide19.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1.sv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png"/><Relationship Id="rId3" Type="http://schemas.openxmlformats.org/officeDocument/2006/relationships/image" Target="../media/image13.sv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image" Target="../media/image15.sv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6.sv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image" Target="../media/image18.svg"/><Relationship Id="rId4" Type="http://schemas.openxmlformats.org/officeDocument/2006/relationships/image" Target="../media/image19.png"/><Relationship Id="rId5" Type="http://schemas.openxmlformats.org/officeDocument/2006/relationships/image" Target="../media/image20.svg"/><Relationship Id="rId6" Type="http://schemas.openxmlformats.org/officeDocument/2006/relationships/image" Target="../media/image21.png"/><Relationship Id="rId7" Type="http://schemas.openxmlformats.org/officeDocument/2006/relationships/image" Target="../media/image22.svg"/><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image" Target="../media/image23.svg"/><Relationship Id="rId4" Type="http://schemas.openxmlformats.org/officeDocument/2006/relationships/image" Target="../media/image24.png"/><Relationship Id="rId5" Type="http://schemas.openxmlformats.org/officeDocument/2006/relationships/image" Target="../media/image25.svg"/><Relationship Id="rId6" Type="http://schemas.openxmlformats.org/officeDocument/2006/relationships/image" Target="../media/image26.png"/><Relationship Id="rId7" Type="http://schemas.openxmlformats.org/officeDocument/2006/relationships/image" Target="../media/image27.svg"/><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png"/><Relationship Id="rId3" Type="http://schemas.openxmlformats.org/officeDocument/2006/relationships/image" Target="../media/image29.svg"/><Relationship Id="rId4" Type="http://schemas.openxmlformats.org/officeDocument/2006/relationships/image" Target="../media/image30.png"/><Relationship Id="rId5" Type="http://schemas.openxmlformats.org/officeDocument/2006/relationships/image" Target="../media/image31.sv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png"/><Relationship Id="rId3" Type="http://schemas.openxmlformats.org/officeDocument/2006/relationships/image" Target="../media/image32.svg"/><Relationship Id="rId4" Type="http://schemas.openxmlformats.org/officeDocument/2006/relationships/image" Target="../media/image33.png"/><Relationship Id="rId5" Type="http://schemas.openxmlformats.org/officeDocument/2006/relationships/image" Target="../media/image34.svg"/><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36.sv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7.png"/><Relationship Id="rId3" Type="http://schemas.openxmlformats.org/officeDocument/2006/relationships/image" Target="../media/image38.sv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9.png"/><Relationship Id="rId3" Type="http://schemas.openxmlformats.org/officeDocument/2006/relationships/image" Target="../media/image40.sv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41.sv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png"/><Relationship Id="rId3" Type="http://schemas.openxmlformats.org/officeDocument/2006/relationships/image" Target="../media/image42.sv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3.png"/><Relationship Id="rId3" Type="http://schemas.openxmlformats.org/officeDocument/2006/relationships/image" Target="../media/image44.sv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5.png"/><Relationship Id="rId3" Type="http://schemas.openxmlformats.org/officeDocument/2006/relationships/image" Target="../media/image46.svg"/><Relationship Id="rId4" Type="http://schemas.openxmlformats.org/officeDocument/2006/relationships/image" Target="../media/image47.png"/><Relationship Id="rId5" Type="http://schemas.openxmlformats.org/officeDocument/2006/relationships/image" Target="../media/image48.svg"/><Relationship Id="rId6" Type="http://schemas.openxmlformats.org/officeDocument/2006/relationships/image" Target="../media/image49.png"/><Relationship Id="rId7" Type="http://schemas.openxmlformats.org/officeDocument/2006/relationships/image" Target="../media/image50.svg"/><Relationship Id="rId8" Type="http://schemas.openxmlformats.org/officeDocument/2006/relationships/image" Target="../media/image51.png"/><Relationship Id="rId9" Type="http://schemas.openxmlformats.org/officeDocument/2006/relationships/image" Target="../media/image52.svg"/><Relationship Id="rId10" Type="http://schemas.openxmlformats.org/officeDocument/2006/relationships/image" Target="../media/image53.png"/><Relationship Id="rId11" Type="http://schemas.openxmlformats.org/officeDocument/2006/relationships/image" Target="../media/image54.svg"/><Relationship Id="rId1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5.png"/><Relationship Id="rId3" Type="http://schemas.openxmlformats.org/officeDocument/2006/relationships/image" Target="../media/image56.svg"/><Relationship Id="rId4" Type="http://schemas.openxmlformats.org/officeDocument/2006/relationships/image" Target="../media/image47.png"/><Relationship Id="rId5" Type="http://schemas.openxmlformats.org/officeDocument/2006/relationships/image" Target="../media/image57.svg"/><Relationship Id="rId6" Type="http://schemas.openxmlformats.org/officeDocument/2006/relationships/image" Target="../media/image49.png"/><Relationship Id="rId7" Type="http://schemas.openxmlformats.org/officeDocument/2006/relationships/image" Target="../media/image58.svg"/><Relationship Id="rId8" Type="http://schemas.openxmlformats.org/officeDocument/2006/relationships/image" Target="../media/image51.png"/><Relationship Id="rId9" Type="http://schemas.openxmlformats.org/officeDocument/2006/relationships/image" Target="../media/image59.svg"/><Relationship Id="rId10" Type="http://schemas.openxmlformats.org/officeDocument/2006/relationships/image" Target="../media/image53.png"/><Relationship Id="rId11" Type="http://schemas.openxmlformats.org/officeDocument/2006/relationships/image" Target="../media/image60.svg"/><Relationship Id="rId1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1.png"/><Relationship Id="rId3" Type="http://schemas.openxmlformats.org/officeDocument/2006/relationships/image" Target="../media/image62.svg"/><Relationship Id="rId4" Type="http://schemas.openxmlformats.org/officeDocument/2006/relationships/image" Target="../media/image49.png"/><Relationship Id="rId5" Type="http://schemas.openxmlformats.org/officeDocument/2006/relationships/image" Target="../media/image63.svg"/><Relationship Id="rId6" Type="http://schemas.openxmlformats.org/officeDocument/2006/relationships/image" Target="../media/image47.png"/><Relationship Id="rId7" Type="http://schemas.openxmlformats.org/officeDocument/2006/relationships/image" Target="../media/image64.svg"/><Relationship Id="rId8" Type="http://schemas.openxmlformats.org/officeDocument/2006/relationships/image" Target="../media/image51.png"/><Relationship Id="rId9" Type="http://schemas.openxmlformats.org/officeDocument/2006/relationships/image" Target="../media/image65.svg"/><Relationship Id="rId10" Type="http://schemas.openxmlformats.org/officeDocument/2006/relationships/image" Target="../media/image53.png"/><Relationship Id="rId11" Type="http://schemas.openxmlformats.org/officeDocument/2006/relationships/image" Target="../media/image66.svg"/><Relationship Id="rId1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7.png"/><Relationship Id="rId3" Type="http://schemas.openxmlformats.org/officeDocument/2006/relationships/image" Target="../media/image68.svg"/><Relationship Id="rId4" Type="http://schemas.openxmlformats.org/officeDocument/2006/relationships/image" Target="../media/image51.png"/><Relationship Id="rId5" Type="http://schemas.openxmlformats.org/officeDocument/2006/relationships/image" Target="../media/image69.svg"/><Relationship Id="rId6" Type="http://schemas.openxmlformats.org/officeDocument/2006/relationships/image" Target="../media/image47.png"/><Relationship Id="rId7" Type="http://schemas.openxmlformats.org/officeDocument/2006/relationships/image" Target="../media/image70.svg"/><Relationship Id="rId8" Type="http://schemas.openxmlformats.org/officeDocument/2006/relationships/image" Target="../media/image49.png"/><Relationship Id="rId9" Type="http://schemas.openxmlformats.org/officeDocument/2006/relationships/image" Target="../media/image71.svg"/><Relationship Id="rId10" Type="http://schemas.openxmlformats.org/officeDocument/2006/relationships/image" Target="../media/image53.png"/><Relationship Id="rId11" Type="http://schemas.openxmlformats.org/officeDocument/2006/relationships/image" Target="../media/image72.svg"/><Relationship Id="rId1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3.png"/><Relationship Id="rId3" Type="http://schemas.openxmlformats.org/officeDocument/2006/relationships/image" Target="../media/image74.svg"/><Relationship Id="rId4" Type="http://schemas.openxmlformats.org/officeDocument/2006/relationships/image" Target="../media/image53.png"/><Relationship Id="rId5" Type="http://schemas.openxmlformats.org/officeDocument/2006/relationships/image" Target="../media/image75.svg"/><Relationship Id="rId6" Type="http://schemas.openxmlformats.org/officeDocument/2006/relationships/image" Target="../media/image47.png"/><Relationship Id="rId7" Type="http://schemas.openxmlformats.org/officeDocument/2006/relationships/image" Target="../media/image76.svg"/><Relationship Id="rId8" Type="http://schemas.openxmlformats.org/officeDocument/2006/relationships/image" Target="../media/image49.png"/><Relationship Id="rId9" Type="http://schemas.openxmlformats.org/officeDocument/2006/relationships/image" Target="../media/image77.svg"/><Relationship Id="rId10" Type="http://schemas.openxmlformats.org/officeDocument/2006/relationships/image" Target="../media/image51.png"/><Relationship Id="rId11" Type="http://schemas.openxmlformats.org/officeDocument/2006/relationships/image" Target="../media/image78.svg"/><Relationship Id="rId1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9.png"/><Relationship Id="rId3" Type="http://schemas.openxmlformats.org/officeDocument/2006/relationships/image" Target="../media/image80.sv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9.png"/><Relationship Id="rId3" Type="http://schemas.openxmlformats.org/officeDocument/2006/relationships/image" Target="../media/image81.sv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9.png"/><Relationship Id="rId3" Type="http://schemas.openxmlformats.org/officeDocument/2006/relationships/image" Target="../media/image82.sv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9.png"/><Relationship Id="rId3" Type="http://schemas.openxmlformats.org/officeDocument/2006/relationships/image" Target="../media/image83.sv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9.png"/><Relationship Id="rId3" Type="http://schemas.openxmlformats.org/officeDocument/2006/relationships/image" Target="../media/image84.sv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9.png"/><Relationship Id="rId3" Type="http://schemas.openxmlformats.org/officeDocument/2006/relationships/image" Target="../media/image85.sv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6.png"/><Relationship Id="rId3" Type="http://schemas.openxmlformats.org/officeDocument/2006/relationships/image" Target="../media/image87.sv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8.png"/><Relationship Id="rId3" Type="http://schemas.openxmlformats.org/officeDocument/2006/relationships/image" Target="../media/image89.sv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6.png"/><Relationship Id="rId3" Type="http://schemas.openxmlformats.org/officeDocument/2006/relationships/image" Target="../media/image90.sv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8.png"/><Relationship Id="rId3" Type="http://schemas.openxmlformats.org/officeDocument/2006/relationships/image" Target="../media/image91.sv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6.png"/><Relationship Id="rId3" Type="http://schemas.openxmlformats.org/officeDocument/2006/relationships/image" Target="../media/image92.sv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8.png"/><Relationship Id="rId3" Type="http://schemas.openxmlformats.org/officeDocument/2006/relationships/image" Target="../media/image93.sv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4.png"/><Relationship Id="rId3" Type="http://schemas.openxmlformats.org/officeDocument/2006/relationships/image" Target="../media/image95.sv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6.png"/><Relationship Id="rId3" Type="http://schemas.openxmlformats.org/officeDocument/2006/relationships/image" Target="../media/image97.sv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6.png"/><Relationship Id="rId3" Type="http://schemas.openxmlformats.org/officeDocument/2006/relationships/image" Target="../media/image98.sv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6.png"/><Relationship Id="rId3" Type="http://schemas.openxmlformats.org/officeDocument/2006/relationships/image" Target="../media/image99.sv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6.png"/><Relationship Id="rId3" Type="http://schemas.openxmlformats.org/officeDocument/2006/relationships/image" Target="../media/image100.sv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7A3A95"/>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874EA0"/>
                </a:solidFill>
                <a:latin typeface="Segoe UI Black"/>
              </a:rPr>
              <a:t>17</a:t>
            </a:r>
          </a:p>
        </p:txBody>
      </p:sp>
      <p:sp>
        <p:nvSpPr>
          <p:cNvPr id="2" name="!!title"/>
          <p:cNvSpPr>
            <a:spLocks noGrp="1"/>
          </p:cNvSpPr>
          <p:nvPr>
            <p:ph type="title"/>
          </p:nvPr>
        </p:nvSpPr>
        <p:spPr>
          <a:xfrm>
            <a:off x="658368" y="2304288"/>
            <a:ext cx="8503920" cy="1920240"/>
          </a:xfrm>
        </p:spPr>
        <p:txBody>
          <a:bodyPr wrap="square" lIns="0" rIns="0" tIns="0" bIns="0" anchor="t">
            <a:noAutofit/>
          </a:bodyPr>
          <a:lstStyle/>
          <a:p>
            <a:pPr algn="l">
              <a:lnSpc>
                <a:spcPct val="96000"/>
              </a:lnSpc>
            </a:pPr>
            <a:r>
              <a:rPr sz="4600" b="0">
                <a:solidFill>
                  <a:srgbClr val="FFFFFF"/>
                </a:solidFill>
                <a:latin typeface="Segoe UI Semibold"/>
              </a:rPr>
              <a:t>Semi-Supervised Learning and the EM Algorithm</a:t>
            </a:r>
          </a:p>
        </p:txBody>
      </p:sp>
      <p:sp>
        <p:nvSpPr>
          <p:cNvPr id="4" name="!!tbar">
            <a:extLst>
              <a:ext uri="{C183D7F6-B498-43B3-948B-1728B52AA6E4}">
                <adec:decorative xmlns:adec="http://schemas.microsoft.com/office/drawing/2017/decorative" val="1"/>
              </a:ext>
            </a:extLst>
          </p:cNvPr>
          <p:cNvSpPr/>
          <p:nvPr/>
        </p:nvSpPr>
        <p:spPr>
          <a:xfrm>
            <a:off x="658368" y="129844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part"/>
          <p:cNvSpPr txBox="1"/>
          <p:nvPr/>
        </p:nvSpPr>
        <p:spPr>
          <a:xfrm>
            <a:off x="658368" y="1517904"/>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DAC8E1"/>
                </a:solidFill>
                <a:latin typeface="Segoe UI"/>
              </a:rPr>
              <a:t>PART IV  ·  LEARNING WITHOUT FULL LABELS</a:t>
            </a:r>
          </a:p>
        </p:txBody>
      </p:sp>
      <p:sp>
        <p:nvSpPr>
          <p:cNvPr id="6" name="!!tch"/>
          <p:cNvSpPr txBox="1"/>
          <p:nvPr/>
        </p:nvSpPr>
        <p:spPr>
          <a:xfrm>
            <a:off x="658368" y="1865376"/>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DAC8E1"/>
                </a:solidFill>
                <a:latin typeface="Segoe UI"/>
              </a:rPr>
              <a:t>CHAPTER 17  ·  WEEK 14</a:t>
            </a:r>
          </a:p>
        </p:txBody>
      </p:sp>
      <p:sp>
        <p:nvSpPr>
          <p:cNvPr id="7" name="!!tsub"/>
          <p:cNvSpPr txBox="1"/>
          <p:nvPr/>
        </p:nvSpPr>
        <p:spPr>
          <a:xfrm>
            <a:off x="658368" y="4315968"/>
            <a:ext cx="850392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E4D8EA"/>
                </a:solidFill>
                <a:latin typeface="Segoe UI"/>
              </a:rPr>
              <a:t>Machine Learning — From Hypotheses to Decisions</a:t>
            </a:r>
          </a:p>
        </p:txBody>
      </p:sp>
      <p:sp>
        <p:nvSpPr>
          <p:cNvPr id="8" name="!!band">
            <a:extLst>
              <a:ext uri="{C183D7F6-B498-43B3-948B-1728B52AA6E4}">
                <adec:decorative xmlns:adec="http://schemas.microsoft.com/office/drawing/2017/decorative" val="1"/>
              </a:ext>
            </a:extLst>
          </p:cNvPr>
          <p:cNvSpPr/>
          <p:nvPr/>
        </p:nvSpPr>
        <p:spPr>
          <a:xfrm>
            <a:off x="0" y="5285232"/>
            <a:ext cx="12191695" cy="1572767"/>
          </a:xfrm>
          <a:prstGeom prst="rect">
            <a:avLst/>
          </a:prstGeom>
          <a:solidFill>
            <a:srgbClr val="582A6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ab"/>
          <p:cNvSpPr txBox="1"/>
          <p:nvPr/>
        </p:nvSpPr>
        <p:spPr>
          <a:xfrm>
            <a:off x="658368" y="5541264"/>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50" b="1" i="0" spc="160">
                <a:solidFill>
                  <a:srgbClr val="C0AEC7"/>
                </a:solidFill>
                <a:latin typeface="Segoe UI"/>
              </a:rPr>
              <a:t>LECTURER</a:t>
            </a:r>
          </a:p>
        </p:txBody>
      </p:sp>
      <p:sp>
        <p:nvSpPr>
          <p:cNvPr id="10" name="!!author"/>
          <p:cNvSpPr txBox="1"/>
          <p:nvPr/>
        </p:nvSpPr>
        <p:spPr>
          <a:xfrm>
            <a:off x="658368" y="5779008"/>
            <a:ext cx="5486400" cy="365760"/>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FFFFFF"/>
                </a:solidFill>
                <a:latin typeface="Segoe UI Semibold"/>
              </a:rPr>
              <a:t>Dr. Mustafa Hameed</a:t>
            </a:r>
          </a:p>
        </p:txBody>
      </p:sp>
      <p:sp>
        <p:nvSpPr>
          <p:cNvPr id="11" name="!!dept"/>
          <p:cNvSpPr txBox="1"/>
          <p:nvPr/>
        </p:nvSpPr>
        <p:spPr>
          <a:xfrm>
            <a:off x="658368" y="6181344"/>
            <a:ext cx="5852160" cy="274320"/>
          </a:xfrm>
          <a:prstGeom prst="rect">
            <a:avLst/>
          </a:prstGeom>
          <a:noFill/>
        </p:spPr>
        <p:txBody>
          <a:bodyPr wrap="square" anchor="t" lIns="0" rIns="0" tIns="0" bIns="0">
            <a:noAutofit/>
          </a:bodyPr>
          <a:lstStyle/>
          <a:p>
            <a:pPr algn="l">
              <a:lnSpc>
                <a:spcPct val="100000"/>
              </a:lnSpc>
              <a:spcBef>
                <a:spcPts val="0"/>
              </a:spcBef>
              <a:spcAft>
                <a:spcPts val="0"/>
              </a:spcAft>
            </a:pPr>
            <a:r>
              <a:rPr sz="1200" b="0" i="0">
                <a:solidFill>
                  <a:srgbClr val="D0C3D6"/>
                </a:solidFill>
                <a:latin typeface="Segoe UI"/>
              </a:rPr>
              <a:t>Department of Information Technology  ·  BSIT · Fall 2026</a:t>
            </a:r>
          </a:p>
        </p:txBody>
      </p:sp>
      <p:sp>
        <p:nvSpPr>
          <p:cNvPr id="12" name="!!uni"/>
          <p:cNvSpPr txBox="1"/>
          <p:nvPr/>
        </p:nvSpPr>
        <p:spPr>
          <a:xfrm>
            <a:off x="5205818" y="568756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150" b="1" i="0" spc="60">
                <a:solidFill>
                  <a:srgbClr val="FFFFFF"/>
                </a:solidFill>
                <a:latin typeface="Segoe UI"/>
              </a:rPr>
              <a:t>THE ISLAMIA UNIVERSITY OF BAHAWALPUR</a:t>
            </a:r>
          </a:p>
        </p:txBody>
      </p:sp>
      <p:sp>
        <p:nvSpPr>
          <p:cNvPr id="13" name="!!uni2"/>
          <p:cNvSpPr txBox="1"/>
          <p:nvPr/>
        </p:nvSpPr>
        <p:spPr>
          <a:xfrm>
            <a:off x="5205818" y="596188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050" b="0" i="0">
                <a:solidFill>
                  <a:srgbClr val="C0AEC7"/>
                </a:solidFill>
                <a:latin typeface="Segoe UI"/>
              </a:rPr>
              <a:t>Bahawalpur, Pakistan</a:t>
            </a:r>
          </a:p>
        </p:txBody>
      </p:sp>
      <p:pic>
        <p:nvPicPr>
          <p:cNvPr id="14" name="!!logo-iub-logo-white" descr="The Islamia University of Bahawalpur"/>
          <p:cNvPicPr>
            <a:picLocks noChangeAspect="1"/>
          </p:cNvPicPr>
          <p:nvPr/>
        </p:nvPicPr>
        <p:blipFill>
          <a:blip r:embed="rId2"/>
          <a:stretch>
            <a:fillRect/>
          </a:stretch>
        </p:blipFill>
        <p:spPr>
          <a:xfrm>
            <a:off x="9503498" y="5486400"/>
            <a:ext cx="904084" cy="896112"/>
          </a:xfrm>
          <a:prstGeom prst="rect">
            <a:avLst/>
          </a:prstGeom>
        </p:spPr>
      </p:pic>
      <p:pic>
        <p:nvPicPr>
          <p:cNvPr id="15" name="!!logo-dit-logo" descr="Department of Information Technology"/>
          <p:cNvPicPr>
            <a:picLocks noChangeAspect="1"/>
          </p:cNvPicPr>
          <p:nvPr/>
        </p:nvPicPr>
        <p:blipFill>
          <a:blip r:embed="rId3"/>
          <a:stretch>
            <a:fillRect/>
          </a:stretch>
        </p:blipFill>
        <p:spPr>
          <a:xfrm>
            <a:off x="10663614" y="5486400"/>
            <a:ext cx="869712" cy="89611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Where this chapter sits</a:t>
            </a:r>
          </a:p>
        </p:txBody>
      </p:sp>
      <p:pic>
        <p:nvPicPr>
          <p:cNvPr id="3" name="!!kicker-icon" descr="map-signs-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THE COURSE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17  ·  Semi-Supervised Learning and the EM Algorithm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128     </a:t>
            </a:r>
            <a:fld id="{C4D1DA48-A835-4FAC-A892-816DD01FF88D}" type="slidenum">
              <a:rPr lang="en-GB" sz="1000">
                <a:solidFill>
                  <a:srgbClr val="8795A1"/>
                </a:solidFill>
                <a:latin typeface="Segoe UI"/>
              </a:rPr>
              <a:t>2</a:t>
            </a:fld>
          </a:p>
        </p:txBody>
      </p:sp>
      <p:sp>
        <p:nvSpPr>
          <p:cNvPr id="7" name="!!rp1"/>
          <p:cNvSpPr txBox="1"/>
          <p:nvPr/>
        </p:nvSpPr>
        <p:spPr>
          <a:xfrm>
            <a:off x="777239" y="1755648"/>
            <a:ext cx="1583242"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a:t>
            </a:r>
          </a:p>
        </p:txBody>
      </p:sp>
      <p:sp>
        <p:nvSpPr>
          <p:cNvPr id="8" name="!!rpl1">
            <a:extLst>
              <a:ext uri="{C183D7F6-B498-43B3-948B-1728B52AA6E4}">
                <adec:decorative xmlns:adec="http://schemas.microsoft.com/office/drawing/2017/decorative" val="1"/>
              </a:ext>
            </a:extLst>
          </p:cNvPr>
          <p:cNvSpPr/>
          <p:nvPr/>
        </p:nvSpPr>
        <p:spPr>
          <a:xfrm>
            <a:off x="777239" y="2029967"/>
            <a:ext cx="1583242"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rp2"/>
          <p:cNvSpPr txBox="1"/>
          <p:nvPr/>
        </p:nvSpPr>
        <p:spPr>
          <a:xfrm>
            <a:off x="2689666" y="1755648"/>
            <a:ext cx="1583242"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a:t>
            </a:r>
          </a:p>
        </p:txBody>
      </p:sp>
      <p:sp>
        <p:nvSpPr>
          <p:cNvPr id="10" name="!!rpl2">
            <a:extLst>
              <a:ext uri="{C183D7F6-B498-43B3-948B-1728B52AA6E4}">
                <adec:decorative xmlns:adec="http://schemas.microsoft.com/office/drawing/2017/decorative" val="1"/>
              </a:ext>
            </a:extLst>
          </p:cNvPr>
          <p:cNvSpPr/>
          <p:nvPr/>
        </p:nvSpPr>
        <p:spPr>
          <a:xfrm>
            <a:off x="2689666" y="2029967"/>
            <a:ext cx="1583242"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p3"/>
          <p:cNvSpPr txBox="1"/>
          <p:nvPr/>
        </p:nvSpPr>
        <p:spPr>
          <a:xfrm>
            <a:off x="4602092" y="1755648"/>
            <a:ext cx="240229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III</a:t>
            </a:r>
          </a:p>
        </p:txBody>
      </p:sp>
      <p:sp>
        <p:nvSpPr>
          <p:cNvPr id="12" name="!!rpl3">
            <a:extLst>
              <a:ext uri="{C183D7F6-B498-43B3-948B-1728B52AA6E4}">
                <adec:decorative xmlns:adec="http://schemas.microsoft.com/office/drawing/2017/decorative" val="1"/>
              </a:ext>
            </a:extLst>
          </p:cNvPr>
          <p:cNvSpPr/>
          <p:nvPr/>
        </p:nvSpPr>
        <p:spPr>
          <a:xfrm>
            <a:off x="4602092" y="2029967"/>
            <a:ext cx="240229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rp4"/>
          <p:cNvSpPr txBox="1"/>
          <p:nvPr/>
        </p:nvSpPr>
        <p:spPr>
          <a:xfrm>
            <a:off x="7333571" y="1755648"/>
            <a:ext cx="1329163"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7A3A95"/>
                </a:solidFill>
                <a:latin typeface="Segoe UI"/>
              </a:rPr>
              <a:t>PART IV</a:t>
            </a:r>
          </a:p>
        </p:txBody>
      </p:sp>
      <p:sp>
        <p:nvSpPr>
          <p:cNvPr id="14" name="!!rpl4">
            <a:extLst>
              <a:ext uri="{C183D7F6-B498-43B3-948B-1728B52AA6E4}">
                <adec:decorative xmlns:adec="http://schemas.microsoft.com/office/drawing/2017/decorative" val="1"/>
              </a:ext>
            </a:extLst>
          </p:cNvPr>
          <p:cNvSpPr/>
          <p:nvPr/>
        </p:nvSpPr>
        <p:spPr>
          <a:xfrm>
            <a:off x="7333571" y="2029967"/>
            <a:ext cx="1329163" cy="45720"/>
          </a:xfrm>
          <a:prstGeom prst="rect">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rp5"/>
          <p:cNvSpPr txBox="1"/>
          <p:nvPr/>
        </p:nvSpPr>
        <p:spPr>
          <a:xfrm>
            <a:off x="9147366"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a:t>
            </a:r>
          </a:p>
        </p:txBody>
      </p:sp>
      <p:sp>
        <p:nvSpPr>
          <p:cNvPr id="16" name="!!rpl5">
            <a:extLst>
              <a:ext uri="{C183D7F6-B498-43B3-948B-1728B52AA6E4}">
                <adec:decorative xmlns:adec="http://schemas.microsoft.com/office/drawing/2017/decorative" val="1"/>
              </a:ext>
            </a:extLst>
          </p:cNvPr>
          <p:cNvSpPr/>
          <p:nvPr/>
        </p:nvSpPr>
        <p:spPr>
          <a:xfrm>
            <a:off x="9147366"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p6"/>
          <p:cNvSpPr txBox="1"/>
          <p:nvPr/>
        </p:nvSpPr>
        <p:spPr>
          <a:xfrm>
            <a:off x="10650266" y="1755648"/>
            <a:ext cx="764189"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VI</a:t>
            </a:r>
          </a:p>
        </p:txBody>
      </p:sp>
      <p:sp>
        <p:nvSpPr>
          <p:cNvPr id="18" name="!!rpl6">
            <a:extLst>
              <a:ext uri="{C183D7F6-B498-43B3-948B-1728B52AA6E4}">
                <adec:decorative xmlns:adec="http://schemas.microsoft.com/office/drawing/2017/decorative" val="1"/>
              </a:ext>
            </a:extLst>
          </p:cNvPr>
          <p:cNvSpPr/>
          <p:nvPr/>
        </p:nvSpPr>
        <p:spPr>
          <a:xfrm>
            <a:off x="10650266" y="2029967"/>
            <a:ext cx="764189"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dot1">
            <a:extLst>
              <a:ext uri="{C183D7F6-B498-43B3-948B-1728B52AA6E4}">
                <adec:decorative xmlns:adec="http://schemas.microsoft.com/office/drawing/2017/decorative" val="1"/>
              </a:ext>
            </a:extLst>
          </p:cNvPr>
          <p:cNvSpPr/>
          <p:nvPr/>
        </p:nvSpPr>
        <p:spPr>
          <a:xfrm>
            <a:off x="817411"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dotn1"/>
          <p:cNvSpPr txBox="1"/>
          <p:nvPr/>
        </p:nvSpPr>
        <p:spPr>
          <a:xfrm>
            <a:off x="72597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a:t>
            </a:r>
          </a:p>
        </p:txBody>
      </p:sp>
      <p:sp>
        <p:nvSpPr>
          <p:cNvPr id="21" name="!!dot2">
            <a:extLst>
              <a:ext uri="{C183D7F6-B498-43B3-948B-1728B52AA6E4}">
                <adec:decorative xmlns:adec="http://schemas.microsoft.com/office/drawing/2017/decorative" val="1"/>
              </a:ext>
            </a:extLst>
          </p:cNvPr>
          <p:cNvSpPr/>
          <p:nvPr/>
        </p:nvSpPr>
        <p:spPr>
          <a:xfrm>
            <a:off x="1226937"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dotn2"/>
          <p:cNvSpPr txBox="1"/>
          <p:nvPr/>
        </p:nvSpPr>
        <p:spPr>
          <a:xfrm>
            <a:off x="11354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2</a:t>
            </a:r>
          </a:p>
        </p:txBody>
      </p:sp>
      <p:sp>
        <p:nvSpPr>
          <p:cNvPr id="23" name="!!dot3">
            <a:extLst>
              <a:ext uri="{C183D7F6-B498-43B3-948B-1728B52AA6E4}">
                <adec:decorative xmlns:adec="http://schemas.microsoft.com/office/drawing/2017/decorative" val="1"/>
              </a:ext>
            </a:extLst>
          </p:cNvPr>
          <p:cNvSpPr/>
          <p:nvPr/>
        </p:nvSpPr>
        <p:spPr>
          <a:xfrm>
            <a:off x="1636464"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dotn3"/>
          <p:cNvSpPr txBox="1"/>
          <p:nvPr/>
        </p:nvSpPr>
        <p:spPr>
          <a:xfrm>
            <a:off x="15450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3</a:t>
            </a:r>
          </a:p>
        </p:txBody>
      </p:sp>
      <p:sp>
        <p:nvSpPr>
          <p:cNvPr id="25" name="!!dot4">
            <a:extLst>
              <a:ext uri="{C183D7F6-B498-43B3-948B-1728B52AA6E4}">
                <adec:decorative xmlns:adec="http://schemas.microsoft.com/office/drawing/2017/decorative" val="1"/>
              </a:ext>
            </a:extLst>
          </p:cNvPr>
          <p:cNvSpPr/>
          <p:nvPr/>
        </p:nvSpPr>
        <p:spPr>
          <a:xfrm>
            <a:off x="2045990"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dotn4"/>
          <p:cNvSpPr txBox="1"/>
          <p:nvPr/>
        </p:nvSpPr>
        <p:spPr>
          <a:xfrm>
            <a:off x="195455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4</a:t>
            </a:r>
          </a:p>
        </p:txBody>
      </p:sp>
      <p:sp>
        <p:nvSpPr>
          <p:cNvPr id="27" name="!!dot5">
            <a:extLst>
              <a:ext uri="{C183D7F6-B498-43B3-948B-1728B52AA6E4}">
                <adec:decorative xmlns:adec="http://schemas.microsoft.com/office/drawing/2017/decorative" val="1"/>
              </a:ext>
            </a:extLst>
          </p:cNvPr>
          <p:cNvSpPr/>
          <p:nvPr/>
        </p:nvSpPr>
        <p:spPr>
          <a:xfrm>
            <a:off x="2729837"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dotn5"/>
          <p:cNvSpPr txBox="1"/>
          <p:nvPr/>
        </p:nvSpPr>
        <p:spPr>
          <a:xfrm>
            <a:off x="26383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5</a:t>
            </a:r>
          </a:p>
        </p:txBody>
      </p:sp>
      <p:sp>
        <p:nvSpPr>
          <p:cNvPr id="29" name="!!dot6">
            <a:extLst>
              <a:ext uri="{C183D7F6-B498-43B3-948B-1728B52AA6E4}">
                <adec:decorative xmlns:adec="http://schemas.microsoft.com/office/drawing/2017/decorative" val="1"/>
              </a:ext>
            </a:extLst>
          </p:cNvPr>
          <p:cNvSpPr/>
          <p:nvPr/>
        </p:nvSpPr>
        <p:spPr>
          <a:xfrm>
            <a:off x="3139363"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dotn6"/>
          <p:cNvSpPr txBox="1"/>
          <p:nvPr/>
        </p:nvSpPr>
        <p:spPr>
          <a:xfrm>
            <a:off x="30479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6</a:t>
            </a:r>
          </a:p>
        </p:txBody>
      </p:sp>
      <p:sp>
        <p:nvSpPr>
          <p:cNvPr id="31" name="!!dot7">
            <a:extLst>
              <a:ext uri="{C183D7F6-B498-43B3-948B-1728B52AA6E4}">
                <adec:decorative xmlns:adec="http://schemas.microsoft.com/office/drawing/2017/decorative" val="1"/>
              </a:ext>
            </a:extLst>
          </p:cNvPr>
          <p:cNvSpPr/>
          <p:nvPr/>
        </p:nvSpPr>
        <p:spPr>
          <a:xfrm>
            <a:off x="3548890"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dotn7"/>
          <p:cNvSpPr txBox="1"/>
          <p:nvPr/>
        </p:nvSpPr>
        <p:spPr>
          <a:xfrm>
            <a:off x="345745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7</a:t>
            </a:r>
          </a:p>
        </p:txBody>
      </p:sp>
      <p:sp>
        <p:nvSpPr>
          <p:cNvPr id="33" name="!!dot8">
            <a:extLst>
              <a:ext uri="{C183D7F6-B498-43B3-948B-1728B52AA6E4}">
                <adec:decorative xmlns:adec="http://schemas.microsoft.com/office/drawing/2017/decorative" val="1"/>
              </a:ext>
            </a:extLst>
          </p:cNvPr>
          <p:cNvSpPr/>
          <p:nvPr/>
        </p:nvSpPr>
        <p:spPr>
          <a:xfrm>
            <a:off x="3958416"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dotn8"/>
          <p:cNvSpPr txBox="1"/>
          <p:nvPr/>
        </p:nvSpPr>
        <p:spPr>
          <a:xfrm>
            <a:off x="386697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8</a:t>
            </a:r>
          </a:p>
        </p:txBody>
      </p:sp>
      <p:sp>
        <p:nvSpPr>
          <p:cNvPr id="35" name="!!dot9">
            <a:extLst>
              <a:ext uri="{C183D7F6-B498-43B3-948B-1728B52AA6E4}">
                <adec:decorative xmlns:adec="http://schemas.microsoft.com/office/drawing/2017/decorative" val="1"/>
              </a:ext>
            </a:extLst>
          </p:cNvPr>
          <p:cNvSpPr/>
          <p:nvPr/>
        </p:nvSpPr>
        <p:spPr>
          <a:xfrm>
            <a:off x="4642263"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dotn9"/>
          <p:cNvSpPr txBox="1"/>
          <p:nvPr/>
        </p:nvSpPr>
        <p:spPr>
          <a:xfrm>
            <a:off x="45508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9</a:t>
            </a:r>
          </a:p>
        </p:txBody>
      </p:sp>
      <p:sp>
        <p:nvSpPr>
          <p:cNvPr id="37" name="!!dot10">
            <a:extLst>
              <a:ext uri="{C183D7F6-B498-43B3-948B-1728B52AA6E4}">
                <adec:decorative xmlns:adec="http://schemas.microsoft.com/office/drawing/2017/decorative" val="1"/>
              </a:ext>
            </a:extLst>
          </p:cNvPr>
          <p:cNvSpPr/>
          <p:nvPr/>
        </p:nvSpPr>
        <p:spPr>
          <a:xfrm>
            <a:off x="5051789"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dotn10"/>
          <p:cNvSpPr txBox="1"/>
          <p:nvPr/>
        </p:nvSpPr>
        <p:spPr>
          <a:xfrm>
            <a:off x="496034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10</a:t>
            </a:r>
          </a:p>
        </p:txBody>
      </p:sp>
      <p:sp>
        <p:nvSpPr>
          <p:cNvPr id="39" name="!!dot11">
            <a:extLst>
              <a:ext uri="{C183D7F6-B498-43B3-948B-1728B52AA6E4}">
                <adec:decorative xmlns:adec="http://schemas.microsoft.com/office/drawing/2017/decorative" val="1"/>
              </a:ext>
            </a:extLst>
          </p:cNvPr>
          <p:cNvSpPr/>
          <p:nvPr/>
        </p:nvSpPr>
        <p:spPr>
          <a:xfrm>
            <a:off x="5461316"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dotn11"/>
          <p:cNvSpPr txBox="1"/>
          <p:nvPr/>
        </p:nvSpPr>
        <p:spPr>
          <a:xfrm>
            <a:off x="536987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11</a:t>
            </a:r>
          </a:p>
        </p:txBody>
      </p:sp>
      <p:sp>
        <p:nvSpPr>
          <p:cNvPr id="41" name="!!dot12">
            <a:extLst>
              <a:ext uri="{C183D7F6-B498-43B3-948B-1728B52AA6E4}">
                <adec:decorative xmlns:adec="http://schemas.microsoft.com/office/drawing/2017/decorative" val="1"/>
              </a:ext>
            </a:extLst>
          </p:cNvPr>
          <p:cNvSpPr/>
          <p:nvPr/>
        </p:nvSpPr>
        <p:spPr>
          <a:xfrm>
            <a:off x="5870842"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dotn12"/>
          <p:cNvSpPr txBox="1"/>
          <p:nvPr/>
        </p:nvSpPr>
        <p:spPr>
          <a:xfrm>
            <a:off x="577940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12</a:t>
            </a:r>
          </a:p>
        </p:txBody>
      </p:sp>
      <p:sp>
        <p:nvSpPr>
          <p:cNvPr id="43" name="!!dot13">
            <a:extLst>
              <a:ext uri="{C183D7F6-B498-43B3-948B-1728B52AA6E4}">
                <adec:decorative xmlns:adec="http://schemas.microsoft.com/office/drawing/2017/decorative" val="1"/>
              </a:ext>
            </a:extLst>
          </p:cNvPr>
          <p:cNvSpPr/>
          <p:nvPr/>
        </p:nvSpPr>
        <p:spPr>
          <a:xfrm>
            <a:off x="6280369"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dotn13"/>
          <p:cNvSpPr txBox="1"/>
          <p:nvPr/>
        </p:nvSpPr>
        <p:spPr>
          <a:xfrm>
            <a:off x="618892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13</a:t>
            </a:r>
          </a:p>
        </p:txBody>
      </p:sp>
      <p:sp>
        <p:nvSpPr>
          <p:cNvPr id="45" name="!!dot14">
            <a:extLst>
              <a:ext uri="{C183D7F6-B498-43B3-948B-1728B52AA6E4}">
                <adec:decorative xmlns:adec="http://schemas.microsoft.com/office/drawing/2017/decorative" val="1"/>
              </a:ext>
            </a:extLst>
          </p:cNvPr>
          <p:cNvSpPr/>
          <p:nvPr/>
        </p:nvSpPr>
        <p:spPr>
          <a:xfrm>
            <a:off x="6689895"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dotn14"/>
          <p:cNvSpPr txBox="1"/>
          <p:nvPr/>
        </p:nvSpPr>
        <p:spPr>
          <a:xfrm>
            <a:off x="659845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14</a:t>
            </a:r>
          </a:p>
        </p:txBody>
      </p:sp>
      <p:sp>
        <p:nvSpPr>
          <p:cNvPr id="47" name="!!dot15">
            <a:extLst>
              <a:ext uri="{C183D7F6-B498-43B3-948B-1728B52AA6E4}">
                <adec:decorative xmlns:adec="http://schemas.microsoft.com/office/drawing/2017/decorative" val="1"/>
              </a:ext>
            </a:extLst>
          </p:cNvPr>
          <p:cNvSpPr/>
          <p:nvPr/>
        </p:nvSpPr>
        <p:spPr>
          <a:xfrm>
            <a:off x="7373742" y="2258568"/>
            <a:ext cx="274320" cy="274320"/>
          </a:xfrm>
          <a:prstGeom prst="ellipse">
            <a:avLst/>
          </a:prstGeom>
          <a:solidFill>
            <a:srgbClr val="9F60B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dotn15"/>
          <p:cNvSpPr txBox="1"/>
          <p:nvPr/>
        </p:nvSpPr>
        <p:spPr>
          <a:xfrm>
            <a:off x="728230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15</a:t>
            </a:r>
          </a:p>
        </p:txBody>
      </p:sp>
      <p:sp>
        <p:nvSpPr>
          <p:cNvPr id="49" name="!!dot16">
            <a:extLst>
              <a:ext uri="{C183D7F6-B498-43B3-948B-1728B52AA6E4}">
                <adec:decorative xmlns:adec="http://schemas.microsoft.com/office/drawing/2017/decorative" val="1"/>
              </a:ext>
            </a:extLst>
          </p:cNvPr>
          <p:cNvSpPr/>
          <p:nvPr/>
        </p:nvSpPr>
        <p:spPr>
          <a:xfrm>
            <a:off x="7783268" y="2258568"/>
            <a:ext cx="274320" cy="274320"/>
          </a:xfrm>
          <a:prstGeom prst="ellipse">
            <a:avLst/>
          </a:prstGeom>
          <a:solidFill>
            <a:srgbClr val="9F60B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dotn16"/>
          <p:cNvSpPr txBox="1"/>
          <p:nvPr/>
        </p:nvSpPr>
        <p:spPr>
          <a:xfrm>
            <a:off x="769182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16</a:t>
            </a:r>
          </a:p>
        </p:txBody>
      </p:sp>
      <p:sp>
        <p:nvSpPr>
          <p:cNvPr id="51" name="!!dot17">
            <a:extLst>
              <a:ext uri="{C183D7F6-B498-43B3-948B-1728B52AA6E4}">
                <adec:decorative xmlns:adec="http://schemas.microsoft.com/office/drawing/2017/decorative" val="1"/>
              </a:ext>
            </a:extLst>
          </p:cNvPr>
          <p:cNvSpPr/>
          <p:nvPr/>
        </p:nvSpPr>
        <p:spPr>
          <a:xfrm>
            <a:off x="8201939" y="2112264"/>
            <a:ext cx="566928" cy="566928"/>
          </a:xfrm>
          <a:prstGeom prst="ellipse">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dotn17"/>
          <p:cNvSpPr txBox="1"/>
          <p:nvPr/>
        </p:nvSpPr>
        <p:spPr>
          <a:xfrm>
            <a:off x="8201939" y="2240280"/>
            <a:ext cx="566928"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17</a:t>
            </a:r>
          </a:p>
        </p:txBody>
      </p:sp>
      <p:sp>
        <p:nvSpPr>
          <p:cNvPr id="53" name="!!dot18">
            <a:extLst>
              <a:ext uri="{C183D7F6-B498-43B3-948B-1728B52AA6E4}">
                <adec:decorative xmlns:adec="http://schemas.microsoft.com/office/drawing/2017/decorative" val="1"/>
              </a:ext>
            </a:extLst>
          </p:cNvPr>
          <p:cNvSpPr/>
          <p:nvPr/>
        </p:nvSpPr>
        <p:spPr>
          <a:xfrm>
            <a:off x="9187537"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dotn18"/>
          <p:cNvSpPr txBox="1"/>
          <p:nvPr/>
        </p:nvSpPr>
        <p:spPr>
          <a:xfrm>
            <a:off x="90960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18</a:t>
            </a:r>
          </a:p>
        </p:txBody>
      </p:sp>
      <p:sp>
        <p:nvSpPr>
          <p:cNvPr id="55" name="!!dot19">
            <a:extLst>
              <a:ext uri="{C183D7F6-B498-43B3-948B-1728B52AA6E4}">
                <adec:decorative xmlns:adec="http://schemas.microsoft.com/office/drawing/2017/decorative" val="1"/>
              </a:ext>
            </a:extLst>
          </p:cNvPr>
          <p:cNvSpPr/>
          <p:nvPr/>
        </p:nvSpPr>
        <p:spPr>
          <a:xfrm>
            <a:off x="9597064"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dotn19"/>
          <p:cNvSpPr txBox="1"/>
          <p:nvPr/>
        </p:nvSpPr>
        <p:spPr>
          <a:xfrm>
            <a:off x="95056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19</a:t>
            </a:r>
          </a:p>
        </p:txBody>
      </p:sp>
      <p:sp>
        <p:nvSpPr>
          <p:cNvPr id="57" name="!!dot20">
            <a:extLst>
              <a:ext uri="{C183D7F6-B498-43B3-948B-1728B52AA6E4}">
                <adec:decorative xmlns:adec="http://schemas.microsoft.com/office/drawing/2017/decorative" val="1"/>
              </a:ext>
            </a:extLst>
          </p:cNvPr>
          <p:cNvSpPr/>
          <p:nvPr/>
        </p:nvSpPr>
        <p:spPr>
          <a:xfrm>
            <a:off x="10006590"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dotn20"/>
          <p:cNvSpPr txBox="1"/>
          <p:nvPr/>
        </p:nvSpPr>
        <p:spPr>
          <a:xfrm>
            <a:off x="991515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20</a:t>
            </a:r>
          </a:p>
        </p:txBody>
      </p:sp>
      <p:sp>
        <p:nvSpPr>
          <p:cNvPr id="59" name="!!dot21">
            <a:extLst>
              <a:ext uri="{C183D7F6-B498-43B3-948B-1728B52AA6E4}">
                <adec:decorative xmlns:adec="http://schemas.microsoft.com/office/drawing/2017/decorative" val="1"/>
              </a:ext>
            </a:extLst>
          </p:cNvPr>
          <p:cNvSpPr/>
          <p:nvPr/>
        </p:nvSpPr>
        <p:spPr>
          <a:xfrm>
            <a:off x="10690437"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dotn21"/>
          <p:cNvSpPr txBox="1"/>
          <p:nvPr/>
        </p:nvSpPr>
        <p:spPr>
          <a:xfrm>
            <a:off x="105989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21</a:t>
            </a:r>
          </a:p>
        </p:txBody>
      </p:sp>
      <p:sp>
        <p:nvSpPr>
          <p:cNvPr id="61" name="!!dot22">
            <a:extLst>
              <a:ext uri="{C183D7F6-B498-43B3-948B-1728B52AA6E4}">
                <adec:decorative xmlns:adec="http://schemas.microsoft.com/office/drawing/2017/decorative" val="1"/>
              </a:ext>
            </a:extLst>
          </p:cNvPr>
          <p:cNvSpPr/>
          <p:nvPr/>
        </p:nvSpPr>
        <p:spPr>
          <a:xfrm>
            <a:off x="11099963"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dotn22"/>
          <p:cNvSpPr txBox="1"/>
          <p:nvPr/>
        </p:nvSpPr>
        <p:spPr>
          <a:xfrm>
            <a:off x="110085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22</a:t>
            </a:r>
          </a:p>
        </p:txBody>
      </p:sp>
      <p:sp>
        <p:nvSpPr>
          <p:cNvPr id="63" name="!!dotlabel"/>
          <p:cNvSpPr txBox="1"/>
          <p:nvPr/>
        </p:nvSpPr>
        <p:spPr>
          <a:xfrm>
            <a:off x="5559323" y="2798064"/>
            <a:ext cx="5852160"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7A3A95"/>
                </a:solidFill>
                <a:latin typeface="Segoe UI"/>
              </a:rPr>
              <a:t>Semi-Supervised Learning and the EM Algorithm</a:t>
            </a:r>
          </a:p>
        </p:txBody>
      </p:sp>
      <p:sp>
        <p:nvSpPr>
          <p:cNvPr id="64" name="!!dep-BUILD"/>
          <p:cNvSpPr txBox="1"/>
          <p:nvPr/>
        </p:nvSpPr>
        <p:spPr>
          <a:xfrm>
            <a:off x="658368"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BUILDS ON</a:t>
            </a:r>
          </a:p>
        </p:txBody>
      </p:sp>
      <p:sp>
        <p:nvSpPr>
          <p:cNvPr id="65" name="!!chipBU2">
            <a:extLst>
              <a:ext uri="{C183D7F6-B498-43B3-948B-1728B52AA6E4}">
                <adec:decorative xmlns:adec="http://schemas.microsoft.com/office/drawing/2017/decorative" val="1"/>
              </a:ext>
            </a:extLst>
          </p:cNvPr>
          <p:cNvSpPr/>
          <p:nvPr/>
        </p:nvSpPr>
        <p:spPr>
          <a:xfrm>
            <a:off x="658368" y="3785616"/>
            <a:ext cx="5208879" cy="420624"/>
          </a:xfrm>
          <a:prstGeom prst="roundRect">
            <a:avLst>
              <a:gd name="adj" fmla="val 17391"/>
            </a:avLst>
          </a:prstGeom>
          <a:solidFill>
            <a:srgbClr val="E8EEF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6" name="!!chipbBU2">
            <a:extLst>
              <a:ext uri="{C183D7F6-B498-43B3-948B-1728B52AA6E4}">
                <adec:decorative xmlns:adec="http://schemas.microsoft.com/office/drawing/2017/decorative" val="1"/>
              </a:ext>
            </a:extLst>
          </p:cNvPr>
          <p:cNvSpPr/>
          <p:nvPr/>
        </p:nvSpPr>
        <p:spPr>
          <a:xfrm>
            <a:off x="658368" y="3785616"/>
            <a:ext cx="64008" cy="42062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7" name="!!chiptBU2"/>
          <p:cNvSpPr txBox="1"/>
          <p:nvPr/>
        </p:nvSpPr>
        <p:spPr>
          <a:xfrm>
            <a:off x="859536"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A5276"/>
                </a:solidFill>
                <a:latin typeface="Segoe UI"/>
              </a:rPr>
              <a:t>Ch 2  </a:t>
            </a:r>
            <a:r>
              <a:rPr sz="1400" b="0" i="0">
                <a:solidFill>
                  <a:srgbClr val="1C252B"/>
                </a:solidFill>
                <a:latin typeface="Segoe UI"/>
              </a:rPr>
              <a:t>Mathematics for Machine Learning</a:t>
            </a:r>
          </a:p>
        </p:txBody>
      </p:sp>
      <p:sp>
        <p:nvSpPr>
          <p:cNvPr id="68" name="!!chipBU10">
            <a:extLst>
              <a:ext uri="{C183D7F6-B498-43B3-948B-1728B52AA6E4}">
                <adec:decorative xmlns:adec="http://schemas.microsoft.com/office/drawing/2017/decorative" val="1"/>
              </a:ext>
            </a:extLst>
          </p:cNvPr>
          <p:cNvSpPr/>
          <p:nvPr/>
        </p:nvSpPr>
        <p:spPr>
          <a:xfrm>
            <a:off x="658368" y="4297680"/>
            <a:ext cx="5208879" cy="420624"/>
          </a:xfrm>
          <a:prstGeom prst="roundRect">
            <a:avLst>
              <a:gd name="adj" fmla="val 17391"/>
            </a:avLst>
          </a:prstGeom>
          <a:solidFill>
            <a:srgbClr val="E8F2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9" name="!!chipbBU10">
            <a:extLst>
              <a:ext uri="{C183D7F6-B498-43B3-948B-1728B52AA6E4}">
                <adec:decorative xmlns:adec="http://schemas.microsoft.com/office/drawing/2017/decorative" val="1"/>
              </a:ext>
            </a:extLst>
          </p:cNvPr>
          <p:cNvSpPr/>
          <p:nvPr/>
        </p:nvSpPr>
        <p:spPr>
          <a:xfrm>
            <a:off x="658368" y="4297680"/>
            <a:ext cx="64008" cy="420624"/>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0" name="!!chiptBU10"/>
          <p:cNvSpPr txBox="1"/>
          <p:nvPr/>
        </p:nvSpPr>
        <p:spPr>
          <a:xfrm>
            <a:off x="859536"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B7A43"/>
                </a:solidFill>
                <a:latin typeface="Segoe UI"/>
              </a:rPr>
              <a:t>Ch 10  </a:t>
            </a:r>
            <a:r>
              <a:rPr sz="1400" b="0" i="0">
                <a:solidFill>
                  <a:srgbClr val="1C252B"/>
                </a:solidFill>
                <a:latin typeface="Segoe UI"/>
              </a:rPr>
              <a:t>Bayesian Learning and Naive Bayes</a:t>
            </a:r>
          </a:p>
        </p:txBody>
      </p:sp>
      <p:sp>
        <p:nvSpPr>
          <p:cNvPr id="71" name="!!chipBU15">
            <a:extLst>
              <a:ext uri="{C183D7F6-B498-43B3-948B-1728B52AA6E4}">
                <adec:decorative xmlns:adec="http://schemas.microsoft.com/office/drawing/2017/decorative" val="1"/>
              </a:ext>
            </a:extLst>
          </p:cNvPr>
          <p:cNvSpPr/>
          <p:nvPr/>
        </p:nvSpPr>
        <p:spPr>
          <a:xfrm>
            <a:off x="658368" y="4809744"/>
            <a:ext cx="5208879" cy="420624"/>
          </a:xfrm>
          <a:prstGeom prst="roundRect">
            <a:avLst>
              <a:gd name="adj" fmla="val 17391"/>
            </a:avLst>
          </a:prstGeom>
          <a:solidFill>
            <a:srgbClr val="F2EB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2" name="!!chipbBU15">
            <a:extLst>
              <a:ext uri="{C183D7F6-B498-43B3-948B-1728B52AA6E4}">
                <adec:decorative xmlns:adec="http://schemas.microsoft.com/office/drawing/2017/decorative" val="1"/>
              </a:ext>
            </a:extLst>
          </p:cNvPr>
          <p:cNvSpPr/>
          <p:nvPr/>
        </p:nvSpPr>
        <p:spPr>
          <a:xfrm>
            <a:off x="658368" y="4809744"/>
            <a:ext cx="64008" cy="420624"/>
          </a:xfrm>
          <a:prstGeom prst="rect">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3" name="!!chiptBU15"/>
          <p:cNvSpPr txBox="1"/>
          <p:nvPr/>
        </p:nvSpPr>
        <p:spPr>
          <a:xfrm>
            <a:off x="859536" y="4901184"/>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A3A95"/>
                </a:solidFill>
                <a:latin typeface="Segoe UI"/>
              </a:rPr>
              <a:t>Ch 15  </a:t>
            </a:r>
            <a:r>
              <a:rPr sz="1400" b="0" i="0">
                <a:solidFill>
                  <a:srgbClr val="1C252B"/>
                </a:solidFill>
                <a:latin typeface="Segoe UI"/>
              </a:rPr>
              <a:t>Clustering</a:t>
            </a:r>
          </a:p>
        </p:txBody>
      </p:sp>
      <p:sp>
        <p:nvSpPr>
          <p:cNvPr id="74" name="!!dep-USED "/>
          <p:cNvSpPr txBox="1"/>
          <p:nvPr/>
        </p:nvSpPr>
        <p:spPr>
          <a:xfrm>
            <a:off x="6324447"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USED LATER IN</a:t>
            </a:r>
          </a:p>
        </p:txBody>
      </p:sp>
      <p:sp>
        <p:nvSpPr>
          <p:cNvPr id="75" name="!!chipUS18">
            <a:extLst>
              <a:ext uri="{C183D7F6-B498-43B3-948B-1728B52AA6E4}">
                <adec:decorative xmlns:adec="http://schemas.microsoft.com/office/drawing/2017/decorative" val="1"/>
              </a:ext>
            </a:extLst>
          </p:cNvPr>
          <p:cNvSpPr/>
          <p:nvPr/>
        </p:nvSpPr>
        <p:spPr>
          <a:xfrm>
            <a:off x="6324447" y="3785616"/>
            <a:ext cx="5208879" cy="420624"/>
          </a:xfrm>
          <a:prstGeom prst="roundRect">
            <a:avLst>
              <a:gd name="adj" fmla="val 17391"/>
            </a:avLst>
          </a:prstGeom>
          <a:solidFill>
            <a:srgbClr val="E7F2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6" name="!!chipbUS18">
            <a:extLst>
              <a:ext uri="{C183D7F6-B498-43B3-948B-1728B52AA6E4}">
                <adec:decorative xmlns:adec="http://schemas.microsoft.com/office/drawing/2017/decorative" val="1"/>
              </a:ext>
            </a:extLst>
          </p:cNvPr>
          <p:cNvSpPr/>
          <p:nvPr/>
        </p:nvSpPr>
        <p:spPr>
          <a:xfrm>
            <a:off x="6324447" y="3785616"/>
            <a:ext cx="64008" cy="420624"/>
          </a:xfrm>
          <a:prstGeom prst="rect">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7" name="!!chiptUS18"/>
          <p:cNvSpPr txBox="1"/>
          <p:nvPr/>
        </p:nvSpPr>
        <p:spPr>
          <a:xfrm>
            <a:off x="6525615"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07964"/>
                </a:solidFill>
                <a:latin typeface="Segoe UI"/>
              </a:rPr>
              <a:t>Ch 18  </a:t>
            </a:r>
            <a:r>
              <a:rPr sz="1400" b="0" i="0">
                <a:solidFill>
                  <a:srgbClr val="1C252B"/>
                </a:solidFill>
                <a:latin typeface="Segoe UI"/>
              </a:rPr>
              <a:t>Hidden Markov Models</a:t>
            </a:r>
          </a:p>
        </p:txBody>
      </p:sp>
      <p:sp>
        <p:nvSpPr>
          <p:cNvPr id="78" name="!!chipUS21">
            <a:extLst>
              <a:ext uri="{C183D7F6-B498-43B3-948B-1728B52AA6E4}">
                <adec:decorative xmlns:adec="http://schemas.microsoft.com/office/drawing/2017/decorative" val="1"/>
              </a:ext>
            </a:extLst>
          </p:cNvPr>
          <p:cNvSpPr/>
          <p:nvPr/>
        </p:nvSpPr>
        <p:spPr>
          <a:xfrm>
            <a:off x="6324447" y="4297680"/>
            <a:ext cx="5208879" cy="420624"/>
          </a:xfrm>
          <a:prstGeom prst="roundRect">
            <a:avLst>
              <a:gd name="adj" fmla="val 17391"/>
            </a:avLst>
          </a:prstGeom>
          <a:solidFill>
            <a:srgbClr val="F1EF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9" name="!!chipbUS21">
            <a:extLst>
              <a:ext uri="{C183D7F6-B498-43B3-948B-1728B52AA6E4}">
                <adec:decorative xmlns:adec="http://schemas.microsoft.com/office/drawing/2017/decorative" val="1"/>
              </a:ext>
            </a:extLst>
          </p:cNvPr>
          <p:cNvSpPr/>
          <p:nvPr/>
        </p:nvSpPr>
        <p:spPr>
          <a:xfrm>
            <a:off x="6324447" y="4297680"/>
            <a:ext cx="64008" cy="420624"/>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0" name="!!chiptUS21"/>
          <p:cNvSpPr txBox="1"/>
          <p:nvPr/>
        </p:nvSpPr>
        <p:spPr>
          <a:xfrm>
            <a:off x="6525615"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05B06"/>
                </a:solidFill>
                <a:latin typeface="Segoe UI"/>
              </a:rPr>
              <a:t>Ch 21  </a:t>
            </a:r>
            <a:r>
              <a:rPr sz="1400" b="0" i="0">
                <a:solidFill>
                  <a:srgbClr val="1C252B"/>
                </a:solidFill>
                <a:latin typeface="Segoe UI"/>
              </a:rPr>
              <a:t>Responsible and Ethical Machine Learning</a:t>
            </a:r>
          </a:p>
        </p:txBody>
      </p:sp>
      <p:sp>
        <p:nvSpPr>
          <p:cNvPr id="8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2" name="!!pfill">
            <a:extLst>
              <a:ext uri="{C183D7F6-B498-43B3-948B-1728B52AA6E4}">
                <adec:decorative xmlns:adec="http://schemas.microsoft.com/office/drawing/2017/decorative" val="1"/>
              </a:ext>
            </a:extLst>
          </p:cNvPr>
          <p:cNvSpPr/>
          <p:nvPr/>
        </p:nvSpPr>
        <p:spPr>
          <a:xfrm>
            <a:off x="0" y="0"/>
            <a:ext cx="541853"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you will be able to do</a:t>
            </a:r>
          </a:p>
        </p:txBody>
      </p:sp>
      <p:pic>
        <p:nvPicPr>
          <p:cNvPr id="3" name="!!kicker-icon" descr="bullsey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LEARNING OUTCOMES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17  ·  Semi-Supervised Learning and the EM Algorithm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128     </a:t>
            </a:r>
            <a:fld id="{8BD1B430-4147-486A-8ED4-7700D7A450A6}" type="slidenum">
              <a:rPr lang="en-GB" sz="1000">
                <a:solidFill>
                  <a:srgbClr val="8795A1"/>
                </a:solidFill>
                <a:latin typeface="Segoe UI"/>
              </a:rPr>
              <a:t>3</a:t>
            </a:fld>
          </a:p>
        </p:txBody>
      </p:sp>
      <p:sp>
        <p:nvSpPr>
          <p:cNvPr id="7" name="!!olead"/>
          <p:cNvSpPr txBox="1"/>
          <p:nvPr/>
        </p:nvSpPr>
        <p:spPr>
          <a:xfrm>
            <a:off x="658368" y="1737360"/>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5F6F7B"/>
                </a:solidFill>
                <a:latin typeface="Segoe UI"/>
              </a:rPr>
              <a:t>By the end of this chapter you will be able to:</a:t>
            </a:r>
          </a:p>
        </p:txBody>
      </p:sp>
      <p:sp>
        <p:nvSpPr>
          <p:cNvPr id="8" name="!!ob0">
            <a:extLst>
              <a:ext uri="{C183D7F6-B498-43B3-948B-1728B52AA6E4}">
                <adec:decorative xmlns:adec="http://schemas.microsoft.com/office/drawing/2017/decorative" val="1"/>
              </a:ext>
            </a:extLst>
          </p:cNvPr>
          <p:cNvSpPr/>
          <p:nvPr/>
        </p:nvSpPr>
        <p:spPr>
          <a:xfrm>
            <a:off x="658368" y="2221991"/>
            <a:ext cx="420624" cy="420624"/>
          </a:xfrm>
          <a:prstGeom prst="ellipse">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obn0"/>
          <p:cNvSpPr txBox="1"/>
          <p:nvPr/>
        </p:nvSpPr>
        <p:spPr>
          <a:xfrm>
            <a:off x="658368" y="2281428"/>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10" name="!!ot0"/>
          <p:cNvSpPr txBox="1"/>
          <p:nvPr/>
        </p:nvSpPr>
        <p:spPr>
          <a:xfrm>
            <a:off x="1316736" y="2212848"/>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A3A95"/>
                </a:solidFill>
                <a:latin typeface="Segoe UI"/>
              </a:rPr>
              <a:t>Explain</a:t>
            </a:r>
            <a:r>
              <a:rPr sz="2100" b="0" i="0">
                <a:solidFill>
                  <a:srgbClr val="1C252B"/>
                </a:solidFill>
                <a:latin typeface="Segoe UI"/>
              </a:rPr>
              <a:t> when unlabelled examples can improve a classifier, and the assumptions that make it possible.</a:t>
            </a:r>
          </a:p>
        </p:txBody>
      </p:sp>
      <p:sp>
        <p:nvSpPr>
          <p:cNvPr id="11" name="!!ob1">
            <a:extLst>
              <a:ext uri="{C183D7F6-B498-43B3-948B-1728B52AA6E4}">
                <adec:decorative xmlns:adec="http://schemas.microsoft.com/office/drawing/2017/decorative" val="1"/>
              </a:ext>
            </a:extLst>
          </p:cNvPr>
          <p:cNvSpPr/>
          <p:nvPr/>
        </p:nvSpPr>
        <p:spPr>
          <a:xfrm>
            <a:off x="658368" y="3070555"/>
            <a:ext cx="420624" cy="420624"/>
          </a:xfrm>
          <a:prstGeom prst="ellipse">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obn1"/>
          <p:cNvSpPr txBox="1"/>
          <p:nvPr/>
        </p:nvSpPr>
        <p:spPr>
          <a:xfrm>
            <a:off x="658368" y="3129991"/>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3" name="!!ot1"/>
          <p:cNvSpPr txBox="1"/>
          <p:nvPr/>
        </p:nvSpPr>
        <p:spPr>
          <a:xfrm>
            <a:off x="1316736" y="3111703"/>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A3A95"/>
                </a:solidFill>
                <a:latin typeface="Segoe UI"/>
              </a:rPr>
              <a:t>Describe</a:t>
            </a:r>
            <a:r>
              <a:rPr sz="2100" b="0" i="0">
                <a:solidFill>
                  <a:srgbClr val="1C252B"/>
                </a:solidFill>
                <a:latin typeface="Segoe UI"/>
              </a:rPr>
              <a:t> self-training, and </a:t>
            </a:r>
            <a:r>
              <a:rPr sz="2100" b="1" i="0">
                <a:solidFill>
                  <a:srgbClr val="1C252B"/>
                </a:solidFill>
                <a:latin typeface="Segoe UI"/>
              </a:rPr>
              <a:t>state</a:t>
            </a:r>
            <a:r>
              <a:rPr sz="2100" b="0" i="0">
                <a:solidFill>
                  <a:srgbClr val="1C252B"/>
                </a:solidFill>
                <a:latin typeface="Segoe UI"/>
              </a:rPr>
              <a:t> its main risk.</a:t>
            </a:r>
          </a:p>
        </p:txBody>
      </p:sp>
      <p:sp>
        <p:nvSpPr>
          <p:cNvPr id="14" name="!!ob2">
            <a:extLst>
              <a:ext uri="{C183D7F6-B498-43B3-948B-1728B52AA6E4}">
                <adec:decorative xmlns:adec="http://schemas.microsoft.com/office/drawing/2017/decorative" val="1"/>
              </a:ext>
            </a:extLst>
          </p:cNvPr>
          <p:cNvSpPr/>
          <p:nvPr/>
        </p:nvSpPr>
        <p:spPr>
          <a:xfrm>
            <a:off x="658368" y="3674059"/>
            <a:ext cx="420624" cy="420624"/>
          </a:xfrm>
          <a:prstGeom prst="ellipse">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obn2"/>
          <p:cNvSpPr txBox="1"/>
          <p:nvPr/>
        </p:nvSpPr>
        <p:spPr>
          <a:xfrm>
            <a:off x="658368" y="3733495"/>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6" name="!!ot2"/>
          <p:cNvSpPr txBox="1"/>
          <p:nvPr/>
        </p:nvSpPr>
        <p:spPr>
          <a:xfrm>
            <a:off x="1316736" y="3715207"/>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A3A95"/>
                </a:solidFill>
                <a:latin typeface="Segoe UI"/>
              </a:rPr>
              <a:t>Formulate</a:t>
            </a:r>
            <a:r>
              <a:rPr sz="2100" b="0" i="0">
                <a:solidFill>
                  <a:srgbClr val="1C252B"/>
                </a:solidFill>
                <a:latin typeface="Segoe UI"/>
              </a:rPr>
              <a:t> a Gaussian mixture model with hidden cluster labels.</a:t>
            </a:r>
          </a:p>
        </p:txBody>
      </p:sp>
      <p:sp>
        <p:nvSpPr>
          <p:cNvPr id="17" name="!!ob3">
            <a:extLst>
              <a:ext uri="{C183D7F6-B498-43B3-948B-1728B52AA6E4}">
                <adec:decorative xmlns:adec="http://schemas.microsoft.com/office/drawing/2017/decorative" val="1"/>
              </a:ext>
            </a:extLst>
          </p:cNvPr>
          <p:cNvSpPr/>
          <p:nvPr/>
        </p:nvSpPr>
        <p:spPr>
          <a:xfrm>
            <a:off x="658368" y="4277563"/>
            <a:ext cx="420624" cy="420624"/>
          </a:xfrm>
          <a:prstGeom prst="ellipse">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obn3"/>
          <p:cNvSpPr txBox="1"/>
          <p:nvPr/>
        </p:nvSpPr>
        <p:spPr>
          <a:xfrm>
            <a:off x="658368" y="4336999"/>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9" name="!!ot3"/>
          <p:cNvSpPr txBox="1"/>
          <p:nvPr/>
        </p:nvSpPr>
        <p:spPr>
          <a:xfrm>
            <a:off x="1316736" y="4268419"/>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A3A95"/>
                </a:solidFill>
                <a:latin typeface="Segoe UI"/>
              </a:rPr>
              <a:t>Perform</a:t>
            </a:r>
            <a:r>
              <a:rPr sz="2100" b="0" i="0">
                <a:solidFill>
                  <a:srgbClr val="1C252B"/>
                </a:solidFill>
                <a:latin typeface="Segoe UI"/>
              </a:rPr>
              <a:t> an iteration of the EM algorithm by hand: responsibilities in the E-step, weighted means in the M-step.</a:t>
            </a:r>
          </a:p>
        </p:txBody>
      </p:sp>
      <p:sp>
        <p:nvSpPr>
          <p:cNvPr id="20" name="!!ob4">
            <a:extLst>
              <a:ext uri="{C183D7F6-B498-43B3-948B-1728B52AA6E4}">
                <adec:decorative xmlns:adec="http://schemas.microsoft.com/office/drawing/2017/decorative" val="1"/>
              </a:ext>
            </a:extLst>
          </p:cNvPr>
          <p:cNvSpPr/>
          <p:nvPr/>
        </p:nvSpPr>
        <p:spPr>
          <a:xfrm>
            <a:off x="658368" y="5126126"/>
            <a:ext cx="420624" cy="420624"/>
          </a:xfrm>
          <a:prstGeom prst="ellipse">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obn4"/>
          <p:cNvSpPr txBox="1"/>
          <p:nvPr/>
        </p:nvSpPr>
        <p:spPr>
          <a:xfrm>
            <a:off x="658368" y="5185562"/>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2" name="!!ot4"/>
          <p:cNvSpPr txBox="1"/>
          <p:nvPr/>
        </p:nvSpPr>
        <p:spPr>
          <a:xfrm>
            <a:off x="1316736" y="5167274"/>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A3A95"/>
                </a:solidFill>
                <a:latin typeface="Segoe UI"/>
              </a:rPr>
              <a:t>Apply</a:t>
            </a:r>
            <a:r>
              <a:rPr sz="2100" b="0" i="0">
                <a:solidFill>
                  <a:srgbClr val="1C252B"/>
                </a:solidFill>
                <a:latin typeface="Segoe UI"/>
              </a:rPr>
              <a:t> EM to a mixture of labelled and unlabelled data, and </a:t>
            </a:r>
            <a:r>
              <a:rPr sz="2100" b="1" i="0">
                <a:solidFill>
                  <a:srgbClr val="1C252B"/>
                </a:solidFill>
                <a:latin typeface="Segoe UI"/>
              </a:rPr>
              <a:t>relate</a:t>
            </a:r>
            <a:r>
              <a:rPr sz="2100" b="0" i="0">
                <a:solidFill>
                  <a:srgbClr val="1C252B"/>
                </a:solidFill>
                <a:latin typeface="Segoe UI"/>
              </a:rPr>
              <a:t> </a:t>
            </a:r>
            <a:r>
              <a:rPr sz="2100" b="0" i="1">
                <a:solidFill>
                  <a:srgbClr val="1C252B"/>
                </a:solidFill>
                <a:latin typeface="Cambria"/>
              </a:rPr>
              <a:t>k</a:t>
            </a:r>
            <a:r>
              <a:rPr sz="2100" b="0" i="0">
                <a:solidFill>
                  <a:srgbClr val="1C252B"/>
                </a:solidFill>
                <a:latin typeface="Segoe UI"/>
              </a:rPr>
              <a:t>-means to EM.</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812779"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zoom(in)">
                                      <p:cBhvr>
                                        <p:cTn id="8" dur="300"/>
                                        <p:tgtEl>
                                          <p:spTgt spid="8"/>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ipe(right)">
                                      <p:cBhvr>
                                        <p:cTn id="14" dur="420"/>
                                        <p:tgtEl>
                                          <p:spTgt spid="10"/>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zoom(in)">
                                      <p:cBhvr>
                                        <p:cTn id="19" dur="3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300"/>
                                        <p:tgtEl>
                                          <p:spTgt spid="12"/>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wipe(right)">
                                      <p:cBhvr>
                                        <p:cTn id="25" dur="420"/>
                                        <p:tgtEl>
                                          <p:spTgt spid="13"/>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zoom(in)">
                                      <p:cBhvr>
                                        <p:cTn id="30" dur="3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300"/>
                                        <p:tgtEl>
                                          <p:spTgt spid="15"/>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wipe(right)">
                                      <p:cBhvr>
                                        <p:cTn id="36" dur="42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zoom(in)">
                                      <p:cBhvr>
                                        <p:cTn id="41" dur="3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300"/>
                                        <p:tgtEl>
                                          <p:spTgt spid="18"/>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wipe(right)">
                                      <p:cBhvr>
                                        <p:cTn id="47" dur="420"/>
                                        <p:tgtEl>
                                          <p:spTgt spid="19"/>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20"/>
                                        </p:tgtEl>
                                        <p:attrNameLst>
                                          <p:attrName>style.visibility</p:attrName>
                                        </p:attrNameLst>
                                      </p:cBhvr>
                                      <p:to>
                                        <p:strVal val="visible"/>
                                      </p:to>
                                    </p:set>
                                    <p:animEffect transition="in" filter="zoom(in)">
                                      <p:cBhvr>
                                        <p:cTn id="52" dur="300"/>
                                        <p:tgtEl>
                                          <p:spTgt spid="2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300"/>
                                        <p:tgtEl>
                                          <p:spTgt spid="21"/>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right)">
                                      <p:cBhvr>
                                        <p:cTn id="58" dur="42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Vocabulary for this chapter</a:t>
            </a:r>
          </a:p>
        </p:txBody>
      </p:sp>
      <p:pic>
        <p:nvPicPr>
          <p:cNvPr id="3" name="!!kicker-icon" descr="tags-8E44AD.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8E44AD"/>
                </a:solidFill>
                <a:latin typeface="Segoe UI"/>
              </a:rPr>
              <a:t>KEY TERMS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17  ·  Semi-Supervised Learning and the EM Algorithm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128     </a:t>
            </a:r>
            <a:fld id="{C48E4F60-12BE-4C91-9665-21F4999E2D4E}" type="slidenum">
              <a:rPr lang="en-GB" sz="1000">
                <a:solidFill>
                  <a:srgbClr val="8795A1"/>
                </a:solidFill>
                <a:latin typeface="Segoe UI"/>
              </a:rPr>
              <a:t>4</a:t>
            </a:fld>
          </a:p>
        </p:txBody>
      </p:sp>
      <p:sp>
        <p:nvSpPr>
          <p:cNvPr id="7" name="!!term-semi-supervise">
            <a:extLst>
              <a:ext uri="{C183D7F6-B498-43B3-948B-1728B52AA6E4}">
                <adec:decorative xmlns:adec="http://schemas.microsoft.com/office/drawing/2017/decorative" val="1"/>
              </a:ext>
            </a:extLst>
          </p:cNvPr>
          <p:cNvSpPr/>
          <p:nvPr/>
        </p:nvSpPr>
        <p:spPr>
          <a:xfrm>
            <a:off x="658368" y="1847088"/>
            <a:ext cx="272204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ermd-semi-supervise">
            <a:extLst>
              <a:ext uri="{C183D7F6-B498-43B3-948B-1728B52AA6E4}">
                <adec:decorative xmlns:adec="http://schemas.microsoft.com/office/drawing/2017/decorative" val="1"/>
              </a:ext>
            </a:extLst>
          </p:cNvPr>
          <p:cNvSpPr/>
          <p:nvPr/>
        </p:nvSpPr>
        <p:spPr>
          <a:xfrm>
            <a:off x="78638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termt-semi-supervise"/>
          <p:cNvSpPr txBox="1"/>
          <p:nvPr/>
        </p:nvSpPr>
        <p:spPr>
          <a:xfrm>
            <a:off x="950976" y="1962911"/>
            <a:ext cx="2539168"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semi-supervised learning</a:t>
            </a:r>
          </a:p>
        </p:txBody>
      </p:sp>
      <p:sp>
        <p:nvSpPr>
          <p:cNvPr id="10" name="!!term-smoothness, cl">
            <a:extLst>
              <a:ext uri="{C183D7F6-B498-43B3-948B-1728B52AA6E4}">
                <adec:decorative xmlns:adec="http://schemas.microsoft.com/office/drawing/2017/decorative" val="1"/>
              </a:ext>
            </a:extLst>
          </p:cNvPr>
          <p:cNvSpPr/>
          <p:nvPr/>
        </p:nvSpPr>
        <p:spPr>
          <a:xfrm>
            <a:off x="3526720" y="1847088"/>
            <a:ext cx="471204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rmd-smoothness, cl">
            <a:extLst>
              <a:ext uri="{C183D7F6-B498-43B3-948B-1728B52AA6E4}">
                <adec:decorative xmlns:adec="http://schemas.microsoft.com/office/drawing/2017/decorative" val="1"/>
              </a:ext>
            </a:extLst>
          </p:cNvPr>
          <p:cNvSpPr/>
          <p:nvPr/>
        </p:nvSpPr>
        <p:spPr>
          <a:xfrm>
            <a:off x="3654736"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rmt-smoothness, cl"/>
          <p:cNvSpPr txBox="1"/>
          <p:nvPr/>
        </p:nvSpPr>
        <p:spPr>
          <a:xfrm>
            <a:off x="3819328" y="1962911"/>
            <a:ext cx="4529167"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smoothness, cluster and manifold assumptions</a:t>
            </a:r>
          </a:p>
        </p:txBody>
      </p:sp>
      <p:sp>
        <p:nvSpPr>
          <p:cNvPr id="13" name="!!term-self-training ">
            <a:extLst>
              <a:ext uri="{C183D7F6-B498-43B3-948B-1728B52AA6E4}">
                <adec:decorative xmlns:adec="http://schemas.microsoft.com/office/drawing/2017/decorative" val="1"/>
              </a:ext>
            </a:extLst>
          </p:cNvPr>
          <p:cNvSpPr/>
          <p:nvPr/>
        </p:nvSpPr>
        <p:spPr>
          <a:xfrm>
            <a:off x="658368" y="2468880"/>
            <a:ext cx="325754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rmd-self-training ">
            <a:extLst>
              <a:ext uri="{C183D7F6-B498-43B3-948B-1728B52AA6E4}">
                <adec:decorative xmlns:adec="http://schemas.microsoft.com/office/drawing/2017/decorative" val="1"/>
              </a:ext>
            </a:extLst>
          </p:cNvPr>
          <p:cNvSpPr/>
          <p:nvPr/>
        </p:nvSpPr>
        <p:spPr>
          <a:xfrm>
            <a:off x="78638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rmt-self-training "/>
          <p:cNvSpPr txBox="1"/>
          <p:nvPr/>
        </p:nvSpPr>
        <p:spPr>
          <a:xfrm>
            <a:off x="950976" y="2584704"/>
            <a:ext cx="3074660"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self-training (pseudo-labelling)</a:t>
            </a:r>
          </a:p>
        </p:txBody>
      </p:sp>
      <p:sp>
        <p:nvSpPr>
          <p:cNvPr id="16" name="!!term-confirmation b">
            <a:extLst>
              <a:ext uri="{C183D7F6-B498-43B3-948B-1728B52AA6E4}">
                <adec:decorative xmlns:adec="http://schemas.microsoft.com/office/drawing/2017/decorative" val="1"/>
              </a:ext>
            </a:extLst>
          </p:cNvPr>
          <p:cNvSpPr/>
          <p:nvPr/>
        </p:nvSpPr>
        <p:spPr>
          <a:xfrm>
            <a:off x="4062212" y="2468880"/>
            <a:ext cx="202592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rmd-confirmation b">
            <a:extLst>
              <a:ext uri="{C183D7F6-B498-43B3-948B-1728B52AA6E4}">
                <adec:decorative xmlns:adec="http://schemas.microsoft.com/office/drawing/2017/decorative" val="1"/>
              </a:ext>
            </a:extLst>
          </p:cNvPr>
          <p:cNvSpPr/>
          <p:nvPr/>
        </p:nvSpPr>
        <p:spPr>
          <a:xfrm>
            <a:off x="4190228"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rmt-confirmation b"/>
          <p:cNvSpPr txBox="1"/>
          <p:nvPr/>
        </p:nvSpPr>
        <p:spPr>
          <a:xfrm>
            <a:off x="4354820" y="2584704"/>
            <a:ext cx="1843045"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confirmation bias</a:t>
            </a:r>
          </a:p>
        </p:txBody>
      </p:sp>
      <p:sp>
        <p:nvSpPr>
          <p:cNvPr id="19" name="!!term-latent (hidden">
            <a:extLst>
              <a:ext uri="{C183D7F6-B498-43B3-948B-1728B52AA6E4}">
                <adec:decorative xmlns:adec="http://schemas.microsoft.com/office/drawing/2017/decorative" val="1"/>
              </a:ext>
            </a:extLst>
          </p:cNvPr>
          <p:cNvSpPr/>
          <p:nvPr/>
        </p:nvSpPr>
        <p:spPr>
          <a:xfrm>
            <a:off x="6234442" y="2468880"/>
            <a:ext cx="254981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rmd-latent (hidden">
            <a:extLst>
              <a:ext uri="{C183D7F6-B498-43B3-948B-1728B52AA6E4}">
                <adec:decorative xmlns:adec="http://schemas.microsoft.com/office/drawing/2017/decorative" val="1"/>
              </a:ext>
            </a:extLst>
          </p:cNvPr>
          <p:cNvSpPr/>
          <p:nvPr/>
        </p:nvSpPr>
        <p:spPr>
          <a:xfrm>
            <a:off x="6362458"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rmt-latent (hidden"/>
          <p:cNvSpPr txBox="1"/>
          <p:nvPr/>
        </p:nvSpPr>
        <p:spPr>
          <a:xfrm>
            <a:off x="6527050" y="2584704"/>
            <a:ext cx="2366931"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latent (hidden) variable</a:t>
            </a:r>
          </a:p>
        </p:txBody>
      </p:sp>
      <p:sp>
        <p:nvSpPr>
          <p:cNvPr id="22" name="!!term-mixture model">
            <a:extLst>
              <a:ext uri="{C183D7F6-B498-43B3-948B-1728B52AA6E4}">
                <adec:decorative xmlns:adec="http://schemas.microsoft.com/office/drawing/2017/decorative" val="1"/>
              </a:ext>
            </a:extLst>
          </p:cNvPr>
          <p:cNvSpPr/>
          <p:nvPr/>
        </p:nvSpPr>
        <p:spPr>
          <a:xfrm>
            <a:off x="8930558" y="2468880"/>
            <a:ext cx="1768053"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rmd-mixture model">
            <a:extLst>
              <a:ext uri="{C183D7F6-B498-43B3-948B-1728B52AA6E4}">
                <adec:decorative xmlns:adec="http://schemas.microsoft.com/office/drawing/2017/decorative" val="1"/>
              </a:ext>
            </a:extLst>
          </p:cNvPr>
          <p:cNvSpPr/>
          <p:nvPr/>
        </p:nvSpPr>
        <p:spPr>
          <a:xfrm>
            <a:off x="905857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rmt-mixture model"/>
          <p:cNvSpPr txBox="1"/>
          <p:nvPr/>
        </p:nvSpPr>
        <p:spPr>
          <a:xfrm>
            <a:off x="9223166" y="2584704"/>
            <a:ext cx="1585173"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mixture model</a:t>
            </a:r>
          </a:p>
        </p:txBody>
      </p:sp>
      <p:sp>
        <p:nvSpPr>
          <p:cNvPr id="25" name="!!term-Gaussian mixtu">
            <a:extLst>
              <a:ext uri="{C183D7F6-B498-43B3-948B-1728B52AA6E4}">
                <adec:decorative xmlns:adec="http://schemas.microsoft.com/office/drawing/2017/decorative" val="1"/>
              </a:ext>
            </a:extLst>
          </p:cNvPr>
          <p:cNvSpPr/>
          <p:nvPr/>
        </p:nvSpPr>
        <p:spPr>
          <a:xfrm>
            <a:off x="658368" y="3090672"/>
            <a:ext cx="200122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rmd-Gaussian mixtu">
            <a:extLst>
              <a:ext uri="{C183D7F6-B498-43B3-948B-1728B52AA6E4}">
                <adec:decorative xmlns:adec="http://schemas.microsoft.com/office/drawing/2017/decorative" val="1"/>
              </a:ext>
            </a:extLst>
          </p:cNvPr>
          <p:cNvSpPr/>
          <p:nvPr/>
        </p:nvSpPr>
        <p:spPr>
          <a:xfrm>
            <a:off x="786384"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rmt-Gaussian mixtu"/>
          <p:cNvSpPr txBox="1"/>
          <p:nvPr/>
        </p:nvSpPr>
        <p:spPr>
          <a:xfrm>
            <a:off x="950976" y="3206496"/>
            <a:ext cx="1818345"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Gaussian mixture</a:t>
            </a:r>
          </a:p>
        </p:txBody>
      </p:sp>
      <p:sp>
        <p:nvSpPr>
          <p:cNvPr id="28" name="!!term-mixing weight">
            <a:extLst>
              <a:ext uri="{C183D7F6-B498-43B3-948B-1728B52AA6E4}">
                <adec:decorative xmlns:adec="http://schemas.microsoft.com/office/drawing/2017/decorative" val="1"/>
              </a:ext>
            </a:extLst>
          </p:cNvPr>
          <p:cNvSpPr/>
          <p:nvPr/>
        </p:nvSpPr>
        <p:spPr>
          <a:xfrm>
            <a:off x="2805897" y="3090672"/>
            <a:ext cx="172704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rmd-mixing weight">
            <a:extLst>
              <a:ext uri="{C183D7F6-B498-43B3-948B-1728B52AA6E4}">
                <adec:decorative xmlns:adec="http://schemas.microsoft.com/office/drawing/2017/decorative" val="1"/>
              </a:ext>
            </a:extLst>
          </p:cNvPr>
          <p:cNvSpPr/>
          <p:nvPr/>
        </p:nvSpPr>
        <p:spPr>
          <a:xfrm>
            <a:off x="2933913"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rmt-mixing weight"/>
          <p:cNvSpPr txBox="1"/>
          <p:nvPr/>
        </p:nvSpPr>
        <p:spPr>
          <a:xfrm>
            <a:off x="3098505" y="3206496"/>
            <a:ext cx="1544161"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mixing weight</a:t>
            </a:r>
          </a:p>
        </p:txBody>
      </p:sp>
      <p:sp>
        <p:nvSpPr>
          <p:cNvPr id="31" name="!!term-responsibility">
            <a:extLst>
              <a:ext uri="{C183D7F6-B498-43B3-948B-1728B52AA6E4}">
                <adec:decorative xmlns:adec="http://schemas.microsoft.com/office/drawing/2017/decorative" val="1"/>
              </a:ext>
            </a:extLst>
          </p:cNvPr>
          <p:cNvSpPr/>
          <p:nvPr/>
        </p:nvSpPr>
        <p:spPr>
          <a:xfrm>
            <a:off x="4679243" y="3090672"/>
            <a:ext cx="164887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rmd-responsibility">
            <a:extLst>
              <a:ext uri="{C183D7F6-B498-43B3-948B-1728B52AA6E4}">
                <adec:decorative xmlns:adec="http://schemas.microsoft.com/office/drawing/2017/decorative" val="1"/>
              </a:ext>
            </a:extLst>
          </p:cNvPr>
          <p:cNvSpPr/>
          <p:nvPr/>
        </p:nvSpPr>
        <p:spPr>
          <a:xfrm>
            <a:off x="4807259"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rmt-responsibility"/>
          <p:cNvSpPr txBox="1"/>
          <p:nvPr/>
        </p:nvSpPr>
        <p:spPr>
          <a:xfrm>
            <a:off x="4971851" y="3206496"/>
            <a:ext cx="1465997"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responsibility</a:t>
            </a:r>
          </a:p>
        </p:txBody>
      </p:sp>
      <p:sp>
        <p:nvSpPr>
          <p:cNvPr id="34" name="!!term-EM algorithm">
            <a:extLst>
              <a:ext uri="{C183D7F6-B498-43B3-948B-1728B52AA6E4}">
                <adec:decorative xmlns:adec="http://schemas.microsoft.com/office/drawing/2017/decorative" val="1"/>
              </a:ext>
            </a:extLst>
          </p:cNvPr>
          <p:cNvSpPr/>
          <p:nvPr/>
        </p:nvSpPr>
        <p:spPr>
          <a:xfrm>
            <a:off x="6474424" y="3090672"/>
            <a:ext cx="167420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rmd-EM algorithm">
            <a:extLst>
              <a:ext uri="{C183D7F6-B498-43B3-948B-1728B52AA6E4}">
                <adec:decorative xmlns:adec="http://schemas.microsoft.com/office/drawing/2017/decorative" val="1"/>
              </a:ext>
            </a:extLst>
          </p:cNvPr>
          <p:cNvSpPr/>
          <p:nvPr/>
        </p:nvSpPr>
        <p:spPr>
          <a:xfrm>
            <a:off x="6602440"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rmt-EM algorithm"/>
          <p:cNvSpPr txBox="1"/>
          <p:nvPr/>
        </p:nvSpPr>
        <p:spPr>
          <a:xfrm>
            <a:off x="6767032" y="3206496"/>
            <a:ext cx="1491325"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EM algorithm</a:t>
            </a:r>
          </a:p>
        </p:txBody>
      </p:sp>
      <p:sp>
        <p:nvSpPr>
          <p:cNvPr id="37" name="!!term-E-step">
            <a:extLst>
              <a:ext uri="{C183D7F6-B498-43B3-948B-1728B52AA6E4}">
                <adec:decorative xmlns:adec="http://schemas.microsoft.com/office/drawing/2017/decorative" val="1"/>
              </a:ext>
            </a:extLst>
          </p:cNvPr>
          <p:cNvSpPr/>
          <p:nvPr/>
        </p:nvSpPr>
        <p:spPr>
          <a:xfrm>
            <a:off x="8294934" y="3090672"/>
            <a:ext cx="101508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rmd-E-step">
            <a:extLst>
              <a:ext uri="{C183D7F6-B498-43B3-948B-1728B52AA6E4}">
                <adec:decorative xmlns:adec="http://schemas.microsoft.com/office/drawing/2017/decorative" val="1"/>
              </a:ext>
            </a:extLst>
          </p:cNvPr>
          <p:cNvSpPr/>
          <p:nvPr/>
        </p:nvSpPr>
        <p:spPr>
          <a:xfrm>
            <a:off x="8422950"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rmt-E-step"/>
          <p:cNvSpPr txBox="1"/>
          <p:nvPr/>
        </p:nvSpPr>
        <p:spPr>
          <a:xfrm>
            <a:off x="8587542" y="3206496"/>
            <a:ext cx="832200"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E-step</a:t>
            </a:r>
          </a:p>
        </p:txBody>
      </p:sp>
      <p:sp>
        <p:nvSpPr>
          <p:cNvPr id="40" name="!!term-M-step">
            <a:extLst>
              <a:ext uri="{C183D7F6-B498-43B3-948B-1728B52AA6E4}">
                <adec:decorative xmlns:adec="http://schemas.microsoft.com/office/drawing/2017/decorative" val="1"/>
              </a:ext>
            </a:extLst>
          </p:cNvPr>
          <p:cNvSpPr/>
          <p:nvPr/>
        </p:nvSpPr>
        <p:spPr>
          <a:xfrm>
            <a:off x="9456318" y="3090672"/>
            <a:ext cx="109632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rmd-M-step">
            <a:extLst>
              <a:ext uri="{C183D7F6-B498-43B3-948B-1728B52AA6E4}">
                <adec:decorative xmlns:adec="http://schemas.microsoft.com/office/drawing/2017/decorative" val="1"/>
              </a:ext>
            </a:extLst>
          </p:cNvPr>
          <p:cNvSpPr/>
          <p:nvPr/>
        </p:nvSpPr>
        <p:spPr>
          <a:xfrm>
            <a:off x="9584334"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rmt-M-step"/>
          <p:cNvSpPr txBox="1"/>
          <p:nvPr/>
        </p:nvSpPr>
        <p:spPr>
          <a:xfrm>
            <a:off x="9748926" y="3206496"/>
            <a:ext cx="913447"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M-step</a:t>
            </a:r>
          </a:p>
        </p:txBody>
      </p:sp>
      <p:sp>
        <p:nvSpPr>
          <p:cNvPr id="43" name="!!term-local maximum">
            <a:extLst>
              <a:ext uri="{C183D7F6-B498-43B3-948B-1728B52AA6E4}">
                <adec:decorative xmlns:adec="http://schemas.microsoft.com/office/drawing/2017/decorative" val="1"/>
              </a:ext>
            </a:extLst>
          </p:cNvPr>
          <p:cNvSpPr/>
          <p:nvPr/>
        </p:nvSpPr>
        <p:spPr>
          <a:xfrm>
            <a:off x="658368" y="3712464"/>
            <a:ext cx="182219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rmd-local maximum">
            <a:extLst>
              <a:ext uri="{C183D7F6-B498-43B3-948B-1728B52AA6E4}">
                <adec:decorative xmlns:adec="http://schemas.microsoft.com/office/drawing/2017/decorative" val="1"/>
              </a:ext>
            </a:extLst>
          </p:cNvPr>
          <p:cNvSpPr/>
          <p:nvPr/>
        </p:nvSpPr>
        <p:spPr>
          <a:xfrm>
            <a:off x="786384" y="3904488"/>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rmt-local maximum"/>
          <p:cNvSpPr txBox="1"/>
          <p:nvPr/>
        </p:nvSpPr>
        <p:spPr>
          <a:xfrm>
            <a:off x="950976" y="3828288"/>
            <a:ext cx="1639311"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local maximum</a:t>
            </a:r>
          </a:p>
        </p:txBody>
      </p:sp>
      <p:sp>
        <p:nvSpPr>
          <p:cNvPr id="46" name="!!term-hard vs. soft ">
            <a:extLst>
              <a:ext uri="{C183D7F6-B498-43B3-948B-1728B52AA6E4}">
                <adec:decorative xmlns:adec="http://schemas.microsoft.com/office/drawing/2017/decorative" val="1"/>
              </a:ext>
            </a:extLst>
          </p:cNvPr>
          <p:cNvSpPr/>
          <p:nvPr/>
        </p:nvSpPr>
        <p:spPr>
          <a:xfrm>
            <a:off x="2626863" y="3712464"/>
            <a:ext cx="264809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rmd-hard vs. soft ">
            <a:extLst>
              <a:ext uri="{C183D7F6-B498-43B3-948B-1728B52AA6E4}">
                <adec:decorative xmlns:adec="http://schemas.microsoft.com/office/drawing/2017/decorative" val="1"/>
              </a:ext>
            </a:extLst>
          </p:cNvPr>
          <p:cNvSpPr/>
          <p:nvPr/>
        </p:nvSpPr>
        <p:spPr>
          <a:xfrm>
            <a:off x="2754879" y="3904488"/>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rmt-hard vs. soft "/>
          <p:cNvSpPr txBox="1"/>
          <p:nvPr/>
        </p:nvSpPr>
        <p:spPr>
          <a:xfrm>
            <a:off x="2919471" y="3828288"/>
            <a:ext cx="2465216"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hard vs. soft assignment</a:t>
            </a:r>
          </a:p>
        </p:txBody>
      </p:sp>
      <p:sp>
        <p:nvSpPr>
          <p:cNvPr id="49" name="!!term-label propagat">
            <a:extLst>
              <a:ext uri="{C183D7F6-B498-43B3-948B-1728B52AA6E4}">
                <adec:decorative xmlns:adec="http://schemas.microsoft.com/office/drawing/2017/decorative" val="1"/>
              </a:ext>
            </a:extLst>
          </p:cNvPr>
          <p:cNvSpPr/>
          <p:nvPr/>
        </p:nvSpPr>
        <p:spPr>
          <a:xfrm>
            <a:off x="5421264" y="3712464"/>
            <a:ext cx="206129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rmd-label propagat">
            <a:extLst>
              <a:ext uri="{C183D7F6-B498-43B3-948B-1728B52AA6E4}">
                <adec:decorative xmlns:adec="http://schemas.microsoft.com/office/drawing/2017/decorative" val="1"/>
              </a:ext>
            </a:extLst>
          </p:cNvPr>
          <p:cNvSpPr/>
          <p:nvPr/>
        </p:nvSpPr>
        <p:spPr>
          <a:xfrm>
            <a:off x="5549280" y="3904488"/>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rmt-label propagat"/>
          <p:cNvSpPr txBox="1"/>
          <p:nvPr/>
        </p:nvSpPr>
        <p:spPr>
          <a:xfrm>
            <a:off x="5713872" y="3828288"/>
            <a:ext cx="1878410"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label propagation</a:t>
            </a:r>
          </a:p>
        </p:txBody>
      </p:sp>
      <p:sp>
        <p:nvSpPr>
          <p:cNvPr id="52" name="!!termnote"/>
          <p:cNvSpPr txBox="1"/>
          <p:nvPr/>
        </p:nvSpPr>
        <p:spPr>
          <a:xfrm>
            <a:off x="658368" y="4535424"/>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350" b="0" i="1">
                <a:solidFill>
                  <a:srgbClr val="5F6F7B"/>
                </a:solidFill>
                <a:latin typeface="Segoe UI"/>
              </a:rPr>
              <a:t>Each term is defined where it first matters — not here.</a:t>
            </a:r>
          </a:p>
        </p:txBody>
      </p:sp>
      <p:sp>
        <p:nvSpPr>
          <p:cNvPr id="5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pfill">
            <a:extLst>
              <a:ext uri="{C183D7F6-B498-43B3-948B-1728B52AA6E4}">
                <adec:decorative xmlns:adec="http://schemas.microsoft.com/office/drawing/2017/decorative" val="1"/>
              </a:ext>
            </a:extLst>
          </p:cNvPr>
          <p:cNvSpPr/>
          <p:nvPr/>
        </p:nvSpPr>
        <p:spPr>
          <a:xfrm>
            <a:off x="0" y="0"/>
            <a:ext cx="1083706"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 this chapter</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THIS CHAPTER</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17  ·  Semi-Supervised Learning and the EM Algorithm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pp. 128–136     </a:t>
            </a:r>
            <a:fld id="{F60B1F19-BF41-4321-B93B-F4333C663111}" type="slidenum">
              <a:rPr lang="en-GB" sz="1000">
                <a:solidFill>
                  <a:srgbClr val="8795A1"/>
                </a:solidFill>
                <a:latin typeface="Segoe UI"/>
              </a:rPr>
              <a:t>5</a:t>
            </a:fld>
          </a:p>
        </p:txBody>
      </p:sp>
      <p:sp>
        <p:nvSpPr>
          <p:cNvPr id="7" name="!!ag0" descr="Go to section 17.1 Few Labels, Many Examples">
            <a:hlinkClick action="ppaction://hlinksldjump" r:id="rId5"/>
          </p:cNvPr>
          <p:cNvSpPr/>
          <p:nvPr/>
        </p:nvSpPr>
        <p:spPr>
          <a:xfrm>
            <a:off x="658368" y="17739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agb0">
            <a:extLst>
              <a:ext uri="{C183D7F6-B498-43B3-948B-1728B52AA6E4}">
                <adec:decorative xmlns:adec="http://schemas.microsoft.com/office/drawing/2017/decorative" val="1"/>
              </a:ext>
            </a:extLst>
          </p:cNvPr>
          <p:cNvSpPr/>
          <p:nvPr/>
        </p:nvSpPr>
        <p:spPr>
          <a:xfrm>
            <a:off x="658368" y="1773936"/>
            <a:ext cx="64008" cy="566928"/>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agn0"/>
          <p:cNvSpPr txBox="1"/>
          <p:nvPr/>
        </p:nvSpPr>
        <p:spPr>
          <a:xfrm>
            <a:off x="932688" y="19202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A3A95"/>
                </a:solidFill>
                <a:latin typeface="Segoe UI Semibold"/>
              </a:rPr>
              <a:t>17.1</a:t>
            </a:r>
          </a:p>
        </p:txBody>
      </p:sp>
      <p:sp>
        <p:nvSpPr>
          <p:cNvPr id="10" name="!!agt0"/>
          <p:cNvSpPr txBox="1"/>
          <p:nvPr/>
        </p:nvSpPr>
        <p:spPr>
          <a:xfrm>
            <a:off x="1847088" y="19202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Few Labels, Many Examples</a:t>
            </a:r>
          </a:p>
        </p:txBody>
      </p:sp>
      <p:sp>
        <p:nvSpPr>
          <p:cNvPr id="11" name="!!agp0"/>
          <p:cNvSpPr txBox="1"/>
          <p:nvPr/>
        </p:nvSpPr>
        <p:spPr>
          <a:xfrm>
            <a:off x="9795967" y="19476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128  ›</a:t>
            </a:r>
          </a:p>
        </p:txBody>
      </p:sp>
      <p:sp>
        <p:nvSpPr>
          <p:cNvPr id="12" name="!!ag1" descr="Go to section 17.2 Self-Training">
            <a:hlinkClick action="ppaction://hlinksldjump" r:id="rId6"/>
          </p:cNvPr>
          <p:cNvSpPr/>
          <p:nvPr/>
        </p:nvSpPr>
        <p:spPr>
          <a:xfrm>
            <a:off x="658368" y="2414015"/>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agb1">
            <a:extLst>
              <a:ext uri="{C183D7F6-B498-43B3-948B-1728B52AA6E4}">
                <adec:decorative xmlns:adec="http://schemas.microsoft.com/office/drawing/2017/decorative" val="1"/>
              </a:ext>
            </a:extLst>
          </p:cNvPr>
          <p:cNvSpPr/>
          <p:nvPr/>
        </p:nvSpPr>
        <p:spPr>
          <a:xfrm>
            <a:off x="658368" y="2414015"/>
            <a:ext cx="64008" cy="566928"/>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agn1"/>
          <p:cNvSpPr txBox="1"/>
          <p:nvPr/>
        </p:nvSpPr>
        <p:spPr>
          <a:xfrm>
            <a:off x="932688" y="256032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A3A95"/>
                </a:solidFill>
                <a:latin typeface="Segoe UI Semibold"/>
              </a:rPr>
              <a:t>17.2</a:t>
            </a:r>
          </a:p>
        </p:txBody>
      </p:sp>
      <p:sp>
        <p:nvSpPr>
          <p:cNvPr id="15" name="!!agt1"/>
          <p:cNvSpPr txBox="1"/>
          <p:nvPr/>
        </p:nvSpPr>
        <p:spPr>
          <a:xfrm>
            <a:off x="1847088" y="256032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Self-Training</a:t>
            </a:r>
          </a:p>
        </p:txBody>
      </p:sp>
      <p:sp>
        <p:nvSpPr>
          <p:cNvPr id="16" name="!!agp1"/>
          <p:cNvSpPr txBox="1"/>
          <p:nvPr/>
        </p:nvSpPr>
        <p:spPr>
          <a:xfrm>
            <a:off x="9795967" y="2587751"/>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129  ›</a:t>
            </a:r>
          </a:p>
        </p:txBody>
      </p:sp>
      <p:sp>
        <p:nvSpPr>
          <p:cNvPr id="17" name="!!ag2" descr="Go to section 17.3 Mixture Models and Hidden Variables">
            <a:hlinkClick action="ppaction://hlinksldjump" r:id="rId7"/>
          </p:cNvPr>
          <p:cNvSpPr/>
          <p:nvPr/>
        </p:nvSpPr>
        <p:spPr>
          <a:xfrm>
            <a:off x="658368" y="305409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agb2">
            <a:extLst>
              <a:ext uri="{C183D7F6-B498-43B3-948B-1728B52AA6E4}">
                <adec:decorative xmlns:adec="http://schemas.microsoft.com/office/drawing/2017/decorative" val="1"/>
              </a:ext>
            </a:extLst>
          </p:cNvPr>
          <p:cNvSpPr/>
          <p:nvPr/>
        </p:nvSpPr>
        <p:spPr>
          <a:xfrm>
            <a:off x="658368" y="3054096"/>
            <a:ext cx="64008" cy="566928"/>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agn2"/>
          <p:cNvSpPr txBox="1"/>
          <p:nvPr/>
        </p:nvSpPr>
        <p:spPr>
          <a:xfrm>
            <a:off x="932688" y="320040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A3A95"/>
                </a:solidFill>
                <a:latin typeface="Segoe UI Semibold"/>
              </a:rPr>
              <a:t>17.3</a:t>
            </a:r>
          </a:p>
        </p:txBody>
      </p:sp>
      <p:sp>
        <p:nvSpPr>
          <p:cNvPr id="20" name="!!agt2"/>
          <p:cNvSpPr txBox="1"/>
          <p:nvPr/>
        </p:nvSpPr>
        <p:spPr>
          <a:xfrm>
            <a:off x="1847088" y="320040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Mixture Models and Hidden Variables</a:t>
            </a:r>
          </a:p>
        </p:txBody>
      </p:sp>
      <p:sp>
        <p:nvSpPr>
          <p:cNvPr id="21" name="!!agp2"/>
          <p:cNvSpPr txBox="1"/>
          <p:nvPr/>
        </p:nvSpPr>
        <p:spPr>
          <a:xfrm>
            <a:off x="9795967" y="322783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129  ›</a:t>
            </a:r>
          </a:p>
        </p:txBody>
      </p:sp>
      <p:sp>
        <p:nvSpPr>
          <p:cNvPr id="22" name="!!ag3" descr="Go to section 17.4 The EM Algorithm">
            <a:hlinkClick action="ppaction://hlinksldjump" r:id="rId8"/>
          </p:cNvPr>
          <p:cNvSpPr/>
          <p:nvPr/>
        </p:nvSpPr>
        <p:spPr>
          <a:xfrm>
            <a:off x="658368" y="369417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agb3">
            <a:extLst>
              <a:ext uri="{C183D7F6-B498-43B3-948B-1728B52AA6E4}">
                <adec:decorative xmlns:adec="http://schemas.microsoft.com/office/drawing/2017/decorative" val="1"/>
              </a:ext>
            </a:extLst>
          </p:cNvPr>
          <p:cNvSpPr/>
          <p:nvPr/>
        </p:nvSpPr>
        <p:spPr>
          <a:xfrm>
            <a:off x="658368" y="3694176"/>
            <a:ext cx="64008" cy="566928"/>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agn3"/>
          <p:cNvSpPr txBox="1"/>
          <p:nvPr/>
        </p:nvSpPr>
        <p:spPr>
          <a:xfrm>
            <a:off x="932688" y="384048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A3A95"/>
                </a:solidFill>
                <a:latin typeface="Segoe UI Semibold"/>
              </a:rPr>
              <a:t>17.4</a:t>
            </a:r>
          </a:p>
        </p:txBody>
      </p:sp>
      <p:sp>
        <p:nvSpPr>
          <p:cNvPr id="25" name="!!agt3"/>
          <p:cNvSpPr txBox="1"/>
          <p:nvPr/>
        </p:nvSpPr>
        <p:spPr>
          <a:xfrm>
            <a:off x="1847088" y="384048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The EM Algorithm</a:t>
            </a:r>
          </a:p>
        </p:txBody>
      </p:sp>
      <p:sp>
        <p:nvSpPr>
          <p:cNvPr id="26" name="!!agp3"/>
          <p:cNvSpPr txBox="1"/>
          <p:nvPr/>
        </p:nvSpPr>
        <p:spPr>
          <a:xfrm>
            <a:off x="9795967" y="386791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130  ›</a:t>
            </a:r>
          </a:p>
        </p:txBody>
      </p:sp>
      <p:sp>
        <p:nvSpPr>
          <p:cNvPr id="27" name="!!ag4" descr="Go to section 17.5 EM With Labelled and Unlabelled Data">
            <a:hlinkClick action="ppaction://hlinksldjump" r:id="rId9"/>
          </p:cNvPr>
          <p:cNvSpPr/>
          <p:nvPr/>
        </p:nvSpPr>
        <p:spPr>
          <a:xfrm>
            <a:off x="658368" y="433425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agb4">
            <a:extLst>
              <a:ext uri="{C183D7F6-B498-43B3-948B-1728B52AA6E4}">
                <adec:decorative xmlns:adec="http://schemas.microsoft.com/office/drawing/2017/decorative" val="1"/>
              </a:ext>
            </a:extLst>
          </p:cNvPr>
          <p:cNvSpPr/>
          <p:nvPr/>
        </p:nvSpPr>
        <p:spPr>
          <a:xfrm>
            <a:off x="658368" y="4334256"/>
            <a:ext cx="64008" cy="566928"/>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agn4"/>
          <p:cNvSpPr txBox="1"/>
          <p:nvPr/>
        </p:nvSpPr>
        <p:spPr>
          <a:xfrm>
            <a:off x="932688" y="448056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A3A95"/>
                </a:solidFill>
                <a:latin typeface="Segoe UI Semibold"/>
              </a:rPr>
              <a:t>17.5</a:t>
            </a:r>
          </a:p>
        </p:txBody>
      </p:sp>
      <p:sp>
        <p:nvSpPr>
          <p:cNvPr id="30" name="!!agt4"/>
          <p:cNvSpPr txBox="1"/>
          <p:nvPr/>
        </p:nvSpPr>
        <p:spPr>
          <a:xfrm>
            <a:off x="1847088" y="448056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EM With Labelled and Unlabelled Data</a:t>
            </a:r>
          </a:p>
        </p:txBody>
      </p:sp>
      <p:sp>
        <p:nvSpPr>
          <p:cNvPr id="31" name="!!agp4"/>
          <p:cNvSpPr txBox="1"/>
          <p:nvPr/>
        </p:nvSpPr>
        <p:spPr>
          <a:xfrm>
            <a:off x="9795967" y="450799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131  ›</a:t>
            </a:r>
          </a:p>
        </p:txBody>
      </p:sp>
      <p:sp>
        <p:nvSpPr>
          <p:cNvPr id="3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pfill">
            <a:extLst>
              <a:ext uri="{C183D7F6-B498-43B3-948B-1728B52AA6E4}">
                <adec:decorative xmlns:adec="http://schemas.microsoft.com/office/drawing/2017/decorative" val="1"/>
              </a:ext>
            </a:extLst>
          </p:cNvPr>
          <p:cNvSpPr/>
          <p:nvPr/>
        </p:nvSpPr>
        <p:spPr>
          <a:xfrm>
            <a:off x="0" y="0"/>
            <a:ext cx="1354632"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Few Labels, Many Examples</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D7C4DF"/>
                </a:solidFill>
                <a:latin typeface="Segoe UI"/>
              </a:rPr>
              <a:t>SECTION 1 OF 5</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17.1</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7A3A95"/>
                </a:solidFill>
                <a:latin typeface="Segoe UI"/>
              </a:rPr>
              <a:t>17.1   Few Labels, Many Examples</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17.2   Self-Training</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17.3   Mixture Models and Hidden Variables</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17.4   The EM Algorithm</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17.5   EM With Labelled and Unlabelled Data</a:t>
            </a:r>
          </a:p>
        </p:txBody>
      </p:sp>
      <p:sp>
        <p:nvSpPr>
          <p:cNvPr id="11"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17</a:t>
            </a:r>
          </a:p>
        </p:txBody>
      </p:sp>
      <p:sp>
        <p:nvSpPr>
          <p:cNvPr id="12"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§17.1     </a:t>
            </a:r>
            <a:fld id="{DEB649C4-F1F3-4C3D-A687-25E74619A536}" type="slidenum">
              <a:rPr lang="en-GB" sz="1000">
                <a:solidFill>
                  <a:srgbClr val="8795A1"/>
                </a:solidFill>
                <a:latin typeface="Segoe UI"/>
              </a:rPr>
              <a:t>6</a:t>
            </a:fld>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1625559"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Few Labels, Many Examples</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BRIEF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17  ·  Semi-Supervised Learning and the EM Algorithm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§17.1  ·  Handout p. 128     </a:t>
            </a:r>
            <a:fld id="{0E85C0EF-7B73-4C1C-AAD8-7384C2272AA4}" type="slidenum">
              <a:rPr lang="en-GB" sz="1000">
                <a:solidFill>
                  <a:srgbClr val="8795A1"/>
                </a:solidFill>
                <a:latin typeface="Segoe UI"/>
              </a:rPr>
              <a:t>7</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267784"/>
          </a:xfrm>
          <a:prstGeom prst="roundRect">
            <a:avLst>
              <a:gd name="adj" fmla="val 2142"/>
            </a:avLst>
          </a:prstGeom>
          <a:solidFill>
            <a:srgbClr val="F2F6F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26778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139342"/>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How can examples with no labels possibly help? Only if the way the examples are spread out says something about where the classes lie. Three assumptions, all versions of the same idea, make that true:</a:t>
            </a:r>
          </a:p>
        </p:txBody>
      </p:sp>
      <p:sp>
        <p:nvSpPr>
          <p:cNvPr id="10" name="body-1"/>
          <p:cNvSpPr txBox="1"/>
          <p:nvPr/>
        </p:nvSpPr>
        <p:spPr>
          <a:xfrm>
            <a:off x="1060704" y="3302533"/>
            <a:ext cx="10161727" cy="2437434"/>
          </a:xfrm>
          <a:prstGeom prst="rect">
            <a:avLst/>
          </a:prstGeom>
          <a:noFill/>
        </p:spPr>
        <p:txBody>
          <a:bodyPr wrap="square" anchor="t" lIns="0" rIns="0" tIns="0" bIns="0">
            <a:noAutofit/>
          </a:bodyPr>
          <a:lstStyle/>
          <a:p>
            <a:pPr algn="l" marL="257176" indent="-257176">
              <a:lnSpc>
                <a:spcPct val="104000"/>
              </a:lnSpc>
              <a:spcBef>
                <a:spcPts val="0"/>
              </a:spcBef>
              <a:spcAft>
                <a:spcPts val="804"/>
              </a:spcAft>
            </a:pPr>
            <a:r>
              <a:rPr sz="2300" b="1">
                <a:solidFill>
                  <a:srgbClr val="1A5276"/>
                </a:solidFill>
                <a:latin typeface="Segoe UI"/>
              </a:rPr>
              <a:t>•	</a:t>
            </a:r>
            <a:r>
              <a:rPr sz="2300" b="1" i="0">
                <a:solidFill>
                  <a:srgbClr val="1A5276"/>
                </a:solidFill>
                <a:latin typeface="Segoe UI"/>
              </a:rPr>
              <a:t>Smoothness:</a:t>
            </a:r>
            <a:r>
              <a:rPr sz="2300" b="0" i="0">
                <a:solidFill>
                  <a:srgbClr val="1C252B"/>
                </a:solidFill>
                <a:latin typeface="Segoe UI"/>
              </a:rPr>
              <a:t> examples close together are likely to share a label.</a:t>
            </a:r>
          </a:p>
          <a:p>
            <a:pPr algn="l" marL="257176" indent="-257176">
              <a:lnSpc>
                <a:spcPct val="104000"/>
              </a:lnSpc>
              <a:spcBef>
                <a:spcPts val="0"/>
              </a:spcBef>
              <a:spcAft>
                <a:spcPts val="804"/>
              </a:spcAft>
            </a:pPr>
            <a:r>
              <a:rPr sz="2300" b="1">
                <a:solidFill>
                  <a:srgbClr val="1A5276"/>
                </a:solidFill>
                <a:latin typeface="Segoe UI"/>
              </a:rPr>
              <a:t>•	</a:t>
            </a:r>
            <a:r>
              <a:rPr sz="2300" b="1" i="0">
                <a:solidFill>
                  <a:srgbClr val="1A5276"/>
                </a:solidFill>
                <a:latin typeface="Segoe UI"/>
              </a:rPr>
              <a:t>Cluster:</a:t>
            </a:r>
            <a:r>
              <a:rPr sz="2300" b="0" i="0">
                <a:solidFill>
                  <a:srgbClr val="1C252B"/>
                </a:solidFill>
                <a:latin typeface="Segoe UI"/>
              </a:rPr>
              <a:t> examples form clusters, and a cluster tends to be one class — so the decision boundary should pass through low-density gaps, not through the middle of a cluster.</a:t>
            </a:r>
          </a:p>
          <a:p>
            <a:pPr algn="l" marL="257176" indent="-257176">
              <a:lnSpc>
                <a:spcPct val="104000"/>
              </a:lnSpc>
              <a:spcBef>
                <a:spcPts val="0"/>
              </a:spcBef>
              <a:spcAft>
                <a:spcPts val="0"/>
              </a:spcAft>
            </a:pPr>
            <a:r>
              <a:rPr sz="2300" b="1">
                <a:solidFill>
                  <a:srgbClr val="1A5276"/>
                </a:solidFill>
                <a:latin typeface="Segoe UI"/>
              </a:rPr>
              <a:t>•	</a:t>
            </a:r>
            <a:r>
              <a:rPr sz="2300" b="1" i="0">
                <a:solidFill>
                  <a:srgbClr val="1A5276"/>
                </a:solidFill>
                <a:latin typeface="Segoe UI"/>
              </a:rPr>
              <a:t>Manifold:</a:t>
            </a:r>
            <a:r>
              <a:rPr sz="2300" b="0" i="0">
                <a:solidFill>
                  <a:srgbClr val="1C252B"/>
                </a:solidFill>
                <a:latin typeface="Segoe UI"/>
              </a:rPr>
              <a:t> high-dimensional data lies near a lower-dimensional surface, and distances along that surface are what matter.</a:t>
            </a:r>
          </a:p>
        </p:txBody>
      </p:sp>
      <p:sp>
        <p:nvSpPr>
          <p:cNvPr id="1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fill">
            <a:extLst>
              <a:ext uri="{C183D7F6-B498-43B3-948B-1728B52AA6E4}">
                <adec:decorative xmlns:adec="http://schemas.microsoft.com/office/drawing/2017/decorative" val="1"/>
              </a:ext>
            </a:extLst>
          </p:cNvPr>
          <p:cNvSpPr/>
          <p:nvPr/>
        </p:nvSpPr>
        <p:spPr>
          <a:xfrm>
            <a:off x="0" y="0"/>
            <a:ext cx="1896485"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10">
                                            <p:txEl>
                                              <p:pRg st="0" end="0"/>
                                            </p:txEl>
                                          </p:spTgt>
                                        </p:tgtEl>
                                        <p:attrNameLst>
                                          <p:attrName>style.visibility</p:attrName>
                                        </p:attrNameLst>
                                      </p:cBhvr>
                                      <p:to>
                                        <p:strVal val="visible"/>
                                      </p:to>
                                    </p:set>
                                    <p:animEffect transition="in" filter="fade">
                                      <p:cBhvr>
                                        <p:cTn id="8" dur="380"/>
                                        <p:tgtEl>
                                          <p:spTgt spid="10">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0">
                                            <p:txEl>
                                              <p:pRg st="1" end="1"/>
                                            </p:txEl>
                                          </p:spTgt>
                                        </p:tgtEl>
                                        <p:attrNameLst>
                                          <p:attrName>style.visibility</p:attrName>
                                        </p:attrNameLst>
                                      </p:cBhvr>
                                      <p:to>
                                        <p:strVal val="visible"/>
                                      </p:to>
                                    </p:set>
                                    <p:animEffect transition="in" filter="fade">
                                      <p:cBhvr>
                                        <p:cTn id="13" dur="380"/>
                                        <p:tgtEl>
                                          <p:spTgt spid="10">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0">
                                            <p:txEl>
                                              <p:pRg st="2" end="2"/>
                                            </p:txEl>
                                          </p:spTgt>
                                        </p:tgtEl>
                                        <p:attrNameLst>
                                          <p:attrName>style.visibility</p:attrName>
                                        </p:attrNameLst>
                                      </p:cBhvr>
                                      <p:to>
                                        <p:strVal val="visible"/>
                                      </p:to>
                                    </p:set>
                                    <p:animEffect transition="in" filter="fade">
                                      <p:cBhvr>
                                        <p:cTn id="18" dur="380"/>
                                        <p:tgtEl>
                                          <p:spTgt spid="10">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cluster assumption</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7A3A95"/>
                </a:solidFill>
                <a:latin typeface="Segoe UI"/>
              </a:rPr>
              <a:t>FIGURE 17.1</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17  ·  Semi-Supervised Learning and the EM Algorithm</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§17.1  ·  Handout p. 128     </a:t>
            </a:r>
            <a:fld id="{B5CA021E-6361-49B9-A334-4514DED45CBD}" type="slidenum">
              <a:rPr lang="en-GB" sz="1000">
                <a:solidFill>
                  <a:srgbClr val="8795A1"/>
                </a:solidFill>
                <a:latin typeface="Segoe UI"/>
              </a:rPr>
              <a:t>8</a:t>
            </a:fld>
          </a:p>
        </p:txBody>
      </p:sp>
      <p:pic>
        <p:nvPicPr>
          <p:cNvPr id="6" name="!!figure" descr="Figure 17.1. The cluster assumption. With two labelled points (blue circle, red square) a classifier puts the boundary between them, through the middle of a cluster. The unlabelled points (grey) reveal two clusters and a gap, and the boundary belongs in the gap."/>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053660" y="1737360"/>
            <a:ext cx="8084375" cy="3471062"/>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391302"/>
            <a:ext cx="54864" cy="844905"/>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373014"/>
            <a:ext cx="10600639" cy="1027785"/>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With two labelled points (blue circle, red square) a classifier puts the boundary between them, through the middle of a cluster. The unlabelled points (grey) reveal two clusters and a gap, and the boundary belongs in the gap.</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2167412"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Unlabelled Data Can Also Hurt</a:t>
            </a:r>
          </a:p>
        </p:txBody>
      </p:sp>
      <p:pic>
        <p:nvPicPr>
          <p:cNvPr id="3" name="!!kicker-icon" descr="exclamation-triang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45688"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WATCH OUT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17  ·  Semi-Supervised Learning and the EM Algorithm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§17.1  ·  Handout p. 128     </a:t>
            </a:r>
            <a:fld id="{A3D635F7-4F33-437B-A3A6-E5F6BACD0CD1}" type="slidenum">
              <a:rPr lang="en-GB" sz="1000">
                <a:solidFill>
                  <a:srgbClr val="8795A1"/>
                </a:solidFill>
                <a:latin typeface="Segoe UI"/>
              </a:rPr>
              <a:t>9</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444496"/>
          </a:xfrm>
          <a:prstGeom prst="roundRect">
            <a:avLst>
              <a:gd name="adj" fmla="val 3740"/>
            </a:avLst>
          </a:prstGeom>
          <a:solidFill>
            <a:srgbClr val="FDED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444496"/>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868424"/>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When the assumptions are false — the classes overlap in one blob, or a cluster contains both classes — unlabelled data pushes the boundary to the wrong place, and the semi-supervised model can be </a:t>
            </a:r>
            <a:r>
              <a:rPr sz="2300" b="0" i="1">
                <a:solidFill>
                  <a:srgbClr val="1C252B"/>
                </a:solidFill>
                <a:latin typeface="Segoe UI"/>
              </a:rPr>
              <a:t>worse</a:t>
            </a:r>
            <a:r>
              <a:rPr sz="2300" b="0" i="0">
                <a:solidFill>
                  <a:srgbClr val="1C252B"/>
                </a:solidFill>
                <a:latin typeface="Segoe UI"/>
              </a:rPr>
              <a:t> than one trained on the labels alone. Always compare against the labelled-only baseline on a held-out labelled test set.</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2438339"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Self-Training</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BRIEF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17  ·  Semi-Supervised Learning and the EM Algorithm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§17.2  ·  Handout p. 129     </a:t>
            </a:r>
            <a:fld id="{D8859998-2931-4471-B62F-B51E1E55410C}" type="slidenum">
              <a:rPr lang="en-GB" sz="1000">
                <a:solidFill>
                  <a:srgbClr val="8795A1"/>
                </a:solidFill>
                <a:latin typeface="Segoe UI"/>
              </a:rPr>
              <a:t>10</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809621"/>
          </a:xfrm>
          <a:prstGeom prst="roundRect">
            <a:avLst>
              <a:gd name="adj" fmla="val 3254"/>
            </a:avLst>
          </a:prstGeom>
          <a:solidFill>
            <a:srgbClr val="F2F6F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809621"/>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410260"/>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 simplest method needs no new theory. </a:t>
            </a:r>
            <a:r>
              <a:rPr sz="2300" b="1" i="0">
                <a:solidFill>
                  <a:srgbClr val="1A5276"/>
                </a:solidFill>
                <a:latin typeface="Segoe UI"/>
              </a:rPr>
              <a:t>Self-training</a:t>
            </a:r>
            <a:r>
              <a:rPr sz="2300" b="0" i="0">
                <a:solidFill>
                  <a:srgbClr val="1C252B"/>
                </a:solidFill>
                <a:latin typeface="Segoe UI"/>
              </a:rPr>
              <a:t> (pseudo-labelling):</a:t>
            </a:r>
          </a:p>
        </p:txBody>
      </p:sp>
      <p:sp>
        <p:nvSpPr>
          <p:cNvPr id="10" name="body-1"/>
          <p:cNvSpPr txBox="1"/>
          <p:nvPr/>
        </p:nvSpPr>
        <p:spPr>
          <a:xfrm>
            <a:off x="1060704" y="2573451"/>
            <a:ext cx="10161727" cy="1708353"/>
          </a:xfrm>
          <a:prstGeom prst="rect">
            <a:avLst/>
          </a:prstGeom>
          <a:noFill/>
        </p:spPr>
        <p:txBody>
          <a:bodyPr wrap="square" anchor="t" lIns="0" rIns="0" tIns="0" bIns="0">
            <a:noAutofit/>
          </a:bodyPr>
          <a:lstStyle/>
          <a:p>
            <a:pPr algn="l" marL="554820" indent="-554820">
              <a:lnSpc>
                <a:spcPct val="104000"/>
              </a:lnSpc>
              <a:spcBef>
                <a:spcPts val="0"/>
              </a:spcBef>
              <a:spcAft>
                <a:spcPts val="804"/>
              </a:spcAft>
            </a:pPr>
            <a:r>
              <a:rPr sz="2300" b="1">
                <a:solidFill>
                  <a:srgbClr val="1A5276"/>
                </a:solidFill>
                <a:latin typeface="Segoe UI"/>
              </a:rPr>
              <a:t>1.	</a:t>
            </a:r>
            <a:r>
              <a:rPr sz="2300" b="0" i="0">
                <a:solidFill>
                  <a:srgbClr val="1C252B"/>
                </a:solidFill>
                <a:latin typeface="Segoe UI"/>
              </a:rPr>
              <a:t>train a classifier on the labelled examples;</a:t>
            </a:r>
          </a:p>
          <a:p>
            <a:pPr algn="l" marL="554820" indent="-554820">
              <a:lnSpc>
                <a:spcPct val="104000"/>
              </a:lnSpc>
              <a:spcBef>
                <a:spcPts val="0"/>
              </a:spcBef>
              <a:spcAft>
                <a:spcPts val="804"/>
              </a:spcAft>
            </a:pPr>
            <a:r>
              <a:rPr sz="2300" b="1">
                <a:solidFill>
                  <a:srgbClr val="1A5276"/>
                </a:solidFill>
                <a:latin typeface="Segoe UI"/>
              </a:rPr>
              <a:t>2.	</a:t>
            </a:r>
            <a:r>
              <a:rPr sz="2300" b="0" i="0">
                <a:solidFill>
                  <a:srgbClr val="1C252B"/>
                </a:solidFill>
                <a:latin typeface="Segoe UI"/>
              </a:rPr>
              <a:t>predict the unlabelled examples, and add those predicted with high confidence to the training set, with their predicted labels;</a:t>
            </a:r>
          </a:p>
          <a:p>
            <a:pPr algn="l" marL="554820" indent="-554820">
              <a:lnSpc>
                <a:spcPct val="104000"/>
              </a:lnSpc>
              <a:spcBef>
                <a:spcPts val="0"/>
              </a:spcBef>
              <a:spcAft>
                <a:spcPts val="0"/>
              </a:spcAft>
            </a:pPr>
            <a:r>
              <a:rPr sz="2300" b="1">
                <a:solidFill>
                  <a:srgbClr val="1A5276"/>
                </a:solidFill>
                <a:latin typeface="Segoe UI"/>
              </a:rPr>
              <a:t>3.	</a:t>
            </a:r>
            <a:r>
              <a:rPr sz="2300" b="0" i="0">
                <a:solidFill>
                  <a:srgbClr val="1C252B"/>
                </a:solidFill>
                <a:latin typeface="Segoe UI"/>
              </a:rPr>
              <a:t>retrain, and repeat until no confident predictions remain.</a:t>
            </a:r>
          </a:p>
        </p:txBody>
      </p:sp>
      <p:sp>
        <p:nvSpPr>
          <p:cNvPr id="1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fill">
            <a:extLst>
              <a:ext uri="{C183D7F6-B498-43B3-948B-1728B52AA6E4}">
                <adec:decorative xmlns:adec="http://schemas.microsoft.com/office/drawing/2017/decorative" val="1"/>
              </a:ext>
            </a:extLst>
          </p:cNvPr>
          <p:cNvSpPr/>
          <p:nvPr/>
        </p:nvSpPr>
        <p:spPr>
          <a:xfrm>
            <a:off x="0" y="0"/>
            <a:ext cx="2709265"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10">
                                            <p:txEl>
                                              <p:pRg st="0" end="0"/>
                                            </p:txEl>
                                          </p:spTgt>
                                        </p:tgtEl>
                                        <p:attrNameLst>
                                          <p:attrName>style.visibility</p:attrName>
                                        </p:attrNameLst>
                                      </p:cBhvr>
                                      <p:to>
                                        <p:strVal val="visible"/>
                                      </p:to>
                                    </p:set>
                                    <p:animEffect transition="in" filter="fade">
                                      <p:cBhvr>
                                        <p:cTn id="8" dur="380"/>
                                        <p:tgtEl>
                                          <p:spTgt spid="10">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0">
                                            <p:txEl>
                                              <p:pRg st="1" end="1"/>
                                            </p:txEl>
                                          </p:spTgt>
                                        </p:tgtEl>
                                        <p:attrNameLst>
                                          <p:attrName>style.visibility</p:attrName>
                                        </p:attrNameLst>
                                      </p:cBhvr>
                                      <p:to>
                                        <p:strVal val="visible"/>
                                      </p:to>
                                    </p:set>
                                    <p:animEffect transition="in" filter="fade">
                                      <p:cBhvr>
                                        <p:cTn id="13" dur="380"/>
                                        <p:tgtEl>
                                          <p:spTgt spid="10">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0">
                                            <p:txEl>
                                              <p:pRg st="2" end="2"/>
                                            </p:txEl>
                                          </p:spTgt>
                                        </p:tgtEl>
                                        <p:attrNameLst>
                                          <p:attrName>style.visibility</p:attrName>
                                        </p:attrNameLst>
                                      </p:cBhvr>
                                      <p:to>
                                        <p:strVal val="visible"/>
                                      </p:to>
                                    </p:set>
                                    <p:animEffect transition="in" filter="fade">
                                      <p:cBhvr>
                                        <p:cTn id="18" dur="380"/>
                                        <p:tgtEl>
                                          <p:spTgt spid="10">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Gaussian Mixture Model</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17  ·  Semi-Supervised Learning and the EM Algorithm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§17.3  ·  Handout p. 129     </a:t>
            </a:r>
            <a:fld id="{99C71A5D-5E30-4CC5-95E6-01209423AF6C}" type="slidenum">
              <a:rPr lang="en-GB" sz="1000">
                <a:solidFill>
                  <a:srgbClr val="8795A1"/>
                </a:solidFill>
                <a:latin typeface="Segoe UI"/>
              </a:rPr>
              <a:t>11</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438721"/>
          </a:xfrm>
          <a:prstGeom prst="roundRect">
            <a:avLst>
              <a:gd name="adj" fmla="val 2060"/>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438721"/>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9" name="body-0" descr="A mixture of k Gaussians has, for each component j, a mixing weight πj (the probability of choosing it, with Σj πj = 1), a mean μj and a covariance Σj. The probability density of an example is"/>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2048255"/>
            <a:ext cx="10161727" cy="1092616"/>
          </a:xfrm>
          <a:prstGeom prst="rect">
            <a:avLst/>
          </a:prstGeom>
        </p:spPr>
      </p:pic>
      <p:pic>
        <p:nvPicPr>
          <p:cNvPr id="10" name="body-1" descr="p(\mathbf{x}) = \sum_{j=1}^{k} \pi_j\,\mathcal{N}(\mathbf{x} \mid \boldsymbol{\mu}_j, \Sigma_j)"/>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60704" y="3294542"/>
            <a:ext cx="10161727" cy="1022207"/>
          </a:xfrm>
          <a:prstGeom prst="rect">
            <a:avLst/>
          </a:prstGeom>
        </p:spPr>
      </p:pic>
      <p:sp>
        <p:nvSpPr>
          <p:cNvPr id="11" name="body-2"/>
          <p:cNvSpPr txBox="1"/>
          <p:nvPr/>
        </p:nvSpPr>
        <p:spPr>
          <a:xfrm>
            <a:off x="1060704" y="4470420"/>
            <a:ext cx="10161727" cy="1440484"/>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If we knew which component produced each example, fitting would be easy: average each component’s own examples. If we knew the parameters, we could compute for each example the probability that each component produced it. We know neither — and the EM algorithm alternates between the two.</a:t>
            </a: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2980192"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The EM Algorithm</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D7C4DF"/>
                </a:solidFill>
                <a:latin typeface="Segoe UI"/>
              </a:rPr>
              <a:t>SECTION 4 OF 5</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17.4</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17.1   Few Labels, Many Examples</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17.2   Self-Training</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17.3   Mixture Models and Hidden Variables</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7A3A95"/>
                </a:solidFill>
                <a:latin typeface="Segoe UI"/>
              </a:rPr>
              <a:t>17.4   The EM Algorithm</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17.5   EM With Labelled and Unlabelled Data</a:t>
            </a:r>
          </a:p>
        </p:txBody>
      </p:sp>
      <p:sp>
        <p:nvSpPr>
          <p:cNvPr id="11"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17</a:t>
            </a:r>
          </a:p>
        </p:txBody>
      </p:sp>
      <p:sp>
        <p:nvSpPr>
          <p:cNvPr id="12"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§17.4     </a:t>
            </a:r>
            <a:fld id="{653FAC00-E1DE-4813-BEC6-B919976A2CFD}" type="slidenum">
              <a:rPr lang="en-GB" sz="1000">
                <a:solidFill>
                  <a:srgbClr val="8795A1"/>
                </a:solidFill>
                <a:latin typeface="Segoe UI"/>
              </a:rPr>
              <a:t>12</a:t>
            </a:fld>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3251118"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Expectation–Maximisation (EM)</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17  ·  Semi-Supervised Learning and the EM Algorithm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§17.4  ·  Handout p. 130     </a:t>
            </a:r>
            <a:fld id="{C601BCD6-D52F-4D00-BBFE-05CF27692A7C}" type="slidenum">
              <a:rPr lang="en-GB" sz="1000">
                <a:solidFill>
                  <a:srgbClr val="8795A1"/>
                </a:solidFill>
                <a:latin typeface="Segoe UI"/>
              </a:rPr>
              <a:t>13</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075592"/>
          </a:xfrm>
          <a:prstGeom prst="roundRect">
            <a:avLst>
              <a:gd name="adj" fmla="val 2243"/>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075592"/>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34686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Start from initial parameter guesses. Repeat until the likelihood stops improving:</a:t>
            </a:r>
          </a:p>
        </p:txBody>
      </p:sp>
      <p:sp>
        <p:nvSpPr>
          <p:cNvPr id="10" name="body-1"/>
          <p:cNvSpPr txBox="1"/>
          <p:nvPr/>
        </p:nvSpPr>
        <p:spPr>
          <a:xfrm>
            <a:off x="1060704" y="2482113"/>
            <a:ext cx="10161727" cy="648004"/>
          </a:xfrm>
          <a:prstGeom prst="rect">
            <a:avLst/>
          </a:prstGeom>
          <a:noFill/>
        </p:spPr>
        <p:txBody>
          <a:bodyPr wrap="square" anchor="t" lIns="0" rIns="0" tIns="0" bIns="0">
            <a:noAutofit/>
          </a:bodyPr>
          <a:lstStyle/>
          <a:p>
            <a:pPr algn="l" marL="212450" indent="-212450">
              <a:lnSpc>
                <a:spcPct val="104000"/>
              </a:lnSpc>
              <a:spcBef>
                <a:spcPts val="0"/>
              </a:spcBef>
              <a:spcAft>
                <a:spcPts val="0"/>
              </a:spcAft>
            </a:pPr>
            <a:r>
              <a:rPr sz="1900" b="1">
                <a:solidFill>
                  <a:srgbClr val="8A4500"/>
                </a:solidFill>
                <a:latin typeface="Segoe UI"/>
              </a:rPr>
              <a:t>•	</a:t>
            </a:r>
            <a:r>
              <a:rPr sz="1900" b="1" i="0">
                <a:solidFill>
                  <a:srgbClr val="8A4500"/>
                </a:solidFill>
                <a:latin typeface="Segoe UI"/>
              </a:rPr>
              <a:t>E-step:</a:t>
            </a:r>
            <a:r>
              <a:rPr sz="1900" b="0" i="0">
                <a:solidFill>
                  <a:srgbClr val="1C252B"/>
                </a:solidFill>
                <a:latin typeface="Segoe UI"/>
              </a:rPr>
              <a:t> with the current parameters, compute for every example </a:t>
            </a:r>
            <a:r>
              <a:rPr sz="1900" b="0" i="1">
                <a:solidFill>
                  <a:srgbClr val="1C252B"/>
                </a:solidFill>
                <a:latin typeface="Cambria"/>
              </a:rPr>
              <a:t>i</a:t>
            </a:r>
            <a:r>
              <a:rPr sz="1900" b="0" i="0">
                <a:solidFill>
                  <a:srgbClr val="1C252B"/>
                </a:solidFill>
                <a:latin typeface="Segoe UI"/>
              </a:rPr>
              <a:t> and component </a:t>
            </a:r>
            <a:r>
              <a:rPr sz="1900" b="0" i="1">
                <a:solidFill>
                  <a:srgbClr val="1C252B"/>
                </a:solidFill>
                <a:latin typeface="Cambria"/>
              </a:rPr>
              <a:t>j</a:t>
            </a:r>
            <a:r>
              <a:rPr sz="1900" b="0" i="0">
                <a:solidFill>
                  <a:srgbClr val="1C252B"/>
                </a:solidFill>
                <a:latin typeface="Segoe UI"/>
              </a:rPr>
              <a:t> the </a:t>
            </a:r>
            <a:r>
              <a:rPr sz="1900" b="1" i="0">
                <a:solidFill>
                  <a:srgbClr val="1A5276"/>
                </a:solidFill>
                <a:latin typeface="Segoe UI"/>
              </a:rPr>
              <a:t>responsibility</a:t>
            </a:r>
            <a:r>
              <a:rPr sz="1900" b="0" i="0">
                <a:solidFill>
                  <a:srgbClr val="1C252B"/>
                </a:solidFill>
                <a:latin typeface="Segoe UI"/>
              </a:rPr>
              <a:t> </a:t>
            </a:r>
            <a:r>
              <a:rPr sz="1900" b="0" i="1">
                <a:solidFill>
                  <a:srgbClr val="1C252B"/>
                </a:solidFill>
                <a:latin typeface="Cambria"/>
              </a:rPr>
              <a:t>r</a:t>
            </a:r>
            <a:r>
              <a:rPr sz="1900" b="0" i="1" baseline="-25000">
                <a:solidFill>
                  <a:srgbClr val="1C252B"/>
                </a:solidFill>
                <a:latin typeface="Cambria"/>
              </a:rPr>
              <a:t>ij</a:t>
            </a:r>
            <a:r>
              <a:rPr sz="1900" b="0" i="0">
                <a:solidFill>
                  <a:srgbClr val="1C252B"/>
                </a:solidFill>
                <a:latin typeface="Segoe UI"/>
              </a:rPr>
              <a:t> below — the posterior probability that component </a:t>
            </a:r>
            <a:r>
              <a:rPr sz="1900" b="0" i="1">
                <a:solidFill>
                  <a:srgbClr val="1C252B"/>
                </a:solidFill>
                <a:latin typeface="Cambria"/>
              </a:rPr>
              <a:t>j</a:t>
            </a:r>
            <a:r>
              <a:rPr sz="1900" b="0" i="0">
                <a:solidFill>
                  <a:srgbClr val="1C252B"/>
                </a:solidFill>
                <a:latin typeface="Segoe UI"/>
              </a:rPr>
              <a:t> produced example </a:t>
            </a:r>
            <a:r>
              <a:rPr sz="1900" b="0" i="1">
                <a:solidFill>
                  <a:srgbClr val="1C252B"/>
                </a:solidFill>
                <a:latin typeface="Cambria"/>
              </a:rPr>
              <a:t>i</a:t>
            </a:r>
            <a:r>
              <a:rPr sz="1900" b="0" i="0">
                <a:solidFill>
                  <a:srgbClr val="1C252B"/>
                </a:solidFill>
                <a:latin typeface="Segoe UI"/>
              </a:rPr>
              <a:t>.</a:t>
            </a:r>
          </a:p>
        </p:txBody>
      </p:sp>
      <p:sp>
        <p:nvSpPr>
          <p:cNvPr id="11" name="body-2m"/>
          <p:cNvSpPr txBox="1"/>
          <p:nvPr/>
        </p:nvSpPr>
        <p:spPr>
          <a:xfrm>
            <a:off x="1060704" y="3217113"/>
            <a:ext cx="212450" cy="365760"/>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8A4500"/>
                </a:solidFill>
                <a:latin typeface="Segoe UI"/>
              </a:rPr>
              <a:t>•</a:t>
            </a:r>
          </a:p>
        </p:txBody>
      </p:sp>
      <p:pic>
        <p:nvPicPr>
          <p:cNvPr id="12" name="body-2" descr="M-step: re-estimate each component from all examples, weighted by responsibility: μj = Σi rijxi / Σi rij, πj = 1/nΣi rij, and Σj likewise."/>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273154" y="3217113"/>
            <a:ext cx="9949312" cy="720912"/>
          </a:xfrm>
          <a:prstGeom prst="rect">
            <a:avLst/>
          </a:prstGeom>
        </p:spPr>
      </p:pic>
      <p:pic>
        <p:nvPicPr>
          <p:cNvPr id="13" name="body-3" descr="r_{ij} = \frac{\pi_j\,\mathcal{N}(\mathbf{x}_i \mid \boldsymbol{\mu}_j, \Sigma_j)} {\sum_{l}\pi_l\,\mathcal{N}(\mathbf{x}_i \mid \boldsymbol{\mu}_l, \Sigma_l)}"/>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60704" y="4070741"/>
            <a:ext cx="10161727" cy="696315"/>
          </a:xfrm>
          <a:prstGeom prst="rect">
            <a:avLst/>
          </a:prstGeom>
        </p:spPr>
      </p:pic>
      <p:sp>
        <p:nvSpPr>
          <p:cNvPr id="14" name="body-4"/>
          <p:cNvSpPr txBox="1"/>
          <p:nvPr/>
        </p:nvSpPr>
        <p:spPr>
          <a:xfrm>
            <a:off x="1060704" y="4899771"/>
            <a:ext cx="10161727" cy="64800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Each iteration never decreases the likelihood of the data, so EM converges — to a </a:t>
            </a:r>
            <a:r>
              <a:rPr sz="1900" b="1" i="0">
                <a:solidFill>
                  <a:srgbClr val="1A5276"/>
                </a:solidFill>
                <a:latin typeface="Segoe UI"/>
              </a:rPr>
              <a:t>local maximum</a:t>
            </a:r>
            <a:r>
              <a:rPr sz="1900" b="0" i="0">
                <a:solidFill>
                  <a:srgbClr val="1C252B"/>
                </a:solidFill>
                <a:latin typeface="Segoe UI"/>
              </a:rPr>
              <a:t>, which depends on the starting point.</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3522045"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10">
                                            <p:txEl>
                                              <p:pRg st="0" end="0"/>
                                            </p:txEl>
                                          </p:spTgt>
                                        </p:tgtEl>
                                        <p:attrNameLst>
                                          <p:attrName>style.visibility</p:attrName>
                                        </p:attrNameLst>
                                      </p:cBhvr>
                                      <p:to>
                                        <p:strVal val="visible"/>
                                      </p:to>
                                    </p:set>
                                    <p:animEffect transition="in" filter="fade">
                                      <p:cBhvr>
                                        <p:cTn id="8" dur="38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EM for Two Means (Mitchell’s Example, in Numbers)</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17  ·  Semi-Supervised Learning and the EM Algorithm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§17.4  ·  Handout p. 130     </a:t>
            </a:r>
            <a:fld id="{AC81BCF9-91EA-4CC4-81A9-BDEB84429196}" type="slidenum">
              <a:rPr lang="en-GB" sz="1000">
                <a:solidFill>
                  <a:srgbClr val="8795A1"/>
                </a:solidFill>
                <a:latin typeface="Segoe UI"/>
              </a:rPr>
              <a:t>14</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302622"/>
          </a:xfrm>
          <a:prstGeom prst="roundRect">
            <a:avLst>
              <a:gd name="adj" fmla="val 2125"/>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302622"/>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Six values: </a:t>
            </a:r>
            <a:r>
              <a:rPr sz="1900" b="0" i="1">
                <a:solidFill>
                  <a:srgbClr val="1C252B"/>
                </a:solidFill>
                <a:latin typeface="Cambria"/>
              </a:rPr>
              <a:t>x</a:t>
            </a:r>
            <a:r>
              <a:rPr sz="1900" b="0" i="0">
                <a:solidFill>
                  <a:srgbClr val="1C252B"/>
                </a:solidFill>
                <a:latin typeface="Cambria"/>
              </a:rPr>
              <a:t> = 1, 2, 3, 7, 8, 9</a:t>
            </a:r>
            <a:r>
              <a:rPr sz="1900" b="0" i="0">
                <a:solidFill>
                  <a:srgbClr val="1C252B"/>
                </a:solidFill>
                <a:latin typeface="Segoe UI"/>
              </a:rPr>
              <a:t>. Model: two Gaussians with known </a:t>
            </a:r>
            <a:r>
              <a:rPr sz="1900" b="0" i="0">
                <a:solidFill>
                  <a:srgbClr val="1C252B"/>
                </a:solidFill>
                <a:latin typeface="Cambria"/>
              </a:rPr>
              <a:t>σ = 1</a:t>
            </a:r>
            <a:r>
              <a:rPr sz="1900" b="0" i="0">
                <a:solidFill>
                  <a:srgbClr val="1C252B"/>
                </a:solidFill>
                <a:latin typeface="Segoe UI"/>
              </a:rPr>
              <a:t> and equal weights; unknown means. Start from </a:t>
            </a:r>
            <a:r>
              <a:rPr sz="1900" b="0" i="0">
                <a:solidFill>
                  <a:srgbClr val="1C252B"/>
                </a:solidFill>
                <a:latin typeface="Cambria"/>
              </a:rPr>
              <a:t>μ</a:t>
            </a:r>
            <a:r>
              <a:rPr sz="1900" b="0" i="0" baseline="-25000">
                <a:solidFill>
                  <a:srgbClr val="1C252B"/>
                </a:solidFill>
                <a:latin typeface="Cambria"/>
              </a:rPr>
              <a:t>1</a:t>
            </a:r>
            <a:r>
              <a:rPr sz="1900" b="0" i="0">
                <a:solidFill>
                  <a:srgbClr val="1C252B"/>
                </a:solidFill>
                <a:latin typeface="Cambria"/>
              </a:rPr>
              <a:t> = 2</a:t>
            </a:r>
            <a:r>
              <a:rPr sz="1900" b="0" i="0">
                <a:solidFill>
                  <a:srgbClr val="1C252B"/>
                </a:solidFill>
                <a:latin typeface="Segoe UI"/>
              </a:rPr>
              <a:t>, </a:t>
            </a:r>
            <a:r>
              <a:rPr sz="1900" b="0" i="0">
                <a:solidFill>
                  <a:srgbClr val="1C252B"/>
                </a:solidFill>
                <a:latin typeface="Cambria"/>
              </a:rPr>
              <a:t>μ</a:t>
            </a:r>
            <a:r>
              <a:rPr sz="1900" b="0" i="0" baseline="-25000">
                <a:solidFill>
                  <a:srgbClr val="1C252B"/>
                </a:solidFill>
                <a:latin typeface="Cambria"/>
              </a:rPr>
              <a:t>2</a:t>
            </a:r>
            <a:r>
              <a:rPr sz="1900" b="0" i="0">
                <a:solidFill>
                  <a:srgbClr val="1C252B"/>
                </a:solidFill>
                <a:latin typeface="Cambria"/>
              </a:rPr>
              <a:t> = 5</a:t>
            </a:r>
            <a:r>
              <a:rPr sz="1900" b="0" i="0">
                <a:solidFill>
                  <a:srgbClr val="1C252B"/>
                </a:solidFill>
                <a:latin typeface="Segoe UI"/>
              </a:rPr>
              <a:t>.</a:t>
            </a:r>
          </a:p>
        </p:txBody>
      </p:sp>
      <p:sp>
        <p:nvSpPr>
          <p:cNvPr id="10" name="body-1"/>
          <p:cNvSpPr txBox="1"/>
          <p:nvPr/>
        </p:nvSpPr>
        <p:spPr>
          <a:xfrm>
            <a:off x="1042416" y="2746679"/>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E-step.</a:t>
            </a:r>
            <a:r>
              <a:rPr sz="1900" b="0" i="0">
                <a:solidFill>
                  <a:srgbClr val="1C252B"/>
                </a:solidFill>
                <a:latin typeface="Segoe UI"/>
              </a:rPr>
              <a:t> For each </a:t>
            </a:r>
            <a:r>
              <a:rPr sz="1900" b="0" i="1">
                <a:solidFill>
                  <a:srgbClr val="1C252B"/>
                </a:solidFill>
                <a:latin typeface="Cambria"/>
              </a:rPr>
              <a:t>x</a:t>
            </a:r>
            <a:r>
              <a:rPr sz="1900" b="0" i="0">
                <a:solidFill>
                  <a:srgbClr val="1C252B"/>
                </a:solidFill>
                <a:latin typeface="Segoe UI"/>
              </a:rPr>
              <a:t>, the densities are proportional to </a:t>
            </a:r>
            <a:r>
              <a:rPr sz="1900" b="0" i="1">
                <a:solidFill>
                  <a:srgbClr val="1C252B"/>
                </a:solidFill>
                <a:latin typeface="Cambria"/>
              </a:rPr>
              <a:t>e</a:t>
            </a:r>
            <a:r>
              <a:rPr sz="1900" b="0" i="0" baseline="30000">
                <a:solidFill>
                  <a:srgbClr val="1C252B"/>
                </a:solidFill>
                <a:latin typeface="Cambria"/>
              </a:rPr>
              <a:t>−(</a:t>
            </a:r>
            <a:r>
              <a:rPr sz="1900" b="0" i="1" baseline="30000">
                <a:solidFill>
                  <a:srgbClr val="1C252B"/>
                </a:solidFill>
                <a:latin typeface="Cambria"/>
              </a:rPr>
              <a:t>x</a:t>
            </a:r>
            <a:r>
              <a:rPr sz="1900" b="0" i="0" baseline="30000">
                <a:solidFill>
                  <a:srgbClr val="1C252B"/>
                </a:solidFill>
                <a:latin typeface="Cambria"/>
              </a:rPr>
              <a:t>−μ)2/2</a:t>
            </a:r>
            <a:r>
              <a:rPr sz="1900" b="0" i="0">
                <a:solidFill>
                  <a:srgbClr val="1C252B"/>
                </a:solidFill>
                <a:latin typeface="Segoe UI"/>
              </a:rPr>
              <a:t>:</a:t>
            </a:r>
          </a:p>
        </p:txBody>
      </p:sp>
      <p:sp>
        <p:nvSpPr>
          <p:cNvPr id="11" name="body-2"/>
          <p:cNvSpPr txBox="1"/>
          <p:nvPr/>
        </p:nvSpPr>
        <p:spPr>
          <a:xfrm>
            <a:off x="1042416" y="3180537"/>
            <a:ext cx="10234879" cy="1503654"/>
          </a:xfrm>
          <a:prstGeom prst="rect">
            <a:avLst/>
          </a:prstGeom>
          <a:noFill/>
        </p:spPr>
        <p:txBody>
          <a:bodyPr wrap="square" anchor="t" lIns="0" rIns="0" tIns="0" bIns="0">
            <a:noAutofit/>
          </a:bodyPr>
          <a:lstStyle/>
          <a:p>
            <a:pPr algn="l" marL="212450" indent="-212450">
              <a:lnSpc>
                <a:spcPct val="104000"/>
              </a:lnSpc>
              <a:spcBef>
                <a:spcPts val="0"/>
              </a:spcBef>
              <a:spcAft>
                <a:spcPts val="665"/>
              </a:spcAft>
            </a:pPr>
            <a:r>
              <a:rPr sz="1900" b="1">
                <a:solidFill>
                  <a:srgbClr val="7D6608"/>
                </a:solidFill>
                <a:latin typeface="Segoe UI"/>
              </a:rPr>
              <a:t>•	</a:t>
            </a:r>
            <a:r>
              <a:rPr sz="1900" b="0" i="1">
                <a:solidFill>
                  <a:srgbClr val="1C252B"/>
                </a:solidFill>
                <a:latin typeface="Cambria"/>
              </a:rPr>
              <a:t>x</a:t>
            </a:r>
            <a:r>
              <a:rPr sz="1900" b="0" i="0">
                <a:solidFill>
                  <a:srgbClr val="1C252B"/>
                </a:solidFill>
                <a:latin typeface="Cambria"/>
              </a:rPr>
              <a:t> = 1</a:t>
            </a:r>
            <a:r>
              <a:rPr sz="1900" b="0" i="0">
                <a:solidFill>
                  <a:srgbClr val="1C252B"/>
                </a:solidFill>
                <a:latin typeface="Segoe UI"/>
              </a:rPr>
              <a:t>: </a:t>
            </a:r>
            <a:r>
              <a:rPr sz="1900" b="0" i="1">
                <a:solidFill>
                  <a:srgbClr val="1C252B"/>
                </a:solidFill>
                <a:latin typeface="Cambria"/>
              </a:rPr>
              <a:t>e</a:t>
            </a:r>
            <a:r>
              <a:rPr sz="1900" b="0" i="0" baseline="30000">
                <a:solidFill>
                  <a:srgbClr val="1C252B"/>
                </a:solidFill>
                <a:latin typeface="Cambria"/>
              </a:rPr>
              <a:t>−0.5</a:t>
            </a:r>
            <a:r>
              <a:rPr sz="1900" b="0" i="0">
                <a:solidFill>
                  <a:srgbClr val="1C252B"/>
                </a:solidFill>
                <a:latin typeface="Cambria"/>
              </a:rPr>
              <a:t> = 0.607</a:t>
            </a:r>
            <a:r>
              <a:rPr sz="1900" b="0" i="0">
                <a:solidFill>
                  <a:srgbClr val="1C252B"/>
                </a:solidFill>
                <a:latin typeface="Segoe UI"/>
              </a:rPr>
              <a:t> against </a:t>
            </a:r>
            <a:r>
              <a:rPr sz="1900" b="0" i="1">
                <a:solidFill>
                  <a:srgbClr val="1C252B"/>
                </a:solidFill>
                <a:latin typeface="Cambria"/>
              </a:rPr>
              <a:t>e</a:t>
            </a:r>
            <a:r>
              <a:rPr sz="1900" b="0" i="0" baseline="30000">
                <a:solidFill>
                  <a:srgbClr val="1C252B"/>
                </a:solidFill>
                <a:latin typeface="Cambria"/>
              </a:rPr>
              <a:t>−8</a:t>
            </a:r>
            <a:r>
              <a:rPr sz="1900" b="0" i="0">
                <a:solidFill>
                  <a:srgbClr val="1C252B"/>
                </a:solidFill>
                <a:latin typeface="Cambria"/>
              </a:rPr>
              <a:t> = 0.0003</a:t>
            </a:r>
            <a:r>
              <a:rPr sz="1900" b="0" i="0">
                <a:solidFill>
                  <a:srgbClr val="1C252B"/>
                </a:solidFill>
                <a:latin typeface="Segoe UI"/>
              </a:rPr>
              <a:t> </a:t>
            </a:r>
            <a:r>
              <a:rPr sz="1900" b="0" i="0">
                <a:solidFill>
                  <a:srgbClr val="1C252B"/>
                </a:solidFill>
                <a:latin typeface="Cambria"/>
              </a:rPr>
              <a:t>⇒</a:t>
            </a:r>
            <a:r>
              <a:rPr sz="1900" b="0" i="0">
                <a:solidFill>
                  <a:srgbClr val="1C252B"/>
                </a:solidFill>
                <a:latin typeface="Segoe UI"/>
              </a:rPr>
              <a:t> </a:t>
            </a:r>
            <a:r>
              <a:rPr sz="1900" b="0" i="1">
                <a:solidFill>
                  <a:srgbClr val="1C252B"/>
                </a:solidFill>
                <a:latin typeface="Cambria"/>
              </a:rPr>
              <a:t>r</a:t>
            </a:r>
            <a:r>
              <a:rPr sz="1900" b="0" i="0" baseline="-25000">
                <a:solidFill>
                  <a:srgbClr val="1C252B"/>
                </a:solidFill>
                <a:latin typeface="Cambria"/>
              </a:rPr>
              <a:t>1</a:t>
            </a:r>
            <a:r>
              <a:rPr sz="1900" b="0" i="0">
                <a:solidFill>
                  <a:srgbClr val="1C252B"/>
                </a:solidFill>
                <a:latin typeface="Cambria"/>
              </a:rPr>
              <a:t> = 0.999</a:t>
            </a:r>
          </a:p>
          <a:p>
            <a:pPr algn="l" marL="212450" indent="-212450">
              <a:lnSpc>
                <a:spcPct val="104000"/>
              </a:lnSpc>
              <a:spcBef>
                <a:spcPts val="0"/>
              </a:spcBef>
              <a:spcAft>
                <a:spcPts val="665"/>
              </a:spcAft>
            </a:pPr>
            <a:r>
              <a:rPr sz="1900" b="1">
                <a:solidFill>
                  <a:srgbClr val="7D6608"/>
                </a:solidFill>
                <a:latin typeface="Segoe UI"/>
              </a:rPr>
              <a:t>•	</a:t>
            </a:r>
            <a:r>
              <a:rPr sz="1900" b="0" i="1">
                <a:solidFill>
                  <a:srgbClr val="1C252B"/>
                </a:solidFill>
                <a:latin typeface="Cambria"/>
              </a:rPr>
              <a:t>x</a:t>
            </a:r>
            <a:r>
              <a:rPr sz="1900" b="0" i="0">
                <a:solidFill>
                  <a:srgbClr val="1C252B"/>
                </a:solidFill>
                <a:latin typeface="Cambria"/>
              </a:rPr>
              <a:t> = 2</a:t>
            </a:r>
            <a:r>
              <a:rPr sz="1900" b="0" i="0">
                <a:solidFill>
                  <a:srgbClr val="1C252B"/>
                </a:solidFill>
                <a:latin typeface="Segoe UI"/>
              </a:rPr>
              <a:t>: </a:t>
            </a:r>
            <a:r>
              <a:rPr sz="1900" b="0" i="1">
                <a:solidFill>
                  <a:srgbClr val="1C252B"/>
                </a:solidFill>
                <a:latin typeface="Cambria"/>
              </a:rPr>
              <a:t>e</a:t>
            </a:r>
            <a:r>
              <a:rPr sz="1900" b="0" i="0" baseline="30000">
                <a:solidFill>
                  <a:srgbClr val="1C252B"/>
                </a:solidFill>
                <a:latin typeface="Cambria"/>
              </a:rPr>
              <a:t>0</a:t>
            </a:r>
            <a:r>
              <a:rPr sz="1900" b="0" i="0">
                <a:solidFill>
                  <a:srgbClr val="1C252B"/>
                </a:solidFill>
                <a:latin typeface="Cambria"/>
              </a:rPr>
              <a:t> = 1</a:t>
            </a:r>
            <a:r>
              <a:rPr sz="1900" b="0" i="0">
                <a:solidFill>
                  <a:srgbClr val="1C252B"/>
                </a:solidFill>
                <a:latin typeface="Segoe UI"/>
              </a:rPr>
              <a:t> against </a:t>
            </a:r>
            <a:r>
              <a:rPr sz="1900" b="0" i="1">
                <a:solidFill>
                  <a:srgbClr val="1C252B"/>
                </a:solidFill>
                <a:latin typeface="Cambria"/>
              </a:rPr>
              <a:t>e</a:t>
            </a:r>
            <a:r>
              <a:rPr sz="1900" b="0" i="0" baseline="30000">
                <a:solidFill>
                  <a:srgbClr val="1C252B"/>
                </a:solidFill>
                <a:latin typeface="Cambria"/>
              </a:rPr>
              <a:t>−4.5</a:t>
            </a:r>
            <a:r>
              <a:rPr sz="1900" b="0" i="0">
                <a:solidFill>
                  <a:srgbClr val="1C252B"/>
                </a:solidFill>
                <a:latin typeface="Cambria"/>
              </a:rPr>
              <a:t> = 0.011</a:t>
            </a:r>
            <a:r>
              <a:rPr sz="1900" b="0" i="0">
                <a:solidFill>
                  <a:srgbClr val="1C252B"/>
                </a:solidFill>
                <a:latin typeface="Segoe UI"/>
              </a:rPr>
              <a:t> </a:t>
            </a:r>
            <a:r>
              <a:rPr sz="1900" b="0" i="0">
                <a:solidFill>
                  <a:srgbClr val="1C252B"/>
                </a:solidFill>
                <a:latin typeface="Cambria"/>
              </a:rPr>
              <a:t>⇒</a:t>
            </a:r>
            <a:r>
              <a:rPr sz="1900" b="0" i="0">
                <a:solidFill>
                  <a:srgbClr val="1C252B"/>
                </a:solidFill>
                <a:latin typeface="Segoe UI"/>
              </a:rPr>
              <a:t> </a:t>
            </a:r>
            <a:r>
              <a:rPr sz="1900" b="0" i="1">
                <a:solidFill>
                  <a:srgbClr val="1C252B"/>
                </a:solidFill>
                <a:latin typeface="Cambria"/>
              </a:rPr>
              <a:t>r</a:t>
            </a:r>
            <a:r>
              <a:rPr sz="1900" b="0" i="0" baseline="-25000">
                <a:solidFill>
                  <a:srgbClr val="1C252B"/>
                </a:solidFill>
                <a:latin typeface="Cambria"/>
              </a:rPr>
              <a:t>1</a:t>
            </a:r>
            <a:r>
              <a:rPr sz="1900" b="0" i="0">
                <a:solidFill>
                  <a:srgbClr val="1C252B"/>
                </a:solidFill>
                <a:latin typeface="Cambria"/>
              </a:rPr>
              <a:t> = 0.989</a:t>
            </a:r>
          </a:p>
          <a:p>
            <a:pPr algn="l" marL="212450" indent="-212450">
              <a:lnSpc>
                <a:spcPct val="104000"/>
              </a:lnSpc>
              <a:spcBef>
                <a:spcPts val="0"/>
              </a:spcBef>
              <a:spcAft>
                <a:spcPts val="665"/>
              </a:spcAft>
            </a:pPr>
            <a:r>
              <a:rPr sz="1900" b="1">
                <a:solidFill>
                  <a:srgbClr val="7D6608"/>
                </a:solidFill>
                <a:latin typeface="Segoe UI"/>
              </a:rPr>
              <a:t>•	</a:t>
            </a:r>
            <a:r>
              <a:rPr sz="1900" b="0" i="1">
                <a:solidFill>
                  <a:srgbClr val="1C252B"/>
                </a:solidFill>
                <a:latin typeface="Cambria"/>
              </a:rPr>
              <a:t>x</a:t>
            </a:r>
            <a:r>
              <a:rPr sz="1900" b="0" i="0">
                <a:solidFill>
                  <a:srgbClr val="1C252B"/>
                </a:solidFill>
                <a:latin typeface="Cambria"/>
              </a:rPr>
              <a:t> = 3</a:t>
            </a:r>
            <a:r>
              <a:rPr sz="1900" b="0" i="0">
                <a:solidFill>
                  <a:srgbClr val="1C252B"/>
                </a:solidFill>
                <a:latin typeface="Segoe UI"/>
              </a:rPr>
              <a:t>: </a:t>
            </a:r>
            <a:r>
              <a:rPr sz="1900" b="0" i="1">
                <a:solidFill>
                  <a:srgbClr val="1C252B"/>
                </a:solidFill>
                <a:latin typeface="Cambria"/>
              </a:rPr>
              <a:t>e</a:t>
            </a:r>
            <a:r>
              <a:rPr sz="1900" b="0" i="0" baseline="30000">
                <a:solidFill>
                  <a:srgbClr val="1C252B"/>
                </a:solidFill>
                <a:latin typeface="Cambria"/>
              </a:rPr>
              <a:t>−0.5</a:t>
            </a:r>
            <a:r>
              <a:rPr sz="1900" b="0" i="0">
                <a:solidFill>
                  <a:srgbClr val="1C252B"/>
                </a:solidFill>
                <a:latin typeface="Cambria"/>
              </a:rPr>
              <a:t> = 0.607</a:t>
            </a:r>
            <a:r>
              <a:rPr sz="1900" b="0" i="0">
                <a:solidFill>
                  <a:srgbClr val="1C252B"/>
                </a:solidFill>
                <a:latin typeface="Segoe UI"/>
              </a:rPr>
              <a:t> against </a:t>
            </a:r>
            <a:r>
              <a:rPr sz="1900" b="0" i="1">
                <a:solidFill>
                  <a:srgbClr val="1C252B"/>
                </a:solidFill>
                <a:latin typeface="Cambria"/>
              </a:rPr>
              <a:t>e</a:t>
            </a:r>
            <a:r>
              <a:rPr sz="1900" b="0" i="0" baseline="30000">
                <a:solidFill>
                  <a:srgbClr val="1C252B"/>
                </a:solidFill>
                <a:latin typeface="Cambria"/>
              </a:rPr>
              <a:t>−2</a:t>
            </a:r>
            <a:r>
              <a:rPr sz="1900" b="0" i="0">
                <a:solidFill>
                  <a:srgbClr val="1C252B"/>
                </a:solidFill>
                <a:latin typeface="Cambria"/>
              </a:rPr>
              <a:t> = 0.135</a:t>
            </a:r>
            <a:r>
              <a:rPr sz="1900" b="0" i="0">
                <a:solidFill>
                  <a:srgbClr val="1C252B"/>
                </a:solidFill>
                <a:latin typeface="Segoe UI"/>
              </a:rPr>
              <a:t> </a:t>
            </a:r>
            <a:r>
              <a:rPr sz="1900" b="0" i="0">
                <a:solidFill>
                  <a:srgbClr val="1C252B"/>
                </a:solidFill>
                <a:latin typeface="Cambria"/>
              </a:rPr>
              <a:t>⇒</a:t>
            </a:r>
            <a:r>
              <a:rPr sz="1900" b="0" i="0">
                <a:solidFill>
                  <a:srgbClr val="1C252B"/>
                </a:solidFill>
                <a:latin typeface="Segoe UI"/>
              </a:rPr>
              <a:t> </a:t>
            </a:r>
            <a:r>
              <a:rPr sz="1900" b="0" i="1">
                <a:solidFill>
                  <a:srgbClr val="1C252B"/>
                </a:solidFill>
                <a:latin typeface="Cambria"/>
              </a:rPr>
              <a:t>r</a:t>
            </a:r>
            <a:r>
              <a:rPr sz="1900" b="0" i="0" baseline="-25000">
                <a:solidFill>
                  <a:srgbClr val="1C252B"/>
                </a:solidFill>
                <a:latin typeface="Cambria"/>
              </a:rPr>
              <a:t>1</a:t>
            </a:r>
            <a:r>
              <a:rPr sz="1900" b="0" i="0">
                <a:solidFill>
                  <a:srgbClr val="1C252B"/>
                </a:solidFill>
                <a:latin typeface="Cambria"/>
              </a:rPr>
              <a:t> = 0.818</a:t>
            </a:r>
          </a:p>
          <a:p>
            <a:pPr algn="l" marL="212450" indent="-212450">
              <a:lnSpc>
                <a:spcPct val="104000"/>
              </a:lnSpc>
              <a:spcBef>
                <a:spcPts val="0"/>
              </a:spcBef>
              <a:spcAft>
                <a:spcPts val="0"/>
              </a:spcAft>
            </a:pPr>
            <a:r>
              <a:rPr sz="1900" b="1">
                <a:solidFill>
                  <a:srgbClr val="7D6608"/>
                </a:solidFill>
                <a:latin typeface="Segoe UI"/>
              </a:rPr>
              <a:t>•	</a:t>
            </a:r>
            <a:r>
              <a:rPr sz="1900" b="0" i="1">
                <a:solidFill>
                  <a:srgbClr val="1C252B"/>
                </a:solidFill>
                <a:latin typeface="Cambria"/>
              </a:rPr>
              <a:t>x</a:t>
            </a:r>
            <a:r>
              <a:rPr sz="1900" b="0" i="0">
                <a:solidFill>
                  <a:srgbClr val="1C252B"/>
                </a:solidFill>
                <a:latin typeface="Cambria"/>
              </a:rPr>
              <a:t> = 7, 8, 9</a:t>
            </a:r>
            <a:r>
              <a:rPr sz="1900" b="0" i="0">
                <a:solidFill>
                  <a:srgbClr val="1C252B"/>
                </a:solidFill>
                <a:latin typeface="Segoe UI"/>
              </a:rPr>
              <a:t>: component 2 is overwhelmingly likelier </a:t>
            </a:r>
            <a:r>
              <a:rPr sz="1900" b="0" i="0">
                <a:solidFill>
                  <a:srgbClr val="1C252B"/>
                </a:solidFill>
                <a:latin typeface="Cambria"/>
              </a:rPr>
              <a:t>⇒</a:t>
            </a:r>
            <a:r>
              <a:rPr sz="1900" b="0" i="0">
                <a:solidFill>
                  <a:srgbClr val="1C252B"/>
                </a:solidFill>
                <a:latin typeface="Segoe UI"/>
              </a:rPr>
              <a:t> </a:t>
            </a:r>
            <a:r>
              <a:rPr sz="1900" b="0" i="1">
                <a:solidFill>
                  <a:srgbClr val="1C252B"/>
                </a:solidFill>
                <a:latin typeface="Cambria"/>
              </a:rPr>
              <a:t>r</a:t>
            </a:r>
            <a:r>
              <a:rPr sz="1900" b="0" i="0" baseline="-25000">
                <a:solidFill>
                  <a:srgbClr val="1C252B"/>
                </a:solidFill>
                <a:latin typeface="Cambria"/>
              </a:rPr>
              <a:t>1</a:t>
            </a:r>
            <a:r>
              <a:rPr sz="1900" b="0" i="0">
                <a:solidFill>
                  <a:srgbClr val="1C252B"/>
                </a:solidFill>
                <a:latin typeface="Cambria"/>
              </a:rPr>
              <a:t> ≈ 0</a:t>
            </a:r>
          </a:p>
        </p:txBody>
      </p:sp>
      <p:sp>
        <p:nvSpPr>
          <p:cNvPr id="12" name="body-3"/>
          <p:cNvSpPr txBox="1"/>
          <p:nvPr/>
        </p:nvSpPr>
        <p:spPr>
          <a:xfrm>
            <a:off x="1042416" y="4771186"/>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M-step.</a:t>
            </a:r>
            <a:r>
              <a:rPr sz="1900" b="0" i="0">
                <a:solidFill>
                  <a:srgbClr val="1C252B"/>
                </a:solidFill>
                <a:latin typeface="Segoe UI"/>
              </a:rPr>
              <a:t> Responsibility-weighted means:</a:t>
            </a:r>
          </a:p>
        </p:txBody>
      </p:sp>
      <p:sp>
        <p:nvSpPr>
          <p:cNvPr id="13" name="body-3bar">
            <a:extLst>
              <a:ext uri="{C183D7F6-B498-43B3-948B-1728B52AA6E4}">
                <adec:decorative xmlns:adec="http://schemas.microsoft.com/office/drawing/2017/decorative" val="1"/>
              </a:ext>
            </a:extLst>
          </p:cNvPr>
          <p:cNvSpPr/>
          <p:nvPr/>
        </p:nvSpPr>
        <p:spPr>
          <a:xfrm>
            <a:off x="841248" y="4789474"/>
            <a:ext cx="54864" cy="28285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4" name="body-4" descr="\mu_1 = \frac{0.999(1) + 0.989(2) + 0.818(3)}{0.999 + 0.989 + 0.818} = \frac{5.430}{2.806} = \mathbf{1.935}"/>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42416" y="5205044"/>
            <a:ext cx="10234879" cy="560618"/>
          </a:xfrm>
          <a:prstGeom prst="rect">
            <a:avLst/>
          </a:prstGeom>
        </p:spPr>
      </p:pic>
      <p:sp>
        <p:nvSpPr>
          <p:cNvPr id="4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pfill">
            <a:extLst>
              <a:ext uri="{C183D7F6-B498-43B3-948B-1728B52AA6E4}">
                <adec:decorative xmlns:adec="http://schemas.microsoft.com/office/drawing/2017/decorative" val="1"/>
              </a:ext>
            </a:extLst>
          </p:cNvPr>
          <p:cNvSpPr/>
          <p:nvPr/>
        </p:nvSpPr>
        <p:spPr>
          <a:xfrm>
            <a:off x="0" y="0"/>
            <a:ext cx="3792971"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1">
                                            <p:txEl>
                                              <p:pRg st="0" end="0"/>
                                            </p:txEl>
                                          </p:spTgt>
                                        </p:tgtEl>
                                        <p:attrNameLst>
                                          <p:attrName>style.visibility</p:attrName>
                                        </p:attrNameLst>
                                      </p:cBhvr>
                                      <p:to>
                                        <p:strVal val="visible"/>
                                      </p:to>
                                    </p:set>
                                    <p:animEffect transition="in" filter="fade">
                                      <p:cBhvr>
                                        <p:cTn id="13" dur="350"/>
                                        <p:tgtEl>
                                          <p:spTgt spid="11">
                                            <p:txEl>
                                              <p:pRg st="0" end="0"/>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1">
                                            <p:txEl>
                                              <p:pRg st="1" end="1"/>
                                            </p:txEl>
                                          </p:spTgt>
                                        </p:tgtEl>
                                        <p:attrNameLst>
                                          <p:attrName>style.visibility</p:attrName>
                                        </p:attrNameLst>
                                      </p:cBhvr>
                                      <p:to>
                                        <p:strVal val="visible"/>
                                      </p:to>
                                    </p:set>
                                    <p:animEffect transition="in" filter="fade">
                                      <p:cBhvr>
                                        <p:cTn id="18" dur="350"/>
                                        <p:tgtEl>
                                          <p:spTgt spid="11">
                                            <p:txEl>
                                              <p:pRg st="1" end="1"/>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1">
                                            <p:txEl>
                                              <p:pRg st="2" end="2"/>
                                            </p:txEl>
                                          </p:spTgt>
                                        </p:tgtEl>
                                        <p:attrNameLst>
                                          <p:attrName>style.visibility</p:attrName>
                                        </p:attrNameLst>
                                      </p:cBhvr>
                                      <p:to>
                                        <p:strVal val="visible"/>
                                      </p:to>
                                    </p:set>
                                    <p:animEffect transition="in" filter="fade">
                                      <p:cBhvr>
                                        <p:cTn id="23" dur="350"/>
                                        <p:tgtEl>
                                          <p:spTgt spid="11">
                                            <p:txEl>
                                              <p:pRg st="2" end="2"/>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1">
                                            <p:txEl>
                                              <p:pRg st="3" end="3"/>
                                            </p:txEl>
                                          </p:spTgt>
                                        </p:tgtEl>
                                        <p:attrNameLst>
                                          <p:attrName>style.visibility</p:attrName>
                                        </p:attrNameLst>
                                      </p:cBhvr>
                                      <p:to>
                                        <p:strVal val="visible"/>
                                      </p:to>
                                    </p:set>
                                    <p:animEffect transition="in" filter="fade">
                                      <p:cBhvr>
                                        <p:cTn id="28" dur="350"/>
                                        <p:tgtEl>
                                          <p:spTgt spid="11">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wipe(right)">
                                      <p:cBhvr>
                                        <p:cTn id="33" dur="42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420"/>
                                        <p:tgtEl>
                                          <p:spTgt spid="12"/>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wipe(right)">
                                      <p:cBhvr>
                                        <p:cTn id="41" dur="42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build="p"/>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EM for Two Means (Mitchell’s Example, in Numbers) (continued)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17  ·  Semi-Supervised Learning and the EM Algorithm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§17.4  ·  Handout p. 130     </a:t>
            </a:r>
            <a:fld id="{2ECE2F76-CCAE-48AE-B22A-754C471DE47D}" type="slidenum">
              <a:rPr lang="en-GB" sz="1000">
                <a:solidFill>
                  <a:srgbClr val="8795A1"/>
                </a:solidFill>
                <a:latin typeface="Segoe UI"/>
              </a:rPr>
              <a:t>15</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579258"/>
          </a:xfrm>
          <a:prstGeom prst="roundRect">
            <a:avLst>
              <a:gd name="adj" fmla="val 3545"/>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57925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9" name="body-0" descr="\mu_2 = \frac{0.001(1) + 0.011(2) + 0.182(3) + 7 + 8 + 9}{0.001 + 0.011 + 0.182 + 3} = \frac{24.570}{3.194} = \mathbf{7.693}"/>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42416" y="2011679"/>
            <a:ext cx="10234879" cy="560618"/>
          </a:xfrm>
          <a:prstGeom prst="rect">
            <a:avLst/>
          </a:prstGeom>
        </p:spPr>
      </p:pic>
      <p:sp>
        <p:nvSpPr>
          <p:cNvPr id="10" name="body-1"/>
          <p:cNvSpPr txBox="1"/>
          <p:nvPr/>
        </p:nvSpPr>
        <p:spPr>
          <a:xfrm>
            <a:off x="1042416" y="2705013"/>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Note that </a:t>
            </a:r>
            <a:r>
              <a:rPr sz="1900" b="0" i="1">
                <a:solidFill>
                  <a:srgbClr val="1C252B"/>
                </a:solidFill>
                <a:latin typeface="Cambria"/>
              </a:rPr>
              <a:t>x</a:t>
            </a:r>
            <a:r>
              <a:rPr sz="1900" b="0" i="0">
                <a:solidFill>
                  <a:srgbClr val="1C252B"/>
                </a:solidFill>
                <a:latin typeface="Cambria"/>
              </a:rPr>
              <a:t> = 3</a:t>
            </a:r>
            <a:r>
              <a:rPr sz="1900" b="0" i="0">
                <a:solidFill>
                  <a:srgbClr val="1C252B"/>
                </a:solidFill>
                <a:latin typeface="Segoe UI"/>
              </a:rPr>
              <a:t> contributes 18% of itself to component 2: a </a:t>
            </a:r>
            <a:r>
              <a:rPr sz="1900" b="0" i="1">
                <a:solidFill>
                  <a:srgbClr val="1C252B"/>
                </a:solidFill>
                <a:latin typeface="Segoe UI"/>
              </a:rPr>
              <a:t>soft</a:t>
            </a:r>
            <a:r>
              <a:rPr sz="1900" b="0" i="0">
                <a:solidFill>
                  <a:srgbClr val="1C252B"/>
                </a:solidFill>
                <a:latin typeface="Segoe UI"/>
              </a:rPr>
              <a:t> assignment.</a:t>
            </a:r>
          </a:p>
        </p:txBody>
      </p:sp>
      <p:sp>
        <p:nvSpPr>
          <p:cNvPr id="11" name="body-2"/>
          <p:cNvSpPr txBox="1"/>
          <p:nvPr/>
        </p:nvSpPr>
        <p:spPr>
          <a:xfrm>
            <a:off x="1042416" y="3138871"/>
            <a:ext cx="10234879" cy="949147"/>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Iteration 2</a:t>
            </a:r>
            <a:r>
              <a:rPr sz="1900" b="0" i="0">
                <a:solidFill>
                  <a:srgbClr val="1C252B"/>
                </a:solidFill>
                <a:latin typeface="Segoe UI"/>
              </a:rPr>
              <a:t> moves the means to </a:t>
            </a:r>
            <a:r>
              <a:rPr sz="1900" b="0" i="0">
                <a:solidFill>
                  <a:srgbClr val="1C252B"/>
                </a:solidFill>
                <a:latin typeface="Cambria"/>
              </a:rPr>
              <a:t>2.000</a:t>
            </a:r>
            <a:r>
              <a:rPr sz="1900" b="0" i="0">
                <a:solidFill>
                  <a:srgbClr val="1C252B"/>
                </a:solidFill>
                <a:latin typeface="Segoe UI"/>
              </a:rPr>
              <a:t> and </a:t>
            </a:r>
            <a:r>
              <a:rPr sz="1900" b="0" i="0">
                <a:solidFill>
                  <a:srgbClr val="1C252B"/>
                </a:solidFill>
                <a:latin typeface="Cambria"/>
              </a:rPr>
              <a:t>8.000</a:t>
            </a:r>
            <a:r>
              <a:rPr sz="1900" b="0" i="0">
                <a:solidFill>
                  <a:srgbClr val="1C252B"/>
                </a:solidFill>
                <a:latin typeface="Segoe UI"/>
              </a:rPr>
              <a:t>, after which nothing changes. The log-likelihood of the data rises from </a:t>
            </a:r>
            <a:r>
              <a:rPr sz="1900" b="0" i="0">
                <a:solidFill>
                  <a:srgbClr val="1C252B"/>
                </a:solidFill>
                <a:latin typeface="Cambria"/>
              </a:rPr>
              <a:t>−24.96</a:t>
            </a:r>
            <a:r>
              <a:rPr sz="1900" b="0" i="0">
                <a:solidFill>
                  <a:srgbClr val="1C252B"/>
                </a:solidFill>
                <a:latin typeface="Segoe UI"/>
              </a:rPr>
              <a:t> at the starting means to </a:t>
            </a:r>
            <a:r>
              <a:rPr sz="1900" b="0" i="0">
                <a:solidFill>
                  <a:srgbClr val="1C252B"/>
                </a:solidFill>
                <a:latin typeface="Cambria"/>
              </a:rPr>
              <a:t>−11.82</a:t>
            </a:r>
            <a:r>
              <a:rPr sz="1900" b="0" i="0">
                <a:solidFill>
                  <a:srgbClr val="1C252B"/>
                </a:solidFill>
                <a:latin typeface="Segoe UI"/>
              </a:rPr>
              <a:t> after one iteration and </a:t>
            </a:r>
            <a:r>
              <a:rPr sz="1900" b="0" i="0">
                <a:solidFill>
                  <a:srgbClr val="1C252B"/>
                </a:solidFill>
                <a:latin typeface="Cambria"/>
              </a:rPr>
              <a:t>−11.67</a:t>
            </a:r>
            <a:r>
              <a:rPr sz="1900" b="0" i="0">
                <a:solidFill>
                  <a:srgbClr val="1C252B"/>
                </a:solidFill>
                <a:latin typeface="Segoe UI"/>
              </a:rPr>
              <a:t> at convergence. EM has found the two groups {1, 2, 3} and {7, 8, 9}.</a:t>
            </a:r>
          </a:p>
        </p:txBody>
      </p:sp>
      <p:sp>
        <p:nvSpPr>
          <p:cNvPr id="12" name="body-2bar">
            <a:extLst>
              <a:ext uri="{C183D7F6-B498-43B3-948B-1728B52AA6E4}">
                <adec:decorative xmlns:adec="http://schemas.microsoft.com/office/drawing/2017/decorative" val="1"/>
              </a:ext>
            </a:extLst>
          </p:cNvPr>
          <p:cNvSpPr/>
          <p:nvPr/>
        </p:nvSpPr>
        <p:spPr>
          <a:xfrm>
            <a:off x="841248" y="3157159"/>
            <a:ext cx="54864" cy="885139"/>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pfill">
            <a:extLst>
              <a:ext uri="{C183D7F6-B498-43B3-948B-1728B52AA6E4}">
                <adec:decorative xmlns:adec="http://schemas.microsoft.com/office/drawing/2017/decorative" val="1"/>
              </a:ext>
            </a:extLst>
          </p:cNvPr>
          <p:cNvSpPr/>
          <p:nvPr/>
        </p:nvSpPr>
        <p:spPr>
          <a:xfrm>
            <a:off x="0" y="0"/>
            <a:ext cx="4063898"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wipe(right)">
                                      <p:cBhvr>
                                        <p:cTn id="8" dur="420"/>
                                        <p:tgtEl>
                                          <p:spTgt spid="9"/>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wipe(right)">
                                      <p:cBhvr>
                                        <p:cTn id="13" dur="420"/>
                                        <p:tgtEl>
                                          <p:spTgt spid="10"/>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wipe(right)">
                                      <p:cBhvr>
                                        <p:cTn id="18" dur="420"/>
                                        <p:tgtEl>
                                          <p:spTgt spid="12"/>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42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EM on the worked example</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7A3A95"/>
                </a:solidFill>
                <a:latin typeface="Segoe UI"/>
              </a:rPr>
              <a:t>FIGURE 17.2</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17  ·  Semi-Supervised Learning and the EM Algorithm</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§17.4  ·  Handout p. 130     </a:t>
            </a:r>
            <a:fld id="{68223A66-39A5-4619-B840-9AFE5EA3452F}" type="slidenum">
              <a:rPr lang="en-GB" sz="1000">
                <a:solidFill>
                  <a:srgbClr val="8795A1"/>
                </a:solidFill>
                <a:latin typeface="Segoe UI"/>
              </a:rPr>
              <a:t>16</a:t>
            </a:fld>
          </a:p>
        </p:txBody>
      </p:sp>
      <p:pic>
        <p:nvPicPr>
          <p:cNvPr id="6" name="!!figure" descr="Figure 17.2. EM on the worked example. Each point is coloured by its responsibilities; x = 3 starts out shared between the components. Two iterations move the second Gaussian onto the group it explains."/>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4957" y="1737360"/>
            <a:ext cx="10121780" cy="3740505"/>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Each point is coloured by its responsibilities; x = 3 starts out shared between the components. Two iterations move the second Gaussian onto the group it explains.</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4334824"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k-Means Is EM With Hard Assignments</a:t>
            </a:r>
          </a:p>
        </p:txBody>
      </p:sp>
      <p:pic>
        <p:nvPicPr>
          <p:cNvPr id="3" name="!!kicker-icon" descr="lightbulb-2E86C1.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52915"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E86C1"/>
                </a:solidFill>
                <a:latin typeface="Segoe UI"/>
              </a:rPr>
              <a:t>CONCEPT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17  ·  Semi-Supervised Learning and the EM Algorithm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§17.4  ·  Handout p. 130     </a:t>
            </a:r>
            <a:fld id="{1480399C-2313-4F71-9A70-78CE6006C9C5}" type="slidenum">
              <a:rPr lang="en-GB" sz="1000">
                <a:solidFill>
                  <a:srgbClr val="8795A1"/>
                </a:solidFill>
                <a:latin typeface="Segoe UI"/>
              </a:rPr>
              <a:t>17</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809036"/>
          </a:xfrm>
          <a:prstGeom prst="roundRect">
            <a:avLst>
              <a:gd name="adj" fmla="val 3255"/>
            </a:avLst>
          </a:prstGeom>
          <a:solidFill>
            <a:srgbClr val="EBF5FB"/>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809036"/>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2232964"/>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Replace the E-step’s probabilities by a hard choice — responsibility 1 for the nearest mean, 0 for the others — and the M-step becomes “each mean is the average of its assigned points”. That is exactly </a:t>
            </a:r>
            <a:r>
              <a:rPr sz="2300" b="0" i="1">
                <a:solidFill>
                  <a:srgbClr val="1C252B"/>
                </a:solidFill>
                <a:latin typeface="Cambria"/>
              </a:rPr>
              <a:t>k</a:t>
            </a:r>
            <a:r>
              <a:rPr sz="2300" b="0" i="0">
                <a:solidFill>
                  <a:srgbClr val="1C252B"/>
                </a:solidFill>
                <a:latin typeface="Segoe UI"/>
              </a:rPr>
              <a:t>-means (Chapter 15). EM for Gaussian mixtures is the soft, probabilistic generalisation: clusters may overlap, may have different sizes and elongated shapes (through </a:t>
            </a:r>
            <a:r>
              <a:rPr sz="2300" b="0" i="0">
                <a:solidFill>
                  <a:srgbClr val="1C252B"/>
                </a:solidFill>
                <a:latin typeface="Cambria"/>
              </a:rPr>
              <a:t>Σ</a:t>
            </a:r>
            <a:r>
              <a:rPr sz="2300" b="0" i="1" baseline="-25000">
                <a:solidFill>
                  <a:srgbClr val="1C252B"/>
                </a:solidFill>
                <a:latin typeface="Cambria"/>
              </a:rPr>
              <a:t>j</a:t>
            </a:r>
            <a:r>
              <a:rPr sz="2300" b="0" i="0">
                <a:solidFill>
                  <a:srgbClr val="1C252B"/>
                </a:solidFill>
                <a:latin typeface="Segoe UI"/>
              </a:rPr>
              <a:t>), and each example gets a probability of membership instead of a verdict.</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4605751"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EM Algorithm</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7A3A95"/>
                </a:solidFill>
                <a:latin typeface="Segoe UI"/>
              </a:rPr>
              <a:t>FIGURE 17.3</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17  ·  Semi-Supervised Learning and the EM Algorithm</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§17.4  ·  Handout p. 130     </a:t>
            </a:r>
            <a:fld id="{7FCB129D-2E17-4E26-AC33-2402381687C3}" type="slidenum">
              <a:rPr lang="en-GB" sz="1000">
                <a:solidFill>
                  <a:srgbClr val="8795A1"/>
                </a:solidFill>
                <a:latin typeface="Segoe UI"/>
              </a:rPr>
              <a:t>18</a:t>
            </a:fld>
          </a:p>
        </p:txBody>
      </p:sp>
      <p:pic>
        <p:nvPicPr>
          <p:cNvPr id="6" name="!!figure" descr="Figure 17.3. The EM loop. Whenever a model would be easy to fit if some variable were observed, EM fills that variable in with probabilities and fits as if it were observed."/>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938205"/>
            <a:ext cx="10874959" cy="2592819"/>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The EM loop. Whenever a model would be easy to fit if some variable were observed, EM fills that variable in with probabilities and fits as if it were observed.</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4876678"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EM With Labelled and Unlabelled Data</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D7C4DF"/>
                </a:solidFill>
                <a:latin typeface="Segoe UI"/>
              </a:rPr>
              <a:t>SECTION 5 OF 5</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17.5</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17.1   Few Labels, Many Examples</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17.2   Self-Training</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17.3   Mixture Models and Hidden Variables</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17.4   The EM Algorithm</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7A3A95"/>
                </a:solidFill>
                <a:latin typeface="Segoe UI"/>
              </a:rPr>
              <a:t>17.5   EM With Labelled and Unlabelled Data</a:t>
            </a:r>
          </a:p>
        </p:txBody>
      </p:sp>
      <p:sp>
        <p:nvSpPr>
          <p:cNvPr id="11"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17</a:t>
            </a:r>
          </a:p>
        </p:txBody>
      </p:sp>
      <p:sp>
        <p:nvSpPr>
          <p:cNvPr id="12"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§17.5     </a:t>
            </a:r>
            <a:fld id="{35FC5166-3AA2-45BE-91F3-262F3F990CC9}" type="slidenum">
              <a:rPr lang="en-GB" sz="1000">
                <a:solidFill>
                  <a:srgbClr val="8795A1"/>
                </a:solidFill>
                <a:latin typeface="Segoe UI"/>
              </a:rPr>
              <a:t>19</a:t>
            </a:fld>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5147604"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EM With Labelled and Unlabelled Data</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BRIEF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17  ·  Semi-Supervised Learning and the EM Algorithm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§17.5  ·  Handout p. 131     </a:t>
            </a:r>
            <a:fld id="{8B2DB8E8-8245-45FD-8AB3-1CBC9A10B57B}" type="slidenum">
              <a:rPr lang="en-GB" sz="1000">
                <a:solidFill>
                  <a:srgbClr val="8795A1"/>
                </a:solidFill>
                <a:latin typeface="Segoe UI"/>
              </a:rPr>
              <a:t>20</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515104"/>
          </a:xfrm>
          <a:prstGeom prst="roundRect">
            <a:avLst>
              <a:gd name="adj" fmla="val 2025"/>
            </a:avLst>
          </a:prstGeom>
          <a:solidFill>
            <a:srgbClr val="F2F6F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51510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996696"/>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This is the method the HEC outline names. Nigam, McCallum, Thrun and Mitchell (2000) used it to classify web pages and news articles from a handful of labelled documents and thousands of unlabelled ones. The recipe:</a:t>
            </a:r>
          </a:p>
        </p:txBody>
      </p:sp>
      <p:sp>
        <p:nvSpPr>
          <p:cNvPr id="10" name="body-1"/>
          <p:cNvSpPr txBox="1"/>
          <p:nvPr/>
        </p:nvSpPr>
        <p:spPr>
          <a:xfrm>
            <a:off x="1060704" y="3138931"/>
            <a:ext cx="10161727" cy="2848356"/>
          </a:xfrm>
          <a:prstGeom prst="rect">
            <a:avLst/>
          </a:prstGeom>
          <a:noFill/>
        </p:spPr>
        <p:txBody>
          <a:bodyPr wrap="square" anchor="t" lIns="0" rIns="0" tIns="0" bIns="0">
            <a:noAutofit/>
          </a:bodyPr>
          <a:lstStyle/>
          <a:p>
            <a:pPr algn="l" marL="482452" indent="-482452">
              <a:lnSpc>
                <a:spcPct val="104000"/>
              </a:lnSpc>
              <a:spcBef>
                <a:spcPts val="0"/>
              </a:spcBef>
              <a:spcAft>
                <a:spcPts val="700"/>
              </a:spcAft>
            </a:pPr>
            <a:r>
              <a:rPr sz="2000" b="1">
                <a:solidFill>
                  <a:srgbClr val="1A5276"/>
                </a:solidFill>
                <a:latin typeface="Segoe UI"/>
              </a:rPr>
              <a:t>1.	</a:t>
            </a:r>
            <a:r>
              <a:rPr sz="2000" b="0" i="0">
                <a:solidFill>
                  <a:srgbClr val="1C252B"/>
                </a:solidFill>
                <a:latin typeface="Segoe UI"/>
              </a:rPr>
              <a:t>Fit the model — naive Bayes for text, or a Gaussian per class — on the labelled examples alone.</a:t>
            </a:r>
          </a:p>
          <a:p>
            <a:pPr algn="l" marL="482452" indent="-482452">
              <a:lnSpc>
                <a:spcPct val="104000"/>
              </a:lnSpc>
              <a:spcBef>
                <a:spcPts val="0"/>
              </a:spcBef>
              <a:spcAft>
                <a:spcPts val="700"/>
              </a:spcAft>
            </a:pPr>
            <a:r>
              <a:rPr sz="2000" b="1">
                <a:solidFill>
                  <a:srgbClr val="1A5276"/>
                </a:solidFill>
                <a:latin typeface="Segoe UI"/>
              </a:rPr>
              <a:t>2.	</a:t>
            </a:r>
            <a:r>
              <a:rPr sz="2000" b="1" i="0">
                <a:solidFill>
                  <a:srgbClr val="1A5276"/>
                </a:solidFill>
                <a:latin typeface="Segoe UI"/>
              </a:rPr>
              <a:t>E-step:</a:t>
            </a:r>
            <a:r>
              <a:rPr sz="2000" b="0" i="0">
                <a:solidFill>
                  <a:srgbClr val="1C252B"/>
                </a:solidFill>
                <a:latin typeface="Segoe UI"/>
              </a:rPr>
              <a:t> give each </a:t>
            </a:r>
            <a:r>
              <a:rPr sz="2000" b="0" i="1">
                <a:solidFill>
                  <a:srgbClr val="1C252B"/>
                </a:solidFill>
                <a:latin typeface="Segoe UI"/>
              </a:rPr>
              <a:t>unlabelled</a:t>
            </a:r>
            <a:r>
              <a:rPr sz="2000" b="0" i="0">
                <a:solidFill>
                  <a:srgbClr val="1C252B"/>
                </a:solidFill>
                <a:latin typeface="Segoe UI"/>
              </a:rPr>
              <a:t> example a probability for each class from the current model. Labelled examples keep their known labels (responsibility 1 for their class, 0 for the others).</a:t>
            </a:r>
          </a:p>
          <a:p>
            <a:pPr algn="l" marL="482452" indent="-482452">
              <a:lnSpc>
                <a:spcPct val="104000"/>
              </a:lnSpc>
              <a:spcBef>
                <a:spcPts val="0"/>
              </a:spcBef>
              <a:spcAft>
                <a:spcPts val="700"/>
              </a:spcAft>
            </a:pPr>
            <a:r>
              <a:rPr sz="2000" b="1">
                <a:solidFill>
                  <a:srgbClr val="1A5276"/>
                </a:solidFill>
                <a:latin typeface="Segoe UI"/>
              </a:rPr>
              <a:t>3.	</a:t>
            </a:r>
            <a:r>
              <a:rPr sz="2000" b="1" i="0">
                <a:solidFill>
                  <a:srgbClr val="1A5276"/>
                </a:solidFill>
                <a:latin typeface="Segoe UI"/>
              </a:rPr>
              <a:t>M-step:</a:t>
            </a:r>
            <a:r>
              <a:rPr sz="2000" b="0" i="0">
                <a:solidFill>
                  <a:srgbClr val="1C252B"/>
                </a:solidFill>
                <a:latin typeface="Segoe UI"/>
              </a:rPr>
              <a:t> refit the model on all examples, labelled ones counting in full and unlabelled ones fractionally, by their responsibilities.</a:t>
            </a:r>
          </a:p>
          <a:p>
            <a:pPr algn="l" marL="482452" indent="-482452">
              <a:lnSpc>
                <a:spcPct val="104000"/>
              </a:lnSpc>
              <a:spcBef>
                <a:spcPts val="0"/>
              </a:spcBef>
              <a:spcAft>
                <a:spcPts val="0"/>
              </a:spcAft>
            </a:pPr>
            <a:r>
              <a:rPr sz="2000" b="1">
                <a:solidFill>
                  <a:srgbClr val="1A5276"/>
                </a:solidFill>
                <a:latin typeface="Segoe UI"/>
              </a:rPr>
              <a:t>4.	</a:t>
            </a:r>
            <a:r>
              <a:rPr sz="2000" b="0" i="0">
                <a:solidFill>
                  <a:srgbClr val="1C252B"/>
                </a:solidFill>
                <a:latin typeface="Segoe UI"/>
              </a:rPr>
              <a:t>Repeat until the parameters settle.</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5418531"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10">
                                            <p:txEl>
                                              <p:pRg st="0" end="0"/>
                                            </p:txEl>
                                          </p:spTgt>
                                        </p:tgtEl>
                                        <p:attrNameLst>
                                          <p:attrName>style.visibility</p:attrName>
                                        </p:attrNameLst>
                                      </p:cBhvr>
                                      <p:to>
                                        <p:strVal val="visible"/>
                                      </p:to>
                                    </p:set>
                                    <p:animEffect transition="in" filter="fade">
                                      <p:cBhvr>
                                        <p:cTn id="8" dur="380"/>
                                        <p:tgtEl>
                                          <p:spTgt spid="10">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0">
                                            <p:txEl>
                                              <p:pRg st="1" end="1"/>
                                            </p:txEl>
                                          </p:spTgt>
                                        </p:tgtEl>
                                        <p:attrNameLst>
                                          <p:attrName>style.visibility</p:attrName>
                                        </p:attrNameLst>
                                      </p:cBhvr>
                                      <p:to>
                                        <p:strVal val="visible"/>
                                      </p:to>
                                    </p:set>
                                    <p:animEffect transition="in" filter="fade">
                                      <p:cBhvr>
                                        <p:cTn id="13" dur="380"/>
                                        <p:tgtEl>
                                          <p:spTgt spid="10">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0">
                                            <p:txEl>
                                              <p:pRg st="2" end="2"/>
                                            </p:txEl>
                                          </p:spTgt>
                                        </p:tgtEl>
                                        <p:attrNameLst>
                                          <p:attrName>style.visibility</p:attrName>
                                        </p:attrNameLst>
                                      </p:cBhvr>
                                      <p:to>
                                        <p:strVal val="visible"/>
                                      </p:to>
                                    </p:set>
                                    <p:animEffect transition="in" filter="fade">
                                      <p:cBhvr>
                                        <p:cTn id="18" dur="380"/>
                                        <p:tgtEl>
                                          <p:spTgt spid="10">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0">
                                            <p:txEl>
                                              <p:pRg st="3" end="3"/>
                                            </p:txEl>
                                          </p:spTgt>
                                        </p:tgtEl>
                                        <p:attrNameLst>
                                          <p:attrName>style.visibility</p:attrName>
                                        </p:attrNameLst>
                                      </p:cBhvr>
                                      <p:to>
                                        <p:strVal val="visible"/>
                                      </p:to>
                                    </p:set>
                                    <p:animEffect transition="in" filter="fade">
                                      <p:cBhvr>
                                        <p:cTn id="23" dur="380"/>
                                        <p:tgtEl>
                                          <p:spTgt spid="10">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Two Labels and Four Unlabelled Points</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17  ·  Semi-Supervised Learning and the EM Algorithm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§17.5  ·  Handout p. 131     </a:t>
            </a:r>
            <a:fld id="{8F509CAC-E50C-4B41-BBBB-97932E7D0BB1}" type="slidenum">
              <a:rPr lang="en-GB" sz="1000">
                <a:solidFill>
                  <a:srgbClr val="8795A1"/>
                </a:solidFill>
                <a:latin typeface="Segoe UI"/>
              </a:rPr>
              <a:t>21</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463796"/>
          </a:xfrm>
          <a:prstGeom prst="roundRect">
            <a:avLst>
              <a:gd name="adj" fmla="val 2048"/>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463796"/>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71140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The six values of the previous example, but now </a:t>
            </a:r>
            <a:r>
              <a:rPr sz="2100" b="0" i="1">
                <a:solidFill>
                  <a:srgbClr val="1C252B"/>
                </a:solidFill>
                <a:latin typeface="Cambria"/>
              </a:rPr>
              <a:t>x</a:t>
            </a:r>
            <a:r>
              <a:rPr sz="2100" b="0" i="0">
                <a:solidFill>
                  <a:srgbClr val="1C252B"/>
                </a:solidFill>
                <a:latin typeface="Cambria"/>
              </a:rPr>
              <a:t> = 3</a:t>
            </a:r>
            <a:r>
              <a:rPr sz="2100" b="0" i="0">
                <a:solidFill>
                  <a:srgbClr val="1C252B"/>
                </a:solidFill>
                <a:latin typeface="Segoe UI"/>
              </a:rPr>
              <a:t> is labelled class A and </a:t>
            </a:r>
            <a:r>
              <a:rPr sz="2100" b="0" i="1">
                <a:solidFill>
                  <a:srgbClr val="1C252B"/>
                </a:solidFill>
                <a:latin typeface="Cambria"/>
              </a:rPr>
              <a:t>x</a:t>
            </a:r>
            <a:r>
              <a:rPr sz="2100" b="0" i="0">
                <a:solidFill>
                  <a:srgbClr val="1C252B"/>
                </a:solidFill>
                <a:latin typeface="Cambria"/>
              </a:rPr>
              <a:t> = 7</a:t>
            </a:r>
            <a:r>
              <a:rPr sz="2100" b="0" i="0">
                <a:solidFill>
                  <a:srgbClr val="1C252B"/>
                </a:solidFill>
                <a:latin typeface="Segoe UI"/>
              </a:rPr>
              <a:t> class B; the rest are unlabelled.</a:t>
            </a:r>
          </a:p>
        </p:txBody>
      </p:sp>
      <p:sp>
        <p:nvSpPr>
          <p:cNvPr id="10" name="body-1"/>
          <p:cNvSpPr txBox="1"/>
          <p:nvPr/>
        </p:nvSpPr>
        <p:spPr>
          <a:xfrm>
            <a:off x="1042416" y="2824048"/>
            <a:ext cx="10234879" cy="378561"/>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D6608"/>
                </a:solidFill>
                <a:latin typeface="Segoe UI"/>
              </a:rPr>
              <a:t>Labelled data alone</a:t>
            </a:r>
            <a:r>
              <a:rPr sz="2100" b="0" i="0">
                <a:solidFill>
                  <a:srgbClr val="1C252B"/>
                </a:solidFill>
                <a:latin typeface="Segoe UI"/>
              </a:rPr>
              <a:t> gives </a:t>
            </a:r>
            <a:r>
              <a:rPr sz="2100" b="0" i="0">
                <a:solidFill>
                  <a:srgbClr val="1C252B"/>
                </a:solidFill>
                <a:latin typeface="Cambria"/>
              </a:rPr>
              <a:t>μ</a:t>
            </a:r>
            <a:r>
              <a:rPr sz="2100" b="0" i="1" baseline="-25000">
                <a:solidFill>
                  <a:srgbClr val="1C252B"/>
                </a:solidFill>
                <a:latin typeface="Cambria"/>
              </a:rPr>
              <a:t>A</a:t>
            </a:r>
            <a:r>
              <a:rPr sz="2100" b="0" i="0">
                <a:solidFill>
                  <a:srgbClr val="1C252B"/>
                </a:solidFill>
                <a:latin typeface="Cambria"/>
              </a:rPr>
              <a:t> = 3</a:t>
            </a:r>
            <a:r>
              <a:rPr sz="2100" b="0" i="0">
                <a:solidFill>
                  <a:srgbClr val="1C252B"/>
                </a:solidFill>
                <a:latin typeface="Segoe UI"/>
              </a:rPr>
              <a:t>, </a:t>
            </a:r>
            <a:r>
              <a:rPr sz="2100" b="0" i="0">
                <a:solidFill>
                  <a:srgbClr val="1C252B"/>
                </a:solidFill>
                <a:latin typeface="Cambria"/>
              </a:rPr>
              <a:t>μ</a:t>
            </a:r>
            <a:r>
              <a:rPr sz="2100" b="0" i="1" baseline="-25000">
                <a:solidFill>
                  <a:srgbClr val="1C252B"/>
                </a:solidFill>
                <a:latin typeface="Cambria"/>
              </a:rPr>
              <a:t>B</a:t>
            </a:r>
            <a:r>
              <a:rPr sz="2100" b="0" i="0">
                <a:solidFill>
                  <a:srgbClr val="1C252B"/>
                </a:solidFill>
                <a:latin typeface="Cambria"/>
              </a:rPr>
              <a:t> = 7</a:t>
            </a:r>
            <a:r>
              <a:rPr sz="2100" b="0" i="0">
                <a:solidFill>
                  <a:srgbClr val="1C252B"/>
                </a:solidFill>
                <a:latin typeface="Segoe UI"/>
              </a:rPr>
              <a:t>, and a boundary at 5.</a:t>
            </a:r>
          </a:p>
        </p:txBody>
      </p:sp>
      <p:sp>
        <p:nvSpPr>
          <p:cNvPr id="11" name="body-2"/>
          <p:cNvSpPr txBox="1"/>
          <p:nvPr/>
        </p:nvSpPr>
        <p:spPr>
          <a:xfrm>
            <a:off x="1042416" y="3303574"/>
            <a:ext cx="10234879" cy="71140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D6608"/>
                </a:solidFill>
                <a:latin typeface="Segoe UI"/>
              </a:rPr>
              <a:t>E-step.</a:t>
            </a:r>
            <a:r>
              <a:rPr sz="2100" b="0" i="0">
                <a:solidFill>
                  <a:srgbClr val="1C252B"/>
                </a:solidFill>
                <a:latin typeface="Segoe UI"/>
              </a:rPr>
              <a:t> </a:t>
            </a:r>
            <a:r>
              <a:rPr sz="2100" b="0" i="1">
                <a:solidFill>
                  <a:srgbClr val="1C252B"/>
                </a:solidFill>
                <a:latin typeface="Cambria"/>
              </a:rPr>
              <a:t>x</a:t>
            </a:r>
            <a:r>
              <a:rPr sz="2100" b="0" i="0">
                <a:solidFill>
                  <a:srgbClr val="1C252B"/>
                </a:solidFill>
                <a:latin typeface="Cambria"/>
              </a:rPr>
              <a:t> = 1</a:t>
            </a:r>
            <a:r>
              <a:rPr sz="2100" b="0" i="0">
                <a:solidFill>
                  <a:srgbClr val="1C252B"/>
                </a:solidFill>
                <a:latin typeface="Segoe UI"/>
              </a:rPr>
              <a:t> and </a:t>
            </a:r>
            <a:r>
              <a:rPr sz="2100" b="0" i="1">
                <a:solidFill>
                  <a:srgbClr val="1C252B"/>
                </a:solidFill>
                <a:latin typeface="Cambria"/>
              </a:rPr>
              <a:t>x</a:t>
            </a:r>
            <a:r>
              <a:rPr sz="2100" b="0" i="0">
                <a:solidFill>
                  <a:srgbClr val="1C252B"/>
                </a:solidFill>
                <a:latin typeface="Cambria"/>
              </a:rPr>
              <a:t> = 2</a:t>
            </a:r>
            <a:r>
              <a:rPr sz="2100" b="0" i="0">
                <a:solidFill>
                  <a:srgbClr val="1C252B"/>
                </a:solidFill>
                <a:latin typeface="Segoe UI"/>
              </a:rPr>
              <a:t> are far likelier under A, and </a:t>
            </a:r>
            <a:r>
              <a:rPr sz="2100" b="0" i="1">
                <a:solidFill>
                  <a:srgbClr val="1C252B"/>
                </a:solidFill>
                <a:latin typeface="Cambria"/>
              </a:rPr>
              <a:t>x</a:t>
            </a:r>
            <a:r>
              <a:rPr sz="2100" b="0" i="0">
                <a:solidFill>
                  <a:srgbClr val="1C252B"/>
                </a:solidFill>
                <a:latin typeface="Cambria"/>
              </a:rPr>
              <a:t> = 8</a:t>
            </a:r>
            <a:r>
              <a:rPr sz="2100" b="0" i="0">
                <a:solidFill>
                  <a:srgbClr val="1C252B"/>
                </a:solidFill>
                <a:latin typeface="Segoe UI"/>
              </a:rPr>
              <a:t> and </a:t>
            </a:r>
            <a:r>
              <a:rPr sz="2100" b="0" i="1">
                <a:solidFill>
                  <a:srgbClr val="1C252B"/>
                </a:solidFill>
                <a:latin typeface="Cambria"/>
              </a:rPr>
              <a:t>x</a:t>
            </a:r>
            <a:r>
              <a:rPr sz="2100" b="0" i="0">
                <a:solidFill>
                  <a:srgbClr val="1C252B"/>
                </a:solidFill>
                <a:latin typeface="Cambria"/>
              </a:rPr>
              <a:t> = 9</a:t>
            </a:r>
            <a:r>
              <a:rPr sz="2100" b="0" i="0">
                <a:solidFill>
                  <a:srgbClr val="1C252B"/>
                </a:solidFill>
                <a:latin typeface="Segoe UI"/>
              </a:rPr>
              <a:t> under B; </a:t>
            </a:r>
            <a:r>
              <a:rPr sz="2100" b="0" i="1">
                <a:solidFill>
                  <a:srgbClr val="1C252B"/>
                </a:solidFill>
                <a:latin typeface="Cambria"/>
              </a:rPr>
              <a:t>x</a:t>
            </a:r>
            <a:r>
              <a:rPr sz="2100" b="0" i="0">
                <a:solidFill>
                  <a:srgbClr val="1C252B"/>
                </a:solidFill>
                <a:latin typeface="Cambria"/>
              </a:rPr>
              <a:t> = 3</a:t>
            </a:r>
            <a:r>
              <a:rPr sz="2100" b="0" i="0">
                <a:solidFill>
                  <a:srgbClr val="1C252B"/>
                </a:solidFill>
                <a:latin typeface="Segoe UI"/>
              </a:rPr>
              <a:t> and </a:t>
            </a:r>
            <a:r>
              <a:rPr sz="2100" b="0" i="1">
                <a:solidFill>
                  <a:srgbClr val="1C252B"/>
                </a:solidFill>
                <a:latin typeface="Cambria"/>
              </a:rPr>
              <a:t>x</a:t>
            </a:r>
            <a:r>
              <a:rPr sz="2100" b="0" i="0">
                <a:solidFill>
                  <a:srgbClr val="1C252B"/>
                </a:solidFill>
                <a:latin typeface="Cambria"/>
              </a:rPr>
              <a:t> = 7</a:t>
            </a:r>
            <a:r>
              <a:rPr sz="2100" b="0" i="0">
                <a:solidFill>
                  <a:srgbClr val="1C252B"/>
                </a:solidFill>
                <a:latin typeface="Segoe UI"/>
              </a:rPr>
              <a:t> are clamped to their labels.</a:t>
            </a:r>
          </a:p>
        </p:txBody>
      </p:sp>
      <p:sp>
        <p:nvSpPr>
          <p:cNvPr id="12" name="body-3"/>
          <p:cNvSpPr txBox="1"/>
          <p:nvPr/>
        </p:nvSpPr>
        <p:spPr>
          <a:xfrm>
            <a:off x="1042416" y="4115943"/>
            <a:ext cx="10234879" cy="71140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D6608"/>
                </a:solidFill>
                <a:latin typeface="Segoe UI"/>
              </a:rPr>
              <a:t>M-step.</a:t>
            </a:r>
            <a:r>
              <a:rPr sz="2100" b="0" i="0">
                <a:solidFill>
                  <a:srgbClr val="1C252B"/>
                </a:solidFill>
                <a:latin typeface="Segoe UI"/>
              </a:rPr>
              <a:t> </a:t>
            </a:r>
            <a:r>
              <a:rPr sz="2100" b="0" i="0">
                <a:solidFill>
                  <a:srgbClr val="1C252B"/>
                </a:solidFill>
                <a:latin typeface="Cambria"/>
              </a:rPr>
              <a:t>μ</a:t>
            </a:r>
            <a:r>
              <a:rPr sz="2100" b="0" i="1" baseline="-25000">
                <a:solidFill>
                  <a:srgbClr val="1C252B"/>
                </a:solidFill>
                <a:latin typeface="Cambria"/>
              </a:rPr>
              <a:t>A</a:t>
            </a:r>
            <a:r>
              <a:rPr sz="2100" b="0" i="0">
                <a:solidFill>
                  <a:srgbClr val="1C252B"/>
                </a:solidFill>
                <a:latin typeface="Cambria"/>
              </a:rPr>
              <a:t> = (1 + 2 + 3)/3 = 2</a:t>
            </a:r>
            <a:r>
              <a:rPr sz="2100" b="0" i="0">
                <a:solidFill>
                  <a:srgbClr val="1C252B"/>
                </a:solidFill>
                <a:latin typeface="Segoe UI"/>
              </a:rPr>
              <a:t> and </a:t>
            </a:r>
            <a:r>
              <a:rPr sz="2100" b="0" i="0">
                <a:solidFill>
                  <a:srgbClr val="1C252B"/>
                </a:solidFill>
                <a:latin typeface="Cambria"/>
              </a:rPr>
              <a:t>μ</a:t>
            </a:r>
            <a:r>
              <a:rPr sz="2100" b="0" i="1" baseline="-25000">
                <a:solidFill>
                  <a:srgbClr val="1C252B"/>
                </a:solidFill>
                <a:latin typeface="Cambria"/>
              </a:rPr>
              <a:t>B</a:t>
            </a:r>
            <a:r>
              <a:rPr sz="2100" b="0" i="0">
                <a:solidFill>
                  <a:srgbClr val="1C252B"/>
                </a:solidFill>
                <a:latin typeface="Cambria"/>
              </a:rPr>
              <a:t> = (7 + 8 + 9)/3 = 8</a:t>
            </a:r>
            <a:r>
              <a:rPr sz="2100" b="0" i="0">
                <a:solidFill>
                  <a:srgbClr val="1C252B"/>
                </a:solidFill>
                <a:latin typeface="Segoe UI"/>
              </a:rPr>
              <a:t>, to within a thousandth. The next iteration changes nothing.</a:t>
            </a:r>
          </a:p>
        </p:txBody>
      </p:sp>
      <p:sp>
        <p:nvSpPr>
          <p:cNvPr id="13" name="body-4"/>
          <p:cNvSpPr txBox="1"/>
          <p:nvPr/>
        </p:nvSpPr>
        <p:spPr>
          <a:xfrm>
            <a:off x="1042416" y="4928311"/>
            <a:ext cx="10234879" cy="1044244"/>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The class means moved from 3 and 7 to </a:t>
            </a:r>
            <a:r>
              <a:rPr sz="2100" b="1" i="0">
                <a:solidFill>
                  <a:srgbClr val="1C252B"/>
                </a:solidFill>
                <a:latin typeface="Segoe UI"/>
              </a:rPr>
              <a:t>2 and 8</a:t>
            </a:r>
            <a:r>
              <a:rPr sz="2100" b="0" i="0">
                <a:solidFill>
                  <a:srgbClr val="1C252B"/>
                </a:solidFill>
                <a:latin typeface="Segoe UI"/>
              </a:rPr>
              <a:t> using points nobody labelled. Here the boundary stays at 5, but it would not if the two groups had different spreads or sizes — and in higher dimensions the direction of the boundary moves too.</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5689457"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wipe(right)">
                                      <p:cBhvr>
                                        <p:cTn id="13" dur="420"/>
                                        <p:tgtEl>
                                          <p:spTgt spid="11"/>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wipe(right)">
                                      <p:cBhvr>
                                        <p:cTn id="18" dur="420"/>
                                        <p:tgtEl>
                                          <p:spTgt spid="12"/>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wipe(right)">
                                      <p:cBhvr>
                                        <p:cTn id="23" dur="42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Common pitfalls</a:t>
            </a:r>
          </a:p>
        </p:txBody>
      </p:sp>
      <p:pic>
        <p:nvPicPr>
          <p:cNvPr id="3" name="!!kicker-icon" descr="exclamation-circ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2672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COMMON PITFALLS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17  ·  Semi-Supervised Learning and the EM Algorithm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§17.5  ·  Handout p. 131     </a:t>
            </a:r>
            <a:fld id="{C080426E-2273-4252-B0EA-F26474BB0560}" type="slidenum">
              <a:rPr lang="en-GB" sz="1000">
                <a:solidFill>
                  <a:srgbClr val="8795A1"/>
                </a:solidFill>
                <a:latin typeface="Segoe UI"/>
              </a:rPr>
              <a:t>22</a:t>
            </a:fld>
          </a:p>
        </p:txBody>
      </p:sp>
      <p:sp>
        <p:nvSpPr>
          <p:cNvPr id="7" name="!!pb0">
            <a:extLst>
              <a:ext uri="{C183D7F6-B498-43B3-948B-1728B52AA6E4}">
                <adec:decorative xmlns:adec="http://schemas.microsoft.com/office/drawing/2017/decorative" val="1"/>
              </a:ext>
            </a:extLst>
          </p:cNvPr>
          <p:cNvSpPr/>
          <p:nvPr/>
        </p:nvSpPr>
        <p:spPr>
          <a:xfrm>
            <a:off x="658368" y="175564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px0"/>
          <p:cNvSpPr txBox="1"/>
          <p:nvPr/>
        </p:nvSpPr>
        <p:spPr>
          <a:xfrm>
            <a:off x="658368" y="1778507"/>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9" name="!!pt0"/>
          <p:cNvSpPr txBox="1"/>
          <p:nvPr/>
        </p:nvSpPr>
        <p:spPr>
          <a:xfrm>
            <a:off x="1261872" y="1737360"/>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Skipping the labelled-only baseline.</a:t>
            </a:r>
            <a:r>
              <a:rPr sz="2100" b="0" i="0">
                <a:solidFill>
                  <a:srgbClr val="1C252B"/>
                </a:solidFill>
                <a:latin typeface="Segoe UI"/>
              </a:rPr>
              <a:t> Unlabelled data can make a model worse; prove that it helped.</a:t>
            </a:r>
          </a:p>
        </p:txBody>
      </p:sp>
      <p:sp>
        <p:nvSpPr>
          <p:cNvPr id="10" name="!!pb1">
            <a:extLst>
              <a:ext uri="{C183D7F6-B498-43B3-948B-1728B52AA6E4}">
                <adec:decorative xmlns:adec="http://schemas.microsoft.com/office/drawing/2017/decorative" val="1"/>
              </a:ext>
            </a:extLst>
          </p:cNvPr>
          <p:cNvSpPr/>
          <p:nvPr/>
        </p:nvSpPr>
        <p:spPr>
          <a:xfrm>
            <a:off x="658368" y="2622499"/>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x1"/>
          <p:cNvSpPr txBox="1"/>
          <p:nvPr/>
        </p:nvSpPr>
        <p:spPr>
          <a:xfrm>
            <a:off x="658368" y="2645359"/>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2" name="!!pt1"/>
          <p:cNvSpPr txBox="1"/>
          <p:nvPr/>
        </p:nvSpPr>
        <p:spPr>
          <a:xfrm>
            <a:off x="1261872" y="2604211"/>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Evaluating on pseudo-labels.</a:t>
            </a:r>
            <a:r>
              <a:rPr sz="2100" b="0" i="0">
                <a:solidFill>
                  <a:srgbClr val="1C252B"/>
                </a:solidFill>
                <a:latin typeface="Segoe UI"/>
              </a:rPr>
              <a:t> Test only on examples with genuine labels, set aside before training.</a:t>
            </a:r>
          </a:p>
        </p:txBody>
      </p:sp>
      <p:sp>
        <p:nvSpPr>
          <p:cNvPr id="13" name="!!pb2">
            <a:extLst>
              <a:ext uri="{C183D7F6-B498-43B3-948B-1728B52AA6E4}">
                <adec:decorative xmlns:adec="http://schemas.microsoft.com/office/drawing/2017/decorative" val="1"/>
              </a:ext>
            </a:extLst>
          </p:cNvPr>
          <p:cNvSpPr/>
          <p:nvPr/>
        </p:nvSpPr>
        <p:spPr>
          <a:xfrm>
            <a:off x="658368" y="3489350"/>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x2"/>
          <p:cNvSpPr txBox="1"/>
          <p:nvPr/>
        </p:nvSpPr>
        <p:spPr>
          <a:xfrm>
            <a:off x="658368" y="3512210"/>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5" name="!!pt2"/>
          <p:cNvSpPr txBox="1"/>
          <p:nvPr/>
        </p:nvSpPr>
        <p:spPr>
          <a:xfrm>
            <a:off x="1261872" y="3471062"/>
            <a:ext cx="10271455" cy="365760"/>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A low self-training threshold.</a:t>
            </a:r>
            <a:r>
              <a:rPr sz="2100" b="0" i="0">
                <a:solidFill>
                  <a:srgbClr val="1C252B"/>
                </a:solidFill>
                <a:latin typeface="Segoe UI"/>
              </a:rPr>
              <a:t> Early mistakes become permanent labels.</a:t>
            </a:r>
          </a:p>
        </p:txBody>
      </p:sp>
      <p:sp>
        <p:nvSpPr>
          <p:cNvPr id="16" name="!!pb3">
            <a:extLst>
              <a:ext uri="{C183D7F6-B498-43B3-948B-1728B52AA6E4}">
                <adec:decorative xmlns:adec="http://schemas.microsoft.com/office/drawing/2017/decorative" val="1"/>
              </a:ext>
            </a:extLst>
          </p:cNvPr>
          <p:cNvSpPr/>
          <p:nvPr/>
        </p:nvSpPr>
        <p:spPr>
          <a:xfrm>
            <a:off x="658368" y="405627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x3"/>
          <p:cNvSpPr txBox="1"/>
          <p:nvPr/>
        </p:nvSpPr>
        <p:spPr>
          <a:xfrm>
            <a:off x="658368" y="4079138"/>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8" name="!!pt3"/>
          <p:cNvSpPr txBox="1"/>
          <p:nvPr/>
        </p:nvSpPr>
        <p:spPr>
          <a:xfrm>
            <a:off x="1261872" y="4037990"/>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Running EM once.</a:t>
            </a:r>
            <a:r>
              <a:rPr sz="2100" b="0" i="0">
                <a:solidFill>
                  <a:srgbClr val="1C252B"/>
                </a:solidFill>
                <a:latin typeface="Segoe UI"/>
              </a:rPr>
              <a:t> It finds a local maximum; start it several times and keep the highest likelihood.</a:t>
            </a:r>
          </a:p>
        </p:txBody>
      </p:sp>
      <p:sp>
        <p:nvSpPr>
          <p:cNvPr id="19" name="!!pb4">
            <a:extLst>
              <a:ext uri="{C183D7F6-B498-43B3-948B-1728B52AA6E4}">
                <adec:decorative xmlns:adec="http://schemas.microsoft.com/office/drawing/2017/decorative" val="1"/>
              </a:ext>
            </a:extLst>
          </p:cNvPr>
          <p:cNvSpPr/>
          <p:nvPr/>
        </p:nvSpPr>
        <p:spPr>
          <a:xfrm>
            <a:off x="658368" y="4923129"/>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x4"/>
          <p:cNvSpPr txBox="1"/>
          <p:nvPr/>
        </p:nvSpPr>
        <p:spPr>
          <a:xfrm>
            <a:off x="658368" y="4945989"/>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1" name="!!pt4"/>
          <p:cNvSpPr txBox="1"/>
          <p:nvPr/>
        </p:nvSpPr>
        <p:spPr>
          <a:xfrm>
            <a:off x="1261872" y="4904841"/>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A mixture with the wrong shape.</a:t>
            </a:r>
            <a:r>
              <a:rPr sz="2100" b="0" i="0">
                <a:solidFill>
                  <a:srgbClr val="1C252B"/>
                </a:solidFill>
                <a:latin typeface="Segoe UI"/>
              </a:rPr>
              <a:t> If the classes are not roughly Gaussian clusters, the mixture’s components will not line up with them.</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5960384"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Four lenses: Semi-Supervised Learning</a:t>
            </a:r>
          </a:p>
        </p:txBody>
      </p:sp>
      <p:pic>
        <p:nvPicPr>
          <p:cNvPr id="3" name="!!kicker-icon" descr="compass-123953.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23953"/>
                </a:solidFill>
                <a:latin typeface="Segoe UI"/>
              </a:rPr>
              <a:t>FOUR LENSES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17  ·  Semi-Supervised Learning and the EM Algorithm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136     </a:t>
            </a:r>
            <a:fld id="{F7B7BEF7-1CB3-4B07-A60F-6DA9D62ECB00}" type="slidenum">
              <a:rPr lang="en-GB" sz="1000">
                <a:solidFill>
                  <a:srgbClr val="8795A1"/>
                </a:solidFill>
                <a:latin typeface="Segoe UI"/>
              </a:rPr>
              <a:t>23</a:t>
            </a:fld>
          </a:p>
        </p:txBody>
      </p:sp>
      <p:sp>
        <p:nvSpPr>
          <p:cNvPr id="7" name="!!lens-LA">
            <a:extLst>
              <a:ext uri="{C183D7F6-B498-43B3-948B-1728B52AA6E4}">
                <adec:decorative xmlns:adec="http://schemas.microsoft.com/office/drawing/2017/decorative" val="1"/>
              </a:ext>
            </a:extLst>
          </p:cNvPr>
          <p:cNvSpPr/>
          <p:nvPr/>
        </p:nvSpPr>
        <p:spPr>
          <a:xfrm>
            <a:off x="658368" y="1737360"/>
            <a:ext cx="5318607" cy="2176272"/>
          </a:xfrm>
          <a:prstGeom prst="roundRect">
            <a:avLst>
              <a:gd name="adj" fmla="val 4201"/>
            </a:avLst>
          </a:prstGeom>
          <a:solidFill>
            <a:srgbClr val="F6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lensh-LA">
            <a:extLst>
              <a:ext uri="{C183D7F6-B498-43B3-948B-1728B52AA6E4}">
                <adec:decorative xmlns:adec="http://schemas.microsoft.com/office/drawing/2017/decorative" val="1"/>
              </a:ext>
            </a:extLst>
          </p:cNvPr>
          <p:cNvSpPr/>
          <p:nvPr/>
        </p:nvSpPr>
        <p:spPr>
          <a:xfrm>
            <a:off x="658368" y="1737360"/>
            <a:ext cx="5318607" cy="493776"/>
          </a:xfrm>
          <a:prstGeom prst="roundRect">
            <a:avLst>
              <a:gd name="adj" fmla="val 18518"/>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ensh2-LA">
            <a:extLst>
              <a:ext uri="{C183D7F6-B498-43B3-948B-1728B52AA6E4}">
                <adec:decorative xmlns:adec="http://schemas.microsoft.com/office/drawing/2017/decorative" val="1"/>
              </a:ext>
            </a:extLst>
          </p:cNvPr>
          <p:cNvSpPr/>
          <p:nvPr/>
        </p:nvSpPr>
        <p:spPr>
          <a:xfrm>
            <a:off x="658368" y="2121408"/>
            <a:ext cx="5318607" cy="10972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 name="!!lensi-LA" descr="graduation-cap-FFFFFF.png">
            <a:extLs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9536" y="1856231"/>
            <a:ext cx="419498" cy="256032"/>
          </a:xfrm>
          <a:prstGeom prst="rect">
            <a:avLst/>
          </a:prstGeom>
        </p:spPr>
      </p:pic>
      <p:sp>
        <p:nvSpPr>
          <p:cNvPr id="11" name="!!lensn-LA"/>
          <p:cNvSpPr txBox="1"/>
          <p:nvPr/>
        </p:nvSpPr>
        <p:spPr>
          <a:xfrm>
            <a:off x="1425337" y="1837943"/>
            <a:ext cx="4460197"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LEARNING ANALYTICS</a:t>
            </a:r>
          </a:p>
        </p:txBody>
      </p:sp>
      <p:sp>
        <p:nvSpPr>
          <p:cNvPr id="12" name="!!lensb-LA-0"/>
          <p:cNvSpPr txBox="1"/>
          <p:nvPr/>
        </p:nvSpPr>
        <p:spPr>
          <a:xfrm>
            <a:off x="896112" y="2414016"/>
            <a:ext cx="4861407" cy="1408175"/>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A few hundred essays have been marked by a teacher; tens of thousands have not.</a:t>
            </a:r>
          </a:p>
        </p:txBody>
      </p:sp>
      <p:sp>
        <p:nvSpPr>
          <p:cNvPr id="13" name="!!lens-PM">
            <a:extLst>
              <a:ext uri="{C183D7F6-B498-43B3-948B-1728B52AA6E4}">
                <adec:decorative xmlns:adec="http://schemas.microsoft.com/office/drawing/2017/decorative" val="1"/>
              </a:ext>
            </a:extLst>
          </p:cNvPr>
          <p:cNvSpPr/>
          <p:nvPr/>
        </p:nvSpPr>
        <p:spPr>
          <a:xfrm>
            <a:off x="6214719" y="1737360"/>
            <a:ext cx="5318607" cy="2176272"/>
          </a:xfrm>
          <a:prstGeom prst="roundRect">
            <a:avLst>
              <a:gd name="adj" fmla="val 4201"/>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ensh-PM">
            <a:extLst>
              <a:ext uri="{C183D7F6-B498-43B3-948B-1728B52AA6E4}">
                <adec:decorative xmlns:adec="http://schemas.microsoft.com/office/drawing/2017/decorative" val="1"/>
              </a:ext>
            </a:extLst>
          </p:cNvPr>
          <p:cNvSpPr/>
          <p:nvPr/>
        </p:nvSpPr>
        <p:spPr>
          <a:xfrm>
            <a:off x="6214719" y="1737360"/>
            <a:ext cx="5318607" cy="493776"/>
          </a:xfrm>
          <a:prstGeom prst="roundRect">
            <a:avLst>
              <a:gd name="adj" fmla="val 18518"/>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ensh2-PM">
            <a:extLst>
              <a:ext uri="{C183D7F6-B498-43B3-948B-1728B52AA6E4}">
                <adec:decorative xmlns:adec="http://schemas.microsoft.com/office/drawing/2017/decorative" val="1"/>
              </a:ext>
            </a:extLst>
          </p:cNvPr>
          <p:cNvSpPr/>
          <p:nvPr/>
        </p:nvSpPr>
        <p:spPr>
          <a:xfrm>
            <a:off x="6214719" y="2121408"/>
            <a:ext cx="5318607" cy="1097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 name="!!lensi-PM" descr="tasks-FFFFFF.png">
            <a:extLst>
              <a:ext uri="{C183D7F6-B498-43B3-948B-1728B52AA6E4}">
                <adec:decorative xmlns:adec="http://schemas.microsoft.com/office/drawing/2017/decorative" val="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415887" y="1856231"/>
            <a:ext cx="301783" cy="256032"/>
          </a:xfrm>
          <a:prstGeom prst="rect">
            <a:avLst/>
          </a:prstGeom>
        </p:spPr>
      </p:pic>
      <p:sp>
        <p:nvSpPr>
          <p:cNvPr id="17" name="!!lensn-PM"/>
          <p:cNvSpPr txBox="1"/>
          <p:nvPr/>
        </p:nvSpPr>
        <p:spPr>
          <a:xfrm>
            <a:off x="6863974" y="1837943"/>
            <a:ext cx="4577912"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PROJECT MANAGEMENT</a:t>
            </a:r>
          </a:p>
        </p:txBody>
      </p:sp>
      <p:sp>
        <p:nvSpPr>
          <p:cNvPr id="18" name="!!lensb-PM-0"/>
          <p:cNvSpPr txBox="1"/>
          <p:nvPr/>
        </p:nvSpPr>
        <p:spPr>
          <a:xfrm>
            <a:off x="6452463" y="2414016"/>
            <a:ext cx="4861407" cy="1408175"/>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Only a few projects have a formal post-mortem label (“failed because of scope creep”), but all projects have metrics.</a:t>
            </a:r>
          </a:p>
        </p:txBody>
      </p:sp>
      <p:sp>
        <p:nvSpPr>
          <p:cNvPr id="19" name="!!lens-IOT">
            <a:extLst>
              <a:ext uri="{C183D7F6-B498-43B3-948B-1728B52AA6E4}">
                <adec:decorative xmlns:adec="http://schemas.microsoft.com/office/drawing/2017/decorative" val="1"/>
              </a:ext>
            </a:extLst>
          </p:cNvPr>
          <p:cNvSpPr/>
          <p:nvPr/>
        </p:nvSpPr>
        <p:spPr>
          <a:xfrm>
            <a:off x="658368" y="4133087"/>
            <a:ext cx="5318607" cy="2176272"/>
          </a:xfrm>
          <a:prstGeom prst="roundRect">
            <a:avLst>
              <a:gd name="adj" fmla="val 4201"/>
            </a:avLst>
          </a:prstGeom>
          <a:solidFill>
            <a:srgbClr val="F1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ensh-IOT">
            <a:extLst>
              <a:ext uri="{C183D7F6-B498-43B3-948B-1728B52AA6E4}">
                <adec:decorative xmlns:adec="http://schemas.microsoft.com/office/drawing/2017/decorative" val="1"/>
              </a:ext>
            </a:extLst>
          </p:cNvPr>
          <p:cNvSpPr/>
          <p:nvPr/>
        </p:nvSpPr>
        <p:spPr>
          <a:xfrm>
            <a:off x="658368" y="4133087"/>
            <a:ext cx="5318607" cy="493776"/>
          </a:xfrm>
          <a:prstGeom prst="roundRect">
            <a:avLst>
              <a:gd name="adj" fmla="val 18518"/>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lensh2-IOT">
            <a:extLst>
              <a:ext uri="{C183D7F6-B498-43B3-948B-1728B52AA6E4}">
                <adec:decorative xmlns:adec="http://schemas.microsoft.com/office/drawing/2017/decorative" val="1"/>
              </a:ext>
            </a:extLst>
          </p:cNvPr>
          <p:cNvSpPr/>
          <p:nvPr/>
        </p:nvSpPr>
        <p:spPr>
          <a:xfrm>
            <a:off x="658368" y="4517136"/>
            <a:ext cx="5318607" cy="1097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2" name="!!lensi-IOT" descr="microchip-FFFFFF.png">
            <a:extLst>
              <a:ext uri="{C183D7F6-B498-43B3-948B-1728B52AA6E4}">
                <adec:decorative xmlns:adec="http://schemas.microsoft.com/office/drawing/2017/decorative" val="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59536" y="4251959"/>
            <a:ext cx="256032" cy="256032"/>
          </a:xfrm>
          <a:prstGeom prst="rect">
            <a:avLst/>
          </a:prstGeom>
        </p:spPr>
      </p:pic>
      <p:sp>
        <p:nvSpPr>
          <p:cNvPr id="23" name="!!lensn-IOT"/>
          <p:cNvSpPr txBox="1"/>
          <p:nvPr/>
        </p:nvSpPr>
        <p:spPr>
          <a:xfrm>
            <a:off x="1261872" y="4233672"/>
            <a:ext cx="4623663"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INTERNET OF THINGS</a:t>
            </a:r>
          </a:p>
        </p:txBody>
      </p:sp>
      <p:sp>
        <p:nvSpPr>
          <p:cNvPr id="24" name="!!lensb-IOT-0"/>
          <p:cNvSpPr txBox="1"/>
          <p:nvPr/>
        </p:nvSpPr>
        <p:spPr>
          <a:xfrm>
            <a:off x="896112" y="4809744"/>
            <a:ext cx="4861407" cy="1408175"/>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Engineers can label only a few fault episodes, but sensors record years of unlabelled operation.</a:t>
            </a:r>
          </a:p>
        </p:txBody>
      </p:sp>
      <p:sp>
        <p:nvSpPr>
          <p:cNvPr id="25" name="!!lens-SEC">
            <a:extLst>
              <a:ext uri="{C183D7F6-B498-43B3-948B-1728B52AA6E4}">
                <adec:decorative xmlns:adec="http://schemas.microsoft.com/office/drawing/2017/decorative" val="1"/>
              </a:ext>
            </a:extLst>
          </p:cNvPr>
          <p:cNvSpPr/>
          <p:nvPr/>
        </p:nvSpPr>
        <p:spPr>
          <a:xfrm>
            <a:off x="6214719" y="4133087"/>
            <a:ext cx="5318607" cy="2176272"/>
          </a:xfrm>
          <a:prstGeom prst="roundRect">
            <a:avLst>
              <a:gd name="adj" fmla="val 4201"/>
            </a:avLst>
          </a:prstGeom>
          <a:solidFill>
            <a:srgbClr val="F8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lensh-SEC">
            <a:extLst>
              <a:ext uri="{C183D7F6-B498-43B3-948B-1728B52AA6E4}">
                <adec:decorative xmlns:adec="http://schemas.microsoft.com/office/drawing/2017/decorative" val="1"/>
              </a:ext>
            </a:extLst>
          </p:cNvPr>
          <p:cNvSpPr/>
          <p:nvPr/>
        </p:nvSpPr>
        <p:spPr>
          <a:xfrm>
            <a:off x="6214719" y="4133087"/>
            <a:ext cx="5318607" cy="493776"/>
          </a:xfrm>
          <a:prstGeom prst="roundRect">
            <a:avLst>
              <a:gd name="adj" fmla="val 18518"/>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lensh2-SEC">
            <a:extLst>
              <a:ext uri="{C183D7F6-B498-43B3-948B-1728B52AA6E4}">
                <adec:decorative xmlns:adec="http://schemas.microsoft.com/office/drawing/2017/decorative" val="1"/>
              </a:ext>
            </a:extLst>
          </p:cNvPr>
          <p:cNvSpPr/>
          <p:nvPr/>
        </p:nvSpPr>
        <p:spPr>
          <a:xfrm>
            <a:off x="6214719" y="4517136"/>
            <a:ext cx="5318607" cy="1097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8" name="!!lensi-SEC" descr="shield-alt-FFFFFF.png">
            <a:extLst>
              <a:ext uri="{C183D7F6-B498-43B3-948B-1728B52AA6E4}">
                <adec:decorative xmlns:adec="http://schemas.microsoft.com/office/drawing/2017/decorative" val="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6415887" y="4251959"/>
            <a:ext cx="256032" cy="256032"/>
          </a:xfrm>
          <a:prstGeom prst="rect">
            <a:avLst/>
          </a:prstGeom>
        </p:spPr>
      </p:pic>
      <p:sp>
        <p:nvSpPr>
          <p:cNvPr id="29" name="!!lensn-SEC"/>
          <p:cNvSpPr txBox="1"/>
          <p:nvPr/>
        </p:nvSpPr>
        <p:spPr>
          <a:xfrm>
            <a:off x="6818223" y="4233672"/>
            <a:ext cx="4623663"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CYBERSECURITY</a:t>
            </a:r>
          </a:p>
        </p:txBody>
      </p:sp>
      <p:sp>
        <p:nvSpPr>
          <p:cNvPr id="30" name="!!lensb-SEC-0"/>
          <p:cNvSpPr txBox="1"/>
          <p:nvPr/>
        </p:nvSpPr>
        <p:spPr>
          <a:xfrm>
            <a:off x="6452463" y="4809744"/>
            <a:ext cx="4861407" cy="1408175"/>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Security labels are scarce, slow and expensive — each needs an analyst.</a:t>
            </a:r>
          </a:p>
        </p:txBody>
      </p:sp>
      <p:sp>
        <p:nvSpPr>
          <p:cNvPr id="3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pfill">
            <a:extLst>
              <a:ext uri="{C183D7F6-B498-43B3-948B-1728B52AA6E4}">
                <adec:decorative xmlns:adec="http://schemas.microsoft.com/office/drawing/2017/decorative" val="1"/>
              </a:ext>
            </a:extLst>
          </p:cNvPr>
          <p:cNvSpPr/>
          <p:nvPr/>
        </p:nvSpPr>
        <p:spPr>
          <a:xfrm>
            <a:off x="0" y="0"/>
            <a:ext cx="6231310"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Learning Analytics: Semi-Supervised Learning</a:t>
            </a:r>
          </a:p>
        </p:txBody>
      </p:sp>
      <p:pic>
        <p:nvPicPr>
          <p:cNvPr id="3" name="!!kicker-icon" descr="compass-6C3483.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6C3483"/>
                </a:solidFill>
                <a:latin typeface="Segoe UI"/>
              </a:rPr>
              <a:t>FOUR LENSES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17  ·  Semi-Supervised Learning and the EM Algorithm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136     </a:t>
            </a:r>
            <a:fld id="{1538540C-FB33-42D9-8E4D-B28592DC9593}" type="slidenum">
              <a:rPr lang="en-GB" sz="1000">
                <a:solidFill>
                  <a:srgbClr val="8795A1"/>
                </a:solidFill>
                <a:latin typeface="Segoe UI"/>
              </a:rPr>
              <a:t>24</a:t>
            </a:fld>
          </a:p>
        </p:txBody>
      </p:sp>
      <p:sp>
        <p:nvSpPr>
          <p:cNvPr id="7" name="!!lens-LA">
            <a:extLst>
              <a:ext uri="{C183D7F6-B498-43B3-948B-1728B52AA6E4}">
                <adec:decorative xmlns:adec="http://schemas.microsoft.com/office/drawing/2017/decorative" val="1"/>
              </a:ext>
            </a:extLst>
          </p:cNvPr>
          <p:cNvSpPr/>
          <p:nvPr/>
        </p:nvSpPr>
        <p:spPr>
          <a:xfrm>
            <a:off x="658368" y="1737360"/>
            <a:ext cx="8040319" cy="4572000"/>
          </a:xfrm>
          <a:prstGeom prst="roundRect">
            <a:avLst>
              <a:gd name="adj" fmla="val 2000"/>
            </a:avLst>
          </a:prstGeom>
          <a:solidFill>
            <a:srgbClr val="F6F3F8"/>
          </a:solidFill>
          <a:ln>
            <a:noFill/>
          </a:ln>
          <a:effectLst>
            <a:outerShdw blurRad="177800" dist="38100" dir="5400000" algn="t" rotWithShape="0">
              <a:srgbClr val="1C252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lensh-LA">
            <a:extLst>
              <a:ext uri="{C183D7F6-B498-43B3-948B-1728B52AA6E4}">
                <adec:decorative xmlns:adec="http://schemas.microsoft.com/office/drawing/2017/decorative" val="1"/>
              </a:ext>
            </a:extLst>
          </p:cNvPr>
          <p:cNvSpPr/>
          <p:nvPr/>
        </p:nvSpPr>
        <p:spPr>
          <a:xfrm>
            <a:off x="658368" y="1737360"/>
            <a:ext cx="8040319" cy="493776"/>
          </a:xfrm>
          <a:prstGeom prst="roundRect">
            <a:avLst>
              <a:gd name="adj" fmla="val 18518"/>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ensh2-LA">
            <a:extLst>
              <a:ext uri="{C183D7F6-B498-43B3-948B-1728B52AA6E4}">
                <adec:decorative xmlns:adec="http://schemas.microsoft.com/office/drawing/2017/decorative" val="1"/>
              </a:ext>
            </a:extLst>
          </p:cNvPr>
          <p:cNvSpPr/>
          <p:nvPr/>
        </p:nvSpPr>
        <p:spPr>
          <a:xfrm>
            <a:off x="658368" y="2121408"/>
            <a:ext cx="8040319" cy="10972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 name="!!lensi-LA" descr="graduation-cap-FFFFFF.png">
            <a:extLs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9536" y="1856231"/>
            <a:ext cx="419498" cy="256032"/>
          </a:xfrm>
          <a:prstGeom prst="rect">
            <a:avLst/>
          </a:prstGeom>
        </p:spPr>
      </p:pic>
      <p:sp>
        <p:nvSpPr>
          <p:cNvPr id="11" name="!!lensn-LA"/>
          <p:cNvSpPr txBox="1"/>
          <p:nvPr/>
        </p:nvSpPr>
        <p:spPr>
          <a:xfrm>
            <a:off x="1425337" y="1837943"/>
            <a:ext cx="7181909"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LEARNING ANALYTICS</a:t>
            </a:r>
          </a:p>
        </p:txBody>
      </p:sp>
      <p:sp>
        <p:nvSpPr>
          <p:cNvPr id="12" name="!!lensb-LA-0"/>
          <p:cNvSpPr txBox="1"/>
          <p:nvPr/>
        </p:nvSpPr>
        <p:spPr>
          <a:xfrm>
            <a:off x="896112" y="2432304"/>
            <a:ext cx="7583119" cy="1789176"/>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A few hundred essays have been marked by a teacher; tens of thousands have not. Self-training a quality classifier on both is attractive, and dangerous: an early confident mistake about a style of writing becomes a rule. Keep a human in the loop for the pseudo-labels that change decisions.</a:t>
            </a:r>
          </a:p>
        </p:txBody>
      </p:sp>
      <p:sp>
        <p:nvSpPr>
          <p:cNvPr id="13" name="!!lens-PM">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ensh-PM">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ensh2-PM">
            <a:extLst>
              <a:ext uri="{C183D7F6-B498-43B3-948B-1728B52AA6E4}">
                <adec:decorative xmlns:adec="http://schemas.microsoft.com/office/drawing/2017/decorative" val="1"/>
              </a:ext>
            </a:extLst>
          </p:cNvPr>
          <p:cNvSpPr/>
          <p:nvPr/>
        </p:nvSpPr>
        <p:spPr>
          <a:xfrm>
            <a:off x="8936431" y="2121408"/>
            <a:ext cx="2596896" cy="1097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 name="!!lensi-PM" descr="tasks-FFFFFF.png">
            <a:extLst>
              <a:ext uri="{C183D7F6-B498-43B3-948B-1728B52AA6E4}">
                <adec:decorative xmlns:adec="http://schemas.microsoft.com/office/drawing/2017/decorative" val="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137599" y="1856231"/>
            <a:ext cx="301783" cy="256032"/>
          </a:xfrm>
          <a:prstGeom prst="rect">
            <a:avLst/>
          </a:prstGeom>
        </p:spPr>
      </p:pic>
      <p:sp>
        <p:nvSpPr>
          <p:cNvPr id="17" name="!!lensn-PM"/>
          <p:cNvSpPr txBox="1"/>
          <p:nvPr/>
        </p:nvSpPr>
        <p:spPr>
          <a:xfrm>
            <a:off x="9585686" y="1837943"/>
            <a:ext cx="1856200"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Project Management</a:t>
            </a:r>
          </a:p>
        </p:txBody>
      </p:sp>
      <p:sp>
        <p:nvSpPr>
          <p:cNvPr id="18" name="!!lens-IOT">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F1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lensh-IOT">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ensh2-IOT">
            <a:extLst>
              <a:ext uri="{C183D7F6-B498-43B3-948B-1728B52AA6E4}">
                <adec:decorative xmlns:adec="http://schemas.microsoft.com/office/drawing/2017/decorative" val="1"/>
              </a:ext>
            </a:extLst>
          </p:cNvPr>
          <p:cNvSpPr/>
          <p:nvPr/>
        </p:nvSpPr>
        <p:spPr>
          <a:xfrm>
            <a:off x="8936431" y="2779776"/>
            <a:ext cx="2596896" cy="1097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1" name="!!lensi-IOT" descr="microchip-FFFFFF.png">
            <a:extLst>
              <a:ext uri="{C183D7F6-B498-43B3-948B-1728B52AA6E4}">
                <adec:decorative xmlns:adec="http://schemas.microsoft.com/office/drawing/2017/decorative" val="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137599" y="2514600"/>
            <a:ext cx="256032" cy="256032"/>
          </a:xfrm>
          <a:prstGeom prst="rect">
            <a:avLst/>
          </a:prstGeom>
        </p:spPr>
      </p:pic>
      <p:sp>
        <p:nvSpPr>
          <p:cNvPr id="22" name="!!lensn-IOT"/>
          <p:cNvSpPr txBox="1"/>
          <p:nvPr/>
        </p:nvSpPr>
        <p:spPr>
          <a:xfrm>
            <a:off x="9539935" y="2496312"/>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Internet of Things</a:t>
            </a:r>
          </a:p>
        </p:txBody>
      </p:sp>
      <p:sp>
        <p:nvSpPr>
          <p:cNvPr id="23" name="!!lens-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F8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ensh-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ensh2-SEC">
            <a:extLst>
              <a:ext uri="{C183D7F6-B498-43B3-948B-1728B52AA6E4}">
                <adec:decorative xmlns:adec="http://schemas.microsoft.com/office/drawing/2017/decorative" val="1"/>
              </a:ext>
            </a:extLst>
          </p:cNvPr>
          <p:cNvSpPr/>
          <p:nvPr/>
        </p:nvSpPr>
        <p:spPr>
          <a:xfrm>
            <a:off x="8936431" y="3438144"/>
            <a:ext cx="2596896" cy="1097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6" name="!!lensi-SEC" descr="shield-alt-FFFFFF.png">
            <a:extLst>
              <a:ext uri="{C183D7F6-B498-43B3-948B-1728B52AA6E4}">
                <adec:decorative xmlns:adec="http://schemas.microsoft.com/office/drawing/2017/decorative" val="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9137599" y="3172968"/>
            <a:ext cx="256032" cy="256032"/>
          </a:xfrm>
          <a:prstGeom prst="rect">
            <a:avLst/>
          </a:prstGeom>
        </p:spPr>
      </p:pic>
      <p:sp>
        <p:nvSpPr>
          <p:cNvPr id="27" name="!!lensn-SEC"/>
          <p:cNvSpPr txBox="1"/>
          <p:nvPr/>
        </p:nvSpPr>
        <p:spPr>
          <a:xfrm>
            <a:off x="9539935" y="3154679"/>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Cybersecurity</a:t>
            </a:r>
          </a:p>
        </p:txBody>
      </p:sp>
      <p:sp>
        <p:nvSpPr>
          <p:cNvPr id="2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pfill">
            <a:extLst>
              <a:ext uri="{C183D7F6-B498-43B3-948B-1728B52AA6E4}">
                <adec:decorative xmlns:adec="http://schemas.microsoft.com/office/drawing/2017/decorative" val="1"/>
              </a:ext>
            </a:extLst>
          </p:cNvPr>
          <p:cNvSpPr/>
          <p:nvPr/>
        </p:nvSpPr>
        <p:spPr>
          <a:xfrm>
            <a:off x="0" y="0"/>
            <a:ext cx="6502237"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700">
        <p159:morph option="byObject"/>
      </p:transition>
    </mc:Choice>
    <mc:Fallback>
      <p:transition spd="med">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Project Management: Semi-Supervised Learning</a:t>
            </a:r>
          </a:p>
        </p:txBody>
      </p:sp>
      <p:pic>
        <p:nvPicPr>
          <p:cNvPr id="3" name="!!kicker-icon" descr="compass-1F618D.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F618D"/>
                </a:solidFill>
                <a:latin typeface="Segoe UI"/>
              </a:rPr>
              <a:t>FOUR LENSES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17  ·  Semi-Supervised Learning and the EM Algorithm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136     </a:t>
            </a:r>
            <a:fld id="{41D1C4DC-B6DF-45FB-B304-A4C3B73A9332}" type="slidenum">
              <a:rPr lang="en-GB" sz="1000">
                <a:solidFill>
                  <a:srgbClr val="8795A1"/>
                </a:solidFill>
                <a:latin typeface="Segoe UI"/>
              </a:rPr>
              <a:t>25</a:t>
            </a:fld>
          </a:p>
        </p:txBody>
      </p:sp>
      <p:sp>
        <p:nvSpPr>
          <p:cNvPr id="7" name="!!lens-PM">
            <a:extLst>
              <a:ext uri="{C183D7F6-B498-43B3-948B-1728B52AA6E4}">
                <adec:decorative xmlns:adec="http://schemas.microsoft.com/office/drawing/2017/decorative" val="1"/>
              </a:ext>
            </a:extLst>
          </p:cNvPr>
          <p:cNvSpPr/>
          <p:nvPr/>
        </p:nvSpPr>
        <p:spPr>
          <a:xfrm>
            <a:off x="658368" y="1737360"/>
            <a:ext cx="8040319" cy="4572000"/>
          </a:xfrm>
          <a:prstGeom prst="roundRect">
            <a:avLst>
              <a:gd name="adj" fmla="val 2000"/>
            </a:avLst>
          </a:prstGeom>
          <a:solidFill>
            <a:srgbClr val="F2F6F8"/>
          </a:solidFill>
          <a:ln>
            <a:noFill/>
          </a:ln>
          <a:effectLst>
            <a:outerShdw blurRad="177800" dist="38100" dir="5400000" algn="t" rotWithShape="0">
              <a:srgbClr val="1C252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lensh-PM">
            <a:extLst>
              <a:ext uri="{C183D7F6-B498-43B3-948B-1728B52AA6E4}">
                <adec:decorative xmlns:adec="http://schemas.microsoft.com/office/drawing/2017/decorative" val="1"/>
              </a:ext>
            </a:extLst>
          </p:cNvPr>
          <p:cNvSpPr/>
          <p:nvPr/>
        </p:nvSpPr>
        <p:spPr>
          <a:xfrm>
            <a:off x="658368" y="1737360"/>
            <a:ext cx="8040319" cy="493776"/>
          </a:xfrm>
          <a:prstGeom prst="roundRect">
            <a:avLst>
              <a:gd name="adj" fmla="val 18518"/>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ensh2-PM">
            <a:extLst>
              <a:ext uri="{C183D7F6-B498-43B3-948B-1728B52AA6E4}">
                <adec:decorative xmlns:adec="http://schemas.microsoft.com/office/drawing/2017/decorative" val="1"/>
              </a:ext>
            </a:extLst>
          </p:cNvPr>
          <p:cNvSpPr/>
          <p:nvPr/>
        </p:nvSpPr>
        <p:spPr>
          <a:xfrm>
            <a:off x="658368" y="2121408"/>
            <a:ext cx="8040319" cy="1097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 name="!!lensi-PM" descr="tasks-FFFFFF.png">
            <a:extLs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9536" y="1856231"/>
            <a:ext cx="301783" cy="256032"/>
          </a:xfrm>
          <a:prstGeom prst="rect">
            <a:avLst/>
          </a:prstGeom>
        </p:spPr>
      </p:pic>
      <p:sp>
        <p:nvSpPr>
          <p:cNvPr id="11" name="!!lensn-PM"/>
          <p:cNvSpPr txBox="1"/>
          <p:nvPr/>
        </p:nvSpPr>
        <p:spPr>
          <a:xfrm>
            <a:off x="1307622" y="1837943"/>
            <a:ext cx="7299624"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PROJECT MANAGEMENT</a:t>
            </a:r>
          </a:p>
        </p:txBody>
      </p:sp>
      <p:sp>
        <p:nvSpPr>
          <p:cNvPr id="12" name="!!lensb-PM-0"/>
          <p:cNvSpPr txBox="1"/>
          <p:nvPr/>
        </p:nvSpPr>
        <p:spPr>
          <a:xfrm>
            <a:off x="896112" y="2432304"/>
            <a:ext cx="7583119" cy="1789176"/>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Only a few projects have a formal post-mortem label (“failed because of scope creep”), but all projects have metrics. EM over labelled and unlabelled projects estimates the typical metric profile of each failure mode from far more than the labelled handful.</a:t>
            </a:r>
          </a:p>
        </p:txBody>
      </p:sp>
      <p:sp>
        <p:nvSpPr>
          <p:cNvPr id="13" name="!!lens-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F6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ensh-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ensh2-LA">
            <a:extLst>
              <a:ext uri="{C183D7F6-B498-43B3-948B-1728B52AA6E4}">
                <adec:decorative xmlns:adec="http://schemas.microsoft.com/office/drawing/2017/decorative" val="1"/>
              </a:ext>
            </a:extLst>
          </p:cNvPr>
          <p:cNvSpPr/>
          <p:nvPr/>
        </p:nvSpPr>
        <p:spPr>
          <a:xfrm>
            <a:off x="8936431" y="2121408"/>
            <a:ext cx="2596896" cy="10972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 name="!!lensi-LA" descr="graduation-cap-FFFFFF.png">
            <a:extLst>
              <a:ext uri="{C183D7F6-B498-43B3-948B-1728B52AA6E4}">
                <adec:decorative xmlns:adec="http://schemas.microsoft.com/office/drawing/2017/decorative" val="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137599" y="1856231"/>
            <a:ext cx="419498" cy="256032"/>
          </a:xfrm>
          <a:prstGeom prst="rect">
            <a:avLst/>
          </a:prstGeom>
        </p:spPr>
      </p:pic>
      <p:sp>
        <p:nvSpPr>
          <p:cNvPr id="17" name="!!lensn-LA"/>
          <p:cNvSpPr txBox="1"/>
          <p:nvPr/>
        </p:nvSpPr>
        <p:spPr>
          <a:xfrm>
            <a:off x="9703401" y="1837943"/>
            <a:ext cx="1738485"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Learning Analytics</a:t>
            </a:r>
          </a:p>
        </p:txBody>
      </p:sp>
      <p:sp>
        <p:nvSpPr>
          <p:cNvPr id="18" name="!!lens-IOT">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F1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lensh-IOT">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ensh2-IOT">
            <a:extLst>
              <a:ext uri="{C183D7F6-B498-43B3-948B-1728B52AA6E4}">
                <adec:decorative xmlns:adec="http://schemas.microsoft.com/office/drawing/2017/decorative" val="1"/>
              </a:ext>
            </a:extLst>
          </p:cNvPr>
          <p:cNvSpPr/>
          <p:nvPr/>
        </p:nvSpPr>
        <p:spPr>
          <a:xfrm>
            <a:off x="8936431" y="2779776"/>
            <a:ext cx="2596896" cy="1097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1" name="!!lensi-IOT" descr="microchip-FFFFFF.png">
            <a:extLst>
              <a:ext uri="{C183D7F6-B498-43B3-948B-1728B52AA6E4}">
                <adec:decorative xmlns:adec="http://schemas.microsoft.com/office/drawing/2017/decorative" val="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137599" y="2514600"/>
            <a:ext cx="256032" cy="256032"/>
          </a:xfrm>
          <a:prstGeom prst="rect">
            <a:avLst/>
          </a:prstGeom>
        </p:spPr>
      </p:pic>
      <p:sp>
        <p:nvSpPr>
          <p:cNvPr id="22" name="!!lensn-IOT"/>
          <p:cNvSpPr txBox="1"/>
          <p:nvPr/>
        </p:nvSpPr>
        <p:spPr>
          <a:xfrm>
            <a:off x="9539935" y="2496312"/>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Internet of Things</a:t>
            </a:r>
          </a:p>
        </p:txBody>
      </p:sp>
      <p:sp>
        <p:nvSpPr>
          <p:cNvPr id="23" name="!!lens-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F8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ensh-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ensh2-SEC">
            <a:extLst>
              <a:ext uri="{C183D7F6-B498-43B3-948B-1728B52AA6E4}">
                <adec:decorative xmlns:adec="http://schemas.microsoft.com/office/drawing/2017/decorative" val="1"/>
              </a:ext>
            </a:extLst>
          </p:cNvPr>
          <p:cNvSpPr/>
          <p:nvPr/>
        </p:nvSpPr>
        <p:spPr>
          <a:xfrm>
            <a:off x="8936431" y="3438144"/>
            <a:ext cx="2596896" cy="1097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6" name="!!lensi-SEC" descr="shield-alt-FFFFFF.png">
            <a:extLst>
              <a:ext uri="{C183D7F6-B498-43B3-948B-1728B52AA6E4}">
                <adec:decorative xmlns:adec="http://schemas.microsoft.com/office/drawing/2017/decorative" val="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9137599" y="3172968"/>
            <a:ext cx="256032" cy="256032"/>
          </a:xfrm>
          <a:prstGeom prst="rect">
            <a:avLst/>
          </a:prstGeom>
        </p:spPr>
      </p:pic>
      <p:sp>
        <p:nvSpPr>
          <p:cNvPr id="27" name="!!lensn-SEC"/>
          <p:cNvSpPr txBox="1"/>
          <p:nvPr/>
        </p:nvSpPr>
        <p:spPr>
          <a:xfrm>
            <a:off x="9539935" y="3154679"/>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Cybersecurity</a:t>
            </a:r>
          </a:p>
        </p:txBody>
      </p:sp>
      <p:sp>
        <p:nvSpPr>
          <p:cNvPr id="2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pfill">
            <a:extLst>
              <a:ext uri="{C183D7F6-B498-43B3-948B-1728B52AA6E4}">
                <adec:decorative xmlns:adec="http://schemas.microsoft.com/office/drawing/2017/decorative" val="1"/>
              </a:ext>
            </a:extLst>
          </p:cNvPr>
          <p:cNvSpPr/>
          <p:nvPr/>
        </p:nvSpPr>
        <p:spPr>
          <a:xfrm>
            <a:off x="0" y="0"/>
            <a:ext cx="6773164"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700">
        <p159:morph option="byObject"/>
      </p:transition>
    </mc:Choice>
    <mc:Fallback>
      <p:transition spd="med">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Internet of Things: Semi-Supervised Learning</a:t>
            </a:r>
          </a:p>
        </p:txBody>
      </p:sp>
      <p:pic>
        <p:nvPicPr>
          <p:cNvPr id="3" name="!!kicker-icon" descr="compass-117864.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864"/>
                </a:solidFill>
                <a:latin typeface="Segoe UI"/>
              </a:rPr>
              <a:t>FOUR LENSES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17  ·  Semi-Supervised Learning and the EM Algorithm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136     </a:t>
            </a:r>
            <a:fld id="{5891F6D3-BE55-4E8C-B96A-8DDE9C3DDCBD}" type="slidenum">
              <a:rPr lang="en-GB" sz="1000">
                <a:solidFill>
                  <a:srgbClr val="8795A1"/>
                </a:solidFill>
                <a:latin typeface="Segoe UI"/>
              </a:rPr>
              <a:t>26</a:t>
            </a:fld>
          </a:p>
        </p:txBody>
      </p:sp>
      <p:sp>
        <p:nvSpPr>
          <p:cNvPr id="7" name="!!lens-IOT">
            <a:extLst>
              <a:ext uri="{C183D7F6-B498-43B3-948B-1728B52AA6E4}">
                <adec:decorative xmlns:adec="http://schemas.microsoft.com/office/drawing/2017/decorative" val="1"/>
              </a:ext>
            </a:extLst>
          </p:cNvPr>
          <p:cNvSpPr/>
          <p:nvPr/>
        </p:nvSpPr>
        <p:spPr>
          <a:xfrm>
            <a:off x="658368" y="1737360"/>
            <a:ext cx="8040319" cy="4572000"/>
          </a:xfrm>
          <a:prstGeom prst="roundRect">
            <a:avLst>
              <a:gd name="adj" fmla="val 2000"/>
            </a:avLst>
          </a:prstGeom>
          <a:solidFill>
            <a:srgbClr val="F1F7F6"/>
          </a:solidFill>
          <a:ln>
            <a:noFill/>
          </a:ln>
          <a:effectLst>
            <a:outerShdw blurRad="177800" dist="38100" dir="5400000" algn="t" rotWithShape="0">
              <a:srgbClr val="1C252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lensh-IOT">
            <a:extLst>
              <a:ext uri="{C183D7F6-B498-43B3-948B-1728B52AA6E4}">
                <adec:decorative xmlns:adec="http://schemas.microsoft.com/office/drawing/2017/decorative" val="1"/>
              </a:ext>
            </a:extLst>
          </p:cNvPr>
          <p:cNvSpPr/>
          <p:nvPr/>
        </p:nvSpPr>
        <p:spPr>
          <a:xfrm>
            <a:off x="658368" y="1737360"/>
            <a:ext cx="8040319" cy="493776"/>
          </a:xfrm>
          <a:prstGeom prst="roundRect">
            <a:avLst>
              <a:gd name="adj" fmla="val 18518"/>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ensh2-IOT">
            <a:extLst>
              <a:ext uri="{C183D7F6-B498-43B3-948B-1728B52AA6E4}">
                <adec:decorative xmlns:adec="http://schemas.microsoft.com/office/drawing/2017/decorative" val="1"/>
              </a:ext>
            </a:extLst>
          </p:cNvPr>
          <p:cNvSpPr/>
          <p:nvPr/>
        </p:nvSpPr>
        <p:spPr>
          <a:xfrm>
            <a:off x="658368" y="2121408"/>
            <a:ext cx="8040319" cy="1097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 name="!!lensi-IOT" descr="microchip-FFFFFF.png">
            <a:extLs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9536" y="1856231"/>
            <a:ext cx="256032" cy="256032"/>
          </a:xfrm>
          <a:prstGeom prst="rect">
            <a:avLst/>
          </a:prstGeom>
        </p:spPr>
      </p:pic>
      <p:sp>
        <p:nvSpPr>
          <p:cNvPr id="11" name="!!lensn-IOT"/>
          <p:cNvSpPr txBox="1"/>
          <p:nvPr/>
        </p:nvSpPr>
        <p:spPr>
          <a:xfrm>
            <a:off x="1261872" y="1837943"/>
            <a:ext cx="7345375"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INTERNET OF THINGS</a:t>
            </a:r>
          </a:p>
        </p:txBody>
      </p:sp>
      <p:sp>
        <p:nvSpPr>
          <p:cNvPr id="12" name="!!lensb-IOT-0"/>
          <p:cNvSpPr txBox="1"/>
          <p:nvPr/>
        </p:nvSpPr>
        <p:spPr>
          <a:xfrm>
            <a:off x="896112" y="2432304"/>
            <a:ext cx="7583119" cy="1440484"/>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Engineers can label only a few fault episodes, but sensors record years of unlabelled operation. A Gaussian mixture of normal operating modes, anchored by the few labelled faults, is a practical starting point for a fault detector.</a:t>
            </a:r>
          </a:p>
        </p:txBody>
      </p:sp>
      <p:sp>
        <p:nvSpPr>
          <p:cNvPr id="13" name="!!lens-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F6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ensh-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ensh2-LA">
            <a:extLst>
              <a:ext uri="{C183D7F6-B498-43B3-948B-1728B52AA6E4}">
                <adec:decorative xmlns:adec="http://schemas.microsoft.com/office/drawing/2017/decorative" val="1"/>
              </a:ext>
            </a:extLst>
          </p:cNvPr>
          <p:cNvSpPr/>
          <p:nvPr/>
        </p:nvSpPr>
        <p:spPr>
          <a:xfrm>
            <a:off x="8936431" y="2121408"/>
            <a:ext cx="2596896" cy="10972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 name="!!lensi-LA" descr="graduation-cap-FFFFFF.png">
            <a:extLst>
              <a:ext uri="{C183D7F6-B498-43B3-948B-1728B52AA6E4}">
                <adec:decorative xmlns:adec="http://schemas.microsoft.com/office/drawing/2017/decorative" val="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137599" y="1856231"/>
            <a:ext cx="419498" cy="256032"/>
          </a:xfrm>
          <a:prstGeom prst="rect">
            <a:avLst/>
          </a:prstGeom>
        </p:spPr>
      </p:pic>
      <p:sp>
        <p:nvSpPr>
          <p:cNvPr id="17" name="!!lensn-LA"/>
          <p:cNvSpPr txBox="1"/>
          <p:nvPr/>
        </p:nvSpPr>
        <p:spPr>
          <a:xfrm>
            <a:off x="9703401" y="1837943"/>
            <a:ext cx="1738485"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Learning Analytics</a:t>
            </a:r>
          </a:p>
        </p:txBody>
      </p:sp>
      <p:sp>
        <p:nvSpPr>
          <p:cNvPr id="18" name="!!lens-PM">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lensh-PM">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ensh2-PM">
            <a:extLst>
              <a:ext uri="{C183D7F6-B498-43B3-948B-1728B52AA6E4}">
                <adec:decorative xmlns:adec="http://schemas.microsoft.com/office/drawing/2017/decorative" val="1"/>
              </a:ext>
            </a:extLst>
          </p:cNvPr>
          <p:cNvSpPr/>
          <p:nvPr/>
        </p:nvSpPr>
        <p:spPr>
          <a:xfrm>
            <a:off x="8936431" y="2779776"/>
            <a:ext cx="2596896" cy="1097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1" name="!!lensi-PM" descr="tasks-FFFFFF.png">
            <a:extLst>
              <a:ext uri="{C183D7F6-B498-43B3-948B-1728B52AA6E4}">
                <adec:decorative xmlns:adec="http://schemas.microsoft.com/office/drawing/2017/decorative" val="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137599" y="2514600"/>
            <a:ext cx="301783" cy="256032"/>
          </a:xfrm>
          <a:prstGeom prst="rect">
            <a:avLst/>
          </a:prstGeom>
        </p:spPr>
      </p:pic>
      <p:sp>
        <p:nvSpPr>
          <p:cNvPr id="22" name="!!lensn-PM"/>
          <p:cNvSpPr txBox="1"/>
          <p:nvPr/>
        </p:nvSpPr>
        <p:spPr>
          <a:xfrm>
            <a:off x="9585686" y="2496312"/>
            <a:ext cx="1856200"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Project Management</a:t>
            </a:r>
          </a:p>
        </p:txBody>
      </p:sp>
      <p:sp>
        <p:nvSpPr>
          <p:cNvPr id="23" name="!!lens-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F8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ensh-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ensh2-SEC">
            <a:extLst>
              <a:ext uri="{C183D7F6-B498-43B3-948B-1728B52AA6E4}">
                <adec:decorative xmlns:adec="http://schemas.microsoft.com/office/drawing/2017/decorative" val="1"/>
              </a:ext>
            </a:extLst>
          </p:cNvPr>
          <p:cNvSpPr/>
          <p:nvPr/>
        </p:nvSpPr>
        <p:spPr>
          <a:xfrm>
            <a:off x="8936431" y="3438144"/>
            <a:ext cx="2596896" cy="1097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6" name="!!lensi-SEC" descr="shield-alt-FFFFFF.png">
            <a:extLst>
              <a:ext uri="{C183D7F6-B498-43B3-948B-1728B52AA6E4}">
                <adec:decorative xmlns:adec="http://schemas.microsoft.com/office/drawing/2017/decorative" val="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9137599" y="3172968"/>
            <a:ext cx="256032" cy="256032"/>
          </a:xfrm>
          <a:prstGeom prst="rect">
            <a:avLst/>
          </a:prstGeom>
        </p:spPr>
      </p:pic>
      <p:sp>
        <p:nvSpPr>
          <p:cNvPr id="27" name="!!lensn-SEC"/>
          <p:cNvSpPr txBox="1"/>
          <p:nvPr/>
        </p:nvSpPr>
        <p:spPr>
          <a:xfrm>
            <a:off x="9539935" y="3154679"/>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Cybersecurity</a:t>
            </a:r>
          </a:p>
        </p:txBody>
      </p:sp>
      <p:sp>
        <p:nvSpPr>
          <p:cNvPr id="2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pfill">
            <a:extLst>
              <a:ext uri="{C183D7F6-B498-43B3-948B-1728B52AA6E4}">
                <adec:decorative xmlns:adec="http://schemas.microsoft.com/office/drawing/2017/decorative" val="1"/>
              </a:ext>
            </a:extLst>
          </p:cNvPr>
          <p:cNvSpPr/>
          <p:nvPr/>
        </p:nvSpPr>
        <p:spPr>
          <a:xfrm>
            <a:off x="0" y="0"/>
            <a:ext cx="7044090"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700">
        <p159:morph option="byObject"/>
      </p:transition>
    </mc:Choice>
    <mc:Fallback>
      <p:transition spd="med">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Cybersecurity: Semi-Supervised Learning</a:t>
            </a:r>
          </a:p>
        </p:txBody>
      </p:sp>
      <p:pic>
        <p:nvPicPr>
          <p:cNvPr id="3" name="!!kicker-icon" descr="compass-922B21.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922B21"/>
                </a:solidFill>
                <a:latin typeface="Segoe UI"/>
              </a:rPr>
              <a:t>FOUR LENSES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17  ·  Semi-Supervised Learning and the EM Algorithm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136     </a:t>
            </a:r>
            <a:fld id="{27DACEA5-B4C0-45A9-9758-3D396D711329}" type="slidenum">
              <a:rPr lang="en-GB" sz="1000">
                <a:solidFill>
                  <a:srgbClr val="8795A1"/>
                </a:solidFill>
                <a:latin typeface="Segoe UI"/>
              </a:rPr>
              <a:t>27</a:t>
            </a:fld>
          </a:p>
        </p:txBody>
      </p:sp>
      <p:sp>
        <p:nvSpPr>
          <p:cNvPr id="7" name="!!lens-SEC">
            <a:extLst>
              <a:ext uri="{C183D7F6-B498-43B3-948B-1728B52AA6E4}">
                <adec:decorative xmlns:adec="http://schemas.microsoft.com/office/drawing/2017/decorative" val="1"/>
              </a:ext>
            </a:extLst>
          </p:cNvPr>
          <p:cNvSpPr/>
          <p:nvPr/>
        </p:nvSpPr>
        <p:spPr>
          <a:xfrm>
            <a:off x="658368" y="1737360"/>
            <a:ext cx="8040319" cy="4572000"/>
          </a:xfrm>
          <a:prstGeom prst="roundRect">
            <a:avLst>
              <a:gd name="adj" fmla="val 2000"/>
            </a:avLst>
          </a:prstGeom>
          <a:solidFill>
            <a:srgbClr val="F8F2F2"/>
          </a:solidFill>
          <a:ln>
            <a:noFill/>
          </a:ln>
          <a:effectLst>
            <a:outerShdw blurRad="177800" dist="38100" dir="5400000" algn="t" rotWithShape="0">
              <a:srgbClr val="1C252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lensh-SEC">
            <a:extLst>
              <a:ext uri="{C183D7F6-B498-43B3-948B-1728B52AA6E4}">
                <adec:decorative xmlns:adec="http://schemas.microsoft.com/office/drawing/2017/decorative" val="1"/>
              </a:ext>
            </a:extLst>
          </p:cNvPr>
          <p:cNvSpPr/>
          <p:nvPr/>
        </p:nvSpPr>
        <p:spPr>
          <a:xfrm>
            <a:off x="658368" y="1737360"/>
            <a:ext cx="8040319" cy="493776"/>
          </a:xfrm>
          <a:prstGeom prst="roundRect">
            <a:avLst>
              <a:gd name="adj" fmla="val 18518"/>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ensh2-SEC">
            <a:extLst>
              <a:ext uri="{C183D7F6-B498-43B3-948B-1728B52AA6E4}">
                <adec:decorative xmlns:adec="http://schemas.microsoft.com/office/drawing/2017/decorative" val="1"/>
              </a:ext>
            </a:extLst>
          </p:cNvPr>
          <p:cNvSpPr/>
          <p:nvPr/>
        </p:nvSpPr>
        <p:spPr>
          <a:xfrm>
            <a:off x="658368" y="2121408"/>
            <a:ext cx="8040319" cy="1097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 name="!!lensi-SEC" descr="shield-alt-FFFFFF.png">
            <a:extLs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9536" y="1856231"/>
            <a:ext cx="256032" cy="256032"/>
          </a:xfrm>
          <a:prstGeom prst="rect">
            <a:avLst/>
          </a:prstGeom>
        </p:spPr>
      </p:pic>
      <p:sp>
        <p:nvSpPr>
          <p:cNvPr id="11" name="!!lensn-SEC"/>
          <p:cNvSpPr txBox="1"/>
          <p:nvPr/>
        </p:nvSpPr>
        <p:spPr>
          <a:xfrm>
            <a:off x="1261872" y="1837943"/>
            <a:ext cx="7345375"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CYBERSECURITY</a:t>
            </a:r>
          </a:p>
        </p:txBody>
      </p:sp>
      <p:sp>
        <p:nvSpPr>
          <p:cNvPr id="12" name="!!lensb-SEC-0"/>
          <p:cNvSpPr txBox="1"/>
          <p:nvPr/>
        </p:nvSpPr>
        <p:spPr>
          <a:xfrm>
            <a:off x="896112" y="2432304"/>
            <a:ext cx="7583119" cy="1789176"/>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Security labels are scarce, slow and expensive — each needs an analyst. Semi-supervised malware and intrusion classifiers are standard, and so is their failure mode: an attacker who knows the model self-trains can feed it examples designed to be pseudo-labelled benign.</a:t>
            </a:r>
          </a:p>
        </p:txBody>
      </p:sp>
      <p:sp>
        <p:nvSpPr>
          <p:cNvPr id="13" name="!!lens-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F6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ensh-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ensh2-LA">
            <a:extLst>
              <a:ext uri="{C183D7F6-B498-43B3-948B-1728B52AA6E4}">
                <adec:decorative xmlns:adec="http://schemas.microsoft.com/office/drawing/2017/decorative" val="1"/>
              </a:ext>
            </a:extLst>
          </p:cNvPr>
          <p:cNvSpPr/>
          <p:nvPr/>
        </p:nvSpPr>
        <p:spPr>
          <a:xfrm>
            <a:off x="8936431" y="2121408"/>
            <a:ext cx="2596896" cy="10972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 name="!!lensi-LA" descr="graduation-cap-FFFFFF.png">
            <a:extLst>
              <a:ext uri="{C183D7F6-B498-43B3-948B-1728B52AA6E4}">
                <adec:decorative xmlns:adec="http://schemas.microsoft.com/office/drawing/2017/decorative" val="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137599" y="1856231"/>
            <a:ext cx="419498" cy="256032"/>
          </a:xfrm>
          <a:prstGeom prst="rect">
            <a:avLst/>
          </a:prstGeom>
        </p:spPr>
      </p:pic>
      <p:sp>
        <p:nvSpPr>
          <p:cNvPr id="17" name="!!lensn-LA"/>
          <p:cNvSpPr txBox="1"/>
          <p:nvPr/>
        </p:nvSpPr>
        <p:spPr>
          <a:xfrm>
            <a:off x="9703401" y="1837943"/>
            <a:ext cx="1738485"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Learning Analytics</a:t>
            </a:r>
          </a:p>
        </p:txBody>
      </p:sp>
      <p:sp>
        <p:nvSpPr>
          <p:cNvPr id="18" name="!!lens-PM">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lensh-PM">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ensh2-PM">
            <a:extLst>
              <a:ext uri="{C183D7F6-B498-43B3-948B-1728B52AA6E4}">
                <adec:decorative xmlns:adec="http://schemas.microsoft.com/office/drawing/2017/decorative" val="1"/>
              </a:ext>
            </a:extLst>
          </p:cNvPr>
          <p:cNvSpPr/>
          <p:nvPr/>
        </p:nvSpPr>
        <p:spPr>
          <a:xfrm>
            <a:off x="8936431" y="2779776"/>
            <a:ext cx="2596896" cy="1097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1" name="!!lensi-PM" descr="tasks-FFFFFF.png">
            <a:extLst>
              <a:ext uri="{C183D7F6-B498-43B3-948B-1728B52AA6E4}">
                <adec:decorative xmlns:adec="http://schemas.microsoft.com/office/drawing/2017/decorative" val="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137599" y="2514600"/>
            <a:ext cx="301783" cy="256032"/>
          </a:xfrm>
          <a:prstGeom prst="rect">
            <a:avLst/>
          </a:prstGeom>
        </p:spPr>
      </p:pic>
      <p:sp>
        <p:nvSpPr>
          <p:cNvPr id="22" name="!!lensn-PM"/>
          <p:cNvSpPr txBox="1"/>
          <p:nvPr/>
        </p:nvSpPr>
        <p:spPr>
          <a:xfrm>
            <a:off x="9585686" y="2496312"/>
            <a:ext cx="1856200"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Project Management</a:t>
            </a:r>
          </a:p>
        </p:txBody>
      </p:sp>
      <p:sp>
        <p:nvSpPr>
          <p:cNvPr id="23" name="!!lens-IOT">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F1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ensh-IOT">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ensh2-IOT">
            <a:extLst>
              <a:ext uri="{C183D7F6-B498-43B3-948B-1728B52AA6E4}">
                <adec:decorative xmlns:adec="http://schemas.microsoft.com/office/drawing/2017/decorative" val="1"/>
              </a:ext>
            </a:extLst>
          </p:cNvPr>
          <p:cNvSpPr/>
          <p:nvPr/>
        </p:nvSpPr>
        <p:spPr>
          <a:xfrm>
            <a:off x="8936431" y="3438144"/>
            <a:ext cx="2596896" cy="1097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6" name="!!lensi-IOT" descr="microchip-FFFFFF.png">
            <a:extLst>
              <a:ext uri="{C183D7F6-B498-43B3-948B-1728B52AA6E4}">
                <adec:decorative xmlns:adec="http://schemas.microsoft.com/office/drawing/2017/decorative" val="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9137599" y="3172968"/>
            <a:ext cx="256032" cy="256032"/>
          </a:xfrm>
          <a:prstGeom prst="rect">
            <a:avLst/>
          </a:prstGeom>
        </p:spPr>
      </p:pic>
      <p:sp>
        <p:nvSpPr>
          <p:cNvPr id="27" name="!!lensn-IOT"/>
          <p:cNvSpPr txBox="1"/>
          <p:nvPr/>
        </p:nvSpPr>
        <p:spPr>
          <a:xfrm>
            <a:off x="9539935" y="3154679"/>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Internet of Things</a:t>
            </a:r>
          </a:p>
        </p:txBody>
      </p:sp>
      <p:sp>
        <p:nvSpPr>
          <p:cNvPr id="2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pfill">
            <a:extLst>
              <a:ext uri="{C183D7F6-B498-43B3-948B-1728B52AA6E4}">
                <adec:decorative xmlns:adec="http://schemas.microsoft.com/office/drawing/2017/decorative" val="1"/>
              </a:ext>
            </a:extLst>
          </p:cNvPr>
          <p:cNvSpPr/>
          <p:nvPr/>
        </p:nvSpPr>
        <p:spPr>
          <a:xfrm>
            <a:off x="0" y="0"/>
            <a:ext cx="7315017"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700">
        <p159:morph option="byObject"/>
      </p:transition>
    </mc:Choice>
    <mc:Fallback>
      <p:transition spd="med">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Try it yourself: EM by Hand, Then Fifty Labels and a Thousand Guesses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17  ·  Semi-Supervised Learning and the EM Algorithm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§17.5  ·  Handout p. 131     </a:t>
            </a:r>
            <a:fld id="{6B65D9B6-96BA-419B-BCE5-08151BB9C6B7}" type="slidenum">
              <a:rPr lang="en-GB" sz="1000">
                <a:solidFill>
                  <a:srgbClr val="8795A1"/>
                </a:solidFill>
                <a:latin typeface="Segoe UI"/>
              </a:rPr>
              <a:t>28</a:t>
            </a:fld>
          </a:p>
        </p:txBody>
      </p:sp>
      <p:sp>
        <p:nvSpPr>
          <p:cNvPr id="7" name="!!labsteps-h"/>
          <p:cNvSpPr txBox="1"/>
          <p:nvPr/>
        </p:nvSpPr>
        <p:spPr>
          <a:xfrm>
            <a:off x="658368" y="1737360"/>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0E6655"/>
                </a:solidFill>
                <a:latin typeface="Segoe UI"/>
              </a:rPr>
              <a:t>WHAT YOU WILL DO</a:t>
            </a:r>
          </a:p>
        </p:txBody>
      </p:sp>
      <p:sp>
        <p:nvSpPr>
          <p:cNvPr id="8" name="!!labsteps"/>
          <p:cNvSpPr txBox="1"/>
          <p:nvPr/>
        </p:nvSpPr>
        <p:spPr>
          <a:xfrm>
            <a:off x="658368" y="2121408"/>
            <a:ext cx="10874959" cy="1104900"/>
          </a:xfrm>
          <a:prstGeom prst="rect">
            <a:avLst/>
          </a:prstGeom>
          <a:noFill/>
        </p:spPr>
        <p:txBody>
          <a:bodyPr wrap="square" anchor="t" lIns="0" rIns="0" tIns="0" bIns="0">
            <a:noAutofit/>
          </a:bodyPr>
          <a:lstStyle/>
          <a:p>
            <a:pPr algn="l" marL="459473" indent="-459473">
              <a:lnSpc>
                <a:spcPct val="100000"/>
              </a:lnSpc>
              <a:spcBef>
                <a:spcPts val="0"/>
              </a:spcBef>
              <a:spcAft>
                <a:spcPts val="570"/>
              </a:spcAft>
            </a:pPr>
            <a:r>
              <a:rPr sz="1900" b="1">
                <a:solidFill>
                  <a:srgbClr val="117A65"/>
                </a:solidFill>
                <a:latin typeface="Segoe UI"/>
              </a:rPr>
              <a:t>1.	</a:t>
            </a:r>
            <a:r>
              <a:rPr sz="1900" b="0" i="0">
                <a:solidFill>
                  <a:srgbClr val="1C252B"/>
                </a:solidFill>
                <a:latin typeface="Segoe UI"/>
              </a:rPr>
              <a:t>EM for two Gaussian means (sigma = 1 known, equal weights)</a:t>
            </a:r>
          </a:p>
          <a:p>
            <a:pPr algn="l" marL="459473" indent="-459473">
              <a:lnSpc>
                <a:spcPct val="100000"/>
              </a:lnSpc>
              <a:spcBef>
                <a:spcPts val="0"/>
              </a:spcBef>
              <a:spcAft>
                <a:spcPts val="570"/>
              </a:spcAft>
            </a:pPr>
            <a:r>
              <a:rPr sz="1900" b="1">
                <a:solidFill>
                  <a:srgbClr val="117A65"/>
                </a:solidFill>
                <a:latin typeface="Segoe UI"/>
              </a:rPr>
              <a:t>2.	</a:t>
            </a:r>
            <a:r>
              <a:rPr sz="1900" b="0" i="0">
                <a:solidFill>
                  <a:srgbClr val="1C252B"/>
                </a:solidFill>
                <a:latin typeface="Segoe UI"/>
              </a:rPr>
              <a:t>Two labels, four unlabelled points</a:t>
            </a:r>
          </a:p>
          <a:p>
            <a:pPr algn="l" marL="459473" indent="-459473">
              <a:lnSpc>
                <a:spcPct val="100000"/>
              </a:lnSpc>
              <a:spcBef>
                <a:spcPts val="0"/>
              </a:spcBef>
              <a:spcAft>
                <a:spcPts val="0"/>
              </a:spcAft>
            </a:pPr>
            <a:r>
              <a:rPr sz="1900" b="1">
                <a:solidFill>
                  <a:srgbClr val="117A65"/>
                </a:solidFill>
                <a:latin typeface="Segoe UI"/>
              </a:rPr>
              <a:t>3.	</a:t>
            </a:r>
            <a:r>
              <a:rPr sz="1900" b="0" i="0">
                <a:solidFill>
                  <a:srgbClr val="1C252B"/>
                </a:solidFill>
                <a:latin typeface="Segoe UI"/>
              </a:rPr>
              <a:t>Self-training with 50 labels out of 1,257</a:t>
            </a:r>
          </a:p>
        </p:txBody>
      </p:sp>
      <p:sp>
        <p:nvSpPr>
          <p:cNvPr id="19" name="!!lfTHIS">
            <a:extLst>
              <a:ext uri="{C183D7F6-B498-43B3-948B-1728B52AA6E4}">
                <adec:decorative xmlns:adec="http://schemas.microsoft.com/office/drawing/2017/decorative" val="1"/>
              </a:ext>
            </a:extLst>
          </p:cNvPr>
          <p:cNvSpPr/>
          <p:nvPr/>
        </p:nvSpPr>
        <p:spPr>
          <a:xfrm>
            <a:off x="658368"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fbTHIS">
            <a:extLst>
              <a:ext uri="{C183D7F6-B498-43B3-948B-1728B52AA6E4}">
                <adec:decorative xmlns:adec="http://schemas.microsoft.com/office/drawing/2017/decorative" val="1"/>
              </a:ext>
            </a:extLst>
          </p:cNvPr>
          <p:cNvSpPr/>
          <p:nvPr/>
        </p:nvSpPr>
        <p:spPr>
          <a:xfrm>
            <a:off x="658368"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lflTHIS"/>
          <p:cNvSpPr txBox="1"/>
          <p:nvPr/>
        </p:nvSpPr>
        <p:spPr>
          <a:xfrm>
            <a:off x="932688"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THIS WEEK'S LAB</a:t>
            </a:r>
          </a:p>
        </p:txBody>
      </p:sp>
      <p:sp>
        <p:nvSpPr>
          <p:cNvPr id="22" name="!!lfvTHIS"/>
          <p:cNvSpPr txBox="1"/>
          <p:nvPr/>
        </p:nvSpPr>
        <p:spPr>
          <a:xfrm>
            <a:off x="932688"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700" b="0" i="0">
                <a:solidFill>
                  <a:srgbClr val="1C252B"/>
                </a:solidFill>
                <a:latin typeface="Segoe UI"/>
              </a:rPr>
              <a:t>Week 14: EM by hand; forward, Viterbi, Baum–Welch</a:t>
            </a:r>
          </a:p>
        </p:txBody>
      </p:sp>
      <p:sp>
        <p:nvSpPr>
          <p:cNvPr id="23" name="!!lfWHAT">
            <a:extLst>
              <a:ext uri="{C183D7F6-B498-43B3-948B-1728B52AA6E4}">
                <adec:decorative xmlns:adec="http://schemas.microsoft.com/office/drawing/2017/decorative" val="1"/>
              </a:ext>
            </a:extLst>
          </p:cNvPr>
          <p:cNvSpPr/>
          <p:nvPr/>
        </p:nvSpPr>
        <p:spPr>
          <a:xfrm>
            <a:off x="4374794"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fbWHAT">
            <a:extLst>
              <a:ext uri="{C183D7F6-B498-43B3-948B-1728B52AA6E4}">
                <adec:decorative xmlns:adec="http://schemas.microsoft.com/office/drawing/2017/decorative" val="1"/>
              </a:ext>
            </a:extLst>
          </p:cNvPr>
          <p:cNvSpPr/>
          <p:nvPr/>
        </p:nvSpPr>
        <p:spPr>
          <a:xfrm>
            <a:off x="4374794"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flWHAT"/>
          <p:cNvSpPr txBox="1"/>
          <p:nvPr/>
        </p:nvSpPr>
        <p:spPr>
          <a:xfrm>
            <a:off x="4649114"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WHAT YOU WILL RUN</a:t>
            </a:r>
          </a:p>
        </p:txBody>
      </p:sp>
      <p:sp>
        <p:nvSpPr>
          <p:cNvPr id="26" name="!!lfvWHAT"/>
          <p:cNvSpPr txBox="1"/>
          <p:nvPr/>
        </p:nvSpPr>
        <p:spPr>
          <a:xfrm>
            <a:off x="4649114"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1 listing, 47 lines of Python</a:t>
            </a:r>
          </a:p>
        </p:txBody>
      </p:sp>
      <p:sp>
        <p:nvSpPr>
          <p:cNvPr id="27" name="!!lfRUNN">
            <a:extLst>
              <a:ext uri="{C183D7F6-B498-43B3-948B-1728B52AA6E4}">
                <adec:decorative xmlns:adec="http://schemas.microsoft.com/office/drawing/2017/decorative" val="1"/>
              </a:ext>
            </a:extLst>
          </p:cNvPr>
          <p:cNvSpPr/>
          <p:nvPr/>
        </p:nvSpPr>
        <p:spPr>
          <a:xfrm>
            <a:off x="8091220"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lfbRUNN">
            <a:extLst>
              <a:ext uri="{C183D7F6-B498-43B3-948B-1728B52AA6E4}">
                <adec:decorative xmlns:adec="http://schemas.microsoft.com/office/drawing/2017/decorative" val="1"/>
              </a:ext>
            </a:extLst>
          </p:cNvPr>
          <p:cNvSpPr/>
          <p:nvPr/>
        </p:nvSpPr>
        <p:spPr>
          <a:xfrm>
            <a:off x="8091220"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lflRUNN"/>
          <p:cNvSpPr txBox="1"/>
          <p:nvPr/>
        </p:nvSpPr>
        <p:spPr>
          <a:xfrm>
            <a:off x="8365540"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RUNNABLE COPY</a:t>
            </a:r>
          </a:p>
        </p:txBody>
      </p:sp>
      <p:sp>
        <p:nvSpPr>
          <p:cNvPr id="30" name="!!lfvRUNN"/>
          <p:cNvSpPr txBox="1"/>
          <p:nvPr/>
        </p:nvSpPr>
        <p:spPr>
          <a:xfrm>
            <a:off x="8365540"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Consolas"/>
              </a:rPr>
              <a:t>code/ch17_em_hand_fifty_labels.py</a:t>
            </a:r>
          </a:p>
        </p:txBody>
      </p:sp>
      <p:sp>
        <p:nvSpPr>
          <p:cNvPr id="3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pfill">
            <a:extLst>
              <a:ext uri="{C183D7F6-B498-43B3-948B-1728B52AA6E4}">
                <adec:decorative xmlns:adec="http://schemas.microsoft.com/office/drawing/2017/decorative" val="1"/>
              </a:ext>
            </a:extLst>
          </p:cNvPr>
          <p:cNvSpPr/>
          <p:nvPr/>
        </p:nvSpPr>
        <p:spPr>
          <a:xfrm>
            <a:off x="0" y="0"/>
            <a:ext cx="7585943"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xEl>
                                              <p:pRg st="0" end="0"/>
                                            </p:txEl>
                                          </p:spTgt>
                                        </p:tgtEl>
                                        <p:attrNameLst>
                                          <p:attrName>style.visibility</p:attrName>
                                        </p:attrNameLst>
                                      </p:cBhvr>
                                      <p:to>
                                        <p:strVal val="visible"/>
                                      </p:to>
                                    </p:set>
                                    <p:animEffect transition="in" filter="fade">
                                      <p:cBhvr>
                                        <p:cTn id="8" dur="300"/>
                                        <p:tgtEl>
                                          <p:spTgt spid="8">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8">
                                            <p:txEl>
                                              <p:pRg st="1" end="1"/>
                                            </p:txEl>
                                          </p:spTgt>
                                        </p:tgtEl>
                                        <p:attrNameLst>
                                          <p:attrName>style.visibility</p:attrName>
                                        </p:attrNameLst>
                                      </p:cBhvr>
                                      <p:to>
                                        <p:strVal val="visible"/>
                                      </p:to>
                                    </p:set>
                                    <p:animEffect transition="in" filter="fade">
                                      <p:cBhvr>
                                        <p:cTn id="13" dur="300"/>
                                        <p:tgtEl>
                                          <p:spTgt spid="8">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8">
                                            <p:txEl>
                                              <p:pRg st="2" end="2"/>
                                            </p:txEl>
                                          </p:spTgt>
                                        </p:tgtEl>
                                        <p:attrNameLst>
                                          <p:attrName>style.visibility</p:attrName>
                                        </p:attrNameLst>
                                      </p:cBhvr>
                                      <p:to>
                                        <p:strVal val="visible"/>
                                      </p:to>
                                    </p:set>
                                    <p:animEffect transition="in" filter="fade">
                                      <p:cBhvr>
                                        <p:cTn id="18" dur="3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EM by Hand, Then Fifty Labels and a Thousand Guesses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 OF 4</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17  ·  Semi-Supervised Learning and the EM Algorithm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§17.5  ·  Handout p. 131     </a:t>
            </a:r>
            <a:fld id="{AF04F6BC-E555-44A6-89C6-F94812DF00EF}" type="slidenum">
              <a:rPr lang="en-GB" sz="1000">
                <a:solidFill>
                  <a:srgbClr val="8795A1"/>
                </a:solidFill>
                <a:latin typeface="Segoe UI"/>
              </a:rPr>
              <a:t>29</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737104"/>
          </a:xfrm>
          <a:prstGeom prst="roundRect">
            <a:avLst>
              <a:gd name="adj" fmla="val 3340"/>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code/ch17_em_hand_fifty_labels.py</a:t>
            </a:r>
          </a:p>
        </p:txBody>
      </p:sp>
      <p:sp>
        <p:nvSpPr>
          <p:cNvPr id="14" name="!!code-text" descr="import numpy as np from sklearn.datasets import load_digits from sklearn.model_selection import train_test_split from sklearn.linear_model import LogisticRegression from sklearn.semi_supervised import SelfTrainingClassifier from sklearn.pipeline import make_pipeline from sklearn.preprocessing import StandardScaler"/>
          <p:cNvSpPr txBox="1"/>
          <p:nvPr/>
        </p:nvSpPr>
        <p:spPr>
          <a:xfrm>
            <a:off x="1362456" y="2523744"/>
            <a:ext cx="9987991" cy="2243328"/>
          </a:xfrm>
          <a:prstGeom prst="rect">
            <a:avLst/>
          </a:prstGeom>
          <a:noFill/>
        </p:spPr>
        <p:txBody>
          <a:bodyPr wrap="none" anchor="t" lIns="0" rIns="0" tIns="0" bIns="0">
            <a:noAutofit/>
          </a:bodyPr>
          <a:lstStyle/>
          <a:p>
            <a:pPr>
              <a:lnSpc>
                <a:spcPct val="100000"/>
              </a:lnSpc>
              <a:spcAft>
                <a:spcPts val="0"/>
              </a:spcAft>
            </a:pPr>
            <a:r>
              <a:rPr sz="2000" i="0">
                <a:solidFill>
                  <a:srgbClr val="5DADE2"/>
                </a:solidFill>
                <a:latin typeface="Consolas"/>
              </a:rPr>
              <a:t>import</a:t>
            </a:r>
            <a:r>
              <a:rPr sz="2000" i="0">
                <a:solidFill>
                  <a:srgbClr val="E8EDF2"/>
                </a:solidFill>
                <a:latin typeface="Consolas"/>
              </a:rPr>
              <a:t> </a:t>
            </a:r>
            <a:r>
              <a:rPr sz="2000" i="0">
                <a:solidFill>
                  <a:srgbClr val="76D7C4"/>
                </a:solidFill>
                <a:latin typeface="Consolas"/>
              </a:rPr>
              <a:t>numpy</a:t>
            </a:r>
            <a:r>
              <a:rPr sz="2000" i="0">
                <a:solidFill>
                  <a:srgbClr val="E8EDF2"/>
                </a:solidFill>
                <a:latin typeface="Consolas"/>
              </a:rPr>
              <a:t> </a:t>
            </a:r>
            <a:r>
              <a:rPr sz="2000" i="0">
                <a:solidFill>
                  <a:srgbClr val="5DADE2"/>
                </a:solidFill>
                <a:latin typeface="Consolas"/>
              </a:rPr>
              <a:t>as</a:t>
            </a:r>
            <a:r>
              <a:rPr sz="2000" i="0">
                <a:solidFill>
                  <a:srgbClr val="E8EDF2"/>
                </a:solidFill>
                <a:latin typeface="Consolas"/>
              </a:rPr>
              <a:t> </a:t>
            </a:r>
            <a:r>
              <a:rPr sz="2000" i="0">
                <a:solidFill>
                  <a:srgbClr val="76D7C4"/>
                </a:solidFill>
                <a:latin typeface="Consolas"/>
              </a:rPr>
              <a:t>np</a:t>
            </a:r>
          </a:p>
          <a:p>
            <a:pPr>
              <a:lnSpc>
                <a:spcPct val="100000"/>
              </a:lnSpc>
              <a:spcAft>
                <a:spcPts val="0"/>
              </a:spcAft>
            </a:pPr>
            <a:r>
              <a:rPr sz="2000" i="0">
                <a:solidFill>
                  <a:srgbClr val="5DADE2"/>
                </a:solidFill>
                <a:latin typeface="Consolas"/>
              </a:rPr>
              <a:t>from</a:t>
            </a:r>
            <a:r>
              <a:rPr sz="2000" i="0">
                <a:solidFill>
                  <a:srgbClr val="E8EDF2"/>
                </a:solidFill>
                <a:latin typeface="Consolas"/>
              </a:rPr>
              <a:t> </a:t>
            </a:r>
            <a:r>
              <a:rPr sz="2000" i="0">
                <a:solidFill>
                  <a:srgbClr val="76D7C4"/>
                </a:solidFill>
                <a:latin typeface="Consolas"/>
              </a:rPr>
              <a:t>sklearn</a:t>
            </a:r>
            <a:r>
              <a:rPr sz="2000" i="0">
                <a:solidFill>
                  <a:srgbClr val="76D7C4"/>
                </a:solidFill>
                <a:latin typeface="Consolas"/>
              </a:rPr>
              <a:t>.</a:t>
            </a:r>
            <a:r>
              <a:rPr sz="2000" i="0">
                <a:solidFill>
                  <a:srgbClr val="76D7C4"/>
                </a:solidFill>
                <a:latin typeface="Consolas"/>
              </a:rPr>
              <a:t>datasets</a:t>
            </a:r>
            <a:r>
              <a:rPr sz="2000" i="0">
                <a:solidFill>
                  <a:srgbClr val="E8EDF2"/>
                </a:solidFill>
                <a:latin typeface="Consolas"/>
              </a:rPr>
              <a:t> </a:t>
            </a:r>
            <a:r>
              <a:rPr sz="2000" i="0">
                <a:solidFill>
                  <a:srgbClr val="5DADE2"/>
                </a:solidFill>
                <a:latin typeface="Consolas"/>
              </a:rPr>
              <a:t>import</a:t>
            </a:r>
            <a:r>
              <a:rPr sz="2000" i="0">
                <a:solidFill>
                  <a:srgbClr val="E8EDF2"/>
                </a:solidFill>
                <a:latin typeface="Consolas"/>
              </a:rPr>
              <a:t> </a:t>
            </a:r>
            <a:r>
              <a:rPr sz="2000" i="0">
                <a:solidFill>
                  <a:srgbClr val="E8EDF2"/>
                </a:solidFill>
                <a:latin typeface="Consolas"/>
              </a:rPr>
              <a:t>load_digits</a:t>
            </a:r>
          </a:p>
          <a:p>
            <a:pPr>
              <a:lnSpc>
                <a:spcPct val="100000"/>
              </a:lnSpc>
              <a:spcAft>
                <a:spcPts val="0"/>
              </a:spcAft>
            </a:pPr>
            <a:r>
              <a:rPr sz="2000" i="0">
                <a:solidFill>
                  <a:srgbClr val="5DADE2"/>
                </a:solidFill>
                <a:latin typeface="Consolas"/>
              </a:rPr>
              <a:t>from</a:t>
            </a:r>
            <a:r>
              <a:rPr sz="2000" i="0">
                <a:solidFill>
                  <a:srgbClr val="E8EDF2"/>
                </a:solidFill>
                <a:latin typeface="Consolas"/>
              </a:rPr>
              <a:t> </a:t>
            </a:r>
            <a:r>
              <a:rPr sz="2000" i="0">
                <a:solidFill>
                  <a:srgbClr val="76D7C4"/>
                </a:solidFill>
                <a:latin typeface="Consolas"/>
              </a:rPr>
              <a:t>sklearn</a:t>
            </a:r>
            <a:r>
              <a:rPr sz="2000" i="0">
                <a:solidFill>
                  <a:srgbClr val="76D7C4"/>
                </a:solidFill>
                <a:latin typeface="Consolas"/>
              </a:rPr>
              <a:t>.</a:t>
            </a:r>
            <a:r>
              <a:rPr sz="2000" i="0">
                <a:solidFill>
                  <a:srgbClr val="76D7C4"/>
                </a:solidFill>
                <a:latin typeface="Consolas"/>
              </a:rPr>
              <a:t>model_selection</a:t>
            </a:r>
            <a:r>
              <a:rPr sz="2000" i="0">
                <a:solidFill>
                  <a:srgbClr val="E8EDF2"/>
                </a:solidFill>
                <a:latin typeface="Consolas"/>
              </a:rPr>
              <a:t> </a:t>
            </a:r>
            <a:r>
              <a:rPr sz="2000" i="0">
                <a:solidFill>
                  <a:srgbClr val="5DADE2"/>
                </a:solidFill>
                <a:latin typeface="Consolas"/>
              </a:rPr>
              <a:t>import</a:t>
            </a:r>
            <a:r>
              <a:rPr sz="2000" i="0">
                <a:solidFill>
                  <a:srgbClr val="E8EDF2"/>
                </a:solidFill>
                <a:latin typeface="Consolas"/>
              </a:rPr>
              <a:t> </a:t>
            </a:r>
            <a:r>
              <a:rPr sz="2000" i="0">
                <a:solidFill>
                  <a:srgbClr val="E8EDF2"/>
                </a:solidFill>
                <a:latin typeface="Consolas"/>
              </a:rPr>
              <a:t>train_test_split</a:t>
            </a:r>
          </a:p>
          <a:p>
            <a:pPr>
              <a:lnSpc>
                <a:spcPct val="100000"/>
              </a:lnSpc>
              <a:spcAft>
                <a:spcPts val="0"/>
              </a:spcAft>
            </a:pPr>
            <a:r>
              <a:rPr sz="2000" i="0">
                <a:solidFill>
                  <a:srgbClr val="5DADE2"/>
                </a:solidFill>
                <a:latin typeface="Consolas"/>
              </a:rPr>
              <a:t>from</a:t>
            </a:r>
            <a:r>
              <a:rPr sz="2000" i="0">
                <a:solidFill>
                  <a:srgbClr val="E8EDF2"/>
                </a:solidFill>
                <a:latin typeface="Consolas"/>
              </a:rPr>
              <a:t> </a:t>
            </a:r>
            <a:r>
              <a:rPr sz="2000" i="0">
                <a:solidFill>
                  <a:srgbClr val="76D7C4"/>
                </a:solidFill>
                <a:latin typeface="Consolas"/>
              </a:rPr>
              <a:t>sklearn</a:t>
            </a:r>
            <a:r>
              <a:rPr sz="2000" i="0">
                <a:solidFill>
                  <a:srgbClr val="76D7C4"/>
                </a:solidFill>
                <a:latin typeface="Consolas"/>
              </a:rPr>
              <a:t>.</a:t>
            </a:r>
            <a:r>
              <a:rPr sz="2000" i="0">
                <a:solidFill>
                  <a:srgbClr val="76D7C4"/>
                </a:solidFill>
                <a:latin typeface="Consolas"/>
              </a:rPr>
              <a:t>linear_model</a:t>
            </a:r>
            <a:r>
              <a:rPr sz="2000" i="0">
                <a:solidFill>
                  <a:srgbClr val="E8EDF2"/>
                </a:solidFill>
                <a:latin typeface="Consolas"/>
              </a:rPr>
              <a:t> </a:t>
            </a:r>
            <a:r>
              <a:rPr sz="2000" i="0">
                <a:solidFill>
                  <a:srgbClr val="5DADE2"/>
                </a:solidFill>
                <a:latin typeface="Consolas"/>
              </a:rPr>
              <a:t>import</a:t>
            </a:r>
            <a:r>
              <a:rPr sz="2000" i="0">
                <a:solidFill>
                  <a:srgbClr val="E8EDF2"/>
                </a:solidFill>
                <a:latin typeface="Consolas"/>
              </a:rPr>
              <a:t> </a:t>
            </a:r>
            <a:r>
              <a:rPr sz="2000" i="0">
                <a:solidFill>
                  <a:srgbClr val="E8EDF2"/>
                </a:solidFill>
                <a:latin typeface="Consolas"/>
              </a:rPr>
              <a:t>LogisticRegression</a:t>
            </a:r>
          </a:p>
          <a:p>
            <a:pPr>
              <a:lnSpc>
                <a:spcPct val="100000"/>
              </a:lnSpc>
              <a:spcAft>
                <a:spcPts val="0"/>
              </a:spcAft>
            </a:pPr>
            <a:r>
              <a:rPr sz="2000" i="0">
                <a:solidFill>
                  <a:srgbClr val="5DADE2"/>
                </a:solidFill>
                <a:latin typeface="Consolas"/>
              </a:rPr>
              <a:t>from</a:t>
            </a:r>
            <a:r>
              <a:rPr sz="2000" i="0">
                <a:solidFill>
                  <a:srgbClr val="E8EDF2"/>
                </a:solidFill>
                <a:latin typeface="Consolas"/>
              </a:rPr>
              <a:t> </a:t>
            </a:r>
            <a:r>
              <a:rPr sz="2000" i="0">
                <a:solidFill>
                  <a:srgbClr val="76D7C4"/>
                </a:solidFill>
                <a:latin typeface="Consolas"/>
              </a:rPr>
              <a:t>sklearn</a:t>
            </a:r>
            <a:r>
              <a:rPr sz="2000" i="0">
                <a:solidFill>
                  <a:srgbClr val="76D7C4"/>
                </a:solidFill>
                <a:latin typeface="Consolas"/>
              </a:rPr>
              <a:t>.</a:t>
            </a:r>
            <a:r>
              <a:rPr sz="2000" i="0">
                <a:solidFill>
                  <a:srgbClr val="76D7C4"/>
                </a:solidFill>
                <a:latin typeface="Consolas"/>
              </a:rPr>
              <a:t>semi_supervised</a:t>
            </a:r>
            <a:r>
              <a:rPr sz="2000" i="0">
                <a:solidFill>
                  <a:srgbClr val="E8EDF2"/>
                </a:solidFill>
                <a:latin typeface="Consolas"/>
              </a:rPr>
              <a:t> </a:t>
            </a:r>
            <a:r>
              <a:rPr sz="2000" i="0">
                <a:solidFill>
                  <a:srgbClr val="5DADE2"/>
                </a:solidFill>
                <a:latin typeface="Consolas"/>
              </a:rPr>
              <a:t>import</a:t>
            </a:r>
            <a:r>
              <a:rPr sz="2000" i="0">
                <a:solidFill>
                  <a:srgbClr val="E8EDF2"/>
                </a:solidFill>
                <a:latin typeface="Consolas"/>
              </a:rPr>
              <a:t> </a:t>
            </a:r>
            <a:r>
              <a:rPr sz="2000" i="0">
                <a:solidFill>
                  <a:srgbClr val="E8EDF2"/>
                </a:solidFill>
                <a:latin typeface="Consolas"/>
              </a:rPr>
              <a:t>SelfTrainingClassifier</a:t>
            </a:r>
          </a:p>
          <a:p>
            <a:pPr>
              <a:lnSpc>
                <a:spcPct val="100000"/>
              </a:lnSpc>
              <a:spcAft>
                <a:spcPts val="0"/>
              </a:spcAft>
            </a:pPr>
            <a:r>
              <a:rPr sz="2000" i="0">
                <a:solidFill>
                  <a:srgbClr val="5DADE2"/>
                </a:solidFill>
                <a:latin typeface="Consolas"/>
              </a:rPr>
              <a:t>from</a:t>
            </a:r>
            <a:r>
              <a:rPr sz="2000" i="0">
                <a:solidFill>
                  <a:srgbClr val="E8EDF2"/>
                </a:solidFill>
                <a:latin typeface="Consolas"/>
              </a:rPr>
              <a:t> </a:t>
            </a:r>
            <a:r>
              <a:rPr sz="2000" i="0">
                <a:solidFill>
                  <a:srgbClr val="76D7C4"/>
                </a:solidFill>
                <a:latin typeface="Consolas"/>
              </a:rPr>
              <a:t>sklearn</a:t>
            </a:r>
            <a:r>
              <a:rPr sz="2000" i="0">
                <a:solidFill>
                  <a:srgbClr val="76D7C4"/>
                </a:solidFill>
                <a:latin typeface="Consolas"/>
              </a:rPr>
              <a:t>.</a:t>
            </a:r>
            <a:r>
              <a:rPr sz="2000" i="0">
                <a:solidFill>
                  <a:srgbClr val="76D7C4"/>
                </a:solidFill>
                <a:latin typeface="Consolas"/>
              </a:rPr>
              <a:t>pipeline</a:t>
            </a:r>
            <a:r>
              <a:rPr sz="2000" i="0">
                <a:solidFill>
                  <a:srgbClr val="E8EDF2"/>
                </a:solidFill>
                <a:latin typeface="Consolas"/>
              </a:rPr>
              <a:t> </a:t>
            </a:r>
            <a:r>
              <a:rPr sz="2000" i="0">
                <a:solidFill>
                  <a:srgbClr val="5DADE2"/>
                </a:solidFill>
                <a:latin typeface="Consolas"/>
              </a:rPr>
              <a:t>import</a:t>
            </a:r>
            <a:r>
              <a:rPr sz="2000" i="0">
                <a:solidFill>
                  <a:srgbClr val="E8EDF2"/>
                </a:solidFill>
                <a:latin typeface="Consolas"/>
              </a:rPr>
              <a:t> </a:t>
            </a:r>
            <a:r>
              <a:rPr sz="2000" i="0">
                <a:solidFill>
                  <a:srgbClr val="E8EDF2"/>
                </a:solidFill>
                <a:latin typeface="Consolas"/>
              </a:rPr>
              <a:t>make_pipeline</a:t>
            </a:r>
          </a:p>
          <a:p>
            <a:pPr>
              <a:lnSpc>
                <a:spcPct val="100000"/>
              </a:lnSpc>
              <a:spcAft>
                <a:spcPts val="0"/>
              </a:spcAft>
            </a:pPr>
            <a:r>
              <a:rPr sz="2000" i="0">
                <a:solidFill>
                  <a:srgbClr val="5DADE2"/>
                </a:solidFill>
                <a:latin typeface="Consolas"/>
              </a:rPr>
              <a:t>from</a:t>
            </a:r>
            <a:r>
              <a:rPr sz="2000" i="0">
                <a:solidFill>
                  <a:srgbClr val="E8EDF2"/>
                </a:solidFill>
                <a:latin typeface="Consolas"/>
              </a:rPr>
              <a:t> </a:t>
            </a:r>
            <a:r>
              <a:rPr sz="2000" i="0">
                <a:solidFill>
                  <a:srgbClr val="76D7C4"/>
                </a:solidFill>
                <a:latin typeface="Consolas"/>
              </a:rPr>
              <a:t>sklearn</a:t>
            </a:r>
            <a:r>
              <a:rPr sz="2000" i="0">
                <a:solidFill>
                  <a:srgbClr val="76D7C4"/>
                </a:solidFill>
                <a:latin typeface="Consolas"/>
              </a:rPr>
              <a:t>.</a:t>
            </a:r>
            <a:r>
              <a:rPr sz="2000" i="0">
                <a:solidFill>
                  <a:srgbClr val="76D7C4"/>
                </a:solidFill>
                <a:latin typeface="Consolas"/>
              </a:rPr>
              <a:t>preprocessing</a:t>
            </a:r>
            <a:r>
              <a:rPr sz="2000" i="0">
                <a:solidFill>
                  <a:srgbClr val="E8EDF2"/>
                </a:solidFill>
                <a:latin typeface="Consolas"/>
              </a:rPr>
              <a:t> </a:t>
            </a:r>
            <a:r>
              <a:rPr sz="2000" i="0">
                <a:solidFill>
                  <a:srgbClr val="5DADE2"/>
                </a:solidFill>
                <a:latin typeface="Consolas"/>
              </a:rPr>
              <a:t>import</a:t>
            </a:r>
            <a:r>
              <a:rPr sz="2000" i="0">
                <a:solidFill>
                  <a:srgbClr val="E8EDF2"/>
                </a:solidFill>
                <a:latin typeface="Consolas"/>
              </a:rPr>
              <a:t> </a:t>
            </a:r>
            <a:r>
              <a:rPr sz="2000" i="0">
                <a:solidFill>
                  <a:srgbClr val="E8EDF2"/>
                </a:solidFill>
                <a:latin typeface="Consolas"/>
              </a:rPr>
              <a:t>StandardScaler</a:t>
            </a:r>
          </a:p>
        </p:txBody>
      </p:sp>
      <p:sp>
        <p:nvSpPr>
          <p:cNvPr id="15" name="!!code-num"/>
          <p:cNvSpPr txBox="1"/>
          <p:nvPr/>
        </p:nvSpPr>
        <p:spPr>
          <a:xfrm>
            <a:off x="768096" y="2523744"/>
            <a:ext cx="393192" cy="2243328"/>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2</a:t>
            </a:r>
          </a:p>
          <a:p>
            <a:pPr algn="r">
              <a:lnSpc>
                <a:spcPct val="100000"/>
              </a:lnSpc>
            </a:pPr>
            <a:r>
              <a:rPr sz="2000">
                <a:solidFill>
                  <a:srgbClr val="4F5D6A"/>
                </a:solidFill>
                <a:latin typeface="Consolas"/>
              </a:rPr>
              <a:t>3</a:t>
            </a:r>
          </a:p>
          <a:p>
            <a:pPr algn="r">
              <a:lnSpc>
                <a:spcPct val="100000"/>
              </a:lnSpc>
            </a:pPr>
            <a:r>
              <a:rPr sz="2000">
                <a:solidFill>
                  <a:srgbClr val="4F5D6A"/>
                </a:solidFill>
                <a:latin typeface="Consolas"/>
              </a:rPr>
              <a:t>4</a:t>
            </a:r>
          </a:p>
          <a:p>
            <a:pPr algn="r">
              <a:lnSpc>
                <a:spcPct val="100000"/>
              </a:lnSpc>
            </a:pPr>
            <a:r>
              <a:rPr sz="2000">
                <a:solidFill>
                  <a:srgbClr val="4F5D6A"/>
                </a:solidFill>
                <a:latin typeface="Consolas"/>
              </a:rPr>
              <a:t>5</a:t>
            </a:r>
          </a:p>
          <a:p>
            <a:pPr algn="r">
              <a:lnSpc>
                <a:spcPct val="100000"/>
              </a:lnSpc>
            </a:pPr>
            <a:r>
              <a:rPr sz="2000">
                <a:solidFill>
                  <a:srgbClr val="4F5D6A"/>
                </a:solidFill>
                <a:latin typeface="Consolas"/>
              </a:rPr>
              <a:t>6</a:t>
            </a:r>
          </a:p>
          <a:p>
            <a:pPr algn="r">
              <a:lnSpc>
                <a:spcPct val="100000"/>
              </a:lnSpc>
            </a:pPr>
            <a:r>
              <a:rPr sz="2000">
                <a:solidFill>
                  <a:srgbClr val="4F5D6A"/>
                </a:solidFill>
                <a:latin typeface="Consolas"/>
              </a:rPr>
              <a:t>7</a:t>
            </a:r>
          </a:p>
          <a:p>
            <a:pPr algn="r">
              <a:lnSpc>
                <a:spcPct val="100000"/>
              </a:lnSpc>
            </a:pPr>
            <a:r>
              <a:rPr sz="2000">
                <a:solidFill>
                  <a:srgbClr val="4F5D6A"/>
                </a:solidFill>
                <a:latin typeface="Consolas"/>
              </a:rPr>
              <a:t>8</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856870"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p:transition spd="med">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EM by Hand, Then Fifty Labels and a Thousand Guesses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2 OF 4</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17  ·  Semi-Supervised Learning and the EM Algorithm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§17.5  ·  Handout p. 131     </a:t>
            </a:r>
            <a:fld id="{D85A0FAC-B695-4ED1-BE9B-06B82C187E48}" type="slidenum">
              <a:rPr lang="en-GB" sz="1000">
                <a:solidFill>
                  <a:srgbClr val="8795A1"/>
                </a:solidFill>
                <a:latin typeface="Segoe UI"/>
              </a:rPr>
              <a:t>30</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EM for two Gaussian means (sigma = 1 known, equal weights)</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072383"/>
          </a:xfrm>
          <a:prstGeom prst="roundRect">
            <a:avLst>
              <a:gd name="adj" fmla="val 297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code/ch17_em_hand_fifty_labels.py</a:t>
            </a:r>
          </a:p>
        </p:txBody>
      </p:sp>
      <p:sp>
        <p:nvSpPr>
          <p:cNvPr id="14" name="!!code-text" descr="# --- 1. EM for two Gaussian means (sigma = 1 known, equal weights) ------- x = np.array([1.0, 2.0, 3.0, 7.0, 8.0, 9.0]) mu = np.array([2.0, 5.0]) # initial guesses for it in range(1, 5): dens = np.exp(-0.5 * (x[:, None] - mu[None, :]) ** 2) # E-step r = dens / dens.sum(axis=1, keepdims=True) # responsibilities ll = np.log(dens.mean(axis=1) / np.sqrt(2 * np.pi)).sum() mu = (r * x[:, None]).sum(axis=0) / r.sum(axis=0) # M-step print(f&quot;iteration {it}: log-likelihood {ll:8.3f} -&gt; mu = {mu.round(3)}&quot;)"/>
          <p:cNvSpPr txBox="1"/>
          <p:nvPr/>
        </p:nvSpPr>
        <p:spPr>
          <a:xfrm>
            <a:off x="1362456" y="2523744"/>
            <a:ext cx="9987991" cy="2578607"/>
          </a:xfrm>
          <a:prstGeom prst="rect">
            <a:avLst/>
          </a:prstGeom>
          <a:noFill/>
        </p:spPr>
        <p:txBody>
          <a:bodyPr wrap="none" anchor="t" lIns="0" rIns="0" tIns="0" bIns="0">
            <a:noAutofit/>
          </a:bodyPr>
          <a:lstStyle/>
          <a:p>
            <a:pPr>
              <a:lnSpc>
                <a:spcPct val="100000"/>
              </a:lnSpc>
              <a:spcAft>
                <a:spcPts val="0"/>
              </a:spcAft>
            </a:pPr>
            <a:r>
              <a:rPr sz="1800" i="1">
                <a:solidFill>
                  <a:srgbClr val="8795A1"/>
                </a:solidFill>
                <a:latin typeface="Consolas"/>
              </a:rPr>
              <a:t># --- 1. EM for two Gaussian means (sigma = 1 known, equal weights) -------</a:t>
            </a:r>
          </a:p>
          <a:p>
            <a:pPr>
              <a:lnSpc>
                <a:spcPct val="100000"/>
              </a:lnSpc>
              <a:spcAft>
                <a:spcPts val="0"/>
              </a:spcAft>
            </a:pPr>
            <a:r>
              <a:rPr sz="1800" i="0">
                <a:solidFill>
                  <a:srgbClr val="E8EDF2"/>
                </a:solidFill>
                <a:latin typeface="Consolas"/>
              </a:rPr>
              <a:t>x</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array</a:t>
            </a:r>
            <a:r>
              <a:rPr sz="1800" i="0">
                <a:solidFill>
                  <a:srgbClr val="AEB6BF"/>
                </a:solidFill>
                <a:latin typeface="Consolas"/>
              </a:rPr>
              <a:t>(</a:t>
            </a:r>
            <a:r>
              <a:rPr sz="1800" i="0">
                <a:solidFill>
                  <a:srgbClr val="AEB6BF"/>
                </a:solidFill>
                <a:latin typeface="Consolas"/>
              </a:rPr>
              <a:t>[</a:t>
            </a:r>
            <a:r>
              <a:rPr sz="1800" i="0">
                <a:solidFill>
                  <a:srgbClr val="F7DC6F"/>
                </a:solidFill>
                <a:latin typeface="Consolas"/>
              </a:rPr>
              <a:t>1.0</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2.0</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3.0</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7.0</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8.0</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9.0</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mu</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array</a:t>
            </a:r>
            <a:r>
              <a:rPr sz="1800" i="0">
                <a:solidFill>
                  <a:srgbClr val="AEB6BF"/>
                </a:solidFill>
                <a:latin typeface="Consolas"/>
              </a:rPr>
              <a:t>(</a:t>
            </a:r>
            <a:r>
              <a:rPr sz="1800" i="0">
                <a:solidFill>
                  <a:srgbClr val="AEB6BF"/>
                </a:solidFill>
                <a:latin typeface="Consolas"/>
              </a:rPr>
              <a:t>[</a:t>
            </a:r>
            <a:r>
              <a:rPr sz="1800" i="0">
                <a:solidFill>
                  <a:srgbClr val="F7DC6F"/>
                </a:solidFill>
                <a:latin typeface="Consolas"/>
              </a:rPr>
              <a:t>2.0</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5.0</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1">
                <a:solidFill>
                  <a:srgbClr val="8795A1"/>
                </a:solidFill>
                <a:latin typeface="Consolas"/>
              </a:rPr>
              <a:t># initial guesses</a:t>
            </a:r>
          </a:p>
          <a:p>
            <a:pPr>
              <a:lnSpc>
                <a:spcPct val="100000"/>
              </a:lnSpc>
              <a:spcAft>
                <a:spcPts val="0"/>
              </a:spcAft>
            </a:pPr>
            <a:r>
              <a:rPr sz="1800" i="0">
                <a:solidFill>
                  <a:srgbClr val="5DADE2"/>
                </a:solidFill>
                <a:latin typeface="Consolas"/>
              </a:rPr>
              <a:t>for</a:t>
            </a:r>
            <a:r>
              <a:rPr sz="1800" i="0">
                <a:solidFill>
                  <a:srgbClr val="E8EDF2"/>
                </a:solidFill>
                <a:latin typeface="Consolas"/>
              </a:rPr>
              <a:t> </a:t>
            </a:r>
            <a:r>
              <a:rPr sz="1800" i="0">
                <a:solidFill>
                  <a:srgbClr val="E8EDF2"/>
                </a:solidFill>
                <a:latin typeface="Consolas"/>
              </a:rPr>
              <a:t>it</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C39BD3"/>
                </a:solidFill>
                <a:latin typeface="Consolas"/>
              </a:rPr>
              <a:t>range</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5</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dens</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exp</a:t>
            </a:r>
            <a:r>
              <a:rPr sz="1800" i="0">
                <a:solidFill>
                  <a:srgbClr val="AEB6BF"/>
                </a:solidFill>
                <a:latin typeface="Consolas"/>
              </a:rPr>
              <a:t>(</a:t>
            </a:r>
            <a:r>
              <a:rPr sz="1800" i="0">
                <a:solidFill>
                  <a:srgbClr val="AEB6BF"/>
                </a:solidFill>
                <a:latin typeface="Consolas"/>
              </a:rPr>
              <a:t>-</a:t>
            </a:r>
            <a:r>
              <a:rPr sz="1800" i="0">
                <a:solidFill>
                  <a:srgbClr val="F7DC6F"/>
                </a:solidFill>
                <a:latin typeface="Consolas"/>
              </a:rPr>
              <a:t>0.5</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x</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5DADE2"/>
                </a:solidFill>
                <a:latin typeface="Consolas"/>
              </a:rPr>
              <a:t>None</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mu</a:t>
            </a:r>
            <a:r>
              <a:rPr sz="1800" i="0">
                <a:solidFill>
                  <a:srgbClr val="AEB6BF"/>
                </a:solidFill>
                <a:latin typeface="Consolas"/>
              </a:rPr>
              <a:t>[</a:t>
            </a:r>
            <a:r>
              <a:rPr sz="1800" i="0">
                <a:solidFill>
                  <a:srgbClr val="5DADE2"/>
                </a:solidFill>
                <a:latin typeface="Consolas"/>
              </a:rPr>
              <a:t>None</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2</a:t>
            </a:r>
            <a:r>
              <a:rPr sz="1800" i="0">
                <a:solidFill>
                  <a:srgbClr val="AEB6BF"/>
                </a:solidFill>
                <a:latin typeface="Consolas"/>
              </a:rPr>
              <a:t>)</a:t>
            </a:r>
            <a:r>
              <a:rPr sz="1800" i="0">
                <a:solidFill>
                  <a:srgbClr val="E8EDF2"/>
                </a:solidFill>
                <a:latin typeface="Consolas"/>
              </a:rPr>
              <a:t>   </a:t>
            </a:r>
            <a:r>
              <a:rPr sz="1800" i="1">
                <a:solidFill>
                  <a:srgbClr val="8795A1"/>
                </a:solidFill>
                <a:latin typeface="Consolas"/>
              </a:rPr>
              <a:t># E-step</a:t>
            </a:r>
          </a:p>
          <a:p>
            <a:pPr>
              <a:lnSpc>
                <a:spcPct val="100000"/>
              </a:lnSpc>
              <a:spcAft>
                <a:spcPts val="0"/>
              </a:spcAft>
            </a:pPr>
            <a:r>
              <a:rPr sz="1800" i="0">
                <a:solidFill>
                  <a:srgbClr val="E8EDF2"/>
                </a:solidFill>
                <a:latin typeface="Consolas"/>
              </a:rPr>
              <a:t>    </a:t>
            </a:r>
            <a:r>
              <a:rPr sz="1800" i="0">
                <a:solidFill>
                  <a:srgbClr val="E8EDF2"/>
                </a:solidFill>
                <a:latin typeface="Consolas"/>
              </a:rPr>
              <a:t>r</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dens</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dens</a:t>
            </a:r>
            <a:r>
              <a:rPr sz="1800" i="0">
                <a:solidFill>
                  <a:srgbClr val="AEB6BF"/>
                </a:solidFill>
                <a:latin typeface="Consolas"/>
              </a:rPr>
              <a:t>.</a:t>
            </a:r>
            <a:r>
              <a:rPr sz="1800" i="0">
                <a:solidFill>
                  <a:srgbClr val="E8EDF2"/>
                </a:solidFill>
                <a:latin typeface="Consolas"/>
              </a:rPr>
              <a:t>sum</a:t>
            </a:r>
            <a:r>
              <a:rPr sz="1800" i="0">
                <a:solidFill>
                  <a:srgbClr val="AEB6BF"/>
                </a:solidFill>
                <a:latin typeface="Consolas"/>
              </a:rPr>
              <a:t>(</a:t>
            </a:r>
            <a:r>
              <a:rPr sz="1800" i="0">
                <a:solidFill>
                  <a:srgbClr val="E8EDF2"/>
                </a:solidFill>
                <a:latin typeface="Consolas"/>
              </a:rPr>
              <a:t>axis</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keepdims</a:t>
            </a:r>
            <a:r>
              <a:rPr sz="1800" i="0">
                <a:solidFill>
                  <a:srgbClr val="AEB6BF"/>
                </a:solidFill>
                <a:latin typeface="Consolas"/>
              </a:rPr>
              <a:t>=</a:t>
            </a:r>
            <a:r>
              <a:rPr sz="1800" i="0">
                <a:solidFill>
                  <a:srgbClr val="5DADE2"/>
                </a:solidFill>
                <a:latin typeface="Consolas"/>
              </a:rPr>
              <a:t>True</a:t>
            </a:r>
            <a:r>
              <a:rPr sz="1800" i="0">
                <a:solidFill>
                  <a:srgbClr val="AEB6BF"/>
                </a:solidFill>
                <a:latin typeface="Consolas"/>
              </a:rPr>
              <a:t>)</a:t>
            </a:r>
            <a:r>
              <a:rPr sz="1800" i="0">
                <a:solidFill>
                  <a:srgbClr val="E8EDF2"/>
                </a:solidFill>
                <a:latin typeface="Consolas"/>
              </a:rPr>
              <a:t>    </a:t>
            </a:r>
            <a:r>
              <a:rPr sz="1800" i="1">
                <a:solidFill>
                  <a:srgbClr val="8795A1"/>
                </a:solidFill>
                <a:latin typeface="Consolas"/>
              </a:rPr>
              <a:t># responsibilities</a:t>
            </a:r>
          </a:p>
          <a:p>
            <a:pPr>
              <a:lnSpc>
                <a:spcPct val="100000"/>
              </a:lnSpc>
              <a:spcAft>
                <a:spcPts val="0"/>
              </a:spcAft>
            </a:pPr>
            <a:r>
              <a:rPr sz="1800" i="0">
                <a:solidFill>
                  <a:srgbClr val="E8EDF2"/>
                </a:solidFill>
                <a:latin typeface="Consolas"/>
              </a:rPr>
              <a:t>    </a:t>
            </a:r>
            <a:r>
              <a:rPr sz="1800" i="0">
                <a:solidFill>
                  <a:srgbClr val="E8EDF2"/>
                </a:solidFill>
                <a:latin typeface="Consolas"/>
              </a:rPr>
              <a:t>ll</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log</a:t>
            </a:r>
            <a:r>
              <a:rPr sz="1800" i="0">
                <a:solidFill>
                  <a:srgbClr val="AEB6BF"/>
                </a:solidFill>
                <a:latin typeface="Consolas"/>
              </a:rPr>
              <a:t>(</a:t>
            </a:r>
            <a:r>
              <a:rPr sz="1800" i="0">
                <a:solidFill>
                  <a:srgbClr val="E8EDF2"/>
                </a:solidFill>
                <a:latin typeface="Consolas"/>
              </a:rPr>
              <a:t>dens</a:t>
            </a:r>
            <a:r>
              <a:rPr sz="1800" i="0">
                <a:solidFill>
                  <a:srgbClr val="AEB6BF"/>
                </a:solidFill>
                <a:latin typeface="Consolas"/>
              </a:rPr>
              <a:t>.</a:t>
            </a:r>
            <a:r>
              <a:rPr sz="1800" i="0">
                <a:solidFill>
                  <a:srgbClr val="E8EDF2"/>
                </a:solidFill>
                <a:latin typeface="Consolas"/>
              </a:rPr>
              <a:t>mean</a:t>
            </a:r>
            <a:r>
              <a:rPr sz="1800" i="0">
                <a:solidFill>
                  <a:srgbClr val="AEB6BF"/>
                </a:solidFill>
                <a:latin typeface="Consolas"/>
              </a:rPr>
              <a:t>(</a:t>
            </a:r>
            <a:r>
              <a:rPr sz="1800" i="0">
                <a:solidFill>
                  <a:srgbClr val="E8EDF2"/>
                </a:solidFill>
                <a:latin typeface="Consolas"/>
              </a:rPr>
              <a:t>axis</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sqrt</a:t>
            </a:r>
            <a:r>
              <a:rPr sz="1800" i="0">
                <a:solidFill>
                  <a:srgbClr val="AEB6BF"/>
                </a:solidFill>
                <a:latin typeface="Consolas"/>
              </a:rPr>
              <a:t>(</a:t>
            </a:r>
            <a:r>
              <a:rPr sz="1800" i="0">
                <a:solidFill>
                  <a:srgbClr val="F7DC6F"/>
                </a:solidFill>
                <a:latin typeface="Consolas"/>
              </a:rPr>
              <a:t>2</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pi</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sum</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mu</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r</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x</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5DADE2"/>
                </a:solidFill>
                <a:latin typeface="Consolas"/>
              </a:rPr>
              <a:t>None</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sum</a:t>
            </a:r>
            <a:r>
              <a:rPr sz="1800" i="0">
                <a:solidFill>
                  <a:srgbClr val="AEB6BF"/>
                </a:solidFill>
                <a:latin typeface="Consolas"/>
              </a:rPr>
              <a:t>(</a:t>
            </a:r>
            <a:r>
              <a:rPr sz="1800" i="0">
                <a:solidFill>
                  <a:srgbClr val="E8EDF2"/>
                </a:solidFill>
                <a:latin typeface="Consolas"/>
              </a:rPr>
              <a:t>axis</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r</a:t>
            </a:r>
            <a:r>
              <a:rPr sz="1800" i="0">
                <a:solidFill>
                  <a:srgbClr val="AEB6BF"/>
                </a:solidFill>
                <a:latin typeface="Consolas"/>
              </a:rPr>
              <a:t>.</a:t>
            </a:r>
            <a:r>
              <a:rPr sz="1800" i="0">
                <a:solidFill>
                  <a:srgbClr val="E8EDF2"/>
                </a:solidFill>
                <a:latin typeface="Consolas"/>
              </a:rPr>
              <a:t>sum</a:t>
            </a:r>
            <a:r>
              <a:rPr sz="1800" i="0">
                <a:solidFill>
                  <a:srgbClr val="AEB6BF"/>
                </a:solidFill>
                <a:latin typeface="Consolas"/>
              </a:rPr>
              <a:t>(</a:t>
            </a:r>
            <a:r>
              <a:rPr sz="1800" i="0">
                <a:solidFill>
                  <a:srgbClr val="E8EDF2"/>
                </a:solidFill>
                <a:latin typeface="Consolas"/>
              </a:rPr>
              <a:t>axis</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r>
              <a:rPr sz="1800" i="0">
                <a:solidFill>
                  <a:srgbClr val="E8EDF2"/>
                </a:solidFill>
                <a:latin typeface="Consolas"/>
              </a:rPr>
              <a:t>       </a:t>
            </a:r>
            <a:r>
              <a:rPr sz="1800" i="1">
                <a:solidFill>
                  <a:srgbClr val="8795A1"/>
                </a:solidFill>
                <a:latin typeface="Consolas"/>
              </a:rPr>
              <a:t># M-step</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f</a:t>
            </a:r>
            <a:r>
              <a:rPr sz="1800" i="0">
                <a:solidFill>
                  <a:srgbClr val="7DCEA0"/>
                </a:solidFill>
                <a:latin typeface="Consolas"/>
              </a:rPr>
              <a:t>"</a:t>
            </a:r>
            <a:r>
              <a:rPr sz="1800" i="0">
                <a:solidFill>
                  <a:srgbClr val="7DCEA0"/>
                </a:solidFill>
                <a:latin typeface="Consolas"/>
              </a:rPr>
              <a:t>iteration </a:t>
            </a:r>
            <a:r>
              <a:rPr sz="1800" i="0">
                <a:solidFill>
                  <a:srgbClr val="7DCEA0"/>
                </a:solidFill>
                <a:latin typeface="Consolas"/>
              </a:rPr>
              <a:t>{</a:t>
            </a:r>
            <a:r>
              <a:rPr sz="1800" i="0">
                <a:solidFill>
                  <a:srgbClr val="E8EDF2"/>
                </a:solidFill>
                <a:latin typeface="Consolas"/>
              </a:rPr>
              <a:t>it</a:t>
            </a:r>
            <a:r>
              <a:rPr sz="1800" i="0">
                <a:solidFill>
                  <a:srgbClr val="7DCEA0"/>
                </a:solidFill>
                <a:latin typeface="Consolas"/>
              </a:rPr>
              <a:t>}</a:t>
            </a:r>
            <a:r>
              <a:rPr sz="1800" i="0">
                <a:solidFill>
                  <a:srgbClr val="7DCEA0"/>
                </a:solidFill>
                <a:latin typeface="Consolas"/>
              </a:rPr>
              <a:t>: log-likelihood </a:t>
            </a:r>
            <a:r>
              <a:rPr sz="1800" i="0">
                <a:solidFill>
                  <a:srgbClr val="7DCEA0"/>
                </a:solidFill>
                <a:latin typeface="Consolas"/>
              </a:rPr>
              <a:t>{</a:t>
            </a:r>
            <a:r>
              <a:rPr sz="1800" i="0">
                <a:solidFill>
                  <a:srgbClr val="E8EDF2"/>
                </a:solidFill>
                <a:latin typeface="Consolas"/>
              </a:rPr>
              <a:t>ll</a:t>
            </a:r>
            <a:r>
              <a:rPr sz="1800" i="0">
                <a:solidFill>
                  <a:srgbClr val="7DCEA0"/>
                </a:solidFill>
                <a:latin typeface="Consolas"/>
              </a:rPr>
              <a:t>:</a:t>
            </a:r>
            <a:r>
              <a:rPr sz="1800" i="0">
                <a:solidFill>
                  <a:srgbClr val="7DCEA0"/>
                </a:solidFill>
                <a:latin typeface="Consolas"/>
              </a:rPr>
              <a:t>8.3f</a:t>
            </a:r>
            <a:r>
              <a:rPr sz="1800" i="0">
                <a:solidFill>
                  <a:srgbClr val="7DCEA0"/>
                </a:solidFill>
                <a:latin typeface="Consolas"/>
              </a:rPr>
              <a:t>}</a:t>
            </a:r>
            <a:r>
              <a:rPr sz="1800" i="0">
                <a:solidFill>
                  <a:srgbClr val="7DCEA0"/>
                </a:solidFill>
                <a:latin typeface="Consolas"/>
              </a:rPr>
              <a:t> -&gt; mu = </a:t>
            </a:r>
            <a:r>
              <a:rPr sz="1800" i="0">
                <a:solidFill>
                  <a:srgbClr val="7DCEA0"/>
                </a:solidFill>
                <a:latin typeface="Consolas"/>
              </a:rPr>
              <a:t>{</a:t>
            </a:r>
            <a:r>
              <a:rPr sz="1800" i="0">
                <a:solidFill>
                  <a:srgbClr val="E8EDF2"/>
                </a:solidFill>
                <a:latin typeface="Consolas"/>
              </a:rPr>
              <a:t>mu</a:t>
            </a:r>
            <a:r>
              <a:rPr sz="1800" i="0">
                <a:solidFill>
                  <a:srgbClr val="AEB6BF"/>
                </a:solidFill>
                <a:latin typeface="Consolas"/>
              </a:rPr>
              <a:t>.</a:t>
            </a:r>
            <a:r>
              <a:rPr sz="1800" i="0">
                <a:solidFill>
                  <a:srgbClr val="E8EDF2"/>
                </a:solidFill>
                <a:latin typeface="Consolas"/>
              </a:rPr>
              <a:t>round</a:t>
            </a:r>
            <a:r>
              <a:rPr sz="1800" i="0">
                <a:solidFill>
                  <a:srgbClr val="AEB6BF"/>
                </a:solidFill>
                <a:latin typeface="Consolas"/>
              </a:rPr>
              <a:t>(</a:t>
            </a:r>
            <a:r>
              <a:rPr sz="1800" i="0">
                <a:solidFill>
                  <a:srgbClr val="F7DC6F"/>
                </a:solidFill>
                <a:latin typeface="Consolas"/>
              </a:rPr>
              <a:t>3</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a:t>
            </a:r>
            <a:r>
              <a:rPr sz="1800" i="0">
                <a:solidFill>
                  <a:srgbClr val="AEB6BF"/>
                </a:solidFill>
                <a:latin typeface="Consolas"/>
              </a:rPr>
              <a:t>)</a:t>
            </a:r>
          </a:p>
        </p:txBody>
      </p:sp>
      <p:sp>
        <p:nvSpPr>
          <p:cNvPr id="15" name="!!code-num"/>
          <p:cNvSpPr txBox="1"/>
          <p:nvPr/>
        </p:nvSpPr>
        <p:spPr>
          <a:xfrm>
            <a:off x="768096" y="2523744"/>
            <a:ext cx="393192" cy="2578607"/>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10</a:t>
            </a:r>
          </a:p>
          <a:p>
            <a:pPr algn="r">
              <a:lnSpc>
                <a:spcPct val="100000"/>
              </a:lnSpc>
            </a:pPr>
            <a:r>
              <a:rPr sz="1800">
                <a:solidFill>
                  <a:srgbClr val="4F5D6A"/>
                </a:solidFill>
                <a:latin typeface="Consolas"/>
              </a:rPr>
              <a:t>11</a:t>
            </a:r>
          </a:p>
          <a:p>
            <a:pPr algn="r">
              <a:lnSpc>
                <a:spcPct val="100000"/>
              </a:lnSpc>
            </a:pPr>
            <a:r>
              <a:rPr sz="1800">
                <a:solidFill>
                  <a:srgbClr val="4F5D6A"/>
                </a:solidFill>
                <a:latin typeface="Consolas"/>
              </a:rPr>
              <a:t>12</a:t>
            </a:r>
          </a:p>
          <a:p>
            <a:pPr algn="r">
              <a:lnSpc>
                <a:spcPct val="100000"/>
              </a:lnSpc>
            </a:pPr>
            <a:r>
              <a:rPr sz="1800">
                <a:solidFill>
                  <a:srgbClr val="4F5D6A"/>
                </a:solidFill>
                <a:latin typeface="Consolas"/>
              </a:rPr>
              <a:t>13</a:t>
            </a:r>
          </a:p>
          <a:p>
            <a:pPr algn="r">
              <a:lnSpc>
                <a:spcPct val="100000"/>
              </a:lnSpc>
            </a:pPr>
            <a:r>
              <a:rPr sz="1800">
                <a:solidFill>
                  <a:srgbClr val="4F5D6A"/>
                </a:solidFill>
                <a:latin typeface="Consolas"/>
              </a:rPr>
              <a:t>14</a:t>
            </a:r>
          </a:p>
          <a:p>
            <a:pPr algn="r">
              <a:lnSpc>
                <a:spcPct val="100000"/>
              </a:lnSpc>
            </a:pPr>
            <a:r>
              <a:rPr sz="1800">
                <a:solidFill>
                  <a:srgbClr val="4F5D6A"/>
                </a:solidFill>
                <a:latin typeface="Consolas"/>
              </a:rPr>
              <a:t>15</a:t>
            </a:r>
          </a:p>
          <a:p>
            <a:pPr algn="r">
              <a:lnSpc>
                <a:spcPct val="100000"/>
              </a:lnSpc>
            </a:pPr>
            <a:r>
              <a:rPr sz="1800">
                <a:solidFill>
                  <a:srgbClr val="4F5D6A"/>
                </a:solidFill>
                <a:latin typeface="Consolas"/>
              </a:rPr>
              <a:t>16</a:t>
            </a:r>
          </a:p>
          <a:p>
            <a:pPr algn="r">
              <a:lnSpc>
                <a:spcPct val="100000"/>
              </a:lnSpc>
            </a:pPr>
            <a:r>
              <a:rPr sz="1800">
                <a:solidFill>
                  <a:srgbClr val="4F5D6A"/>
                </a:solidFill>
                <a:latin typeface="Consolas"/>
              </a:rPr>
              <a:t>17</a:t>
            </a:r>
          </a:p>
          <a:p>
            <a:pPr algn="r">
              <a:lnSpc>
                <a:spcPct val="100000"/>
              </a:lnSpc>
            </a:pPr>
            <a:r>
              <a:rPr sz="1800">
                <a:solidFill>
                  <a:srgbClr val="4F5D6A"/>
                </a:solidFill>
                <a:latin typeface="Consolas"/>
              </a:rPr>
              <a:t>18</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127796"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EM by Hand, Then Fifty Labels and a Thousand Guesses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3 OF 4</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17  ·  Semi-Supervised Learning and the EM Algorithm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§17.5  ·  Handout p. 131     </a:t>
            </a:r>
            <a:fld id="{0407408F-E559-4626-AEB1-78F837279676}" type="slidenum">
              <a:rPr lang="en-GB" sz="1000">
                <a:solidFill>
                  <a:srgbClr val="8795A1"/>
                </a:solidFill>
                <a:latin typeface="Segoe UI"/>
              </a:rPr>
              <a:t>31</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Two labels, four unlabelled points</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453383"/>
          </a:xfrm>
          <a:prstGeom prst="roundRect">
            <a:avLst>
              <a:gd name="adj" fmla="val 264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code/ch17_em_hand_fifty_labels.py</a:t>
            </a:r>
          </a:p>
        </p:txBody>
      </p:sp>
      <p:sp>
        <p:nvSpPr>
          <p:cNvPr id="14" name="!!code-text" descr="# --- 2. two labels, four unlabelled points ------------------------------- labelled = {2: 0, 3: 1} # x=3 is class A (0), x=7 class B (1) mu = np.array([x[2], x[3]]) # labelled points alone: 3 and 7 print(&quot;from the two labels alone: mu =&quot;, mu) for it in range(10): dens = np.exp(-0.5 * (x[:, None] - mu[None, :]) ** 2) r = dens / dens.sum(axis=1, keepdims=True) for i, c in labelled.items(): # a labelled point keeps its label r[i] = np.eye(2)[c] mu = (r * x[:, None]).sum(axis=0) / r.sum(axis=0) print(&quot;EM with the unlabelled points too: mu =&quot;, mu.round(3))"/>
          <p:cNvSpPr txBox="1"/>
          <p:nvPr/>
        </p:nvSpPr>
        <p:spPr>
          <a:xfrm>
            <a:off x="1362456" y="2523744"/>
            <a:ext cx="9987991" cy="2959607"/>
          </a:xfrm>
          <a:prstGeom prst="rect">
            <a:avLst/>
          </a:prstGeom>
          <a:noFill/>
        </p:spPr>
        <p:txBody>
          <a:bodyPr wrap="none" anchor="t" lIns="0" rIns="0" tIns="0" bIns="0">
            <a:noAutofit/>
          </a:bodyPr>
          <a:lstStyle/>
          <a:p>
            <a:pPr>
              <a:lnSpc>
                <a:spcPct val="100000"/>
              </a:lnSpc>
              <a:spcAft>
                <a:spcPts val="0"/>
              </a:spcAft>
            </a:pPr>
            <a:r>
              <a:rPr sz="1700" i="1">
                <a:solidFill>
                  <a:srgbClr val="8795A1"/>
                </a:solidFill>
                <a:latin typeface="Consolas"/>
              </a:rPr>
              <a:t># --- 2. two labels, four unlabelled points -------------------------------</a:t>
            </a:r>
          </a:p>
          <a:p>
            <a:pPr>
              <a:lnSpc>
                <a:spcPct val="100000"/>
              </a:lnSpc>
              <a:spcAft>
                <a:spcPts val="0"/>
              </a:spcAft>
            </a:pPr>
            <a:r>
              <a:rPr sz="1700" i="0">
                <a:solidFill>
                  <a:srgbClr val="E8EDF2"/>
                </a:solidFill>
                <a:latin typeface="Consolas"/>
              </a:rPr>
              <a:t>labelled</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F7DC6F"/>
                </a:solidFill>
                <a:latin typeface="Consolas"/>
              </a:rPr>
              <a:t>2</a:t>
            </a:r>
            <a:r>
              <a:rPr sz="1700" i="0">
                <a:solidFill>
                  <a:srgbClr val="AEB6BF"/>
                </a:solidFill>
                <a:latin typeface="Consolas"/>
              </a:rPr>
              <a:t>:</a:t>
            </a:r>
            <a:r>
              <a:rPr sz="1700" i="0">
                <a:solidFill>
                  <a:srgbClr val="E8EDF2"/>
                </a:solidFill>
                <a:latin typeface="Consolas"/>
              </a:rPr>
              <a:t> </a:t>
            </a:r>
            <a:r>
              <a:rPr sz="1700" i="0">
                <a:solidFill>
                  <a:srgbClr val="F7DC6F"/>
                </a:solidFill>
                <a:latin typeface="Consolas"/>
              </a:rPr>
              <a:t>0</a:t>
            </a:r>
            <a:r>
              <a:rPr sz="1700" i="0">
                <a:solidFill>
                  <a:srgbClr val="AEB6BF"/>
                </a:solidFill>
                <a:latin typeface="Consolas"/>
              </a:rPr>
              <a:t>,</a:t>
            </a:r>
            <a:r>
              <a:rPr sz="1700" i="0">
                <a:solidFill>
                  <a:srgbClr val="E8EDF2"/>
                </a:solidFill>
                <a:latin typeface="Consolas"/>
              </a:rPr>
              <a:t> </a:t>
            </a:r>
            <a:r>
              <a:rPr sz="1700" i="0">
                <a:solidFill>
                  <a:srgbClr val="F7DC6F"/>
                </a:solidFill>
                <a:latin typeface="Consolas"/>
              </a:rPr>
              <a:t>3</a:t>
            </a:r>
            <a:r>
              <a:rPr sz="1700" i="0">
                <a:solidFill>
                  <a:srgbClr val="AEB6BF"/>
                </a:solidFill>
                <a:latin typeface="Consolas"/>
              </a:rPr>
              <a:t>:</a:t>
            </a:r>
            <a:r>
              <a:rPr sz="1700" i="0">
                <a:solidFill>
                  <a:srgbClr val="E8EDF2"/>
                </a:solidFill>
                <a:latin typeface="Consolas"/>
              </a:rPr>
              <a:t> </a:t>
            </a:r>
            <a:r>
              <a:rPr sz="1700" i="0">
                <a:solidFill>
                  <a:srgbClr val="F7DC6F"/>
                </a:solidFill>
                <a:latin typeface="Consolas"/>
              </a:rPr>
              <a:t>1</a:t>
            </a:r>
            <a:r>
              <a:rPr sz="1700" i="0">
                <a:solidFill>
                  <a:srgbClr val="AEB6BF"/>
                </a:solidFill>
                <a:latin typeface="Consolas"/>
              </a:rPr>
              <a:t>}</a:t>
            </a:r>
            <a:r>
              <a:rPr sz="1700" i="0">
                <a:solidFill>
                  <a:srgbClr val="E8EDF2"/>
                </a:solidFill>
                <a:latin typeface="Consolas"/>
              </a:rPr>
              <a:t>                 </a:t>
            </a:r>
            <a:r>
              <a:rPr sz="1700" i="1">
                <a:solidFill>
                  <a:srgbClr val="8795A1"/>
                </a:solidFill>
                <a:latin typeface="Consolas"/>
              </a:rPr>
              <a:t># x=3 is class A (0), x=7 class B (1)</a:t>
            </a:r>
          </a:p>
          <a:p>
            <a:pPr>
              <a:lnSpc>
                <a:spcPct val="100000"/>
              </a:lnSpc>
              <a:spcAft>
                <a:spcPts val="0"/>
              </a:spcAft>
            </a:pPr>
            <a:r>
              <a:rPr sz="1700" i="0">
                <a:solidFill>
                  <a:srgbClr val="E8EDF2"/>
                </a:solidFill>
                <a:latin typeface="Consolas"/>
              </a:rPr>
              <a:t>mu</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np</a:t>
            </a:r>
            <a:r>
              <a:rPr sz="1700" i="0">
                <a:solidFill>
                  <a:srgbClr val="AEB6BF"/>
                </a:solidFill>
                <a:latin typeface="Consolas"/>
              </a:rPr>
              <a:t>.</a:t>
            </a:r>
            <a:r>
              <a:rPr sz="1700" i="0">
                <a:solidFill>
                  <a:srgbClr val="E8EDF2"/>
                </a:solidFill>
                <a:latin typeface="Consolas"/>
              </a:rPr>
              <a:t>array</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x</a:t>
            </a:r>
            <a:r>
              <a:rPr sz="1700" i="0">
                <a:solidFill>
                  <a:srgbClr val="AEB6BF"/>
                </a:solidFill>
                <a:latin typeface="Consolas"/>
              </a:rPr>
              <a:t>[</a:t>
            </a:r>
            <a:r>
              <a:rPr sz="1700" i="0">
                <a:solidFill>
                  <a:srgbClr val="F7DC6F"/>
                </a:solidFill>
                <a:latin typeface="Consolas"/>
              </a:rPr>
              <a:t>2</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x</a:t>
            </a:r>
            <a:r>
              <a:rPr sz="1700" i="0">
                <a:solidFill>
                  <a:srgbClr val="AEB6BF"/>
                </a:solidFill>
                <a:latin typeface="Consolas"/>
              </a:rPr>
              <a:t>[</a:t>
            </a:r>
            <a:r>
              <a:rPr sz="1700" i="0">
                <a:solidFill>
                  <a:srgbClr val="F7DC6F"/>
                </a:solidFill>
                <a:latin typeface="Consolas"/>
              </a:rPr>
              <a:t>3</a:t>
            </a:r>
            <a:r>
              <a:rPr sz="1700" i="0">
                <a:solidFill>
                  <a:srgbClr val="AEB6BF"/>
                </a:solidFill>
                <a:latin typeface="Consolas"/>
              </a:rPr>
              <a:t>]</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             </a:t>
            </a:r>
            <a:r>
              <a:rPr sz="1700" i="1">
                <a:solidFill>
                  <a:srgbClr val="8795A1"/>
                </a:solidFill>
                <a:latin typeface="Consolas"/>
              </a:rPr>
              <a:t># labelled points alone: 3 and 7</a:t>
            </a:r>
          </a:p>
          <a:p>
            <a:pPr>
              <a:lnSpc>
                <a:spcPct val="100000"/>
              </a:lnSpc>
              <a:spcAft>
                <a:spcPts val="0"/>
              </a:spcAft>
            </a:pPr>
            <a:r>
              <a:rPr sz="1700" i="0">
                <a:solidFill>
                  <a:srgbClr val="C39BD3"/>
                </a:solidFill>
                <a:latin typeface="Consolas"/>
              </a:rPr>
              <a:t>print</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from the two labels alone: mu =</a:t>
            </a:r>
            <a:r>
              <a:rPr sz="1700" i="0">
                <a:solidFill>
                  <a:srgbClr val="7DCEA0"/>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mu</a:t>
            </a:r>
            <a:r>
              <a:rPr sz="1700" i="0">
                <a:solidFill>
                  <a:srgbClr val="AEB6BF"/>
                </a:solidFill>
                <a:latin typeface="Consolas"/>
              </a:rPr>
              <a:t>)</a:t>
            </a:r>
          </a:p>
          <a:p>
            <a:pPr>
              <a:lnSpc>
                <a:spcPct val="100000"/>
              </a:lnSpc>
              <a:spcAft>
                <a:spcPts val="0"/>
              </a:spcAft>
            </a:pPr>
            <a:r>
              <a:rPr sz="1700" i="0">
                <a:solidFill>
                  <a:srgbClr val="5DADE2"/>
                </a:solidFill>
                <a:latin typeface="Consolas"/>
              </a:rPr>
              <a:t>for</a:t>
            </a:r>
            <a:r>
              <a:rPr sz="1700" i="0">
                <a:solidFill>
                  <a:srgbClr val="E8EDF2"/>
                </a:solidFill>
                <a:latin typeface="Consolas"/>
              </a:rPr>
              <a:t> </a:t>
            </a:r>
            <a:r>
              <a:rPr sz="1700" i="0">
                <a:solidFill>
                  <a:srgbClr val="E8EDF2"/>
                </a:solidFill>
                <a:latin typeface="Consolas"/>
              </a:rPr>
              <a:t>it</a:t>
            </a:r>
            <a:r>
              <a:rPr sz="1700" i="0">
                <a:solidFill>
                  <a:srgbClr val="E8EDF2"/>
                </a:solidFill>
                <a:latin typeface="Consolas"/>
              </a:rPr>
              <a:t> </a:t>
            </a:r>
            <a:r>
              <a:rPr sz="1700" i="0">
                <a:solidFill>
                  <a:srgbClr val="AEB6BF"/>
                </a:solidFill>
                <a:latin typeface="Consolas"/>
              </a:rPr>
              <a:t>in</a:t>
            </a:r>
            <a:r>
              <a:rPr sz="1700" i="0">
                <a:solidFill>
                  <a:srgbClr val="E8EDF2"/>
                </a:solidFill>
                <a:latin typeface="Consolas"/>
              </a:rPr>
              <a:t> </a:t>
            </a:r>
            <a:r>
              <a:rPr sz="1700" i="0">
                <a:solidFill>
                  <a:srgbClr val="C39BD3"/>
                </a:solidFill>
                <a:latin typeface="Consolas"/>
              </a:rPr>
              <a:t>range</a:t>
            </a:r>
            <a:r>
              <a:rPr sz="1700" i="0">
                <a:solidFill>
                  <a:srgbClr val="AEB6BF"/>
                </a:solidFill>
                <a:latin typeface="Consolas"/>
              </a:rPr>
              <a:t>(</a:t>
            </a:r>
            <a:r>
              <a:rPr sz="1700" i="0">
                <a:solidFill>
                  <a:srgbClr val="F7DC6F"/>
                </a:solidFill>
                <a:latin typeface="Consolas"/>
              </a:rPr>
              <a:t>10</a:t>
            </a:r>
            <a:r>
              <a:rPr sz="1700" i="0">
                <a:solidFill>
                  <a:srgbClr val="AEB6BF"/>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E8EDF2"/>
                </a:solidFill>
                <a:latin typeface="Consolas"/>
              </a:rPr>
              <a:t>dens</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np</a:t>
            </a:r>
            <a:r>
              <a:rPr sz="1700" i="0">
                <a:solidFill>
                  <a:srgbClr val="AEB6BF"/>
                </a:solidFill>
                <a:latin typeface="Consolas"/>
              </a:rPr>
              <a:t>.</a:t>
            </a:r>
            <a:r>
              <a:rPr sz="1700" i="0">
                <a:solidFill>
                  <a:srgbClr val="E8EDF2"/>
                </a:solidFill>
                <a:latin typeface="Consolas"/>
              </a:rPr>
              <a:t>exp</a:t>
            </a:r>
            <a:r>
              <a:rPr sz="1700" i="0">
                <a:solidFill>
                  <a:srgbClr val="AEB6BF"/>
                </a:solidFill>
                <a:latin typeface="Consolas"/>
              </a:rPr>
              <a:t>(</a:t>
            </a:r>
            <a:r>
              <a:rPr sz="1700" i="0">
                <a:solidFill>
                  <a:srgbClr val="AEB6BF"/>
                </a:solidFill>
                <a:latin typeface="Consolas"/>
              </a:rPr>
              <a:t>-</a:t>
            </a:r>
            <a:r>
              <a:rPr sz="1700" i="0">
                <a:solidFill>
                  <a:srgbClr val="F7DC6F"/>
                </a:solidFill>
                <a:latin typeface="Consolas"/>
              </a:rPr>
              <a:t>0.5</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x</a:t>
            </a:r>
            <a:r>
              <a:rPr sz="1700" i="0">
                <a:solidFill>
                  <a:srgbClr val="AEB6BF"/>
                </a:solidFill>
                <a:latin typeface="Consolas"/>
              </a:rPr>
              <a:t>[</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5DADE2"/>
                </a:solidFill>
                <a:latin typeface="Consolas"/>
              </a:rPr>
              <a:t>None</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mu</a:t>
            </a:r>
            <a:r>
              <a:rPr sz="1700" i="0">
                <a:solidFill>
                  <a:srgbClr val="AEB6BF"/>
                </a:solidFill>
                <a:latin typeface="Consolas"/>
              </a:rPr>
              <a:t>[</a:t>
            </a:r>
            <a:r>
              <a:rPr sz="1700" i="0">
                <a:solidFill>
                  <a:srgbClr val="5DADE2"/>
                </a:solidFill>
                <a:latin typeface="Consolas"/>
              </a:rPr>
              <a:t>None</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F7DC6F"/>
                </a:solidFill>
                <a:latin typeface="Consolas"/>
              </a:rPr>
              <a:t>2</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E8EDF2"/>
                </a:solidFill>
                <a:latin typeface="Consolas"/>
              </a:rPr>
              <a:t>r</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dens</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dens</a:t>
            </a:r>
            <a:r>
              <a:rPr sz="1700" i="0">
                <a:solidFill>
                  <a:srgbClr val="AEB6BF"/>
                </a:solidFill>
                <a:latin typeface="Consolas"/>
              </a:rPr>
              <a:t>.</a:t>
            </a:r>
            <a:r>
              <a:rPr sz="1700" i="0">
                <a:solidFill>
                  <a:srgbClr val="E8EDF2"/>
                </a:solidFill>
                <a:latin typeface="Consolas"/>
              </a:rPr>
              <a:t>sum</a:t>
            </a:r>
            <a:r>
              <a:rPr sz="1700" i="0">
                <a:solidFill>
                  <a:srgbClr val="AEB6BF"/>
                </a:solidFill>
                <a:latin typeface="Consolas"/>
              </a:rPr>
              <a:t>(</a:t>
            </a:r>
            <a:r>
              <a:rPr sz="1700" i="0">
                <a:solidFill>
                  <a:srgbClr val="E8EDF2"/>
                </a:solidFill>
                <a:latin typeface="Consolas"/>
              </a:rPr>
              <a:t>axis</a:t>
            </a:r>
            <a:r>
              <a:rPr sz="1700" i="0">
                <a:solidFill>
                  <a:srgbClr val="AEB6BF"/>
                </a:solidFill>
                <a:latin typeface="Consolas"/>
              </a:rPr>
              <a:t>=</a:t>
            </a:r>
            <a:r>
              <a:rPr sz="1700" i="0">
                <a:solidFill>
                  <a:srgbClr val="F7DC6F"/>
                </a:solidFill>
                <a:latin typeface="Consolas"/>
              </a:rPr>
              <a:t>1</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keepdims</a:t>
            </a:r>
            <a:r>
              <a:rPr sz="1700" i="0">
                <a:solidFill>
                  <a:srgbClr val="AEB6BF"/>
                </a:solidFill>
                <a:latin typeface="Consolas"/>
              </a:rPr>
              <a:t>=</a:t>
            </a:r>
            <a:r>
              <a:rPr sz="1700" i="0">
                <a:solidFill>
                  <a:srgbClr val="5DADE2"/>
                </a:solidFill>
                <a:latin typeface="Consolas"/>
              </a:rPr>
              <a:t>True</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5DADE2"/>
                </a:solidFill>
                <a:latin typeface="Consolas"/>
              </a:rPr>
              <a:t>for</a:t>
            </a:r>
            <a:r>
              <a:rPr sz="1700" i="0">
                <a:solidFill>
                  <a:srgbClr val="E8EDF2"/>
                </a:solidFill>
                <a:latin typeface="Consolas"/>
              </a:rPr>
              <a:t> </a:t>
            </a:r>
            <a:r>
              <a:rPr sz="1700" i="0">
                <a:solidFill>
                  <a:srgbClr val="E8EDF2"/>
                </a:solidFill>
                <a:latin typeface="Consolas"/>
              </a:rPr>
              <a:t>i</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c</a:t>
            </a:r>
            <a:r>
              <a:rPr sz="1700" i="0">
                <a:solidFill>
                  <a:srgbClr val="E8EDF2"/>
                </a:solidFill>
                <a:latin typeface="Consolas"/>
              </a:rPr>
              <a:t> </a:t>
            </a:r>
            <a:r>
              <a:rPr sz="1700" i="0">
                <a:solidFill>
                  <a:srgbClr val="AEB6BF"/>
                </a:solidFill>
                <a:latin typeface="Consolas"/>
              </a:rPr>
              <a:t>in</a:t>
            </a:r>
            <a:r>
              <a:rPr sz="1700" i="0">
                <a:solidFill>
                  <a:srgbClr val="E8EDF2"/>
                </a:solidFill>
                <a:latin typeface="Consolas"/>
              </a:rPr>
              <a:t> </a:t>
            </a:r>
            <a:r>
              <a:rPr sz="1700" i="0">
                <a:solidFill>
                  <a:srgbClr val="E8EDF2"/>
                </a:solidFill>
                <a:latin typeface="Consolas"/>
              </a:rPr>
              <a:t>labelled</a:t>
            </a:r>
            <a:r>
              <a:rPr sz="1700" i="0">
                <a:solidFill>
                  <a:srgbClr val="AEB6BF"/>
                </a:solidFill>
                <a:latin typeface="Consolas"/>
              </a:rPr>
              <a:t>.</a:t>
            </a:r>
            <a:r>
              <a:rPr sz="1700" i="0">
                <a:solidFill>
                  <a:srgbClr val="E8EDF2"/>
                </a:solidFill>
                <a:latin typeface="Consolas"/>
              </a:rPr>
              <a:t>items</a:t>
            </a:r>
            <a:r>
              <a:rPr sz="1700" i="0">
                <a:solidFill>
                  <a:srgbClr val="AEB6BF"/>
                </a:solidFill>
                <a:latin typeface="Consolas"/>
              </a:rPr>
              <a:t>(</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       </a:t>
            </a:r>
            <a:r>
              <a:rPr sz="1700" i="1">
                <a:solidFill>
                  <a:srgbClr val="8795A1"/>
                </a:solidFill>
                <a:latin typeface="Consolas"/>
              </a:rPr>
              <a:t># a labelled point keeps its label</a:t>
            </a:r>
          </a:p>
          <a:p>
            <a:pPr>
              <a:lnSpc>
                <a:spcPct val="100000"/>
              </a:lnSpc>
              <a:spcAft>
                <a:spcPts val="0"/>
              </a:spcAft>
            </a:pPr>
            <a:r>
              <a:rPr sz="1700" i="0">
                <a:solidFill>
                  <a:srgbClr val="E8EDF2"/>
                </a:solidFill>
                <a:latin typeface="Consolas"/>
              </a:rPr>
              <a:t>        </a:t>
            </a:r>
            <a:r>
              <a:rPr sz="1700" i="0">
                <a:solidFill>
                  <a:srgbClr val="E8EDF2"/>
                </a:solidFill>
                <a:latin typeface="Consolas"/>
              </a:rPr>
              <a:t>r</a:t>
            </a:r>
            <a:r>
              <a:rPr sz="1700" i="0">
                <a:solidFill>
                  <a:srgbClr val="AEB6BF"/>
                </a:solidFill>
                <a:latin typeface="Consolas"/>
              </a:rPr>
              <a:t>[</a:t>
            </a:r>
            <a:r>
              <a:rPr sz="1700" i="0">
                <a:solidFill>
                  <a:srgbClr val="E8EDF2"/>
                </a:solidFill>
                <a:latin typeface="Consolas"/>
              </a:rPr>
              <a:t>i</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np</a:t>
            </a:r>
            <a:r>
              <a:rPr sz="1700" i="0">
                <a:solidFill>
                  <a:srgbClr val="AEB6BF"/>
                </a:solidFill>
                <a:latin typeface="Consolas"/>
              </a:rPr>
              <a:t>.</a:t>
            </a:r>
            <a:r>
              <a:rPr sz="1700" i="0">
                <a:solidFill>
                  <a:srgbClr val="E8EDF2"/>
                </a:solidFill>
                <a:latin typeface="Consolas"/>
              </a:rPr>
              <a:t>eye</a:t>
            </a:r>
            <a:r>
              <a:rPr sz="1700" i="0">
                <a:solidFill>
                  <a:srgbClr val="AEB6BF"/>
                </a:solidFill>
                <a:latin typeface="Consolas"/>
              </a:rPr>
              <a:t>(</a:t>
            </a:r>
            <a:r>
              <a:rPr sz="1700" i="0">
                <a:solidFill>
                  <a:srgbClr val="F7DC6F"/>
                </a:solidFill>
                <a:latin typeface="Consolas"/>
              </a:rPr>
              <a:t>2</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c</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E8EDF2"/>
                </a:solidFill>
                <a:latin typeface="Consolas"/>
              </a:rPr>
              <a:t>mu</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r</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x</a:t>
            </a:r>
            <a:r>
              <a:rPr sz="1700" i="0">
                <a:solidFill>
                  <a:srgbClr val="AEB6BF"/>
                </a:solidFill>
                <a:latin typeface="Consolas"/>
              </a:rPr>
              <a:t>[</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5DADE2"/>
                </a:solidFill>
                <a:latin typeface="Consolas"/>
              </a:rPr>
              <a:t>None</a:t>
            </a:r>
            <a:r>
              <a:rPr sz="1700" i="0">
                <a:solidFill>
                  <a:srgbClr val="AEB6BF"/>
                </a:solidFill>
                <a:latin typeface="Consolas"/>
              </a:rPr>
              <a:t>]</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sum</a:t>
            </a:r>
            <a:r>
              <a:rPr sz="1700" i="0">
                <a:solidFill>
                  <a:srgbClr val="AEB6BF"/>
                </a:solidFill>
                <a:latin typeface="Consolas"/>
              </a:rPr>
              <a:t>(</a:t>
            </a:r>
            <a:r>
              <a:rPr sz="1700" i="0">
                <a:solidFill>
                  <a:srgbClr val="E8EDF2"/>
                </a:solidFill>
                <a:latin typeface="Consolas"/>
              </a:rPr>
              <a:t>axis</a:t>
            </a:r>
            <a:r>
              <a:rPr sz="1700" i="0">
                <a:solidFill>
                  <a:srgbClr val="AEB6BF"/>
                </a:solidFill>
                <a:latin typeface="Consolas"/>
              </a:rPr>
              <a:t>=</a:t>
            </a:r>
            <a:r>
              <a:rPr sz="1700" i="0">
                <a:solidFill>
                  <a:srgbClr val="F7DC6F"/>
                </a:solidFill>
                <a:latin typeface="Consolas"/>
              </a:rPr>
              <a:t>0</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r</a:t>
            </a:r>
            <a:r>
              <a:rPr sz="1700" i="0">
                <a:solidFill>
                  <a:srgbClr val="AEB6BF"/>
                </a:solidFill>
                <a:latin typeface="Consolas"/>
              </a:rPr>
              <a:t>.</a:t>
            </a:r>
            <a:r>
              <a:rPr sz="1700" i="0">
                <a:solidFill>
                  <a:srgbClr val="E8EDF2"/>
                </a:solidFill>
                <a:latin typeface="Consolas"/>
              </a:rPr>
              <a:t>sum</a:t>
            </a:r>
            <a:r>
              <a:rPr sz="1700" i="0">
                <a:solidFill>
                  <a:srgbClr val="AEB6BF"/>
                </a:solidFill>
                <a:latin typeface="Consolas"/>
              </a:rPr>
              <a:t>(</a:t>
            </a:r>
            <a:r>
              <a:rPr sz="1700" i="0">
                <a:solidFill>
                  <a:srgbClr val="E8EDF2"/>
                </a:solidFill>
                <a:latin typeface="Consolas"/>
              </a:rPr>
              <a:t>axis</a:t>
            </a:r>
            <a:r>
              <a:rPr sz="1700" i="0">
                <a:solidFill>
                  <a:srgbClr val="AEB6BF"/>
                </a:solidFill>
                <a:latin typeface="Consolas"/>
              </a:rPr>
              <a:t>=</a:t>
            </a:r>
            <a:r>
              <a:rPr sz="1700" i="0">
                <a:solidFill>
                  <a:srgbClr val="F7DC6F"/>
                </a:solidFill>
                <a:latin typeface="Consolas"/>
              </a:rPr>
              <a:t>0</a:t>
            </a:r>
            <a:r>
              <a:rPr sz="1700" i="0">
                <a:solidFill>
                  <a:srgbClr val="AEB6BF"/>
                </a:solidFill>
                <a:latin typeface="Consolas"/>
              </a:rPr>
              <a:t>)</a:t>
            </a:r>
          </a:p>
          <a:p>
            <a:pPr>
              <a:lnSpc>
                <a:spcPct val="100000"/>
              </a:lnSpc>
              <a:spcAft>
                <a:spcPts val="0"/>
              </a:spcAft>
            </a:pPr>
            <a:r>
              <a:rPr sz="1700" i="0">
                <a:solidFill>
                  <a:srgbClr val="C39BD3"/>
                </a:solidFill>
                <a:latin typeface="Consolas"/>
              </a:rPr>
              <a:t>print</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EM with the unlabelled points too: mu =</a:t>
            </a:r>
            <a:r>
              <a:rPr sz="1700" i="0">
                <a:solidFill>
                  <a:srgbClr val="7DCEA0"/>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mu</a:t>
            </a:r>
            <a:r>
              <a:rPr sz="1700" i="0">
                <a:solidFill>
                  <a:srgbClr val="AEB6BF"/>
                </a:solidFill>
                <a:latin typeface="Consolas"/>
              </a:rPr>
              <a:t>.</a:t>
            </a:r>
            <a:r>
              <a:rPr sz="1700" i="0">
                <a:solidFill>
                  <a:srgbClr val="E8EDF2"/>
                </a:solidFill>
                <a:latin typeface="Consolas"/>
              </a:rPr>
              <a:t>round</a:t>
            </a:r>
            <a:r>
              <a:rPr sz="1700" i="0">
                <a:solidFill>
                  <a:srgbClr val="AEB6BF"/>
                </a:solidFill>
                <a:latin typeface="Consolas"/>
              </a:rPr>
              <a:t>(</a:t>
            </a:r>
            <a:r>
              <a:rPr sz="1700" i="0">
                <a:solidFill>
                  <a:srgbClr val="F7DC6F"/>
                </a:solidFill>
                <a:latin typeface="Consolas"/>
              </a:rPr>
              <a:t>3</a:t>
            </a:r>
            <a:r>
              <a:rPr sz="1700" i="0">
                <a:solidFill>
                  <a:srgbClr val="AEB6BF"/>
                </a:solidFill>
                <a:latin typeface="Consolas"/>
              </a:rPr>
              <a:t>)</a:t>
            </a:r>
            <a:r>
              <a:rPr sz="1700" i="0">
                <a:solidFill>
                  <a:srgbClr val="AEB6BF"/>
                </a:solidFill>
                <a:latin typeface="Consolas"/>
              </a:rPr>
              <a:t>)</a:t>
            </a:r>
          </a:p>
        </p:txBody>
      </p:sp>
      <p:sp>
        <p:nvSpPr>
          <p:cNvPr id="15" name="!!code-num"/>
          <p:cNvSpPr txBox="1"/>
          <p:nvPr/>
        </p:nvSpPr>
        <p:spPr>
          <a:xfrm>
            <a:off x="768096" y="2523744"/>
            <a:ext cx="393192" cy="2959607"/>
          </a:xfrm>
          <a:prstGeom prst="rect">
            <a:avLst/>
          </a:prstGeom>
          <a:noFill/>
        </p:spPr>
        <p:txBody>
          <a:bodyPr wrap="none" anchor="t" lIns="0" rIns="0" tIns="0" bIns="0">
            <a:noAutofit/>
          </a:bodyPr>
          <a:lstStyle/>
          <a:p>
            <a:pPr algn="r">
              <a:lnSpc>
                <a:spcPct val="100000"/>
              </a:lnSpc>
            </a:pPr>
            <a:r>
              <a:rPr sz="1700">
                <a:solidFill>
                  <a:srgbClr val="4F5D6A"/>
                </a:solidFill>
                <a:latin typeface="Consolas"/>
              </a:rPr>
              <a:t>20</a:t>
            </a:r>
          </a:p>
          <a:p>
            <a:pPr algn="r">
              <a:lnSpc>
                <a:spcPct val="100000"/>
              </a:lnSpc>
            </a:pPr>
            <a:r>
              <a:rPr sz="1700">
                <a:solidFill>
                  <a:srgbClr val="4F5D6A"/>
                </a:solidFill>
                <a:latin typeface="Consolas"/>
              </a:rPr>
              <a:t>21</a:t>
            </a:r>
          </a:p>
          <a:p>
            <a:pPr algn="r">
              <a:lnSpc>
                <a:spcPct val="100000"/>
              </a:lnSpc>
            </a:pPr>
            <a:r>
              <a:rPr sz="1700">
                <a:solidFill>
                  <a:srgbClr val="4F5D6A"/>
                </a:solidFill>
                <a:latin typeface="Consolas"/>
              </a:rPr>
              <a:t>22</a:t>
            </a:r>
          </a:p>
          <a:p>
            <a:pPr algn="r">
              <a:lnSpc>
                <a:spcPct val="100000"/>
              </a:lnSpc>
            </a:pPr>
            <a:r>
              <a:rPr sz="1700">
                <a:solidFill>
                  <a:srgbClr val="4F5D6A"/>
                </a:solidFill>
                <a:latin typeface="Consolas"/>
              </a:rPr>
              <a:t>23</a:t>
            </a:r>
          </a:p>
          <a:p>
            <a:pPr algn="r">
              <a:lnSpc>
                <a:spcPct val="100000"/>
              </a:lnSpc>
            </a:pPr>
            <a:r>
              <a:rPr sz="1700">
                <a:solidFill>
                  <a:srgbClr val="4F5D6A"/>
                </a:solidFill>
                <a:latin typeface="Consolas"/>
              </a:rPr>
              <a:t>24</a:t>
            </a:r>
          </a:p>
          <a:p>
            <a:pPr algn="r">
              <a:lnSpc>
                <a:spcPct val="100000"/>
              </a:lnSpc>
            </a:pPr>
            <a:r>
              <a:rPr sz="1700">
                <a:solidFill>
                  <a:srgbClr val="4F5D6A"/>
                </a:solidFill>
                <a:latin typeface="Consolas"/>
              </a:rPr>
              <a:t>25</a:t>
            </a:r>
          </a:p>
          <a:p>
            <a:pPr algn="r">
              <a:lnSpc>
                <a:spcPct val="100000"/>
              </a:lnSpc>
            </a:pPr>
            <a:r>
              <a:rPr sz="1700">
                <a:solidFill>
                  <a:srgbClr val="4F5D6A"/>
                </a:solidFill>
                <a:latin typeface="Consolas"/>
              </a:rPr>
              <a:t>26</a:t>
            </a:r>
          </a:p>
          <a:p>
            <a:pPr algn="r">
              <a:lnSpc>
                <a:spcPct val="100000"/>
              </a:lnSpc>
            </a:pPr>
            <a:r>
              <a:rPr sz="1700">
                <a:solidFill>
                  <a:srgbClr val="4F5D6A"/>
                </a:solidFill>
                <a:latin typeface="Consolas"/>
              </a:rPr>
              <a:t>27</a:t>
            </a:r>
          </a:p>
          <a:p>
            <a:pPr algn="r">
              <a:lnSpc>
                <a:spcPct val="100000"/>
              </a:lnSpc>
            </a:pPr>
            <a:r>
              <a:rPr sz="1700">
                <a:solidFill>
                  <a:srgbClr val="4F5D6A"/>
                </a:solidFill>
                <a:latin typeface="Consolas"/>
              </a:rPr>
              <a:t>28</a:t>
            </a:r>
          </a:p>
          <a:p>
            <a:pPr algn="r">
              <a:lnSpc>
                <a:spcPct val="100000"/>
              </a:lnSpc>
            </a:pPr>
            <a:r>
              <a:rPr sz="1700">
                <a:solidFill>
                  <a:srgbClr val="4F5D6A"/>
                </a:solidFill>
                <a:latin typeface="Consolas"/>
              </a:rPr>
              <a:t>29</a:t>
            </a:r>
          </a:p>
          <a:p>
            <a:pPr algn="r">
              <a:lnSpc>
                <a:spcPct val="100000"/>
              </a:lnSpc>
            </a:pPr>
            <a:r>
              <a:rPr sz="1700">
                <a:solidFill>
                  <a:srgbClr val="4F5D6A"/>
                </a:solidFill>
                <a:latin typeface="Consolas"/>
              </a:rPr>
              <a:t>30</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398723"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EM by Hand, Then Fifty Labels and a Thousand Guesses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4 OF 4</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17  ·  Semi-Supervised Learning and the EM Algorithm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§17.5  ·  Handout p. 131     </a:t>
            </a:r>
            <a:fld id="{677BA8BF-952A-4995-88B1-C15A44BDAD6E}" type="slidenum">
              <a:rPr lang="en-GB" sz="1000">
                <a:solidFill>
                  <a:srgbClr val="8795A1"/>
                </a:solidFill>
                <a:latin typeface="Segoe UI"/>
              </a:rPr>
              <a:t>32</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Self-training with 50 labels out of 1,257</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971543"/>
          </a:xfrm>
          <a:prstGeom prst="roundRect">
            <a:avLst>
              <a:gd name="adj" fmla="val 230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code/ch17_em_hand_fifty_labels.py</a:t>
            </a:r>
          </a:p>
        </p:txBody>
      </p:sp>
      <p:sp>
        <p:nvSpPr>
          <p:cNvPr id="14" name="!!code-text" descr="# --- 3. self-training with 50 labels out of 1,257 ------------------------ X, y = load_digits(return_X_y=True) X_tr, X_te, y_tr, y_te = train_test_split(X, y, test_size=0.3, random_state=0, stratify=y) rng = np.random.default_rng(0) keep = rng.choice(len(y_tr), size=50, replace=False) y_part = np.full_like(y_tr, -1) # -1 means &quot;unlabelled&quot; y_part[keep] = y_tr[keep] base = make_pipeline(StandardScaler(), LogisticRegression(max_iter=2000)) only = base.fit(X_tr[keep], y_tr[keep]).score(X_te, y_te) self_t = SelfTrainingClassifier( make_pipeline(StandardScaler(), LogisticRegression(max_iter=2000)), threshold=0.9).fit(X_tr, y_part) print(f&quot;50 labels only: {only:.3f} self-training with the rest &quot; f&quot;unlabelled: {self_t.score(X_te, y_te):.3f} &quot; f&quot;all {len(y_tr)} labels: &quot; f&quot;{base.fit(X_tr, y_tr).score(X_te, y_te):.3f}&quot;)"/>
          <p:cNvSpPr txBox="1"/>
          <p:nvPr/>
        </p:nvSpPr>
        <p:spPr>
          <a:xfrm>
            <a:off x="1362456" y="2523744"/>
            <a:ext cx="9987991" cy="3477767"/>
          </a:xfrm>
          <a:prstGeom prst="rect">
            <a:avLst/>
          </a:prstGeom>
          <a:noFill/>
        </p:spPr>
        <p:txBody>
          <a:bodyPr wrap="none" anchor="t" lIns="0" rIns="0" tIns="0" bIns="0">
            <a:noAutofit/>
          </a:bodyPr>
          <a:lstStyle/>
          <a:p>
            <a:pPr>
              <a:lnSpc>
                <a:spcPct val="100000"/>
              </a:lnSpc>
              <a:spcAft>
                <a:spcPts val="0"/>
              </a:spcAft>
            </a:pPr>
            <a:r>
              <a:rPr sz="1300" i="1">
                <a:solidFill>
                  <a:srgbClr val="8795A1"/>
                </a:solidFill>
                <a:latin typeface="Consolas"/>
              </a:rPr>
              <a:t># --- 3. self-training with 50 labels out of 1,257 ------------------------</a:t>
            </a:r>
          </a:p>
          <a:p>
            <a:pPr>
              <a:lnSpc>
                <a:spcPct val="100000"/>
              </a:lnSpc>
              <a:spcAft>
                <a:spcPts val="0"/>
              </a:spcAft>
            </a:pPr>
            <a:r>
              <a:rPr sz="1300" i="0">
                <a:solidFill>
                  <a:srgbClr val="E8EDF2"/>
                </a:solidFill>
                <a:latin typeface="Consolas"/>
              </a:rPr>
              <a:t>X</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y</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load_digits</a:t>
            </a:r>
            <a:r>
              <a:rPr sz="1300" i="0">
                <a:solidFill>
                  <a:srgbClr val="AEB6BF"/>
                </a:solidFill>
                <a:latin typeface="Consolas"/>
              </a:rPr>
              <a:t>(</a:t>
            </a:r>
            <a:r>
              <a:rPr sz="1300" i="0">
                <a:solidFill>
                  <a:srgbClr val="E8EDF2"/>
                </a:solidFill>
                <a:latin typeface="Consolas"/>
              </a:rPr>
              <a:t>return_X_y</a:t>
            </a:r>
            <a:r>
              <a:rPr sz="1300" i="0">
                <a:solidFill>
                  <a:srgbClr val="AEB6BF"/>
                </a:solidFill>
                <a:latin typeface="Consolas"/>
              </a:rPr>
              <a:t>=</a:t>
            </a:r>
            <a:r>
              <a:rPr sz="1300" i="0">
                <a:solidFill>
                  <a:srgbClr val="5DADE2"/>
                </a:solidFill>
                <a:latin typeface="Consolas"/>
              </a:rPr>
              <a:t>True</a:t>
            </a:r>
            <a:r>
              <a:rPr sz="1300" i="0">
                <a:solidFill>
                  <a:srgbClr val="AEB6BF"/>
                </a:solidFill>
                <a:latin typeface="Consolas"/>
              </a:rPr>
              <a:t>)</a:t>
            </a:r>
          </a:p>
          <a:p>
            <a:pPr>
              <a:lnSpc>
                <a:spcPct val="100000"/>
              </a:lnSpc>
              <a:spcAft>
                <a:spcPts val="0"/>
              </a:spcAft>
            </a:pPr>
            <a:r>
              <a:rPr sz="1300" i="0">
                <a:solidFill>
                  <a:srgbClr val="E8EDF2"/>
                </a:solidFill>
                <a:latin typeface="Consolas"/>
              </a:rPr>
              <a:t>X_tr</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X_te</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y_tr</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y_te</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train_test_split</a:t>
            </a:r>
            <a:r>
              <a:rPr sz="1300" i="0">
                <a:solidFill>
                  <a:srgbClr val="AEB6BF"/>
                </a:solidFill>
                <a:latin typeface="Consolas"/>
              </a:rPr>
              <a:t>(</a:t>
            </a:r>
            <a:r>
              <a:rPr sz="1300" i="0">
                <a:solidFill>
                  <a:srgbClr val="E8EDF2"/>
                </a:solidFill>
                <a:latin typeface="Consolas"/>
              </a:rPr>
              <a:t>X</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y</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test_size</a:t>
            </a:r>
            <a:r>
              <a:rPr sz="1300" i="0">
                <a:solidFill>
                  <a:srgbClr val="AEB6BF"/>
                </a:solidFill>
                <a:latin typeface="Consolas"/>
              </a:rPr>
              <a:t>=</a:t>
            </a:r>
            <a:r>
              <a:rPr sz="1300" i="0">
                <a:solidFill>
                  <a:srgbClr val="F7DC6F"/>
                </a:solidFill>
                <a:latin typeface="Consolas"/>
              </a:rPr>
              <a:t>0.3</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random_state</a:t>
            </a:r>
            <a:r>
              <a:rPr sz="1300" i="0">
                <a:solidFill>
                  <a:srgbClr val="AEB6BF"/>
                </a:solidFill>
                <a:latin typeface="Consolas"/>
              </a:rPr>
              <a:t>=</a:t>
            </a:r>
            <a:r>
              <a:rPr sz="1300" i="0">
                <a:solidFill>
                  <a:srgbClr val="F7DC6F"/>
                </a:solidFill>
                <a:latin typeface="Consolas"/>
              </a:rPr>
              <a:t>0</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stratify</a:t>
            </a:r>
            <a:r>
              <a:rPr sz="1300" i="0">
                <a:solidFill>
                  <a:srgbClr val="AEB6BF"/>
                </a:solidFill>
                <a:latin typeface="Consolas"/>
              </a:rPr>
              <a:t>=</a:t>
            </a:r>
            <a:r>
              <a:rPr sz="1300" i="0">
                <a:solidFill>
                  <a:srgbClr val="E8EDF2"/>
                </a:solidFill>
                <a:latin typeface="Consolas"/>
              </a:rPr>
              <a:t>y</a:t>
            </a:r>
            <a:r>
              <a:rPr sz="1300" i="0">
                <a:solidFill>
                  <a:srgbClr val="AEB6BF"/>
                </a:solidFill>
                <a:latin typeface="Consolas"/>
              </a:rPr>
              <a:t>)</a:t>
            </a:r>
          </a:p>
          <a:p>
            <a:pPr>
              <a:lnSpc>
                <a:spcPct val="100000"/>
              </a:lnSpc>
              <a:spcAft>
                <a:spcPts val="0"/>
              </a:spcAft>
            </a:pPr>
            <a:r>
              <a:rPr sz="1300" i="0">
                <a:solidFill>
                  <a:srgbClr val="E8EDF2"/>
                </a:solidFill>
                <a:latin typeface="Consolas"/>
              </a:rPr>
              <a:t>rng</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np</a:t>
            </a:r>
            <a:r>
              <a:rPr sz="1300" i="0">
                <a:solidFill>
                  <a:srgbClr val="AEB6BF"/>
                </a:solidFill>
                <a:latin typeface="Consolas"/>
              </a:rPr>
              <a:t>.</a:t>
            </a:r>
            <a:r>
              <a:rPr sz="1300" i="0">
                <a:solidFill>
                  <a:srgbClr val="E8EDF2"/>
                </a:solidFill>
                <a:latin typeface="Consolas"/>
              </a:rPr>
              <a:t>random</a:t>
            </a:r>
            <a:r>
              <a:rPr sz="1300" i="0">
                <a:solidFill>
                  <a:srgbClr val="AEB6BF"/>
                </a:solidFill>
                <a:latin typeface="Consolas"/>
              </a:rPr>
              <a:t>.</a:t>
            </a:r>
            <a:r>
              <a:rPr sz="1300" i="0">
                <a:solidFill>
                  <a:srgbClr val="E8EDF2"/>
                </a:solidFill>
                <a:latin typeface="Consolas"/>
              </a:rPr>
              <a:t>default_rng</a:t>
            </a:r>
            <a:r>
              <a:rPr sz="1300" i="0">
                <a:solidFill>
                  <a:srgbClr val="AEB6BF"/>
                </a:solidFill>
                <a:latin typeface="Consolas"/>
              </a:rPr>
              <a:t>(</a:t>
            </a:r>
            <a:r>
              <a:rPr sz="1300" i="0">
                <a:solidFill>
                  <a:srgbClr val="F7DC6F"/>
                </a:solidFill>
                <a:latin typeface="Consolas"/>
              </a:rPr>
              <a:t>0</a:t>
            </a:r>
            <a:r>
              <a:rPr sz="1300" i="0">
                <a:solidFill>
                  <a:srgbClr val="AEB6BF"/>
                </a:solidFill>
                <a:latin typeface="Consolas"/>
              </a:rPr>
              <a:t>)</a:t>
            </a:r>
          </a:p>
          <a:p>
            <a:pPr>
              <a:lnSpc>
                <a:spcPct val="100000"/>
              </a:lnSpc>
              <a:spcAft>
                <a:spcPts val="0"/>
              </a:spcAft>
            </a:pPr>
            <a:r>
              <a:rPr sz="1300" i="0">
                <a:solidFill>
                  <a:srgbClr val="E8EDF2"/>
                </a:solidFill>
                <a:latin typeface="Consolas"/>
              </a:rPr>
              <a:t>keep</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rng</a:t>
            </a:r>
            <a:r>
              <a:rPr sz="1300" i="0">
                <a:solidFill>
                  <a:srgbClr val="AEB6BF"/>
                </a:solidFill>
                <a:latin typeface="Consolas"/>
              </a:rPr>
              <a:t>.</a:t>
            </a:r>
            <a:r>
              <a:rPr sz="1300" i="0">
                <a:solidFill>
                  <a:srgbClr val="E8EDF2"/>
                </a:solidFill>
                <a:latin typeface="Consolas"/>
              </a:rPr>
              <a:t>choice</a:t>
            </a:r>
            <a:r>
              <a:rPr sz="1300" i="0">
                <a:solidFill>
                  <a:srgbClr val="AEB6BF"/>
                </a:solidFill>
                <a:latin typeface="Consolas"/>
              </a:rPr>
              <a:t>(</a:t>
            </a:r>
            <a:r>
              <a:rPr sz="1300" i="0">
                <a:solidFill>
                  <a:srgbClr val="C39BD3"/>
                </a:solidFill>
                <a:latin typeface="Consolas"/>
              </a:rPr>
              <a:t>len</a:t>
            </a:r>
            <a:r>
              <a:rPr sz="1300" i="0">
                <a:solidFill>
                  <a:srgbClr val="AEB6BF"/>
                </a:solidFill>
                <a:latin typeface="Consolas"/>
              </a:rPr>
              <a:t>(</a:t>
            </a:r>
            <a:r>
              <a:rPr sz="1300" i="0">
                <a:solidFill>
                  <a:srgbClr val="E8EDF2"/>
                </a:solidFill>
                <a:latin typeface="Consolas"/>
              </a:rPr>
              <a:t>y_tr</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size</a:t>
            </a:r>
            <a:r>
              <a:rPr sz="1300" i="0">
                <a:solidFill>
                  <a:srgbClr val="AEB6BF"/>
                </a:solidFill>
                <a:latin typeface="Consolas"/>
              </a:rPr>
              <a:t>=</a:t>
            </a:r>
            <a:r>
              <a:rPr sz="1300" i="0">
                <a:solidFill>
                  <a:srgbClr val="F7DC6F"/>
                </a:solidFill>
                <a:latin typeface="Consolas"/>
              </a:rPr>
              <a:t>50</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replace</a:t>
            </a:r>
            <a:r>
              <a:rPr sz="1300" i="0">
                <a:solidFill>
                  <a:srgbClr val="AEB6BF"/>
                </a:solidFill>
                <a:latin typeface="Consolas"/>
              </a:rPr>
              <a:t>=</a:t>
            </a:r>
            <a:r>
              <a:rPr sz="1300" i="0">
                <a:solidFill>
                  <a:srgbClr val="5DADE2"/>
                </a:solidFill>
                <a:latin typeface="Consolas"/>
              </a:rPr>
              <a:t>False</a:t>
            </a:r>
            <a:r>
              <a:rPr sz="1300" i="0">
                <a:solidFill>
                  <a:srgbClr val="AEB6BF"/>
                </a:solidFill>
                <a:latin typeface="Consolas"/>
              </a:rPr>
              <a:t>)</a:t>
            </a:r>
          </a:p>
          <a:p>
            <a:pPr>
              <a:lnSpc>
                <a:spcPct val="100000"/>
              </a:lnSpc>
              <a:spcAft>
                <a:spcPts val="0"/>
              </a:spcAft>
            </a:pPr>
            <a:r>
              <a:rPr sz="1300" i="0">
                <a:solidFill>
                  <a:srgbClr val="E8EDF2"/>
                </a:solidFill>
                <a:latin typeface="Consolas"/>
              </a:rPr>
              <a:t>y_part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np</a:t>
            </a:r>
            <a:r>
              <a:rPr sz="1300" i="0">
                <a:solidFill>
                  <a:srgbClr val="AEB6BF"/>
                </a:solidFill>
                <a:latin typeface="Consolas"/>
              </a:rPr>
              <a:t>.</a:t>
            </a:r>
            <a:r>
              <a:rPr sz="1300" i="0">
                <a:solidFill>
                  <a:srgbClr val="E8EDF2"/>
                </a:solidFill>
                <a:latin typeface="Consolas"/>
              </a:rPr>
              <a:t>full_like</a:t>
            </a:r>
            <a:r>
              <a:rPr sz="1300" i="0">
                <a:solidFill>
                  <a:srgbClr val="AEB6BF"/>
                </a:solidFill>
                <a:latin typeface="Consolas"/>
              </a:rPr>
              <a:t>(</a:t>
            </a:r>
            <a:r>
              <a:rPr sz="1300" i="0">
                <a:solidFill>
                  <a:srgbClr val="E8EDF2"/>
                </a:solidFill>
                <a:latin typeface="Consolas"/>
              </a:rPr>
              <a:t>y_tr</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F7DC6F"/>
                </a:solidFill>
                <a:latin typeface="Consolas"/>
              </a:rPr>
              <a:t>1</a:t>
            </a:r>
            <a:r>
              <a:rPr sz="1300" i="0">
                <a:solidFill>
                  <a:srgbClr val="AEB6BF"/>
                </a:solidFill>
                <a:latin typeface="Consolas"/>
              </a:rPr>
              <a:t>)</a:t>
            </a:r>
            <a:r>
              <a:rPr sz="1300" i="0">
                <a:solidFill>
                  <a:srgbClr val="E8EDF2"/>
                </a:solidFill>
                <a:latin typeface="Consolas"/>
              </a:rPr>
              <a:t>                 </a:t>
            </a:r>
            <a:r>
              <a:rPr sz="1300" i="1">
                <a:solidFill>
                  <a:srgbClr val="8795A1"/>
                </a:solidFill>
                <a:latin typeface="Consolas"/>
              </a:rPr>
              <a:t># -1 means "unlabelled"</a:t>
            </a:r>
          </a:p>
          <a:p>
            <a:pPr>
              <a:lnSpc>
                <a:spcPct val="100000"/>
              </a:lnSpc>
              <a:spcAft>
                <a:spcPts val="0"/>
              </a:spcAft>
            </a:pPr>
            <a:r>
              <a:rPr sz="1300" i="0">
                <a:solidFill>
                  <a:srgbClr val="E8EDF2"/>
                </a:solidFill>
                <a:latin typeface="Consolas"/>
              </a:rPr>
              <a:t>y_part</a:t>
            </a:r>
            <a:r>
              <a:rPr sz="1300" i="0">
                <a:solidFill>
                  <a:srgbClr val="AEB6BF"/>
                </a:solidFill>
                <a:latin typeface="Consolas"/>
              </a:rPr>
              <a:t>[</a:t>
            </a:r>
            <a:r>
              <a:rPr sz="1300" i="0">
                <a:solidFill>
                  <a:srgbClr val="E8EDF2"/>
                </a:solidFill>
                <a:latin typeface="Consolas"/>
              </a:rPr>
              <a:t>keep</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y_tr</a:t>
            </a:r>
            <a:r>
              <a:rPr sz="1300" i="0">
                <a:solidFill>
                  <a:srgbClr val="AEB6BF"/>
                </a:solidFill>
                <a:latin typeface="Consolas"/>
              </a:rPr>
              <a:t>[</a:t>
            </a:r>
            <a:r>
              <a:rPr sz="1300" i="0">
                <a:solidFill>
                  <a:srgbClr val="E8EDF2"/>
                </a:solidFill>
                <a:latin typeface="Consolas"/>
              </a:rPr>
              <a:t>keep</a:t>
            </a:r>
            <a:r>
              <a:rPr sz="1300" i="0">
                <a:solidFill>
                  <a:srgbClr val="AEB6BF"/>
                </a:solidFill>
                <a:latin typeface="Consolas"/>
              </a:rPr>
              <a:t>]</a:t>
            </a:r>
          </a:p>
          <a:p>
            <a:pPr>
              <a:lnSpc>
                <a:spcPct val="100000"/>
              </a:lnSpc>
              <a:spcAft>
                <a:spcPts val="0"/>
              </a:spcAft>
            </a:pPr>
            <a:r>
              <a:rPr sz="1300" i="0">
                <a:solidFill>
                  <a:srgbClr val="E8EDF2"/>
                </a:solidFill>
                <a:latin typeface="Consolas"/>
              </a:rPr>
              <a:t>base</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make_pipeline</a:t>
            </a:r>
            <a:r>
              <a:rPr sz="1300" i="0">
                <a:solidFill>
                  <a:srgbClr val="AEB6BF"/>
                </a:solidFill>
                <a:latin typeface="Consolas"/>
              </a:rPr>
              <a:t>(</a:t>
            </a:r>
            <a:r>
              <a:rPr sz="1300" i="0">
                <a:solidFill>
                  <a:srgbClr val="E8EDF2"/>
                </a:solidFill>
                <a:latin typeface="Consolas"/>
              </a:rPr>
              <a:t>StandardScaler</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LogisticRegression</a:t>
            </a:r>
            <a:r>
              <a:rPr sz="1300" i="0">
                <a:solidFill>
                  <a:srgbClr val="AEB6BF"/>
                </a:solidFill>
                <a:latin typeface="Consolas"/>
              </a:rPr>
              <a:t>(</a:t>
            </a:r>
            <a:r>
              <a:rPr sz="1300" i="0">
                <a:solidFill>
                  <a:srgbClr val="E8EDF2"/>
                </a:solidFill>
                <a:latin typeface="Consolas"/>
              </a:rPr>
              <a:t>max_iter</a:t>
            </a:r>
            <a:r>
              <a:rPr sz="1300" i="0">
                <a:solidFill>
                  <a:srgbClr val="AEB6BF"/>
                </a:solidFill>
                <a:latin typeface="Consolas"/>
              </a:rPr>
              <a:t>=</a:t>
            </a:r>
            <a:r>
              <a:rPr sz="1300" i="0">
                <a:solidFill>
                  <a:srgbClr val="F7DC6F"/>
                </a:solidFill>
                <a:latin typeface="Consolas"/>
              </a:rPr>
              <a:t>2000</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only</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base</a:t>
            </a:r>
            <a:r>
              <a:rPr sz="1300" i="0">
                <a:solidFill>
                  <a:srgbClr val="AEB6BF"/>
                </a:solidFill>
                <a:latin typeface="Consolas"/>
              </a:rPr>
              <a:t>.</a:t>
            </a:r>
            <a:r>
              <a:rPr sz="1300" i="0">
                <a:solidFill>
                  <a:srgbClr val="E8EDF2"/>
                </a:solidFill>
                <a:latin typeface="Consolas"/>
              </a:rPr>
              <a:t>fit</a:t>
            </a:r>
            <a:r>
              <a:rPr sz="1300" i="0">
                <a:solidFill>
                  <a:srgbClr val="AEB6BF"/>
                </a:solidFill>
                <a:latin typeface="Consolas"/>
              </a:rPr>
              <a:t>(</a:t>
            </a:r>
            <a:r>
              <a:rPr sz="1300" i="0">
                <a:solidFill>
                  <a:srgbClr val="E8EDF2"/>
                </a:solidFill>
                <a:latin typeface="Consolas"/>
              </a:rPr>
              <a:t>X_tr</a:t>
            </a:r>
            <a:r>
              <a:rPr sz="1300" i="0">
                <a:solidFill>
                  <a:srgbClr val="AEB6BF"/>
                </a:solidFill>
                <a:latin typeface="Consolas"/>
              </a:rPr>
              <a:t>[</a:t>
            </a:r>
            <a:r>
              <a:rPr sz="1300" i="0">
                <a:solidFill>
                  <a:srgbClr val="E8EDF2"/>
                </a:solidFill>
                <a:latin typeface="Consolas"/>
              </a:rPr>
              <a:t>keep</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y_tr</a:t>
            </a:r>
            <a:r>
              <a:rPr sz="1300" i="0">
                <a:solidFill>
                  <a:srgbClr val="AEB6BF"/>
                </a:solidFill>
                <a:latin typeface="Consolas"/>
              </a:rPr>
              <a:t>[</a:t>
            </a:r>
            <a:r>
              <a:rPr sz="1300" i="0">
                <a:solidFill>
                  <a:srgbClr val="E8EDF2"/>
                </a:solidFill>
                <a:latin typeface="Consolas"/>
              </a:rPr>
              <a:t>keep</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score</a:t>
            </a:r>
            <a:r>
              <a:rPr sz="1300" i="0">
                <a:solidFill>
                  <a:srgbClr val="AEB6BF"/>
                </a:solidFill>
                <a:latin typeface="Consolas"/>
              </a:rPr>
              <a:t>(</a:t>
            </a:r>
            <a:r>
              <a:rPr sz="1300" i="0">
                <a:solidFill>
                  <a:srgbClr val="E8EDF2"/>
                </a:solidFill>
                <a:latin typeface="Consolas"/>
              </a:rPr>
              <a:t>X_te</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y_te</a:t>
            </a:r>
            <a:r>
              <a:rPr sz="1300" i="0">
                <a:solidFill>
                  <a:srgbClr val="AEB6BF"/>
                </a:solidFill>
                <a:latin typeface="Consolas"/>
              </a:rPr>
              <a:t>)</a:t>
            </a:r>
          </a:p>
          <a:p>
            <a:pPr>
              <a:lnSpc>
                <a:spcPct val="100000"/>
              </a:lnSpc>
              <a:spcAft>
                <a:spcPts val="0"/>
              </a:spcAft>
            </a:pPr>
            <a:r>
              <a:rPr sz="1300" i="0">
                <a:solidFill>
                  <a:srgbClr val="E8EDF2"/>
                </a:solidFill>
                <a:latin typeface="Consolas"/>
              </a:rPr>
              <a:t>self_t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SelfTrainingClassifier</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make_pipeline</a:t>
            </a:r>
            <a:r>
              <a:rPr sz="1300" i="0">
                <a:solidFill>
                  <a:srgbClr val="AEB6BF"/>
                </a:solidFill>
                <a:latin typeface="Consolas"/>
              </a:rPr>
              <a:t>(</a:t>
            </a:r>
            <a:r>
              <a:rPr sz="1300" i="0">
                <a:solidFill>
                  <a:srgbClr val="E8EDF2"/>
                </a:solidFill>
                <a:latin typeface="Consolas"/>
              </a:rPr>
              <a:t>StandardScaler</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LogisticRegression</a:t>
            </a:r>
            <a:r>
              <a:rPr sz="1300" i="0">
                <a:solidFill>
                  <a:srgbClr val="AEB6BF"/>
                </a:solidFill>
                <a:latin typeface="Consolas"/>
              </a:rPr>
              <a:t>(</a:t>
            </a:r>
            <a:r>
              <a:rPr sz="1300" i="0">
                <a:solidFill>
                  <a:srgbClr val="E8EDF2"/>
                </a:solidFill>
                <a:latin typeface="Consolas"/>
              </a:rPr>
              <a:t>max_iter</a:t>
            </a:r>
            <a:r>
              <a:rPr sz="1300" i="0">
                <a:solidFill>
                  <a:srgbClr val="AEB6BF"/>
                </a:solidFill>
                <a:latin typeface="Consolas"/>
              </a:rPr>
              <a:t>=</a:t>
            </a:r>
            <a:r>
              <a:rPr sz="1300" i="0">
                <a:solidFill>
                  <a:srgbClr val="F7DC6F"/>
                </a:solidFill>
                <a:latin typeface="Consolas"/>
              </a:rPr>
              <a:t>2000</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threshold</a:t>
            </a:r>
            <a:r>
              <a:rPr sz="1300" i="0">
                <a:solidFill>
                  <a:srgbClr val="AEB6BF"/>
                </a:solidFill>
                <a:latin typeface="Consolas"/>
              </a:rPr>
              <a:t>=</a:t>
            </a:r>
            <a:r>
              <a:rPr sz="1300" i="0">
                <a:solidFill>
                  <a:srgbClr val="F7DC6F"/>
                </a:solidFill>
                <a:latin typeface="Consolas"/>
              </a:rPr>
              <a:t>0.9</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fit</a:t>
            </a:r>
            <a:r>
              <a:rPr sz="1300" i="0">
                <a:solidFill>
                  <a:srgbClr val="AEB6BF"/>
                </a:solidFill>
                <a:latin typeface="Consolas"/>
              </a:rPr>
              <a:t>(</a:t>
            </a:r>
            <a:r>
              <a:rPr sz="1300" i="0">
                <a:solidFill>
                  <a:srgbClr val="E8EDF2"/>
                </a:solidFill>
                <a:latin typeface="Consolas"/>
              </a:rPr>
              <a:t>X_tr</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y_part</a:t>
            </a:r>
            <a:r>
              <a:rPr sz="1300" i="0">
                <a:solidFill>
                  <a:srgbClr val="AEB6BF"/>
                </a:solidFill>
                <a:latin typeface="Consolas"/>
              </a:rPr>
              <a:t>)</a:t>
            </a:r>
          </a:p>
          <a:p>
            <a:pPr>
              <a:lnSpc>
                <a:spcPct val="100000"/>
              </a:lnSpc>
              <a:spcAft>
                <a:spcPts val="0"/>
              </a:spcAft>
            </a:pP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f</a:t>
            </a:r>
            <a:r>
              <a:rPr sz="1300" i="0">
                <a:solidFill>
                  <a:srgbClr val="7DCEA0"/>
                </a:solidFill>
                <a:latin typeface="Consolas"/>
              </a:rPr>
              <a:t>"</a:t>
            </a:r>
            <a:r>
              <a:rPr sz="1300" i="0">
                <a:solidFill>
                  <a:srgbClr val="7DCEA0"/>
                </a:solidFill>
                <a:latin typeface="Consolas"/>
              </a:rPr>
              <a:t>50 labels only: </a:t>
            </a:r>
            <a:r>
              <a:rPr sz="1300" i="0">
                <a:solidFill>
                  <a:srgbClr val="7DCEA0"/>
                </a:solidFill>
                <a:latin typeface="Consolas"/>
              </a:rPr>
              <a:t>{</a:t>
            </a:r>
            <a:r>
              <a:rPr sz="1300" i="0">
                <a:solidFill>
                  <a:srgbClr val="E8EDF2"/>
                </a:solidFill>
                <a:latin typeface="Consolas"/>
              </a:rPr>
              <a:t>only</a:t>
            </a:r>
            <a:r>
              <a:rPr sz="1300" i="0">
                <a:solidFill>
                  <a:srgbClr val="7DCEA0"/>
                </a:solidFill>
                <a:latin typeface="Consolas"/>
              </a:rPr>
              <a:t>:</a:t>
            </a:r>
            <a:r>
              <a:rPr sz="1300" i="0">
                <a:solidFill>
                  <a:srgbClr val="7DCEA0"/>
                </a:solidFill>
                <a:latin typeface="Consolas"/>
              </a:rPr>
              <a:t>.3f</a:t>
            </a:r>
            <a:r>
              <a:rPr sz="1300" i="0">
                <a:solidFill>
                  <a:srgbClr val="7DCEA0"/>
                </a:solidFill>
                <a:latin typeface="Consolas"/>
              </a:rPr>
              <a:t>}</a:t>
            </a:r>
            <a:r>
              <a:rPr sz="1300" i="0">
                <a:solidFill>
                  <a:srgbClr val="7DCEA0"/>
                </a:solidFill>
                <a:latin typeface="Consolas"/>
              </a:rPr>
              <a:t>   self-training with the rest </a:t>
            </a:r>
            <a:r>
              <a:rPr sz="1300" i="0">
                <a:solidFill>
                  <a:srgbClr val="7DCEA0"/>
                </a:solidFill>
                <a:latin typeface="Consolas"/>
              </a:rPr>
              <a:t>"</a:t>
            </a:r>
          </a:p>
          <a:p>
            <a:pPr>
              <a:lnSpc>
                <a:spcPct val="100000"/>
              </a:lnSpc>
              <a:spcAft>
                <a:spcPts val="0"/>
              </a:spcAft>
            </a:pPr>
            <a:r>
              <a:rPr sz="1300" i="0">
                <a:solidFill>
                  <a:srgbClr val="E8EDF2"/>
                </a:solidFill>
                <a:latin typeface="Consolas"/>
              </a:rPr>
              <a:t>      </a:t>
            </a:r>
            <a:r>
              <a:rPr sz="1300" i="0">
                <a:solidFill>
                  <a:srgbClr val="7DCEA0"/>
                </a:solidFill>
                <a:latin typeface="Consolas"/>
              </a:rPr>
              <a:t>f</a:t>
            </a:r>
            <a:r>
              <a:rPr sz="1300" i="0">
                <a:solidFill>
                  <a:srgbClr val="7DCEA0"/>
                </a:solidFill>
                <a:latin typeface="Consolas"/>
              </a:rPr>
              <a:t>"</a:t>
            </a:r>
            <a:r>
              <a:rPr sz="1300" i="0">
                <a:solidFill>
                  <a:srgbClr val="7DCEA0"/>
                </a:solidFill>
                <a:latin typeface="Consolas"/>
              </a:rPr>
              <a:t>unlabelled: </a:t>
            </a:r>
            <a:r>
              <a:rPr sz="1300" i="0">
                <a:solidFill>
                  <a:srgbClr val="7DCEA0"/>
                </a:solidFill>
                <a:latin typeface="Consolas"/>
              </a:rPr>
              <a:t>{</a:t>
            </a:r>
            <a:r>
              <a:rPr sz="1300" i="0">
                <a:solidFill>
                  <a:srgbClr val="E8EDF2"/>
                </a:solidFill>
                <a:latin typeface="Consolas"/>
              </a:rPr>
              <a:t>self_t</a:t>
            </a:r>
            <a:r>
              <a:rPr sz="1300" i="0">
                <a:solidFill>
                  <a:srgbClr val="AEB6BF"/>
                </a:solidFill>
                <a:latin typeface="Consolas"/>
              </a:rPr>
              <a:t>.</a:t>
            </a:r>
            <a:r>
              <a:rPr sz="1300" i="0">
                <a:solidFill>
                  <a:srgbClr val="E8EDF2"/>
                </a:solidFill>
                <a:latin typeface="Consolas"/>
              </a:rPr>
              <a:t>score</a:t>
            </a:r>
            <a:r>
              <a:rPr sz="1300" i="0">
                <a:solidFill>
                  <a:srgbClr val="AEB6BF"/>
                </a:solidFill>
                <a:latin typeface="Consolas"/>
              </a:rPr>
              <a:t>(</a:t>
            </a:r>
            <a:r>
              <a:rPr sz="1300" i="0">
                <a:solidFill>
                  <a:srgbClr val="E8EDF2"/>
                </a:solidFill>
                <a:latin typeface="Consolas"/>
              </a:rPr>
              <a:t>X_te</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y_te</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.3f</a:t>
            </a:r>
            <a:r>
              <a:rPr sz="1300" i="0">
                <a:solidFill>
                  <a:srgbClr val="7DCEA0"/>
                </a:solidFill>
                <a:latin typeface="Consolas"/>
              </a:rPr>
              <a:t>}</a:t>
            </a:r>
            <a:r>
              <a:rPr sz="1300" i="0">
                <a:solidFill>
                  <a:srgbClr val="7DCEA0"/>
                </a:solidFill>
                <a:latin typeface="Consolas"/>
              </a:rPr>
              <a:t>   </a:t>
            </a:r>
            <a:r>
              <a:rPr sz="1300" i="0">
                <a:solidFill>
                  <a:srgbClr val="7DCEA0"/>
                </a:solidFill>
                <a:latin typeface="Consolas"/>
              </a:rPr>
              <a:t>"</a:t>
            </a:r>
          </a:p>
          <a:p>
            <a:pPr>
              <a:lnSpc>
                <a:spcPct val="100000"/>
              </a:lnSpc>
              <a:spcAft>
                <a:spcPts val="0"/>
              </a:spcAft>
            </a:pPr>
            <a:r>
              <a:rPr sz="1300" i="0">
                <a:solidFill>
                  <a:srgbClr val="E8EDF2"/>
                </a:solidFill>
                <a:latin typeface="Consolas"/>
              </a:rPr>
              <a:t>      </a:t>
            </a:r>
            <a:r>
              <a:rPr sz="1300" i="0">
                <a:solidFill>
                  <a:srgbClr val="7DCEA0"/>
                </a:solidFill>
                <a:latin typeface="Consolas"/>
              </a:rPr>
              <a:t>f</a:t>
            </a:r>
            <a:r>
              <a:rPr sz="1300" i="0">
                <a:solidFill>
                  <a:srgbClr val="7DCEA0"/>
                </a:solidFill>
                <a:latin typeface="Consolas"/>
              </a:rPr>
              <a:t>"</a:t>
            </a:r>
            <a:r>
              <a:rPr sz="1300" i="0">
                <a:solidFill>
                  <a:srgbClr val="7DCEA0"/>
                </a:solidFill>
                <a:latin typeface="Consolas"/>
              </a:rPr>
              <a:t>all </a:t>
            </a:r>
            <a:r>
              <a:rPr sz="1300" i="0">
                <a:solidFill>
                  <a:srgbClr val="7DCEA0"/>
                </a:solidFill>
                <a:latin typeface="Consolas"/>
              </a:rPr>
              <a:t>{</a:t>
            </a:r>
            <a:r>
              <a:rPr sz="1300" i="0">
                <a:solidFill>
                  <a:srgbClr val="C39BD3"/>
                </a:solidFill>
                <a:latin typeface="Consolas"/>
              </a:rPr>
              <a:t>len</a:t>
            </a:r>
            <a:r>
              <a:rPr sz="1300" i="0">
                <a:solidFill>
                  <a:srgbClr val="AEB6BF"/>
                </a:solidFill>
                <a:latin typeface="Consolas"/>
              </a:rPr>
              <a:t>(</a:t>
            </a:r>
            <a:r>
              <a:rPr sz="1300" i="0">
                <a:solidFill>
                  <a:srgbClr val="E8EDF2"/>
                </a:solidFill>
                <a:latin typeface="Consolas"/>
              </a:rPr>
              <a:t>y_tr</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 labels: </a:t>
            </a:r>
            <a:r>
              <a:rPr sz="1300" i="0">
                <a:solidFill>
                  <a:srgbClr val="7DCEA0"/>
                </a:solidFill>
                <a:latin typeface="Consolas"/>
              </a:rPr>
              <a:t>"</a:t>
            </a:r>
          </a:p>
          <a:p>
            <a:pPr>
              <a:lnSpc>
                <a:spcPct val="100000"/>
              </a:lnSpc>
              <a:spcAft>
                <a:spcPts val="0"/>
              </a:spcAft>
            </a:pPr>
            <a:r>
              <a:rPr sz="1300" i="0">
                <a:solidFill>
                  <a:srgbClr val="E8EDF2"/>
                </a:solidFill>
                <a:latin typeface="Consolas"/>
              </a:rPr>
              <a:t>      </a:t>
            </a:r>
            <a:r>
              <a:rPr sz="1300" i="0">
                <a:solidFill>
                  <a:srgbClr val="7DCEA0"/>
                </a:solidFill>
                <a:latin typeface="Consolas"/>
              </a:rPr>
              <a:t>f</a:t>
            </a:r>
            <a:r>
              <a:rPr sz="1300" i="0">
                <a:solidFill>
                  <a:srgbClr val="7DCEA0"/>
                </a:solidFill>
                <a:latin typeface="Consolas"/>
              </a:rPr>
              <a:t>"</a:t>
            </a:r>
            <a:r>
              <a:rPr sz="1300" i="0">
                <a:solidFill>
                  <a:srgbClr val="7DCEA0"/>
                </a:solidFill>
                <a:latin typeface="Consolas"/>
              </a:rPr>
              <a:t>{</a:t>
            </a:r>
            <a:r>
              <a:rPr sz="1300" i="0">
                <a:solidFill>
                  <a:srgbClr val="E8EDF2"/>
                </a:solidFill>
                <a:latin typeface="Consolas"/>
              </a:rPr>
              <a:t>base</a:t>
            </a:r>
            <a:r>
              <a:rPr sz="1300" i="0">
                <a:solidFill>
                  <a:srgbClr val="AEB6BF"/>
                </a:solidFill>
                <a:latin typeface="Consolas"/>
              </a:rPr>
              <a:t>.</a:t>
            </a:r>
            <a:r>
              <a:rPr sz="1300" i="0">
                <a:solidFill>
                  <a:srgbClr val="E8EDF2"/>
                </a:solidFill>
                <a:latin typeface="Consolas"/>
              </a:rPr>
              <a:t>fit</a:t>
            </a:r>
            <a:r>
              <a:rPr sz="1300" i="0">
                <a:solidFill>
                  <a:srgbClr val="AEB6BF"/>
                </a:solidFill>
                <a:latin typeface="Consolas"/>
              </a:rPr>
              <a:t>(</a:t>
            </a:r>
            <a:r>
              <a:rPr sz="1300" i="0">
                <a:solidFill>
                  <a:srgbClr val="E8EDF2"/>
                </a:solidFill>
                <a:latin typeface="Consolas"/>
              </a:rPr>
              <a:t>X_tr</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y_tr</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score</a:t>
            </a:r>
            <a:r>
              <a:rPr sz="1300" i="0">
                <a:solidFill>
                  <a:srgbClr val="AEB6BF"/>
                </a:solidFill>
                <a:latin typeface="Consolas"/>
              </a:rPr>
              <a:t>(</a:t>
            </a:r>
            <a:r>
              <a:rPr sz="1300" i="0">
                <a:solidFill>
                  <a:srgbClr val="E8EDF2"/>
                </a:solidFill>
                <a:latin typeface="Consolas"/>
              </a:rPr>
              <a:t>X_te</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y_te</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.3f</a:t>
            </a:r>
            <a:r>
              <a:rPr sz="1300" i="0">
                <a:solidFill>
                  <a:srgbClr val="7DCEA0"/>
                </a:solidFill>
                <a:latin typeface="Consolas"/>
              </a:rPr>
              <a:t>}</a:t>
            </a:r>
            <a:r>
              <a:rPr sz="1300" i="0">
                <a:solidFill>
                  <a:srgbClr val="7DCEA0"/>
                </a:solidFill>
                <a:latin typeface="Consolas"/>
              </a:rPr>
              <a:t>"</a:t>
            </a:r>
            <a:r>
              <a:rPr sz="1300" i="0">
                <a:solidFill>
                  <a:srgbClr val="AEB6BF"/>
                </a:solidFill>
                <a:latin typeface="Consolas"/>
              </a:rPr>
              <a:t>)</a:t>
            </a:r>
          </a:p>
        </p:txBody>
      </p:sp>
      <p:sp>
        <p:nvSpPr>
          <p:cNvPr id="15" name="!!code-num"/>
          <p:cNvSpPr txBox="1"/>
          <p:nvPr/>
        </p:nvSpPr>
        <p:spPr>
          <a:xfrm>
            <a:off x="768096" y="2523744"/>
            <a:ext cx="393192" cy="3477767"/>
          </a:xfrm>
          <a:prstGeom prst="rect">
            <a:avLst/>
          </a:prstGeom>
          <a:noFill/>
        </p:spPr>
        <p:txBody>
          <a:bodyPr wrap="none" anchor="t" lIns="0" rIns="0" tIns="0" bIns="0">
            <a:noAutofit/>
          </a:bodyPr>
          <a:lstStyle/>
          <a:p>
            <a:pPr algn="r">
              <a:lnSpc>
                <a:spcPct val="100000"/>
              </a:lnSpc>
            </a:pPr>
            <a:r>
              <a:rPr sz="1300">
                <a:solidFill>
                  <a:srgbClr val="4F5D6A"/>
                </a:solidFill>
                <a:latin typeface="Consolas"/>
              </a:rPr>
              <a:t>32</a:t>
            </a:r>
          </a:p>
          <a:p>
            <a:pPr algn="r">
              <a:lnSpc>
                <a:spcPct val="100000"/>
              </a:lnSpc>
            </a:pPr>
            <a:r>
              <a:rPr sz="1300">
                <a:solidFill>
                  <a:srgbClr val="4F5D6A"/>
                </a:solidFill>
                <a:latin typeface="Consolas"/>
              </a:rPr>
              <a:t>33</a:t>
            </a:r>
          </a:p>
          <a:p>
            <a:pPr algn="r">
              <a:lnSpc>
                <a:spcPct val="100000"/>
              </a:lnSpc>
            </a:pPr>
            <a:r>
              <a:rPr sz="1300">
                <a:solidFill>
                  <a:srgbClr val="4F5D6A"/>
                </a:solidFill>
                <a:latin typeface="Consolas"/>
              </a:rPr>
              <a:t>34</a:t>
            </a:r>
          </a:p>
          <a:p>
            <a:pPr algn="r">
              <a:lnSpc>
                <a:spcPct val="100000"/>
              </a:lnSpc>
            </a:pPr>
            <a:r>
              <a:rPr sz="1300">
                <a:solidFill>
                  <a:srgbClr val="4F5D6A"/>
                </a:solidFill>
                <a:latin typeface="Consolas"/>
              </a:rPr>
              <a:t>35</a:t>
            </a:r>
          </a:p>
          <a:p>
            <a:pPr algn="r">
              <a:lnSpc>
                <a:spcPct val="100000"/>
              </a:lnSpc>
            </a:pPr>
            <a:r>
              <a:rPr sz="1300">
                <a:solidFill>
                  <a:srgbClr val="4F5D6A"/>
                </a:solidFill>
                <a:latin typeface="Consolas"/>
              </a:rPr>
              <a:t>36</a:t>
            </a:r>
          </a:p>
          <a:p>
            <a:pPr algn="r">
              <a:lnSpc>
                <a:spcPct val="100000"/>
              </a:lnSpc>
            </a:pPr>
            <a:r>
              <a:rPr sz="1300">
                <a:solidFill>
                  <a:srgbClr val="4F5D6A"/>
                </a:solidFill>
                <a:latin typeface="Consolas"/>
              </a:rPr>
              <a:t>37</a:t>
            </a:r>
          </a:p>
          <a:p>
            <a:pPr algn="r">
              <a:lnSpc>
                <a:spcPct val="100000"/>
              </a:lnSpc>
            </a:pPr>
            <a:r>
              <a:rPr sz="1300">
                <a:solidFill>
                  <a:srgbClr val="4F5D6A"/>
                </a:solidFill>
                <a:latin typeface="Consolas"/>
              </a:rPr>
              <a:t>38</a:t>
            </a:r>
          </a:p>
          <a:p>
            <a:pPr algn="r">
              <a:lnSpc>
                <a:spcPct val="100000"/>
              </a:lnSpc>
            </a:pPr>
            <a:r>
              <a:rPr sz="1300">
                <a:solidFill>
                  <a:srgbClr val="4F5D6A"/>
                </a:solidFill>
                <a:latin typeface="Consolas"/>
              </a:rPr>
              <a:t>39</a:t>
            </a:r>
          </a:p>
          <a:p>
            <a:pPr algn="r">
              <a:lnSpc>
                <a:spcPct val="100000"/>
              </a:lnSpc>
            </a:pPr>
            <a:r>
              <a:rPr sz="1300">
                <a:solidFill>
                  <a:srgbClr val="4F5D6A"/>
                </a:solidFill>
                <a:latin typeface="Consolas"/>
              </a:rPr>
              <a:t>40</a:t>
            </a:r>
          </a:p>
          <a:p>
            <a:pPr algn="r">
              <a:lnSpc>
                <a:spcPct val="100000"/>
              </a:lnSpc>
            </a:pPr>
            <a:r>
              <a:rPr sz="1300">
                <a:solidFill>
                  <a:srgbClr val="4F5D6A"/>
                </a:solidFill>
                <a:latin typeface="Consolas"/>
              </a:rPr>
              <a:t>41</a:t>
            </a:r>
          </a:p>
          <a:p>
            <a:pPr algn="r">
              <a:lnSpc>
                <a:spcPct val="100000"/>
              </a:lnSpc>
            </a:pPr>
            <a:r>
              <a:rPr sz="1300">
                <a:solidFill>
                  <a:srgbClr val="4F5D6A"/>
                </a:solidFill>
                <a:latin typeface="Consolas"/>
              </a:rPr>
              <a:t>42</a:t>
            </a:r>
          </a:p>
          <a:p>
            <a:pPr algn="r">
              <a:lnSpc>
                <a:spcPct val="100000"/>
              </a:lnSpc>
            </a:pPr>
            <a:r>
              <a:rPr sz="1300">
                <a:solidFill>
                  <a:srgbClr val="4F5D6A"/>
                </a:solidFill>
                <a:latin typeface="Consolas"/>
              </a:rPr>
              <a:t>43</a:t>
            </a:r>
          </a:p>
          <a:p>
            <a:pPr algn="r">
              <a:lnSpc>
                <a:spcPct val="100000"/>
              </a:lnSpc>
            </a:pPr>
            <a:r>
              <a:rPr sz="1300">
                <a:solidFill>
                  <a:srgbClr val="4F5D6A"/>
                </a:solidFill>
                <a:latin typeface="Consolas"/>
              </a:rPr>
              <a:t>44</a:t>
            </a:r>
          </a:p>
          <a:p>
            <a:pPr algn="r">
              <a:lnSpc>
                <a:spcPct val="100000"/>
              </a:lnSpc>
            </a:pPr>
            <a:r>
              <a:rPr sz="1300">
                <a:solidFill>
                  <a:srgbClr val="4F5D6A"/>
                </a:solidFill>
                <a:latin typeface="Consolas"/>
              </a:rPr>
              <a:t>45</a:t>
            </a:r>
          </a:p>
          <a:p>
            <a:pPr algn="r">
              <a:lnSpc>
                <a:spcPct val="100000"/>
              </a:lnSpc>
            </a:pPr>
            <a:r>
              <a:rPr sz="1300">
                <a:solidFill>
                  <a:srgbClr val="4F5D6A"/>
                </a:solidFill>
                <a:latin typeface="Consolas"/>
              </a:rPr>
              <a:t>46</a:t>
            </a:r>
          </a:p>
          <a:p>
            <a:pPr algn="r">
              <a:lnSpc>
                <a:spcPct val="100000"/>
              </a:lnSpc>
            </a:pPr>
            <a:r>
              <a:rPr sz="1300">
                <a:solidFill>
                  <a:srgbClr val="4F5D6A"/>
                </a:solidFill>
                <a:latin typeface="Consolas"/>
              </a:rPr>
              <a:t>47</a:t>
            </a:r>
          </a:p>
          <a:p>
            <a:pPr algn="r">
              <a:lnSpc>
                <a:spcPct val="100000"/>
              </a:lnSpc>
            </a:pPr>
            <a:r>
              <a:rPr sz="1300">
                <a:solidFill>
                  <a:srgbClr val="4F5D6A"/>
                </a:solidFill>
                <a:latin typeface="Consolas"/>
              </a:rPr>
              <a:t>48</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669649"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the lab shows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17  ·  Semi-Supervised Learning and the EM Algorithm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§17.5  ·  Handout p. 131     </a:t>
            </a:r>
            <a:fld id="{CF160302-4174-4BC4-9E0D-4CF79C29C5FE}" type="slidenum">
              <a:rPr lang="en-GB" sz="1000">
                <a:solidFill>
                  <a:srgbClr val="8795A1"/>
                </a:solidFill>
                <a:latin typeface="Segoe UI"/>
              </a:rPr>
              <a:t>33</a:t>
            </a:fld>
          </a:p>
        </p:txBody>
      </p:sp>
      <p:sp>
        <p:nvSpPr>
          <p:cNvPr id="7" name="!!card">
            <a:extLst>
              <a:ext uri="{C183D7F6-B498-43B3-948B-1728B52AA6E4}">
                <adec:decorative xmlns:adec="http://schemas.microsoft.com/office/drawing/2017/decorative" val="1"/>
              </a:ext>
            </a:extLst>
          </p:cNvPr>
          <p:cNvSpPr/>
          <p:nvPr/>
        </p:nvSpPr>
        <p:spPr>
          <a:xfrm>
            <a:off x="658368" y="1737360"/>
            <a:ext cx="10874959" cy="1350873"/>
          </a:xfrm>
          <a:prstGeom prst="roundRect">
            <a:avLst>
              <a:gd name="adj" fmla="val 6768"/>
            </a:avLst>
          </a:prstGeom>
          <a:solidFill>
            <a:srgbClr val="EEF6F4"/>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1350873"/>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Change the self-training </a:t>
            </a:r>
            <a:r>
              <a:rPr sz="2150" b="0" i="0">
                <a:solidFill>
                  <a:srgbClr val="1F4E79"/>
                </a:solidFill>
                <a:latin typeface="Consolas"/>
              </a:rPr>
              <a:t>threshold</a:t>
            </a:r>
            <a:r>
              <a:rPr sz="2300" b="0" i="0">
                <a:solidFill>
                  <a:srgbClr val="1C252B"/>
                </a:solidFill>
                <a:latin typeface="Segoe UI"/>
              </a:rPr>
              <a:t> to 0.5 and then 0.99. Which is better, and what does the answer say about confirmation bias?</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8940576"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State the cluster assumption, and give an example where it fails.</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1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17  ·  Semi-Supervised Learning and the EM Algorithm</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136  ·  answers in Appendix D     </a:t>
            </a:r>
            <a:fld id="{36435A8C-1D52-4122-B275-BC9D5AF31312}" type="slidenum">
              <a:rPr lang="en-GB" sz="1000">
                <a:solidFill>
                  <a:srgbClr val="D5DEE5"/>
                </a:solidFill>
                <a:latin typeface="Segoe UI"/>
              </a:rPr>
              <a:t>34</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457200"/>
          </a:xfrm>
        </p:spPr>
        <p:txBody>
          <a:bodyPr wrap="square" lIns="0" rIns="0" tIns="0" bIns="0" anchor="t">
            <a:noAutofit/>
          </a:bodyPr>
          <a:lstStyle/>
          <a:p>
            <a:pPr algn="l">
              <a:lnSpc>
                <a:spcPct val="96000"/>
              </a:lnSpc>
            </a:pPr>
            <a:r>
              <a:rPr sz="2400" b="0" i="0">
                <a:solidFill>
                  <a:srgbClr val="1A5276"/>
                </a:solidFill>
                <a:latin typeface="Segoe UI Semibold"/>
              </a:rPr>
              <a:t>State the cluster assumption, and give an example where it fails.</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1 OF 3  ·  ANSWER</a:t>
            </a:r>
          </a:p>
        </p:txBody>
      </p:sp>
      <p:sp>
        <p:nvSpPr>
          <p:cNvPr id="5" name="!!abar">
            <a:extLst>
              <a:ext uri="{C183D7F6-B498-43B3-948B-1728B52AA6E4}">
                <adec:decorative xmlns:adec="http://schemas.microsoft.com/office/drawing/2017/decorative" val="1"/>
              </a:ext>
            </a:extLst>
          </p:cNvPr>
          <p:cNvSpPr/>
          <p:nvPr/>
        </p:nvSpPr>
        <p:spPr>
          <a:xfrm>
            <a:off x="658368" y="1411833"/>
            <a:ext cx="64008" cy="1046073"/>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411833"/>
            <a:ext cx="10509199" cy="1091793"/>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Examples in the same cluster tend to share a label, so the decision boundary should pass through low-density regions. It fails when classes overlap inside one cluster — for example fraudulent transactions designed to look exactly like normal ones.</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17  ·  Semi-Supervised Learning and the EM Algorithm</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136  ·  answers in Appendix D     </a:t>
            </a:r>
            <a:fld id="{C909EBB1-8D27-4CFD-B774-8DBABA6F9C5D}" type="slidenum">
              <a:rPr lang="en-GB" sz="1000">
                <a:solidFill>
                  <a:srgbClr val="8795A1"/>
                </a:solidFill>
                <a:latin typeface="Segoe UI"/>
              </a:rPr>
              <a:t>35</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482429"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In one EM iteration, what does the E-step compute and what does the M-step compute?</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2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17  ·  Semi-Supervised Learning and the EM Algorithm</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136  ·  answers in Appendix D     </a:t>
            </a:r>
            <a:fld id="{9397E76C-ED34-4B6F-AF74-3416E3987360}" type="slidenum">
              <a:rPr lang="en-GB" sz="1000">
                <a:solidFill>
                  <a:srgbClr val="D5DEE5"/>
                </a:solidFill>
                <a:latin typeface="Segoe UI"/>
              </a:rPr>
              <a:t>36</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747979"/>
          </a:xfrm>
        </p:spPr>
        <p:txBody>
          <a:bodyPr wrap="square" lIns="0" rIns="0" tIns="0" bIns="0" anchor="t">
            <a:noAutofit/>
          </a:bodyPr>
          <a:lstStyle/>
          <a:p>
            <a:pPr algn="l">
              <a:lnSpc>
                <a:spcPct val="96000"/>
              </a:lnSpc>
            </a:pPr>
            <a:r>
              <a:rPr sz="2400" b="0" i="0">
                <a:solidFill>
                  <a:srgbClr val="1A5276"/>
                </a:solidFill>
                <a:latin typeface="Segoe UI Semibold"/>
              </a:rPr>
              <a:t>In one EM iteration, what does the E-step compute and what does the M-step compute?</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2 OF 3  ·  ANSWER</a:t>
            </a:r>
          </a:p>
        </p:txBody>
      </p:sp>
      <p:sp>
        <p:nvSpPr>
          <p:cNvPr id="5" name="!!abar">
            <a:extLst>
              <a:ext uri="{C183D7F6-B498-43B3-948B-1728B52AA6E4}">
                <adec:decorative xmlns:adec="http://schemas.microsoft.com/office/drawing/2017/decorative" val="1"/>
              </a:ext>
            </a:extLst>
          </p:cNvPr>
          <p:cNvSpPr/>
          <p:nvPr/>
        </p:nvSpPr>
        <p:spPr>
          <a:xfrm>
            <a:off x="658368" y="1762963"/>
            <a:ext cx="64008" cy="1046073"/>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762963"/>
            <a:ext cx="10509199" cy="1091793"/>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The E-step computes, with the current parameters, each example’s responsibilities (the probability that each component produced it). The M-step re-estimates the parameters from the responsibility-weighted examples.</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17  ·  Semi-Supervised Learning and the EM Algorithm</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136  ·  answers in Appendix D     </a:t>
            </a:r>
            <a:fld id="{AED352D6-CE60-48BF-BAF6-F1B09E1709C0}" type="slidenum">
              <a:rPr lang="en-GB" sz="1000">
                <a:solidFill>
                  <a:srgbClr val="8795A1"/>
                </a:solidFill>
                <a:latin typeface="Segoe UI"/>
              </a:rPr>
              <a:t>37</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0024282"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How does </a:t>
            </a:r>
            <a:r>
              <a:rPr sz="3400" b="0" i="1">
                <a:solidFill>
                  <a:srgbClr val="FFFFFF"/>
                </a:solidFill>
                <a:latin typeface="Cambria"/>
              </a:rPr>
              <a:t>k</a:t>
            </a:r>
            <a:r>
              <a:rPr sz="3400" b="0" i="0">
                <a:solidFill>
                  <a:srgbClr val="FFFFFF"/>
                </a:solidFill>
                <a:latin typeface="Segoe UI Semibold"/>
              </a:rPr>
              <a:t>-means differ from EM for a Gaussian mixture?</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3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17  ·  Semi-Supervised Learning and the EM Algorithm</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136  ·  answers in Appendix D     </a:t>
            </a:r>
            <a:fld id="{EED0F90D-D697-439A-BAD7-C2B87B7A116B}" type="slidenum">
              <a:rPr lang="en-GB" sz="1000">
                <a:solidFill>
                  <a:srgbClr val="D5DEE5"/>
                </a:solidFill>
                <a:latin typeface="Segoe UI"/>
              </a:rPr>
              <a:t>38</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457200"/>
          </a:xfrm>
        </p:spPr>
        <p:txBody>
          <a:bodyPr wrap="square" lIns="0" rIns="0" tIns="0" bIns="0" anchor="t">
            <a:noAutofit/>
          </a:bodyPr>
          <a:lstStyle/>
          <a:p>
            <a:pPr algn="l">
              <a:lnSpc>
                <a:spcPct val="96000"/>
              </a:lnSpc>
            </a:pPr>
            <a:r>
              <a:rPr sz="2400" b="0" i="0">
                <a:solidFill>
                  <a:srgbClr val="1A5276"/>
                </a:solidFill>
                <a:latin typeface="Segoe UI Semibold"/>
              </a:rPr>
              <a:t>How does </a:t>
            </a:r>
            <a:r>
              <a:rPr sz="2400" b="0" i="1">
                <a:solidFill>
                  <a:srgbClr val="1A5276"/>
                </a:solidFill>
                <a:latin typeface="Cambria"/>
              </a:rPr>
              <a:t>k</a:t>
            </a:r>
            <a:r>
              <a:rPr sz="2400" b="0" i="0">
                <a:solidFill>
                  <a:srgbClr val="1A5276"/>
                </a:solidFill>
                <a:latin typeface="Segoe UI Semibold"/>
              </a:rPr>
              <a:t>-means differ from EM for a Gaussian mixture?</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3 OF 3  ·  ANSWER</a:t>
            </a:r>
          </a:p>
        </p:txBody>
      </p:sp>
      <p:sp>
        <p:nvSpPr>
          <p:cNvPr id="5" name="!!abar">
            <a:extLst>
              <a:ext uri="{C183D7F6-B498-43B3-948B-1728B52AA6E4}">
                <adec:decorative xmlns:adec="http://schemas.microsoft.com/office/drawing/2017/decorative" val="1"/>
              </a:ext>
            </a:extLst>
          </p:cNvPr>
          <p:cNvSpPr/>
          <p:nvPr/>
        </p:nvSpPr>
        <p:spPr>
          <a:xfrm>
            <a:off x="658368" y="1411833"/>
            <a:ext cx="64008" cy="1046073"/>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411833"/>
            <a:ext cx="10509199" cy="1091793"/>
          </a:xfrm>
          <a:prstGeom prst="rect">
            <a:avLst/>
          </a:prstGeom>
          <a:noFill/>
        </p:spPr>
        <p:txBody>
          <a:bodyPr wrap="square" anchor="t" lIns="0" rIns="0" tIns="0" bIns="0">
            <a:noAutofit/>
          </a:bodyPr>
          <a:lstStyle/>
          <a:p>
            <a:pPr algn="l">
              <a:lnSpc>
                <a:spcPct val="104000"/>
              </a:lnSpc>
              <a:spcBef>
                <a:spcPts val="0"/>
              </a:spcBef>
              <a:spcAft>
                <a:spcPts val="0"/>
              </a:spcAft>
            </a:pPr>
            <a:r>
              <a:rPr sz="2200" b="0" i="1">
                <a:solidFill>
                  <a:srgbClr val="1C252B"/>
                </a:solidFill>
                <a:latin typeface="Cambria"/>
              </a:rPr>
              <a:t>k</a:t>
            </a:r>
            <a:r>
              <a:rPr sz="2200" b="0" i="0">
                <a:solidFill>
                  <a:srgbClr val="1C252B"/>
                </a:solidFill>
                <a:latin typeface="Segoe UI"/>
              </a:rPr>
              <a:t>-means makes hard assignments and estimates only means (implicitly round, equal clusters); EM for a Gaussian mixture makes soft assignments and also estimates covariances and mixing weights, maximising the likelihood.</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17  ·  Semi-Supervised Learning and the EM Algorithm</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136  ·  answers in Appendix D     </a:t>
            </a:r>
            <a:fld id="{E9838BEE-72E6-4E84-BFD7-2E5AA8241D11}" type="slidenum">
              <a:rPr lang="en-GB" sz="1000">
                <a:solidFill>
                  <a:srgbClr val="8795A1"/>
                </a:solidFill>
                <a:latin typeface="Segoe UI"/>
              </a:rPr>
              <a:t>39</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0566135"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17  ·  Semi-Supervised Learning and the EM Algorithm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136     </a:t>
            </a:r>
            <a:fld id="{7D09C434-EA79-4288-86BF-0A3574856DF4}" type="slidenum">
              <a:rPr lang="en-GB" sz="1000">
                <a:solidFill>
                  <a:srgbClr val="8795A1"/>
                </a:solidFill>
                <a:latin typeface="Segoe UI"/>
              </a:rPr>
              <a:t>40</a:t>
            </a:fld>
          </a:p>
        </p:txBody>
      </p:sp>
      <p:sp>
        <p:nvSpPr>
          <p:cNvPr id="7" name="!!sb0">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0"/>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9" name="!!st0"/>
          <p:cNvSpPr txBox="1"/>
          <p:nvPr/>
        </p:nvSpPr>
        <p:spPr>
          <a:xfrm>
            <a:off x="1298448" y="1737360"/>
            <a:ext cx="10234879" cy="950976"/>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Semi-supervised learning uses many unlabelled examples to improve a classifier trained on few labels, relying on the smoothness, cluster or manifold assumption; when those fail it can hurt.</a:t>
            </a:r>
          </a:p>
        </p:txBody>
      </p:sp>
      <p:sp>
        <p:nvSpPr>
          <p:cNvPr id="10" name="!!sb1">
            <a:extLst>
              <a:ext uri="{C183D7F6-B498-43B3-948B-1728B52AA6E4}">
                <adec:decorative xmlns:adec="http://schemas.microsoft.com/office/drawing/2017/decorative" val="1"/>
              </a:ext>
            </a:extLst>
          </p:cNvPr>
          <p:cNvSpPr/>
          <p:nvPr/>
        </p:nvSpPr>
        <p:spPr>
          <a:xfrm>
            <a:off x="658368" y="2880359"/>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sbn1"/>
          <p:cNvSpPr txBox="1"/>
          <p:nvPr/>
        </p:nvSpPr>
        <p:spPr>
          <a:xfrm>
            <a:off x="658368" y="2935223"/>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2" name="!!st1"/>
          <p:cNvSpPr txBox="1"/>
          <p:nvPr/>
        </p:nvSpPr>
        <p:spPr>
          <a:xfrm>
            <a:off x="1298448" y="2871215"/>
            <a:ext cx="10234879" cy="402336"/>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Self-training adds confident predictions as labels and retrains; its risk is confirmation bias.</a:t>
            </a:r>
          </a:p>
        </p:txBody>
      </p:sp>
      <p:sp>
        <p:nvSpPr>
          <p:cNvPr id="13" name="!!sb2">
            <a:extLst>
              <a:ext uri="{C183D7F6-B498-43B3-948B-1728B52AA6E4}">
                <adec:decorative xmlns:adec="http://schemas.microsoft.com/office/drawing/2017/decorative" val="1"/>
              </a:ext>
            </a:extLst>
          </p:cNvPr>
          <p:cNvSpPr/>
          <p:nvPr/>
        </p:nvSpPr>
        <p:spPr>
          <a:xfrm>
            <a:off x="658368" y="3465575"/>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sbn2"/>
          <p:cNvSpPr txBox="1"/>
          <p:nvPr/>
        </p:nvSpPr>
        <p:spPr>
          <a:xfrm>
            <a:off x="658368" y="3520439"/>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5" name="!!st2"/>
          <p:cNvSpPr txBox="1"/>
          <p:nvPr/>
        </p:nvSpPr>
        <p:spPr>
          <a:xfrm>
            <a:off x="1298448" y="3456432"/>
            <a:ext cx="10234879" cy="633984"/>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A Gaussian mixture explains data as coming from hidden components, each with a weight, mean and covariance.</a:t>
            </a:r>
          </a:p>
        </p:txBody>
      </p:sp>
      <p:sp>
        <p:nvSpPr>
          <p:cNvPr id="16" name="!!sb3">
            <a:extLst>
              <a:ext uri="{C183D7F6-B498-43B3-948B-1728B52AA6E4}">
                <adec:decorative xmlns:adec="http://schemas.microsoft.com/office/drawing/2017/decorative" val="1"/>
              </a:ext>
            </a:extLst>
          </p:cNvPr>
          <p:cNvSpPr/>
          <p:nvPr/>
        </p:nvSpPr>
        <p:spPr>
          <a:xfrm>
            <a:off x="658368" y="4282439"/>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sbn3"/>
          <p:cNvSpPr txBox="1"/>
          <p:nvPr/>
        </p:nvSpPr>
        <p:spPr>
          <a:xfrm>
            <a:off x="658368" y="4337304"/>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8" name="!!st3"/>
          <p:cNvSpPr txBox="1"/>
          <p:nvPr/>
        </p:nvSpPr>
        <p:spPr>
          <a:xfrm>
            <a:off x="1298448" y="4273296"/>
            <a:ext cx="10234879" cy="950976"/>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EM alternates an E-step (responsibilities: soft assignments) and an M-step (responsibility-weighted re-estimates), never lowering the likelihood and converging to a local maximum; </a:t>
            </a:r>
            <a:r>
              <a:rPr sz="2000" b="0" i="1">
                <a:solidFill>
                  <a:srgbClr val="1C252B"/>
                </a:solidFill>
                <a:latin typeface="Cambria"/>
              </a:rPr>
              <a:t>k</a:t>
            </a:r>
            <a:r>
              <a:rPr sz="2000" b="0" i="0">
                <a:solidFill>
                  <a:srgbClr val="1C252B"/>
                </a:solidFill>
                <a:latin typeface="Segoe UI"/>
              </a:rPr>
              <a:t>-means is its hard-assignment special case.</a:t>
            </a:r>
          </a:p>
        </p:txBody>
      </p:sp>
      <p:sp>
        <p:nvSpPr>
          <p:cNvPr id="19" name="!!sb4">
            <a:extLst>
              <a:ext uri="{C183D7F6-B498-43B3-948B-1728B52AA6E4}">
                <adec:decorative xmlns:adec="http://schemas.microsoft.com/office/drawing/2017/decorative" val="1"/>
              </a:ext>
            </a:extLst>
          </p:cNvPr>
          <p:cNvSpPr/>
          <p:nvPr/>
        </p:nvSpPr>
        <p:spPr>
          <a:xfrm>
            <a:off x="658368" y="5416296"/>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sbn4"/>
          <p:cNvSpPr txBox="1"/>
          <p:nvPr/>
        </p:nvSpPr>
        <p:spPr>
          <a:xfrm>
            <a:off x="658368" y="5471160"/>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1" name="!!st4"/>
          <p:cNvSpPr txBox="1"/>
          <p:nvPr/>
        </p:nvSpPr>
        <p:spPr>
          <a:xfrm>
            <a:off x="1298448" y="5407152"/>
            <a:ext cx="10234879" cy="633984"/>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With labelled and unlabelled data, labelled examples keep their labels in the E-step and anchor each component to a class.</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10837062"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1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17  ·  Semi-Supervised Learning and the EM Algorithm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136     </a:t>
            </a:r>
            <a:fld id="{4454495D-39EF-4A1F-93EF-0C023E06D67C}" type="slidenum">
              <a:rPr lang="en-GB" sz="1000">
                <a:solidFill>
                  <a:srgbClr val="8795A1"/>
                </a:solidFill>
                <a:latin typeface="Segoe UI"/>
              </a:rPr>
              <a:t>41</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In the EM algorithm, the responsibilities are computed in:</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M-step</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E-step</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initialisation</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neither step</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107988"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2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17  ·  Semi-Supervised Learning and the EM Algorithm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136     </a:t>
            </a:r>
            <a:fld id="{386ACF9A-F3EA-4448-8AC3-5ED79B6A9E47}" type="slidenum">
              <a:rPr lang="en-GB" sz="1000">
                <a:solidFill>
                  <a:srgbClr val="8795A1"/>
                </a:solidFill>
                <a:latin typeface="Segoe UI"/>
              </a:rPr>
              <a:t>42</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1">
                <a:solidFill>
                  <a:srgbClr val="1C252B"/>
                </a:solidFill>
                <a:latin typeface="Cambria"/>
              </a:rPr>
              <a:t>k</a:t>
            </a:r>
            <a:r>
              <a:rPr sz="2600" b="0" i="0">
                <a:solidFill>
                  <a:srgbClr val="1C252B"/>
                </a:solidFill>
                <a:latin typeface="Segoe UI"/>
              </a:rPr>
              <a:t>-means corresponds to EM with:</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soft assignments</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hard assignments</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no M-step</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labelled data only</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378915"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3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17  ·  Semi-Supervised Learning and the EM Algorithm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136     </a:t>
            </a:r>
            <a:fld id="{026BB2F9-5230-4A4B-A44F-1B157BC4BEFE}" type="slidenum">
              <a:rPr lang="en-GB" sz="1000">
                <a:solidFill>
                  <a:srgbClr val="8795A1"/>
                </a:solidFill>
                <a:latin typeface="Segoe UI"/>
              </a:rPr>
              <a:t>43</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Self-training’s main risk is: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underfitting</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slow prediction</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confirmation bias</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curse of dimensionality</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649842"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For your notebook</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QUESTIONS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17  ·  Semi-Supervised Learning and the EM Algorithm</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136     </a:t>
            </a:r>
            <a:fld id="{5A3B99DB-E8D4-4F65-BEDC-2B0A8422319B}" type="slidenum">
              <a:rPr lang="en-GB" sz="1000">
                <a:solidFill>
                  <a:srgbClr val="8795A1"/>
                </a:solidFill>
                <a:latin typeface="Segoe UI"/>
              </a:rPr>
              <a:t>44</a:t>
            </a:fld>
          </a:p>
        </p:txBody>
      </p:sp>
      <p:sp>
        <p:nvSpPr>
          <p:cNvPr id="7" name="!!rt0">
            <a:extLst>
              <a:ext uri="{C183D7F6-B498-43B3-948B-1728B52AA6E4}">
                <adec:decorative xmlns:adec="http://schemas.microsoft.com/office/drawing/2017/decorative" val="1"/>
              </a:ext>
            </a:extLst>
          </p:cNvPr>
          <p:cNvSpPr/>
          <p:nvPr/>
        </p:nvSpPr>
        <p:spPr>
          <a:xfrm>
            <a:off x="658368" y="175564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rtt0"/>
          <p:cNvSpPr txBox="1"/>
          <p:nvPr/>
        </p:nvSpPr>
        <p:spPr>
          <a:xfrm>
            <a:off x="658368" y="1796795"/>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9" name="!!rq0"/>
          <p:cNvSpPr txBox="1"/>
          <p:nvPr/>
        </p:nvSpPr>
        <p:spPr>
          <a:xfrm>
            <a:off x="1892807" y="1737360"/>
            <a:ext cx="9549079" cy="30114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Why can unlabelled data improve a classifier at all?</a:t>
            </a:r>
          </a:p>
        </p:txBody>
      </p:sp>
      <p:sp>
        <p:nvSpPr>
          <p:cNvPr id="10" name="!!rt1">
            <a:extLst>
              <a:ext uri="{C183D7F6-B498-43B3-948B-1728B52AA6E4}">
                <adec:decorative xmlns:adec="http://schemas.microsoft.com/office/drawing/2017/decorative" val="1"/>
              </a:ext>
            </a:extLst>
          </p:cNvPr>
          <p:cNvSpPr/>
          <p:nvPr/>
        </p:nvSpPr>
        <p:spPr>
          <a:xfrm>
            <a:off x="658368" y="2276246"/>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tt1"/>
          <p:cNvSpPr txBox="1"/>
          <p:nvPr/>
        </p:nvSpPr>
        <p:spPr>
          <a:xfrm>
            <a:off x="658368" y="2317394"/>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2" name="!!rq1"/>
          <p:cNvSpPr txBox="1"/>
          <p:nvPr/>
        </p:nvSpPr>
        <p:spPr>
          <a:xfrm>
            <a:off x="1892807" y="2257958"/>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Explain why EM can converge to different answers from different starting points, and what to do about it.</a:t>
            </a:r>
          </a:p>
        </p:txBody>
      </p:sp>
      <p:sp>
        <p:nvSpPr>
          <p:cNvPr id="13" name="!!rt2">
            <a:extLst>
              <a:ext uri="{C183D7F6-B498-43B3-948B-1728B52AA6E4}">
                <adec:decorative xmlns:adec="http://schemas.microsoft.com/office/drawing/2017/decorative" val="1"/>
              </a:ext>
            </a:extLst>
          </p:cNvPr>
          <p:cNvSpPr/>
          <p:nvPr/>
        </p:nvSpPr>
        <p:spPr>
          <a:xfrm>
            <a:off x="658368" y="3097987"/>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rtt2"/>
          <p:cNvSpPr txBox="1"/>
          <p:nvPr/>
        </p:nvSpPr>
        <p:spPr>
          <a:xfrm>
            <a:off x="658368" y="3139135"/>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5" name="!!rq2"/>
          <p:cNvSpPr txBox="1"/>
          <p:nvPr/>
        </p:nvSpPr>
        <p:spPr>
          <a:xfrm>
            <a:off x="1892807" y="3079699"/>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In semi-supervised EM, what role do the labelled examples play that the unlabelled ones cannot?</a:t>
            </a:r>
          </a:p>
        </p:txBody>
      </p:sp>
      <p:sp>
        <p:nvSpPr>
          <p:cNvPr id="16" name="!!rt3">
            <a:extLst>
              <a:ext uri="{C183D7F6-B498-43B3-948B-1728B52AA6E4}">
                <adec:decorative xmlns:adec="http://schemas.microsoft.com/office/drawing/2017/decorative" val="1"/>
              </a:ext>
            </a:extLst>
          </p:cNvPr>
          <p:cNvSpPr/>
          <p:nvPr/>
        </p:nvSpPr>
        <p:spPr>
          <a:xfrm>
            <a:off x="658368" y="3919727"/>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tt3"/>
          <p:cNvSpPr txBox="1"/>
          <p:nvPr/>
        </p:nvSpPr>
        <p:spPr>
          <a:xfrm>
            <a:off x="658368" y="3960876"/>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18" name="!!rq3"/>
          <p:cNvSpPr txBox="1"/>
          <p:nvPr/>
        </p:nvSpPr>
        <p:spPr>
          <a:xfrm>
            <a:off x="1892807" y="3901440"/>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Repeat the first EM iteration of the worked example with initial means </a:t>
            </a:r>
            <a:r>
              <a:rPr sz="1900" b="0" i="0">
                <a:solidFill>
                  <a:srgbClr val="1C252B"/>
                </a:solidFill>
                <a:latin typeface="Cambria"/>
              </a:rPr>
              <a:t>μ</a:t>
            </a:r>
            <a:r>
              <a:rPr sz="1900" b="0" i="0" baseline="-25000">
                <a:solidFill>
                  <a:srgbClr val="1C252B"/>
                </a:solidFill>
                <a:latin typeface="Cambria"/>
              </a:rPr>
              <a:t>1</a:t>
            </a:r>
            <a:r>
              <a:rPr sz="1900" b="0" i="0">
                <a:solidFill>
                  <a:srgbClr val="1C252B"/>
                </a:solidFill>
                <a:latin typeface="Cambria"/>
              </a:rPr>
              <a:t> = 4</a:t>
            </a:r>
            <a:r>
              <a:rPr sz="1900" b="0" i="0">
                <a:solidFill>
                  <a:srgbClr val="1C252B"/>
                </a:solidFill>
                <a:latin typeface="Segoe UI"/>
              </a:rPr>
              <a:t>, </a:t>
            </a:r>
            <a:r>
              <a:rPr sz="1900" b="0" i="0">
                <a:solidFill>
                  <a:srgbClr val="1C252B"/>
                </a:solidFill>
                <a:latin typeface="Cambria"/>
              </a:rPr>
              <a:t>μ</a:t>
            </a:r>
            <a:r>
              <a:rPr sz="1900" b="0" i="0" baseline="-25000">
                <a:solidFill>
                  <a:srgbClr val="1C252B"/>
                </a:solidFill>
                <a:latin typeface="Cambria"/>
              </a:rPr>
              <a:t>2</a:t>
            </a:r>
            <a:r>
              <a:rPr sz="1900" b="0" i="0">
                <a:solidFill>
                  <a:srgbClr val="1C252B"/>
                </a:solidFill>
                <a:latin typeface="Cambria"/>
              </a:rPr>
              <a:t> = 6</a:t>
            </a:r>
            <a:r>
              <a:rPr sz="1900" b="0" i="0">
                <a:solidFill>
                  <a:srgbClr val="1C252B"/>
                </a:solidFill>
                <a:latin typeface="Segoe UI"/>
              </a:rPr>
              <a:t>. Where do the means go?</a:t>
            </a:r>
          </a:p>
        </p:txBody>
      </p:sp>
      <p:sp>
        <p:nvSpPr>
          <p:cNvPr id="19" name="!!rt4">
            <a:extLst>
              <a:ext uri="{C183D7F6-B498-43B3-948B-1728B52AA6E4}">
                <adec:decorative xmlns:adec="http://schemas.microsoft.com/office/drawing/2017/decorative" val="1"/>
              </a:ext>
            </a:extLst>
          </p:cNvPr>
          <p:cNvSpPr/>
          <p:nvPr/>
        </p:nvSpPr>
        <p:spPr>
          <a:xfrm>
            <a:off x="658368" y="4741468"/>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rtt4"/>
          <p:cNvSpPr txBox="1"/>
          <p:nvPr/>
        </p:nvSpPr>
        <p:spPr>
          <a:xfrm>
            <a:off x="658368" y="4782616"/>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21" name="!!rq4"/>
          <p:cNvSpPr txBox="1"/>
          <p:nvPr/>
        </p:nvSpPr>
        <p:spPr>
          <a:xfrm>
            <a:off x="1892807" y="4723180"/>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For the values </a:t>
            </a:r>
            <a:r>
              <a:rPr sz="1900" b="0" i="0">
                <a:solidFill>
                  <a:srgbClr val="1C252B"/>
                </a:solidFill>
                <a:latin typeface="Cambria"/>
              </a:rPr>
              <a:t>0, 1, 5, 6</a:t>
            </a:r>
            <a:r>
              <a:rPr sz="1900" b="0" i="0">
                <a:solidFill>
                  <a:srgbClr val="1C252B"/>
                </a:solidFill>
                <a:latin typeface="Segoe UI"/>
              </a:rPr>
              <a:t> with </a:t>
            </a:r>
            <a:r>
              <a:rPr sz="1900" b="0" i="0">
                <a:solidFill>
                  <a:srgbClr val="1C252B"/>
                </a:solidFill>
                <a:latin typeface="Cambria"/>
              </a:rPr>
              <a:t>σ = 1</a:t>
            </a:r>
            <a:r>
              <a:rPr sz="1900" b="0" i="0">
                <a:solidFill>
                  <a:srgbClr val="1C252B"/>
                </a:solidFill>
                <a:latin typeface="Segoe UI"/>
              </a:rPr>
              <a:t> and equal weights, start EM from </a:t>
            </a:r>
            <a:r>
              <a:rPr sz="1900" b="0" i="0">
                <a:solidFill>
                  <a:srgbClr val="1C252B"/>
                </a:solidFill>
                <a:latin typeface="Cambria"/>
              </a:rPr>
              <a:t>μ</a:t>
            </a:r>
            <a:r>
              <a:rPr sz="1900" b="0" i="0" baseline="-25000">
                <a:solidFill>
                  <a:srgbClr val="1C252B"/>
                </a:solidFill>
                <a:latin typeface="Cambria"/>
              </a:rPr>
              <a:t>1</a:t>
            </a:r>
            <a:r>
              <a:rPr sz="1900" b="0" i="0">
                <a:solidFill>
                  <a:srgbClr val="1C252B"/>
                </a:solidFill>
                <a:latin typeface="Cambria"/>
              </a:rPr>
              <a:t> = 0</a:t>
            </a:r>
            <a:r>
              <a:rPr sz="1900" b="0" i="0">
                <a:solidFill>
                  <a:srgbClr val="1C252B"/>
                </a:solidFill>
                <a:latin typeface="Segoe UI"/>
              </a:rPr>
              <a:t>, </a:t>
            </a:r>
            <a:r>
              <a:rPr sz="1900" b="0" i="0">
                <a:solidFill>
                  <a:srgbClr val="1C252B"/>
                </a:solidFill>
                <a:latin typeface="Cambria"/>
              </a:rPr>
              <a:t>μ</a:t>
            </a:r>
            <a:r>
              <a:rPr sz="1900" b="0" i="0" baseline="-25000">
                <a:solidFill>
                  <a:srgbClr val="1C252B"/>
                </a:solidFill>
                <a:latin typeface="Cambria"/>
              </a:rPr>
              <a:t>2</a:t>
            </a:r>
            <a:r>
              <a:rPr sz="1900" b="0" i="0">
                <a:solidFill>
                  <a:srgbClr val="1C252B"/>
                </a:solidFill>
                <a:latin typeface="Cambria"/>
              </a:rPr>
              <a:t> = 1</a:t>
            </a:r>
            <a:r>
              <a:rPr sz="1900" b="0" i="0">
                <a:solidFill>
                  <a:srgbClr val="1C252B"/>
                </a:solidFill>
                <a:latin typeface="Segoe UI"/>
              </a:rPr>
              <a:t> and perform two iterations. Comment on the result.</a:t>
            </a:r>
          </a:p>
        </p:txBody>
      </p:sp>
      <p:sp>
        <p:nvSpPr>
          <p:cNvPr id="2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pfill">
            <a:extLst>
              <a:ext uri="{C183D7F6-B498-43B3-948B-1728B52AA6E4}">
                <adec:decorative xmlns:adec="http://schemas.microsoft.com/office/drawing/2017/decorative" val="1"/>
              </a:ext>
            </a:extLst>
          </p:cNvPr>
          <p:cNvSpPr/>
          <p:nvPr/>
        </p:nvSpPr>
        <p:spPr>
          <a:xfrm>
            <a:off x="0" y="0"/>
            <a:ext cx="11920768"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7A3A95"/>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854A9D"/>
                </a:solidFill>
                <a:latin typeface="Segoe UI Black"/>
              </a:rPr>
              <a:t>17</a:t>
            </a:r>
          </a:p>
        </p:txBody>
      </p:sp>
      <p:sp>
        <p:nvSpPr>
          <p:cNvPr id="2" name="!!title"/>
          <p:cNvSpPr>
            <a:spLocks noGrp="1"/>
          </p:cNvSpPr>
          <p:nvPr>
            <p:ph type="title"/>
          </p:nvPr>
        </p:nvSpPr>
        <p:spPr>
          <a:xfrm>
            <a:off x="658368" y="1243584"/>
            <a:ext cx="8229600" cy="822960"/>
          </a:xfrm>
        </p:spPr>
        <p:txBody>
          <a:bodyPr wrap="square" lIns="0" rIns="0" tIns="0" bIns="0" anchor="t">
            <a:noAutofit/>
          </a:bodyPr>
          <a:lstStyle/>
          <a:p>
            <a:pPr algn="l">
              <a:lnSpc>
                <a:spcPct val="96000"/>
              </a:lnSpc>
            </a:pPr>
            <a:r>
              <a:rPr sz="4000" b="0">
                <a:solidFill>
                  <a:srgbClr val="FFFFFF"/>
                </a:solidFill>
                <a:latin typeface="Segoe UI Semibold"/>
              </a:rPr>
              <a:t>End of Chapter 17</a:t>
            </a:r>
          </a:p>
        </p:txBody>
      </p:sp>
      <p:sp>
        <p:nvSpPr>
          <p:cNvPr id="4" name="!!tbar">
            <a:extLst>
              <a:ext uri="{C183D7F6-B498-43B3-948B-1728B52AA6E4}">
                <adec:decorative xmlns:adec="http://schemas.microsoft.com/office/drawing/2017/decorative" val="1"/>
              </a:ext>
            </a:extLst>
          </p:cNvPr>
          <p:cNvSpPr/>
          <p:nvPr/>
        </p:nvSpPr>
        <p:spPr>
          <a:xfrm>
            <a:off x="658368" y="102412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cl0">
            <a:extLst>
              <a:ext uri="{C183D7F6-B498-43B3-948B-1728B52AA6E4}">
                <adec:decorative xmlns:adec="http://schemas.microsoft.com/office/drawing/2017/decorative" val="1"/>
              </a:ext>
            </a:extLst>
          </p:cNvPr>
          <p:cNvSpPr/>
          <p:nvPr/>
        </p:nvSpPr>
        <p:spPr>
          <a:xfrm>
            <a:off x="658368" y="2286000"/>
            <a:ext cx="5300319" cy="1097280"/>
          </a:xfrm>
          <a:prstGeom prst="roundRect">
            <a:avLst>
              <a:gd name="adj" fmla="val 8333"/>
            </a:avLst>
          </a:prstGeom>
          <a:solidFill>
            <a:srgbClr val="5F2D7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cll0"/>
          <p:cNvSpPr txBox="1"/>
          <p:nvPr/>
        </p:nvSpPr>
        <p:spPr>
          <a:xfrm>
            <a:off x="932688"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CCB4D7"/>
                </a:solidFill>
                <a:latin typeface="Segoe UI"/>
              </a:rPr>
              <a:t>NEXT</a:t>
            </a:r>
          </a:p>
        </p:txBody>
      </p:sp>
      <p:sp>
        <p:nvSpPr>
          <p:cNvPr id="7" name="!!clv0"/>
          <p:cNvSpPr txBox="1"/>
          <p:nvPr/>
        </p:nvSpPr>
        <p:spPr>
          <a:xfrm>
            <a:off x="932688"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Chapter 18 — Hidden Markov Models</a:t>
            </a:r>
          </a:p>
        </p:txBody>
      </p:sp>
      <p:sp>
        <p:nvSpPr>
          <p:cNvPr id="8" name="!!cl1">
            <a:extLst>
              <a:ext uri="{C183D7F6-B498-43B3-948B-1728B52AA6E4}">
                <adec:decorative xmlns:adec="http://schemas.microsoft.com/office/drawing/2017/decorative" val="1"/>
              </a:ext>
            </a:extLst>
          </p:cNvPr>
          <p:cNvSpPr/>
          <p:nvPr/>
        </p:nvSpPr>
        <p:spPr>
          <a:xfrm>
            <a:off x="6233007" y="2286000"/>
            <a:ext cx="5300319" cy="1097280"/>
          </a:xfrm>
          <a:prstGeom prst="roundRect">
            <a:avLst>
              <a:gd name="adj" fmla="val 8333"/>
            </a:avLst>
          </a:prstGeom>
          <a:solidFill>
            <a:srgbClr val="5F2D7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ll1"/>
          <p:cNvSpPr txBox="1"/>
          <p:nvPr/>
        </p:nvSpPr>
        <p:spPr>
          <a:xfrm>
            <a:off x="6507327"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CCB4D7"/>
                </a:solidFill>
                <a:latin typeface="Segoe UI"/>
              </a:rPr>
              <a:t>READ</a:t>
            </a:r>
          </a:p>
        </p:txBody>
      </p:sp>
      <p:sp>
        <p:nvSpPr>
          <p:cNvPr id="10" name="!!clv1"/>
          <p:cNvSpPr txBox="1"/>
          <p:nvPr/>
        </p:nvSpPr>
        <p:spPr>
          <a:xfrm>
            <a:off x="6507327"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Handout Chapter 17, pages 128–136</a:t>
            </a:r>
          </a:p>
        </p:txBody>
      </p:sp>
      <p:sp>
        <p:nvSpPr>
          <p:cNvPr id="11" name="!!cl2">
            <a:extLst>
              <a:ext uri="{C183D7F6-B498-43B3-948B-1728B52AA6E4}">
                <adec:decorative xmlns:adec="http://schemas.microsoft.com/office/drawing/2017/decorative" val="1"/>
              </a:ext>
            </a:extLst>
          </p:cNvPr>
          <p:cNvSpPr/>
          <p:nvPr/>
        </p:nvSpPr>
        <p:spPr>
          <a:xfrm>
            <a:off x="658368" y="3584448"/>
            <a:ext cx="5300319" cy="1097280"/>
          </a:xfrm>
          <a:prstGeom prst="roundRect">
            <a:avLst>
              <a:gd name="adj" fmla="val 8333"/>
            </a:avLst>
          </a:prstGeom>
          <a:solidFill>
            <a:srgbClr val="5F2D7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ll2"/>
          <p:cNvSpPr txBox="1"/>
          <p:nvPr/>
        </p:nvSpPr>
        <p:spPr>
          <a:xfrm>
            <a:off x="932688"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CCB4D7"/>
                </a:solidFill>
                <a:latin typeface="Segoe UI"/>
              </a:rPr>
              <a:t>THIS WEEK'S LAB</a:t>
            </a:r>
          </a:p>
        </p:txBody>
      </p:sp>
      <p:sp>
        <p:nvSpPr>
          <p:cNvPr id="13" name="!!clv2"/>
          <p:cNvSpPr txBox="1"/>
          <p:nvPr/>
        </p:nvSpPr>
        <p:spPr>
          <a:xfrm>
            <a:off x="932688"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FFFFFF"/>
                </a:solidFill>
                <a:latin typeface="Segoe UI Semibold"/>
              </a:rPr>
              <a:t>EM by hand; forward, Viterbi, Baum–Welch</a:t>
            </a:r>
          </a:p>
        </p:txBody>
      </p:sp>
      <p:sp>
        <p:nvSpPr>
          <p:cNvPr id="14" name="!!cl3">
            <a:extLst>
              <a:ext uri="{C183D7F6-B498-43B3-948B-1728B52AA6E4}">
                <adec:decorative xmlns:adec="http://schemas.microsoft.com/office/drawing/2017/decorative" val="1"/>
              </a:ext>
            </a:extLst>
          </p:cNvPr>
          <p:cNvSpPr/>
          <p:nvPr/>
        </p:nvSpPr>
        <p:spPr>
          <a:xfrm>
            <a:off x="6233007" y="3584448"/>
            <a:ext cx="5300319" cy="1097280"/>
          </a:xfrm>
          <a:prstGeom prst="roundRect">
            <a:avLst>
              <a:gd name="adj" fmla="val 8333"/>
            </a:avLst>
          </a:prstGeom>
          <a:solidFill>
            <a:srgbClr val="5F2D7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cll3"/>
          <p:cNvSpPr txBox="1"/>
          <p:nvPr/>
        </p:nvSpPr>
        <p:spPr>
          <a:xfrm>
            <a:off x="6507327"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CCB4D7"/>
                </a:solidFill>
                <a:latin typeface="Segoe UI"/>
              </a:rPr>
              <a:t>ASSESSMENT</a:t>
            </a:r>
          </a:p>
        </p:txBody>
      </p:sp>
      <p:sp>
        <p:nvSpPr>
          <p:cNvPr id="16" name="!!clv3"/>
          <p:cNvSpPr txBox="1"/>
          <p:nvPr/>
        </p:nvSpPr>
        <p:spPr>
          <a:xfrm>
            <a:off x="6507327"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Project experiments frozen</a:t>
            </a:r>
          </a:p>
        </p:txBody>
      </p:sp>
      <p:sp>
        <p:nvSpPr>
          <p:cNvPr id="1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17  ·  Semi-Supervised Learning and the EM Algorithm</a:t>
            </a:r>
          </a:p>
        </p:txBody>
      </p:sp>
      <p:sp>
        <p:nvSpPr>
          <p:cNvPr id="18" name="!!footR"/>
          <p:cNvSpPr txBox="1"/>
          <p:nvPr/>
        </p:nvSpPr>
        <p:spPr>
          <a:xfrm>
            <a:off x="6639595" y="6437376"/>
            <a:ext cx="4893731" cy="237744"/>
          </a:xfrm>
          <a:prstGeom prst="rect">
            <a:avLst/>
          </a:prstGeom>
          <a:noFill/>
        </p:spPr>
        <p:txBody>
          <a:bodyPr wrap="square" anchor="t" lIns="0" rIns="0" tIns="0" bIns="0">
            <a:noAutofit/>
          </a:bodyPr>
          <a:lstStyle/>
          <a:p>
            <a:pPr algn="r"/>
            <a:fld id="{1CA5685B-3788-4DA6-9234-914C4A28DEC7}" type="slidenum">
              <a:rPr lang="en-GB" sz="1000">
                <a:solidFill>
                  <a:srgbClr val="D5DEE5"/>
                </a:solidFill>
                <a:latin typeface="Segoe UI"/>
              </a:rPr>
              <a:t>45</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theme/theme1.xml><?xml version="1.0" encoding="utf-8"?>
<a:theme xmlns:a="http://schemas.openxmlformats.org/drawingml/2006/main" name="Machine Learning Fall 2026">
  <a:themeElements>
    <a:clrScheme name="Machine Learning Fall 2026">
      <a:dk1>
        <a:srgbClr val="1C252B"/>
      </a:dk1>
      <a:lt1>
        <a:srgbClr val="FFFFFF"/>
      </a:lt1>
      <a:dk2>
        <a:srgbClr val="1A5276"/>
      </a:dk2>
      <a:lt2>
        <a:srgbClr val="EBF5FB"/>
      </a:lt2>
      <a:accent1>
        <a:srgbClr val="1A5276"/>
      </a:accent1>
      <a:accent2>
        <a:srgbClr val="2E86C1"/>
      </a:accent2>
      <a:accent3>
        <a:srgbClr val="E74C3C"/>
      </a:accent3>
      <a:accent4>
        <a:srgbClr val="27AE60"/>
      </a:accent4>
      <a:accent5>
        <a:srgbClr val="8E44AD"/>
      </a:accent5>
      <a:accent6>
        <a:srgbClr val="B7950B"/>
      </a:accent6>
      <a:hlink>
        <a:srgbClr val="2E86C1"/>
      </a:hlink>
      <a:folHlink>
        <a:srgbClr val="8E44AD"/>
      </a:folHlink>
    </a:clrScheme>
    <a:fontScheme name="Machine Learning Fall 2026">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17: Semi-Supervised Learning and the EM Algorithm</dc:title>
  <dc:subject>Machine Learning — From Hypotheses to Decisions · BSIT · Fall 2026</dc:subject>
  <dc:creator>Dr. Mustafa Hameed</dc:creator>
  <cp:keywords>machine learning; lecture slides; BSIT; HEC; Fall 2026</cp:keywords>
  <dc:description>generated using python-pptx</dc:description>
  <cp:lastModifiedBy>Steve Canny</cp:lastModifiedBy>
  <cp:revision>1</cp:revision>
  <dcterms:created xsi:type="dcterms:W3CDTF">2013-01-27T09:14:16Z</dcterms:created>
  <dcterms:modified xsi:type="dcterms:W3CDTF">2013-01-27T09:15:58Z</dcterms:modified>
  <cp:category>Lecture slides</cp:category>
</cp:coreProperties>
</file>