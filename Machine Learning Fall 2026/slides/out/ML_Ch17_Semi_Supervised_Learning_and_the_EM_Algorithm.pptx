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1.svg" ContentType="image/svg+xml"/>
  <Override PartName="/ppt/media/image13.svg" ContentType="image/svg+xml"/>
  <Override PartName="/ppt/media/image15.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4.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3.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1.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5A13FE5-82F8-4063-AEDC-CEB984B680BF}">
          <p14:sldIdLst>
            <p14:sldId id="256"/>
            <p14:sldId id="257"/>
            <p14:sldId id="258"/>
            <p14:sldId id="259"/>
            <p14:sldId id="260"/>
          </p14:sldIdLst>
        </p14:section>
        <p14:section name="17.1 Few Labels, Many Examples" id="{3DD019B5-02D4-49D8-BC67-8FFDAFE44595}">
          <p14:sldIdLst>
            <p14:sldId id="261"/>
            <p14:sldId id="262"/>
            <p14:sldId id="263"/>
            <p14:sldId id="264"/>
          </p14:sldIdLst>
        </p14:section>
        <p14:section name="17.2 Self-Training" id="{4E73A21D-15F9-4833-8F93-F163D5342F37}">
          <p14:sldIdLst>
            <p14:sldId id="265"/>
          </p14:sldIdLst>
        </p14:section>
        <p14:section name="17.3 Mixture Models and Hidden Variables" id="{E0DB89C6-127F-4133-848A-9E18A1B6D0E4}">
          <p14:sldIdLst>
            <p14:sldId id="266"/>
          </p14:sldIdLst>
        </p14:section>
        <p14:section name="17.4 The EM Algorithm" id="{B91C5BD8-89A9-4C8D-975C-4273F8E4C566}">
          <p14:sldIdLst>
            <p14:sldId id="267"/>
            <p14:sldId id="268"/>
            <p14:sldId id="269"/>
            <p14:sldId id="270"/>
            <p14:sldId id="271"/>
            <p14:sldId id="272"/>
            <p14:sldId id="273"/>
          </p14:sldIdLst>
        </p14:section>
        <p14:section name="17.5 EM With Labelled and Unlabelled Data" id="{B7B8F175-9BC5-41BC-A409-EBF1FDB73ACC}">
          <p14:sldIdLst>
            <p14:sldId id="274"/>
            <p14:sldId id="275"/>
            <p14:sldId id="276"/>
          </p14:sldIdLst>
        </p14:section>
        <p14:section name="Pitfalls" id="{E42FCF02-25AB-4474-9FA7-80CC65D6313F}">
          <p14:sldIdLst>
            <p14:sldId id="277"/>
          </p14:sldIdLst>
        </p14:section>
        <p14:section name="Lab" id="{9E2D7E01-BC49-460E-870F-559F41AC8801}">
          <p14:sldIdLst>
            <p14:sldId id="278"/>
            <p14:sldId id="279"/>
            <p14:sldId id="280"/>
            <p14:sldId id="281"/>
            <p14:sldId id="282"/>
            <p14:sldId id="283"/>
          </p14:sldIdLst>
        </p14:section>
        <p14:section name="Checkpoint" id="{6E79C5D1-10B2-47A2-B829-A9ACC91BBE83}">
          <p14:sldIdLst>
            <p14:sldId id="284"/>
            <p14:sldId id="285"/>
            <p14:sldId id="286"/>
            <p14:sldId id="287"/>
            <p14:sldId id="288"/>
            <p14:sldId id="289"/>
          </p14:sldIdLst>
        </p14:section>
        <p14:section name="Wrap-up" id="{94873C10-366D-49C6-89A9-01B0839EDEB3}">
          <p14:sldIdLst>
            <p14:sldId id="290"/>
            <p14:sldId id="291"/>
            <p14:sldId id="292"/>
            <p14:sldId id="293"/>
            <p14:sldId id="294"/>
            <p14:sldId id="29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17: Semi-Supervised Learning and the EM Algorithm. Part 4 — Learning Without Full Labels. Week 14: Semi-supervised learning and EM; hidden Markov models. Handout pages 125–133.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(the Gaussian, maximum likelihood), Chapter 10 (posteriors and naive Bayes) and Chapter 15 (k-means). The algorithm of this chapter returns in Chapter 18.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semi-supervised learning; smoothness, cluster and manifold assumptions; self-training (pseudo-labelling); confirmation bias; latent (hidden) variable; mixture model; Gaussian mixture; mixing weight; responsibility; EM algorithm; E-step; M-step; local maximum; hard vs. soft assignment; label propagation.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are expensive. A senior engineer must read a ticket to name its root cause; a reviewer must study a commit to say whether it introduced a defect; a project manager must reconstruct why a project slipped. Unlabelled examples are nearly free: every ticket in the tracker, every commit in the history, every project in the archive. Semi-supervised learning uses both — a small labelled set and a large unlabelled one — to learn a better classifier than the labelled set alone would give.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17.1 (handout p. 126): The cluster assumption. With two labelled points (blue circle, red square) a classifier puts the boundary between them, through the middle of a cluster. The unlabelled points (grey) reveal two clusters and a gap, and the boundary belongs in the gap.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works with any classifier that gives probabilities, and on the tickets of this chapter’s lab it lifts accuracy from 92% with 50 labels to 97% using the 1,210 unlabelled tickets as well (all 1,260 labels give 98%). Its risk is confirmation bias: an early confident mistake becomes a training label, is reinforced at every round, and is never corrected. A high confidence threshold limits the damage. A more principled approach models how the data was generated. Suppose each example was produced by first picking a class (or cluster) z, then drawing x from that class’s distribution. For labelled examples z is observed; for unlabelled ones it is a hidden (latent) variable.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17.2 (handout p. 128): EM on the worked example. Each point is coloured by its responsibilities; x = 3 starts out shared between the components. Two iterations move the second Gaussian onto the group it explains.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17.3 (handout p. 128): The EM loop. Whenever a model would be easy to fit if some variable were observed, EM fills that variable in with probabilities and fits as if it were observed.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labelled examples anchor each component to a class — they say which cluster is which — and the unlabelled examples say where the clusters really are. The authors report that adding unlabelled documents to small labelled sets reduced text-classification error by up to 30%.</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Graph-based methods such as label propagation take the smoothness assumption literally: connect each example to its nearest neighbours in a graph, fix the labelled nodes, and let labels diffuse along the edges until they settle. They follow curved clusters that a Gaussian mixture cannot represent.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uses 1,800 synthetic tickets, each described by ten numeric features of its text and history, with four possible root causes; only 50 of the training tickets are labelled.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EM for two Gaussian means (sigma = 1 known, equal weights).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Two labels, four unlabelled points.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Self-training with 50 labels out of 1,260.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Examples in the same cluster tend to share a label, so the decision boundary should pass through low-density regions. It fails when classes overlap inside one cluster — for example tickets with different root causes whose text and history look the same (a timeout caused by the network and one caused by a slow database query).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E-step computes, with the current parameters, each example’s responsibilities (the probability that each component produced it). The M-step re-estimates the parameters from the responsibility-weighted examples.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k-means makes hard assignments and estimates only means (implicitly round, equal clusters); EM for a Gaussian mixture makes soft assignments and also estimates covariances and mixing weights, maximising the likelihood.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18 — Hidden Markov Models. READ: Handout Chapter 17, pages 125–133. THIS WEEK'S LAB: EM by hand; forward, Viterbi, Baum–Welch. ASSESSMENT: Project experiments frozen.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1.xml"/><Relationship Id="rId8" Type="http://schemas.openxmlformats.org/officeDocument/2006/relationships/slide" Target="slide12.xml"/><Relationship Id="rId9" Type="http://schemas.openxmlformats.org/officeDocument/2006/relationships/slide" Target="slide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1.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image" Target="../media/image15.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6.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image" Target="../media/image19.png"/><Relationship Id="rId5" Type="http://schemas.openxmlformats.org/officeDocument/2006/relationships/image" Target="../media/image20.svg"/><Relationship Id="rId6" Type="http://schemas.openxmlformats.org/officeDocument/2006/relationships/image" Target="../media/image21.png"/><Relationship Id="rId7" Type="http://schemas.openxmlformats.org/officeDocument/2006/relationships/image" Target="../media/image22.svg"/><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30.svg"/><Relationship Id="rId4" Type="http://schemas.openxmlformats.org/officeDocument/2006/relationships/image" Target="../media/image31.png"/><Relationship Id="rId5" Type="http://schemas.openxmlformats.org/officeDocument/2006/relationships/image" Target="../media/image32.svg"/><Relationship Id="rId6" Type="http://schemas.openxmlformats.org/officeDocument/2006/relationships/image" Target="../media/image33.png"/><Relationship Id="rId7" Type="http://schemas.openxmlformats.org/officeDocument/2006/relationships/image" Target="../media/image34.svg"/><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41.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42.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6.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7.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8.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9.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50.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51.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5.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6.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7.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8.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9.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1.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4.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5.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image" Target="../media/image66.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74EA0"/>
                </a:solidFill>
                <a:latin typeface="Segoe UI Black"/>
              </a:rPr>
              <a:t>17</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Semi-Supervised Learning and the EM Algorithm</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PART IV  ·  LEARNING WITHOUT FULL LABELS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CHAPTER 17  ·  WEEK 14</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4D8EA"/>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82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C0AE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D0C3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C0AE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125     </a:t>
            </a:r>
            <a:fld id="{3F18B6C0-F70B-4723-AFC8-64E495F3502E}" type="slidenum">
              <a:rPr lang="en-GB" sz="1000">
                <a:solidFill>
                  <a:srgbClr val="8795A1"/>
                </a:solidFill>
                <a:latin typeface="Segoe UI"/>
              </a:rPr>
              <a:t>2</a:t>
            </a:fld>
          </a:p>
        </p:txBody>
      </p:sp>
      <p:sp>
        <p:nvSpPr>
          <p:cNvPr id="7" name="!!rp1"/>
          <p:cNvSpPr txBox="1"/>
          <p:nvPr/>
        </p:nvSpPr>
        <p:spPr>
          <a:xfrm>
            <a:off x="777239"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89666"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89666"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602092"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602092"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333571" y="1755648"/>
            <a:ext cx="132916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A3A95"/>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333571" y="2029967"/>
            <a:ext cx="1329163" cy="4572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9147366"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9147366"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4599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545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54889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457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95841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8669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642263"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5508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05178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9603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4613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3698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870842"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77940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28036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1889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6898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5984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37374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28230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783268"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691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201939" y="2112264"/>
            <a:ext cx="566928" cy="566928"/>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201939"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17</a:t>
            </a:r>
          </a:p>
        </p:txBody>
      </p:sp>
      <p:sp>
        <p:nvSpPr>
          <p:cNvPr id="53" name="!!dot18">
            <a:extLst>
              <a:ext uri="{C183D7F6-B498-43B3-948B-1728B52AA6E4}">
                <adec:decorative xmlns:adec="http://schemas.microsoft.com/office/drawing/2017/decorative" val="1"/>
              </a:ext>
            </a:extLst>
          </p:cNvPr>
          <p:cNvSpPr/>
          <p:nvPr/>
        </p:nvSpPr>
        <p:spPr>
          <a:xfrm>
            <a:off x="918753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0960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59706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5056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5559323"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A3A95"/>
                </a:solidFill>
                <a:latin typeface="Segoe UI"/>
              </a:rPr>
              <a:t>Semi-Supervised Learning and the EM Algorithm</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Mathematics for Machine Learning</a:t>
            </a:r>
          </a:p>
        </p:txBody>
      </p:sp>
      <p:sp>
        <p:nvSpPr>
          <p:cNvPr id="68" name="!!chipBU10">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10">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10"/>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10  </a:t>
            </a:r>
            <a:r>
              <a:rPr sz="1400" b="0" i="0">
                <a:solidFill>
                  <a:srgbClr val="1C252B"/>
                </a:solidFill>
                <a:latin typeface="Segoe UI"/>
              </a:rPr>
              <a:t>Bayesian Learning and Naive Bayes</a:t>
            </a:r>
          </a:p>
        </p:txBody>
      </p:sp>
      <p:sp>
        <p:nvSpPr>
          <p:cNvPr id="71" name="!!chipBU15">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BU15">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BU15"/>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15  </a:t>
            </a:r>
            <a:r>
              <a:rPr sz="1400" b="0" i="0">
                <a:solidFill>
                  <a:srgbClr val="1C252B"/>
                </a:solidFill>
                <a:latin typeface="Segoe UI"/>
              </a:rPr>
              <a:t>Clustering</a:t>
            </a:r>
          </a:p>
        </p:txBody>
      </p:sp>
      <p:sp>
        <p:nvSpPr>
          <p:cNvPr id="7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5" name="!!chipUS18">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18">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18"/>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18  </a:t>
            </a:r>
            <a:r>
              <a:rPr sz="1400" b="0" i="0">
                <a:solidFill>
                  <a:srgbClr val="1C252B"/>
                </a:solidFill>
                <a:latin typeface="Segoe UI"/>
              </a:rPr>
              <a:t>Hidden Markov Models</a:t>
            </a:r>
          </a:p>
        </p:txBody>
      </p:sp>
      <p:sp>
        <p:nvSpPr>
          <p:cNvPr id="78" name="!!chipUS21">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21">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21"/>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21  </a:t>
            </a:r>
            <a:r>
              <a:rPr sz="1400" b="0" i="0">
                <a:solidFill>
                  <a:srgbClr val="1C252B"/>
                </a:solidFill>
                <a:latin typeface="Segoe UI"/>
              </a:rPr>
              <a:t>Responsible and Ethical Machine Learning</a:t>
            </a:r>
          </a:p>
        </p:txBody>
      </p:sp>
      <p:sp>
        <p:nvSpPr>
          <p:cNvPr id="8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pfill">
            <a:extLst>
              <a:ext uri="{C183D7F6-B498-43B3-948B-1728B52AA6E4}">
                <adec:decorative xmlns:adec="http://schemas.microsoft.com/office/drawing/2017/decorative" val="1"/>
              </a:ext>
            </a:extLst>
          </p:cNvPr>
          <p:cNvSpPr/>
          <p:nvPr/>
        </p:nvSpPr>
        <p:spPr>
          <a:xfrm>
            <a:off x="0" y="0"/>
            <a:ext cx="6095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125     </a:t>
            </a:r>
            <a:fld id="{DA3E8A27-814B-481A-AA39-3A406AA3C188}"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Explain</a:t>
            </a:r>
            <a:r>
              <a:rPr sz="2100" b="0" i="0">
                <a:solidFill>
                  <a:srgbClr val="1C252B"/>
                </a:solidFill>
                <a:latin typeface="Segoe UI"/>
              </a:rPr>
              <a:t> when unlabelled examples can improve a classifier, and the assumptions that make it possible.</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Describe</a:t>
            </a:r>
            <a:r>
              <a:rPr sz="2100" b="0" i="0">
                <a:solidFill>
                  <a:srgbClr val="1C252B"/>
                </a:solidFill>
                <a:latin typeface="Segoe UI"/>
              </a:rPr>
              <a:t> self-training, and </a:t>
            </a:r>
            <a:r>
              <a:rPr sz="2100" b="1" i="0">
                <a:solidFill>
                  <a:srgbClr val="1C252B"/>
                </a:solidFill>
                <a:latin typeface="Segoe UI"/>
              </a:rPr>
              <a:t>state</a:t>
            </a:r>
            <a:r>
              <a:rPr sz="2100" b="0" i="0">
                <a:solidFill>
                  <a:srgbClr val="1C252B"/>
                </a:solidFill>
                <a:latin typeface="Segoe UI"/>
              </a:rPr>
              <a:t> its main risk.</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Formulate</a:t>
            </a:r>
            <a:r>
              <a:rPr sz="2100" b="0" i="0">
                <a:solidFill>
                  <a:srgbClr val="1C252B"/>
                </a:solidFill>
                <a:latin typeface="Segoe UI"/>
              </a:rPr>
              <a:t> a Gaussian mixture model with hidden cluster labels.</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268419"/>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Perform</a:t>
            </a:r>
            <a:r>
              <a:rPr sz="2100" b="0" i="0">
                <a:solidFill>
                  <a:srgbClr val="1C252B"/>
                </a:solidFill>
                <a:latin typeface="Segoe UI"/>
              </a:rPr>
              <a:t> an iteration of the EM algorithm by hand: responsibilities in the E-step, weighted means in the M-step.</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6727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Apply</a:t>
            </a:r>
            <a:r>
              <a:rPr sz="2100" b="0" i="0">
                <a:solidFill>
                  <a:srgbClr val="1C252B"/>
                </a:solidFill>
                <a:latin typeface="Segoe UI"/>
              </a:rPr>
              <a:t> EM to a mixture of labelled and unlabelled data, and </a:t>
            </a:r>
            <a:r>
              <a:rPr sz="2100" b="1" i="0">
                <a:solidFill>
                  <a:srgbClr val="1C252B"/>
                </a:solidFill>
                <a:latin typeface="Segoe UI"/>
              </a:rPr>
              <a:t>relate</a:t>
            </a:r>
            <a:r>
              <a:rPr sz="2100" b="0" i="0">
                <a:solidFill>
                  <a:srgbClr val="1C252B"/>
                </a:solidFill>
                <a:latin typeface="Segoe UI"/>
              </a:rPr>
              <a:t> </a:t>
            </a:r>
            <a:r>
              <a:rPr sz="2100" b="0" i="1">
                <a:solidFill>
                  <a:srgbClr val="1C252B"/>
                </a:solidFill>
                <a:latin typeface="Cambria"/>
              </a:rPr>
              <a:t>k</a:t>
            </a:r>
            <a:r>
              <a:rPr sz="2100" b="0" i="0">
                <a:solidFill>
                  <a:srgbClr val="1C252B"/>
                </a:solidFill>
                <a:latin typeface="Segoe UI"/>
              </a:rPr>
              <a:t>-means to EM.</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91437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125     </a:t>
            </a:r>
            <a:fld id="{F491CCA8-F137-4EF8-B92A-EEAADD97ED7E}" type="slidenum">
              <a:rPr lang="en-GB" sz="1000">
                <a:solidFill>
                  <a:srgbClr val="8795A1"/>
                </a:solidFill>
                <a:latin typeface="Segoe UI"/>
              </a:rPr>
              <a:t>4</a:t>
            </a:fld>
          </a:p>
        </p:txBody>
      </p:sp>
      <p:sp>
        <p:nvSpPr>
          <p:cNvPr id="7" name="!!term-semi-supervise">
            <a:extLst>
              <a:ext uri="{C183D7F6-B498-43B3-948B-1728B52AA6E4}">
                <adec:decorative xmlns:adec="http://schemas.microsoft.com/office/drawing/2017/decorative" val="1"/>
              </a:ext>
            </a:extLst>
          </p:cNvPr>
          <p:cNvSpPr/>
          <p:nvPr/>
        </p:nvSpPr>
        <p:spPr>
          <a:xfrm>
            <a:off x="658368" y="1847088"/>
            <a:ext cx="27220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semi-supervise">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semi-supervise"/>
          <p:cNvSpPr txBox="1"/>
          <p:nvPr/>
        </p:nvSpPr>
        <p:spPr>
          <a:xfrm>
            <a:off x="950976" y="1962911"/>
            <a:ext cx="253916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semi-supervised learning</a:t>
            </a:r>
          </a:p>
        </p:txBody>
      </p:sp>
      <p:sp>
        <p:nvSpPr>
          <p:cNvPr id="10" name="!!term-smoothness, cl">
            <a:extLst>
              <a:ext uri="{C183D7F6-B498-43B3-948B-1728B52AA6E4}">
                <adec:decorative xmlns:adec="http://schemas.microsoft.com/office/drawing/2017/decorative" val="1"/>
              </a:ext>
            </a:extLst>
          </p:cNvPr>
          <p:cNvSpPr/>
          <p:nvPr/>
        </p:nvSpPr>
        <p:spPr>
          <a:xfrm>
            <a:off x="3526720" y="1847088"/>
            <a:ext cx="471204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smoothness, cl">
            <a:extLst>
              <a:ext uri="{C183D7F6-B498-43B3-948B-1728B52AA6E4}">
                <adec:decorative xmlns:adec="http://schemas.microsoft.com/office/drawing/2017/decorative" val="1"/>
              </a:ext>
            </a:extLst>
          </p:cNvPr>
          <p:cNvSpPr/>
          <p:nvPr/>
        </p:nvSpPr>
        <p:spPr>
          <a:xfrm>
            <a:off x="365473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smoothness, cl"/>
          <p:cNvSpPr txBox="1"/>
          <p:nvPr/>
        </p:nvSpPr>
        <p:spPr>
          <a:xfrm>
            <a:off x="3819328" y="1962911"/>
            <a:ext cx="452916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smoothness, cluster and manifold assumptions</a:t>
            </a:r>
          </a:p>
        </p:txBody>
      </p:sp>
      <p:sp>
        <p:nvSpPr>
          <p:cNvPr id="13" name="!!term-self-training ">
            <a:extLst>
              <a:ext uri="{C183D7F6-B498-43B3-948B-1728B52AA6E4}">
                <adec:decorative xmlns:adec="http://schemas.microsoft.com/office/drawing/2017/decorative" val="1"/>
              </a:ext>
            </a:extLst>
          </p:cNvPr>
          <p:cNvSpPr/>
          <p:nvPr/>
        </p:nvSpPr>
        <p:spPr>
          <a:xfrm>
            <a:off x="658368" y="2468880"/>
            <a:ext cx="325754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self-training ">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self-training "/>
          <p:cNvSpPr txBox="1"/>
          <p:nvPr/>
        </p:nvSpPr>
        <p:spPr>
          <a:xfrm>
            <a:off x="950976" y="2584704"/>
            <a:ext cx="307466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self-training (pseudo-labelling)</a:t>
            </a:r>
          </a:p>
        </p:txBody>
      </p:sp>
      <p:sp>
        <p:nvSpPr>
          <p:cNvPr id="16" name="!!term-confirmation b">
            <a:extLst>
              <a:ext uri="{C183D7F6-B498-43B3-948B-1728B52AA6E4}">
                <adec:decorative xmlns:adec="http://schemas.microsoft.com/office/drawing/2017/decorative" val="1"/>
              </a:ext>
            </a:extLst>
          </p:cNvPr>
          <p:cNvSpPr/>
          <p:nvPr/>
        </p:nvSpPr>
        <p:spPr>
          <a:xfrm>
            <a:off x="4062212" y="2468880"/>
            <a:ext cx="202592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confirmation b">
            <a:extLst>
              <a:ext uri="{C183D7F6-B498-43B3-948B-1728B52AA6E4}">
                <adec:decorative xmlns:adec="http://schemas.microsoft.com/office/drawing/2017/decorative" val="1"/>
              </a:ext>
            </a:extLst>
          </p:cNvPr>
          <p:cNvSpPr/>
          <p:nvPr/>
        </p:nvSpPr>
        <p:spPr>
          <a:xfrm>
            <a:off x="419022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confirmation b"/>
          <p:cNvSpPr txBox="1"/>
          <p:nvPr/>
        </p:nvSpPr>
        <p:spPr>
          <a:xfrm>
            <a:off x="4354820" y="2584704"/>
            <a:ext cx="184304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confirmation bias</a:t>
            </a:r>
          </a:p>
        </p:txBody>
      </p:sp>
      <p:sp>
        <p:nvSpPr>
          <p:cNvPr id="19" name="!!term-latent (hidden">
            <a:extLst>
              <a:ext uri="{C183D7F6-B498-43B3-948B-1728B52AA6E4}">
                <adec:decorative xmlns:adec="http://schemas.microsoft.com/office/drawing/2017/decorative" val="1"/>
              </a:ext>
            </a:extLst>
          </p:cNvPr>
          <p:cNvSpPr/>
          <p:nvPr/>
        </p:nvSpPr>
        <p:spPr>
          <a:xfrm>
            <a:off x="6234442" y="2468880"/>
            <a:ext cx="254981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latent (hidden">
            <a:extLst>
              <a:ext uri="{C183D7F6-B498-43B3-948B-1728B52AA6E4}">
                <adec:decorative xmlns:adec="http://schemas.microsoft.com/office/drawing/2017/decorative" val="1"/>
              </a:ext>
            </a:extLst>
          </p:cNvPr>
          <p:cNvSpPr/>
          <p:nvPr/>
        </p:nvSpPr>
        <p:spPr>
          <a:xfrm>
            <a:off x="636245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latent (hidden"/>
          <p:cNvSpPr txBox="1"/>
          <p:nvPr/>
        </p:nvSpPr>
        <p:spPr>
          <a:xfrm>
            <a:off x="6527050" y="2584704"/>
            <a:ext cx="236693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latent (hidden) variable</a:t>
            </a:r>
          </a:p>
        </p:txBody>
      </p:sp>
      <p:sp>
        <p:nvSpPr>
          <p:cNvPr id="22" name="!!term-mixture model">
            <a:extLst>
              <a:ext uri="{C183D7F6-B498-43B3-948B-1728B52AA6E4}">
                <adec:decorative xmlns:adec="http://schemas.microsoft.com/office/drawing/2017/decorative" val="1"/>
              </a:ext>
            </a:extLst>
          </p:cNvPr>
          <p:cNvSpPr/>
          <p:nvPr/>
        </p:nvSpPr>
        <p:spPr>
          <a:xfrm>
            <a:off x="8930558" y="2468880"/>
            <a:ext cx="176805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mixture model">
            <a:extLst>
              <a:ext uri="{C183D7F6-B498-43B3-948B-1728B52AA6E4}">
                <adec:decorative xmlns:adec="http://schemas.microsoft.com/office/drawing/2017/decorative" val="1"/>
              </a:ext>
            </a:extLst>
          </p:cNvPr>
          <p:cNvSpPr/>
          <p:nvPr/>
        </p:nvSpPr>
        <p:spPr>
          <a:xfrm>
            <a:off x="905857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mixture model"/>
          <p:cNvSpPr txBox="1"/>
          <p:nvPr/>
        </p:nvSpPr>
        <p:spPr>
          <a:xfrm>
            <a:off x="9223166" y="2584704"/>
            <a:ext cx="158517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mixture model</a:t>
            </a:r>
          </a:p>
        </p:txBody>
      </p:sp>
      <p:sp>
        <p:nvSpPr>
          <p:cNvPr id="25" name="!!term-Gaussian mixtu">
            <a:extLst>
              <a:ext uri="{C183D7F6-B498-43B3-948B-1728B52AA6E4}">
                <adec:decorative xmlns:adec="http://schemas.microsoft.com/office/drawing/2017/decorative" val="1"/>
              </a:ext>
            </a:extLst>
          </p:cNvPr>
          <p:cNvSpPr/>
          <p:nvPr/>
        </p:nvSpPr>
        <p:spPr>
          <a:xfrm>
            <a:off x="658368" y="3090672"/>
            <a:ext cx="200122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Gaussian mixtu">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Gaussian mixtu"/>
          <p:cNvSpPr txBox="1"/>
          <p:nvPr/>
        </p:nvSpPr>
        <p:spPr>
          <a:xfrm>
            <a:off x="950976" y="3206496"/>
            <a:ext cx="181834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Gaussian mixture</a:t>
            </a:r>
          </a:p>
        </p:txBody>
      </p:sp>
      <p:sp>
        <p:nvSpPr>
          <p:cNvPr id="28" name="!!term-mixing weight">
            <a:extLst>
              <a:ext uri="{C183D7F6-B498-43B3-948B-1728B52AA6E4}">
                <adec:decorative xmlns:adec="http://schemas.microsoft.com/office/drawing/2017/decorative" val="1"/>
              </a:ext>
            </a:extLst>
          </p:cNvPr>
          <p:cNvSpPr/>
          <p:nvPr/>
        </p:nvSpPr>
        <p:spPr>
          <a:xfrm>
            <a:off x="2805897" y="3090672"/>
            <a:ext cx="172704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mixing weight">
            <a:extLst>
              <a:ext uri="{C183D7F6-B498-43B3-948B-1728B52AA6E4}">
                <adec:decorative xmlns:adec="http://schemas.microsoft.com/office/drawing/2017/decorative" val="1"/>
              </a:ext>
            </a:extLst>
          </p:cNvPr>
          <p:cNvSpPr/>
          <p:nvPr/>
        </p:nvSpPr>
        <p:spPr>
          <a:xfrm>
            <a:off x="293391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mixing weight"/>
          <p:cNvSpPr txBox="1"/>
          <p:nvPr/>
        </p:nvSpPr>
        <p:spPr>
          <a:xfrm>
            <a:off x="3098505" y="3206496"/>
            <a:ext cx="154416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mixing weight</a:t>
            </a:r>
          </a:p>
        </p:txBody>
      </p:sp>
      <p:sp>
        <p:nvSpPr>
          <p:cNvPr id="31" name="!!term-responsibility">
            <a:extLst>
              <a:ext uri="{C183D7F6-B498-43B3-948B-1728B52AA6E4}">
                <adec:decorative xmlns:adec="http://schemas.microsoft.com/office/drawing/2017/decorative" val="1"/>
              </a:ext>
            </a:extLst>
          </p:cNvPr>
          <p:cNvSpPr/>
          <p:nvPr/>
        </p:nvSpPr>
        <p:spPr>
          <a:xfrm>
            <a:off x="4679243" y="3090672"/>
            <a:ext cx="16488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responsibility">
            <a:extLst>
              <a:ext uri="{C183D7F6-B498-43B3-948B-1728B52AA6E4}">
                <adec:decorative xmlns:adec="http://schemas.microsoft.com/office/drawing/2017/decorative" val="1"/>
              </a:ext>
            </a:extLst>
          </p:cNvPr>
          <p:cNvSpPr/>
          <p:nvPr/>
        </p:nvSpPr>
        <p:spPr>
          <a:xfrm>
            <a:off x="480725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responsibility"/>
          <p:cNvSpPr txBox="1"/>
          <p:nvPr/>
        </p:nvSpPr>
        <p:spPr>
          <a:xfrm>
            <a:off x="4971851" y="3206496"/>
            <a:ext cx="146599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responsibility</a:t>
            </a:r>
          </a:p>
        </p:txBody>
      </p:sp>
      <p:sp>
        <p:nvSpPr>
          <p:cNvPr id="34" name="!!term-EM algorithm">
            <a:extLst>
              <a:ext uri="{C183D7F6-B498-43B3-948B-1728B52AA6E4}">
                <adec:decorative xmlns:adec="http://schemas.microsoft.com/office/drawing/2017/decorative" val="1"/>
              </a:ext>
            </a:extLst>
          </p:cNvPr>
          <p:cNvSpPr/>
          <p:nvPr/>
        </p:nvSpPr>
        <p:spPr>
          <a:xfrm>
            <a:off x="6474424" y="3090672"/>
            <a:ext cx="167420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EM algorithm">
            <a:extLst>
              <a:ext uri="{C183D7F6-B498-43B3-948B-1728B52AA6E4}">
                <adec:decorative xmlns:adec="http://schemas.microsoft.com/office/drawing/2017/decorative" val="1"/>
              </a:ext>
            </a:extLst>
          </p:cNvPr>
          <p:cNvSpPr/>
          <p:nvPr/>
        </p:nvSpPr>
        <p:spPr>
          <a:xfrm>
            <a:off x="660244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EM algorithm"/>
          <p:cNvSpPr txBox="1"/>
          <p:nvPr/>
        </p:nvSpPr>
        <p:spPr>
          <a:xfrm>
            <a:off x="6767032" y="3206496"/>
            <a:ext cx="149132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EM algorithm</a:t>
            </a:r>
          </a:p>
        </p:txBody>
      </p:sp>
      <p:sp>
        <p:nvSpPr>
          <p:cNvPr id="37" name="!!term-E-step">
            <a:extLst>
              <a:ext uri="{C183D7F6-B498-43B3-948B-1728B52AA6E4}">
                <adec:decorative xmlns:adec="http://schemas.microsoft.com/office/drawing/2017/decorative" val="1"/>
              </a:ext>
            </a:extLst>
          </p:cNvPr>
          <p:cNvSpPr/>
          <p:nvPr/>
        </p:nvSpPr>
        <p:spPr>
          <a:xfrm>
            <a:off x="8294934" y="3090672"/>
            <a:ext cx="101508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E-step">
            <a:extLst>
              <a:ext uri="{C183D7F6-B498-43B3-948B-1728B52AA6E4}">
                <adec:decorative xmlns:adec="http://schemas.microsoft.com/office/drawing/2017/decorative" val="1"/>
              </a:ext>
            </a:extLst>
          </p:cNvPr>
          <p:cNvSpPr/>
          <p:nvPr/>
        </p:nvSpPr>
        <p:spPr>
          <a:xfrm>
            <a:off x="842295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E-step"/>
          <p:cNvSpPr txBox="1"/>
          <p:nvPr/>
        </p:nvSpPr>
        <p:spPr>
          <a:xfrm>
            <a:off x="8587542" y="3206496"/>
            <a:ext cx="83220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E-step</a:t>
            </a:r>
          </a:p>
        </p:txBody>
      </p:sp>
      <p:sp>
        <p:nvSpPr>
          <p:cNvPr id="40" name="!!term-M-step">
            <a:extLst>
              <a:ext uri="{C183D7F6-B498-43B3-948B-1728B52AA6E4}">
                <adec:decorative xmlns:adec="http://schemas.microsoft.com/office/drawing/2017/decorative" val="1"/>
              </a:ext>
            </a:extLst>
          </p:cNvPr>
          <p:cNvSpPr/>
          <p:nvPr/>
        </p:nvSpPr>
        <p:spPr>
          <a:xfrm>
            <a:off x="9456318" y="3090672"/>
            <a:ext cx="109632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M-step">
            <a:extLst>
              <a:ext uri="{C183D7F6-B498-43B3-948B-1728B52AA6E4}">
                <adec:decorative xmlns:adec="http://schemas.microsoft.com/office/drawing/2017/decorative" val="1"/>
              </a:ext>
            </a:extLst>
          </p:cNvPr>
          <p:cNvSpPr/>
          <p:nvPr/>
        </p:nvSpPr>
        <p:spPr>
          <a:xfrm>
            <a:off x="958433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M-step"/>
          <p:cNvSpPr txBox="1"/>
          <p:nvPr/>
        </p:nvSpPr>
        <p:spPr>
          <a:xfrm>
            <a:off x="9748926" y="3206496"/>
            <a:ext cx="91344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M-step</a:t>
            </a:r>
          </a:p>
        </p:txBody>
      </p:sp>
      <p:sp>
        <p:nvSpPr>
          <p:cNvPr id="43" name="!!term-local maximum">
            <a:extLst>
              <a:ext uri="{C183D7F6-B498-43B3-948B-1728B52AA6E4}">
                <adec:decorative xmlns:adec="http://schemas.microsoft.com/office/drawing/2017/decorative" val="1"/>
              </a:ext>
            </a:extLst>
          </p:cNvPr>
          <p:cNvSpPr/>
          <p:nvPr/>
        </p:nvSpPr>
        <p:spPr>
          <a:xfrm>
            <a:off x="658368" y="3712464"/>
            <a:ext cx="182219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local maximum">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local maximum"/>
          <p:cNvSpPr txBox="1"/>
          <p:nvPr/>
        </p:nvSpPr>
        <p:spPr>
          <a:xfrm>
            <a:off x="950976" y="3828288"/>
            <a:ext cx="163931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local maximum</a:t>
            </a:r>
          </a:p>
        </p:txBody>
      </p:sp>
      <p:sp>
        <p:nvSpPr>
          <p:cNvPr id="46" name="!!term-hard vs. soft ">
            <a:extLst>
              <a:ext uri="{C183D7F6-B498-43B3-948B-1728B52AA6E4}">
                <adec:decorative xmlns:adec="http://schemas.microsoft.com/office/drawing/2017/decorative" val="1"/>
              </a:ext>
            </a:extLst>
          </p:cNvPr>
          <p:cNvSpPr/>
          <p:nvPr/>
        </p:nvSpPr>
        <p:spPr>
          <a:xfrm>
            <a:off x="2626863" y="3712464"/>
            <a:ext cx="264809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hard vs. soft ">
            <a:extLst>
              <a:ext uri="{C183D7F6-B498-43B3-948B-1728B52AA6E4}">
                <adec:decorative xmlns:adec="http://schemas.microsoft.com/office/drawing/2017/decorative" val="1"/>
              </a:ext>
            </a:extLst>
          </p:cNvPr>
          <p:cNvSpPr/>
          <p:nvPr/>
        </p:nvSpPr>
        <p:spPr>
          <a:xfrm>
            <a:off x="2754879"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hard vs. soft "/>
          <p:cNvSpPr txBox="1"/>
          <p:nvPr/>
        </p:nvSpPr>
        <p:spPr>
          <a:xfrm>
            <a:off x="2919471" y="3828288"/>
            <a:ext cx="246521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hard vs. soft assignment</a:t>
            </a:r>
          </a:p>
        </p:txBody>
      </p:sp>
      <p:sp>
        <p:nvSpPr>
          <p:cNvPr id="49" name="!!term-label propagat">
            <a:extLst>
              <a:ext uri="{C183D7F6-B498-43B3-948B-1728B52AA6E4}">
                <adec:decorative xmlns:adec="http://schemas.microsoft.com/office/drawing/2017/decorative" val="1"/>
              </a:ext>
            </a:extLst>
          </p:cNvPr>
          <p:cNvSpPr/>
          <p:nvPr/>
        </p:nvSpPr>
        <p:spPr>
          <a:xfrm>
            <a:off x="5421264" y="3712464"/>
            <a:ext cx="206129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label propagat">
            <a:extLst>
              <a:ext uri="{C183D7F6-B498-43B3-948B-1728B52AA6E4}">
                <adec:decorative xmlns:adec="http://schemas.microsoft.com/office/drawing/2017/decorative" val="1"/>
              </a:ext>
            </a:extLst>
          </p:cNvPr>
          <p:cNvSpPr/>
          <p:nvPr/>
        </p:nvSpPr>
        <p:spPr>
          <a:xfrm>
            <a:off x="5549280"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label propagat"/>
          <p:cNvSpPr txBox="1"/>
          <p:nvPr/>
        </p:nvSpPr>
        <p:spPr>
          <a:xfrm>
            <a:off x="5713872" y="3828288"/>
            <a:ext cx="187841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label propagation</a:t>
            </a:r>
          </a:p>
        </p:txBody>
      </p:sp>
      <p:sp>
        <p:nvSpPr>
          <p:cNvPr id="52"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pfill">
            <a:extLst>
              <a:ext uri="{C183D7F6-B498-43B3-948B-1728B52AA6E4}">
                <adec:decorative xmlns:adec="http://schemas.microsoft.com/office/drawing/2017/decorative" val="1"/>
              </a:ext>
            </a:extLst>
          </p:cNvPr>
          <p:cNvSpPr/>
          <p:nvPr/>
        </p:nvSpPr>
        <p:spPr>
          <a:xfrm>
            <a:off x="0" y="0"/>
            <a:ext cx="121916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125–133     </a:t>
            </a:r>
            <a:fld id="{1CED8384-DC9D-4EA9-93D8-B5A76B4D0C3F}" type="slidenum">
              <a:rPr lang="en-GB" sz="1000">
                <a:solidFill>
                  <a:srgbClr val="8795A1"/>
                </a:solidFill>
                <a:latin typeface="Segoe UI"/>
              </a:rPr>
              <a:t>5</a:t>
            </a:fld>
          </a:p>
        </p:txBody>
      </p:sp>
      <p:sp>
        <p:nvSpPr>
          <p:cNvPr id="7" name="!!ag0" descr="Go to section 17.1 Few Labels, Many Example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17.1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Few Labels, Many Examples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125  ›</a:t>
            </a:r>
          </a:p>
        </p:txBody>
      </p:sp>
      <p:sp>
        <p:nvSpPr>
          <p:cNvPr id="12" name="!!ag1" descr="Go to section 17.2 Self-Training">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17.2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Self-Training</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126  ›</a:t>
            </a:r>
          </a:p>
        </p:txBody>
      </p:sp>
      <p:sp>
        <p:nvSpPr>
          <p:cNvPr id="17" name="!!ag2" descr="Go to section 17.3 Mixture Models and Hidden Variable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17.3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Mixture Models and Hidden Variables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126  ›</a:t>
            </a:r>
          </a:p>
        </p:txBody>
      </p:sp>
      <p:sp>
        <p:nvSpPr>
          <p:cNvPr id="22" name="!!ag3" descr="Go to section 17.4 The EM Algorithm">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17.4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EM Algorithm</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127  ›</a:t>
            </a:r>
          </a:p>
        </p:txBody>
      </p:sp>
      <p:sp>
        <p:nvSpPr>
          <p:cNvPr id="27" name="!!ag4" descr="Go to section 17.5 EM With Labelled and Unlabelled Data">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17.5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EM With Labelled and Unlabelled Data</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128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52396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Few Labels, Many Examples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17.1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17.1   Few Labels, Many Examples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17.2   Self-Training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17.3   Mixture Models and Hidden Variables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17.4   The EM Algorithm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17.5   EM With Labelled and Unlabelled Data</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§17.1     </a:t>
            </a:r>
            <a:fld id="{118E131D-F6EA-4E6E-87E4-3283CAB43AED}"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82875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Few Labels, Many Examples</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§17.1  ·  Handout p. 125     </a:t>
            </a:r>
            <a:fld id="{8835A9AB-2C27-4C58-8E26-140F3E2CB6AE}"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67784"/>
          </a:xfrm>
          <a:prstGeom prst="roundRect">
            <a:avLst>
              <a:gd name="adj" fmla="val 2142"/>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6778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How can examples with no labels possibly help? Only if the way the examples are spread out says something about where the classes lie. Three assumptions, all versions of the same idea, make that true:</a:t>
            </a:r>
          </a:p>
        </p:txBody>
      </p:sp>
      <p:sp>
        <p:nvSpPr>
          <p:cNvPr id="10" name="body-1"/>
          <p:cNvSpPr txBox="1"/>
          <p:nvPr/>
        </p:nvSpPr>
        <p:spPr>
          <a:xfrm>
            <a:off x="1060704" y="3302533"/>
            <a:ext cx="10161727" cy="2437434"/>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1A5276"/>
                </a:solidFill>
                <a:latin typeface="Segoe UI"/>
              </a:rPr>
              <a:t>•	</a:t>
            </a:r>
            <a:r>
              <a:rPr sz="2300" b="1" i="0">
                <a:solidFill>
                  <a:srgbClr val="1A5276"/>
                </a:solidFill>
                <a:latin typeface="Segoe UI"/>
              </a:rPr>
              <a:t>Smoothness:</a:t>
            </a:r>
            <a:r>
              <a:rPr sz="2300" b="0" i="0">
                <a:solidFill>
                  <a:srgbClr val="1C252B"/>
                </a:solidFill>
                <a:latin typeface="Segoe UI"/>
              </a:rPr>
              <a:t> examples close together are likely to share a label.</a:t>
            </a:r>
          </a:p>
          <a:p>
            <a:pPr algn="l" marL="257176" indent="-257176">
              <a:lnSpc>
                <a:spcPct val="104000"/>
              </a:lnSpc>
              <a:spcBef>
                <a:spcPts val="0"/>
              </a:spcBef>
              <a:spcAft>
                <a:spcPts val="804"/>
              </a:spcAft>
            </a:pPr>
            <a:r>
              <a:rPr sz="2300" b="1">
                <a:solidFill>
                  <a:srgbClr val="1A5276"/>
                </a:solidFill>
                <a:latin typeface="Segoe UI"/>
              </a:rPr>
              <a:t>•	</a:t>
            </a:r>
            <a:r>
              <a:rPr sz="2300" b="1" i="0">
                <a:solidFill>
                  <a:srgbClr val="1A5276"/>
                </a:solidFill>
                <a:latin typeface="Segoe UI"/>
              </a:rPr>
              <a:t>Cluster:</a:t>
            </a:r>
            <a:r>
              <a:rPr sz="2300" b="0" i="0">
                <a:solidFill>
                  <a:srgbClr val="1C252B"/>
                </a:solidFill>
                <a:latin typeface="Segoe UI"/>
              </a:rPr>
              <a:t> examples form clusters, and a cluster tends to be one class — so the decision boundary should pass through low-density gaps, not through the middle of a cluster.</a:t>
            </a:r>
          </a:p>
          <a:p>
            <a:pPr algn="l" marL="257176" indent="-257176">
              <a:lnSpc>
                <a:spcPct val="104000"/>
              </a:lnSpc>
              <a:spcBef>
                <a:spcPts val="0"/>
              </a:spcBef>
              <a:spcAft>
                <a:spcPts val="0"/>
              </a:spcAft>
            </a:pPr>
            <a:r>
              <a:rPr sz="2300" b="1">
                <a:solidFill>
                  <a:srgbClr val="1A5276"/>
                </a:solidFill>
                <a:latin typeface="Segoe UI"/>
              </a:rPr>
              <a:t>•	</a:t>
            </a:r>
            <a:r>
              <a:rPr sz="2300" b="1" i="0">
                <a:solidFill>
                  <a:srgbClr val="1A5276"/>
                </a:solidFill>
                <a:latin typeface="Segoe UI"/>
              </a:rPr>
              <a:t>Manifold:</a:t>
            </a:r>
            <a:r>
              <a:rPr sz="2300" b="0" i="0">
                <a:solidFill>
                  <a:srgbClr val="1C252B"/>
                </a:solidFill>
                <a:latin typeface="Segoe UI"/>
              </a:rPr>
              <a:t> high-dimensional data lies near a lower-dimensional surface, and distances along that surface are what matter.</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13354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cluster assumption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17.1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§17.1  ·  Handout p. 125     </a:t>
            </a:r>
            <a:fld id="{D80FE41A-704E-4360-81C8-9F1AB1EC59F4}" type="slidenum">
              <a:rPr lang="en-GB" sz="1000">
                <a:solidFill>
                  <a:srgbClr val="8795A1"/>
                </a:solidFill>
                <a:latin typeface="Segoe UI"/>
              </a:rPr>
              <a:t>8</a:t>
            </a:fld>
          </a:p>
        </p:txBody>
      </p:sp>
      <p:pic>
        <p:nvPicPr>
          <p:cNvPr id="6" name="!!figure" descr="Figure 17.1. The cluster assumption. With two labelled points (blue circle, red square) a classifier puts the boundary between them, through the middle of a cluster. The unlabelled points (grey) reveal two clusters and a gap, and the boundary belongs in the gap."/>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53660" y="1737360"/>
            <a:ext cx="8084375" cy="347106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With two labelled points (blue circle, red square) a classifier puts the boundary between them, through the middle of a cluster. The unlabelled points (grey) reveal two clusters and a gap, and the boundary belongs in the gap.</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Unlabelled Data Can Also Hurt</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§17.1  ·  Handout p. 125     </a:t>
            </a:r>
            <a:fld id="{5869E139-350E-466B-B5C8-FBF36C751720}"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When the assumptions are false — the classes overlap in one blob, or a cluster contains both classes — unlabelled data pushes the boundary to the wrong place, and the semi-supervised model can be </a:t>
            </a:r>
            <a:r>
              <a:rPr sz="2300" b="0" i="1">
                <a:solidFill>
                  <a:srgbClr val="1C252B"/>
                </a:solidFill>
                <a:latin typeface="Segoe UI"/>
              </a:rPr>
              <a:t>worse</a:t>
            </a:r>
            <a:r>
              <a:rPr sz="2300" b="0" i="0">
                <a:solidFill>
                  <a:srgbClr val="1C252B"/>
                </a:solidFill>
                <a:latin typeface="Segoe UI"/>
              </a:rPr>
              <a:t> than one trained on the labels alone. Always compare against the labelled-only baseline on a held-out labelled test set.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74313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Self-Training</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§17.2  ·  Handout p. 126     </a:t>
            </a:r>
            <a:fld id="{E574FC47-CBE5-4FF0-A7ED-6ED5800A7C33}"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621"/>
          </a:xfrm>
          <a:prstGeom prst="roundRect">
            <a:avLst>
              <a:gd name="adj" fmla="val 3254"/>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621"/>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simplest method needs no new theory. </a:t>
            </a:r>
            <a:r>
              <a:rPr sz="2300" b="1" i="0">
                <a:solidFill>
                  <a:srgbClr val="1A5276"/>
                </a:solidFill>
                <a:latin typeface="Segoe UI"/>
              </a:rPr>
              <a:t>Self-training</a:t>
            </a:r>
            <a:r>
              <a:rPr sz="2300" b="0" i="0">
                <a:solidFill>
                  <a:srgbClr val="1C252B"/>
                </a:solidFill>
                <a:latin typeface="Segoe UI"/>
              </a:rPr>
              <a:t> (pseudo-labelling):</a:t>
            </a:r>
          </a:p>
        </p:txBody>
      </p:sp>
      <p:sp>
        <p:nvSpPr>
          <p:cNvPr id="10" name="body-1"/>
          <p:cNvSpPr txBox="1"/>
          <p:nvPr/>
        </p:nvSpPr>
        <p:spPr>
          <a:xfrm>
            <a:off x="1060704" y="2573451"/>
            <a:ext cx="10161727" cy="1708353"/>
          </a:xfrm>
          <a:prstGeom prst="rect">
            <a:avLst/>
          </a:prstGeom>
          <a:noFill/>
        </p:spPr>
        <p:txBody>
          <a:bodyPr wrap="square" anchor="t" lIns="0" rIns="0" tIns="0" bIns="0">
            <a:noAutofit/>
          </a:bodyPr>
          <a:lstStyle/>
          <a:p>
            <a:pPr algn="l" marL="554820" indent="-554820">
              <a:lnSpc>
                <a:spcPct val="104000"/>
              </a:lnSpc>
              <a:spcBef>
                <a:spcPts val="0"/>
              </a:spcBef>
              <a:spcAft>
                <a:spcPts val="804"/>
              </a:spcAft>
            </a:pPr>
            <a:r>
              <a:rPr sz="2300" b="1">
                <a:solidFill>
                  <a:srgbClr val="1A5276"/>
                </a:solidFill>
                <a:latin typeface="Segoe UI"/>
              </a:rPr>
              <a:t>1.	</a:t>
            </a:r>
            <a:r>
              <a:rPr sz="2300" b="0" i="0">
                <a:solidFill>
                  <a:srgbClr val="1C252B"/>
                </a:solidFill>
                <a:latin typeface="Segoe UI"/>
              </a:rPr>
              <a:t>train a classifier on the labelled examples;</a:t>
            </a:r>
          </a:p>
          <a:p>
            <a:pPr algn="l" marL="554820" indent="-554820">
              <a:lnSpc>
                <a:spcPct val="104000"/>
              </a:lnSpc>
              <a:spcBef>
                <a:spcPts val="0"/>
              </a:spcBef>
              <a:spcAft>
                <a:spcPts val="804"/>
              </a:spcAft>
            </a:pPr>
            <a:r>
              <a:rPr sz="2300" b="1">
                <a:solidFill>
                  <a:srgbClr val="1A5276"/>
                </a:solidFill>
                <a:latin typeface="Segoe UI"/>
              </a:rPr>
              <a:t>2.	</a:t>
            </a:r>
            <a:r>
              <a:rPr sz="2300" b="0" i="0">
                <a:solidFill>
                  <a:srgbClr val="1C252B"/>
                </a:solidFill>
                <a:latin typeface="Segoe UI"/>
              </a:rPr>
              <a:t>predict the unlabelled examples, and add those predicted with high confidence to the training set, with their predicted labels;</a:t>
            </a:r>
          </a:p>
          <a:p>
            <a:pPr algn="l" marL="554820" indent="-554820">
              <a:lnSpc>
                <a:spcPct val="104000"/>
              </a:lnSpc>
              <a:spcBef>
                <a:spcPts val="0"/>
              </a:spcBef>
              <a:spcAft>
                <a:spcPts val="0"/>
              </a:spcAft>
            </a:pPr>
            <a:r>
              <a:rPr sz="2300" b="1">
                <a:solidFill>
                  <a:srgbClr val="1A5276"/>
                </a:solidFill>
                <a:latin typeface="Segoe UI"/>
              </a:rPr>
              <a:t>3.	</a:t>
            </a:r>
            <a:r>
              <a:rPr sz="2300" b="0" i="0">
                <a:solidFill>
                  <a:srgbClr val="1C252B"/>
                </a:solidFill>
                <a:latin typeface="Segoe UI"/>
              </a:rPr>
              <a:t>retrain, and repeat until no confident predictions remain.</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Gaussian Mixture Model</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§17.3  ·  Handout p. 126     </a:t>
            </a:r>
            <a:fld id="{F495FA28-DD06-4352-98AB-DDAF43E6ACFE}"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38721"/>
          </a:xfrm>
          <a:prstGeom prst="roundRect">
            <a:avLst>
              <a:gd name="adj" fmla="val 206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3872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A mixture of k Gaussians has, for each component j, a mixing weight πj (the probability of choosing it, with Σj πj = 1), a mean μj and a covariance Σj. The probability density of an example i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1092616"/>
          </a:xfrm>
          <a:prstGeom prst="rect">
            <a:avLst/>
          </a:prstGeom>
        </p:spPr>
      </p:pic>
      <p:pic>
        <p:nvPicPr>
          <p:cNvPr id="10" name="body-1" descr="p(\mathbf{x}) = \sum_{j=1}^{k} \pi_j\,\mathcal{N}(\mathbf{x} \mid \boldsymbol{\mu}_j, \Sigma_j)"/>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0704" y="3294542"/>
            <a:ext cx="10161727" cy="1022207"/>
          </a:xfrm>
          <a:prstGeom prst="rect">
            <a:avLst/>
          </a:prstGeom>
        </p:spPr>
      </p:pic>
      <p:sp>
        <p:nvSpPr>
          <p:cNvPr id="11" name="body-2"/>
          <p:cNvSpPr txBox="1"/>
          <p:nvPr/>
        </p:nvSpPr>
        <p:spPr>
          <a:xfrm>
            <a:off x="1060704" y="4470420"/>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If we knew which component produced each example, fitting would be easy: average each component’s own examples. If we knew the parameters, we could compute for each example the probability that each component produced it. We know neither — and the EM algorithm alternates between the two.</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35271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EM Algorithm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17.4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17.1   Few Labels, Many Examples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17.2   Self-Training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17.3   Mixture Models and Hidden Variables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17.4   The EM Algorithm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17.5   EM With Labelled and Unlabelled Data</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§17.4     </a:t>
            </a:r>
            <a:fld id="{449F9DC0-F8E1-4730-A324-B3B8A2FE0016}" type="slidenum">
              <a:rPr lang="en-GB" sz="1000">
                <a:solidFill>
                  <a:srgbClr val="8795A1"/>
                </a:solidFill>
                <a:latin typeface="Segoe UI"/>
              </a:rPr>
              <a:t>12</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65750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Expectation–Maximisation (EM)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127     </a:t>
            </a:r>
            <a:fld id="{0CACBFAE-90FF-4C48-AD1D-00D08327253C}"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75592"/>
          </a:xfrm>
          <a:prstGeom prst="roundRect">
            <a:avLst>
              <a:gd name="adj" fmla="val 2243"/>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7559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Start from initial parameter guesses. Repeat until the likelihood stops improving:</a:t>
            </a:r>
          </a:p>
        </p:txBody>
      </p:sp>
      <p:sp>
        <p:nvSpPr>
          <p:cNvPr id="10" name="body-1"/>
          <p:cNvSpPr txBox="1"/>
          <p:nvPr/>
        </p:nvSpPr>
        <p:spPr>
          <a:xfrm>
            <a:off x="1060704" y="2482113"/>
            <a:ext cx="10161727" cy="648004"/>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8A4500"/>
                </a:solidFill>
                <a:latin typeface="Segoe UI"/>
              </a:rPr>
              <a:t>•	</a:t>
            </a:r>
            <a:r>
              <a:rPr sz="1900" b="1" i="0">
                <a:solidFill>
                  <a:srgbClr val="8A4500"/>
                </a:solidFill>
                <a:latin typeface="Segoe UI"/>
              </a:rPr>
              <a:t>E-step:</a:t>
            </a:r>
            <a:r>
              <a:rPr sz="1900" b="0" i="0">
                <a:solidFill>
                  <a:srgbClr val="1C252B"/>
                </a:solidFill>
                <a:latin typeface="Segoe UI"/>
              </a:rPr>
              <a:t> with the current parameters, compute for every example </a:t>
            </a:r>
            <a:r>
              <a:rPr sz="1900" b="0" i="1">
                <a:solidFill>
                  <a:srgbClr val="1C252B"/>
                </a:solidFill>
                <a:latin typeface="Cambria"/>
              </a:rPr>
              <a:t>i</a:t>
            </a:r>
            <a:r>
              <a:rPr sz="1900" b="0" i="0">
                <a:solidFill>
                  <a:srgbClr val="1C252B"/>
                </a:solidFill>
                <a:latin typeface="Segoe UI"/>
              </a:rPr>
              <a:t> and component </a:t>
            </a:r>
            <a:r>
              <a:rPr sz="1900" b="0" i="1">
                <a:solidFill>
                  <a:srgbClr val="1C252B"/>
                </a:solidFill>
                <a:latin typeface="Cambria"/>
              </a:rPr>
              <a:t>j</a:t>
            </a:r>
            <a:r>
              <a:rPr sz="1900" b="0" i="0">
                <a:solidFill>
                  <a:srgbClr val="1C252B"/>
                </a:solidFill>
                <a:latin typeface="Segoe UI"/>
              </a:rPr>
              <a:t> the </a:t>
            </a:r>
            <a:r>
              <a:rPr sz="1900" b="1" i="0">
                <a:solidFill>
                  <a:srgbClr val="1A5276"/>
                </a:solidFill>
                <a:latin typeface="Segoe UI"/>
              </a:rPr>
              <a:t>responsibility</a:t>
            </a:r>
            <a:r>
              <a:rPr sz="1900" b="0" i="0">
                <a:solidFill>
                  <a:srgbClr val="1C252B"/>
                </a:solidFill>
                <a:latin typeface="Segoe UI"/>
              </a:rPr>
              <a:t> </a:t>
            </a:r>
            <a:r>
              <a:rPr sz="1900" b="0" i="1">
                <a:solidFill>
                  <a:srgbClr val="1C252B"/>
                </a:solidFill>
                <a:latin typeface="Cambria"/>
              </a:rPr>
              <a:t>r</a:t>
            </a:r>
            <a:r>
              <a:rPr sz="1900" b="0" i="1" baseline="-25000">
                <a:solidFill>
                  <a:srgbClr val="1C252B"/>
                </a:solidFill>
                <a:latin typeface="Cambria"/>
              </a:rPr>
              <a:t>ij</a:t>
            </a:r>
            <a:r>
              <a:rPr sz="1900" b="0" i="0">
                <a:solidFill>
                  <a:srgbClr val="1C252B"/>
                </a:solidFill>
                <a:latin typeface="Segoe UI"/>
              </a:rPr>
              <a:t> below — the posterior probability that component </a:t>
            </a:r>
            <a:r>
              <a:rPr sz="1900" b="0" i="1">
                <a:solidFill>
                  <a:srgbClr val="1C252B"/>
                </a:solidFill>
                <a:latin typeface="Cambria"/>
              </a:rPr>
              <a:t>j</a:t>
            </a:r>
            <a:r>
              <a:rPr sz="1900" b="0" i="0">
                <a:solidFill>
                  <a:srgbClr val="1C252B"/>
                </a:solidFill>
                <a:latin typeface="Segoe UI"/>
              </a:rPr>
              <a:t> produced example </a:t>
            </a:r>
            <a:r>
              <a:rPr sz="1900" b="0" i="1">
                <a:solidFill>
                  <a:srgbClr val="1C252B"/>
                </a:solidFill>
                <a:latin typeface="Cambria"/>
              </a:rPr>
              <a:t>i</a:t>
            </a:r>
            <a:r>
              <a:rPr sz="1900" b="0" i="0">
                <a:solidFill>
                  <a:srgbClr val="1C252B"/>
                </a:solidFill>
                <a:latin typeface="Segoe UI"/>
              </a:rPr>
              <a:t>.</a:t>
            </a:r>
          </a:p>
        </p:txBody>
      </p:sp>
      <p:sp>
        <p:nvSpPr>
          <p:cNvPr id="11" name="body-2m"/>
          <p:cNvSpPr txBox="1"/>
          <p:nvPr/>
        </p:nvSpPr>
        <p:spPr>
          <a:xfrm>
            <a:off x="1060704" y="3217113"/>
            <a:ext cx="21245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8A4500"/>
                </a:solidFill>
                <a:latin typeface="Segoe UI"/>
              </a:rPr>
              <a:t>•</a:t>
            </a:r>
          </a:p>
        </p:txBody>
      </p:sp>
      <p:pic>
        <p:nvPicPr>
          <p:cNvPr id="12" name="body-2" descr="M-step: re-estimate each component from all examples, weighted by responsibility: μj = Σi rijxi / Σi rij, πj = 1/nΣi rij, and Σj likewis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73154" y="3217113"/>
            <a:ext cx="9949312" cy="720912"/>
          </a:xfrm>
          <a:prstGeom prst="rect">
            <a:avLst/>
          </a:prstGeom>
        </p:spPr>
      </p:pic>
      <p:pic>
        <p:nvPicPr>
          <p:cNvPr id="13" name="body-3" descr="r_{ij} = \frac{\pi_j\,\mathcal{N}(\mathbf{x}_i \mid \boldsymbol{\mu}_j, \Sigma_j)} {\sum_{l}\pi_l\,\mathcal{N}(\mathbf{x}_i \mid \boldsymbol{\mu}_l, \Sigma_l)}"/>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0704" y="4070741"/>
            <a:ext cx="10161727" cy="696315"/>
          </a:xfrm>
          <a:prstGeom prst="rect">
            <a:avLst/>
          </a:prstGeom>
        </p:spPr>
      </p:pic>
      <p:sp>
        <p:nvSpPr>
          <p:cNvPr id="14" name="body-4"/>
          <p:cNvSpPr txBox="1"/>
          <p:nvPr/>
        </p:nvSpPr>
        <p:spPr>
          <a:xfrm>
            <a:off x="1060704" y="4899771"/>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Each iteration never decreases the likelihood of the data, so EM converges — to a </a:t>
            </a:r>
            <a:r>
              <a:rPr sz="1900" b="1" i="0">
                <a:solidFill>
                  <a:srgbClr val="1A5276"/>
                </a:solidFill>
                <a:latin typeface="Segoe UI"/>
              </a:rPr>
              <a:t>local maximum</a:t>
            </a:r>
            <a:r>
              <a:rPr sz="1900" b="0" i="0">
                <a:solidFill>
                  <a:srgbClr val="1C252B"/>
                </a:solidFill>
                <a:latin typeface="Segoe UI"/>
              </a:rPr>
              <a:t>, which depends on the starting point.</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396230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EM for Two Means (Mitchell’s Example, in Numbers)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127     </a:t>
            </a:r>
            <a:fld id="{37139AB8-6CC7-42F5-AC37-9CFD2171C2AC}"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10431"/>
          </a:xfrm>
          <a:prstGeom prst="roundRect">
            <a:avLst>
              <a:gd name="adj" fmla="val 233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1043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Six tickets took </a:t>
            </a:r>
            <a:r>
              <a:rPr sz="1900" b="0" i="1">
                <a:solidFill>
                  <a:srgbClr val="1C252B"/>
                </a:solidFill>
                <a:latin typeface="Cambria"/>
              </a:rPr>
              <a:t>x</a:t>
            </a:r>
            <a:r>
              <a:rPr sz="1900" b="0" i="0">
                <a:solidFill>
                  <a:srgbClr val="1C252B"/>
                </a:solidFill>
                <a:latin typeface="Cambria"/>
              </a:rPr>
              <a:t> = 1, 2, 3, 7, 8, 9</a:t>
            </a:r>
            <a:r>
              <a:rPr sz="1900" b="0" i="0">
                <a:solidFill>
                  <a:srgbClr val="1C252B"/>
                </a:solidFill>
                <a:latin typeface="Segoe UI"/>
              </a:rPr>
              <a:t> hours to resolve. There seem to be two kinds — quick fixes and investigations — but nobody recorded which was which. Model: two Gaussians with known </a:t>
            </a:r>
            <a:r>
              <a:rPr sz="1900" b="0" i="0">
                <a:solidFill>
                  <a:srgbClr val="1C252B"/>
                </a:solidFill>
                <a:latin typeface="Cambria"/>
              </a:rPr>
              <a:t>σ = 1</a:t>
            </a:r>
            <a:r>
              <a:rPr sz="1900" b="0" i="0">
                <a:solidFill>
                  <a:srgbClr val="1C252B"/>
                </a:solidFill>
                <a:latin typeface="Segoe UI"/>
              </a:rPr>
              <a:t> and equal weights; unknown means. Start from </a:t>
            </a:r>
            <a:r>
              <a:rPr sz="1900" b="0" i="0">
                <a:solidFill>
                  <a:srgbClr val="1C252B"/>
                </a:solidFill>
                <a:latin typeface="Cambria"/>
              </a:rPr>
              <a:t>μ</a:t>
            </a:r>
            <a:r>
              <a:rPr sz="1900" b="0" i="0" baseline="-25000">
                <a:solidFill>
                  <a:srgbClr val="1C252B"/>
                </a:solidFill>
                <a:latin typeface="Cambria"/>
              </a:rPr>
              <a:t>1</a:t>
            </a:r>
            <a:r>
              <a:rPr sz="1900" b="0" i="0">
                <a:solidFill>
                  <a:srgbClr val="1C252B"/>
                </a:solidFill>
                <a:latin typeface="Cambria"/>
              </a:rPr>
              <a:t> = 2</a:t>
            </a:r>
            <a:r>
              <a:rPr sz="1900" b="0" i="0">
                <a:solidFill>
                  <a:srgbClr val="1C252B"/>
                </a:solidFill>
                <a:latin typeface="Segoe UI"/>
              </a:rPr>
              <a:t>, </a:t>
            </a:r>
            <a:r>
              <a:rPr sz="1900" b="0" i="0">
                <a:solidFill>
                  <a:srgbClr val="1C252B"/>
                </a:solidFill>
                <a:latin typeface="Cambria"/>
              </a:rPr>
              <a:t>μ</a:t>
            </a:r>
            <a:r>
              <a:rPr sz="1900" b="0" i="0" baseline="-25000">
                <a:solidFill>
                  <a:srgbClr val="1C252B"/>
                </a:solidFill>
                <a:latin typeface="Cambria"/>
              </a:rPr>
              <a:t>2</a:t>
            </a:r>
            <a:r>
              <a:rPr sz="1900" b="0" i="0">
                <a:solidFill>
                  <a:srgbClr val="1C252B"/>
                </a:solidFill>
                <a:latin typeface="Cambria"/>
              </a:rPr>
              <a:t> = 5</a:t>
            </a:r>
            <a:r>
              <a:rPr sz="1900" b="0" i="0">
                <a:solidFill>
                  <a:srgbClr val="1C252B"/>
                </a:solidFill>
                <a:latin typeface="Segoe UI"/>
              </a:rPr>
              <a:t>.</a:t>
            </a:r>
          </a:p>
        </p:txBody>
      </p:sp>
      <p:sp>
        <p:nvSpPr>
          <p:cNvPr id="10"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E-step.</a:t>
            </a:r>
            <a:r>
              <a:rPr sz="1900" b="0" i="0">
                <a:solidFill>
                  <a:srgbClr val="1C252B"/>
                </a:solidFill>
                <a:latin typeface="Segoe UI"/>
              </a:rPr>
              <a:t> For each </a:t>
            </a:r>
            <a:r>
              <a:rPr sz="1900" b="0" i="1">
                <a:solidFill>
                  <a:srgbClr val="1C252B"/>
                </a:solidFill>
                <a:latin typeface="Cambria"/>
              </a:rPr>
              <a:t>x</a:t>
            </a:r>
            <a:r>
              <a:rPr sz="1900" b="0" i="0">
                <a:solidFill>
                  <a:srgbClr val="1C252B"/>
                </a:solidFill>
                <a:latin typeface="Segoe UI"/>
              </a:rPr>
              <a:t>, the densities are proportional to </a:t>
            </a:r>
            <a:r>
              <a:rPr sz="1900" b="0" i="1">
                <a:solidFill>
                  <a:srgbClr val="1C252B"/>
                </a:solidFill>
                <a:latin typeface="Cambria"/>
              </a:rPr>
              <a:t>e</a:t>
            </a:r>
            <a:r>
              <a:rPr sz="1900" b="0" i="0" baseline="30000">
                <a:solidFill>
                  <a:srgbClr val="1C252B"/>
                </a:solidFill>
                <a:latin typeface="Cambria"/>
              </a:rPr>
              <a:t>−(</a:t>
            </a:r>
            <a:r>
              <a:rPr sz="1900" b="0" i="1" baseline="30000">
                <a:solidFill>
                  <a:srgbClr val="1C252B"/>
                </a:solidFill>
                <a:latin typeface="Cambria"/>
              </a:rPr>
              <a:t>x</a:t>
            </a:r>
            <a:r>
              <a:rPr sz="1900" b="0" i="0" baseline="30000">
                <a:solidFill>
                  <a:srgbClr val="1C252B"/>
                </a:solidFill>
                <a:latin typeface="Cambria"/>
              </a:rPr>
              <a:t>−μ)2/2</a:t>
            </a:r>
            <a:r>
              <a:rPr sz="1900" b="0" i="0">
                <a:solidFill>
                  <a:srgbClr val="1C252B"/>
                </a:solidFill>
                <a:latin typeface="Segoe UI"/>
              </a:rPr>
              <a:t>:</a:t>
            </a:r>
          </a:p>
        </p:txBody>
      </p:sp>
      <p:sp>
        <p:nvSpPr>
          <p:cNvPr id="11" name="body-2"/>
          <p:cNvSpPr txBox="1"/>
          <p:nvPr/>
        </p:nvSpPr>
        <p:spPr>
          <a:xfrm>
            <a:off x="1042416" y="3481679"/>
            <a:ext cx="10234879" cy="1503654"/>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1">
                <a:solidFill>
                  <a:srgbClr val="1C252B"/>
                </a:solidFill>
                <a:latin typeface="Cambria"/>
              </a:rPr>
              <a:t>x</a:t>
            </a:r>
            <a:r>
              <a:rPr sz="1900" b="0" i="0">
                <a:solidFill>
                  <a:srgbClr val="1C252B"/>
                </a:solidFill>
                <a:latin typeface="Cambria"/>
              </a:rPr>
              <a:t> = 1</a:t>
            </a:r>
            <a:r>
              <a:rPr sz="1900" b="0" i="0">
                <a:solidFill>
                  <a:srgbClr val="1C252B"/>
                </a:solidFill>
                <a:latin typeface="Segoe UI"/>
              </a:rPr>
              <a:t>: </a:t>
            </a:r>
            <a:r>
              <a:rPr sz="1900" b="0" i="1">
                <a:solidFill>
                  <a:srgbClr val="1C252B"/>
                </a:solidFill>
                <a:latin typeface="Cambria"/>
              </a:rPr>
              <a:t>e</a:t>
            </a:r>
            <a:r>
              <a:rPr sz="1900" b="0" i="0" baseline="30000">
                <a:solidFill>
                  <a:srgbClr val="1C252B"/>
                </a:solidFill>
                <a:latin typeface="Cambria"/>
              </a:rPr>
              <a:t>−0.5</a:t>
            </a:r>
            <a:r>
              <a:rPr sz="1900" b="0" i="0">
                <a:solidFill>
                  <a:srgbClr val="1C252B"/>
                </a:solidFill>
                <a:latin typeface="Cambria"/>
              </a:rPr>
              <a:t> = 0.607</a:t>
            </a:r>
            <a:r>
              <a:rPr sz="1900" b="0" i="0">
                <a:solidFill>
                  <a:srgbClr val="1C252B"/>
                </a:solidFill>
                <a:latin typeface="Segoe UI"/>
              </a:rPr>
              <a:t> against </a:t>
            </a:r>
            <a:r>
              <a:rPr sz="1900" b="0" i="1">
                <a:solidFill>
                  <a:srgbClr val="1C252B"/>
                </a:solidFill>
                <a:latin typeface="Cambria"/>
              </a:rPr>
              <a:t>e</a:t>
            </a:r>
            <a:r>
              <a:rPr sz="1900" b="0" i="0" baseline="30000">
                <a:solidFill>
                  <a:srgbClr val="1C252B"/>
                </a:solidFill>
                <a:latin typeface="Cambria"/>
              </a:rPr>
              <a:t>−8</a:t>
            </a:r>
            <a:r>
              <a:rPr sz="1900" b="0" i="0">
                <a:solidFill>
                  <a:srgbClr val="1C252B"/>
                </a:solidFill>
                <a:latin typeface="Cambria"/>
              </a:rPr>
              <a:t> = 0.0003</a:t>
            </a:r>
            <a:r>
              <a:rPr sz="1900" b="0" i="0">
                <a:solidFill>
                  <a:srgbClr val="1C252B"/>
                </a:solidFill>
                <a:latin typeface="Segoe UI"/>
              </a:rPr>
              <a:t> </a:t>
            </a:r>
            <a:r>
              <a:rPr sz="1900" b="0" i="0">
                <a:solidFill>
                  <a:srgbClr val="1C252B"/>
                </a:solidFill>
                <a:latin typeface="Cambria"/>
              </a:rPr>
              <a:t>⇒</a:t>
            </a:r>
            <a:r>
              <a:rPr sz="1900" b="0" i="0">
                <a:solidFill>
                  <a:srgbClr val="1C252B"/>
                </a:solidFill>
                <a:latin typeface="Segoe UI"/>
              </a:rPr>
              <a:t> </a:t>
            </a:r>
            <a:r>
              <a:rPr sz="1900" b="0" i="1">
                <a:solidFill>
                  <a:srgbClr val="1C252B"/>
                </a:solidFill>
                <a:latin typeface="Cambria"/>
              </a:rPr>
              <a:t>r</a:t>
            </a:r>
            <a:r>
              <a:rPr sz="1900" b="0" i="0" baseline="-25000">
                <a:solidFill>
                  <a:srgbClr val="1C252B"/>
                </a:solidFill>
                <a:latin typeface="Cambria"/>
              </a:rPr>
              <a:t>1</a:t>
            </a:r>
            <a:r>
              <a:rPr sz="1900" b="0" i="0">
                <a:solidFill>
                  <a:srgbClr val="1C252B"/>
                </a:solidFill>
                <a:latin typeface="Cambria"/>
              </a:rPr>
              <a:t> = 0.999</a:t>
            </a:r>
          </a:p>
          <a:p>
            <a:pPr algn="l" marL="212450" indent="-212450">
              <a:lnSpc>
                <a:spcPct val="104000"/>
              </a:lnSpc>
              <a:spcBef>
                <a:spcPts val="0"/>
              </a:spcBef>
              <a:spcAft>
                <a:spcPts val="665"/>
              </a:spcAft>
            </a:pPr>
            <a:r>
              <a:rPr sz="1900" b="1">
                <a:solidFill>
                  <a:srgbClr val="7D6608"/>
                </a:solidFill>
                <a:latin typeface="Segoe UI"/>
              </a:rPr>
              <a:t>•	</a:t>
            </a:r>
            <a:r>
              <a:rPr sz="1900" b="0" i="1">
                <a:solidFill>
                  <a:srgbClr val="1C252B"/>
                </a:solidFill>
                <a:latin typeface="Cambria"/>
              </a:rPr>
              <a:t>x</a:t>
            </a:r>
            <a:r>
              <a:rPr sz="1900" b="0" i="0">
                <a:solidFill>
                  <a:srgbClr val="1C252B"/>
                </a:solidFill>
                <a:latin typeface="Cambria"/>
              </a:rPr>
              <a:t> = 2</a:t>
            </a:r>
            <a:r>
              <a:rPr sz="1900" b="0" i="0">
                <a:solidFill>
                  <a:srgbClr val="1C252B"/>
                </a:solidFill>
                <a:latin typeface="Segoe UI"/>
              </a:rPr>
              <a:t>: </a:t>
            </a:r>
            <a:r>
              <a:rPr sz="1900" b="0" i="1">
                <a:solidFill>
                  <a:srgbClr val="1C252B"/>
                </a:solidFill>
                <a:latin typeface="Cambria"/>
              </a:rPr>
              <a:t>e</a:t>
            </a:r>
            <a:r>
              <a:rPr sz="1900" b="0" i="0" baseline="30000">
                <a:solidFill>
                  <a:srgbClr val="1C252B"/>
                </a:solidFill>
                <a:latin typeface="Cambria"/>
              </a:rPr>
              <a:t>0</a:t>
            </a:r>
            <a:r>
              <a:rPr sz="1900" b="0" i="0">
                <a:solidFill>
                  <a:srgbClr val="1C252B"/>
                </a:solidFill>
                <a:latin typeface="Cambria"/>
              </a:rPr>
              <a:t> = 1</a:t>
            </a:r>
            <a:r>
              <a:rPr sz="1900" b="0" i="0">
                <a:solidFill>
                  <a:srgbClr val="1C252B"/>
                </a:solidFill>
                <a:latin typeface="Segoe UI"/>
              </a:rPr>
              <a:t> against </a:t>
            </a:r>
            <a:r>
              <a:rPr sz="1900" b="0" i="1">
                <a:solidFill>
                  <a:srgbClr val="1C252B"/>
                </a:solidFill>
                <a:latin typeface="Cambria"/>
              </a:rPr>
              <a:t>e</a:t>
            </a:r>
            <a:r>
              <a:rPr sz="1900" b="0" i="0" baseline="30000">
                <a:solidFill>
                  <a:srgbClr val="1C252B"/>
                </a:solidFill>
                <a:latin typeface="Cambria"/>
              </a:rPr>
              <a:t>−4.5</a:t>
            </a:r>
            <a:r>
              <a:rPr sz="1900" b="0" i="0">
                <a:solidFill>
                  <a:srgbClr val="1C252B"/>
                </a:solidFill>
                <a:latin typeface="Cambria"/>
              </a:rPr>
              <a:t> = 0.011</a:t>
            </a:r>
            <a:r>
              <a:rPr sz="1900" b="0" i="0">
                <a:solidFill>
                  <a:srgbClr val="1C252B"/>
                </a:solidFill>
                <a:latin typeface="Segoe UI"/>
              </a:rPr>
              <a:t> </a:t>
            </a:r>
            <a:r>
              <a:rPr sz="1900" b="0" i="0">
                <a:solidFill>
                  <a:srgbClr val="1C252B"/>
                </a:solidFill>
                <a:latin typeface="Cambria"/>
              </a:rPr>
              <a:t>⇒</a:t>
            </a:r>
            <a:r>
              <a:rPr sz="1900" b="0" i="0">
                <a:solidFill>
                  <a:srgbClr val="1C252B"/>
                </a:solidFill>
                <a:latin typeface="Segoe UI"/>
              </a:rPr>
              <a:t> </a:t>
            </a:r>
            <a:r>
              <a:rPr sz="1900" b="0" i="1">
                <a:solidFill>
                  <a:srgbClr val="1C252B"/>
                </a:solidFill>
                <a:latin typeface="Cambria"/>
              </a:rPr>
              <a:t>r</a:t>
            </a:r>
            <a:r>
              <a:rPr sz="1900" b="0" i="0" baseline="-25000">
                <a:solidFill>
                  <a:srgbClr val="1C252B"/>
                </a:solidFill>
                <a:latin typeface="Cambria"/>
              </a:rPr>
              <a:t>1</a:t>
            </a:r>
            <a:r>
              <a:rPr sz="1900" b="0" i="0">
                <a:solidFill>
                  <a:srgbClr val="1C252B"/>
                </a:solidFill>
                <a:latin typeface="Cambria"/>
              </a:rPr>
              <a:t> = 0.989</a:t>
            </a:r>
          </a:p>
          <a:p>
            <a:pPr algn="l" marL="212450" indent="-212450">
              <a:lnSpc>
                <a:spcPct val="104000"/>
              </a:lnSpc>
              <a:spcBef>
                <a:spcPts val="0"/>
              </a:spcBef>
              <a:spcAft>
                <a:spcPts val="665"/>
              </a:spcAft>
            </a:pPr>
            <a:r>
              <a:rPr sz="1900" b="1">
                <a:solidFill>
                  <a:srgbClr val="7D6608"/>
                </a:solidFill>
                <a:latin typeface="Segoe UI"/>
              </a:rPr>
              <a:t>•	</a:t>
            </a:r>
            <a:r>
              <a:rPr sz="1900" b="0" i="1">
                <a:solidFill>
                  <a:srgbClr val="1C252B"/>
                </a:solidFill>
                <a:latin typeface="Cambria"/>
              </a:rPr>
              <a:t>x</a:t>
            </a:r>
            <a:r>
              <a:rPr sz="1900" b="0" i="0">
                <a:solidFill>
                  <a:srgbClr val="1C252B"/>
                </a:solidFill>
                <a:latin typeface="Cambria"/>
              </a:rPr>
              <a:t> = 3</a:t>
            </a:r>
            <a:r>
              <a:rPr sz="1900" b="0" i="0">
                <a:solidFill>
                  <a:srgbClr val="1C252B"/>
                </a:solidFill>
                <a:latin typeface="Segoe UI"/>
              </a:rPr>
              <a:t>: </a:t>
            </a:r>
            <a:r>
              <a:rPr sz="1900" b="0" i="1">
                <a:solidFill>
                  <a:srgbClr val="1C252B"/>
                </a:solidFill>
                <a:latin typeface="Cambria"/>
              </a:rPr>
              <a:t>e</a:t>
            </a:r>
            <a:r>
              <a:rPr sz="1900" b="0" i="0" baseline="30000">
                <a:solidFill>
                  <a:srgbClr val="1C252B"/>
                </a:solidFill>
                <a:latin typeface="Cambria"/>
              </a:rPr>
              <a:t>−0.5</a:t>
            </a:r>
            <a:r>
              <a:rPr sz="1900" b="0" i="0">
                <a:solidFill>
                  <a:srgbClr val="1C252B"/>
                </a:solidFill>
                <a:latin typeface="Cambria"/>
              </a:rPr>
              <a:t> = 0.607</a:t>
            </a:r>
            <a:r>
              <a:rPr sz="1900" b="0" i="0">
                <a:solidFill>
                  <a:srgbClr val="1C252B"/>
                </a:solidFill>
                <a:latin typeface="Segoe UI"/>
              </a:rPr>
              <a:t> against </a:t>
            </a:r>
            <a:r>
              <a:rPr sz="1900" b="0" i="1">
                <a:solidFill>
                  <a:srgbClr val="1C252B"/>
                </a:solidFill>
                <a:latin typeface="Cambria"/>
              </a:rPr>
              <a:t>e</a:t>
            </a:r>
            <a:r>
              <a:rPr sz="1900" b="0" i="0" baseline="30000">
                <a:solidFill>
                  <a:srgbClr val="1C252B"/>
                </a:solidFill>
                <a:latin typeface="Cambria"/>
              </a:rPr>
              <a:t>−2</a:t>
            </a:r>
            <a:r>
              <a:rPr sz="1900" b="0" i="0">
                <a:solidFill>
                  <a:srgbClr val="1C252B"/>
                </a:solidFill>
                <a:latin typeface="Cambria"/>
              </a:rPr>
              <a:t> = 0.135</a:t>
            </a:r>
            <a:r>
              <a:rPr sz="1900" b="0" i="0">
                <a:solidFill>
                  <a:srgbClr val="1C252B"/>
                </a:solidFill>
                <a:latin typeface="Segoe UI"/>
              </a:rPr>
              <a:t> </a:t>
            </a:r>
            <a:r>
              <a:rPr sz="1900" b="0" i="0">
                <a:solidFill>
                  <a:srgbClr val="1C252B"/>
                </a:solidFill>
                <a:latin typeface="Cambria"/>
              </a:rPr>
              <a:t>⇒</a:t>
            </a:r>
            <a:r>
              <a:rPr sz="1900" b="0" i="0">
                <a:solidFill>
                  <a:srgbClr val="1C252B"/>
                </a:solidFill>
                <a:latin typeface="Segoe UI"/>
              </a:rPr>
              <a:t> </a:t>
            </a:r>
            <a:r>
              <a:rPr sz="1900" b="0" i="1">
                <a:solidFill>
                  <a:srgbClr val="1C252B"/>
                </a:solidFill>
                <a:latin typeface="Cambria"/>
              </a:rPr>
              <a:t>r</a:t>
            </a:r>
            <a:r>
              <a:rPr sz="1900" b="0" i="0" baseline="-25000">
                <a:solidFill>
                  <a:srgbClr val="1C252B"/>
                </a:solidFill>
                <a:latin typeface="Cambria"/>
              </a:rPr>
              <a:t>1</a:t>
            </a:r>
            <a:r>
              <a:rPr sz="1900" b="0" i="0">
                <a:solidFill>
                  <a:srgbClr val="1C252B"/>
                </a:solidFill>
                <a:latin typeface="Cambria"/>
              </a:rPr>
              <a:t> = 0.818</a:t>
            </a:r>
          </a:p>
          <a:p>
            <a:pPr algn="l" marL="212450" indent="-212450">
              <a:lnSpc>
                <a:spcPct val="104000"/>
              </a:lnSpc>
              <a:spcBef>
                <a:spcPts val="0"/>
              </a:spcBef>
              <a:spcAft>
                <a:spcPts val="0"/>
              </a:spcAft>
            </a:pPr>
            <a:r>
              <a:rPr sz="1900" b="1">
                <a:solidFill>
                  <a:srgbClr val="7D6608"/>
                </a:solidFill>
                <a:latin typeface="Segoe UI"/>
              </a:rPr>
              <a:t>•	</a:t>
            </a:r>
            <a:r>
              <a:rPr sz="1900" b="0" i="1">
                <a:solidFill>
                  <a:srgbClr val="1C252B"/>
                </a:solidFill>
                <a:latin typeface="Cambria"/>
              </a:rPr>
              <a:t>x</a:t>
            </a:r>
            <a:r>
              <a:rPr sz="1900" b="0" i="0">
                <a:solidFill>
                  <a:srgbClr val="1C252B"/>
                </a:solidFill>
                <a:latin typeface="Cambria"/>
              </a:rPr>
              <a:t> = 7, 8, 9</a:t>
            </a:r>
            <a:r>
              <a:rPr sz="1900" b="0" i="0">
                <a:solidFill>
                  <a:srgbClr val="1C252B"/>
                </a:solidFill>
                <a:latin typeface="Segoe UI"/>
              </a:rPr>
              <a:t>: component 2 is overwhelmingly likelier </a:t>
            </a:r>
            <a:r>
              <a:rPr sz="1900" b="0" i="0">
                <a:solidFill>
                  <a:srgbClr val="1C252B"/>
                </a:solidFill>
                <a:latin typeface="Cambria"/>
              </a:rPr>
              <a:t>⇒</a:t>
            </a:r>
            <a:r>
              <a:rPr sz="1900" b="0" i="0">
                <a:solidFill>
                  <a:srgbClr val="1C252B"/>
                </a:solidFill>
                <a:latin typeface="Segoe UI"/>
              </a:rPr>
              <a:t> </a:t>
            </a:r>
            <a:r>
              <a:rPr sz="1900" b="0" i="1">
                <a:solidFill>
                  <a:srgbClr val="1C252B"/>
                </a:solidFill>
                <a:latin typeface="Cambria"/>
              </a:rPr>
              <a:t>r</a:t>
            </a:r>
            <a:r>
              <a:rPr sz="1900" b="0" i="0" baseline="-25000">
                <a:solidFill>
                  <a:srgbClr val="1C252B"/>
                </a:solidFill>
                <a:latin typeface="Cambria"/>
              </a:rPr>
              <a:t>1</a:t>
            </a:r>
            <a:r>
              <a:rPr sz="1900" b="0" i="0">
                <a:solidFill>
                  <a:srgbClr val="1C252B"/>
                </a:solidFill>
                <a:latin typeface="Cambria"/>
              </a:rPr>
              <a:t> ≈ 0</a:t>
            </a:r>
          </a:p>
        </p:txBody>
      </p:sp>
      <p:sp>
        <p:nvSpPr>
          <p:cNvPr id="12" name="body-3"/>
          <p:cNvSpPr txBox="1"/>
          <p:nvPr/>
        </p:nvSpPr>
        <p:spPr>
          <a:xfrm>
            <a:off x="1042416" y="507232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M-step.</a:t>
            </a:r>
            <a:r>
              <a:rPr sz="1900" b="0" i="0">
                <a:solidFill>
                  <a:srgbClr val="1C252B"/>
                </a:solidFill>
                <a:latin typeface="Segoe UI"/>
              </a:rPr>
              <a:t> Responsibility-weighted means:</a:t>
            </a:r>
          </a:p>
        </p:txBody>
      </p:sp>
      <p:sp>
        <p:nvSpPr>
          <p:cNvPr id="13" name="body-3bar">
            <a:extLst>
              <a:ext uri="{C183D7F6-B498-43B3-948B-1728B52AA6E4}">
                <adec:decorative xmlns:adec="http://schemas.microsoft.com/office/drawing/2017/decorative" val="1"/>
              </a:ext>
            </a:extLst>
          </p:cNvPr>
          <p:cNvSpPr/>
          <p:nvPr/>
        </p:nvSpPr>
        <p:spPr>
          <a:xfrm>
            <a:off x="841248" y="509061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426709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35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35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animEffect transition="in" filter="fade">
                                      <p:cBhvr>
                                        <p:cTn id="23" dur="350"/>
                                        <p:tgtEl>
                                          <p:spTgt spid="1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xEl>
                                              <p:pRg st="3" end="3"/>
                                            </p:txEl>
                                          </p:spTgt>
                                        </p:tgtEl>
                                        <p:attrNameLst>
                                          <p:attrName>style.visibility</p:attrName>
                                        </p:attrNameLst>
                                      </p:cBhvr>
                                      <p:to>
                                        <p:strVal val="visible"/>
                                      </p:to>
                                    </p:set>
                                    <p:animEffect transition="in" filter="fade">
                                      <p:cBhvr>
                                        <p:cTn id="28" dur="350"/>
                                        <p:tgtEl>
                                          <p:spTgt spid="11">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right)">
                                      <p:cBhvr>
                                        <p:cTn id="33" dur="42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EM for Two Means (Mitchell’s Example, in Numbers)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127     </a:t>
            </a:r>
            <a:fld id="{21A2B68A-DE6F-4998-B229-9604D0D21C59}"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272591"/>
          </a:xfrm>
          <a:prstGeom prst="roundRect">
            <a:avLst>
              <a:gd name="adj" fmla="val 279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27259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mu_1 = \frac{0.999(1) + 0.989(2) + 0.818(3)}{0.999 + 0.989 + 0.818} = \frac{5.430}{2.806} = \mathbf{1.93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560618"/>
          </a:xfrm>
          <a:prstGeom prst="rect">
            <a:avLst/>
          </a:prstGeom>
        </p:spPr>
      </p:pic>
      <p:pic>
        <p:nvPicPr>
          <p:cNvPr id="10" name="body-1" descr="\mu_2 = \frac{0.001(1) + 0.011(2) + 0.182(3) + 7 + 8 + 9}{0.001 + 0.011 + 0.182 + 3} = \frac{24.570}{3.194} = \mathbf{7.693}"/>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2705013"/>
            <a:ext cx="10234879" cy="560618"/>
          </a:xfrm>
          <a:prstGeom prst="rect">
            <a:avLst/>
          </a:prstGeom>
        </p:spPr>
      </p:pic>
      <p:sp>
        <p:nvSpPr>
          <p:cNvPr id="11" name="body-2"/>
          <p:cNvSpPr txBox="1"/>
          <p:nvPr/>
        </p:nvSpPr>
        <p:spPr>
          <a:xfrm>
            <a:off x="1042416" y="339834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Note that </a:t>
            </a:r>
            <a:r>
              <a:rPr sz="1900" b="0" i="1">
                <a:solidFill>
                  <a:srgbClr val="1C252B"/>
                </a:solidFill>
                <a:latin typeface="Cambria"/>
              </a:rPr>
              <a:t>x</a:t>
            </a:r>
            <a:r>
              <a:rPr sz="1900" b="0" i="0">
                <a:solidFill>
                  <a:srgbClr val="1C252B"/>
                </a:solidFill>
                <a:latin typeface="Cambria"/>
              </a:rPr>
              <a:t> = 3</a:t>
            </a:r>
            <a:r>
              <a:rPr sz="1900" b="0" i="0">
                <a:solidFill>
                  <a:srgbClr val="1C252B"/>
                </a:solidFill>
                <a:latin typeface="Segoe UI"/>
              </a:rPr>
              <a:t> contributes 18% of itself to component 2: a </a:t>
            </a:r>
            <a:r>
              <a:rPr sz="1900" b="0" i="1">
                <a:solidFill>
                  <a:srgbClr val="1C252B"/>
                </a:solidFill>
                <a:latin typeface="Segoe UI"/>
              </a:rPr>
              <a:t>soft</a:t>
            </a:r>
            <a:r>
              <a:rPr sz="1900" b="0" i="0">
                <a:solidFill>
                  <a:srgbClr val="1C252B"/>
                </a:solidFill>
                <a:latin typeface="Segoe UI"/>
              </a:rPr>
              <a:t> assignment.</a:t>
            </a:r>
          </a:p>
        </p:txBody>
      </p:sp>
      <p:sp>
        <p:nvSpPr>
          <p:cNvPr id="12" name="body-3"/>
          <p:cNvSpPr txBox="1"/>
          <p:nvPr/>
        </p:nvSpPr>
        <p:spPr>
          <a:xfrm>
            <a:off x="1042416" y="3832204"/>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Iteration 2</a:t>
            </a:r>
            <a:r>
              <a:rPr sz="1900" b="0" i="0">
                <a:solidFill>
                  <a:srgbClr val="1C252B"/>
                </a:solidFill>
                <a:latin typeface="Segoe UI"/>
              </a:rPr>
              <a:t> moves the means to </a:t>
            </a:r>
            <a:r>
              <a:rPr sz="1900" b="0" i="0">
                <a:solidFill>
                  <a:srgbClr val="1C252B"/>
                </a:solidFill>
                <a:latin typeface="Cambria"/>
              </a:rPr>
              <a:t>2.000</a:t>
            </a:r>
            <a:r>
              <a:rPr sz="1900" b="0" i="0">
                <a:solidFill>
                  <a:srgbClr val="1C252B"/>
                </a:solidFill>
                <a:latin typeface="Segoe UI"/>
              </a:rPr>
              <a:t> and </a:t>
            </a:r>
            <a:r>
              <a:rPr sz="1900" b="0" i="0">
                <a:solidFill>
                  <a:srgbClr val="1C252B"/>
                </a:solidFill>
                <a:latin typeface="Cambria"/>
              </a:rPr>
              <a:t>8.000</a:t>
            </a:r>
            <a:r>
              <a:rPr sz="1900" b="0" i="0">
                <a:solidFill>
                  <a:srgbClr val="1C252B"/>
                </a:solidFill>
                <a:latin typeface="Segoe UI"/>
              </a:rPr>
              <a:t>, after which nothing changes. The log-likelihood of the data rises from </a:t>
            </a:r>
            <a:r>
              <a:rPr sz="1900" b="0" i="0">
                <a:solidFill>
                  <a:srgbClr val="1C252B"/>
                </a:solidFill>
                <a:latin typeface="Cambria"/>
              </a:rPr>
              <a:t>−24.96</a:t>
            </a:r>
            <a:r>
              <a:rPr sz="1900" b="0" i="0">
                <a:solidFill>
                  <a:srgbClr val="1C252B"/>
                </a:solidFill>
                <a:latin typeface="Segoe UI"/>
              </a:rPr>
              <a:t> at the starting means to </a:t>
            </a:r>
            <a:r>
              <a:rPr sz="1900" b="0" i="0">
                <a:solidFill>
                  <a:srgbClr val="1C252B"/>
                </a:solidFill>
                <a:latin typeface="Cambria"/>
              </a:rPr>
              <a:t>−11.82</a:t>
            </a:r>
            <a:r>
              <a:rPr sz="1900" b="0" i="0">
                <a:solidFill>
                  <a:srgbClr val="1C252B"/>
                </a:solidFill>
                <a:latin typeface="Segoe UI"/>
              </a:rPr>
              <a:t> after one iteration and </a:t>
            </a:r>
            <a:r>
              <a:rPr sz="1900" b="0" i="0">
                <a:solidFill>
                  <a:srgbClr val="1C252B"/>
                </a:solidFill>
                <a:latin typeface="Cambria"/>
              </a:rPr>
              <a:t>−11.67</a:t>
            </a:r>
            <a:r>
              <a:rPr sz="1900" b="0" i="0">
                <a:solidFill>
                  <a:srgbClr val="1C252B"/>
                </a:solidFill>
                <a:latin typeface="Segoe UI"/>
              </a:rPr>
              <a:t> at convergence. EM has found the two groups {1, 2, 3} and {7, 8, 9}.</a:t>
            </a:r>
          </a:p>
        </p:txBody>
      </p:sp>
      <p:sp>
        <p:nvSpPr>
          <p:cNvPr id="13" name="body-3bar">
            <a:extLst>
              <a:ext uri="{C183D7F6-B498-43B3-948B-1728B52AA6E4}">
                <adec:decorative xmlns:adec="http://schemas.microsoft.com/office/drawing/2017/decorative" val="1"/>
              </a:ext>
            </a:extLst>
          </p:cNvPr>
          <p:cNvSpPr/>
          <p:nvPr/>
        </p:nvSpPr>
        <p:spPr>
          <a:xfrm>
            <a:off x="841248" y="3850492"/>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457188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right)">
                                      <p:cBhvr>
                                        <p:cTn id="18" dur="42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EM on the worked example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17.2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127     </a:t>
            </a:r>
            <a:fld id="{41E69321-6F81-46F3-8D71-3D275D0F1F3B}" type="slidenum">
              <a:rPr lang="en-GB" sz="1000">
                <a:solidFill>
                  <a:srgbClr val="8795A1"/>
                </a:solidFill>
                <a:latin typeface="Segoe UI"/>
              </a:rPr>
              <a:t>16</a:t>
            </a:fld>
          </a:p>
        </p:txBody>
      </p:sp>
      <p:pic>
        <p:nvPicPr>
          <p:cNvPr id="6" name="!!figure" descr="Figure 17.2. EM on the worked example. Each point is coloured by its responsibilities; x = 3 starts out shared between the components. Two iterations move the second Gaussian onto the group it explain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4957" y="1737360"/>
            <a:ext cx="10121780"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Each point is coloured by its responsibilities; x = 3 starts out shared between the components. Two iterations move the second Gaussian onto the group it explains.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k-Means Is EM With Hard Assignments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127     </a:t>
            </a:r>
            <a:fld id="{2BBB0299-CB55-42BE-B1DC-37FDC380F224}"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Replace the E-step’s probabilities by a hard choice — responsibility 1 for the nearest mean, 0 for the others — and the M-step becomes “each mean is the average of its assigned points”. That is exactly </a:t>
            </a:r>
            <a:r>
              <a:rPr sz="2300" b="0" i="1">
                <a:solidFill>
                  <a:srgbClr val="1C252B"/>
                </a:solidFill>
                <a:latin typeface="Cambria"/>
              </a:rPr>
              <a:t>k</a:t>
            </a:r>
            <a:r>
              <a:rPr sz="2300" b="0" i="0">
                <a:solidFill>
                  <a:srgbClr val="1C252B"/>
                </a:solidFill>
                <a:latin typeface="Segoe UI"/>
              </a:rPr>
              <a:t>-means (Chapter 15). EM for Gaussian mixtures is the soft, probabilistic generalisation: clusters may overlap, may have different sizes and elongated shapes (through </a:t>
            </a:r>
            <a:r>
              <a:rPr sz="2300" b="0" i="0">
                <a:solidFill>
                  <a:srgbClr val="1C252B"/>
                </a:solidFill>
                <a:latin typeface="Cambria"/>
              </a:rPr>
              <a:t>Σ</a:t>
            </a:r>
            <a:r>
              <a:rPr sz="2300" b="0" i="1" baseline="-25000">
                <a:solidFill>
                  <a:srgbClr val="1C252B"/>
                </a:solidFill>
                <a:latin typeface="Cambria"/>
              </a:rPr>
              <a:t>j</a:t>
            </a:r>
            <a:r>
              <a:rPr sz="2300" b="0" i="0">
                <a:solidFill>
                  <a:srgbClr val="1C252B"/>
                </a:solidFill>
                <a:latin typeface="Segoe UI"/>
              </a:rPr>
              <a:t>), and each example gets a probability of membership instead of a verdict.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18147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EM Algorithm</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17.3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§17.4  ·  Handout p. 127     </a:t>
            </a:r>
            <a:fld id="{78649CD7-748B-4B0E-9D1B-E5F3FAB4C246}" type="slidenum">
              <a:rPr lang="en-GB" sz="1000">
                <a:solidFill>
                  <a:srgbClr val="8795A1"/>
                </a:solidFill>
                <a:latin typeface="Segoe UI"/>
              </a:rPr>
              <a:t>18</a:t>
            </a:fld>
          </a:p>
        </p:txBody>
      </p:sp>
      <p:pic>
        <p:nvPicPr>
          <p:cNvPr id="6" name="!!figure" descr="Figure 17.3. The EM loop. Whenever a model would be easy to fit if some variable were observed, EM fills that variable in with probabilities and fits as if it were observe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38205"/>
            <a:ext cx="10874959" cy="2592819"/>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EM loop. Whenever a model would be easy to fit if some variable were observed, EM fills that variable in with probabilities and fits as if it were observed.</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48626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EM With Labelled and Unlabelled Data</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17.5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17.1   Few Labels, Many Examples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17.2   Self-Training</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17.3   Mixture Models and Hidden Variables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17.4   The EM Algorithm</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17.5   EM With Labelled and Unlabelled Data</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§17.5     </a:t>
            </a:r>
            <a:fld id="{50703DF2-70F7-41DE-8B2D-031EB52517A9}" type="slidenum">
              <a:rPr lang="en-GB" sz="1000">
                <a:solidFill>
                  <a:srgbClr val="8795A1"/>
                </a:solidFill>
                <a:latin typeface="Segoe UI"/>
              </a:rPr>
              <a:t>19</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79105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EM With Labelled and Unlabelled Data</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128     </a:t>
            </a:r>
            <a:fld id="{FC93D0EA-92C1-4977-94C7-B8A05B82391D}"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25772"/>
          </a:xfrm>
          <a:prstGeom prst="roundRect">
            <a:avLst>
              <a:gd name="adj" fmla="val 2216"/>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2577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86891"/>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This is the method the HEC outline names. Nigam, McCallum, Thrun and Mitchell (2000) used it to classify text documents from a handful of labelled ones and thousands of unlabelled ones — exactly the position of a ticket tracker with two hundred triaged tickets and ten thousand untriaged. The recipe:</a:t>
            </a:r>
          </a:p>
        </p:txBody>
      </p:sp>
      <p:sp>
        <p:nvSpPr>
          <p:cNvPr id="10" name="body-1"/>
          <p:cNvSpPr txBox="1"/>
          <p:nvPr/>
        </p:nvSpPr>
        <p:spPr>
          <a:xfrm>
            <a:off x="1060704" y="3315157"/>
            <a:ext cx="10161727" cy="2282799"/>
          </a:xfrm>
          <a:prstGeom prst="rect">
            <a:avLst/>
          </a:prstGeom>
          <a:noFill/>
        </p:spPr>
        <p:txBody>
          <a:bodyPr wrap="square" anchor="t" lIns="0" rIns="0" tIns="0" bIns="0">
            <a:noAutofit/>
          </a:bodyPr>
          <a:lstStyle/>
          <a:p>
            <a:pPr algn="l" marL="434207" indent="-434207">
              <a:lnSpc>
                <a:spcPct val="104000"/>
              </a:lnSpc>
              <a:spcBef>
                <a:spcPts val="0"/>
              </a:spcBef>
              <a:spcAft>
                <a:spcPts val="630"/>
              </a:spcAft>
            </a:pPr>
            <a:r>
              <a:rPr sz="1800" b="1">
                <a:solidFill>
                  <a:srgbClr val="1A5276"/>
                </a:solidFill>
                <a:latin typeface="Segoe UI"/>
              </a:rPr>
              <a:t>1.	</a:t>
            </a:r>
            <a:r>
              <a:rPr sz="1800" b="0" i="0">
                <a:solidFill>
                  <a:srgbClr val="1C252B"/>
                </a:solidFill>
                <a:latin typeface="Segoe UI"/>
              </a:rPr>
              <a:t>Fit the model — naive Bayes for text, or a Gaussian per class — on the labelled examples alone.</a:t>
            </a:r>
          </a:p>
          <a:p>
            <a:pPr algn="l" marL="434207" indent="-434207">
              <a:lnSpc>
                <a:spcPct val="104000"/>
              </a:lnSpc>
              <a:spcBef>
                <a:spcPts val="0"/>
              </a:spcBef>
              <a:spcAft>
                <a:spcPts val="630"/>
              </a:spcAft>
            </a:pPr>
            <a:r>
              <a:rPr sz="1800" b="1">
                <a:solidFill>
                  <a:srgbClr val="1A5276"/>
                </a:solidFill>
                <a:latin typeface="Segoe UI"/>
              </a:rPr>
              <a:t>2.	</a:t>
            </a:r>
            <a:r>
              <a:rPr sz="1800" b="1" i="0">
                <a:solidFill>
                  <a:srgbClr val="1A5276"/>
                </a:solidFill>
                <a:latin typeface="Segoe UI"/>
              </a:rPr>
              <a:t>E-step:</a:t>
            </a:r>
            <a:r>
              <a:rPr sz="1800" b="0" i="0">
                <a:solidFill>
                  <a:srgbClr val="1C252B"/>
                </a:solidFill>
                <a:latin typeface="Segoe UI"/>
              </a:rPr>
              <a:t> give each </a:t>
            </a:r>
            <a:r>
              <a:rPr sz="1800" b="0" i="1">
                <a:solidFill>
                  <a:srgbClr val="1C252B"/>
                </a:solidFill>
                <a:latin typeface="Segoe UI"/>
              </a:rPr>
              <a:t>unlabelled</a:t>
            </a:r>
            <a:r>
              <a:rPr sz="1800" b="0" i="0">
                <a:solidFill>
                  <a:srgbClr val="1C252B"/>
                </a:solidFill>
                <a:latin typeface="Segoe UI"/>
              </a:rPr>
              <a:t> example a probability for each class from the current model. Labelled examples keep their known labels (responsibility 1 for their class, 0 for the others).</a:t>
            </a:r>
          </a:p>
          <a:p>
            <a:pPr algn="l" marL="434207" indent="-434207">
              <a:lnSpc>
                <a:spcPct val="104000"/>
              </a:lnSpc>
              <a:spcBef>
                <a:spcPts val="0"/>
              </a:spcBef>
              <a:spcAft>
                <a:spcPts val="630"/>
              </a:spcAft>
            </a:pPr>
            <a:r>
              <a:rPr sz="1800" b="1">
                <a:solidFill>
                  <a:srgbClr val="1A5276"/>
                </a:solidFill>
                <a:latin typeface="Segoe UI"/>
              </a:rPr>
              <a:t>3.	</a:t>
            </a:r>
            <a:r>
              <a:rPr sz="1800" b="1" i="0">
                <a:solidFill>
                  <a:srgbClr val="1A5276"/>
                </a:solidFill>
                <a:latin typeface="Segoe UI"/>
              </a:rPr>
              <a:t>M-step:</a:t>
            </a:r>
            <a:r>
              <a:rPr sz="1800" b="0" i="0">
                <a:solidFill>
                  <a:srgbClr val="1C252B"/>
                </a:solidFill>
                <a:latin typeface="Segoe UI"/>
              </a:rPr>
              <a:t> refit the model on all examples, labelled ones counting in full and unlabelled ones fractionally, by their responsibilities.</a:t>
            </a:r>
          </a:p>
          <a:p>
            <a:pPr algn="l" marL="434207" indent="-434207">
              <a:lnSpc>
                <a:spcPct val="104000"/>
              </a:lnSpc>
              <a:spcBef>
                <a:spcPts val="0"/>
              </a:spcBef>
              <a:spcAft>
                <a:spcPts val="0"/>
              </a:spcAft>
            </a:pPr>
            <a:r>
              <a:rPr sz="1800" b="1">
                <a:solidFill>
                  <a:srgbClr val="1A5276"/>
                </a:solidFill>
                <a:latin typeface="Segoe UI"/>
              </a:rPr>
              <a:t>4.	</a:t>
            </a:r>
            <a:r>
              <a:rPr sz="1800" b="0" i="0">
                <a:solidFill>
                  <a:srgbClr val="1C252B"/>
                </a:solidFill>
                <a:latin typeface="Segoe UI"/>
              </a:rPr>
              <a:t>Repeat until the parameters settle.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Two Labels and Four Unlabelled Points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128     </a:t>
            </a:r>
            <a:fld id="{0D11B7A3-6EEB-4ACD-B70E-058CAA37331E}"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92066"/>
          </a:xfrm>
          <a:prstGeom prst="roundRect">
            <a:avLst>
              <a:gd name="adj" fmla="val 208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9206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six tickets of the previous example, but now an engineer has checked two: the 3-hour ticket was a quick fix (class A) and the 7-hour ticket an investigation (class B); the rest are unlabelled.</a:t>
            </a:r>
          </a:p>
        </p:txBody>
      </p:sp>
      <p:sp>
        <p:nvSpPr>
          <p:cNvPr id="10"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Labelled data alone</a:t>
            </a:r>
            <a:r>
              <a:rPr sz="1900" b="0" i="0">
                <a:solidFill>
                  <a:srgbClr val="1C252B"/>
                </a:solidFill>
                <a:latin typeface="Segoe UI"/>
              </a:rPr>
              <a:t> gives </a:t>
            </a:r>
            <a:r>
              <a:rPr sz="1900" b="0" i="0">
                <a:solidFill>
                  <a:srgbClr val="1C252B"/>
                </a:solidFill>
                <a:latin typeface="Cambria"/>
              </a:rPr>
              <a:t>μ</a:t>
            </a:r>
            <a:r>
              <a:rPr sz="1900" b="0" i="1" baseline="-25000">
                <a:solidFill>
                  <a:srgbClr val="1C252B"/>
                </a:solidFill>
                <a:latin typeface="Cambria"/>
              </a:rPr>
              <a:t>A</a:t>
            </a:r>
            <a:r>
              <a:rPr sz="1900" b="0" i="0">
                <a:solidFill>
                  <a:srgbClr val="1C252B"/>
                </a:solidFill>
                <a:latin typeface="Cambria"/>
              </a:rPr>
              <a:t> = 3</a:t>
            </a:r>
            <a:r>
              <a:rPr sz="1900" b="0" i="0">
                <a:solidFill>
                  <a:srgbClr val="1C252B"/>
                </a:solidFill>
                <a:latin typeface="Segoe UI"/>
              </a:rPr>
              <a:t>, </a:t>
            </a:r>
            <a:r>
              <a:rPr sz="1900" b="0" i="0">
                <a:solidFill>
                  <a:srgbClr val="1C252B"/>
                </a:solidFill>
                <a:latin typeface="Cambria"/>
              </a:rPr>
              <a:t>μ</a:t>
            </a:r>
            <a:r>
              <a:rPr sz="1900" b="0" i="1" baseline="-25000">
                <a:solidFill>
                  <a:srgbClr val="1C252B"/>
                </a:solidFill>
                <a:latin typeface="Cambria"/>
              </a:rPr>
              <a:t>B</a:t>
            </a:r>
            <a:r>
              <a:rPr sz="1900" b="0" i="0">
                <a:solidFill>
                  <a:srgbClr val="1C252B"/>
                </a:solidFill>
                <a:latin typeface="Cambria"/>
              </a:rPr>
              <a:t> = 7</a:t>
            </a:r>
            <a:r>
              <a:rPr sz="1900" b="0" i="0">
                <a:solidFill>
                  <a:srgbClr val="1C252B"/>
                </a:solidFill>
                <a:latin typeface="Segoe UI"/>
              </a:rPr>
              <a:t>, and a boundary at 5.</a:t>
            </a:r>
          </a:p>
        </p:txBody>
      </p:sp>
      <p:sp>
        <p:nvSpPr>
          <p:cNvPr id="11" name="body-2"/>
          <p:cNvSpPr txBox="1"/>
          <p:nvPr/>
        </p:nvSpPr>
        <p:spPr>
          <a:xfrm>
            <a:off x="1042416" y="348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E-step.</a:t>
            </a:r>
            <a:r>
              <a:rPr sz="1900" b="0" i="0">
                <a:solidFill>
                  <a:srgbClr val="1C252B"/>
                </a:solidFill>
                <a:latin typeface="Segoe UI"/>
              </a:rPr>
              <a:t> </a:t>
            </a:r>
            <a:r>
              <a:rPr sz="1900" b="0" i="1">
                <a:solidFill>
                  <a:srgbClr val="1C252B"/>
                </a:solidFill>
                <a:latin typeface="Cambria"/>
              </a:rPr>
              <a:t>x</a:t>
            </a:r>
            <a:r>
              <a:rPr sz="1900" b="0" i="0">
                <a:solidFill>
                  <a:srgbClr val="1C252B"/>
                </a:solidFill>
                <a:latin typeface="Cambria"/>
              </a:rPr>
              <a:t> = 1</a:t>
            </a:r>
            <a:r>
              <a:rPr sz="1900" b="0" i="0">
                <a:solidFill>
                  <a:srgbClr val="1C252B"/>
                </a:solidFill>
                <a:latin typeface="Segoe UI"/>
              </a:rPr>
              <a:t> and </a:t>
            </a:r>
            <a:r>
              <a:rPr sz="1900" b="0" i="1">
                <a:solidFill>
                  <a:srgbClr val="1C252B"/>
                </a:solidFill>
                <a:latin typeface="Cambria"/>
              </a:rPr>
              <a:t>x</a:t>
            </a:r>
            <a:r>
              <a:rPr sz="1900" b="0" i="0">
                <a:solidFill>
                  <a:srgbClr val="1C252B"/>
                </a:solidFill>
                <a:latin typeface="Cambria"/>
              </a:rPr>
              <a:t> = 2</a:t>
            </a:r>
            <a:r>
              <a:rPr sz="1900" b="0" i="0">
                <a:solidFill>
                  <a:srgbClr val="1C252B"/>
                </a:solidFill>
                <a:latin typeface="Segoe UI"/>
              </a:rPr>
              <a:t> are far likelier under A, and </a:t>
            </a:r>
            <a:r>
              <a:rPr sz="1900" b="0" i="1">
                <a:solidFill>
                  <a:srgbClr val="1C252B"/>
                </a:solidFill>
                <a:latin typeface="Cambria"/>
              </a:rPr>
              <a:t>x</a:t>
            </a:r>
            <a:r>
              <a:rPr sz="1900" b="0" i="0">
                <a:solidFill>
                  <a:srgbClr val="1C252B"/>
                </a:solidFill>
                <a:latin typeface="Cambria"/>
              </a:rPr>
              <a:t> = 8</a:t>
            </a:r>
            <a:r>
              <a:rPr sz="1900" b="0" i="0">
                <a:solidFill>
                  <a:srgbClr val="1C252B"/>
                </a:solidFill>
                <a:latin typeface="Segoe UI"/>
              </a:rPr>
              <a:t> and </a:t>
            </a:r>
            <a:r>
              <a:rPr sz="1900" b="0" i="1">
                <a:solidFill>
                  <a:srgbClr val="1C252B"/>
                </a:solidFill>
                <a:latin typeface="Cambria"/>
              </a:rPr>
              <a:t>x</a:t>
            </a:r>
            <a:r>
              <a:rPr sz="1900" b="0" i="0">
                <a:solidFill>
                  <a:srgbClr val="1C252B"/>
                </a:solidFill>
                <a:latin typeface="Cambria"/>
              </a:rPr>
              <a:t> = 9</a:t>
            </a:r>
            <a:r>
              <a:rPr sz="1900" b="0" i="0">
                <a:solidFill>
                  <a:srgbClr val="1C252B"/>
                </a:solidFill>
                <a:latin typeface="Segoe UI"/>
              </a:rPr>
              <a:t> under B; </a:t>
            </a:r>
            <a:r>
              <a:rPr sz="1900" b="0" i="1">
                <a:solidFill>
                  <a:srgbClr val="1C252B"/>
                </a:solidFill>
                <a:latin typeface="Cambria"/>
              </a:rPr>
              <a:t>x</a:t>
            </a:r>
            <a:r>
              <a:rPr sz="1900" b="0" i="0">
                <a:solidFill>
                  <a:srgbClr val="1C252B"/>
                </a:solidFill>
                <a:latin typeface="Cambria"/>
              </a:rPr>
              <a:t> = 3</a:t>
            </a:r>
            <a:r>
              <a:rPr sz="1900" b="0" i="0">
                <a:solidFill>
                  <a:srgbClr val="1C252B"/>
                </a:solidFill>
                <a:latin typeface="Segoe UI"/>
              </a:rPr>
              <a:t> and </a:t>
            </a:r>
            <a:r>
              <a:rPr sz="1900" b="0" i="1">
                <a:solidFill>
                  <a:srgbClr val="1C252B"/>
                </a:solidFill>
                <a:latin typeface="Cambria"/>
              </a:rPr>
              <a:t>x</a:t>
            </a:r>
            <a:r>
              <a:rPr sz="1900" b="0" i="0">
                <a:solidFill>
                  <a:srgbClr val="1C252B"/>
                </a:solidFill>
                <a:latin typeface="Cambria"/>
              </a:rPr>
              <a:t> = 7</a:t>
            </a:r>
            <a:r>
              <a:rPr sz="1900" b="0" i="0">
                <a:solidFill>
                  <a:srgbClr val="1C252B"/>
                </a:solidFill>
                <a:latin typeface="Segoe UI"/>
              </a:rPr>
              <a:t> are clamped to their labels.</a:t>
            </a:r>
          </a:p>
        </p:txBody>
      </p:sp>
      <p:sp>
        <p:nvSpPr>
          <p:cNvPr id="12" name="body-3"/>
          <p:cNvSpPr txBox="1"/>
          <p:nvPr/>
        </p:nvSpPr>
        <p:spPr>
          <a:xfrm>
            <a:off x="1042416" y="4216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M-step.</a:t>
            </a:r>
            <a:r>
              <a:rPr sz="1900" b="0" i="0">
                <a:solidFill>
                  <a:srgbClr val="1C252B"/>
                </a:solidFill>
                <a:latin typeface="Segoe UI"/>
              </a:rPr>
              <a:t> </a:t>
            </a:r>
            <a:r>
              <a:rPr sz="1900" b="0" i="0">
                <a:solidFill>
                  <a:srgbClr val="1C252B"/>
                </a:solidFill>
                <a:latin typeface="Cambria"/>
              </a:rPr>
              <a:t>μ</a:t>
            </a:r>
            <a:r>
              <a:rPr sz="1900" b="0" i="1" baseline="-25000">
                <a:solidFill>
                  <a:srgbClr val="1C252B"/>
                </a:solidFill>
                <a:latin typeface="Cambria"/>
              </a:rPr>
              <a:t>A</a:t>
            </a:r>
            <a:r>
              <a:rPr sz="1900" b="0" i="0">
                <a:solidFill>
                  <a:srgbClr val="1C252B"/>
                </a:solidFill>
                <a:latin typeface="Cambria"/>
              </a:rPr>
              <a:t> = (1 + 2 + 3)/3 = 2</a:t>
            </a:r>
            <a:r>
              <a:rPr sz="1900" b="0" i="0">
                <a:solidFill>
                  <a:srgbClr val="1C252B"/>
                </a:solidFill>
                <a:latin typeface="Segoe UI"/>
              </a:rPr>
              <a:t> and </a:t>
            </a:r>
            <a:r>
              <a:rPr sz="1900" b="0" i="0">
                <a:solidFill>
                  <a:srgbClr val="1C252B"/>
                </a:solidFill>
                <a:latin typeface="Cambria"/>
              </a:rPr>
              <a:t>μ</a:t>
            </a:r>
            <a:r>
              <a:rPr sz="1900" b="0" i="1" baseline="-25000">
                <a:solidFill>
                  <a:srgbClr val="1C252B"/>
                </a:solidFill>
                <a:latin typeface="Cambria"/>
              </a:rPr>
              <a:t>B</a:t>
            </a:r>
            <a:r>
              <a:rPr sz="1900" b="0" i="0">
                <a:solidFill>
                  <a:srgbClr val="1C252B"/>
                </a:solidFill>
                <a:latin typeface="Cambria"/>
              </a:rPr>
              <a:t> = (7 + 8 + 9)/3 = 8</a:t>
            </a:r>
            <a:r>
              <a:rPr sz="1900" b="0" i="0">
                <a:solidFill>
                  <a:srgbClr val="1C252B"/>
                </a:solidFill>
                <a:latin typeface="Segoe UI"/>
              </a:rPr>
              <a:t>, to within a thousandth. The next iteration changes nothing.</a:t>
            </a:r>
          </a:p>
        </p:txBody>
      </p:sp>
      <p:sp>
        <p:nvSpPr>
          <p:cNvPr id="13" name="body-4"/>
          <p:cNvSpPr txBox="1"/>
          <p:nvPr/>
        </p:nvSpPr>
        <p:spPr>
          <a:xfrm>
            <a:off x="1042416" y="495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class means moved from 3 and 7 to </a:t>
            </a:r>
            <a:r>
              <a:rPr sz="1900" b="1" i="0">
                <a:solidFill>
                  <a:srgbClr val="1C252B"/>
                </a:solidFill>
                <a:latin typeface="Segoe UI"/>
              </a:rPr>
              <a:t>2 and 8</a:t>
            </a:r>
            <a:r>
              <a:rPr sz="1900" b="0" i="0">
                <a:solidFill>
                  <a:srgbClr val="1C252B"/>
                </a:solidFill>
                <a:latin typeface="Segoe UI"/>
              </a:rPr>
              <a:t> using points nobody labelled. Here the boundary stays at 5, but it would not if the two groups had different spreads or sizes — and in higher dimensions the direction of the boundary moves too.</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640063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128     </a:t>
            </a:r>
            <a:fld id="{438A9658-7303-44C8-BAEE-B1B1582E41C5}" type="slidenum">
              <a:rPr lang="en-GB" sz="1000">
                <a:solidFill>
                  <a:srgbClr val="8795A1"/>
                </a:solidFill>
                <a:latin typeface="Segoe UI"/>
              </a:rPr>
              <a:t>22</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Skipping the labelled-only baseline.</a:t>
            </a:r>
            <a:r>
              <a:rPr sz="2100" b="0" i="0">
                <a:solidFill>
                  <a:srgbClr val="1C252B"/>
                </a:solidFill>
                <a:latin typeface="Segoe UI"/>
              </a:rPr>
              <a:t> Unlabelled data can make a model worse; prove that it helped.</a:t>
            </a:r>
          </a:p>
        </p:txBody>
      </p:sp>
      <p:sp>
        <p:nvSpPr>
          <p:cNvPr id="10" name="!!pb1">
            <a:extLst>
              <a:ext uri="{C183D7F6-B498-43B3-948B-1728B52AA6E4}">
                <adec:decorative xmlns:adec="http://schemas.microsoft.com/office/drawing/2017/decorative" val="1"/>
              </a:ext>
            </a:extLst>
          </p:cNvPr>
          <p:cNvSpPr/>
          <p:nvPr/>
        </p:nvSpPr>
        <p:spPr>
          <a:xfrm>
            <a:off x="658368" y="26224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453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604211"/>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Evaluating on pseudo-labels.</a:t>
            </a:r>
            <a:r>
              <a:rPr sz="2100" b="0" i="0">
                <a:solidFill>
                  <a:srgbClr val="1C252B"/>
                </a:solidFill>
                <a:latin typeface="Segoe UI"/>
              </a:rPr>
              <a:t> Test only on examples with genuine labels, set aside before training.</a:t>
            </a:r>
          </a:p>
        </p:txBody>
      </p:sp>
      <p:sp>
        <p:nvSpPr>
          <p:cNvPr id="13" name="!!pb2">
            <a:extLst>
              <a:ext uri="{C183D7F6-B498-43B3-948B-1728B52AA6E4}">
                <adec:decorative xmlns:adec="http://schemas.microsoft.com/office/drawing/2017/decorative" val="1"/>
              </a:ext>
            </a:extLst>
          </p:cNvPr>
          <p:cNvSpPr/>
          <p:nvPr/>
        </p:nvSpPr>
        <p:spPr>
          <a:xfrm>
            <a:off x="658368" y="348935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51221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71062"/>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A low self-training threshold.</a:t>
            </a:r>
            <a:r>
              <a:rPr sz="2100" b="0" i="0">
                <a:solidFill>
                  <a:srgbClr val="1C252B"/>
                </a:solidFill>
                <a:latin typeface="Segoe UI"/>
              </a:rPr>
              <a:t> Early mistakes become permanent labels.</a:t>
            </a:r>
          </a:p>
        </p:txBody>
      </p:sp>
      <p:sp>
        <p:nvSpPr>
          <p:cNvPr id="16" name="!!pb3">
            <a:extLst>
              <a:ext uri="{C183D7F6-B498-43B3-948B-1728B52AA6E4}">
                <adec:decorative xmlns:adec="http://schemas.microsoft.com/office/drawing/2017/decorative" val="1"/>
              </a:ext>
            </a:extLst>
          </p:cNvPr>
          <p:cNvSpPr/>
          <p:nvPr/>
        </p:nvSpPr>
        <p:spPr>
          <a:xfrm>
            <a:off x="658368" y="405627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07913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03799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Running EM once.</a:t>
            </a:r>
            <a:r>
              <a:rPr sz="2100" b="0" i="0">
                <a:solidFill>
                  <a:srgbClr val="1C252B"/>
                </a:solidFill>
                <a:latin typeface="Segoe UI"/>
              </a:rPr>
              <a:t> It finds a local maximum; start it several times and keep the highest likelihood.</a:t>
            </a:r>
          </a:p>
        </p:txBody>
      </p:sp>
      <p:sp>
        <p:nvSpPr>
          <p:cNvPr id="19" name="!!pb4">
            <a:extLst>
              <a:ext uri="{C183D7F6-B498-43B3-948B-1728B52AA6E4}">
                <adec:decorative xmlns:adec="http://schemas.microsoft.com/office/drawing/2017/decorative" val="1"/>
              </a:ext>
            </a:extLst>
          </p:cNvPr>
          <p:cNvSpPr/>
          <p:nvPr/>
        </p:nvSpPr>
        <p:spPr>
          <a:xfrm>
            <a:off x="658368" y="492312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94598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904841"/>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A mixture with the wrong shape.</a:t>
            </a:r>
            <a:r>
              <a:rPr sz="2100" b="0" i="0">
                <a:solidFill>
                  <a:srgbClr val="1C252B"/>
                </a:solidFill>
                <a:latin typeface="Segoe UI"/>
              </a:rPr>
              <a:t> If the classes are not roughly Gaussian clusters, the mixture’s components will not line up with them.</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70543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EM by Hand, Then Fifty Labels and a Thousand Guesses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128     </a:t>
            </a:r>
            <a:fld id="{66876C4E-593E-49BE-BC73-A19FD57D0048}" type="slidenum">
              <a:rPr lang="en-GB" sz="1000">
                <a:solidFill>
                  <a:srgbClr val="8795A1"/>
                </a:solidFill>
                <a:latin typeface="Segoe UI"/>
              </a:rPr>
              <a:t>23</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Part 3 uses 1,800 synthetic tickets, each described by ten numeric features of its text and history, with four possible root causes; only 50 of the training tickets are labelled.</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104900"/>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EM for two Gaussian means (sigma = 1 known, equal weights)</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Two labels, four unlabelled points</a:t>
            </a:r>
          </a:p>
          <a:p>
            <a:pPr algn="l" marL="459473" indent="-459473">
              <a:lnSpc>
                <a:spcPct val="100000"/>
              </a:lnSpc>
              <a:spcBef>
                <a:spcPts val="0"/>
              </a:spcBef>
              <a:spcAft>
                <a:spcPts val="0"/>
              </a:spcAft>
            </a:pPr>
            <a:r>
              <a:rPr sz="1900" b="1">
                <a:solidFill>
                  <a:srgbClr val="117A65"/>
                </a:solidFill>
                <a:latin typeface="Segoe UI"/>
              </a:rPr>
              <a:t>3.	</a:t>
            </a:r>
            <a:r>
              <a:rPr sz="1900" b="0" i="0">
                <a:solidFill>
                  <a:srgbClr val="1C252B"/>
                </a:solidFill>
                <a:latin typeface="Segoe UI"/>
              </a:rPr>
              <a:t>Self-training with 50 labels out of 1,260</a:t>
            </a:r>
          </a:p>
        </p:txBody>
      </p:sp>
      <p:sp>
        <p:nvSpPr>
          <p:cNvPr id="1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700" b="0" i="0">
                <a:solidFill>
                  <a:srgbClr val="1C252B"/>
                </a:solidFill>
                <a:latin typeface="Segoe UI"/>
              </a:rPr>
              <a:t>Week 14: EM by hand; forward, Viterbi, Baum–Welch</a:t>
            </a:r>
          </a:p>
        </p:txBody>
      </p:sp>
      <p:sp>
        <p:nvSpPr>
          <p:cNvPr id="2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2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49 lines of Python</a:t>
            </a:r>
          </a:p>
        </p:txBody>
      </p:sp>
      <p:sp>
        <p:nvSpPr>
          <p:cNvPr id="2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code/ch17_em_hand_fifty_labels.py</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701022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EM by Hand, Then Fifty Labels and a Thousand Guesses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128     </a:t>
            </a:r>
            <a:fld id="{B3672832-CFAF-487D-82D5-D36BA6047FF6}"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37104"/>
          </a:xfrm>
          <a:prstGeom prst="roundRect">
            <a:avLst>
              <a:gd name="adj" fmla="val 334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code/ch17_em_hand_fifty_labels.py</a:t>
            </a:r>
          </a:p>
        </p:txBody>
      </p:sp>
      <p:sp>
        <p:nvSpPr>
          <p:cNvPr id="14" name="!!code-text" descr="import numpy as np from sklearn.datasets import make_classification from sklearn.model_selection import train_test_split from sklearn.linear_model import LogisticRegression from sklearn.semi_supervised import SelfTrainingClassifier from sklearn.pipeline import make_pipeline from sklearn.preprocessing import StandardScaler"/>
          <p:cNvSpPr txBox="1"/>
          <p:nvPr/>
        </p:nvSpPr>
        <p:spPr>
          <a:xfrm>
            <a:off x="1362456" y="2523744"/>
            <a:ext cx="9987991" cy="22433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numpy</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np</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datasets</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make_classification</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model_selection</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train_test_split</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linear_model</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LogisticRegression</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semi_supervised</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SelfTrainingClassifier</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pipeline</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make_pipeline</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preprocessing</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StandardScaler</a:t>
            </a:r>
          </a:p>
        </p:txBody>
      </p:sp>
      <p:sp>
        <p:nvSpPr>
          <p:cNvPr id="15" name="!!code-num"/>
          <p:cNvSpPr txBox="1"/>
          <p:nvPr/>
        </p:nvSpPr>
        <p:spPr>
          <a:xfrm>
            <a:off x="768096" y="2523744"/>
            <a:ext cx="393192" cy="2243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a:p>
            <a:pPr algn="r">
              <a:lnSpc>
                <a:spcPct val="100000"/>
              </a:lnSpc>
            </a:pPr>
            <a:r>
              <a:rPr sz="2000">
                <a:solidFill>
                  <a:srgbClr val="4F5D6A"/>
                </a:solidFill>
                <a:latin typeface="Consolas"/>
              </a:rPr>
              <a:t>7</a:t>
            </a:r>
          </a:p>
          <a:p>
            <a:pPr algn="r">
              <a:lnSpc>
                <a:spcPct val="100000"/>
              </a:lnSpc>
            </a:pPr>
            <a:r>
              <a:rPr sz="2000">
                <a:solidFill>
                  <a:srgbClr val="4F5D6A"/>
                </a:solidFill>
                <a:latin typeface="Consolas"/>
              </a:rPr>
              <a:t>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EM by Hand, Then Fifty Labels and a Thousand Guesses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128     </a:t>
            </a:r>
            <a:fld id="{FB98A3F4-4523-4021-BB5C-E20A9F7608A8}"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EM for two Gaussian means (sigma = 1 known, equal weights)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72383"/>
          </a:xfrm>
          <a:prstGeom prst="roundRect">
            <a:avLst>
              <a:gd name="adj" fmla="val 29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code/ch17_em_hand_fifty_labels.py</a:t>
            </a:r>
          </a:p>
        </p:txBody>
      </p:sp>
      <p:sp>
        <p:nvSpPr>
          <p:cNvPr id="14" name="!!code-text" descr="# --- 1. EM for two Gaussian means (sigma = 1 known, equal weights) ------- x = np.array([1.0, 2.0, 3.0, 7.0, 8.0, 9.0]) mu = np.array([2.0, 5.0]) # initial guesses for it in range(1, 5): dens = np.exp(-0.5 * (x[:, None] - mu[None, :]) ** 2) # E-step r = dens / dens.sum(axis=1, keepdims=True) # responsibilities ll = np.log(dens.mean(axis=1) / np.sqrt(2 * np.pi)).sum() mu = (r * x[:, None]).sum(axis=0) / r.sum(axis=0) # M-step print(f&quot;iteration {it}: log-likelihood {ll:8.3f} -&gt; mu = {mu.round(3)}&quot;)"/>
          <p:cNvSpPr txBox="1"/>
          <p:nvPr/>
        </p:nvSpPr>
        <p:spPr>
          <a:xfrm>
            <a:off x="1362456" y="2523744"/>
            <a:ext cx="9987991" cy="257860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EM for two Gaussian means (sigma = 1 known, equal weights) -------</a:t>
            </a:r>
          </a:p>
          <a:p>
            <a:pPr>
              <a:lnSpc>
                <a:spcPct val="100000"/>
              </a:lnSpc>
              <a:spcAft>
                <a:spcPts val="0"/>
              </a:spcAft>
            </a:pPr>
            <a:r>
              <a:rPr sz="1800" i="0">
                <a:solidFill>
                  <a:srgbClr val="E8EDF2"/>
                </a:solidFill>
                <a:latin typeface="Consolas"/>
              </a:rPr>
              <a:t>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7.0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8.0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9.0</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mu</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array</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2.0</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5.0</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initial guesses</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it</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C39BD3"/>
                </a:solidFill>
                <a:latin typeface="Consolas"/>
              </a:rPr>
              <a:t>range</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5</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dens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exp</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0.5</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x</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None</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mu</a:t>
            </a:r>
            <a:r>
              <a:rPr sz="1800" i="0">
                <a:solidFill>
                  <a:srgbClr val="AEB6BF"/>
                </a:solidFill>
                <a:latin typeface="Consolas"/>
              </a:rPr>
              <a:t>[</a:t>
            </a:r>
            <a:r>
              <a:rPr sz="1800" i="0">
                <a:solidFill>
                  <a:srgbClr val="5DADE2"/>
                </a:solidFill>
                <a:latin typeface="Consolas"/>
              </a:rPr>
              <a:t>None</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E-step</a:t>
            </a:r>
          </a:p>
          <a:p>
            <a:pPr>
              <a:lnSpc>
                <a:spcPct val="100000"/>
              </a:lnSpc>
              <a:spcAft>
                <a:spcPts val="0"/>
              </a:spcAft>
            </a:pPr>
            <a:r>
              <a:rPr sz="1800" i="0">
                <a:solidFill>
                  <a:srgbClr val="E8EDF2"/>
                </a:solidFill>
                <a:latin typeface="Consolas"/>
              </a:rPr>
              <a:t>    </a:t>
            </a:r>
            <a:r>
              <a:rPr sz="1800" i="0">
                <a:solidFill>
                  <a:srgbClr val="E8EDF2"/>
                </a:solidFill>
                <a:latin typeface="Consolas"/>
              </a:rPr>
              <a:t>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dens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dens</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E8EDF2"/>
                </a:solidFill>
                <a:latin typeface="Consolas"/>
              </a:rPr>
              <a:t>axis</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keepdims</a:t>
            </a:r>
            <a:r>
              <a:rPr sz="1800" i="0">
                <a:solidFill>
                  <a:srgbClr val="AEB6BF"/>
                </a:solidFill>
                <a:latin typeface="Consolas"/>
              </a:rPr>
              <a:t>=</a:t>
            </a:r>
            <a:r>
              <a:rPr sz="1800" i="0">
                <a:solidFill>
                  <a:srgbClr val="5DADE2"/>
                </a:solidFill>
                <a:latin typeface="Consolas"/>
              </a:rPr>
              <a:t>True</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responsibilities</a:t>
            </a:r>
          </a:p>
          <a:p>
            <a:pPr>
              <a:lnSpc>
                <a:spcPct val="100000"/>
              </a:lnSpc>
              <a:spcAft>
                <a:spcPts val="0"/>
              </a:spcAft>
            </a:pPr>
            <a:r>
              <a:rPr sz="1800" i="0">
                <a:solidFill>
                  <a:srgbClr val="E8EDF2"/>
                </a:solidFill>
                <a:latin typeface="Consolas"/>
              </a:rPr>
              <a:t>    </a:t>
            </a:r>
            <a:r>
              <a:rPr sz="1800" i="0">
                <a:solidFill>
                  <a:srgbClr val="E8EDF2"/>
                </a:solidFill>
                <a:latin typeface="Consolas"/>
              </a:rPr>
              <a:t>ll</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log</a:t>
            </a:r>
            <a:r>
              <a:rPr sz="1800" i="0">
                <a:solidFill>
                  <a:srgbClr val="AEB6BF"/>
                </a:solidFill>
                <a:latin typeface="Consolas"/>
              </a:rPr>
              <a:t>(</a:t>
            </a:r>
            <a:r>
              <a:rPr sz="1800" i="0">
                <a:solidFill>
                  <a:srgbClr val="E8EDF2"/>
                </a:solidFill>
                <a:latin typeface="Consolas"/>
              </a:rPr>
              <a:t>dens</a:t>
            </a:r>
            <a:r>
              <a:rPr sz="1800" i="0">
                <a:solidFill>
                  <a:srgbClr val="AEB6BF"/>
                </a:solidFill>
                <a:latin typeface="Consolas"/>
              </a:rPr>
              <a:t>.</a:t>
            </a:r>
            <a:r>
              <a:rPr sz="1800" i="0">
                <a:solidFill>
                  <a:srgbClr val="E8EDF2"/>
                </a:solidFill>
                <a:latin typeface="Consolas"/>
              </a:rPr>
              <a:t>mean</a:t>
            </a:r>
            <a:r>
              <a:rPr sz="1800" i="0">
                <a:solidFill>
                  <a:srgbClr val="AEB6BF"/>
                </a:solidFill>
                <a:latin typeface="Consolas"/>
              </a:rPr>
              <a:t>(</a:t>
            </a:r>
            <a:r>
              <a:rPr sz="1800" i="0">
                <a:solidFill>
                  <a:srgbClr val="E8EDF2"/>
                </a:solidFill>
                <a:latin typeface="Consolas"/>
              </a:rPr>
              <a:t>axis</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sqrt</a:t>
            </a:r>
            <a:r>
              <a:rPr sz="1800" i="0">
                <a:solidFill>
                  <a:srgbClr val="AEB6BF"/>
                </a:solidFill>
                <a:latin typeface="Consolas"/>
              </a:rPr>
              <a:t>(</a:t>
            </a:r>
            <a:r>
              <a:rPr sz="1800" i="0">
                <a:solidFill>
                  <a:srgbClr val="F7DC6F"/>
                </a:solidFill>
                <a:latin typeface="Consolas"/>
              </a:rPr>
              <a:t>2</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np</a:t>
            </a:r>
            <a:r>
              <a:rPr sz="1800" i="0">
                <a:solidFill>
                  <a:srgbClr val="AEB6BF"/>
                </a:solidFill>
                <a:latin typeface="Consolas"/>
              </a:rPr>
              <a:t>.</a:t>
            </a:r>
            <a:r>
              <a:rPr sz="1800" i="0">
                <a:solidFill>
                  <a:srgbClr val="E8EDF2"/>
                </a:solidFill>
                <a:latin typeface="Consolas"/>
              </a:rPr>
              <a:t>pi</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mu</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None</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E8EDF2"/>
                </a:solidFill>
                <a:latin typeface="Consolas"/>
              </a:rPr>
              <a:t>axis</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t>
            </a:r>
            <a:r>
              <a:rPr sz="1800" i="0">
                <a:solidFill>
                  <a:srgbClr val="AEB6BF"/>
                </a:solidFill>
                <a:latin typeface="Consolas"/>
              </a:rPr>
              <a:t>.</a:t>
            </a:r>
            <a:r>
              <a:rPr sz="1800" i="0">
                <a:solidFill>
                  <a:srgbClr val="E8EDF2"/>
                </a:solidFill>
                <a:latin typeface="Consolas"/>
              </a:rPr>
              <a:t>sum</a:t>
            </a:r>
            <a:r>
              <a:rPr sz="1800" i="0">
                <a:solidFill>
                  <a:srgbClr val="AEB6BF"/>
                </a:solidFill>
                <a:latin typeface="Consolas"/>
              </a:rPr>
              <a:t>(</a:t>
            </a:r>
            <a:r>
              <a:rPr sz="1800" i="0">
                <a:solidFill>
                  <a:srgbClr val="E8EDF2"/>
                </a:solidFill>
                <a:latin typeface="Consolas"/>
              </a:rPr>
              <a:t>axis</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M-step</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iteration </a:t>
            </a:r>
            <a:r>
              <a:rPr sz="1800" i="0">
                <a:solidFill>
                  <a:srgbClr val="7DCEA0"/>
                </a:solidFill>
                <a:latin typeface="Consolas"/>
              </a:rPr>
              <a:t>{</a:t>
            </a:r>
            <a:r>
              <a:rPr sz="1800" i="0">
                <a:solidFill>
                  <a:srgbClr val="E8EDF2"/>
                </a:solidFill>
                <a:latin typeface="Consolas"/>
              </a:rPr>
              <a:t>it</a:t>
            </a:r>
            <a:r>
              <a:rPr sz="1800" i="0">
                <a:solidFill>
                  <a:srgbClr val="7DCEA0"/>
                </a:solidFill>
                <a:latin typeface="Consolas"/>
              </a:rPr>
              <a:t>}</a:t>
            </a:r>
            <a:r>
              <a:rPr sz="1800" i="0">
                <a:solidFill>
                  <a:srgbClr val="7DCEA0"/>
                </a:solidFill>
                <a:latin typeface="Consolas"/>
              </a:rPr>
              <a:t>: log-likelihood </a:t>
            </a:r>
            <a:r>
              <a:rPr sz="1800" i="0">
                <a:solidFill>
                  <a:srgbClr val="7DCEA0"/>
                </a:solidFill>
                <a:latin typeface="Consolas"/>
              </a:rPr>
              <a:t>{</a:t>
            </a:r>
            <a:r>
              <a:rPr sz="1800" i="0">
                <a:solidFill>
                  <a:srgbClr val="E8EDF2"/>
                </a:solidFill>
                <a:latin typeface="Consolas"/>
              </a:rPr>
              <a:t>ll</a:t>
            </a:r>
            <a:r>
              <a:rPr sz="1800" i="0">
                <a:solidFill>
                  <a:srgbClr val="7DCEA0"/>
                </a:solidFill>
                <a:latin typeface="Consolas"/>
              </a:rPr>
              <a:t>:</a:t>
            </a:r>
            <a:r>
              <a:rPr sz="1800" i="0">
                <a:solidFill>
                  <a:srgbClr val="7DCEA0"/>
                </a:solidFill>
                <a:latin typeface="Consolas"/>
              </a:rPr>
              <a:t>8.3f</a:t>
            </a:r>
            <a:r>
              <a:rPr sz="1800" i="0">
                <a:solidFill>
                  <a:srgbClr val="7DCEA0"/>
                </a:solidFill>
                <a:latin typeface="Consolas"/>
              </a:rPr>
              <a:t>}</a:t>
            </a:r>
            <a:r>
              <a:rPr sz="1800" i="0">
                <a:solidFill>
                  <a:srgbClr val="7DCEA0"/>
                </a:solidFill>
                <a:latin typeface="Consolas"/>
              </a:rPr>
              <a:t> -&gt; mu = </a:t>
            </a:r>
            <a:r>
              <a:rPr sz="1800" i="0">
                <a:solidFill>
                  <a:srgbClr val="7DCEA0"/>
                </a:solidFill>
                <a:latin typeface="Consolas"/>
              </a:rPr>
              <a:t>{</a:t>
            </a:r>
            <a:r>
              <a:rPr sz="1800" i="0">
                <a:solidFill>
                  <a:srgbClr val="E8EDF2"/>
                </a:solidFill>
                <a:latin typeface="Consolas"/>
              </a:rPr>
              <a:t>mu</a:t>
            </a:r>
            <a:r>
              <a:rPr sz="1800" i="0">
                <a:solidFill>
                  <a:srgbClr val="AEB6BF"/>
                </a:solidFill>
                <a:latin typeface="Consolas"/>
              </a:rPr>
              <a:t>.</a:t>
            </a:r>
            <a:r>
              <a:rPr sz="1800" i="0">
                <a:solidFill>
                  <a:srgbClr val="E8EDF2"/>
                </a:solidFill>
                <a:latin typeface="Consolas"/>
              </a:rPr>
              <a:t>round</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257860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19809"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EM by Hand, Then Fifty Labels and a Thousand Guesses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128     </a:t>
            </a:r>
            <a:fld id="{76F5CC0E-6F03-45AF-B1F0-10FBEE746CCD}"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Two labels, four unlabelled points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453383"/>
          </a:xfrm>
          <a:prstGeom prst="roundRect">
            <a:avLst>
              <a:gd name="adj" fmla="val 264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code/ch17_em_hand_fifty_labels.py</a:t>
            </a:r>
          </a:p>
        </p:txBody>
      </p:sp>
      <p:sp>
        <p:nvSpPr>
          <p:cNvPr id="14" name="!!code-text" descr="# --- 2. two labels, four unlabelled points ------------------------------- labelled = {2: 0, 3: 1} # x=3 is class A (0), x=7 class B (1) mu = np.array([x[2], x[3]]) # labelled points alone: 3 and 7 print(&quot;from the two labels alone: mu =&quot;, mu) for it in range(10): dens = np.exp(-0.5 * (x[:, None] - mu[None, :]) ** 2) r = dens / dens.sum(axis=1, keepdims=True) for i, c in labelled.items(): # a labelled point keeps its label r[i] = np.eye(2)[c] mu = (r * x[:, None]).sum(axis=0) / r.sum(axis=0) print(&quot;EM with the unlabelled points too: mu =&quot;, mu.round(3))"/>
          <p:cNvSpPr txBox="1"/>
          <p:nvPr/>
        </p:nvSpPr>
        <p:spPr>
          <a:xfrm>
            <a:off x="1362456" y="2523744"/>
            <a:ext cx="9987991" cy="2959607"/>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--- 2. two labels, four unlabelled points -------------------------------</a:t>
            </a:r>
          </a:p>
          <a:p>
            <a:pPr>
              <a:lnSpc>
                <a:spcPct val="100000"/>
              </a:lnSpc>
              <a:spcAft>
                <a:spcPts val="0"/>
              </a:spcAft>
            </a:pPr>
            <a:r>
              <a:rPr sz="1700" i="0">
                <a:solidFill>
                  <a:srgbClr val="E8EDF2"/>
                </a:solidFill>
                <a:latin typeface="Consolas"/>
              </a:rPr>
              <a:t>labelled</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F7DC6F"/>
                </a:solidFill>
                <a:latin typeface="Consolas"/>
              </a:rPr>
              <a:t>2</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0</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3</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1</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x=3 is class A (0), x=7 class B (1)</a:t>
            </a:r>
          </a:p>
          <a:p>
            <a:pPr>
              <a:lnSpc>
                <a:spcPct val="100000"/>
              </a:lnSpc>
              <a:spcAft>
                <a:spcPts val="0"/>
              </a:spcAft>
            </a:pPr>
            <a:r>
              <a:rPr sz="1700" i="0">
                <a:solidFill>
                  <a:srgbClr val="E8EDF2"/>
                </a:solidFill>
                <a:latin typeface="Consolas"/>
              </a:rPr>
              <a:t>mu</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array</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x</a:t>
            </a:r>
            <a:r>
              <a:rPr sz="1700" i="0">
                <a:solidFill>
                  <a:srgbClr val="AEB6BF"/>
                </a:solidFill>
                <a:latin typeface="Consolas"/>
              </a:rPr>
              <a:t>[</a:t>
            </a:r>
            <a:r>
              <a:rPr sz="1700" i="0">
                <a:solidFill>
                  <a:srgbClr val="F7DC6F"/>
                </a:solidFill>
                <a:latin typeface="Consolas"/>
              </a:rPr>
              <a:t>2</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x</a:t>
            </a:r>
            <a:r>
              <a:rPr sz="1700" i="0">
                <a:solidFill>
                  <a:srgbClr val="AEB6BF"/>
                </a:solidFill>
                <a:latin typeface="Consolas"/>
              </a:rPr>
              <a:t>[</a:t>
            </a:r>
            <a:r>
              <a:rPr sz="1700" i="0">
                <a:solidFill>
                  <a:srgbClr val="F7DC6F"/>
                </a:solidFill>
                <a:latin typeface="Consolas"/>
              </a:rPr>
              <a:t>3</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labelled points alone: 3 and 7</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from the two labels alone: mu =</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mu</a:t>
            </a:r>
            <a:r>
              <a:rPr sz="1700" i="0">
                <a:solidFill>
                  <a:srgbClr val="AEB6BF"/>
                </a:solidFill>
                <a:latin typeface="Consolas"/>
              </a:rPr>
              <a:t>)</a:t>
            </a:r>
          </a:p>
          <a:p>
            <a:pPr>
              <a:lnSpc>
                <a:spcPct val="100000"/>
              </a:lnSpc>
              <a:spcAft>
                <a:spcPts val="0"/>
              </a:spcAft>
            </a:pP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it</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C39BD3"/>
                </a:solidFill>
                <a:latin typeface="Consolas"/>
              </a:rPr>
              <a:t>range</a:t>
            </a:r>
            <a:r>
              <a:rPr sz="1700" i="0">
                <a:solidFill>
                  <a:srgbClr val="AEB6BF"/>
                </a:solidFill>
                <a:latin typeface="Consolas"/>
              </a:rPr>
              <a:t>(</a:t>
            </a:r>
            <a:r>
              <a:rPr sz="1700" i="0">
                <a:solidFill>
                  <a:srgbClr val="F7DC6F"/>
                </a:solidFill>
                <a:latin typeface="Consolas"/>
              </a:rPr>
              <a:t>10</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dens</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exp</a:t>
            </a:r>
            <a:r>
              <a:rPr sz="1700" i="0">
                <a:solidFill>
                  <a:srgbClr val="AEB6BF"/>
                </a:solidFill>
                <a:latin typeface="Consolas"/>
              </a:rPr>
              <a:t>(</a:t>
            </a:r>
            <a:r>
              <a:rPr sz="1700" i="0">
                <a:solidFill>
                  <a:srgbClr val="AEB6BF"/>
                </a:solidFill>
                <a:latin typeface="Consolas"/>
              </a:rPr>
              <a:t>-</a:t>
            </a:r>
            <a:r>
              <a:rPr sz="1700" i="0">
                <a:solidFill>
                  <a:srgbClr val="F7DC6F"/>
                </a:solidFill>
                <a:latin typeface="Consolas"/>
              </a:rPr>
              <a:t>0.5</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x</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5DADE2"/>
                </a:solidFill>
                <a:latin typeface="Consolas"/>
              </a:rPr>
              <a:t>None</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mu</a:t>
            </a:r>
            <a:r>
              <a:rPr sz="1700" i="0">
                <a:solidFill>
                  <a:srgbClr val="AEB6BF"/>
                </a:solidFill>
                <a:latin typeface="Consolas"/>
              </a:rPr>
              <a:t>[</a:t>
            </a:r>
            <a:r>
              <a:rPr sz="1700" i="0">
                <a:solidFill>
                  <a:srgbClr val="5DADE2"/>
                </a:solidFill>
                <a:latin typeface="Consolas"/>
              </a:rPr>
              <a:t>None</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2</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r</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dens</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dens</a:t>
            </a:r>
            <a:r>
              <a:rPr sz="1700" i="0">
                <a:solidFill>
                  <a:srgbClr val="AEB6BF"/>
                </a:solidFill>
                <a:latin typeface="Consolas"/>
              </a:rPr>
              <a:t>.</a:t>
            </a:r>
            <a:r>
              <a:rPr sz="1700" i="0">
                <a:solidFill>
                  <a:srgbClr val="E8EDF2"/>
                </a:solidFill>
                <a:latin typeface="Consolas"/>
              </a:rPr>
              <a:t>sum</a:t>
            </a:r>
            <a:r>
              <a:rPr sz="1700" i="0">
                <a:solidFill>
                  <a:srgbClr val="AEB6BF"/>
                </a:solidFill>
                <a:latin typeface="Consolas"/>
              </a:rPr>
              <a:t>(</a:t>
            </a:r>
            <a:r>
              <a:rPr sz="1700" i="0">
                <a:solidFill>
                  <a:srgbClr val="E8EDF2"/>
                </a:solidFill>
                <a:latin typeface="Consolas"/>
              </a:rPr>
              <a:t>axis</a:t>
            </a:r>
            <a:r>
              <a:rPr sz="1700" i="0">
                <a:solidFill>
                  <a:srgbClr val="AEB6BF"/>
                </a:solidFill>
                <a:latin typeface="Consolas"/>
              </a:rPr>
              <a:t>=</a:t>
            </a:r>
            <a:r>
              <a:rPr sz="1700" i="0">
                <a:solidFill>
                  <a:srgbClr val="F7DC6F"/>
                </a:solidFill>
                <a:latin typeface="Consolas"/>
              </a:rPr>
              <a:t>1</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keepdims</a:t>
            </a:r>
            <a:r>
              <a:rPr sz="1700" i="0">
                <a:solidFill>
                  <a:srgbClr val="AEB6BF"/>
                </a:solidFill>
                <a:latin typeface="Consolas"/>
              </a:rPr>
              <a:t>=</a:t>
            </a:r>
            <a:r>
              <a:rPr sz="1700" i="0">
                <a:solidFill>
                  <a:srgbClr val="5DADE2"/>
                </a:solidFill>
                <a:latin typeface="Consolas"/>
              </a:rPr>
              <a:t>True</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i</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E8EDF2"/>
                </a:solidFill>
                <a:latin typeface="Consolas"/>
              </a:rPr>
              <a:t>labelled</a:t>
            </a:r>
            <a:r>
              <a:rPr sz="1700" i="0">
                <a:solidFill>
                  <a:srgbClr val="AEB6BF"/>
                </a:solidFill>
                <a:latin typeface="Consolas"/>
              </a:rPr>
              <a:t>.</a:t>
            </a:r>
            <a:r>
              <a:rPr sz="1700" i="0">
                <a:solidFill>
                  <a:srgbClr val="E8EDF2"/>
                </a:solidFill>
                <a:latin typeface="Consolas"/>
              </a:rPr>
              <a:t>items</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a labelled point keeps its label</a:t>
            </a:r>
          </a:p>
          <a:p>
            <a:pPr>
              <a:lnSpc>
                <a:spcPct val="100000"/>
              </a:lnSpc>
              <a:spcAft>
                <a:spcPts val="0"/>
              </a:spcAft>
            </a:pPr>
            <a:r>
              <a:rPr sz="1700" i="0">
                <a:solidFill>
                  <a:srgbClr val="E8EDF2"/>
                </a:solidFill>
                <a:latin typeface="Consolas"/>
              </a:rPr>
              <a:t>        </a:t>
            </a:r>
            <a:r>
              <a:rPr sz="1700" i="0">
                <a:solidFill>
                  <a:srgbClr val="E8EDF2"/>
                </a:solidFill>
                <a:latin typeface="Consolas"/>
              </a:rPr>
              <a:t>r</a:t>
            </a:r>
            <a:r>
              <a:rPr sz="1700" i="0">
                <a:solidFill>
                  <a:srgbClr val="AEB6BF"/>
                </a:solidFill>
                <a:latin typeface="Consolas"/>
              </a:rPr>
              <a:t>[</a:t>
            </a:r>
            <a:r>
              <a:rPr sz="1700" i="0">
                <a:solidFill>
                  <a:srgbClr val="E8EDF2"/>
                </a:solidFill>
                <a:latin typeface="Consolas"/>
              </a:rPr>
              <a:t>i</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eye</a:t>
            </a:r>
            <a:r>
              <a:rPr sz="1700" i="0">
                <a:solidFill>
                  <a:srgbClr val="AEB6BF"/>
                </a:solidFill>
                <a:latin typeface="Consolas"/>
              </a:rPr>
              <a:t>(</a:t>
            </a:r>
            <a:r>
              <a:rPr sz="1700" i="0">
                <a:solidFill>
                  <a:srgbClr val="F7DC6F"/>
                </a:solidFill>
                <a:latin typeface="Consolas"/>
              </a:rPr>
              <a:t>2</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c</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mu</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r</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x</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5DADE2"/>
                </a:solidFill>
                <a:latin typeface="Consolas"/>
              </a:rPr>
              <a:t>None</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sum</a:t>
            </a:r>
            <a:r>
              <a:rPr sz="1700" i="0">
                <a:solidFill>
                  <a:srgbClr val="AEB6BF"/>
                </a:solidFill>
                <a:latin typeface="Consolas"/>
              </a:rPr>
              <a:t>(</a:t>
            </a:r>
            <a:r>
              <a:rPr sz="1700" i="0">
                <a:solidFill>
                  <a:srgbClr val="E8EDF2"/>
                </a:solidFill>
                <a:latin typeface="Consolas"/>
              </a:rPr>
              <a:t>axis</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a:t>
            </a:r>
            <a:r>
              <a:rPr sz="1700" i="0">
                <a:solidFill>
                  <a:srgbClr val="AEB6BF"/>
                </a:solidFill>
                <a:latin typeface="Consolas"/>
              </a:rPr>
              <a:t>.</a:t>
            </a:r>
            <a:r>
              <a:rPr sz="1700" i="0">
                <a:solidFill>
                  <a:srgbClr val="E8EDF2"/>
                </a:solidFill>
                <a:latin typeface="Consolas"/>
              </a:rPr>
              <a:t>sum</a:t>
            </a:r>
            <a:r>
              <a:rPr sz="1700" i="0">
                <a:solidFill>
                  <a:srgbClr val="AEB6BF"/>
                </a:solidFill>
                <a:latin typeface="Consolas"/>
              </a:rPr>
              <a:t>(</a:t>
            </a:r>
            <a:r>
              <a:rPr sz="1700" i="0">
                <a:solidFill>
                  <a:srgbClr val="E8EDF2"/>
                </a:solidFill>
                <a:latin typeface="Consolas"/>
              </a:rPr>
              <a:t>axis</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EM with the unlabelled points too: mu =</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mu</a:t>
            </a:r>
            <a:r>
              <a:rPr sz="1700" i="0">
                <a:solidFill>
                  <a:srgbClr val="AEB6BF"/>
                </a:solidFill>
                <a:latin typeface="Consolas"/>
              </a:rPr>
              <a:t>.</a:t>
            </a:r>
            <a:r>
              <a:rPr sz="1700" i="0">
                <a:solidFill>
                  <a:srgbClr val="E8EDF2"/>
                </a:solidFill>
                <a:latin typeface="Consolas"/>
              </a:rPr>
              <a:t>round</a:t>
            </a:r>
            <a:r>
              <a:rPr sz="1700" i="0">
                <a:solidFill>
                  <a:srgbClr val="AEB6BF"/>
                </a:solidFill>
                <a:latin typeface="Consolas"/>
              </a:rPr>
              <a:t>(</a:t>
            </a:r>
            <a:r>
              <a:rPr sz="1700" i="0">
                <a:solidFill>
                  <a:srgbClr val="F7DC6F"/>
                </a:solidFill>
                <a:latin typeface="Consolas"/>
              </a:rPr>
              <a:t>3</a:t>
            </a:r>
            <a:r>
              <a:rPr sz="1700" i="0">
                <a:solidFill>
                  <a:srgbClr val="AEB6BF"/>
                </a:solidFill>
                <a:latin typeface="Consolas"/>
              </a:rPr>
              <a:t>)</a:t>
            </a:r>
            <a:r>
              <a:rPr sz="1700" i="0">
                <a:solidFill>
                  <a:srgbClr val="AEB6BF"/>
                </a:solidFill>
                <a:latin typeface="Consolas"/>
              </a:rPr>
              <a:t>)</a:t>
            </a:r>
          </a:p>
        </p:txBody>
      </p:sp>
      <p:sp>
        <p:nvSpPr>
          <p:cNvPr id="15" name="!!code-num"/>
          <p:cNvSpPr txBox="1"/>
          <p:nvPr/>
        </p:nvSpPr>
        <p:spPr>
          <a:xfrm>
            <a:off x="768096" y="2523744"/>
            <a:ext cx="393192" cy="2959607"/>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20</a:t>
            </a:r>
          </a:p>
          <a:p>
            <a:pPr algn="r">
              <a:lnSpc>
                <a:spcPct val="100000"/>
              </a:lnSpc>
            </a:pPr>
            <a:r>
              <a:rPr sz="1700">
                <a:solidFill>
                  <a:srgbClr val="4F5D6A"/>
                </a:solidFill>
                <a:latin typeface="Consolas"/>
              </a:rPr>
              <a:t>21</a:t>
            </a:r>
          </a:p>
          <a:p>
            <a:pPr algn="r">
              <a:lnSpc>
                <a:spcPct val="100000"/>
              </a:lnSpc>
            </a:pPr>
            <a:r>
              <a:rPr sz="1700">
                <a:solidFill>
                  <a:srgbClr val="4F5D6A"/>
                </a:solidFill>
                <a:latin typeface="Consolas"/>
              </a:rPr>
              <a:t>22</a:t>
            </a:r>
          </a:p>
          <a:p>
            <a:pPr algn="r">
              <a:lnSpc>
                <a:spcPct val="100000"/>
              </a:lnSpc>
            </a:pPr>
            <a:r>
              <a:rPr sz="1700">
                <a:solidFill>
                  <a:srgbClr val="4F5D6A"/>
                </a:solidFill>
                <a:latin typeface="Consolas"/>
              </a:rPr>
              <a:t>23</a:t>
            </a:r>
          </a:p>
          <a:p>
            <a:pPr algn="r">
              <a:lnSpc>
                <a:spcPct val="100000"/>
              </a:lnSpc>
            </a:pPr>
            <a:r>
              <a:rPr sz="1700">
                <a:solidFill>
                  <a:srgbClr val="4F5D6A"/>
                </a:solidFill>
                <a:latin typeface="Consolas"/>
              </a:rPr>
              <a:t>24</a:t>
            </a:r>
          </a:p>
          <a:p>
            <a:pPr algn="r">
              <a:lnSpc>
                <a:spcPct val="100000"/>
              </a:lnSpc>
            </a:pPr>
            <a:r>
              <a:rPr sz="1700">
                <a:solidFill>
                  <a:srgbClr val="4F5D6A"/>
                </a:solidFill>
                <a:latin typeface="Consolas"/>
              </a:rPr>
              <a:t>25</a:t>
            </a:r>
          </a:p>
          <a:p>
            <a:pPr algn="r">
              <a:lnSpc>
                <a:spcPct val="100000"/>
              </a:lnSpc>
            </a:pPr>
            <a:r>
              <a:rPr sz="1700">
                <a:solidFill>
                  <a:srgbClr val="4F5D6A"/>
                </a:solidFill>
                <a:latin typeface="Consolas"/>
              </a:rPr>
              <a:t>26</a:t>
            </a:r>
          </a:p>
          <a:p>
            <a:pPr algn="r">
              <a:lnSpc>
                <a:spcPct val="100000"/>
              </a:lnSpc>
            </a:pPr>
            <a:r>
              <a:rPr sz="1700">
                <a:solidFill>
                  <a:srgbClr val="4F5D6A"/>
                </a:solidFill>
                <a:latin typeface="Consolas"/>
              </a:rPr>
              <a:t>27</a:t>
            </a:r>
          </a:p>
          <a:p>
            <a:pPr algn="r">
              <a:lnSpc>
                <a:spcPct val="100000"/>
              </a:lnSpc>
            </a:pPr>
            <a:r>
              <a:rPr sz="1700">
                <a:solidFill>
                  <a:srgbClr val="4F5D6A"/>
                </a:solidFill>
                <a:latin typeface="Consolas"/>
              </a:rPr>
              <a:t>28</a:t>
            </a:r>
          </a:p>
          <a:p>
            <a:pPr algn="r">
              <a:lnSpc>
                <a:spcPct val="100000"/>
              </a:lnSpc>
            </a:pPr>
            <a:r>
              <a:rPr sz="1700">
                <a:solidFill>
                  <a:srgbClr val="4F5D6A"/>
                </a:solidFill>
                <a:latin typeface="Consolas"/>
              </a:rPr>
              <a:t>29</a:t>
            </a:r>
          </a:p>
          <a:p>
            <a:pPr algn="r">
              <a:lnSpc>
                <a:spcPct val="100000"/>
              </a:lnSpc>
            </a:pPr>
            <a:r>
              <a:rPr sz="1700">
                <a:solidFill>
                  <a:srgbClr val="4F5D6A"/>
                </a:solidFill>
                <a:latin typeface="Consolas"/>
              </a:rPr>
              <a:t>30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2460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EM by Hand, Then Fifty Labels and a Thousand Guesses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128     </a:t>
            </a:r>
            <a:fld id="{FD49E1D5-06F7-4A93-A87D-649F1E09E87D}"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Self-training with 50 labels out of 1,260</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4"/>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code/ch17_em_hand_fifty_labels.py</a:t>
            </a:r>
          </a:p>
        </p:txBody>
      </p:sp>
      <p:sp>
        <p:nvSpPr>
          <p:cNvPr id="14" name="!!code-text" descr="# --- 3. self-training with 50 labels out of 1,260 ------------------------ X, y = make_classification(n_samples=1800, n_features=10, n_informative=6, n_redundant=2, n_classes=4, n_clusters_per_class=1, class_sep=2.0, random_state=6) # 4 root causes X_tr, X_te, y_tr, y_te = train_test_split(X, y, test_size=0.3, random_state=0, stratify=y) rng = np.random.default_rng(0) keep = rng.choice(len(y_tr), size=50, replace=False) y_part = np.full_like(y_tr, -1) # -1 means &quot;unlabelled&quot; y_part[keep] = y_tr[keep] base = make_pipeline(StandardScaler(), LogisticRegression()) only = base.fit(X_tr[keep], y_tr[keep]).score(X_te, y_te) self_t = SelfTrainingClassifier( make_pipeline(StandardScaler(), LogisticRegression()), threshold=0.9).fit(X_tr, y_part) print(f&quot;50 labels only: {only:.3f} self-training with the rest &quot; f&quot;unlabelled: {self_t.score(X_te, y_te):.3f} &quot; f&quot;all {len(y_tr)} labels: &quot; f&quot;{base.fit(X_tr, y_tr).score(X_te, y_te):.3f}&quot;)"/>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200" i="1">
                <a:solidFill>
                  <a:srgbClr val="8795A1"/>
                </a:solidFill>
                <a:latin typeface="Consolas"/>
              </a:rPr>
              <a:t># --- 3. self-training with 50 labels out of 1,260 ------------------------</a:t>
            </a:r>
          </a:p>
          <a:p>
            <a:pPr>
              <a:lnSpc>
                <a:spcPct val="100000"/>
              </a:lnSpc>
              <a:spcAft>
                <a:spcPts val="0"/>
              </a:spcAft>
            </a:pPr>
            <a:r>
              <a:rPr sz="1200" i="0">
                <a:solidFill>
                  <a:srgbClr val="E8EDF2"/>
                </a:solidFill>
                <a:latin typeface="Consolas"/>
              </a:rPr>
              <a:t>X</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y</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make_classification</a:t>
            </a:r>
            <a:r>
              <a:rPr sz="1200" i="0">
                <a:solidFill>
                  <a:srgbClr val="AEB6BF"/>
                </a:solidFill>
                <a:latin typeface="Consolas"/>
              </a:rPr>
              <a:t>(</a:t>
            </a:r>
            <a:r>
              <a:rPr sz="1200" i="0">
                <a:solidFill>
                  <a:srgbClr val="E8EDF2"/>
                </a:solidFill>
                <a:latin typeface="Consolas"/>
              </a:rPr>
              <a:t>n_samples</a:t>
            </a:r>
            <a:r>
              <a:rPr sz="1200" i="0">
                <a:solidFill>
                  <a:srgbClr val="AEB6BF"/>
                </a:solidFill>
                <a:latin typeface="Consolas"/>
              </a:rPr>
              <a:t>=</a:t>
            </a:r>
            <a:r>
              <a:rPr sz="1200" i="0">
                <a:solidFill>
                  <a:srgbClr val="F7DC6F"/>
                </a:solidFill>
                <a:latin typeface="Consolas"/>
              </a:rPr>
              <a:t>1800</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n_features</a:t>
            </a:r>
            <a:r>
              <a:rPr sz="1200" i="0">
                <a:solidFill>
                  <a:srgbClr val="AEB6BF"/>
                </a:solidFill>
                <a:latin typeface="Consolas"/>
              </a:rPr>
              <a:t>=</a:t>
            </a:r>
            <a:r>
              <a:rPr sz="1200" i="0">
                <a:solidFill>
                  <a:srgbClr val="F7DC6F"/>
                </a:solidFill>
                <a:latin typeface="Consolas"/>
              </a:rPr>
              <a:t>10</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n_informative</a:t>
            </a:r>
            <a:r>
              <a:rPr sz="1200" i="0">
                <a:solidFill>
                  <a:srgbClr val="AEB6BF"/>
                </a:solidFill>
                <a:latin typeface="Consolas"/>
              </a:rPr>
              <a:t>=</a:t>
            </a:r>
            <a:r>
              <a:rPr sz="1200" i="0">
                <a:solidFill>
                  <a:srgbClr val="F7DC6F"/>
                </a:solidFill>
                <a:latin typeface="Consolas"/>
              </a:rPr>
              <a:t>6</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n_redundant</a:t>
            </a:r>
            <a:r>
              <a:rPr sz="1200" i="0">
                <a:solidFill>
                  <a:srgbClr val="AEB6BF"/>
                </a:solidFill>
                <a:latin typeface="Consolas"/>
              </a:rPr>
              <a:t>=</a:t>
            </a:r>
            <a:r>
              <a:rPr sz="1200" i="0">
                <a:solidFill>
                  <a:srgbClr val="F7DC6F"/>
                </a:solidFill>
                <a:latin typeface="Consolas"/>
              </a:rPr>
              <a:t>2</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n_classes</a:t>
            </a:r>
            <a:r>
              <a:rPr sz="1200" i="0">
                <a:solidFill>
                  <a:srgbClr val="AEB6BF"/>
                </a:solidFill>
                <a:latin typeface="Consolas"/>
              </a:rPr>
              <a:t>=</a:t>
            </a:r>
            <a:r>
              <a:rPr sz="1200" i="0">
                <a:solidFill>
                  <a:srgbClr val="F7DC6F"/>
                </a:solidFill>
                <a:latin typeface="Consolas"/>
              </a:rPr>
              <a:t>4</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n_clusters_per_class</a:t>
            </a:r>
            <a:r>
              <a:rPr sz="1200" i="0">
                <a:solidFill>
                  <a:srgbClr val="AEB6BF"/>
                </a:solidFill>
                <a:latin typeface="Consolas"/>
              </a:rPr>
              <a:t>=</a:t>
            </a:r>
            <a:r>
              <a:rPr sz="1200" i="0">
                <a:solidFill>
                  <a:srgbClr val="F7DC6F"/>
                </a:solidFill>
                <a:latin typeface="Consolas"/>
              </a:rPr>
              <a:t>1</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class_sep</a:t>
            </a:r>
            <a:r>
              <a:rPr sz="1200" i="0">
                <a:solidFill>
                  <a:srgbClr val="AEB6BF"/>
                </a:solidFill>
                <a:latin typeface="Consolas"/>
              </a:rPr>
              <a:t>=</a:t>
            </a:r>
            <a:r>
              <a:rPr sz="1200" i="0">
                <a:solidFill>
                  <a:srgbClr val="F7DC6F"/>
                </a:solidFill>
                <a:latin typeface="Consolas"/>
              </a:rPr>
              <a:t>2.0</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random_state</a:t>
            </a:r>
            <a:r>
              <a:rPr sz="1200" i="0">
                <a:solidFill>
                  <a:srgbClr val="AEB6BF"/>
                </a:solidFill>
                <a:latin typeface="Consolas"/>
              </a:rPr>
              <a:t>=</a:t>
            </a:r>
            <a:r>
              <a:rPr sz="1200" i="0">
                <a:solidFill>
                  <a:srgbClr val="F7DC6F"/>
                </a:solidFill>
                <a:latin typeface="Consolas"/>
              </a:rPr>
              <a:t>6</a:t>
            </a:r>
            <a:r>
              <a:rPr sz="1200" i="0">
                <a:solidFill>
                  <a:srgbClr val="AEB6BF"/>
                </a:solidFill>
                <a:latin typeface="Consolas"/>
              </a:rPr>
              <a:t>)</a:t>
            </a:r>
            <a:r>
              <a:rPr sz="1200" i="0">
                <a:solidFill>
                  <a:srgbClr val="E8EDF2"/>
                </a:solidFill>
                <a:latin typeface="Consolas"/>
              </a:rPr>
              <a:t>   </a:t>
            </a:r>
            <a:r>
              <a:rPr sz="1200" i="1">
                <a:solidFill>
                  <a:srgbClr val="8795A1"/>
                </a:solidFill>
                <a:latin typeface="Consolas"/>
              </a:rPr>
              <a:t># 4 root causes</a:t>
            </a:r>
          </a:p>
          <a:p>
            <a:pPr>
              <a:lnSpc>
                <a:spcPct val="100000"/>
              </a:lnSpc>
              <a:spcAft>
                <a:spcPts val="0"/>
              </a:spcAft>
            </a:pPr>
            <a:r>
              <a:rPr sz="1200" i="0">
                <a:solidFill>
                  <a:srgbClr val="E8EDF2"/>
                </a:solidFill>
                <a:latin typeface="Consolas"/>
              </a:rPr>
              <a:t>X_tr</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X_te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y_tr</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y_te</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train_test_split</a:t>
            </a:r>
            <a:r>
              <a:rPr sz="1200" i="0">
                <a:solidFill>
                  <a:srgbClr val="AEB6BF"/>
                </a:solidFill>
                <a:latin typeface="Consolas"/>
              </a:rPr>
              <a:t>(</a:t>
            </a:r>
            <a:r>
              <a:rPr sz="1200" i="0">
                <a:solidFill>
                  <a:srgbClr val="E8EDF2"/>
                </a:solidFill>
                <a:latin typeface="Consolas"/>
              </a:rPr>
              <a:t>X</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y</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test_size</a:t>
            </a:r>
            <a:r>
              <a:rPr sz="1200" i="0">
                <a:solidFill>
                  <a:srgbClr val="AEB6BF"/>
                </a:solidFill>
                <a:latin typeface="Consolas"/>
              </a:rPr>
              <a:t>=</a:t>
            </a:r>
            <a:r>
              <a:rPr sz="1200" i="0">
                <a:solidFill>
                  <a:srgbClr val="F7DC6F"/>
                </a:solidFill>
                <a:latin typeface="Consolas"/>
              </a:rPr>
              <a:t>0.3</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random_state</a:t>
            </a:r>
            <a:r>
              <a:rPr sz="1200" i="0">
                <a:solidFill>
                  <a:srgbClr val="AEB6BF"/>
                </a:solidFill>
                <a:latin typeface="Consolas"/>
              </a:rPr>
              <a:t>=</a:t>
            </a:r>
            <a:r>
              <a:rPr sz="1200" i="0">
                <a:solidFill>
                  <a:srgbClr val="F7DC6F"/>
                </a:solidFill>
                <a:latin typeface="Consolas"/>
              </a:rPr>
              <a:t>0</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stratify</a:t>
            </a:r>
            <a:r>
              <a:rPr sz="1200" i="0">
                <a:solidFill>
                  <a:srgbClr val="AEB6BF"/>
                </a:solidFill>
                <a:latin typeface="Consolas"/>
              </a:rPr>
              <a:t>=</a:t>
            </a:r>
            <a:r>
              <a:rPr sz="1200" i="0">
                <a:solidFill>
                  <a:srgbClr val="E8EDF2"/>
                </a:solidFill>
                <a:latin typeface="Consolas"/>
              </a:rPr>
              <a:t>y</a:t>
            </a:r>
            <a:r>
              <a:rPr sz="1200" i="0">
                <a:solidFill>
                  <a:srgbClr val="AEB6BF"/>
                </a:solidFill>
                <a:latin typeface="Consolas"/>
              </a:rPr>
              <a:t>)</a:t>
            </a:r>
          </a:p>
          <a:p>
            <a:pPr>
              <a:lnSpc>
                <a:spcPct val="100000"/>
              </a:lnSpc>
              <a:spcAft>
                <a:spcPts val="0"/>
              </a:spcAft>
            </a:pPr>
            <a:r>
              <a:rPr sz="1200" i="0">
                <a:solidFill>
                  <a:srgbClr val="E8EDF2"/>
                </a:solidFill>
                <a:latin typeface="Consolas"/>
              </a:rPr>
              <a:t>rng</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np</a:t>
            </a:r>
            <a:r>
              <a:rPr sz="1200" i="0">
                <a:solidFill>
                  <a:srgbClr val="AEB6BF"/>
                </a:solidFill>
                <a:latin typeface="Consolas"/>
              </a:rPr>
              <a:t>.</a:t>
            </a:r>
            <a:r>
              <a:rPr sz="1200" i="0">
                <a:solidFill>
                  <a:srgbClr val="E8EDF2"/>
                </a:solidFill>
                <a:latin typeface="Consolas"/>
              </a:rPr>
              <a:t>random</a:t>
            </a:r>
            <a:r>
              <a:rPr sz="1200" i="0">
                <a:solidFill>
                  <a:srgbClr val="AEB6BF"/>
                </a:solidFill>
                <a:latin typeface="Consolas"/>
              </a:rPr>
              <a:t>.</a:t>
            </a:r>
            <a:r>
              <a:rPr sz="1200" i="0">
                <a:solidFill>
                  <a:srgbClr val="E8EDF2"/>
                </a:solidFill>
                <a:latin typeface="Consolas"/>
              </a:rPr>
              <a:t>default_rng</a:t>
            </a:r>
            <a:r>
              <a:rPr sz="1200" i="0">
                <a:solidFill>
                  <a:srgbClr val="AEB6BF"/>
                </a:solidFill>
                <a:latin typeface="Consolas"/>
              </a:rPr>
              <a:t>(</a:t>
            </a:r>
            <a:r>
              <a:rPr sz="1200" i="0">
                <a:solidFill>
                  <a:srgbClr val="F7DC6F"/>
                </a:solidFill>
                <a:latin typeface="Consolas"/>
              </a:rPr>
              <a:t>0</a:t>
            </a:r>
            <a:r>
              <a:rPr sz="1200" i="0">
                <a:solidFill>
                  <a:srgbClr val="AEB6BF"/>
                </a:solidFill>
                <a:latin typeface="Consolas"/>
              </a:rPr>
              <a:t>)</a:t>
            </a:r>
          </a:p>
          <a:p>
            <a:pPr>
              <a:lnSpc>
                <a:spcPct val="100000"/>
              </a:lnSpc>
              <a:spcAft>
                <a:spcPts val="0"/>
              </a:spcAft>
            </a:pPr>
            <a:r>
              <a:rPr sz="1200" i="0">
                <a:solidFill>
                  <a:srgbClr val="E8EDF2"/>
                </a:solidFill>
                <a:latin typeface="Consolas"/>
              </a:rPr>
              <a:t>keep</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rng</a:t>
            </a:r>
            <a:r>
              <a:rPr sz="1200" i="0">
                <a:solidFill>
                  <a:srgbClr val="AEB6BF"/>
                </a:solidFill>
                <a:latin typeface="Consolas"/>
              </a:rPr>
              <a:t>.</a:t>
            </a:r>
            <a:r>
              <a:rPr sz="1200" i="0">
                <a:solidFill>
                  <a:srgbClr val="E8EDF2"/>
                </a:solidFill>
                <a:latin typeface="Consolas"/>
              </a:rPr>
              <a:t>choice</a:t>
            </a:r>
            <a:r>
              <a:rPr sz="1200" i="0">
                <a:solidFill>
                  <a:srgbClr val="AEB6BF"/>
                </a:solidFill>
                <a:latin typeface="Consolas"/>
              </a:rPr>
              <a:t>(</a:t>
            </a:r>
            <a:r>
              <a:rPr sz="1200" i="0">
                <a:solidFill>
                  <a:srgbClr val="C39BD3"/>
                </a:solidFill>
                <a:latin typeface="Consolas"/>
              </a:rPr>
              <a:t>len</a:t>
            </a:r>
            <a:r>
              <a:rPr sz="1200" i="0">
                <a:solidFill>
                  <a:srgbClr val="AEB6BF"/>
                </a:solidFill>
                <a:latin typeface="Consolas"/>
              </a:rPr>
              <a:t>(</a:t>
            </a:r>
            <a:r>
              <a:rPr sz="1200" i="0">
                <a:solidFill>
                  <a:srgbClr val="E8EDF2"/>
                </a:solidFill>
                <a:latin typeface="Consolas"/>
              </a:rPr>
              <a:t>y_tr</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size</a:t>
            </a:r>
            <a:r>
              <a:rPr sz="1200" i="0">
                <a:solidFill>
                  <a:srgbClr val="AEB6BF"/>
                </a:solidFill>
                <a:latin typeface="Consolas"/>
              </a:rPr>
              <a:t>=</a:t>
            </a:r>
            <a:r>
              <a:rPr sz="1200" i="0">
                <a:solidFill>
                  <a:srgbClr val="F7DC6F"/>
                </a:solidFill>
                <a:latin typeface="Consolas"/>
              </a:rPr>
              <a:t>50</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replace</a:t>
            </a:r>
            <a:r>
              <a:rPr sz="1200" i="0">
                <a:solidFill>
                  <a:srgbClr val="AEB6BF"/>
                </a:solidFill>
                <a:latin typeface="Consolas"/>
              </a:rPr>
              <a:t>=</a:t>
            </a:r>
            <a:r>
              <a:rPr sz="1200" i="0">
                <a:solidFill>
                  <a:srgbClr val="5DADE2"/>
                </a:solidFill>
                <a:latin typeface="Consolas"/>
              </a:rPr>
              <a:t>False</a:t>
            </a:r>
            <a:r>
              <a:rPr sz="1200" i="0">
                <a:solidFill>
                  <a:srgbClr val="AEB6BF"/>
                </a:solidFill>
                <a:latin typeface="Consolas"/>
              </a:rPr>
              <a:t>)</a:t>
            </a:r>
          </a:p>
          <a:p>
            <a:pPr>
              <a:lnSpc>
                <a:spcPct val="100000"/>
              </a:lnSpc>
              <a:spcAft>
                <a:spcPts val="0"/>
              </a:spcAft>
            </a:pPr>
            <a:r>
              <a:rPr sz="1200" i="0">
                <a:solidFill>
                  <a:srgbClr val="E8EDF2"/>
                </a:solidFill>
                <a:latin typeface="Consolas"/>
              </a:rPr>
              <a:t>y_part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np</a:t>
            </a:r>
            <a:r>
              <a:rPr sz="1200" i="0">
                <a:solidFill>
                  <a:srgbClr val="AEB6BF"/>
                </a:solidFill>
                <a:latin typeface="Consolas"/>
              </a:rPr>
              <a:t>.</a:t>
            </a:r>
            <a:r>
              <a:rPr sz="1200" i="0">
                <a:solidFill>
                  <a:srgbClr val="E8EDF2"/>
                </a:solidFill>
                <a:latin typeface="Consolas"/>
              </a:rPr>
              <a:t>full_like</a:t>
            </a:r>
            <a:r>
              <a:rPr sz="1200" i="0">
                <a:solidFill>
                  <a:srgbClr val="AEB6BF"/>
                </a:solidFill>
                <a:latin typeface="Consolas"/>
              </a:rPr>
              <a:t>(</a:t>
            </a:r>
            <a:r>
              <a:rPr sz="1200" i="0">
                <a:solidFill>
                  <a:srgbClr val="E8EDF2"/>
                </a:solidFill>
                <a:latin typeface="Consolas"/>
              </a:rPr>
              <a:t>y_tr</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F7DC6F"/>
                </a:solidFill>
                <a:latin typeface="Consolas"/>
              </a:rPr>
              <a:t>1</a:t>
            </a:r>
            <a:r>
              <a:rPr sz="1200" i="0">
                <a:solidFill>
                  <a:srgbClr val="AEB6BF"/>
                </a:solidFill>
                <a:latin typeface="Consolas"/>
              </a:rPr>
              <a:t>)</a:t>
            </a:r>
            <a:r>
              <a:rPr sz="1200" i="0">
                <a:solidFill>
                  <a:srgbClr val="E8EDF2"/>
                </a:solidFill>
                <a:latin typeface="Consolas"/>
              </a:rPr>
              <a:t>                 </a:t>
            </a:r>
            <a:r>
              <a:rPr sz="1200" i="1">
                <a:solidFill>
                  <a:srgbClr val="8795A1"/>
                </a:solidFill>
                <a:latin typeface="Consolas"/>
              </a:rPr>
              <a:t># -1 means "unlabelled"</a:t>
            </a:r>
          </a:p>
          <a:p>
            <a:pPr>
              <a:lnSpc>
                <a:spcPct val="100000"/>
              </a:lnSpc>
              <a:spcAft>
                <a:spcPts val="0"/>
              </a:spcAft>
            </a:pPr>
            <a:r>
              <a:rPr sz="1200" i="0">
                <a:solidFill>
                  <a:srgbClr val="E8EDF2"/>
                </a:solidFill>
                <a:latin typeface="Consolas"/>
              </a:rPr>
              <a:t>y_part</a:t>
            </a:r>
            <a:r>
              <a:rPr sz="1200" i="0">
                <a:solidFill>
                  <a:srgbClr val="AEB6BF"/>
                </a:solidFill>
                <a:latin typeface="Consolas"/>
              </a:rPr>
              <a:t>[</a:t>
            </a:r>
            <a:r>
              <a:rPr sz="1200" i="0">
                <a:solidFill>
                  <a:srgbClr val="E8EDF2"/>
                </a:solidFill>
                <a:latin typeface="Consolas"/>
              </a:rPr>
              <a:t>keep</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y_tr</a:t>
            </a:r>
            <a:r>
              <a:rPr sz="1200" i="0">
                <a:solidFill>
                  <a:srgbClr val="AEB6BF"/>
                </a:solidFill>
                <a:latin typeface="Consolas"/>
              </a:rPr>
              <a:t>[</a:t>
            </a:r>
            <a:r>
              <a:rPr sz="1200" i="0">
                <a:solidFill>
                  <a:srgbClr val="E8EDF2"/>
                </a:solidFill>
                <a:latin typeface="Consolas"/>
              </a:rPr>
              <a:t>keep</a:t>
            </a:r>
            <a:r>
              <a:rPr sz="1200" i="0">
                <a:solidFill>
                  <a:srgbClr val="AEB6BF"/>
                </a:solidFill>
                <a:latin typeface="Consolas"/>
              </a:rPr>
              <a:t>]</a:t>
            </a:r>
          </a:p>
          <a:p>
            <a:pPr>
              <a:lnSpc>
                <a:spcPct val="100000"/>
              </a:lnSpc>
              <a:spcAft>
                <a:spcPts val="0"/>
              </a:spcAft>
            </a:pPr>
            <a:r>
              <a:rPr sz="1200" i="0">
                <a:solidFill>
                  <a:srgbClr val="E8EDF2"/>
                </a:solidFill>
                <a:latin typeface="Consolas"/>
              </a:rPr>
              <a:t>base</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make_pipeline</a:t>
            </a:r>
            <a:r>
              <a:rPr sz="1200" i="0">
                <a:solidFill>
                  <a:srgbClr val="AEB6BF"/>
                </a:solidFill>
                <a:latin typeface="Consolas"/>
              </a:rPr>
              <a:t>(</a:t>
            </a:r>
            <a:r>
              <a:rPr sz="1200" i="0">
                <a:solidFill>
                  <a:srgbClr val="E8EDF2"/>
                </a:solidFill>
                <a:latin typeface="Consolas"/>
              </a:rPr>
              <a:t>StandardScaler</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LogisticRegression</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only</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base</a:t>
            </a:r>
            <a:r>
              <a:rPr sz="1200" i="0">
                <a:solidFill>
                  <a:srgbClr val="AEB6BF"/>
                </a:solidFill>
                <a:latin typeface="Consolas"/>
              </a:rPr>
              <a:t>.</a:t>
            </a:r>
            <a:r>
              <a:rPr sz="1200" i="0">
                <a:solidFill>
                  <a:srgbClr val="E8EDF2"/>
                </a:solidFill>
                <a:latin typeface="Consolas"/>
              </a:rPr>
              <a:t>fit</a:t>
            </a:r>
            <a:r>
              <a:rPr sz="1200" i="0">
                <a:solidFill>
                  <a:srgbClr val="AEB6BF"/>
                </a:solidFill>
                <a:latin typeface="Consolas"/>
              </a:rPr>
              <a:t>(</a:t>
            </a:r>
            <a:r>
              <a:rPr sz="1200" i="0">
                <a:solidFill>
                  <a:srgbClr val="E8EDF2"/>
                </a:solidFill>
                <a:latin typeface="Consolas"/>
              </a:rPr>
              <a:t>X_tr</a:t>
            </a:r>
            <a:r>
              <a:rPr sz="1200" i="0">
                <a:solidFill>
                  <a:srgbClr val="AEB6BF"/>
                </a:solidFill>
                <a:latin typeface="Consolas"/>
              </a:rPr>
              <a:t>[</a:t>
            </a:r>
            <a:r>
              <a:rPr sz="1200" i="0">
                <a:solidFill>
                  <a:srgbClr val="E8EDF2"/>
                </a:solidFill>
                <a:latin typeface="Consolas"/>
              </a:rPr>
              <a:t>keep</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y_tr</a:t>
            </a:r>
            <a:r>
              <a:rPr sz="1200" i="0">
                <a:solidFill>
                  <a:srgbClr val="AEB6BF"/>
                </a:solidFill>
                <a:latin typeface="Consolas"/>
              </a:rPr>
              <a:t>[</a:t>
            </a:r>
            <a:r>
              <a:rPr sz="1200" i="0">
                <a:solidFill>
                  <a:srgbClr val="E8EDF2"/>
                </a:solidFill>
                <a:latin typeface="Consolas"/>
              </a:rPr>
              <a:t>keep</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score</a:t>
            </a:r>
            <a:r>
              <a:rPr sz="1200" i="0">
                <a:solidFill>
                  <a:srgbClr val="AEB6BF"/>
                </a:solidFill>
                <a:latin typeface="Consolas"/>
              </a:rPr>
              <a:t>(</a:t>
            </a:r>
            <a:r>
              <a:rPr sz="1200" i="0">
                <a:solidFill>
                  <a:srgbClr val="E8EDF2"/>
                </a:solidFill>
                <a:latin typeface="Consolas"/>
              </a:rPr>
              <a:t>X_te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y_te</a:t>
            </a:r>
            <a:r>
              <a:rPr sz="1200" i="0">
                <a:solidFill>
                  <a:srgbClr val="AEB6BF"/>
                </a:solidFill>
                <a:latin typeface="Consolas"/>
              </a:rPr>
              <a:t>)</a:t>
            </a:r>
          </a:p>
          <a:p>
            <a:pPr>
              <a:lnSpc>
                <a:spcPct val="100000"/>
              </a:lnSpc>
              <a:spcAft>
                <a:spcPts val="0"/>
              </a:spcAft>
            </a:pPr>
            <a:r>
              <a:rPr sz="1200" i="0">
                <a:solidFill>
                  <a:srgbClr val="E8EDF2"/>
                </a:solidFill>
                <a:latin typeface="Consolas"/>
              </a:rPr>
              <a:t>self_t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SelfTrainingClassifier</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make_pipeline</a:t>
            </a:r>
            <a:r>
              <a:rPr sz="1200" i="0">
                <a:solidFill>
                  <a:srgbClr val="AEB6BF"/>
                </a:solidFill>
                <a:latin typeface="Consolas"/>
              </a:rPr>
              <a:t>(</a:t>
            </a:r>
            <a:r>
              <a:rPr sz="1200" i="0">
                <a:solidFill>
                  <a:srgbClr val="E8EDF2"/>
                </a:solidFill>
                <a:latin typeface="Consolas"/>
              </a:rPr>
              <a:t>StandardScaler</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LogisticRegression</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threshold</a:t>
            </a:r>
            <a:r>
              <a:rPr sz="1200" i="0">
                <a:solidFill>
                  <a:srgbClr val="AEB6BF"/>
                </a:solidFill>
                <a:latin typeface="Consolas"/>
              </a:rPr>
              <a:t>=</a:t>
            </a:r>
            <a:r>
              <a:rPr sz="1200" i="0">
                <a:solidFill>
                  <a:srgbClr val="F7DC6F"/>
                </a:solidFill>
                <a:latin typeface="Consolas"/>
              </a:rPr>
              <a:t>0.9</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fit</a:t>
            </a:r>
            <a:r>
              <a:rPr sz="1200" i="0">
                <a:solidFill>
                  <a:srgbClr val="AEB6BF"/>
                </a:solidFill>
                <a:latin typeface="Consolas"/>
              </a:rPr>
              <a:t>(</a:t>
            </a:r>
            <a:r>
              <a:rPr sz="1200" i="0">
                <a:solidFill>
                  <a:srgbClr val="E8EDF2"/>
                </a:solidFill>
                <a:latin typeface="Consolas"/>
              </a:rPr>
              <a:t>X_tr</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y_part</a:t>
            </a:r>
            <a:r>
              <a:rPr sz="1200" i="0">
                <a:solidFill>
                  <a:srgbClr val="AEB6BF"/>
                </a:solidFill>
                <a:latin typeface="Consolas"/>
              </a:rPr>
              <a:t>)</a:t>
            </a:r>
          </a:p>
          <a:p>
            <a:pPr>
              <a:lnSpc>
                <a:spcPct val="100000"/>
              </a:lnSpc>
              <a:spcAft>
                <a:spcPts val="0"/>
              </a:spcAft>
            </a:pPr>
            <a:r>
              <a:rPr sz="1200" i="0">
                <a:solidFill>
                  <a:srgbClr val="C39BD3"/>
                </a:solidFill>
                <a:latin typeface="Consolas"/>
              </a:rPr>
              <a:t>print</a:t>
            </a:r>
            <a:r>
              <a:rPr sz="1200" i="0">
                <a:solidFill>
                  <a:srgbClr val="AEB6BF"/>
                </a:solidFill>
                <a:latin typeface="Consolas"/>
              </a:rPr>
              <a:t>(</a:t>
            </a:r>
            <a:r>
              <a:rPr sz="1200" i="0">
                <a:solidFill>
                  <a:srgbClr val="7DCEA0"/>
                </a:solidFill>
                <a:latin typeface="Consolas"/>
              </a:rPr>
              <a:t>f</a:t>
            </a:r>
            <a:r>
              <a:rPr sz="1200" i="0">
                <a:solidFill>
                  <a:srgbClr val="7DCEA0"/>
                </a:solidFill>
                <a:latin typeface="Consolas"/>
              </a:rPr>
              <a:t>"</a:t>
            </a:r>
            <a:r>
              <a:rPr sz="1200" i="0">
                <a:solidFill>
                  <a:srgbClr val="7DCEA0"/>
                </a:solidFill>
                <a:latin typeface="Consolas"/>
              </a:rPr>
              <a:t>50 labels only: </a:t>
            </a:r>
            <a:r>
              <a:rPr sz="1200" i="0">
                <a:solidFill>
                  <a:srgbClr val="7DCEA0"/>
                </a:solidFill>
                <a:latin typeface="Consolas"/>
              </a:rPr>
              <a:t>{</a:t>
            </a:r>
            <a:r>
              <a:rPr sz="1200" i="0">
                <a:solidFill>
                  <a:srgbClr val="E8EDF2"/>
                </a:solidFill>
                <a:latin typeface="Consolas"/>
              </a:rPr>
              <a:t>only</a:t>
            </a:r>
            <a:r>
              <a:rPr sz="1200" i="0">
                <a:solidFill>
                  <a:srgbClr val="7DCEA0"/>
                </a:solidFill>
                <a:latin typeface="Consolas"/>
              </a:rPr>
              <a:t>:</a:t>
            </a:r>
            <a:r>
              <a:rPr sz="1200" i="0">
                <a:solidFill>
                  <a:srgbClr val="7DCEA0"/>
                </a:solidFill>
                <a:latin typeface="Consolas"/>
              </a:rPr>
              <a:t>.3f</a:t>
            </a:r>
            <a:r>
              <a:rPr sz="1200" i="0">
                <a:solidFill>
                  <a:srgbClr val="7DCEA0"/>
                </a:solidFill>
                <a:latin typeface="Consolas"/>
              </a:rPr>
              <a:t>}</a:t>
            </a:r>
            <a:r>
              <a:rPr sz="1200" i="0">
                <a:solidFill>
                  <a:srgbClr val="7DCEA0"/>
                </a:solidFill>
                <a:latin typeface="Consolas"/>
              </a:rPr>
              <a:t>   self-training with the rest </a:t>
            </a:r>
            <a:r>
              <a:rPr sz="1200" i="0">
                <a:solidFill>
                  <a:srgbClr val="7DCEA0"/>
                </a:solidFill>
                <a:latin typeface="Consolas"/>
              </a:rPr>
              <a:t>"</a:t>
            </a:r>
          </a:p>
          <a:p>
            <a:pPr>
              <a:lnSpc>
                <a:spcPct val="100000"/>
              </a:lnSpc>
              <a:spcAft>
                <a:spcPts val="0"/>
              </a:spcAft>
            </a:pPr>
            <a:r>
              <a:rPr sz="1200" i="0">
                <a:solidFill>
                  <a:srgbClr val="E8EDF2"/>
                </a:solidFill>
                <a:latin typeface="Consolas"/>
              </a:rPr>
              <a:t>      </a:t>
            </a:r>
            <a:r>
              <a:rPr sz="1200" i="0">
                <a:solidFill>
                  <a:srgbClr val="7DCEA0"/>
                </a:solidFill>
                <a:latin typeface="Consolas"/>
              </a:rPr>
              <a:t>f</a:t>
            </a:r>
            <a:r>
              <a:rPr sz="1200" i="0">
                <a:solidFill>
                  <a:srgbClr val="7DCEA0"/>
                </a:solidFill>
                <a:latin typeface="Consolas"/>
              </a:rPr>
              <a:t>"</a:t>
            </a:r>
            <a:r>
              <a:rPr sz="1200" i="0">
                <a:solidFill>
                  <a:srgbClr val="7DCEA0"/>
                </a:solidFill>
                <a:latin typeface="Consolas"/>
              </a:rPr>
              <a:t>unlabelled: </a:t>
            </a:r>
            <a:r>
              <a:rPr sz="1200" i="0">
                <a:solidFill>
                  <a:srgbClr val="7DCEA0"/>
                </a:solidFill>
                <a:latin typeface="Consolas"/>
              </a:rPr>
              <a:t>{</a:t>
            </a:r>
            <a:r>
              <a:rPr sz="1200" i="0">
                <a:solidFill>
                  <a:srgbClr val="E8EDF2"/>
                </a:solidFill>
                <a:latin typeface="Consolas"/>
              </a:rPr>
              <a:t>self_t</a:t>
            </a:r>
            <a:r>
              <a:rPr sz="1200" i="0">
                <a:solidFill>
                  <a:srgbClr val="AEB6BF"/>
                </a:solidFill>
                <a:latin typeface="Consolas"/>
              </a:rPr>
              <a:t>.</a:t>
            </a:r>
            <a:r>
              <a:rPr sz="1200" i="0">
                <a:solidFill>
                  <a:srgbClr val="E8EDF2"/>
                </a:solidFill>
                <a:latin typeface="Consolas"/>
              </a:rPr>
              <a:t>score</a:t>
            </a:r>
            <a:r>
              <a:rPr sz="1200" i="0">
                <a:solidFill>
                  <a:srgbClr val="AEB6BF"/>
                </a:solidFill>
                <a:latin typeface="Consolas"/>
              </a:rPr>
              <a:t>(</a:t>
            </a:r>
            <a:r>
              <a:rPr sz="1200" i="0">
                <a:solidFill>
                  <a:srgbClr val="E8EDF2"/>
                </a:solidFill>
                <a:latin typeface="Consolas"/>
              </a:rPr>
              <a:t>X_te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y_te</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.3f</a:t>
            </a:r>
            <a:r>
              <a:rPr sz="1200" i="0">
                <a:solidFill>
                  <a:srgbClr val="7DCEA0"/>
                </a:solidFill>
                <a:latin typeface="Consolas"/>
              </a:rPr>
              <a:t>}</a:t>
            </a:r>
            <a:r>
              <a:rPr sz="1200" i="0">
                <a:solidFill>
                  <a:srgbClr val="7DCEA0"/>
                </a:solidFill>
                <a:latin typeface="Consolas"/>
              </a:rPr>
              <a:t>   </a:t>
            </a:r>
            <a:r>
              <a:rPr sz="1200" i="0">
                <a:solidFill>
                  <a:srgbClr val="7DCEA0"/>
                </a:solidFill>
                <a:latin typeface="Consolas"/>
              </a:rPr>
              <a:t>"</a:t>
            </a:r>
          </a:p>
          <a:p>
            <a:pPr>
              <a:lnSpc>
                <a:spcPct val="100000"/>
              </a:lnSpc>
              <a:spcAft>
                <a:spcPts val="0"/>
              </a:spcAft>
            </a:pPr>
            <a:r>
              <a:rPr sz="1200" i="0">
                <a:solidFill>
                  <a:srgbClr val="E8EDF2"/>
                </a:solidFill>
                <a:latin typeface="Consolas"/>
              </a:rPr>
              <a:t>      </a:t>
            </a:r>
            <a:r>
              <a:rPr sz="1200" i="0">
                <a:solidFill>
                  <a:srgbClr val="7DCEA0"/>
                </a:solidFill>
                <a:latin typeface="Consolas"/>
              </a:rPr>
              <a:t>f</a:t>
            </a:r>
            <a:r>
              <a:rPr sz="1200" i="0">
                <a:solidFill>
                  <a:srgbClr val="7DCEA0"/>
                </a:solidFill>
                <a:latin typeface="Consolas"/>
              </a:rPr>
              <a:t>"</a:t>
            </a:r>
            <a:r>
              <a:rPr sz="1200" i="0">
                <a:solidFill>
                  <a:srgbClr val="7DCEA0"/>
                </a:solidFill>
                <a:latin typeface="Consolas"/>
              </a:rPr>
              <a:t>all </a:t>
            </a:r>
            <a:r>
              <a:rPr sz="1200" i="0">
                <a:solidFill>
                  <a:srgbClr val="7DCEA0"/>
                </a:solidFill>
                <a:latin typeface="Consolas"/>
              </a:rPr>
              <a:t>{</a:t>
            </a:r>
            <a:r>
              <a:rPr sz="1200" i="0">
                <a:solidFill>
                  <a:srgbClr val="C39BD3"/>
                </a:solidFill>
                <a:latin typeface="Consolas"/>
              </a:rPr>
              <a:t>len</a:t>
            </a:r>
            <a:r>
              <a:rPr sz="1200" i="0">
                <a:solidFill>
                  <a:srgbClr val="AEB6BF"/>
                </a:solidFill>
                <a:latin typeface="Consolas"/>
              </a:rPr>
              <a:t>(</a:t>
            </a:r>
            <a:r>
              <a:rPr sz="1200" i="0">
                <a:solidFill>
                  <a:srgbClr val="E8EDF2"/>
                </a:solidFill>
                <a:latin typeface="Consolas"/>
              </a:rPr>
              <a:t>y_tr</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 labels: </a:t>
            </a:r>
            <a:r>
              <a:rPr sz="1200" i="0">
                <a:solidFill>
                  <a:srgbClr val="7DCEA0"/>
                </a:solidFill>
                <a:latin typeface="Consolas"/>
              </a:rPr>
              <a:t>"</a:t>
            </a:r>
          </a:p>
          <a:p>
            <a:pPr>
              <a:lnSpc>
                <a:spcPct val="100000"/>
              </a:lnSpc>
              <a:spcAft>
                <a:spcPts val="0"/>
              </a:spcAft>
            </a:pPr>
            <a:r>
              <a:rPr sz="1200" i="0">
                <a:solidFill>
                  <a:srgbClr val="E8EDF2"/>
                </a:solidFill>
                <a:latin typeface="Consolas"/>
              </a:rPr>
              <a:t>      </a:t>
            </a:r>
            <a:r>
              <a:rPr sz="1200" i="0">
                <a:solidFill>
                  <a:srgbClr val="7DCEA0"/>
                </a:solidFill>
                <a:latin typeface="Consolas"/>
              </a:rPr>
              <a:t>f</a:t>
            </a:r>
            <a:r>
              <a:rPr sz="1200" i="0">
                <a:solidFill>
                  <a:srgbClr val="7DCEA0"/>
                </a:solidFill>
                <a:latin typeface="Consolas"/>
              </a:rPr>
              <a:t>"</a:t>
            </a:r>
            <a:r>
              <a:rPr sz="1200" i="0">
                <a:solidFill>
                  <a:srgbClr val="7DCEA0"/>
                </a:solidFill>
                <a:latin typeface="Consolas"/>
              </a:rPr>
              <a:t>{</a:t>
            </a:r>
            <a:r>
              <a:rPr sz="1200" i="0">
                <a:solidFill>
                  <a:srgbClr val="E8EDF2"/>
                </a:solidFill>
                <a:latin typeface="Consolas"/>
              </a:rPr>
              <a:t>base</a:t>
            </a:r>
            <a:r>
              <a:rPr sz="1200" i="0">
                <a:solidFill>
                  <a:srgbClr val="AEB6BF"/>
                </a:solidFill>
                <a:latin typeface="Consolas"/>
              </a:rPr>
              <a:t>.</a:t>
            </a:r>
            <a:r>
              <a:rPr sz="1200" i="0">
                <a:solidFill>
                  <a:srgbClr val="E8EDF2"/>
                </a:solidFill>
                <a:latin typeface="Consolas"/>
              </a:rPr>
              <a:t>fit</a:t>
            </a:r>
            <a:r>
              <a:rPr sz="1200" i="0">
                <a:solidFill>
                  <a:srgbClr val="AEB6BF"/>
                </a:solidFill>
                <a:latin typeface="Consolas"/>
              </a:rPr>
              <a:t>(</a:t>
            </a:r>
            <a:r>
              <a:rPr sz="1200" i="0">
                <a:solidFill>
                  <a:srgbClr val="E8EDF2"/>
                </a:solidFill>
                <a:latin typeface="Consolas"/>
              </a:rPr>
              <a:t>X_tr</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y_tr</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score</a:t>
            </a:r>
            <a:r>
              <a:rPr sz="1200" i="0">
                <a:solidFill>
                  <a:srgbClr val="AEB6BF"/>
                </a:solidFill>
                <a:latin typeface="Consolas"/>
              </a:rPr>
              <a:t>(</a:t>
            </a:r>
            <a:r>
              <a:rPr sz="1200" i="0">
                <a:solidFill>
                  <a:srgbClr val="E8EDF2"/>
                </a:solidFill>
                <a:latin typeface="Consolas"/>
              </a:rPr>
              <a:t>X_te</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y_te</a:t>
            </a:r>
            <a:r>
              <a:rPr sz="1200" i="0">
                <a:solidFill>
                  <a:srgbClr val="AEB6BF"/>
                </a:solidFill>
                <a:latin typeface="Consolas"/>
              </a:rPr>
              <a:t>)</a:t>
            </a:r>
            <a:r>
              <a:rPr sz="1200" i="0">
                <a:solidFill>
                  <a:srgbClr val="7DCEA0"/>
                </a:solidFill>
                <a:latin typeface="Consolas"/>
              </a:rPr>
              <a:t>:</a:t>
            </a:r>
            <a:r>
              <a:rPr sz="1200" i="0">
                <a:solidFill>
                  <a:srgbClr val="7DCEA0"/>
                </a:solidFill>
                <a:latin typeface="Consolas"/>
              </a:rPr>
              <a:t>.3f</a:t>
            </a:r>
            <a:r>
              <a:rPr sz="1200" i="0">
                <a:solidFill>
                  <a:srgbClr val="7DCEA0"/>
                </a:solidFill>
                <a:latin typeface="Consolas"/>
              </a:rPr>
              <a:t>}</a:t>
            </a:r>
            <a:r>
              <a:rPr sz="1200" i="0">
                <a:solidFill>
                  <a:srgbClr val="7DCEA0"/>
                </a:solidFill>
                <a:latin typeface="Consolas"/>
              </a:rPr>
              <a:t>"</a:t>
            </a:r>
            <a:r>
              <a:rPr sz="1200" i="0">
                <a:solidFill>
                  <a:srgbClr val="AEB6BF"/>
                </a:solidFill>
                <a:latin typeface="Consolas"/>
              </a:rPr>
              <a:t>)</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200">
                <a:solidFill>
                  <a:srgbClr val="4F5D6A"/>
                </a:solidFill>
                <a:latin typeface="Consolas"/>
              </a:rPr>
              <a:t>32</a:t>
            </a:r>
          </a:p>
          <a:p>
            <a:pPr algn="r">
              <a:lnSpc>
                <a:spcPct val="100000"/>
              </a:lnSpc>
            </a:pPr>
            <a:r>
              <a:rPr sz="1200">
                <a:solidFill>
                  <a:srgbClr val="4F5D6A"/>
                </a:solidFill>
                <a:latin typeface="Consolas"/>
              </a:rPr>
              <a:t>33</a:t>
            </a:r>
          </a:p>
          <a:p>
            <a:pPr algn="r">
              <a:lnSpc>
                <a:spcPct val="100000"/>
              </a:lnSpc>
            </a:pPr>
            <a:r>
              <a:rPr sz="1200">
                <a:solidFill>
                  <a:srgbClr val="4F5D6A"/>
                </a:solidFill>
                <a:latin typeface="Consolas"/>
              </a:rPr>
              <a:t>34</a:t>
            </a:r>
          </a:p>
          <a:p>
            <a:pPr algn="r">
              <a:lnSpc>
                <a:spcPct val="100000"/>
              </a:lnSpc>
            </a:pPr>
            <a:r>
              <a:rPr sz="1200">
                <a:solidFill>
                  <a:srgbClr val="4F5D6A"/>
                </a:solidFill>
                <a:latin typeface="Consolas"/>
              </a:rPr>
              <a:t>35</a:t>
            </a:r>
          </a:p>
          <a:p>
            <a:pPr algn="r">
              <a:lnSpc>
                <a:spcPct val="100000"/>
              </a:lnSpc>
            </a:pPr>
            <a:r>
              <a:rPr sz="1200">
                <a:solidFill>
                  <a:srgbClr val="4F5D6A"/>
                </a:solidFill>
                <a:latin typeface="Consolas"/>
              </a:rPr>
              <a:t>36</a:t>
            </a:r>
          </a:p>
          <a:p>
            <a:pPr algn="r">
              <a:lnSpc>
                <a:spcPct val="100000"/>
              </a:lnSpc>
            </a:pPr>
            <a:r>
              <a:rPr sz="1200">
                <a:solidFill>
                  <a:srgbClr val="4F5D6A"/>
                </a:solidFill>
                <a:latin typeface="Consolas"/>
              </a:rPr>
              <a:t>37</a:t>
            </a:r>
          </a:p>
          <a:p>
            <a:pPr algn="r">
              <a:lnSpc>
                <a:spcPct val="100000"/>
              </a:lnSpc>
            </a:pPr>
            <a:r>
              <a:rPr sz="1200">
                <a:solidFill>
                  <a:srgbClr val="4F5D6A"/>
                </a:solidFill>
                <a:latin typeface="Consolas"/>
              </a:rPr>
              <a:t>38</a:t>
            </a:r>
          </a:p>
          <a:p>
            <a:pPr algn="r">
              <a:lnSpc>
                <a:spcPct val="100000"/>
              </a:lnSpc>
            </a:pPr>
            <a:r>
              <a:rPr sz="1200">
                <a:solidFill>
                  <a:srgbClr val="4F5D6A"/>
                </a:solidFill>
                <a:latin typeface="Consolas"/>
              </a:rPr>
              <a:t>39</a:t>
            </a:r>
          </a:p>
          <a:p>
            <a:pPr algn="r">
              <a:lnSpc>
                <a:spcPct val="100000"/>
              </a:lnSpc>
            </a:pPr>
            <a:r>
              <a:rPr sz="1200">
                <a:solidFill>
                  <a:srgbClr val="4F5D6A"/>
                </a:solidFill>
                <a:latin typeface="Consolas"/>
              </a:rPr>
              <a:t>40</a:t>
            </a:r>
          </a:p>
          <a:p>
            <a:pPr algn="r">
              <a:lnSpc>
                <a:spcPct val="100000"/>
              </a:lnSpc>
            </a:pPr>
            <a:r>
              <a:rPr sz="1200">
                <a:solidFill>
                  <a:srgbClr val="4F5D6A"/>
                </a:solidFill>
                <a:latin typeface="Consolas"/>
              </a:rPr>
              <a:t>41</a:t>
            </a:r>
          </a:p>
          <a:p>
            <a:pPr algn="r">
              <a:lnSpc>
                <a:spcPct val="100000"/>
              </a:lnSpc>
            </a:pPr>
            <a:r>
              <a:rPr sz="1200">
                <a:solidFill>
                  <a:srgbClr val="4F5D6A"/>
                </a:solidFill>
                <a:latin typeface="Consolas"/>
              </a:rPr>
              <a:t>42</a:t>
            </a:r>
          </a:p>
          <a:p>
            <a:pPr algn="r">
              <a:lnSpc>
                <a:spcPct val="100000"/>
              </a:lnSpc>
            </a:pPr>
            <a:r>
              <a:rPr sz="1200">
                <a:solidFill>
                  <a:srgbClr val="4F5D6A"/>
                </a:solidFill>
                <a:latin typeface="Consolas"/>
              </a:rPr>
              <a:t>43</a:t>
            </a:r>
          </a:p>
          <a:p>
            <a:pPr algn="r">
              <a:lnSpc>
                <a:spcPct val="100000"/>
              </a:lnSpc>
            </a:pPr>
            <a:r>
              <a:rPr sz="1200">
                <a:solidFill>
                  <a:srgbClr val="4F5D6A"/>
                </a:solidFill>
                <a:latin typeface="Consolas"/>
              </a:rPr>
              <a:t>44</a:t>
            </a:r>
          </a:p>
          <a:p>
            <a:pPr algn="r">
              <a:lnSpc>
                <a:spcPct val="100000"/>
              </a:lnSpc>
            </a:pPr>
            <a:r>
              <a:rPr sz="1200">
                <a:solidFill>
                  <a:srgbClr val="4F5D6A"/>
                </a:solidFill>
                <a:latin typeface="Consolas"/>
              </a:rPr>
              <a:t>45</a:t>
            </a:r>
          </a:p>
          <a:p>
            <a:pPr algn="r">
              <a:lnSpc>
                <a:spcPct val="100000"/>
              </a:lnSpc>
            </a:pPr>
            <a:r>
              <a:rPr sz="1200">
                <a:solidFill>
                  <a:srgbClr val="4F5D6A"/>
                </a:solidFill>
                <a:latin typeface="Consolas"/>
              </a:rPr>
              <a:t>46</a:t>
            </a:r>
          </a:p>
          <a:p>
            <a:pPr algn="r">
              <a:lnSpc>
                <a:spcPct val="100000"/>
              </a:lnSpc>
            </a:pPr>
            <a:r>
              <a:rPr sz="1200">
                <a:solidFill>
                  <a:srgbClr val="4F5D6A"/>
                </a:solidFill>
                <a:latin typeface="Consolas"/>
              </a:rPr>
              <a:t>47</a:t>
            </a:r>
          </a:p>
          <a:p>
            <a:pPr algn="r">
              <a:lnSpc>
                <a:spcPct val="100000"/>
              </a:lnSpc>
            </a:pPr>
            <a:r>
              <a:rPr sz="1200">
                <a:solidFill>
                  <a:srgbClr val="4F5D6A"/>
                </a:solidFill>
                <a:latin typeface="Consolas"/>
              </a:rPr>
              <a:t>48</a:t>
            </a:r>
          </a:p>
          <a:p>
            <a:pPr algn="r">
              <a:lnSpc>
                <a:spcPct val="100000"/>
              </a:lnSpc>
            </a:pPr>
            <a:r>
              <a:rPr sz="1200">
                <a:solidFill>
                  <a:srgbClr val="4F5D6A"/>
                </a:solidFill>
                <a:latin typeface="Consolas"/>
              </a:rPr>
              <a:t>49</a:t>
            </a:r>
          </a:p>
          <a:p>
            <a:pPr algn="r">
              <a:lnSpc>
                <a:spcPct val="100000"/>
              </a:lnSpc>
            </a:pPr>
            <a:r>
              <a:rPr sz="1200">
                <a:solidFill>
                  <a:srgbClr val="4F5D6A"/>
                </a:solidFill>
                <a:latin typeface="Consolas"/>
              </a:rPr>
              <a:t>50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2939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§17.5  ·  Handout p. 128     </a:t>
            </a:r>
            <a:fld id="{F1242CD2-CFDE-4F5C-9631-F494F9F062CB}" type="slidenum">
              <a:rPr lang="en-GB" sz="1000">
                <a:solidFill>
                  <a:srgbClr val="8795A1"/>
                </a:solidFill>
                <a:latin typeface="Segoe UI"/>
              </a:rPr>
              <a:t>28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Change the self-training </a:t>
            </a:r>
            <a:r>
              <a:rPr sz="2150" b="0" i="0">
                <a:solidFill>
                  <a:srgbClr val="1F4E79"/>
                </a:solidFill>
                <a:latin typeface="Consolas"/>
              </a:rPr>
              <a:t>threshold</a:t>
            </a:r>
            <a:r>
              <a:rPr sz="2300" b="0" i="0">
                <a:solidFill>
                  <a:srgbClr val="1C252B"/>
                </a:solidFill>
                <a:latin typeface="Segoe UI"/>
              </a:rPr>
              <a:t> to 0.5 and then 0.99. Which is better, and what does the answer say about confirmation bias?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53418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State the cluster assumption, and give an example where it fails.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17  ·  Semi-Supervised Learning and the EM Algorithm</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133  ·  answers in Appendix D     </a:t>
            </a:r>
            <a:fld id="{F0F4CF84-F996-46BE-9F79-7A4CED28F31B}" type="slidenum">
              <a:rPr lang="en-GB" sz="1000">
                <a:solidFill>
                  <a:srgbClr val="D5DEE5"/>
                </a:solidFill>
                <a:latin typeface="Segoe UI"/>
              </a:rPr>
              <a:t>29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State the cluster assumption, and give an example where it fails.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Examples in the same cluster tend to share a label, so the decision boundary should pass through low-density regions. It fails when classes overlap inside one cluster — for example tickets with different root causes whose text and history look the same (a timeout caused by the network and one caused by a slow database query).</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  answers in Appendix D     </a:t>
            </a:r>
            <a:fld id="{FCBE790E-EF50-4C65-AA07-243B82699C6B}" type="slidenum">
              <a:rPr lang="en-GB" sz="1000">
                <a:solidFill>
                  <a:srgbClr val="8795A1"/>
                </a:solidFill>
                <a:latin typeface="Segoe UI"/>
              </a:rPr>
              <a:t>30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14377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In one EM iteration, what does the E-step compute and what does the M-step compute?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17  ·  Semi-Supervised Learning and the EM Algorithm</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133  ·  answers in Appendix D     </a:t>
            </a:r>
            <a:fld id="{30485CDB-E5AC-4173-A859-FFCE310177FF}" type="slidenum">
              <a:rPr lang="en-GB" sz="1000">
                <a:solidFill>
                  <a:srgbClr val="D5DEE5"/>
                </a:solidFill>
                <a:latin typeface="Segoe UI"/>
              </a:rPr>
              <a:t>31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In one EM iteration, what does the E-step compute and what does the M-step compute?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E-step computes, with the current parameters, each example’s responsibilities (the probability that each component produced it). The M-step re-estimates the parameters from the responsibility-weighted examples.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  answers in Appendix D     </a:t>
            </a:r>
            <a:fld id="{DFCCAFFE-F47D-4D57-A178-5DCAA0049299}" type="slidenum">
              <a:rPr lang="en-GB" sz="1000">
                <a:solidFill>
                  <a:srgbClr val="8795A1"/>
                </a:solidFill>
                <a:latin typeface="Segoe UI"/>
              </a:rPr>
              <a:t>32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53356"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How does </a:t>
            </a:r>
            <a:r>
              <a:rPr sz="3400" b="0" i="1">
                <a:solidFill>
                  <a:srgbClr val="FFFFFF"/>
                </a:solidFill>
                <a:latin typeface="Cambria"/>
              </a:rPr>
              <a:t>k</a:t>
            </a:r>
            <a:r>
              <a:rPr sz="3400" b="0" i="0">
                <a:solidFill>
                  <a:srgbClr val="FFFFFF"/>
                </a:solidFill>
                <a:latin typeface="Segoe UI Semibold"/>
              </a:rPr>
              <a:t>-means differ from EM for a Gaussian mixture?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17  ·  Semi-Supervised Learning and the EM Algorithm</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133  ·  answers in Appendix D     </a:t>
            </a:r>
            <a:fld id="{D298097C-A63A-47A6-9B65-FA2BC43B60E9}"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How does </a:t>
            </a:r>
            <a:r>
              <a:rPr sz="2400" b="0" i="1">
                <a:solidFill>
                  <a:srgbClr val="1A5276"/>
                </a:solidFill>
                <a:latin typeface="Cambria"/>
              </a:rPr>
              <a:t>k</a:t>
            </a:r>
            <a:r>
              <a:rPr sz="2400" b="0" i="0">
                <a:solidFill>
                  <a:srgbClr val="1A5276"/>
                </a:solidFill>
                <a:latin typeface="Segoe UI Semibold"/>
              </a:rPr>
              <a:t>-means differ from EM for a Gaussian mixture?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Cambria"/>
              </a:rPr>
              <a:t>k</a:t>
            </a:r>
            <a:r>
              <a:rPr sz="2200" b="0" i="0">
                <a:solidFill>
                  <a:srgbClr val="1C252B"/>
                </a:solidFill>
                <a:latin typeface="Segoe UI"/>
              </a:rPr>
              <a:t>-means makes hard assignments and estimates only means (implicitly round, equal clusters); EM for a Gaussian mixture makes soft assignments and also estimates covariances and mixing weights, maximising the likelihood.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  answers in Appendix D     </a:t>
            </a:r>
            <a:fld id="{187EBB7E-8770-4B04-9607-EDBED64E6576}"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6294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a:t>
            </a:r>
            <a:fld id="{7818F32C-BFC3-4943-9D69-D36C0C891226}" type="slidenum">
              <a:rPr lang="en-GB" sz="1000">
                <a:solidFill>
                  <a:srgbClr val="8795A1"/>
                </a:solidFill>
                <a:latin typeface="Segoe UI"/>
              </a:rPr>
              <a:t>35</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95097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Semi-supervised learning uses many unlabelled examples to improve a classifier trained on few labels, relying on the smoothness, cluster or manifold assumption; when those fail it can hurt.</a:t>
            </a:r>
          </a:p>
        </p:txBody>
      </p:sp>
      <p:sp>
        <p:nvSpPr>
          <p:cNvPr id="10" name="!!sb1">
            <a:extLst>
              <a:ext uri="{C183D7F6-B498-43B3-948B-1728B52AA6E4}">
                <adec:decorative xmlns:adec="http://schemas.microsoft.com/office/drawing/2017/decorative" val="1"/>
              </a:ext>
            </a:extLst>
          </p:cNvPr>
          <p:cNvSpPr/>
          <p:nvPr/>
        </p:nvSpPr>
        <p:spPr>
          <a:xfrm>
            <a:off x="658368" y="288035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93522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87121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Self-training adds confident predictions as labels and retrains; its risk is confirmation bias.</a:t>
            </a:r>
          </a:p>
        </p:txBody>
      </p:sp>
      <p:sp>
        <p:nvSpPr>
          <p:cNvPr id="13" name="!!sb2">
            <a:extLst>
              <a:ext uri="{C183D7F6-B498-43B3-948B-1728B52AA6E4}">
                <adec:decorative xmlns:adec="http://schemas.microsoft.com/office/drawing/2017/decorative" val="1"/>
              </a:ext>
            </a:extLst>
          </p:cNvPr>
          <p:cNvSpPr/>
          <p:nvPr/>
        </p:nvSpPr>
        <p:spPr>
          <a:xfrm>
            <a:off x="658368" y="346557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52043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56432"/>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Gaussian mixture explains data as coming from hidden components, each with a weight, mean and covariance.</a:t>
            </a:r>
          </a:p>
        </p:txBody>
      </p:sp>
      <p:sp>
        <p:nvSpPr>
          <p:cNvPr id="16" name="!!sb3">
            <a:extLst>
              <a:ext uri="{C183D7F6-B498-43B3-948B-1728B52AA6E4}">
                <adec:decorative xmlns:adec="http://schemas.microsoft.com/office/drawing/2017/decorative" val="1"/>
              </a:ext>
            </a:extLst>
          </p:cNvPr>
          <p:cNvSpPr/>
          <p:nvPr/>
        </p:nvSpPr>
        <p:spPr>
          <a:xfrm>
            <a:off x="658368" y="428243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33730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273296"/>
            <a:ext cx="10234879" cy="95097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EM alternates an E-step (responsibilities: soft assignments) and an M-step (responsibility-weighted re-estimates), never lowering the likelihood and converging to a local maximum; </a:t>
            </a:r>
            <a:r>
              <a:rPr sz="2000" b="0" i="1">
                <a:solidFill>
                  <a:srgbClr val="1C252B"/>
                </a:solidFill>
                <a:latin typeface="Cambria"/>
              </a:rPr>
              <a:t>k</a:t>
            </a:r>
            <a:r>
              <a:rPr sz="2000" b="0" i="0">
                <a:solidFill>
                  <a:srgbClr val="1C252B"/>
                </a:solidFill>
                <a:latin typeface="Segoe UI"/>
              </a:rPr>
              <a:t>-means is its hard-assignment special case.</a:t>
            </a:r>
          </a:p>
        </p:txBody>
      </p:sp>
      <p:sp>
        <p:nvSpPr>
          <p:cNvPr id="19" name="!!sb4">
            <a:extLst>
              <a:ext uri="{C183D7F6-B498-43B3-948B-1728B52AA6E4}">
                <adec:decorative xmlns:adec="http://schemas.microsoft.com/office/drawing/2017/decorative" val="1"/>
              </a:ext>
            </a:extLst>
          </p:cNvPr>
          <p:cNvSpPr/>
          <p:nvPr/>
        </p:nvSpPr>
        <p:spPr>
          <a:xfrm>
            <a:off x="658368" y="541629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547116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5407152"/>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With labelled and unlabelled data, labelled examples keep their labels in the E-step and anchor each component to a class.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66773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a:t>
            </a:r>
            <a:fld id="{F1DBFF87-31ED-42F9-8390-56563E33B2CC}" type="slidenum">
              <a:rPr lang="en-GB" sz="1000">
                <a:solidFill>
                  <a:srgbClr val="8795A1"/>
                </a:solidFill>
                <a:latin typeface="Segoe UI"/>
              </a:rPr>
              <a:t>36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In the EM algorithm, the responsibilities are computed in: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M-step</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E-step</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initialisation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neither step</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097252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a:t>
            </a:r>
            <a:fld id="{EB082A12-310C-4266-9A9F-0BF4595982DE}" type="slidenum">
              <a:rPr lang="en-GB" sz="1000">
                <a:solidFill>
                  <a:srgbClr val="8795A1"/>
                </a:solidFill>
                <a:latin typeface="Segoe UI"/>
              </a:rPr>
              <a:t>37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1">
                <a:solidFill>
                  <a:srgbClr val="1C252B"/>
                </a:solidFill>
                <a:latin typeface="Cambria"/>
              </a:rPr>
              <a:t>k</a:t>
            </a:r>
            <a:r>
              <a:rPr sz="2600" b="0" i="0">
                <a:solidFill>
                  <a:srgbClr val="1C252B"/>
                </a:solidFill>
                <a:latin typeface="Segoe UI"/>
              </a:rPr>
              <a:t>-means corresponds to EM with:</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soft assignments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hard assignments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 M-step</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labelled data only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77318"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a:t>
            </a:r>
            <a:fld id="{147ABF85-F4AA-47B2-8165-733C5FC8DAD8}"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Self-training’s main risk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underfitting</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slow prediction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confirmation bias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curse of dimensionality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8211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17  ·  Semi-Supervised Learning and the EM Algorithm</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133     </a:t>
            </a:r>
            <a:fld id="{5B26858D-644D-4AC6-A790-9F225DA8E472}" type="slidenum">
              <a:rPr lang="en-GB" sz="1000">
                <a:solidFill>
                  <a:srgbClr val="8795A1"/>
                </a:solidFill>
                <a:latin typeface="Segoe UI"/>
              </a:rPr>
              <a:t>39</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can unlabelled data improve a classifier at all?</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EM can converge to different answers from different starting points, and what to do about it.</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In semi-supervised EM, what role do the labelled examples play that the unlabelled ones cannot?</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Repeat the first EM iteration of the worked example with initial means </a:t>
            </a:r>
            <a:r>
              <a:rPr sz="1900" b="0" i="0">
                <a:solidFill>
                  <a:srgbClr val="1C252B"/>
                </a:solidFill>
                <a:latin typeface="Cambria"/>
              </a:rPr>
              <a:t>μ</a:t>
            </a:r>
            <a:r>
              <a:rPr sz="1900" b="0" i="0" baseline="-25000">
                <a:solidFill>
                  <a:srgbClr val="1C252B"/>
                </a:solidFill>
                <a:latin typeface="Cambria"/>
              </a:rPr>
              <a:t>1</a:t>
            </a:r>
            <a:r>
              <a:rPr sz="1900" b="0" i="0">
                <a:solidFill>
                  <a:srgbClr val="1C252B"/>
                </a:solidFill>
                <a:latin typeface="Cambria"/>
              </a:rPr>
              <a:t> = 4</a:t>
            </a:r>
            <a:r>
              <a:rPr sz="1900" b="0" i="0">
                <a:solidFill>
                  <a:srgbClr val="1C252B"/>
                </a:solidFill>
                <a:latin typeface="Segoe UI"/>
              </a:rPr>
              <a:t>, </a:t>
            </a:r>
            <a:r>
              <a:rPr sz="1900" b="0" i="0">
                <a:solidFill>
                  <a:srgbClr val="1C252B"/>
                </a:solidFill>
                <a:latin typeface="Cambria"/>
              </a:rPr>
              <a:t>μ</a:t>
            </a:r>
            <a:r>
              <a:rPr sz="1900" b="0" i="0" baseline="-25000">
                <a:solidFill>
                  <a:srgbClr val="1C252B"/>
                </a:solidFill>
                <a:latin typeface="Cambria"/>
              </a:rPr>
              <a:t>2</a:t>
            </a:r>
            <a:r>
              <a:rPr sz="1900" b="0" i="0">
                <a:solidFill>
                  <a:srgbClr val="1C252B"/>
                </a:solidFill>
                <a:latin typeface="Cambria"/>
              </a:rPr>
              <a:t> = 6</a:t>
            </a:r>
            <a:r>
              <a:rPr sz="1900" b="0" i="0">
                <a:solidFill>
                  <a:srgbClr val="1C252B"/>
                </a:solidFill>
                <a:latin typeface="Segoe UI"/>
              </a:rPr>
              <a:t>. Where do the means go?</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For the values </a:t>
            </a:r>
            <a:r>
              <a:rPr sz="1900" b="0" i="0">
                <a:solidFill>
                  <a:srgbClr val="1C252B"/>
                </a:solidFill>
                <a:latin typeface="Cambria"/>
              </a:rPr>
              <a:t>0, 1, 5, 6</a:t>
            </a:r>
            <a:r>
              <a:rPr sz="1900" b="0" i="0">
                <a:solidFill>
                  <a:srgbClr val="1C252B"/>
                </a:solidFill>
                <a:latin typeface="Segoe UI"/>
              </a:rPr>
              <a:t> with </a:t>
            </a:r>
            <a:r>
              <a:rPr sz="1900" b="0" i="0">
                <a:solidFill>
                  <a:srgbClr val="1C252B"/>
                </a:solidFill>
                <a:latin typeface="Cambria"/>
              </a:rPr>
              <a:t>σ = 1</a:t>
            </a:r>
            <a:r>
              <a:rPr sz="1900" b="0" i="0">
                <a:solidFill>
                  <a:srgbClr val="1C252B"/>
                </a:solidFill>
                <a:latin typeface="Segoe UI"/>
              </a:rPr>
              <a:t> and equal weights, start EM from </a:t>
            </a:r>
            <a:r>
              <a:rPr sz="1900" b="0" i="0">
                <a:solidFill>
                  <a:srgbClr val="1C252B"/>
                </a:solidFill>
                <a:latin typeface="Cambria"/>
              </a:rPr>
              <a:t>μ</a:t>
            </a:r>
            <a:r>
              <a:rPr sz="1900" b="0" i="0" baseline="-25000">
                <a:solidFill>
                  <a:srgbClr val="1C252B"/>
                </a:solidFill>
                <a:latin typeface="Cambria"/>
              </a:rPr>
              <a:t>1</a:t>
            </a:r>
            <a:r>
              <a:rPr sz="1900" b="0" i="0">
                <a:solidFill>
                  <a:srgbClr val="1C252B"/>
                </a:solidFill>
                <a:latin typeface="Cambria"/>
              </a:rPr>
              <a:t> = 0</a:t>
            </a:r>
            <a:r>
              <a:rPr sz="1900" b="0" i="0">
                <a:solidFill>
                  <a:srgbClr val="1C252B"/>
                </a:solidFill>
                <a:latin typeface="Segoe UI"/>
              </a:rPr>
              <a:t>, </a:t>
            </a:r>
            <a:r>
              <a:rPr sz="1900" b="0" i="0">
                <a:solidFill>
                  <a:srgbClr val="1C252B"/>
                </a:solidFill>
                <a:latin typeface="Cambria"/>
              </a:rPr>
              <a:t>μ</a:t>
            </a:r>
            <a:r>
              <a:rPr sz="1900" b="0" i="0" baseline="-25000">
                <a:solidFill>
                  <a:srgbClr val="1C252B"/>
                </a:solidFill>
                <a:latin typeface="Cambria"/>
              </a:rPr>
              <a:t>2</a:t>
            </a:r>
            <a:r>
              <a:rPr sz="1900" b="0" i="0">
                <a:solidFill>
                  <a:srgbClr val="1C252B"/>
                </a:solidFill>
                <a:latin typeface="Cambria"/>
              </a:rPr>
              <a:t> = 1</a:t>
            </a:r>
            <a:r>
              <a:rPr sz="1900" b="0" i="0">
                <a:solidFill>
                  <a:srgbClr val="1C252B"/>
                </a:solidFill>
                <a:latin typeface="Segoe UI"/>
              </a:rPr>
              <a:t> and perform two iterations. Comment on the result.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8690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54A9D"/>
                </a:solidFill>
                <a:latin typeface="Segoe UI Black"/>
              </a:rPr>
              <a:t>17</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17</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18 — Hidden Markov Models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17, pages 125–133</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EM by hand; forward, Viterbi, Baum–Welch</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Project experiments frozen</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17  ·  Semi-Supervised Learning and the EM Algorithm</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EDD53220-A6CE-4ACE-9467-5D42D1E8736B}"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17: Semi-Supervised Learning and the EM Algorithm</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