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4B5E2C-9EC0-40B4-87CC-DCFA99970D90}">
          <p14:sldIdLst>
            <p14:sldId id="256"/>
            <p14:sldId id="257"/>
            <p14:sldId id="258"/>
            <p14:sldId id="259"/>
            <p14:sldId id="260"/>
          </p14:sldIdLst>
        </p14:section>
        <p14:section name="14.1 Committees of Hypotheses" id="{5DC6E333-65E9-4CE1-8076-FF41D68074FF}">
          <p14:sldIdLst>
            <p14:sldId id="261"/>
            <p14:sldId id="262"/>
            <p14:sldId id="263"/>
            <p14:sldId id="264"/>
          </p14:sldIdLst>
        </p14:section>
        <p14:section name="14.2 Bagging" id="{F6346CF9-1824-4164-BDE7-85F5A55CBABD}">
          <p14:sldIdLst>
            <p14:sldId id="265"/>
            <p14:sldId id="266"/>
            <p14:sldId id="267"/>
          </p14:sldIdLst>
        </p14:section>
        <p14:section name="14.3 Random Forests" id="{0EC58994-BE78-48CC-B238-23DD74BE68BA}">
          <p14:sldIdLst>
            <p14:sldId id="268"/>
          </p14:sldIdLst>
        </p14:section>
        <p14:section name="14.4 Boosting" id="{A24FA73C-09D4-4A83-8BF4-34C0A72F29BF}">
          <p14:sldIdLst>
            <p14:sldId id="269"/>
            <p14:sldId id="270"/>
            <p14:sldId id="271"/>
            <p14:sldId id="272"/>
            <p14:sldId id="273"/>
          </p14:sldIdLst>
        </p14:section>
        <p14:section name="14.5 Stacking" id="{C7143DE0-F153-4D23-87BD-FBB198B4B750}">
          <p14:sldIdLst>
            <p14:sldId id="274"/>
          </p14:sldIdLst>
        </p14:section>
        <p14:section name="Pitfalls" id="{0B3091B6-AEF6-4E8B-A239-60DD92C508D1}">
          <p14:sldIdLst>
            <p14:sldId id="275"/>
          </p14:sldIdLst>
        </p14:section>
        <p14:section name="Lab" id="{184C62F4-D5F2-49E9-B254-CC43FAA78309}">
          <p14:sldIdLst>
            <p14:sldId id="276"/>
            <p14:sldId id="277"/>
            <p14:sldId id="278"/>
            <p14:sldId id="279"/>
            <p14:sldId id="280"/>
            <p14:sldId id="281"/>
            <p14:sldId id="282"/>
          </p14:sldIdLst>
        </p14:section>
        <p14:section name="Checkpoint" id="{1F824951-9FE2-4274-B1BA-7D4401E94460}">
          <p14:sldIdLst>
            <p14:sldId id="283"/>
            <p14:sldId id="284"/>
            <p14:sldId id="285"/>
            <p14:sldId id="286"/>
            <p14:sldId id="287"/>
            <p14:sldId id="288"/>
          </p14:sldIdLst>
        </p14:section>
        <p14:section name="Wrap-up" id="{D5CD2702-5D99-4D46-9455-F69AD320A51E}">
          <p14:sldIdLst>
            <p14:sldId id="289"/>
            <p14:sldId id="290"/>
            <p14:sldId id="291"/>
            <p14:sldId id="292"/>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14: Ensemble Learning. Part 3 — Supervised Learning Algorithms. Week 12: Ensemble learning. Handout pages 103–111.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9 (decision trees and their instability), Chapter 7 (bias and variance) and Chapter 10 (the Bayes optimal classifier as a weighted vote of hypotheses).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ensemble; committee; majority (hard) vote; soft vote; independent errors; bootstrap sample; bagging; out-of-bag estimate; random forest; feature importance; boosting; weak learner; AdaBoost; decision stump; gradient boosting; stacking.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Bayes optimal classifier of Chapter 10 lets every hypothesis vote, and no single hypothesis can beat it. Ensemble methods are the practical version of that idea: train several models, and combine their predictions. They are, in practice, the most accurate off-the-shelf learners for tabular data — the random forests and gradient-boosted trees of this chapter win most such competitions.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14.1 (handout p. 104): How majority voting amplifies weak but independent voters. Even 55%-accurate members reach 84% with a hundred voters — if, and only if, their mistakes are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Voting comes in two forms. A hard vote counts class predictions. A soft vote averages predicted probabilities and picks the largest, which lets a confident member outweigh several unsure ones and is usually a little better.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bootstrap sample leaves some examples out and repeats others: the chance that a given example is never drawn in n draws is (1 − 1/n)n ≈ e−1 = 0.368, so each sample contains about 63.2% of the distinct examples. The models therefore differ, and their errors are partly decorrelated. Bagging helps exactly when the base learner is unstable: when small changes in the training data produce very different models. That describes a fully grown decision tree (Chapter 9) precisely — high variance, low bias — and bagging averages the variance away while keeping the low bias. It does little for a stable learner such as linear regression or k-NN with large 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Bagged trees are still correlated: if one feature is very strong, every tree puts it at the root and the trees look alike. A random forest (Breiman, 2001) decorrelates them further.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forests are the safest default for tabular data: few hyperparameters (the number of trees, which only needs to be large enough, and the feature-subset size), no scaling, robust to irrelevant features, and hard to overfit by adding trees. Bagging trains its members independently and in parallel. Boosting trains them in sequence, each one concentrating on the examples its predecessors got wrong. Its members are weak learners — barely better than chance, typically decision stumps (one-split trees) or very shallow trees — and it is bias, not variance, that boosting mainly reduces.</a:t>
            </a:r>
          </a:p>
          <a:p/>
          <a:p>
            <a:r>
              <a:t>Figure 14.2 (handout p. 105): Bagging trains independent models on resampled data and averages them. Boosting trains models one after another, re-weighting the data towards the examples still being misclassified, and combines them with a weighted vote.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Gradient boosting generalises the idea to any differentiable loss. Start with a constant prediction; at each round, fit a small tree to the current residuals (more generally, to the negative gradient of the loss), and add a fraction η — the learning rate, typically 0.05–0.1 — of its predictions to the model. Each tree corrects what the ensemble so far gets wrong. Libraries such as XGBoost and LightGBM are highly engineered versions, and are the first thing most practitioners try on a tabular problem.</a:t>
            </a:r>
          </a:p>
          <a:p/>
          <a:p>
            <a:r>
              <a:t>Figure 14.3 (handout p. 106): Test error against ensemble size on a 3,000-example problem with 5% label noise. Every ensemble roughly halves the error of a single tree. Averaging methods level off quickly; boosting keeps improving for longer.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Stacking combines different kinds of model. Train several base models — say logistic regression, an SVM (Chapter 12) and a random forest — then train a second-level model (often logistic regression) whose inputs are the base models’ predictions and whose target is the true label. To avoid leakage, the second-level training data must be the base models’ predictions on examples they did not train on, produced by cross-validation. Stacking learns how much to trust each base model, and when.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uses 3,000 synthetic past tasks, each described by twenty numeric features, of which 5% were recorded with the wrong outcome.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One round of AdaBoost, by hand.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One tree against five ensembles.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One tree against five ensembles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 free validation estimate, and what the forest looked at.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3(0.82)(0.2) + 0.83 = 0.384 + 0.512 = 0.896.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α = 1/2ln(0.8/0.2) = 1/2ln 4 = 0.693. Misclassified examples are multiplied by e0.693 = 2, correct ones by e−0.693 = 0.5, before renormalising.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tree is unstable: different bootstrap samples give very different trees, whose errors partly cancel when averaged. Logistic regression is stable: models on different bootstrap samples are nearly identical, so averaging them changes little.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15 — Clustering. READ: Handout Chapter 14, pages 103–111. THIS WEEK'S LAB: One tree against five ensembles. ASSESSMENT: Assignment 2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2.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Ensemble Learning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SUPERVISED LEARNING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14  ·  WEEK 12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103     </a:t>
            </a:r>
            <a:fld id="{CA15A4E5-63BA-4841-A2C5-221D23D2F691}"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55774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557743"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99039"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99039"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4056423"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Ensemble Learning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7">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7">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7"/>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68" name="!!chipBU9">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9">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9"/>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Decision Tree Learning</a:t>
            </a:r>
          </a:p>
        </p:txBody>
      </p:sp>
      <p:sp>
        <p:nvSpPr>
          <p:cNvPr id="71" name="!!chipBU10">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10">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10"/>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Bayesian Learning and Naive Bayes</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2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2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2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Machine Learning Project</a:t>
            </a:r>
          </a:p>
        </p:txBody>
      </p:sp>
      <p:sp>
        <p:nvSpPr>
          <p:cNvPr id="7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pfill">
            <a:extLst>
              <a:ext uri="{C183D7F6-B498-43B3-948B-1728B52AA6E4}">
                <adec:decorative xmlns:adec="http://schemas.microsoft.com/office/drawing/2017/decorative" val="1"/>
              </a:ext>
            </a:extLst>
          </p:cNvPr>
          <p:cNvSpPr/>
          <p:nvPr/>
        </p:nvSpPr>
        <p:spPr>
          <a:xfrm>
            <a:off x="0" y="0"/>
            <a:ext cx="6252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103     </a:t>
            </a:r>
            <a:fld id="{F9762FC6-D321-40E4-9209-BCA97BBE531E}"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why a committee of hypotheses can be more accurate than its members, and </a:t>
            </a:r>
            <a:r>
              <a:rPr sz="2100" b="1" i="0">
                <a:solidFill>
                  <a:srgbClr val="1C252B"/>
                </a:solidFill>
                <a:latin typeface="Segoe UI"/>
              </a:rPr>
              <a:t>compute</a:t>
            </a:r>
            <a:r>
              <a:rPr sz="2100" b="0" i="0">
                <a:solidFill>
                  <a:srgbClr val="1C252B"/>
                </a:solidFill>
                <a:latin typeface="Segoe UI"/>
              </a:rPr>
              <a:t> the accuracy of a majority vote.</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bagging and random forests, and </a:t>
            </a:r>
            <a:r>
              <a:rPr sz="2100" b="1" i="0">
                <a:solidFill>
                  <a:srgbClr val="1C252B"/>
                </a:solidFill>
                <a:latin typeface="Segoe UI"/>
              </a:rPr>
              <a:t>explain</a:t>
            </a:r>
            <a:r>
              <a:rPr sz="2100" b="0" i="0">
                <a:solidFill>
                  <a:srgbClr val="1C252B"/>
                </a:solidFill>
                <a:latin typeface="Segoe UI"/>
              </a:rPr>
              <a:t> which part of the error they reduce.</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Perform</a:t>
            </a:r>
            <a:r>
              <a:rPr sz="2100" b="0" i="0">
                <a:solidFill>
                  <a:srgbClr val="1C252B"/>
                </a:solidFill>
                <a:latin typeface="Segoe UI"/>
              </a:rPr>
              <a:t> one round of AdaBoost by hand: weighted error, learner weight and example reweighting.</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gradient boosting and stacking.</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Choose</a:t>
            </a:r>
            <a:r>
              <a:rPr sz="2100" b="0" i="0">
                <a:solidFill>
                  <a:srgbClr val="1C252B"/>
                </a:solidFill>
                <a:latin typeface="Segoe UI"/>
              </a:rPr>
              <a:t> between bagging and boosting for a given problem.</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3782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103     </a:t>
            </a:r>
            <a:fld id="{E14B3BDC-28FF-4349-AD4B-FA3F14FA387E}" type="slidenum">
              <a:rPr lang="en-GB" sz="1000">
                <a:solidFill>
                  <a:srgbClr val="8795A1"/>
                </a:solidFill>
                <a:latin typeface="Segoe UI"/>
              </a:rPr>
              <a:t>4</a:t>
            </a:fld>
          </a:p>
        </p:txBody>
      </p:sp>
      <p:sp>
        <p:nvSpPr>
          <p:cNvPr id="7" name="!!term-ensemble">
            <a:extLst>
              <a:ext uri="{C183D7F6-B498-43B3-948B-1728B52AA6E4}">
                <adec:decorative xmlns:adec="http://schemas.microsoft.com/office/drawing/2017/decorative" val="1"/>
              </a:ext>
            </a:extLst>
          </p:cNvPr>
          <p:cNvSpPr/>
          <p:nvPr/>
        </p:nvSpPr>
        <p:spPr>
          <a:xfrm>
            <a:off x="658368" y="1847088"/>
            <a:ext cx="13197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ensembl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ensemble"/>
          <p:cNvSpPr txBox="1"/>
          <p:nvPr/>
        </p:nvSpPr>
        <p:spPr>
          <a:xfrm>
            <a:off x="950976" y="1962911"/>
            <a:ext cx="11369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ensemble</a:t>
            </a:r>
          </a:p>
        </p:txBody>
      </p:sp>
      <p:sp>
        <p:nvSpPr>
          <p:cNvPr id="10" name="!!term-committee">
            <a:extLst>
              <a:ext uri="{C183D7F6-B498-43B3-948B-1728B52AA6E4}">
                <adec:decorative xmlns:adec="http://schemas.microsoft.com/office/drawing/2017/decorative" val="1"/>
              </a:ext>
            </a:extLst>
          </p:cNvPr>
          <p:cNvSpPr/>
          <p:nvPr/>
        </p:nvSpPr>
        <p:spPr>
          <a:xfrm>
            <a:off x="2124456" y="1847088"/>
            <a:ext cx="14204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committee">
            <a:extLst>
              <a:ext uri="{C183D7F6-B498-43B3-948B-1728B52AA6E4}">
                <adec:decorative xmlns:adec="http://schemas.microsoft.com/office/drawing/2017/decorative" val="1"/>
              </a:ext>
            </a:extLst>
          </p:cNvPr>
          <p:cNvSpPr/>
          <p:nvPr/>
        </p:nvSpPr>
        <p:spPr>
          <a:xfrm>
            <a:off x="22524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committee"/>
          <p:cNvSpPr txBox="1"/>
          <p:nvPr/>
        </p:nvSpPr>
        <p:spPr>
          <a:xfrm>
            <a:off x="2417064" y="1962911"/>
            <a:ext cx="123760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committee</a:t>
            </a:r>
          </a:p>
        </p:txBody>
      </p:sp>
      <p:sp>
        <p:nvSpPr>
          <p:cNvPr id="13" name="!!term-majority (hard">
            <a:extLst>
              <a:ext uri="{C183D7F6-B498-43B3-948B-1728B52AA6E4}">
                <adec:decorative xmlns:adec="http://schemas.microsoft.com/office/drawing/2017/decorative" val="1"/>
              </a:ext>
            </a:extLst>
          </p:cNvPr>
          <p:cNvSpPr/>
          <p:nvPr/>
        </p:nvSpPr>
        <p:spPr>
          <a:xfrm>
            <a:off x="3691248" y="1847088"/>
            <a:ext cx="22424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ajority (hard">
            <a:extLst>
              <a:ext uri="{C183D7F6-B498-43B3-948B-1728B52AA6E4}">
                <adec:decorative xmlns:adec="http://schemas.microsoft.com/office/drawing/2017/decorative" val="1"/>
              </a:ext>
            </a:extLst>
          </p:cNvPr>
          <p:cNvSpPr/>
          <p:nvPr/>
        </p:nvSpPr>
        <p:spPr>
          <a:xfrm>
            <a:off x="381926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ajority (hard"/>
          <p:cNvSpPr txBox="1"/>
          <p:nvPr/>
        </p:nvSpPr>
        <p:spPr>
          <a:xfrm>
            <a:off x="3983856" y="1962911"/>
            <a:ext cx="205955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majority (hard) vote</a:t>
            </a:r>
          </a:p>
        </p:txBody>
      </p:sp>
      <p:sp>
        <p:nvSpPr>
          <p:cNvPr id="16" name="!!term-soft vote">
            <a:extLst>
              <a:ext uri="{C183D7F6-B498-43B3-948B-1728B52AA6E4}">
                <adec:decorative xmlns:adec="http://schemas.microsoft.com/office/drawing/2017/decorative" val="1"/>
              </a:ext>
            </a:extLst>
          </p:cNvPr>
          <p:cNvSpPr/>
          <p:nvPr/>
        </p:nvSpPr>
        <p:spPr>
          <a:xfrm>
            <a:off x="6079988" y="1847088"/>
            <a:ext cx="12395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oft vote">
            <a:extLst>
              <a:ext uri="{C183D7F6-B498-43B3-948B-1728B52AA6E4}">
                <adec:decorative xmlns:adec="http://schemas.microsoft.com/office/drawing/2017/decorative" val="1"/>
              </a:ext>
            </a:extLst>
          </p:cNvPr>
          <p:cNvSpPr/>
          <p:nvPr/>
        </p:nvSpPr>
        <p:spPr>
          <a:xfrm>
            <a:off x="620800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oft vote"/>
          <p:cNvSpPr txBox="1"/>
          <p:nvPr/>
        </p:nvSpPr>
        <p:spPr>
          <a:xfrm>
            <a:off x="6372596" y="1962911"/>
            <a:ext cx="10566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soft vote</a:t>
            </a:r>
          </a:p>
        </p:txBody>
      </p:sp>
      <p:sp>
        <p:nvSpPr>
          <p:cNvPr id="19" name="!!term-independent er">
            <a:extLst>
              <a:ext uri="{C183D7F6-B498-43B3-948B-1728B52AA6E4}">
                <adec:decorative xmlns:adec="http://schemas.microsoft.com/office/drawing/2017/decorative" val="1"/>
              </a:ext>
            </a:extLst>
          </p:cNvPr>
          <p:cNvSpPr/>
          <p:nvPr/>
        </p:nvSpPr>
        <p:spPr>
          <a:xfrm>
            <a:off x="7465819" y="1847088"/>
            <a:ext cx="21933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ndependent er">
            <a:extLst>
              <a:ext uri="{C183D7F6-B498-43B3-948B-1728B52AA6E4}">
                <adec:decorative xmlns:adec="http://schemas.microsoft.com/office/drawing/2017/decorative" val="1"/>
              </a:ext>
            </a:extLst>
          </p:cNvPr>
          <p:cNvSpPr/>
          <p:nvPr/>
        </p:nvSpPr>
        <p:spPr>
          <a:xfrm>
            <a:off x="759383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ndependent er"/>
          <p:cNvSpPr txBox="1"/>
          <p:nvPr/>
        </p:nvSpPr>
        <p:spPr>
          <a:xfrm>
            <a:off x="7758427" y="1962911"/>
            <a:ext cx="201050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independent errors</a:t>
            </a:r>
          </a:p>
        </p:txBody>
      </p:sp>
      <p:sp>
        <p:nvSpPr>
          <p:cNvPr id="22" name="!!term-bootstrap samp">
            <a:extLst>
              <a:ext uri="{C183D7F6-B498-43B3-948B-1728B52AA6E4}">
                <adec:decorative xmlns:adec="http://schemas.microsoft.com/office/drawing/2017/decorative" val="1"/>
              </a:ext>
            </a:extLst>
          </p:cNvPr>
          <p:cNvSpPr/>
          <p:nvPr/>
        </p:nvSpPr>
        <p:spPr>
          <a:xfrm>
            <a:off x="658368" y="2468880"/>
            <a:ext cx="20406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bootstrap samp">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bootstrap samp"/>
          <p:cNvSpPr txBox="1"/>
          <p:nvPr/>
        </p:nvSpPr>
        <p:spPr>
          <a:xfrm>
            <a:off x="950976" y="2584704"/>
            <a:ext cx="18577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bootstrap sample</a:t>
            </a:r>
          </a:p>
        </p:txBody>
      </p:sp>
      <p:sp>
        <p:nvSpPr>
          <p:cNvPr id="25" name="!!term-bagging">
            <a:extLst>
              <a:ext uri="{C183D7F6-B498-43B3-948B-1728B52AA6E4}">
                <adec:decorative xmlns:adec="http://schemas.microsoft.com/office/drawing/2017/decorative" val="1"/>
              </a:ext>
            </a:extLst>
          </p:cNvPr>
          <p:cNvSpPr/>
          <p:nvPr/>
        </p:nvSpPr>
        <p:spPr>
          <a:xfrm>
            <a:off x="2845320" y="2468880"/>
            <a:ext cx="11999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bagging">
            <a:extLst>
              <a:ext uri="{C183D7F6-B498-43B3-948B-1728B52AA6E4}">
                <adec:decorative xmlns:adec="http://schemas.microsoft.com/office/drawing/2017/decorative" val="1"/>
              </a:ext>
            </a:extLst>
          </p:cNvPr>
          <p:cNvSpPr/>
          <p:nvPr/>
        </p:nvSpPr>
        <p:spPr>
          <a:xfrm>
            <a:off x="29733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bagging"/>
          <p:cNvSpPr txBox="1"/>
          <p:nvPr/>
        </p:nvSpPr>
        <p:spPr>
          <a:xfrm>
            <a:off x="3137928" y="2584704"/>
            <a:ext cx="10170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bagging</a:t>
            </a:r>
          </a:p>
        </p:txBody>
      </p:sp>
      <p:sp>
        <p:nvSpPr>
          <p:cNvPr id="28" name="!!term-out-of-bag est">
            <a:extLst>
              <a:ext uri="{C183D7F6-B498-43B3-948B-1728B52AA6E4}">
                <adec:decorative xmlns:adec="http://schemas.microsoft.com/office/drawing/2017/decorative" val="1"/>
              </a:ext>
            </a:extLst>
          </p:cNvPr>
          <p:cNvSpPr/>
          <p:nvPr/>
        </p:nvSpPr>
        <p:spPr>
          <a:xfrm>
            <a:off x="4191567" y="2468880"/>
            <a:ext cx="22851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out-of-bag est">
            <a:extLst>
              <a:ext uri="{C183D7F6-B498-43B3-948B-1728B52AA6E4}">
                <adec:decorative xmlns:adec="http://schemas.microsoft.com/office/drawing/2017/decorative" val="1"/>
              </a:ext>
            </a:extLst>
          </p:cNvPr>
          <p:cNvSpPr/>
          <p:nvPr/>
        </p:nvSpPr>
        <p:spPr>
          <a:xfrm>
            <a:off x="43195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out-of-bag est"/>
          <p:cNvSpPr txBox="1"/>
          <p:nvPr/>
        </p:nvSpPr>
        <p:spPr>
          <a:xfrm>
            <a:off x="4484175" y="2584704"/>
            <a:ext cx="210228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out-of-bag estimate</a:t>
            </a:r>
          </a:p>
        </p:txBody>
      </p:sp>
      <p:sp>
        <p:nvSpPr>
          <p:cNvPr id="31" name="!!term-random forest">
            <a:extLst>
              <a:ext uri="{C183D7F6-B498-43B3-948B-1728B52AA6E4}">
                <adec:decorative xmlns:adec="http://schemas.microsoft.com/office/drawing/2017/decorative" val="1"/>
              </a:ext>
            </a:extLst>
          </p:cNvPr>
          <p:cNvSpPr/>
          <p:nvPr/>
        </p:nvSpPr>
        <p:spPr>
          <a:xfrm>
            <a:off x="6623039" y="2468880"/>
            <a:ext cx="17375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andom forest">
            <a:extLst>
              <a:ext uri="{C183D7F6-B498-43B3-948B-1728B52AA6E4}">
                <adec:decorative xmlns:adec="http://schemas.microsoft.com/office/drawing/2017/decorative" val="1"/>
              </a:ext>
            </a:extLst>
          </p:cNvPr>
          <p:cNvSpPr/>
          <p:nvPr/>
        </p:nvSpPr>
        <p:spPr>
          <a:xfrm>
            <a:off x="675105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andom forest"/>
          <p:cNvSpPr txBox="1"/>
          <p:nvPr/>
        </p:nvSpPr>
        <p:spPr>
          <a:xfrm>
            <a:off x="6915647" y="2584704"/>
            <a:ext cx="15547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 forest</a:t>
            </a:r>
          </a:p>
        </p:txBody>
      </p:sp>
      <p:sp>
        <p:nvSpPr>
          <p:cNvPr id="34" name="!!term-feature import">
            <a:extLst>
              <a:ext uri="{C183D7F6-B498-43B3-948B-1728B52AA6E4}">
                <adec:decorative xmlns:adec="http://schemas.microsoft.com/office/drawing/2017/decorative" val="1"/>
              </a:ext>
            </a:extLst>
          </p:cNvPr>
          <p:cNvSpPr/>
          <p:nvPr/>
        </p:nvSpPr>
        <p:spPr>
          <a:xfrm>
            <a:off x="8506929" y="2468880"/>
            <a:ext cx="21839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feature import">
            <a:extLst>
              <a:ext uri="{C183D7F6-B498-43B3-948B-1728B52AA6E4}">
                <adec:decorative xmlns:adec="http://schemas.microsoft.com/office/drawing/2017/decorative" val="1"/>
              </a:ext>
            </a:extLst>
          </p:cNvPr>
          <p:cNvSpPr/>
          <p:nvPr/>
        </p:nvSpPr>
        <p:spPr>
          <a:xfrm>
            <a:off x="863494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feature import"/>
          <p:cNvSpPr txBox="1"/>
          <p:nvPr/>
        </p:nvSpPr>
        <p:spPr>
          <a:xfrm>
            <a:off x="8799537" y="2584704"/>
            <a:ext cx="200103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importance</a:t>
            </a:r>
          </a:p>
        </p:txBody>
      </p:sp>
      <p:sp>
        <p:nvSpPr>
          <p:cNvPr id="37" name="!!term-boosting">
            <a:extLst>
              <a:ext uri="{C183D7F6-B498-43B3-948B-1728B52AA6E4}">
                <adec:decorative xmlns:adec="http://schemas.microsoft.com/office/drawing/2017/decorative" val="1"/>
              </a:ext>
            </a:extLst>
          </p:cNvPr>
          <p:cNvSpPr/>
          <p:nvPr/>
        </p:nvSpPr>
        <p:spPr>
          <a:xfrm>
            <a:off x="658368" y="3090672"/>
            <a:ext cx="12513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boostin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boosting"/>
          <p:cNvSpPr txBox="1"/>
          <p:nvPr/>
        </p:nvSpPr>
        <p:spPr>
          <a:xfrm>
            <a:off x="950976" y="3206496"/>
            <a:ext cx="10685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boosting</a:t>
            </a:r>
          </a:p>
        </p:txBody>
      </p:sp>
      <p:sp>
        <p:nvSpPr>
          <p:cNvPr id="40" name="!!term-weak learner">
            <a:extLst>
              <a:ext uri="{C183D7F6-B498-43B3-948B-1728B52AA6E4}">
                <adec:decorative xmlns:adec="http://schemas.microsoft.com/office/drawing/2017/decorative" val="1"/>
              </a:ext>
            </a:extLst>
          </p:cNvPr>
          <p:cNvSpPr/>
          <p:nvPr/>
        </p:nvSpPr>
        <p:spPr>
          <a:xfrm>
            <a:off x="2056058" y="3090672"/>
            <a:ext cx="15964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weak learner">
            <a:extLst>
              <a:ext uri="{C183D7F6-B498-43B3-948B-1728B52AA6E4}">
                <adec:decorative xmlns:adec="http://schemas.microsoft.com/office/drawing/2017/decorative" val="1"/>
              </a:ext>
            </a:extLst>
          </p:cNvPr>
          <p:cNvSpPr/>
          <p:nvPr/>
        </p:nvSpPr>
        <p:spPr>
          <a:xfrm>
            <a:off x="218407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weak learner"/>
          <p:cNvSpPr txBox="1"/>
          <p:nvPr/>
        </p:nvSpPr>
        <p:spPr>
          <a:xfrm>
            <a:off x="2348666" y="3206496"/>
            <a:ext cx="141357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weak learner</a:t>
            </a:r>
          </a:p>
        </p:txBody>
      </p:sp>
      <p:sp>
        <p:nvSpPr>
          <p:cNvPr id="43" name="!!term-AdaBoost">
            <a:extLst>
              <a:ext uri="{C183D7F6-B498-43B3-948B-1728B52AA6E4}">
                <adec:decorative xmlns:adec="http://schemas.microsoft.com/office/drawing/2017/decorative" val="1"/>
              </a:ext>
            </a:extLst>
          </p:cNvPr>
          <p:cNvSpPr/>
          <p:nvPr/>
        </p:nvSpPr>
        <p:spPr>
          <a:xfrm>
            <a:off x="3798821" y="3090672"/>
            <a:ext cx="13199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AdaBoost">
            <a:extLst>
              <a:ext uri="{C183D7F6-B498-43B3-948B-1728B52AA6E4}">
                <adec:decorative xmlns:adec="http://schemas.microsoft.com/office/drawing/2017/decorative" val="1"/>
              </a:ext>
            </a:extLst>
          </p:cNvPr>
          <p:cNvSpPr/>
          <p:nvPr/>
        </p:nvSpPr>
        <p:spPr>
          <a:xfrm>
            <a:off x="392683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AdaBoost"/>
          <p:cNvSpPr txBox="1"/>
          <p:nvPr/>
        </p:nvSpPr>
        <p:spPr>
          <a:xfrm>
            <a:off x="4091429" y="3206496"/>
            <a:ext cx="113711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AdaBoost</a:t>
            </a:r>
          </a:p>
        </p:txBody>
      </p:sp>
      <p:sp>
        <p:nvSpPr>
          <p:cNvPr id="46" name="!!term-decision stump">
            <a:extLst>
              <a:ext uri="{C183D7F6-B498-43B3-948B-1728B52AA6E4}">
                <adec:decorative xmlns:adec="http://schemas.microsoft.com/office/drawing/2017/decorative" val="1"/>
              </a:ext>
            </a:extLst>
          </p:cNvPr>
          <p:cNvSpPr/>
          <p:nvPr/>
        </p:nvSpPr>
        <p:spPr>
          <a:xfrm>
            <a:off x="5265116" y="3090672"/>
            <a:ext cx="18246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decision stump">
            <a:extLst>
              <a:ext uri="{C183D7F6-B498-43B3-948B-1728B52AA6E4}">
                <adec:decorative xmlns:adec="http://schemas.microsoft.com/office/drawing/2017/decorative" val="1"/>
              </a:ext>
            </a:extLst>
          </p:cNvPr>
          <p:cNvSpPr/>
          <p:nvPr/>
        </p:nvSpPr>
        <p:spPr>
          <a:xfrm>
            <a:off x="539313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decision stump"/>
          <p:cNvSpPr txBox="1"/>
          <p:nvPr/>
        </p:nvSpPr>
        <p:spPr>
          <a:xfrm>
            <a:off x="5557724" y="3206496"/>
            <a:ext cx="164179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decision stump</a:t>
            </a:r>
          </a:p>
        </p:txBody>
      </p:sp>
      <p:sp>
        <p:nvSpPr>
          <p:cNvPr id="49" name="!!term-gradient boost">
            <a:extLst>
              <a:ext uri="{C183D7F6-B498-43B3-948B-1728B52AA6E4}">
                <adec:decorative xmlns:adec="http://schemas.microsoft.com/office/drawing/2017/decorative" val="1"/>
              </a:ext>
            </a:extLst>
          </p:cNvPr>
          <p:cNvSpPr/>
          <p:nvPr/>
        </p:nvSpPr>
        <p:spPr>
          <a:xfrm>
            <a:off x="7236100" y="3090672"/>
            <a:ext cx="20760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gradient boost">
            <a:extLst>
              <a:ext uri="{C183D7F6-B498-43B3-948B-1728B52AA6E4}">
                <adec:decorative xmlns:adec="http://schemas.microsoft.com/office/drawing/2017/decorative" val="1"/>
              </a:ext>
            </a:extLst>
          </p:cNvPr>
          <p:cNvSpPr/>
          <p:nvPr/>
        </p:nvSpPr>
        <p:spPr>
          <a:xfrm>
            <a:off x="736411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gradient boost"/>
          <p:cNvSpPr txBox="1"/>
          <p:nvPr/>
        </p:nvSpPr>
        <p:spPr>
          <a:xfrm>
            <a:off x="7528708" y="3206496"/>
            <a:ext cx="189321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gradient boosting</a:t>
            </a:r>
          </a:p>
        </p:txBody>
      </p:sp>
      <p:sp>
        <p:nvSpPr>
          <p:cNvPr id="52" name="!!term-stacking">
            <a:extLst>
              <a:ext uri="{C183D7F6-B498-43B3-948B-1728B52AA6E4}">
                <adec:decorative xmlns:adec="http://schemas.microsoft.com/office/drawing/2017/decorative" val="1"/>
              </a:ext>
            </a:extLst>
          </p:cNvPr>
          <p:cNvSpPr/>
          <p:nvPr/>
        </p:nvSpPr>
        <p:spPr>
          <a:xfrm>
            <a:off x="9458494" y="3090672"/>
            <a:ext cx="11908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stacking">
            <a:extLst>
              <a:ext uri="{C183D7F6-B498-43B3-948B-1728B52AA6E4}">
                <adec:decorative xmlns:adec="http://schemas.microsoft.com/office/drawing/2017/decorative" val="1"/>
              </a:ext>
            </a:extLst>
          </p:cNvPr>
          <p:cNvSpPr/>
          <p:nvPr/>
        </p:nvSpPr>
        <p:spPr>
          <a:xfrm>
            <a:off x="958651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stacking"/>
          <p:cNvSpPr txBox="1"/>
          <p:nvPr/>
        </p:nvSpPr>
        <p:spPr>
          <a:xfrm>
            <a:off x="9751102" y="3206496"/>
            <a:ext cx="100798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stacking</a:t>
            </a:r>
          </a:p>
        </p:txBody>
      </p:sp>
      <p:sp>
        <p:nvSpPr>
          <p:cNvPr id="55"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125043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103–111     </a:t>
            </a:r>
            <a:fld id="{F7C9F250-BB5A-46EC-AB0A-DF10780D70A9}" type="slidenum">
              <a:rPr lang="en-GB" sz="1000">
                <a:solidFill>
                  <a:srgbClr val="8795A1"/>
                </a:solidFill>
                <a:latin typeface="Segoe UI"/>
              </a:rPr>
              <a:t>5</a:t>
            </a:fld>
          </a:p>
        </p:txBody>
      </p:sp>
      <p:sp>
        <p:nvSpPr>
          <p:cNvPr id="7" name="!!ag0" descr="Go to section 14.1 Committees of Hypothese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Committees of Hypotheses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103  ›</a:t>
            </a:r>
          </a:p>
        </p:txBody>
      </p:sp>
      <p:sp>
        <p:nvSpPr>
          <p:cNvPr id="12" name="!!ag1" descr="Go to section 14.2 Bagging">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Bagging</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104  ›</a:t>
            </a:r>
          </a:p>
        </p:txBody>
      </p:sp>
      <p:sp>
        <p:nvSpPr>
          <p:cNvPr id="17" name="!!ag2" descr="Go to section 14.3 Random Forest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Random Forests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105  ›</a:t>
            </a:r>
          </a:p>
        </p:txBody>
      </p:sp>
      <p:sp>
        <p:nvSpPr>
          <p:cNvPr id="22" name="!!ag3" descr="Go to section 14.4 Boost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Boosting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105  ›</a:t>
            </a:r>
          </a:p>
        </p:txBody>
      </p:sp>
      <p:sp>
        <p:nvSpPr>
          <p:cNvPr id="27" name="!!ag4" descr="Go to section 14.5 Stack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14.5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Stacking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106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630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Committees of Hypotheses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14.1   Committees of Hypotheses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Bagging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Random Forests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Boosting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Stacking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§14.1     </a:t>
            </a:r>
            <a:fld id="{3AAE4E5A-996D-41E6-8366-3D519ED10E54}"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7564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Committee Can Beat Its Members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103     </a:t>
            </a:r>
            <a:fld id="{A632975C-4DB6-4024-8D18-AE7BCE2CA8A7}"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each member of a committee is right more often than not, and their mistakes are </a:t>
            </a:r>
            <a:r>
              <a:rPr sz="2300" b="0" i="1">
                <a:solidFill>
                  <a:srgbClr val="1C252B"/>
                </a:solidFill>
                <a:latin typeface="Segoe UI"/>
              </a:rPr>
              <a:t>independent</a:t>
            </a:r>
            <a:r>
              <a:rPr sz="2300" b="0" i="0">
                <a:solidFill>
                  <a:srgbClr val="1C252B"/>
                </a:solidFill>
                <a:latin typeface="Segoe UI"/>
              </a:rPr>
              <a:t>, the majority is right more often than any member: for the majority to be wrong, most members must be wrong on the same example at once. Everything in this chapter is a way of producing members that are individually decent and whose errors are as uncorrelated as possible.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882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Arithmetic of a Majority Vote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103     </a:t>
            </a:r>
            <a:fld id="{63A9381C-7756-469D-8C84-2FF42697E25B}"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01643"/>
          </a:xfrm>
          <a:prstGeom prst="roundRect">
            <a:avLst>
              <a:gd name="adj" fmla="val 228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0164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Five late-task classifiers, each 70% accurate, with independent errors. The majority is right when at least three are right:</a:t>
            </a:r>
          </a:p>
        </p:txBody>
      </p:sp>
      <p:pic>
        <p:nvPicPr>
          <p:cNvPr id="10" name="body-1" descr="P(\ge 3 \text{ right}) = \binom{5}{3}0.7^3\,0.3^2 + \binom{5}{4}0.7^4\,0.3 + \binom{5}{5}0.7^5 = 0.309 + 0.360 + 0.168 = \mathbf{0.83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24048"/>
            <a:ext cx="10234879" cy="683056"/>
          </a:xfrm>
          <a:prstGeom prst="rect">
            <a:avLst/>
          </a:prstGeom>
        </p:spPr>
      </p:pic>
      <p:sp>
        <p:nvSpPr>
          <p:cNvPr id="11" name="body-2"/>
          <p:cNvSpPr txBox="1"/>
          <p:nvPr/>
        </p:nvSpPr>
        <p:spPr>
          <a:xfrm>
            <a:off x="1042416" y="3653790"/>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Twenty-one such classifiers give 0.974; a hundred and one classifiers that are each only 60% accurate give 0.979.</a:t>
            </a:r>
          </a:p>
        </p:txBody>
      </p:sp>
      <p:sp>
        <p:nvSpPr>
          <p:cNvPr id="12" name="body-3"/>
          <p:cNvSpPr txBox="1"/>
          <p:nvPr/>
        </p:nvSpPr>
        <p:spPr>
          <a:xfrm>
            <a:off x="1042416" y="4466158"/>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The catch is “independent”.</a:t>
            </a:r>
            <a:r>
              <a:rPr sz="2100" b="0" i="0">
                <a:solidFill>
                  <a:srgbClr val="1C252B"/>
                </a:solidFill>
                <a:latin typeface="Segoe UI"/>
              </a:rPr>
              <a:t> Five copies of the same classifier make the same mistakes and vote as one: 70%. Real ensemble members are correlated, so the gains are smaller than this — and the whole craft is in reducing the correlation.</a:t>
            </a:r>
          </a:p>
        </p:txBody>
      </p:sp>
      <p:sp>
        <p:nvSpPr>
          <p:cNvPr id="13" name="body-3bar">
            <a:extLst>
              <a:ext uri="{C183D7F6-B498-43B3-948B-1728B52AA6E4}">
                <adec:decorative xmlns:adec="http://schemas.microsoft.com/office/drawing/2017/decorative" val="1"/>
              </a:ext>
            </a:extLst>
          </p:cNvPr>
          <p:cNvSpPr/>
          <p:nvPr/>
        </p:nvSpPr>
        <p:spPr>
          <a:xfrm>
            <a:off x="841248" y="4484446"/>
            <a:ext cx="54864" cy="9802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250086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majority voting amplifies weak but independent voters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§14.1  ·  Handout p. 103     </a:t>
            </a:r>
            <a:fld id="{05F4845E-0B83-4B9F-8DE9-738654648453}" type="slidenum">
              <a:rPr lang="en-GB" sz="1000">
                <a:solidFill>
                  <a:srgbClr val="8795A1"/>
                </a:solidFill>
                <a:latin typeface="Segoe UI"/>
              </a:rPr>
              <a:t>9</a:t>
            </a:fld>
          </a:p>
        </p:txBody>
      </p:sp>
      <p:pic>
        <p:nvPicPr>
          <p:cNvPr id="6" name="!!figure" descr="Figure 14.1. How majority voting amplifies weak but independent voters. Even 55%-accurate members reach 84% with a hundred voters — if, and only if, their mistakes are independen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99547" y="1737360"/>
            <a:ext cx="739259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Even 55%-accurate members reach 84% with a hundred voters — if, and only if, their mistakes are independent.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8134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Bagging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Committees of Hypotheses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14.2   Bagging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Random Forests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14.4   Boosting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Stacking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§14.2     </a:t>
            </a:r>
            <a:fld id="{A5AA6CAC-BE61-480C-BE5B-959219CD5552}"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1260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Bagging (Bootstrap Aggregating)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104     </a:t>
            </a:r>
            <a:fld id="{32AED297-7396-4B87-9A71-1DD6282BA5F8}"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From a training set of </a:t>
            </a:r>
            <a:r>
              <a:rPr sz="2300" b="0" i="1">
                <a:solidFill>
                  <a:srgbClr val="1C252B"/>
                </a:solidFill>
                <a:latin typeface="Cambria"/>
              </a:rPr>
              <a:t>n</a:t>
            </a:r>
            <a:r>
              <a:rPr sz="2300" b="0" i="0">
                <a:solidFill>
                  <a:srgbClr val="1C252B"/>
                </a:solidFill>
                <a:latin typeface="Segoe UI"/>
              </a:rPr>
              <a:t> examples, draw </a:t>
            </a:r>
            <a:r>
              <a:rPr sz="2300" b="0" i="1">
                <a:solidFill>
                  <a:srgbClr val="1C252B"/>
                </a:solidFill>
                <a:latin typeface="Cambria"/>
              </a:rPr>
              <a:t>B</a:t>
            </a:r>
            <a:r>
              <a:rPr sz="2300" b="0" i="0">
                <a:solidFill>
                  <a:srgbClr val="1C252B"/>
                </a:solidFill>
                <a:latin typeface="Segoe UI"/>
              </a:rPr>
              <a:t> </a:t>
            </a:r>
            <a:r>
              <a:rPr sz="2300" b="1" i="0">
                <a:solidFill>
                  <a:srgbClr val="1A5276"/>
                </a:solidFill>
                <a:latin typeface="Segoe UI"/>
              </a:rPr>
              <a:t>bootstrap samples</a:t>
            </a:r>
            <a:r>
              <a:rPr sz="2300" b="0" i="0">
                <a:solidFill>
                  <a:srgbClr val="1C252B"/>
                </a:solidFill>
                <a:latin typeface="Segoe UI"/>
              </a:rPr>
              <a:t>, each of </a:t>
            </a:r>
            <a:r>
              <a:rPr sz="2300" b="0" i="1">
                <a:solidFill>
                  <a:srgbClr val="1C252B"/>
                </a:solidFill>
                <a:latin typeface="Cambria"/>
              </a:rPr>
              <a:t>n</a:t>
            </a:r>
            <a:r>
              <a:rPr sz="2300" b="0" i="0">
                <a:solidFill>
                  <a:srgbClr val="1C252B"/>
                </a:solidFill>
                <a:latin typeface="Segoe UI"/>
              </a:rPr>
              <a:t> examples drawn </a:t>
            </a:r>
            <a:r>
              <a:rPr sz="2300" b="0" i="1">
                <a:solidFill>
                  <a:srgbClr val="1C252B"/>
                </a:solidFill>
                <a:latin typeface="Segoe UI"/>
              </a:rPr>
              <a:t>with replacement</a:t>
            </a:r>
            <a:r>
              <a:rPr sz="2300" b="0" i="0">
                <a:solidFill>
                  <a:srgbClr val="1C252B"/>
                </a:solidFill>
                <a:latin typeface="Segoe UI"/>
              </a:rPr>
              <a:t>. Train one model on each sample. Predict by majority vote (classification) or by averaging (regression).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3868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Free Validation Set: the Out-of-Bag Estimate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§14.2  ·  Handout p. 104     </a:t>
            </a:r>
            <a:fld id="{8A45BE85-3E9E-45D0-ADD5-A446BB63B1AD}"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example is left out of about 37% of the bootstrap samples. Predict it using only the models that did not see it, and the resulting </a:t>
            </a:r>
            <a:r>
              <a:rPr sz="2300" b="1" i="0">
                <a:solidFill>
                  <a:srgbClr val="1A5276"/>
                </a:solidFill>
                <a:latin typeface="Segoe UI"/>
              </a:rPr>
              <a:t>out-of-bag</a:t>
            </a:r>
            <a:r>
              <a:rPr sz="2300" b="0" i="0">
                <a:solidFill>
                  <a:srgbClr val="1C252B"/>
                </a:solidFill>
                <a:latin typeface="Segoe UI"/>
              </a:rPr>
              <a:t> error is an honest estimate of test error — computed during training, with no data held back.</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75129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Random Forest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§14.3  ·  Handout p. 105     </a:t>
            </a:r>
            <a:fld id="{5FAF3099-E498-4C98-B15A-64239B4DCF4E}"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Bag fully grown decision trees, with one change: at each split, choose the best test from a random subset of the features only — typically </a:t>
            </a:r>
            <a:r>
              <a:rPr sz="2300" b="0" i="0">
                <a:solidFill>
                  <a:srgbClr val="1C252B"/>
                </a:solidFill>
                <a:latin typeface="Cambria"/>
              </a:rPr>
              <a:t>√</a:t>
            </a:r>
            <a:r>
              <a:rPr sz="2300" b="0" i="1">
                <a:solidFill>
                  <a:srgbClr val="1C252B"/>
                </a:solidFill>
                <a:latin typeface="Cambria"/>
              </a:rPr>
              <a:t>d</a:t>
            </a:r>
            <a:r>
              <a:rPr sz="2300" b="0" i="0">
                <a:solidFill>
                  <a:srgbClr val="1C252B"/>
                </a:solidFill>
                <a:latin typeface="Segoe UI"/>
              </a:rPr>
              <a:t> of the </a:t>
            </a:r>
            <a:r>
              <a:rPr sz="2300" b="0" i="1">
                <a:solidFill>
                  <a:srgbClr val="1C252B"/>
                </a:solidFill>
                <a:latin typeface="Cambria"/>
              </a:rPr>
              <a:t>d</a:t>
            </a:r>
            <a:r>
              <a:rPr sz="2300" b="0" i="0">
                <a:solidFill>
                  <a:srgbClr val="1C252B"/>
                </a:solidFill>
                <a:latin typeface="Segoe UI"/>
              </a:rPr>
              <a:t> features for classification. Different trees are forced to use different features, so their errors are less correlated and the average is better. A forest also reports each feature’s </a:t>
            </a:r>
            <a:r>
              <a:rPr sz="2300" b="1" i="0">
                <a:solidFill>
                  <a:srgbClr val="1A5276"/>
                </a:solidFill>
                <a:latin typeface="Segoe UI"/>
              </a:rPr>
              <a:t>importance</a:t>
            </a:r>
            <a:r>
              <a:rPr sz="2300" b="0" i="0">
                <a:solidFill>
                  <a:srgbClr val="1C252B"/>
                </a:solidFill>
                <a:latin typeface="Segoe UI"/>
              </a:rPr>
              <a:t>: the total reduction in impurity from splits on that feature, averaged over the trees.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Boosting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14.1   Committees of Hypotheses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14.2   Bagging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14.3   Random Forests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14.4   Boosting</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14.5   Stacking</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§14.4     </a:t>
            </a:r>
            <a:fld id="{CBD6A7BF-71C6-44EC-A236-7E81F5A86F80}" type="slidenum">
              <a:rPr lang="en-GB" sz="1000">
                <a:solidFill>
                  <a:srgbClr val="8795A1"/>
                </a:solidFill>
                <a:latin typeface="Segoe UI"/>
              </a:rPr>
              <a:t>14</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37650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Bagging trains independent models on resampled data and averages them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105     </a:t>
            </a:r>
            <a:fld id="{3FA0FC11-C24A-444B-8ADF-42F65A8999A7}" type="slidenum">
              <a:rPr lang="en-GB" sz="1000">
                <a:solidFill>
                  <a:srgbClr val="8795A1"/>
                </a:solidFill>
                <a:latin typeface="Segoe UI"/>
              </a:rPr>
              <a:t>15</a:t>
            </a:fld>
          </a:p>
        </p:txBody>
      </p:sp>
      <p:pic>
        <p:nvPicPr>
          <p:cNvPr id="6" name="!!figure" descr="Figure 14.2. Bagging trains independent models on resampled data and averages them. Boosting trains models one after another, re-weighting the data towards the examples still being misclassified, and combines them with a weighted vot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42601"/>
            <a:ext cx="10874959" cy="256769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Boosting trains models one after another, re-weighting the data towards the examples still being misclassified, and combines them with a weighted vote.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68911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AdaBoost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105     </a:t>
            </a:r>
            <a:fld id="{0F538E2A-81A2-441D-BD1A-6770C8524C3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39163"/>
          </a:xfrm>
          <a:prstGeom prst="roundRect">
            <a:avLst>
              <a:gd name="adj" fmla="val 220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3916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Give every training example the weight </a:t>
            </a:r>
            <a:r>
              <a:rPr sz="2300" b="0" i="0">
                <a:solidFill>
                  <a:srgbClr val="1C252B"/>
                </a:solidFill>
                <a:latin typeface="Cambria"/>
              </a:rPr>
              <a:t>1/</a:t>
            </a:r>
            <a:r>
              <a:rPr sz="2300" b="0" i="1">
                <a:solidFill>
                  <a:srgbClr val="1C252B"/>
                </a:solidFill>
                <a:latin typeface="Cambria"/>
              </a:rPr>
              <a:t>n</a:t>
            </a:r>
            <a:r>
              <a:rPr sz="2300" b="0" i="0">
                <a:solidFill>
                  <a:srgbClr val="1C252B"/>
                </a:solidFill>
                <a:latin typeface="Segoe UI"/>
              </a:rPr>
              <a:t>. For rounds </a:t>
            </a:r>
            <a:r>
              <a:rPr sz="2300" b="0" i="1">
                <a:solidFill>
                  <a:srgbClr val="1C252B"/>
                </a:solidFill>
                <a:latin typeface="Cambria"/>
              </a:rPr>
              <a:t>t</a:t>
            </a:r>
            <a:r>
              <a:rPr sz="2300" b="0" i="0">
                <a:solidFill>
                  <a:srgbClr val="1C252B"/>
                </a:solidFill>
                <a:latin typeface="Cambria"/>
              </a:rPr>
              <a:t> = 1, …, </a:t>
            </a:r>
            <a:r>
              <a:rPr sz="2300" b="0" i="1">
                <a:solidFill>
                  <a:srgbClr val="1C252B"/>
                </a:solidFill>
                <a:latin typeface="Cambria"/>
              </a:rPr>
              <a:t>T</a:t>
            </a:r>
            <a:r>
              <a:rPr sz="2300" b="0" i="0">
                <a:solidFill>
                  <a:srgbClr val="1C252B"/>
                </a:solidFill>
                <a:latin typeface="Segoe UI"/>
              </a:rPr>
              <a:t>:</a:t>
            </a:r>
          </a:p>
        </p:txBody>
      </p:sp>
      <p:sp>
        <p:nvSpPr>
          <p:cNvPr id="10" name="body-1"/>
          <p:cNvSpPr txBox="1"/>
          <p:nvPr/>
        </p:nvSpPr>
        <p:spPr>
          <a:xfrm>
            <a:off x="1060704" y="2573451"/>
            <a:ext cx="10161727" cy="410260"/>
          </a:xfrm>
          <a:prstGeom prst="rect">
            <a:avLst/>
          </a:prstGeom>
          <a:noFill/>
        </p:spPr>
        <p:txBody>
          <a:bodyPr wrap="square" anchor="t" lIns="0" rIns="0" tIns="0" bIns="0">
            <a:noAutofit/>
          </a:bodyPr>
          <a:lstStyle/>
          <a:p>
            <a:pPr algn="l" marL="554820" indent="-554820">
              <a:lnSpc>
                <a:spcPct val="104000"/>
              </a:lnSpc>
              <a:spcBef>
                <a:spcPts val="0"/>
              </a:spcBef>
              <a:spcAft>
                <a:spcPts val="0"/>
              </a:spcAft>
            </a:pPr>
            <a:r>
              <a:rPr sz="2300" b="1">
                <a:solidFill>
                  <a:srgbClr val="8A4500"/>
                </a:solidFill>
                <a:latin typeface="Segoe UI"/>
              </a:rPr>
              <a:t>1.	</a:t>
            </a:r>
            <a:r>
              <a:rPr sz="2300" b="0" i="0">
                <a:solidFill>
                  <a:srgbClr val="1C252B"/>
                </a:solidFill>
                <a:latin typeface="Segoe UI"/>
              </a:rPr>
              <a:t>Train a weak learner </a:t>
            </a:r>
            <a:r>
              <a:rPr sz="2300" b="0" i="1">
                <a:solidFill>
                  <a:srgbClr val="1C252B"/>
                </a:solidFill>
                <a:latin typeface="Cambria"/>
              </a:rPr>
              <a:t>h</a:t>
            </a:r>
            <a:r>
              <a:rPr sz="2300" b="0" i="1" baseline="-25000">
                <a:solidFill>
                  <a:srgbClr val="1C252B"/>
                </a:solidFill>
                <a:latin typeface="Cambria"/>
              </a:rPr>
              <a:t>t</a:t>
            </a:r>
            <a:r>
              <a:rPr sz="2300" b="0" i="0">
                <a:solidFill>
                  <a:srgbClr val="1C252B"/>
                </a:solidFill>
                <a:latin typeface="Segoe UI"/>
              </a:rPr>
              <a:t> on the weighted data.</a:t>
            </a:r>
          </a:p>
        </p:txBody>
      </p:sp>
      <p:sp>
        <p:nvSpPr>
          <p:cNvPr id="11" name="body-2m"/>
          <p:cNvSpPr txBox="1"/>
          <p:nvPr/>
        </p:nvSpPr>
        <p:spPr>
          <a:xfrm>
            <a:off x="1060704" y="3098647"/>
            <a:ext cx="554820" cy="36576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8A4500"/>
                </a:solidFill>
                <a:latin typeface="Segoe UI"/>
              </a:rPr>
              <a:t>2.</a:t>
            </a:r>
          </a:p>
        </p:txBody>
      </p:sp>
      <p:pic>
        <p:nvPicPr>
          <p:cNvPr id="12" name="body-2" descr="Compute its weighted error εt (the total weight of the examples it misclassifies) and its say in the final vote, αt = 1/2ln(1 − εt)/ε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15524" y="3098647"/>
            <a:ext cx="9606869" cy="1048542"/>
          </a:xfrm>
          <a:prstGeom prst="rect">
            <a:avLst/>
          </a:prstGeom>
        </p:spPr>
      </p:pic>
      <p:sp>
        <p:nvSpPr>
          <p:cNvPr id="13" name="body-3"/>
          <p:cNvSpPr txBox="1"/>
          <p:nvPr/>
        </p:nvSpPr>
        <p:spPr>
          <a:xfrm>
            <a:off x="1060704" y="4307845"/>
            <a:ext cx="10161727" cy="774801"/>
          </a:xfrm>
          <a:prstGeom prst="rect">
            <a:avLst/>
          </a:prstGeom>
          <a:noFill/>
        </p:spPr>
        <p:txBody>
          <a:bodyPr wrap="square" anchor="t" lIns="0" rIns="0" tIns="0" bIns="0">
            <a:noAutofit/>
          </a:bodyPr>
          <a:lstStyle/>
          <a:p>
            <a:pPr algn="l" marL="554820" indent="-554820">
              <a:lnSpc>
                <a:spcPct val="104000"/>
              </a:lnSpc>
              <a:spcBef>
                <a:spcPts val="0"/>
              </a:spcBef>
              <a:spcAft>
                <a:spcPts val="0"/>
              </a:spcAft>
            </a:pPr>
            <a:r>
              <a:rPr sz="2300" b="1">
                <a:solidFill>
                  <a:srgbClr val="8A4500"/>
                </a:solidFill>
                <a:latin typeface="Segoe UI"/>
              </a:rPr>
              <a:t>3.	</a:t>
            </a:r>
            <a:r>
              <a:rPr sz="2300" b="0" i="0">
                <a:solidFill>
                  <a:srgbClr val="1C252B"/>
                </a:solidFill>
                <a:latin typeface="Segoe UI"/>
              </a:rPr>
              <a:t>Multiply the weight of each misclassified example by </a:t>
            </a:r>
            <a:r>
              <a:rPr sz="2300" b="0" i="1">
                <a:solidFill>
                  <a:srgbClr val="1C252B"/>
                </a:solidFill>
                <a:latin typeface="Cambria"/>
              </a:rPr>
              <a:t>e</a:t>
            </a:r>
            <a:r>
              <a:rPr sz="2300" b="0" i="0" baseline="30000">
                <a:solidFill>
                  <a:srgbClr val="1C252B"/>
                </a:solidFill>
                <a:latin typeface="Cambria"/>
              </a:rPr>
              <a:t>α</a:t>
            </a:r>
            <a:r>
              <a:rPr sz="2300" b="0" i="1" baseline="-25000">
                <a:solidFill>
                  <a:srgbClr val="1C252B"/>
                </a:solidFill>
                <a:latin typeface="Cambria"/>
              </a:rPr>
              <a:t>t</a:t>
            </a:r>
            <a:r>
              <a:rPr sz="2300" b="0" i="0">
                <a:solidFill>
                  <a:srgbClr val="1C252B"/>
                </a:solidFill>
                <a:latin typeface="Segoe UI"/>
              </a:rPr>
              <a:t> and of each correct one by </a:t>
            </a:r>
            <a:r>
              <a:rPr sz="2300" b="0" i="1">
                <a:solidFill>
                  <a:srgbClr val="1C252B"/>
                </a:solidFill>
                <a:latin typeface="Cambria"/>
              </a:rPr>
              <a:t>e</a:t>
            </a:r>
            <a:r>
              <a:rPr sz="2300" b="0" i="0" baseline="30000">
                <a:solidFill>
                  <a:srgbClr val="1C252B"/>
                </a:solidFill>
                <a:latin typeface="Cambria"/>
              </a:rPr>
              <a:t>−α</a:t>
            </a:r>
            <a:r>
              <a:rPr sz="2300" b="0" i="1" baseline="-25000">
                <a:solidFill>
                  <a:srgbClr val="1C252B"/>
                </a:solidFill>
                <a:latin typeface="Cambria"/>
              </a:rPr>
              <a:t>t</a:t>
            </a:r>
            <a:r>
              <a:rPr sz="2300" b="0" i="0">
                <a:solidFill>
                  <a:srgbClr val="1C252B"/>
                </a:solidFill>
                <a:latin typeface="Segoe UI"/>
              </a:rPr>
              <a:t>; renormalise to sum to 1.</a:t>
            </a:r>
          </a:p>
        </p:txBody>
      </p:sp>
      <p:pic>
        <p:nvPicPr>
          <p:cNvPr id="14" name="body-4" descr="Predict with the weighted vote sign(Σt αt ht(x))."/>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5197581"/>
            <a:ext cx="10161727" cy="368046"/>
          </a:xfrm>
          <a:prstGeom prst="rect">
            <a:avLst/>
          </a:prstGeom>
        </p:spPr>
      </p:pic>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0017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Effect transition="in" filter="fade">
                                      <p:cBhvr>
                                        <p:cTn id="13" dur="38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3"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Round of AdaBoost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105     </a:t>
            </a:r>
            <a:fld id="{5691CE21-4A2E-4079-A987-5B06564FA3E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5023"/>
          </a:xfrm>
          <a:prstGeom prst="roundRect">
            <a:avLst>
              <a:gd name="adj" fmla="val 216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502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Ten examples, each of weight 0.1. The first stump misclassifies three of them.</a:t>
            </a:r>
          </a:p>
        </p:txBody>
      </p:sp>
      <p:sp>
        <p:nvSpPr>
          <p:cNvPr id="10" name="body-1"/>
          <p:cNvSpPr txBox="1"/>
          <p:nvPr/>
        </p:nvSpPr>
        <p:spPr>
          <a:xfrm>
            <a:off x="1042416" y="2399868"/>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Weighted error:</a:t>
            </a:r>
            <a:r>
              <a:rPr sz="1700" b="0" i="0">
                <a:solidFill>
                  <a:srgbClr val="1C252B"/>
                </a:solidFill>
                <a:latin typeface="Segoe UI"/>
              </a:rPr>
              <a:t> </a:t>
            </a:r>
            <a:r>
              <a:rPr sz="1700" b="0" i="0">
                <a:solidFill>
                  <a:srgbClr val="1C252B"/>
                </a:solidFill>
                <a:latin typeface="Cambria"/>
              </a:rPr>
              <a:t>ε</a:t>
            </a:r>
            <a:r>
              <a:rPr sz="1700" b="0" i="0" baseline="-25000">
                <a:solidFill>
                  <a:srgbClr val="1C252B"/>
                </a:solidFill>
                <a:latin typeface="Cambria"/>
              </a:rPr>
              <a:t>1</a:t>
            </a:r>
            <a:r>
              <a:rPr sz="1700" b="0" i="0">
                <a:solidFill>
                  <a:srgbClr val="1C252B"/>
                </a:solidFill>
                <a:latin typeface="Cambria"/>
              </a:rPr>
              <a:t> = 3 × 0.1 = 0.3</a:t>
            </a:r>
            <a:r>
              <a:rPr sz="1700" b="0" i="0">
                <a:solidFill>
                  <a:srgbClr val="1C252B"/>
                </a:solidFill>
                <a:latin typeface="Segoe UI"/>
              </a:rPr>
              <a:t>.</a:t>
            </a:r>
          </a:p>
        </p:txBody>
      </p:sp>
      <p:pic>
        <p:nvPicPr>
          <p:cNvPr id="11" name="body-2" descr="Say of the stump: α1 = 1/2ln0.7/0.3 = 1/2ln 2.333 = 0.42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788056"/>
            <a:ext cx="10234879" cy="453359"/>
          </a:xfrm>
          <a:prstGeom prst="rect">
            <a:avLst/>
          </a:prstGeom>
        </p:spPr>
      </p:pic>
      <p:sp>
        <p:nvSpPr>
          <p:cNvPr id="12" name="body-3"/>
          <p:cNvSpPr txBox="1"/>
          <p:nvPr/>
        </p:nvSpPr>
        <p:spPr>
          <a:xfrm>
            <a:off x="1042416" y="3360160"/>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Reweight:</a:t>
            </a:r>
            <a:r>
              <a:rPr sz="1700" b="0" i="0">
                <a:solidFill>
                  <a:srgbClr val="1C252B"/>
                </a:solidFill>
                <a:latin typeface="Segoe UI"/>
              </a:rPr>
              <a:t> </a:t>
            </a:r>
            <a:r>
              <a:rPr sz="1700" b="0" i="1">
                <a:solidFill>
                  <a:srgbClr val="1C252B"/>
                </a:solidFill>
                <a:latin typeface="Cambria"/>
              </a:rPr>
              <a:t>e</a:t>
            </a:r>
            <a:r>
              <a:rPr sz="1700" b="0" i="0" baseline="30000">
                <a:solidFill>
                  <a:srgbClr val="1C252B"/>
                </a:solidFill>
                <a:latin typeface="Cambria"/>
              </a:rPr>
              <a:t>0.424</a:t>
            </a:r>
            <a:r>
              <a:rPr sz="1700" b="0" i="0">
                <a:solidFill>
                  <a:srgbClr val="1C252B"/>
                </a:solidFill>
                <a:latin typeface="Cambria"/>
              </a:rPr>
              <a:t> = 1.528</a:t>
            </a:r>
            <a:r>
              <a:rPr sz="1700" b="0" i="0">
                <a:solidFill>
                  <a:srgbClr val="1C252B"/>
                </a:solidFill>
                <a:latin typeface="Segoe UI"/>
              </a:rPr>
              <a:t> and </a:t>
            </a:r>
            <a:r>
              <a:rPr sz="1700" b="0" i="1">
                <a:solidFill>
                  <a:srgbClr val="1C252B"/>
                </a:solidFill>
                <a:latin typeface="Cambria"/>
              </a:rPr>
              <a:t>e</a:t>
            </a:r>
            <a:r>
              <a:rPr sz="1700" b="0" i="0" baseline="30000">
                <a:solidFill>
                  <a:srgbClr val="1C252B"/>
                </a:solidFill>
                <a:latin typeface="Cambria"/>
              </a:rPr>
              <a:t>−0.424</a:t>
            </a:r>
            <a:r>
              <a:rPr sz="1700" b="0" i="0">
                <a:solidFill>
                  <a:srgbClr val="1C252B"/>
                </a:solidFill>
                <a:latin typeface="Cambria"/>
              </a:rPr>
              <a:t> = 0.655</a:t>
            </a:r>
            <a:r>
              <a:rPr sz="1700" b="0" i="0">
                <a:solidFill>
                  <a:srgbClr val="1C252B"/>
                </a:solidFill>
                <a:latin typeface="Segoe UI"/>
              </a:rPr>
              <a:t>.</a:t>
            </a:r>
          </a:p>
        </p:txBody>
      </p:sp>
      <p:sp>
        <p:nvSpPr>
          <p:cNvPr id="13" name="body-3bar">
            <a:extLst>
              <a:ext uri="{C183D7F6-B498-43B3-948B-1728B52AA6E4}">
                <adec:decorative xmlns:adec="http://schemas.microsoft.com/office/drawing/2017/decorative" val="1"/>
              </a:ext>
            </a:extLst>
          </p:cNvPr>
          <p:cNvSpPr/>
          <p:nvPr/>
        </p:nvSpPr>
        <p:spPr>
          <a:xfrm>
            <a:off x="841248" y="3378448"/>
            <a:ext cx="54864" cy="25115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3748349"/>
            <a:ext cx="10234879" cy="660171"/>
          </a:xfrm>
          <a:prstGeom prst="rect">
            <a:avLst/>
          </a:prstGeom>
          <a:noFill/>
        </p:spPr>
        <p:txBody>
          <a:bodyPr wrap="square" anchor="t" lIns="0" rIns="0" tIns="0" bIns="0">
            <a:noAutofit/>
          </a:bodyPr>
          <a:lstStyle/>
          <a:p>
            <a:pPr algn="l" marL="190086" indent="-190086">
              <a:lnSpc>
                <a:spcPct val="104000"/>
              </a:lnSpc>
              <a:spcBef>
                <a:spcPts val="0"/>
              </a:spcBef>
              <a:spcAft>
                <a:spcPts val="594"/>
              </a:spcAft>
            </a:pPr>
            <a:r>
              <a:rPr sz="1700" b="1">
                <a:solidFill>
                  <a:srgbClr val="7D6608"/>
                </a:solidFill>
                <a:latin typeface="Segoe UI"/>
              </a:rPr>
              <a:t>•	</a:t>
            </a:r>
            <a:r>
              <a:rPr sz="1700" b="0" i="0">
                <a:solidFill>
                  <a:srgbClr val="1C252B"/>
                </a:solidFill>
                <a:latin typeface="Segoe UI"/>
              </a:rPr>
              <a:t>three mistakes: </a:t>
            </a:r>
            <a:r>
              <a:rPr sz="1700" b="0" i="0">
                <a:solidFill>
                  <a:srgbClr val="1C252B"/>
                </a:solidFill>
                <a:latin typeface="Cambria"/>
              </a:rPr>
              <a:t>0.1 × 1.528 = 0.1528</a:t>
            </a:r>
            <a:r>
              <a:rPr sz="1700" b="0" i="0">
                <a:solidFill>
                  <a:srgbClr val="1C252B"/>
                </a:solidFill>
                <a:latin typeface="Segoe UI"/>
              </a:rPr>
              <a:t> each (total 0.458);</a:t>
            </a:r>
          </a:p>
          <a:p>
            <a:pPr algn="l" marL="190086" indent="-190086">
              <a:lnSpc>
                <a:spcPct val="104000"/>
              </a:lnSpc>
              <a:spcBef>
                <a:spcPts val="0"/>
              </a:spcBef>
              <a:spcAft>
                <a:spcPts val="0"/>
              </a:spcAft>
            </a:pPr>
            <a:r>
              <a:rPr sz="1700" b="1">
                <a:solidFill>
                  <a:srgbClr val="7D6608"/>
                </a:solidFill>
                <a:latin typeface="Segoe UI"/>
              </a:rPr>
              <a:t>•	</a:t>
            </a:r>
            <a:r>
              <a:rPr sz="1700" b="0" i="0">
                <a:solidFill>
                  <a:srgbClr val="1C252B"/>
                </a:solidFill>
                <a:latin typeface="Segoe UI"/>
              </a:rPr>
              <a:t>seven correct: </a:t>
            </a:r>
            <a:r>
              <a:rPr sz="1700" b="0" i="0">
                <a:solidFill>
                  <a:srgbClr val="1C252B"/>
                </a:solidFill>
                <a:latin typeface="Cambria"/>
              </a:rPr>
              <a:t>0.1 × 0.655 = 0.0655</a:t>
            </a:r>
            <a:r>
              <a:rPr sz="1700" b="0" i="0">
                <a:solidFill>
                  <a:srgbClr val="1C252B"/>
                </a:solidFill>
                <a:latin typeface="Segoe UI"/>
              </a:rPr>
              <a:t> each (total 0.458).</a:t>
            </a:r>
          </a:p>
        </p:txBody>
      </p:sp>
      <p:sp>
        <p:nvSpPr>
          <p:cNvPr id="15" name="body-5"/>
          <p:cNvSpPr txBox="1"/>
          <p:nvPr/>
        </p:nvSpPr>
        <p:spPr>
          <a:xfrm>
            <a:off x="1042416" y="4481545"/>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Normalise</a:t>
            </a:r>
            <a:r>
              <a:rPr sz="1700" b="0" i="0">
                <a:solidFill>
                  <a:srgbClr val="1C252B"/>
                </a:solidFill>
                <a:latin typeface="Segoe UI"/>
              </a:rPr>
              <a:t> by the total 0.917: mistakes </a:t>
            </a:r>
            <a:r>
              <a:rPr sz="1700" b="0" i="0">
                <a:solidFill>
                  <a:srgbClr val="1C252B"/>
                </a:solidFill>
                <a:latin typeface="Cambria"/>
              </a:rPr>
              <a:t>→</a:t>
            </a:r>
            <a:r>
              <a:rPr sz="1700" b="0" i="0">
                <a:solidFill>
                  <a:srgbClr val="1C252B"/>
                </a:solidFill>
                <a:latin typeface="Segoe UI"/>
              </a:rPr>
              <a:t> </a:t>
            </a:r>
            <a:r>
              <a:rPr sz="1700" b="1" i="0">
                <a:solidFill>
                  <a:srgbClr val="1C252B"/>
                </a:solidFill>
                <a:latin typeface="Segoe UI"/>
              </a:rPr>
              <a:t>0.167</a:t>
            </a:r>
            <a:r>
              <a:rPr sz="1700" b="0" i="0">
                <a:solidFill>
                  <a:srgbClr val="1C252B"/>
                </a:solidFill>
                <a:latin typeface="Segoe UI"/>
              </a:rPr>
              <a:t> each, correct </a:t>
            </a:r>
            <a:r>
              <a:rPr sz="1700" b="0" i="0">
                <a:solidFill>
                  <a:srgbClr val="1C252B"/>
                </a:solidFill>
                <a:latin typeface="Cambria"/>
              </a:rPr>
              <a:t>→</a:t>
            </a:r>
            <a:r>
              <a:rPr sz="1700" b="0" i="0">
                <a:solidFill>
                  <a:srgbClr val="1C252B"/>
                </a:solidFill>
                <a:latin typeface="Segoe UI"/>
              </a:rPr>
              <a:t> </a:t>
            </a:r>
            <a:r>
              <a:rPr sz="1700" b="1" i="0">
                <a:solidFill>
                  <a:srgbClr val="1C252B"/>
                </a:solidFill>
                <a:latin typeface="Segoe UI"/>
              </a:rPr>
              <a:t>0.071</a:t>
            </a:r>
            <a:r>
              <a:rPr sz="1700" b="0" i="0">
                <a:solidFill>
                  <a:srgbClr val="1C252B"/>
                </a:solidFill>
                <a:latin typeface="Segoe UI"/>
              </a:rPr>
              <a:t> each.</a:t>
            </a:r>
          </a:p>
        </p:txBody>
      </p:sp>
      <p:sp>
        <p:nvSpPr>
          <p:cNvPr id="16" name="body-5bar">
            <a:extLst>
              <a:ext uri="{C183D7F6-B498-43B3-948B-1728B52AA6E4}">
                <adec:decorative xmlns:adec="http://schemas.microsoft.com/office/drawing/2017/decorative" val="1"/>
              </a:ext>
            </a:extLst>
          </p:cNvPr>
          <p:cNvSpPr/>
          <p:nvPr/>
        </p:nvSpPr>
        <p:spPr>
          <a:xfrm>
            <a:off x="841248" y="4499833"/>
            <a:ext cx="54864" cy="25115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body-6"/>
          <p:cNvSpPr txBox="1"/>
          <p:nvPr/>
        </p:nvSpPr>
        <p:spPr>
          <a:xfrm>
            <a:off x="1042416" y="4869733"/>
            <a:ext cx="10234879"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After the update the three mistakes carry exactly half the total weight</a:t>
            </a:r>
            <a:r>
              <a:rPr sz="1700" b="0" i="0">
                <a:solidFill>
                  <a:srgbClr val="1C252B"/>
                </a:solidFill>
                <a:latin typeface="Segoe UI"/>
              </a:rPr>
              <a:t> — always true in AdaBoost. The next stump, trained on these weights, cannot score better than chance by repeating the first stump’s errors, so it is forced to attend to them. A stump with </a:t>
            </a:r>
            <a:r>
              <a:rPr sz="1700" b="0" i="0">
                <a:solidFill>
                  <a:srgbClr val="1C252B"/>
                </a:solidFill>
                <a:latin typeface="Cambria"/>
              </a:rPr>
              <a:t>ε = 0.5</a:t>
            </a:r>
            <a:r>
              <a:rPr sz="1700" b="0" i="0">
                <a:solidFill>
                  <a:srgbClr val="1C252B"/>
                </a:solidFill>
                <a:latin typeface="Segoe UI"/>
              </a:rPr>
              <a:t> would get </a:t>
            </a:r>
            <a:r>
              <a:rPr sz="1700" b="0" i="0">
                <a:solidFill>
                  <a:srgbClr val="1C252B"/>
                </a:solidFill>
                <a:latin typeface="Cambria"/>
              </a:rPr>
              <a:t>α = 0</a:t>
            </a:r>
            <a:r>
              <a:rPr sz="1700" b="0" i="0">
                <a:solidFill>
                  <a:srgbClr val="1C252B"/>
                </a:solidFill>
                <a:latin typeface="Segoe UI"/>
              </a:rPr>
              <a:t>: no say at all.</a:t>
            </a:r>
          </a:p>
        </p:txBody>
      </p:sp>
      <p:sp>
        <p:nvSpPr>
          <p:cNvPr id="18" name="body-6bar">
            <a:extLst>
              <a:ext uri="{C183D7F6-B498-43B3-948B-1728B52AA6E4}">
                <adec:decorative xmlns:adec="http://schemas.microsoft.com/office/drawing/2017/decorative" val="1"/>
              </a:ext>
            </a:extLst>
          </p:cNvPr>
          <p:cNvSpPr/>
          <p:nvPr/>
        </p:nvSpPr>
        <p:spPr>
          <a:xfrm>
            <a:off x="841248" y="4888021"/>
            <a:ext cx="54864" cy="79004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531432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xEl>
                                              <p:pRg st="0" end="0"/>
                                            </p:txEl>
                                          </p:spTgt>
                                        </p:tgtEl>
                                        <p:attrNameLst>
                                          <p:attrName>style.visibility</p:attrName>
                                        </p:attrNameLst>
                                      </p:cBhvr>
                                      <p:to>
                                        <p:strVal val="visible"/>
                                      </p:to>
                                    </p:set>
                                    <p:animEffect transition="in" filter="fade">
                                      <p:cBhvr>
                                        <p:cTn id="26" dur="350"/>
                                        <p:tgtEl>
                                          <p:spTgt spid="1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animEffect transition="in" filter="fade">
                                      <p:cBhvr>
                                        <p:cTn id="31" dur="350"/>
                                        <p:tgtEl>
                                          <p:spTgt spid="1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right)">
                                      <p:cBhvr>
                                        <p:cTn id="44" dur="42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Test error against ensemble size on a 3,000-example problem with 5% label noise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14.3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§14.4  ·  Handout p. 105     </a:t>
            </a:r>
            <a:fld id="{A138A8F1-77BD-4B69-AFBC-F90658D59417}" type="slidenum">
              <a:rPr lang="en-GB" sz="1000">
                <a:solidFill>
                  <a:srgbClr val="8795A1"/>
                </a:solidFill>
                <a:latin typeface="Segoe UI"/>
              </a:rPr>
              <a:t>18</a:t>
            </a:fld>
          </a:p>
        </p:txBody>
      </p:sp>
      <p:pic>
        <p:nvPicPr>
          <p:cNvPr id="6" name="!!figure" descr="Figure 14.3. Test error against ensemble size on a 3,000-example problem with 5% label noise. Every ensemble roughly halves the error of a single tree. Averaging methods level off quickly; boosting keeps improving for long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8126" y="1737360"/>
            <a:ext cx="10175443"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 ensemble roughly halves the error of a single tree. Averaging methods level off quickly; boosting keeps improving for longer.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62693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Stacking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DF2C186E-5641-4DC6-8821-F58D6D199902}" type="slidenum">
              <a:rPr lang="en-GB" sz="1000">
                <a:solidFill>
                  <a:srgbClr val="8795A1"/>
                </a:solidFill>
                <a:latin typeface="Segoe UI"/>
              </a:rPr>
              <a:t>19</a:t>
            </a:fld>
          </a:p>
        </p:txBody>
      </p:sp>
      <p:graphicFrame>
        <p:nvGraphicFramePr>
          <p:cNvPr id="7" name="!!table"/>
          <p:cNvGraphicFramePr>
            <a:graphicFrameLocks noGrp="1"/>
          </p:cNvGraphicFramePr>
          <p:nvPr/>
        </p:nvGraphicFramePr>
        <p:xfrm>
          <a:off x="658368" y="1737360"/>
          <a:ext cx="10874957" cy="3986784"/>
        </p:xfrm>
        <a:graphic>
          <a:graphicData uri="http://schemas.openxmlformats.org/drawingml/2006/table">
            <a:tbl>
              <a:tblPr firstRow="0" bandRow="0" firstCol="0" lastRow="0" lastCol="0" bandCol="0">
                <a:tableStyleId>{2D5ABB26-0587-4C30-8999-92F81FD0307C}</a:tableStyleId>
              </a:tblPr>
              <a:tblGrid>
                <a:gridCol w="2057424"/>
                <a:gridCol w="2792219"/>
                <a:gridCol w="2792219"/>
                <a:gridCol w="3233095"/>
              </a:tblGrid>
              <a:tr h="405384">
                <a:tc>
                  <a:txBody>
                    <a:bodyPr wrap="square"/>
                    <a:lstStyle/>
                    <a:p>
                      <a:pPr algn="l"/>
                      <a:r>
                        <a:rPr sz="1700" b="1" i="0">
                          <a:solidFill>
                            <a:srgbClr val="1A5276"/>
                          </a:solidFill>
                          <a:latin typeface="Segoe UI"/>
                        </a:rPr>
                        <a:t>Method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Members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Mainly reduces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Watch out for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Bagging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Deep trees on bootstrap samples, in parallel</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Variance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Little gain with stable learners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Random forest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Bagged trees with random feature subsets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Variance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Importances biased towards many-valued features</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AdaBoost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Stumps or shallow trees, in sequence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Bias (and variance)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Label noise: mislabelled points get ever larger weights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Gradient boosting</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Shallow trees fitted to residuals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Bias (and variance)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Overfits with too many trees at a high learning rate; tune both</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0" i="0">
                          <a:solidFill>
                            <a:srgbClr val="1C252B"/>
                          </a:solidFill>
                          <a:latin typeface="Segoe UI"/>
                        </a:rPr>
                        <a:t>Stacking</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Different model types plus a combiner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Whatever the base models miss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Leakage if the combiner is trained on in-sample predictions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9395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510BE883-FE2C-4D9D-9AF0-2C592D754CB5}"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Ensembling copies of the same model.</a:t>
            </a:r>
            <a:r>
              <a:rPr sz="2100" b="0" i="0">
                <a:solidFill>
                  <a:srgbClr val="1C252B"/>
                </a:solidFill>
                <a:latin typeface="Segoe UI"/>
              </a:rPr>
              <a:t> Correlated members vote as one; diversity is the whole point.</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Boosting noisy labels without limit.</a:t>
            </a:r>
            <a:r>
              <a:rPr sz="2100" b="0" i="0">
                <a:solidFill>
                  <a:srgbClr val="1C252B"/>
                </a:solidFill>
                <a:latin typeface="Segoe UI"/>
              </a:rPr>
              <a:t> AdaBoost’s weights chase mislabelled points; use fewer rounds, a lower learning rate, or bagging.</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Reading impurity importances as causal.</a:t>
            </a:r>
            <a:r>
              <a:rPr sz="2100" b="0" i="0">
                <a:solidFill>
                  <a:srgbClr val="1C252B"/>
                </a:solidFill>
                <a:latin typeface="Segoe UI"/>
              </a:rPr>
              <a:t> They say what the forest used, not what drives the outcome, and they favour many-valued features.</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Training a stacking combiner on in-sample predictions.</a:t>
            </a:r>
            <a:r>
              <a:rPr sz="2100" b="0" i="0">
                <a:solidFill>
                  <a:srgbClr val="1C252B"/>
                </a:solidFill>
                <a:latin typeface="Segoe UI"/>
              </a:rPr>
              <a:t> Use cross-validated predictions.</a:t>
            </a:r>
          </a:p>
        </p:txBody>
      </p:sp>
      <p:sp>
        <p:nvSpPr>
          <p:cNvPr id="19" name="!!pb4">
            <a:extLst>
              <a:ext uri="{C183D7F6-B498-43B3-948B-1728B52AA6E4}">
                <adec:decorative xmlns:adec="http://schemas.microsoft.com/office/drawing/2017/decorative" val="1"/>
              </a:ext>
            </a:extLst>
          </p:cNvPr>
          <p:cNvSpPr/>
          <p:nvPr/>
        </p:nvSpPr>
        <p:spPr>
          <a:xfrm>
            <a:off x="658368" y="52230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459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0476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Forgetting the cost.</a:t>
            </a:r>
            <a:r>
              <a:rPr sz="2100" b="0" i="0">
                <a:solidFill>
                  <a:srgbClr val="1C252B"/>
                </a:solidFill>
                <a:latin typeface="Segoe UI"/>
              </a:rPr>
              <a:t> Hundreds of trees are slower to run and harder to explain than one; check that the gain is worth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2521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One Tree Against Five Ensembles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FC97870D-897B-4FB7-9223-706FF91E5128}" type="slidenum">
              <a:rPr lang="en-GB" sz="1000">
                <a:solidFill>
                  <a:srgbClr val="8795A1"/>
                </a:solidFill>
                <a:latin typeface="Segoe UI"/>
              </a:rPr>
              <a:t>21</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Part 2 uses 3,000 synthetic past tasks, each described by twenty numeric features, of which 5% were recorded with the wrong outcome.</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One round of AdaBoost, by hand</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One tree against five ensembles</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A free validation estimate, and what the forest looked at</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12: One tree against five ensembles</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51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code/ch14_one_tree_against_five.py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56475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Tree Against Five Ensembles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E18882E9-806E-48BB-9513-2101E90DA930}"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76144"/>
          </a:xfrm>
          <a:prstGeom prst="roundRect">
            <a:avLst>
              <a:gd name="adj" fmla="val 34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code/ch14_one_tree_against_five.py</a:t>
            </a:r>
          </a:p>
        </p:txBody>
      </p:sp>
      <p:sp>
        <p:nvSpPr>
          <p:cNvPr id="14" name="!!code-text" descr="import numpy as np from sklearn.datasets import make_classification from sklearn.model_selection import cross_val_score from sklearn.tree import DecisionTreeClassifier from sklearn.linear_model import LogisticRegression from sklearn.ensemble import (BaggingClassifier, RandomForestClassifier, AdaBoostClassifier, GradientBoostingClassifier, VotingClassifier)"/>
          <p:cNvSpPr txBox="1"/>
          <p:nvPr/>
        </p:nvSpPr>
        <p:spPr>
          <a:xfrm>
            <a:off x="1362456" y="2523744"/>
            <a:ext cx="9987991" cy="218236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import</a:t>
            </a:r>
            <a:r>
              <a:rPr sz="1700" i="0">
                <a:solidFill>
                  <a:srgbClr val="E8EDF2"/>
                </a:solidFill>
                <a:latin typeface="Consolas"/>
              </a:rPr>
              <a:t> </a:t>
            </a:r>
            <a:r>
              <a:rPr sz="1700" i="0">
                <a:solidFill>
                  <a:srgbClr val="76D7C4"/>
                </a:solidFill>
                <a:latin typeface="Consolas"/>
              </a:rPr>
              <a:t>numpy</a:t>
            </a:r>
            <a:r>
              <a:rPr sz="1700" i="0">
                <a:solidFill>
                  <a:srgbClr val="E8EDF2"/>
                </a:solidFill>
                <a:latin typeface="Consolas"/>
              </a:rPr>
              <a:t> </a:t>
            </a:r>
            <a:r>
              <a:rPr sz="1700" i="0">
                <a:solidFill>
                  <a:srgbClr val="5DADE2"/>
                </a:solidFill>
                <a:latin typeface="Consolas"/>
              </a:rPr>
              <a:t>as</a:t>
            </a:r>
            <a:r>
              <a:rPr sz="1700" i="0">
                <a:solidFill>
                  <a:srgbClr val="E8EDF2"/>
                </a:solidFill>
                <a:latin typeface="Consolas"/>
              </a:rPr>
              <a:t> </a:t>
            </a:r>
            <a:r>
              <a:rPr sz="1700" i="0">
                <a:solidFill>
                  <a:srgbClr val="76D7C4"/>
                </a:solidFill>
                <a:latin typeface="Consolas"/>
              </a:rPr>
              <a:t>np</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datasets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make_classification</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model_selection</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cross_val_score</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tree</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DecisionTreeClassifier</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linear_model</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LogisticRegression</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sklearn</a:t>
            </a:r>
            <a:r>
              <a:rPr sz="1700" i="0">
                <a:solidFill>
                  <a:srgbClr val="76D7C4"/>
                </a:solidFill>
                <a:latin typeface="Consolas"/>
              </a:rPr>
              <a:t>.</a:t>
            </a:r>
            <a:r>
              <a:rPr sz="1700" i="0">
                <a:solidFill>
                  <a:srgbClr val="76D7C4"/>
                </a:solidFill>
                <a:latin typeface="Consolas"/>
              </a:rPr>
              <a:t>ensemble</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BaggingClassifier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RandomForestClassifier</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AdaBoostClassifier</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GradientBoostingClassifier</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VotingClassifier</a:t>
            </a:r>
            <a:r>
              <a:rPr sz="1700" i="0">
                <a:solidFill>
                  <a:srgbClr val="AEB6BF"/>
                </a:solidFill>
                <a:latin typeface="Consolas"/>
              </a:rPr>
              <a:t>)</a:t>
            </a:r>
          </a:p>
        </p:txBody>
      </p:sp>
      <p:sp>
        <p:nvSpPr>
          <p:cNvPr id="15" name="!!code-num"/>
          <p:cNvSpPr txBox="1"/>
          <p:nvPr/>
        </p:nvSpPr>
        <p:spPr>
          <a:xfrm>
            <a:off x="768096" y="2523744"/>
            <a:ext cx="393192" cy="21823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a:t>
            </a:r>
          </a:p>
          <a:p>
            <a:pPr algn="r">
              <a:lnSpc>
                <a:spcPct val="100000"/>
              </a:lnSpc>
            </a:pPr>
            <a:r>
              <a:rPr sz="1700">
                <a:solidFill>
                  <a:srgbClr val="4F5D6A"/>
                </a:solidFill>
                <a:latin typeface="Consolas"/>
              </a:rPr>
              <a:t>3</a:t>
            </a:r>
          </a:p>
          <a:p>
            <a:pPr algn="r">
              <a:lnSpc>
                <a:spcPct val="100000"/>
              </a:lnSpc>
            </a:pPr>
            <a:r>
              <a:rPr sz="1700">
                <a:solidFill>
                  <a:srgbClr val="4F5D6A"/>
                </a:solidFill>
                <a:latin typeface="Consolas"/>
              </a:rPr>
              <a:t>4</a:t>
            </a:r>
          </a:p>
          <a:p>
            <a:pPr algn="r">
              <a:lnSpc>
                <a:spcPct val="100000"/>
              </a:lnSpc>
            </a:pPr>
            <a:r>
              <a:rPr sz="1700">
                <a:solidFill>
                  <a:srgbClr val="4F5D6A"/>
                </a:solidFill>
                <a:latin typeface="Consolas"/>
              </a:rPr>
              <a:t>5</a:t>
            </a:r>
          </a:p>
          <a:p>
            <a:pPr algn="r">
              <a:lnSpc>
                <a:spcPct val="100000"/>
              </a:lnSpc>
            </a:pPr>
            <a:r>
              <a:rPr sz="1700">
                <a:solidFill>
                  <a:srgbClr val="4F5D6A"/>
                </a:solidFill>
                <a:latin typeface="Consolas"/>
              </a:rPr>
              <a:t>6</a:t>
            </a:r>
          </a:p>
          <a:p>
            <a:pPr algn="r">
              <a:lnSpc>
                <a:spcPct val="100000"/>
              </a:lnSpc>
            </a:pPr>
            <a:r>
              <a:rPr sz="1700">
                <a:solidFill>
                  <a:srgbClr val="4F5D6A"/>
                </a:solidFill>
                <a:latin typeface="Consolas"/>
              </a:rPr>
              <a:t>7</a:t>
            </a:r>
          </a:p>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7736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Tree Against Five Ensembles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4889BC73-0D76-416A-B750-DD112D495850}"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One round of AdaBoost, by hand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code/ch14_one_tree_against_five.py</a:t>
            </a:r>
          </a:p>
        </p:txBody>
      </p:sp>
      <p:sp>
        <p:nvSpPr>
          <p:cNvPr id="14" name="!!code-text" descr="# --- 1. one round of AdaBoost, by hand ----------------------------------- w = np.full(10, 0.1) # ten examples, equal weight wrong = np.array([1, 1, 1, 0, 0, 0, 0, 0, 0, 0], dtype=bool) eps = w[wrong].sum() # weighted error = 0.3 alpha = 0.5 * np.log((1 - eps) / eps) # say of this learner w = np.where(wrong, w * np.exp(alpha), w * np.exp(-alpha)) w = w / w.sum() print(f&quot;alpha = {alpha:.3f}; new weights: wrong {w[0]:.4f}, &quot; f&quot;right {w[-1]:.4f}; weight on the mistakes = {w[wrong].sum():.2f}&quot;)"/>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one round of AdaBoost, by hand -----------------------------------</a:t>
            </a:r>
          </a:p>
          <a:p>
            <a:pPr>
              <a:lnSpc>
                <a:spcPct val="100000"/>
              </a:lnSpc>
              <a:spcAft>
                <a:spcPts val="0"/>
              </a:spcAft>
            </a:pP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full</a:t>
            </a:r>
            <a:r>
              <a:rPr sz="1800" i="0">
                <a:solidFill>
                  <a:srgbClr val="AEB6BF"/>
                </a:solidFill>
                <a:latin typeface="Consolas"/>
              </a:rPr>
              <a:t>(</a:t>
            </a:r>
            <a:r>
              <a:rPr sz="1800" i="0">
                <a:solidFill>
                  <a:srgbClr val="F7DC6F"/>
                </a:solidFill>
                <a:latin typeface="Consolas"/>
              </a:rPr>
              <a:t>10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0.1</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ten examples, equal weight</a:t>
            </a:r>
          </a:p>
          <a:p>
            <a:pPr>
              <a:lnSpc>
                <a:spcPct val="100000"/>
              </a:lnSpc>
              <a:spcAft>
                <a:spcPts val="0"/>
              </a:spcAft>
            </a:pPr>
            <a:r>
              <a:rPr sz="1800" i="0">
                <a:solidFill>
                  <a:srgbClr val="E8EDF2"/>
                </a:solidFill>
                <a:latin typeface="Consolas"/>
              </a:rPr>
              <a:t>wrong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dtype</a:t>
            </a:r>
            <a:r>
              <a:rPr sz="1800" i="0">
                <a:solidFill>
                  <a:srgbClr val="AEB6BF"/>
                </a:solidFill>
                <a:latin typeface="Consolas"/>
              </a:rPr>
              <a:t>=</a:t>
            </a:r>
            <a:r>
              <a:rPr sz="1800" i="0">
                <a:solidFill>
                  <a:srgbClr val="C39BD3"/>
                </a:solidFill>
                <a:latin typeface="Consolas"/>
              </a:rPr>
              <a:t>bool</a:t>
            </a:r>
            <a:r>
              <a:rPr sz="1800" i="0">
                <a:solidFill>
                  <a:srgbClr val="AEB6BF"/>
                </a:solidFill>
                <a:latin typeface="Consolas"/>
              </a:rPr>
              <a:t>)</a:t>
            </a:r>
          </a:p>
          <a:p>
            <a:pPr>
              <a:lnSpc>
                <a:spcPct val="100000"/>
              </a:lnSpc>
              <a:spcAft>
                <a:spcPts val="0"/>
              </a:spcAft>
            </a:pPr>
            <a:r>
              <a:rPr sz="1800" i="0">
                <a:solidFill>
                  <a:srgbClr val="E8EDF2"/>
                </a:solidFill>
                <a:latin typeface="Consolas"/>
              </a:rPr>
              <a:t>eps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AEB6BF"/>
                </a:solidFill>
                <a:latin typeface="Consolas"/>
              </a:rPr>
              <a:t>[</a:t>
            </a:r>
            <a:r>
              <a:rPr sz="1800" i="0">
                <a:solidFill>
                  <a:srgbClr val="E8EDF2"/>
                </a:solidFill>
                <a:latin typeface="Consolas"/>
              </a:rPr>
              <a:t>wrong</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weighted error = 0.3</a:t>
            </a:r>
          </a:p>
          <a:p>
            <a:pPr>
              <a:lnSpc>
                <a:spcPct val="100000"/>
              </a:lnSpc>
              <a:spcAft>
                <a:spcPts val="0"/>
              </a:spcAft>
            </a:pP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log</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eps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eps</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say of this learner</a:t>
            </a:r>
          </a:p>
          <a:p>
            <a:pPr>
              <a:lnSpc>
                <a:spcPct val="100000"/>
              </a:lnSpc>
              <a:spcAft>
                <a:spcPts val="0"/>
              </a:spcAft>
            </a:pP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where</a:t>
            </a:r>
            <a:r>
              <a:rPr sz="1800" i="0">
                <a:solidFill>
                  <a:srgbClr val="AEB6BF"/>
                </a:solidFill>
                <a:latin typeface="Consolas"/>
              </a:rPr>
              <a:t>(</a:t>
            </a:r>
            <a:r>
              <a:rPr sz="1800" i="0">
                <a:solidFill>
                  <a:srgbClr val="E8EDF2"/>
                </a:solidFill>
                <a:latin typeface="Consolas"/>
              </a:rPr>
              <a:t>wrong</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exp</a:t>
            </a:r>
            <a:r>
              <a:rPr sz="1800" i="0">
                <a:solidFill>
                  <a:srgbClr val="AEB6BF"/>
                </a:solidFill>
                <a:latin typeface="Consolas"/>
              </a:rPr>
              <a:t>(</a:t>
            </a:r>
            <a:r>
              <a:rPr sz="1800" i="0">
                <a:solidFill>
                  <a:srgbClr val="E8EDF2"/>
                </a:solidFill>
                <a:latin typeface="Consolas"/>
              </a:rPr>
              <a:t>alpha</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exp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alpha</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alpha = </a:t>
            </a:r>
            <a:r>
              <a:rPr sz="1800" i="0">
                <a:solidFill>
                  <a:srgbClr val="7DCEA0"/>
                </a:solidFill>
                <a:latin typeface="Consolas"/>
              </a:rPr>
              <a:t>{</a:t>
            </a:r>
            <a:r>
              <a:rPr sz="1800" i="0">
                <a:solidFill>
                  <a:srgbClr val="E8EDF2"/>
                </a:solidFill>
                <a:latin typeface="Consolas"/>
              </a:rPr>
              <a:t>alpha</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new weights: wrong </a:t>
            </a:r>
            <a:r>
              <a:rPr sz="1800" i="0">
                <a:solidFill>
                  <a:srgbClr val="7DCEA0"/>
                </a:solidFill>
                <a:latin typeface="Consolas"/>
              </a:rPr>
              <a:t>{</a:t>
            </a:r>
            <a:r>
              <a:rPr sz="1800" i="0">
                <a:solidFill>
                  <a:srgbClr val="E8EDF2"/>
                </a:solidFill>
                <a:latin typeface="Consolas"/>
              </a:rPr>
              <a:t>w</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.4f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right </a:t>
            </a:r>
            <a:r>
              <a:rPr sz="1800" i="0">
                <a:solidFill>
                  <a:srgbClr val="7DCEA0"/>
                </a:solidFill>
                <a:latin typeface="Consolas"/>
              </a:rPr>
              <a:t>{</a:t>
            </a:r>
            <a:r>
              <a:rPr sz="1800" i="0">
                <a:solidFill>
                  <a:srgbClr val="E8EDF2"/>
                </a:solidFill>
                <a:latin typeface="Consolas"/>
              </a:rPr>
              <a:t>w</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.4f</a:t>
            </a:r>
            <a:r>
              <a:rPr sz="1800" i="0">
                <a:solidFill>
                  <a:srgbClr val="7DCEA0"/>
                </a:solidFill>
                <a:latin typeface="Consolas"/>
              </a:rPr>
              <a:t>}</a:t>
            </a:r>
            <a:r>
              <a:rPr sz="1800" i="0">
                <a:solidFill>
                  <a:srgbClr val="7DCEA0"/>
                </a:solidFill>
                <a:latin typeface="Consolas"/>
              </a:rPr>
              <a:t>; weight on the mistakes = </a:t>
            </a:r>
            <a:r>
              <a:rPr sz="1800" i="0">
                <a:solidFill>
                  <a:srgbClr val="7DCEA0"/>
                </a:solidFill>
                <a:latin typeface="Consolas"/>
              </a:rPr>
              <a:t>{</a:t>
            </a:r>
            <a:r>
              <a:rPr sz="1800" i="0">
                <a:solidFill>
                  <a:srgbClr val="E8EDF2"/>
                </a:solidFill>
                <a:latin typeface="Consolas"/>
              </a:rPr>
              <a:t>w</a:t>
            </a:r>
            <a:r>
              <a:rPr sz="1800" i="0">
                <a:solidFill>
                  <a:srgbClr val="AEB6BF"/>
                </a:solidFill>
                <a:latin typeface="Consolas"/>
              </a:rPr>
              <a:t>[</a:t>
            </a:r>
            <a:r>
              <a:rPr sz="1800" i="0">
                <a:solidFill>
                  <a:srgbClr val="E8EDF2"/>
                </a:solidFill>
                <a:latin typeface="Consolas"/>
              </a:rPr>
              <a:t>wrong</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8997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Tree Against Five Ensembles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167F68F4-EF33-4462-8ADA-9577EC046435}"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One tree against five ensembles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code/ch14_one_tree_against_five.py</a:t>
            </a:r>
          </a:p>
        </p:txBody>
      </p:sp>
      <p:sp>
        <p:nvSpPr>
          <p:cNvPr id="14" name="!!code-text" descr="# --- 2. one tree against five ensembles ---------------------------------- X, y = make_classification(n_samples=3000, n_features=20, n_informative=8, n_redundant=4, flip_y=0.05, random_state=7) tree = DecisionTreeClassifier"/>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one tree against five ensembles ----------------------------------</a:t>
            </a:r>
          </a:p>
          <a:p>
            <a:pPr>
              <a:lnSpc>
                <a:spcPct val="100000"/>
              </a:lnSpc>
              <a:spcAft>
                <a:spcPts val="0"/>
              </a:spcAft>
            </a:pP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make_classification</a:t>
            </a:r>
            <a:r>
              <a:rPr sz="1800" i="0">
                <a:solidFill>
                  <a:srgbClr val="AEB6BF"/>
                </a:solidFill>
                <a:latin typeface="Consolas"/>
              </a:rPr>
              <a:t>(</a:t>
            </a:r>
            <a:r>
              <a:rPr sz="1800" i="0">
                <a:solidFill>
                  <a:srgbClr val="E8EDF2"/>
                </a:solidFill>
                <a:latin typeface="Consolas"/>
              </a:rPr>
              <a:t>n_samples</a:t>
            </a:r>
            <a:r>
              <a:rPr sz="1800" i="0">
                <a:solidFill>
                  <a:srgbClr val="AEB6BF"/>
                </a:solidFill>
                <a:latin typeface="Consolas"/>
              </a:rPr>
              <a:t>=</a:t>
            </a:r>
            <a:r>
              <a:rPr sz="1800" i="0">
                <a:solidFill>
                  <a:srgbClr val="F7DC6F"/>
                </a:solidFill>
                <a:latin typeface="Consolas"/>
              </a:rPr>
              <a:t>3000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n_features</a:t>
            </a:r>
            <a:r>
              <a:rPr sz="1800" i="0">
                <a:solidFill>
                  <a:srgbClr val="AEB6BF"/>
                </a:solidFill>
                <a:latin typeface="Consolas"/>
              </a:rPr>
              <a:t>=</a:t>
            </a:r>
            <a:r>
              <a:rPr sz="1800" i="0">
                <a:solidFill>
                  <a:srgbClr val="F7DC6F"/>
                </a:solidFill>
                <a:latin typeface="Consolas"/>
              </a:rPr>
              <a:t>20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n_informative</a:t>
            </a:r>
            <a:r>
              <a:rPr sz="1800" i="0">
                <a:solidFill>
                  <a:srgbClr val="AEB6BF"/>
                </a:solidFill>
                <a:latin typeface="Consolas"/>
              </a:rPr>
              <a:t>=</a:t>
            </a:r>
            <a:r>
              <a:rPr sz="1800" i="0">
                <a:solidFill>
                  <a:srgbClr val="F7DC6F"/>
                </a:solidFill>
                <a:latin typeface="Consolas"/>
              </a:rPr>
              <a:t>8</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n_redundant</a:t>
            </a:r>
            <a:r>
              <a:rPr sz="1800" i="0">
                <a:solidFill>
                  <a:srgbClr val="AEB6BF"/>
                </a:solidFill>
                <a:latin typeface="Consolas"/>
              </a:rPr>
              <a:t>=</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flip_y</a:t>
            </a:r>
            <a:r>
              <a:rPr sz="1800" i="0">
                <a:solidFill>
                  <a:srgbClr val="AEB6BF"/>
                </a:solidFill>
                <a:latin typeface="Consolas"/>
              </a:rPr>
              <a:t>=</a:t>
            </a:r>
            <a:r>
              <a:rPr sz="1800" i="0">
                <a:solidFill>
                  <a:srgbClr val="F7DC6F"/>
                </a:solidFill>
                <a:latin typeface="Consolas"/>
              </a:rPr>
              <a:t>0.05</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7</a:t>
            </a:r>
            <a:r>
              <a:rPr sz="1800" i="0">
                <a:solidFill>
                  <a:srgbClr val="AEB6BF"/>
                </a:solidFill>
                <a:latin typeface="Consolas"/>
              </a:rPr>
              <a:t>)</a:t>
            </a:r>
          </a:p>
          <a:p>
            <a:pPr>
              <a:lnSpc>
                <a:spcPct val="100000"/>
              </a:lnSpc>
              <a:spcAft>
                <a:spcPts val="0"/>
              </a:spcAft>
            </a:pPr>
            <a:r>
              <a:rPr sz="1800" i="0">
                <a:solidFill>
                  <a:srgbClr val="E8EDF2"/>
                </a:solidFill>
                <a:latin typeface="Consolas"/>
              </a:rPr>
              <a:t>tree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DecisionTreeClassifier</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0258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Tree Against Five Ensembles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368D787E-F9A3-4385-903C-161E82D6C4A9}"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One tree against five ensembles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code/ch14_one_tree_against_five.py</a:t>
            </a:r>
          </a:p>
        </p:txBody>
      </p:sp>
      <p:sp>
        <p:nvSpPr>
          <p:cNvPr id="14" name="!!code-text" descr="models = { &quot;single tree&quot;: tree(random_state=0), &quot;bagging (100 trees)&quot;: BaggingClassifier(tree(), n_estimators=100, random_state=0), &quot;random forest (100)&quot;: RandomForestClassifier(n_estimators=100, random_state=0), &quot;AdaBoost (depth 2)&quot;: AdaBoostClassifier(tree(max_depth=2), n_estimators=200, random_state=0), &quot;gradient boosting&quot;: GradientBoostingClassifier(n_estimators=200, random_state=0), &quot;vote: LR + tree + RF&quot;: VotingClassifier([ (&quot;lr&quot;, LogisticRegression(max_iter=1000)), (&quot;dt&quot;, tree(max_depth=6, random_state=0)), (&quot;rf&quot;, RandomForestClassifier(n_estimators=100, random_state=0))], voting=&quot;soft&quot;), } for name, m in models.items(): s = cross_val_score(m, X, y, cv=5) print(f&quot;{name:24s} accuracy {s.mean():.3f} +/- {s.std():.3f}&quot;)"/>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E8EDF2"/>
                </a:solidFill>
                <a:latin typeface="Consolas"/>
              </a:rPr>
              <a:t>models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single tree</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tree</a:t>
            </a:r>
            <a:r>
              <a:rPr sz="1100" i="0">
                <a:solidFill>
                  <a:srgbClr val="AEB6BF"/>
                </a:solidFill>
                <a:latin typeface="Consolas"/>
              </a:rPr>
              <a:t>(</a:t>
            </a:r>
            <a:r>
              <a:rPr sz="1100" i="0">
                <a:solidFill>
                  <a:srgbClr val="E8EDF2"/>
                </a:solidFill>
                <a:latin typeface="Consolas"/>
              </a:rPr>
              <a:t>random_state</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bagging (100 trees)</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BaggingClassifier</a:t>
            </a:r>
            <a:r>
              <a:rPr sz="1100" i="0">
                <a:solidFill>
                  <a:srgbClr val="AEB6BF"/>
                </a:solidFill>
                <a:latin typeface="Consolas"/>
              </a:rPr>
              <a:t>(</a:t>
            </a:r>
            <a:r>
              <a:rPr sz="1100" i="0">
                <a:solidFill>
                  <a:srgbClr val="E8EDF2"/>
                </a:solidFill>
                <a:latin typeface="Consolas"/>
              </a:rPr>
              <a:t>tree</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n_estimators</a:t>
            </a:r>
            <a:r>
              <a:rPr sz="1100" i="0">
                <a:solidFill>
                  <a:srgbClr val="AEB6BF"/>
                </a:solidFill>
                <a:latin typeface="Consolas"/>
              </a:rPr>
              <a:t>=</a:t>
            </a:r>
            <a:r>
              <a:rPr sz="1100" i="0">
                <a:solidFill>
                  <a:srgbClr val="F7DC6F"/>
                </a:solidFill>
                <a:latin typeface="Consolas"/>
              </a:rPr>
              <a:t>100</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random_state</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random forest (100)</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RandomForestClassifier</a:t>
            </a:r>
            <a:r>
              <a:rPr sz="1100" i="0">
                <a:solidFill>
                  <a:srgbClr val="AEB6BF"/>
                </a:solidFill>
                <a:latin typeface="Consolas"/>
              </a:rPr>
              <a:t>(</a:t>
            </a:r>
            <a:r>
              <a:rPr sz="1100" i="0">
                <a:solidFill>
                  <a:srgbClr val="E8EDF2"/>
                </a:solidFill>
                <a:latin typeface="Consolas"/>
              </a:rPr>
              <a:t>n_estimators</a:t>
            </a:r>
            <a:r>
              <a:rPr sz="1100" i="0">
                <a:solidFill>
                  <a:srgbClr val="AEB6BF"/>
                </a:solidFill>
                <a:latin typeface="Consolas"/>
              </a:rPr>
              <a:t>=</a:t>
            </a:r>
            <a:r>
              <a:rPr sz="1100" i="0">
                <a:solidFill>
                  <a:srgbClr val="F7DC6F"/>
                </a:solidFill>
                <a:latin typeface="Consolas"/>
              </a:rPr>
              <a:t>100</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random_state</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AdaBoost (depth 2)</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AdaBoostClassifier</a:t>
            </a:r>
            <a:r>
              <a:rPr sz="1100" i="0">
                <a:solidFill>
                  <a:srgbClr val="AEB6BF"/>
                </a:solidFill>
                <a:latin typeface="Consolas"/>
              </a:rPr>
              <a:t>(</a:t>
            </a:r>
            <a:r>
              <a:rPr sz="1100" i="0">
                <a:solidFill>
                  <a:srgbClr val="E8EDF2"/>
                </a:solidFill>
                <a:latin typeface="Consolas"/>
              </a:rPr>
              <a:t>tree</a:t>
            </a:r>
            <a:r>
              <a:rPr sz="1100" i="0">
                <a:solidFill>
                  <a:srgbClr val="AEB6BF"/>
                </a:solidFill>
                <a:latin typeface="Consolas"/>
              </a:rPr>
              <a:t>(</a:t>
            </a:r>
            <a:r>
              <a:rPr sz="1100" i="0">
                <a:solidFill>
                  <a:srgbClr val="E8EDF2"/>
                </a:solidFill>
                <a:latin typeface="Consolas"/>
              </a:rPr>
              <a:t>max_depth</a:t>
            </a:r>
            <a:r>
              <a:rPr sz="1100" i="0">
                <a:solidFill>
                  <a:srgbClr val="AEB6BF"/>
                </a:solidFill>
                <a:latin typeface="Consolas"/>
              </a:rPr>
              <a:t>=</a:t>
            </a:r>
            <a:r>
              <a:rPr sz="1100" i="0">
                <a:solidFill>
                  <a:srgbClr val="F7DC6F"/>
                </a:solidFill>
                <a:latin typeface="Consolas"/>
              </a:rPr>
              <a:t>2</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n_estimators</a:t>
            </a:r>
            <a:r>
              <a:rPr sz="1100" i="0">
                <a:solidFill>
                  <a:srgbClr val="AEB6BF"/>
                </a:solidFill>
                <a:latin typeface="Consolas"/>
              </a:rPr>
              <a:t>=</a:t>
            </a:r>
            <a:r>
              <a:rPr sz="1100" i="0">
                <a:solidFill>
                  <a:srgbClr val="F7DC6F"/>
                </a:solidFill>
                <a:latin typeface="Consolas"/>
              </a:rPr>
              <a:t>200</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random_state</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gradient boosting</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GradientBoostingClassifier</a:t>
            </a:r>
            <a:r>
              <a:rPr sz="1100" i="0">
                <a:solidFill>
                  <a:srgbClr val="AEB6BF"/>
                </a:solidFill>
                <a:latin typeface="Consolas"/>
              </a:rPr>
              <a:t>(</a:t>
            </a:r>
            <a:r>
              <a:rPr sz="1100" i="0">
                <a:solidFill>
                  <a:srgbClr val="E8EDF2"/>
                </a:solidFill>
                <a:latin typeface="Consolas"/>
              </a:rPr>
              <a:t>n_estimators</a:t>
            </a:r>
            <a:r>
              <a:rPr sz="1100" i="0">
                <a:solidFill>
                  <a:srgbClr val="AEB6BF"/>
                </a:solidFill>
                <a:latin typeface="Consolas"/>
              </a:rPr>
              <a:t>=</a:t>
            </a:r>
            <a:r>
              <a:rPr sz="1100" i="0">
                <a:solidFill>
                  <a:srgbClr val="F7DC6F"/>
                </a:solidFill>
                <a:latin typeface="Consolas"/>
              </a:rPr>
              <a:t>200</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random_state</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7DCEA0"/>
                </a:solidFill>
                <a:latin typeface="Consolas"/>
              </a:rPr>
              <a:t>"</a:t>
            </a:r>
            <a:r>
              <a:rPr sz="1100" i="0">
                <a:solidFill>
                  <a:srgbClr val="7DCEA0"/>
                </a:solidFill>
                <a:latin typeface="Consolas"/>
              </a:rPr>
              <a:t>vote: LR + tree + RF</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VotingClassifier</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lr</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LogisticRegression</a:t>
            </a:r>
            <a:r>
              <a:rPr sz="1100" i="0">
                <a:solidFill>
                  <a:srgbClr val="AEB6BF"/>
                </a:solidFill>
                <a:latin typeface="Consolas"/>
              </a:rPr>
              <a:t>(</a:t>
            </a:r>
            <a:r>
              <a:rPr sz="1100" i="0">
                <a:solidFill>
                  <a:srgbClr val="E8EDF2"/>
                </a:solidFill>
                <a:latin typeface="Consolas"/>
              </a:rPr>
              <a:t>max_iter</a:t>
            </a:r>
            <a:r>
              <a:rPr sz="1100" i="0">
                <a:solidFill>
                  <a:srgbClr val="AEB6BF"/>
                </a:solidFill>
                <a:latin typeface="Consolas"/>
              </a:rPr>
              <a:t>=</a:t>
            </a:r>
            <a:r>
              <a:rPr sz="1100" i="0">
                <a:solidFill>
                  <a:srgbClr val="F7DC6F"/>
                </a:solidFill>
                <a:latin typeface="Consolas"/>
              </a:rPr>
              <a:t>1000</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dt</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tree</a:t>
            </a:r>
            <a:r>
              <a:rPr sz="1100" i="0">
                <a:solidFill>
                  <a:srgbClr val="AEB6BF"/>
                </a:solidFill>
                <a:latin typeface="Consolas"/>
              </a:rPr>
              <a:t>(</a:t>
            </a:r>
            <a:r>
              <a:rPr sz="1100" i="0">
                <a:solidFill>
                  <a:srgbClr val="E8EDF2"/>
                </a:solidFill>
                <a:latin typeface="Consolas"/>
              </a:rPr>
              <a:t>max_depth</a:t>
            </a:r>
            <a:r>
              <a:rPr sz="1100" i="0">
                <a:solidFill>
                  <a:srgbClr val="AEB6BF"/>
                </a:solidFill>
                <a:latin typeface="Consolas"/>
              </a:rPr>
              <a:t>=</a:t>
            </a:r>
            <a:r>
              <a:rPr sz="1100" i="0">
                <a:solidFill>
                  <a:srgbClr val="F7DC6F"/>
                </a:solidFill>
                <a:latin typeface="Consolas"/>
              </a:rPr>
              <a:t>6</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random_state</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rf</a:t>
            </a:r>
            <a:r>
              <a:rPr sz="1100" i="0">
                <a:solidFill>
                  <a:srgbClr val="7DCEA0"/>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RandomForestClassifier</a:t>
            </a:r>
            <a:r>
              <a:rPr sz="1100" i="0">
                <a:solidFill>
                  <a:srgbClr val="AEB6BF"/>
                </a:solidFill>
                <a:latin typeface="Consolas"/>
              </a:rPr>
              <a:t>(</a:t>
            </a:r>
            <a:r>
              <a:rPr sz="1100" i="0">
                <a:solidFill>
                  <a:srgbClr val="E8EDF2"/>
                </a:solidFill>
                <a:latin typeface="Consolas"/>
              </a:rPr>
              <a:t>n_estimators</a:t>
            </a:r>
            <a:r>
              <a:rPr sz="1100" i="0">
                <a:solidFill>
                  <a:srgbClr val="AEB6BF"/>
                </a:solidFill>
                <a:latin typeface="Consolas"/>
              </a:rPr>
              <a:t>=</a:t>
            </a:r>
            <a:r>
              <a:rPr sz="1100" i="0">
                <a:solidFill>
                  <a:srgbClr val="F7DC6F"/>
                </a:solidFill>
                <a:latin typeface="Consolas"/>
              </a:rPr>
              <a:t>100</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random_state</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voting</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soft</a:t>
            </a:r>
            <a:r>
              <a:rPr sz="1100" i="0">
                <a:solidFill>
                  <a:srgbClr val="7DCEA0"/>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AEB6BF"/>
                </a:solidFill>
                <a:latin typeface="Consolas"/>
              </a:rPr>
              <a:t>}</a:t>
            </a:r>
          </a:p>
          <a:p>
            <a:pPr>
              <a:lnSpc>
                <a:spcPct val="100000"/>
              </a:lnSpc>
              <a:spcAft>
                <a:spcPts val="0"/>
              </a:spcAft>
            </a:pP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name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m</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models</a:t>
            </a:r>
            <a:r>
              <a:rPr sz="1100" i="0">
                <a:solidFill>
                  <a:srgbClr val="AEB6BF"/>
                </a:solidFill>
                <a:latin typeface="Consolas"/>
              </a:rPr>
              <a:t>.</a:t>
            </a:r>
            <a:r>
              <a:rPr sz="1100" i="0">
                <a:solidFill>
                  <a:srgbClr val="E8EDF2"/>
                </a:solidFill>
                <a:latin typeface="Consolas"/>
              </a:rPr>
              <a:t>items</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E8EDF2"/>
                </a:solidFill>
                <a:latin typeface="Consolas"/>
              </a:rPr>
              <a:t>s</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cross_val_score</a:t>
            </a:r>
            <a:r>
              <a:rPr sz="1100" i="0">
                <a:solidFill>
                  <a:srgbClr val="AEB6BF"/>
                </a:solidFill>
                <a:latin typeface="Consolas"/>
              </a:rPr>
              <a:t>(</a:t>
            </a:r>
            <a:r>
              <a:rPr sz="1100" i="0">
                <a:solidFill>
                  <a:srgbClr val="E8EDF2"/>
                </a:solidFill>
                <a:latin typeface="Consolas"/>
              </a:rPr>
              <a:t>m</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X</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y</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cv</a:t>
            </a:r>
            <a:r>
              <a:rPr sz="1100" i="0">
                <a:solidFill>
                  <a:srgbClr val="AEB6BF"/>
                </a:solidFill>
                <a:latin typeface="Consolas"/>
              </a:rPr>
              <a:t>=</a:t>
            </a:r>
            <a:r>
              <a:rPr sz="1100" i="0">
                <a:solidFill>
                  <a:srgbClr val="F7DC6F"/>
                </a:solidFill>
                <a:latin typeface="Consolas"/>
              </a:rPr>
              <a:t>5</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print</a:t>
            </a:r>
            <a:r>
              <a:rPr sz="1100" i="0">
                <a:solidFill>
                  <a:srgbClr val="AEB6BF"/>
                </a:solidFill>
                <a:latin typeface="Consolas"/>
              </a:rPr>
              <a:t>(</a:t>
            </a:r>
            <a:r>
              <a:rPr sz="1100" i="0">
                <a:solidFill>
                  <a:srgbClr val="7DCEA0"/>
                </a:solidFill>
                <a:latin typeface="Consolas"/>
              </a:rPr>
              <a:t>f</a:t>
            </a:r>
            <a:r>
              <a:rPr sz="1100" i="0">
                <a:solidFill>
                  <a:srgbClr val="7DCEA0"/>
                </a:solidFill>
                <a:latin typeface="Consolas"/>
              </a:rPr>
              <a:t>"</a:t>
            </a:r>
            <a:r>
              <a:rPr sz="1100" i="0">
                <a:solidFill>
                  <a:srgbClr val="7DCEA0"/>
                </a:solidFill>
                <a:latin typeface="Consolas"/>
              </a:rPr>
              <a:t>{</a:t>
            </a:r>
            <a:r>
              <a:rPr sz="1100" i="0">
                <a:solidFill>
                  <a:srgbClr val="E8EDF2"/>
                </a:solidFill>
                <a:latin typeface="Consolas"/>
              </a:rPr>
              <a:t>name</a:t>
            </a:r>
            <a:r>
              <a:rPr sz="1100" i="0">
                <a:solidFill>
                  <a:srgbClr val="7DCEA0"/>
                </a:solidFill>
                <a:latin typeface="Consolas"/>
              </a:rPr>
              <a:t>:</a:t>
            </a:r>
            <a:r>
              <a:rPr sz="1100" i="0">
                <a:solidFill>
                  <a:srgbClr val="7DCEA0"/>
                </a:solidFill>
                <a:latin typeface="Consolas"/>
              </a:rPr>
              <a:t>24s</a:t>
            </a:r>
            <a:r>
              <a:rPr sz="1100" i="0">
                <a:solidFill>
                  <a:srgbClr val="7DCEA0"/>
                </a:solidFill>
                <a:latin typeface="Consolas"/>
              </a:rPr>
              <a:t>}</a:t>
            </a:r>
            <a:r>
              <a:rPr sz="1100" i="0">
                <a:solidFill>
                  <a:srgbClr val="7DCEA0"/>
                </a:solidFill>
                <a:latin typeface="Consolas"/>
              </a:rPr>
              <a:t> accuracy </a:t>
            </a:r>
            <a:r>
              <a:rPr sz="1100" i="0">
                <a:solidFill>
                  <a:srgbClr val="7DCEA0"/>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mean</a:t>
            </a:r>
            <a:r>
              <a:rPr sz="1100" i="0">
                <a:solidFill>
                  <a:srgbClr val="AEB6BF"/>
                </a:solidFill>
                <a:latin typeface="Consolas"/>
              </a:rPr>
              <a: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.3f</a:t>
            </a:r>
            <a:r>
              <a:rPr sz="1100" i="0">
                <a:solidFill>
                  <a:srgbClr val="7DCEA0"/>
                </a:solidFill>
                <a:latin typeface="Consolas"/>
              </a:rPr>
              <a:t>}</a:t>
            </a:r>
            <a:r>
              <a:rPr sz="1100" i="0">
                <a:solidFill>
                  <a:srgbClr val="7DCEA0"/>
                </a:solidFill>
                <a:latin typeface="Consolas"/>
              </a:rPr>
              <a:t> +/- </a:t>
            </a:r>
            <a:r>
              <a:rPr sz="1100" i="0">
                <a:solidFill>
                  <a:srgbClr val="7DCEA0"/>
                </a:solidFill>
                <a:latin typeface="Consolas"/>
              </a:rPr>
              <a:t>{</a:t>
            </a:r>
            <a:r>
              <a:rPr sz="1100" i="0">
                <a:solidFill>
                  <a:srgbClr val="E8EDF2"/>
                </a:solidFill>
                <a:latin typeface="Consolas"/>
              </a:rPr>
              <a:t>s</a:t>
            </a:r>
            <a:r>
              <a:rPr sz="1100" i="0">
                <a:solidFill>
                  <a:srgbClr val="AEB6BF"/>
                </a:solidFill>
                <a:latin typeface="Consolas"/>
              </a:rPr>
              <a:t>.</a:t>
            </a:r>
            <a:r>
              <a:rPr sz="1100" i="0">
                <a:solidFill>
                  <a:srgbClr val="E8EDF2"/>
                </a:solidFill>
                <a:latin typeface="Consolas"/>
              </a:rPr>
              <a:t>std</a:t>
            </a:r>
            <a:r>
              <a:rPr sz="1100" i="0">
                <a:solidFill>
                  <a:srgbClr val="AEB6BF"/>
                </a:solidFill>
                <a:latin typeface="Consolas"/>
              </a:rPr>
              <a:t>(</a:t>
            </a:r>
            <a:r>
              <a:rPr sz="1100" i="0">
                <a:solidFill>
                  <a:srgbClr val="AEB6BF"/>
                </a:solidFill>
                <a:latin typeface="Consolas"/>
              </a:rPr>
              <a:t>)</a:t>
            </a:r>
            <a:r>
              <a:rPr sz="1100" i="0">
                <a:solidFill>
                  <a:srgbClr val="7DCEA0"/>
                </a:solidFill>
                <a:latin typeface="Consolas"/>
              </a:rPr>
              <a:t>:</a:t>
            </a:r>
            <a:r>
              <a:rPr sz="1100" i="0">
                <a:solidFill>
                  <a:srgbClr val="7DCEA0"/>
                </a:solidFill>
                <a:latin typeface="Consolas"/>
              </a:rPr>
              <a:t>.3f</a:t>
            </a:r>
            <a:r>
              <a:rPr sz="1100" i="0">
                <a:solidFill>
                  <a:srgbClr val="7DCEA0"/>
                </a:solidFill>
                <a:latin typeface="Consolas"/>
              </a:rPr>
              <a:t>}</a:t>
            </a:r>
            <a:r>
              <a:rPr sz="1100" i="0">
                <a:solidFill>
                  <a:srgbClr val="7DCEA0"/>
                </a:solidFill>
                <a:latin typeface="Consolas"/>
              </a:rPr>
              <a:t>"</a:t>
            </a:r>
            <a:r>
              <a:rPr sz="1100" i="0">
                <a:solidFill>
                  <a:srgbClr val="AEB6BF"/>
                </a:solidFill>
                <a:latin typeface="Consolas"/>
              </a:rPr>
              <a:t>)</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25</a:t>
            </a:r>
          </a:p>
          <a:p>
            <a:pPr algn="r">
              <a:lnSpc>
                <a:spcPct val="100000"/>
              </a:lnSpc>
            </a:pPr>
            <a:r>
              <a:rPr sz="1100">
                <a:solidFill>
                  <a:srgbClr val="4F5D6A"/>
                </a:solidFill>
                <a:latin typeface="Consolas"/>
              </a:rPr>
              <a:t>26</a:t>
            </a:r>
          </a:p>
          <a:p>
            <a:pPr algn="r">
              <a:lnSpc>
                <a:spcPct val="100000"/>
              </a:lnSpc>
            </a:pPr>
            <a:r>
              <a:rPr sz="1100">
                <a:solidFill>
                  <a:srgbClr val="4F5D6A"/>
                </a:solidFill>
                <a:latin typeface="Consolas"/>
              </a:rPr>
              <a:t>27</a:t>
            </a:r>
          </a:p>
          <a:p>
            <a:pPr algn="r">
              <a:lnSpc>
                <a:spcPct val="100000"/>
              </a:lnSpc>
            </a:pPr>
            <a:r>
              <a:rPr sz="1100">
                <a:solidFill>
                  <a:srgbClr val="4F5D6A"/>
                </a:solidFill>
                <a:latin typeface="Consolas"/>
              </a:rPr>
              <a:t>28</a:t>
            </a:r>
          </a:p>
          <a:p>
            <a:pPr algn="r">
              <a:lnSpc>
                <a:spcPct val="100000"/>
              </a:lnSpc>
            </a:pPr>
            <a:r>
              <a:rPr sz="1100">
                <a:solidFill>
                  <a:srgbClr val="4F5D6A"/>
                </a:solidFill>
                <a:latin typeface="Consolas"/>
              </a:rPr>
              <a:t>29</a:t>
            </a:r>
          </a:p>
          <a:p>
            <a:pPr algn="r">
              <a:lnSpc>
                <a:spcPct val="100000"/>
              </a:lnSpc>
            </a:pPr>
            <a:r>
              <a:rPr sz="1100">
                <a:solidFill>
                  <a:srgbClr val="4F5D6A"/>
                </a:solidFill>
                <a:latin typeface="Consolas"/>
              </a:rPr>
              <a:t>30</a:t>
            </a:r>
          </a:p>
          <a:p>
            <a:pPr algn="r">
              <a:lnSpc>
                <a:spcPct val="100000"/>
              </a:lnSpc>
            </a:pPr>
            <a:r>
              <a:rPr sz="1100">
                <a:solidFill>
                  <a:srgbClr val="4F5D6A"/>
                </a:solidFill>
                <a:latin typeface="Consolas"/>
              </a:rPr>
              <a:t>31</a:t>
            </a:r>
          </a:p>
          <a:p>
            <a:pPr algn="r">
              <a:lnSpc>
                <a:spcPct val="100000"/>
              </a:lnSpc>
            </a:pPr>
            <a:r>
              <a:rPr sz="1100">
                <a:solidFill>
                  <a:srgbClr val="4F5D6A"/>
                </a:solidFill>
                <a:latin typeface="Consolas"/>
              </a:rPr>
              <a:t>32</a:t>
            </a:r>
          </a:p>
          <a:p>
            <a:pPr algn="r">
              <a:lnSpc>
                <a:spcPct val="100000"/>
              </a:lnSpc>
            </a:pPr>
            <a:r>
              <a:rPr sz="1100">
                <a:solidFill>
                  <a:srgbClr val="4F5D6A"/>
                </a:solidFill>
                <a:latin typeface="Consolas"/>
              </a:rPr>
              <a:t>33</a:t>
            </a:r>
          </a:p>
          <a:p>
            <a:pPr algn="r">
              <a:lnSpc>
                <a:spcPct val="100000"/>
              </a:lnSpc>
            </a:pPr>
            <a:r>
              <a:rPr sz="1100">
                <a:solidFill>
                  <a:srgbClr val="4F5D6A"/>
                </a:solidFill>
                <a:latin typeface="Consolas"/>
              </a:rPr>
              <a:t>34</a:t>
            </a:r>
          </a:p>
          <a:p>
            <a:pPr algn="r">
              <a:lnSpc>
                <a:spcPct val="100000"/>
              </a:lnSpc>
            </a:pPr>
            <a:r>
              <a:rPr sz="1100">
                <a:solidFill>
                  <a:srgbClr val="4F5D6A"/>
                </a:solidFill>
                <a:latin typeface="Consolas"/>
              </a:rPr>
              <a:t>35</a:t>
            </a:r>
          </a:p>
          <a:p>
            <a:pPr algn="r">
              <a:lnSpc>
                <a:spcPct val="100000"/>
              </a:lnSpc>
            </a:pPr>
            <a:r>
              <a:rPr sz="1100">
                <a:solidFill>
                  <a:srgbClr val="4F5D6A"/>
                </a:solidFill>
                <a:latin typeface="Consolas"/>
              </a:rPr>
              <a:t>36</a:t>
            </a:r>
          </a:p>
          <a:p>
            <a:pPr algn="r">
              <a:lnSpc>
                <a:spcPct val="100000"/>
              </a:lnSpc>
            </a:pPr>
            <a:r>
              <a:rPr sz="1100">
                <a:solidFill>
                  <a:srgbClr val="4F5D6A"/>
                </a:solidFill>
                <a:latin typeface="Consolas"/>
              </a:rPr>
              <a:t>37</a:t>
            </a:r>
          </a:p>
          <a:p>
            <a:pPr algn="r">
              <a:lnSpc>
                <a:spcPct val="100000"/>
              </a:lnSpc>
            </a:pPr>
            <a:r>
              <a:rPr sz="1100">
                <a:solidFill>
                  <a:srgbClr val="4F5D6A"/>
                </a:solidFill>
                <a:latin typeface="Consolas"/>
              </a:rPr>
              <a:t>38</a:t>
            </a:r>
          </a:p>
          <a:p>
            <a:pPr algn="r">
              <a:lnSpc>
                <a:spcPct val="100000"/>
              </a:lnSpc>
            </a:pPr>
            <a:r>
              <a:rPr sz="1100">
                <a:solidFill>
                  <a:srgbClr val="4F5D6A"/>
                </a:solidFill>
                <a:latin typeface="Consolas"/>
              </a:rPr>
              <a:t>39</a:t>
            </a:r>
          </a:p>
          <a:p>
            <a:pPr algn="r">
              <a:lnSpc>
                <a:spcPct val="100000"/>
              </a:lnSpc>
            </a:pPr>
            <a:r>
              <a:rPr sz="1100">
                <a:solidFill>
                  <a:srgbClr val="4F5D6A"/>
                </a:solidFill>
                <a:latin typeface="Consolas"/>
              </a:rPr>
              <a:t>40</a:t>
            </a:r>
          </a:p>
          <a:p>
            <a:pPr algn="r">
              <a:lnSpc>
                <a:spcPct val="100000"/>
              </a:lnSpc>
            </a:pPr>
            <a:r>
              <a:rPr sz="1100">
                <a:solidFill>
                  <a:srgbClr val="4F5D6A"/>
                </a:solidFill>
                <a:latin typeface="Consolas"/>
              </a:rPr>
              <a:t>41</a:t>
            </a:r>
          </a:p>
          <a:p>
            <a:pPr algn="r">
              <a:lnSpc>
                <a:spcPct val="100000"/>
              </a:lnSpc>
            </a:pPr>
            <a:r>
              <a:rPr sz="1100">
                <a:solidFill>
                  <a:srgbClr val="4F5D6A"/>
                </a:solidFill>
                <a:latin typeface="Consolas"/>
              </a:rPr>
              <a:t>42</a:t>
            </a:r>
          </a:p>
          <a:p>
            <a:pPr algn="r">
              <a:lnSpc>
                <a:spcPct val="100000"/>
              </a:lnSpc>
            </a:pPr>
            <a:r>
              <a:rPr sz="1100">
                <a:solidFill>
                  <a:srgbClr val="4F5D6A"/>
                </a:solidFill>
                <a:latin typeface="Consolas"/>
              </a:rPr>
              <a:t>43</a:t>
            </a:r>
          </a:p>
          <a:p>
            <a:pPr algn="r">
              <a:lnSpc>
                <a:spcPct val="100000"/>
              </a:lnSpc>
            </a:pPr>
            <a:r>
              <a:rPr sz="11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1518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One Tree Against Five Ensembles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A08B4C4E-107C-40BD-9CFC-C6AA54F709C4}"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free validation estimate, and what the forest looked at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code/ch14_one_tree_against_five.py</a:t>
            </a:r>
          </a:p>
        </p:txBody>
      </p:sp>
      <p:sp>
        <p:nvSpPr>
          <p:cNvPr id="14" name="!!code-text" descr="# --- 3. a free validation estimate, and what the forest looked at -------- rf = RandomForestClassifier(n_estimators=300, oob_score=True, random_state=0).fit(X, y) print(&quot;random forest out-of-bag accuracy:&quot;, round(rf.oob_score_, 3)) top = np.argsort(-rf.feature_importances_)[:5] print(&quot;most used features:&quot;, top.tolist(), rf.feature_importances_[top].round(3).tolist())"/>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a free validation estimate, and what the forest looked at --------</a:t>
            </a:r>
          </a:p>
          <a:p>
            <a:pPr>
              <a:lnSpc>
                <a:spcPct val="100000"/>
              </a:lnSpc>
              <a:spcAft>
                <a:spcPts val="0"/>
              </a:spcAft>
            </a:pPr>
            <a:r>
              <a:rPr sz="1800" i="0">
                <a:solidFill>
                  <a:srgbClr val="E8EDF2"/>
                </a:solidFill>
                <a:latin typeface="Consolas"/>
              </a:rPr>
              <a:t>rf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RandomForestClassifier</a:t>
            </a:r>
            <a:r>
              <a:rPr sz="1800" i="0">
                <a:solidFill>
                  <a:srgbClr val="AEB6BF"/>
                </a:solidFill>
                <a:latin typeface="Consolas"/>
              </a:rPr>
              <a:t>(</a:t>
            </a:r>
            <a:r>
              <a:rPr sz="1800" i="0">
                <a:solidFill>
                  <a:srgbClr val="E8EDF2"/>
                </a:solidFill>
                <a:latin typeface="Consolas"/>
              </a:rPr>
              <a:t>n_estimators</a:t>
            </a:r>
            <a:r>
              <a:rPr sz="1800" i="0">
                <a:solidFill>
                  <a:srgbClr val="AEB6BF"/>
                </a:solidFill>
                <a:latin typeface="Consolas"/>
              </a:rPr>
              <a:t>=</a:t>
            </a:r>
            <a:r>
              <a:rPr sz="1800" i="0">
                <a:solidFill>
                  <a:srgbClr val="F7DC6F"/>
                </a:solidFill>
                <a:latin typeface="Consolas"/>
              </a:rPr>
              <a:t>300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oob_score</a:t>
            </a:r>
            <a:r>
              <a:rPr sz="1800" i="0">
                <a:solidFill>
                  <a:srgbClr val="AEB6BF"/>
                </a:solidFill>
                <a:latin typeface="Consolas"/>
              </a:rPr>
              <a:t>=</a:t>
            </a:r>
            <a:r>
              <a:rPr sz="1800" i="0">
                <a:solidFill>
                  <a:srgbClr val="5DADE2"/>
                </a:solidFill>
                <a:latin typeface="Consolas"/>
              </a:rPr>
              <a:t>True</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random forest out-of-bag accuracy: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rf</a:t>
            </a:r>
            <a:r>
              <a:rPr sz="1800" i="0">
                <a:solidFill>
                  <a:srgbClr val="AEB6BF"/>
                </a:solidFill>
                <a:latin typeface="Consolas"/>
              </a:rPr>
              <a:t>.</a:t>
            </a:r>
            <a:r>
              <a:rPr sz="1800" i="0">
                <a:solidFill>
                  <a:srgbClr val="E8EDF2"/>
                </a:solidFill>
                <a:latin typeface="Consolas"/>
              </a:rPr>
              <a:t>oob_score_</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top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argsort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rf</a:t>
            </a:r>
            <a:r>
              <a:rPr sz="1800" i="0">
                <a:solidFill>
                  <a:srgbClr val="AEB6BF"/>
                </a:solidFill>
                <a:latin typeface="Consolas"/>
              </a:rPr>
              <a:t>.</a:t>
            </a:r>
            <a:r>
              <a:rPr sz="1800" i="0">
                <a:solidFill>
                  <a:srgbClr val="E8EDF2"/>
                </a:solidFill>
                <a:latin typeface="Consolas"/>
              </a:rPr>
              <a:t>feature_importances_</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most used features: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top</a:t>
            </a:r>
            <a:r>
              <a:rPr sz="1800" i="0">
                <a:solidFill>
                  <a:srgbClr val="AEB6BF"/>
                </a:solidFill>
                <a:latin typeface="Consolas"/>
              </a:rPr>
              <a:t>.</a:t>
            </a:r>
            <a:r>
              <a:rPr sz="1800" i="0">
                <a:solidFill>
                  <a:srgbClr val="E8EDF2"/>
                </a:solidFill>
                <a:latin typeface="Consolas"/>
              </a:rPr>
              <a:t>tolist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rf</a:t>
            </a:r>
            <a:r>
              <a:rPr sz="1800" i="0">
                <a:solidFill>
                  <a:srgbClr val="AEB6BF"/>
                </a:solidFill>
                <a:latin typeface="Consolas"/>
              </a:rPr>
              <a:t>.</a:t>
            </a:r>
            <a:r>
              <a:rPr sz="1800" i="0">
                <a:solidFill>
                  <a:srgbClr val="E8EDF2"/>
                </a:solidFill>
                <a:latin typeface="Consolas"/>
              </a:rPr>
              <a:t>feature_importances_</a:t>
            </a:r>
            <a:r>
              <a:rPr sz="1800" i="0">
                <a:solidFill>
                  <a:srgbClr val="AEB6BF"/>
                </a:solidFill>
                <a:latin typeface="Consolas"/>
              </a:rPr>
              <a:t>[</a:t>
            </a:r>
            <a:r>
              <a:rPr sz="1800" i="0">
                <a:solidFill>
                  <a:srgbClr val="E8EDF2"/>
                </a:solidFill>
                <a:latin typeface="Consolas"/>
              </a:rPr>
              <a:t>top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tolist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§14.5  ·  Handout p. 106     </a:t>
            </a:r>
            <a:fld id="{DE43D89C-BD72-421C-82C3-91E34E031454}" type="slidenum">
              <a:rPr lang="en-GB" sz="1000">
                <a:solidFill>
                  <a:srgbClr val="8795A1"/>
                </a:solidFill>
                <a:latin typeface="Segoe UI"/>
              </a:rPr>
              <a:t>27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ensemble beats the single tree by four to six points. Now set </a:t>
            </a:r>
            <a:r>
              <a:rPr sz="2150" b="0" i="0">
                <a:solidFill>
                  <a:srgbClr val="1F4E79"/>
                </a:solidFill>
                <a:latin typeface="Consolas"/>
              </a:rPr>
              <a:t>flip_y=0.3</a:t>
            </a:r>
            <a:r>
              <a:rPr sz="2300" b="0" i="0">
                <a:solidFill>
                  <a:srgbClr val="1C252B"/>
                </a:solidFill>
                <a:latin typeface="Segoe UI"/>
              </a:rPr>
              <a:t> (30% label noise) and compare bagging with AdaBoost again: which suffers more, and why?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4404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Three independent classifiers are each 80% accurate. What is the accuracy of their majority vote?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14  ·  Ensemble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111  ·  answers in Appendix D     </a:t>
            </a:r>
            <a:fld id="{A4B66E2A-DFE7-4999-B6C2-DC7100F20E9B}" type="slidenum">
              <a:rPr lang="en-GB" sz="1000">
                <a:solidFill>
                  <a:srgbClr val="D5DEE5"/>
                </a:solidFill>
                <a:latin typeface="Segoe UI"/>
              </a:rPr>
              <a:t>28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Three independent classifiers are each 80% accurate. What is the accuracy of their majority vote?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3(0.8</a:t>
            </a:r>
            <a:r>
              <a:rPr sz="2200" b="0" i="0" baseline="30000">
                <a:solidFill>
                  <a:srgbClr val="1C252B"/>
                </a:solidFill>
                <a:latin typeface="Cambria"/>
              </a:rPr>
              <a:t>2</a:t>
            </a:r>
            <a:r>
              <a:rPr sz="2200" b="0" i="0">
                <a:solidFill>
                  <a:srgbClr val="1C252B"/>
                </a:solidFill>
                <a:latin typeface="Cambria"/>
              </a:rPr>
              <a:t>)(0.2) + 0.8</a:t>
            </a:r>
            <a:r>
              <a:rPr sz="2200" b="0" i="0" baseline="30000">
                <a:solidFill>
                  <a:srgbClr val="1C252B"/>
                </a:solidFill>
                <a:latin typeface="Cambria"/>
              </a:rPr>
              <a:t>3</a:t>
            </a:r>
            <a:r>
              <a:rPr sz="2200" b="0" i="0">
                <a:solidFill>
                  <a:srgbClr val="1C252B"/>
                </a:solidFill>
                <a:latin typeface="Cambria"/>
              </a:rPr>
              <a:t> = 0.384 + 0.512 = 0.896</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  answers in Appendix D     </a:t>
            </a:r>
            <a:fld id="{31E99C28-503A-4D3D-8E1F-5BC76EDFD930}" type="slidenum">
              <a:rPr lang="en-GB" sz="1000">
                <a:solidFill>
                  <a:srgbClr val="8795A1"/>
                </a:solidFill>
                <a:latin typeface="Segoe UI"/>
              </a:rPr>
              <a:t>29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0656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stump has weighted error 0.2. Compute its </a:t>
            </a:r>
            <a:r>
              <a:rPr sz="3400" b="0" i="0">
                <a:solidFill>
                  <a:srgbClr val="FFFFFF"/>
                </a:solidFill>
                <a:latin typeface="Cambria"/>
              </a:rPr>
              <a:t>α</a:t>
            </a:r>
            <a:r>
              <a:rPr sz="3400" b="0" i="0">
                <a:solidFill>
                  <a:srgbClr val="FFFFFF"/>
                </a:solidFill>
                <a:latin typeface="Segoe UI Semibold"/>
              </a:rPr>
              <a:t> and the factors by which misclassified and correct examples are re-weighted.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14  ·  Ensemble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111  ·  answers in Appendix D     </a:t>
            </a:r>
            <a:fld id="{8CB9BF5F-61A7-490C-B7C1-6A29CB98A987}"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stump has weighted error 0.2. Compute its </a:t>
            </a:r>
            <a:r>
              <a:rPr sz="2400" b="0" i="0">
                <a:solidFill>
                  <a:srgbClr val="1A5276"/>
                </a:solidFill>
                <a:latin typeface="Cambria"/>
              </a:rPr>
              <a:t>α</a:t>
            </a:r>
            <a:r>
              <a:rPr sz="2400" b="0" i="0">
                <a:solidFill>
                  <a:srgbClr val="1A5276"/>
                </a:solidFill>
                <a:latin typeface="Segoe UI Semibold"/>
              </a:rPr>
              <a:t> and the factors by which misclassified and correct examples are re-weighted.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α = 1/2ln(0.8/0.2) = 1/2ln 4 = 0.693</a:t>
            </a:r>
            <a:r>
              <a:rPr sz="2200" b="0" i="0">
                <a:solidFill>
                  <a:srgbClr val="1C252B"/>
                </a:solidFill>
                <a:latin typeface="Segoe UI"/>
              </a:rPr>
              <a:t>. Misclassified examples are multiplied by </a:t>
            </a:r>
            <a:r>
              <a:rPr sz="2200" b="0" i="1">
                <a:solidFill>
                  <a:srgbClr val="1C252B"/>
                </a:solidFill>
                <a:latin typeface="Cambria"/>
              </a:rPr>
              <a:t>e</a:t>
            </a:r>
            <a:r>
              <a:rPr sz="2200" b="0" i="0" baseline="30000">
                <a:solidFill>
                  <a:srgbClr val="1C252B"/>
                </a:solidFill>
                <a:latin typeface="Cambria"/>
              </a:rPr>
              <a:t>0.693</a:t>
            </a:r>
            <a:r>
              <a:rPr sz="2200" b="0" i="0">
                <a:solidFill>
                  <a:srgbClr val="1C252B"/>
                </a:solidFill>
                <a:latin typeface="Cambria"/>
              </a:rPr>
              <a:t> = 2</a:t>
            </a:r>
            <a:r>
              <a:rPr sz="2200" b="0" i="0">
                <a:solidFill>
                  <a:srgbClr val="1C252B"/>
                </a:solidFill>
                <a:latin typeface="Segoe UI"/>
              </a:rPr>
              <a:t>, correct ones by </a:t>
            </a:r>
            <a:r>
              <a:rPr sz="2200" b="0" i="1">
                <a:solidFill>
                  <a:srgbClr val="1C252B"/>
                </a:solidFill>
                <a:latin typeface="Cambria"/>
              </a:rPr>
              <a:t>e</a:t>
            </a:r>
            <a:r>
              <a:rPr sz="2200" b="0" i="0" baseline="30000">
                <a:solidFill>
                  <a:srgbClr val="1C252B"/>
                </a:solidFill>
                <a:latin typeface="Cambria"/>
              </a:rPr>
              <a:t>−0.693</a:t>
            </a:r>
            <a:r>
              <a:rPr sz="2200" b="0" i="0">
                <a:solidFill>
                  <a:srgbClr val="1C252B"/>
                </a:solidFill>
                <a:latin typeface="Cambria"/>
              </a:rPr>
              <a:t> = 0.5</a:t>
            </a:r>
            <a:r>
              <a:rPr sz="2200" b="0" i="0">
                <a:solidFill>
                  <a:srgbClr val="1C252B"/>
                </a:solidFill>
                <a:latin typeface="Segoe UI"/>
              </a:rPr>
              <a:t>, before renormalising.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  answers in Appendix D     </a:t>
            </a:r>
            <a:fld id="{997D1140-24D7-4973-8136-E42FFFA33ED9}"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9083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bagging help a decision tree much more than it helps logistic regression?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14  ·  Ensemble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111  ·  answers in Appendix D     </a:t>
            </a:r>
            <a:fld id="{EC4450FF-DB5A-4C2F-B2F7-FA9CBB47FD80}"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bagging help a decision tree much more than it helps logistic regression?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tree is unstable: different bootstrap samples give very different trees, whose errors partly cancel when averaged. Logistic regression is stable: models on different bootstrap samples are nearly identical, so averaging them changes little.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  answers in Appendix D     </a:t>
            </a:r>
            <a:fld id="{B45A0334-DE3E-4BC1-B9BC-3A9C119C0B3B}"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160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a:t>
            </a:r>
            <a:fld id="{3F6286F8-6120-440F-BD86-58DAFFC10A8B}" type="slidenum">
              <a:rPr lang="en-GB" sz="1000">
                <a:solidFill>
                  <a:srgbClr val="8795A1"/>
                </a:solidFill>
                <a:latin typeface="Segoe UI"/>
              </a:rPr>
              <a:t>34</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majority of individually decent, independent voters beats every voter; the work of ensemble learning is making members diverse.</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Bagging trains unstable learners on bootstrap samples and averages them, reducing variance; out-of-bag examples give a free error estimate.</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Random forests add random feature subsets at each split to decorrelate the trees; they are the safest default for tabular data.</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Boosting trains weak learners in sequence on re-weighted data; AdaBoost gives each learner a say </a:t>
            </a:r>
            <a:r>
              <a:rPr sz="2100" b="0" i="0">
                <a:solidFill>
                  <a:srgbClr val="1C252B"/>
                </a:solidFill>
                <a:latin typeface="Cambria"/>
              </a:rPr>
              <a:t>α = 1/2ln(1−ε)/ε</a:t>
            </a:r>
            <a:r>
              <a:rPr sz="2100" b="0" i="0">
                <a:solidFill>
                  <a:srgbClr val="1C252B"/>
                </a:solidFill>
                <a:latin typeface="Segoe UI"/>
              </a:rPr>
              <a:t> and moves half the weight onto its mistakes. It reduces bias but is sensitive to label noise.</a:t>
            </a:r>
          </a:p>
        </p:txBody>
      </p:sp>
      <p:sp>
        <p:nvSpPr>
          <p:cNvPr id="19" name="!!sb4">
            <a:extLst>
              <a:ext uri="{C183D7F6-B498-43B3-948B-1728B52AA6E4}">
                <adec:decorative xmlns:adec="http://schemas.microsoft.com/office/drawing/2017/decorative" val="1"/>
              </a:ext>
            </a:extLst>
          </p:cNvPr>
          <p:cNvSpPr/>
          <p:nvPr/>
        </p:nvSpPr>
        <p:spPr>
          <a:xfrm>
            <a:off x="658368" y="54735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5284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464454"/>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Gradient boosting fits each new tree to the current residuals; stacking learns how to combine different model types.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286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a:t>
            </a:r>
            <a:fld id="{3A1FE331-7988-44E3-973F-ABEE8E0FEE48}" type="slidenum">
              <a:rPr lang="en-GB" sz="1000">
                <a:solidFill>
                  <a:srgbClr val="8795A1"/>
                </a:solidFill>
                <a:latin typeface="Segoe UI"/>
              </a:rPr>
              <a:t>35</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bootstrap sample of </a:t>
            </a:r>
            <a:r>
              <a:rPr sz="2600" b="0" i="1">
                <a:solidFill>
                  <a:srgbClr val="1C252B"/>
                </a:solidFill>
                <a:latin typeface="Cambria"/>
              </a:rPr>
              <a:t>n</a:t>
            </a:r>
            <a:r>
              <a:rPr sz="2600" b="0" i="0">
                <a:solidFill>
                  <a:srgbClr val="1C252B"/>
                </a:solidFill>
                <a:latin typeface="Segoe UI"/>
              </a:rPr>
              <a:t> examples contains about what fraction of the distinct examples?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50%</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63%</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90%</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100%</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412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a:t>
            </a:r>
            <a:fld id="{4C0F3F5C-D315-43AA-B669-CBD72D93A6E4}"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Random forests differ from bagged trees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using stumps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re-weighting examples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considering a random subset of features at each split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pruning every tree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5387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a:t>
            </a:r>
            <a:fld id="{810F0663-EB73-4656-B868-C5417C0FAF96}" type="slidenum">
              <a:rPr lang="en-GB" sz="1000">
                <a:solidFill>
                  <a:srgbClr val="8795A1"/>
                </a:solidFill>
                <a:latin typeface="Segoe UI"/>
              </a:rPr>
              <a:t>37</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AdaBoost, a weak learner with weighted error 0.5 receives a weight </a:t>
            </a:r>
            <a:r>
              <a:rPr sz="2600" b="0" i="0">
                <a:solidFill>
                  <a:srgbClr val="1C252B"/>
                </a:solidFill>
                <a:latin typeface="Cambria"/>
              </a:rPr>
              <a:t>α</a:t>
            </a:r>
            <a:r>
              <a:rPr sz="2600" b="0" i="0">
                <a:solidFill>
                  <a:srgbClr val="1C252B"/>
                </a:solidFill>
                <a:latin typeface="Segoe UI"/>
              </a:rPr>
              <a:t> of:</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0.5</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−1</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6648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14  ·  Ensemble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111     </a:t>
            </a:r>
            <a:fld id="{46C164C0-D413-427B-9E63-FEFECBA91E90}" type="slidenum">
              <a:rPr lang="en-GB" sz="1000">
                <a:solidFill>
                  <a:srgbClr val="8795A1"/>
                </a:solidFill>
                <a:latin typeface="Segoe UI"/>
              </a:rPr>
              <a:t>38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Contrast bagging and boosting in terms of how members are trained and which error component each reduces.</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out-of-bag estimate and why it is honest.</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AdaBoost sensitive to mislabelled training examples?</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Compute the accuracy of a majority vote of seven independent classifiers that are each 65% accurate.</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Continue the AdaBoost worked example: the second stump misclassifies two of the seven previously correct examples and none of the three previous mistakes. Compute </a:t>
            </a:r>
            <a:r>
              <a:rPr sz="1900" b="0" i="0">
                <a:solidFill>
                  <a:srgbClr val="1C252B"/>
                </a:solidFill>
                <a:latin typeface="Cambria"/>
              </a:rPr>
              <a:t>ε</a:t>
            </a:r>
            <a:r>
              <a:rPr sz="1900" b="0" i="0" baseline="-25000">
                <a:solidFill>
                  <a:srgbClr val="1C252B"/>
                </a:solidFill>
                <a:latin typeface="Cambria"/>
              </a:rPr>
              <a:t>2</a:t>
            </a:r>
            <a:r>
              <a:rPr sz="1900" b="0" i="0">
                <a:solidFill>
                  <a:srgbClr val="1C252B"/>
                </a:solidFill>
                <a:latin typeface="Segoe UI"/>
              </a:rPr>
              <a:t>, </a:t>
            </a:r>
            <a:r>
              <a:rPr sz="1900" b="0" i="0">
                <a:solidFill>
                  <a:srgbClr val="1C252B"/>
                </a:solidFill>
                <a:latin typeface="Cambria"/>
              </a:rPr>
              <a:t>α</a:t>
            </a:r>
            <a:r>
              <a:rPr sz="1900" b="0" i="0" baseline="-25000">
                <a:solidFill>
                  <a:srgbClr val="1C252B"/>
                </a:solidFill>
                <a:latin typeface="Cambria"/>
              </a:rPr>
              <a:t>2</a:t>
            </a:r>
            <a:r>
              <a:rPr sz="1900" b="0" i="0">
                <a:solidFill>
                  <a:srgbClr val="1C252B"/>
                </a:solidFill>
                <a:latin typeface="Segoe UI"/>
              </a:rPr>
              <a:t> and the new weights.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7908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15 — Clustering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14, pages 103–111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One tree against five ensembles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14  ·  Ensemble Learning</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200AF05E-C925-4ED0-84E4-707159B4ED07}"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14: Ensemble Learning</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