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3.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6.svg" ContentType="image/svg+xml"/>
  <Override PartName="/ppt/media/image88.svg" ContentType="image/svg+xml"/>
  <Override PartName="/ppt/media/image89.svg" ContentType="image/svg+xml"/>
  <Override PartName="/ppt/media/image90.svg" ContentType="image/svg+xml"/>
  <Override PartName="/ppt/media/image9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7DD7537-FE7E-486B-BB64-50A0A5E23650}">
          <p14:sldIdLst>
            <p14:sldId id="256"/>
            <p14:sldId id="257"/>
            <p14:sldId id="258"/>
            <p14:sldId id="259"/>
            <p14:sldId id="260"/>
          </p14:sldIdLst>
        </p14:section>
        <p14:section name="10.1 Learning as Updating Belief" id="{F8A397F9-0209-45B0-A403-77EF2E5EB488}">
          <p14:sldIdLst>
            <p14:sldId id="261"/>
          </p14:sldIdLst>
        </p14:section>
        <p14:section name="10.2 Bayes’ Theorem for Hypotheses" id="{36968132-3AD9-4B91-AC0E-0E6AAD532DA9}">
          <p14:sldIdLst>
            <p14:sldId id="262"/>
            <p14:sldId id="263"/>
            <p14:sldId id="264"/>
            <p14:sldId id="265"/>
            <p14:sldId id="266"/>
          </p14:sldIdLst>
        </p14:section>
        <p14:section name="10.3 The Bayes Optimal Classifier" id="{19C92D47-90B2-4F3D-8782-850DE1B38DE3}">
          <p14:sldIdLst>
            <p14:sldId id="267"/>
            <p14:sldId id="268"/>
          </p14:sldIdLst>
        </p14:section>
        <p14:section name="10.4 Naive Bayes" id="{9C4B2F03-8184-4414-BC7E-43F141223062}">
          <p14:sldIdLst>
            <p14:sldId id="269"/>
            <p14:sldId id="270"/>
            <p14:sldId id="271"/>
            <p14:sldId id="272"/>
            <p14:sldId id="273"/>
          </p14:sldIdLst>
        </p14:section>
        <p14:section name="10.5 The Zero-Frequency Problem and Laplace Smoothing" id="{F441EBF3-11DA-4AF8-8090-9B0480E7AECD}">
          <p14:sldIdLst>
            <p14:sldId id="274"/>
            <p14:sldId id="275"/>
            <p14:sldId id="276"/>
          </p14:sldIdLst>
        </p14:section>
        <p14:section name="10.6 Continuous Features: Gaussian Naive Bayes" id="{FCE6BEFA-AA13-499F-A571-CF7BE3BB9471}">
          <p14:sldIdLst>
            <p14:sldId id="277"/>
            <p14:sldId id="278"/>
            <p14:sldId id="279"/>
            <p14:sldId id="280"/>
          </p14:sldIdLst>
        </p14:section>
        <p14:section name="10.7 Text Classification" id="{D176D440-51F0-413C-BAAC-393FBFF1D1B2}">
          <p14:sldIdLst>
            <p14:sldId id="281"/>
            <p14:sldId id="282"/>
            <p14:sldId id="283"/>
            <p14:sldId id="284"/>
            <p14:sldId id="285"/>
          </p14:sldIdLst>
        </p14:section>
        <p14:section name="Pitfalls" id="{7F83AE47-B509-4189-9BDE-B51B974ED32E}">
          <p14:sldIdLst>
            <p14:sldId id="286"/>
          </p14:sldIdLst>
        </p14:section>
        <p14:section name="Lab" id="{ADF48860-41D8-49A9-9D25-67F5B25DC4BB}">
          <p14:sldIdLst>
            <p14:sldId id="287"/>
            <p14:sldId id="288"/>
            <p14:sldId id="289"/>
            <p14:sldId id="290"/>
            <p14:sldId id="291"/>
            <p14:sldId id="292"/>
            <p14:sldId id="293"/>
          </p14:sldIdLst>
        </p14:section>
        <p14:section name="Checkpoint" id="{45AACD5F-1E12-4BE8-9FF7-FBB0BD1C119E}">
          <p14:sldIdLst>
            <p14:sldId id="294"/>
            <p14:sldId id="295"/>
            <p14:sldId id="296"/>
            <p14:sldId id="297"/>
            <p14:sldId id="298"/>
            <p14:sldId id="299"/>
          </p14:sldIdLst>
        </p14:section>
        <p14:section name="Wrap-up" id="{D01DC02F-886E-4831-8613-4DAC122127EE}">
          <p14:sldIdLst>
            <p14:sldId id="300"/>
            <p14:sldId id="301"/>
            <p14:sldId id="302"/>
            <p14:sldId id="303"/>
            <p14:sldId id="304"/>
            <p14:sldId id="30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Bayesian Learning and Naive Bayes. Part 3 — Supervised Learning Algorithms. Week 9: Bayesian learning and naive Bayes. Handout pages 75–82.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(conditional probability, Bayes’ theorem, the Gaussian, maximum likelihood) and Chapter 9 (the sprint data, used again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prior; likelihood; posterior; evidence; MAP hypothesis; maximum likelihood hypothesis; Bayes optimal classifier; conditional independence; naive Bayes; zero-frequency problem; Laplace smoothing; m-estimate; Gaussian naive Bayes; bag of words; multinomial naive Bayes; log-probabilities.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10.1 (handout p. 76): Prior times likelihood, normalised, gives the posterior. A flag that strongly favours “defect” is not enough to overturn a prior that strongly favours “clean”.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hypothesis answers “which hypothesis is most probable?”. That is not the same question as “which classification is most probable?”. The Bayes optimal classifier answers the second by letting every hypothesis vote, weighted by its posterior: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other method using the same hypothesis space and prior can do better on average — hence “optimal”. It is rarely computable, because H is too large to sum over, but it is the benchmark every approximation aims at.</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classification with attributes a1, …, ad, the most probable class 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P(v) is easy to estimate: count. The joint likelihood is not: there are as many combinations of attribute values as there are possible examples, and most never appear in the training data. Naive Bayes removes the problem with one bold assumption.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10.2 (handout p. 78): The naive Bayes assumption drawn as a network: the class causes each attribute, and the attributes do not influence each other once the class is known.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⟨Frozen, High, High, Many⟩. No training sprint that missed its goal had Frozen requirements, so P(Frozen ∣ No) = 0/5 = 0, and the whole product for No is zero — however strongly a high load and many dependencies point towards No. One unseen attribute value silences all the others.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Mitchell’s more general m-estimate, (nv,c + m p)/(nc + m), adds m imaginary examples distributed according to a prior estimate p; Laplace smoothing is the case m = kj, p = 1/kj.</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numeric attribute, counting values is useless — every value is new. Instead model each attribute within each class as a Gaussian, with the class’s own mean μj,c and standard deviation σj,c estimated from the training data, and use the density as the likelihood: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10.3 (handout p. 79): Left: the two class-conditional densities; at 750 lines the fail density is nine times higher. Right: after weighting by the 5% prior, the posterior crosses 0.5 only at 772 lines. The boundary sits beyond the midpoint of the means because the rare class needs more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Naive Bayes’s most famous success is text: routing tickets, labelling commit messages, spotting duplicate bug reports. A document is represented as a bag of words — the count of each vocabulary word, order ignored — and multinomial naive Bayes treats each word occurrence as an independent draw from a class-specific distribution over the vocabulary: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in logarithms turns the product into a sum; a product of a few hundred probabilities would otherwise underflow to zero on a computer.</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Naive Bayes on the sprint data, by counting.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Naive Bayes on the sprint data, by counting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Gaussian naive Bayes on the code-churn example.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 ticket router from twelve tickets.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Would break: 0.9 × 0.01 = 0.009; good: 0.05 × 0.99 = 0.0495. So hMAP is good; hML is would break (0.9 &gt; 0.05). The posterior probability that the release would break is 0.009/0.0585 = 0.15.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That the attributes are independent of each other given the class. When they are correlated the same evidence is counted several times, and the probabilities are pushed towards 0 and 1 — over-confident — even though the ranking of classes is often still right.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product of hundreds of small probabilities underflows to zero in floating-point arithmetic. Logarithms turn the product into a sum of manageable numbers.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11 — Instance-Based Learning: k-Nearest Neighbours. READ: Handout Chapter 10, pages 75–82. THIS WEEK'S LAB: Naive Bayes by counting and by library.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3.xml"/><Relationship Id="rId8" Type="http://schemas.openxmlformats.org/officeDocument/2006/relationships/slide" Target="slide14.xml"/><Relationship Id="rId9" Type="http://schemas.openxmlformats.org/officeDocument/2006/relationships/slide" Target="slide19.xml"/><Relationship Id="rId10" Type="http://schemas.openxmlformats.org/officeDocument/2006/relationships/slide" Target="slide22.xml"/><Relationship Id="rId11" Type="http://schemas.openxmlformats.org/officeDocument/2006/relationships/slide" Target="slide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31.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9.svg"/><Relationship Id="rId4" Type="http://schemas.openxmlformats.org/officeDocument/2006/relationships/image" Target="../media/image40.png"/><Relationship Id="rId5" Type="http://schemas.openxmlformats.org/officeDocument/2006/relationships/image" Target="../media/image41.sv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42.svg"/><Relationship Id="rId4" Type="http://schemas.openxmlformats.org/officeDocument/2006/relationships/image" Target="../media/image43.png"/><Relationship Id="rId5" Type="http://schemas.openxmlformats.org/officeDocument/2006/relationships/image" Target="../media/image44.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5.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6.svg"/><Relationship Id="rId4" Type="http://schemas.openxmlformats.org/officeDocument/2006/relationships/image" Target="../media/image47.png"/><Relationship Id="rId5" Type="http://schemas.openxmlformats.org/officeDocument/2006/relationships/image" Target="../media/image48.sv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49.svg"/><Relationship Id="rId4" Type="http://schemas.openxmlformats.org/officeDocument/2006/relationships/image" Target="../media/image50.png"/><Relationship Id="rId5" Type="http://schemas.openxmlformats.org/officeDocument/2006/relationships/image" Target="../media/image51.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 Id="rId9" Type="http://schemas.openxmlformats.org/officeDocument/2006/relationships/image" Target="../media/image55.svg"/><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58.svg"/><Relationship Id="rId4" Type="http://schemas.openxmlformats.org/officeDocument/2006/relationships/image" Target="../media/image59.png"/><Relationship Id="rId5" Type="http://schemas.openxmlformats.org/officeDocument/2006/relationships/image" Target="../media/image60.sv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61.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6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3.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4.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5.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6.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78.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1.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2.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image" Target="../media/image83.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4.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image" Target="../media/image86.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88.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89.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90.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91.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10</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Bayesian Learning and Naive Bayes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10  ·  WEEK 9</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95863F21-3067-4740-ADB5-5B5D0630DCFD}"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71319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713191"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60933"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06093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241831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Bayesian Learning and Naive Bayes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Decision Tree Learning</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1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1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1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14  </a:t>
            </a:r>
            <a:r>
              <a:rPr sz="1400" b="0" i="0">
                <a:solidFill>
                  <a:srgbClr val="1C252B"/>
                </a:solidFill>
                <a:latin typeface="Segoe UI"/>
              </a:rPr>
              <a:t>Ensemble Learning</a:t>
            </a:r>
          </a:p>
        </p:txBody>
      </p:sp>
      <p:sp>
        <p:nvSpPr>
          <p:cNvPr id="75" name="!!chipUS1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Semi-Supervised Learning and the EM Algorithm</a:t>
            </a:r>
          </a:p>
        </p:txBody>
      </p:sp>
      <p:sp>
        <p:nvSpPr>
          <p:cNvPr id="78" name="!!chipUS18">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8">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8"/>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Hidden Markov Models</a:t>
            </a:r>
          </a:p>
        </p:txBody>
      </p:sp>
      <p:sp>
        <p:nvSpPr>
          <p:cNvPr id="81" name="!!chipUS22">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2">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2"/>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Machine Learning Project</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48766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AE039696-0600-4E21-8C1B-D623739CE68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Bayes’ theorem to hypotheses, and </a:t>
            </a:r>
            <a:r>
              <a:rPr sz="2100" b="1" i="0">
                <a:solidFill>
                  <a:srgbClr val="1C252B"/>
                </a:solidFill>
                <a:latin typeface="Segoe UI"/>
              </a:rPr>
              <a:t>find</a:t>
            </a:r>
            <a:r>
              <a:rPr sz="2100" b="0" i="0">
                <a:solidFill>
                  <a:srgbClr val="1C252B"/>
                </a:solidFill>
                <a:latin typeface="Segoe UI"/>
              </a:rPr>
              <a:t> the MAP and maximum likelihood hypotheses.</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the Bayes optimal classifier and why it can disagree with the single most probable hypothesis.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Classify</a:t>
            </a:r>
            <a:r>
              <a:rPr sz="2100" b="0" i="0">
                <a:solidFill>
                  <a:srgbClr val="1C252B"/>
                </a:solidFill>
                <a:latin typeface="Segoe UI"/>
              </a:rPr>
              <a:t> an example with naive Bayes by hand, and </a:t>
            </a:r>
            <a:r>
              <a:rPr sz="2100" b="1" i="0">
                <a:solidFill>
                  <a:srgbClr val="1C252B"/>
                </a:solidFill>
                <a:latin typeface="Segoe UI"/>
              </a:rPr>
              <a:t>state</a:t>
            </a:r>
            <a:r>
              <a:rPr sz="2100" b="0" i="0">
                <a:solidFill>
                  <a:srgbClr val="1C252B"/>
                </a:solidFill>
                <a:latin typeface="Segoe UI"/>
              </a:rPr>
              <a:t> its conditional independence assumption.</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Apply</a:t>
            </a:r>
            <a:r>
              <a:rPr sz="2100" b="0" i="0">
                <a:solidFill>
                  <a:srgbClr val="1C252B"/>
                </a:solidFill>
                <a:latin typeface="Segoe UI"/>
              </a:rPr>
              <a:t> Laplace smoothing, and </a:t>
            </a:r>
            <a:r>
              <a:rPr sz="2100" b="1" i="0">
                <a:solidFill>
                  <a:srgbClr val="1C252B"/>
                </a:solidFill>
                <a:latin typeface="Segoe UI"/>
              </a:rPr>
              <a:t>use</a:t>
            </a:r>
            <a:r>
              <a:rPr sz="2100" b="0" i="0">
                <a:solidFill>
                  <a:srgbClr val="1C252B"/>
                </a:solidFill>
                <a:latin typeface="Segoe UI"/>
              </a:rPr>
              <a:t> Gaussian naive Bayes for continuous features.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Build</a:t>
            </a:r>
            <a:r>
              <a:rPr sz="2100" b="0" i="0">
                <a:solidFill>
                  <a:srgbClr val="1C252B"/>
                </a:solidFill>
                <a:latin typeface="Segoe UI"/>
              </a:rPr>
              <a:t> a multinomial naive Bayes text classifier working in log-probabilities.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315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75     </a:t>
            </a:r>
            <a:fld id="{3F575143-602D-447A-83FE-B52250F09F3D}" type="slidenum">
              <a:rPr lang="en-GB" sz="1000">
                <a:solidFill>
                  <a:srgbClr val="8795A1"/>
                </a:solidFill>
                <a:latin typeface="Segoe UI"/>
              </a:rPr>
              <a:t>4</a:t>
            </a:fld>
          </a:p>
        </p:txBody>
      </p:sp>
      <p:sp>
        <p:nvSpPr>
          <p:cNvPr id="7" name="!!term-prior">
            <a:extLst>
              <a:ext uri="{C183D7F6-B498-43B3-948B-1728B52AA6E4}">
                <adec:decorative xmlns:adec="http://schemas.microsoft.com/office/drawing/2017/decorative" val="1"/>
              </a:ext>
            </a:extLst>
          </p:cNvPr>
          <p:cNvSpPr/>
          <p:nvPr/>
        </p:nvSpPr>
        <p:spPr>
          <a:xfrm>
            <a:off x="658368" y="1847088"/>
            <a:ext cx="8766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ior">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ior"/>
          <p:cNvSpPr txBox="1"/>
          <p:nvPr/>
        </p:nvSpPr>
        <p:spPr>
          <a:xfrm>
            <a:off x="950976" y="1962911"/>
            <a:ext cx="6937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prior</a:t>
            </a:r>
          </a:p>
        </p:txBody>
      </p:sp>
      <p:sp>
        <p:nvSpPr>
          <p:cNvPr id="10" name="!!term-likelihood">
            <a:extLst>
              <a:ext uri="{C183D7F6-B498-43B3-948B-1728B52AA6E4}">
                <adec:decorative xmlns:adec="http://schemas.microsoft.com/office/drawing/2017/decorative" val="1"/>
              </a:ext>
            </a:extLst>
          </p:cNvPr>
          <p:cNvSpPr/>
          <p:nvPr/>
        </p:nvSpPr>
        <p:spPr>
          <a:xfrm>
            <a:off x="1681325" y="1847088"/>
            <a:ext cx="13331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ikelihood">
            <a:extLst>
              <a:ext uri="{C183D7F6-B498-43B3-948B-1728B52AA6E4}">
                <adec:decorative xmlns:adec="http://schemas.microsoft.com/office/drawing/2017/decorative" val="1"/>
              </a:ext>
            </a:extLst>
          </p:cNvPr>
          <p:cNvSpPr/>
          <p:nvPr/>
        </p:nvSpPr>
        <p:spPr>
          <a:xfrm>
            <a:off x="180934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ikelihood"/>
          <p:cNvSpPr txBox="1"/>
          <p:nvPr/>
        </p:nvSpPr>
        <p:spPr>
          <a:xfrm>
            <a:off x="1973933" y="1962911"/>
            <a:ext cx="115031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likelihood</a:t>
            </a:r>
          </a:p>
        </p:txBody>
      </p:sp>
      <p:sp>
        <p:nvSpPr>
          <p:cNvPr id="13" name="!!term-posterior">
            <a:extLst>
              <a:ext uri="{C183D7F6-B498-43B3-948B-1728B52AA6E4}">
                <adec:decorative xmlns:adec="http://schemas.microsoft.com/office/drawing/2017/decorative" val="1"/>
              </a:ext>
            </a:extLst>
          </p:cNvPr>
          <p:cNvSpPr/>
          <p:nvPr/>
        </p:nvSpPr>
        <p:spPr>
          <a:xfrm>
            <a:off x="3160820" y="1847088"/>
            <a:ext cx="12646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osterior">
            <a:extLst>
              <a:ext uri="{C183D7F6-B498-43B3-948B-1728B52AA6E4}">
                <adec:decorative xmlns:adec="http://schemas.microsoft.com/office/drawing/2017/decorative" val="1"/>
              </a:ext>
            </a:extLst>
          </p:cNvPr>
          <p:cNvSpPr/>
          <p:nvPr/>
        </p:nvSpPr>
        <p:spPr>
          <a:xfrm>
            <a:off x="32888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osterior"/>
          <p:cNvSpPr txBox="1"/>
          <p:nvPr/>
        </p:nvSpPr>
        <p:spPr>
          <a:xfrm>
            <a:off x="3453428" y="1962911"/>
            <a:ext cx="10817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posterior</a:t>
            </a:r>
          </a:p>
        </p:txBody>
      </p:sp>
      <p:sp>
        <p:nvSpPr>
          <p:cNvPr id="16" name="!!term-evidence">
            <a:extLst>
              <a:ext uri="{C183D7F6-B498-43B3-948B-1728B52AA6E4}">
                <adec:decorative xmlns:adec="http://schemas.microsoft.com/office/drawing/2017/decorative" val="1"/>
              </a:ext>
            </a:extLst>
          </p:cNvPr>
          <p:cNvSpPr/>
          <p:nvPr/>
        </p:nvSpPr>
        <p:spPr>
          <a:xfrm>
            <a:off x="4571750" y="1847088"/>
            <a:ext cx="12486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evidence">
            <a:extLst>
              <a:ext uri="{C183D7F6-B498-43B3-948B-1728B52AA6E4}">
                <adec:decorative xmlns:adec="http://schemas.microsoft.com/office/drawing/2017/decorative" val="1"/>
              </a:ext>
            </a:extLst>
          </p:cNvPr>
          <p:cNvSpPr/>
          <p:nvPr/>
        </p:nvSpPr>
        <p:spPr>
          <a:xfrm>
            <a:off x="469976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evidence"/>
          <p:cNvSpPr txBox="1"/>
          <p:nvPr/>
        </p:nvSpPr>
        <p:spPr>
          <a:xfrm>
            <a:off x="4864358" y="1962911"/>
            <a:ext cx="106581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evidence</a:t>
            </a:r>
          </a:p>
        </p:txBody>
      </p:sp>
      <p:sp>
        <p:nvSpPr>
          <p:cNvPr id="19" name="!!term-MAP hypothesis">
            <a:extLst>
              <a:ext uri="{C183D7F6-B498-43B3-948B-1728B52AA6E4}">
                <adec:decorative xmlns:adec="http://schemas.microsoft.com/office/drawing/2017/decorative" val="1"/>
              </a:ext>
            </a:extLst>
          </p:cNvPr>
          <p:cNvSpPr/>
          <p:nvPr/>
        </p:nvSpPr>
        <p:spPr>
          <a:xfrm>
            <a:off x="5966747" y="1847088"/>
            <a:ext cx="19144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MAP hypothesis">
            <a:extLst>
              <a:ext uri="{C183D7F6-B498-43B3-948B-1728B52AA6E4}">
                <adec:decorative xmlns:adec="http://schemas.microsoft.com/office/drawing/2017/decorative" val="1"/>
              </a:ext>
            </a:extLst>
          </p:cNvPr>
          <p:cNvSpPr/>
          <p:nvPr/>
        </p:nvSpPr>
        <p:spPr>
          <a:xfrm>
            <a:off x="609476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MAP hypothesis"/>
          <p:cNvSpPr txBox="1"/>
          <p:nvPr/>
        </p:nvSpPr>
        <p:spPr>
          <a:xfrm>
            <a:off x="6259355" y="1962911"/>
            <a:ext cx="17315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MAP hypothesis</a:t>
            </a:r>
          </a:p>
        </p:txBody>
      </p:sp>
      <p:sp>
        <p:nvSpPr>
          <p:cNvPr id="22" name="!!term-maximum likeli">
            <a:extLst>
              <a:ext uri="{C183D7F6-B498-43B3-948B-1728B52AA6E4}">
                <adec:decorative xmlns:adec="http://schemas.microsoft.com/office/drawing/2017/decorative" val="1"/>
              </a:ext>
            </a:extLst>
          </p:cNvPr>
          <p:cNvSpPr/>
          <p:nvPr/>
        </p:nvSpPr>
        <p:spPr>
          <a:xfrm>
            <a:off x="8027475" y="1847088"/>
            <a:ext cx="33330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aximum likeli">
            <a:extLst>
              <a:ext uri="{C183D7F6-B498-43B3-948B-1728B52AA6E4}">
                <adec:decorative xmlns:adec="http://schemas.microsoft.com/office/drawing/2017/decorative" val="1"/>
              </a:ext>
            </a:extLst>
          </p:cNvPr>
          <p:cNvSpPr/>
          <p:nvPr/>
        </p:nvSpPr>
        <p:spPr>
          <a:xfrm>
            <a:off x="815549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aximum likeli"/>
          <p:cNvSpPr txBox="1"/>
          <p:nvPr/>
        </p:nvSpPr>
        <p:spPr>
          <a:xfrm>
            <a:off x="8320083" y="1962911"/>
            <a:ext cx="315020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maximum likelihood hypothesis</a:t>
            </a:r>
          </a:p>
        </p:txBody>
      </p:sp>
      <p:sp>
        <p:nvSpPr>
          <p:cNvPr id="25" name="!!term-Bayes optimal ">
            <a:extLst>
              <a:ext uri="{C183D7F6-B498-43B3-948B-1728B52AA6E4}">
                <adec:decorative xmlns:adec="http://schemas.microsoft.com/office/drawing/2017/decorative" val="1"/>
              </a:ext>
            </a:extLst>
          </p:cNvPr>
          <p:cNvSpPr/>
          <p:nvPr/>
        </p:nvSpPr>
        <p:spPr>
          <a:xfrm>
            <a:off x="658368" y="2468880"/>
            <a:ext cx="25440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Bayes optimal ">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Bayes optimal "/>
          <p:cNvSpPr txBox="1"/>
          <p:nvPr/>
        </p:nvSpPr>
        <p:spPr>
          <a:xfrm>
            <a:off x="950976" y="2584704"/>
            <a:ext cx="236119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Bayes optimal classifier</a:t>
            </a:r>
          </a:p>
        </p:txBody>
      </p:sp>
      <p:sp>
        <p:nvSpPr>
          <p:cNvPr id="28" name="!!term-conditional in">
            <a:extLst>
              <a:ext uri="{C183D7F6-B498-43B3-948B-1728B52AA6E4}">
                <adec:decorative xmlns:adec="http://schemas.microsoft.com/office/drawing/2017/decorative" val="1"/>
              </a:ext>
            </a:extLst>
          </p:cNvPr>
          <p:cNvSpPr/>
          <p:nvPr/>
        </p:nvSpPr>
        <p:spPr>
          <a:xfrm>
            <a:off x="3348748" y="2468880"/>
            <a:ext cx="28147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onditional in">
            <a:extLst>
              <a:ext uri="{C183D7F6-B498-43B3-948B-1728B52AA6E4}">
                <adec:decorative xmlns:adec="http://schemas.microsoft.com/office/drawing/2017/decorative" val="1"/>
              </a:ext>
            </a:extLst>
          </p:cNvPr>
          <p:cNvSpPr/>
          <p:nvPr/>
        </p:nvSpPr>
        <p:spPr>
          <a:xfrm>
            <a:off x="34767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onditional in"/>
          <p:cNvSpPr txBox="1"/>
          <p:nvPr/>
        </p:nvSpPr>
        <p:spPr>
          <a:xfrm>
            <a:off x="3641356" y="2584704"/>
            <a:ext cx="26318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conditional independence</a:t>
            </a:r>
          </a:p>
        </p:txBody>
      </p:sp>
      <p:sp>
        <p:nvSpPr>
          <p:cNvPr id="31" name="!!term-naive Bayes">
            <a:extLst>
              <a:ext uri="{C183D7F6-B498-43B3-948B-1728B52AA6E4}">
                <adec:decorative xmlns:adec="http://schemas.microsoft.com/office/drawing/2017/decorative" val="1"/>
              </a:ext>
            </a:extLst>
          </p:cNvPr>
          <p:cNvSpPr/>
          <p:nvPr/>
        </p:nvSpPr>
        <p:spPr>
          <a:xfrm>
            <a:off x="6309831" y="2468880"/>
            <a:ext cx="14971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naive Bayes">
            <a:extLst>
              <a:ext uri="{C183D7F6-B498-43B3-948B-1728B52AA6E4}">
                <adec:decorative xmlns:adec="http://schemas.microsoft.com/office/drawing/2017/decorative" val="1"/>
              </a:ext>
            </a:extLst>
          </p:cNvPr>
          <p:cNvSpPr/>
          <p:nvPr/>
        </p:nvSpPr>
        <p:spPr>
          <a:xfrm>
            <a:off x="64378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naive Bayes"/>
          <p:cNvSpPr txBox="1"/>
          <p:nvPr/>
        </p:nvSpPr>
        <p:spPr>
          <a:xfrm>
            <a:off x="6602439" y="2584704"/>
            <a:ext cx="131428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naive Bayes</a:t>
            </a:r>
          </a:p>
        </p:txBody>
      </p:sp>
      <p:sp>
        <p:nvSpPr>
          <p:cNvPr id="34" name="!!term-zero-frequency">
            <a:extLst>
              <a:ext uri="{C183D7F6-B498-43B3-948B-1728B52AA6E4}">
                <adec:decorative xmlns:adec="http://schemas.microsoft.com/office/drawing/2017/decorative" val="1"/>
              </a:ext>
            </a:extLst>
          </p:cNvPr>
          <p:cNvSpPr/>
          <p:nvPr/>
        </p:nvSpPr>
        <p:spPr>
          <a:xfrm>
            <a:off x="7953301" y="2468880"/>
            <a:ext cx="26550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zero-frequency">
            <a:extLst>
              <a:ext uri="{C183D7F6-B498-43B3-948B-1728B52AA6E4}">
                <adec:decorative xmlns:adec="http://schemas.microsoft.com/office/drawing/2017/decorative" val="1"/>
              </a:ext>
            </a:extLst>
          </p:cNvPr>
          <p:cNvSpPr/>
          <p:nvPr/>
        </p:nvSpPr>
        <p:spPr>
          <a:xfrm>
            <a:off x="808131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zero-frequency"/>
          <p:cNvSpPr txBox="1"/>
          <p:nvPr/>
        </p:nvSpPr>
        <p:spPr>
          <a:xfrm>
            <a:off x="8245909" y="2584704"/>
            <a:ext cx="247217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zero-frequency problem</a:t>
            </a:r>
          </a:p>
        </p:txBody>
      </p:sp>
      <p:sp>
        <p:nvSpPr>
          <p:cNvPr id="37" name="!!term-Laplace smooth">
            <a:extLst>
              <a:ext uri="{C183D7F6-B498-43B3-948B-1728B52AA6E4}">
                <adec:decorative xmlns:adec="http://schemas.microsoft.com/office/drawing/2017/decorative" val="1"/>
              </a:ext>
            </a:extLst>
          </p:cNvPr>
          <p:cNvSpPr/>
          <p:nvPr/>
        </p:nvSpPr>
        <p:spPr>
          <a:xfrm>
            <a:off x="658368" y="3090672"/>
            <a:ext cx="21668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Laplace smooth">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Laplace smooth"/>
          <p:cNvSpPr txBox="1"/>
          <p:nvPr/>
        </p:nvSpPr>
        <p:spPr>
          <a:xfrm>
            <a:off x="950976" y="3206496"/>
            <a:ext cx="198399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Laplace smoothing</a:t>
            </a:r>
          </a:p>
        </p:txBody>
      </p:sp>
      <p:sp>
        <p:nvSpPr>
          <p:cNvPr id="40" name="!!term-m-estimate">
            <a:extLst>
              <a:ext uri="{C183D7F6-B498-43B3-948B-1728B52AA6E4}">
                <adec:decorative xmlns:adec="http://schemas.microsoft.com/office/drawing/2017/decorative" val="1"/>
              </a:ext>
            </a:extLst>
          </p:cNvPr>
          <p:cNvSpPr/>
          <p:nvPr/>
        </p:nvSpPr>
        <p:spPr>
          <a:xfrm>
            <a:off x="2971543" y="3090672"/>
            <a:ext cx="14795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estimate">
            <a:extLst>
              <a:ext uri="{C183D7F6-B498-43B3-948B-1728B52AA6E4}">
                <adec:decorative xmlns:adec="http://schemas.microsoft.com/office/drawing/2017/decorative" val="1"/>
              </a:ext>
            </a:extLst>
          </p:cNvPr>
          <p:cNvSpPr/>
          <p:nvPr/>
        </p:nvSpPr>
        <p:spPr>
          <a:xfrm>
            <a:off x="309955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estimate"/>
          <p:cNvSpPr txBox="1"/>
          <p:nvPr/>
        </p:nvSpPr>
        <p:spPr>
          <a:xfrm>
            <a:off x="3264151" y="3206496"/>
            <a:ext cx="129667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m-estimate</a:t>
            </a:r>
          </a:p>
        </p:txBody>
      </p:sp>
      <p:sp>
        <p:nvSpPr>
          <p:cNvPr id="43" name="!!term-Gaussian naive">
            <a:extLst>
              <a:ext uri="{C183D7F6-B498-43B3-948B-1728B52AA6E4}">
                <adec:decorative xmlns:adec="http://schemas.microsoft.com/office/drawing/2017/decorative" val="1"/>
              </a:ext>
            </a:extLst>
          </p:cNvPr>
          <p:cNvSpPr/>
          <p:nvPr/>
        </p:nvSpPr>
        <p:spPr>
          <a:xfrm>
            <a:off x="4597406" y="3090672"/>
            <a:ext cx="23676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Gaussian naive">
            <a:extLst>
              <a:ext uri="{C183D7F6-B498-43B3-948B-1728B52AA6E4}">
                <adec:decorative xmlns:adec="http://schemas.microsoft.com/office/drawing/2017/decorative" val="1"/>
              </a:ext>
            </a:extLst>
          </p:cNvPr>
          <p:cNvSpPr/>
          <p:nvPr/>
        </p:nvSpPr>
        <p:spPr>
          <a:xfrm>
            <a:off x="472542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Gaussian naive"/>
          <p:cNvSpPr txBox="1"/>
          <p:nvPr/>
        </p:nvSpPr>
        <p:spPr>
          <a:xfrm>
            <a:off x="4890014" y="3206496"/>
            <a:ext cx="218479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Gaussian naive Bayes</a:t>
            </a:r>
          </a:p>
        </p:txBody>
      </p:sp>
      <p:sp>
        <p:nvSpPr>
          <p:cNvPr id="46" name="!!term-bag of words">
            <a:extLst>
              <a:ext uri="{C183D7F6-B498-43B3-948B-1728B52AA6E4}">
                <adec:decorative xmlns:adec="http://schemas.microsoft.com/office/drawing/2017/decorative" val="1"/>
              </a:ext>
            </a:extLst>
          </p:cNvPr>
          <p:cNvSpPr/>
          <p:nvPr/>
        </p:nvSpPr>
        <p:spPr>
          <a:xfrm>
            <a:off x="7111385" y="3090672"/>
            <a:ext cx="16415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ag of words">
            <a:extLst>
              <a:ext uri="{C183D7F6-B498-43B3-948B-1728B52AA6E4}">
                <adec:decorative xmlns:adec="http://schemas.microsoft.com/office/drawing/2017/decorative" val="1"/>
              </a:ext>
            </a:extLst>
          </p:cNvPr>
          <p:cNvSpPr/>
          <p:nvPr/>
        </p:nvSpPr>
        <p:spPr>
          <a:xfrm>
            <a:off x="723940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ag of words"/>
          <p:cNvSpPr txBox="1"/>
          <p:nvPr/>
        </p:nvSpPr>
        <p:spPr>
          <a:xfrm>
            <a:off x="7403993" y="3206496"/>
            <a:ext cx="145863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bag of words</a:t>
            </a:r>
          </a:p>
        </p:txBody>
      </p:sp>
      <p:sp>
        <p:nvSpPr>
          <p:cNvPr id="49" name="!!term-multinomial na">
            <a:extLst>
              <a:ext uri="{C183D7F6-B498-43B3-948B-1728B52AA6E4}">
                <adec:decorative xmlns:adec="http://schemas.microsoft.com/office/drawing/2017/decorative" val="1"/>
              </a:ext>
            </a:extLst>
          </p:cNvPr>
          <p:cNvSpPr/>
          <p:nvPr/>
        </p:nvSpPr>
        <p:spPr>
          <a:xfrm>
            <a:off x="658368" y="3712464"/>
            <a:ext cx="26433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ultinomial n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ultinomial na"/>
          <p:cNvSpPr txBox="1"/>
          <p:nvPr/>
        </p:nvSpPr>
        <p:spPr>
          <a:xfrm>
            <a:off x="950976" y="3828288"/>
            <a:ext cx="246045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multinomial naive Bayes</a:t>
            </a:r>
          </a:p>
        </p:txBody>
      </p:sp>
      <p:sp>
        <p:nvSpPr>
          <p:cNvPr id="52" name="!!term-log-probabilit">
            <a:extLst>
              <a:ext uri="{C183D7F6-B498-43B3-948B-1728B52AA6E4}">
                <adec:decorative xmlns:adec="http://schemas.microsoft.com/office/drawing/2017/decorative" val="1"/>
              </a:ext>
            </a:extLst>
          </p:cNvPr>
          <p:cNvSpPr/>
          <p:nvPr/>
        </p:nvSpPr>
        <p:spPr>
          <a:xfrm>
            <a:off x="3448008" y="3712464"/>
            <a:ext cx="19472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log-probabilit">
            <a:extLst>
              <a:ext uri="{C183D7F6-B498-43B3-948B-1728B52AA6E4}">
                <adec:decorative xmlns:adec="http://schemas.microsoft.com/office/drawing/2017/decorative" val="1"/>
              </a:ext>
            </a:extLst>
          </p:cNvPr>
          <p:cNvSpPr/>
          <p:nvPr/>
        </p:nvSpPr>
        <p:spPr>
          <a:xfrm>
            <a:off x="357602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log-probabilit"/>
          <p:cNvSpPr txBox="1"/>
          <p:nvPr/>
        </p:nvSpPr>
        <p:spPr>
          <a:xfrm>
            <a:off x="3740616" y="3828288"/>
            <a:ext cx="17644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log-probabilities</a:t>
            </a:r>
          </a:p>
        </p:txBody>
      </p:sp>
      <p:sp>
        <p:nvSpPr>
          <p:cNvPr id="55"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9753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75–82     </a:t>
            </a:r>
            <a:fld id="{7424D3E0-69A9-4698-8415-FC3BF808AAD0}" type="slidenum">
              <a:rPr lang="en-GB" sz="1000">
                <a:solidFill>
                  <a:srgbClr val="8795A1"/>
                </a:solidFill>
                <a:latin typeface="Segoe UI"/>
              </a:rPr>
              <a:t>5</a:t>
            </a:fld>
          </a:p>
        </p:txBody>
      </p:sp>
      <p:sp>
        <p:nvSpPr>
          <p:cNvPr id="7" name="!!ag0" descr="Go to section 10.1 Learning as Updating Belief">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as Updating Belief</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75  ›</a:t>
            </a:r>
          </a:p>
        </p:txBody>
      </p:sp>
      <p:sp>
        <p:nvSpPr>
          <p:cNvPr id="12" name="!!ag1" descr="Go to section 10.2 Bayes’ Theorem for Hypothes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Bayes’ Theorem for Hypotheses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75  ›</a:t>
            </a:r>
          </a:p>
        </p:txBody>
      </p:sp>
      <p:sp>
        <p:nvSpPr>
          <p:cNvPr id="17" name="!!ag2" descr="Go to section 10.3 The Bayes Optimal Classifier">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Bayes Optimal Classifier</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77  ›</a:t>
            </a:r>
          </a:p>
        </p:txBody>
      </p:sp>
      <p:sp>
        <p:nvSpPr>
          <p:cNvPr id="22" name="!!ag3" descr="Go to section 10.4 Naive Bay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Naive Bayes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77  ›</a:t>
            </a:r>
          </a:p>
        </p:txBody>
      </p:sp>
      <p:sp>
        <p:nvSpPr>
          <p:cNvPr id="27" name="!!ag4" descr="Go to section 10.5 The Zero-Frequency Problem and Laplace Smooth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Zero-Frequency Problem and Laplace Smoothing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78  ›</a:t>
            </a:r>
          </a:p>
        </p:txBody>
      </p:sp>
      <p:sp>
        <p:nvSpPr>
          <p:cNvPr id="32" name="!!ag5" descr="Go to section 10.6 Continuous Features: Gaussian Naive Bayes">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Continuous Features: Gaussian Naive Bayes</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37" name="!!ag6" descr="Go to section 10.7 Text Classification">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10.7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Text Classification</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79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as Updating Belief</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§10.1  ·  Handout p. 75     </a:t>
            </a:r>
            <a:fld id="{23C55897-AADA-43B4-8576-75805E36B3C3}"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32601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334243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learners so far return one hypothesis and no statement of how sure they are. Bayesian learning treats every hypothesis as uncertain: it starts from a </a:t>
            </a:r>
            <a:r>
              <a:rPr sz="2600" b="1" i="0">
                <a:solidFill>
                  <a:srgbClr val="1A5276"/>
                </a:solidFill>
                <a:latin typeface="Segoe UI"/>
              </a:rPr>
              <a:t>prior</a:t>
            </a:r>
            <a:r>
              <a:rPr sz="2600" b="0" i="0">
                <a:solidFill>
                  <a:srgbClr val="1C252B"/>
                </a:solidFill>
                <a:latin typeface="Segoe UI"/>
              </a:rPr>
              <a:t> belief about which hypotheses are plausible, observes data, and computes a </a:t>
            </a:r>
            <a:r>
              <a:rPr sz="2600" b="1" i="0">
                <a:solidFill>
                  <a:srgbClr val="1A5276"/>
                </a:solidFill>
                <a:latin typeface="Segoe UI"/>
              </a:rPr>
              <a:t>posterior</a:t>
            </a:r>
            <a:r>
              <a:rPr sz="2600" b="0" i="0">
                <a:solidFill>
                  <a:srgbClr val="1C252B"/>
                </a:solidFill>
                <a:latin typeface="Segoe UI"/>
              </a:rPr>
              <a:t> belief. Two things follow that the earlier chapters could not offer. Prior knowledge can be put in explicitly, and every prediction comes with a probability. And even where Bayesian methods are too expensive to use directly, they give the standard against which other methods are judged.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4630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Bayes’ Theorem for Hypotheses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Learning as Updating Belief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10.2   Bayes’ Theorem for Hypotheses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The Bayes Optimal Classifier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Naive Bayes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The Zero-Frequency Problem and Laplace Smoothing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10.6   Continuous Features: Gaussian Naive Bayes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10.7   Text Classification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§10.2     </a:t>
            </a:r>
            <a:fld id="{5636B98A-094B-4C31-A6FB-AF3BCE427924}" type="slidenum">
              <a:rPr lang="en-GB" sz="1000">
                <a:solidFill>
                  <a:srgbClr val="8795A1"/>
                </a:solidFill>
                <a:latin typeface="Segoe UI"/>
              </a:rPr>
              <a:t>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7068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Posterior, MAP and ML Hypotheses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75     </a:t>
            </a:r>
            <a:fld id="{3759BB1D-A542-4E78-93E0-FD89659B026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85975"/>
          </a:xfrm>
          <a:prstGeom prst="roundRect">
            <a:avLst>
              <a:gd name="adj" fmla="val 2038"/>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8597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For a hypothesis </a:t>
            </a:r>
            <a:r>
              <a:rPr sz="2200" b="0" i="1">
                <a:solidFill>
                  <a:srgbClr val="1C252B"/>
                </a:solidFill>
                <a:latin typeface="Cambria"/>
              </a:rPr>
              <a:t>h</a:t>
            </a:r>
            <a:r>
              <a:rPr sz="2200" b="0" i="0">
                <a:solidFill>
                  <a:srgbClr val="1C252B"/>
                </a:solidFill>
                <a:latin typeface="Segoe UI"/>
              </a:rPr>
              <a:t> and training data </a:t>
            </a:r>
            <a:r>
              <a:rPr sz="2200" b="0" i="1">
                <a:solidFill>
                  <a:srgbClr val="1C252B"/>
                </a:solidFill>
                <a:latin typeface="Cambria"/>
              </a:rPr>
              <a:t>D</a:t>
            </a:r>
            <a:r>
              <a:rPr sz="2200" b="0" i="0">
                <a:solidFill>
                  <a:srgbClr val="1C252B"/>
                </a:solidFill>
                <a:latin typeface="Segoe UI"/>
              </a:rPr>
              <a:t>:</a:t>
            </a:r>
          </a:p>
        </p:txBody>
      </p:sp>
      <p:pic>
        <p:nvPicPr>
          <p:cNvPr id="10" name="body-1" descr="P(h \mid D) = \frac{P(D \mid h)\,P(h)}{P(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50617"/>
            <a:ext cx="10161727" cy="707105"/>
          </a:xfrm>
          <a:prstGeom prst="rect">
            <a:avLst/>
          </a:prstGeom>
        </p:spPr>
      </p:pic>
      <p:sp>
        <p:nvSpPr>
          <p:cNvPr id="11" name="body-2"/>
          <p:cNvSpPr txBox="1"/>
          <p:nvPr/>
        </p:nvSpPr>
        <p:spPr>
          <a:xfrm>
            <a:off x="1060704" y="3411392"/>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h</a:t>
            </a:r>
            <a:r>
              <a:rPr sz="2200" b="0" i="0">
                <a:solidFill>
                  <a:srgbClr val="1C252B"/>
                </a:solidFill>
                <a:latin typeface="Cambria"/>
              </a:rPr>
              <a:t>)</a:t>
            </a:r>
            <a:r>
              <a:rPr sz="2200" b="0" i="0">
                <a:solidFill>
                  <a:srgbClr val="1C252B"/>
                </a:solidFill>
                <a:latin typeface="Segoe UI"/>
              </a:rPr>
              <a:t> is the </a:t>
            </a:r>
            <a:r>
              <a:rPr sz="2200" b="1" i="0">
                <a:solidFill>
                  <a:srgbClr val="1A5276"/>
                </a:solidFill>
                <a:latin typeface="Segoe UI"/>
              </a:rPr>
              <a:t>prior</a:t>
            </a:r>
            <a:r>
              <a:rPr sz="2200" b="0" i="0">
                <a:solidFill>
                  <a:srgbClr val="1C252B"/>
                </a:solidFill>
                <a:latin typeface="Segoe UI"/>
              </a:rPr>
              <a:t>,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D</a:t>
            </a:r>
            <a:r>
              <a:rPr sz="2200" b="0" i="0">
                <a:solidFill>
                  <a:srgbClr val="1C252B"/>
                </a:solidFill>
                <a:latin typeface="Cambria"/>
              </a:rPr>
              <a:t> ∣ </a:t>
            </a:r>
            <a:r>
              <a:rPr sz="2200" b="0" i="1">
                <a:solidFill>
                  <a:srgbClr val="1C252B"/>
                </a:solidFill>
                <a:latin typeface="Cambria"/>
              </a:rPr>
              <a:t>h</a:t>
            </a:r>
            <a:r>
              <a:rPr sz="2200" b="0" i="0">
                <a:solidFill>
                  <a:srgbClr val="1C252B"/>
                </a:solidFill>
                <a:latin typeface="Cambria"/>
              </a:rPr>
              <a:t>)</a:t>
            </a:r>
            <a:r>
              <a:rPr sz="2200" b="0" i="0">
                <a:solidFill>
                  <a:srgbClr val="1C252B"/>
                </a:solidFill>
                <a:latin typeface="Segoe UI"/>
              </a:rPr>
              <a:t> the </a:t>
            </a:r>
            <a:r>
              <a:rPr sz="2200" b="1" i="0">
                <a:solidFill>
                  <a:srgbClr val="1A5276"/>
                </a:solidFill>
                <a:latin typeface="Segoe UI"/>
              </a:rPr>
              <a:t>likelihood</a:t>
            </a:r>
            <a:r>
              <a:rPr sz="2200" b="0" i="0">
                <a:solidFill>
                  <a:srgbClr val="1C252B"/>
                </a:solidFill>
                <a:latin typeface="Segoe UI"/>
              </a:rPr>
              <a:t>,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D</a:t>
            </a:r>
            <a:r>
              <a:rPr sz="2200" b="0" i="0">
                <a:solidFill>
                  <a:srgbClr val="1C252B"/>
                </a:solidFill>
                <a:latin typeface="Cambria"/>
              </a:rPr>
              <a:t>)</a:t>
            </a:r>
            <a:r>
              <a:rPr sz="2200" b="0" i="0">
                <a:solidFill>
                  <a:srgbClr val="1C252B"/>
                </a:solidFill>
                <a:latin typeface="Segoe UI"/>
              </a:rPr>
              <a:t> the </a:t>
            </a:r>
            <a:r>
              <a:rPr sz="2200" b="1" i="0">
                <a:solidFill>
                  <a:srgbClr val="1A5276"/>
                </a:solidFill>
                <a:latin typeface="Segoe UI"/>
              </a:rPr>
              <a:t>evidence</a:t>
            </a:r>
            <a:r>
              <a:rPr sz="2200" b="0" i="0">
                <a:solidFill>
                  <a:srgbClr val="1C252B"/>
                </a:solidFill>
                <a:latin typeface="Segoe UI"/>
              </a:rPr>
              <a:t> and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h</a:t>
            </a:r>
            <a:r>
              <a:rPr sz="2200" b="0" i="0">
                <a:solidFill>
                  <a:srgbClr val="1C252B"/>
                </a:solidFill>
                <a:latin typeface="Cambria"/>
              </a:rPr>
              <a:t> ∣ </a:t>
            </a:r>
            <a:r>
              <a:rPr sz="2200" b="0" i="1">
                <a:solidFill>
                  <a:srgbClr val="1C252B"/>
                </a:solidFill>
                <a:latin typeface="Cambria"/>
              </a:rPr>
              <a:t>D</a:t>
            </a:r>
            <a:r>
              <a:rPr sz="2200" b="0" i="0">
                <a:solidFill>
                  <a:srgbClr val="1C252B"/>
                </a:solidFill>
                <a:latin typeface="Cambria"/>
              </a:rPr>
              <a:t>)</a:t>
            </a:r>
            <a:r>
              <a:rPr sz="2200" b="0" i="0">
                <a:solidFill>
                  <a:srgbClr val="1C252B"/>
                </a:solidFill>
                <a:latin typeface="Segoe UI"/>
              </a:rPr>
              <a:t> the </a:t>
            </a:r>
            <a:r>
              <a:rPr sz="2200" b="1" i="0">
                <a:solidFill>
                  <a:srgbClr val="1A5276"/>
                </a:solidFill>
                <a:latin typeface="Segoe UI"/>
              </a:rPr>
              <a:t>posterior</a:t>
            </a:r>
            <a:r>
              <a:rPr sz="2200" b="0" i="0">
                <a:solidFill>
                  <a:srgbClr val="1C252B"/>
                </a:solidFill>
                <a:latin typeface="Segoe UI"/>
              </a:rPr>
              <a:t>. The </a:t>
            </a:r>
            <a:r>
              <a:rPr sz="2200" b="1" i="0">
                <a:solidFill>
                  <a:srgbClr val="1A5276"/>
                </a:solidFill>
                <a:latin typeface="Segoe UI"/>
              </a:rPr>
              <a:t>maximum a posteriori</a:t>
            </a:r>
            <a:r>
              <a:rPr sz="2200" b="0" i="0">
                <a:solidFill>
                  <a:srgbClr val="1C252B"/>
                </a:solidFill>
                <a:latin typeface="Segoe UI"/>
              </a:rPr>
              <a:t> (MAP) hypothesis maximises the posterior; since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D</a:t>
            </a:r>
            <a:r>
              <a:rPr sz="2200" b="0" i="0">
                <a:solidFill>
                  <a:srgbClr val="1C252B"/>
                </a:solidFill>
                <a:latin typeface="Cambria"/>
              </a:rPr>
              <a:t>)</a:t>
            </a:r>
            <a:r>
              <a:rPr sz="2200" b="0" i="0">
                <a:solidFill>
                  <a:srgbClr val="1C252B"/>
                </a:solidFill>
                <a:latin typeface="Segoe UI"/>
              </a:rPr>
              <a:t> is the same for every </a:t>
            </a:r>
            <a:r>
              <a:rPr sz="2200" b="0" i="1">
                <a:solidFill>
                  <a:srgbClr val="1C252B"/>
                </a:solidFill>
                <a:latin typeface="Cambria"/>
              </a:rPr>
              <a:t>h</a:t>
            </a:r>
            <a:r>
              <a:rPr sz="2200" b="0" i="0">
                <a:solidFill>
                  <a:srgbClr val="1C252B"/>
                </a:solidFill>
                <a:latin typeface="Segoe UI"/>
              </a:rPr>
              <a:t>, it can be dropped:</a:t>
            </a:r>
          </a:p>
        </p:txBody>
      </p:sp>
      <p:pic>
        <p:nvPicPr>
          <p:cNvPr id="12" name="body-3" descr="h_{MAP} = \arg\max_{h \in H} P(D \mid h)\,P(h)"/>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611136"/>
            <a:ext cx="10161727" cy="450250"/>
          </a:xfrm>
          <a:prstGeom prst="rect">
            <a:avLst/>
          </a:prstGeom>
        </p:spPr>
      </p:pic>
      <p:sp>
        <p:nvSpPr>
          <p:cNvPr id="13" name="body-4"/>
          <p:cNvSpPr txBox="1"/>
          <p:nvPr/>
        </p:nvSpPr>
        <p:spPr>
          <a:xfrm>
            <a:off x="1060704" y="5215056"/>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If every hypothesis is equally likely a priori, this reduces to the </a:t>
            </a:r>
            <a:r>
              <a:rPr sz="2200" b="1" i="0">
                <a:solidFill>
                  <a:srgbClr val="1A5276"/>
                </a:solidFill>
                <a:latin typeface="Segoe UI"/>
              </a:rPr>
              <a:t>maximum likelihood</a:t>
            </a:r>
            <a:r>
              <a:rPr sz="2200" b="0" i="0">
                <a:solidFill>
                  <a:srgbClr val="1C252B"/>
                </a:solidFill>
                <a:latin typeface="Segoe UI"/>
              </a:rPr>
              <a:t> hypothesis </a:t>
            </a:r>
            <a:r>
              <a:rPr sz="2200" b="0" i="1">
                <a:solidFill>
                  <a:srgbClr val="1C252B"/>
                </a:solidFill>
                <a:latin typeface="Cambria"/>
              </a:rPr>
              <a:t>h</a:t>
            </a:r>
            <a:r>
              <a:rPr sz="2200" b="0" i="1" baseline="-25000">
                <a:solidFill>
                  <a:srgbClr val="1C252B"/>
                </a:solidFill>
                <a:latin typeface="Cambria"/>
              </a:rPr>
              <a:t>ML</a:t>
            </a:r>
            <a:r>
              <a:rPr sz="2200" b="0" i="0">
                <a:solidFill>
                  <a:srgbClr val="1C252B"/>
                </a:solidFill>
                <a:latin typeface="Cambria"/>
              </a:rPr>
              <a:t> = argmax</a:t>
            </a:r>
            <a:r>
              <a:rPr sz="2200" b="0" i="1" baseline="-25000">
                <a:solidFill>
                  <a:srgbClr val="1C252B"/>
                </a:solidFill>
                <a:latin typeface="Cambria"/>
              </a:rPr>
              <a:t>h</a:t>
            </a:r>
            <a:r>
              <a:rPr sz="2200" b="0" i="0">
                <a:solidFill>
                  <a:srgbClr val="1C252B"/>
                </a:solidFill>
                <a:latin typeface="Cambria"/>
              </a:rPr>
              <a:t> </a:t>
            </a:r>
            <a:r>
              <a:rPr sz="2200" b="0" i="1">
                <a:solidFill>
                  <a:srgbClr val="1C252B"/>
                </a:solidFill>
                <a:latin typeface="Cambria"/>
              </a:rPr>
              <a:t>P</a:t>
            </a:r>
            <a:r>
              <a:rPr sz="2200" b="0" i="0">
                <a:solidFill>
                  <a:srgbClr val="1C252B"/>
                </a:solidFill>
                <a:latin typeface="Cambria"/>
              </a:rPr>
              <a:t>(</a:t>
            </a:r>
            <a:r>
              <a:rPr sz="2200" b="0" i="1">
                <a:solidFill>
                  <a:srgbClr val="1C252B"/>
                </a:solidFill>
                <a:latin typeface="Cambria"/>
              </a:rPr>
              <a:t>D</a:t>
            </a:r>
            <a:r>
              <a:rPr sz="2200" b="0" i="0">
                <a:solidFill>
                  <a:srgbClr val="1C252B"/>
                </a:solidFill>
                <a:latin typeface="Cambria"/>
              </a:rPr>
              <a:t> ∣ </a:t>
            </a:r>
            <a:r>
              <a:rPr sz="2200" b="0" i="1">
                <a:solidFill>
                  <a:srgbClr val="1C252B"/>
                </a:solidFill>
                <a:latin typeface="Cambria"/>
              </a:rPr>
              <a:t>h</a:t>
            </a:r>
            <a:r>
              <a:rPr sz="2200" b="0" i="0">
                <a:solidFill>
                  <a:srgbClr val="1C252B"/>
                </a:solidFill>
                <a:latin typeface="Cambria"/>
              </a:rPr>
              <a:t>)</a:t>
            </a:r>
            <a:r>
              <a:rPr sz="2200" b="0" i="0">
                <a:solidFill>
                  <a:srgbClr val="1C252B"/>
                </a:solidFill>
                <a:latin typeface="Segoe UI"/>
              </a:rPr>
              <a: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9506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Flagged Code Change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75     </a:t>
            </a:r>
            <a:fld id="{F0FEBA8A-880B-460F-8CC8-30EA3CDC92B0}"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7900"/>
          </a:xfrm>
          <a:prstGeom prst="roundRect">
            <a:avLst>
              <a:gd name="adj" fmla="val 202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79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0159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Two hypotheses: a code change contains a critical defect, or it is clean. 0.8% of changes contain one. A static-analysis tool flags 98% of the changes that do, and 3% of those that do not. The tool flags a change.</a:t>
            </a:r>
          </a:p>
        </p:txBody>
      </p:sp>
      <p:sp>
        <p:nvSpPr>
          <p:cNvPr id="10" name="body-1"/>
          <p:cNvSpPr txBox="1"/>
          <p:nvPr/>
        </p:nvSpPr>
        <p:spPr>
          <a:xfrm>
            <a:off x="1042416" y="2993288"/>
            <a:ext cx="10234879" cy="696315"/>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flag</a:t>
            </a:r>
            <a:r>
              <a:rPr sz="1800" b="0" i="0">
                <a:solidFill>
                  <a:srgbClr val="1C252B"/>
                </a:solidFill>
                <a:latin typeface="Cambria"/>
              </a:rPr>
              <a:t> ∣ </a:t>
            </a:r>
            <a:r>
              <a:rPr sz="1800" b="0" i="0">
                <a:solidFill>
                  <a:srgbClr val="1C252B"/>
                </a:solidFill>
                <a:latin typeface="Segoe UI"/>
              </a:rPr>
              <a:t>defect</a:t>
            </a:r>
            <a:r>
              <a:rPr sz="1800" b="0" i="0">
                <a:solidFill>
                  <a:srgbClr val="1C252B"/>
                </a:solidFill>
                <a:latin typeface="Cambria"/>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defect</a:t>
            </a:r>
            <a:r>
              <a:rPr sz="1800" b="0" i="0">
                <a:solidFill>
                  <a:srgbClr val="1C252B"/>
                </a:solidFill>
                <a:latin typeface="Cambria"/>
              </a:rPr>
              <a:t>) = 0.98 × 0.008 = 0.0078</a:t>
            </a:r>
          </a:p>
          <a:p>
            <a:pPr algn="l" marL="201268" indent="-201268">
              <a:lnSpc>
                <a:spcPct val="104000"/>
              </a:lnSpc>
              <a:spcBef>
                <a:spcPts val="0"/>
              </a:spcBef>
              <a:spcAft>
                <a:spcPts val="0"/>
              </a:spcAft>
            </a:pPr>
            <a:r>
              <a:rPr sz="1800" b="1">
                <a:solidFill>
                  <a:srgbClr val="7D6608"/>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flag</a:t>
            </a:r>
            <a:r>
              <a:rPr sz="1800" b="0" i="0">
                <a:solidFill>
                  <a:srgbClr val="1C252B"/>
                </a:solidFill>
                <a:latin typeface="Cambria"/>
              </a:rPr>
              <a:t> ∣ </a:t>
            </a:r>
            <a:r>
              <a:rPr sz="1800" b="0" i="0">
                <a:solidFill>
                  <a:srgbClr val="1C252B"/>
                </a:solidFill>
                <a:latin typeface="Segoe UI"/>
              </a:rPr>
              <a:t>clean</a:t>
            </a:r>
            <a:r>
              <a:rPr sz="1800" b="0" i="0">
                <a:solidFill>
                  <a:srgbClr val="1C252B"/>
                </a:solidFill>
                <a:latin typeface="Cambria"/>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clean</a:t>
            </a:r>
            <a:r>
              <a:rPr sz="1800" b="0" i="0">
                <a:solidFill>
                  <a:srgbClr val="1C252B"/>
                </a:solidFill>
                <a:latin typeface="Cambria"/>
              </a:rPr>
              <a:t>) = 0.03 × 0.992 = 0.0298</a:t>
            </a:r>
          </a:p>
        </p:txBody>
      </p:sp>
      <p:sp>
        <p:nvSpPr>
          <p:cNvPr id="11" name="body-2"/>
          <p:cNvSpPr txBox="1"/>
          <p:nvPr/>
        </p:nvSpPr>
        <p:spPr>
          <a:xfrm>
            <a:off x="1042416" y="3769613"/>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1">
                <a:solidFill>
                  <a:srgbClr val="7D6608"/>
                </a:solidFill>
                <a:latin typeface="Cambria"/>
              </a:rPr>
              <a:t>h</a:t>
            </a:r>
            <a:r>
              <a:rPr sz="1800" b="1" i="1" baseline="-25000">
                <a:solidFill>
                  <a:srgbClr val="1C252B"/>
                </a:solidFill>
                <a:latin typeface="Cambria"/>
              </a:rPr>
              <a:t>MAP</a:t>
            </a:r>
            <a:r>
              <a:rPr sz="1800" b="1" i="0">
                <a:solidFill>
                  <a:srgbClr val="1C252B"/>
                </a:solidFill>
                <a:latin typeface="Cambria"/>
              </a:rPr>
              <a:t> =</a:t>
            </a:r>
            <a:r>
              <a:rPr sz="1800" b="1" i="0">
                <a:solidFill>
                  <a:srgbClr val="1C252B"/>
                </a:solidFill>
                <a:latin typeface="Segoe UI"/>
              </a:rPr>
              <a:t> clean</a:t>
            </a:r>
            <a:r>
              <a:rPr sz="1800" b="0" i="0">
                <a:solidFill>
                  <a:srgbClr val="1C252B"/>
                </a:solidFill>
                <a:latin typeface="Segoe UI"/>
              </a:rPr>
              <a:t>, because </a:t>
            </a:r>
            <a:r>
              <a:rPr sz="1800" b="0" i="0">
                <a:solidFill>
                  <a:srgbClr val="1C252B"/>
                </a:solidFill>
                <a:latin typeface="Cambria"/>
              </a:rPr>
              <a:t>0.0298 &gt; 0.0078</a:t>
            </a:r>
            <a:r>
              <a:rPr sz="1800" b="0" i="0">
                <a:solidFill>
                  <a:srgbClr val="1C252B"/>
                </a:solidFill>
                <a:latin typeface="Segoe UI"/>
              </a:rPr>
              <a:t>. Normalising:</a:t>
            </a:r>
          </a:p>
        </p:txBody>
      </p:sp>
      <p:sp>
        <p:nvSpPr>
          <p:cNvPr id="12" name="body-2bar">
            <a:extLst>
              <a:ext uri="{C183D7F6-B498-43B3-948B-1728B52AA6E4}">
                <adec:decorative xmlns:adec="http://schemas.microsoft.com/office/drawing/2017/decorative" val="1"/>
              </a:ext>
            </a:extLst>
          </p:cNvPr>
          <p:cNvSpPr/>
          <p:nvPr/>
        </p:nvSpPr>
        <p:spPr>
          <a:xfrm>
            <a:off x="841248" y="3787901"/>
            <a:ext cx="54864" cy="267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P(\text{defect} \mid \text{flag}) = \frac{0.0078}{0.0078 + 0.0298} = \mathbf{0.2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180636"/>
            <a:ext cx="10234879" cy="523402"/>
          </a:xfrm>
          <a:prstGeom prst="rect">
            <a:avLst/>
          </a:prstGeom>
        </p:spPr>
      </p:pic>
      <p:sp>
        <p:nvSpPr>
          <p:cNvPr id="14" name="body-4"/>
          <p:cNvSpPr txBox="1"/>
          <p:nvPr/>
        </p:nvSpPr>
        <p:spPr>
          <a:xfrm>
            <a:off x="1042416" y="4829769"/>
            <a:ext cx="10234879"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flag raises the probability from 0.8% to 21% — a twenty-six-fold increase — and it is still more likely than not that the change is clean. The maximum likelihood hypothesis, which ignores the prior, would say “defect” (</a:t>
            </a:r>
            <a:r>
              <a:rPr sz="1800" b="0" i="0">
                <a:solidFill>
                  <a:srgbClr val="1C252B"/>
                </a:solidFill>
                <a:latin typeface="Cambria"/>
              </a:rPr>
              <a:t>0.98 &gt; 0.03</a:t>
            </a:r>
            <a:r>
              <a:rPr sz="1800" b="0" i="0">
                <a:solidFill>
                  <a:srgbClr val="1C252B"/>
                </a:solidFill>
                <a:latin typeface="Segoe UI"/>
              </a:rPr>
              <a:t>). This is the base-rate effect of Chapter 2, now read as a choice between hypotheses.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219450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wipe(right)">
                                      <p:cBhvr>
                                        <p:cTn id="8" dur="42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2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right)">
                                      <p:cBhvr>
                                        <p:cTn id="2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Prior times likelihood, normalised, gives the posterior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10.1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75     </a:t>
            </a:r>
            <a:fld id="{99DBC957-75B1-40F5-80C3-DDE11C39C1D6}" type="slidenum">
              <a:rPr lang="en-GB" sz="1000">
                <a:solidFill>
                  <a:srgbClr val="8795A1"/>
                </a:solidFill>
                <a:latin typeface="Segoe UI"/>
              </a:rPr>
              <a:t>10</a:t>
            </a:fld>
          </a:p>
        </p:txBody>
      </p:sp>
      <p:pic>
        <p:nvPicPr>
          <p:cNvPr id="6" name="!!figure" descr="Figure 10.1. Prior times likelihood, normalised, gives the posterior. A flag that strongly favours “defect” is not enough to overturn a prior that strongly favours “clea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12647"/>
            <a:ext cx="10874959" cy="357973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flag that strongly favours “defect” is not enough to overturn a prior that strongly favours “clean”.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Least Squares Is a MAP Hypothesis in Disguise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§10.2  ·  Handout p. 75     </a:t>
            </a:r>
            <a:fld id="{3937C2AF-B6D7-497F-AB33-1F7747648D79}"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the training labels are the true function plus Gaussian noise and all hypotheses are equally likely a priori, the maximum likelihood hypothesis is the one that minimises the sum of squared errors — exactly the least-squares fit of Chapter 5. Put a Gaussian prior on the weights as well, favouring small ones, and the MAP hypothesis is the ridge regression of Chapter 7. Regularisation is a prior.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68217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Bayes Optimal Classifier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77     </a:t>
            </a:r>
            <a:fld id="{C688921A-D0E6-42D2-B210-26C4BE777D0C}"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32663"/>
          </a:xfrm>
          <a:prstGeom prst="roundRect">
            <a:avLst>
              <a:gd name="adj" fmla="val 301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3266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MAP hypothesis answers “which hypothesis is most probable?”. That is not the same question as “which classification is most probable?”. The </a:t>
            </a:r>
            <a:r>
              <a:rPr sz="2300" b="1" i="0">
                <a:solidFill>
                  <a:srgbClr val="1A5276"/>
                </a:solidFill>
                <a:latin typeface="Segoe UI"/>
              </a:rPr>
              <a:t>Bayes optimal classifier</a:t>
            </a:r>
            <a:r>
              <a:rPr sz="2300" b="0" i="0">
                <a:solidFill>
                  <a:srgbClr val="1C252B"/>
                </a:solidFill>
                <a:latin typeface="Segoe UI"/>
              </a:rPr>
              <a:t> answers the second by letting every hypothesis vote, weighted by its posterior:</a:t>
            </a:r>
          </a:p>
        </p:txBody>
      </p:sp>
      <p:pic>
        <p:nvPicPr>
          <p:cNvPr id="10" name="body-1" descr="v_{\text{opt}} = \arg\max_{v} \sum_{h \in H} P(v \mid h)\,P(h \mid 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667074"/>
            <a:ext cx="10161727" cy="792053"/>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9260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the Most Probable Hypothesis Is Outvoted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§10.3  ·  Handout p. 77     </a:t>
            </a:r>
            <a:fld id="{68EC7959-9FBB-4EA5-BE41-24803A80E7DD}"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265246"/>
          </a:xfrm>
          <a:prstGeom prst="roundRect">
            <a:avLst>
              <a:gd name="adj" fmla="val 28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26524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Three hypotheses remain with posteriors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h</a:t>
            </a:r>
            <a:r>
              <a:rPr sz="2100" b="0" i="0" baseline="-25000">
                <a:solidFill>
                  <a:srgbClr val="1C252B"/>
                </a:solidFill>
                <a:latin typeface="Cambria"/>
              </a:rPr>
              <a:t>1</a:t>
            </a:r>
            <a:r>
              <a:rPr sz="2100" b="0" i="0">
                <a:solidFill>
                  <a:srgbClr val="1C252B"/>
                </a:solidFill>
                <a:latin typeface="Cambria"/>
              </a:rPr>
              <a:t> ∣ </a:t>
            </a:r>
            <a:r>
              <a:rPr sz="2100" b="0" i="1">
                <a:solidFill>
                  <a:srgbClr val="1C252B"/>
                </a:solidFill>
                <a:latin typeface="Cambria"/>
              </a:rPr>
              <a:t>D</a:t>
            </a:r>
            <a:r>
              <a:rPr sz="2100" b="0" i="0">
                <a:solidFill>
                  <a:srgbClr val="1C252B"/>
                </a:solidFill>
                <a:latin typeface="Cambria"/>
              </a:rPr>
              <a:t>) = 0.4</a:t>
            </a:r>
            <a:r>
              <a:rPr sz="2100" b="0" i="0">
                <a:solidFill>
                  <a:srgbClr val="1C252B"/>
                </a:solidFill>
                <a:latin typeface="Segoe UI"/>
              </a:rPr>
              <a:t>,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h</a:t>
            </a:r>
            <a:r>
              <a:rPr sz="2100" b="0" i="0" baseline="-25000">
                <a:solidFill>
                  <a:srgbClr val="1C252B"/>
                </a:solidFill>
                <a:latin typeface="Cambria"/>
              </a:rPr>
              <a:t>2</a:t>
            </a:r>
            <a:r>
              <a:rPr sz="2100" b="0" i="0">
                <a:solidFill>
                  <a:srgbClr val="1C252B"/>
                </a:solidFill>
                <a:latin typeface="Cambria"/>
              </a:rPr>
              <a:t> ∣ </a:t>
            </a:r>
            <a:r>
              <a:rPr sz="2100" b="0" i="1">
                <a:solidFill>
                  <a:srgbClr val="1C252B"/>
                </a:solidFill>
                <a:latin typeface="Cambria"/>
              </a:rPr>
              <a:t>D</a:t>
            </a:r>
            <a:r>
              <a:rPr sz="2100" b="0" i="0">
                <a:solidFill>
                  <a:srgbClr val="1C252B"/>
                </a:solidFill>
                <a:latin typeface="Cambria"/>
              </a:rPr>
              <a:t>) = 0.3</a:t>
            </a:r>
            <a:r>
              <a:rPr sz="2100" b="0" i="0">
                <a:solidFill>
                  <a:srgbClr val="1C252B"/>
                </a:solidFill>
                <a:latin typeface="Segoe UI"/>
              </a:rPr>
              <a:t> and </a:t>
            </a:r>
            <a:r>
              <a:rPr sz="2100" b="0" i="1">
                <a:solidFill>
                  <a:srgbClr val="1C252B"/>
                </a:solidFill>
                <a:latin typeface="Cambria"/>
              </a:rPr>
              <a:t>P</a:t>
            </a:r>
            <a:r>
              <a:rPr sz="2100" b="0" i="0">
                <a:solidFill>
                  <a:srgbClr val="1C252B"/>
                </a:solidFill>
                <a:latin typeface="Cambria"/>
              </a:rPr>
              <a:t>(</a:t>
            </a:r>
            <a:r>
              <a:rPr sz="2100" b="0" i="1">
                <a:solidFill>
                  <a:srgbClr val="1C252B"/>
                </a:solidFill>
                <a:latin typeface="Cambria"/>
              </a:rPr>
              <a:t>h</a:t>
            </a:r>
            <a:r>
              <a:rPr sz="2100" b="0" i="0" baseline="-25000">
                <a:solidFill>
                  <a:srgbClr val="1C252B"/>
                </a:solidFill>
                <a:latin typeface="Cambria"/>
              </a:rPr>
              <a:t>3</a:t>
            </a:r>
            <a:r>
              <a:rPr sz="2100" b="0" i="0">
                <a:solidFill>
                  <a:srgbClr val="1C252B"/>
                </a:solidFill>
                <a:latin typeface="Cambria"/>
              </a:rPr>
              <a:t> ∣ </a:t>
            </a:r>
            <a:r>
              <a:rPr sz="2100" b="0" i="1">
                <a:solidFill>
                  <a:srgbClr val="1C252B"/>
                </a:solidFill>
                <a:latin typeface="Cambria"/>
              </a:rPr>
              <a:t>D</a:t>
            </a:r>
            <a:r>
              <a:rPr sz="2100" b="0" i="0">
                <a:solidFill>
                  <a:srgbClr val="1C252B"/>
                </a:solidFill>
                <a:latin typeface="Cambria"/>
              </a:rPr>
              <a:t>) = 0.3</a:t>
            </a:r>
            <a:r>
              <a:rPr sz="2100" b="0" i="0">
                <a:solidFill>
                  <a:srgbClr val="1C252B"/>
                </a:solidFill>
                <a:latin typeface="Segoe UI"/>
              </a:rPr>
              <a:t>. A new instance is classified positive by </a:t>
            </a:r>
            <a:r>
              <a:rPr sz="2100" b="0" i="1">
                <a:solidFill>
                  <a:srgbClr val="1C252B"/>
                </a:solidFill>
                <a:latin typeface="Cambria"/>
              </a:rPr>
              <a:t>h</a:t>
            </a:r>
            <a:r>
              <a:rPr sz="2100" b="0" i="0" baseline="-25000">
                <a:solidFill>
                  <a:srgbClr val="1C252B"/>
                </a:solidFill>
                <a:latin typeface="Cambria"/>
              </a:rPr>
              <a:t>1</a:t>
            </a:r>
            <a:r>
              <a:rPr sz="2100" b="0" i="0">
                <a:solidFill>
                  <a:srgbClr val="1C252B"/>
                </a:solidFill>
                <a:latin typeface="Segoe UI"/>
              </a:rPr>
              <a:t> and negative by </a:t>
            </a:r>
            <a:r>
              <a:rPr sz="2100" b="0" i="1">
                <a:solidFill>
                  <a:srgbClr val="1C252B"/>
                </a:solidFill>
                <a:latin typeface="Cambria"/>
              </a:rPr>
              <a:t>h</a:t>
            </a:r>
            <a:r>
              <a:rPr sz="2100" b="0" i="0" baseline="-25000">
                <a:solidFill>
                  <a:srgbClr val="1C252B"/>
                </a:solidFill>
                <a:latin typeface="Cambria"/>
              </a:rPr>
              <a:t>2</a:t>
            </a:r>
            <a:r>
              <a:rPr sz="2100" b="0" i="0">
                <a:solidFill>
                  <a:srgbClr val="1C252B"/>
                </a:solidFill>
                <a:latin typeface="Segoe UI"/>
              </a:rPr>
              <a:t> and </a:t>
            </a:r>
            <a:r>
              <a:rPr sz="2100" b="0" i="1">
                <a:solidFill>
                  <a:srgbClr val="1C252B"/>
                </a:solidFill>
                <a:latin typeface="Cambria"/>
              </a:rPr>
              <a:t>h</a:t>
            </a:r>
            <a:r>
              <a:rPr sz="2100" b="0" i="0" baseline="-25000">
                <a:solidFill>
                  <a:srgbClr val="1C252B"/>
                </a:solidFill>
                <a:latin typeface="Cambria"/>
              </a:rPr>
              <a:t>3</a:t>
            </a:r>
            <a:r>
              <a:rPr sz="2100" b="0" i="0">
                <a:solidFill>
                  <a:srgbClr val="1C252B"/>
                </a:solidFill>
                <a:latin typeface="Segoe UI"/>
              </a:rPr>
              <a:t>.</a:t>
            </a:r>
          </a:p>
        </p:txBody>
      </p:sp>
      <p:sp>
        <p:nvSpPr>
          <p:cNvPr id="10" name="body-1"/>
          <p:cNvSpPr txBox="1"/>
          <p:nvPr/>
        </p:nvSpPr>
        <p:spPr>
          <a:xfrm>
            <a:off x="1042416" y="2824048"/>
            <a:ext cx="10234879" cy="804748"/>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1" i="0">
                <a:solidFill>
                  <a:srgbClr val="7D6608"/>
                </a:solidFill>
                <a:latin typeface="Segoe UI"/>
              </a:rPr>
              <a:t>MAP:</a:t>
            </a:r>
            <a:r>
              <a:rPr sz="2100" b="0" i="0">
                <a:solidFill>
                  <a:srgbClr val="1C252B"/>
                </a:solidFill>
                <a:latin typeface="Segoe UI"/>
              </a:rPr>
              <a:t> </a:t>
            </a:r>
            <a:r>
              <a:rPr sz="2100" b="0" i="1">
                <a:solidFill>
                  <a:srgbClr val="1C252B"/>
                </a:solidFill>
                <a:latin typeface="Cambria"/>
              </a:rPr>
              <a:t>h</a:t>
            </a:r>
            <a:r>
              <a:rPr sz="2100" b="0" i="0" baseline="-25000">
                <a:solidFill>
                  <a:srgbClr val="1C252B"/>
                </a:solidFill>
                <a:latin typeface="Cambria"/>
              </a:rPr>
              <a:t>1</a:t>
            </a:r>
            <a:r>
              <a:rPr sz="2100" b="0" i="0">
                <a:solidFill>
                  <a:srgbClr val="1C252B"/>
                </a:solidFill>
                <a:latin typeface="Segoe UI"/>
              </a:rPr>
              <a:t> is the most probable hypothesis, so “positive”.</a:t>
            </a:r>
          </a:p>
          <a:p>
            <a:pPr algn="l" marL="234813" indent="-234813">
              <a:lnSpc>
                <a:spcPct val="104000"/>
              </a:lnSpc>
              <a:spcBef>
                <a:spcPts val="0"/>
              </a:spcBef>
              <a:spcAft>
                <a:spcPts val="0"/>
              </a:spcAft>
            </a:pPr>
            <a:r>
              <a:rPr sz="2100" b="1">
                <a:solidFill>
                  <a:srgbClr val="7D6608"/>
                </a:solidFill>
                <a:latin typeface="Segoe UI"/>
              </a:rPr>
              <a:t>•	</a:t>
            </a:r>
            <a:r>
              <a:rPr sz="2100" b="1" i="0">
                <a:solidFill>
                  <a:srgbClr val="7D6608"/>
                </a:solidFill>
                <a:latin typeface="Segoe UI"/>
              </a:rPr>
              <a:t>Bayes optimal:</a:t>
            </a:r>
            <a:r>
              <a:rPr sz="2100" b="0" i="0">
                <a:solidFill>
                  <a:srgbClr val="1C252B"/>
                </a:solidFill>
                <a:latin typeface="Segoe UI"/>
              </a:rPr>
              <a:t> </a:t>
            </a:r>
            <a:r>
              <a:rPr sz="2100" b="0" i="1">
                <a:solidFill>
                  <a:srgbClr val="1C252B"/>
                </a:solidFill>
                <a:latin typeface="Cambria"/>
              </a:rPr>
              <a:t>P</a:t>
            </a:r>
            <a:r>
              <a:rPr sz="2100" b="0" i="0">
                <a:solidFill>
                  <a:srgbClr val="1C252B"/>
                </a:solidFill>
                <a:latin typeface="Cambria"/>
              </a:rPr>
              <a:t>(+) = 0.4</a:t>
            </a:r>
            <a:r>
              <a:rPr sz="2100" b="0" i="0">
                <a:solidFill>
                  <a:srgbClr val="1C252B"/>
                </a:solidFill>
                <a:latin typeface="Segoe UI"/>
              </a:rPr>
              <a:t> and </a:t>
            </a:r>
            <a:r>
              <a:rPr sz="2100" b="0" i="1">
                <a:solidFill>
                  <a:srgbClr val="1C252B"/>
                </a:solidFill>
                <a:latin typeface="Cambria"/>
              </a:rPr>
              <a:t>P</a:t>
            </a:r>
            <a:r>
              <a:rPr sz="2100" b="0" i="0">
                <a:solidFill>
                  <a:srgbClr val="1C252B"/>
                </a:solidFill>
                <a:latin typeface="Cambria"/>
              </a:rPr>
              <a:t>(−) = 0.3 + 0.3 = 0.6</a:t>
            </a:r>
            <a:r>
              <a:rPr sz="2100" b="0" i="0">
                <a:solidFill>
                  <a:srgbClr val="1C252B"/>
                </a:solidFill>
                <a:latin typeface="Segoe UI"/>
              </a:rPr>
              <a:t>, so </a:t>
            </a:r>
            <a:r>
              <a:rPr sz="2100" b="1" i="0">
                <a:solidFill>
                  <a:srgbClr val="1C252B"/>
                </a:solidFill>
                <a:latin typeface="Segoe UI"/>
              </a:rPr>
              <a:t>“negative”</a:t>
            </a:r>
            <a:r>
              <a:rPr sz="2100" b="0" i="0">
                <a:solidFill>
                  <a:srgbClr val="1C252B"/>
                </a:solidFill>
                <a:latin typeface="Segoe UI"/>
              </a:rPr>
              <a:t>.</a:t>
            </a:r>
          </a:p>
        </p:txBody>
      </p:sp>
      <p:sp>
        <p:nvSpPr>
          <p:cNvPr id="11" name="body-2"/>
          <p:cNvSpPr txBox="1"/>
          <p:nvPr/>
        </p:nvSpPr>
        <p:spPr>
          <a:xfrm>
            <a:off x="1042416" y="3729761"/>
            <a:ext cx="10234879"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single best hypothesis is outvoted by the combined weight of the others. The same idea — let many hypotheses vote — is the basis of the ensembles of Chapter 14.</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6984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Naive Bayes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Learning as Updating Belief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Bayes’ Theorem for Hypotheses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The Bayes Optimal Classifier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10.4   Naive Bayes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The Zero-Frequency Problem and Laplace Smoothing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10.6   Continuous Features: Gaussian Naive Bayes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10.7   Text Classification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§10.4     </a:t>
            </a:r>
            <a:fld id="{730EC59D-C76A-44DC-A35F-9764BAB5002F}" type="slidenum">
              <a:rPr lang="en-GB" sz="1000">
                <a:solidFill>
                  <a:srgbClr val="8795A1"/>
                </a:solidFill>
                <a:latin typeface="Segoe UI"/>
              </a:rPr>
              <a:t>14</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41367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Naive Bayes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77     </a:t>
            </a:r>
            <a:fld id="{EF3920C7-CD62-441B-BD1C-2CB727313303}"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617812"/>
          </a:xfrm>
          <a:prstGeom prst="roundRect">
            <a:avLst>
              <a:gd name="adj" fmla="val 565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61781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classification with attributes </a:t>
            </a:r>
            <a:r>
              <a:rPr sz="2300" b="0" i="1">
                <a:solidFill>
                  <a:srgbClr val="1C252B"/>
                </a:solidFill>
                <a:latin typeface="Cambria"/>
              </a:rPr>
              <a:t>a</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a</a:t>
            </a:r>
            <a:r>
              <a:rPr sz="2300" b="0" i="1" baseline="-25000">
                <a:solidFill>
                  <a:srgbClr val="1C252B"/>
                </a:solidFill>
                <a:latin typeface="Cambria"/>
              </a:rPr>
              <a:t>d</a:t>
            </a:r>
            <a:r>
              <a:rPr sz="2300" b="0" i="0">
                <a:solidFill>
                  <a:srgbClr val="1C252B"/>
                </a:solidFill>
                <a:latin typeface="Segoe UI"/>
              </a:rPr>
              <a:t>, the most probable class is</a:t>
            </a:r>
          </a:p>
        </p:txBody>
      </p:sp>
      <p:pic>
        <p:nvPicPr>
          <p:cNvPr id="10" name="body-1" descr="v_{MAP} = \arg\max_{v} P(v)\,P(a_1, a_2, \dots, a_d \mid v)"/>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470824"/>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Naive Bayes Classifier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77     </a:t>
            </a:r>
            <a:fld id="{080D6F64-9364-4871-8E94-DA9B89111BE1}"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69924"/>
          </a:xfrm>
          <a:prstGeom prst="roundRect">
            <a:avLst>
              <a:gd name="adj" fmla="val 263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6992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Assume the attributes are </a:t>
            </a:r>
            <a:r>
              <a:rPr sz="2300" b="1" i="0">
                <a:solidFill>
                  <a:srgbClr val="1A5276"/>
                </a:solidFill>
                <a:latin typeface="Segoe UI"/>
              </a:rPr>
              <a:t>conditionally independent</a:t>
            </a:r>
            <a:r>
              <a:rPr sz="2300" b="0" i="0">
                <a:solidFill>
                  <a:srgbClr val="1C252B"/>
                </a:solidFill>
                <a:latin typeface="Segoe UI"/>
              </a:rPr>
              <a:t> given the class: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0" baseline="-25000">
                <a:solidFill>
                  <a:srgbClr val="1C252B"/>
                </a:solidFill>
                <a:latin typeface="Cambria"/>
              </a:rPr>
              <a:t>1</a:t>
            </a:r>
            <a:r>
              <a:rPr sz="2300" b="0" i="0">
                <a:solidFill>
                  <a:srgbClr val="1C252B"/>
                </a:solidFill>
                <a:latin typeface="Cambria"/>
              </a:rPr>
              <a:t>, …, </a:t>
            </a:r>
            <a:r>
              <a:rPr sz="2300" b="0" i="1">
                <a:solidFill>
                  <a:srgbClr val="1C252B"/>
                </a:solidFill>
                <a:latin typeface="Cambria"/>
              </a:rPr>
              <a:t>a</a:t>
            </a:r>
            <a:r>
              <a:rPr sz="2300" b="0" i="1" baseline="-25000">
                <a:solidFill>
                  <a:srgbClr val="1C252B"/>
                </a:solidFill>
                <a:latin typeface="Cambria"/>
              </a:rPr>
              <a:t>d</a:t>
            </a:r>
            <a:r>
              <a:rPr sz="2300" b="0" i="0">
                <a:solidFill>
                  <a:srgbClr val="1C252B"/>
                </a:solidFill>
                <a:latin typeface="Cambria"/>
              </a:rPr>
              <a:t> ∣ </a:t>
            </a:r>
            <a:r>
              <a:rPr sz="2300" b="0" i="1">
                <a:solidFill>
                  <a:srgbClr val="1C252B"/>
                </a:solidFill>
                <a:latin typeface="Cambria"/>
              </a:rPr>
              <a:t>v</a:t>
            </a:r>
            <a:r>
              <a:rPr sz="2300" b="0" i="0">
                <a:solidFill>
                  <a:srgbClr val="1C252B"/>
                </a:solidFill>
                <a:latin typeface="Cambria"/>
              </a:rPr>
              <a:t>) = ∏</a:t>
            </a:r>
            <a:r>
              <a:rPr sz="2300" b="0" i="1" baseline="-25000">
                <a:solidFill>
                  <a:srgbClr val="1C252B"/>
                </a:solidFill>
                <a:latin typeface="Cambria"/>
              </a:rPr>
              <a:t>j</a:t>
            </a:r>
            <a:r>
              <a:rPr sz="2300" b="0" i="0">
                <a:solidFill>
                  <a:srgbClr val="1C252B"/>
                </a:solidFill>
                <a:latin typeface="Cambria"/>
              </a:rPr>
              <a:t>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1" baseline="-25000">
                <a:solidFill>
                  <a:srgbClr val="1C252B"/>
                </a:solidFill>
                <a:latin typeface="Cambria"/>
              </a:rPr>
              <a:t>j</a:t>
            </a:r>
            <a:r>
              <a:rPr sz="2300" b="0" i="0">
                <a:solidFill>
                  <a:srgbClr val="1C252B"/>
                </a:solidFill>
                <a:latin typeface="Cambria"/>
              </a:rPr>
              <a:t> ∣ </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Then</a:t>
            </a:r>
          </a:p>
        </p:txBody>
      </p:sp>
      <p:pic>
        <p:nvPicPr>
          <p:cNvPr id="10" name="body-1" descr="v_{NB} = \arg\max_{v}\; P(v)\prod_{j=1}^{d} P(a_j \mid v)"/>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1068659"/>
          </a:xfrm>
          <a:prstGeom prst="rect">
            <a:avLst/>
          </a:prstGeom>
        </p:spPr>
      </p:pic>
      <p:sp>
        <p:nvSpPr>
          <p:cNvPr id="11" name="body-2"/>
          <p:cNvSpPr txBox="1"/>
          <p:nvPr/>
        </p:nvSpPr>
        <p:spPr>
          <a:xfrm>
            <a:off x="1060704" y="4167306"/>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a:t>
            </a:r>
            <a:r>
              <a:rPr sz="2300" b="0" i="1">
                <a:solidFill>
                  <a:srgbClr val="1C252B"/>
                </a:solidFill>
                <a:latin typeface="Cambria"/>
              </a:rPr>
              <a:t>P</a:t>
            </a:r>
            <a:r>
              <a:rPr sz="2300" b="0" i="0">
                <a:solidFill>
                  <a:srgbClr val="1C252B"/>
                </a:solidFill>
                <a:latin typeface="Cambria"/>
              </a:rPr>
              <a:t>(</a:t>
            </a:r>
            <a:r>
              <a:rPr sz="2300" b="0" i="1">
                <a:solidFill>
                  <a:srgbClr val="1C252B"/>
                </a:solidFill>
                <a:latin typeface="Cambria"/>
              </a:rPr>
              <a:t>a</a:t>
            </a:r>
            <a:r>
              <a:rPr sz="2300" b="0" i="1" baseline="-25000">
                <a:solidFill>
                  <a:srgbClr val="1C252B"/>
                </a:solidFill>
                <a:latin typeface="Cambria"/>
              </a:rPr>
              <a:t>j</a:t>
            </a:r>
            <a:r>
              <a:rPr sz="2300" b="0" i="0">
                <a:solidFill>
                  <a:srgbClr val="1C252B"/>
                </a:solidFill>
                <a:latin typeface="Cambria"/>
              </a:rPr>
              <a:t> ∣ </a:t>
            </a:r>
            <a:r>
              <a:rPr sz="2300" b="0" i="1">
                <a:solidFill>
                  <a:srgbClr val="1C252B"/>
                </a:solidFill>
                <a:latin typeface="Cambria"/>
              </a:rPr>
              <a:t>v</a:t>
            </a:r>
            <a:r>
              <a:rPr sz="2300" b="0" i="0">
                <a:solidFill>
                  <a:srgbClr val="1C252B"/>
                </a:solidFill>
                <a:latin typeface="Cambria"/>
              </a:rPr>
              <a:t>)</a:t>
            </a:r>
            <a:r>
              <a:rPr sz="2300" b="0" i="0">
                <a:solidFill>
                  <a:srgbClr val="1C252B"/>
                </a:solidFill>
                <a:latin typeface="Segoe UI"/>
              </a:rPr>
              <a:t> is estimated from counts: the fraction of class-</a:t>
            </a:r>
            <a:r>
              <a:rPr sz="2300" b="0" i="1">
                <a:solidFill>
                  <a:srgbClr val="1C252B"/>
                </a:solidFill>
                <a:latin typeface="Cambria"/>
              </a:rPr>
              <a:t>v</a:t>
            </a:r>
            <a:r>
              <a:rPr sz="2300" b="0" i="0">
                <a:solidFill>
                  <a:srgbClr val="1C252B"/>
                </a:solidFill>
                <a:latin typeface="Segoe UI"/>
              </a:rPr>
              <a:t> training examples that have value </a:t>
            </a:r>
            <a:r>
              <a:rPr sz="2300" b="0" i="1">
                <a:solidFill>
                  <a:srgbClr val="1C252B"/>
                </a:solidFill>
                <a:latin typeface="Cambria"/>
              </a:rPr>
              <a:t>a</a:t>
            </a:r>
            <a:r>
              <a:rPr sz="2300" b="0" i="1" baseline="-25000">
                <a:solidFill>
                  <a:srgbClr val="1C252B"/>
                </a:solidFill>
                <a:latin typeface="Cambria"/>
              </a:rPr>
              <a:t>j</a:t>
            </a:r>
            <a:r>
              <a:rPr sz="2300" b="0" i="0">
                <a:solidFill>
                  <a:srgbClr val="1C252B"/>
                </a:solidFill>
                <a:latin typeface="Segoe UI"/>
              </a:rPr>
              <a:t>. Training is a single pass of counting.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9013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Naive Bayes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10.2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77     </a:t>
            </a:r>
            <a:fld id="{292D3658-D7B9-4873-83FD-C3E14F2BF6CB}" type="slidenum">
              <a:rPr lang="en-GB" sz="1000">
                <a:solidFill>
                  <a:srgbClr val="8795A1"/>
                </a:solidFill>
                <a:latin typeface="Segoe UI"/>
              </a:rPr>
              <a:t>17</a:t>
            </a:fld>
          </a:p>
        </p:txBody>
      </p:sp>
      <p:pic>
        <p:nvPicPr>
          <p:cNvPr id="6" name="!!figure" descr="Figure 10.2. The naive Bayes assumption drawn as a network: the class causes each attribute, and the attributes do not influence each other once the class is know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53310"/>
            <a:ext cx="10874959" cy="307793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naive Bayes assumption drawn as a network: the class causes each attribute, and the attributes do not influence each other once the class is known.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1451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Naive Bayes on the Sprint Data</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§10.4  ·  Handout p. 77     </a:t>
            </a:r>
            <a:fld id="{01CFAF05-1182-498E-A1B8-DA5C47959C67}"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35901"/>
          </a:xfrm>
          <a:prstGeom prst="roundRect">
            <a:avLst>
              <a:gd name="adj" fmla="val 210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359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Will a new sprint with </a:t>
            </a:r>
            <a:r>
              <a:rPr sz="1800" b="0" i="0">
                <a:solidFill>
                  <a:srgbClr val="1C252B"/>
                </a:solidFill>
                <a:latin typeface="Cambria"/>
              </a:rPr>
              <a:t>⟨</a:t>
            </a:r>
            <a:r>
              <a:rPr sz="1800" b="0" i="0">
                <a:solidFill>
                  <a:srgbClr val="1C252B"/>
                </a:solidFill>
                <a:latin typeface="Segoe UI"/>
              </a:rPr>
              <a:t>Changing requirements, Low pressure, High load, Many dependencies</a:t>
            </a:r>
            <a:r>
              <a:rPr sz="1800" b="0" i="0">
                <a:solidFill>
                  <a:srgbClr val="1C252B"/>
                </a:solidFill>
                <a:latin typeface="Cambria"/>
              </a:rPr>
              <a:t>⟩</a:t>
            </a:r>
            <a:r>
              <a:rPr sz="1800" b="0" i="0">
                <a:solidFill>
                  <a:srgbClr val="1C252B"/>
                </a:solidFill>
                <a:latin typeface="Segoe UI"/>
              </a:rPr>
              <a:t> meet its goal? Use the fourteen sprints of Chapter 9.</a:t>
            </a:r>
          </a:p>
        </p:txBody>
      </p:sp>
      <p:sp>
        <p:nvSpPr>
          <p:cNvPr id="10" name="body-1"/>
          <p:cNvSpPr txBox="1"/>
          <p:nvPr/>
        </p:nvSpPr>
        <p:spPr>
          <a:xfrm>
            <a:off x="1042416" y="2707995"/>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Priors:</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Yes</a:t>
            </a:r>
            <a:r>
              <a:rPr sz="1800" b="0" i="0">
                <a:solidFill>
                  <a:srgbClr val="1C252B"/>
                </a:solidFill>
                <a:latin typeface="Cambria"/>
              </a:rPr>
              <a:t>) = 9/14 = 0.643</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No</a:t>
            </a:r>
            <a:r>
              <a:rPr sz="1800" b="0" i="0">
                <a:solidFill>
                  <a:srgbClr val="1C252B"/>
                </a:solidFill>
                <a:latin typeface="Cambria"/>
              </a:rPr>
              <a:t>) = 5/14 = 0.357</a:t>
            </a:r>
            <a:r>
              <a:rPr sz="1800" b="0" i="0">
                <a:solidFill>
                  <a:srgbClr val="1C252B"/>
                </a:solidFill>
                <a:latin typeface="Segoe UI"/>
              </a:rPr>
              <a:t>.</a:t>
            </a:r>
          </a:p>
        </p:txBody>
      </p:sp>
      <p:sp>
        <p:nvSpPr>
          <p:cNvPr id="11" name="body-2"/>
          <p:cNvSpPr txBox="1"/>
          <p:nvPr/>
        </p:nvSpPr>
        <p:spPr>
          <a:xfrm>
            <a:off x="1042416" y="3119018"/>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Conditionals</a:t>
            </a:r>
            <a:r>
              <a:rPr sz="1800" b="0" i="0">
                <a:solidFill>
                  <a:srgbClr val="1C252B"/>
                </a:solidFill>
                <a:latin typeface="Segoe UI"/>
              </a:rPr>
              <a:t>, counted within each class:</a:t>
            </a:r>
          </a:p>
        </p:txBody>
      </p:sp>
      <p:sp>
        <p:nvSpPr>
          <p:cNvPr id="12" name="body-3"/>
          <p:cNvSpPr txBox="1"/>
          <p:nvPr/>
        </p:nvSpPr>
        <p:spPr>
          <a:xfrm>
            <a:off x="1042416" y="3530041"/>
            <a:ext cx="10234879" cy="696315"/>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0" i="0">
                <a:solidFill>
                  <a:srgbClr val="1C252B"/>
                </a:solidFill>
                <a:latin typeface="Segoe UI"/>
              </a:rPr>
              <a:t>Yes: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Changing</a:t>
            </a:r>
            <a:r>
              <a:rPr sz="1800" b="0" i="0">
                <a:solidFill>
                  <a:srgbClr val="1C252B"/>
                </a:solidFill>
                <a:latin typeface="Cambria"/>
              </a:rPr>
              <a:t> ∣ </a:t>
            </a:r>
            <a:r>
              <a:rPr sz="1800" b="0" i="0">
                <a:solidFill>
                  <a:srgbClr val="1C252B"/>
                </a:solidFill>
                <a:latin typeface="Segoe UI"/>
              </a:rPr>
              <a:t>Yes</a:t>
            </a:r>
            <a:r>
              <a:rPr sz="1800" b="0" i="0">
                <a:solidFill>
                  <a:srgbClr val="1C252B"/>
                </a:solidFill>
                <a:latin typeface="Cambria"/>
              </a:rPr>
              <a:t>) = 2/9</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Low</a:t>
            </a:r>
            <a:r>
              <a:rPr sz="1800" b="0" i="0">
                <a:solidFill>
                  <a:srgbClr val="1C252B"/>
                </a:solidFill>
                <a:latin typeface="Cambria"/>
              </a:rPr>
              <a:t> ∣ </a:t>
            </a:r>
            <a:r>
              <a:rPr sz="1800" b="0" i="0">
                <a:solidFill>
                  <a:srgbClr val="1C252B"/>
                </a:solidFill>
                <a:latin typeface="Segoe UI"/>
              </a:rPr>
              <a:t>Yes</a:t>
            </a:r>
            <a:r>
              <a:rPr sz="1800" b="0" i="0">
                <a:solidFill>
                  <a:srgbClr val="1C252B"/>
                </a:solidFill>
                <a:latin typeface="Cambria"/>
              </a:rPr>
              <a:t>) = 3/9</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High load</a:t>
            </a:r>
            <a:r>
              <a:rPr sz="1800" b="0" i="0">
                <a:solidFill>
                  <a:srgbClr val="1C252B"/>
                </a:solidFill>
                <a:latin typeface="Cambria"/>
              </a:rPr>
              <a:t> ∣ </a:t>
            </a:r>
            <a:r>
              <a:rPr sz="1800" b="0" i="0">
                <a:solidFill>
                  <a:srgbClr val="1C252B"/>
                </a:solidFill>
                <a:latin typeface="Segoe UI"/>
              </a:rPr>
              <a:t>Yes</a:t>
            </a:r>
            <a:r>
              <a:rPr sz="1800" b="0" i="0">
                <a:solidFill>
                  <a:srgbClr val="1C252B"/>
                </a:solidFill>
                <a:latin typeface="Cambria"/>
              </a:rPr>
              <a:t>) = 3/9</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Many</a:t>
            </a:r>
            <a:r>
              <a:rPr sz="1800" b="0" i="0">
                <a:solidFill>
                  <a:srgbClr val="1C252B"/>
                </a:solidFill>
                <a:latin typeface="Cambria"/>
              </a:rPr>
              <a:t> ∣ </a:t>
            </a:r>
            <a:r>
              <a:rPr sz="1800" b="0" i="0">
                <a:solidFill>
                  <a:srgbClr val="1C252B"/>
                </a:solidFill>
                <a:latin typeface="Segoe UI"/>
              </a:rPr>
              <a:t>Yes</a:t>
            </a:r>
            <a:r>
              <a:rPr sz="1800" b="0" i="0">
                <a:solidFill>
                  <a:srgbClr val="1C252B"/>
                </a:solidFill>
                <a:latin typeface="Cambria"/>
              </a:rPr>
              <a:t>) = 3/9</a:t>
            </a:r>
            <a:r>
              <a:rPr sz="1800" b="0" i="0">
                <a:solidFill>
                  <a:srgbClr val="1C252B"/>
                </a:solidFill>
                <a:latin typeface="Segoe UI"/>
              </a:rPr>
              <a:t>.</a:t>
            </a:r>
          </a:p>
          <a:p>
            <a:pPr algn="l" marL="201268" indent="-201268">
              <a:lnSpc>
                <a:spcPct val="104000"/>
              </a:lnSpc>
              <a:spcBef>
                <a:spcPts val="0"/>
              </a:spcBef>
              <a:spcAft>
                <a:spcPts val="0"/>
              </a:spcAft>
            </a:pPr>
            <a:r>
              <a:rPr sz="1800" b="1">
                <a:solidFill>
                  <a:srgbClr val="7D6608"/>
                </a:solidFill>
                <a:latin typeface="Segoe UI"/>
              </a:rPr>
              <a:t>•	</a:t>
            </a:r>
            <a:r>
              <a:rPr sz="1800" b="0" i="0">
                <a:solidFill>
                  <a:srgbClr val="1C252B"/>
                </a:solidFill>
                <a:latin typeface="Segoe UI"/>
              </a:rPr>
              <a:t>No: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Changing</a:t>
            </a:r>
            <a:r>
              <a:rPr sz="1800" b="0" i="0">
                <a:solidFill>
                  <a:srgbClr val="1C252B"/>
                </a:solidFill>
                <a:latin typeface="Cambria"/>
              </a:rPr>
              <a:t> ∣ </a:t>
            </a:r>
            <a:r>
              <a:rPr sz="1800" b="0" i="0">
                <a:solidFill>
                  <a:srgbClr val="1C252B"/>
                </a:solidFill>
                <a:latin typeface="Segoe UI"/>
              </a:rPr>
              <a:t>No</a:t>
            </a:r>
            <a:r>
              <a:rPr sz="1800" b="0" i="0">
                <a:solidFill>
                  <a:srgbClr val="1C252B"/>
                </a:solidFill>
                <a:latin typeface="Cambria"/>
              </a:rPr>
              <a:t>) = 3/5</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Low</a:t>
            </a:r>
            <a:r>
              <a:rPr sz="1800" b="0" i="0">
                <a:solidFill>
                  <a:srgbClr val="1C252B"/>
                </a:solidFill>
                <a:latin typeface="Cambria"/>
              </a:rPr>
              <a:t> ∣ </a:t>
            </a:r>
            <a:r>
              <a:rPr sz="1800" b="0" i="0">
                <a:solidFill>
                  <a:srgbClr val="1C252B"/>
                </a:solidFill>
                <a:latin typeface="Segoe UI"/>
              </a:rPr>
              <a:t>No</a:t>
            </a:r>
            <a:r>
              <a:rPr sz="1800" b="0" i="0">
                <a:solidFill>
                  <a:srgbClr val="1C252B"/>
                </a:solidFill>
                <a:latin typeface="Cambria"/>
              </a:rPr>
              <a:t>) = 1/5</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High load</a:t>
            </a:r>
            <a:r>
              <a:rPr sz="1800" b="0" i="0">
                <a:solidFill>
                  <a:srgbClr val="1C252B"/>
                </a:solidFill>
                <a:latin typeface="Cambria"/>
              </a:rPr>
              <a:t> ∣ </a:t>
            </a:r>
            <a:r>
              <a:rPr sz="1800" b="0" i="0">
                <a:solidFill>
                  <a:srgbClr val="1C252B"/>
                </a:solidFill>
                <a:latin typeface="Segoe UI"/>
              </a:rPr>
              <a:t>No</a:t>
            </a:r>
            <a:r>
              <a:rPr sz="1800" b="0" i="0">
                <a:solidFill>
                  <a:srgbClr val="1C252B"/>
                </a:solidFill>
                <a:latin typeface="Cambria"/>
              </a:rPr>
              <a:t>) = 4/5</a:t>
            </a:r>
            <a:r>
              <a:rPr sz="1800" b="0" i="0">
                <a:solidFill>
                  <a:srgbClr val="1C252B"/>
                </a:solidFill>
                <a:latin typeface="Segoe UI"/>
              </a:rPr>
              <a:t>,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Many</a:t>
            </a:r>
            <a:r>
              <a:rPr sz="1800" b="0" i="0">
                <a:solidFill>
                  <a:srgbClr val="1C252B"/>
                </a:solidFill>
                <a:latin typeface="Cambria"/>
              </a:rPr>
              <a:t> ∣ </a:t>
            </a:r>
            <a:r>
              <a:rPr sz="1800" b="0" i="0">
                <a:solidFill>
                  <a:srgbClr val="1C252B"/>
                </a:solidFill>
                <a:latin typeface="Segoe UI"/>
              </a:rPr>
              <a:t>No</a:t>
            </a:r>
            <a:r>
              <a:rPr sz="1800" b="0" i="0">
                <a:solidFill>
                  <a:srgbClr val="1C252B"/>
                </a:solidFill>
                <a:latin typeface="Cambria"/>
              </a:rPr>
              <a:t>) = 3/5</a:t>
            </a:r>
            <a:r>
              <a:rPr sz="1800" b="0" i="0">
                <a:solidFill>
                  <a:srgbClr val="1C252B"/>
                </a:solidFill>
                <a:latin typeface="Segoe UI"/>
              </a:rPr>
              <a:t>.</a:t>
            </a:r>
          </a:p>
        </p:txBody>
      </p:sp>
      <p:sp>
        <p:nvSpPr>
          <p:cNvPr id="13" name="body-4"/>
          <p:cNvSpPr txBox="1"/>
          <p:nvPr/>
        </p:nvSpPr>
        <p:spPr>
          <a:xfrm>
            <a:off x="1042416" y="4306366"/>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Scores:</a:t>
            </a:r>
          </a:p>
        </p:txBody>
      </p:sp>
      <p:sp>
        <p:nvSpPr>
          <p:cNvPr id="14" name="body-4bar">
            <a:extLst>
              <a:ext uri="{C183D7F6-B498-43B3-948B-1728B52AA6E4}">
                <adec:decorative xmlns:adec="http://schemas.microsoft.com/office/drawing/2017/decorative" val="1"/>
              </a:ext>
            </a:extLst>
          </p:cNvPr>
          <p:cNvSpPr/>
          <p:nvPr/>
        </p:nvSpPr>
        <p:spPr>
          <a:xfrm>
            <a:off x="841248" y="4324654"/>
            <a:ext cx="54864" cy="26700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text{Yes: } 0.643 \times \tfrac{2}{9} \times \tfrac{3}{9} \times \tfrac{3}{9} \times \tfrac{3}{9} = 0.0053 \qquad \text{No: } 0.357 \times \tfrac{3}{5} \times \tfrac{1}{5} \times \tfrac{4}{5} \times \tfrac{3}{5} = 0.0206"/>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717389"/>
            <a:ext cx="10234879" cy="385236"/>
          </a:xfrm>
          <a:prstGeom prst="rect">
            <a:avLst/>
          </a:prstGeom>
        </p:spPr>
      </p:pic>
      <p:sp>
        <p:nvSpPr>
          <p:cNvPr id="16" name="body-6"/>
          <p:cNvSpPr txBox="1"/>
          <p:nvPr/>
        </p:nvSpPr>
        <p:spPr>
          <a:xfrm>
            <a:off x="1042416" y="5228356"/>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Prediction: No.</a:t>
            </a:r>
            <a:r>
              <a:rPr sz="1800" b="0" i="0">
                <a:solidFill>
                  <a:srgbClr val="1C252B"/>
                </a:solidFill>
                <a:latin typeface="Segoe UI"/>
              </a:rPr>
              <a:t> Normalised, </a:t>
            </a:r>
            <a:r>
              <a:rPr sz="1800" b="0" i="1">
                <a:solidFill>
                  <a:srgbClr val="1C252B"/>
                </a:solidFill>
                <a:latin typeface="Cambria"/>
              </a:rPr>
              <a:t>P</a:t>
            </a:r>
            <a:r>
              <a:rPr sz="1800" b="0" i="0">
                <a:solidFill>
                  <a:srgbClr val="1C252B"/>
                </a:solidFill>
                <a:latin typeface="Cambria"/>
              </a:rPr>
              <a:t>(</a:t>
            </a:r>
            <a:r>
              <a:rPr sz="1800" b="0" i="0">
                <a:solidFill>
                  <a:srgbClr val="1C252B"/>
                </a:solidFill>
                <a:latin typeface="Segoe UI"/>
              </a:rPr>
              <a:t>No</a:t>
            </a:r>
            <a:r>
              <a:rPr sz="1800" b="0" i="0">
                <a:solidFill>
                  <a:srgbClr val="1C252B"/>
                </a:solidFill>
                <a:latin typeface="Cambria"/>
              </a:rPr>
              <a:t> ∣ </a:t>
            </a:r>
            <a:r>
              <a:rPr sz="1800" b="0" i="1">
                <a:solidFill>
                  <a:srgbClr val="1C252B"/>
                </a:solidFill>
                <a:latin typeface="Cambria"/>
              </a:rPr>
              <a:t>x</a:t>
            </a:r>
            <a:r>
              <a:rPr sz="1800" b="0" i="0">
                <a:solidFill>
                  <a:srgbClr val="1C252B"/>
                </a:solidFill>
                <a:latin typeface="Cambria"/>
              </a:rPr>
              <a:t>) = 0.0206/(0.0206 + 0.0053) = </a:t>
            </a:r>
            <a:r>
              <a:rPr sz="1800" b="1" i="0">
                <a:solidFill>
                  <a:srgbClr val="1C252B"/>
                </a:solidFill>
                <a:latin typeface="Cambria"/>
              </a:rPr>
              <a:t>0.795</a:t>
            </a:r>
            <a:r>
              <a:rPr sz="1800" b="0" i="0">
                <a:solidFill>
                  <a:srgbClr val="1C252B"/>
                </a:solidFill>
                <a:latin typeface="Segoe UI"/>
              </a:rPr>
              <a:t>. (The decision tree of Chapter 9 agrees: changing requirements and a high load means the goal is missed.)</a:t>
            </a:r>
          </a:p>
        </p:txBody>
      </p:sp>
      <p:sp>
        <p:nvSpPr>
          <p:cNvPr id="17" name="body-6bar">
            <a:extLst>
              <a:ext uri="{C183D7F6-B498-43B3-948B-1728B52AA6E4}">
                <adec:decorative xmlns:adec="http://schemas.microsoft.com/office/drawing/2017/decorative" val="1"/>
              </a:ext>
            </a:extLst>
          </p:cNvPr>
          <p:cNvSpPr/>
          <p:nvPr/>
        </p:nvSpPr>
        <p:spPr>
          <a:xfrm>
            <a:off x="841248" y="5246644"/>
            <a:ext cx="54864" cy="55229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fill">
            <a:extLst>
              <a:ext uri="{C183D7F6-B498-43B3-948B-1728B52AA6E4}">
                <adec:decorative xmlns:adec="http://schemas.microsoft.com/office/drawing/2017/decorative" val="1"/>
              </a:ext>
            </a:extLst>
          </p:cNvPr>
          <p:cNvSpPr/>
          <p:nvPr/>
        </p:nvSpPr>
        <p:spPr>
          <a:xfrm>
            <a:off x="0" y="0"/>
            <a:ext cx="43890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35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Effect transition="in" filter="fade">
                                      <p:cBhvr>
                                        <p:cTn id="23" dur="350"/>
                                        <p:tgtEl>
                                          <p:spTgt spid="12">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right)">
                                      <p:cBhvr>
                                        <p:cTn id="41" dur="42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Zero-Frequency Problem and Laplace Smoothing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Learning as Updating Belief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Bayes’ Theorem for Hypotheses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The Bayes Optimal Classifier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Naive Bayes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10.5   The Zero-Frequency Problem and Laplace Smoothing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10.6   Continuous Features: Gaussian Naive Bayes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10.7   Text Classification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§10.5     </a:t>
            </a:r>
            <a:fld id="{9F44A446-7A70-4B4D-8944-D7DB09088CE8}" type="slidenum">
              <a:rPr lang="en-GB" sz="1000">
                <a:solidFill>
                  <a:srgbClr val="8795A1"/>
                </a:solidFill>
                <a:latin typeface="Segoe UI"/>
              </a:rPr>
              <a:t>19</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63284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Laplace Smoothing and the m-Estimate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78     </a:t>
            </a:r>
            <a:fld id="{3FB13176-A85A-4FE0-B1B7-21D7C1DE8EB4}"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8935"/>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893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Add one imaginary example of every value:</a:t>
            </a:r>
          </a:p>
        </p:txBody>
      </p:sp>
      <p:pic>
        <p:nvPicPr>
          <p:cNvPr id="10" name="body-1" descr="P(a_j = v \mid c) = \frac{n_{v,c} + 1}{n_c + k_j}"/>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772210"/>
          </a:xfrm>
          <a:prstGeom prst="rect">
            <a:avLst/>
          </a:prstGeom>
        </p:spPr>
      </p:pic>
      <p:sp>
        <p:nvSpPr>
          <p:cNvPr id="11" name="body-2"/>
          <p:cNvSpPr txBox="1"/>
          <p:nvPr/>
        </p:nvSpPr>
        <p:spPr>
          <a:xfrm>
            <a:off x="1060704" y="3506317"/>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where </a:t>
            </a:r>
            <a:r>
              <a:rPr sz="2300" b="0" i="1">
                <a:solidFill>
                  <a:srgbClr val="1C252B"/>
                </a:solidFill>
                <a:latin typeface="Cambria"/>
              </a:rPr>
              <a:t>n</a:t>
            </a:r>
            <a:r>
              <a:rPr sz="2300" b="0" i="1" baseline="-25000">
                <a:solidFill>
                  <a:srgbClr val="1C252B"/>
                </a:solidFill>
                <a:latin typeface="Cambria"/>
              </a:rPr>
              <a:t>v</a:t>
            </a:r>
            <a:r>
              <a:rPr sz="2300" b="0" i="0" baseline="-25000">
                <a:solidFill>
                  <a:srgbClr val="1C252B"/>
                </a:solidFill>
                <a:latin typeface="Cambria"/>
              </a:rPr>
              <a:t>,</a:t>
            </a:r>
            <a:r>
              <a:rPr sz="2300" b="0" i="1" baseline="-25000">
                <a:solidFill>
                  <a:srgbClr val="1C252B"/>
                </a:solidFill>
                <a:latin typeface="Cambria"/>
              </a:rPr>
              <a:t>c</a:t>
            </a:r>
            <a:r>
              <a:rPr sz="2300" b="0" i="0">
                <a:solidFill>
                  <a:srgbClr val="1C252B"/>
                </a:solidFill>
                <a:latin typeface="Segoe UI"/>
              </a:rPr>
              <a:t> counts class-</a:t>
            </a:r>
            <a:r>
              <a:rPr sz="2300" b="0" i="1">
                <a:solidFill>
                  <a:srgbClr val="1C252B"/>
                </a:solidFill>
                <a:latin typeface="Cambria"/>
              </a:rPr>
              <a:t>c</a:t>
            </a:r>
            <a:r>
              <a:rPr sz="2300" b="0" i="0">
                <a:solidFill>
                  <a:srgbClr val="1C252B"/>
                </a:solidFill>
                <a:latin typeface="Segoe UI"/>
              </a:rPr>
              <a:t> examples with that value, </a:t>
            </a:r>
            <a:r>
              <a:rPr sz="2300" b="0" i="1">
                <a:solidFill>
                  <a:srgbClr val="1C252B"/>
                </a:solidFill>
                <a:latin typeface="Cambria"/>
              </a:rPr>
              <a:t>n</a:t>
            </a:r>
            <a:r>
              <a:rPr sz="2300" b="0" i="1" baseline="-25000">
                <a:solidFill>
                  <a:srgbClr val="1C252B"/>
                </a:solidFill>
                <a:latin typeface="Cambria"/>
              </a:rPr>
              <a:t>c</a:t>
            </a:r>
            <a:r>
              <a:rPr sz="2300" b="0" i="0">
                <a:solidFill>
                  <a:srgbClr val="1C252B"/>
                </a:solidFill>
                <a:latin typeface="Segoe UI"/>
              </a:rPr>
              <a:t> counts class-</a:t>
            </a:r>
            <a:r>
              <a:rPr sz="2300" b="0" i="1">
                <a:solidFill>
                  <a:srgbClr val="1C252B"/>
                </a:solidFill>
                <a:latin typeface="Cambria"/>
              </a:rPr>
              <a:t>c</a:t>
            </a:r>
            <a:r>
              <a:rPr sz="2300" b="0" i="0">
                <a:solidFill>
                  <a:srgbClr val="1C252B"/>
                </a:solidFill>
                <a:latin typeface="Segoe UI"/>
              </a:rPr>
              <a:t> examples, and </a:t>
            </a:r>
            <a:r>
              <a:rPr sz="2300" b="0" i="1">
                <a:solidFill>
                  <a:srgbClr val="1C252B"/>
                </a:solidFill>
                <a:latin typeface="Cambria"/>
              </a:rPr>
              <a:t>k</a:t>
            </a:r>
            <a:r>
              <a:rPr sz="2300" b="0" i="1" baseline="-25000">
                <a:solidFill>
                  <a:srgbClr val="1C252B"/>
                </a:solidFill>
                <a:latin typeface="Cambria"/>
              </a:rPr>
              <a:t>j</a:t>
            </a:r>
            <a:r>
              <a:rPr sz="2300" b="0" i="0">
                <a:solidFill>
                  <a:srgbClr val="1C252B"/>
                </a:solidFill>
                <a:latin typeface="Segoe UI"/>
              </a:rPr>
              <a:t> is the number of values attribute </a:t>
            </a:r>
            <a:r>
              <a:rPr sz="2300" b="0" i="1">
                <a:solidFill>
                  <a:srgbClr val="1C252B"/>
                </a:solidFill>
                <a:latin typeface="Cambria"/>
              </a:rPr>
              <a:t>j</a:t>
            </a:r>
            <a:r>
              <a:rPr sz="2300" b="0" i="0">
                <a:solidFill>
                  <a:srgbClr val="1C252B"/>
                </a:solidFill>
                <a:latin typeface="Segoe UI"/>
              </a:rPr>
              <a:t> can take.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Smoothing Rescues the Frozen Sprint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§10.5  ·  Handout p. 78     </a:t>
            </a:r>
            <a:fld id="{7737CF04-D6EC-4289-A8F5-25A12E9DCBC9}"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3770"/>
          </a:xfrm>
          <a:prstGeom prst="roundRect">
            <a:avLst>
              <a:gd name="adj" fmla="val 21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377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With Laplace smoothing (Requirements and Pressure have 3 values, Load and Dependencies 2):</a:t>
            </a:r>
          </a:p>
        </p:txBody>
      </p:sp>
      <p:sp>
        <p:nvSpPr>
          <p:cNvPr id="10" name="body-1"/>
          <p:cNvSpPr txBox="1"/>
          <p:nvPr/>
        </p:nvSpPr>
        <p:spPr>
          <a:xfrm>
            <a:off x="1042416" y="2824048"/>
            <a:ext cx="10234879" cy="147043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7D6608"/>
                </a:solidFill>
                <a:latin typeface="Segoe UI"/>
              </a:rPr>
              <a:t>•	</a:t>
            </a:r>
            <a:r>
              <a:rPr sz="2100" b="0" i="0">
                <a:solidFill>
                  <a:srgbClr val="1C252B"/>
                </a:solidFill>
                <a:latin typeface="Segoe UI"/>
              </a:rPr>
              <a:t>Yes: </a:t>
            </a:r>
            <a:r>
              <a:rPr sz="2100" b="0" i="0">
                <a:solidFill>
                  <a:srgbClr val="1C252B"/>
                </a:solidFill>
                <a:latin typeface="Cambria"/>
              </a:rPr>
              <a:t>0.643 × (4+1)/(9+3) × (2+1)/(9+3) × (3+1)/(9+2) × (3+1)/(9+2) = 0.643 × 0.417 × 0.250 × 0.364 × 0.364 = 0.0089</a:t>
            </a:r>
          </a:p>
          <a:p>
            <a:pPr algn="l" marL="234813" indent="-234813">
              <a:lnSpc>
                <a:spcPct val="104000"/>
              </a:lnSpc>
              <a:spcBef>
                <a:spcPts val="0"/>
              </a:spcBef>
              <a:spcAft>
                <a:spcPts val="0"/>
              </a:spcAft>
            </a:pPr>
            <a:r>
              <a:rPr sz="2100" b="1">
                <a:solidFill>
                  <a:srgbClr val="7D6608"/>
                </a:solidFill>
                <a:latin typeface="Segoe UI"/>
              </a:rPr>
              <a:t>•	</a:t>
            </a:r>
            <a:r>
              <a:rPr sz="2100" b="0" i="0">
                <a:solidFill>
                  <a:srgbClr val="1C252B"/>
                </a:solidFill>
                <a:latin typeface="Segoe UI"/>
              </a:rPr>
              <a:t>No: </a:t>
            </a:r>
            <a:r>
              <a:rPr sz="2100" b="0" i="0">
                <a:solidFill>
                  <a:srgbClr val="1C252B"/>
                </a:solidFill>
                <a:latin typeface="Cambria"/>
              </a:rPr>
              <a:t>0.357 × (0+1)/(5+3) × (2+1)/(5+3) × (4+1)/(5+2) × (3+1)/(5+2) = 0.357 × 0.125 × 0.375 × 0.714 × 0.571 = 0.0068</a:t>
            </a:r>
          </a:p>
        </p:txBody>
      </p:sp>
      <p:sp>
        <p:nvSpPr>
          <p:cNvPr id="11" name="body-2"/>
          <p:cNvSpPr txBox="1"/>
          <p:nvPr/>
        </p:nvSpPr>
        <p:spPr>
          <a:xfrm>
            <a:off x="1042416" y="4395444"/>
            <a:ext cx="10234879"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Cambria"/>
              </a:rPr>
              <a:t>P</a:t>
            </a:r>
            <a:r>
              <a:rPr sz="2100" b="0" i="0">
                <a:solidFill>
                  <a:srgbClr val="1C252B"/>
                </a:solidFill>
                <a:latin typeface="Cambria"/>
              </a:rPr>
              <a:t>(</a:t>
            </a:r>
            <a:r>
              <a:rPr sz="2100" b="0" i="0">
                <a:solidFill>
                  <a:srgbClr val="1C252B"/>
                </a:solidFill>
                <a:latin typeface="Segoe UI"/>
              </a:rPr>
              <a:t>Yes</a:t>
            </a:r>
            <a:r>
              <a:rPr sz="2100" b="0" i="0">
                <a:solidFill>
                  <a:srgbClr val="1C252B"/>
                </a:solidFill>
                <a:latin typeface="Cambria"/>
              </a:rPr>
              <a:t> ∣ </a:t>
            </a:r>
            <a:r>
              <a:rPr sz="2100" b="0" i="1">
                <a:solidFill>
                  <a:srgbClr val="1C252B"/>
                </a:solidFill>
                <a:latin typeface="Cambria"/>
              </a:rPr>
              <a:t>x</a:t>
            </a:r>
            <a:r>
              <a:rPr sz="2100" b="0" i="0">
                <a:solidFill>
                  <a:srgbClr val="1C252B"/>
                </a:solidFill>
                <a:latin typeface="Cambria"/>
              </a:rPr>
              <a:t>) = 0.0089/(0.0089 + 0.0068) = </a:t>
            </a:r>
            <a:r>
              <a:rPr sz="2100" b="1" i="0">
                <a:solidFill>
                  <a:srgbClr val="1C252B"/>
                </a:solidFill>
                <a:latin typeface="Cambria"/>
              </a:rPr>
              <a:t>0.56</a:t>
            </a:r>
            <a:r>
              <a:rPr sz="2100" b="0" i="0">
                <a:solidFill>
                  <a:srgbClr val="1C252B"/>
                </a:solidFill>
                <a:latin typeface="Segoe UI"/>
              </a:rPr>
              <a:t>. Without smoothing the answer was “Yes with certainty”; with it, a narrow Yes that reflects the conflict between Frozen requirements (always Yes in training) and a high load with many dependencies (usually No).</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2051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Continuous Features: Gaussian Naive Bayes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6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Learning as Updating Belief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Bayes’ Theorem for Hypotheses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The Bayes Optimal Classifier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Naive Bayes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The Zero-Frequency Problem and Laplace Smoothing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10.6   Continuous Features: Gaussian Naive Bayes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10.7   Text Classification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§10.6     </a:t>
            </a:r>
            <a:fld id="{68646560-BA72-47A4-9259-C10ACC03FB87}" type="slidenum">
              <a:rPr lang="en-GB" sz="1000">
                <a:solidFill>
                  <a:srgbClr val="8795A1"/>
                </a:solidFill>
                <a:latin typeface="Segoe UI"/>
              </a:rPr>
              <a:t>22</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3643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Continuous Features: Gaussian Naive Bayes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§10.6  ·  Handout p. 79     </a:t>
            </a:r>
            <a:fld id="{C6D3EA04-22B2-49BB-9CF8-3C0B0D2783EF}"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69366"/>
          </a:xfrm>
          <a:prstGeom prst="roundRect">
            <a:avLst>
              <a:gd name="adj" fmla="val 2885"/>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69366"/>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a numeric attribute, counting values is useless — every value is new. Instead model each attribute within each class as a Gaussian, with the class’s own mean </a:t>
            </a:r>
            <a:r>
              <a:rPr sz="2300" b="0" i="0">
                <a:solidFill>
                  <a:srgbClr val="1C252B"/>
                </a:solidFill>
                <a:latin typeface="Cambria"/>
              </a:rPr>
              <a:t>μ</a:t>
            </a:r>
            <a:r>
              <a:rPr sz="2300" b="0" i="1" baseline="-25000">
                <a:solidFill>
                  <a:srgbClr val="1C252B"/>
                </a:solidFill>
                <a:latin typeface="Cambria"/>
              </a:rPr>
              <a:t>j</a:t>
            </a:r>
            <a:r>
              <a:rPr sz="2300" b="0" i="0" baseline="-25000">
                <a:solidFill>
                  <a:srgbClr val="1C252B"/>
                </a:solidFill>
                <a:latin typeface="Cambria"/>
              </a:rPr>
              <a:t>,</a:t>
            </a:r>
            <a:r>
              <a:rPr sz="2300" b="0" i="1" baseline="-25000">
                <a:solidFill>
                  <a:srgbClr val="1C252B"/>
                </a:solidFill>
                <a:latin typeface="Cambria"/>
              </a:rPr>
              <a:t>c</a:t>
            </a:r>
            <a:r>
              <a:rPr sz="2300" b="0" i="0">
                <a:solidFill>
                  <a:srgbClr val="1C252B"/>
                </a:solidFill>
                <a:latin typeface="Segoe UI"/>
              </a:rPr>
              <a:t> and standard deviation </a:t>
            </a:r>
            <a:r>
              <a:rPr sz="2300" b="0" i="0">
                <a:solidFill>
                  <a:srgbClr val="1C252B"/>
                </a:solidFill>
                <a:latin typeface="Cambria"/>
              </a:rPr>
              <a:t>σ</a:t>
            </a:r>
            <a:r>
              <a:rPr sz="2300" b="0" i="1" baseline="-25000">
                <a:solidFill>
                  <a:srgbClr val="1C252B"/>
                </a:solidFill>
                <a:latin typeface="Cambria"/>
              </a:rPr>
              <a:t>j</a:t>
            </a:r>
            <a:r>
              <a:rPr sz="2300" b="0" i="0" baseline="-25000">
                <a:solidFill>
                  <a:srgbClr val="1C252B"/>
                </a:solidFill>
                <a:latin typeface="Cambria"/>
              </a:rPr>
              <a:t>,</a:t>
            </a:r>
            <a:r>
              <a:rPr sz="2300" b="0" i="1" baseline="-25000">
                <a:solidFill>
                  <a:srgbClr val="1C252B"/>
                </a:solidFill>
                <a:latin typeface="Cambria"/>
              </a:rPr>
              <a:t>c</a:t>
            </a:r>
            <a:r>
              <a:rPr sz="2300" b="0" i="0">
                <a:solidFill>
                  <a:srgbClr val="1C252B"/>
                </a:solidFill>
                <a:latin typeface="Segoe UI"/>
              </a:rPr>
              <a:t> estimated from the training data, and use the density as the likelihood:</a:t>
            </a:r>
          </a:p>
        </p:txBody>
      </p:sp>
      <p:pic>
        <p:nvPicPr>
          <p:cNvPr id="10" name="body-1" descr="P(a_j \mid c) \;\propto\; \frac{1}{\sqrt{2\pi}\,\sigma_{j,c}} \exp\!\left(-\frac{(a_j - \mu_{j,c})^2}{2\sigma_{j,c}^2}\righ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667074"/>
            <a:ext cx="10161727" cy="92875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6081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Feature, Two Classes, a Strong Prior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§10.6  ·  Handout p. 79     </a:t>
            </a:r>
            <a:fld id="{D2D1F0C8-CE97-445F-B682-90C7EBCB5B20}"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5541"/>
          </a:xfrm>
          <a:prstGeom prst="roundRect">
            <a:avLst>
              <a:gd name="adj" fmla="val 217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554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Modules that pass QA see 500 lines of code changed per week on average (sd 100); modules that go on to fail QA see 900 (sd 150); 5% of modules fail. This week a module had 750 lines changed.</a:t>
            </a:r>
          </a:p>
        </p:txBody>
      </p:sp>
      <p:sp>
        <p:nvSpPr>
          <p:cNvPr id="10" name="body-1m"/>
          <p:cNvSpPr txBox="1"/>
          <p:nvPr/>
        </p:nvSpPr>
        <p:spPr>
          <a:xfrm>
            <a:off x="1042416" y="2707995"/>
            <a:ext cx="201268"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D6608"/>
                </a:solidFill>
                <a:latin typeface="Segoe UI"/>
              </a:rPr>
              <a:t>•</a:t>
            </a:r>
          </a:p>
        </p:txBody>
      </p:sp>
      <p:pic>
        <p:nvPicPr>
          <p:cNvPr id="11" name="body-1" descr="Pass: density 1/100√(2π)e−(250)2/(2 · 1002) = 0.00399 × e−3.125 = 0.00017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43684" y="2707995"/>
            <a:ext cx="10033619" cy="531174"/>
          </a:xfrm>
          <a:prstGeom prst="rect">
            <a:avLst/>
          </a:prstGeom>
        </p:spPr>
      </p:pic>
      <p:sp>
        <p:nvSpPr>
          <p:cNvPr id="12" name="body-2m"/>
          <p:cNvSpPr txBox="1"/>
          <p:nvPr/>
        </p:nvSpPr>
        <p:spPr>
          <a:xfrm>
            <a:off x="1042416" y="3364900"/>
            <a:ext cx="201268" cy="365760"/>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D6608"/>
                </a:solidFill>
                <a:latin typeface="Segoe UI"/>
              </a:rPr>
              <a:t>•</a:t>
            </a:r>
          </a:p>
        </p:txBody>
      </p:sp>
      <p:pic>
        <p:nvPicPr>
          <p:cNvPr id="13" name="body-2" descr="Fail: density 1/150√(2π)e−(150)2/(2 · 1502) = 0.00266 × e−0.5 = 0.0016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43684" y="3364900"/>
            <a:ext cx="10033619" cy="531174"/>
          </a:xfrm>
          <a:prstGeom prst="rect">
            <a:avLst/>
          </a:prstGeom>
        </p:spPr>
      </p:pic>
      <p:sp>
        <p:nvSpPr>
          <p:cNvPr id="14" name="body-3"/>
          <p:cNvSpPr txBox="1"/>
          <p:nvPr/>
        </p:nvSpPr>
        <p:spPr>
          <a:xfrm>
            <a:off x="1042416" y="4021805"/>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likelihood favours failure by </a:t>
            </a:r>
            <a:r>
              <a:rPr sz="1800" b="0" i="0">
                <a:solidFill>
                  <a:srgbClr val="1C252B"/>
                </a:solidFill>
                <a:latin typeface="Cambria"/>
              </a:rPr>
              <a:t>0.00161/0.000175 = 9.2</a:t>
            </a:r>
            <a:r>
              <a:rPr sz="1800" b="0" i="0">
                <a:solidFill>
                  <a:srgbClr val="1C252B"/>
                </a:solidFill>
                <a:latin typeface="Segoe UI"/>
              </a:rPr>
              <a:t> to 1. Now the priors:</a:t>
            </a:r>
          </a:p>
        </p:txBody>
      </p:sp>
      <p:pic>
        <p:nvPicPr>
          <p:cNvPr id="15" name="body-4" descr="P(\text{fail} \mid 750) = \frac{0.05 \times 0.00161}{0.05 \times 0.00161 + 0.95 \times 0.000175} = \frac{0.0000807}{0.000247} = \mathbf{0.33}"/>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4432828"/>
            <a:ext cx="10234879" cy="529437"/>
          </a:xfrm>
          <a:prstGeom prst="rect">
            <a:avLst/>
          </a:prstGeom>
        </p:spPr>
      </p:pic>
      <p:sp>
        <p:nvSpPr>
          <p:cNvPr id="16" name="body-5"/>
          <p:cNvSpPr txBox="1"/>
          <p:nvPr/>
        </p:nvSpPr>
        <p:spPr>
          <a:xfrm>
            <a:off x="1042416" y="5087995"/>
            <a:ext cx="10234879"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Nine-to-one evidence against nineteen-to-one prior odds leaves the module more likely to pass. Figure 10.3 shows the whole picture: the boundary is at 772 lines.</a:t>
            </a:r>
          </a:p>
        </p:txBody>
      </p:sp>
      <p:sp>
        <p:nvSpPr>
          <p:cNvPr id="3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pfill">
            <a:extLst>
              <a:ext uri="{C183D7F6-B498-43B3-948B-1728B52AA6E4}">
                <adec:decorative xmlns:adec="http://schemas.microsoft.com/office/drawing/2017/decorative" val="1"/>
              </a:ext>
            </a:extLst>
          </p:cNvPr>
          <p:cNvSpPr/>
          <p:nvPr/>
        </p:nvSpPr>
        <p:spPr>
          <a:xfrm>
            <a:off x="0" y="0"/>
            <a:ext cx="585201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2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2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right)">
                                      <p:cBhvr>
                                        <p:cTn id="29" dur="42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Continuous Features: Gaussian Naive Bayes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10.3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§10.6  ·  Handout p. 79     </a:t>
            </a:r>
            <a:fld id="{9D957C80-9B1F-4DD0-90FA-52CD762E4724}" type="slidenum">
              <a:rPr lang="en-GB" sz="1000">
                <a:solidFill>
                  <a:srgbClr val="8795A1"/>
                </a:solidFill>
                <a:latin typeface="Segoe UI"/>
              </a:rPr>
              <a:t>25</a:t>
            </a:fld>
          </a:p>
        </p:txBody>
      </p:sp>
      <p:pic>
        <p:nvPicPr>
          <p:cNvPr id="6" name="!!figure" descr="Figure 10.3. Left: the two class-conditional densities; at 750 lines the fail density is nine times higher. Right: after weighting by the 5% prior, the posterior crosses 0.5 only at 772 lines. The boundary sits beyond the midpoint of the means because the rare class needs more eviden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3832" y="1737360"/>
            <a:ext cx="8904029"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Left: the two class-conditional densities; at 750 lines the fail density is nine times higher. Right: after weighting by the 5% prior, the posterior crosses 0.5 only at 772 lines. The boundary sits beyond the midpoint of the means because the rare class needs more evidence.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Text Classification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7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10.7</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10.1   Learning as Updating Belief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10.2   Bayes’ Theorem for Hypotheses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10.3   The Bayes Optimal Classifier</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10.4   Naive Bayes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10.5   The Zero-Frequency Problem and Laplace Smoothing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10.6   Continuous Features: Gaussian Naive Bayes</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10.7   Text Classification</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§10.7     </a:t>
            </a:r>
            <a:fld id="{F8F363DD-50FD-4B1A-92AD-F64AD29AD376}" type="slidenum">
              <a:rPr lang="en-GB" sz="1000">
                <a:solidFill>
                  <a:srgbClr val="8795A1"/>
                </a:solidFill>
                <a:latin typeface="Segoe UI"/>
              </a:rPr>
              <a:t>26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3968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Text Classification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D4B6DC55-6059-4A05-8418-44D51F63F4D5}" type="slidenum">
              <a:rPr lang="en-GB" sz="1000">
                <a:solidFill>
                  <a:srgbClr val="8795A1"/>
                </a:solidFill>
                <a:latin typeface="Segoe UI"/>
              </a:rPr>
              <a:t>27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40968"/>
          </a:xfrm>
          <a:prstGeom prst="roundRect">
            <a:avLst>
              <a:gd name="adj" fmla="val 2736"/>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4096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Naive Bayes’s most famous success is text: routing tickets, labelling commit messages, spotting duplicate bug reports. A document is represented as a </a:t>
            </a:r>
            <a:r>
              <a:rPr sz="2300" b="1" i="0">
                <a:solidFill>
                  <a:srgbClr val="1A5276"/>
                </a:solidFill>
                <a:latin typeface="Segoe UI"/>
              </a:rPr>
              <a:t>bag of words</a:t>
            </a:r>
            <a:r>
              <a:rPr sz="2300" b="0" i="0">
                <a:solidFill>
                  <a:srgbClr val="1C252B"/>
                </a:solidFill>
                <a:latin typeface="Segoe UI"/>
              </a:rPr>
              <a:t> — the count of each vocabulary word, order ignored — and </a:t>
            </a:r>
            <a:r>
              <a:rPr sz="2300" b="1" i="0">
                <a:solidFill>
                  <a:srgbClr val="1A5276"/>
                </a:solidFill>
                <a:latin typeface="Segoe UI"/>
              </a:rPr>
              <a:t>multinomial naive Bayes</a:t>
            </a:r>
            <a:r>
              <a:rPr sz="2300" b="0" i="0">
                <a:solidFill>
                  <a:srgbClr val="1C252B"/>
                </a:solidFill>
                <a:latin typeface="Segoe UI"/>
              </a:rPr>
              <a:t> treats each word occurrence as an independent draw from a class-specific distribution over the vocabulary:</a:t>
            </a:r>
          </a:p>
        </p:txBody>
      </p:sp>
      <p:pic>
        <p:nvPicPr>
          <p:cNvPr id="10" name="body-1" descr="P(w \mid c) = \frac{\text{count}(w, c) + 1}{\text{total words in } c + |V|},"/>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4031615"/>
            <a:ext cx="10161727" cy="735817"/>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65835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Text Classification</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AA9EF188-BA88-4AD6-8D16-3FFEB794C531}"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14668"/>
          </a:xfrm>
          <a:prstGeom prst="roundRect">
            <a:avLst>
              <a:gd name="adj" fmla="val 6463"/>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1466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v_{NB} = \arg\max_c\Big[\log P(c) + \sum_{\text{words } w \text{ in doc}} \log P(w \mid c)\Bi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792876"/>
          </a:xfrm>
          <a:prstGeom prst="rect">
            <a:avLst/>
          </a:prstGeom>
        </p:spPr>
      </p:pic>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8273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Four-Word Ticket Router</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EF7436A3-094D-4855-B935-99BAFCD559F0}" type="slidenum">
              <a:rPr lang="en-GB" sz="1000">
                <a:solidFill>
                  <a:srgbClr val="8795A1"/>
                </a:solidFill>
                <a:latin typeface="Segoe UI"/>
              </a:rPr>
              <a:t>29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4174"/>
          </a:xfrm>
          <a:prstGeom prst="roundRect">
            <a:avLst>
              <a:gd name="adj" fmla="val 203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417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Training counts over a vocabulary of </a:t>
            </a:r>
            <a:r>
              <a:rPr sz="1600" b="0" i="0">
                <a:solidFill>
                  <a:srgbClr val="1C252B"/>
                </a:solidFill>
                <a:latin typeface="Cambria"/>
              </a:rPr>
              <a:t>|</a:t>
            </a:r>
            <a:r>
              <a:rPr sz="1600" b="0" i="1">
                <a:solidFill>
                  <a:srgbClr val="1C252B"/>
                </a:solidFill>
                <a:latin typeface="Cambria"/>
              </a:rPr>
              <a:t>V</a:t>
            </a:r>
            <a:r>
              <a:rPr sz="1600" b="0" i="0">
                <a:solidFill>
                  <a:srgbClr val="1C252B"/>
                </a:solidFill>
                <a:latin typeface="Cambria"/>
              </a:rPr>
              <a:t>| = 4</a:t>
            </a:r>
            <a:r>
              <a:rPr sz="1600" b="0" i="0">
                <a:solidFill>
                  <a:srgbClr val="1C252B"/>
                </a:solidFill>
                <a:latin typeface="Segoe UI"/>
              </a:rPr>
              <a:t> words, from bug reports and feature requests; both classes contain 40 words and are equally likely:</a:t>
            </a:r>
          </a:p>
        </p:txBody>
      </p:sp>
      <p:graphicFrame>
        <p:nvGraphicFramePr>
          <p:cNvPr id="10" name="body-1"/>
          <p:cNvGraphicFramePr>
            <a:graphicFrameLocks noGrp="1"/>
          </p:cNvGraphicFramePr>
          <p:nvPr/>
        </p:nvGraphicFramePr>
        <p:xfrm>
          <a:off x="1042416" y="2630627"/>
          <a:ext cx="3439195" cy="1033272"/>
        </p:xfrm>
        <a:graphic>
          <a:graphicData uri="http://schemas.openxmlformats.org/drawingml/2006/table">
            <a:tbl>
              <a:tblPr firstRow="0" bandRow="0" firstCol="0" lastRow="0" lastCol="0" bandCol="0">
                <a:tableStyleId>{2D5ABB26-0587-4C30-8999-92F81FD0307C}</a:tableStyleId>
              </a:tblPr>
              <a:tblGrid>
                <a:gridCol w="781580"/>
                <a:gridCol w="669964"/>
                <a:gridCol w="651092"/>
                <a:gridCol w="555113"/>
                <a:gridCol w="781446"/>
              </a:tblGrid>
              <a:tr h="344424">
                <a:tc>
                  <a:txBody>
                    <a:bodyPr wrap="square"/>
                    <a:lstStyle/>
                    <a:p>
                      <a:pPr algn="l"/>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crash</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error</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add</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option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0" i="0">
                          <a:solidFill>
                            <a:srgbClr val="1C252B"/>
                          </a:solidFill>
                          <a:latin typeface="Segoe UI"/>
                        </a:rPr>
                        <a:t>bug</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20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15</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2</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feature</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2</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18</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19</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1" name="body-2"/>
          <p:cNvSpPr txBox="1"/>
          <p:nvPr/>
        </p:nvSpPr>
        <p:spPr>
          <a:xfrm>
            <a:off x="1042416" y="3775659"/>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With smoothing, </a:t>
            </a:r>
            <a:r>
              <a:rPr sz="1600" b="0" i="1">
                <a:solidFill>
                  <a:srgbClr val="1C252B"/>
                </a:solidFill>
                <a:latin typeface="Cambria"/>
              </a:rPr>
              <a:t>P</a:t>
            </a:r>
            <a:r>
              <a:rPr sz="1600" b="0" i="0">
                <a:solidFill>
                  <a:srgbClr val="1C252B"/>
                </a:solidFill>
                <a:latin typeface="Cambria"/>
              </a:rPr>
              <a:t>(</a:t>
            </a:r>
            <a:r>
              <a:rPr sz="1600" b="0" i="0">
                <a:solidFill>
                  <a:srgbClr val="1C252B"/>
                </a:solidFill>
                <a:latin typeface="Segoe UI"/>
              </a:rPr>
              <a:t>crash</a:t>
            </a:r>
            <a:r>
              <a:rPr sz="1600" b="0" i="0">
                <a:solidFill>
                  <a:srgbClr val="1C252B"/>
                </a:solidFill>
                <a:latin typeface="Cambria"/>
              </a:rPr>
              <a:t> ∣ </a:t>
            </a:r>
            <a:r>
              <a:rPr sz="1600" b="0" i="0">
                <a:solidFill>
                  <a:srgbClr val="1C252B"/>
                </a:solidFill>
                <a:latin typeface="Segoe UI"/>
              </a:rPr>
              <a:t>bug</a:t>
            </a:r>
            <a:r>
              <a:rPr sz="1600" b="0" i="0">
                <a:solidFill>
                  <a:srgbClr val="1C252B"/>
                </a:solidFill>
                <a:latin typeface="Cambria"/>
              </a:rPr>
              <a:t>) = 21/44</a:t>
            </a:r>
            <a:r>
              <a:rPr sz="1600" b="0" i="0">
                <a:solidFill>
                  <a:srgbClr val="1C252B"/>
                </a:solidFill>
                <a:latin typeface="Segoe UI"/>
              </a:rPr>
              <a:t>, </a:t>
            </a:r>
            <a:r>
              <a:rPr sz="1600" b="0" i="1">
                <a:solidFill>
                  <a:srgbClr val="1C252B"/>
                </a:solidFill>
                <a:latin typeface="Cambria"/>
              </a:rPr>
              <a:t>P</a:t>
            </a:r>
            <a:r>
              <a:rPr sz="1600" b="0" i="0">
                <a:solidFill>
                  <a:srgbClr val="1C252B"/>
                </a:solidFill>
                <a:latin typeface="Cambria"/>
              </a:rPr>
              <a:t>(</a:t>
            </a:r>
            <a:r>
              <a:rPr sz="1600" b="0" i="0">
                <a:solidFill>
                  <a:srgbClr val="1C252B"/>
                </a:solidFill>
                <a:latin typeface="Segoe UI"/>
              </a:rPr>
              <a:t>add</a:t>
            </a:r>
            <a:r>
              <a:rPr sz="1600" b="0" i="0">
                <a:solidFill>
                  <a:srgbClr val="1C252B"/>
                </a:solidFill>
                <a:latin typeface="Cambria"/>
              </a:rPr>
              <a:t> ∣ </a:t>
            </a:r>
            <a:r>
              <a:rPr sz="1600" b="0" i="0">
                <a:solidFill>
                  <a:srgbClr val="1C252B"/>
                </a:solidFill>
                <a:latin typeface="Segoe UI"/>
              </a:rPr>
              <a:t>bug</a:t>
            </a:r>
            <a:r>
              <a:rPr sz="1600" b="0" i="0">
                <a:solidFill>
                  <a:srgbClr val="1C252B"/>
                </a:solidFill>
                <a:latin typeface="Cambria"/>
              </a:rPr>
              <a:t>) = 3/44</a:t>
            </a:r>
            <a:r>
              <a:rPr sz="1600" b="0" i="0">
                <a:solidFill>
                  <a:srgbClr val="1C252B"/>
                </a:solidFill>
                <a:latin typeface="Segoe UI"/>
              </a:rPr>
              <a:t>, </a:t>
            </a:r>
            <a:r>
              <a:rPr sz="1600" b="0" i="1">
                <a:solidFill>
                  <a:srgbClr val="1C252B"/>
                </a:solidFill>
                <a:latin typeface="Cambria"/>
              </a:rPr>
              <a:t>P</a:t>
            </a:r>
            <a:r>
              <a:rPr sz="1600" b="0" i="0">
                <a:solidFill>
                  <a:srgbClr val="1C252B"/>
                </a:solidFill>
                <a:latin typeface="Cambria"/>
              </a:rPr>
              <a:t>(</a:t>
            </a:r>
            <a:r>
              <a:rPr sz="1600" b="0" i="0">
                <a:solidFill>
                  <a:srgbClr val="1C252B"/>
                </a:solidFill>
                <a:latin typeface="Segoe UI"/>
              </a:rPr>
              <a:t>crash</a:t>
            </a:r>
            <a:r>
              <a:rPr sz="1600" b="0" i="0">
                <a:solidFill>
                  <a:srgbClr val="1C252B"/>
                </a:solidFill>
                <a:latin typeface="Cambria"/>
              </a:rPr>
              <a:t> ∣ </a:t>
            </a:r>
            <a:r>
              <a:rPr sz="1600" b="0" i="0">
                <a:solidFill>
                  <a:srgbClr val="1C252B"/>
                </a:solidFill>
                <a:latin typeface="Segoe UI"/>
              </a:rPr>
              <a:t>feature</a:t>
            </a:r>
            <a:r>
              <a:rPr sz="1600" b="0" i="0">
                <a:solidFill>
                  <a:srgbClr val="1C252B"/>
                </a:solidFill>
                <a:latin typeface="Cambria"/>
              </a:rPr>
              <a:t>) = 3/44</a:t>
            </a:r>
            <a:r>
              <a:rPr sz="1600" b="0" i="0">
                <a:solidFill>
                  <a:srgbClr val="1C252B"/>
                </a:solidFill>
                <a:latin typeface="Segoe UI"/>
              </a:rPr>
              <a:t>, </a:t>
            </a:r>
            <a:r>
              <a:rPr sz="1600" b="0" i="1">
                <a:solidFill>
                  <a:srgbClr val="1C252B"/>
                </a:solidFill>
                <a:latin typeface="Cambria"/>
              </a:rPr>
              <a:t>P</a:t>
            </a:r>
            <a:r>
              <a:rPr sz="1600" b="0" i="0">
                <a:solidFill>
                  <a:srgbClr val="1C252B"/>
                </a:solidFill>
                <a:latin typeface="Cambria"/>
              </a:rPr>
              <a:t>(</a:t>
            </a:r>
            <a:r>
              <a:rPr sz="1600" b="0" i="0">
                <a:solidFill>
                  <a:srgbClr val="1C252B"/>
                </a:solidFill>
                <a:latin typeface="Segoe UI"/>
              </a:rPr>
              <a:t>add</a:t>
            </a:r>
            <a:r>
              <a:rPr sz="1600" b="0" i="0">
                <a:solidFill>
                  <a:srgbClr val="1C252B"/>
                </a:solidFill>
                <a:latin typeface="Cambria"/>
              </a:rPr>
              <a:t> ∣ </a:t>
            </a:r>
            <a:r>
              <a:rPr sz="1600" b="0" i="0">
                <a:solidFill>
                  <a:srgbClr val="1C252B"/>
                </a:solidFill>
                <a:latin typeface="Segoe UI"/>
              </a:rPr>
              <a:t>feature</a:t>
            </a:r>
            <a:r>
              <a:rPr sz="1600" b="0" i="0">
                <a:solidFill>
                  <a:srgbClr val="1C252B"/>
                </a:solidFill>
                <a:latin typeface="Cambria"/>
              </a:rPr>
              <a:t>) = 19/44</a:t>
            </a:r>
            <a:r>
              <a:rPr sz="1600" b="0" i="0">
                <a:solidFill>
                  <a:srgbClr val="1C252B"/>
                </a:solidFill>
                <a:latin typeface="Segoe UI"/>
              </a:rPr>
              <a:t>.</a:t>
            </a:r>
          </a:p>
        </p:txBody>
      </p:sp>
      <p:sp>
        <p:nvSpPr>
          <p:cNvPr id="12" name="body-3"/>
          <p:cNvSpPr txBox="1"/>
          <p:nvPr/>
        </p:nvSpPr>
        <p:spPr>
          <a:xfrm>
            <a:off x="1042416" y="4141012"/>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Ticket:</a:t>
            </a:r>
            <a:r>
              <a:rPr sz="1600" b="0" i="0">
                <a:solidFill>
                  <a:srgbClr val="1C252B"/>
                </a:solidFill>
                <a:latin typeface="Segoe UI"/>
              </a:rPr>
              <a:t> “crash add crash”.</a:t>
            </a:r>
          </a:p>
        </p:txBody>
      </p:sp>
      <p:sp>
        <p:nvSpPr>
          <p:cNvPr id="13" name="body-3bar">
            <a:extLst>
              <a:ext uri="{C183D7F6-B498-43B3-948B-1728B52AA6E4}">
                <adec:decorative xmlns:adec="http://schemas.microsoft.com/office/drawing/2017/decorative" val="1"/>
              </a:ext>
            </a:extLst>
          </p:cNvPr>
          <p:cNvSpPr/>
          <p:nvPr/>
        </p:nvSpPr>
        <p:spPr>
          <a:xfrm>
            <a:off x="841248" y="4159300"/>
            <a:ext cx="54864" cy="2353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4"/>
          <p:cNvSpPr txBox="1"/>
          <p:nvPr/>
        </p:nvSpPr>
        <p:spPr>
          <a:xfrm>
            <a:off x="1042416" y="4506366"/>
            <a:ext cx="10234879" cy="624027"/>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7D6608"/>
                </a:solidFill>
                <a:latin typeface="Segoe UI"/>
              </a:rPr>
              <a:t>•	</a:t>
            </a:r>
            <a:r>
              <a:rPr sz="1600" b="0" i="0">
                <a:solidFill>
                  <a:srgbClr val="1C252B"/>
                </a:solidFill>
                <a:latin typeface="Segoe UI"/>
              </a:rPr>
              <a:t>bug: </a:t>
            </a:r>
            <a:r>
              <a:rPr sz="1600" b="0" i="0">
                <a:solidFill>
                  <a:srgbClr val="1C252B"/>
                </a:solidFill>
                <a:latin typeface="Cambria"/>
              </a:rPr>
              <a:t>log1/2 + 2log21/44 + log3/44 = −0.693 − 1.479 − 2.686 = −4.858</a:t>
            </a:r>
          </a:p>
          <a:p>
            <a:pPr algn="l" marL="178905" indent="-178905">
              <a:lnSpc>
                <a:spcPct val="104000"/>
              </a:lnSpc>
              <a:spcBef>
                <a:spcPts val="0"/>
              </a:spcBef>
              <a:spcAft>
                <a:spcPts val="0"/>
              </a:spcAft>
            </a:pPr>
            <a:r>
              <a:rPr sz="1600" b="1">
                <a:solidFill>
                  <a:srgbClr val="7D6608"/>
                </a:solidFill>
                <a:latin typeface="Segoe UI"/>
              </a:rPr>
              <a:t>•	</a:t>
            </a:r>
            <a:r>
              <a:rPr sz="1600" b="0" i="0">
                <a:solidFill>
                  <a:srgbClr val="1C252B"/>
                </a:solidFill>
                <a:latin typeface="Segoe UI"/>
              </a:rPr>
              <a:t>feature: </a:t>
            </a:r>
            <a:r>
              <a:rPr sz="1600" b="0" i="0">
                <a:solidFill>
                  <a:srgbClr val="1C252B"/>
                </a:solidFill>
                <a:latin typeface="Cambria"/>
              </a:rPr>
              <a:t>log1/2 + 2log3/44 + log19/44 = −0.693 − 5.371 − 0.840 = −6.904</a:t>
            </a:r>
          </a:p>
        </p:txBody>
      </p:sp>
      <p:sp>
        <p:nvSpPr>
          <p:cNvPr id="15" name="body-5"/>
          <p:cNvSpPr txBox="1"/>
          <p:nvPr/>
        </p:nvSpPr>
        <p:spPr>
          <a:xfrm>
            <a:off x="1042416" y="5196433"/>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Bug</a:t>
            </a:r>
            <a:r>
              <a:rPr sz="1600" b="0" i="0">
                <a:solidFill>
                  <a:srgbClr val="1C252B"/>
                </a:solidFill>
                <a:latin typeface="Segoe UI"/>
              </a:rPr>
              <a:t> wins by </a:t>
            </a:r>
            <a:r>
              <a:rPr sz="1600" b="0" i="0">
                <a:solidFill>
                  <a:srgbClr val="1C252B"/>
                </a:solidFill>
                <a:latin typeface="Cambria"/>
              </a:rPr>
              <a:t>2.05</a:t>
            </a:r>
            <a:r>
              <a:rPr sz="1600" b="0" i="0">
                <a:solidFill>
                  <a:srgbClr val="1C252B"/>
                </a:solidFill>
                <a:latin typeface="Segoe UI"/>
              </a:rPr>
              <a:t> in log-probability, a likelihood ratio of </a:t>
            </a:r>
            <a:r>
              <a:rPr sz="1600" b="0" i="1">
                <a:solidFill>
                  <a:srgbClr val="1C252B"/>
                </a:solidFill>
                <a:latin typeface="Cambria"/>
              </a:rPr>
              <a:t>e</a:t>
            </a:r>
            <a:r>
              <a:rPr sz="1600" b="0" i="0" baseline="30000">
                <a:solidFill>
                  <a:srgbClr val="1C252B"/>
                </a:solidFill>
                <a:latin typeface="Cambria"/>
              </a:rPr>
              <a:t>2.05</a:t>
            </a:r>
            <a:r>
              <a:rPr sz="1600" b="0" i="0">
                <a:solidFill>
                  <a:srgbClr val="1C252B"/>
                </a:solidFill>
                <a:latin typeface="Cambria"/>
              </a:rPr>
              <a:t> ≈ 7.7</a:t>
            </a:r>
            <a:r>
              <a:rPr sz="1600" b="0" i="0">
                <a:solidFill>
                  <a:srgbClr val="1C252B"/>
                </a:solidFill>
                <a:latin typeface="Segoe UI"/>
              </a:rPr>
              <a:t>, so </a:t>
            </a:r>
            <a:r>
              <a:rPr sz="1600" b="0" i="1">
                <a:solidFill>
                  <a:srgbClr val="1C252B"/>
                </a:solidFill>
                <a:latin typeface="Cambria"/>
              </a:rPr>
              <a:t>P</a:t>
            </a:r>
            <a:r>
              <a:rPr sz="1600" b="0" i="0">
                <a:solidFill>
                  <a:srgbClr val="1C252B"/>
                </a:solidFill>
                <a:latin typeface="Cambria"/>
              </a:rPr>
              <a:t>(</a:t>
            </a:r>
            <a:r>
              <a:rPr sz="1600" b="0" i="0">
                <a:solidFill>
                  <a:srgbClr val="1C252B"/>
                </a:solidFill>
                <a:latin typeface="Segoe UI"/>
              </a:rPr>
              <a:t>bug</a:t>
            </a:r>
            <a:r>
              <a:rPr sz="1600" b="0" i="0">
                <a:solidFill>
                  <a:srgbClr val="1C252B"/>
                </a:solidFill>
                <a:latin typeface="Cambria"/>
              </a:rPr>
              <a:t>) = 7.7/8.7 = </a:t>
            </a:r>
            <a:r>
              <a:rPr sz="1600" b="1" i="0">
                <a:solidFill>
                  <a:srgbClr val="1C252B"/>
                </a:solidFill>
                <a:latin typeface="Cambria"/>
              </a:rPr>
              <a:t>0.885</a:t>
            </a:r>
            <a:r>
              <a:rPr sz="1600" b="0" i="0">
                <a:solidFill>
                  <a:srgbClr val="1C252B"/>
                </a:solidFill>
                <a:latin typeface="Segoe UI"/>
              </a:rPr>
              <a:t>. The two “crash”es outweigh the one “add” — which also shows the router’s weakness: a feature request that happens to mention crashes is sent to the bug queue.</a:t>
            </a:r>
          </a:p>
        </p:txBody>
      </p:sp>
      <p:sp>
        <p:nvSpPr>
          <p:cNvPr id="16" name="body-5bar">
            <a:extLst>
              <a:ext uri="{C183D7F6-B498-43B3-948B-1728B52AA6E4}">
                <adec:decorative xmlns:adec="http://schemas.microsoft.com/office/drawing/2017/decorative" val="1"/>
              </a:ext>
            </a:extLst>
          </p:cNvPr>
          <p:cNvSpPr/>
          <p:nvPr/>
        </p:nvSpPr>
        <p:spPr>
          <a:xfrm>
            <a:off x="841248" y="5214721"/>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707118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fade">
                                      <p:cBhvr>
                                        <p:cTn id="26" dur="350"/>
                                        <p:tgtEl>
                                          <p:spTgt spid="1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Effect transition="in" filter="fade">
                                      <p:cBhvr>
                                        <p:cTn id="31" dur="350"/>
                                        <p:tgtEl>
                                          <p:spTgt spid="1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Naive Bayes Works When Its Assumption Is False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1EB606B3-A6FD-47A8-BDFE-2DAF21B09A2E}"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118"/>
          </a:xfrm>
          <a:prstGeom prst="roundRect">
            <a:avLst>
              <a:gd name="adj" fmla="val 258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11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62046"/>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Words are obviously not independent — “stack” and “trace” travel together. Naive Bayes therefore double-counts correlated evidence and its probabilities are badly </a:t>
            </a:r>
            <a:r>
              <a:rPr sz="2300" b="0" i="1">
                <a:solidFill>
                  <a:srgbClr val="1C252B"/>
                </a:solidFill>
                <a:latin typeface="Segoe UI"/>
              </a:rPr>
              <a:t>over-confident</a:t>
            </a:r>
            <a:r>
              <a:rPr sz="2300" b="0" i="0">
                <a:solidFill>
                  <a:srgbClr val="1C252B"/>
                </a:solidFill>
                <a:latin typeface="Segoe UI"/>
              </a:rPr>
              <a:t>. But classification needs only the right </a:t>
            </a:r>
            <a:r>
              <a:rPr sz="2300" b="0" i="1">
                <a:solidFill>
                  <a:srgbClr val="1C252B"/>
                </a:solidFill>
                <a:latin typeface="Segoe UI"/>
              </a:rPr>
              <a:t>ranking</a:t>
            </a:r>
            <a:r>
              <a:rPr sz="2300" b="0" i="0">
                <a:solidFill>
                  <a:srgbClr val="1C252B"/>
                </a:solidFill>
                <a:latin typeface="Segoe UI"/>
              </a:rPr>
              <a:t> of classes, and the double-counting usually inflates the right class as much as it helps it. Use naive Bayes’s decisions freely; do not trust its probabilities without calibration. Models that represent the dependencies explicitly — Bayesian networks — are the next step, and are covered in Mitchell’s Chapter 6.</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F35A5BA2-3763-47AF-8E0E-4E2890E102B9}" type="slidenum">
              <a:rPr lang="en-GB" sz="1000">
                <a:solidFill>
                  <a:srgbClr val="8795A1"/>
                </a:solidFill>
                <a:latin typeface="Segoe UI"/>
              </a:rPr>
              <a:t>31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to smooth.</a:t>
            </a:r>
            <a:r>
              <a:rPr sz="2100" b="0" i="0">
                <a:solidFill>
                  <a:srgbClr val="1C252B"/>
                </a:solidFill>
                <a:latin typeface="Segoe UI"/>
              </a:rPr>
              <a:t> One zero count vetoes the class.</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Multiplying hundreds of probabilities.</a:t>
            </a:r>
            <a:r>
              <a:rPr sz="2100" b="0" i="0">
                <a:solidFill>
                  <a:srgbClr val="1C252B"/>
                </a:solidFill>
                <a:latin typeface="Segoe UI"/>
              </a:rPr>
              <a:t> Add log-probabilities.</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Confusing MAP with ML.</a:t>
            </a:r>
            <a:r>
              <a:rPr sz="2100" b="0" i="0">
                <a:solidFill>
                  <a:srgbClr val="1C252B"/>
                </a:solidFill>
                <a:latin typeface="Segoe UI"/>
              </a:rPr>
              <a:t> Maximum likelihood ignores the prior, and with rare classes the prior decides.</a:t>
            </a:r>
          </a:p>
        </p:txBody>
      </p:sp>
      <p:sp>
        <p:nvSpPr>
          <p:cNvPr id="16" name="!!pb3">
            <a:extLst>
              <a:ext uri="{C183D7F6-B498-43B3-948B-1728B52AA6E4}">
                <adec:decorative xmlns:adec="http://schemas.microsoft.com/office/drawing/2017/decorative" val="1"/>
              </a:ext>
            </a:extLst>
          </p:cNvPr>
          <p:cNvSpPr/>
          <p:nvPr/>
        </p:nvSpPr>
        <p:spPr>
          <a:xfrm>
            <a:off x="658368" y="37563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7792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38067"/>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naive Bayes probabilities as calibrated risks.</a:t>
            </a:r>
            <a:r>
              <a:rPr sz="2100" b="0" i="0">
                <a:solidFill>
                  <a:srgbClr val="1C252B"/>
                </a:solidFill>
                <a:latin typeface="Segoe UI"/>
              </a:rPr>
              <a:t> They are too extreme; the ranking is what is reliable.</a:t>
            </a:r>
          </a:p>
        </p:txBody>
      </p:sp>
      <p:sp>
        <p:nvSpPr>
          <p:cNvPr id="19" name="!!pb4">
            <a:extLst>
              <a:ext uri="{C183D7F6-B498-43B3-948B-1728B52AA6E4}">
                <adec:decorative xmlns:adec="http://schemas.microsoft.com/office/drawing/2017/decorative" val="1"/>
              </a:ext>
            </a:extLst>
          </p:cNvPr>
          <p:cNvSpPr/>
          <p:nvPr/>
        </p:nvSpPr>
        <p:spPr>
          <a:xfrm>
            <a:off x="658368" y="462320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4606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04918"/>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Feeding Gaussian NB heavily skewed features.</a:t>
            </a:r>
            <a:r>
              <a:rPr sz="2100" b="0" i="0">
                <a:solidFill>
                  <a:srgbClr val="1C252B"/>
                </a:solidFill>
                <a:latin typeface="Segoe UI"/>
              </a:rPr>
              <a:t> Transform them (log) first, or the Gaussian fits badly.</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5588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2348736F-1F4D-45FB-B5A4-9C2FB0C87439}" type="slidenum">
              <a:rPr lang="en-GB" sz="1000">
                <a:solidFill>
                  <a:srgbClr val="8795A1"/>
                </a:solidFill>
                <a:latin typeface="Segoe UI"/>
              </a:rPr>
              <a:t>32</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Naive Bayes on the sprint data, by counting</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Gaussian naive Bayes on the code-churn example</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A ticket router from twelve tickets</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9: Naive Bayes by counting and by library</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67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code/ch10_naive_bayes_counting.py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8026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63E0E86E-7B8C-42DF-8036-C6CA196AB1D1}"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517904"/>
          </a:xfrm>
          <a:prstGeom prst="roundRect">
            <a:avLst>
              <a:gd name="adj" fmla="val 602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code/ch10_naive_bayes_counting.py</a:t>
            </a:r>
          </a:p>
        </p:txBody>
      </p:sp>
      <p:sp>
        <p:nvSpPr>
          <p:cNvPr id="14" name="!!code-text" descr="import numpy as np from sklearn.naive_bayes import GaussianNB, MultinomialNB from sklearn.feature_extraction.text import CountVectorizer"/>
          <p:cNvSpPr txBox="1"/>
          <p:nvPr/>
        </p:nvSpPr>
        <p:spPr>
          <a:xfrm>
            <a:off x="1362456" y="2523744"/>
            <a:ext cx="9987991" cy="10241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naive_bayes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GaussianNB</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MultinomialNB</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feature_extraction</a:t>
            </a:r>
            <a:r>
              <a:rPr sz="2000" i="0">
                <a:solidFill>
                  <a:srgbClr val="76D7C4"/>
                </a:solidFill>
                <a:latin typeface="Consolas"/>
              </a:rPr>
              <a:t>.</a:t>
            </a:r>
            <a:r>
              <a:rPr sz="2000" i="0">
                <a:solidFill>
                  <a:srgbClr val="76D7C4"/>
                </a:solidFill>
                <a:latin typeface="Consolas"/>
              </a:rPr>
              <a:t>text</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CountVectorizer</a:t>
            </a:r>
          </a:p>
        </p:txBody>
      </p:sp>
      <p:sp>
        <p:nvSpPr>
          <p:cNvPr id="15" name="!!code-num"/>
          <p:cNvSpPr txBox="1"/>
          <p:nvPr/>
        </p:nvSpPr>
        <p:spPr>
          <a:xfrm>
            <a:off x="768096" y="2523744"/>
            <a:ext cx="393192" cy="1024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65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C9F55A56-C043-41C3-89B9-99542CF39382}"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Naive Bayes on the sprint data, by counting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code/ch10_naive_bayes_counting.py</a:t>
            </a:r>
          </a:p>
        </p:txBody>
      </p:sp>
      <p:sp>
        <p:nvSpPr>
          <p:cNvPr id="14" name="!!code-text" descr="# --- 1. naive Bayes on the sprint data, by counting ---------------------- sprints = [(&quot;Changing High High Few&quot;, &quot;No&quot;), (&quot;Changing High High Many&quot;, &quot;No&quot;), (&quot;Frozen High High Few&quot;, &quot;Yes&quot;), (&quot;Vague Medium High Few&quot;, &quot;Yes&quot;), (&quot;Vague Low Normal Few&quot;, &quot;Yes&quot;), (&quot;Vague Low Normal Many&quot;, &quot;No&quot;), (&quot;Frozen Low Normal Many&quot;, &quot;Yes&quot;), (&quot;Changing Medium High Few&quot;, &quot;No&quot;), (&quot;Changing Low Normal Few&quot;, &quot;Yes&quot;), (&quot;Vague Medium Normal Few&quot;, &quot;Yes&quot;), (&quot;Changing Medium Normal Many&quot;, &quot;Yes&quot;), (&quot;Frozen Medium High Many&quot;, &quot;Yes&quot;), (&quot;Frozen High Normal Few&quot;, &quot;Yes&quot;), (&quot;Vague Medium High Many&quot;, &quot;No&quot;)] X = [s.split() for s, _ in sprints] y = [c for _, c in sprints] n_values = [3, 3, 2, 2] # values per attribute"/>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--- 1. naive Bayes on the sprint data, by counting ----------------------</a:t>
            </a:r>
          </a:p>
          <a:p>
            <a:pPr>
              <a:lnSpc>
                <a:spcPct val="100000"/>
              </a:lnSpc>
              <a:spcAft>
                <a:spcPts val="0"/>
              </a:spcAft>
            </a:pPr>
            <a:r>
              <a:rPr sz="1300" i="0">
                <a:solidFill>
                  <a:srgbClr val="E8EDF2"/>
                </a:solidFill>
                <a:latin typeface="Consolas"/>
              </a:rPr>
              <a:t>sprints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Changing High High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Changing High High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Frozen High High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Vague Medium High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Vague Low Normal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Vague Low Normal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Frozen Low Normal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Changing Medium High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Changing Low Normal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Vague Medium Normal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Changing Medium Normal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Frozen Medium High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Frozen High Normal Few</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Yes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Vague Medium High Many</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No</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X</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s</a:t>
            </a:r>
            <a:r>
              <a:rPr sz="1300" i="0">
                <a:solidFill>
                  <a:srgbClr val="AEB6BF"/>
                </a:solidFill>
                <a:latin typeface="Consolas"/>
              </a:rPr>
              <a:t>.</a:t>
            </a:r>
            <a:r>
              <a:rPr sz="1300" i="0">
                <a:solidFill>
                  <a:srgbClr val="E8EDF2"/>
                </a:solidFill>
                <a:latin typeface="Consolas"/>
              </a:rPr>
              <a:t>split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sprints</a:t>
            </a:r>
            <a:r>
              <a:rPr sz="1300" i="0">
                <a:solidFill>
                  <a:srgbClr val="AEB6BF"/>
                </a:solidFill>
                <a:latin typeface="Consolas"/>
              </a:rPr>
              <a:t>]</a:t>
            </a:r>
          </a:p>
          <a:p>
            <a:pPr>
              <a:lnSpc>
                <a:spcPct val="100000"/>
              </a:lnSpc>
              <a:spcAft>
                <a:spcPts val="0"/>
              </a:spcAft>
            </a:pPr>
            <a:r>
              <a:rPr sz="1300" i="0">
                <a:solidFill>
                  <a:srgbClr val="E8EDF2"/>
                </a:solidFill>
                <a:latin typeface="Consolas"/>
              </a:rPr>
              <a:t>y</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c</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sprints</a:t>
            </a:r>
            <a:r>
              <a:rPr sz="1300" i="0">
                <a:solidFill>
                  <a:srgbClr val="AEB6BF"/>
                </a:solidFill>
                <a:latin typeface="Consolas"/>
              </a:rPr>
              <a:t>]</a:t>
            </a:r>
          </a:p>
          <a:p>
            <a:pPr>
              <a:lnSpc>
                <a:spcPct val="100000"/>
              </a:lnSpc>
              <a:spcAft>
                <a:spcPts val="0"/>
              </a:spcAft>
            </a:pPr>
            <a:r>
              <a:rPr sz="1300" i="0">
                <a:solidFill>
                  <a:srgbClr val="E8EDF2"/>
                </a:solidFill>
                <a:latin typeface="Consolas"/>
              </a:rPr>
              <a:t>n_values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1">
                <a:solidFill>
                  <a:srgbClr val="8795A1"/>
                </a:solidFill>
                <a:latin typeface="Consolas"/>
              </a:rPr>
              <a:t># values per attribute</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9035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E4799D6E-DF5B-4180-ABDF-93EDA149738A}"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Naive Bayes on the sprint data, by counting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code/ch10_naive_bayes_counting.py</a:t>
            </a:r>
          </a:p>
        </p:txBody>
      </p:sp>
      <p:sp>
        <p:nvSpPr>
          <p:cNvPr id="14" name="!!code-text" descr="def naive_bayes(x, laplace=0): scores = {} for c in (&quot;Yes&quot;, &quot;No&quot;): rows = [r for r, lab in zip(X, y) if lab == c] p = len(rows) / len(X) # prior P(c) for j, v in enumerate(x): # P(x_j | c) count = sum(r[j] == v for r in rows) p *= (count + laplace) / (len(rows) + laplace * n_values[j]) scores[c] = p total = sum(scores.values()) return {c: round(s / total, 3) for c, s in scores.items()}, scores post, raw = naive_bayes([&quot;Changing&quot;, &quot;Low&quot;, &quot;High&quot;, &quot;Many&quot;]) print(&quot;unnormalised:&quot;, {c: round(s, 5) for c, s in raw.items()}) print(&quot;posterior: &quot;, post) frozen = [&quot;Frozen&quot;, &quot;High&quot;, &quot;High&quot;, &quot;Many&quot;] print(&quot;Frozen sprint, no smoothing:&quot;, naive_bayes(frozen)[1]) print(&quot;Frozen sprint, Laplace :&quot;, naive_bayes(frozen, laplace=1)[0])"/>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5DADE2"/>
                </a:solidFill>
                <a:latin typeface="Consolas"/>
              </a:rPr>
              <a:t>def</a:t>
            </a:r>
            <a:r>
              <a:rPr sz="1200" i="0">
                <a:solidFill>
                  <a:srgbClr val="E8EDF2"/>
                </a:solidFill>
                <a:latin typeface="Consolas"/>
              </a:rPr>
              <a:t> </a:t>
            </a:r>
            <a:r>
              <a:rPr sz="1200" i="0">
                <a:solidFill>
                  <a:srgbClr val="C39BD3"/>
                </a:solidFill>
                <a:latin typeface="Consolas"/>
              </a:rPr>
              <a:t>naive_bayes</a:t>
            </a:r>
            <a:r>
              <a:rPr sz="1200" i="0">
                <a:solidFill>
                  <a:srgbClr val="AEB6BF"/>
                </a:solidFill>
                <a:latin typeface="Consolas"/>
              </a:rPr>
              <a:t>(</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laplace</a:t>
            </a:r>
            <a:r>
              <a:rPr sz="1200" i="0">
                <a:solidFill>
                  <a:srgbClr val="AEB6BF"/>
                </a:solidFill>
                <a:latin typeface="Consolas"/>
              </a:rPr>
              <a:t>=</a:t>
            </a:r>
            <a:r>
              <a:rPr sz="1200" i="0">
                <a:solidFill>
                  <a:srgbClr val="F7DC6F"/>
                </a:solidFill>
                <a:latin typeface="Consolas"/>
              </a:rPr>
              <a:t>0</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scores</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Yes</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No</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rows</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r</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lab</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C39BD3"/>
                </a:solidFill>
                <a:latin typeface="Consolas"/>
              </a:rPr>
              <a:t>zip</a:t>
            </a:r>
            <a:r>
              <a:rPr sz="1200" i="0">
                <a:solidFill>
                  <a:srgbClr val="AEB6BF"/>
                </a:solidFill>
                <a:latin typeface="Consolas"/>
              </a:rPr>
              <a:t>(</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lab</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p</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rows</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prior P(c)</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j</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v</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C39BD3"/>
                </a:solidFill>
                <a:latin typeface="Consolas"/>
              </a:rPr>
              <a:t>enumerate</a:t>
            </a:r>
            <a:r>
              <a:rPr sz="1200" i="0">
                <a:solidFill>
                  <a:srgbClr val="AEB6BF"/>
                </a:solidFill>
                <a:latin typeface="Consolas"/>
              </a:rPr>
              <a:t>(</a:t>
            </a:r>
            <a:r>
              <a:rPr sz="1200" i="0">
                <a:solidFill>
                  <a:srgbClr val="E8EDF2"/>
                </a:solidFill>
                <a:latin typeface="Consolas"/>
              </a:rPr>
              <a:t>x</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P(x_j | c)</a:t>
            </a:r>
          </a:p>
          <a:p>
            <a:pPr>
              <a:lnSpc>
                <a:spcPct val="100000"/>
              </a:lnSpc>
              <a:spcAft>
                <a:spcPts val="0"/>
              </a:spcAft>
            </a:pPr>
            <a:r>
              <a:rPr sz="1200" i="0">
                <a:solidFill>
                  <a:srgbClr val="E8EDF2"/>
                </a:solidFill>
                <a:latin typeface="Consolas"/>
              </a:rPr>
              <a:t>            </a:t>
            </a:r>
            <a:r>
              <a:rPr sz="1200" i="0">
                <a:solidFill>
                  <a:srgbClr val="E8EDF2"/>
                </a:solidFill>
                <a:latin typeface="Consolas"/>
              </a:rPr>
              <a:t>count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sum</a:t>
            </a:r>
            <a:r>
              <a:rPr sz="1200" i="0">
                <a:solidFill>
                  <a:srgbClr val="AEB6BF"/>
                </a:solidFill>
                <a:latin typeface="Consolas"/>
              </a:rPr>
              <a:t>(</a:t>
            </a:r>
            <a:r>
              <a:rPr sz="1200" i="0">
                <a:solidFill>
                  <a:srgbClr val="E8EDF2"/>
                </a:solidFill>
                <a:latin typeface="Consolas"/>
              </a:rPr>
              <a:t>r</a:t>
            </a:r>
            <a:r>
              <a:rPr sz="1200" i="0">
                <a:solidFill>
                  <a:srgbClr val="AEB6BF"/>
                </a:solidFill>
                <a:latin typeface="Consolas"/>
              </a:rPr>
              <a:t>[</a:t>
            </a:r>
            <a:r>
              <a:rPr sz="1200" i="0">
                <a:solidFill>
                  <a:srgbClr val="E8EDF2"/>
                </a:solidFill>
                <a:latin typeface="Consolas"/>
              </a:rPr>
              <a:t>j</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v</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r</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rows</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p</a:t>
            </a:r>
            <a:r>
              <a:rPr sz="1200" i="0">
                <a:solidFill>
                  <a:srgbClr val="E8EDF2"/>
                </a:solidFill>
                <a:latin typeface="Consolas"/>
              </a:rPr>
              <a:t> </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count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laplace</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rows</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laplace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n_values</a:t>
            </a:r>
            <a:r>
              <a:rPr sz="1200" i="0">
                <a:solidFill>
                  <a:srgbClr val="AEB6BF"/>
                </a:solidFill>
                <a:latin typeface="Consolas"/>
              </a:rPr>
              <a:t>[</a:t>
            </a:r>
            <a:r>
              <a:rPr sz="1200" i="0">
                <a:solidFill>
                  <a:srgbClr val="E8EDF2"/>
                </a:solidFill>
                <a:latin typeface="Consolas"/>
              </a:rPr>
              <a:t>j</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scores</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p</a:t>
            </a:r>
          </a:p>
          <a:p>
            <a:pPr>
              <a:lnSpc>
                <a:spcPct val="100000"/>
              </a:lnSpc>
              <a:spcAft>
                <a:spcPts val="0"/>
              </a:spcAft>
            </a:pPr>
            <a:r>
              <a:rPr sz="1200" i="0">
                <a:solidFill>
                  <a:srgbClr val="E8EDF2"/>
                </a:solidFill>
                <a:latin typeface="Consolas"/>
              </a:rPr>
              <a:t>    </a:t>
            </a:r>
            <a:r>
              <a:rPr sz="1200" i="0">
                <a:solidFill>
                  <a:srgbClr val="E8EDF2"/>
                </a:solidFill>
                <a:latin typeface="Consolas"/>
              </a:rPr>
              <a:t>total</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sum</a:t>
            </a:r>
            <a:r>
              <a:rPr sz="1200" i="0">
                <a:solidFill>
                  <a:srgbClr val="AEB6BF"/>
                </a:solidFill>
                <a:latin typeface="Consolas"/>
              </a:rPr>
              <a:t>(</a:t>
            </a:r>
            <a:r>
              <a:rPr sz="1200" i="0">
                <a:solidFill>
                  <a:srgbClr val="E8EDF2"/>
                </a:solidFill>
                <a:latin typeface="Consolas"/>
              </a:rPr>
              <a:t>scores</a:t>
            </a:r>
            <a:r>
              <a:rPr sz="1200" i="0">
                <a:solidFill>
                  <a:srgbClr val="AEB6BF"/>
                </a:solidFill>
                <a:latin typeface="Consolas"/>
              </a:rPr>
              <a:t>.</a:t>
            </a:r>
            <a:r>
              <a:rPr sz="1200" i="0">
                <a:solidFill>
                  <a:srgbClr val="E8EDF2"/>
                </a:solidFill>
                <a:latin typeface="Consolas"/>
              </a:rPr>
              <a:t>values</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round</a:t>
            </a:r>
            <a:r>
              <a:rPr sz="1200" i="0">
                <a:solidFill>
                  <a:srgbClr val="AEB6BF"/>
                </a:solidFill>
                <a:latin typeface="Consolas"/>
              </a:rPr>
              <a:t>(</a:t>
            </a:r>
            <a:r>
              <a:rPr sz="1200" i="0">
                <a:solidFill>
                  <a:srgbClr val="E8EDF2"/>
                </a:solidFill>
                <a:latin typeface="Consolas"/>
              </a:rPr>
              <a:t>s</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total</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3</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scores</a:t>
            </a:r>
            <a:r>
              <a:rPr sz="1200" i="0">
                <a:solidFill>
                  <a:srgbClr val="AEB6BF"/>
                </a:solidFill>
                <a:latin typeface="Consolas"/>
              </a:rPr>
              <a:t>.</a:t>
            </a:r>
            <a:r>
              <a:rPr sz="1200" i="0">
                <a:solidFill>
                  <a:srgbClr val="E8EDF2"/>
                </a:solidFill>
                <a:latin typeface="Consolas"/>
              </a:rPr>
              <a:t>items</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scores</a:t>
            </a:r>
          </a:p>
          <a:p>
            <a:pPr>
              <a:lnSpc>
                <a:spcPct val="100000"/>
              </a:lnSpc>
              <a:spcAft>
                <a:spcPts val="0"/>
              </a:spcAft>
            </a:pPr>
            <a:r>
              <a:rPr sz="1200">
                <a:latin typeface="Consolas"/>
              </a:rPr>
              <a:t> </a:t>
            </a:r>
          </a:p>
          <a:p>
            <a:pPr>
              <a:lnSpc>
                <a:spcPct val="100000"/>
              </a:lnSpc>
              <a:spcAft>
                <a:spcPts val="0"/>
              </a:spcAft>
            </a:pPr>
            <a:r>
              <a:rPr sz="1200">
                <a:latin typeface="Consolas"/>
              </a:rPr>
              <a:t> </a:t>
            </a:r>
          </a:p>
          <a:p>
            <a:pPr>
              <a:lnSpc>
                <a:spcPct val="100000"/>
              </a:lnSpc>
              <a:spcAft>
                <a:spcPts val="0"/>
              </a:spcAft>
            </a:pPr>
            <a:r>
              <a:rPr sz="1200" i="0">
                <a:solidFill>
                  <a:srgbClr val="E8EDF2"/>
                </a:solidFill>
                <a:latin typeface="Consolas"/>
              </a:rPr>
              <a:t>post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raw</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naive_bayes</a:t>
            </a:r>
            <a:r>
              <a:rPr sz="1200" i="0">
                <a:solidFill>
                  <a:srgbClr val="AEB6BF"/>
                </a:solidFill>
                <a:latin typeface="Consolas"/>
              </a:rPr>
              <a: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Changing</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Low</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High</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Many</a:t>
            </a:r>
            <a:r>
              <a:rPr sz="1200" i="0">
                <a:solidFill>
                  <a:srgbClr val="7DCEA0"/>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unnormalised:</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round</a:t>
            </a:r>
            <a:r>
              <a:rPr sz="1200" i="0">
                <a:solidFill>
                  <a:srgbClr val="AEB6BF"/>
                </a:solidFill>
                <a:latin typeface="Consolas"/>
              </a:rPr>
              <a:t>(</a:t>
            </a:r>
            <a:r>
              <a:rPr sz="1200" i="0">
                <a:solidFill>
                  <a:srgbClr val="E8EDF2"/>
                </a:solidFill>
                <a:latin typeface="Consolas"/>
              </a:rPr>
              <a:t>s</a:t>
            </a:r>
            <a:r>
              <a:rPr sz="1200" i="0">
                <a:solidFill>
                  <a:srgbClr val="AEB6BF"/>
                </a:solidFill>
                <a:latin typeface="Consolas"/>
              </a:rPr>
              <a:t>,</a:t>
            </a:r>
            <a:r>
              <a:rPr sz="1200" i="0">
                <a:solidFill>
                  <a:srgbClr val="E8EDF2"/>
                </a:solidFill>
                <a:latin typeface="Consolas"/>
              </a:rPr>
              <a:t> </a:t>
            </a:r>
            <a:r>
              <a:rPr sz="1200" i="0">
                <a:solidFill>
                  <a:srgbClr val="F7DC6F"/>
                </a:solidFill>
                <a:latin typeface="Consolas"/>
              </a:rPr>
              <a:t>5</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raw</a:t>
            </a:r>
            <a:r>
              <a:rPr sz="1200" i="0">
                <a:solidFill>
                  <a:srgbClr val="AEB6BF"/>
                </a:solidFill>
                <a:latin typeface="Consolas"/>
              </a:rPr>
              <a:t>.</a:t>
            </a:r>
            <a:r>
              <a:rPr sz="1200" i="0">
                <a:solidFill>
                  <a:srgbClr val="E8EDF2"/>
                </a:solidFill>
                <a:latin typeface="Consolas"/>
              </a:rPr>
              <a:t>items</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posterior:   </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post</a:t>
            </a:r>
            <a:r>
              <a:rPr sz="1200" i="0">
                <a:solidFill>
                  <a:srgbClr val="AEB6BF"/>
                </a:solidFill>
                <a:latin typeface="Consolas"/>
              </a:rPr>
              <a:t>)</a:t>
            </a:r>
          </a:p>
          <a:p>
            <a:pPr>
              <a:lnSpc>
                <a:spcPct val="100000"/>
              </a:lnSpc>
              <a:spcAft>
                <a:spcPts val="0"/>
              </a:spcAft>
            </a:pPr>
            <a:r>
              <a:rPr sz="1200" i="0">
                <a:solidFill>
                  <a:srgbClr val="E8EDF2"/>
                </a:solidFill>
                <a:latin typeface="Consolas"/>
              </a:rPr>
              <a:t>frozen</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Frozen</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High</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High</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7DCEA0"/>
                </a:solidFill>
                <a:latin typeface="Consolas"/>
              </a:rPr>
              <a:t>"</a:t>
            </a:r>
            <a:r>
              <a:rPr sz="1200" i="0">
                <a:solidFill>
                  <a:srgbClr val="7DCEA0"/>
                </a:solidFill>
                <a:latin typeface="Consolas"/>
              </a:rPr>
              <a:t>Many</a:t>
            </a:r>
            <a:r>
              <a:rPr sz="1200" i="0">
                <a:solidFill>
                  <a:srgbClr val="7DCEA0"/>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Frozen sprint, no smoothing:</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naive_bayes</a:t>
            </a:r>
            <a:r>
              <a:rPr sz="1200" i="0">
                <a:solidFill>
                  <a:srgbClr val="AEB6BF"/>
                </a:solidFill>
                <a:latin typeface="Consolas"/>
              </a:rPr>
              <a:t>(</a:t>
            </a:r>
            <a:r>
              <a:rPr sz="1200" i="0">
                <a:solidFill>
                  <a:srgbClr val="E8EDF2"/>
                </a:solidFill>
                <a:latin typeface="Consolas"/>
              </a:rPr>
              <a:t>frozen</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1</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Frozen sprint, Laplace     :</a:t>
            </a:r>
            <a:r>
              <a:rPr sz="1200" i="0">
                <a:solidFill>
                  <a:srgbClr val="7DCEA0"/>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naive_bayes</a:t>
            </a:r>
            <a:r>
              <a:rPr sz="1200" i="0">
                <a:solidFill>
                  <a:srgbClr val="AEB6BF"/>
                </a:solidFill>
                <a:latin typeface="Consolas"/>
              </a:rPr>
              <a:t>(</a:t>
            </a:r>
            <a:r>
              <a:rPr sz="1200" i="0">
                <a:solidFill>
                  <a:srgbClr val="E8EDF2"/>
                </a:solidFill>
                <a:latin typeface="Consolas"/>
              </a:rPr>
              <a:t>frozen</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laplace</a:t>
            </a:r>
            <a:r>
              <a:rPr sz="1200" i="0">
                <a:solidFill>
                  <a:srgbClr val="AEB6BF"/>
                </a:solidFill>
                <a:latin typeface="Consolas"/>
              </a:rPr>
              <a:t>=</a:t>
            </a:r>
            <a:r>
              <a:rPr sz="1200" i="0">
                <a:solidFill>
                  <a:srgbClr val="F7DC6F"/>
                </a:solidFill>
                <a:latin typeface="Consolas"/>
              </a:rPr>
              <a:t>1</a:t>
            </a:r>
            <a:r>
              <a:rPr sz="1200" i="0">
                <a:solidFill>
                  <a:srgbClr val="AEB6BF"/>
                </a:solidFill>
                <a:latin typeface="Consolas"/>
              </a:rPr>
              <a:t>)</a:t>
            </a:r>
            <a:r>
              <a:rPr sz="1200" i="0">
                <a:solidFill>
                  <a:srgbClr val="AEB6BF"/>
                </a:solidFill>
                <a:latin typeface="Consolas"/>
              </a:rPr>
              <a:t>[</a:t>
            </a:r>
            <a:r>
              <a:rPr sz="1200" i="0">
                <a:solidFill>
                  <a:srgbClr val="F7DC6F"/>
                </a:solidFill>
                <a:latin typeface="Consolas"/>
              </a:rPr>
              <a:t>0</a:t>
            </a:r>
            <a:r>
              <a:rPr sz="1200" i="0">
                <a:solidFill>
                  <a:srgbClr val="AEB6BF"/>
                </a:solidFill>
                <a:latin typeface="Consolas"/>
              </a:rPr>
              <a:t>]</a:t>
            </a:r>
            <a:r>
              <a:rPr sz="12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25</a:t>
            </a:r>
          </a:p>
          <a:p>
            <a:pPr algn="r">
              <a:lnSpc>
                <a:spcPct val="100000"/>
              </a:lnSpc>
            </a:pPr>
            <a:r>
              <a:rPr sz="1200">
                <a:solidFill>
                  <a:srgbClr val="4F5D6A"/>
                </a:solidFill>
                <a:latin typeface="Consolas"/>
              </a:rPr>
              <a:t>26</a:t>
            </a:r>
          </a:p>
          <a:p>
            <a:pPr algn="r">
              <a:lnSpc>
                <a:spcPct val="100000"/>
              </a:lnSpc>
            </a:pPr>
            <a:r>
              <a:rPr sz="1200">
                <a:solidFill>
                  <a:srgbClr val="4F5D6A"/>
                </a:solidFill>
                <a:latin typeface="Consolas"/>
              </a:rPr>
              <a:t>27</a:t>
            </a:r>
          </a:p>
          <a:p>
            <a:pPr algn="r">
              <a:lnSpc>
                <a:spcPct val="100000"/>
              </a:lnSpc>
            </a:pPr>
            <a:r>
              <a:rPr sz="1200">
                <a:solidFill>
                  <a:srgbClr val="4F5D6A"/>
                </a:solidFill>
                <a:latin typeface="Consolas"/>
              </a:rPr>
              <a:t>28</a:t>
            </a:r>
          </a:p>
          <a:p>
            <a:pPr algn="r">
              <a:lnSpc>
                <a:spcPct val="100000"/>
              </a:lnSpc>
            </a:pPr>
            <a:r>
              <a:rPr sz="1200">
                <a:solidFill>
                  <a:srgbClr val="4F5D6A"/>
                </a:solidFill>
                <a:latin typeface="Consolas"/>
              </a:rPr>
              <a:t>29</a:t>
            </a:r>
          </a:p>
          <a:p>
            <a:pPr algn="r">
              <a:lnSpc>
                <a:spcPct val="100000"/>
              </a:lnSpc>
            </a:pPr>
            <a:r>
              <a:rPr sz="1200">
                <a:solidFill>
                  <a:srgbClr val="4F5D6A"/>
                </a:solidFill>
                <a:latin typeface="Consolas"/>
              </a:rPr>
              <a:t>30</a:t>
            </a:r>
          </a:p>
          <a:p>
            <a:pPr algn="r">
              <a:lnSpc>
                <a:spcPct val="100000"/>
              </a:lnSpc>
            </a:pPr>
            <a:r>
              <a:rPr sz="1200">
                <a:solidFill>
                  <a:srgbClr val="4F5D6A"/>
                </a:solidFill>
                <a:latin typeface="Consolas"/>
              </a:rPr>
              <a:t>31</a:t>
            </a:r>
          </a:p>
          <a:p>
            <a:pPr algn="r">
              <a:lnSpc>
                <a:spcPct val="100000"/>
              </a:lnSpc>
            </a:pPr>
            <a:r>
              <a:rPr sz="1200">
                <a:solidFill>
                  <a:srgbClr val="4F5D6A"/>
                </a:solidFill>
                <a:latin typeface="Consolas"/>
              </a:rPr>
              <a:t>32</a:t>
            </a:r>
          </a:p>
          <a:p>
            <a:pPr algn="r">
              <a:lnSpc>
                <a:spcPct val="100000"/>
              </a:lnSpc>
            </a:pPr>
            <a:r>
              <a:rPr sz="1200">
                <a:solidFill>
                  <a:srgbClr val="4F5D6A"/>
                </a:solidFill>
                <a:latin typeface="Consolas"/>
              </a:rPr>
              <a:t>33</a:t>
            </a:r>
          </a:p>
          <a:p>
            <a:pPr algn="r">
              <a:lnSpc>
                <a:spcPct val="100000"/>
              </a:lnSpc>
            </a:pPr>
            <a:r>
              <a:rPr sz="1200">
                <a:solidFill>
                  <a:srgbClr val="4F5D6A"/>
                </a:solidFill>
                <a:latin typeface="Consolas"/>
              </a:rPr>
              <a:t>34</a:t>
            </a:r>
          </a:p>
          <a:p>
            <a:pPr algn="r">
              <a:lnSpc>
                <a:spcPct val="100000"/>
              </a:lnSpc>
            </a:pPr>
            <a:r>
              <a:rPr sz="1200">
                <a:solidFill>
                  <a:srgbClr val="4F5D6A"/>
                </a:solidFill>
                <a:latin typeface="Consolas"/>
              </a:rPr>
              <a:t>35</a:t>
            </a:r>
          </a:p>
          <a:p>
            <a:pPr algn="r">
              <a:lnSpc>
                <a:spcPct val="100000"/>
              </a:lnSpc>
            </a:pPr>
            <a:r>
              <a:rPr sz="1200">
                <a:solidFill>
                  <a:srgbClr val="4F5D6A"/>
                </a:solidFill>
                <a:latin typeface="Consolas"/>
              </a:rPr>
              <a:t>36</a:t>
            </a:r>
          </a:p>
          <a:p>
            <a:pPr algn="r">
              <a:lnSpc>
                <a:spcPct val="100000"/>
              </a:lnSpc>
            </a:pPr>
            <a:r>
              <a:rPr sz="1200">
                <a:solidFill>
                  <a:srgbClr val="4F5D6A"/>
                </a:solidFill>
                <a:latin typeface="Consolas"/>
              </a:rPr>
              <a:t>37</a:t>
            </a:r>
          </a:p>
          <a:p>
            <a:pPr algn="r">
              <a:lnSpc>
                <a:spcPct val="100000"/>
              </a:lnSpc>
            </a:pPr>
            <a:r>
              <a:rPr sz="1200">
                <a:solidFill>
                  <a:srgbClr val="4F5D6A"/>
                </a:solidFill>
                <a:latin typeface="Consolas"/>
              </a:rPr>
              <a:t>38</a:t>
            </a:r>
          </a:p>
          <a:p>
            <a:pPr algn="r">
              <a:lnSpc>
                <a:spcPct val="100000"/>
              </a:lnSpc>
            </a:pPr>
            <a:r>
              <a:rPr sz="1200">
                <a:solidFill>
                  <a:srgbClr val="4F5D6A"/>
                </a:solidFill>
                <a:latin typeface="Consolas"/>
              </a:rPr>
              <a:t>39</a:t>
            </a:r>
          </a:p>
          <a:p>
            <a:pPr algn="r">
              <a:lnSpc>
                <a:spcPct val="100000"/>
              </a:lnSpc>
            </a:pPr>
            <a:r>
              <a:rPr sz="1200">
                <a:solidFill>
                  <a:srgbClr val="4F5D6A"/>
                </a:solidFill>
                <a:latin typeface="Consolas"/>
              </a:rPr>
              <a:t>40</a:t>
            </a:r>
          </a:p>
          <a:p>
            <a:pPr algn="r">
              <a:lnSpc>
                <a:spcPct val="100000"/>
              </a:lnSpc>
            </a:pPr>
            <a:r>
              <a:rPr sz="1200">
                <a:solidFill>
                  <a:srgbClr val="4F5D6A"/>
                </a:solidFill>
                <a:latin typeface="Consolas"/>
              </a:rPr>
              <a:t>41</a:t>
            </a:r>
          </a:p>
          <a:p>
            <a:pPr algn="r">
              <a:lnSpc>
                <a:spcPct val="100000"/>
              </a:lnSpc>
            </a:pPr>
            <a:r>
              <a:rPr sz="1200">
                <a:solidFill>
                  <a:srgbClr val="4F5D6A"/>
                </a:solidFill>
                <a:latin typeface="Consolas"/>
              </a:rPr>
              <a:t>42</a:t>
            </a:r>
          </a:p>
          <a:p>
            <a:pPr algn="r">
              <a:lnSpc>
                <a:spcPct val="100000"/>
              </a:lnSpc>
            </a:pPr>
            <a:r>
              <a:rPr sz="1200">
                <a:solidFill>
                  <a:srgbClr val="4F5D6A"/>
                </a:solidFill>
                <a:latin typeface="Consolas"/>
              </a:rPr>
              <a:t>43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851B8E30-AC07-4B52-9F28-51C4D592DD77}"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Gaussian naive Bayes on the code-churn example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code/ch10_naive_bayes_counting.py</a:t>
            </a:r>
          </a:p>
        </p:txBody>
      </p:sp>
      <p:sp>
        <p:nvSpPr>
          <p:cNvPr id="14" name="!!code-text" descr="# --- 2. Gaussian naive Bayes on the code-churn example ------------------- rng = np.random.default_rng(0) churn = np.r_[rng.normal(500, 100, 1900), # modules that pass QA rng.normal(900, 150, 100)] # the 5% that fail fails = np.r_[np.zeros(1900), np.ones(100)] gnb = GaussianNB().fit(churn.reshape(-1, 1), fails) print(&quot;learned means:&quot;, gnb.theta_.ravel().round(0)) print(&quot;P(fail | 750 lines):&quot;, gnb.predict_proba([[750]])[0, 1].round(2)) grid = np.arange(600, 1000).reshape(-1, 1) print(&quot;boundary near&quot;, int(grid[gnb.predict(grid) == 1][0, 0]), &quot;lines&quot;)"/>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Gaussian naive Bayes on the code-churn example -------------------</a:t>
            </a:r>
          </a:p>
          <a:p>
            <a:pPr>
              <a:lnSpc>
                <a:spcPct val="100000"/>
              </a:lnSpc>
              <a:spcAft>
                <a:spcPts val="0"/>
              </a:spcAft>
            </a:pPr>
            <a:r>
              <a:rPr sz="1800" i="0">
                <a:solidFill>
                  <a:srgbClr val="E8EDF2"/>
                </a:solidFill>
                <a:latin typeface="Consolas"/>
              </a:rPr>
              <a:t>rng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random</a:t>
            </a:r>
            <a:r>
              <a:rPr sz="1800" i="0">
                <a:solidFill>
                  <a:srgbClr val="AEB6BF"/>
                </a:solidFill>
                <a:latin typeface="Consolas"/>
              </a:rPr>
              <a:t>.</a:t>
            </a:r>
            <a:r>
              <a:rPr sz="1800" i="0">
                <a:solidFill>
                  <a:srgbClr val="E8EDF2"/>
                </a:solidFill>
                <a:latin typeface="Consolas"/>
              </a:rPr>
              <a:t>default_rng</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a:p>
            <a:pPr>
              <a:lnSpc>
                <a:spcPct val="100000"/>
              </a:lnSpc>
              <a:spcAft>
                <a:spcPts val="0"/>
              </a:spcAft>
            </a:pPr>
            <a:r>
              <a:rPr sz="1800" i="0">
                <a:solidFill>
                  <a:srgbClr val="E8EDF2"/>
                </a:solidFill>
                <a:latin typeface="Consolas"/>
              </a:rPr>
              <a:t>churn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r_</a:t>
            </a:r>
            <a:r>
              <a:rPr sz="1800" i="0">
                <a:solidFill>
                  <a:srgbClr val="AEB6BF"/>
                </a:solidFill>
                <a:latin typeface="Consolas"/>
              </a:rPr>
              <a:t>[</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500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1900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modules that pass QA</a:t>
            </a:r>
          </a:p>
          <a:p>
            <a:pPr>
              <a:lnSpc>
                <a:spcPct val="100000"/>
              </a:lnSpc>
              <a:spcAft>
                <a:spcPts val="0"/>
              </a:spcAft>
            </a:pPr>
            <a:r>
              <a:rPr sz="1800" i="0">
                <a:solidFill>
                  <a:srgbClr val="E8EDF2"/>
                </a:solidFill>
                <a:latin typeface="Consolas"/>
              </a:rPr>
              <a:t>              </a:t>
            </a:r>
            <a:r>
              <a:rPr sz="1800" i="0">
                <a:solidFill>
                  <a:srgbClr val="E8EDF2"/>
                </a:solidFill>
                <a:latin typeface="Consolas"/>
              </a:rPr>
              <a:t>rng</a:t>
            </a:r>
            <a:r>
              <a:rPr sz="1800" i="0">
                <a:solidFill>
                  <a:srgbClr val="AEB6BF"/>
                </a:solidFill>
                <a:latin typeface="Consolas"/>
              </a:rPr>
              <a:t>.</a:t>
            </a:r>
            <a:r>
              <a:rPr sz="1800" i="0">
                <a:solidFill>
                  <a:srgbClr val="E8EDF2"/>
                </a:solidFill>
                <a:latin typeface="Consolas"/>
              </a:rPr>
              <a:t>normal</a:t>
            </a:r>
            <a:r>
              <a:rPr sz="1800" i="0">
                <a:solidFill>
                  <a:srgbClr val="AEB6BF"/>
                </a:solidFill>
                <a:latin typeface="Consolas"/>
              </a:rPr>
              <a:t>(</a:t>
            </a:r>
            <a:r>
              <a:rPr sz="1800" i="0">
                <a:solidFill>
                  <a:srgbClr val="F7DC6F"/>
                </a:solidFill>
                <a:latin typeface="Consolas"/>
              </a:rPr>
              <a:t>900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150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the 5% that fail</a:t>
            </a:r>
          </a:p>
          <a:p>
            <a:pPr>
              <a:lnSpc>
                <a:spcPct val="100000"/>
              </a:lnSpc>
              <a:spcAft>
                <a:spcPts val="0"/>
              </a:spcAft>
            </a:pPr>
            <a:r>
              <a:rPr sz="1800" i="0">
                <a:solidFill>
                  <a:srgbClr val="E8EDF2"/>
                </a:solidFill>
                <a:latin typeface="Consolas"/>
              </a:rPr>
              <a:t>fails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r_</a:t>
            </a:r>
            <a:r>
              <a:rPr sz="1800" i="0">
                <a:solidFill>
                  <a:srgbClr val="AEB6BF"/>
                </a:solidFill>
                <a:latin typeface="Consolas"/>
              </a:rPr>
              <a:t>[</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zeros</a:t>
            </a:r>
            <a:r>
              <a:rPr sz="1800" i="0">
                <a:solidFill>
                  <a:srgbClr val="AEB6BF"/>
                </a:solidFill>
                <a:latin typeface="Consolas"/>
              </a:rPr>
              <a:t>(</a:t>
            </a:r>
            <a:r>
              <a:rPr sz="1800" i="0">
                <a:solidFill>
                  <a:srgbClr val="F7DC6F"/>
                </a:solidFill>
                <a:latin typeface="Consolas"/>
              </a:rPr>
              <a:t>1900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ones</a:t>
            </a:r>
            <a:r>
              <a:rPr sz="1800" i="0">
                <a:solidFill>
                  <a:srgbClr val="AEB6BF"/>
                </a:solidFill>
                <a:latin typeface="Consolas"/>
              </a:rPr>
              <a:t>(</a:t>
            </a:r>
            <a:r>
              <a:rPr sz="1800" i="0">
                <a:solidFill>
                  <a:srgbClr val="F7DC6F"/>
                </a:solidFill>
                <a:latin typeface="Consolas"/>
              </a:rPr>
              <a:t>100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gnb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GaussianNB</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churn</a:t>
            </a:r>
            <a:r>
              <a:rPr sz="1800" i="0">
                <a:solidFill>
                  <a:srgbClr val="AEB6BF"/>
                </a:solidFill>
                <a:latin typeface="Consolas"/>
              </a:rPr>
              <a:t>.</a:t>
            </a:r>
            <a:r>
              <a:rPr sz="1800" i="0">
                <a:solidFill>
                  <a:srgbClr val="E8EDF2"/>
                </a:solidFill>
                <a:latin typeface="Consolas"/>
              </a:rPr>
              <a:t>reshape</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fails</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learned means: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gnb</a:t>
            </a:r>
            <a:r>
              <a:rPr sz="1800" i="0">
                <a:solidFill>
                  <a:srgbClr val="AEB6BF"/>
                </a:solidFill>
                <a:latin typeface="Consolas"/>
              </a:rPr>
              <a:t>.</a:t>
            </a:r>
            <a:r>
              <a:rPr sz="1800" i="0">
                <a:solidFill>
                  <a:srgbClr val="E8EDF2"/>
                </a:solidFill>
                <a:latin typeface="Consolas"/>
              </a:rPr>
              <a:t>theta_</a:t>
            </a:r>
            <a:r>
              <a:rPr sz="1800" i="0">
                <a:solidFill>
                  <a:srgbClr val="AEB6BF"/>
                </a:solidFill>
                <a:latin typeface="Consolas"/>
              </a:rPr>
              <a:t>.</a:t>
            </a:r>
            <a:r>
              <a:rPr sz="1800" i="0">
                <a:solidFill>
                  <a:srgbClr val="E8EDF2"/>
                </a:solidFill>
                <a:latin typeface="Consolas"/>
              </a:rPr>
              <a:t>ravel</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P(fail | 750 lines):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gnb</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750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grid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arange</a:t>
            </a:r>
            <a:r>
              <a:rPr sz="1800" i="0">
                <a:solidFill>
                  <a:srgbClr val="AEB6BF"/>
                </a:solidFill>
                <a:latin typeface="Consolas"/>
              </a:rPr>
              <a:t>(</a:t>
            </a:r>
            <a:r>
              <a:rPr sz="1800" i="0">
                <a:solidFill>
                  <a:srgbClr val="F7DC6F"/>
                </a:solidFill>
                <a:latin typeface="Consolas"/>
              </a:rPr>
              <a:t>600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1000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reshape</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boundary near</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int</a:t>
            </a:r>
            <a:r>
              <a:rPr sz="1800" i="0">
                <a:solidFill>
                  <a:srgbClr val="AEB6BF"/>
                </a:solidFill>
                <a:latin typeface="Consolas"/>
              </a:rPr>
              <a:t>(</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gnb</a:t>
            </a:r>
            <a:r>
              <a:rPr sz="1800" i="0">
                <a:solidFill>
                  <a:srgbClr val="AEB6BF"/>
                </a:solidFill>
                <a:latin typeface="Consolas"/>
              </a:rPr>
              <a:t>.</a:t>
            </a:r>
            <a:r>
              <a:rPr sz="1800" i="0">
                <a:solidFill>
                  <a:srgbClr val="E8EDF2"/>
                </a:solidFill>
                <a:latin typeface="Consolas"/>
              </a:rPr>
              <a:t>predict</a:t>
            </a:r>
            <a:r>
              <a:rPr sz="1800" i="0">
                <a:solidFill>
                  <a:srgbClr val="AEB6BF"/>
                </a:solidFill>
                <a:latin typeface="Consolas"/>
              </a:rPr>
              <a:t>(</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0</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lines</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a:p>
            <a:pPr algn="r">
              <a:lnSpc>
                <a:spcPct val="100000"/>
              </a:lnSpc>
            </a:pPr>
            <a:r>
              <a:rPr sz="18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7802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Naive Bayes by Counting, Then by Library</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5B735ECF-CB1E-443E-9E16-D8A33FE0DC76}"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ticket router from twelve tickets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code/ch10_naive_bayes_counting.py</a:t>
            </a:r>
          </a:p>
        </p:txBody>
      </p:sp>
      <p:sp>
        <p:nvSpPr>
          <p:cNvPr id="14" name="!!code-text" descr="# --- 3. a ticket router from twelve tickets ------------------------------ tickets = [&quot;app crashes when saving&quot;, &quot;error on the export page&quot;, &quot;crash after the update&quot;, &quot;null pointer error in upload&quot;, &quot;report page crashes on load&quot;, &quot;error message on checkout&quot;, &quot;add an option to export pdf&quot;, &quot;please add a dark mode&quot;, &quot;option to filter by date&quot;, &quot;add support for csv import&quot;, &quot;add a bulk edit option&quot;, &quot;please add weekly summary&quot;] labels = [1] * 6 + [0] * 6 # 1 = bug vec = CountVectorizer() nb = MultinomialNB(alpha=1.0).fit(vec.fit_transform(tickets), labels) for t in [&quot;crash after export&quot;, &quot;add export option&quot;, &quot;crash option crash&quot;]: p = nb.predict_proba(vec.transform([t]))[0, 1] print(f&quot;{t!r:22s} P(bug) = {p:.3f}&quot;)"/>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ticket router from twelve tickets ------------------------------</a:t>
            </a:r>
          </a:p>
          <a:p>
            <a:pPr>
              <a:lnSpc>
                <a:spcPct val="100000"/>
              </a:lnSpc>
              <a:spcAft>
                <a:spcPts val="0"/>
              </a:spcAft>
            </a:pPr>
            <a:r>
              <a:rPr sz="1800" i="0">
                <a:solidFill>
                  <a:srgbClr val="E8EDF2"/>
                </a:solidFill>
                <a:latin typeface="Consolas"/>
              </a:rPr>
              <a:t>tickets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app crashes when saving</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error on the export page</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crash after the update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null pointer error in upload</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report page crashes on load</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error message on checkout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add an option to export pdf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please add a dark mode</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option to filter by date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add support for csv import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add a bulk edit option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please add weekly summary</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labels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6</a:t>
            </a:r>
            <a:r>
              <a:rPr sz="1800" i="0">
                <a:solidFill>
                  <a:srgbClr val="E8EDF2"/>
                </a:solidFill>
                <a:latin typeface="Consolas"/>
              </a:rPr>
              <a:t>                         </a:t>
            </a:r>
            <a:r>
              <a:rPr sz="1800" i="1">
                <a:solidFill>
                  <a:srgbClr val="8795A1"/>
                </a:solidFill>
                <a:latin typeface="Consolas"/>
              </a:rPr>
              <a:t># 1 = bug</a:t>
            </a:r>
          </a:p>
          <a:p>
            <a:pPr>
              <a:lnSpc>
                <a:spcPct val="100000"/>
              </a:lnSpc>
              <a:spcAft>
                <a:spcPts val="0"/>
              </a:spcAft>
            </a:pPr>
            <a:r>
              <a:rPr sz="1800" i="0">
                <a:solidFill>
                  <a:srgbClr val="E8EDF2"/>
                </a:solidFill>
                <a:latin typeface="Consolas"/>
              </a:rPr>
              <a:t>vec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CountVectorizer</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nb</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MultinomialNB</a:t>
            </a:r>
            <a:r>
              <a:rPr sz="1800" i="0">
                <a:solidFill>
                  <a:srgbClr val="AEB6BF"/>
                </a:solidFill>
                <a:latin typeface="Consolas"/>
              </a:rPr>
              <a:t>(</a:t>
            </a:r>
            <a:r>
              <a:rPr sz="1800" i="0">
                <a:solidFill>
                  <a:srgbClr val="E8EDF2"/>
                </a:solidFill>
                <a:latin typeface="Consolas"/>
              </a:rPr>
              <a:t>alpha</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vec</a:t>
            </a:r>
            <a:r>
              <a:rPr sz="1800" i="0">
                <a:solidFill>
                  <a:srgbClr val="AEB6BF"/>
                </a:solidFill>
                <a:latin typeface="Consolas"/>
              </a:rPr>
              <a:t>.</a:t>
            </a:r>
            <a:r>
              <a:rPr sz="1800" i="0">
                <a:solidFill>
                  <a:srgbClr val="E8EDF2"/>
                </a:solidFill>
                <a:latin typeface="Consolas"/>
              </a:rPr>
              <a:t>fit_transform</a:t>
            </a:r>
            <a:r>
              <a:rPr sz="1800" i="0">
                <a:solidFill>
                  <a:srgbClr val="AEB6BF"/>
                </a:solidFill>
                <a:latin typeface="Consolas"/>
              </a:rPr>
              <a:t>(</a:t>
            </a:r>
            <a:r>
              <a:rPr sz="1800" i="0">
                <a:solidFill>
                  <a:srgbClr val="E8EDF2"/>
                </a:solidFill>
                <a:latin typeface="Consolas"/>
              </a:rPr>
              <a:t>tickets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labels</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crash after export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add export option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crash option crash</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nb</a:t>
            </a:r>
            <a:r>
              <a:rPr sz="1800" i="0">
                <a:solidFill>
                  <a:srgbClr val="AEB6BF"/>
                </a:solidFill>
                <a:latin typeface="Consolas"/>
              </a:rPr>
              <a:t>.</a:t>
            </a:r>
            <a:r>
              <a:rPr sz="1800" i="0">
                <a:solidFill>
                  <a:srgbClr val="E8EDF2"/>
                </a:solidFill>
                <a:latin typeface="Consolas"/>
              </a:rPr>
              <a:t>predict_proba</a:t>
            </a:r>
            <a:r>
              <a:rPr sz="1800" i="0">
                <a:solidFill>
                  <a:srgbClr val="AEB6BF"/>
                </a:solidFill>
                <a:latin typeface="Consolas"/>
              </a:rPr>
              <a:t>(</a:t>
            </a:r>
            <a:r>
              <a:rPr sz="1800" i="0">
                <a:solidFill>
                  <a:srgbClr val="E8EDF2"/>
                </a:solidFill>
                <a:latin typeface="Consolas"/>
              </a:rPr>
              <a:t>vec</a:t>
            </a:r>
            <a:r>
              <a:rPr sz="1800" i="0">
                <a:solidFill>
                  <a:srgbClr val="AEB6BF"/>
                </a:solidFill>
                <a:latin typeface="Consolas"/>
              </a:rPr>
              <a:t>.</a:t>
            </a:r>
            <a:r>
              <a:rPr sz="1800" i="0">
                <a:solidFill>
                  <a:srgbClr val="E8EDF2"/>
                </a:solidFill>
                <a:latin typeface="Consolas"/>
              </a:rPr>
              <a:t>transform</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t</a:t>
            </a:r>
            <a:r>
              <a:rPr sz="1800" i="0">
                <a:solidFill>
                  <a:srgbClr val="7DCEA0"/>
                </a:solidFill>
                <a:latin typeface="Consolas"/>
              </a:rPr>
              <a:t>!r:</a:t>
            </a:r>
            <a:r>
              <a:rPr sz="1800" i="0">
                <a:solidFill>
                  <a:srgbClr val="7DCEA0"/>
                </a:solidFill>
                <a:latin typeface="Consolas"/>
              </a:rPr>
              <a:t>22s</a:t>
            </a:r>
            <a:r>
              <a:rPr sz="1800" i="0">
                <a:solidFill>
                  <a:srgbClr val="7DCEA0"/>
                </a:solidFill>
                <a:latin typeface="Consolas"/>
              </a:rPr>
              <a:t>}</a:t>
            </a:r>
            <a:r>
              <a:rPr sz="1800" i="0">
                <a:solidFill>
                  <a:srgbClr val="7DCEA0"/>
                </a:solidFill>
                <a:latin typeface="Consolas"/>
              </a:rPr>
              <a:t> P(bug) = </a:t>
            </a:r>
            <a:r>
              <a:rPr sz="1800" i="0">
                <a:solidFill>
                  <a:srgbClr val="7DCEA0"/>
                </a:solidFill>
                <a:latin typeface="Consolas"/>
              </a:rPr>
              <a:t>{</a:t>
            </a:r>
            <a:r>
              <a:rPr sz="1800" i="0">
                <a:solidFill>
                  <a:srgbClr val="E8EDF2"/>
                </a:solidFill>
                <a:latin typeface="Consolas"/>
              </a:rPr>
              <a:t>p</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a:p>
            <a:pPr algn="r">
              <a:lnSpc>
                <a:spcPct val="100000"/>
              </a:lnSpc>
            </a:pPr>
            <a:r>
              <a:rPr sz="1800">
                <a:solidFill>
                  <a:srgbClr val="4F5D6A"/>
                </a:solidFill>
                <a:latin typeface="Consolas"/>
              </a:rPr>
              <a:t>63</a:t>
            </a:r>
          </a:p>
          <a:p>
            <a:pPr algn="r">
              <a:lnSpc>
                <a:spcPct val="100000"/>
              </a:lnSpc>
            </a:pPr>
            <a:r>
              <a:rPr sz="1800">
                <a:solidFill>
                  <a:srgbClr val="4F5D6A"/>
                </a:solidFill>
                <a:latin typeface="Consolas"/>
              </a:rPr>
              <a:t>64</a:t>
            </a:r>
          </a:p>
          <a:p>
            <a:pPr algn="r">
              <a:lnSpc>
                <a:spcPct val="100000"/>
              </a:lnSpc>
            </a:pPr>
            <a:r>
              <a:rPr sz="1800">
                <a:solidFill>
                  <a:srgbClr val="4F5D6A"/>
                </a:solidFill>
                <a:latin typeface="Consolas"/>
              </a:rPr>
              <a:t>65</a:t>
            </a:r>
          </a:p>
          <a:p>
            <a:pPr algn="r">
              <a:lnSpc>
                <a:spcPct val="100000"/>
              </a:lnSpc>
            </a:pPr>
            <a:r>
              <a:rPr sz="1800">
                <a:solidFill>
                  <a:srgbClr val="4F5D6A"/>
                </a:solidFill>
                <a:latin typeface="Consolas"/>
              </a:rPr>
              <a:t>66</a:t>
            </a:r>
          </a:p>
          <a:p>
            <a:pPr algn="r">
              <a:lnSpc>
                <a:spcPct val="100000"/>
              </a:lnSpc>
            </a:pPr>
            <a:r>
              <a:rPr sz="1800">
                <a:solidFill>
                  <a:srgbClr val="4F5D6A"/>
                </a:solidFill>
                <a:latin typeface="Consolas"/>
              </a:rPr>
              <a:t>67</a:t>
            </a:r>
          </a:p>
          <a:p>
            <a:pPr algn="r">
              <a:lnSpc>
                <a:spcPct val="100000"/>
              </a:lnSpc>
            </a:pPr>
            <a:r>
              <a:rPr sz="1800">
                <a:solidFill>
                  <a:srgbClr val="4F5D6A"/>
                </a:solidFill>
                <a:latin typeface="Consolas"/>
              </a:rPr>
              <a:t>68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02185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§10.7  ·  Handout p. 79     </a:t>
            </a:r>
            <a:fld id="{BCA903D6-C262-4F55-A4CC-826D868CF8C2}"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Part 1 reproduces both worked examples. Part 2 samples modules from the two Gaussians of the worked example and lets </a:t>
            </a:r>
            <a:r>
              <a:rPr sz="2150" b="0" i="0">
                <a:solidFill>
                  <a:srgbClr val="1F4E79"/>
                </a:solidFill>
                <a:latin typeface="Consolas"/>
              </a:rPr>
              <a:t>GaussianNB</a:t>
            </a:r>
            <a:r>
              <a:rPr sz="2300" b="0" i="0">
                <a:solidFill>
                  <a:srgbClr val="1C252B"/>
                </a:solidFill>
                <a:latin typeface="Segoe UI"/>
              </a:rPr>
              <a:t> estimate them; its answer is close to the 0.33 and 772 lines computed by hand. In part 3, </a:t>
            </a:r>
            <a:r>
              <a:rPr sz="2150" b="0" i="0">
                <a:solidFill>
                  <a:srgbClr val="1F4E79"/>
                </a:solidFill>
                <a:latin typeface="Consolas"/>
              </a:rPr>
              <a:t>alpha</a:t>
            </a:r>
            <a:r>
              <a:rPr sz="2300" b="0" i="0">
                <a:solidFill>
                  <a:srgbClr val="1C252B"/>
                </a:solidFill>
                <a:latin typeface="Segoe UI"/>
              </a:rPr>
              <a:t> is the smoothing constant: set it to </a:t>
            </a:r>
            <a:r>
              <a:rPr sz="2150" b="0" i="0">
                <a:solidFill>
                  <a:srgbClr val="1F4E79"/>
                </a:solidFill>
                <a:latin typeface="Consolas"/>
              </a:rPr>
              <a:t>1e-9</a:t>
            </a:r>
            <a:r>
              <a:rPr sz="2300" b="0" i="0">
                <a:solidFill>
                  <a:srgbClr val="1C252B"/>
                </a:solidFill>
                <a:latin typeface="Segoe UI"/>
              </a:rPr>
              <a:t> and classify “crash option crash” again.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2656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1% of releases would break production. A pre-release check flags 90% of those and 5% of good releases. Give </a:t>
            </a:r>
            <a:r>
              <a:rPr sz="3400" b="0" i="1">
                <a:solidFill>
                  <a:srgbClr val="FFFFFF"/>
                </a:solidFill>
                <a:latin typeface="Cambria"/>
              </a:rPr>
              <a:t>h</a:t>
            </a:r>
            <a:r>
              <a:rPr sz="3400" b="0" i="1" baseline="-25000">
                <a:solidFill>
                  <a:srgbClr val="FFFFFF"/>
                </a:solidFill>
                <a:latin typeface="Cambria"/>
              </a:rPr>
              <a:t>MAP</a:t>
            </a:r>
            <a:r>
              <a:rPr sz="3400" b="0" i="0">
                <a:solidFill>
                  <a:srgbClr val="FFFFFF"/>
                </a:solidFill>
                <a:latin typeface="Segoe UI Semibold"/>
              </a:rPr>
              <a:t> and </a:t>
            </a:r>
            <a:r>
              <a:rPr sz="3400" b="0" i="1">
                <a:solidFill>
                  <a:srgbClr val="FFFFFF"/>
                </a:solidFill>
                <a:latin typeface="Cambria"/>
              </a:rPr>
              <a:t>h</a:t>
            </a:r>
            <a:r>
              <a:rPr sz="3400" b="0" i="1" baseline="-25000">
                <a:solidFill>
                  <a:srgbClr val="FFFFFF"/>
                </a:solidFill>
                <a:latin typeface="Cambria"/>
              </a:rPr>
              <a:t>ML</a:t>
            </a:r>
            <a:r>
              <a:rPr sz="3400" b="0" i="0">
                <a:solidFill>
                  <a:srgbClr val="FFFFFF"/>
                </a:solidFill>
                <a:latin typeface="Segoe UI Semibold"/>
              </a:rPr>
              <a:t> for a release the check has flagged.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10  ·  Bayesian Learning and Naive Bayes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82  ·  answers in Appendix D     </a:t>
            </a:r>
            <a:fld id="{A7A9D4C3-495C-4CC1-853B-5F487B1D8A98}"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1% of releases would break production. A pre-release check flags 90% of those and 5% of good releases. Give </a:t>
            </a:r>
            <a:r>
              <a:rPr sz="2400" b="0" i="1">
                <a:solidFill>
                  <a:srgbClr val="1A5276"/>
                </a:solidFill>
                <a:latin typeface="Cambria"/>
              </a:rPr>
              <a:t>h</a:t>
            </a:r>
            <a:r>
              <a:rPr sz="2400" b="0" i="1" baseline="-25000">
                <a:solidFill>
                  <a:srgbClr val="1A5276"/>
                </a:solidFill>
                <a:latin typeface="Cambria"/>
              </a:rPr>
              <a:t>MAP</a:t>
            </a:r>
            <a:r>
              <a:rPr sz="2400" b="0" i="0">
                <a:solidFill>
                  <a:srgbClr val="1A5276"/>
                </a:solidFill>
                <a:latin typeface="Segoe UI Semibold"/>
              </a:rPr>
              <a:t> and </a:t>
            </a:r>
            <a:r>
              <a:rPr sz="2400" b="0" i="1">
                <a:solidFill>
                  <a:srgbClr val="1A5276"/>
                </a:solidFill>
                <a:latin typeface="Cambria"/>
              </a:rPr>
              <a:t>h</a:t>
            </a:r>
            <a:r>
              <a:rPr sz="2400" b="0" i="1" baseline="-25000">
                <a:solidFill>
                  <a:srgbClr val="1A5276"/>
                </a:solidFill>
                <a:latin typeface="Cambria"/>
              </a:rPr>
              <a:t>ML</a:t>
            </a:r>
            <a:r>
              <a:rPr sz="2400" b="0" i="0">
                <a:solidFill>
                  <a:srgbClr val="1A5276"/>
                </a:solidFill>
                <a:latin typeface="Segoe UI Semibold"/>
              </a:rPr>
              <a:t> for a release the check has flagged.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Would break: </a:t>
            </a:r>
            <a:r>
              <a:rPr sz="2200" b="0" i="0">
                <a:solidFill>
                  <a:srgbClr val="1C252B"/>
                </a:solidFill>
                <a:latin typeface="Cambria"/>
              </a:rPr>
              <a:t>0.9 × 0.01 = 0.009</a:t>
            </a:r>
            <a:r>
              <a:rPr sz="2200" b="0" i="0">
                <a:solidFill>
                  <a:srgbClr val="1C252B"/>
                </a:solidFill>
                <a:latin typeface="Segoe UI"/>
              </a:rPr>
              <a:t>; good: </a:t>
            </a:r>
            <a:r>
              <a:rPr sz="2200" b="0" i="0">
                <a:solidFill>
                  <a:srgbClr val="1C252B"/>
                </a:solidFill>
                <a:latin typeface="Cambria"/>
              </a:rPr>
              <a:t>0.05 × 0.99 = 0.0495</a:t>
            </a:r>
            <a:r>
              <a:rPr sz="2200" b="0" i="0">
                <a:solidFill>
                  <a:srgbClr val="1C252B"/>
                </a:solidFill>
                <a:latin typeface="Segoe UI"/>
              </a:rPr>
              <a:t>. So </a:t>
            </a:r>
            <a:r>
              <a:rPr sz="2200" b="0" i="1">
                <a:solidFill>
                  <a:srgbClr val="1C252B"/>
                </a:solidFill>
                <a:latin typeface="Cambria"/>
              </a:rPr>
              <a:t>h</a:t>
            </a:r>
            <a:r>
              <a:rPr sz="2200" b="0" i="1" baseline="-25000">
                <a:solidFill>
                  <a:srgbClr val="1C252B"/>
                </a:solidFill>
                <a:latin typeface="Cambria"/>
              </a:rPr>
              <a:t>MAP</a:t>
            </a:r>
            <a:r>
              <a:rPr sz="2200" b="0" i="0">
                <a:solidFill>
                  <a:srgbClr val="1C252B"/>
                </a:solidFill>
                <a:latin typeface="Segoe UI"/>
              </a:rPr>
              <a:t> is </a:t>
            </a:r>
            <a:r>
              <a:rPr sz="2200" b="0" i="1">
                <a:solidFill>
                  <a:srgbClr val="1C252B"/>
                </a:solidFill>
                <a:latin typeface="Segoe UI"/>
              </a:rPr>
              <a:t>good</a:t>
            </a:r>
            <a:r>
              <a:rPr sz="2200" b="0" i="0">
                <a:solidFill>
                  <a:srgbClr val="1C252B"/>
                </a:solidFill>
                <a:latin typeface="Segoe UI"/>
              </a:rPr>
              <a:t>; </a:t>
            </a:r>
            <a:r>
              <a:rPr sz="2200" b="0" i="1">
                <a:solidFill>
                  <a:srgbClr val="1C252B"/>
                </a:solidFill>
                <a:latin typeface="Cambria"/>
              </a:rPr>
              <a:t>h</a:t>
            </a:r>
            <a:r>
              <a:rPr sz="2200" b="0" i="1" baseline="-25000">
                <a:solidFill>
                  <a:srgbClr val="1C252B"/>
                </a:solidFill>
                <a:latin typeface="Cambria"/>
              </a:rPr>
              <a:t>ML</a:t>
            </a:r>
            <a:r>
              <a:rPr sz="2200" b="0" i="0">
                <a:solidFill>
                  <a:srgbClr val="1C252B"/>
                </a:solidFill>
                <a:latin typeface="Segoe UI"/>
              </a:rPr>
              <a:t> is </a:t>
            </a:r>
            <a:r>
              <a:rPr sz="2200" b="0" i="1">
                <a:solidFill>
                  <a:srgbClr val="1C252B"/>
                </a:solidFill>
                <a:latin typeface="Segoe UI"/>
              </a:rPr>
              <a:t>would break</a:t>
            </a:r>
            <a:r>
              <a:rPr sz="2200" b="0" i="0">
                <a:solidFill>
                  <a:srgbClr val="1C252B"/>
                </a:solidFill>
                <a:latin typeface="Segoe UI"/>
              </a:rPr>
              <a:t> (</a:t>
            </a:r>
            <a:r>
              <a:rPr sz="2200" b="0" i="0">
                <a:solidFill>
                  <a:srgbClr val="1C252B"/>
                </a:solidFill>
                <a:latin typeface="Cambria"/>
              </a:rPr>
              <a:t>0.9 &gt; 0.05</a:t>
            </a:r>
            <a:r>
              <a:rPr sz="2200" b="0" i="0">
                <a:solidFill>
                  <a:srgbClr val="1C252B"/>
                </a:solidFill>
                <a:latin typeface="Segoe UI"/>
              </a:rPr>
              <a:t>). The posterior probability that the release would break is </a:t>
            </a:r>
            <a:r>
              <a:rPr sz="2200" b="0" i="0">
                <a:solidFill>
                  <a:srgbClr val="1C252B"/>
                </a:solidFill>
                <a:latin typeface="Cambria"/>
              </a:rPr>
              <a:t>0.009/0.0585 = 0.15</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  answers in Appendix D     </a:t>
            </a:r>
            <a:fld id="{C0FD0A89-9597-4FD0-A696-007DE70851B1}"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What exactly does naive Bayes assume, and what goes wrong in the probabilities when the assumption fails?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10  ·  Bayesian Learning and Naive Bayes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82  ·  answers in Appendix D     </a:t>
            </a:r>
            <a:fld id="{41DB932C-D6E3-48CC-9A27-481B9CB13B0D}"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What exactly does naive Bayes assume, and what goes wrong in the probabilities when the assumption fails?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the attributes are independent of each other given the class. When they are correlated the same evidence is counted several times, and the probabilities are pushed towards 0 and 1 — over-confident — even though the ranking of classes is often still right.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  answers in Appendix D     </a:t>
            </a:r>
            <a:fld id="{12AB1791-7AA7-4C8D-8F03-6779F8AAE310}"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410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must naive Bayes for text work with log-probabilities?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10  ·  Bayesian Learning and Naive Bayes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82  ·  answers in Appendix D     </a:t>
            </a:r>
            <a:fld id="{0D53FCBC-0BFA-4208-AA35-06B9BC706383}"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Why must naive Bayes for text work with log-probabilities?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product of hundreds of small probabilities underflows to zero in floating-point arithmetic. Logarithms turn the product into a sum of manageable numbers.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  answers in Appendix D     </a:t>
            </a:r>
            <a:fld id="{98AC4507-62B8-4C39-8F76-56A43E7ADF70}"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2869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a:t>
            </a:r>
            <a:fld id="{D03E1987-CFDE-4062-B391-A019E09CADCC}"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Bayesian learning updates a prior into a posterior with the likelihood; </a:t>
            </a:r>
            <a:r>
              <a:rPr sz="2000" b="0" i="1">
                <a:solidFill>
                  <a:srgbClr val="1C252B"/>
                </a:solidFill>
                <a:latin typeface="Cambria"/>
              </a:rPr>
              <a:t>h</a:t>
            </a:r>
            <a:r>
              <a:rPr sz="2000" b="0" i="1" baseline="-25000">
                <a:solidFill>
                  <a:srgbClr val="1C252B"/>
                </a:solidFill>
                <a:latin typeface="Cambria"/>
              </a:rPr>
              <a:t>MAP</a:t>
            </a:r>
            <a:r>
              <a:rPr sz="2000" b="0" i="0">
                <a:solidFill>
                  <a:srgbClr val="1C252B"/>
                </a:solidFill>
                <a:latin typeface="Segoe UI"/>
              </a:rPr>
              <a:t> maximises </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D</a:t>
            </a:r>
            <a:r>
              <a:rPr sz="2000" b="0" i="0">
                <a:solidFill>
                  <a:srgbClr val="1C252B"/>
                </a:solidFill>
                <a:latin typeface="Cambria"/>
              </a:rPr>
              <a:t> ∣ </a:t>
            </a:r>
            <a:r>
              <a:rPr sz="2000" b="0" i="1">
                <a:solidFill>
                  <a:srgbClr val="1C252B"/>
                </a:solidFill>
                <a:latin typeface="Cambria"/>
              </a:rPr>
              <a:t>h</a:t>
            </a:r>
            <a:r>
              <a:rPr sz="2000" b="0" i="0">
                <a:solidFill>
                  <a:srgbClr val="1C252B"/>
                </a:solidFill>
                <a:latin typeface="Cambria"/>
              </a:rPr>
              <a:t>)</a:t>
            </a:r>
            <a:r>
              <a:rPr sz="2000" b="0" i="1">
                <a:solidFill>
                  <a:srgbClr val="1C252B"/>
                </a:solidFill>
                <a:latin typeface="Cambria"/>
              </a:rPr>
              <a:t>P</a:t>
            </a:r>
            <a:r>
              <a:rPr sz="2000" b="0" i="0">
                <a:solidFill>
                  <a:srgbClr val="1C252B"/>
                </a:solidFill>
                <a:latin typeface="Cambria"/>
              </a:rPr>
              <a:t>(</a:t>
            </a:r>
            <a:r>
              <a:rPr sz="2000" b="0" i="1">
                <a:solidFill>
                  <a:srgbClr val="1C252B"/>
                </a:solidFill>
                <a:latin typeface="Cambria"/>
              </a:rPr>
              <a:t>h</a:t>
            </a:r>
            <a:r>
              <a:rPr sz="2000" b="0" i="0">
                <a:solidFill>
                  <a:srgbClr val="1C252B"/>
                </a:solidFill>
                <a:latin typeface="Cambria"/>
              </a:rPr>
              <a:t>)</a:t>
            </a:r>
            <a:r>
              <a:rPr sz="2000" b="0" i="0">
                <a:solidFill>
                  <a:srgbClr val="1C252B"/>
                </a:solidFill>
                <a:latin typeface="Segoe UI"/>
              </a:rPr>
              <a:t> and equals </a:t>
            </a:r>
            <a:r>
              <a:rPr sz="2000" b="0" i="1">
                <a:solidFill>
                  <a:srgbClr val="1C252B"/>
                </a:solidFill>
                <a:latin typeface="Cambria"/>
              </a:rPr>
              <a:t>h</a:t>
            </a:r>
            <a:r>
              <a:rPr sz="2000" b="0" i="1" baseline="-25000">
                <a:solidFill>
                  <a:srgbClr val="1C252B"/>
                </a:solidFill>
                <a:latin typeface="Cambria"/>
              </a:rPr>
              <a:t>ML</a:t>
            </a:r>
            <a:r>
              <a:rPr sz="2000" b="0" i="0">
                <a:solidFill>
                  <a:srgbClr val="1C252B"/>
                </a:solidFill>
                <a:latin typeface="Segoe UI"/>
              </a:rPr>
              <a:t> under a uniform prior.</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Least squares is maximum likelihood under Gaussian noise; ridge is MAP with a Gaussian prior on the weights.</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Bayes optimal classifier weights every hypothesis’s vote by its posterior and can overrule the MAP hypothesis.</a:t>
            </a:r>
          </a:p>
        </p:txBody>
      </p:sp>
      <p:sp>
        <p:nvSpPr>
          <p:cNvPr id="16" name="!!sb3">
            <a:extLst>
              <a:ext uri="{C183D7F6-B498-43B3-948B-1728B52AA6E4}">
                <adec:decorative xmlns:adec="http://schemas.microsoft.com/office/drawing/2017/decorative" val="1"/>
              </a:ext>
            </a:extLst>
          </p:cNvPr>
          <p:cNvSpPr/>
          <p:nvPr/>
        </p:nvSpPr>
        <p:spPr>
          <a:xfrm>
            <a:off x="658368" y="41970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519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8795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Naive Bayes assumes attributes are independent given the class, which reduces training to counting; on the sprint data it predicts No with 0.795.</a:t>
            </a:r>
          </a:p>
        </p:txBody>
      </p:sp>
      <p:sp>
        <p:nvSpPr>
          <p:cNvPr id="19" name="!!sb4">
            <a:extLst>
              <a:ext uri="{C183D7F6-B498-43B3-948B-1728B52AA6E4}">
                <adec:decorative xmlns:adec="http://schemas.microsoft.com/office/drawing/2017/decorative" val="1"/>
              </a:ext>
            </a:extLst>
          </p:cNvPr>
          <p:cNvSpPr/>
          <p:nvPr/>
        </p:nvSpPr>
        <p:spPr>
          <a:xfrm>
            <a:off x="658368" y="501396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06882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004816"/>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Smooth the counts (Laplace, </a:t>
            </a:r>
            <a:r>
              <a:rPr sz="2000" b="0" i="1">
                <a:solidFill>
                  <a:srgbClr val="1C252B"/>
                </a:solidFill>
                <a:latin typeface="Cambria"/>
              </a:rPr>
              <a:t>m</a:t>
            </a:r>
            <a:r>
              <a:rPr sz="2000" b="0" i="0">
                <a:solidFill>
                  <a:srgbClr val="1C252B"/>
                </a:solidFill>
                <a:latin typeface="Segoe UI"/>
              </a:rPr>
              <a:t>-estimate) to avoid zero vetoes; use Gaussian likelihoods for continuous features.</a:t>
            </a:r>
          </a:p>
        </p:txBody>
      </p:sp>
      <p:sp>
        <p:nvSpPr>
          <p:cNvPr id="22" name="!!sb5">
            <a:extLst>
              <a:ext uri="{C183D7F6-B498-43B3-948B-1728B52AA6E4}">
                <adec:decorative xmlns:adec="http://schemas.microsoft.com/office/drawing/2017/decorative" val="1"/>
              </a:ext>
            </a:extLst>
          </p:cNvPr>
          <p:cNvSpPr/>
          <p:nvPr/>
        </p:nvSpPr>
        <p:spPr>
          <a:xfrm>
            <a:off x="658368" y="583082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88568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82168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For text, use a bag of words and log-probabilities. Trust the ranking, not the probabilities.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a:t>
            </a:r>
            <a:fld id="{27B38A5D-439B-4F96-8E2F-66555A3FC37C}"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With a uniform prior over hypotheses, </a:t>
            </a:r>
            <a:r>
              <a:rPr sz="2600" b="0" i="1">
                <a:solidFill>
                  <a:srgbClr val="1C252B"/>
                </a:solidFill>
                <a:latin typeface="Cambria"/>
              </a:rPr>
              <a:t>h</a:t>
            </a:r>
            <a:r>
              <a:rPr sz="2600" b="0" i="1" baseline="-25000">
                <a:solidFill>
                  <a:srgbClr val="1C252B"/>
                </a:solidFill>
                <a:latin typeface="Cambria"/>
              </a:rPr>
              <a:t>MAP</a:t>
            </a:r>
            <a:r>
              <a:rPr sz="2600" b="0" i="0">
                <a:solidFill>
                  <a:srgbClr val="1C252B"/>
                </a:solidFill>
                <a:latin typeface="Segoe UI"/>
              </a:rPr>
              <a:t> equals: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h</a:t>
            </a:r>
            <a:r>
              <a:rPr sz="2000" b="0" i="1" baseline="-25000">
                <a:solidFill>
                  <a:srgbClr val="1C252B"/>
                </a:solidFill>
                <a:latin typeface="Cambria"/>
              </a:rPr>
              <a:t>ML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Bayes optimal classifier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most specific hypothesis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none of these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163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a:t>
            </a:r>
            <a:fld id="{1E63CF73-7656-40FA-B655-DB69CE97DBEB}"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Laplace smoothing is used to:</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speed up training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prevent zero probabilities for unseen values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normalise the posterior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remove correlated features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601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a:t>
            </a:r>
            <a:fld id="{CBE179C2-8EF7-4CC4-88BF-2983FD006B04}"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Gaussian naive Bayes, each class–feature pair is described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count table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mean and a variance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threshold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weight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0402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10  ·  Bayesian Learning and Naive Bayes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82     </a:t>
            </a:r>
            <a:fld id="{15BBEC03-44A8-4FDC-BB6F-9F66275F8275}" type="slidenum">
              <a:rPr lang="en-GB" sz="1000">
                <a:solidFill>
                  <a:srgbClr val="8795A1"/>
                </a:solidFill>
                <a:latin typeface="Segoe UI"/>
              </a:rPr>
              <a:t>49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difference between the MAP hypothesis and the Bayes optimal classification, with an example.</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naive Bayes classify well even when its probabilities are poor?</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how a user could word a feature request so that a naive Bayes router sends it to the faster bug queue.</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Using the sprint data and Laplace smoothing, classify </a:t>
            </a:r>
            <a:r>
              <a:rPr sz="1900" b="0" i="0">
                <a:solidFill>
                  <a:srgbClr val="1C252B"/>
                </a:solidFill>
                <a:latin typeface="Cambria"/>
              </a:rPr>
              <a:t>⟨</a:t>
            </a:r>
            <a:r>
              <a:rPr sz="1900" b="0" i="0">
                <a:solidFill>
                  <a:srgbClr val="1C252B"/>
                </a:solidFill>
                <a:latin typeface="Segoe UI"/>
              </a:rPr>
              <a:t>Vague, High, Normal, Few</a:t>
            </a:r>
            <a:r>
              <a:rPr sz="1900" b="0" i="0">
                <a:solidFill>
                  <a:srgbClr val="1C252B"/>
                </a:solidFill>
                <a:latin typeface="Cambria"/>
              </a:rPr>
              <a:t>⟩</a:t>
            </a:r>
            <a:r>
              <a:rPr sz="1900" b="0" i="0">
                <a:solidFill>
                  <a:srgbClr val="1C252B"/>
                </a:solidFill>
                <a:latin typeface="Segoe UI"/>
              </a:rPr>
              <a:t>. Show every probability.</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Gaussian example, find the weekly churn at which the two prior-weighted densities are equal, to the nearest 10 lines, by trying values. Explain why it is not 700, the midpoint of the means.</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78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10</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10</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11 — Instance-Based Learning: k-Nearest Neighbours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10, pages 75–82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Naive Bayes by counting and by library</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10  ·  Bayesian Learning and Naive Bayes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0818BA4F-1ED7-442E-BB0E-90DFD765AC4D}" type="slidenum">
              <a:rPr lang="en-GB" sz="1000">
                <a:solidFill>
                  <a:srgbClr val="D5DEE5"/>
                </a:solidFill>
                <a:latin typeface="Segoe UI"/>
              </a:rPr>
              <a:t>50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Bayesian Learning and Naive Bayes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