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00.svg" ContentType="image/svg+xml"/>
  <Override PartName="/ppt/media/image101.svg" ContentType="image/svg+xml"/>
  <Override PartName="/ppt/media/image102.svg" ContentType="image/svg+xml"/>
  <Override PartName="/ppt/media/image104.svg" ContentType="image/svg+xml"/>
  <Override PartName="/ppt/media/image105.svg" ContentType="image/svg+xml"/>
  <Override PartName="/ppt/media/image106.svg" ContentType="image/svg+xml"/>
  <Override PartName="/ppt/media/image107.svg" ContentType="image/svg+xml"/>
  <Override PartName="/ppt/media/image108.svg" ContentType="image/svg+xml"/>
  <Override PartName="/ppt/media/image109.svg" ContentType="image/svg+xml"/>
  <Override PartName="/ppt/media/image110.svg" ContentType="image/svg+xml"/>
  <Override PartName="/ppt/media/image112.svg" ContentType="image/svg+xml"/>
  <Override PartName="/ppt/media/image114.svg" ContentType="image/svg+xml"/>
  <Override PartName="/ppt/media/image115.svg" ContentType="image/svg+xml"/>
  <Override PartName="/ppt/media/image116.svg" ContentType="image/svg+xml"/>
  <Override PartName="/ppt/media/image117.svg" ContentType="image/svg+xml"/>
  <Override PartName="/ppt/media/image118.svg" ContentType="image/svg+xml"/>
  <Override PartName="/ppt/media/image12.svg" ContentType="image/svg+xml"/>
  <Override PartName="/ppt/media/image120.svg" ContentType="image/svg+xml"/>
  <Override PartName="/ppt/media/image122.svg" ContentType="image/svg+xml"/>
  <Override PartName="/ppt/media/image123.svg" ContentType="image/svg+xml"/>
  <Override PartName="/ppt/media/image124.svg" ContentType="image/svg+xml"/>
  <Override PartName="/ppt/media/image125.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7.svg" ContentType="image/svg+xml"/>
  <Override PartName="/ppt/media/image29.svg" ContentType="image/svg+xml"/>
  <Override PartName="/ppt/media/image30.svg" ContentType="image/svg+xml"/>
  <Override PartName="/ppt/media/image31.svg" ContentType="image/svg+xml"/>
  <Override PartName="/ppt/media/image33.svg" ContentType="image/svg+xml"/>
  <Override PartName="/ppt/media/image34.svg" ContentType="image/svg+xml"/>
  <Override PartName="/ppt/media/image36.svg" ContentType="image/svg+xml"/>
  <Override PartName="/ppt/media/image38.svg" ContentType="image/svg+xml"/>
  <Override PartName="/ppt/media/image39.svg" ContentType="image/svg+xml"/>
  <Override PartName="/ppt/media/image4.svg" ContentType="image/svg+xml"/>
  <Override PartName="/ppt/media/image41.svg" ContentType="image/svg+xml"/>
  <Override PartName="/ppt/media/image42.svg" ContentType="image/svg+xml"/>
  <Override PartName="/ppt/media/image44.svg" ContentType="image/svg+xml"/>
  <Override PartName="/ppt/media/image45.svg" ContentType="image/svg+xml"/>
  <Override PartName="/ppt/media/image46.svg" ContentType="image/svg+xml"/>
  <Override PartName="/ppt/media/image48.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8.svg" ContentType="image/svg+xml"/>
  <Override PartName="/ppt/media/image6.svg" ContentType="image/svg+xml"/>
  <Override PartName="/ppt/media/image60.svg" ContentType="image/svg+xml"/>
  <Override PartName="/ppt/media/image61.svg" ContentType="image/svg+xml"/>
  <Override PartName="/ppt/media/image63.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8.svg" ContentType="image/svg+xml"/>
  <Override PartName="/ppt/media/image8.svg" ContentType="image/svg+xml"/>
  <Override PartName="/ppt/media/image80.svg" ContentType="image/svg+xml"/>
  <Override PartName="/ppt/media/image81.svg" ContentType="image/svg+xml"/>
  <Override PartName="/ppt/media/image82.svg" ContentType="image/svg+xml"/>
  <Override PartName="/ppt/media/image83.svg" ContentType="image/svg+xml"/>
  <Override PartName="/ppt/media/image84.svg" ContentType="image/svg+xml"/>
  <Override PartName="/ppt/media/image86.svg" ContentType="image/svg+xml"/>
  <Override PartName="/ppt/media/image87.svg" ContentType="image/svg+xml"/>
  <Override PartName="/ppt/media/image88.svg" ContentType="image/svg+xml"/>
  <Override PartName="/ppt/media/image89.svg" ContentType="image/svg+xml"/>
  <Override PartName="/ppt/media/image90.svg" ContentType="image/svg+xml"/>
  <Override PartName="/ppt/media/image92.svg" ContentType="image/svg+xml"/>
  <Override PartName="/ppt/media/image93.svg" ContentType="image/svg+xml"/>
  <Override PartName="/ppt/media/image94.svg" ContentType="image/svg+xml"/>
  <Override PartName="/ppt/media/image95.svg" ContentType="image/svg+xml"/>
  <Override PartName="/ppt/media/image96.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8969473-7FC3-4A4C-8880-6B1D3AB9ACC2}">
          <p14:sldIdLst>
            <p14:sldId id="256"/>
            <p14:sldId id="257"/>
            <p14:sldId id="258"/>
            <p14:sldId id="259"/>
            <p14:sldId id="260"/>
          </p14:sldIdLst>
        </p14:section>
        <p14:section name="10.1 Learning as Updating Belief" id="{EDD0E1F7-73C5-452A-96A0-EAE7BBD361CE}">
          <p14:sldIdLst>
            <p14:sldId id="261"/>
          </p14:sldIdLst>
        </p14:section>
        <p14:section name="10.2 Bayes’ Theorem for Hypotheses" id="{41F9F164-2656-42C1-8E63-B7448155D375}">
          <p14:sldIdLst>
            <p14:sldId id="262"/>
            <p14:sldId id="263"/>
            <p14:sldId id="264"/>
            <p14:sldId id="265"/>
            <p14:sldId id="266"/>
          </p14:sldIdLst>
        </p14:section>
        <p14:section name="10.3 The Bayes Optimal Classifier" id="{03D36C29-9DEF-4609-977F-7E95107D4277}">
          <p14:sldIdLst>
            <p14:sldId id="267"/>
            <p14:sldId id="268"/>
          </p14:sldIdLst>
        </p14:section>
        <p14:section name="10.4 Naive Bayes" id="{6F5D33B6-1A94-4D77-A3ED-2466ABF76459}">
          <p14:sldIdLst>
            <p14:sldId id="269"/>
            <p14:sldId id="270"/>
            <p14:sldId id="271"/>
            <p14:sldId id="272"/>
            <p14:sldId id="273"/>
          </p14:sldIdLst>
        </p14:section>
        <p14:section name="10.5 The Zero-Frequency Problem and Laplace Smoothing" id="{D3090BF0-17DC-4AFA-A010-3A28B2203569}">
          <p14:sldIdLst>
            <p14:sldId id="274"/>
            <p14:sldId id="275"/>
            <p14:sldId id="276"/>
          </p14:sldIdLst>
        </p14:section>
        <p14:section name="10.6 Continuous Features: Gaussian Naive Bayes" id="{B319D2A2-1EA1-4CE5-9185-0250ECBDCDDC}">
          <p14:sldIdLst>
            <p14:sldId id="277"/>
            <p14:sldId id="278"/>
            <p14:sldId id="279"/>
            <p14:sldId id="280"/>
          </p14:sldIdLst>
        </p14:section>
        <p14:section name="10.7 Text Classification" id="{D30220C2-52F3-40EC-9B93-3E440AFC7762}">
          <p14:sldIdLst>
            <p14:sldId id="281"/>
            <p14:sldId id="282"/>
            <p14:sldId id="283"/>
            <p14:sldId id="284"/>
            <p14:sldId id="285"/>
          </p14:sldIdLst>
        </p14:section>
        <p14:section name="Pitfalls" id="{26640D46-CA8C-41A6-BD27-3A1E9579C6DB}">
          <p14:sldIdLst>
            <p14:sldId id="286"/>
          </p14:sldIdLst>
        </p14:section>
        <p14:section name="Four lenses" id="{09829C53-F162-45A9-93DC-41217D293CFD}">
          <p14:sldIdLst>
            <p14:sldId id="287"/>
            <p14:sldId id="288"/>
            <p14:sldId id="289"/>
            <p14:sldId id="290"/>
            <p14:sldId id="291"/>
          </p14:sldIdLst>
        </p14:section>
        <p14:section name="Lab" id="{B40C7D8C-BAC8-4393-86D8-522B1944CFA4}">
          <p14:sldIdLst>
            <p14:sldId id="292"/>
            <p14:sldId id="293"/>
            <p14:sldId id="294"/>
            <p14:sldId id="295"/>
            <p14:sldId id="296"/>
            <p14:sldId id="297"/>
            <p14:sldId id="298"/>
          </p14:sldIdLst>
        </p14:section>
        <p14:section name="Checkpoint" id="{44389E40-F78F-4929-A7CB-DCB83A05F203}">
          <p14:sldIdLst>
            <p14:sldId id="299"/>
            <p14:sldId id="300"/>
            <p14:sldId id="301"/>
            <p14:sldId id="302"/>
            <p14:sldId id="303"/>
            <p14:sldId id="304"/>
          </p14:sldIdLst>
        </p14:section>
        <p14:section name="Wrap-up" id="{2B436985-EB79-4BCA-B252-E8B5627B9ED1}">
          <p14:sldIdLst>
            <p14:sldId id="305"/>
            <p14:sldId id="306"/>
            <p14:sldId id="307"/>
            <p14:sldId id="308"/>
            <p14:sldId id="309"/>
            <p14:sldId id="31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10: Bayesian Learning and Naive Bayes. Part 3 — Supervised Learning Algorithms. Week 9: Bayesian learning and naive Bayes. Handout pages 77–84.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(conditional probability, Bayes’ theorem, the Gaussian, maximum likelihood) and Chapter 9 (the PlayTennis data, used again 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prior; likelihood; posterior; evidence; MAP hypothesis; maximum likelihood hypothesis; Bayes optimal classifier; conditional independence; naive Bayes; zero-frequency problem; Laplace smoothing; m-estimate; Gaussian naive Bayes; bag of words; multinomial naive Bayes; log-probabilities.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10.1 (handout p. 78): Prior times likelihood, normalised, gives the posterior. A test that strongly favours “cancer” is not enough to overturn a prior that strongly favours “healthy”.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hypothesis answers “which hypothesis is most probable?”. That is not the same question as “which classification is most probable?”. The Bayes optimal classifier answers the second by letting every hypothesis vote, weighted by its posterior: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other method using the same hypothesis space and prior can do better on average — hence “optimal”. It is rarely computable, because H is too large to sum over, but it is the benchmark every approximation aims at.</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classification with attributes a1, …, ad, the most probable class 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 P(v) is easy to estimate: count. The joint likelihood is not: there are as many combinations of attribute values as there are possible examples, and most never appear in the training data. Naive Bayes removes the problem with one bold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10.2 (handout p. 80): The naive Bayes assumption drawn as a network: the class causes each attribute, and the attributes do not influence each other once the class is 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Classify ⟨Overcast, Hot, High, Strong⟩. No training day with PlayTennis = No was Overcast, so P(Overcast ∣ No) = 0/5 = 0, and the whole product for No is zero — however strongly High humidity and Strong wind point towards No. One unseen attribute value silences all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Mitchell’s more general m-estimate, (nv,c + m p)/(nc + m), adds m imaginary examples distributed according to a prior estimate p; Laplace smoothing is the case m = kj, p = 1/kj.</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numeric attribute, counting values is useless — every value is new. Instead model each attribute within each class as a Gaussian, with the class’s own mean μj,c and standard deviation σj,c estimated from the training data, and use the density as the likelihood: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10.3 (handout p. 81): Left: the two class-conditional densities; at 750 bytes the attack density is nine times higher. Right: after weighting by the 5% prior, the posterior crosses 0.5 only at 772 bytes. The boundary sits beyond the midpoint of the means because the rare class needs more evidence.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Bayes’s most famous success is text: spam filtering, topic labelling, sentiment. A document is represented as a bag of words — the count of each vocabulary word, order ignored — and multinomial naive Bayes treats each word occurrence as an independent draw from a class-specific distribution over the vocabulary: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Working in logarithms turns the product into a sum; a product of a few hundred probabilities would otherwise underflow to zero on a computer.</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Classify forum posts as questions, complaints or social chat from their words, so that teaching assistants see the questions first. Naive Bayes trains in seconds on a few hundred labelled posts, and it can be retrained every week as the course vocabulary changes.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Triage incoming tickets into bug, feature request or support query from their text. The per-word log-probabilities explain each decision (“crash” and “error” pushed it to bug), which helps the team trust the router.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Gaussian naive Bayes over a handful of sensor summaries is a fault classifier that fits in a few kilobytes and updates its means and variances incrementally as new labelled readings arrive — useful on a gateway with no room for a training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The original statistical spam filters were naive Bayes, and the adversarial lesson came quickly: attackers padded spam with ham words (“Bayesian poisoning”). Keep the model retrained on fresh spam, and do not rely on it alone.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Naive Bayes on PlayTennis, by counting.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Naive Bayes on PlayTennis, by counting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Gaussian naive Bayes on 30 continuous measurements.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A spam filter from twelve messages.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Disease: 0.9 × 0.01 = 0.009; healthy: 0.05 × 0.99 = 0.0495. So hMAP is healthy; hML is disease (0.9 &gt; 0.05). The posterior probability of disease is 0.009/0.0585 = 0.15.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That the attributes are independent of each other given the class. When they are correlated the same evidence is counted several times, and the probabilities are pushed towards 0 and 1 — over-confident — even though the ranking of classes is often still right.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product of hundreds of small probabilities underflows to zero in floating-point arithmetic. Logarithms turn the product into a sum of manageable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11 — Instance-Based Learning: k-Nearest Neighbours. READ: Handout Chapter 10, pages 77–84. THIS WEEK'S LAB: Naive Bayes by counting and by library.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3.xml"/><Relationship Id="rId8" Type="http://schemas.openxmlformats.org/officeDocument/2006/relationships/slide" Target="slide14.xml"/><Relationship Id="rId9" Type="http://schemas.openxmlformats.org/officeDocument/2006/relationships/slide" Target="slide19.xml"/><Relationship Id="rId10" Type="http://schemas.openxmlformats.org/officeDocument/2006/relationships/slide" Target="slide22.xml"/><Relationship Id="rId11" Type="http://schemas.openxmlformats.org/officeDocument/2006/relationships/slide" Target="slide2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image" Target="../media/image17.png"/><Relationship Id="rId7" Type="http://schemas.openxmlformats.org/officeDocument/2006/relationships/image" Target="../media/image18.sv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image" Target="../media/image21.png"/><Relationship Id="rId5" Type="http://schemas.openxmlformats.org/officeDocument/2006/relationships/image" Target="../media/image22.sv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4.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7.svg"/><Relationship Id="rId4" Type="http://schemas.openxmlformats.org/officeDocument/2006/relationships/image" Target="../media/image28.png"/><Relationship Id="rId5" Type="http://schemas.openxmlformats.org/officeDocument/2006/relationships/image" Target="../media/image29.sv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30.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1.svg"/><Relationship Id="rId4" Type="http://schemas.openxmlformats.org/officeDocument/2006/relationships/image" Target="../media/image32.png"/><Relationship Id="rId5" Type="http://schemas.openxmlformats.org/officeDocument/2006/relationships/image" Target="../media/image33.sv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4.svg"/><Relationship Id="rId4" Type="http://schemas.openxmlformats.org/officeDocument/2006/relationships/image" Target="../media/image35.png"/><Relationship Id="rId5" Type="http://schemas.openxmlformats.org/officeDocument/2006/relationships/image" Target="../media/image36.sv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8.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39.svg"/><Relationship Id="rId4" Type="http://schemas.openxmlformats.org/officeDocument/2006/relationships/image" Target="../media/image40.png"/><Relationship Id="rId5" Type="http://schemas.openxmlformats.org/officeDocument/2006/relationships/image" Target="../media/image41.sv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42.svg"/><Relationship Id="rId4" Type="http://schemas.openxmlformats.org/officeDocument/2006/relationships/image" Target="../media/image43.png"/><Relationship Id="rId5" Type="http://schemas.openxmlformats.org/officeDocument/2006/relationships/image" Target="../media/image44.sv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45.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46.svg"/><Relationship Id="rId4" Type="http://schemas.openxmlformats.org/officeDocument/2006/relationships/image" Target="../media/image47.png"/><Relationship Id="rId5" Type="http://schemas.openxmlformats.org/officeDocument/2006/relationships/image" Target="../media/image48.sv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49.svg"/><Relationship Id="rId4" Type="http://schemas.openxmlformats.org/officeDocument/2006/relationships/image" Target="../media/image50.png"/><Relationship Id="rId5" Type="http://schemas.openxmlformats.org/officeDocument/2006/relationships/image" Target="../media/image51.sv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 Id="rId9" Type="http://schemas.openxmlformats.org/officeDocument/2006/relationships/image" Target="../media/image55.svg"/><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58.svg"/><Relationship Id="rId4" Type="http://schemas.openxmlformats.org/officeDocument/2006/relationships/image" Target="../media/image59.png"/><Relationship Id="rId5" Type="http://schemas.openxmlformats.org/officeDocument/2006/relationships/image" Target="../media/image60.sv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61.svg"/><Relationship Id="rId4" Type="http://schemas.openxmlformats.org/officeDocument/2006/relationships/image" Target="../media/image62.png"/><Relationship Id="rId5" Type="http://schemas.openxmlformats.org/officeDocument/2006/relationships/image" Target="../media/image63.sv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64.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8.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image" Target="../media/image70.svg"/><Relationship Id="rId4" Type="http://schemas.openxmlformats.org/officeDocument/2006/relationships/image" Target="../media/image71.png"/><Relationship Id="rId5" Type="http://schemas.openxmlformats.org/officeDocument/2006/relationships/image" Target="../media/image72.svg"/><Relationship Id="rId6" Type="http://schemas.openxmlformats.org/officeDocument/2006/relationships/image" Target="../media/image73.png"/><Relationship Id="rId7" Type="http://schemas.openxmlformats.org/officeDocument/2006/relationships/image" Target="../media/image74.svg"/><Relationship Id="rId8" Type="http://schemas.openxmlformats.org/officeDocument/2006/relationships/image" Target="../media/image75.png"/><Relationship Id="rId9" Type="http://schemas.openxmlformats.org/officeDocument/2006/relationships/image" Target="../media/image76.svg"/><Relationship Id="rId10" Type="http://schemas.openxmlformats.org/officeDocument/2006/relationships/image" Target="../media/image77.png"/><Relationship Id="rId11" Type="http://schemas.openxmlformats.org/officeDocument/2006/relationships/image" Target="../media/image78.svg"/><Relationship Id="rId1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0.svg"/><Relationship Id="rId4" Type="http://schemas.openxmlformats.org/officeDocument/2006/relationships/image" Target="../media/image71.png"/><Relationship Id="rId5" Type="http://schemas.openxmlformats.org/officeDocument/2006/relationships/image" Target="../media/image81.svg"/><Relationship Id="rId6" Type="http://schemas.openxmlformats.org/officeDocument/2006/relationships/image" Target="../media/image73.png"/><Relationship Id="rId7" Type="http://schemas.openxmlformats.org/officeDocument/2006/relationships/image" Target="../media/image82.svg"/><Relationship Id="rId8" Type="http://schemas.openxmlformats.org/officeDocument/2006/relationships/image" Target="../media/image75.png"/><Relationship Id="rId9" Type="http://schemas.openxmlformats.org/officeDocument/2006/relationships/image" Target="../media/image83.svg"/><Relationship Id="rId10" Type="http://schemas.openxmlformats.org/officeDocument/2006/relationships/image" Target="../media/image77.png"/><Relationship Id="rId11" Type="http://schemas.openxmlformats.org/officeDocument/2006/relationships/image" Target="../media/image84.svg"/><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5.png"/><Relationship Id="rId3" Type="http://schemas.openxmlformats.org/officeDocument/2006/relationships/image" Target="../media/image86.svg"/><Relationship Id="rId4" Type="http://schemas.openxmlformats.org/officeDocument/2006/relationships/image" Target="../media/image73.png"/><Relationship Id="rId5" Type="http://schemas.openxmlformats.org/officeDocument/2006/relationships/image" Target="../media/image87.svg"/><Relationship Id="rId6" Type="http://schemas.openxmlformats.org/officeDocument/2006/relationships/image" Target="../media/image71.png"/><Relationship Id="rId7" Type="http://schemas.openxmlformats.org/officeDocument/2006/relationships/image" Target="../media/image88.svg"/><Relationship Id="rId8" Type="http://schemas.openxmlformats.org/officeDocument/2006/relationships/image" Target="../media/image75.png"/><Relationship Id="rId9" Type="http://schemas.openxmlformats.org/officeDocument/2006/relationships/image" Target="../media/image89.svg"/><Relationship Id="rId10" Type="http://schemas.openxmlformats.org/officeDocument/2006/relationships/image" Target="../media/image77.png"/><Relationship Id="rId11" Type="http://schemas.openxmlformats.org/officeDocument/2006/relationships/image" Target="../media/image90.svg"/><Relationship Id="rId1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2.svg"/><Relationship Id="rId4" Type="http://schemas.openxmlformats.org/officeDocument/2006/relationships/image" Target="../media/image75.png"/><Relationship Id="rId5" Type="http://schemas.openxmlformats.org/officeDocument/2006/relationships/image" Target="../media/image93.svg"/><Relationship Id="rId6" Type="http://schemas.openxmlformats.org/officeDocument/2006/relationships/image" Target="../media/image71.png"/><Relationship Id="rId7" Type="http://schemas.openxmlformats.org/officeDocument/2006/relationships/image" Target="../media/image94.svg"/><Relationship Id="rId8" Type="http://schemas.openxmlformats.org/officeDocument/2006/relationships/image" Target="../media/image73.png"/><Relationship Id="rId9" Type="http://schemas.openxmlformats.org/officeDocument/2006/relationships/image" Target="../media/image95.svg"/><Relationship Id="rId10" Type="http://schemas.openxmlformats.org/officeDocument/2006/relationships/image" Target="../media/image77.png"/><Relationship Id="rId11" Type="http://schemas.openxmlformats.org/officeDocument/2006/relationships/image" Target="../media/image96.svg"/><Relationship Id="rId1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7.png"/><Relationship Id="rId3" Type="http://schemas.openxmlformats.org/officeDocument/2006/relationships/image" Target="../media/image98.svg"/><Relationship Id="rId4" Type="http://schemas.openxmlformats.org/officeDocument/2006/relationships/image" Target="../media/image77.png"/><Relationship Id="rId5" Type="http://schemas.openxmlformats.org/officeDocument/2006/relationships/image" Target="../media/image99.svg"/><Relationship Id="rId6" Type="http://schemas.openxmlformats.org/officeDocument/2006/relationships/image" Target="../media/image71.png"/><Relationship Id="rId7" Type="http://schemas.openxmlformats.org/officeDocument/2006/relationships/image" Target="../media/image100.svg"/><Relationship Id="rId8" Type="http://schemas.openxmlformats.org/officeDocument/2006/relationships/image" Target="../media/image73.png"/><Relationship Id="rId9" Type="http://schemas.openxmlformats.org/officeDocument/2006/relationships/image" Target="../media/image101.svg"/><Relationship Id="rId10" Type="http://schemas.openxmlformats.org/officeDocument/2006/relationships/image" Target="../media/image75.png"/><Relationship Id="rId11" Type="http://schemas.openxmlformats.org/officeDocument/2006/relationships/image" Target="../media/image102.svg"/><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3.png"/><Relationship Id="rId3" Type="http://schemas.openxmlformats.org/officeDocument/2006/relationships/image" Target="../media/image104.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3.png"/><Relationship Id="rId3" Type="http://schemas.openxmlformats.org/officeDocument/2006/relationships/image" Target="../media/image105.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3.png"/><Relationship Id="rId3" Type="http://schemas.openxmlformats.org/officeDocument/2006/relationships/image" Target="../media/image106.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3.png"/><Relationship Id="rId3" Type="http://schemas.openxmlformats.org/officeDocument/2006/relationships/image" Target="../media/image107.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3.png"/><Relationship Id="rId3" Type="http://schemas.openxmlformats.org/officeDocument/2006/relationships/image" Target="../media/image108.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3.png"/><Relationship Id="rId3" Type="http://schemas.openxmlformats.org/officeDocument/2006/relationships/image" Target="../media/image109.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3.png"/><Relationship Id="rId3" Type="http://schemas.openxmlformats.org/officeDocument/2006/relationships/image" Target="../media/image110.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1.png"/><Relationship Id="rId3" Type="http://schemas.openxmlformats.org/officeDocument/2006/relationships/image" Target="../media/image112.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3.png"/><Relationship Id="rId3" Type="http://schemas.openxmlformats.org/officeDocument/2006/relationships/image" Target="../media/image114.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1.png"/><Relationship Id="rId3" Type="http://schemas.openxmlformats.org/officeDocument/2006/relationships/image" Target="../media/image115.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3.png"/><Relationship Id="rId3" Type="http://schemas.openxmlformats.org/officeDocument/2006/relationships/image" Target="../media/image116.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1.png"/><Relationship Id="rId3" Type="http://schemas.openxmlformats.org/officeDocument/2006/relationships/image" Target="../media/image117.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3.png"/><Relationship Id="rId3" Type="http://schemas.openxmlformats.org/officeDocument/2006/relationships/image" Target="../media/image118.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9.png"/><Relationship Id="rId3" Type="http://schemas.openxmlformats.org/officeDocument/2006/relationships/image" Target="../media/image120.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1.png"/><Relationship Id="rId3" Type="http://schemas.openxmlformats.org/officeDocument/2006/relationships/image" Target="../media/image122.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1.png"/><Relationship Id="rId3" Type="http://schemas.openxmlformats.org/officeDocument/2006/relationships/image" Target="../media/image123.sv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1.png"/><Relationship Id="rId3" Type="http://schemas.openxmlformats.org/officeDocument/2006/relationships/image" Target="../media/image124.sv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1.png"/><Relationship Id="rId3" Type="http://schemas.openxmlformats.org/officeDocument/2006/relationships/image" Target="../media/image125.sv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10</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Bayesian Learning and Naive Bayes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SUPERVISED LEARNING ALGORITHMS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10  ·  WEEK 9</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77     </a:t>
            </a:r>
            <a:fld id="{23855C45-DF5A-4154-9892-1A434EA3E806}"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71319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713191"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60933"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060933"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10</a:t>
            </a:r>
          </a:p>
        </p:txBody>
      </p:sp>
      <p:sp>
        <p:nvSpPr>
          <p:cNvPr id="39" name="!!dot11">
            <a:extLst>
              <a:ext uri="{C183D7F6-B498-43B3-948B-1728B52AA6E4}">
                <adec:decorative xmlns:adec="http://schemas.microsoft.com/office/drawing/2017/decorative" val="1"/>
              </a:ext>
            </a:extLst>
          </p:cNvPr>
          <p:cNvSpPr/>
          <p:nvPr/>
        </p:nvSpPr>
        <p:spPr>
          <a:xfrm>
            <a:off x="577221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807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81738"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902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241831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Bayesian Learning and Naive Bayes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9">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9">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9"/>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9  </a:t>
            </a:r>
            <a:r>
              <a:rPr sz="1400" b="0" i="0">
                <a:solidFill>
                  <a:srgbClr val="1C252B"/>
                </a:solidFill>
                <a:latin typeface="Segoe UI"/>
              </a:rPr>
              <a:t>Decision Tree Learning</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14">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14">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14"/>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14  </a:t>
            </a:r>
            <a:r>
              <a:rPr sz="1400" b="0" i="0">
                <a:solidFill>
                  <a:srgbClr val="1C252B"/>
                </a:solidFill>
                <a:latin typeface="Segoe UI"/>
              </a:rPr>
              <a:t>Ensemble Learning</a:t>
            </a:r>
          </a:p>
        </p:txBody>
      </p:sp>
      <p:sp>
        <p:nvSpPr>
          <p:cNvPr id="75" name="!!chipUS17">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7">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7"/>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17  </a:t>
            </a:r>
            <a:r>
              <a:rPr sz="1400" b="0" i="0">
                <a:solidFill>
                  <a:srgbClr val="1C252B"/>
                </a:solidFill>
                <a:latin typeface="Segoe UI"/>
              </a:rPr>
              <a:t>Semi-Supervised Learning and the EM Algorithm</a:t>
            </a:r>
          </a:p>
        </p:txBody>
      </p:sp>
      <p:sp>
        <p:nvSpPr>
          <p:cNvPr id="78" name="!!chipUS18">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8">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8"/>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18  </a:t>
            </a:r>
            <a:r>
              <a:rPr sz="1400" b="0" i="0">
                <a:solidFill>
                  <a:srgbClr val="1C252B"/>
                </a:solidFill>
                <a:latin typeface="Segoe UI"/>
              </a:rPr>
              <a:t>Hidden Markov Models</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44333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77     </a:t>
            </a:r>
            <a:fld id="{C6398300-39F0-4E47-8DC0-FB767393077F}"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Apply</a:t>
            </a:r>
            <a:r>
              <a:rPr sz="2100" b="0" i="0">
                <a:solidFill>
                  <a:srgbClr val="1C252B"/>
                </a:solidFill>
                <a:latin typeface="Segoe UI"/>
              </a:rPr>
              <a:t> Bayes’ theorem to hypotheses, and </a:t>
            </a:r>
            <a:r>
              <a:rPr sz="2100" b="1" i="0">
                <a:solidFill>
                  <a:srgbClr val="1C252B"/>
                </a:solidFill>
                <a:latin typeface="Segoe UI"/>
              </a:rPr>
              <a:t>find</a:t>
            </a:r>
            <a:r>
              <a:rPr sz="2100" b="0" i="0">
                <a:solidFill>
                  <a:srgbClr val="1C252B"/>
                </a:solidFill>
                <a:latin typeface="Segoe UI"/>
              </a:rPr>
              <a:t> the MAP and maximum likelihood hypotheses.</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the Bayes optimal classifier and why it can disagree with the single most probable hypothesis.</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Classify</a:t>
            </a:r>
            <a:r>
              <a:rPr sz="2100" b="0" i="0">
                <a:solidFill>
                  <a:srgbClr val="1C252B"/>
                </a:solidFill>
                <a:latin typeface="Segoe UI"/>
              </a:rPr>
              <a:t> an example with naive Bayes by hand, and </a:t>
            </a:r>
            <a:r>
              <a:rPr sz="2100" b="1" i="0">
                <a:solidFill>
                  <a:srgbClr val="1C252B"/>
                </a:solidFill>
                <a:latin typeface="Segoe UI"/>
              </a:rPr>
              <a:t>state</a:t>
            </a:r>
            <a:r>
              <a:rPr sz="2100" b="0" i="0">
                <a:solidFill>
                  <a:srgbClr val="1C252B"/>
                </a:solidFill>
                <a:latin typeface="Segoe UI"/>
              </a:rPr>
              <a:t> its conditional independence assumption.</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808829"/>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Apply</a:t>
            </a:r>
            <a:r>
              <a:rPr sz="2100" b="0" i="0">
                <a:solidFill>
                  <a:srgbClr val="1C252B"/>
                </a:solidFill>
                <a:latin typeface="Segoe UI"/>
              </a:rPr>
              <a:t> Laplace smoothing, and </a:t>
            </a:r>
            <a:r>
              <a:rPr sz="2100" b="1" i="0">
                <a:solidFill>
                  <a:srgbClr val="1C252B"/>
                </a:solidFill>
                <a:latin typeface="Segoe UI"/>
              </a:rPr>
              <a:t>use</a:t>
            </a:r>
            <a:r>
              <a:rPr sz="2100" b="0" i="0">
                <a:solidFill>
                  <a:srgbClr val="1C252B"/>
                </a:solidFill>
                <a:latin typeface="Segoe UI"/>
              </a:rPr>
              <a:t> Gaussian naive Bayes for continuous features.</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41233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Build</a:t>
            </a:r>
            <a:r>
              <a:rPr sz="2100" b="0" i="0">
                <a:solidFill>
                  <a:srgbClr val="1C252B"/>
                </a:solidFill>
                <a:latin typeface="Segoe UI"/>
              </a:rPr>
              <a:t> a multinomial naive Bayes text classifier working in log-probabilities.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6500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77     </a:t>
            </a:r>
            <a:fld id="{E6EEBF86-44A9-4235-9B12-C0D28F7FEF10}" type="slidenum">
              <a:rPr lang="en-GB" sz="1000">
                <a:solidFill>
                  <a:srgbClr val="8795A1"/>
                </a:solidFill>
                <a:latin typeface="Segoe UI"/>
              </a:rPr>
              <a:t>4</a:t>
            </a:fld>
          </a:p>
        </p:txBody>
      </p:sp>
      <p:sp>
        <p:nvSpPr>
          <p:cNvPr id="7" name="!!term-prior">
            <a:extLst>
              <a:ext uri="{C183D7F6-B498-43B3-948B-1728B52AA6E4}">
                <adec:decorative xmlns:adec="http://schemas.microsoft.com/office/drawing/2017/decorative" val="1"/>
              </a:ext>
            </a:extLst>
          </p:cNvPr>
          <p:cNvSpPr/>
          <p:nvPr/>
        </p:nvSpPr>
        <p:spPr>
          <a:xfrm>
            <a:off x="658368" y="1847088"/>
            <a:ext cx="87665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prior">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prior"/>
          <p:cNvSpPr txBox="1"/>
          <p:nvPr/>
        </p:nvSpPr>
        <p:spPr>
          <a:xfrm>
            <a:off x="950976" y="1962911"/>
            <a:ext cx="69377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prior</a:t>
            </a:r>
          </a:p>
        </p:txBody>
      </p:sp>
      <p:sp>
        <p:nvSpPr>
          <p:cNvPr id="10" name="!!term-likelihood">
            <a:extLst>
              <a:ext uri="{C183D7F6-B498-43B3-948B-1728B52AA6E4}">
                <adec:decorative xmlns:adec="http://schemas.microsoft.com/office/drawing/2017/decorative" val="1"/>
              </a:ext>
            </a:extLst>
          </p:cNvPr>
          <p:cNvSpPr/>
          <p:nvPr/>
        </p:nvSpPr>
        <p:spPr>
          <a:xfrm>
            <a:off x="1681325" y="1847088"/>
            <a:ext cx="13331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likelihood">
            <a:extLst>
              <a:ext uri="{C183D7F6-B498-43B3-948B-1728B52AA6E4}">
                <adec:decorative xmlns:adec="http://schemas.microsoft.com/office/drawing/2017/decorative" val="1"/>
              </a:ext>
            </a:extLst>
          </p:cNvPr>
          <p:cNvSpPr/>
          <p:nvPr/>
        </p:nvSpPr>
        <p:spPr>
          <a:xfrm>
            <a:off x="180934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likelihood"/>
          <p:cNvSpPr txBox="1"/>
          <p:nvPr/>
        </p:nvSpPr>
        <p:spPr>
          <a:xfrm>
            <a:off x="1973933" y="1962911"/>
            <a:ext cx="115031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likelihood</a:t>
            </a:r>
          </a:p>
        </p:txBody>
      </p:sp>
      <p:sp>
        <p:nvSpPr>
          <p:cNvPr id="13" name="!!term-posterior">
            <a:extLst>
              <a:ext uri="{C183D7F6-B498-43B3-948B-1728B52AA6E4}">
                <adec:decorative xmlns:adec="http://schemas.microsoft.com/office/drawing/2017/decorative" val="1"/>
              </a:ext>
            </a:extLst>
          </p:cNvPr>
          <p:cNvSpPr/>
          <p:nvPr/>
        </p:nvSpPr>
        <p:spPr>
          <a:xfrm>
            <a:off x="3160820" y="1847088"/>
            <a:ext cx="126462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posterior">
            <a:extLst>
              <a:ext uri="{C183D7F6-B498-43B3-948B-1728B52AA6E4}">
                <adec:decorative xmlns:adec="http://schemas.microsoft.com/office/drawing/2017/decorative" val="1"/>
              </a:ext>
            </a:extLst>
          </p:cNvPr>
          <p:cNvSpPr/>
          <p:nvPr/>
        </p:nvSpPr>
        <p:spPr>
          <a:xfrm>
            <a:off x="328883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posterior"/>
          <p:cNvSpPr txBox="1"/>
          <p:nvPr/>
        </p:nvSpPr>
        <p:spPr>
          <a:xfrm>
            <a:off x="3453428" y="1962911"/>
            <a:ext cx="108174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posterior</a:t>
            </a:r>
          </a:p>
        </p:txBody>
      </p:sp>
      <p:sp>
        <p:nvSpPr>
          <p:cNvPr id="16" name="!!term-evidence">
            <a:extLst>
              <a:ext uri="{C183D7F6-B498-43B3-948B-1728B52AA6E4}">
                <adec:decorative xmlns:adec="http://schemas.microsoft.com/office/drawing/2017/decorative" val="1"/>
              </a:ext>
            </a:extLst>
          </p:cNvPr>
          <p:cNvSpPr/>
          <p:nvPr/>
        </p:nvSpPr>
        <p:spPr>
          <a:xfrm>
            <a:off x="4571750" y="1847088"/>
            <a:ext cx="124869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evidence">
            <a:extLst>
              <a:ext uri="{C183D7F6-B498-43B3-948B-1728B52AA6E4}">
                <adec:decorative xmlns:adec="http://schemas.microsoft.com/office/drawing/2017/decorative" val="1"/>
              </a:ext>
            </a:extLst>
          </p:cNvPr>
          <p:cNvSpPr/>
          <p:nvPr/>
        </p:nvSpPr>
        <p:spPr>
          <a:xfrm>
            <a:off x="469976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evidence"/>
          <p:cNvSpPr txBox="1"/>
          <p:nvPr/>
        </p:nvSpPr>
        <p:spPr>
          <a:xfrm>
            <a:off x="4864358" y="1962911"/>
            <a:ext cx="106581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evidence</a:t>
            </a:r>
          </a:p>
        </p:txBody>
      </p:sp>
      <p:sp>
        <p:nvSpPr>
          <p:cNvPr id="19" name="!!term-MAP hypothesis">
            <a:extLst>
              <a:ext uri="{C183D7F6-B498-43B3-948B-1728B52AA6E4}">
                <adec:decorative xmlns:adec="http://schemas.microsoft.com/office/drawing/2017/decorative" val="1"/>
              </a:ext>
            </a:extLst>
          </p:cNvPr>
          <p:cNvSpPr/>
          <p:nvPr/>
        </p:nvSpPr>
        <p:spPr>
          <a:xfrm>
            <a:off x="5966747" y="1847088"/>
            <a:ext cx="191442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MAP hypothesis">
            <a:extLst>
              <a:ext uri="{C183D7F6-B498-43B3-948B-1728B52AA6E4}">
                <adec:decorative xmlns:adec="http://schemas.microsoft.com/office/drawing/2017/decorative" val="1"/>
              </a:ext>
            </a:extLst>
          </p:cNvPr>
          <p:cNvSpPr/>
          <p:nvPr/>
        </p:nvSpPr>
        <p:spPr>
          <a:xfrm>
            <a:off x="609476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MAP hypothesis"/>
          <p:cNvSpPr txBox="1"/>
          <p:nvPr/>
        </p:nvSpPr>
        <p:spPr>
          <a:xfrm>
            <a:off x="6259355" y="1962911"/>
            <a:ext cx="173154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MAP hypothesis</a:t>
            </a:r>
          </a:p>
        </p:txBody>
      </p:sp>
      <p:sp>
        <p:nvSpPr>
          <p:cNvPr id="22" name="!!term-maximum likeli">
            <a:extLst>
              <a:ext uri="{C183D7F6-B498-43B3-948B-1728B52AA6E4}">
                <adec:decorative xmlns:adec="http://schemas.microsoft.com/office/drawing/2017/decorative" val="1"/>
              </a:ext>
            </a:extLst>
          </p:cNvPr>
          <p:cNvSpPr/>
          <p:nvPr/>
        </p:nvSpPr>
        <p:spPr>
          <a:xfrm>
            <a:off x="8027475" y="1847088"/>
            <a:ext cx="333308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maximum likeli">
            <a:extLst>
              <a:ext uri="{C183D7F6-B498-43B3-948B-1728B52AA6E4}">
                <adec:decorative xmlns:adec="http://schemas.microsoft.com/office/drawing/2017/decorative" val="1"/>
              </a:ext>
            </a:extLst>
          </p:cNvPr>
          <p:cNvSpPr/>
          <p:nvPr/>
        </p:nvSpPr>
        <p:spPr>
          <a:xfrm>
            <a:off x="815549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maximum likeli"/>
          <p:cNvSpPr txBox="1"/>
          <p:nvPr/>
        </p:nvSpPr>
        <p:spPr>
          <a:xfrm>
            <a:off x="8320083" y="1962911"/>
            <a:ext cx="315020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maximum likelihood hypothesis</a:t>
            </a:r>
          </a:p>
        </p:txBody>
      </p:sp>
      <p:sp>
        <p:nvSpPr>
          <p:cNvPr id="25" name="!!term-Bayes optimal ">
            <a:extLst>
              <a:ext uri="{C183D7F6-B498-43B3-948B-1728B52AA6E4}">
                <adec:decorative xmlns:adec="http://schemas.microsoft.com/office/drawing/2017/decorative" val="1"/>
              </a:ext>
            </a:extLst>
          </p:cNvPr>
          <p:cNvSpPr/>
          <p:nvPr/>
        </p:nvSpPr>
        <p:spPr>
          <a:xfrm>
            <a:off x="658368" y="2468880"/>
            <a:ext cx="25440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Bayes optimal ">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Bayes optimal "/>
          <p:cNvSpPr txBox="1"/>
          <p:nvPr/>
        </p:nvSpPr>
        <p:spPr>
          <a:xfrm>
            <a:off x="950976" y="2584704"/>
            <a:ext cx="236119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Bayes optimal classifier</a:t>
            </a:r>
          </a:p>
        </p:txBody>
      </p:sp>
      <p:sp>
        <p:nvSpPr>
          <p:cNvPr id="28" name="!!term-conditional in">
            <a:extLst>
              <a:ext uri="{C183D7F6-B498-43B3-948B-1728B52AA6E4}">
                <adec:decorative xmlns:adec="http://schemas.microsoft.com/office/drawing/2017/decorative" val="1"/>
              </a:ext>
            </a:extLst>
          </p:cNvPr>
          <p:cNvSpPr/>
          <p:nvPr/>
        </p:nvSpPr>
        <p:spPr>
          <a:xfrm>
            <a:off x="3348748" y="2468880"/>
            <a:ext cx="281477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conditional in">
            <a:extLst>
              <a:ext uri="{C183D7F6-B498-43B3-948B-1728B52AA6E4}">
                <adec:decorative xmlns:adec="http://schemas.microsoft.com/office/drawing/2017/decorative" val="1"/>
              </a:ext>
            </a:extLst>
          </p:cNvPr>
          <p:cNvSpPr/>
          <p:nvPr/>
        </p:nvSpPr>
        <p:spPr>
          <a:xfrm>
            <a:off x="347676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conditional in"/>
          <p:cNvSpPr txBox="1"/>
          <p:nvPr/>
        </p:nvSpPr>
        <p:spPr>
          <a:xfrm>
            <a:off x="3641356" y="2584704"/>
            <a:ext cx="263189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conditional independence</a:t>
            </a:r>
          </a:p>
        </p:txBody>
      </p:sp>
      <p:sp>
        <p:nvSpPr>
          <p:cNvPr id="31" name="!!term-naive Bayes">
            <a:extLst>
              <a:ext uri="{C183D7F6-B498-43B3-948B-1728B52AA6E4}">
                <adec:decorative xmlns:adec="http://schemas.microsoft.com/office/drawing/2017/decorative" val="1"/>
              </a:ext>
            </a:extLst>
          </p:cNvPr>
          <p:cNvSpPr/>
          <p:nvPr/>
        </p:nvSpPr>
        <p:spPr>
          <a:xfrm>
            <a:off x="6309831" y="2468880"/>
            <a:ext cx="149716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naive Bayes">
            <a:extLst>
              <a:ext uri="{C183D7F6-B498-43B3-948B-1728B52AA6E4}">
                <adec:decorative xmlns:adec="http://schemas.microsoft.com/office/drawing/2017/decorative" val="1"/>
              </a:ext>
            </a:extLst>
          </p:cNvPr>
          <p:cNvSpPr/>
          <p:nvPr/>
        </p:nvSpPr>
        <p:spPr>
          <a:xfrm>
            <a:off x="643784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naive Bayes"/>
          <p:cNvSpPr txBox="1"/>
          <p:nvPr/>
        </p:nvSpPr>
        <p:spPr>
          <a:xfrm>
            <a:off x="6602439" y="2584704"/>
            <a:ext cx="131428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naive Bayes</a:t>
            </a:r>
          </a:p>
        </p:txBody>
      </p:sp>
      <p:sp>
        <p:nvSpPr>
          <p:cNvPr id="34" name="!!term-zero-frequency">
            <a:extLst>
              <a:ext uri="{C183D7F6-B498-43B3-948B-1728B52AA6E4}">
                <adec:decorative xmlns:adec="http://schemas.microsoft.com/office/drawing/2017/decorative" val="1"/>
              </a:ext>
            </a:extLst>
          </p:cNvPr>
          <p:cNvSpPr/>
          <p:nvPr/>
        </p:nvSpPr>
        <p:spPr>
          <a:xfrm>
            <a:off x="7953301" y="2468880"/>
            <a:ext cx="265505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zero-frequency">
            <a:extLst>
              <a:ext uri="{C183D7F6-B498-43B3-948B-1728B52AA6E4}">
                <adec:decorative xmlns:adec="http://schemas.microsoft.com/office/drawing/2017/decorative" val="1"/>
              </a:ext>
            </a:extLst>
          </p:cNvPr>
          <p:cNvSpPr/>
          <p:nvPr/>
        </p:nvSpPr>
        <p:spPr>
          <a:xfrm>
            <a:off x="808131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zero-frequency"/>
          <p:cNvSpPr txBox="1"/>
          <p:nvPr/>
        </p:nvSpPr>
        <p:spPr>
          <a:xfrm>
            <a:off x="8245909" y="2584704"/>
            <a:ext cx="247217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zero-frequency problem</a:t>
            </a:r>
          </a:p>
        </p:txBody>
      </p:sp>
      <p:sp>
        <p:nvSpPr>
          <p:cNvPr id="37" name="!!term-Laplace smooth">
            <a:extLst>
              <a:ext uri="{C183D7F6-B498-43B3-948B-1728B52AA6E4}">
                <adec:decorative xmlns:adec="http://schemas.microsoft.com/office/drawing/2017/decorative" val="1"/>
              </a:ext>
            </a:extLst>
          </p:cNvPr>
          <p:cNvSpPr/>
          <p:nvPr/>
        </p:nvSpPr>
        <p:spPr>
          <a:xfrm>
            <a:off x="658368" y="3090672"/>
            <a:ext cx="21668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Laplace smooth">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Laplace smooth"/>
          <p:cNvSpPr txBox="1"/>
          <p:nvPr/>
        </p:nvSpPr>
        <p:spPr>
          <a:xfrm>
            <a:off x="950976" y="3206496"/>
            <a:ext cx="198399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Laplace smoothing</a:t>
            </a:r>
          </a:p>
        </p:txBody>
      </p:sp>
      <p:sp>
        <p:nvSpPr>
          <p:cNvPr id="40" name="!!term-m-estimate">
            <a:extLst>
              <a:ext uri="{C183D7F6-B498-43B3-948B-1728B52AA6E4}">
                <adec:decorative xmlns:adec="http://schemas.microsoft.com/office/drawing/2017/decorative" val="1"/>
              </a:ext>
            </a:extLst>
          </p:cNvPr>
          <p:cNvSpPr/>
          <p:nvPr/>
        </p:nvSpPr>
        <p:spPr>
          <a:xfrm>
            <a:off x="2971543" y="3090672"/>
            <a:ext cx="147955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m-estimate">
            <a:extLst>
              <a:ext uri="{C183D7F6-B498-43B3-948B-1728B52AA6E4}">
                <adec:decorative xmlns:adec="http://schemas.microsoft.com/office/drawing/2017/decorative" val="1"/>
              </a:ext>
            </a:extLst>
          </p:cNvPr>
          <p:cNvSpPr/>
          <p:nvPr/>
        </p:nvSpPr>
        <p:spPr>
          <a:xfrm>
            <a:off x="309955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m-estimate"/>
          <p:cNvSpPr txBox="1"/>
          <p:nvPr/>
        </p:nvSpPr>
        <p:spPr>
          <a:xfrm>
            <a:off x="3264151" y="3206496"/>
            <a:ext cx="129667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m-estimate</a:t>
            </a:r>
          </a:p>
        </p:txBody>
      </p:sp>
      <p:sp>
        <p:nvSpPr>
          <p:cNvPr id="43" name="!!term-Gaussian naive">
            <a:extLst>
              <a:ext uri="{C183D7F6-B498-43B3-948B-1728B52AA6E4}">
                <adec:decorative xmlns:adec="http://schemas.microsoft.com/office/drawing/2017/decorative" val="1"/>
              </a:ext>
            </a:extLst>
          </p:cNvPr>
          <p:cNvSpPr/>
          <p:nvPr/>
        </p:nvSpPr>
        <p:spPr>
          <a:xfrm>
            <a:off x="4597406" y="3090672"/>
            <a:ext cx="236767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Gaussian naive">
            <a:extLst>
              <a:ext uri="{C183D7F6-B498-43B3-948B-1728B52AA6E4}">
                <adec:decorative xmlns:adec="http://schemas.microsoft.com/office/drawing/2017/decorative" val="1"/>
              </a:ext>
            </a:extLst>
          </p:cNvPr>
          <p:cNvSpPr/>
          <p:nvPr/>
        </p:nvSpPr>
        <p:spPr>
          <a:xfrm>
            <a:off x="472542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Gaussian naive"/>
          <p:cNvSpPr txBox="1"/>
          <p:nvPr/>
        </p:nvSpPr>
        <p:spPr>
          <a:xfrm>
            <a:off x="4890014" y="3206496"/>
            <a:ext cx="218479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Gaussian naive Bayes</a:t>
            </a:r>
          </a:p>
        </p:txBody>
      </p:sp>
      <p:sp>
        <p:nvSpPr>
          <p:cNvPr id="46" name="!!term-bag of words">
            <a:extLst>
              <a:ext uri="{C183D7F6-B498-43B3-948B-1728B52AA6E4}">
                <adec:decorative xmlns:adec="http://schemas.microsoft.com/office/drawing/2017/decorative" val="1"/>
              </a:ext>
            </a:extLst>
          </p:cNvPr>
          <p:cNvSpPr/>
          <p:nvPr/>
        </p:nvSpPr>
        <p:spPr>
          <a:xfrm>
            <a:off x="7111385" y="3090672"/>
            <a:ext cx="164151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bag of words">
            <a:extLst>
              <a:ext uri="{C183D7F6-B498-43B3-948B-1728B52AA6E4}">
                <adec:decorative xmlns:adec="http://schemas.microsoft.com/office/drawing/2017/decorative" val="1"/>
              </a:ext>
            </a:extLst>
          </p:cNvPr>
          <p:cNvSpPr/>
          <p:nvPr/>
        </p:nvSpPr>
        <p:spPr>
          <a:xfrm>
            <a:off x="723940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bag of words"/>
          <p:cNvSpPr txBox="1"/>
          <p:nvPr/>
        </p:nvSpPr>
        <p:spPr>
          <a:xfrm>
            <a:off x="7403993" y="3206496"/>
            <a:ext cx="145863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bag of words</a:t>
            </a:r>
          </a:p>
        </p:txBody>
      </p:sp>
      <p:sp>
        <p:nvSpPr>
          <p:cNvPr id="49" name="!!term-multinomial na">
            <a:extLst>
              <a:ext uri="{C183D7F6-B498-43B3-948B-1728B52AA6E4}">
                <adec:decorative xmlns:adec="http://schemas.microsoft.com/office/drawing/2017/decorative" val="1"/>
              </a:ext>
            </a:extLst>
          </p:cNvPr>
          <p:cNvSpPr/>
          <p:nvPr/>
        </p:nvSpPr>
        <p:spPr>
          <a:xfrm>
            <a:off x="658368" y="3712464"/>
            <a:ext cx="264333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multinomial na">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multinomial na"/>
          <p:cNvSpPr txBox="1"/>
          <p:nvPr/>
        </p:nvSpPr>
        <p:spPr>
          <a:xfrm>
            <a:off x="950976" y="3828288"/>
            <a:ext cx="246045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multinomial naive Bayes</a:t>
            </a:r>
          </a:p>
        </p:txBody>
      </p:sp>
      <p:sp>
        <p:nvSpPr>
          <p:cNvPr id="52" name="!!term-log-probabilit">
            <a:extLst>
              <a:ext uri="{C183D7F6-B498-43B3-948B-1728B52AA6E4}">
                <adec:decorative xmlns:adec="http://schemas.microsoft.com/office/drawing/2017/decorative" val="1"/>
              </a:ext>
            </a:extLst>
          </p:cNvPr>
          <p:cNvSpPr/>
          <p:nvPr/>
        </p:nvSpPr>
        <p:spPr>
          <a:xfrm>
            <a:off x="3448008" y="3712464"/>
            <a:ext cx="194729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log-probabilit">
            <a:extLst>
              <a:ext uri="{C183D7F6-B498-43B3-948B-1728B52AA6E4}">
                <adec:decorative xmlns:adec="http://schemas.microsoft.com/office/drawing/2017/decorative" val="1"/>
              </a:ext>
            </a:extLst>
          </p:cNvPr>
          <p:cNvSpPr/>
          <p:nvPr/>
        </p:nvSpPr>
        <p:spPr>
          <a:xfrm>
            <a:off x="357602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log-probabilit"/>
          <p:cNvSpPr txBox="1"/>
          <p:nvPr/>
        </p:nvSpPr>
        <p:spPr>
          <a:xfrm>
            <a:off x="3740616" y="3828288"/>
            <a:ext cx="176441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log-probabilities</a:t>
            </a:r>
          </a:p>
        </p:txBody>
      </p:sp>
      <p:sp>
        <p:nvSpPr>
          <p:cNvPr id="55"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pfill">
            <a:extLst>
              <a:ext uri="{C183D7F6-B498-43B3-948B-1728B52AA6E4}">
                <adec:decorative xmlns:adec="http://schemas.microsoft.com/office/drawing/2017/decorative" val="1"/>
              </a:ext>
            </a:extLst>
          </p:cNvPr>
          <p:cNvSpPr/>
          <p:nvPr/>
        </p:nvSpPr>
        <p:spPr>
          <a:xfrm>
            <a:off x="0" y="0"/>
            <a:ext cx="88666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77–84     </a:t>
            </a:r>
            <a:fld id="{54580CC5-560A-4320-A602-28A4472BAB54}" type="slidenum">
              <a:rPr lang="en-GB" sz="1000">
                <a:solidFill>
                  <a:srgbClr val="8795A1"/>
                </a:solidFill>
                <a:latin typeface="Segoe UI"/>
              </a:rPr>
              <a:t>5</a:t>
            </a:fld>
          </a:p>
        </p:txBody>
      </p:sp>
      <p:sp>
        <p:nvSpPr>
          <p:cNvPr id="7" name="!!ag0" descr="Go to section 10.1 Learning as Updating Belief">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10.1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Learning as Updating Belief</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77  ›</a:t>
            </a:r>
          </a:p>
        </p:txBody>
      </p:sp>
      <p:sp>
        <p:nvSpPr>
          <p:cNvPr id="12" name="!!ag1" descr="Go to section 10.2 Bayes’ Theorem for Hypothese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10.2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Bayes’ Theorem for Hypotheses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77  ›</a:t>
            </a:r>
          </a:p>
        </p:txBody>
      </p:sp>
      <p:sp>
        <p:nvSpPr>
          <p:cNvPr id="17" name="!!ag2" descr="Go to section 10.3 The Bayes Optimal Classifier">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10.3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Bayes Optimal Classifier</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79  ›</a:t>
            </a:r>
          </a:p>
        </p:txBody>
      </p:sp>
      <p:sp>
        <p:nvSpPr>
          <p:cNvPr id="22" name="!!ag3" descr="Go to section 10.4 Naive Bayes">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10.4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Naive Bayes</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79  ›</a:t>
            </a:r>
          </a:p>
        </p:txBody>
      </p:sp>
      <p:sp>
        <p:nvSpPr>
          <p:cNvPr id="27" name="!!ag4" descr="Go to section 10.5 The Zero-Frequency Problem and Laplace Smoothing">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10.5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Zero-Frequency Problem and Laplace Smoothing</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80  ›</a:t>
            </a:r>
          </a:p>
        </p:txBody>
      </p:sp>
      <p:sp>
        <p:nvSpPr>
          <p:cNvPr id="32" name="!!ag5" descr="Go to section 10.6 Continuous Features: Gaussian Naive Bayes">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10.6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Continuous Features: Gaussian Naive Bayes</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80  ›</a:t>
            </a:r>
          </a:p>
        </p:txBody>
      </p:sp>
      <p:sp>
        <p:nvSpPr>
          <p:cNvPr id="37" name="!!ag6" descr="Go to section 10.7 Text Classification">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10.7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Text Classification</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81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10833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as Updating Belief</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§10.1  ·  Handout p. 77     </a:t>
            </a:r>
            <a:fld id="{BA9D7E7B-03C9-42C7-BF62-7917B2719AF9}"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32601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3342436"/>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learners so far return one hypothesis and no statement of how sure they are. Bayesian learning treats every hypothesis as uncertain: it starts from a </a:t>
            </a:r>
            <a:r>
              <a:rPr sz="2600" b="1" i="0">
                <a:solidFill>
                  <a:srgbClr val="1A5276"/>
                </a:solidFill>
                <a:latin typeface="Segoe UI"/>
              </a:rPr>
              <a:t>prior</a:t>
            </a:r>
            <a:r>
              <a:rPr sz="2600" b="0" i="0">
                <a:solidFill>
                  <a:srgbClr val="1C252B"/>
                </a:solidFill>
                <a:latin typeface="Segoe UI"/>
              </a:rPr>
              <a:t> belief about which hypotheses are plausible, observes data, and computes a </a:t>
            </a:r>
            <a:r>
              <a:rPr sz="2600" b="1" i="0">
                <a:solidFill>
                  <a:srgbClr val="1A5276"/>
                </a:solidFill>
                <a:latin typeface="Segoe UI"/>
              </a:rPr>
              <a:t>posterior</a:t>
            </a:r>
            <a:r>
              <a:rPr sz="2600" b="0" i="0">
                <a:solidFill>
                  <a:srgbClr val="1C252B"/>
                </a:solidFill>
                <a:latin typeface="Segoe UI"/>
              </a:rPr>
              <a:t> belief. Two things follow that the earlier chapters could not offer. Prior knowledge can be put in explicitly, and every prediction comes with a probability. And even where Bayesian methods are too expensive to use directly, they give the standard against which other methods are judged.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33000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Bayes’ Theorem for Hypotheses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2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10.2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10.1   Learning as Updating Belief</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10.2   Bayes’ Theorem for Hypotheses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10.3   The Bayes Optimal Classifier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10.4   Naive Bayes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10.5   The Zero-Frequency Problem and Laplace Smoothing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10.6   Continuous Features: Gaussian Naive Bayes</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10.7   Text Classification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§10.2     </a:t>
            </a:r>
            <a:fld id="{7F295AD9-4D09-477B-8089-9CD4E5F6C4DD}" type="slidenum">
              <a:rPr lang="en-GB" sz="1000">
                <a:solidFill>
                  <a:srgbClr val="8795A1"/>
                </a:solidFill>
                <a:latin typeface="Segoe UI"/>
              </a:rPr>
              <a:t>7</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55167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Posterior, MAP and ML Hypotheses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§10.2  ·  Handout p. 77     </a:t>
            </a:r>
            <a:fld id="{8E2A740C-51F5-4E8F-A48A-573AC2C42CB2}"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85975"/>
          </a:xfrm>
          <a:prstGeom prst="roundRect">
            <a:avLst>
              <a:gd name="adj" fmla="val 2038"/>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8597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For a hypothesis </a:t>
            </a:r>
            <a:r>
              <a:rPr sz="2200" b="0" i="1">
                <a:solidFill>
                  <a:srgbClr val="1C252B"/>
                </a:solidFill>
                <a:latin typeface="Cambria"/>
              </a:rPr>
              <a:t>h</a:t>
            </a:r>
            <a:r>
              <a:rPr sz="2200" b="0" i="0">
                <a:solidFill>
                  <a:srgbClr val="1C252B"/>
                </a:solidFill>
                <a:latin typeface="Segoe UI"/>
              </a:rPr>
              <a:t> and training data </a:t>
            </a:r>
            <a:r>
              <a:rPr sz="2200" b="0" i="1">
                <a:solidFill>
                  <a:srgbClr val="1C252B"/>
                </a:solidFill>
                <a:latin typeface="Cambria"/>
              </a:rPr>
              <a:t>D</a:t>
            </a:r>
            <a:r>
              <a:rPr sz="2200" b="0" i="0">
                <a:solidFill>
                  <a:srgbClr val="1C252B"/>
                </a:solidFill>
                <a:latin typeface="Segoe UI"/>
              </a:rPr>
              <a:t>:</a:t>
            </a:r>
          </a:p>
        </p:txBody>
      </p:sp>
      <p:pic>
        <p:nvPicPr>
          <p:cNvPr id="10" name="body-1" descr="P(h \mid D) = \frac{P(D \mid h)\,P(h)}{P(D)}"/>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50617"/>
            <a:ext cx="10161727" cy="707105"/>
          </a:xfrm>
          <a:prstGeom prst="rect">
            <a:avLst/>
          </a:prstGeom>
        </p:spPr>
      </p:pic>
      <p:sp>
        <p:nvSpPr>
          <p:cNvPr id="11" name="body-2"/>
          <p:cNvSpPr txBox="1"/>
          <p:nvPr/>
        </p:nvSpPr>
        <p:spPr>
          <a:xfrm>
            <a:off x="1060704" y="3411392"/>
            <a:ext cx="10161727"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P</a:t>
            </a:r>
            <a:r>
              <a:rPr sz="2200" b="0" i="0">
                <a:solidFill>
                  <a:srgbClr val="1C252B"/>
                </a:solidFill>
                <a:latin typeface="Cambria"/>
              </a:rPr>
              <a:t>(</a:t>
            </a:r>
            <a:r>
              <a:rPr sz="2200" b="0" i="1">
                <a:solidFill>
                  <a:srgbClr val="1C252B"/>
                </a:solidFill>
                <a:latin typeface="Cambria"/>
              </a:rPr>
              <a:t>h</a:t>
            </a:r>
            <a:r>
              <a:rPr sz="2200" b="0" i="0">
                <a:solidFill>
                  <a:srgbClr val="1C252B"/>
                </a:solidFill>
                <a:latin typeface="Cambria"/>
              </a:rPr>
              <a:t>)</a:t>
            </a:r>
            <a:r>
              <a:rPr sz="2200" b="0" i="0">
                <a:solidFill>
                  <a:srgbClr val="1C252B"/>
                </a:solidFill>
                <a:latin typeface="Segoe UI"/>
              </a:rPr>
              <a:t> is the </a:t>
            </a:r>
            <a:r>
              <a:rPr sz="2200" b="1" i="0">
                <a:solidFill>
                  <a:srgbClr val="1A5276"/>
                </a:solidFill>
                <a:latin typeface="Segoe UI"/>
              </a:rPr>
              <a:t>prior</a:t>
            </a:r>
            <a:r>
              <a:rPr sz="2200" b="0" i="0">
                <a:solidFill>
                  <a:srgbClr val="1C252B"/>
                </a:solidFill>
                <a:latin typeface="Segoe UI"/>
              </a:rPr>
              <a:t>, </a:t>
            </a:r>
            <a:r>
              <a:rPr sz="2200" b="0" i="1">
                <a:solidFill>
                  <a:srgbClr val="1C252B"/>
                </a:solidFill>
                <a:latin typeface="Cambria"/>
              </a:rPr>
              <a:t>P</a:t>
            </a:r>
            <a:r>
              <a:rPr sz="2200" b="0" i="0">
                <a:solidFill>
                  <a:srgbClr val="1C252B"/>
                </a:solidFill>
                <a:latin typeface="Cambria"/>
              </a:rPr>
              <a:t>(</a:t>
            </a:r>
            <a:r>
              <a:rPr sz="2200" b="0" i="1">
                <a:solidFill>
                  <a:srgbClr val="1C252B"/>
                </a:solidFill>
                <a:latin typeface="Cambria"/>
              </a:rPr>
              <a:t>D</a:t>
            </a:r>
            <a:r>
              <a:rPr sz="2200" b="0" i="0">
                <a:solidFill>
                  <a:srgbClr val="1C252B"/>
                </a:solidFill>
                <a:latin typeface="Cambria"/>
              </a:rPr>
              <a:t> ∣ </a:t>
            </a:r>
            <a:r>
              <a:rPr sz="2200" b="0" i="1">
                <a:solidFill>
                  <a:srgbClr val="1C252B"/>
                </a:solidFill>
                <a:latin typeface="Cambria"/>
              </a:rPr>
              <a:t>h</a:t>
            </a:r>
            <a:r>
              <a:rPr sz="2200" b="0" i="0">
                <a:solidFill>
                  <a:srgbClr val="1C252B"/>
                </a:solidFill>
                <a:latin typeface="Cambria"/>
              </a:rPr>
              <a:t>)</a:t>
            </a:r>
            <a:r>
              <a:rPr sz="2200" b="0" i="0">
                <a:solidFill>
                  <a:srgbClr val="1C252B"/>
                </a:solidFill>
                <a:latin typeface="Segoe UI"/>
              </a:rPr>
              <a:t> the </a:t>
            </a:r>
            <a:r>
              <a:rPr sz="2200" b="1" i="0">
                <a:solidFill>
                  <a:srgbClr val="1A5276"/>
                </a:solidFill>
                <a:latin typeface="Segoe UI"/>
              </a:rPr>
              <a:t>likelihood</a:t>
            </a:r>
            <a:r>
              <a:rPr sz="2200" b="0" i="0">
                <a:solidFill>
                  <a:srgbClr val="1C252B"/>
                </a:solidFill>
                <a:latin typeface="Segoe UI"/>
              </a:rPr>
              <a:t>, </a:t>
            </a:r>
            <a:r>
              <a:rPr sz="2200" b="0" i="1">
                <a:solidFill>
                  <a:srgbClr val="1C252B"/>
                </a:solidFill>
                <a:latin typeface="Cambria"/>
              </a:rPr>
              <a:t>P</a:t>
            </a:r>
            <a:r>
              <a:rPr sz="2200" b="0" i="0">
                <a:solidFill>
                  <a:srgbClr val="1C252B"/>
                </a:solidFill>
                <a:latin typeface="Cambria"/>
              </a:rPr>
              <a:t>(</a:t>
            </a:r>
            <a:r>
              <a:rPr sz="2200" b="0" i="1">
                <a:solidFill>
                  <a:srgbClr val="1C252B"/>
                </a:solidFill>
                <a:latin typeface="Cambria"/>
              </a:rPr>
              <a:t>D</a:t>
            </a:r>
            <a:r>
              <a:rPr sz="2200" b="0" i="0">
                <a:solidFill>
                  <a:srgbClr val="1C252B"/>
                </a:solidFill>
                <a:latin typeface="Cambria"/>
              </a:rPr>
              <a:t>)</a:t>
            </a:r>
            <a:r>
              <a:rPr sz="2200" b="0" i="0">
                <a:solidFill>
                  <a:srgbClr val="1C252B"/>
                </a:solidFill>
                <a:latin typeface="Segoe UI"/>
              </a:rPr>
              <a:t> the </a:t>
            </a:r>
            <a:r>
              <a:rPr sz="2200" b="1" i="0">
                <a:solidFill>
                  <a:srgbClr val="1A5276"/>
                </a:solidFill>
                <a:latin typeface="Segoe UI"/>
              </a:rPr>
              <a:t>evidence</a:t>
            </a:r>
            <a:r>
              <a:rPr sz="2200" b="0" i="0">
                <a:solidFill>
                  <a:srgbClr val="1C252B"/>
                </a:solidFill>
                <a:latin typeface="Segoe UI"/>
              </a:rPr>
              <a:t> and </a:t>
            </a:r>
            <a:r>
              <a:rPr sz="2200" b="0" i="1">
                <a:solidFill>
                  <a:srgbClr val="1C252B"/>
                </a:solidFill>
                <a:latin typeface="Cambria"/>
              </a:rPr>
              <a:t>P</a:t>
            </a:r>
            <a:r>
              <a:rPr sz="2200" b="0" i="0">
                <a:solidFill>
                  <a:srgbClr val="1C252B"/>
                </a:solidFill>
                <a:latin typeface="Cambria"/>
              </a:rPr>
              <a:t>(</a:t>
            </a:r>
            <a:r>
              <a:rPr sz="2200" b="0" i="1">
                <a:solidFill>
                  <a:srgbClr val="1C252B"/>
                </a:solidFill>
                <a:latin typeface="Cambria"/>
              </a:rPr>
              <a:t>h</a:t>
            </a:r>
            <a:r>
              <a:rPr sz="2200" b="0" i="0">
                <a:solidFill>
                  <a:srgbClr val="1C252B"/>
                </a:solidFill>
                <a:latin typeface="Cambria"/>
              </a:rPr>
              <a:t> ∣ </a:t>
            </a:r>
            <a:r>
              <a:rPr sz="2200" b="0" i="1">
                <a:solidFill>
                  <a:srgbClr val="1C252B"/>
                </a:solidFill>
                <a:latin typeface="Cambria"/>
              </a:rPr>
              <a:t>D</a:t>
            </a:r>
            <a:r>
              <a:rPr sz="2200" b="0" i="0">
                <a:solidFill>
                  <a:srgbClr val="1C252B"/>
                </a:solidFill>
                <a:latin typeface="Cambria"/>
              </a:rPr>
              <a:t>)</a:t>
            </a:r>
            <a:r>
              <a:rPr sz="2200" b="0" i="0">
                <a:solidFill>
                  <a:srgbClr val="1C252B"/>
                </a:solidFill>
                <a:latin typeface="Segoe UI"/>
              </a:rPr>
              <a:t> the </a:t>
            </a:r>
            <a:r>
              <a:rPr sz="2200" b="1" i="0">
                <a:solidFill>
                  <a:srgbClr val="1A5276"/>
                </a:solidFill>
                <a:latin typeface="Segoe UI"/>
              </a:rPr>
              <a:t>posterior</a:t>
            </a:r>
            <a:r>
              <a:rPr sz="2200" b="0" i="0">
                <a:solidFill>
                  <a:srgbClr val="1C252B"/>
                </a:solidFill>
                <a:latin typeface="Segoe UI"/>
              </a:rPr>
              <a:t>. The </a:t>
            </a:r>
            <a:r>
              <a:rPr sz="2200" b="1" i="0">
                <a:solidFill>
                  <a:srgbClr val="1A5276"/>
                </a:solidFill>
                <a:latin typeface="Segoe UI"/>
              </a:rPr>
              <a:t>maximum a posteriori</a:t>
            </a:r>
            <a:r>
              <a:rPr sz="2200" b="0" i="0">
                <a:solidFill>
                  <a:srgbClr val="1C252B"/>
                </a:solidFill>
                <a:latin typeface="Segoe UI"/>
              </a:rPr>
              <a:t> (MAP) hypothesis maximises the posterior; since </a:t>
            </a:r>
            <a:r>
              <a:rPr sz="2200" b="0" i="1">
                <a:solidFill>
                  <a:srgbClr val="1C252B"/>
                </a:solidFill>
                <a:latin typeface="Cambria"/>
              </a:rPr>
              <a:t>P</a:t>
            </a:r>
            <a:r>
              <a:rPr sz="2200" b="0" i="0">
                <a:solidFill>
                  <a:srgbClr val="1C252B"/>
                </a:solidFill>
                <a:latin typeface="Cambria"/>
              </a:rPr>
              <a:t>(</a:t>
            </a:r>
            <a:r>
              <a:rPr sz="2200" b="0" i="1">
                <a:solidFill>
                  <a:srgbClr val="1C252B"/>
                </a:solidFill>
                <a:latin typeface="Cambria"/>
              </a:rPr>
              <a:t>D</a:t>
            </a:r>
            <a:r>
              <a:rPr sz="2200" b="0" i="0">
                <a:solidFill>
                  <a:srgbClr val="1C252B"/>
                </a:solidFill>
                <a:latin typeface="Cambria"/>
              </a:rPr>
              <a:t>)</a:t>
            </a:r>
            <a:r>
              <a:rPr sz="2200" b="0" i="0">
                <a:solidFill>
                  <a:srgbClr val="1C252B"/>
                </a:solidFill>
                <a:latin typeface="Segoe UI"/>
              </a:rPr>
              <a:t> is the same for every </a:t>
            </a:r>
            <a:r>
              <a:rPr sz="2200" b="0" i="1">
                <a:solidFill>
                  <a:srgbClr val="1C252B"/>
                </a:solidFill>
                <a:latin typeface="Cambria"/>
              </a:rPr>
              <a:t>h</a:t>
            </a:r>
            <a:r>
              <a:rPr sz="2200" b="0" i="0">
                <a:solidFill>
                  <a:srgbClr val="1C252B"/>
                </a:solidFill>
                <a:latin typeface="Segoe UI"/>
              </a:rPr>
              <a:t>, it can be dropped:</a:t>
            </a:r>
          </a:p>
        </p:txBody>
      </p:sp>
      <p:pic>
        <p:nvPicPr>
          <p:cNvPr id="12" name="body-3" descr="h_{MAP} = \arg\max_{h \in H} P(D \mid h)\,P(h)"/>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4611136"/>
            <a:ext cx="10161727" cy="450250"/>
          </a:xfrm>
          <a:prstGeom prst="rect">
            <a:avLst/>
          </a:prstGeom>
        </p:spPr>
      </p:pic>
      <p:sp>
        <p:nvSpPr>
          <p:cNvPr id="13" name="body-4"/>
          <p:cNvSpPr txBox="1"/>
          <p:nvPr/>
        </p:nvSpPr>
        <p:spPr>
          <a:xfrm>
            <a:off x="1060704" y="5215056"/>
            <a:ext cx="10161727"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If every hypothesis is equally likely a priori, this reduces to the </a:t>
            </a:r>
            <a:r>
              <a:rPr sz="2200" b="1" i="0">
                <a:solidFill>
                  <a:srgbClr val="1A5276"/>
                </a:solidFill>
                <a:latin typeface="Segoe UI"/>
              </a:rPr>
              <a:t>maximum likelihood</a:t>
            </a:r>
            <a:r>
              <a:rPr sz="2200" b="0" i="0">
                <a:solidFill>
                  <a:srgbClr val="1C252B"/>
                </a:solidFill>
                <a:latin typeface="Segoe UI"/>
              </a:rPr>
              <a:t> hypothesis </a:t>
            </a:r>
            <a:r>
              <a:rPr sz="2200" b="0" i="1">
                <a:solidFill>
                  <a:srgbClr val="1C252B"/>
                </a:solidFill>
                <a:latin typeface="Cambria"/>
              </a:rPr>
              <a:t>h</a:t>
            </a:r>
            <a:r>
              <a:rPr sz="2200" b="0" i="1" baseline="-25000">
                <a:solidFill>
                  <a:srgbClr val="1C252B"/>
                </a:solidFill>
                <a:latin typeface="Cambria"/>
              </a:rPr>
              <a:t>ML</a:t>
            </a:r>
            <a:r>
              <a:rPr sz="2200" b="0" i="0">
                <a:solidFill>
                  <a:srgbClr val="1C252B"/>
                </a:solidFill>
                <a:latin typeface="Cambria"/>
              </a:rPr>
              <a:t> = argmax</a:t>
            </a:r>
            <a:r>
              <a:rPr sz="2200" b="0" i="1" baseline="-25000">
                <a:solidFill>
                  <a:srgbClr val="1C252B"/>
                </a:solidFill>
                <a:latin typeface="Cambria"/>
              </a:rPr>
              <a:t>h</a:t>
            </a:r>
            <a:r>
              <a:rPr sz="2200" b="0" i="0">
                <a:solidFill>
                  <a:srgbClr val="1C252B"/>
                </a:solidFill>
                <a:latin typeface="Cambria"/>
              </a:rPr>
              <a:t> </a:t>
            </a:r>
            <a:r>
              <a:rPr sz="2200" b="0" i="1">
                <a:solidFill>
                  <a:srgbClr val="1C252B"/>
                </a:solidFill>
                <a:latin typeface="Cambria"/>
              </a:rPr>
              <a:t>P</a:t>
            </a:r>
            <a:r>
              <a:rPr sz="2200" b="0" i="0">
                <a:solidFill>
                  <a:srgbClr val="1C252B"/>
                </a:solidFill>
                <a:latin typeface="Cambria"/>
              </a:rPr>
              <a:t>(</a:t>
            </a:r>
            <a:r>
              <a:rPr sz="2200" b="0" i="1">
                <a:solidFill>
                  <a:srgbClr val="1C252B"/>
                </a:solidFill>
                <a:latin typeface="Cambria"/>
              </a:rPr>
              <a:t>D</a:t>
            </a:r>
            <a:r>
              <a:rPr sz="2200" b="0" i="0">
                <a:solidFill>
                  <a:srgbClr val="1C252B"/>
                </a:solidFill>
                <a:latin typeface="Cambria"/>
              </a:rPr>
              <a:t> ∣ </a:t>
            </a:r>
            <a:r>
              <a:rPr sz="2200" b="0" i="1">
                <a:solidFill>
                  <a:srgbClr val="1C252B"/>
                </a:solidFill>
                <a:latin typeface="Cambria"/>
              </a:rPr>
              <a:t>h</a:t>
            </a:r>
            <a:r>
              <a:rPr sz="2200" b="0" i="0">
                <a:solidFill>
                  <a:srgbClr val="1C252B"/>
                </a:solidFill>
                <a:latin typeface="Cambria"/>
              </a:rPr>
              <a:t>)</a:t>
            </a:r>
            <a:r>
              <a:rPr sz="2200" b="0" i="0">
                <a:solidFill>
                  <a:srgbClr val="1C252B"/>
                </a:solidFill>
                <a:latin typeface="Segoe UI"/>
              </a:rPr>
              <a:t>.</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77333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Positive Lab Test (Mitchell)</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§10.2  ·  Handout p. 77     </a:t>
            </a:r>
            <a:fld id="{0878F8A9-DF3C-40A5-9FD6-6CCCBA2D5E13}"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07900"/>
          </a:xfrm>
          <a:prstGeom prst="roundRect">
            <a:avLst>
              <a:gd name="adj" fmla="val 202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079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01598"/>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Two hypotheses: the patient has a particular cancer, or does not. 0.8% of the population has it. The test is positive in 98% of cases where the cancer is present, and in 3% where it is not. A patient tests positive.</a:t>
            </a:r>
          </a:p>
        </p:txBody>
      </p:sp>
      <p:sp>
        <p:nvSpPr>
          <p:cNvPr id="10" name="body-1"/>
          <p:cNvSpPr txBox="1"/>
          <p:nvPr/>
        </p:nvSpPr>
        <p:spPr>
          <a:xfrm>
            <a:off x="1042416" y="2993288"/>
            <a:ext cx="10234879" cy="696315"/>
          </a:xfrm>
          <a:prstGeom prst="rect">
            <a:avLst/>
          </a:prstGeom>
          <a:noFill/>
        </p:spPr>
        <p:txBody>
          <a:bodyPr wrap="square" anchor="t" lIns="0" rIns="0" tIns="0" bIns="0">
            <a:noAutofit/>
          </a:bodyPr>
          <a:lstStyle/>
          <a:p>
            <a:pPr algn="l" marL="201268" indent="-201268">
              <a:lnSpc>
                <a:spcPct val="104000"/>
              </a:lnSpc>
              <a:spcBef>
                <a:spcPts val="0"/>
              </a:spcBef>
              <a:spcAft>
                <a:spcPts val="630"/>
              </a:spcAft>
            </a:pPr>
            <a:r>
              <a:rPr sz="1800" b="1">
                <a:solidFill>
                  <a:srgbClr val="7D6608"/>
                </a:solidFill>
                <a:latin typeface="Segoe UI"/>
              </a:rPr>
              <a:t>•	</a:t>
            </a:r>
            <a:r>
              <a:rPr sz="1800" b="0" i="1">
                <a:solidFill>
                  <a:srgbClr val="1C252B"/>
                </a:solidFill>
                <a:latin typeface="Cambria"/>
              </a:rPr>
              <a:t>P</a:t>
            </a:r>
            <a:r>
              <a:rPr sz="1800" b="0" i="0">
                <a:solidFill>
                  <a:srgbClr val="1C252B"/>
                </a:solidFill>
                <a:latin typeface="Cambria"/>
              </a:rPr>
              <a:t>(+ ∣ </a:t>
            </a:r>
            <a:r>
              <a:rPr sz="1800" b="0" i="0">
                <a:solidFill>
                  <a:srgbClr val="1C252B"/>
                </a:solidFill>
                <a:latin typeface="Segoe UI"/>
              </a:rPr>
              <a:t>cancer</a:t>
            </a:r>
            <a:r>
              <a:rPr sz="1800" b="0" i="0">
                <a:solidFill>
                  <a:srgbClr val="1C252B"/>
                </a:solidFill>
                <a:latin typeface="Cambria"/>
              </a:rPr>
              <a:t>) </a:t>
            </a:r>
            <a:r>
              <a:rPr sz="1800" b="0" i="1">
                <a:solidFill>
                  <a:srgbClr val="1C252B"/>
                </a:solidFill>
                <a:latin typeface="Cambria"/>
              </a:rPr>
              <a:t>P</a:t>
            </a:r>
            <a:r>
              <a:rPr sz="1800" b="0" i="0">
                <a:solidFill>
                  <a:srgbClr val="1C252B"/>
                </a:solidFill>
                <a:latin typeface="Cambria"/>
              </a:rPr>
              <a:t>(</a:t>
            </a:r>
            <a:r>
              <a:rPr sz="1800" b="0" i="0">
                <a:solidFill>
                  <a:srgbClr val="1C252B"/>
                </a:solidFill>
                <a:latin typeface="Segoe UI"/>
              </a:rPr>
              <a:t>cancer</a:t>
            </a:r>
            <a:r>
              <a:rPr sz="1800" b="0" i="0">
                <a:solidFill>
                  <a:srgbClr val="1C252B"/>
                </a:solidFill>
                <a:latin typeface="Cambria"/>
              </a:rPr>
              <a:t>) = 0.98 × 0.008 = 0.0078</a:t>
            </a:r>
          </a:p>
          <a:p>
            <a:pPr algn="l" marL="201268" indent="-201268">
              <a:lnSpc>
                <a:spcPct val="104000"/>
              </a:lnSpc>
              <a:spcBef>
                <a:spcPts val="0"/>
              </a:spcBef>
              <a:spcAft>
                <a:spcPts val="0"/>
              </a:spcAft>
            </a:pPr>
            <a:r>
              <a:rPr sz="1800" b="1">
                <a:solidFill>
                  <a:srgbClr val="7D6608"/>
                </a:solidFill>
                <a:latin typeface="Segoe UI"/>
              </a:rPr>
              <a:t>•	</a:t>
            </a:r>
            <a:r>
              <a:rPr sz="1800" b="0" i="1">
                <a:solidFill>
                  <a:srgbClr val="1C252B"/>
                </a:solidFill>
                <a:latin typeface="Cambria"/>
              </a:rPr>
              <a:t>P</a:t>
            </a:r>
            <a:r>
              <a:rPr sz="1800" b="0" i="0">
                <a:solidFill>
                  <a:srgbClr val="1C252B"/>
                </a:solidFill>
                <a:latin typeface="Cambria"/>
              </a:rPr>
              <a:t>(+ ∣ ¬</a:t>
            </a:r>
            <a:r>
              <a:rPr sz="1800" b="0" i="0">
                <a:solidFill>
                  <a:srgbClr val="1C252B"/>
                </a:solidFill>
                <a:latin typeface="Segoe UI"/>
              </a:rPr>
              <a:t>cancer</a:t>
            </a:r>
            <a:r>
              <a:rPr sz="1800" b="0" i="0">
                <a:solidFill>
                  <a:srgbClr val="1C252B"/>
                </a:solidFill>
                <a:latin typeface="Cambria"/>
              </a:rPr>
              <a:t>) </a:t>
            </a:r>
            <a:r>
              <a:rPr sz="1800" b="0" i="1">
                <a:solidFill>
                  <a:srgbClr val="1C252B"/>
                </a:solidFill>
                <a:latin typeface="Cambria"/>
              </a:rPr>
              <a:t>P</a:t>
            </a:r>
            <a:r>
              <a:rPr sz="1800" b="0" i="0">
                <a:solidFill>
                  <a:srgbClr val="1C252B"/>
                </a:solidFill>
                <a:latin typeface="Cambria"/>
              </a:rPr>
              <a:t>(¬</a:t>
            </a:r>
            <a:r>
              <a:rPr sz="1800" b="0" i="0">
                <a:solidFill>
                  <a:srgbClr val="1C252B"/>
                </a:solidFill>
                <a:latin typeface="Segoe UI"/>
              </a:rPr>
              <a:t>cancer</a:t>
            </a:r>
            <a:r>
              <a:rPr sz="1800" b="0" i="0">
                <a:solidFill>
                  <a:srgbClr val="1C252B"/>
                </a:solidFill>
                <a:latin typeface="Cambria"/>
              </a:rPr>
              <a:t>) = 0.03 × 0.992 = 0.0298</a:t>
            </a:r>
          </a:p>
        </p:txBody>
      </p:sp>
      <p:sp>
        <p:nvSpPr>
          <p:cNvPr id="11" name="body-2"/>
          <p:cNvSpPr txBox="1"/>
          <p:nvPr/>
        </p:nvSpPr>
        <p:spPr>
          <a:xfrm>
            <a:off x="1042416" y="3769613"/>
            <a:ext cx="10234879" cy="331012"/>
          </a:xfrm>
          <a:prstGeom prst="rect">
            <a:avLst/>
          </a:prstGeom>
          <a:noFill/>
        </p:spPr>
        <p:txBody>
          <a:bodyPr wrap="square" anchor="t" lIns="0" rIns="0" tIns="0" bIns="0">
            <a:noAutofit/>
          </a:bodyPr>
          <a:lstStyle/>
          <a:p>
            <a:pPr algn="l">
              <a:lnSpc>
                <a:spcPct val="104000"/>
              </a:lnSpc>
              <a:spcBef>
                <a:spcPts val="0"/>
              </a:spcBef>
              <a:spcAft>
                <a:spcPts val="0"/>
              </a:spcAft>
            </a:pPr>
            <a:r>
              <a:rPr sz="1800" b="1" i="1">
                <a:solidFill>
                  <a:srgbClr val="7D6608"/>
                </a:solidFill>
                <a:latin typeface="Cambria"/>
              </a:rPr>
              <a:t>h</a:t>
            </a:r>
            <a:r>
              <a:rPr sz="1800" b="1" i="1" baseline="-25000">
                <a:solidFill>
                  <a:srgbClr val="1C252B"/>
                </a:solidFill>
                <a:latin typeface="Cambria"/>
              </a:rPr>
              <a:t>MAP</a:t>
            </a:r>
            <a:r>
              <a:rPr sz="1800" b="1" i="0">
                <a:solidFill>
                  <a:srgbClr val="1C252B"/>
                </a:solidFill>
                <a:latin typeface="Cambria"/>
              </a:rPr>
              <a:t> = ¬</a:t>
            </a:r>
            <a:r>
              <a:rPr sz="1800" b="1" i="0">
                <a:solidFill>
                  <a:srgbClr val="1C252B"/>
                </a:solidFill>
                <a:latin typeface="Segoe UI"/>
              </a:rPr>
              <a:t>cancer</a:t>
            </a:r>
            <a:r>
              <a:rPr sz="1800" b="0" i="0">
                <a:solidFill>
                  <a:srgbClr val="1C252B"/>
                </a:solidFill>
                <a:latin typeface="Segoe UI"/>
              </a:rPr>
              <a:t>, because </a:t>
            </a:r>
            <a:r>
              <a:rPr sz="1800" b="0" i="0">
                <a:solidFill>
                  <a:srgbClr val="1C252B"/>
                </a:solidFill>
                <a:latin typeface="Cambria"/>
              </a:rPr>
              <a:t>0.0298 &gt; 0.0078</a:t>
            </a:r>
            <a:r>
              <a:rPr sz="1800" b="0" i="0">
                <a:solidFill>
                  <a:srgbClr val="1C252B"/>
                </a:solidFill>
                <a:latin typeface="Segoe UI"/>
              </a:rPr>
              <a:t>. Normalising:</a:t>
            </a:r>
          </a:p>
        </p:txBody>
      </p:sp>
      <p:sp>
        <p:nvSpPr>
          <p:cNvPr id="12" name="body-2bar">
            <a:extLst>
              <a:ext uri="{C183D7F6-B498-43B3-948B-1728B52AA6E4}">
                <adec:decorative xmlns:adec="http://schemas.microsoft.com/office/drawing/2017/decorative" val="1"/>
              </a:ext>
            </a:extLst>
          </p:cNvPr>
          <p:cNvSpPr/>
          <p:nvPr/>
        </p:nvSpPr>
        <p:spPr>
          <a:xfrm>
            <a:off x="841248" y="3787901"/>
            <a:ext cx="54864" cy="267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 name="body-3" descr="P(\text{cancer} \mid +) = \frac{0.0078}{0.0078 + 0.0298} = \mathbf{0.2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4180636"/>
            <a:ext cx="10234879" cy="523402"/>
          </a:xfrm>
          <a:prstGeom prst="rect">
            <a:avLst/>
          </a:prstGeom>
        </p:spPr>
      </p:pic>
      <p:sp>
        <p:nvSpPr>
          <p:cNvPr id="14" name="body-4"/>
          <p:cNvSpPr txBox="1"/>
          <p:nvPr/>
        </p:nvSpPr>
        <p:spPr>
          <a:xfrm>
            <a:off x="1042416" y="4829769"/>
            <a:ext cx="10234879" cy="1186891"/>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A positive result raises the probability from 0.8% to 21% — a twenty-six-fold increase — and it is still more likely than not that the patient is healthy. The maximum likelihood hypothesis, which ignores the prior, would say “cancer” (</a:t>
            </a:r>
            <a:r>
              <a:rPr sz="1800" b="0" i="0">
                <a:solidFill>
                  <a:srgbClr val="1C252B"/>
                </a:solidFill>
                <a:latin typeface="Cambria"/>
              </a:rPr>
              <a:t>0.98 &gt; 0.03</a:t>
            </a:r>
            <a:r>
              <a:rPr sz="1800" b="0" i="0">
                <a:solidFill>
                  <a:srgbClr val="1C252B"/>
                </a:solidFill>
                <a:latin typeface="Segoe UI"/>
              </a:rPr>
              <a:t>). This is the base-rate effect of Chapter 2, now read as a choice between hypotheses.</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99500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2"/>
                                        </p:tgtEl>
                                        <p:attrNameLst>
                                          <p:attrName>style.visibility</p:attrName>
                                        </p:attrNameLst>
                                      </p:cBhvr>
                                      <p:to>
                                        <p:strVal val="visible"/>
                                      </p:to>
                                    </p:set>
                                    <p:animEffect transition="in" filter="wipe(right)">
                                      <p:cBhvr>
                                        <p:cTn id="8" dur="420"/>
                                        <p:tgtEl>
                                          <p:spTgt spid="1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right)">
                                      <p:cBhvr>
                                        <p:cTn id="16" dur="420"/>
                                        <p:tgtEl>
                                          <p:spTgt spid="13"/>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right)">
                                      <p:cBhvr>
                                        <p:cTn id="21"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Prior times likelihood, normalised, gives the posterior</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10.1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§10.2  ·  Handout p. 77     </a:t>
            </a:r>
            <a:fld id="{71398475-0FFE-4552-8628-59E9A2B4F3D3}" type="slidenum">
              <a:rPr lang="en-GB" sz="1000">
                <a:solidFill>
                  <a:srgbClr val="8795A1"/>
                </a:solidFill>
                <a:latin typeface="Segoe UI"/>
              </a:rPr>
              <a:t>10</a:t>
            </a:fld>
          </a:p>
        </p:txBody>
      </p:sp>
      <p:pic>
        <p:nvPicPr>
          <p:cNvPr id="6" name="!!figure" descr="Figure 10.1. Prior times likelihood, normalised, gives the posterior. A test that strongly favours “cancer” is not enough to overturn a prior that strongly favours “healthy”."/>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07646"/>
            <a:ext cx="10874959" cy="3608314"/>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 test that strongly favours “cancer” is not enough to overturn a prior that strongly favours “healthy”.</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21667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Least Squares Is a MAP Hypothesis in Disguise</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§10.2  ·  Handout p. 77     </a:t>
            </a:r>
            <a:fld id="{2B46B754-5B93-486D-AC95-9B2A85EBC93D}"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If the training labels are the true function plus Gaussian noise and all hypotheses are equally likely a priori, the maximum likelihood hypothesis is the one that minimises the sum of squared errors — exactly the least-squares fit of Chapter 5. Put a Gaussian prior on the weights as well, favouring small ones, and the MAP hypothesis is the ridge regression of Chapter 7. Regularisation is a prior.</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43833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Bayes Optimal Classifier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§10.3  ·  Handout p. 79     </a:t>
            </a:r>
            <a:fld id="{8CEFA731-0E9D-4FD8-A9D9-9DF2239411A6}"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032663"/>
          </a:xfrm>
          <a:prstGeom prst="roundRect">
            <a:avLst>
              <a:gd name="adj" fmla="val 3015"/>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032663"/>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MAP hypothesis answers “which hypothesis is most probable?”. That is not the same question as “which classification is most probable?”. The </a:t>
            </a:r>
            <a:r>
              <a:rPr sz="2300" b="1" i="0">
                <a:solidFill>
                  <a:srgbClr val="1A5276"/>
                </a:solidFill>
                <a:latin typeface="Segoe UI"/>
              </a:rPr>
              <a:t>Bayes optimal classifier</a:t>
            </a:r>
            <a:r>
              <a:rPr sz="2300" b="0" i="0">
                <a:solidFill>
                  <a:srgbClr val="1C252B"/>
                </a:solidFill>
                <a:latin typeface="Segoe UI"/>
              </a:rPr>
              <a:t> answers the second by letting every hypothesis vote, weighted by its posterior:</a:t>
            </a:r>
          </a:p>
        </p:txBody>
      </p:sp>
      <p:pic>
        <p:nvPicPr>
          <p:cNvPr id="10" name="body-1" descr="v_{\text{opt}} = \arg\max_{v} \sum_{h \in H} P(v \mid h)\,P(h \mid D)"/>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667074"/>
            <a:ext cx="10161727" cy="792053"/>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66000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When the Most Probable Hypothesis Is Outvoted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§10.3  ·  Handout p. 79     </a:t>
            </a:r>
            <a:fld id="{79BCB1CD-5370-491B-94D8-79939A862CC0}"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265246"/>
          </a:xfrm>
          <a:prstGeom prst="roundRect">
            <a:avLst>
              <a:gd name="adj" fmla="val 280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26524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Three hypotheses remain with posteriors </a:t>
            </a:r>
            <a:r>
              <a:rPr sz="2100" b="0" i="1">
                <a:solidFill>
                  <a:srgbClr val="1C252B"/>
                </a:solidFill>
                <a:latin typeface="Cambria"/>
              </a:rPr>
              <a:t>P</a:t>
            </a:r>
            <a:r>
              <a:rPr sz="2100" b="0" i="0">
                <a:solidFill>
                  <a:srgbClr val="1C252B"/>
                </a:solidFill>
                <a:latin typeface="Cambria"/>
              </a:rPr>
              <a:t>(</a:t>
            </a:r>
            <a:r>
              <a:rPr sz="2100" b="0" i="1">
                <a:solidFill>
                  <a:srgbClr val="1C252B"/>
                </a:solidFill>
                <a:latin typeface="Cambria"/>
              </a:rPr>
              <a:t>h</a:t>
            </a:r>
            <a:r>
              <a:rPr sz="2100" b="0" i="0" baseline="-25000">
                <a:solidFill>
                  <a:srgbClr val="1C252B"/>
                </a:solidFill>
                <a:latin typeface="Cambria"/>
              </a:rPr>
              <a:t>1</a:t>
            </a:r>
            <a:r>
              <a:rPr sz="2100" b="0" i="0">
                <a:solidFill>
                  <a:srgbClr val="1C252B"/>
                </a:solidFill>
                <a:latin typeface="Cambria"/>
              </a:rPr>
              <a:t> ∣ </a:t>
            </a:r>
            <a:r>
              <a:rPr sz="2100" b="0" i="1">
                <a:solidFill>
                  <a:srgbClr val="1C252B"/>
                </a:solidFill>
                <a:latin typeface="Cambria"/>
              </a:rPr>
              <a:t>D</a:t>
            </a:r>
            <a:r>
              <a:rPr sz="2100" b="0" i="0">
                <a:solidFill>
                  <a:srgbClr val="1C252B"/>
                </a:solidFill>
                <a:latin typeface="Cambria"/>
              </a:rPr>
              <a:t>) = 0.4</a:t>
            </a:r>
            <a:r>
              <a:rPr sz="2100" b="0" i="0">
                <a:solidFill>
                  <a:srgbClr val="1C252B"/>
                </a:solidFill>
                <a:latin typeface="Segoe UI"/>
              </a:rPr>
              <a:t>, </a:t>
            </a:r>
            <a:r>
              <a:rPr sz="2100" b="0" i="1">
                <a:solidFill>
                  <a:srgbClr val="1C252B"/>
                </a:solidFill>
                <a:latin typeface="Cambria"/>
              </a:rPr>
              <a:t>P</a:t>
            </a:r>
            <a:r>
              <a:rPr sz="2100" b="0" i="0">
                <a:solidFill>
                  <a:srgbClr val="1C252B"/>
                </a:solidFill>
                <a:latin typeface="Cambria"/>
              </a:rPr>
              <a:t>(</a:t>
            </a:r>
            <a:r>
              <a:rPr sz="2100" b="0" i="1">
                <a:solidFill>
                  <a:srgbClr val="1C252B"/>
                </a:solidFill>
                <a:latin typeface="Cambria"/>
              </a:rPr>
              <a:t>h</a:t>
            </a:r>
            <a:r>
              <a:rPr sz="2100" b="0" i="0" baseline="-25000">
                <a:solidFill>
                  <a:srgbClr val="1C252B"/>
                </a:solidFill>
                <a:latin typeface="Cambria"/>
              </a:rPr>
              <a:t>2</a:t>
            </a:r>
            <a:r>
              <a:rPr sz="2100" b="0" i="0">
                <a:solidFill>
                  <a:srgbClr val="1C252B"/>
                </a:solidFill>
                <a:latin typeface="Cambria"/>
              </a:rPr>
              <a:t> ∣ </a:t>
            </a:r>
            <a:r>
              <a:rPr sz="2100" b="0" i="1">
                <a:solidFill>
                  <a:srgbClr val="1C252B"/>
                </a:solidFill>
                <a:latin typeface="Cambria"/>
              </a:rPr>
              <a:t>D</a:t>
            </a:r>
            <a:r>
              <a:rPr sz="2100" b="0" i="0">
                <a:solidFill>
                  <a:srgbClr val="1C252B"/>
                </a:solidFill>
                <a:latin typeface="Cambria"/>
              </a:rPr>
              <a:t>) = 0.3</a:t>
            </a:r>
            <a:r>
              <a:rPr sz="2100" b="0" i="0">
                <a:solidFill>
                  <a:srgbClr val="1C252B"/>
                </a:solidFill>
                <a:latin typeface="Segoe UI"/>
              </a:rPr>
              <a:t> and </a:t>
            </a:r>
            <a:r>
              <a:rPr sz="2100" b="0" i="1">
                <a:solidFill>
                  <a:srgbClr val="1C252B"/>
                </a:solidFill>
                <a:latin typeface="Cambria"/>
              </a:rPr>
              <a:t>P</a:t>
            </a:r>
            <a:r>
              <a:rPr sz="2100" b="0" i="0">
                <a:solidFill>
                  <a:srgbClr val="1C252B"/>
                </a:solidFill>
                <a:latin typeface="Cambria"/>
              </a:rPr>
              <a:t>(</a:t>
            </a:r>
            <a:r>
              <a:rPr sz="2100" b="0" i="1">
                <a:solidFill>
                  <a:srgbClr val="1C252B"/>
                </a:solidFill>
                <a:latin typeface="Cambria"/>
              </a:rPr>
              <a:t>h</a:t>
            </a:r>
            <a:r>
              <a:rPr sz="2100" b="0" i="0" baseline="-25000">
                <a:solidFill>
                  <a:srgbClr val="1C252B"/>
                </a:solidFill>
                <a:latin typeface="Cambria"/>
              </a:rPr>
              <a:t>3</a:t>
            </a:r>
            <a:r>
              <a:rPr sz="2100" b="0" i="0">
                <a:solidFill>
                  <a:srgbClr val="1C252B"/>
                </a:solidFill>
                <a:latin typeface="Cambria"/>
              </a:rPr>
              <a:t> ∣ </a:t>
            </a:r>
            <a:r>
              <a:rPr sz="2100" b="0" i="1">
                <a:solidFill>
                  <a:srgbClr val="1C252B"/>
                </a:solidFill>
                <a:latin typeface="Cambria"/>
              </a:rPr>
              <a:t>D</a:t>
            </a:r>
            <a:r>
              <a:rPr sz="2100" b="0" i="0">
                <a:solidFill>
                  <a:srgbClr val="1C252B"/>
                </a:solidFill>
                <a:latin typeface="Cambria"/>
              </a:rPr>
              <a:t>) = 0.3</a:t>
            </a:r>
            <a:r>
              <a:rPr sz="2100" b="0" i="0">
                <a:solidFill>
                  <a:srgbClr val="1C252B"/>
                </a:solidFill>
                <a:latin typeface="Segoe UI"/>
              </a:rPr>
              <a:t>. A new instance is classified positive by </a:t>
            </a:r>
            <a:r>
              <a:rPr sz="2100" b="0" i="1">
                <a:solidFill>
                  <a:srgbClr val="1C252B"/>
                </a:solidFill>
                <a:latin typeface="Cambria"/>
              </a:rPr>
              <a:t>h</a:t>
            </a:r>
            <a:r>
              <a:rPr sz="2100" b="0" i="0" baseline="-25000">
                <a:solidFill>
                  <a:srgbClr val="1C252B"/>
                </a:solidFill>
                <a:latin typeface="Cambria"/>
              </a:rPr>
              <a:t>1</a:t>
            </a:r>
            <a:r>
              <a:rPr sz="2100" b="0" i="0">
                <a:solidFill>
                  <a:srgbClr val="1C252B"/>
                </a:solidFill>
                <a:latin typeface="Segoe UI"/>
              </a:rPr>
              <a:t> and negative by </a:t>
            </a:r>
            <a:r>
              <a:rPr sz="2100" b="0" i="1">
                <a:solidFill>
                  <a:srgbClr val="1C252B"/>
                </a:solidFill>
                <a:latin typeface="Cambria"/>
              </a:rPr>
              <a:t>h</a:t>
            </a:r>
            <a:r>
              <a:rPr sz="2100" b="0" i="0" baseline="-25000">
                <a:solidFill>
                  <a:srgbClr val="1C252B"/>
                </a:solidFill>
                <a:latin typeface="Cambria"/>
              </a:rPr>
              <a:t>2</a:t>
            </a:r>
            <a:r>
              <a:rPr sz="2100" b="0" i="0">
                <a:solidFill>
                  <a:srgbClr val="1C252B"/>
                </a:solidFill>
                <a:latin typeface="Segoe UI"/>
              </a:rPr>
              <a:t> and </a:t>
            </a:r>
            <a:r>
              <a:rPr sz="2100" b="0" i="1">
                <a:solidFill>
                  <a:srgbClr val="1C252B"/>
                </a:solidFill>
                <a:latin typeface="Cambria"/>
              </a:rPr>
              <a:t>h</a:t>
            </a:r>
            <a:r>
              <a:rPr sz="2100" b="0" i="0" baseline="-25000">
                <a:solidFill>
                  <a:srgbClr val="1C252B"/>
                </a:solidFill>
                <a:latin typeface="Cambria"/>
              </a:rPr>
              <a:t>3</a:t>
            </a:r>
            <a:r>
              <a:rPr sz="2100" b="0" i="0">
                <a:solidFill>
                  <a:srgbClr val="1C252B"/>
                </a:solidFill>
                <a:latin typeface="Segoe UI"/>
              </a:rPr>
              <a:t>.</a:t>
            </a:r>
          </a:p>
        </p:txBody>
      </p:sp>
      <p:sp>
        <p:nvSpPr>
          <p:cNvPr id="10" name="body-1"/>
          <p:cNvSpPr txBox="1"/>
          <p:nvPr/>
        </p:nvSpPr>
        <p:spPr>
          <a:xfrm>
            <a:off x="1042416" y="2824048"/>
            <a:ext cx="10234879" cy="804748"/>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7D6608"/>
                </a:solidFill>
                <a:latin typeface="Segoe UI"/>
              </a:rPr>
              <a:t>•	</a:t>
            </a:r>
            <a:r>
              <a:rPr sz="2100" b="1" i="0">
                <a:solidFill>
                  <a:srgbClr val="7D6608"/>
                </a:solidFill>
                <a:latin typeface="Segoe UI"/>
              </a:rPr>
              <a:t>MAP:</a:t>
            </a:r>
            <a:r>
              <a:rPr sz="2100" b="0" i="0">
                <a:solidFill>
                  <a:srgbClr val="1C252B"/>
                </a:solidFill>
                <a:latin typeface="Segoe UI"/>
              </a:rPr>
              <a:t> </a:t>
            </a:r>
            <a:r>
              <a:rPr sz="2100" b="0" i="1">
                <a:solidFill>
                  <a:srgbClr val="1C252B"/>
                </a:solidFill>
                <a:latin typeface="Cambria"/>
              </a:rPr>
              <a:t>h</a:t>
            </a:r>
            <a:r>
              <a:rPr sz="2100" b="0" i="0" baseline="-25000">
                <a:solidFill>
                  <a:srgbClr val="1C252B"/>
                </a:solidFill>
                <a:latin typeface="Cambria"/>
              </a:rPr>
              <a:t>1</a:t>
            </a:r>
            <a:r>
              <a:rPr sz="2100" b="0" i="0">
                <a:solidFill>
                  <a:srgbClr val="1C252B"/>
                </a:solidFill>
                <a:latin typeface="Segoe UI"/>
              </a:rPr>
              <a:t> is the most probable hypothesis, so “positive”.</a:t>
            </a:r>
          </a:p>
          <a:p>
            <a:pPr algn="l" marL="234813" indent="-234813">
              <a:lnSpc>
                <a:spcPct val="104000"/>
              </a:lnSpc>
              <a:spcBef>
                <a:spcPts val="0"/>
              </a:spcBef>
              <a:spcAft>
                <a:spcPts val="0"/>
              </a:spcAft>
            </a:pPr>
            <a:r>
              <a:rPr sz="2100" b="1">
                <a:solidFill>
                  <a:srgbClr val="7D6608"/>
                </a:solidFill>
                <a:latin typeface="Segoe UI"/>
              </a:rPr>
              <a:t>•	</a:t>
            </a:r>
            <a:r>
              <a:rPr sz="2100" b="1" i="0">
                <a:solidFill>
                  <a:srgbClr val="7D6608"/>
                </a:solidFill>
                <a:latin typeface="Segoe UI"/>
              </a:rPr>
              <a:t>Bayes optimal:</a:t>
            </a:r>
            <a:r>
              <a:rPr sz="2100" b="0" i="0">
                <a:solidFill>
                  <a:srgbClr val="1C252B"/>
                </a:solidFill>
                <a:latin typeface="Segoe UI"/>
              </a:rPr>
              <a:t> </a:t>
            </a:r>
            <a:r>
              <a:rPr sz="2100" b="0" i="1">
                <a:solidFill>
                  <a:srgbClr val="1C252B"/>
                </a:solidFill>
                <a:latin typeface="Cambria"/>
              </a:rPr>
              <a:t>P</a:t>
            </a:r>
            <a:r>
              <a:rPr sz="2100" b="0" i="0">
                <a:solidFill>
                  <a:srgbClr val="1C252B"/>
                </a:solidFill>
                <a:latin typeface="Cambria"/>
              </a:rPr>
              <a:t>(+) = 0.4</a:t>
            </a:r>
            <a:r>
              <a:rPr sz="2100" b="0" i="0">
                <a:solidFill>
                  <a:srgbClr val="1C252B"/>
                </a:solidFill>
                <a:latin typeface="Segoe UI"/>
              </a:rPr>
              <a:t> and </a:t>
            </a:r>
            <a:r>
              <a:rPr sz="2100" b="0" i="1">
                <a:solidFill>
                  <a:srgbClr val="1C252B"/>
                </a:solidFill>
                <a:latin typeface="Cambria"/>
              </a:rPr>
              <a:t>P</a:t>
            </a:r>
            <a:r>
              <a:rPr sz="2100" b="0" i="0">
                <a:solidFill>
                  <a:srgbClr val="1C252B"/>
                </a:solidFill>
                <a:latin typeface="Cambria"/>
              </a:rPr>
              <a:t>(−) = 0.3 + 0.3 = 0.6</a:t>
            </a:r>
            <a:r>
              <a:rPr sz="2100" b="0" i="0">
                <a:solidFill>
                  <a:srgbClr val="1C252B"/>
                </a:solidFill>
                <a:latin typeface="Segoe UI"/>
              </a:rPr>
              <a:t>, so </a:t>
            </a:r>
            <a:r>
              <a:rPr sz="2100" b="1" i="0">
                <a:solidFill>
                  <a:srgbClr val="1C252B"/>
                </a:solidFill>
                <a:latin typeface="Segoe UI"/>
              </a:rPr>
              <a:t>“negative”</a:t>
            </a:r>
            <a:r>
              <a:rPr sz="2100" b="0" i="0">
                <a:solidFill>
                  <a:srgbClr val="1C252B"/>
                </a:solidFill>
                <a:latin typeface="Segoe UI"/>
              </a:rPr>
              <a:t>.</a:t>
            </a:r>
          </a:p>
        </p:txBody>
      </p:sp>
      <p:sp>
        <p:nvSpPr>
          <p:cNvPr id="11" name="body-2"/>
          <p:cNvSpPr txBox="1"/>
          <p:nvPr/>
        </p:nvSpPr>
        <p:spPr>
          <a:xfrm>
            <a:off x="1042416" y="3729761"/>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single best hypothesis is outvoted by the combined weight of the others. The same idea — let many hypotheses vote — is the basis of the ensembles of Chapter 14.</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88167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wipe(right)">
                                      <p:cBhvr>
                                        <p:cTn id="8"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Naive Bayes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4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10.4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10.1   Learning as Updating Belief</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10.2   Bayes’ Theorem for Hypotheses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10.3   The Bayes Optimal Classifier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10.4   Naive Bayes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10.5   The Zero-Frequency Problem and Laplace Smoothing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10.6   Continuous Features: Gaussian Naive Bayes</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10.7   Text Classification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§10.4     </a:t>
            </a:r>
            <a:fld id="{DE22CE6B-46E3-4EA4-9E15-B804B89C6A03}" type="slidenum">
              <a:rPr lang="en-GB" sz="1000">
                <a:solidFill>
                  <a:srgbClr val="8795A1"/>
                </a:solidFill>
                <a:latin typeface="Segoe UI"/>
              </a:rPr>
              <a:t>14</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310334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Naive Bayes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§10.4  ·  Handout p. 79     </a:t>
            </a:r>
            <a:fld id="{3EFE034C-A78D-477E-BDFE-E1E80BA259D6}"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617812"/>
          </a:xfrm>
          <a:prstGeom prst="roundRect">
            <a:avLst>
              <a:gd name="adj" fmla="val 5652"/>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61781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For classification with attributes </a:t>
            </a:r>
            <a:r>
              <a:rPr sz="2300" b="0" i="1">
                <a:solidFill>
                  <a:srgbClr val="1C252B"/>
                </a:solidFill>
                <a:latin typeface="Cambria"/>
              </a:rPr>
              <a:t>a</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a</a:t>
            </a:r>
            <a:r>
              <a:rPr sz="2300" b="0" i="1" baseline="-25000">
                <a:solidFill>
                  <a:srgbClr val="1C252B"/>
                </a:solidFill>
                <a:latin typeface="Cambria"/>
              </a:rPr>
              <a:t>d</a:t>
            </a:r>
            <a:r>
              <a:rPr sz="2300" b="0" i="0">
                <a:solidFill>
                  <a:srgbClr val="1C252B"/>
                </a:solidFill>
                <a:latin typeface="Segoe UI"/>
              </a:rPr>
              <a:t>, the most probable class is</a:t>
            </a:r>
          </a:p>
        </p:txBody>
      </p:sp>
      <p:pic>
        <p:nvPicPr>
          <p:cNvPr id="10" name="body-1" descr="v_{MAP} = \arg\max_{v} P(v)\,P(a_1, a_2, \dots, a_d \mid v)"/>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470824"/>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32500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Naive Bayes Classifier</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§10.4  ·  Handout p. 79     </a:t>
            </a:r>
            <a:fld id="{73902B03-3F46-4323-BB26-AB8D3294FA07}"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469924"/>
          </a:xfrm>
          <a:prstGeom prst="roundRect">
            <a:avLst>
              <a:gd name="adj" fmla="val 263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469924"/>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Assume the attributes are </a:t>
            </a:r>
            <a:r>
              <a:rPr sz="2300" b="1" i="0">
                <a:solidFill>
                  <a:srgbClr val="1A5276"/>
                </a:solidFill>
                <a:latin typeface="Segoe UI"/>
              </a:rPr>
              <a:t>conditionally independent</a:t>
            </a:r>
            <a:r>
              <a:rPr sz="2300" b="0" i="0">
                <a:solidFill>
                  <a:srgbClr val="1C252B"/>
                </a:solidFill>
                <a:latin typeface="Segoe UI"/>
              </a:rPr>
              <a:t> given the class: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a:t>
            </a:r>
            <a:r>
              <a:rPr sz="2300" b="0" i="0" baseline="-25000">
                <a:solidFill>
                  <a:srgbClr val="1C252B"/>
                </a:solidFill>
                <a:latin typeface="Cambria"/>
              </a:rPr>
              <a:t>1</a:t>
            </a:r>
            <a:r>
              <a:rPr sz="2300" b="0" i="0">
                <a:solidFill>
                  <a:srgbClr val="1C252B"/>
                </a:solidFill>
                <a:latin typeface="Cambria"/>
              </a:rPr>
              <a:t>, …, </a:t>
            </a:r>
            <a:r>
              <a:rPr sz="2300" b="0" i="1">
                <a:solidFill>
                  <a:srgbClr val="1C252B"/>
                </a:solidFill>
                <a:latin typeface="Cambria"/>
              </a:rPr>
              <a:t>a</a:t>
            </a:r>
            <a:r>
              <a:rPr sz="2300" b="0" i="1" baseline="-25000">
                <a:solidFill>
                  <a:srgbClr val="1C252B"/>
                </a:solidFill>
                <a:latin typeface="Cambria"/>
              </a:rPr>
              <a:t>d</a:t>
            </a:r>
            <a:r>
              <a:rPr sz="2300" b="0" i="0">
                <a:solidFill>
                  <a:srgbClr val="1C252B"/>
                </a:solidFill>
                <a:latin typeface="Cambria"/>
              </a:rPr>
              <a:t> ∣ </a:t>
            </a:r>
            <a:r>
              <a:rPr sz="2300" b="0" i="1">
                <a:solidFill>
                  <a:srgbClr val="1C252B"/>
                </a:solidFill>
                <a:latin typeface="Cambria"/>
              </a:rPr>
              <a:t>v</a:t>
            </a:r>
            <a:r>
              <a:rPr sz="2300" b="0" i="0">
                <a:solidFill>
                  <a:srgbClr val="1C252B"/>
                </a:solidFill>
                <a:latin typeface="Cambria"/>
              </a:rPr>
              <a:t>) = ∏</a:t>
            </a:r>
            <a:r>
              <a:rPr sz="2300" b="0" i="1" baseline="-25000">
                <a:solidFill>
                  <a:srgbClr val="1C252B"/>
                </a:solidFill>
                <a:latin typeface="Cambria"/>
              </a:rPr>
              <a:t>j</a:t>
            </a:r>
            <a:r>
              <a:rPr sz="2300" b="0" i="0">
                <a:solidFill>
                  <a:srgbClr val="1C252B"/>
                </a:solidFill>
                <a:latin typeface="Cambria"/>
              </a:rPr>
              <a:t>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a:t>
            </a:r>
            <a:r>
              <a:rPr sz="2300" b="0" i="1" baseline="-25000">
                <a:solidFill>
                  <a:srgbClr val="1C252B"/>
                </a:solidFill>
                <a:latin typeface="Cambria"/>
              </a:rPr>
              <a:t>j</a:t>
            </a:r>
            <a:r>
              <a:rPr sz="2300" b="0" i="0">
                <a:solidFill>
                  <a:srgbClr val="1C252B"/>
                </a:solidFill>
                <a:latin typeface="Cambria"/>
              </a:rPr>
              <a:t> ∣ </a:t>
            </a:r>
            <a:r>
              <a:rPr sz="2300" b="0" i="1">
                <a:solidFill>
                  <a:srgbClr val="1C252B"/>
                </a:solidFill>
                <a:latin typeface="Cambria"/>
              </a:rPr>
              <a:t>v</a:t>
            </a:r>
            <a:r>
              <a:rPr sz="2300" b="0" i="0">
                <a:solidFill>
                  <a:srgbClr val="1C252B"/>
                </a:solidFill>
                <a:latin typeface="Cambria"/>
              </a:rPr>
              <a:t>)</a:t>
            </a:r>
            <a:r>
              <a:rPr sz="2300" b="0" i="0">
                <a:solidFill>
                  <a:srgbClr val="1C252B"/>
                </a:solidFill>
                <a:latin typeface="Segoe UI"/>
              </a:rPr>
              <a:t>. Then</a:t>
            </a:r>
          </a:p>
        </p:txBody>
      </p:sp>
      <p:pic>
        <p:nvPicPr>
          <p:cNvPr id="10" name="body-1" descr="v_{NB} = \arg\max_{v}\; P(v)\prod_{j=1}^{d} P(a_j \mid v)"/>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1068659"/>
          </a:xfrm>
          <a:prstGeom prst="rect">
            <a:avLst/>
          </a:prstGeom>
        </p:spPr>
      </p:pic>
      <p:sp>
        <p:nvSpPr>
          <p:cNvPr id="11" name="body-2"/>
          <p:cNvSpPr txBox="1"/>
          <p:nvPr/>
        </p:nvSpPr>
        <p:spPr>
          <a:xfrm>
            <a:off x="1060704" y="4167306"/>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Each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a:t>
            </a:r>
            <a:r>
              <a:rPr sz="2300" b="0" i="1" baseline="-25000">
                <a:solidFill>
                  <a:srgbClr val="1C252B"/>
                </a:solidFill>
                <a:latin typeface="Cambria"/>
              </a:rPr>
              <a:t>j</a:t>
            </a:r>
            <a:r>
              <a:rPr sz="2300" b="0" i="0">
                <a:solidFill>
                  <a:srgbClr val="1C252B"/>
                </a:solidFill>
                <a:latin typeface="Cambria"/>
              </a:rPr>
              <a:t> ∣ </a:t>
            </a:r>
            <a:r>
              <a:rPr sz="2300" b="0" i="1">
                <a:solidFill>
                  <a:srgbClr val="1C252B"/>
                </a:solidFill>
                <a:latin typeface="Cambria"/>
              </a:rPr>
              <a:t>v</a:t>
            </a:r>
            <a:r>
              <a:rPr sz="2300" b="0" i="0">
                <a:solidFill>
                  <a:srgbClr val="1C252B"/>
                </a:solidFill>
                <a:latin typeface="Cambria"/>
              </a:rPr>
              <a:t>)</a:t>
            </a:r>
            <a:r>
              <a:rPr sz="2300" b="0" i="0">
                <a:solidFill>
                  <a:srgbClr val="1C252B"/>
                </a:solidFill>
                <a:latin typeface="Segoe UI"/>
              </a:rPr>
              <a:t> is estimated from counts: the fraction of class-</a:t>
            </a:r>
            <a:r>
              <a:rPr sz="2300" b="0" i="1">
                <a:solidFill>
                  <a:srgbClr val="1C252B"/>
                </a:solidFill>
                <a:latin typeface="Cambria"/>
              </a:rPr>
              <a:t>v</a:t>
            </a:r>
            <a:r>
              <a:rPr sz="2300" b="0" i="0">
                <a:solidFill>
                  <a:srgbClr val="1C252B"/>
                </a:solidFill>
                <a:latin typeface="Segoe UI"/>
              </a:rPr>
              <a:t> training examples that have value </a:t>
            </a:r>
            <a:r>
              <a:rPr sz="2300" b="0" i="1">
                <a:solidFill>
                  <a:srgbClr val="1C252B"/>
                </a:solidFill>
                <a:latin typeface="Cambria"/>
              </a:rPr>
              <a:t>a</a:t>
            </a:r>
            <a:r>
              <a:rPr sz="2300" b="0" i="1" baseline="-25000">
                <a:solidFill>
                  <a:srgbClr val="1C252B"/>
                </a:solidFill>
                <a:latin typeface="Cambria"/>
              </a:rPr>
              <a:t>j</a:t>
            </a:r>
            <a:r>
              <a:rPr sz="2300" b="0" i="0">
                <a:solidFill>
                  <a:srgbClr val="1C252B"/>
                </a:solidFill>
                <a:latin typeface="Segoe UI"/>
              </a:rPr>
              <a:t>. Training is a single pass of counting.</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54667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Naive Bayes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10.2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§10.4  ·  Handout p. 79     </a:t>
            </a:r>
            <a:fld id="{78174D4D-D1FB-4D1C-B0F2-E1ED597BE4F8}" type="slidenum">
              <a:rPr lang="en-GB" sz="1000">
                <a:solidFill>
                  <a:srgbClr val="8795A1"/>
                </a:solidFill>
                <a:latin typeface="Segoe UI"/>
              </a:rPr>
              <a:t>17</a:t>
            </a:fld>
          </a:p>
        </p:txBody>
      </p:sp>
      <p:pic>
        <p:nvPicPr>
          <p:cNvPr id="6" name="!!figure" descr="Figure 10.2. The naive Bayes assumption drawn as a network: the class causes each attribute, and the attributes do not influence each other once the class is known."/>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53310"/>
            <a:ext cx="10874959" cy="307793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naive Bayes assumption drawn as a network: the class causes each attribute, and the attributes do not influence each other once the class is known.</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76834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Naive Bayes on PlayTennis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§10.4  ·  Handout p. 79     </a:t>
            </a:r>
            <a:fld id="{C2AF267D-6F59-4311-89F4-27CEC109C5F7}"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39798"/>
          </a:xfrm>
          <a:prstGeom prst="roundRect">
            <a:avLst>
              <a:gd name="adj" fmla="val 205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3979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Classify the new day </a:t>
            </a:r>
            <a:r>
              <a:rPr sz="2000" b="0" i="0">
                <a:solidFill>
                  <a:srgbClr val="1C252B"/>
                </a:solidFill>
                <a:latin typeface="Cambria"/>
              </a:rPr>
              <a:t>⟨</a:t>
            </a:r>
            <a:r>
              <a:rPr sz="2000" b="0" i="0">
                <a:solidFill>
                  <a:srgbClr val="1C252B"/>
                </a:solidFill>
                <a:latin typeface="Segoe UI"/>
              </a:rPr>
              <a:t>Sunny, Cool, High, Strong</a:t>
            </a:r>
            <a:r>
              <a:rPr sz="2000" b="0" i="0">
                <a:solidFill>
                  <a:srgbClr val="1C252B"/>
                </a:solidFill>
                <a:latin typeface="Cambria"/>
              </a:rPr>
              <a:t>⟩</a:t>
            </a:r>
            <a:r>
              <a:rPr sz="2000" b="0" i="0">
                <a:solidFill>
                  <a:srgbClr val="1C252B"/>
                </a:solidFill>
                <a:latin typeface="Segoe UI"/>
              </a:rPr>
              <a:t> using the fourteen days of Chapter 9.</a:t>
            </a:r>
          </a:p>
        </p:txBody>
      </p:sp>
      <p:sp>
        <p:nvSpPr>
          <p:cNvPr id="10" name="body-1"/>
          <p:cNvSpPr txBox="1"/>
          <p:nvPr/>
        </p:nvSpPr>
        <p:spPr>
          <a:xfrm>
            <a:off x="1042416" y="2468371"/>
            <a:ext cx="10234879" cy="362712"/>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Priors:</a:t>
            </a:r>
            <a:r>
              <a:rPr sz="2000" b="0" i="0">
                <a:solidFill>
                  <a:srgbClr val="1C252B"/>
                </a:solidFill>
                <a:latin typeface="Segoe UI"/>
              </a:rPr>
              <a:t>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Yes</a:t>
            </a:r>
            <a:r>
              <a:rPr sz="2000" b="0" i="0">
                <a:solidFill>
                  <a:srgbClr val="1C252B"/>
                </a:solidFill>
                <a:latin typeface="Cambria"/>
              </a:rPr>
              <a:t>) = 9/14 = 0.643</a:t>
            </a:r>
            <a:r>
              <a:rPr sz="2000" b="0" i="0">
                <a:solidFill>
                  <a:srgbClr val="1C252B"/>
                </a:solidFill>
                <a:latin typeface="Segoe UI"/>
              </a:rPr>
              <a:t>;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No</a:t>
            </a:r>
            <a:r>
              <a:rPr sz="2000" b="0" i="0">
                <a:solidFill>
                  <a:srgbClr val="1C252B"/>
                </a:solidFill>
                <a:latin typeface="Cambria"/>
              </a:rPr>
              <a:t>) = 5/14 = 0.357</a:t>
            </a:r>
            <a:r>
              <a:rPr sz="2000" b="0" i="0">
                <a:solidFill>
                  <a:srgbClr val="1C252B"/>
                </a:solidFill>
                <a:latin typeface="Segoe UI"/>
              </a:rPr>
              <a:t>.</a:t>
            </a:r>
          </a:p>
        </p:txBody>
      </p:sp>
      <p:sp>
        <p:nvSpPr>
          <p:cNvPr id="11" name="body-2"/>
          <p:cNvSpPr txBox="1"/>
          <p:nvPr/>
        </p:nvSpPr>
        <p:spPr>
          <a:xfrm>
            <a:off x="1042416" y="2925063"/>
            <a:ext cx="10234879" cy="362712"/>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Conditionals</a:t>
            </a:r>
            <a:r>
              <a:rPr sz="2000" b="0" i="0">
                <a:solidFill>
                  <a:srgbClr val="1C252B"/>
                </a:solidFill>
                <a:latin typeface="Segoe UI"/>
              </a:rPr>
              <a:t>, counted within each class:</a:t>
            </a:r>
          </a:p>
        </p:txBody>
      </p:sp>
      <p:sp>
        <p:nvSpPr>
          <p:cNvPr id="12" name="body-3"/>
          <p:cNvSpPr txBox="1"/>
          <p:nvPr/>
        </p:nvSpPr>
        <p:spPr>
          <a:xfrm>
            <a:off x="1042416" y="3381755"/>
            <a:ext cx="10234879" cy="768604"/>
          </a:xfrm>
          <a:prstGeom prst="rect">
            <a:avLst/>
          </a:prstGeom>
          <a:noFill/>
        </p:spPr>
        <p:txBody>
          <a:bodyPr wrap="square" anchor="t" lIns="0" rIns="0" tIns="0" bIns="0">
            <a:noAutofit/>
          </a:bodyPr>
          <a:lstStyle/>
          <a:p>
            <a:pPr algn="l" marL="223631" indent="-223631">
              <a:lnSpc>
                <a:spcPct val="104000"/>
              </a:lnSpc>
              <a:spcBef>
                <a:spcPts val="0"/>
              </a:spcBef>
              <a:spcAft>
                <a:spcPts val="700"/>
              </a:spcAft>
            </a:pPr>
            <a:r>
              <a:rPr sz="2000" b="1">
                <a:solidFill>
                  <a:srgbClr val="7D6608"/>
                </a:solidFill>
                <a:latin typeface="Segoe UI"/>
              </a:rPr>
              <a:t>•	</a:t>
            </a:r>
            <a:r>
              <a:rPr sz="2000" b="0" i="0">
                <a:solidFill>
                  <a:srgbClr val="1C252B"/>
                </a:solidFill>
                <a:latin typeface="Segoe UI"/>
              </a:rPr>
              <a:t>Yes: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Sunny</a:t>
            </a:r>
            <a:r>
              <a:rPr sz="2000" b="0" i="0">
                <a:solidFill>
                  <a:srgbClr val="1C252B"/>
                </a:solidFill>
                <a:latin typeface="Cambria"/>
              </a:rPr>
              <a:t> ∣ </a:t>
            </a:r>
            <a:r>
              <a:rPr sz="2000" b="0" i="0">
                <a:solidFill>
                  <a:srgbClr val="1C252B"/>
                </a:solidFill>
                <a:latin typeface="Segoe UI"/>
              </a:rPr>
              <a:t>Yes</a:t>
            </a:r>
            <a:r>
              <a:rPr sz="2000" b="0" i="0">
                <a:solidFill>
                  <a:srgbClr val="1C252B"/>
                </a:solidFill>
                <a:latin typeface="Cambria"/>
              </a:rPr>
              <a:t>) = 2/9</a:t>
            </a:r>
            <a:r>
              <a:rPr sz="2000" b="0" i="0">
                <a:solidFill>
                  <a:srgbClr val="1C252B"/>
                </a:solidFill>
                <a:latin typeface="Segoe UI"/>
              </a:rPr>
              <a:t>,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Cool</a:t>
            </a:r>
            <a:r>
              <a:rPr sz="2000" b="0" i="0">
                <a:solidFill>
                  <a:srgbClr val="1C252B"/>
                </a:solidFill>
                <a:latin typeface="Cambria"/>
              </a:rPr>
              <a:t> ∣ </a:t>
            </a:r>
            <a:r>
              <a:rPr sz="2000" b="0" i="0">
                <a:solidFill>
                  <a:srgbClr val="1C252B"/>
                </a:solidFill>
                <a:latin typeface="Segoe UI"/>
              </a:rPr>
              <a:t>Yes</a:t>
            </a:r>
            <a:r>
              <a:rPr sz="2000" b="0" i="0">
                <a:solidFill>
                  <a:srgbClr val="1C252B"/>
                </a:solidFill>
                <a:latin typeface="Cambria"/>
              </a:rPr>
              <a:t>) = 3/9</a:t>
            </a:r>
            <a:r>
              <a:rPr sz="2000" b="0" i="0">
                <a:solidFill>
                  <a:srgbClr val="1C252B"/>
                </a:solidFill>
                <a:latin typeface="Segoe UI"/>
              </a:rPr>
              <a:t>,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High</a:t>
            </a:r>
            <a:r>
              <a:rPr sz="2000" b="0" i="0">
                <a:solidFill>
                  <a:srgbClr val="1C252B"/>
                </a:solidFill>
                <a:latin typeface="Cambria"/>
              </a:rPr>
              <a:t> ∣ </a:t>
            </a:r>
            <a:r>
              <a:rPr sz="2000" b="0" i="0">
                <a:solidFill>
                  <a:srgbClr val="1C252B"/>
                </a:solidFill>
                <a:latin typeface="Segoe UI"/>
              </a:rPr>
              <a:t>Yes</a:t>
            </a:r>
            <a:r>
              <a:rPr sz="2000" b="0" i="0">
                <a:solidFill>
                  <a:srgbClr val="1C252B"/>
                </a:solidFill>
                <a:latin typeface="Cambria"/>
              </a:rPr>
              <a:t>) = 3/9</a:t>
            </a:r>
            <a:r>
              <a:rPr sz="2000" b="0" i="0">
                <a:solidFill>
                  <a:srgbClr val="1C252B"/>
                </a:solidFill>
                <a:latin typeface="Segoe UI"/>
              </a:rPr>
              <a:t>,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Strong</a:t>
            </a:r>
            <a:r>
              <a:rPr sz="2000" b="0" i="0">
                <a:solidFill>
                  <a:srgbClr val="1C252B"/>
                </a:solidFill>
                <a:latin typeface="Cambria"/>
              </a:rPr>
              <a:t> ∣ </a:t>
            </a:r>
            <a:r>
              <a:rPr sz="2000" b="0" i="0">
                <a:solidFill>
                  <a:srgbClr val="1C252B"/>
                </a:solidFill>
                <a:latin typeface="Segoe UI"/>
              </a:rPr>
              <a:t>Yes</a:t>
            </a:r>
            <a:r>
              <a:rPr sz="2000" b="0" i="0">
                <a:solidFill>
                  <a:srgbClr val="1C252B"/>
                </a:solidFill>
                <a:latin typeface="Cambria"/>
              </a:rPr>
              <a:t>) = 3/9</a:t>
            </a:r>
            <a:r>
              <a:rPr sz="2000" b="0" i="0">
                <a:solidFill>
                  <a:srgbClr val="1C252B"/>
                </a:solidFill>
                <a:latin typeface="Segoe UI"/>
              </a:rPr>
              <a:t>.</a:t>
            </a:r>
          </a:p>
          <a:p>
            <a:pPr algn="l" marL="223631" indent="-223631">
              <a:lnSpc>
                <a:spcPct val="104000"/>
              </a:lnSpc>
              <a:spcBef>
                <a:spcPts val="0"/>
              </a:spcBef>
              <a:spcAft>
                <a:spcPts val="0"/>
              </a:spcAft>
            </a:pPr>
            <a:r>
              <a:rPr sz="2000" b="1">
                <a:solidFill>
                  <a:srgbClr val="7D6608"/>
                </a:solidFill>
                <a:latin typeface="Segoe UI"/>
              </a:rPr>
              <a:t>•	</a:t>
            </a:r>
            <a:r>
              <a:rPr sz="2000" b="0" i="0">
                <a:solidFill>
                  <a:srgbClr val="1C252B"/>
                </a:solidFill>
                <a:latin typeface="Segoe UI"/>
              </a:rPr>
              <a:t>No: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Sunny</a:t>
            </a:r>
            <a:r>
              <a:rPr sz="2000" b="0" i="0">
                <a:solidFill>
                  <a:srgbClr val="1C252B"/>
                </a:solidFill>
                <a:latin typeface="Cambria"/>
              </a:rPr>
              <a:t> ∣ </a:t>
            </a:r>
            <a:r>
              <a:rPr sz="2000" b="0" i="0">
                <a:solidFill>
                  <a:srgbClr val="1C252B"/>
                </a:solidFill>
                <a:latin typeface="Segoe UI"/>
              </a:rPr>
              <a:t>No</a:t>
            </a:r>
            <a:r>
              <a:rPr sz="2000" b="0" i="0">
                <a:solidFill>
                  <a:srgbClr val="1C252B"/>
                </a:solidFill>
                <a:latin typeface="Cambria"/>
              </a:rPr>
              <a:t>) = 3/5</a:t>
            </a:r>
            <a:r>
              <a:rPr sz="2000" b="0" i="0">
                <a:solidFill>
                  <a:srgbClr val="1C252B"/>
                </a:solidFill>
                <a:latin typeface="Segoe UI"/>
              </a:rPr>
              <a:t>,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Cool</a:t>
            </a:r>
            <a:r>
              <a:rPr sz="2000" b="0" i="0">
                <a:solidFill>
                  <a:srgbClr val="1C252B"/>
                </a:solidFill>
                <a:latin typeface="Cambria"/>
              </a:rPr>
              <a:t> ∣ </a:t>
            </a:r>
            <a:r>
              <a:rPr sz="2000" b="0" i="0">
                <a:solidFill>
                  <a:srgbClr val="1C252B"/>
                </a:solidFill>
                <a:latin typeface="Segoe UI"/>
              </a:rPr>
              <a:t>No</a:t>
            </a:r>
            <a:r>
              <a:rPr sz="2000" b="0" i="0">
                <a:solidFill>
                  <a:srgbClr val="1C252B"/>
                </a:solidFill>
                <a:latin typeface="Cambria"/>
              </a:rPr>
              <a:t>) = 1/5</a:t>
            </a:r>
            <a:r>
              <a:rPr sz="2000" b="0" i="0">
                <a:solidFill>
                  <a:srgbClr val="1C252B"/>
                </a:solidFill>
                <a:latin typeface="Segoe UI"/>
              </a:rPr>
              <a:t>,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High</a:t>
            </a:r>
            <a:r>
              <a:rPr sz="2000" b="0" i="0">
                <a:solidFill>
                  <a:srgbClr val="1C252B"/>
                </a:solidFill>
                <a:latin typeface="Cambria"/>
              </a:rPr>
              <a:t> ∣ </a:t>
            </a:r>
            <a:r>
              <a:rPr sz="2000" b="0" i="0">
                <a:solidFill>
                  <a:srgbClr val="1C252B"/>
                </a:solidFill>
                <a:latin typeface="Segoe UI"/>
              </a:rPr>
              <a:t>No</a:t>
            </a:r>
            <a:r>
              <a:rPr sz="2000" b="0" i="0">
                <a:solidFill>
                  <a:srgbClr val="1C252B"/>
                </a:solidFill>
                <a:latin typeface="Cambria"/>
              </a:rPr>
              <a:t>) = 4/5</a:t>
            </a:r>
            <a:r>
              <a:rPr sz="2000" b="0" i="0">
                <a:solidFill>
                  <a:srgbClr val="1C252B"/>
                </a:solidFill>
                <a:latin typeface="Segoe UI"/>
              </a:rPr>
              <a:t>,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Strong</a:t>
            </a:r>
            <a:r>
              <a:rPr sz="2000" b="0" i="0">
                <a:solidFill>
                  <a:srgbClr val="1C252B"/>
                </a:solidFill>
                <a:latin typeface="Cambria"/>
              </a:rPr>
              <a:t> ∣ </a:t>
            </a:r>
            <a:r>
              <a:rPr sz="2000" b="0" i="0">
                <a:solidFill>
                  <a:srgbClr val="1C252B"/>
                </a:solidFill>
                <a:latin typeface="Segoe UI"/>
              </a:rPr>
              <a:t>No</a:t>
            </a:r>
            <a:r>
              <a:rPr sz="2000" b="0" i="0">
                <a:solidFill>
                  <a:srgbClr val="1C252B"/>
                </a:solidFill>
                <a:latin typeface="Cambria"/>
              </a:rPr>
              <a:t>) = 3/5</a:t>
            </a:r>
            <a:r>
              <a:rPr sz="2000" b="0" i="0">
                <a:solidFill>
                  <a:srgbClr val="1C252B"/>
                </a:solidFill>
                <a:latin typeface="Segoe UI"/>
              </a:rPr>
              <a:t>.</a:t>
            </a:r>
          </a:p>
        </p:txBody>
      </p:sp>
      <p:sp>
        <p:nvSpPr>
          <p:cNvPr id="13" name="body-4"/>
          <p:cNvSpPr txBox="1"/>
          <p:nvPr/>
        </p:nvSpPr>
        <p:spPr>
          <a:xfrm>
            <a:off x="1042416" y="4244339"/>
            <a:ext cx="10234879" cy="362712"/>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Scores:</a:t>
            </a:r>
          </a:p>
        </p:txBody>
      </p:sp>
      <p:sp>
        <p:nvSpPr>
          <p:cNvPr id="14" name="body-4bar">
            <a:extLst>
              <a:ext uri="{C183D7F6-B498-43B3-948B-1728B52AA6E4}">
                <adec:decorative xmlns:adec="http://schemas.microsoft.com/office/drawing/2017/decorative" val="1"/>
              </a:ext>
            </a:extLst>
          </p:cNvPr>
          <p:cNvSpPr/>
          <p:nvPr/>
        </p:nvSpPr>
        <p:spPr>
          <a:xfrm>
            <a:off x="841248" y="4262627"/>
            <a:ext cx="54864" cy="2987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5" name="body-5" descr="\text{Yes: } 0.643 \times \tfrac{2}{9} \times \tfrac{3}{9} \times \tfrac{3}{9} \times \tfrac{3}{9} = 0.0053 \qquad \text{No: } 0.357 \times \tfrac{3}{5} \times \tfrac{1}{5} \times \tfrac{4}{5} \times \tfrac{3}{5} = 0.0206"/>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4701031"/>
            <a:ext cx="10234879" cy="428122"/>
          </a:xfrm>
          <a:prstGeom prst="rect">
            <a:avLst/>
          </a:prstGeom>
        </p:spPr>
      </p:pic>
      <p:sp>
        <p:nvSpPr>
          <p:cNvPr id="16" name="body-6"/>
          <p:cNvSpPr txBox="1"/>
          <p:nvPr/>
        </p:nvSpPr>
        <p:spPr>
          <a:xfrm>
            <a:off x="1042416" y="5268854"/>
            <a:ext cx="1023487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Prediction: No.</a:t>
            </a:r>
            <a:r>
              <a:rPr sz="2000" b="0" i="0">
                <a:solidFill>
                  <a:srgbClr val="1C252B"/>
                </a:solidFill>
                <a:latin typeface="Segoe UI"/>
              </a:rPr>
              <a:t> Normalised, </a:t>
            </a:r>
            <a:r>
              <a:rPr sz="2000" b="0" i="1">
                <a:solidFill>
                  <a:srgbClr val="1C252B"/>
                </a:solidFill>
                <a:latin typeface="Cambria"/>
              </a:rPr>
              <a:t>P</a:t>
            </a:r>
            <a:r>
              <a:rPr sz="2000" b="0" i="0">
                <a:solidFill>
                  <a:srgbClr val="1C252B"/>
                </a:solidFill>
                <a:latin typeface="Cambria"/>
              </a:rPr>
              <a:t>(</a:t>
            </a:r>
            <a:r>
              <a:rPr sz="2000" b="0" i="0">
                <a:solidFill>
                  <a:srgbClr val="1C252B"/>
                </a:solidFill>
                <a:latin typeface="Segoe UI"/>
              </a:rPr>
              <a:t>No</a:t>
            </a:r>
            <a:r>
              <a:rPr sz="2000" b="0" i="0">
                <a:solidFill>
                  <a:srgbClr val="1C252B"/>
                </a:solidFill>
                <a:latin typeface="Cambria"/>
              </a:rPr>
              <a:t> ∣ </a:t>
            </a:r>
            <a:r>
              <a:rPr sz="2000" b="0" i="1">
                <a:solidFill>
                  <a:srgbClr val="1C252B"/>
                </a:solidFill>
                <a:latin typeface="Cambria"/>
              </a:rPr>
              <a:t>x</a:t>
            </a:r>
            <a:r>
              <a:rPr sz="2000" b="0" i="0">
                <a:solidFill>
                  <a:srgbClr val="1C252B"/>
                </a:solidFill>
                <a:latin typeface="Cambria"/>
              </a:rPr>
              <a:t>) = 0.0206/(0.0206 + 0.0053) = </a:t>
            </a:r>
            <a:r>
              <a:rPr sz="2000" b="1" i="0">
                <a:solidFill>
                  <a:srgbClr val="1C252B"/>
                </a:solidFill>
                <a:latin typeface="Cambria"/>
              </a:rPr>
              <a:t>0.795</a:t>
            </a:r>
            <a:r>
              <a:rPr sz="2000" b="0" i="0">
                <a:solidFill>
                  <a:srgbClr val="1C252B"/>
                </a:solidFill>
                <a:latin typeface="Segoe UI"/>
              </a:rPr>
              <a:t>. (The decision tree of Chapter 9 agrees: Sunny and High humidity means No.)</a:t>
            </a:r>
          </a:p>
        </p:txBody>
      </p:sp>
      <p:sp>
        <p:nvSpPr>
          <p:cNvPr id="17" name="body-6bar">
            <a:extLst>
              <a:ext uri="{C183D7F6-B498-43B3-948B-1728B52AA6E4}">
                <adec:decorative xmlns:adec="http://schemas.microsoft.com/office/drawing/2017/decorative" val="1"/>
              </a:ext>
            </a:extLst>
          </p:cNvPr>
          <p:cNvSpPr/>
          <p:nvPr/>
        </p:nvSpPr>
        <p:spPr>
          <a:xfrm>
            <a:off x="841248" y="5287142"/>
            <a:ext cx="54864" cy="6156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pfill">
            <a:extLst>
              <a:ext uri="{C183D7F6-B498-43B3-948B-1728B52AA6E4}">
                <adec:decorative xmlns:adec="http://schemas.microsoft.com/office/drawing/2017/decorative" val="1"/>
              </a:ext>
            </a:extLst>
          </p:cNvPr>
          <p:cNvSpPr/>
          <p:nvPr/>
        </p:nvSpPr>
        <p:spPr>
          <a:xfrm>
            <a:off x="0" y="0"/>
            <a:ext cx="399000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xEl>
                                              <p:pRg st="0" end="0"/>
                                            </p:txEl>
                                          </p:spTgt>
                                        </p:tgtEl>
                                        <p:attrNameLst>
                                          <p:attrName>style.visibility</p:attrName>
                                        </p:attrNameLst>
                                      </p:cBhvr>
                                      <p:to>
                                        <p:strVal val="visible"/>
                                      </p:to>
                                    </p:set>
                                    <p:animEffect transition="in" filter="fade">
                                      <p:cBhvr>
                                        <p:cTn id="18" dur="350"/>
                                        <p:tgtEl>
                                          <p:spTgt spid="12">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animEffect transition="in" filter="fade">
                                      <p:cBhvr>
                                        <p:cTn id="23" dur="350"/>
                                        <p:tgtEl>
                                          <p:spTgt spid="12">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20"/>
                                        <p:tgtEl>
                                          <p:spTgt spid="13"/>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2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wipe(right)">
                                      <p:cBhvr>
                                        <p:cTn id="41" dur="42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2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Zero-Frequency Problem and Laplace Smoothing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5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10.5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10.1   Learning as Updating Belief</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10.2   Bayes’ Theorem for Hypotheses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10.3   The Bayes Optimal Classifier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10.4   Naive Bayes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10.5   The Zero-Frequency Problem and Laplace Smoothing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10.6   Continuous Features: Gaussian Naive Bayes</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10.7   Text Classification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§10.5     </a:t>
            </a:r>
            <a:fld id="{729B3776-9930-44DF-B54F-B5573391B287}" type="slidenum">
              <a:rPr lang="en-GB" sz="1000">
                <a:solidFill>
                  <a:srgbClr val="8795A1"/>
                </a:solidFill>
                <a:latin typeface="Segoe UI"/>
              </a:rPr>
              <a:t>19</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21167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Laplace Smoothing and the m-Estimate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§10.5  ·  Handout p. 80     </a:t>
            </a:r>
            <a:fld id="{99A248EF-97D7-4520-A920-4F4AB3AB5BBD}"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8935"/>
          </a:xfrm>
          <a:prstGeom prst="roundRect">
            <a:avLst>
              <a:gd name="adj" fmla="val 325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893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Add one imaginary example of every value:</a:t>
            </a:r>
          </a:p>
        </p:txBody>
      </p:sp>
      <p:pic>
        <p:nvPicPr>
          <p:cNvPr id="10" name="body-1" descr="P(a_j = v \mid c) = \frac{n_{v,c} + 1}{n_c + k_j}"/>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772210"/>
          </a:xfrm>
          <a:prstGeom prst="rect">
            <a:avLst/>
          </a:prstGeom>
        </p:spPr>
      </p:pic>
      <p:sp>
        <p:nvSpPr>
          <p:cNvPr id="11" name="body-2"/>
          <p:cNvSpPr txBox="1"/>
          <p:nvPr/>
        </p:nvSpPr>
        <p:spPr>
          <a:xfrm>
            <a:off x="1060704" y="3506317"/>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where </a:t>
            </a:r>
            <a:r>
              <a:rPr sz="2300" b="0" i="1">
                <a:solidFill>
                  <a:srgbClr val="1C252B"/>
                </a:solidFill>
                <a:latin typeface="Cambria"/>
              </a:rPr>
              <a:t>n</a:t>
            </a:r>
            <a:r>
              <a:rPr sz="2300" b="0" i="1" baseline="-25000">
                <a:solidFill>
                  <a:srgbClr val="1C252B"/>
                </a:solidFill>
                <a:latin typeface="Cambria"/>
              </a:rPr>
              <a:t>v</a:t>
            </a:r>
            <a:r>
              <a:rPr sz="2300" b="0" i="0" baseline="-25000">
                <a:solidFill>
                  <a:srgbClr val="1C252B"/>
                </a:solidFill>
                <a:latin typeface="Cambria"/>
              </a:rPr>
              <a:t>,</a:t>
            </a:r>
            <a:r>
              <a:rPr sz="2300" b="0" i="1" baseline="-25000">
                <a:solidFill>
                  <a:srgbClr val="1C252B"/>
                </a:solidFill>
                <a:latin typeface="Cambria"/>
              </a:rPr>
              <a:t>c</a:t>
            </a:r>
            <a:r>
              <a:rPr sz="2300" b="0" i="0">
                <a:solidFill>
                  <a:srgbClr val="1C252B"/>
                </a:solidFill>
                <a:latin typeface="Segoe UI"/>
              </a:rPr>
              <a:t> counts class-</a:t>
            </a:r>
            <a:r>
              <a:rPr sz="2300" b="0" i="1">
                <a:solidFill>
                  <a:srgbClr val="1C252B"/>
                </a:solidFill>
                <a:latin typeface="Cambria"/>
              </a:rPr>
              <a:t>c</a:t>
            </a:r>
            <a:r>
              <a:rPr sz="2300" b="0" i="0">
                <a:solidFill>
                  <a:srgbClr val="1C252B"/>
                </a:solidFill>
                <a:latin typeface="Segoe UI"/>
              </a:rPr>
              <a:t> examples with that value, </a:t>
            </a:r>
            <a:r>
              <a:rPr sz="2300" b="0" i="1">
                <a:solidFill>
                  <a:srgbClr val="1C252B"/>
                </a:solidFill>
                <a:latin typeface="Cambria"/>
              </a:rPr>
              <a:t>n</a:t>
            </a:r>
            <a:r>
              <a:rPr sz="2300" b="0" i="1" baseline="-25000">
                <a:solidFill>
                  <a:srgbClr val="1C252B"/>
                </a:solidFill>
                <a:latin typeface="Cambria"/>
              </a:rPr>
              <a:t>c</a:t>
            </a:r>
            <a:r>
              <a:rPr sz="2300" b="0" i="0">
                <a:solidFill>
                  <a:srgbClr val="1C252B"/>
                </a:solidFill>
                <a:latin typeface="Segoe UI"/>
              </a:rPr>
              <a:t> counts class-</a:t>
            </a:r>
            <a:r>
              <a:rPr sz="2300" b="0" i="1">
                <a:solidFill>
                  <a:srgbClr val="1C252B"/>
                </a:solidFill>
                <a:latin typeface="Cambria"/>
              </a:rPr>
              <a:t>c</a:t>
            </a:r>
            <a:r>
              <a:rPr sz="2300" b="0" i="0">
                <a:solidFill>
                  <a:srgbClr val="1C252B"/>
                </a:solidFill>
                <a:latin typeface="Segoe UI"/>
              </a:rPr>
              <a:t> examples, and </a:t>
            </a:r>
            <a:r>
              <a:rPr sz="2300" b="0" i="1">
                <a:solidFill>
                  <a:srgbClr val="1C252B"/>
                </a:solidFill>
                <a:latin typeface="Cambria"/>
              </a:rPr>
              <a:t>k</a:t>
            </a:r>
            <a:r>
              <a:rPr sz="2300" b="0" i="1" baseline="-25000">
                <a:solidFill>
                  <a:srgbClr val="1C252B"/>
                </a:solidFill>
                <a:latin typeface="Cambria"/>
              </a:rPr>
              <a:t>j</a:t>
            </a:r>
            <a:r>
              <a:rPr sz="2300" b="0" i="0">
                <a:solidFill>
                  <a:srgbClr val="1C252B"/>
                </a:solidFill>
                <a:latin typeface="Segoe UI"/>
              </a:rPr>
              <a:t> is the number of values attribute </a:t>
            </a:r>
            <a:r>
              <a:rPr sz="2300" b="0" i="1">
                <a:solidFill>
                  <a:srgbClr val="1C252B"/>
                </a:solidFill>
                <a:latin typeface="Cambria"/>
              </a:rPr>
              <a:t>j</a:t>
            </a:r>
            <a:r>
              <a:rPr sz="2300" b="0" i="0">
                <a:solidFill>
                  <a:srgbClr val="1C252B"/>
                </a:solidFill>
                <a:latin typeface="Segoe UI"/>
              </a:rPr>
              <a:t> can take.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43334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Smoothing Rescues the Overcast Day</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§10.5  ·  Handout p. 80     </a:t>
            </a:r>
            <a:fld id="{F2DD1652-9E38-444D-91B1-17325ECBD871}"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30929"/>
          </a:xfrm>
          <a:prstGeom prst="roundRect">
            <a:avLst>
              <a:gd name="adj" fmla="val 232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3092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With Laplace smoothing (Outlook and Temperature have 3 values, Humidity and Wind 2):</a:t>
            </a:r>
          </a:p>
        </p:txBody>
      </p:sp>
      <p:sp>
        <p:nvSpPr>
          <p:cNvPr id="10" name="body-1"/>
          <p:cNvSpPr txBox="1"/>
          <p:nvPr/>
        </p:nvSpPr>
        <p:spPr>
          <a:xfrm>
            <a:off x="1042416" y="2824048"/>
            <a:ext cx="10234879" cy="1470431"/>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7D6608"/>
                </a:solidFill>
                <a:latin typeface="Segoe UI"/>
              </a:rPr>
              <a:t>•	</a:t>
            </a:r>
            <a:r>
              <a:rPr sz="2100" b="0" i="0">
                <a:solidFill>
                  <a:srgbClr val="1C252B"/>
                </a:solidFill>
                <a:latin typeface="Segoe UI"/>
              </a:rPr>
              <a:t>Yes: </a:t>
            </a:r>
            <a:r>
              <a:rPr sz="2100" b="0" i="0">
                <a:solidFill>
                  <a:srgbClr val="1C252B"/>
                </a:solidFill>
                <a:latin typeface="Cambria"/>
              </a:rPr>
              <a:t>0.643 × (4+1)/(9+3) × (2+1)/(9+3) × (3+1)/(9+2) × (3+1)/(9+2) = 0.643 × 0.417 × 0.250 × 0.364 × 0.364 = 0.0089</a:t>
            </a:r>
          </a:p>
          <a:p>
            <a:pPr algn="l" marL="234813" indent="-234813">
              <a:lnSpc>
                <a:spcPct val="104000"/>
              </a:lnSpc>
              <a:spcBef>
                <a:spcPts val="0"/>
              </a:spcBef>
              <a:spcAft>
                <a:spcPts val="0"/>
              </a:spcAft>
            </a:pPr>
            <a:r>
              <a:rPr sz="2100" b="1">
                <a:solidFill>
                  <a:srgbClr val="7D6608"/>
                </a:solidFill>
                <a:latin typeface="Segoe UI"/>
              </a:rPr>
              <a:t>•	</a:t>
            </a:r>
            <a:r>
              <a:rPr sz="2100" b="0" i="0">
                <a:solidFill>
                  <a:srgbClr val="1C252B"/>
                </a:solidFill>
                <a:latin typeface="Segoe UI"/>
              </a:rPr>
              <a:t>No: </a:t>
            </a:r>
            <a:r>
              <a:rPr sz="2100" b="0" i="0">
                <a:solidFill>
                  <a:srgbClr val="1C252B"/>
                </a:solidFill>
                <a:latin typeface="Cambria"/>
              </a:rPr>
              <a:t>0.357 × (0+1)/(5+3) × (2+1)/(5+3) × (4+1)/(5+2) × (3+1)/(5+2) = 0.357 × 0.125 × 0.375 × 0.714 × 0.571 = 0.0068</a:t>
            </a:r>
          </a:p>
        </p:txBody>
      </p:sp>
      <p:sp>
        <p:nvSpPr>
          <p:cNvPr id="11" name="body-2"/>
          <p:cNvSpPr txBox="1"/>
          <p:nvPr/>
        </p:nvSpPr>
        <p:spPr>
          <a:xfrm>
            <a:off x="1042416" y="4395444"/>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1">
                <a:solidFill>
                  <a:srgbClr val="1C252B"/>
                </a:solidFill>
                <a:latin typeface="Cambria"/>
              </a:rPr>
              <a:t>P</a:t>
            </a:r>
            <a:r>
              <a:rPr sz="2100" b="0" i="0">
                <a:solidFill>
                  <a:srgbClr val="1C252B"/>
                </a:solidFill>
                <a:latin typeface="Cambria"/>
              </a:rPr>
              <a:t>(</a:t>
            </a:r>
            <a:r>
              <a:rPr sz="2100" b="0" i="0">
                <a:solidFill>
                  <a:srgbClr val="1C252B"/>
                </a:solidFill>
                <a:latin typeface="Segoe UI"/>
              </a:rPr>
              <a:t>Yes</a:t>
            </a:r>
            <a:r>
              <a:rPr sz="2100" b="0" i="0">
                <a:solidFill>
                  <a:srgbClr val="1C252B"/>
                </a:solidFill>
                <a:latin typeface="Cambria"/>
              </a:rPr>
              <a:t> ∣ </a:t>
            </a:r>
            <a:r>
              <a:rPr sz="2100" b="0" i="1">
                <a:solidFill>
                  <a:srgbClr val="1C252B"/>
                </a:solidFill>
                <a:latin typeface="Cambria"/>
              </a:rPr>
              <a:t>x</a:t>
            </a:r>
            <a:r>
              <a:rPr sz="2100" b="0" i="0">
                <a:solidFill>
                  <a:srgbClr val="1C252B"/>
                </a:solidFill>
                <a:latin typeface="Cambria"/>
              </a:rPr>
              <a:t>) = 0.0089/(0.0089 + 0.0068) = </a:t>
            </a:r>
            <a:r>
              <a:rPr sz="2100" b="1" i="0">
                <a:solidFill>
                  <a:srgbClr val="1C252B"/>
                </a:solidFill>
                <a:latin typeface="Cambria"/>
              </a:rPr>
              <a:t>0.56</a:t>
            </a:r>
            <a:r>
              <a:rPr sz="2100" b="0" i="0">
                <a:solidFill>
                  <a:srgbClr val="1C252B"/>
                </a:solidFill>
                <a:latin typeface="Segoe UI"/>
              </a:rPr>
              <a:t>. Without smoothing the answer was “Yes with certainty”; with it, a narrow Yes that reflects the conflict between Overcast (always Yes in training) and High, Strong (usually No).</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6550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wipe(right)">
                                      <p:cBhvr>
                                        <p:cTn id="8"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Continuous Features: Gaussian Naive Bayes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6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10.6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10.1   Learning as Updating Belief</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10.2   Bayes’ Theorem for Hypotheses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10.3   The Bayes Optimal Classifier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10.4   Naive Bayes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10.5   The Zero-Frequency Problem and Laplace Smoothing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10.6   Continuous Features: Gaussian Naive Bayes</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10.7   Text Classification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§10.6     </a:t>
            </a:r>
            <a:fld id="{8B58777D-9A75-4DBF-BF67-597CFDE24D34}" type="slidenum">
              <a:rPr lang="en-GB" sz="1000">
                <a:solidFill>
                  <a:srgbClr val="8795A1"/>
                </a:solidFill>
                <a:latin typeface="Segoe UI"/>
              </a:rPr>
              <a:t>22</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87667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Continuous Features: Gaussian Naive Bayes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80     </a:t>
            </a:r>
            <a:fld id="{E66C04B6-4201-46EB-B79C-30BBD3F795BD}"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69366"/>
          </a:xfrm>
          <a:prstGeom prst="roundRect">
            <a:avLst>
              <a:gd name="adj" fmla="val 2885"/>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69366"/>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For a numeric attribute, counting values is useless — every value is new. Instead model each attribute within each class as a Gaussian, with the class’s own mean </a:t>
            </a:r>
            <a:r>
              <a:rPr sz="2300" b="0" i="0">
                <a:solidFill>
                  <a:srgbClr val="1C252B"/>
                </a:solidFill>
                <a:latin typeface="Cambria"/>
              </a:rPr>
              <a:t>μ</a:t>
            </a:r>
            <a:r>
              <a:rPr sz="2300" b="0" i="1" baseline="-25000">
                <a:solidFill>
                  <a:srgbClr val="1C252B"/>
                </a:solidFill>
                <a:latin typeface="Cambria"/>
              </a:rPr>
              <a:t>j</a:t>
            </a:r>
            <a:r>
              <a:rPr sz="2300" b="0" i="0" baseline="-25000">
                <a:solidFill>
                  <a:srgbClr val="1C252B"/>
                </a:solidFill>
                <a:latin typeface="Cambria"/>
              </a:rPr>
              <a:t>,</a:t>
            </a:r>
            <a:r>
              <a:rPr sz="2300" b="0" i="1" baseline="-25000">
                <a:solidFill>
                  <a:srgbClr val="1C252B"/>
                </a:solidFill>
                <a:latin typeface="Cambria"/>
              </a:rPr>
              <a:t>c</a:t>
            </a:r>
            <a:r>
              <a:rPr sz="2300" b="0" i="0">
                <a:solidFill>
                  <a:srgbClr val="1C252B"/>
                </a:solidFill>
                <a:latin typeface="Segoe UI"/>
              </a:rPr>
              <a:t> and standard deviation </a:t>
            </a:r>
            <a:r>
              <a:rPr sz="2300" b="0" i="0">
                <a:solidFill>
                  <a:srgbClr val="1C252B"/>
                </a:solidFill>
                <a:latin typeface="Cambria"/>
              </a:rPr>
              <a:t>σ</a:t>
            </a:r>
            <a:r>
              <a:rPr sz="2300" b="0" i="1" baseline="-25000">
                <a:solidFill>
                  <a:srgbClr val="1C252B"/>
                </a:solidFill>
                <a:latin typeface="Cambria"/>
              </a:rPr>
              <a:t>j</a:t>
            </a:r>
            <a:r>
              <a:rPr sz="2300" b="0" i="0" baseline="-25000">
                <a:solidFill>
                  <a:srgbClr val="1C252B"/>
                </a:solidFill>
                <a:latin typeface="Cambria"/>
              </a:rPr>
              <a:t>,</a:t>
            </a:r>
            <a:r>
              <a:rPr sz="2300" b="0" i="1" baseline="-25000">
                <a:solidFill>
                  <a:srgbClr val="1C252B"/>
                </a:solidFill>
                <a:latin typeface="Cambria"/>
              </a:rPr>
              <a:t>c</a:t>
            </a:r>
            <a:r>
              <a:rPr sz="2300" b="0" i="0">
                <a:solidFill>
                  <a:srgbClr val="1C252B"/>
                </a:solidFill>
                <a:latin typeface="Segoe UI"/>
              </a:rPr>
              <a:t> estimated from the training data, and use the density as the likelihood:</a:t>
            </a:r>
          </a:p>
        </p:txBody>
      </p:sp>
      <p:pic>
        <p:nvPicPr>
          <p:cNvPr id="10" name="body-1" descr="P(a_j \mid c) \;\propto\; \frac{1}{\sqrt{2\pi}\,\sigma_{j,c}} \exp\!\left(-\frac{(a_j - \mu_{j,c})^2}{2\sigma_{j,c}^2}\right)"/>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667074"/>
            <a:ext cx="10161727" cy="928756"/>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509834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Feature, Two Classes, a Strong Prior</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80     </a:t>
            </a:r>
            <a:fld id="{AF894CCE-C3E9-495B-8D88-87B594DF027D}" type="slidenum">
              <a:rPr lang="en-GB" sz="1000">
                <a:solidFill>
                  <a:srgbClr val="8795A1"/>
                </a:solidFill>
                <a:latin typeface="Segoe UI"/>
              </a:rPr>
              <a:t>24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98137"/>
          </a:xfrm>
          <a:prstGeom prst="roundRect">
            <a:avLst>
              <a:gd name="adj" fmla="val 207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9813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Mean packet size is 500 bytes (sd 100) for normal flows and 900 bytes (sd 150) for a data-exfiltration attack; 5% of flows are attacks. A flow averages 750 bytes.</a:t>
            </a:r>
          </a:p>
        </p:txBody>
      </p:sp>
      <p:sp>
        <p:nvSpPr>
          <p:cNvPr id="10" name="body-1m"/>
          <p:cNvSpPr txBox="1"/>
          <p:nvPr/>
        </p:nvSpPr>
        <p:spPr>
          <a:xfrm>
            <a:off x="1042416" y="2746679"/>
            <a:ext cx="21245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7D6608"/>
                </a:solidFill>
                <a:latin typeface="Segoe UI"/>
              </a:rPr>
              <a:t>•</a:t>
            </a:r>
          </a:p>
        </p:txBody>
      </p:sp>
      <p:pic>
        <p:nvPicPr>
          <p:cNvPr id="11" name="body-1" descr="Normal: density 1/100√(2π)e−(250)2/(2 · 1002) = 0.00399 × e−3.125 = 0.000175"/>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54866" y="2746679"/>
            <a:ext cx="10022464" cy="560710"/>
          </a:xfrm>
          <a:prstGeom prst="rect">
            <a:avLst/>
          </a:prstGeom>
        </p:spPr>
      </p:pic>
      <p:sp>
        <p:nvSpPr>
          <p:cNvPr id="12" name="body-2m"/>
          <p:cNvSpPr txBox="1"/>
          <p:nvPr/>
        </p:nvSpPr>
        <p:spPr>
          <a:xfrm>
            <a:off x="1042416" y="3440104"/>
            <a:ext cx="21245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7D6608"/>
                </a:solidFill>
                <a:latin typeface="Segoe UI"/>
              </a:rPr>
              <a:t>•</a:t>
            </a:r>
          </a:p>
        </p:txBody>
      </p:sp>
      <p:pic>
        <p:nvPicPr>
          <p:cNvPr id="13" name="body-2" descr="Attack: density 1/150√(2π)e−(150)2/(2 · 1502) = 0.00266 × e−0.5 = 0.00161"/>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54866" y="3440104"/>
            <a:ext cx="10022464" cy="560710"/>
          </a:xfrm>
          <a:prstGeom prst="rect">
            <a:avLst/>
          </a:prstGeom>
        </p:spPr>
      </p:pic>
      <p:sp>
        <p:nvSpPr>
          <p:cNvPr id="14" name="body-3"/>
          <p:cNvSpPr txBox="1"/>
          <p:nvPr/>
        </p:nvSpPr>
        <p:spPr>
          <a:xfrm>
            <a:off x="1042416" y="413352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likelihood favours attack by </a:t>
            </a:r>
            <a:r>
              <a:rPr sz="1900" b="0" i="0">
                <a:solidFill>
                  <a:srgbClr val="1C252B"/>
                </a:solidFill>
                <a:latin typeface="Cambria"/>
              </a:rPr>
              <a:t>0.00161/0.000175 = 9.2</a:t>
            </a:r>
            <a:r>
              <a:rPr sz="1900" b="0" i="0">
                <a:solidFill>
                  <a:srgbClr val="1C252B"/>
                </a:solidFill>
                <a:latin typeface="Segoe UI"/>
              </a:rPr>
              <a:t> to 1. Now the priors:</a:t>
            </a:r>
          </a:p>
        </p:txBody>
      </p:sp>
      <p:pic>
        <p:nvPicPr>
          <p:cNvPr id="15" name="body-4" descr="P(\text{attack} \mid 750) = \frac{0.05 \times 0.00161}{0.05 \times 0.00161 + 0.95 \times 0.000175} = \frac{0.0000807}{0.000247} = \mathbf{0.33}"/>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42416" y="4567387"/>
            <a:ext cx="10234879" cy="558789"/>
          </a:xfrm>
          <a:prstGeom prst="rect">
            <a:avLst/>
          </a:prstGeom>
        </p:spPr>
      </p:pic>
      <p:sp>
        <p:nvSpPr>
          <p:cNvPr id="16" name="body-5"/>
          <p:cNvSpPr txBox="1"/>
          <p:nvPr/>
        </p:nvSpPr>
        <p:spPr>
          <a:xfrm>
            <a:off x="1042416" y="5258892"/>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Nine-to-one evidence against nineteen-to-one prior odds leaves the flow more likely normal. Figure 10.3 shows the whole picture: the boundary is at 772 bytes.</a:t>
            </a:r>
          </a:p>
        </p:txBody>
      </p:sp>
      <p:sp>
        <p:nvSpPr>
          <p:cNvPr id="3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pfill">
            <a:extLst>
              <a:ext uri="{C183D7F6-B498-43B3-948B-1728B52AA6E4}">
                <adec:decorative xmlns:adec="http://schemas.microsoft.com/office/drawing/2017/decorative" val="1"/>
              </a:ext>
            </a:extLst>
          </p:cNvPr>
          <p:cNvSpPr/>
          <p:nvPr/>
        </p:nvSpPr>
        <p:spPr>
          <a:xfrm>
            <a:off x="0" y="0"/>
            <a:ext cx="532001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20"/>
                                        <p:tgtEl>
                                          <p:spTgt spid="1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right)">
                                      <p:cBhvr>
                                        <p:cTn id="24" dur="420"/>
                                        <p:tgtEl>
                                          <p:spTgt spid="14"/>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wipe(right)">
                                      <p:cBhvr>
                                        <p:cTn id="29" dur="420"/>
                                        <p:tgtEl>
                                          <p:spTgt spid="15"/>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42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Continuous Features: Gaussian Naive Bayes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10.3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80     </a:t>
            </a:r>
            <a:fld id="{6D73C1F6-6440-47CB-8D72-375BE82461CF}" type="slidenum">
              <a:rPr lang="en-GB" sz="1000">
                <a:solidFill>
                  <a:srgbClr val="8795A1"/>
                </a:solidFill>
                <a:latin typeface="Segoe UI"/>
              </a:rPr>
              <a:t>25</a:t>
            </a:fld>
          </a:p>
        </p:txBody>
      </p:sp>
      <p:pic>
        <p:nvPicPr>
          <p:cNvPr id="6" name="!!figure" descr="Figure 10.3. Left: the two class-conditional densities; at 750 bytes the attack density is nine times higher. Right: after weighting by the 5% prior, the posterior crosses 0.5 only at 772 bytes. The boundary sits beyond the midpoint of the means because the rare class needs more evidenc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58672" y="1737360"/>
            <a:ext cx="8874349" cy="347106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391302"/>
            <a:ext cx="54864" cy="844905"/>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373014"/>
            <a:ext cx="10600639" cy="1027785"/>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Left: the two class-conditional densities; at 750 bytes the attack density is nine times higher. Right: after weighting by the 5% prior, the posterior crosses 0.5 only at 772 bytes. The boundary sits beyond the midpoint of the means because the rare class needs more evidence.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54167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Text Classification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7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10.7</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10.1   Learning as Updating Belief</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10.2   Bayes’ Theorem for Hypotheses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10.3   The Bayes Optimal Classifier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10.4   Naive Bayes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10.5   The Zero-Frequency Problem and Laplace Smoothing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10.6   Continuous Features: Gaussian Naive Bayes</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10.7   Text Classification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§10.7     </a:t>
            </a:r>
            <a:fld id="{FA9F41F8-61C7-4660-8CC9-10995FDB6465}" type="slidenum">
              <a:rPr lang="en-GB" sz="1000">
                <a:solidFill>
                  <a:srgbClr val="8795A1"/>
                </a:solidFill>
                <a:latin typeface="Segoe UI"/>
              </a:rPr>
              <a:t>26</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76334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Text Classification</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B12464F5-AFA3-4476-8EDD-0C308E519A5E}" type="slidenum">
              <a:rPr lang="en-GB" sz="1000">
                <a:solidFill>
                  <a:srgbClr val="8795A1"/>
                </a:solidFill>
                <a:latin typeface="Segoe UI"/>
              </a:rPr>
              <a:t>27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40968"/>
          </a:xfrm>
          <a:prstGeom prst="roundRect">
            <a:avLst>
              <a:gd name="adj" fmla="val 2736"/>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4096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Naive Bayes’s most famous success is text: spam filtering, topic labelling, sentiment. A document is represented as a </a:t>
            </a:r>
            <a:r>
              <a:rPr sz="2300" b="1" i="0">
                <a:solidFill>
                  <a:srgbClr val="1A5276"/>
                </a:solidFill>
                <a:latin typeface="Segoe UI"/>
              </a:rPr>
              <a:t>bag of words</a:t>
            </a:r>
            <a:r>
              <a:rPr sz="2300" b="0" i="0">
                <a:solidFill>
                  <a:srgbClr val="1C252B"/>
                </a:solidFill>
                <a:latin typeface="Segoe UI"/>
              </a:rPr>
              <a:t> — the count of each vocabulary word, order ignored — and </a:t>
            </a:r>
            <a:r>
              <a:rPr sz="2300" b="1" i="0">
                <a:solidFill>
                  <a:srgbClr val="1A5276"/>
                </a:solidFill>
                <a:latin typeface="Segoe UI"/>
              </a:rPr>
              <a:t>multinomial naive Bayes</a:t>
            </a:r>
            <a:r>
              <a:rPr sz="2300" b="0" i="0">
                <a:solidFill>
                  <a:srgbClr val="1C252B"/>
                </a:solidFill>
                <a:latin typeface="Segoe UI"/>
              </a:rPr>
              <a:t> treats each word occurrence as an independent draw from a class-specific distribution over the vocabulary:</a:t>
            </a:r>
          </a:p>
        </p:txBody>
      </p:sp>
      <p:pic>
        <p:nvPicPr>
          <p:cNvPr id="10" name="body-1" descr="P(w \mid c) = \frac{\text{count}(w, c) + 1}{\text{total words in } c + |V|},"/>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4031615"/>
            <a:ext cx="10161727" cy="735817"/>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598501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Text Classification</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95D09CD1-C368-4E9F-B36A-260451AE1A72}" type="slidenum">
              <a:rPr lang="en-GB" sz="1000">
                <a:solidFill>
                  <a:srgbClr val="8795A1"/>
                </a:solidFill>
                <a:latin typeface="Segoe UI"/>
              </a:rPr>
              <a:t>28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414668"/>
          </a:xfrm>
          <a:prstGeom prst="roundRect">
            <a:avLst>
              <a:gd name="adj" fmla="val 6463"/>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41466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 name="body-0" descr="v_{NB} = \arg\max_c\Big[\log P(c) + \sum_{\text{words } w \text{ in doc}} \log P(w \mid c)\Bi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048255"/>
            <a:ext cx="10161727" cy="792876"/>
          </a:xfrm>
          <a:prstGeom prst="rect">
            <a:avLst/>
          </a:prstGeom>
        </p:spPr>
      </p:pic>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620668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Four-Word Spam Filter</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DE31733C-31CF-4812-805C-A0EB810CD4FC}" type="slidenum">
              <a:rPr lang="en-GB" sz="1000">
                <a:solidFill>
                  <a:srgbClr val="8795A1"/>
                </a:solidFill>
                <a:latin typeface="Segoe UI"/>
              </a:rPr>
              <a:t>29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94174"/>
          </a:xfrm>
          <a:prstGeom prst="roundRect">
            <a:avLst>
              <a:gd name="adj" fmla="val 203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9417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Training counts over a vocabulary of </a:t>
            </a:r>
            <a:r>
              <a:rPr sz="1600" b="0" i="0">
                <a:solidFill>
                  <a:srgbClr val="1C252B"/>
                </a:solidFill>
                <a:latin typeface="Cambria"/>
              </a:rPr>
              <a:t>|</a:t>
            </a:r>
            <a:r>
              <a:rPr sz="1600" b="0" i="1">
                <a:solidFill>
                  <a:srgbClr val="1C252B"/>
                </a:solidFill>
                <a:latin typeface="Cambria"/>
              </a:rPr>
              <a:t>V</a:t>
            </a:r>
            <a:r>
              <a:rPr sz="1600" b="0" i="0">
                <a:solidFill>
                  <a:srgbClr val="1C252B"/>
                </a:solidFill>
                <a:latin typeface="Cambria"/>
              </a:rPr>
              <a:t>| = 4</a:t>
            </a:r>
            <a:r>
              <a:rPr sz="1600" b="0" i="0">
                <a:solidFill>
                  <a:srgbClr val="1C252B"/>
                </a:solidFill>
                <a:latin typeface="Segoe UI"/>
              </a:rPr>
              <a:t> words; both classes contain 40 words and are equally likely:</a:t>
            </a:r>
          </a:p>
        </p:txBody>
      </p:sp>
      <p:graphicFrame>
        <p:nvGraphicFramePr>
          <p:cNvPr id="10" name="body-1"/>
          <p:cNvGraphicFramePr>
            <a:graphicFrameLocks noGrp="1"/>
          </p:cNvGraphicFramePr>
          <p:nvPr/>
        </p:nvGraphicFramePr>
        <p:xfrm>
          <a:off x="1042416" y="2377033"/>
          <a:ext cx="3432861" cy="1033272"/>
        </p:xfrm>
        <a:graphic>
          <a:graphicData uri="http://schemas.openxmlformats.org/drawingml/2006/table">
            <a:tbl>
              <a:tblPr firstRow="0" bandRow="0" firstCol="0" lastRow="0" lastCol="0" bandCol="0">
                <a:tableStyleId>{2D5ABB26-0587-4C30-8999-92F81FD0307C}</a:tableStyleId>
              </a:tblPr>
              <a:tblGrid>
                <a:gridCol w="657131"/>
                <a:gridCol w="569754"/>
                <a:gridCol w="539957"/>
                <a:gridCol w="911957"/>
                <a:gridCol w="754062"/>
              </a:tblGrid>
              <a:tr h="344424">
                <a:tc>
                  <a:txBody>
                    <a:bodyPr wrap="square"/>
                    <a:lstStyle/>
                    <a:p>
                      <a:pPr algn="l"/>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free</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win</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meeting</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report</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44424">
                <a:tc>
                  <a:txBody>
                    <a:bodyPr wrap="square"/>
                    <a:lstStyle/>
                    <a:p>
                      <a:pPr algn="l"/>
                      <a:r>
                        <a:rPr sz="1300" b="0" i="0">
                          <a:solidFill>
                            <a:srgbClr val="1C252B"/>
                          </a:solidFill>
                          <a:latin typeface="Segoe UI"/>
                        </a:rPr>
                        <a:t>spam</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20</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15</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2</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3</a:t>
                      </a:r>
                      <a:endParaRPr sz="1300"/>
                    </a:p>
                  </a:txBody>
                  <a:tcPr marL="109728" marR="109728" marT="64008" marB="45720" anchor="t">
                    <a:lnL w="0" cmpd="sng">
                      <a:noFill/>
                    </a:lnL>
                    <a:lnR w="0" cmpd="sng">
                      <a:noFill/>
                    </a:lnR>
                    <a:lnT w="9525" cmpd="sng">
                      <a:noFill/>
                    </a:lnT>
                    <a:lnB w="9525" cmpd="sng">
                      <a:noFill/>
                    </a:lnB>
                    <a:solidFill>
                      <a:srgbClr val="FFFFFF"/>
                    </a:solidFill>
                  </a:tcPr>
                </a:tc>
              </a:tr>
              <a:tr h="344424">
                <a:tc>
                  <a:txBody>
                    <a:bodyPr wrap="square"/>
                    <a:lstStyle/>
                    <a:p>
                      <a:pPr algn="l"/>
                      <a:r>
                        <a:rPr sz="1300" b="0" i="0">
                          <a:solidFill>
                            <a:srgbClr val="1C252B"/>
                          </a:solidFill>
                          <a:latin typeface="Segoe UI"/>
                        </a:rPr>
                        <a:t>ham</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2</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1</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18</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19</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1" name="body-2"/>
          <p:cNvSpPr txBox="1"/>
          <p:nvPr/>
        </p:nvSpPr>
        <p:spPr>
          <a:xfrm>
            <a:off x="1042416" y="3522065"/>
            <a:ext cx="10234879" cy="552907"/>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With smoothing, </a:t>
            </a:r>
            <a:r>
              <a:rPr sz="1600" b="0" i="1">
                <a:solidFill>
                  <a:srgbClr val="1C252B"/>
                </a:solidFill>
                <a:latin typeface="Cambria"/>
              </a:rPr>
              <a:t>P</a:t>
            </a:r>
            <a:r>
              <a:rPr sz="1600" b="0" i="0">
                <a:solidFill>
                  <a:srgbClr val="1C252B"/>
                </a:solidFill>
                <a:latin typeface="Cambria"/>
              </a:rPr>
              <a:t>(</a:t>
            </a:r>
            <a:r>
              <a:rPr sz="1600" b="0" i="0">
                <a:solidFill>
                  <a:srgbClr val="1C252B"/>
                </a:solidFill>
                <a:latin typeface="Segoe UI"/>
              </a:rPr>
              <a:t>free</a:t>
            </a:r>
            <a:r>
              <a:rPr sz="1600" b="0" i="0">
                <a:solidFill>
                  <a:srgbClr val="1C252B"/>
                </a:solidFill>
                <a:latin typeface="Cambria"/>
              </a:rPr>
              <a:t> ∣ </a:t>
            </a:r>
            <a:r>
              <a:rPr sz="1600" b="0" i="0">
                <a:solidFill>
                  <a:srgbClr val="1C252B"/>
                </a:solidFill>
                <a:latin typeface="Segoe UI"/>
              </a:rPr>
              <a:t>spam</a:t>
            </a:r>
            <a:r>
              <a:rPr sz="1600" b="0" i="0">
                <a:solidFill>
                  <a:srgbClr val="1C252B"/>
                </a:solidFill>
                <a:latin typeface="Cambria"/>
              </a:rPr>
              <a:t>) = 21/44</a:t>
            </a:r>
            <a:r>
              <a:rPr sz="1600" b="0" i="0">
                <a:solidFill>
                  <a:srgbClr val="1C252B"/>
                </a:solidFill>
                <a:latin typeface="Segoe UI"/>
              </a:rPr>
              <a:t>, </a:t>
            </a:r>
            <a:r>
              <a:rPr sz="1600" b="0" i="1">
                <a:solidFill>
                  <a:srgbClr val="1C252B"/>
                </a:solidFill>
                <a:latin typeface="Cambria"/>
              </a:rPr>
              <a:t>P</a:t>
            </a:r>
            <a:r>
              <a:rPr sz="1600" b="0" i="0">
                <a:solidFill>
                  <a:srgbClr val="1C252B"/>
                </a:solidFill>
                <a:latin typeface="Cambria"/>
              </a:rPr>
              <a:t>(</a:t>
            </a:r>
            <a:r>
              <a:rPr sz="1600" b="0" i="0">
                <a:solidFill>
                  <a:srgbClr val="1C252B"/>
                </a:solidFill>
                <a:latin typeface="Segoe UI"/>
              </a:rPr>
              <a:t>meeting</a:t>
            </a:r>
            <a:r>
              <a:rPr sz="1600" b="0" i="0">
                <a:solidFill>
                  <a:srgbClr val="1C252B"/>
                </a:solidFill>
                <a:latin typeface="Cambria"/>
              </a:rPr>
              <a:t> ∣ </a:t>
            </a:r>
            <a:r>
              <a:rPr sz="1600" b="0" i="0">
                <a:solidFill>
                  <a:srgbClr val="1C252B"/>
                </a:solidFill>
                <a:latin typeface="Segoe UI"/>
              </a:rPr>
              <a:t>spam</a:t>
            </a:r>
            <a:r>
              <a:rPr sz="1600" b="0" i="0">
                <a:solidFill>
                  <a:srgbClr val="1C252B"/>
                </a:solidFill>
                <a:latin typeface="Cambria"/>
              </a:rPr>
              <a:t>) = 3/44</a:t>
            </a:r>
            <a:r>
              <a:rPr sz="1600" b="0" i="0">
                <a:solidFill>
                  <a:srgbClr val="1C252B"/>
                </a:solidFill>
                <a:latin typeface="Segoe UI"/>
              </a:rPr>
              <a:t>, </a:t>
            </a:r>
            <a:r>
              <a:rPr sz="1600" b="0" i="1">
                <a:solidFill>
                  <a:srgbClr val="1C252B"/>
                </a:solidFill>
                <a:latin typeface="Cambria"/>
              </a:rPr>
              <a:t>P</a:t>
            </a:r>
            <a:r>
              <a:rPr sz="1600" b="0" i="0">
                <a:solidFill>
                  <a:srgbClr val="1C252B"/>
                </a:solidFill>
                <a:latin typeface="Cambria"/>
              </a:rPr>
              <a:t>(</a:t>
            </a:r>
            <a:r>
              <a:rPr sz="1600" b="0" i="0">
                <a:solidFill>
                  <a:srgbClr val="1C252B"/>
                </a:solidFill>
                <a:latin typeface="Segoe UI"/>
              </a:rPr>
              <a:t>free</a:t>
            </a:r>
            <a:r>
              <a:rPr sz="1600" b="0" i="0">
                <a:solidFill>
                  <a:srgbClr val="1C252B"/>
                </a:solidFill>
                <a:latin typeface="Cambria"/>
              </a:rPr>
              <a:t> ∣ </a:t>
            </a:r>
            <a:r>
              <a:rPr sz="1600" b="0" i="0">
                <a:solidFill>
                  <a:srgbClr val="1C252B"/>
                </a:solidFill>
                <a:latin typeface="Segoe UI"/>
              </a:rPr>
              <a:t>ham</a:t>
            </a:r>
            <a:r>
              <a:rPr sz="1600" b="0" i="0">
                <a:solidFill>
                  <a:srgbClr val="1C252B"/>
                </a:solidFill>
                <a:latin typeface="Cambria"/>
              </a:rPr>
              <a:t>) = 3/44</a:t>
            </a:r>
            <a:r>
              <a:rPr sz="1600" b="0" i="0">
                <a:solidFill>
                  <a:srgbClr val="1C252B"/>
                </a:solidFill>
                <a:latin typeface="Segoe UI"/>
              </a:rPr>
              <a:t>, </a:t>
            </a:r>
            <a:r>
              <a:rPr sz="1600" b="0" i="1">
                <a:solidFill>
                  <a:srgbClr val="1C252B"/>
                </a:solidFill>
                <a:latin typeface="Cambria"/>
              </a:rPr>
              <a:t>P</a:t>
            </a:r>
            <a:r>
              <a:rPr sz="1600" b="0" i="0">
                <a:solidFill>
                  <a:srgbClr val="1C252B"/>
                </a:solidFill>
                <a:latin typeface="Cambria"/>
              </a:rPr>
              <a:t>(</a:t>
            </a:r>
            <a:r>
              <a:rPr sz="1600" b="0" i="0">
                <a:solidFill>
                  <a:srgbClr val="1C252B"/>
                </a:solidFill>
                <a:latin typeface="Segoe UI"/>
              </a:rPr>
              <a:t>meeting</a:t>
            </a:r>
            <a:r>
              <a:rPr sz="1600" b="0" i="0">
                <a:solidFill>
                  <a:srgbClr val="1C252B"/>
                </a:solidFill>
                <a:latin typeface="Cambria"/>
              </a:rPr>
              <a:t> ∣ </a:t>
            </a:r>
            <a:r>
              <a:rPr sz="1600" b="0" i="0">
                <a:solidFill>
                  <a:srgbClr val="1C252B"/>
                </a:solidFill>
                <a:latin typeface="Segoe UI"/>
              </a:rPr>
              <a:t>ham</a:t>
            </a:r>
            <a:r>
              <a:rPr sz="1600" b="0" i="0">
                <a:solidFill>
                  <a:srgbClr val="1C252B"/>
                </a:solidFill>
                <a:latin typeface="Cambria"/>
              </a:rPr>
              <a:t>) = 19/44</a:t>
            </a:r>
            <a:r>
              <a:rPr sz="1600" b="0" i="0">
                <a:solidFill>
                  <a:srgbClr val="1C252B"/>
                </a:solidFill>
                <a:latin typeface="Segoe UI"/>
              </a:rPr>
              <a:t>.</a:t>
            </a:r>
          </a:p>
        </p:txBody>
      </p:sp>
      <p:sp>
        <p:nvSpPr>
          <p:cNvPr id="12" name="body-3"/>
          <p:cNvSpPr txBox="1"/>
          <p:nvPr/>
        </p:nvSpPr>
        <p:spPr>
          <a:xfrm>
            <a:off x="1042416" y="4141012"/>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Message:</a:t>
            </a:r>
            <a:r>
              <a:rPr sz="1600" b="0" i="0">
                <a:solidFill>
                  <a:srgbClr val="1C252B"/>
                </a:solidFill>
                <a:latin typeface="Segoe UI"/>
              </a:rPr>
              <a:t> “free meeting free”.</a:t>
            </a:r>
          </a:p>
        </p:txBody>
      </p:sp>
      <p:sp>
        <p:nvSpPr>
          <p:cNvPr id="13" name="body-3bar">
            <a:extLst>
              <a:ext uri="{C183D7F6-B498-43B3-948B-1728B52AA6E4}">
                <adec:decorative xmlns:adec="http://schemas.microsoft.com/office/drawing/2017/decorative" val="1"/>
              </a:ext>
            </a:extLst>
          </p:cNvPr>
          <p:cNvSpPr/>
          <p:nvPr/>
        </p:nvSpPr>
        <p:spPr>
          <a:xfrm>
            <a:off x="841248" y="4159300"/>
            <a:ext cx="54864" cy="23530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4"/>
          <p:cNvSpPr txBox="1"/>
          <p:nvPr/>
        </p:nvSpPr>
        <p:spPr>
          <a:xfrm>
            <a:off x="1042416" y="4506366"/>
            <a:ext cx="10234879" cy="624027"/>
          </a:xfrm>
          <a:prstGeom prst="rect">
            <a:avLst/>
          </a:prstGeom>
          <a:noFill/>
        </p:spPr>
        <p:txBody>
          <a:bodyPr wrap="square" anchor="t" lIns="0" rIns="0" tIns="0" bIns="0">
            <a:noAutofit/>
          </a:bodyPr>
          <a:lstStyle/>
          <a:p>
            <a:pPr algn="l" marL="178905" indent="-178905">
              <a:lnSpc>
                <a:spcPct val="104000"/>
              </a:lnSpc>
              <a:spcBef>
                <a:spcPts val="0"/>
              </a:spcBef>
              <a:spcAft>
                <a:spcPts val="560"/>
              </a:spcAft>
            </a:pPr>
            <a:r>
              <a:rPr sz="1600" b="1">
                <a:solidFill>
                  <a:srgbClr val="7D6608"/>
                </a:solidFill>
                <a:latin typeface="Segoe UI"/>
              </a:rPr>
              <a:t>•	</a:t>
            </a:r>
            <a:r>
              <a:rPr sz="1600" b="0" i="0">
                <a:solidFill>
                  <a:srgbClr val="1C252B"/>
                </a:solidFill>
                <a:latin typeface="Segoe UI"/>
              </a:rPr>
              <a:t>spam: </a:t>
            </a:r>
            <a:r>
              <a:rPr sz="1600" b="0" i="0">
                <a:solidFill>
                  <a:srgbClr val="1C252B"/>
                </a:solidFill>
                <a:latin typeface="Cambria"/>
              </a:rPr>
              <a:t>log1/2 + 2log21/44 + log3/44 = −0.693 − 1.479 − 2.686 = −4.858</a:t>
            </a:r>
          </a:p>
          <a:p>
            <a:pPr algn="l" marL="178905" indent="-178905">
              <a:lnSpc>
                <a:spcPct val="104000"/>
              </a:lnSpc>
              <a:spcBef>
                <a:spcPts val="0"/>
              </a:spcBef>
              <a:spcAft>
                <a:spcPts val="0"/>
              </a:spcAft>
            </a:pPr>
            <a:r>
              <a:rPr sz="1600" b="1">
                <a:solidFill>
                  <a:srgbClr val="7D6608"/>
                </a:solidFill>
                <a:latin typeface="Segoe UI"/>
              </a:rPr>
              <a:t>•	</a:t>
            </a:r>
            <a:r>
              <a:rPr sz="1600" b="0" i="0">
                <a:solidFill>
                  <a:srgbClr val="1C252B"/>
                </a:solidFill>
                <a:latin typeface="Segoe UI"/>
              </a:rPr>
              <a:t>ham: </a:t>
            </a:r>
            <a:r>
              <a:rPr sz="1600" b="0" i="0">
                <a:solidFill>
                  <a:srgbClr val="1C252B"/>
                </a:solidFill>
                <a:latin typeface="Cambria"/>
              </a:rPr>
              <a:t>log1/2 + 2log3/44 + log19/44 = −0.693 − 5.371 − 0.840 = −6.904</a:t>
            </a:r>
          </a:p>
        </p:txBody>
      </p:sp>
      <p:sp>
        <p:nvSpPr>
          <p:cNvPr id="15" name="body-5"/>
          <p:cNvSpPr txBox="1"/>
          <p:nvPr/>
        </p:nvSpPr>
        <p:spPr>
          <a:xfrm>
            <a:off x="1042416" y="5196433"/>
            <a:ext cx="10234879" cy="806500"/>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Spam</a:t>
            </a:r>
            <a:r>
              <a:rPr sz="1600" b="0" i="0">
                <a:solidFill>
                  <a:srgbClr val="1C252B"/>
                </a:solidFill>
                <a:latin typeface="Segoe UI"/>
              </a:rPr>
              <a:t> wins by </a:t>
            </a:r>
            <a:r>
              <a:rPr sz="1600" b="0" i="0">
                <a:solidFill>
                  <a:srgbClr val="1C252B"/>
                </a:solidFill>
                <a:latin typeface="Cambria"/>
              </a:rPr>
              <a:t>2.05</a:t>
            </a:r>
            <a:r>
              <a:rPr sz="1600" b="0" i="0">
                <a:solidFill>
                  <a:srgbClr val="1C252B"/>
                </a:solidFill>
                <a:latin typeface="Segoe UI"/>
              </a:rPr>
              <a:t> in log-probability, a likelihood ratio of </a:t>
            </a:r>
            <a:r>
              <a:rPr sz="1600" b="0" i="1">
                <a:solidFill>
                  <a:srgbClr val="1C252B"/>
                </a:solidFill>
                <a:latin typeface="Cambria"/>
              </a:rPr>
              <a:t>e</a:t>
            </a:r>
            <a:r>
              <a:rPr sz="1600" b="0" i="0" baseline="30000">
                <a:solidFill>
                  <a:srgbClr val="1C252B"/>
                </a:solidFill>
                <a:latin typeface="Cambria"/>
              </a:rPr>
              <a:t>2.05</a:t>
            </a:r>
            <a:r>
              <a:rPr sz="1600" b="0" i="0">
                <a:solidFill>
                  <a:srgbClr val="1C252B"/>
                </a:solidFill>
                <a:latin typeface="Cambria"/>
              </a:rPr>
              <a:t> ≈ 7.7</a:t>
            </a:r>
            <a:r>
              <a:rPr sz="1600" b="0" i="0">
                <a:solidFill>
                  <a:srgbClr val="1C252B"/>
                </a:solidFill>
                <a:latin typeface="Segoe UI"/>
              </a:rPr>
              <a:t>, so </a:t>
            </a:r>
            <a:r>
              <a:rPr sz="1600" b="0" i="1">
                <a:solidFill>
                  <a:srgbClr val="1C252B"/>
                </a:solidFill>
                <a:latin typeface="Cambria"/>
              </a:rPr>
              <a:t>P</a:t>
            </a:r>
            <a:r>
              <a:rPr sz="1600" b="0" i="0">
                <a:solidFill>
                  <a:srgbClr val="1C252B"/>
                </a:solidFill>
                <a:latin typeface="Cambria"/>
              </a:rPr>
              <a:t>(</a:t>
            </a:r>
            <a:r>
              <a:rPr sz="1600" b="0" i="0">
                <a:solidFill>
                  <a:srgbClr val="1C252B"/>
                </a:solidFill>
                <a:latin typeface="Segoe UI"/>
              </a:rPr>
              <a:t>spam</a:t>
            </a:r>
            <a:r>
              <a:rPr sz="1600" b="0" i="0">
                <a:solidFill>
                  <a:srgbClr val="1C252B"/>
                </a:solidFill>
                <a:latin typeface="Cambria"/>
              </a:rPr>
              <a:t>) = 7.7/8.7 = </a:t>
            </a:r>
            <a:r>
              <a:rPr sz="1600" b="1" i="0">
                <a:solidFill>
                  <a:srgbClr val="1C252B"/>
                </a:solidFill>
                <a:latin typeface="Cambria"/>
              </a:rPr>
              <a:t>0.885</a:t>
            </a:r>
            <a:r>
              <a:rPr sz="1600" b="0" i="0">
                <a:solidFill>
                  <a:srgbClr val="1C252B"/>
                </a:solidFill>
                <a:latin typeface="Segoe UI"/>
              </a:rPr>
              <a:t>. The two “free”s outweigh the one “meeting” — which is also how a spammer defeats the filter: add enough innocent words.</a:t>
            </a:r>
          </a:p>
        </p:txBody>
      </p:sp>
      <p:sp>
        <p:nvSpPr>
          <p:cNvPr id="16" name="body-5bar">
            <a:extLst>
              <a:ext uri="{C183D7F6-B498-43B3-948B-1728B52AA6E4}">
                <adec:decorative xmlns:adec="http://schemas.microsoft.com/office/drawing/2017/decorative" val="1"/>
              </a:ext>
            </a:extLst>
          </p:cNvPr>
          <p:cNvSpPr/>
          <p:nvPr/>
        </p:nvSpPr>
        <p:spPr>
          <a:xfrm>
            <a:off x="841248" y="5214721"/>
            <a:ext cx="54864" cy="74249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pfill">
            <a:extLst>
              <a:ext uri="{C183D7F6-B498-43B3-948B-1728B52AA6E4}">
                <adec:decorative xmlns:adec="http://schemas.microsoft.com/office/drawing/2017/decorative" val="1"/>
              </a:ext>
            </a:extLst>
          </p:cNvPr>
          <p:cNvSpPr/>
          <p:nvPr/>
        </p:nvSpPr>
        <p:spPr>
          <a:xfrm>
            <a:off x="0" y="0"/>
            <a:ext cx="642834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4">
                                            <p:txEl>
                                              <p:pRg st="0" end="0"/>
                                            </p:txEl>
                                          </p:spTgt>
                                        </p:tgtEl>
                                        <p:attrNameLst>
                                          <p:attrName>style.visibility</p:attrName>
                                        </p:attrNameLst>
                                      </p:cBhvr>
                                      <p:to>
                                        <p:strVal val="visible"/>
                                      </p:to>
                                    </p:set>
                                    <p:animEffect transition="in" filter="fade">
                                      <p:cBhvr>
                                        <p:cTn id="26" dur="350"/>
                                        <p:tgtEl>
                                          <p:spTgt spid="14">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4">
                                            <p:txEl>
                                              <p:pRg st="1" end="1"/>
                                            </p:txEl>
                                          </p:spTgt>
                                        </p:tgtEl>
                                        <p:attrNameLst>
                                          <p:attrName>style.visibility</p:attrName>
                                        </p:attrNameLst>
                                      </p:cBhvr>
                                      <p:to>
                                        <p:strVal val="visible"/>
                                      </p:to>
                                    </p:set>
                                    <p:animEffect transition="in" filter="fade">
                                      <p:cBhvr>
                                        <p:cTn id="31" dur="350"/>
                                        <p:tgtEl>
                                          <p:spTgt spid="14">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2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Naive Bayes Works When Its Assumption Is False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A7953C4F-32CB-49F3-89B4-C68D9EB5061E}" type="slidenum">
              <a:rPr lang="en-GB" sz="1000">
                <a:solidFill>
                  <a:srgbClr val="8795A1"/>
                </a:solidFill>
                <a:latin typeface="Segoe UI"/>
              </a:rPr>
              <a:t>30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38118"/>
          </a:xfrm>
          <a:prstGeom prst="roundRect">
            <a:avLst>
              <a:gd name="adj" fmla="val 2584"/>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38118"/>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962046"/>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Words are obviously not independent — “free” and “prize” travel together. Naive Bayes therefore double-counts correlated evidence and its probabilities are badly </a:t>
            </a:r>
            <a:r>
              <a:rPr sz="2300" b="0" i="1">
                <a:solidFill>
                  <a:srgbClr val="1C252B"/>
                </a:solidFill>
                <a:latin typeface="Segoe UI"/>
              </a:rPr>
              <a:t>over-confident</a:t>
            </a:r>
            <a:r>
              <a:rPr sz="2300" b="0" i="0">
                <a:solidFill>
                  <a:srgbClr val="1C252B"/>
                </a:solidFill>
                <a:latin typeface="Segoe UI"/>
              </a:rPr>
              <a:t>. But classification needs only the right </a:t>
            </a:r>
            <a:r>
              <a:rPr sz="2300" b="0" i="1">
                <a:solidFill>
                  <a:srgbClr val="1C252B"/>
                </a:solidFill>
                <a:latin typeface="Segoe UI"/>
              </a:rPr>
              <a:t>ranking</a:t>
            </a:r>
            <a:r>
              <a:rPr sz="2300" b="0" i="0">
                <a:solidFill>
                  <a:srgbClr val="1C252B"/>
                </a:solidFill>
                <a:latin typeface="Segoe UI"/>
              </a:rPr>
              <a:t> of classes, and the double-counting usually inflates the right class as much as it helps it. Use naive Bayes’s decisions freely; do not trust its probabilities without calibration. Models that represent the dependencies explicitly — Bayesian networks — are the next step, and are covered in Mitchell’s Chapter 6.</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665001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F13840EB-4071-471D-BC48-3070672EC9E2}" type="slidenum">
              <a:rPr lang="en-GB" sz="1000">
                <a:solidFill>
                  <a:srgbClr val="8795A1"/>
                </a:solidFill>
                <a:latin typeface="Segoe UI"/>
              </a:rPr>
              <a:t>31</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Forgetting to smooth.</a:t>
            </a:r>
            <a:r>
              <a:rPr sz="2100" b="0" i="0">
                <a:solidFill>
                  <a:srgbClr val="1C252B"/>
                </a:solidFill>
                <a:latin typeface="Segoe UI"/>
              </a:rPr>
              <a:t> One zero count vetoes the class.</a:t>
            </a:r>
          </a:p>
        </p:txBody>
      </p:sp>
      <p:sp>
        <p:nvSpPr>
          <p:cNvPr id="10" name="!!pb1">
            <a:extLst>
              <a:ext uri="{C183D7F6-B498-43B3-948B-1728B52AA6E4}">
                <adec:decorative xmlns:adec="http://schemas.microsoft.com/office/drawing/2017/decorative" val="1"/>
              </a:ext>
            </a:extLst>
          </p:cNvPr>
          <p:cNvSpPr/>
          <p:nvPr/>
        </p:nvSpPr>
        <p:spPr>
          <a:xfrm>
            <a:off x="658368" y="232257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34543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304288"/>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Multiplying hundreds of probabilities.</a:t>
            </a:r>
            <a:r>
              <a:rPr sz="2100" b="0" i="0">
                <a:solidFill>
                  <a:srgbClr val="1C252B"/>
                </a:solidFill>
                <a:latin typeface="Segoe UI"/>
              </a:rPr>
              <a:t> Add log-probabilities.</a:t>
            </a:r>
          </a:p>
        </p:txBody>
      </p:sp>
      <p:sp>
        <p:nvSpPr>
          <p:cNvPr id="13" name="!!pb2">
            <a:extLst>
              <a:ext uri="{C183D7F6-B498-43B3-948B-1728B52AA6E4}">
                <adec:decorative xmlns:adec="http://schemas.microsoft.com/office/drawing/2017/decorative" val="1"/>
              </a:ext>
            </a:extLst>
          </p:cNvPr>
          <p:cNvSpPr/>
          <p:nvPr/>
        </p:nvSpPr>
        <p:spPr>
          <a:xfrm>
            <a:off x="658368" y="288950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291236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2871216"/>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Confusing MAP with ML.</a:t>
            </a:r>
            <a:r>
              <a:rPr sz="2100" b="0" i="0">
                <a:solidFill>
                  <a:srgbClr val="1C252B"/>
                </a:solidFill>
                <a:latin typeface="Segoe UI"/>
              </a:rPr>
              <a:t> Maximum likelihood ignores the prior, and with rare classes the prior decides.</a:t>
            </a:r>
          </a:p>
        </p:txBody>
      </p:sp>
      <p:sp>
        <p:nvSpPr>
          <p:cNvPr id="16" name="!!pb3">
            <a:extLst>
              <a:ext uri="{C183D7F6-B498-43B3-948B-1728B52AA6E4}">
                <adec:decorative xmlns:adec="http://schemas.microsoft.com/office/drawing/2017/decorative" val="1"/>
              </a:ext>
            </a:extLst>
          </p:cNvPr>
          <p:cNvSpPr/>
          <p:nvPr/>
        </p:nvSpPr>
        <p:spPr>
          <a:xfrm>
            <a:off x="658368" y="37563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7792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738067"/>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Reporting naive Bayes probabilities as calibrated risks.</a:t>
            </a:r>
            <a:r>
              <a:rPr sz="2100" b="0" i="0">
                <a:solidFill>
                  <a:srgbClr val="1C252B"/>
                </a:solidFill>
                <a:latin typeface="Segoe UI"/>
              </a:rPr>
              <a:t> They are too extreme; the ranking is what is reliable.</a:t>
            </a:r>
          </a:p>
        </p:txBody>
      </p:sp>
      <p:sp>
        <p:nvSpPr>
          <p:cNvPr id="19" name="!!pb4">
            <a:extLst>
              <a:ext uri="{C183D7F6-B498-43B3-948B-1728B52AA6E4}">
                <adec:decorative xmlns:adec="http://schemas.microsoft.com/office/drawing/2017/decorative" val="1"/>
              </a:ext>
            </a:extLst>
          </p:cNvPr>
          <p:cNvSpPr/>
          <p:nvPr/>
        </p:nvSpPr>
        <p:spPr>
          <a:xfrm>
            <a:off x="658368" y="462320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64606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0491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Feeding Gaussian NB heavily skewed features.</a:t>
            </a:r>
            <a:r>
              <a:rPr sz="2100" b="0" i="0">
                <a:solidFill>
                  <a:srgbClr val="1C252B"/>
                </a:solidFill>
                <a:latin typeface="Segoe UI"/>
              </a:rPr>
              <a:t> Transform them (log) first, or the Gaussian fits badly.</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87168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Naive Bayes</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6B505611-4A80-4386-BE09-C49805F9FE25}" type="slidenum">
              <a:rPr lang="en-GB" sz="1000">
                <a:solidFill>
                  <a:srgbClr val="8795A1"/>
                </a:solidFill>
                <a:latin typeface="Segoe UI"/>
              </a:rPr>
              <a:t>32</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Classify forum posts as questions, complaints or social chat from their words, so that teaching assistants see the questions first.</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Triage incoming tickets into bug, feature request or support query from their text.</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500" b="0" i="0">
                <a:solidFill>
                  <a:srgbClr val="1C252B"/>
                </a:solidFill>
                <a:latin typeface="Segoe UI"/>
              </a:rPr>
              <a:t>Gaussian naive Bayes over a handful of sensor summaries is a fault classifier that fits in a few kilobytes and updates its means and variances incrementally as new labelled readings arrive — useful on a gateway with no room for a training framework.</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original statistical spam filters were naive Bayes, and the adversarial lesson came quickly: attackers padded spam with ham words (“Bayesian poisoning”).</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709334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Naive Bayes</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FF8D8C3C-6A2B-460E-9693-3F4CA841C9BC}" type="slidenum">
              <a:rPr lang="en-GB" sz="1000">
                <a:solidFill>
                  <a:srgbClr val="8795A1"/>
                </a:solidFill>
                <a:latin typeface="Segoe UI"/>
              </a:rPr>
              <a:t>33</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Classify forum posts as questions, complaints or social chat from their words, so that teaching assistants see the questions first. Naive Bayes trains in seconds on a few hundred labelled posts, and it can be retrained every week as the course vocabulary changes.</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31501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Naive Bayes</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467DA6E7-FE2D-498F-9366-480F8C9C2818}" type="slidenum">
              <a:rPr lang="en-GB" sz="1000">
                <a:solidFill>
                  <a:srgbClr val="8795A1"/>
                </a:solidFill>
                <a:latin typeface="Segoe UI"/>
              </a:rPr>
              <a:t>34</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Triage incoming tickets into bug, feature request or support query from their text. The per-word log-probabilities explain each decision (“crash” and “error” pushed it to bug), which helps the team trust the router.</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5366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Naive Bayes</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4A992C03-E27C-46DF-ADDB-B6B6E870887C}" type="slidenum">
              <a:rPr lang="en-GB" sz="1000">
                <a:solidFill>
                  <a:srgbClr val="8795A1"/>
                </a:solidFill>
                <a:latin typeface="Segoe UI"/>
              </a:rPr>
              <a:t>35</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Gaussian naive Bayes over a handful of sensor summaries is a fault classifier that fits in a few kilobytes and updates its means and variances incrementally as new labelled readings arrive — useful on a gateway with no room for a training framework.</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75835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Naive Bayes</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196F08E3-BD82-41A0-AC71-924027705EFD}" type="slidenum">
              <a:rPr lang="en-GB" sz="1000">
                <a:solidFill>
                  <a:srgbClr val="8795A1"/>
                </a:solidFill>
                <a:latin typeface="Segoe UI"/>
              </a:rPr>
              <a:t>36</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original statistical spam filters were naive Bayes, and the adversarial lesson came quickly: attackers padded spam with ham words (“Bayesian poisoning”). Keep the model retrained on fresh spam, and do not rely on it alone.</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98001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Naive Bayes by Counting, Then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7335CDD6-F910-4D22-8CE4-B30AF21C19C2}" type="slidenum">
              <a:rPr lang="en-GB" sz="1000">
                <a:solidFill>
                  <a:srgbClr val="8795A1"/>
                </a:solidFill>
                <a:latin typeface="Segoe UI"/>
              </a:rPr>
              <a:t>37</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Naive Bayes on PlayTennis, by counting</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Gaussian naive Bayes on 30 continuous measurements</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A spam filter from twelve messages</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9: Naive Bayes by counting and by library</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57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code/ch10_naive_bayes_counting.py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820168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Naive Bayes by Counting, Then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122DF681-BABD-4905-88E7-936F1114ABE8}" type="slidenum">
              <a:rPr lang="en-GB" sz="1000">
                <a:solidFill>
                  <a:srgbClr val="8795A1"/>
                </a:solidFill>
                <a:latin typeface="Segoe UI"/>
              </a:rPr>
              <a:t>38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822703"/>
          </a:xfrm>
          <a:prstGeom prst="roundRect">
            <a:avLst>
              <a:gd name="adj" fmla="val 501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code/ch10_naive_bayes_counting.py</a:t>
            </a:r>
          </a:p>
        </p:txBody>
      </p:sp>
      <p:sp>
        <p:nvSpPr>
          <p:cNvPr id="14" name="!!code-text" descr="from sklearn.datasets import load_breast_cancer from sklearn.model_selection import cross_val_score from sklearn.naive_bayes import GaussianNB, MultinomialNB from sklearn.feature_extraction.text import CountVectorizer"/>
          <p:cNvSpPr txBox="1"/>
          <p:nvPr/>
        </p:nvSpPr>
        <p:spPr>
          <a:xfrm>
            <a:off x="1362456" y="2523744"/>
            <a:ext cx="9987991" cy="13289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datasets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load_breast_cancer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cross_val_score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naive_bayes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GaussianNB</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MultinomialNB</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feature_extraction</a:t>
            </a:r>
            <a:r>
              <a:rPr sz="2000" i="0">
                <a:solidFill>
                  <a:srgbClr val="76D7C4"/>
                </a:solidFill>
                <a:latin typeface="Consolas"/>
              </a:rPr>
              <a:t>.</a:t>
            </a:r>
            <a:r>
              <a:rPr sz="2000" i="0">
                <a:solidFill>
                  <a:srgbClr val="76D7C4"/>
                </a:solidFill>
                <a:latin typeface="Consolas"/>
              </a:rPr>
              <a:t>text</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CountVectorizer</a:t>
            </a:r>
          </a:p>
        </p:txBody>
      </p:sp>
      <p:sp>
        <p:nvSpPr>
          <p:cNvPr id="15" name="!!code-num"/>
          <p:cNvSpPr txBox="1"/>
          <p:nvPr/>
        </p:nvSpPr>
        <p:spPr>
          <a:xfrm>
            <a:off x="768096" y="2523744"/>
            <a:ext cx="393192" cy="13289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2335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Naive Bayes by Counting, Then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854A788C-9CD5-4514-B6AC-01E3619A15C6}" type="slidenum">
              <a:rPr lang="en-GB" sz="1000">
                <a:solidFill>
                  <a:srgbClr val="8795A1"/>
                </a:solidFill>
                <a:latin typeface="Segoe UI"/>
              </a:rPr>
              <a:t>39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Naive Bayes on PlayTennis, by counting</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712463"/>
          </a:xfrm>
          <a:prstGeom prst="roundRect">
            <a:avLst>
              <a:gd name="adj" fmla="val 24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code/ch10_naive_bayes_counting.py</a:t>
            </a:r>
          </a:p>
        </p:txBody>
      </p:sp>
      <p:sp>
        <p:nvSpPr>
          <p:cNvPr id="14" name="!!code-text" descr="# --- 1. naive Bayes on PlayTennis, by counting --------------------------- days = [(&quot;Sunny Hot High Weak&quot;, &quot;No&quot;), (&quot;Sunny Hot High Strong&quot;, &quot;No&quot;), (&quot;Overcast Hot High Weak&quot;, &quot;Yes&quot;), (&quot;Rain Mild High Weak&quot;, &quot;Yes&quot;), (&quot;Rain Cool Normal Weak&quot;, &quot;Yes&quot;), (&quot;Rain Cool Normal Strong&quot;, &quot;No&quot;), (&quot;Overcast Cool Normal Strong&quot;, &quot;Yes&quot;), (&quot;Sunny Mild High Weak&quot;, &quot;No&quot;), (&quot;Sunny Cool Normal Weak&quot;, &quot;Yes&quot;), (&quot;Rain Mild Normal Weak&quot;, &quot;Yes&quot;), (&quot;Sunny Mild Normal Strong&quot;, &quot;Yes&quot;), (&quot;Overcast Mild High Strong&quot;, &quot;Yes&quot;), (&quot;Overcast Hot Normal Weak&quot;, &quot;Yes&quot;), (&quot;Rain Mild High Strong&quot;, &quot;No&quot;)] X = [d.split() for d, _ in days] y = [c for _, c in days] n_values = [3, 3, 2, 2] # values per attribute"/>
          <p:cNvSpPr txBox="1"/>
          <p:nvPr/>
        </p:nvSpPr>
        <p:spPr>
          <a:xfrm>
            <a:off x="1362456" y="2523744"/>
            <a:ext cx="9987991" cy="3218687"/>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--- 1. naive Bayes on PlayTennis, by counting ---------------------------</a:t>
            </a:r>
          </a:p>
          <a:p>
            <a:pPr>
              <a:lnSpc>
                <a:spcPct val="100000"/>
              </a:lnSpc>
              <a:spcAft>
                <a:spcPts val="0"/>
              </a:spcAft>
            </a:pPr>
            <a:r>
              <a:rPr sz="1700" i="0">
                <a:solidFill>
                  <a:srgbClr val="E8EDF2"/>
                </a:solidFill>
                <a:latin typeface="Consolas"/>
              </a:rPr>
              <a:t>days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Sunny Hot High Weak</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No</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Sunny Hot High Strong</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No</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Overcast Hot High Weak</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Rain Mild High Weak</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Rain Cool Normal Weak</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Rain Cool Normal Strong</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No</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Overcast Cool Normal Strong</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Sunny Mild High Weak</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No</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Sunny Cool Normal Weak</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Rain Mild Normal Weak</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Sunny Mild Normal Strong</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Overcast Mild High Strong</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Overcast Hot Normal Weak</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Yes</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Rain Mild High Strong</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No</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X</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d</a:t>
            </a:r>
            <a:r>
              <a:rPr sz="1700" i="0">
                <a:solidFill>
                  <a:srgbClr val="AEB6BF"/>
                </a:solidFill>
                <a:latin typeface="Consolas"/>
              </a:rPr>
              <a:t>.</a:t>
            </a:r>
            <a:r>
              <a:rPr sz="1700" i="0">
                <a:solidFill>
                  <a:srgbClr val="E8EDF2"/>
                </a:solidFill>
                <a:latin typeface="Consolas"/>
              </a:rPr>
              <a:t>split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d</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_</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days</a:t>
            </a:r>
            <a:r>
              <a:rPr sz="1700" i="0">
                <a:solidFill>
                  <a:srgbClr val="AEB6BF"/>
                </a:solidFill>
                <a:latin typeface="Consolas"/>
              </a:rPr>
              <a:t>]</a:t>
            </a:r>
          </a:p>
          <a:p>
            <a:pPr>
              <a:lnSpc>
                <a:spcPct val="100000"/>
              </a:lnSpc>
              <a:spcAft>
                <a:spcPts val="0"/>
              </a:spcAft>
            </a:pPr>
            <a:r>
              <a:rPr sz="1700" i="0">
                <a:solidFill>
                  <a:srgbClr val="E8EDF2"/>
                </a:solidFill>
                <a:latin typeface="Consolas"/>
              </a:rPr>
              <a:t>y</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c</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_</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days</a:t>
            </a:r>
            <a:r>
              <a:rPr sz="1700" i="0">
                <a:solidFill>
                  <a:srgbClr val="AEB6BF"/>
                </a:solidFill>
                <a:latin typeface="Consolas"/>
              </a:rPr>
              <a:t>]</a:t>
            </a:r>
          </a:p>
          <a:p>
            <a:pPr>
              <a:lnSpc>
                <a:spcPct val="100000"/>
              </a:lnSpc>
              <a:spcAft>
                <a:spcPts val="0"/>
              </a:spcAft>
            </a:pPr>
            <a:r>
              <a:rPr sz="1700" i="0">
                <a:solidFill>
                  <a:srgbClr val="E8EDF2"/>
                </a:solidFill>
                <a:latin typeface="Consolas"/>
              </a:rPr>
              <a:t>n_values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3</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3</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2</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2</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values per attribute</a:t>
            </a:r>
          </a:p>
        </p:txBody>
      </p:sp>
      <p:sp>
        <p:nvSpPr>
          <p:cNvPr id="15" name="!!code-num"/>
          <p:cNvSpPr txBox="1"/>
          <p:nvPr/>
        </p:nvSpPr>
        <p:spPr>
          <a:xfrm>
            <a:off x="768096" y="2523744"/>
            <a:ext cx="393192" cy="3218687"/>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7</a:t>
            </a:r>
          </a:p>
          <a:p>
            <a:pPr algn="r">
              <a:lnSpc>
                <a:spcPct val="100000"/>
              </a:lnSpc>
            </a:pPr>
            <a:r>
              <a:rPr sz="1700">
                <a:solidFill>
                  <a:srgbClr val="4F5D6A"/>
                </a:solidFill>
                <a:latin typeface="Consolas"/>
              </a:rPr>
              <a:t>8</a:t>
            </a:r>
          </a:p>
          <a:p>
            <a:pPr algn="r">
              <a:lnSpc>
                <a:spcPct val="100000"/>
              </a:lnSpc>
            </a:pPr>
            <a:r>
              <a:rPr sz="1700">
                <a:solidFill>
                  <a:srgbClr val="4F5D6A"/>
                </a:solidFill>
                <a:latin typeface="Consolas"/>
              </a:rPr>
              <a:t>9</a:t>
            </a:r>
          </a:p>
          <a:p>
            <a:pPr algn="r">
              <a:lnSpc>
                <a:spcPct val="100000"/>
              </a:lnSpc>
            </a:pPr>
            <a:r>
              <a:rPr sz="1700">
                <a:solidFill>
                  <a:srgbClr val="4F5D6A"/>
                </a:solidFill>
                <a:latin typeface="Consolas"/>
              </a:rPr>
              <a:t>10</a:t>
            </a:r>
          </a:p>
          <a:p>
            <a:pPr algn="r">
              <a:lnSpc>
                <a:spcPct val="100000"/>
              </a:lnSpc>
            </a:pPr>
            <a:r>
              <a:rPr sz="1700">
                <a:solidFill>
                  <a:srgbClr val="4F5D6A"/>
                </a:solidFill>
                <a:latin typeface="Consolas"/>
              </a:rPr>
              <a:t>11</a:t>
            </a:r>
          </a:p>
          <a:p>
            <a:pPr algn="r">
              <a:lnSpc>
                <a:spcPct val="100000"/>
              </a:lnSpc>
            </a:pPr>
            <a:r>
              <a:rPr sz="1700">
                <a:solidFill>
                  <a:srgbClr val="4F5D6A"/>
                </a:solidFill>
                <a:latin typeface="Consolas"/>
              </a:rPr>
              <a:t>12</a:t>
            </a:r>
          </a:p>
          <a:p>
            <a:pPr algn="r">
              <a:lnSpc>
                <a:spcPct val="100000"/>
              </a:lnSpc>
            </a:pPr>
            <a:r>
              <a:rPr sz="1700">
                <a:solidFill>
                  <a:srgbClr val="4F5D6A"/>
                </a:solidFill>
                <a:latin typeface="Consolas"/>
              </a:rPr>
              <a:t>13</a:t>
            </a:r>
          </a:p>
          <a:p>
            <a:pPr algn="r">
              <a:lnSpc>
                <a:spcPct val="100000"/>
              </a:lnSpc>
            </a:pPr>
            <a:r>
              <a:rPr sz="1700">
                <a:solidFill>
                  <a:srgbClr val="4F5D6A"/>
                </a:solidFill>
                <a:latin typeface="Consolas"/>
              </a:rPr>
              <a:t>14</a:t>
            </a:r>
          </a:p>
          <a:p>
            <a:pPr algn="r">
              <a:lnSpc>
                <a:spcPct val="100000"/>
              </a:lnSpc>
            </a:pPr>
            <a:r>
              <a:rPr sz="1700">
                <a:solidFill>
                  <a:srgbClr val="4F5D6A"/>
                </a:solidFill>
                <a:latin typeface="Consolas"/>
              </a:rPr>
              <a:t>15</a:t>
            </a:r>
          </a:p>
          <a:p>
            <a:pPr algn="r">
              <a:lnSpc>
                <a:spcPct val="100000"/>
              </a:lnSpc>
            </a:pPr>
            <a:r>
              <a:rPr sz="1700">
                <a:solidFill>
                  <a:srgbClr val="4F5D6A"/>
                </a:solidFill>
                <a:latin typeface="Consolas"/>
              </a:rPr>
              <a:t>16</a:t>
            </a:r>
          </a:p>
          <a:p>
            <a:pPr algn="r">
              <a:lnSpc>
                <a:spcPct val="100000"/>
              </a:lnSpc>
            </a:pPr>
            <a:r>
              <a:rPr sz="1700">
                <a:solidFill>
                  <a:srgbClr val="4F5D6A"/>
                </a:solidFill>
                <a:latin typeface="Consolas"/>
              </a:rPr>
              <a:t>17</a:t>
            </a:r>
          </a:p>
          <a:p>
            <a:pPr algn="r">
              <a:lnSpc>
                <a:spcPct val="100000"/>
              </a:lnSpc>
            </a:pPr>
            <a:r>
              <a:rPr sz="1700">
                <a:solidFill>
                  <a:srgbClr val="4F5D6A"/>
                </a:solidFill>
                <a:latin typeface="Consolas"/>
              </a:rPr>
              <a:t>18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4502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Naive Bayes by Counting, Then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6D27C671-3986-4B58-B7F7-79A7C98F561B}" type="slidenum">
              <a:rPr lang="en-GB" sz="1000">
                <a:solidFill>
                  <a:srgbClr val="8795A1"/>
                </a:solidFill>
                <a:latin typeface="Segoe UI"/>
              </a:rPr>
              <a:t>40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Naive Bayes on PlayTennis, by counting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code/ch10_naive_bayes_counting.py</a:t>
            </a:r>
          </a:p>
        </p:txBody>
      </p:sp>
      <p:sp>
        <p:nvSpPr>
          <p:cNvPr id="14" name="!!code-text" descr="def naive_bayes(x, laplace=0): scores = {} for c in (&quot;Yes&quot;, &quot;No&quot;): rows = [r for r, lab in zip(X, y) if lab == c] p = len(rows) / len(X) # prior P(c) for j, v in enumerate(x): # P(x_j | c) count = sum(r[j] == v for r in rows) p *= (count + laplace) / (len(rows) + laplace * n_values[j]) scores[c] = p total = sum(scores.values()) return {c: round(s / total, 3) for c, s in scores.items()}, scores post, raw = naive_bayes([&quot;Sunny&quot;, &quot;Cool&quot;, &quot;High&quot;, &quot;Strong&quot;]) print(&quot;unnormalised:&quot;, {c: round(s, 5) for c, s in raw.items()}) print(&quot;posterior: &quot;, post) day = [&quot;Overcast&quot;, &quot;Hot&quot;, &quot;High&quot;, &quot;Strong&quot;] print(&quot;Overcast day, no smoothing:&quot;, naive_bayes(day)[1]) print(&quot;Overcast day, Laplace :&quot;, naive_bayes(day, laplace=1)[0])"/>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0">
                <a:solidFill>
                  <a:srgbClr val="5DADE2"/>
                </a:solidFill>
                <a:latin typeface="Consolas"/>
              </a:rPr>
              <a:t>def</a:t>
            </a:r>
            <a:r>
              <a:rPr sz="1200" i="0">
                <a:solidFill>
                  <a:srgbClr val="E8EDF2"/>
                </a:solidFill>
                <a:latin typeface="Consolas"/>
              </a:rPr>
              <a:t> </a:t>
            </a:r>
            <a:r>
              <a:rPr sz="1200" i="0">
                <a:solidFill>
                  <a:srgbClr val="C39BD3"/>
                </a:solidFill>
                <a:latin typeface="Consolas"/>
              </a:rPr>
              <a:t>naive_bayes</a:t>
            </a:r>
            <a:r>
              <a:rPr sz="1200" i="0">
                <a:solidFill>
                  <a:srgbClr val="AEB6BF"/>
                </a:solidFill>
                <a:latin typeface="Consolas"/>
              </a:rPr>
              <a:t>(</a:t>
            </a:r>
            <a:r>
              <a:rPr sz="1200" i="0">
                <a:solidFill>
                  <a:srgbClr val="E8EDF2"/>
                </a:solidFill>
                <a:latin typeface="Consolas"/>
              </a:rPr>
              <a:t>x</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laplace</a:t>
            </a:r>
            <a:r>
              <a:rPr sz="1200" i="0">
                <a:solidFill>
                  <a:srgbClr val="AEB6BF"/>
                </a:solidFill>
                <a:latin typeface="Consolas"/>
              </a:rPr>
              <a:t>=</a:t>
            </a:r>
            <a:r>
              <a:rPr sz="1200" i="0">
                <a:solidFill>
                  <a:srgbClr val="F7DC6F"/>
                </a:solidFill>
                <a:latin typeface="Consolas"/>
              </a:rPr>
              <a:t>0</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scores</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c</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Yes</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No</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rows</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r</a:t>
            </a: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r</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lab</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C39BD3"/>
                </a:solidFill>
                <a:latin typeface="Consolas"/>
              </a:rPr>
              <a:t>zip</a:t>
            </a:r>
            <a:r>
              <a:rPr sz="1200" i="0">
                <a:solidFill>
                  <a:srgbClr val="AEB6BF"/>
                </a:solidFill>
                <a:latin typeface="Consolas"/>
              </a:rPr>
              <a:t>(</a:t>
            </a:r>
            <a:r>
              <a:rPr sz="1200" i="0">
                <a:solidFill>
                  <a:srgbClr val="E8EDF2"/>
                </a:solidFill>
                <a:latin typeface="Consolas"/>
              </a:rPr>
              <a:t>X</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y</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lab</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c</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p</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len</a:t>
            </a:r>
            <a:r>
              <a:rPr sz="1200" i="0">
                <a:solidFill>
                  <a:srgbClr val="AEB6BF"/>
                </a:solidFill>
                <a:latin typeface="Consolas"/>
              </a:rPr>
              <a:t>(</a:t>
            </a:r>
            <a:r>
              <a:rPr sz="1200" i="0">
                <a:solidFill>
                  <a:srgbClr val="E8EDF2"/>
                </a:solidFill>
                <a:latin typeface="Consolas"/>
              </a:rPr>
              <a:t>rows</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len</a:t>
            </a:r>
            <a:r>
              <a:rPr sz="1200" i="0">
                <a:solidFill>
                  <a:srgbClr val="AEB6BF"/>
                </a:solidFill>
                <a:latin typeface="Consolas"/>
              </a:rPr>
              <a:t>(</a:t>
            </a:r>
            <a:r>
              <a:rPr sz="1200" i="0">
                <a:solidFill>
                  <a:srgbClr val="E8EDF2"/>
                </a:solidFill>
                <a:latin typeface="Consolas"/>
              </a:rPr>
              <a:t>X</a:t>
            </a:r>
            <a:r>
              <a:rPr sz="1200" i="0">
                <a:solidFill>
                  <a:srgbClr val="AEB6BF"/>
                </a:solidFill>
                <a:latin typeface="Consolas"/>
              </a:rPr>
              <a:t>)</a:t>
            </a:r>
            <a:r>
              <a:rPr sz="1200" i="0">
                <a:solidFill>
                  <a:srgbClr val="E8EDF2"/>
                </a:solidFill>
                <a:latin typeface="Consolas"/>
              </a:rPr>
              <a:t>                            </a:t>
            </a:r>
            <a:r>
              <a:rPr sz="1200" i="1">
                <a:solidFill>
                  <a:srgbClr val="8795A1"/>
                </a:solidFill>
                <a:latin typeface="Consolas"/>
              </a:rPr>
              <a:t># prior P(c)</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j</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v</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C39BD3"/>
                </a:solidFill>
                <a:latin typeface="Consolas"/>
              </a:rPr>
              <a:t>enumerate</a:t>
            </a:r>
            <a:r>
              <a:rPr sz="1200" i="0">
                <a:solidFill>
                  <a:srgbClr val="AEB6BF"/>
                </a:solidFill>
                <a:latin typeface="Consolas"/>
              </a:rPr>
              <a:t>(</a:t>
            </a:r>
            <a:r>
              <a:rPr sz="1200" i="0">
                <a:solidFill>
                  <a:srgbClr val="E8EDF2"/>
                </a:solidFill>
                <a:latin typeface="Consolas"/>
              </a:rPr>
              <a:t>x</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1">
                <a:solidFill>
                  <a:srgbClr val="8795A1"/>
                </a:solidFill>
                <a:latin typeface="Consolas"/>
              </a:rPr>
              <a:t># P(x_j | c)</a:t>
            </a:r>
          </a:p>
          <a:p>
            <a:pPr>
              <a:lnSpc>
                <a:spcPct val="100000"/>
              </a:lnSpc>
              <a:spcAft>
                <a:spcPts val="0"/>
              </a:spcAft>
            </a:pPr>
            <a:r>
              <a:rPr sz="1200" i="0">
                <a:solidFill>
                  <a:srgbClr val="E8EDF2"/>
                </a:solidFill>
                <a:latin typeface="Consolas"/>
              </a:rPr>
              <a:t>            </a:t>
            </a:r>
            <a:r>
              <a:rPr sz="1200" i="0">
                <a:solidFill>
                  <a:srgbClr val="E8EDF2"/>
                </a:solidFill>
                <a:latin typeface="Consolas"/>
              </a:rPr>
              <a:t>count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sum</a:t>
            </a:r>
            <a:r>
              <a:rPr sz="1200" i="0">
                <a:solidFill>
                  <a:srgbClr val="AEB6BF"/>
                </a:solidFill>
                <a:latin typeface="Consolas"/>
              </a:rPr>
              <a:t>(</a:t>
            </a:r>
            <a:r>
              <a:rPr sz="1200" i="0">
                <a:solidFill>
                  <a:srgbClr val="E8EDF2"/>
                </a:solidFill>
                <a:latin typeface="Consolas"/>
              </a:rPr>
              <a:t>r</a:t>
            </a:r>
            <a:r>
              <a:rPr sz="1200" i="0">
                <a:solidFill>
                  <a:srgbClr val="AEB6BF"/>
                </a:solidFill>
                <a:latin typeface="Consolas"/>
              </a:rPr>
              <a:t>[</a:t>
            </a:r>
            <a:r>
              <a:rPr sz="1200" i="0">
                <a:solidFill>
                  <a:srgbClr val="E8EDF2"/>
                </a:solidFill>
                <a:latin typeface="Consolas"/>
              </a:rPr>
              <a:t>j</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v</a:t>
            </a: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r</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rows</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p</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count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laplace</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C39BD3"/>
                </a:solidFill>
                <a:latin typeface="Consolas"/>
              </a:rPr>
              <a:t>len</a:t>
            </a:r>
            <a:r>
              <a:rPr sz="1200" i="0">
                <a:solidFill>
                  <a:srgbClr val="AEB6BF"/>
                </a:solidFill>
                <a:latin typeface="Consolas"/>
              </a:rPr>
              <a:t>(</a:t>
            </a:r>
            <a:r>
              <a:rPr sz="1200" i="0">
                <a:solidFill>
                  <a:srgbClr val="E8EDF2"/>
                </a:solidFill>
                <a:latin typeface="Consolas"/>
              </a:rPr>
              <a:t>rows</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laplace</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n_values</a:t>
            </a:r>
            <a:r>
              <a:rPr sz="1200" i="0">
                <a:solidFill>
                  <a:srgbClr val="AEB6BF"/>
                </a:solidFill>
                <a:latin typeface="Consolas"/>
              </a:rPr>
              <a:t>[</a:t>
            </a:r>
            <a:r>
              <a:rPr sz="1200" i="0">
                <a:solidFill>
                  <a:srgbClr val="E8EDF2"/>
                </a:solidFill>
                <a:latin typeface="Consolas"/>
              </a:rPr>
              <a:t>j</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scores</a:t>
            </a:r>
            <a:r>
              <a:rPr sz="1200" i="0">
                <a:solidFill>
                  <a:srgbClr val="AEB6BF"/>
                </a:solidFill>
                <a:latin typeface="Consolas"/>
              </a:rPr>
              <a:t>[</a:t>
            </a:r>
            <a:r>
              <a:rPr sz="1200" i="0">
                <a:solidFill>
                  <a:srgbClr val="E8EDF2"/>
                </a:solidFill>
                <a:latin typeface="Consolas"/>
              </a:rPr>
              <a:t>c</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a:t>
            </a:r>
          </a:p>
          <a:p>
            <a:pPr>
              <a:lnSpc>
                <a:spcPct val="100000"/>
              </a:lnSpc>
              <a:spcAft>
                <a:spcPts val="0"/>
              </a:spcAft>
            </a:pPr>
            <a:r>
              <a:rPr sz="1200" i="0">
                <a:solidFill>
                  <a:srgbClr val="E8EDF2"/>
                </a:solidFill>
                <a:latin typeface="Consolas"/>
              </a:rPr>
              <a:t>    </a:t>
            </a:r>
            <a:r>
              <a:rPr sz="1200" i="0">
                <a:solidFill>
                  <a:srgbClr val="E8EDF2"/>
                </a:solidFill>
                <a:latin typeface="Consolas"/>
              </a:rPr>
              <a:t>total</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sum</a:t>
            </a:r>
            <a:r>
              <a:rPr sz="1200" i="0">
                <a:solidFill>
                  <a:srgbClr val="AEB6BF"/>
                </a:solidFill>
                <a:latin typeface="Consolas"/>
              </a:rPr>
              <a:t>(</a:t>
            </a:r>
            <a:r>
              <a:rPr sz="1200" i="0">
                <a:solidFill>
                  <a:srgbClr val="E8EDF2"/>
                </a:solidFill>
                <a:latin typeface="Consolas"/>
              </a:rPr>
              <a:t>scores</a:t>
            </a:r>
            <a:r>
              <a:rPr sz="1200" i="0">
                <a:solidFill>
                  <a:srgbClr val="AEB6BF"/>
                </a:solidFill>
                <a:latin typeface="Consolas"/>
              </a:rPr>
              <a:t>.</a:t>
            </a:r>
            <a:r>
              <a:rPr sz="1200" i="0">
                <a:solidFill>
                  <a:srgbClr val="E8EDF2"/>
                </a:solidFill>
                <a:latin typeface="Consolas"/>
              </a:rPr>
              <a:t>values</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c</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round</a:t>
            </a:r>
            <a:r>
              <a:rPr sz="1200" i="0">
                <a:solidFill>
                  <a:srgbClr val="AEB6BF"/>
                </a:solidFill>
                <a:latin typeface="Consolas"/>
              </a:rPr>
              <a:t>(</a:t>
            </a:r>
            <a:r>
              <a:rPr sz="1200" i="0">
                <a:solidFill>
                  <a:srgbClr val="E8EDF2"/>
                </a:solidFill>
                <a:latin typeface="Consolas"/>
              </a:rPr>
              <a:t>s</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total</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3</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c</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scores</a:t>
            </a:r>
            <a:r>
              <a:rPr sz="1200" i="0">
                <a:solidFill>
                  <a:srgbClr val="AEB6BF"/>
                </a:solidFill>
                <a:latin typeface="Consolas"/>
              </a:rPr>
              <a:t>.</a:t>
            </a:r>
            <a:r>
              <a:rPr sz="1200" i="0">
                <a:solidFill>
                  <a:srgbClr val="E8EDF2"/>
                </a:solidFill>
                <a:latin typeface="Consolas"/>
              </a:rPr>
              <a:t>items</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scores</a:t>
            </a:r>
          </a:p>
          <a:p>
            <a:pPr>
              <a:lnSpc>
                <a:spcPct val="100000"/>
              </a:lnSpc>
              <a:spcAft>
                <a:spcPts val="0"/>
              </a:spcAft>
            </a:pPr>
            <a:r>
              <a:rPr sz="1200">
                <a:latin typeface="Consolas"/>
              </a:rPr>
              <a:t> </a:t>
            </a:r>
          </a:p>
          <a:p>
            <a:pPr>
              <a:lnSpc>
                <a:spcPct val="100000"/>
              </a:lnSpc>
              <a:spcAft>
                <a:spcPts val="0"/>
              </a:spcAft>
            </a:pPr>
            <a:r>
              <a:rPr sz="1200">
                <a:latin typeface="Consolas"/>
              </a:rPr>
              <a:t> </a:t>
            </a:r>
          </a:p>
          <a:p>
            <a:pPr>
              <a:lnSpc>
                <a:spcPct val="100000"/>
              </a:lnSpc>
              <a:spcAft>
                <a:spcPts val="0"/>
              </a:spcAft>
            </a:pPr>
            <a:r>
              <a:rPr sz="1200" i="0">
                <a:solidFill>
                  <a:srgbClr val="E8EDF2"/>
                </a:solidFill>
                <a:latin typeface="Consolas"/>
              </a:rPr>
              <a:t>post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raw</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naive_bayes</a:t>
            </a:r>
            <a:r>
              <a:rPr sz="1200" i="0">
                <a:solidFill>
                  <a:srgbClr val="AEB6BF"/>
                </a:solidFill>
                <a:latin typeface="Consolas"/>
              </a:rPr>
              <a: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Sunny</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Cool</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High</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Strong</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unnormalised:</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c</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round</a:t>
            </a:r>
            <a:r>
              <a:rPr sz="1200" i="0">
                <a:solidFill>
                  <a:srgbClr val="AEB6BF"/>
                </a:solidFill>
                <a:latin typeface="Consolas"/>
              </a:rPr>
              <a:t>(</a:t>
            </a:r>
            <a:r>
              <a:rPr sz="1200" i="0">
                <a:solidFill>
                  <a:srgbClr val="E8EDF2"/>
                </a:solidFill>
                <a:latin typeface="Consolas"/>
              </a:rPr>
              <a:t>s</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5</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c</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raw</a:t>
            </a:r>
            <a:r>
              <a:rPr sz="1200" i="0">
                <a:solidFill>
                  <a:srgbClr val="AEB6BF"/>
                </a:solidFill>
                <a:latin typeface="Consolas"/>
              </a:rPr>
              <a:t>.</a:t>
            </a:r>
            <a:r>
              <a:rPr sz="1200" i="0">
                <a:solidFill>
                  <a:srgbClr val="E8EDF2"/>
                </a:solidFill>
                <a:latin typeface="Consolas"/>
              </a:rPr>
              <a:t>items</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posterior:   </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post</a:t>
            </a:r>
            <a:r>
              <a:rPr sz="1200" i="0">
                <a:solidFill>
                  <a:srgbClr val="AEB6BF"/>
                </a:solidFill>
                <a:latin typeface="Consolas"/>
              </a:rPr>
              <a:t>)</a:t>
            </a:r>
          </a:p>
          <a:p>
            <a:pPr>
              <a:lnSpc>
                <a:spcPct val="100000"/>
              </a:lnSpc>
              <a:spcAft>
                <a:spcPts val="0"/>
              </a:spcAft>
            </a:pPr>
            <a:r>
              <a:rPr sz="1200" i="0">
                <a:solidFill>
                  <a:srgbClr val="E8EDF2"/>
                </a:solidFill>
                <a:latin typeface="Consolas"/>
              </a:rPr>
              <a:t>day</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Overcast</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Hot</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High</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Strong</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Overcast day, no smoothing:</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naive_bayes</a:t>
            </a:r>
            <a:r>
              <a:rPr sz="1200" i="0">
                <a:solidFill>
                  <a:srgbClr val="AEB6BF"/>
                </a:solidFill>
                <a:latin typeface="Consolas"/>
              </a:rPr>
              <a:t>(</a:t>
            </a:r>
            <a:r>
              <a:rPr sz="1200" i="0">
                <a:solidFill>
                  <a:srgbClr val="E8EDF2"/>
                </a:solidFill>
                <a:latin typeface="Consolas"/>
              </a:rPr>
              <a:t>day</a:t>
            </a:r>
            <a:r>
              <a:rPr sz="1200" i="0">
                <a:solidFill>
                  <a:srgbClr val="AEB6BF"/>
                </a:solidFill>
                <a:latin typeface="Consolas"/>
              </a:rPr>
              <a:t>)</a:t>
            </a:r>
            <a:r>
              <a:rPr sz="1200" i="0">
                <a:solidFill>
                  <a:srgbClr val="AEB6BF"/>
                </a:solidFill>
                <a:latin typeface="Consolas"/>
              </a:rPr>
              <a:t>[</a:t>
            </a:r>
            <a:r>
              <a:rPr sz="1200" i="0">
                <a:solidFill>
                  <a:srgbClr val="F7DC6F"/>
                </a:solidFill>
                <a:latin typeface="Consolas"/>
              </a:rPr>
              <a:t>1</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Overcast day, Laplace     :</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naive_bayes</a:t>
            </a:r>
            <a:r>
              <a:rPr sz="1200" i="0">
                <a:solidFill>
                  <a:srgbClr val="AEB6BF"/>
                </a:solidFill>
                <a:latin typeface="Consolas"/>
              </a:rPr>
              <a:t>(</a:t>
            </a:r>
            <a:r>
              <a:rPr sz="1200" i="0">
                <a:solidFill>
                  <a:srgbClr val="E8EDF2"/>
                </a:solidFill>
                <a:latin typeface="Consolas"/>
              </a:rPr>
              <a:t>day</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laplace</a:t>
            </a:r>
            <a:r>
              <a:rPr sz="1200" i="0">
                <a:solidFill>
                  <a:srgbClr val="AEB6BF"/>
                </a:solidFill>
                <a:latin typeface="Consolas"/>
              </a:rPr>
              <a:t>=</a:t>
            </a:r>
            <a:r>
              <a:rPr sz="1200" i="0">
                <a:solidFill>
                  <a:srgbClr val="F7DC6F"/>
                </a:solidFill>
                <a:latin typeface="Consolas"/>
              </a:rPr>
              <a:t>1</a:t>
            </a:r>
            <a:r>
              <a:rPr sz="1200" i="0">
                <a:solidFill>
                  <a:srgbClr val="AEB6BF"/>
                </a:solidFill>
                <a:latin typeface="Consolas"/>
              </a:rPr>
              <a:t>)</a:t>
            </a:r>
            <a:r>
              <a:rPr sz="1200" i="0">
                <a:solidFill>
                  <a:srgbClr val="AEB6BF"/>
                </a:solidFill>
                <a:latin typeface="Consolas"/>
              </a:rPr>
              <a:t>[</a:t>
            </a:r>
            <a:r>
              <a:rPr sz="1200" i="0">
                <a:solidFill>
                  <a:srgbClr val="F7DC6F"/>
                </a:solidFill>
                <a:latin typeface="Consolas"/>
              </a:rPr>
              <a:t>0</a:t>
            </a:r>
            <a:r>
              <a:rPr sz="1200" i="0">
                <a:solidFill>
                  <a:srgbClr val="AEB6BF"/>
                </a:solidFill>
                <a:latin typeface="Consolas"/>
              </a:rPr>
              <a:t>]</a:t>
            </a:r>
            <a:r>
              <a:rPr sz="12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21</a:t>
            </a:r>
          </a:p>
          <a:p>
            <a:pPr algn="r">
              <a:lnSpc>
                <a:spcPct val="100000"/>
              </a:lnSpc>
            </a:pPr>
            <a:r>
              <a:rPr sz="1200">
                <a:solidFill>
                  <a:srgbClr val="4F5D6A"/>
                </a:solidFill>
                <a:latin typeface="Consolas"/>
              </a:rPr>
              <a:t>22</a:t>
            </a:r>
          </a:p>
          <a:p>
            <a:pPr algn="r">
              <a:lnSpc>
                <a:spcPct val="100000"/>
              </a:lnSpc>
            </a:pPr>
            <a:r>
              <a:rPr sz="1200">
                <a:solidFill>
                  <a:srgbClr val="4F5D6A"/>
                </a:solidFill>
                <a:latin typeface="Consolas"/>
              </a:rPr>
              <a:t>23</a:t>
            </a:r>
          </a:p>
          <a:p>
            <a:pPr algn="r">
              <a:lnSpc>
                <a:spcPct val="100000"/>
              </a:lnSpc>
            </a:pPr>
            <a:r>
              <a:rPr sz="1200">
                <a:solidFill>
                  <a:srgbClr val="4F5D6A"/>
                </a:solidFill>
                <a:latin typeface="Consolas"/>
              </a:rPr>
              <a:t>24</a:t>
            </a:r>
          </a:p>
          <a:p>
            <a:pPr algn="r">
              <a:lnSpc>
                <a:spcPct val="100000"/>
              </a:lnSpc>
            </a:pPr>
            <a:r>
              <a:rPr sz="1200">
                <a:solidFill>
                  <a:srgbClr val="4F5D6A"/>
                </a:solidFill>
                <a:latin typeface="Consolas"/>
              </a:rPr>
              <a:t>25</a:t>
            </a:r>
          </a:p>
          <a:p>
            <a:pPr algn="r">
              <a:lnSpc>
                <a:spcPct val="100000"/>
              </a:lnSpc>
            </a:pPr>
            <a:r>
              <a:rPr sz="1200">
                <a:solidFill>
                  <a:srgbClr val="4F5D6A"/>
                </a:solidFill>
                <a:latin typeface="Consolas"/>
              </a:rPr>
              <a:t>26</a:t>
            </a:r>
          </a:p>
          <a:p>
            <a:pPr algn="r">
              <a:lnSpc>
                <a:spcPct val="100000"/>
              </a:lnSpc>
            </a:pPr>
            <a:r>
              <a:rPr sz="1200">
                <a:solidFill>
                  <a:srgbClr val="4F5D6A"/>
                </a:solidFill>
                <a:latin typeface="Consolas"/>
              </a:rPr>
              <a:t>27</a:t>
            </a:r>
          </a:p>
          <a:p>
            <a:pPr algn="r">
              <a:lnSpc>
                <a:spcPct val="100000"/>
              </a:lnSpc>
            </a:pPr>
            <a:r>
              <a:rPr sz="1200">
                <a:solidFill>
                  <a:srgbClr val="4F5D6A"/>
                </a:solidFill>
                <a:latin typeface="Consolas"/>
              </a:rPr>
              <a:t>28</a:t>
            </a:r>
          </a:p>
          <a:p>
            <a:pPr algn="r">
              <a:lnSpc>
                <a:spcPct val="100000"/>
              </a:lnSpc>
            </a:pPr>
            <a:r>
              <a:rPr sz="1200">
                <a:solidFill>
                  <a:srgbClr val="4F5D6A"/>
                </a:solidFill>
                <a:latin typeface="Consolas"/>
              </a:rPr>
              <a:t>29</a:t>
            </a:r>
          </a:p>
          <a:p>
            <a:pPr algn="r">
              <a:lnSpc>
                <a:spcPct val="100000"/>
              </a:lnSpc>
            </a:pPr>
            <a:r>
              <a:rPr sz="1200">
                <a:solidFill>
                  <a:srgbClr val="4F5D6A"/>
                </a:solidFill>
                <a:latin typeface="Consolas"/>
              </a:rPr>
              <a:t>30</a:t>
            </a:r>
          </a:p>
          <a:p>
            <a:pPr algn="r">
              <a:lnSpc>
                <a:spcPct val="100000"/>
              </a:lnSpc>
            </a:pPr>
            <a:r>
              <a:rPr sz="1200">
                <a:solidFill>
                  <a:srgbClr val="4F5D6A"/>
                </a:solidFill>
                <a:latin typeface="Consolas"/>
              </a:rPr>
              <a:t>31</a:t>
            </a:r>
          </a:p>
          <a:p>
            <a:pPr algn="r">
              <a:lnSpc>
                <a:spcPct val="100000"/>
              </a:lnSpc>
            </a:pPr>
            <a:r>
              <a:rPr sz="1200">
                <a:solidFill>
                  <a:srgbClr val="4F5D6A"/>
                </a:solidFill>
                <a:latin typeface="Consolas"/>
              </a:rPr>
              <a:t>32</a:t>
            </a:r>
          </a:p>
          <a:p>
            <a:pPr algn="r">
              <a:lnSpc>
                <a:spcPct val="100000"/>
              </a:lnSpc>
            </a:pPr>
            <a:r>
              <a:rPr sz="1200">
                <a:solidFill>
                  <a:srgbClr val="4F5D6A"/>
                </a:solidFill>
                <a:latin typeface="Consolas"/>
              </a:rPr>
              <a:t>33</a:t>
            </a:r>
          </a:p>
          <a:p>
            <a:pPr algn="r">
              <a:lnSpc>
                <a:spcPct val="100000"/>
              </a:lnSpc>
            </a:pPr>
            <a:r>
              <a:rPr sz="1200">
                <a:solidFill>
                  <a:srgbClr val="4F5D6A"/>
                </a:solidFill>
                <a:latin typeface="Consolas"/>
              </a:rPr>
              <a:t>34</a:t>
            </a:r>
          </a:p>
          <a:p>
            <a:pPr algn="r">
              <a:lnSpc>
                <a:spcPct val="100000"/>
              </a:lnSpc>
            </a:pPr>
            <a:r>
              <a:rPr sz="1200">
                <a:solidFill>
                  <a:srgbClr val="4F5D6A"/>
                </a:solidFill>
                <a:latin typeface="Consolas"/>
              </a:rPr>
              <a:t>35</a:t>
            </a:r>
          </a:p>
          <a:p>
            <a:pPr algn="r">
              <a:lnSpc>
                <a:spcPct val="100000"/>
              </a:lnSpc>
            </a:pPr>
            <a:r>
              <a:rPr sz="1200">
                <a:solidFill>
                  <a:srgbClr val="4F5D6A"/>
                </a:solidFill>
                <a:latin typeface="Consolas"/>
              </a:rPr>
              <a:t>36</a:t>
            </a:r>
          </a:p>
          <a:p>
            <a:pPr algn="r">
              <a:lnSpc>
                <a:spcPct val="100000"/>
              </a:lnSpc>
            </a:pPr>
            <a:r>
              <a:rPr sz="1200">
                <a:solidFill>
                  <a:srgbClr val="4F5D6A"/>
                </a:solidFill>
                <a:latin typeface="Consolas"/>
              </a:rPr>
              <a:t>37</a:t>
            </a:r>
          </a:p>
          <a:p>
            <a:pPr algn="r">
              <a:lnSpc>
                <a:spcPct val="100000"/>
              </a:lnSpc>
            </a:pPr>
            <a:r>
              <a:rPr sz="1200">
                <a:solidFill>
                  <a:srgbClr val="4F5D6A"/>
                </a:solidFill>
                <a:latin typeface="Consolas"/>
              </a:rPr>
              <a:t>38</a:t>
            </a:r>
          </a:p>
          <a:p>
            <a:pPr algn="r">
              <a:lnSpc>
                <a:spcPct val="100000"/>
              </a:lnSpc>
            </a:pPr>
            <a:r>
              <a:rPr sz="1200">
                <a:solidFill>
                  <a:srgbClr val="4F5D6A"/>
                </a:solidFill>
                <a:latin typeface="Consolas"/>
              </a:rPr>
              <a:t>39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6668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Naive Bayes by Counting, Then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32E01B5D-B830-4F5D-A8EF-355AA25017A7}" type="slidenum">
              <a:rPr lang="en-GB" sz="1000">
                <a:solidFill>
                  <a:srgbClr val="8795A1"/>
                </a:solidFill>
                <a:latin typeface="Segoe UI"/>
              </a:rPr>
              <a:t>41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Gaussian naive Bayes on 30 continuous measurements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700784"/>
          </a:xfrm>
          <a:prstGeom prst="roundRect">
            <a:avLst>
              <a:gd name="adj" fmla="val 53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code/ch10_naive_bayes_counting.py</a:t>
            </a:r>
          </a:p>
        </p:txBody>
      </p:sp>
      <p:sp>
        <p:nvSpPr>
          <p:cNvPr id="14" name="!!code-text" descr="# --- 2. Gaussian naive Bayes on 30 continuous measurements --------------- Xb, yb = load_breast_cancer(return_X_y=True) print(&quot;GaussianNB 5-fold accuracy:&quot;, cross_val_score(GaussianNB(), Xb, yb, cv=5).mean().round(3))"/>
          <p:cNvSpPr txBox="1"/>
          <p:nvPr/>
        </p:nvSpPr>
        <p:spPr>
          <a:xfrm>
            <a:off x="1362456" y="2523744"/>
            <a:ext cx="9987991" cy="120700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Gaussian naive Bayes on 30 continuous measurements ---------------</a:t>
            </a:r>
          </a:p>
          <a:p>
            <a:pPr>
              <a:lnSpc>
                <a:spcPct val="100000"/>
              </a:lnSpc>
              <a:spcAft>
                <a:spcPts val="0"/>
              </a:spcAft>
            </a:pPr>
            <a:r>
              <a:rPr sz="1800" i="0">
                <a:solidFill>
                  <a:srgbClr val="E8EDF2"/>
                </a:solidFill>
                <a:latin typeface="Consolas"/>
              </a:rPr>
              <a:t>Xb</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load_breast_cancer</a:t>
            </a:r>
            <a:r>
              <a:rPr sz="1800" i="0">
                <a:solidFill>
                  <a:srgbClr val="AEB6BF"/>
                </a:solidFill>
                <a:latin typeface="Consolas"/>
              </a:rPr>
              <a:t>(</a:t>
            </a:r>
            <a:r>
              <a:rPr sz="1800" i="0">
                <a:solidFill>
                  <a:srgbClr val="E8EDF2"/>
                </a:solidFill>
                <a:latin typeface="Consolas"/>
              </a:rPr>
              <a:t>return_X_y</a:t>
            </a:r>
            <a:r>
              <a:rPr sz="1800" i="0">
                <a:solidFill>
                  <a:srgbClr val="AEB6BF"/>
                </a:solidFill>
                <a:latin typeface="Consolas"/>
              </a:rPr>
              <a:t>=</a:t>
            </a:r>
            <a:r>
              <a:rPr sz="1800" i="0">
                <a:solidFill>
                  <a:srgbClr val="5DADE2"/>
                </a:solidFill>
                <a:latin typeface="Consolas"/>
              </a:rPr>
              <a:t>True</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GaussianNB 5-fold accuracy:</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cross_val_score</a:t>
            </a:r>
            <a:r>
              <a:rPr sz="1800" i="0">
                <a:solidFill>
                  <a:srgbClr val="AEB6BF"/>
                </a:solidFill>
                <a:latin typeface="Consolas"/>
              </a:rPr>
              <a:t>(</a:t>
            </a:r>
            <a:r>
              <a:rPr sz="1800" i="0">
                <a:solidFill>
                  <a:srgbClr val="E8EDF2"/>
                </a:solidFill>
                <a:latin typeface="Consolas"/>
              </a:rPr>
              <a:t>GaussianNB</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Xb</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yb</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cv</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120700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41</a:t>
            </a:r>
          </a:p>
          <a:p>
            <a:pPr algn="r">
              <a:lnSpc>
                <a:spcPct val="100000"/>
              </a:lnSpc>
            </a:pPr>
            <a:r>
              <a:rPr sz="1800">
                <a:solidFill>
                  <a:srgbClr val="4F5D6A"/>
                </a:solidFill>
                <a:latin typeface="Consolas"/>
              </a:rPr>
              <a:t>42</a:t>
            </a:r>
          </a:p>
          <a:p>
            <a:pPr algn="r">
              <a:lnSpc>
                <a:spcPct val="100000"/>
              </a:lnSpc>
            </a:pPr>
            <a:r>
              <a:rPr sz="1800">
                <a:solidFill>
                  <a:srgbClr val="4F5D6A"/>
                </a:solidFill>
                <a:latin typeface="Consolas"/>
              </a:rPr>
              <a:t>43</a:t>
            </a:r>
          </a:p>
          <a:p>
            <a:pPr algn="r">
              <a:lnSpc>
                <a:spcPct val="100000"/>
              </a:lnSpc>
            </a:pPr>
            <a:r>
              <a:rPr sz="1800">
                <a:solidFill>
                  <a:srgbClr val="4F5D6A"/>
                </a:solidFill>
                <a:latin typeface="Consolas"/>
              </a:rPr>
              <a:t>44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08835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Naive Bayes by Counting, Then by Library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0CA3E179-0D23-4DB3-B673-6811CB9A01D0}" type="slidenum">
              <a:rPr lang="en-GB" sz="1000">
                <a:solidFill>
                  <a:srgbClr val="8795A1"/>
                </a:solidFill>
                <a:latin typeface="Segoe UI"/>
              </a:rPr>
              <a:t>42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spam filter from twelve messages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code/ch10_naive_bayes_counting.py</a:t>
            </a:r>
          </a:p>
        </p:txBody>
      </p:sp>
      <p:sp>
        <p:nvSpPr>
          <p:cNvPr id="14" name="!!code-text" descr="# --- 3. a spam filter from twelve messages ------------------------------- msgs = [&quot;win a free prize now&quot;, &quot;free money win cash&quot;, &quot;claim your free gift&quot;, &quot;cheap loans win now&quot;, &quot;free entry win big&quot;, &quot;urgent cash prize claim&quot;, &quot;meeting moved to monday&quot;, &quot;please review the report&quot;, &quot;lunch meeting tomorrow&quot;, &quot;report due friday please&quot;, &quot;project meeting notes&quot;, &quot;draft report for review&quot;] labels = [1] * 6 + [0] * 6 # 1 = spam vec = CountVectorizer() nb = MultinomialNB(alpha=1.0).fit(vec.fit_transform(msgs), labels) for m in [&quot;free meeting free&quot;, &quot;report on the prize&quot;, &quot;win win win&quot;]: p = nb.predict_proba(vec.transform([m]))[0, 1] print(f&quot;{m!r:24s} P(spam) = {p:.3f}&quot;)"/>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--- 3. a spam filter from twelve messages -------------------------------</a:t>
            </a:r>
          </a:p>
          <a:p>
            <a:pPr>
              <a:lnSpc>
                <a:spcPct val="100000"/>
              </a:lnSpc>
              <a:spcAft>
                <a:spcPts val="0"/>
              </a:spcAft>
            </a:pPr>
            <a:r>
              <a:rPr sz="1700" i="0">
                <a:solidFill>
                  <a:srgbClr val="E8EDF2"/>
                </a:solidFill>
                <a:latin typeface="Consolas"/>
              </a:rPr>
              <a:t>msgs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win a free prize now</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free money win cash</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claim your free gift</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cheap loans win now</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free entry win big</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urgent cash prize claim</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meeting moved to monday</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please review the report</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lunch meeting tomorrow</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report due friday please</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project meeting notes</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draft report for review</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labels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1</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6</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6</a:t>
            </a:r>
            <a:r>
              <a:rPr sz="1700" i="0">
                <a:solidFill>
                  <a:srgbClr val="E8EDF2"/>
                </a:solidFill>
                <a:latin typeface="Consolas"/>
              </a:rPr>
              <a:t>                         </a:t>
            </a:r>
            <a:r>
              <a:rPr sz="1700" i="1">
                <a:solidFill>
                  <a:srgbClr val="8795A1"/>
                </a:solidFill>
                <a:latin typeface="Consolas"/>
              </a:rPr>
              <a:t># 1 = spam</a:t>
            </a:r>
          </a:p>
          <a:p>
            <a:pPr>
              <a:lnSpc>
                <a:spcPct val="100000"/>
              </a:lnSpc>
              <a:spcAft>
                <a:spcPts val="0"/>
              </a:spcAft>
            </a:pPr>
            <a:r>
              <a:rPr sz="1700" i="0">
                <a:solidFill>
                  <a:srgbClr val="E8EDF2"/>
                </a:solidFill>
                <a:latin typeface="Consolas"/>
              </a:rPr>
              <a:t>vec</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CountVectorizer</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nb</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MultinomialNB</a:t>
            </a:r>
            <a:r>
              <a:rPr sz="1700" i="0">
                <a:solidFill>
                  <a:srgbClr val="AEB6BF"/>
                </a:solidFill>
                <a:latin typeface="Consolas"/>
              </a:rPr>
              <a:t>(</a:t>
            </a:r>
            <a:r>
              <a:rPr sz="1700" i="0">
                <a:solidFill>
                  <a:srgbClr val="E8EDF2"/>
                </a:solidFill>
                <a:latin typeface="Consolas"/>
              </a:rPr>
              <a:t>alpha</a:t>
            </a:r>
            <a:r>
              <a:rPr sz="1700" i="0">
                <a:solidFill>
                  <a:srgbClr val="AEB6BF"/>
                </a:solidFill>
                <a:latin typeface="Consolas"/>
              </a:rPr>
              <a:t>=</a:t>
            </a:r>
            <a:r>
              <a:rPr sz="1700" i="0">
                <a:solidFill>
                  <a:srgbClr val="F7DC6F"/>
                </a:solidFill>
                <a:latin typeface="Consolas"/>
              </a:rPr>
              <a:t>1.0</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fit</a:t>
            </a:r>
            <a:r>
              <a:rPr sz="1700" i="0">
                <a:solidFill>
                  <a:srgbClr val="AEB6BF"/>
                </a:solidFill>
                <a:latin typeface="Consolas"/>
              </a:rPr>
              <a:t>(</a:t>
            </a:r>
            <a:r>
              <a:rPr sz="1700" i="0">
                <a:solidFill>
                  <a:srgbClr val="E8EDF2"/>
                </a:solidFill>
                <a:latin typeface="Consolas"/>
              </a:rPr>
              <a:t>vec</a:t>
            </a:r>
            <a:r>
              <a:rPr sz="1700" i="0">
                <a:solidFill>
                  <a:srgbClr val="AEB6BF"/>
                </a:solidFill>
                <a:latin typeface="Consolas"/>
              </a:rPr>
              <a:t>.</a:t>
            </a:r>
            <a:r>
              <a:rPr sz="1700" i="0">
                <a:solidFill>
                  <a:srgbClr val="E8EDF2"/>
                </a:solidFill>
                <a:latin typeface="Consolas"/>
              </a:rPr>
              <a:t>fit_transform</a:t>
            </a:r>
            <a:r>
              <a:rPr sz="1700" i="0">
                <a:solidFill>
                  <a:srgbClr val="AEB6BF"/>
                </a:solidFill>
                <a:latin typeface="Consolas"/>
              </a:rPr>
              <a:t>(</a:t>
            </a:r>
            <a:r>
              <a:rPr sz="1700" i="0">
                <a:solidFill>
                  <a:srgbClr val="E8EDF2"/>
                </a:solidFill>
                <a:latin typeface="Consolas"/>
              </a:rPr>
              <a:t>msgs</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labels</a:t>
            </a:r>
            <a:r>
              <a:rPr sz="1700" i="0">
                <a:solidFill>
                  <a:srgbClr val="AEB6BF"/>
                </a:solidFill>
                <a:latin typeface="Consolas"/>
              </a:rPr>
              <a:t>)</a:t>
            </a:r>
          </a:p>
          <a:p>
            <a:pPr>
              <a:lnSpc>
                <a:spcPct val="100000"/>
              </a:lnSpc>
              <a:spcAft>
                <a:spcPts val="0"/>
              </a:spcAft>
            </a:pP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m</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free meeting free</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report on the prize</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win win win</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p</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nb</a:t>
            </a:r>
            <a:r>
              <a:rPr sz="1700" i="0">
                <a:solidFill>
                  <a:srgbClr val="AEB6BF"/>
                </a:solidFill>
                <a:latin typeface="Consolas"/>
              </a:rPr>
              <a:t>.</a:t>
            </a:r>
            <a:r>
              <a:rPr sz="1700" i="0">
                <a:solidFill>
                  <a:srgbClr val="E8EDF2"/>
                </a:solidFill>
                <a:latin typeface="Consolas"/>
              </a:rPr>
              <a:t>predict_proba</a:t>
            </a:r>
            <a:r>
              <a:rPr sz="1700" i="0">
                <a:solidFill>
                  <a:srgbClr val="AEB6BF"/>
                </a:solidFill>
                <a:latin typeface="Consolas"/>
              </a:rPr>
              <a:t>(</a:t>
            </a:r>
            <a:r>
              <a:rPr sz="1700" i="0">
                <a:solidFill>
                  <a:srgbClr val="E8EDF2"/>
                </a:solidFill>
                <a:latin typeface="Consolas"/>
              </a:rPr>
              <a:t>vec</a:t>
            </a:r>
            <a:r>
              <a:rPr sz="1700" i="0">
                <a:solidFill>
                  <a:srgbClr val="AEB6BF"/>
                </a:solidFill>
                <a:latin typeface="Consolas"/>
              </a:rPr>
              <a:t>.</a:t>
            </a:r>
            <a:r>
              <a:rPr sz="1700" i="0">
                <a:solidFill>
                  <a:srgbClr val="E8EDF2"/>
                </a:solidFill>
                <a:latin typeface="Consolas"/>
              </a:rPr>
              <a:t>transform</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m</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a:t>
            </a:r>
            <a:r>
              <a:rPr sz="1700" i="0">
                <a:solidFill>
                  <a:srgbClr val="E8EDF2"/>
                </a:solidFill>
                <a:latin typeface="Consolas"/>
              </a:rPr>
              <a:t>m</a:t>
            </a:r>
            <a:r>
              <a:rPr sz="1700" i="0">
                <a:solidFill>
                  <a:srgbClr val="7DCEA0"/>
                </a:solidFill>
                <a:latin typeface="Consolas"/>
              </a:rPr>
              <a:t>!r:</a:t>
            </a:r>
            <a:r>
              <a:rPr sz="1700" i="0">
                <a:solidFill>
                  <a:srgbClr val="7DCEA0"/>
                </a:solidFill>
                <a:latin typeface="Consolas"/>
              </a:rPr>
              <a:t>24s</a:t>
            </a:r>
            <a:r>
              <a:rPr sz="1700" i="0">
                <a:solidFill>
                  <a:srgbClr val="7DCEA0"/>
                </a:solidFill>
                <a:latin typeface="Consolas"/>
              </a:rPr>
              <a:t>}</a:t>
            </a:r>
            <a:r>
              <a:rPr sz="1700" i="0">
                <a:solidFill>
                  <a:srgbClr val="7DCEA0"/>
                </a:solidFill>
                <a:latin typeface="Consolas"/>
              </a:rPr>
              <a:t> P(spam) = </a:t>
            </a:r>
            <a:r>
              <a:rPr sz="1700" i="0">
                <a:solidFill>
                  <a:srgbClr val="7DCEA0"/>
                </a:solidFill>
                <a:latin typeface="Consolas"/>
              </a:rPr>
              <a:t>{</a:t>
            </a:r>
            <a:r>
              <a:rPr sz="1700" i="0">
                <a:solidFill>
                  <a:srgbClr val="E8EDF2"/>
                </a:solidFill>
                <a:latin typeface="Consolas"/>
              </a:rPr>
              <a:t>p</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46</a:t>
            </a:r>
          </a:p>
          <a:p>
            <a:pPr algn="r">
              <a:lnSpc>
                <a:spcPct val="100000"/>
              </a:lnSpc>
            </a:pPr>
            <a:r>
              <a:rPr sz="1700">
                <a:solidFill>
                  <a:srgbClr val="4F5D6A"/>
                </a:solidFill>
                <a:latin typeface="Consolas"/>
              </a:rPr>
              <a:t>47</a:t>
            </a:r>
          </a:p>
          <a:p>
            <a:pPr algn="r">
              <a:lnSpc>
                <a:spcPct val="100000"/>
              </a:lnSpc>
            </a:pPr>
            <a:r>
              <a:rPr sz="1700">
                <a:solidFill>
                  <a:srgbClr val="4F5D6A"/>
                </a:solidFill>
                <a:latin typeface="Consolas"/>
              </a:rPr>
              <a:t>48</a:t>
            </a:r>
          </a:p>
          <a:p>
            <a:pPr algn="r">
              <a:lnSpc>
                <a:spcPct val="100000"/>
              </a:lnSpc>
            </a:pPr>
            <a:r>
              <a:rPr sz="1700">
                <a:solidFill>
                  <a:srgbClr val="4F5D6A"/>
                </a:solidFill>
                <a:latin typeface="Consolas"/>
              </a:rPr>
              <a:t>49</a:t>
            </a:r>
          </a:p>
          <a:p>
            <a:pPr algn="r">
              <a:lnSpc>
                <a:spcPct val="100000"/>
              </a:lnSpc>
            </a:pPr>
            <a:r>
              <a:rPr sz="1700">
                <a:solidFill>
                  <a:srgbClr val="4F5D6A"/>
                </a:solidFill>
                <a:latin typeface="Consolas"/>
              </a:rPr>
              <a:t>50</a:t>
            </a:r>
          </a:p>
          <a:p>
            <a:pPr algn="r">
              <a:lnSpc>
                <a:spcPct val="100000"/>
              </a:lnSpc>
            </a:pPr>
            <a:r>
              <a:rPr sz="1700">
                <a:solidFill>
                  <a:srgbClr val="4F5D6A"/>
                </a:solidFill>
                <a:latin typeface="Consolas"/>
              </a:rPr>
              <a:t>51</a:t>
            </a:r>
          </a:p>
          <a:p>
            <a:pPr algn="r">
              <a:lnSpc>
                <a:spcPct val="100000"/>
              </a:lnSpc>
            </a:pPr>
            <a:r>
              <a:rPr sz="1700">
                <a:solidFill>
                  <a:srgbClr val="4F5D6A"/>
                </a:solidFill>
                <a:latin typeface="Consolas"/>
              </a:rPr>
              <a:t>52</a:t>
            </a:r>
          </a:p>
          <a:p>
            <a:pPr algn="r">
              <a:lnSpc>
                <a:spcPct val="100000"/>
              </a:lnSpc>
            </a:pPr>
            <a:r>
              <a:rPr sz="1700">
                <a:solidFill>
                  <a:srgbClr val="4F5D6A"/>
                </a:solidFill>
                <a:latin typeface="Consolas"/>
              </a:rPr>
              <a:t>53</a:t>
            </a:r>
          </a:p>
          <a:p>
            <a:pPr algn="r">
              <a:lnSpc>
                <a:spcPct val="100000"/>
              </a:lnSpc>
            </a:pPr>
            <a:r>
              <a:rPr sz="1700">
                <a:solidFill>
                  <a:srgbClr val="4F5D6A"/>
                </a:solidFill>
                <a:latin typeface="Consolas"/>
              </a:rPr>
              <a:t>54</a:t>
            </a:r>
          </a:p>
          <a:p>
            <a:pPr algn="r">
              <a:lnSpc>
                <a:spcPct val="100000"/>
              </a:lnSpc>
            </a:pPr>
            <a:r>
              <a:rPr sz="1700">
                <a:solidFill>
                  <a:srgbClr val="4F5D6A"/>
                </a:solidFill>
                <a:latin typeface="Consolas"/>
              </a:rPr>
              <a:t>55</a:t>
            </a:r>
          </a:p>
          <a:p>
            <a:pPr algn="r">
              <a:lnSpc>
                <a:spcPct val="100000"/>
              </a:lnSpc>
            </a:pPr>
            <a:r>
              <a:rPr sz="1700">
                <a:solidFill>
                  <a:srgbClr val="4F5D6A"/>
                </a:solidFill>
                <a:latin typeface="Consolas"/>
              </a:rPr>
              <a:t>56</a:t>
            </a:r>
          </a:p>
          <a:p>
            <a:pPr algn="r">
              <a:lnSpc>
                <a:spcPct val="100000"/>
              </a:lnSpc>
            </a:pPr>
            <a:r>
              <a:rPr sz="1700">
                <a:solidFill>
                  <a:srgbClr val="4F5D6A"/>
                </a:solidFill>
                <a:latin typeface="Consolas"/>
              </a:rPr>
              <a:t>57</a:t>
            </a:r>
          </a:p>
          <a:p>
            <a:pPr algn="r">
              <a:lnSpc>
                <a:spcPct val="100000"/>
              </a:lnSpc>
            </a:pPr>
            <a:r>
              <a:rPr sz="1700">
                <a:solidFill>
                  <a:srgbClr val="4F5D6A"/>
                </a:solidFill>
                <a:latin typeface="Consolas"/>
              </a:rPr>
              <a:t>58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3100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§10.7  ·  Handout p. 81     </a:t>
            </a:r>
            <a:fld id="{10469ED0-D81D-4642-9A34-1EE6CA064AEB}" type="slidenum">
              <a:rPr lang="en-GB" sz="1000">
                <a:solidFill>
                  <a:srgbClr val="8795A1"/>
                </a:solidFill>
                <a:latin typeface="Segoe UI"/>
              </a:rPr>
              <a:t>43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350873"/>
          </a:xfrm>
          <a:prstGeom prst="roundRect">
            <a:avLst>
              <a:gd name="adj" fmla="val 6768"/>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35087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Part 1 reproduces both worked examples. In part 3, </a:t>
            </a:r>
            <a:r>
              <a:rPr sz="2150" b="0" i="0">
                <a:solidFill>
                  <a:srgbClr val="1F4E79"/>
                </a:solidFill>
                <a:latin typeface="Consolas"/>
              </a:rPr>
              <a:t>alpha</a:t>
            </a:r>
            <a:r>
              <a:rPr sz="2300" b="0" i="0">
                <a:solidFill>
                  <a:srgbClr val="1C252B"/>
                </a:solidFill>
                <a:latin typeface="Segoe UI"/>
              </a:rPr>
              <a:t> is the smoothing constant: set it to </a:t>
            </a:r>
            <a:r>
              <a:rPr sz="2150" b="0" i="0">
                <a:solidFill>
                  <a:srgbClr val="1F4E79"/>
                </a:solidFill>
                <a:latin typeface="Consolas"/>
              </a:rPr>
              <a:t>1e-9</a:t>
            </a:r>
            <a:r>
              <a:rPr sz="2300" b="0" i="0">
                <a:solidFill>
                  <a:srgbClr val="1C252B"/>
                </a:solidFill>
                <a:latin typeface="Segoe UI"/>
              </a:rPr>
              <a:t> and classify “report on the prize” again.</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53168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disease has prior 1%. A test has </a:t>
            </a:r>
            <a:r>
              <a:rPr sz="3400" b="0" i="1">
                <a:solidFill>
                  <a:srgbClr val="FFFFFF"/>
                </a:solidFill>
                <a:latin typeface="Cambria"/>
              </a:rPr>
              <a:t>P</a:t>
            </a:r>
            <a:r>
              <a:rPr sz="3400" b="0" i="0">
                <a:solidFill>
                  <a:srgbClr val="FFFFFF"/>
                </a:solidFill>
                <a:latin typeface="Cambria"/>
              </a:rPr>
              <a:t>(+ ∣ </a:t>
            </a:r>
            <a:r>
              <a:rPr sz="3400" b="0" i="0">
                <a:solidFill>
                  <a:srgbClr val="FFFFFF"/>
                </a:solidFill>
                <a:latin typeface="Segoe UI Semibold"/>
              </a:rPr>
              <a:t>disease</a:t>
            </a:r>
            <a:r>
              <a:rPr sz="3400" b="0" i="0">
                <a:solidFill>
                  <a:srgbClr val="FFFFFF"/>
                </a:solidFill>
                <a:latin typeface="Cambria"/>
              </a:rPr>
              <a:t>) = 0.9</a:t>
            </a:r>
            <a:r>
              <a:rPr sz="3400" b="0" i="0">
                <a:solidFill>
                  <a:srgbClr val="FFFFFF"/>
                </a:solidFill>
                <a:latin typeface="Segoe UI Semibold"/>
              </a:rPr>
              <a:t> and </a:t>
            </a:r>
            <a:r>
              <a:rPr sz="3400" b="0" i="1">
                <a:solidFill>
                  <a:srgbClr val="FFFFFF"/>
                </a:solidFill>
                <a:latin typeface="Cambria"/>
              </a:rPr>
              <a:t>P</a:t>
            </a:r>
            <a:r>
              <a:rPr sz="3400" b="0" i="0">
                <a:solidFill>
                  <a:srgbClr val="FFFFFF"/>
                </a:solidFill>
                <a:latin typeface="Cambria"/>
              </a:rPr>
              <a:t>(+ ∣ </a:t>
            </a:r>
            <a:r>
              <a:rPr sz="3400" b="0" i="0">
                <a:solidFill>
                  <a:srgbClr val="FFFFFF"/>
                </a:solidFill>
                <a:latin typeface="Segoe UI Semibold"/>
              </a:rPr>
              <a:t>healthy</a:t>
            </a:r>
            <a:r>
              <a:rPr sz="3400" b="0" i="0">
                <a:solidFill>
                  <a:srgbClr val="FFFFFF"/>
                </a:solidFill>
                <a:latin typeface="Cambria"/>
              </a:rPr>
              <a:t>) = 0.05</a:t>
            </a:r>
            <a:r>
              <a:rPr sz="3400" b="0" i="0">
                <a:solidFill>
                  <a:srgbClr val="FFFFFF"/>
                </a:solidFill>
                <a:latin typeface="Segoe UI Semibold"/>
              </a:rPr>
              <a:t>. Give </a:t>
            </a:r>
            <a:r>
              <a:rPr sz="3400" b="0" i="1">
                <a:solidFill>
                  <a:srgbClr val="FFFFFF"/>
                </a:solidFill>
                <a:latin typeface="Cambria"/>
              </a:rPr>
              <a:t>h</a:t>
            </a:r>
            <a:r>
              <a:rPr sz="3400" b="0" i="1" baseline="-25000">
                <a:solidFill>
                  <a:srgbClr val="FFFFFF"/>
                </a:solidFill>
                <a:latin typeface="Cambria"/>
              </a:rPr>
              <a:t>MAP</a:t>
            </a:r>
            <a:r>
              <a:rPr sz="3400" b="0" i="0">
                <a:solidFill>
                  <a:srgbClr val="FFFFFF"/>
                </a:solidFill>
                <a:latin typeface="Segoe UI Semibold"/>
              </a:rPr>
              <a:t> and </a:t>
            </a:r>
            <a:r>
              <a:rPr sz="3400" b="0" i="1">
                <a:solidFill>
                  <a:srgbClr val="FFFFFF"/>
                </a:solidFill>
                <a:latin typeface="Cambria"/>
              </a:rPr>
              <a:t>h</a:t>
            </a:r>
            <a:r>
              <a:rPr sz="3400" b="0" i="1" baseline="-25000">
                <a:solidFill>
                  <a:srgbClr val="FFFFFF"/>
                </a:solidFill>
                <a:latin typeface="Cambria"/>
              </a:rPr>
              <a:t>ML</a:t>
            </a:r>
            <a:r>
              <a:rPr sz="3400" b="0" i="0">
                <a:solidFill>
                  <a:srgbClr val="FFFFFF"/>
                </a:solidFill>
                <a:latin typeface="Segoe UI Semibold"/>
              </a:rPr>
              <a:t> after a positive test.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10  ·  Bayesian Learning and Naive Bayes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84  ·  answers in Appendix D     </a:t>
            </a:r>
            <a:fld id="{21153D3E-D116-43B6-95A8-FEE96F5311B4}" type="slidenum">
              <a:rPr lang="en-GB" sz="1000">
                <a:solidFill>
                  <a:srgbClr val="D5DEE5"/>
                </a:solidFill>
                <a:latin typeface="Segoe UI"/>
              </a:rPr>
              <a:t>44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disease has prior 1%. A test has </a:t>
            </a:r>
            <a:r>
              <a:rPr sz="2400" b="0" i="1">
                <a:solidFill>
                  <a:srgbClr val="1A5276"/>
                </a:solidFill>
                <a:latin typeface="Cambria"/>
              </a:rPr>
              <a:t>P</a:t>
            </a:r>
            <a:r>
              <a:rPr sz="2400" b="0" i="0">
                <a:solidFill>
                  <a:srgbClr val="1A5276"/>
                </a:solidFill>
                <a:latin typeface="Cambria"/>
              </a:rPr>
              <a:t>(+ ∣ </a:t>
            </a:r>
            <a:r>
              <a:rPr sz="2400" b="0" i="0">
                <a:solidFill>
                  <a:srgbClr val="1A5276"/>
                </a:solidFill>
                <a:latin typeface="Segoe UI Semibold"/>
              </a:rPr>
              <a:t>disease</a:t>
            </a:r>
            <a:r>
              <a:rPr sz="2400" b="0" i="0">
                <a:solidFill>
                  <a:srgbClr val="1A5276"/>
                </a:solidFill>
                <a:latin typeface="Cambria"/>
              </a:rPr>
              <a:t>) = 0.9</a:t>
            </a:r>
            <a:r>
              <a:rPr sz="2400" b="0" i="0">
                <a:solidFill>
                  <a:srgbClr val="1A5276"/>
                </a:solidFill>
                <a:latin typeface="Segoe UI Semibold"/>
              </a:rPr>
              <a:t> and </a:t>
            </a:r>
            <a:r>
              <a:rPr sz="2400" b="0" i="1">
                <a:solidFill>
                  <a:srgbClr val="1A5276"/>
                </a:solidFill>
                <a:latin typeface="Cambria"/>
              </a:rPr>
              <a:t>P</a:t>
            </a:r>
            <a:r>
              <a:rPr sz="2400" b="0" i="0">
                <a:solidFill>
                  <a:srgbClr val="1A5276"/>
                </a:solidFill>
                <a:latin typeface="Cambria"/>
              </a:rPr>
              <a:t>(+ ∣ </a:t>
            </a:r>
            <a:r>
              <a:rPr sz="2400" b="0" i="0">
                <a:solidFill>
                  <a:srgbClr val="1A5276"/>
                </a:solidFill>
                <a:latin typeface="Segoe UI Semibold"/>
              </a:rPr>
              <a:t>healthy</a:t>
            </a:r>
            <a:r>
              <a:rPr sz="2400" b="0" i="0">
                <a:solidFill>
                  <a:srgbClr val="1A5276"/>
                </a:solidFill>
                <a:latin typeface="Cambria"/>
              </a:rPr>
              <a:t>) = 0.05</a:t>
            </a:r>
            <a:r>
              <a:rPr sz="2400" b="0" i="0">
                <a:solidFill>
                  <a:srgbClr val="1A5276"/>
                </a:solidFill>
                <a:latin typeface="Segoe UI Semibold"/>
              </a:rPr>
              <a:t>. Give </a:t>
            </a:r>
            <a:r>
              <a:rPr sz="2400" b="0" i="1">
                <a:solidFill>
                  <a:srgbClr val="1A5276"/>
                </a:solidFill>
                <a:latin typeface="Cambria"/>
              </a:rPr>
              <a:t>h</a:t>
            </a:r>
            <a:r>
              <a:rPr sz="2400" b="0" i="1" baseline="-25000">
                <a:solidFill>
                  <a:srgbClr val="1A5276"/>
                </a:solidFill>
                <a:latin typeface="Cambria"/>
              </a:rPr>
              <a:t>MAP</a:t>
            </a:r>
            <a:r>
              <a:rPr sz="2400" b="0" i="0">
                <a:solidFill>
                  <a:srgbClr val="1A5276"/>
                </a:solidFill>
                <a:latin typeface="Segoe UI Semibold"/>
              </a:rPr>
              <a:t> and </a:t>
            </a:r>
            <a:r>
              <a:rPr sz="2400" b="0" i="1">
                <a:solidFill>
                  <a:srgbClr val="1A5276"/>
                </a:solidFill>
                <a:latin typeface="Cambria"/>
              </a:rPr>
              <a:t>h</a:t>
            </a:r>
            <a:r>
              <a:rPr sz="2400" b="0" i="1" baseline="-25000">
                <a:solidFill>
                  <a:srgbClr val="1A5276"/>
                </a:solidFill>
                <a:latin typeface="Cambria"/>
              </a:rPr>
              <a:t>ML</a:t>
            </a:r>
            <a:r>
              <a:rPr sz="2400" b="0" i="0">
                <a:solidFill>
                  <a:srgbClr val="1A5276"/>
                </a:solidFill>
                <a:latin typeface="Segoe UI Semibold"/>
              </a:rPr>
              <a:t> after a positive test.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Disease: </a:t>
            </a:r>
            <a:r>
              <a:rPr sz="2200" b="0" i="0">
                <a:solidFill>
                  <a:srgbClr val="1C252B"/>
                </a:solidFill>
                <a:latin typeface="Cambria"/>
              </a:rPr>
              <a:t>0.9 × 0.01 = 0.009</a:t>
            </a:r>
            <a:r>
              <a:rPr sz="2200" b="0" i="0">
                <a:solidFill>
                  <a:srgbClr val="1C252B"/>
                </a:solidFill>
                <a:latin typeface="Segoe UI"/>
              </a:rPr>
              <a:t>; healthy: </a:t>
            </a:r>
            <a:r>
              <a:rPr sz="2200" b="0" i="0">
                <a:solidFill>
                  <a:srgbClr val="1C252B"/>
                </a:solidFill>
                <a:latin typeface="Cambria"/>
              </a:rPr>
              <a:t>0.05 × 0.99 = 0.0495</a:t>
            </a:r>
            <a:r>
              <a:rPr sz="2200" b="0" i="0">
                <a:solidFill>
                  <a:srgbClr val="1C252B"/>
                </a:solidFill>
                <a:latin typeface="Segoe UI"/>
              </a:rPr>
              <a:t>. So </a:t>
            </a:r>
            <a:r>
              <a:rPr sz="2200" b="0" i="1">
                <a:solidFill>
                  <a:srgbClr val="1C252B"/>
                </a:solidFill>
                <a:latin typeface="Cambria"/>
              </a:rPr>
              <a:t>h</a:t>
            </a:r>
            <a:r>
              <a:rPr sz="2200" b="0" i="1" baseline="-25000">
                <a:solidFill>
                  <a:srgbClr val="1C252B"/>
                </a:solidFill>
                <a:latin typeface="Cambria"/>
              </a:rPr>
              <a:t>MAP</a:t>
            </a:r>
            <a:r>
              <a:rPr sz="2200" b="0" i="0">
                <a:solidFill>
                  <a:srgbClr val="1C252B"/>
                </a:solidFill>
                <a:latin typeface="Segoe UI"/>
              </a:rPr>
              <a:t> is </a:t>
            </a:r>
            <a:r>
              <a:rPr sz="2200" b="0" i="1">
                <a:solidFill>
                  <a:srgbClr val="1C252B"/>
                </a:solidFill>
                <a:latin typeface="Segoe UI"/>
              </a:rPr>
              <a:t>healthy</a:t>
            </a:r>
            <a:r>
              <a:rPr sz="2200" b="0" i="0">
                <a:solidFill>
                  <a:srgbClr val="1C252B"/>
                </a:solidFill>
                <a:latin typeface="Segoe UI"/>
              </a:rPr>
              <a:t>; </a:t>
            </a:r>
            <a:r>
              <a:rPr sz="2200" b="0" i="1">
                <a:solidFill>
                  <a:srgbClr val="1C252B"/>
                </a:solidFill>
                <a:latin typeface="Cambria"/>
              </a:rPr>
              <a:t>h</a:t>
            </a:r>
            <a:r>
              <a:rPr sz="2200" b="0" i="1" baseline="-25000">
                <a:solidFill>
                  <a:srgbClr val="1C252B"/>
                </a:solidFill>
                <a:latin typeface="Cambria"/>
              </a:rPr>
              <a:t>ML</a:t>
            </a:r>
            <a:r>
              <a:rPr sz="2200" b="0" i="0">
                <a:solidFill>
                  <a:srgbClr val="1C252B"/>
                </a:solidFill>
                <a:latin typeface="Segoe UI"/>
              </a:rPr>
              <a:t> is </a:t>
            </a:r>
            <a:r>
              <a:rPr sz="2200" b="0" i="1">
                <a:solidFill>
                  <a:srgbClr val="1C252B"/>
                </a:solidFill>
                <a:latin typeface="Segoe UI"/>
              </a:rPr>
              <a:t>disease</a:t>
            </a:r>
            <a:r>
              <a:rPr sz="2200" b="0" i="0">
                <a:solidFill>
                  <a:srgbClr val="1C252B"/>
                </a:solidFill>
                <a:latin typeface="Segoe UI"/>
              </a:rPr>
              <a:t> (</a:t>
            </a:r>
            <a:r>
              <a:rPr sz="2200" b="0" i="0">
                <a:solidFill>
                  <a:srgbClr val="1C252B"/>
                </a:solidFill>
                <a:latin typeface="Cambria"/>
              </a:rPr>
              <a:t>0.9 &gt; 0.05</a:t>
            </a:r>
            <a:r>
              <a:rPr sz="2200" b="0" i="0">
                <a:solidFill>
                  <a:srgbClr val="1C252B"/>
                </a:solidFill>
                <a:latin typeface="Segoe UI"/>
              </a:rPr>
              <a:t>). The posterior probability of disease is </a:t>
            </a:r>
            <a:r>
              <a:rPr sz="2200" b="0" i="0">
                <a:solidFill>
                  <a:srgbClr val="1C252B"/>
                </a:solidFill>
                <a:latin typeface="Cambria"/>
              </a:rPr>
              <a:t>0.009/0.0585 = 0.15</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  answers in Appendix D     </a:t>
            </a:r>
            <a:fld id="{895D94B5-7292-4CE2-AD89-0095E68AEA94}" type="slidenum">
              <a:rPr lang="en-GB" sz="1000">
                <a:solidFill>
                  <a:srgbClr val="8795A1"/>
                </a:solidFill>
                <a:latin typeface="Segoe UI"/>
              </a:rPr>
              <a:t>45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97502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What exactly does naive Bayes assume, and what goes wrong in the probabilities when the assumption fails?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10  ·  Bayesian Learning and Naive Bayes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84  ·  answers in Appendix D     </a:t>
            </a:r>
            <a:fld id="{78C4095B-451E-48AD-9A32-55FBBBE8228B}" type="slidenum">
              <a:rPr lang="en-GB" sz="1000">
                <a:solidFill>
                  <a:srgbClr val="D5DEE5"/>
                </a:solidFill>
                <a:latin typeface="Segoe UI"/>
              </a:rPr>
              <a:t>46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What exactly does naive Bayes assume, and what goes wrong in the probabilities when the assumption fails?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3947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That the attributes are independent of each other given the class. When they are correlated the same evidence is counted several times, and the probabilities are pushed towards 0 and 1 — over-confident — even though the ranking of classes is often still right.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  answers in Appendix D     </a:t>
            </a:r>
            <a:fld id="{69BFBFC5-0362-420E-A908-F3688BB7F8E8}" type="slidenum">
              <a:rPr lang="en-GB" sz="1000">
                <a:solidFill>
                  <a:srgbClr val="8795A1"/>
                </a:solidFill>
                <a:latin typeface="Segoe UI"/>
              </a:rPr>
              <a:t>47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41835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must naive Bayes for text work with log-probabilities?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10  ·  Bayesian Learning and Naive Bayes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84  ·  answers in Appendix D     </a:t>
            </a:r>
            <a:fld id="{B8993164-9783-42DA-B96C-320BAA29C283}" type="slidenum">
              <a:rPr lang="en-GB" sz="1000">
                <a:solidFill>
                  <a:srgbClr val="D5DEE5"/>
                </a:solidFill>
                <a:latin typeface="Segoe UI"/>
              </a:rPr>
              <a:t>48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Why must naive Bayes for text work with log-probabilities?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product of hundreds of small probabilities underflows to zero in floating-point arithmetic. Logarithms turn the product into a sum of manageable numbers.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  answers in Appendix D     </a:t>
            </a:r>
            <a:fld id="{C693E87D-82F9-48D7-9181-D7A475A73E57}" type="slidenum">
              <a:rPr lang="en-GB" sz="1000">
                <a:solidFill>
                  <a:srgbClr val="8795A1"/>
                </a:solidFill>
                <a:latin typeface="Segoe UI"/>
              </a:rPr>
              <a:t>49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86169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805E795F-0601-449B-8C11-A79579295AEB}" type="slidenum">
              <a:rPr lang="en-GB" sz="1000">
                <a:solidFill>
                  <a:srgbClr val="8795A1"/>
                </a:solidFill>
                <a:latin typeface="Segoe UI"/>
              </a:rPr>
              <a:t>50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Bayesian learning updates a prior into a posterior with the likelihood; </a:t>
            </a:r>
            <a:r>
              <a:rPr sz="2000" b="0" i="1">
                <a:solidFill>
                  <a:srgbClr val="1C252B"/>
                </a:solidFill>
                <a:latin typeface="Cambria"/>
              </a:rPr>
              <a:t>h</a:t>
            </a:r>
            <a:r>
              <a:rPr sz="2000" b="0" i="1" baseline="-25000">
                <a:solidFill>
                  <a:srgbClr val="1C252B"/>
                </a:solidFill>
                <a:latin typeface="Cambria"/>
              </a:rPr>
              <a:t>MAP</a:t>
            </a:r>
            <a:r>
              <a:rPr sz="2000" b="0" i="0">
                <a:solidFill>
                  <a:srgbClr val="1C252B"/>
                </a:solidFill>
                <a:latin typeface="Segoe UI"/>
              </a:rPr>
              <a:t> maximises </a:t>
            </a: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D</a:t>
            </a:r>
            <a:r>
              <a:rPr sz="2000" b="0" i="0">
                <a:solidFill>
                  <a:srgbClr val="1C252B"/>
                </a:solidFill>
                <a:latin typeface="Cambria"/>
              </a:rPr>
              <a:t> ∣ </a:t>
            </a:r>
            <a:r>
              <a:rPr sz="2000" b="0" i="1">
                <a:solidFill>
                  <a:srgbClr val="1C252B"/>
                </a:solidFill>
                <a:latin typeface="Cambria"/>
              </a:rPr>
              <a:t>h</a:t>
            </a:r>
            <a:r>
              <a:rPr sz="2000" b="0" i="0">
                <a:solidFill>
                  <a:srgbClr val="1C252B"/>
                </a:solidFill>
                <a:latin typeface="Cambria"/>
              </a:rPr>
              <a:t>)</a:t>
            </a: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h</a:t>
            </a:r>
            <a:r>
              <a:rPr sz="2000" b="0" i="0">
                <a:solidFill>
                  <a:srgbClr val="1C252B"/>
                </a:solidFill>
                <a:latin typeface="Cambria"/>
              </a:rPr>
              <a:t>)</a:t>
            </a:r>
            <a:r>
              <a:rPr sz="2000" b="0" i="0">
                <a:solidFill>
                  <a:srgbClr val="1C252B"/>
                </a:solidFill>
                <a:latin typeface="Segoe UI"/>
              </a:rPr>
              <a:t> and equals </a:t>
            </a:r>
            <a:r>
              <a:rPr sz="2000" b="0" i="1">
                <a:solidFill>
                  <a:srgbClr val="1C252B"/>
                </a:solidFill>
                <a:latin typeface="Cambria"/>
              </a:rPr>
              <a:t>h</a:t>
            </a:r>
            <a:r>
              <a:rPr sz="2000" b="0" i="1" baseline="-25000">
                <a:solidFill>
                  <a:srgbClr val="1C252B"/>
                </a:solidFill>
                <a:latin typeface="Cambria"/>
              </a:rPr>
              <a:t>ML</a:t>
            </a:r>
            <a:r>
              <a:rPr sz="2000" b="0" i="0">
                <a:solidFill>
                  <a:srgbClr val="1C252B"/>
                </a:solidFill>
                <a:latin typeface="Segoe UI"/>
              </a:rPr>
              <a:t> under a uniform prior.</a:t>
            </a:r>
          </a:p>
        </p:txBody>
      </p:sp>
      <p:sp>
        <p:nvSpPr>
          <p:cNvPr id="10" name="!!sb1">
            <a:extLst>
              <a:ext uri="{C183D7F6-B498-43B3-948B-1728B52AA6E4}">
                <adec:decorative xmlns:adec="http://schemas.microsoft.com/office/drawing/2017/decorative" val="1"/>
              </a:ext>
            </a:extLst>
          </p:cNvPr>
          <p:cNvSpPr/>
          <p:nvPr/>
        </p:nvSpPr>
        <p:spPr>
          <a:xfrm>
            <a:off x="658368" y="25633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182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54223"/>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Least squares is maximum likelihood under Gaussian noise; ridge is MAP with a Gaussian prior on the weights.</a:t>
            </a:r>
          </a:p>
        </p:txBody>
      </p:sp>
      <p:sp>
        <p:nvSpPr>
          <p:cNvPr id="13" name="!!sb2">
            <a:extLst>
              <a:ext uri="{C183D7F6-B498-43B3-948B-1728B52AA6E4}">
                <adec:decorative xmlns:adec="http://schemas.microsoft.com/office/drawing/2017/decorative" val="1"/>
              </a:ext>
            </a:extLst>
          </p:cNvPr>
          <p:cNvSpPr/>
          <p:nvPr/>
        </p:nvSpPr>
        <p:spPr>
          <a:xfrm>
            <a:off x="658368" y="3380231"/>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35095"/>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371088"/>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Bayes optimal classifier weights every hypothesis’s vote by its posterior and can overrule the MAP hypothesis.</a:t>
            </a:r>
          </a:p>
        </p:txBody>
      </p:sp>
      <p:sp>
        <p:nvSpPr>
          <p:cNvPr id="16" name="!!sb3">
            <a:extLst>
              <a:ext uri="{C183D7F6-B498-43B3-948B-1728B52AA6E4}">
                <adec:decorative xmlns:adec="http://schemas.microsoft.com/office/drawing/2017/decorative" val="1"/>
              </a:ext>
            </a:extLst>
          </p:cNvPr>
          <p:cNvSpPr/>
          <p:nvPr/>
        </p:nvSpPr>
        <p:spPr>
          <a:xfrm>
            <a:off x="658368" y="419709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5196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87952"/>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Naive Bayes assumes attributes are independent given the class, which reduces training to counting; on PlayTennis it predicts No with 0.795.</a:t>
            </a:r>
          </a:p>
        </p:txBody>
      </p:sp>
      <p:sp>
        <p:nvSpPr>
          <p:cNvPr id="19" name="!!sb4">
            <a:extLst>
              <a:ext uri="{C183D7F6-B498-43B3-948B-1728B52AA6E4}">
                <adec:decorative xmlns:adec="http://schemas.microsoft.com/office/drawing/2017/decorative" val="1"/>
              </a:ext>
            </a:extLst>
          </p:cNvPr>
          <p:cNvSpPr/>
          <p:nvPr/>
        </p:nvSpPr>
        <p:spPr>
          <a:xfrm>
            <a:off x="658368" y="501396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06882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004816"/>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Smooth the counts (Laplace, </a:t>
            </a:r>
            <a:r>
              <a:rPr sz="2000" b="0" i="1">
                <a:solidFill>
                  <a:srgbClr val="1C252B"/>
                </a:solidFill>
                <a:latin typeface="Cambria"/>
              </a:rPr>
              <a:t>m</a:t>
            </a:r>
            <a:r>
              <a:rPr sz="2000" b="0" i="0">
                <a:solidFill>
                  <a:srgbClr val="1C252B"/>
                </a:solidFill>
                <a:latin typeface="Segoe UI"/>
              </a:rPr>
              <a:t>-estimate) to avoid zero vetoes; use Gaussian likelihoods for continuous features.</a:t>
            </a:r>
          </a:p>
        </p:txBody>
      </p:sp>
      <p:sp>
        <p:nvSpPr>
          <p:cNvPr id="22" name="!!sb5">
            <a:extLst>
              <a:ext uri="{C183D7F6-B498-43B3-948B-1728B52AA6E4}">
                <adec:decorative xmlns:adec="http://schemas.microsoft.com/office/drawing/2017/decorative" val="1"/>
              </a:ext>
            </a:extLst>
          </p:cNvPr>
          <p:cNvSpPr/>
          <p:nvPr/>
        </p:nvSpPr>
        <p:spPr>
          <a:xfrm>
            <a:off x="658368" y="583082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88568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821680"/>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For text, use a bag of words and log-probabilities. Trust the ranking, not the probabilities.</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108335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425DE3ED-F930-41DB-BB2E-860C60192C87}" type="slidenum">
              <a:rPr lang="en-GB" sz="1000">
                <a:solidFill>
                  <a:srgbClr val="8795A1"/>
                </a:solidFill>
                <a:latin typeface="Segoe UI"/>
              </a:rPr>
              <a:t>51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With a uniform prior over hypotheses, </a:t>
            </a:r>
            <a:r>
              <a:rPr sz="2600" b="0" i="1">
                <a:solidFill>
                  <a:srgbClr val="1C252B"/>
                </a:solidFill>
                <a:latin typeface="Cambria"/>
              </a:rPr>
              <a:t>h</a:t>
            </a:r>
            <a:r>
              <a:rPr sz="2600" b="0" i="1" baseline="-25000">
                <a:solidFill>
                  <a:srgbClr val="1C252B"/>
                </a:solidFill>
                <a:latin typeface="Cambria"/>
              </a:rPr>
              <a:t>MAP</a:t>
            </a:r>
            <a:r>
              <a:rPr sz="2600" b="0" i="0">
                <a:solidFill>
                  <a:srgbClr val="1C252B"/>
                </a:solidFill>
                <a:latin typeface="Segoe UI"/>
              </a:rPr>
              <a:t> equals: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h</a:t>
            </a:r>
            <a:r>
              <a:rPr sz="2000" b="0" i="1" baseline="-25000">
                <a:solidFill>
                  <a:srgbClr val="1C252B"/>
                </a:solidFill>
                <a:latin typeface="Cambria"/>
              </a:rPr>
              <a:t>ML</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Bayes optimal classifier</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most specific hypothesis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none of these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0502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0795EFA6-AC9B-4FD6-9693-13AD6C81FF41}" type="slidenum">
              <a:rPr lang="en-GB" sz="1000">
                <a:solidFill>
                  <a:srgbClr val="8795A1"/>
                </a:solidFill>
                <a:latin typeface="Segoe UI"/>
              </a:rPr>
              <a:t>52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Laplace smoothing is used to:</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speed up training</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prevent zero probabilities for unseen values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normalise the posterior</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remove correlated features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2669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E5C6030D-A804-4B6F-9850-BB61D5714CA5}" type="slidenum">
              <a:rPr lang="en-GB" sz="1000">
                <a:solidFill>
                  <a:srgbClr val="8795A1"/>
                </a:solidFill>
                <a:latin typeface="Segoe UI"/>
              </a:rPr>
              <a:t>53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Gaussian naive Bayes, each class–feature pair is described by:</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count table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mean and a variance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threshold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weight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4836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10  ·  Bayesian Learning and Naive Bayes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84     </a:t>
            </a:r>
            <a:fld id="{002ABCC2-4774-45F3-9710-7581EBAE4692}" type="slidenum">
              <a:rPr lang="en-GB" sz="1000">
                <a:solidFill>
                  <a:srgbClr val="8795A1"/>
                </a:solidFill>
                <a:latin typeface="Segoe UI"/>
              </a:rPr>
              <a:t>54</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difference between the MAP hypothesis and the Bayes optimal classification, with an example.</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can naive Bayes classify well even when its probabilities are poor?</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Describe how a spammer can exploit a naive Bayes filter.</a:t>
            </a:r>
          </a:p>
        </p:txBody>
      </p:sp>
      <p:sp>
        <p:nvSpPr>
          <p:cNvPr id="16" name="!!rt3">
            <a:extLst>
              <a:ext uri="{C183D7F6-B498-43B3-948B-1728B52AA6E4}">
                <adec:decorative xmlns:adec="http://schemas.microsoft.com/office/drawing/2017/decorative" val="1"/>
              </a:ext>
            </a:extLst>
          </p:cNvPr>
          <p:cNvSpPr/>
          <p:nvPr/>
        </p:nvSpPr>
        <p:spPr>
          <a:xfrm>
            <a:off x="658368" y="3618585"/>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659733"/>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600297"/>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Using the PlayTennis data and Laplace smoothing, classify </a:t>
            </a:r>
            <a:r>
              <a:rPr sz="1900" b="0" i="0">
                <a:solidFill>
                  <a:srgbClr val="1C252B"/>
                </a:solidFill>
                <a:latin typeface="Cambria"/>
              </a:rPr>
              <a:t>⟨</a:t>
            </a:r>
            <a:r>
              <a:rPr sz="1900" b="0" i="0">
                <a:solidFill>
                  <a:srgbClr val="1C252B"/>
                </a:solidFill>
                <a:latin typeface="Segoe UI"/>
              </a:rPr>
              <a:t>Rain, Hot, Normal, Weak</a:t>
            </a:r>
            <a:r>
              <a:rPr sz="1900" b="0" i="0">
                <a:solidFill>
                  <a:srgbClr val="1C252B"/>
                </a:solidFill>
                <a:latin typeface="Cambria"/>
              </a:rPr>
              <a:t>⟩</a:t>
            </a:r>
            <a:r>
              <a:rPr sz="1900" b="0" i="0">
                <a:solidFill>
                  <a:srgbClr val="1C252B"/>
                </a:solidFill>
                <a:latin typeface="Segoe UI"/>
              </a:rPr>
              <a:t>. Show every probability.</a:t>
            </a:r>
          </a:p>
        </p:txBody>
      </p:sp>
      <p:sp>
        <p:nvSpPr>
          <p:cNvPr id="19" name="!!rt4">
            <a:extLst>
              <a:ext uri="{C183D7F6-B498-43B3-948B-1728B52AA6E4}">
                <adec:decorative xmlns:adec="http://schemas.microsoft.com/office/drawing/2017/decorative" val="1"/>
              </a:ext>
            </a:extLst>
          </p:cNvPr>
          <p:cNvSpPr/>
          <p:nvPr/>
        </p:nvSpPr>
        <p:spPr>
          <a:xfrm>
            <a:off x="658368" y="4440326"/>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48147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422038"/>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Gaussian example, find the packet size at which the two prior-weighted densities are equal, to the nearest 10 bytes, by trying values. Explain why it is not 700, the midpoint of the means.</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7002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10</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10</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11 — Instance-Based Learning: k-Nearest Neighbours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10, pages 77–84</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FFFFFF"/>
                </a:solidFill>
                <a:latin typeface="Segoe UI Semibold"/>
              </a:rPr>
              <a:t>Naive Bayes by counting and by library</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10  ·  Bayesian Learning and Naive Bayes</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D57892A5-9338-42D4-A5A2-0DF24BD8C668}" type="slidenum">
              <a:rPr lang="en-GB" sz="1000">
                <a:solidFill>
                  <a:srgbClr val="D5DEE5"/>
                </a:solidFill>
                <a:latin typeface="Segoe UI"/>
              </a:rPr>
              <a:t>55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10: Bayesian Learning and Naive Bayes</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