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9.svg" ContentType="image/svg+xml"/>
  <Override PartName="/ppt/media/image50.svg" ContentType="image/svg+xml"/>
  <Override PartName="/ppt/media/image51.svg" ContentType="image/svg+xml"/>
  <Override PartName="/ppt/media/image52.svg" ContentType="image/svg+xml"/>
  <Override PartName="/ppt/media/image53.svg" ContentType="image/svg+xml"/>
  <Override PartName="/ppt/media/image55.svg" ContentType="image/svg+xml"/>
  <Override PartName="/ppt/media/image56.svg" ContentType="image/svg+xml"/>
  <Override PartName="/ppt/media/image57.svg" ContentType="image/svg+xml"/>
  <Override PartName="/ppt/media/image58.svg" ContentType="image/svg+xml"/>
  <Override PartName="/ppt/media/image59.svg" ContentType="image/svg+xml"/>
  <Override PartName="/ppt/media/image6.svg" ContentType="image/svg+xml"/>
  <Override PartName="/ppt/media/image61.svg" ContentType="image/svg+xml"/>
  <Override PartName="/ppt/media/image62.svg" ContentType="image/svg+xml"/>
  <Override PartName="/ppt/media/image63.svg" ContentType="image/svg+xml"/>
  <Override PartName="/ppt/media/image64.svg" ContentType="image/svg+xml"/>
  <Override PartName="/ppt/media/image65.svg" ContentType="image/svg+xml"/>
  <Override PartName="/ppt/media/image67.svg" ContentType="image/svg+xml"/>
  <Override PartName="/ppt/media/image68.svg" ContentType="image/svg+xml"/>
  <Override PartName="/ppt/media/image69.svg" ContentType="image/svg+xml"/>
  <Override PartName="/ppt/media/image70.svg" ContentType="image/svg+xml"/>
  <Override PartName="/ppt/media/image71.svg" ContentType="image/svg+xml"/>
  <Override PartName="/ppt/media/image73.svg" ContentType="image/svg+xml"/>
  <Override PartName="/ppt/media/image74.svg" ContentType="image/svg+xml"/>
  <Override PartName="/ppt/media/image75.svg" ContentType="image/svg+xml"/>
  <Override PartName="/ppt/media/image76.svg" ContentType="image/svg+xml"/>
  <Override PartName="/ppt/media/image77.svg" ContentType="image/svg+xml"/>
  <Override PartName="/ppt/media/image78.svg" ContentType="image/svg+xml"/>
  <Override PartName="/ppt/media/image79.svg" ContentType="image/svg+xml"/>
  <Override PartName="/ppt/media/image8.svg" ContentType="image/svg+xml"/>
  <Override PartName="/ppt/media/image81.svg" ContentType="image/svg+xml"/>
  <Override PartName="/ppt/media/image83.svg" ContentType="image/svg+xml"/>
  <Override PartName="/ppt/media/image84.svg" ContentType="image/svg+xml"/>
  <Override PartName="/ppt/media/image85.svg" ContentType="image/svg+xml"/>
  <Override PartName="/ppt/media/image86.svg" ContentType="image/svg+xml"/>
  <Override PartName="/ppt/media/image87.svg" ContentType="image/svg+xml"/>
  <Override PartName="/ppt/media/image89.svg" ContentType="image/svg+xml"/>
  <Override PartName="/ppt/media/image91.svg" ContentType="image/svg+xml"/>
  <Override PartName="/ppt/media/image92.svg" ContentType="image/svg+xml"/>
  <Override PartName="/ppt/media/image93.svg" ContentType="image/svg+xml"/>
  <Override PartName="/ppt/media/image94.svg" ContentType="image/svg+xml"/>
  <Override PartName="/ppt/media/image9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9DDCF82-72F5-4A36-BD88-FFA9367C194B}">
          <p14:sldIdLst>
            <p14:sldId id="256"/>
            <p14:sldId id="257"/>
            <p14:sldId id="258"/>
            <p14:sldId id="259"/>
            <p14:sldId id="260"/>
          </p14:sldIdLst>
        </p14:section>
        <p14:section name="11.1 Learning by Remembering" id="{14D775A9-3DDA-4EF2-864B-9919E904453C}">
          <p14:sldIdLst>
            <p14:sldId id="261"/>
          </p14:sldIdLst>
        </p14:section>
        <p14:section name="11.2 The k-Nearest Neighbour Algorithm" id="{614C43A2-F12D-4027-9BA1-2742B4743B20}">
          <p14:sldIdLst>
            <p14:sldId id="262"/>
            <p14:sldId id="263"/>
            <p14:sldId id="264"/>
            <p14:sldId id="265"/>
            <p14:sldId id="266"/>
          </p14:sldIdLst>
        </p14:section>
        <p14:section name="11.3 Distance and Scale" id="{42E096E4-869B-48CB-B324-0D192A3E0FDA}">
          <p14:sldIdLst>
            <p14:sldId id="267"/>
            <p14:sldId id="268"/>
            <p14:sldId id="269"/>
          </p14:sldIdLst>
        </p14:section>
        <p14:section name="11.4 Choosing k" id="{247EE3CC-270A-4AFC-82A4-B521DEBA9BAC}">
          <p14:sldIdLst>
            <p14:sldId id="270"/>
          </p14:sldIdLst>
        </p14:section>
        <p14:section name="11.5 Beyond Classification" id="{646461D8-4101-4DFC-B023-6841D62D8426}">
          <p14:sldIdLst>
            <p14:sldId id="271"/>
          </p14:sldIdLst>
        </p14:section>
        <p14:section name="11.6 The Curse of Dimensionality" id="{1133518D-D9C8-4473-A111-756E60B98881}">
          <p14:sldIdLst>
            <p14:sldId id="272"/>
            <p14:sldId id="273"/>
            <p14:sldId id="274"/>
          </p14:sldIdLst>
        </p14:section>
        <p14:section name="Pitfalls" id="{775DBFB2-7543-4A73-A715-8AB68400387F}">
          <p14:sldIdLst>
            <p14:sldId id="275"/>
          </p14:sldIdLst>
        </p14:section>
        <p14:section name="Four lenses" id="{54F19D1A-0ABB-4ACC-A614-F8D70F46401E}">
          <p14:sldIdLst>
            <p14:sldId id="276"/>
            <p14:sldId id="277"/>
            <p14:sldId id="278"/>
            <p14:sldId id="279"/>
            <p14:sldId id="280"/>
          </p14:sldIdLst>
        </p14:section>
        <p14:section name="Lab" id="{3769B51B-DB21-43F0-A973-C4AD4F4A05EC}">
          <p14:sldIdLst>
            <p14:sldId id="281"/>
            <p14:sldId id="282"/>
            <p14:sldId id="283"/>
            <p14:sldId id="284"/>
            <p14:sldId id="285"/>
            <p14:sldId id="286"/>
            <p14:sldId id="287"/>
          </p14:sldIdLst>
        </p14:section>
        <p14:section name="Checkpoint" id="{7AB1DA1B-B04E-47F0-BDCB-76D6CCB30268}">
          <p14:sldIdLst>
            <p14:sldId id="288"/>
            <p14:sldId id="289"/>
            <p14:sldId id="290"/>
            <p14:sldId id="291"/>
            <p14:sldId id="292"/>
            <p14:sldId id="293"/>
          </p14:sldIdLst>
        </p14:section>
        <p14:section name="Wrap-up" id="{941A832F-65C2-45F3-A71E-1B82CB76138F}">
          <p14:sldIdLst>
            <p14:sldId id="294"/>
            <p14:sldId id="295"/>
            <p14:sldId id="296"/>
            <p14:sldId id="297"/>
            <p14:sldId id="298"/>
            <p14:sldId id="299"/>
            <p14:sldId id="30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11: Instance-Based Learning: k-Nearest Neighbours. Part 3 — Supervised Learning Algorithms. Week 10: Nearest neighbours; support vector machines. Handout pages 85–90.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2 (Euclidean distance), Chapter 3 (standardisation) and Chapter 7 (bias, variance, cross-validation). The HEC outline lists k-NN under unsupervised learning; it is supervised — it needs labels to vote with — and is taught here with the other classifiers.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instance-based learning; lazy vs. eager learning; k-nearest neighbours; majority vote; distance-weighted vote; Euclidean, Manhattan, Minkowski and Hamming distance; Voronoi cell; k-NN regression; locally weighted regression; curse of dimensionality; KD-tree; case-based reasoning.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11.1 (handout p. 86): Six students and one query. Which class the query receives depends on how many neighbours are asked. (Axes scaled so that 10 marks = one unit.)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second, subtler problem is irrelevant features. k-NN uses every feature equally, so twenty features of which two matter give a distance that is mostly noise. Decision trees choose which attributes to test; k-NN cannot, unless the features are selected or weighted beforehand — Mitchell’s suggestion is to stretch each axis by a weight chosen by cross-validation. The decision boundary of 1-NN runs between every pair of differently labelled neighbours: each training example owns a Voronoi cell, the region of space closer to it than to any other example, and the boundary is made of cell edges. It follows every stray example — low bias, high variance. Increasing k averages over more neighbours and smooths the boundary; with k = n it predicts the majority class everywhere — high bias, zero variance. k is the regularisation knob of Chapter 7, and it is chosen the same way.</a:t>
            </a:r>
          </a:p>
          <a:p/>
          <a:p>
            <a:r>
              <a:t>Figure 11.2 (handout p. 87): Cross-validated error of k-NN on the (standardised) breast cancer data. Small k has high variance, large k high bias; the familiar U-shape.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practical rules: for two classes use an odd k, so votes cannot tie; and treat √n as a rough upper starting point, then let cross-validation decide. Nearest-neighbour methods rest on the idea that the nearest examples are meaningfully closer than the rest. In high dimensions that stops being true.</a:t>
            </a:r>
          </a:p>
          <a:p/>
          <a:p>
            <a:r>
              <a:t>Figure 11.3 (handout p. 88): The curse of dimensionality. For 500 uniformly random points, the ratio of the nearest to the farthest distance from a query rises towards 1 as dimensions are added: “nearest” stops meaning anything.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“Students like you” is k-NN, and it is how many course recommendation systems work: find the ten most similar past students and suggest the electives they did well in. The explanation is built in — here are the students you resemble — which advisers find easier to trust than a weight.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Analogy-based effort estimation is k-NN regression: find the three completed projects most similar to the new one and average their effort. It is one of the oldest estimation methods in software engineering, and it works because a team’s past projects are the best guide to its next.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A machine’s current vibration signature is compared with a library of signatures recorded before known failures; the nearest match names the likely fault. The library grows every time an engineer labels a new failure, with no retraining — the lazy learner’s great advantage.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Anomaly detection by distance: a login whose nearest neighbours among the account’s own history are all far away is unusual. The curse of dimensionality is the enemy here — with hundreds of raw log features, every login looks equally unusual — so reduce the features first.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what the room will have at the end of the lab, then let them start. Circulate rather than lecture.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The worked example.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Scaling matters.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Choose k by cross-validation.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5: The curse of dimensionality.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Distances from (50, 55): F 11.18 (Fail), D 15.81 (Fail), C 22.36 (Pass), E 23.77, B 33.54, A 50.0. The three nearest vote Fail, Fail, Pass: Fail.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It does no work until asked to classify, and then searches the stored examples. The cost is paid at prediction time — a distance to every stored example for each query — and all the training data must be kept.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Bias rises and variance falls. At k = 1 the boundary follows every example; at k = n every query gets the majority class.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this in your own words first; the slide is the handout's wording.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12 — Support Vector Machines. READ: Handout Chapter 11, pages 85–90. THIS WEEK'S LAB: Neighbours, scaling and k; margins and kernels. ASSESSMENT: Assignment 2 set.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12.xml"/><Relationship Id="rId8" Type="http://schemas.openxmlformats.org/officeDocument/2006/relationships/slide" Target="slide15.xml"/><Relationship Id="rId9" Type="http://schemas.openxmlformats.org/officeDocument/2006/relationships/slide" Target="slide16.xml"/><Relationship Id="rId10" Type="http://schemas.openxmlformats.org/officeDocument/2006/relationships/slide" Target="slide17.xml"/><Relationship Id="rId11" Type="http://schemas.openxmlformats.org/officeDocument/2006/relationships/slide" Target="slide4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20.svg"/><Relationship Id="rId4" Type="http://schemas.openxmlformats.org/officeDocument/2006/relationships/image" Target="../media/image21.png"/><Relationship Id="rId5" Type="http://schemas.openxmlformats.org/officeDocument/2006/relationships/image" Target="../media/image22.svg"/><Relationship Id="rId6" Type="http://schemas.openxmlformats.org/officeDocument/2006/relationships/image" Target="../media/image23.png"/><Relationship Id="rId7" Type="http://schemas.openxmlformats.org/officeDocument/2006/relationships/image" Target="../media/image24.svg"/><Relationship Id="rId8" Type="http://schemas.openxmlformats.org/officeDocument/2006/relationships/image" Target="../media/image25.png"/><Relationship Id="rId9" Type="http://schemas.openxmlformats.org/officeDocument/2006/relationships/image" Target="../media/image26.svg"/><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31.sv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 Id="rId3" Type="http://schemas.openxmlformats.org/officeDocument/2006/relationships/image" Target="../media/image35.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6.png"/><Relationship Id="rId3" Type="http://schemas.openxmlformats.org/officeDocument/2006/relationships/image" Target="../media/image37.sv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8.png"/><Relationship Id="rId3" Type="http://schemas.openxmlformats.org/officeDocument/2006/relationships/image" Target="../media/image39.svg"/><Relationship Id="rId4" Type="http://schemas.openxmlformats.org/officeDocument/2006/relationships/image" Target="../media/image40.png"/><Relationship Id="rId5" Type="http://schemas.openxmlformats.org/officeDocument/2006/relationships/image" Target="../media/image41.svg"/><Relationship Id="rId6" Type="http://schemas.openxmlformats.org/officeDocument/2006/relationships/image" Target="../media/image42.png"/><Relationship Id="rId7" Type="http://schemas.openxmlformats.org/officeDocument/2006/relationships/image" Target="../media/image43.svg"/><Relationship Id="rId8" Type="http://schemas.openxmlformats.org/officeDocument/2006/relationships/image" Target="../media/image44.png"/><Relationship Id="rId9" Type="http://schemas.openxmlformats.org/officeDocument/2006/relationships/image" Target="../media/image45.svg"/><Relationship Id="rId10" Type="http://schemas.openxmlformats.org/officeDocument/2006/relationships/image" Target="../media/image46.png"/><Relationship Id="rId11" Type="http://schemas.openxmlformats.org/officeDocument/2006/relationships/image" Target="../media/image47.svg"/><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8.png"/><Relationship Id="rId3" Type="http://schemas.openxmlformats.org/officeDocument/2006/relationships/image" Target="../media/image49.svg"/><Relationship Id="rId4" Type="http://schemas.openxmlformats.org/officeDocument/2006/relationships/image" Target="../media/image40.png"/><Relationship Id="rId5" Type="http://schemas.openxmlformats.org/officeDocument/2006/relationships/image" Target="../media/image50.svg"/><Relationship Id="rId6" Type="http://schemas.openxmlformats.org/officeDocument/2006/relationships/image" Target="../media/image42.png"/><Relationship Id="rId7" Type="http://schemas.openxmlformats.org/officeDocument/2006/relationships/image" Target="../media/image51.svg"/><Relationship Id="rId8" Type="http://schemas.openxmlformats.org/officeDocument/2006/relationships/image" Target="../media/image44.png"/><Relationship Id="rId9" Type="http://schemas.openxmlformats.org/officeDocument/2006/relationships/image" Target="../media/image52.svg"/><Relationship Id="rId10" Type="http://schemas.openxmlformats.org/officeDocument/2006/relationships/image" Target="../media/image46.png"/><Relationship Id="rId11" Type="http://schemas.openxmlformats.org/officeDocument/2006/relationships/image" Target="../media/image53.svg"/><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4.png"/><Relationship Id="rId3" Type="http://schemas.openxmlformats.org/officeDocument/2006/relationships/image" Target="../media/image55.svg"/><Relationship Id="rId4" Type="http://schemas.openxmlformats.org/officeDocument/2006/relationships/image" Target="../media/image42.png"/><Relationship Id="rId5" Type="http://schemas.openxmlformats.org/officeDocument/2006/relationships/image" Target="../media/image56.svg"/><Relationship Id="rId6" Type="http://schemas.openxmlformats.org/officeDocument/2006/relationships/image" Target="../media/image40.png"/><Relationship Id="rId7" Type="http://schemas.openxmlformats.org/officeDocument/2006/relationships/image" Target="../media/image57.svg"/><Relationship Id="rId8" Type="http://schemas.openxmlformats.org/officeDocument/2006/relationships/image" Target="../media/image44.png"/><Relationship Id="rId9" Type="http://schemas.openxmlformats.org/officeDocument/2006/relationships/image" Target="../media/image58.svg"/><Relationship Id="rId10" Type="http://schemas.openxmlformats.org/officeDocument/2006/relationships/image" Target="../media/image46.png"/><Relationship Id="rId11" Type="http://schemas.openxmlformats.org/officeDocument/2006/relationships/image" Target="../media/image59.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image" Target="../media/image44.png"/><Relationship Id="rId5" Type="http://schemas.openxmlformats.org/officeDocument/2006/relationships/image" Target="../media/image62.svg"/><Relationship Id="rId6" Type="http://schemas.openxmlformats.org/officeDocument/2006/relationships/image" Target="../media/image40.png"/><Relationship Id="rId7" Type="http://schemas.openxmlformats.org/officeDocument/2006/relationships/image" Target="../media/image63.svg"/><Relationship Id="rId8" Type="http://schemas.openxmlformats.org/officeDocument/2006/relationships/image" Target="../media/image42.png"/><Relationship Id="rId9" Type="http://schemas.openxmlformats.org/officeDocument/2006/relationships/image" Target="../media/image64.svg"/><Relationship Id="rId10" Type="http://schemas.openxmlformats.org/officeDocument/2006/relationships/image" Target="../media/image46.png"/><Relationship Id="rId11" Type="http://schemas.openxmlformats.org/officeDocument/2006/relationships/image" Target="../media/image65.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image" Target="../media/image46.png"/><Relationship Id="rId5" Type="http://schemas.openxmlformats.org/officeDocument/2006/relationships/image" Target="../media/image68.svg"/><Relationship Id="rId6" Type="http://schemas.openxmlformats.org/officeDocument/2006/relationships/image" Target="../media/image40.png"/><Relationship Id="rId7" Type="http://schemas.openxmlformats.org/officeDocument/2006/relationships/image" Target="../media/image69.svg"/><Relationship Id="rId8" Type="http://schemas.openxmlformats.org/officeDocument/2006/relationships/image" Target="../media/image42.png"/><Relationship Id="rId9" Type="http://schemas.openxmlformats.org/officeDocument/2006/relationships/image" Target="../media/image70.svg"/><Relationship Id="rId10" Type="http://schemas.openxmlformats.org/officeDocument/2006/relationships/image" Target="../media/image44.png"/><Relationship Id="rId11" Type="http://schemas.openxmlformats.org/officeDocument/2006/relationships/image" Target="../media/image71.svg"/><Relationship Id="rId1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3.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4.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5.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6.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7.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8.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2.png"/><Relationship Id="rId3" Type="http://schemas.openxmlformats.org/officeDocument/2006/relationships/image" Target="../media/image79.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1.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3.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4.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5.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0.png"/><Relationship Id="rId3" Type="http://schemas.openxmlformats.org/officeDocument/2006/relationships/image" Target="../media/image86.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2.png"/><Relationship Id="rId3" Type="http://schemas.openxmlformats.org/officeDocument/2006/relationships/image" Target="../media/image87.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8.png"/><Relationship Id="rId3" Type="http://schemas.openxmlformats.org/officeDocument/2006/relationships/image" Target="../media/image89.sv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1.sv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2.sv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3.svg"/><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0.png"/><Relationship Id="rId3" Type="http://schemas.openxmlformats.org/officeDocument/2006/relationships/image" Target="../media/image94.sv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95.sv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328756"/>
                </a:solidFill>
                <a:latin typeface="Segoe UI Black"/>
              </a:rPr>
              <a:t>11</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Instance-Based Learning: k-Nearest Neighbours</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PART III  ·  SUPERVISED LEARNING ALGORITHMS</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BFDACA"/>
                </a:solidFill>
                <a:latin typeface="Segoe UI"/>
              </a:rPr>
              <a:t>CHAPTER 11  ·  WEEK 10</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D1E4D9"/>
                </a:solidFill>
                <a:latin typeface="Segoe UI"/>
              </a:rPr>
              <a:t>Machine Learning — From Hypotheses to Decisions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1358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A5C0B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BDD0C5"/>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A5C0B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85     </a:t>
            </a:r>
            <a:fld id="{23789913-FBE2-4F65-8EE2-292AD6F812FC}" type="slidenum">
              <a:rPr lang="en-GB" sz="1000">
                <a:solidFill>
                  <a:srgbClr val="8795A1"/>
                </a:solidFill>
                <a:latin typeface="Segoe UI"/>
              </a:rPr>
              <a:t>2</a:t>
            </a:fld>
          </a:p>
        </p:txBody>
      </p:sp>
      <p:sp>
        <p:nvSpPr>
          <p:cNvPr id="7" name="!!rp1"/>
          <p:cNvSpPr txBox="1"/>
          <p:nvPr/>
        </p:nvSpPr>
        <p:spPr>
          <a:xfrm>
            <a:off x="777239"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39"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689666" y="1755648"/>
            <a:ext cx="158324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689666" y="2029967"/>
            <a:ext cx="158324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602092" y="1755648"/>
            <a:ext cx="2713191"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B7A43"/>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602092" y="2029967"/>
            <a:ext cx="2713191" cy="4572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7644467"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7644467"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9147366" y="1755648"/>
            <a:ext cx="1173715"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9147366" y="2029967"/>
            <a:ext cx="1173715"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10650266" y="1755648"/>
            <a:ext cx="76418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10650266" y="2029967"/>
            <a:ext cx="764189"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81741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72597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226937"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11354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636464"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5450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204599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9545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2729837"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26383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3139363"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30479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3548890"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3457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3958416"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386697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4642263"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45508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5051789"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49603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5470460" y="2112264"/>
            <a:ext cx="566928" cy="566928"/>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5470460"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11</a:t>
            </a:r>
          </a:p>
        </p:txBody>
      </p:sp>
      <p:sp>
        <p:nvSpPr>
          <p:cNvPr id="41" name="!!dot12">
            <a:extLst>
              <a:ext uri="{C183D7F6-B498-43B3-948B-1728B52AA6E4}">
                <adec:decorative xmlns:adec="http://schemas.microsoft.com/office/drawing/2017/decorative" val="1"/>
              </a:ext>
            </a:extLst>
          </p:cNvPr>
          <p:cNvSpPr/>
          <p:nvPr/>
        </p:nvSpPr>
        <p:spPr>
          <a:xfrm>
            <a:off x="6181738"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60902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6591265"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649982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7000791" y="2258568"/>
            <a:ext cx="274320" cy="274320"/>
          </a:xfrm>
          <a:prstGeom prst="ellipse">
            <a:avLst/>
          </a:prstGeom>
          <a:solidFill>
            <a:srgbClr val="FFFFFF"/>
          </a:solidFill>
          <a:ln w="15875">
            <a:solidFill>
              <a:srgbClr val="88D2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6909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259355"/>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7684638"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75931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8094164"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80027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8503691" y="2258568"/>
            <a:ext cx="274320" cy="274320"/>
          </a:xfrm>
          <a:prstGeom prst="ellipse">
            <a:avLst/>
          </a:prstGeom>
          <a:solidFill>
            <a:srgbClr val="FFFFFF"/>
          </a:solidFill>
          <a:ln w="15875">
            <a:solidFill>
              <a:srgbClr val="C198D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84122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773E93"/>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9187537"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90960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9597064"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950562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10006590" y="2258568"/>
            <a:ext cx="274320" cy="274320"/>
          </a:xfrm>
          <a:prstGeom prst="ellipse">
            <a:avLst/>
          </a:prstGeom>
          <a:solidFill>
            <a:srgbClr val="FFFFFF"/>
          </a:solidFill>
          <a:ln w="15875">
            <a:solidFill>
              <a:srgbClr val="7CB6A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99151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136959"/>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10690437"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1059899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11099963"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1100852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22</a:t>
            </a:r>
          </a:p>
        </p:txBody>
      </p:sp>
      <p:sp>
        <p:nvSpPr>
          <p:cNvPr id="63" name="!!dotlabel"/>
          <p:cNvSpPr txBox="1"/>
          <p:nvPr/>
        </p:nvSpPr>
        <p:spPr>
          <a:xfrm>
            <a:off x="2827844" y="2798064"/>
            <a:ext cx="585216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1B7A43"/>
                </a:solidFill>
                <a:latin typeface="Segoe UI"/>
              </a:rPr>
              <a:t>Instance-Based Learning: k-Nearest Neighbours</a:t>
            </a:r>
          </a:p>
        </p:txBody>
      </p:sp>
      <p:sp>
        <p:nvSpPr>
          <p:cNvPr id="6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65" name="!!chipBU2">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chipbBU2">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7" name="!!chiptBU2"/>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2  </a:t>
            </a:r>
            <a:r>
              <a:rPr sz="1400" b="0" i="0">
                <a:solidFill>
                  <a:srgbClr val="1C252B"/>
                </a:solidFill>
                <a:latin typeface="Segoe UI"/>
              </a:rPr>
              <a:t>Mathematics for Machine Learning</a:t>
            </a:r>
          </a:p>
        </p:txBody>
      </p:sp>
      <p:sp>
        <p:nvSpPr>
          <p:cNvPr id="68" name="!!chipBU3">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9" name="!!chipbBU3">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chiptBU3"/>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A5276"/>
                </a:solidFill>
                <a:latin typeface="Segoe UI"/>
              </a:rPr>
              <a:t>Ch 3  </a:t>
            </a:r>
            <a:r>
              <a:rPr sz="1400" b="0" i="0">
                <a:solidFill>
                  <a:srgbClr val="1C252B"/>
                </a:solidFill>
                <a:latin typeface="Segoe UI"/>
              </a:rPr>
              <a:t>The Machine Learning Workflow and Toolkit</a:t>
            </a:r>
          </a:p>
        </p:txBody>
      </p:sp>
      <p:sp>
        <p:nvSpPr>
          <p:cNvPr id="71" name="!!chipBU7">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chipbBU7">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3" name="!!chiptBU7"/>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7  </a:t>
            </a:r>
            <a:r>
              <a:rPr sz="1400" b="0" i="0">
                <a:solidFill>
                  <a:srgbClr val="1C252B"/>
                </a:solidFill>
                <a:latin typeface="Segoe UI"/>
              </a:rPr>
              <a:t>Overfitting, Bias–Variance and Regularisation</a:t>
            </a:r>
          </a:p>
        </p:txBody>
      </p:sp>
      <p:sp>
        <p:nvSpPr>
          <p:cNvPr id="7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75" name="!!chipUS12">
            <a:extLst>
              <a:ext uri="{C183D7F6-B498-43B3-948B-1728B52AA6E4}">
                <adec:decorative xmlns:adec="http://schemas.microsoft.com/office/drawing/2017/decorative" val="1"/>
              </a:ext>
            </a:extLst>
          </p:cNvPr>
          <p:cNvSpPr/>
          <p:nvPr/>
        </p:nvSpPr>
        <p:spPr>
          <a:xfrm>
            <a:off x="6324447" y="3785616"/>
            <a:ext cx="5208879" cy="420624"/>
          </a:xfrm>
          <a:prstGeom prst="roundRect">
            <a:avLst>
              <a:gd name="adj" fmla="val 17391"/>
            </a:avLst>
          </a:prstGeom>
          <a:solidFill>
            <a:srgbClr val="E8F2E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chipbUS12">
            <a:extLst>
              <a:ext uri="{C183D7F6-B498-43B3-948B-1728B52AA6E4}">
                <adec:decorative xmlns:adec="http://schemas.microsoft.com/office/drawing/2017/decorative" val="1"/>
              </a:ext>
            </a:extLst>
          </p:cNvPr>
          <p:cNvSpPr/>
          <p:nvPr/>
        </p:nvSpPr>
        <p:spPr>
          <a:xfrm>
            <a:off x="6324447" y="3785616"/>
            <a:ext cx="64008" cy="420624"/>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7" name="!!chiptUS12"/>
          <p:cNvSpPr txBox="1"/>
          <p:nvPr/>
        </p:nvSpPr>
        <p:spPr>
          <a:xfrm>
            <a:off x="6525615"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1B7A43"/>
                </a:solidFill>
                <a:latin typeface="Segoe UI"/>
              </a:rPr>
              <a:t>Ch 12  </a:t>
            </a:r>
            <a:r>
              <a:rPr sz="1400" b="0" i="0">
                <a:solidFill>
                  <a:srgbClr val="1C252B"/>
                </a:solidFill>
                <a:latin typeface="Segoe UI"/>
              </a:rPr>
              <a:t>Support Vector Machines</a:t>
            </a:r>
          </a:p>
        </p:txBody>
      </p:sp>
      <p:sp>
        <p:nvSpPr>
          <p:cNvPr id="78" name="!!chipUS15">
            <a:extLst>
              <a:ext uri="{C183D7F6-B498-43B3-948B-1728B52AA6E4}">
                <adec:decorative xmlns:adec="http://schemas.microsoft.com/office/drawing/2017/decorative" val="1"/>
              </a:ext>
            </a:extLst>
          </p:cNvPr>
          <p:cNvSpPr/>
          <p:nvPr/>
        </p:nvSpPr>
        <p:spPr>
          <a:xfrm>
            <a:off x="6324447" y="4297680"/>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9" name="!!chipbUS15">
            <a:extLst>
              <a:ext uri="{C183D7F6-B498-43B3-948B-1728B52AA6E4}">
                <adec:decorative xmlns:adec="http://schemas.microsoft.com/office/drawing/2017/decorative" val="1"/>
              </a:ext>
            </a:extLst>
          </p:cNvPr>
          <p:cNvSpPr/>
          <p:nvPr/>
        </p:nvSpPr>
        <p:spPr>
          <a:xfrm>
            <a:off x="6324447" y="4297680"/>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chiptUS15"/>
          <p:cNvSpPr txBox="1"/>
          <p:nvPr/>
        </p:nvSpPr>
        <p:spPr>
          <a:xfrm>
            <a:off x="6525615"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15  </a:t>
            </a:r>
            <a:r>
              <a:rPr sz="1400" b="0" i="0">
                <a:solidFill>
                  <a:srgbClr val="1C252B"/>
                </a:solidFill>
                <a:latin typeface="Segoe UI"/>
              </a:rPr>
              <a:t>Clustering</a:t>
            </a:r>
          </a:p>
        </p:txBody>
      </p:sp>
      <p:sp>
        <p:nvSpPr>
          <p:cNvPr id="81" name="!!chipUS16">
            <a:extLst>
              <a:ext uri="{C183D7F6-B498-43B3-948B-1728B52AA6E4}">
                <adec:decorative xmlns:adec="http://schemas.microsoft.com/office/drawing/2017/decorative" val="1"/>
              </a:ext>
            </a:extLst>
          </p:cNvPr>
          <p:cNvSpPr/>
          <p:nvPr/>
        </p:nvSpPr>
        <p:spPr>
          <a:xfrm>
            <a:off x="6324447" y="4809744"/>
            <a:ext cx="5208879" cy="420624"/>
          </a:xfrm>
          <a:prstGeom prst="roundRect">
            <a:avLst>
              <a:gd name="adj" fmla="val 17391"/>
            </a:avLst>
          </a:prstGeom>
          <a:solidFill>
            <a:srgbClr val="F2EB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chipbUS16">
            <a:extLst>
              <a:ext uri="{C183D7F6-B498-43B3-948B-1728B52AA6E4}">
                <adec:decorative xmlns:adec="http://schemas.microsoft.com/office/drawing/2017/decorative" val="1"/>
              </a:ext>
            </a:extLst>
          </p:cNvPr>
          <p:cNvSpPr/>
          <p:nvPr/>
        </p:nvSpPr>
        <p:spPr>
          <a:xfrm>
            <a:off x="6324447" y="4809744"/>
            <a:ext cx="64008" cy="420624"/>
          </a:xfrm>
          <a:prstGeom prst="rect">
            <a:avLst/>
          </a:prstGeom>
          <a:solidFill>
            <a:srgbClr val="7A3A9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3" name="!!chiptUS16"/>
          <p:cNvSpPr txBox="1"/>
          <p:nvPr/>
        </p:nvSpPr>
        <p:spPr>
          <a:xfrm>
            <a:off x="6525615"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A3A95"/>
                </a:solidFill>
                <a:latin typeface="Segoe UI"/>
              </a:rPr>
              <a:t>Ch 16  </a:t>
            </a:r>
            <a:r>
              <a:rPr sz="1400" b="0" i="0">
                <a:solidFill>
                  <a:srgbClr val="1C252B"/>
                </a:solidFill>
                <a:latin typeface="Segoe UI"/>
              </a:rPr>
              <a:t>Dimensionality Reduction and Self-Organizing Maps</a:t>
            </a:r>
          </a:p>
        </p:txBody>
      </p:sp>
      <p:sp>
        <p:nvSpPr>
          <p:cNvPr id="8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5" name="!!pfill">
            <a:extLst>
              <a:ext uri="{C183D7F6-B498-43B3-948B-1728B52AA6E4}">
                <adec:decorative xmlns:adec="http://schemas.microsoft.com/office/drawing/2017/decorative" val="1"/>
              </a:ext>
            </a:extLst>
          </p:cNvPr>
          <p:cNvSpPr/>
          <p:nvPr/>
        </p:nvSpPr>
        <p:spPr>
          <a:xfrm>
            <a:off x="0" y="0"/>
            <a:ext cx="54185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85     </a:t>
            </a:r>
            <a:fld id="{2236C430-7183-4AD7-BE3C-C05117C0F6A8}"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Distinguish</a:t>
            </a:r>
            <a:r>
              <a:rPr sz="2100" b="0" i="0">
                <a:solidFill>
                  <a:srgbClr val="1C252B"/>
                </a:solidFill>
                <a:latin typeface="Segoe UI"/>
              </a:rPr>
              <a:t> lazy (instance-based) from eager learning.</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16352"/>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Classify</a:t>
            </a:r>
            <a:r>
              <a:rPr sz="2100" b="0" i="0">
                <a:solidFill>
                  <a:srgbClr val="1C252B"/>
                </a:solidFill>
                <a:latin typeface="Segoe UI"/>
              </a:rPr>
              <a:t> an example with </a:t>
            </a:r>
            <a:r>
              <a:rPr sz="2100" b="0" i="1">
                <a:solidFill>
                  <a:srgbClr val="1C252B"/>
                </a:solidFill>
                <a:latin typeface="Cambria"/>
              </a:rPr>
              <a:t>k</a:t>
            </a:r>
            <a:r>
              <a:rPr sz="2100" b="0" i="0">
                <a:solidFill>
                  <a:srgbClr val="1C252B"/>
                </a:solidFill>
                <a:latin typeface="Segoe UI"/>
              </a:rPr>
              <a:t>-nearest neighbours by hand, with and without distance weighting.</a:t>
            </a:r>
          </a:p>
        </p:txBody>
      </p:sp>
      <p:sp>
        <p:nvSpPr>
          <p:cNvPr id="14" name="!!ob2">
            <a:extLst>
              <a:ext uri="{C183D7F6-B498-43B3-948B-1728B52AA6E4}">
                <adec:decorative xmlns:adec="http://schemas.microsoft.com/office/drawing/2017/decorative" val="1"/>
              </a:ext>
            </a:extLst>
          </p:cNvPr>
          <p:cNvSpPr/>
          <p:nvPr/>
        </p:nvSpPr>
        <p:spPr>
          <a:xfrm>
            <a:off x="658368" y="3674059"/>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733495"/>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715207"/>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Choose</a:t>
            </a:r>
            <a:r>
              <a:rPr sz="2100" b="0" i="0">
                <a:solidFill>
                  <a:srgbClr val="1C252B"/>
                </a:solidFill>
                <a:latin typeface="Segoe UI"/>
              </a:rPr>
              <a:t> a distance measure, and </a:t>
            </a:r>
            <a:r>
              <a:rPr sz="2100" b="1" i="0">
                <a:solidFill>
                  <a:srgbClr val="1C252B"/>
                </a:solidFill>
                <a:latin typeface="Segoe UI"/>
              </a:rPr>
              <a:t>explain</a:t>
            </a:r>
            <a:r>
              <a:rPr sz="2100" b="0" i="0">
                <a:solidFill>
                  <a:srgbClr val="1C252B"/>
                </a:solidFill>
                <a:latin typeface="Segoe UI"/>
              </a:rPr>
              <a:t> why features must be scaled first.</a:t>
            </a:r>
          </a:p>
        </p:txBody>
      </p:sp>
      <p:sp>
        <p:nvSpPr>
          <p:cNvPr id="17" name="!!ob3">
            <a:extLst>
              <a:ext uri="{C183D7F6-B498-43B3-948B-1728B52AA6E4}">
                <adec:decorative xmlns:adec="http://schemas.microsoft.com/office/drawing/2017/decorative" val="1"/>
              </a:ext>
            </a:extLst>
          </p:cNvPr>
          <p:cNvSpPr/>
          <p:nvPr/>
        </p:nvSpPr>
        <p:spPr>
          <a:xfrm>
            <a:off x="658368" y="4277563"/>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336999"/>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318711"/>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Select</a:t>
            </a:r>
            <a:r>
              <a:rPr sz="2100" b="0" i="0">
                <a:solidFill>
                  <a:srgbClr val="1C252B"/>
                </a:solidFill>
                <a:latin typeface="Segoe UI"/>
              </a:rPr>
              <a:t> </a:t>
            </a:r>
            <a:r>
              <a:rPr sz="2100" b="0" i="1">
                <a:solidFill>
                  <a:srgbClr val="1C252B"/>
                </a:solidFill>
                <a:latin typeface="Cambria"/>
              </a:rPr>
              <a:t>k</a:t>
            </a:r>
            <a:r>
              <a:rPr sz="2100" b="0" i="0">
                <a:solidFill>
                  <a:srgbClr val="1C252B"/>
                </a:solidFill>
                <a:latin typeface="Segoe UI"/>
              </a:rPr>
              <a:t> by cross-validation, relating small and large </a:t>
            </a:r>
            <a:r>
              <a:rPr sz="2100" b="0" i="1">
                <a:solidFill>
                  <a:srgbClr val="1C252B"/>
                </a:solidFill>
                <a:latin typeface="Cambria"/>
              </a:rPr>
              <a:t>k</a:t>
            </a:r>
            <a:r>
              <a:rPr sz="2100" b="0" i="0">
                <a:solidFill>
                  <a:srgbClr val="1C252B"/>
                </a:solidFill>
                <a:latin typeface="Segoe UI"/>
              </a:rPr>
              <a:t> to variance and bias.</a:t>
            </a:r>
          </a:p>
        </p:txBody>
      </p:sp>
      <p:sp>
        <p:nvSpPr>
          <p:cNvPr id="20" name="!!ob4">
            <a:extLst>
              <a:ext uri="{C183D7F6-B498-43B3-948B-1728B52AA6E4}">
                <adec:decorative xmlns:adec="http://schemas.microsoft.com/office/drawing/2017/decorative" val="1"/>
              </a:ext>
            </a:extLst>
          </p:cNvPr>
          <p:cNvSpPr/>
          <p:nvPr/>
        </p:nvSpPr>
        <p:spPr>
          <a:xfrm>
            <a:off x="658368" y="4881067"/>
            <a:ext cx="420624" cy="420624"/>
          </a:xfrm>
          <a:prstGeom prst="ellipse">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940503"/>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871923"/>
            <a:ext cx="10216591"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1B7A43"/>
                </a:solidFill>
                <a:latin typeface="Segoe UI"/>
              </a:rPr>
              <a:t>Explain</a:t>
            </a:r>
            <a:r>
              <a:rPr sz="2100" b="0" i="0">
                <a:solidFill>
                  <a:srgbClr val="1C252B"/>
                </a:solidFill>
                <a:latin typeface="Segoe UI"/>
              </a:rPr>
              <a:t> the curse of dimensionality and the computational cost of nearest-neighbour search.</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81277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85     </a:t>
            </a:r>
            <a:fld id="{0944D595-B490-4A08-B17B-4E4B28203666}" type="slidenum">
              <a:rPr lang="en-GB" sz="1000">
                <a:solidFill>
                  <a:srgbClr val="8795A1"/>
                </a:solidFill>
                <a:latin typeface="Segoe UI"/>
              </a:rPr>
              <a:t>4</a:t>
            </a:fld>
          </a:p>
        </p:txBody>
      </p:sp>
      <p:sp>
        <p:nvSpPr>
          <p:cNvPr id="7" name="!!term-instance-based">
            <a:extLst>
              <a:ext uri="{C183D7F6-B498-43B3-948B-1728B52AA6E4}">
                <adec:decorative xmlns:adec="http://schemas.microsoft.com/office/drawing/2017/decorative" val="1"/>
              </a:ext>
            </a:extLst>
          </p:cNvPr>
          <p:cNvSpPr/>
          <p:nvPr/>
        </p:nvSpPr>
        <p:spPr>
          <a:xfrm>
            <a:off x="658368" y="1847088"/>
            <a:ext cx="275621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instance-based">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instance-based"/>
          <p:cNvSpPr txBox="1"/>
          <p:nvPr/>
        </p:nvSpPr>
        <p:spPr>
          <a:xfrm>
            <a:off x="950976" y="1955291"/>
            <a:ext cx="257333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instance-based learning</a:t>
            </a:r>
          </a:p>
        </p:txBody>
      </p:sp>
      <p:sp>
        <p:nvSpPr>
          <p:cNvPr id="10" name="!!term-lazy vs. eager">
            <a:extLst>
              <a:ext uri="{C183D7F6-B498-43B3-948B-1728B52AA6E4}">
                <adec:decorative xmlns:adec="http://schemas.microsoft.com/office/drawing/2017/decorative" val="1"/>
              </a:ext>
            </a:extLst>
          </p:cNvPr>
          <p:cNvSpPr/>
          <p:nvPr/>
        </p:nvSpPr>
        <p:spPr>
          <a:xfrm>
            <a:off x="3560886" y="1847088"/>
            <a:ext cx="257634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lazy vs. eager">
            <a:extLst>
              <a:ext uri="{C183D7F6-B498-43B3-948B-1728B52AA6E4}">
                <adec:decorative xmlns:adec="http://schemas.microsoft.com/office/drawing/2017/decorative" val="1"/>
              </a:ext>
            </a:extLst>
          </p:cNvPr>
          <p:cNvSpPr/>
          <p:nvPr/>
        </p:nvSpPr>
        <p:spPr>
          <a:xfrm>
            <a:off x="3688902"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lazy vs. eager"/>
          <p:cNvSpPr txBox="1"/>
          <p:nvPr/>
        </p:nvSpPr>
        <p:spPr>
          <a:xfrm>
            <a:off x="3853494" y="1955291"/>
            <a:ext cx="239346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lazy vs. eager learning</a:t>
            </a:r>
          </a:p>
        </p:txBody>
      </p:sp>
      <p:sp>
        <p:nvSpPr>
          <p:cNvPr id="13" name="!!term-k-nearest neig">
            <a:extLst>
              <a:ext uri="{C183D7F6-B498-43B3-948B-1728B52AA6E4}">
                <adec:decorative xmlns:adec="http://schemas.microsoft.com/office/drawing/2017/decorative" val="1"/>
              </a:ext>
            </a:extLst>
          </p:cNvPr>
          <p:cNvSpPr/>
          <p:nvPr/>
        </p:nvSpPr>
        <p:spPr>
          <a:xfrm>
            <a:off x="6283531" y="1847088"/>
            <a:ext cx="25089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k-nearest neig">
            <a:extLst>
              <a:ext uri="{C183D7F6-B498-43B3-948B-1728B52AA6E4}">
                <adec:decorative xmlns:adec="http://schemas.microsoft.com/office/drawing/2017/decorative" val="1"/>
              </a:ext>
            </a:extLst>
          </p:cNvPr>
          <p:cNvSpPr/>
          <p:nvPr/>
        </p:nvSpPr>
        <p:spPr>
          <a:xfrm>
            <a:off x="6411547"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k-nearest neig"/>
          <p:cNvSpPr txBox="1"/>
          <p:nvPr/>
        </p:nvSpPr>
        <p:spPr>
          <a:xfrm>
            <a:off x="6576139" y="1955291"/>
            <a:ext cx="232604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k-nearest neighbours</a:t>
            </a:r>
          </a:p>
        </p:txBody>
      </p:sp>
      <p:sp>
        <p:nvSpPr>
          <p:cNvPr id="16" name="!!term-majority vote">
            <a:extLst>
              <a:ext uri="{C183D7F6-B498-43B3-948B-1728B52AA6E4}">
                <adec:decorative xmlns:adec="http://schemas.microsoft.com/office/drawing/2017/decorative" val="1"/>
              </a:ext>
            </a:extLst>
          </p:cNvPr>
          <p:cNvSpPr/>
          <p:nvPr/>
        </p:nvSpPr>
        <p:spPr>
          <a:xfrm>
            <a:off x="8938762" y="1847088"/>
            <a:ext cx="17187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majority vote">
            <a:extLst>
              <a:ext uri="{C183D7F6-B498-43B3-948B-1728B52AA6E4}">
                <adec:decorative xmlns:adec="http://schemas.microsoft.com/office/drawing/2017/decorative" val="1"/>
              </a:ext>
            </a:extLst>
          </p:cNvPr>
          <p:cNvSpPr/>
          <p:nvPr/>
        </p:nvSpPr>
        <p:spPr>
          <a:xfrm>
            <a:off x="906677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majority vote"/>
          <p:cNvSpPr txBox="1"/>
          <p:nvPr/>
        </p:nvSpPr>
        <p:spPr>
          <a:xfrm>
            <a:off x="9231370" y="1955291"/>
            <a:ext cx="1535890"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majority vote</a:t>
            </a:r>
          </a:p>
        </p:txBody>
      </p:sp>
      <p:sp>
        <p:nvSpPr>
          <p:cNvPr id="19" name="!!term-distance-weigh">
            <a:extLst>
              <a:ext uri="{C183D7F6-B498-43B3-948B-1728B52AA6E4}">
                <adec:decorative xmlns:adec="http://schemas.microsoft.com/office/drawing/2017/decorative" val="1"/>
              </a:ext>
            </a:extLst>
          </p:cNvPr>
          <p:cNvSpPr/>
          <p:nvPr/>
        </p:nvSpPr>
        <p:spPr>
          <a:xfrm>
            <a:off x="658368" y="2468880"/>
            <a:ext cx="271785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distance-weigh">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distance-weigh"/>
          <p:cNvSpPr txBox="1"/>
          <p:nvPr/>
        </p:nvSpPr>
        <p:spPr>
          <a:xfrm>
            <a:off x="950976" y="2577084"/>
            <a:ext cx="253497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distance-weighted vote</a:t>
            </a:r>
          </a:p>
        </p:txBody>
      </p:sp>
      <p:sp>
        <p:nvSpPr>
          <p:cNvPr id="22" name="!!term-Euclidean, Man">
            <a:extLst>
              <a:ext uri="{C183D7F6-B498-43B3-948B-1728B52AA6E4}">
                <adec:decorative xmlns:adec="http://schemas.microsoft.com/office/drawing/2017/decorative" val="1"/>
              </a:ext>
            </a:extLst>
          </p:cNvPr>
          <p:cNvSpPr/>
          <p:nvPr/>
        </p:nvSpPr>
        <p:spPr>
          <a:xfrm>
            <a:off x="3522527" y="2468880"/>
            <a:ext cx="597534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Euclidean, Man">
            <a:extLst>
              <a:ext uri="{C183D7F6-B498-43B3-948B-1728B52AA6E4}">
                <adec:decorative xmlns:adec="http://schemas.microsoft.com/office/drawing/2017/decorative" val="1"/>
              </a:ext>
            </a:extLst>
          </p:cNvPr>
          <p:cNvSpPr/>
          <p:nvPr/>
        </p:nvSpPr>
        <p:spPr>
          <a:xfrm>
            <a:off x="3650543"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Euclidean, Man"/>
          <p:cNvSpPr txBox="1"/>
          <p:nvPr/>
        </p:nvSpPr>
        <p:spPr>
          <a:xfrm>
            <a:off x="3815135" y="2577084"/>
            <a:ext cx="579246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Euclidean, Manhattan, Minkowski and Hamming distance</a:t>
            </a:r>
          </a:p>
        </p:txBody>
      </p:sp>
      <p:sp>
        <p:nvSpPr>
          <p:cNvPr id="25" name="!!term-Voronoi cell">
            <a:extLst>
              <a:ext uri="{C183D7F6-B498-43B3-948B-1728B52AA6E4}">
                <adec:decorative xmlns:adec="http://schemas.microsoft.com/office/drawing/2017/decorative" val="1"/>
              </a:ext>
            </a:extLst>
          </p:cNvPr>
          <p:cNvSpPr/>
          <p:nvPr/>
        </p:nvSpPr>
        <p:spPr>
          <a:xfrm>
            <a:off x="9644175" y="2468880"/>
            <a:ext cx="160096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Voronoi cell">
            <a:extLst>
              <a:ext uri="{C183D7F6-B498-43B3-948B-1728B52AA6E4}">
                <adec:decorative xmlns:adec="http://schemas.microsoft.com/office/drawing/2017/decorative" val="1"/>
              </a:ext>
            </a:extLst>
          </p:cNvPr>
          <p:cNvSpPr/>
          <p:nvPr/>
        </p:nvSpPr>
        <p:spPr>
          <a:xfrm>
            <a:off x="9772191"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Voronoi cell"/>
          <p:cNvSpPr txBox="1"/>
          <p:nvPr/>
        </p:nvSpPr>
        <p:spPr>
          <a:xfrm>
            <a:off x="9936783" y="2577084"/>
            <a:ext cx="141808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Voronoi cell</a:t>
            </a:r>
          </a:p>
        </p:txBody>
      </p:sp>
      <p:sp>
        <p:nvSpPr>
          <p:cNvPr id="28" name="!!term-k-NN regressio">
            <a:extLst>
              <a:ext uri="{C183D7F6-B498-43B3-948B-1728B52AA6E4}">
                <adec:decorative xmlns:adec="http://schemas.microsoft.com/office/drawing/2017/decorative" val="1"/>
              </a:ext>
            </a:extLst>
          </p:cNvPr>
          <p:cNvSpPr/>
          <p:nvPr/>
        </p:nvSpPr>
        <p:spPr>
          <a:xfrm>
            <a:off x="658368" y="3090672"/>
            <a:ext cx="203296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k-NN regressio">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k-NN regressio"/>
          <p:cNvSpPr txBox="1"/>
          <p:nvPr/>
        </p:nvSpPr>
        <p:spPr>
          <a:xfrm>
            <a:off x="950976" y="3198876"/>
            <a:ext cx="185008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k-NN regression</a:t>
            </a:r>
          </a:p>
        </p:txBody>
      </p:sp>
      <p:sp>
        <p:nvSpPr>
          <p:cNvPr id="31" name="!!term-locally weight">
            <a:extLst>
              <a:ext uri="{C183D7F6-B498-43B3-948B-1728B52AA6E4}">
                <adec:decorative xmlns:adec="http://schemas.microsoft.com/office/drawing/2017/decorative" val="1"/>
              </a:ext>
            </a:extLst>
          </p:cNvPr>
          <p:cNvSpPr/>
          <p:nvPr/>
        </p:nvSpPr>
        <p:spPr>
          <a:xfrm>
            <a:off x="2837638" y="3090672"/>
            <a:ext cx="3077429"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locally weight">
            <a:extLst>
              <a:ext uri="{C183D7F6-B498-43B3-948B-1728B52AA6E4}">
                <adec:decorative xmlns:adec="http://schemas.microsoft.com/office/drawing/2017/decorative" val="1"/>
              </a:ext>
            </a:extLst>
          </p:cNvPr>
          <p:cNvSpPr/>
          <p:nvPr/>
        </p:nvSpPr>
        <p:spPr>
          <a:xfrm>
            <a:off x="296565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locally weight"/>
          <p:cNvSpPr txBox="1"/>
          <p:nvPr/>
        </p:nvSpPr>
        <p:spPr>
          <a:xfrm>
            <a:off x="3130246" y="3198876"/>
            <a:ext cx="2894549"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locally weighted regression</a:t>
            </a:r>
          </a:p>
        </p:txBody>
      </p:sp>
      <p:sp>
        <p:nvSpPr>
          <p:cNvPr id="34" name="!!term-curse of dimen">
            <a:extLst>
              <a:ext uri="{C183D7F6-B498-43B3-948B-1728B52AA6E4}">
                <adec:decorative xmlns:adec="http://schemas.microsoft.com/office/drawing/2017/decorative" val="1"/>
              </a:ext>
            </a:extLst>
          </p:cNvPr>
          <p:cNvSpPr/>
          <p:nvPr/>
        </p:nvSpPr>
        <p:spPr>
          <a:xfrm>
            <a:off x="6061372" y="3090672"/>
            <a:ext cx="268179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curse of dimen">
            <a:extLst>
              <a:ext uri="{C183D7F6-B498-43B3-948B-1728B52AA6E4}">
                <adec:decorative xmlns:adec="http://schemas.microsoft.com/office/drawing/2017/decorative" val="1"/>
              </a:ext>
            </a:extLst>
          </p:cNvPr>
          <p:cNvSpPr/>
          <p:nvPr/>
        </p:nvSpPr>
        <p:spPr>
          <a:xfrm>
            <a:off x="6189388"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curse of dimen"/>
          <p:cNvSpPr txBox="1"/>
          <p:nvPr/>
        </p:nvSpPr>
        <p:spPr>
          <a:xfrm>
            <a:off x="6353980" y="3198876"/>
            <a:ext cx="249891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curse of dimensionality</a:t>
            </a:r>
          </a:p>
        </p:txBody>
      </p:sp>
      <p:sp>
        <p:nvSpPr>
          <p:cNvPr id="37" name="!!term-KD-tree">
            <a:extLst>
              <a:ext uri="{C183D7F6-B498-43B3-948B-1728B52AA6E4}">
                <adec:decorative xmlns:adec="http://schemas.microsoft.com/office/drawing/2017/decorative" val="1"/>
              </a:ext>
            </a:extLst>
          </p:cNvPr>
          <p:cNvSpPr/>
          <p:nvPr/>
        </p:nvSpPr>
        <p:spPr>
          <a:xfrm>
            <a:off x="8889471" y="3090672"/>
            <a:ext cx="119069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rmd-KD-tree">
            <a:extLst>
              <a:ext uri="{C183D7F6-B498-43B3-948B-1728B52AA6E4}">
                <adec:decorative xmlns:adec="http://schemas.microsoft.com/office/drawing/2017/decorative" val="1"/>
              </a:ext>
            </a:extLst>
          </p:cNvPr>
          <p:cNvSpPr/>
          <p:nvPr/>
        </p:nvSpPr>
        <p:spPr>
          <a:xfrm>
            <a:off x="9017487"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rmt-KD-tree"/>
          <p:cNvSpPr txBox="1"/>
          <p:nvPr/>
        </p:nvSpPr>
        <p:spPr>
          <a:xfrm>
            <a:off x="9182079" y="3198876"/>
            <a:ext cx="100781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KD-tree</a:t>
            </a:r>
          </a:p>
        </p:txBody>
      </p:sp>
      <p:sp>
        <p:nvSpPr>
          <p:cNvPr id="40" name="!!term-case-based rea">
            <a:extLst>
              <a:ext uri="{C183D7F6-B498-43B3-948B-1728B52AA6E4}">
                <adec:decorative xmlns:adec="http://schemas.microsoft.com/office/drawing/2017/decorative" val="1"/>
              </a:ext>
            </a:extLst>
          </p:cNvPr>
          <p:cNvSpPr/>
          <p:nvPr/>
        </p:nvSpPr>
        <p:spPr>
          <a:xfrm>
            <a:off x="658368" y="3712464"/>
            <a:ext cx="254807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termd-case-based rea">
            <a:extLst>
              <a:ext uri="{C183D7F6-B498-43B3-948B-1728B52AA6E4}">
                <adec:decorative xmlns:adec="http://schemas.microsoft.com/office/drawing/2017/decorative" val="1"/>
              </a:ext>
            </a:extLst>
          </p:cNvPr>
          <p:cNvSpPr/>
          <p:nvPr/>
        </p:nvSpPr>
        <p:spPr>
          <a:xfrm>
            <a:off x="786384" y="3904488"/>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rmt-case-based rea"/>
          <p:cNvSpPr txBox="1"/>
          <p:nvPr/>
        </p:nvSpPr>
        <p:spPr>
          <a:xfrm>
            <a:off x="950976" y="3820668"/>
            <a:ext cx="2365190"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case-based reasoning</a:t>
            </a:r>
          </a:p>
        </p:txBody>
      </p:sp>
      <p:sp>
        <p:nvSpPr>
          <p:cNvPr id="43" name="!!termnote"/>
          <p:cNvSpPr txBox="1"/>
          <p:nvPr/>
        </p:nvSpPr>
        <p:spPr>
          <a:xfrm>
            <a:off x="658368" y="4535424"/>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4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5" name="!!pfill">
            <a:extLst>
              <a:ext uri="{C183D7F6-B498-43B3-948B-1728B52AA6E4}">
                <adec:decorative xmlns:adec="http://schemas.microsoft.com/office/drawing/2017/decorative" val="1"/>
              </a:ext>
            </a:extLst>
          </p:cNvPr>
          <p:cNvSpPr/>
          <p:nvPr/>
        </p:nvSpPr>
        <p:spPr>
          <a:xfrm>
            <a:off x="0" y="0"/>
            <a:ext cx="108370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85–90     </a:t>
            </a:r>
            <a:fld id="{B151ED66-ED80-4470-A122-1916D2DA2722}" type="slidenum">
              <a:rPr lang="en-GB" sz="1000">
                <a:solidFill>
                  <a:srgbClr val="8795A1"/>
                </a:solidFill>
                <a:latin typeface="Segoe UI"/>
              </a:rPr>
              <a:t>5</a:t>
            </a:fld>
          </a:p>
        </p:txBody>
      </p:sp>
      <p:sp>
        <p:nvSpPr>
          <p:cNvPr id="7" name="!!ag0" descr="Go to section 11.1 Learning by Remembering">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Learning by Remembering</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85  ›</a:t>
            </a:r>
          </a:p>
        </p:txBody>
      </p:sp>
      <p:sp>
        <p:nvSpPr>
          <p:cNvPr id="12" name="!!ag1" descr="Go to section 11.2 The k-Nearest Neighbour Algorithm">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k-Nearest Neighbour Algorithm</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85  ›</a:t>
            </a:r>
          </a:p>
        </p:txBody>
      </p:sp>
      <p:sp>
        <p:nvSpPr>
          <p:cNvPr id="17" name="!!ag2" descr="Go to section 11.3 Distance and Scale">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Distance and Scale</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86  ›</a:t>
            </a:r>
          </a:p>
        </p:txBody>
      </p:sp>
      <p:sp>
        <p:nvSpPr>
          <p:cNvPr id="22" name="!!ag3" descr="Go to section 11.4 Choosing k">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Choosing k</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87  ›</a:t>
            </a:r>
          </a:p>
        </p:txBody>
      </p:sp>
      <p:sp>
        <p:nvSpPr>
          <p:cNvPr id="27" name="!!ag4" descr="Go to section 11.5 Beyond Classification">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Beyond Classification</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87  ›</a:t>
            </a:r>
          </a:p>
        </p:txBody>
      </p:sp>
      <p:sp>
        <p:nvSpPr>
          <p:cNvPr id="32" name="!!ag5" descr="Go to section 11.6 The Curse of Dimensionality">
            <a:hlinkClick action="ppaction://hlinksldjump" r:id="rId10"/>
          </p:cNvPr>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Curse of Dimensionality</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88  ›</a:t>
            </a:r>
          </a:p>
        </p:txBody>
      </p:sp>
      <p:sp>
        <p:nvSpPr>
          <p:cNvPr id="37" name="!!ag6" descr="Go to section 11.7 The Cost of Being Lazy">
            <a:hlinkClick action="ppaction://hlinksldjump" r:id="rId11"/>
          </p:cNvPr>
          <p:cNvSpPr/>
          <p:nvPr/>
        </p:nvSpPr>
        <p:spPr>
          <a:xfrm>
            <a:off x="658368" y="561441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agb6">
            <a:extLst>
              <a:ext uri="{C183D7F6-B498-43B3-948B-1728B52AA6E4}">
                <adec:decorative xmlns:adec="http://schemas.microsoft.com/office/drawing/2017/decorative" val="1"/>
              </a:ext>
            </a:extLst>
          </p:cNvPr>
          <p:cNvSpPr/>
          <p:nvPr/>
        </p:nvSpPr>
        <p:spPr>
          <a:xfrm>
            <a:off x="658368" y="5614416"/>
            <a:ext cx="64008" cy="56692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agn6"/>
          <p:cNvSpPr txBox="1"/>
          <p:nvPr/>
        </p:nvSpPr>
        <p:spPr>
          <a:xfrm>
            <a:off x="932688" y="57607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1B7A43"/>
                </a:solidFill>
                <a:latin typeface="Segoe UI Semibold"/>
              </a:rPr>
              <a:t>11.7</a:t>
            </a:r>
          </a:p>
        </p:txBody>
      </p:sp>
      <p:sp>
        <p:nvSpPr>
          <p:cNvPr id="40" name="!!agt6"/>
          <p:cNvSpPr txBox="1"/>
          <p:nvPr/>
        </p:nvSpPr>
        <p:spPr>
          <a:xfrm>
            <a:off x="1847088" y="57607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Cost of Being Lazy</a:t>
            </a:r>
          </a:p>
        </p:txBody>
      </p:sp>
      <p:sp>
        <p:nvSpPr>
          <p:cNvPr id="41" name="!!agp6"/>
          <p:cNvSpPr txBox="1"/>
          <p:nvPr/>
        </p:nvSpPr>
        <p:spPr>
          <a:xfrm>
            <a:off x="9795967" y="578815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88  ›</a:t>
            </a:r>
          </a:p>
        </p:txBody>
      </p:sp>
      <p:sp>
        <p:nvSpPr>
          <p:cNvPr id="4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3" name="!!pfill">
            <a:extLst>
              <a:ext uri="{C183D7F6-B498-43B3-948B-1728B52AA6E4}">
                <adec:decorative xmlns:adec="http://schemas.microsoft.com/office/drawing/2017/decorative" val="1"/>
              </a:ext>
            </a:extLst>
          </p:cNvPr>
          <p:cNvSpPr/>
          <p:nvPr/>
        </p:nvSpPr>
        <p:spPr>
          <a:xfrm>
            <a:off x="0" y="0"/>
            <a:ext cx="135463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by Remembering</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§11.1  ·  Handout p. 85     </a:t>
            </a:r>
            <a:fld id="{20CC4A0F-9FE2-4C5E-9C04-E4752E3B9476}" type="slidenum">
              <a:rPr lang="en-GB" sz="1000">
                <a:solidFill>
                  <a:srgbClr val="8795A1"/>
                </a:solidFill>
                <a:latin typeface="Segoe UI"/>
              </a:rPr>
              <a:t>6</a:t>
            </a:fld>
          </a:p>
        </p:txBody>
      </p:sp>
      <p:sp>
        <p:nvSpPr>
          <p:cNvPr id="7" name="!!stbar">
            <a:extLst>
              <a:ext uri="{C183D7F6-B498-43B3-948B-1728B52AA6E4}">
                <adec:decorative xmlns:adec="http://schemas.microsoft.com/office/drawing/2017/decorative" val="1"/>
              </a:ext>
            </a:extLst>
          </p:cNvPr>
          <p:cNvSpPr/>
          <p:nvPr/>
        </p:nvSpPr>
        <p:spPr>
          <a:xfrm>
            <a:off x="658368" y="1810512"/>
            <a:ext cx="73152" cy="430138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Every learner so far has been </a:t>
            </a:r>
            <a:r>
              <a:rPr sz="2200" b="1" i="0">
                <a:solidFill>
                  <a:srgbClr val="1A5276"/>
                </a:solidFill>
                <a:latin typeface="Segoe UI"/>
              </a:rPr>
              <a:t>eager</a:t>
            </a:r>
            <a:r>
              <a:rPr sz="2200" b="0" i="0">
                <a:solidFill>
                  <a:srgbClr val="1C252B"/>
                </a:solidFill>
                <a:latin typeface="Segoe UI"/>
              </a:rPr>
              <a:t>: it studies the training data once, builds an explicit model — a line, a tree, a table of probabilities — and then discards the data. </a:t>
            </a:r>
            <a:r>
              <a:rPr sz="2200" b="1" i="0">
                <a:solidFill>
                  <a:srgbClr val="1A5276"/>
                </a:solidFill>
                <a:latin typeface="Segoe UI"/>
              </a:rPr>
              <a:t>Instance-based</a:t>
            </a:r>
            <a:r>
              <a:rPr sz="2200" b="0" i="0">
                <a:solidFill>
                  <a:srgbClr val="1C252B"/>
                </a:solidFill>
                <a:latin typeface="Segoe UI"/>
              </a:rPr>
              <a:t> learning is </a:t>
            </a:r>
            <a:r>
              <a:rPr sz="2200" b="1" i="0">
                <a:solidFill>
                  <a:srgbClr val="1A5276"/>
                </a:solidFill>
                <a:latin typeface="Segoe UI"/>
              </a:rPr>
              <a:t>lazy</a:t>
            </a:r>
            <a:r>
              <a:rPr sz="2200" b="0" i="0">
                <a:solidFill>
                  <a:srgbClr val="1C252B"/>
                </a:solidFill>
                <a:latin typeface="Segoe UI"/>
              </a:rPr>
              <a:t>. It stores the training examples and does nothing more until asked to classify a new one; only then does it look for the stored examples most similar to the query and let them decide.</a:t>
            </a:r>
          </a:p>
        </p:txBody>
      </p:sp>
      <p:sp>
        <p:nvSpPr>
          <p:cNvPr id="9" name="body-1"/>
          <p:cNvSpPr txBox="1"/>
          <p:nvPr/>
        </p:nvSpPr>
        <p:spPr>
          <a:xfrm>
            <a:off x="1042415" y="3689350"/>
            <a:ext cx="1041775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idea is old and intuitive: to predict whether a student will pass, find the students most like them and see how they did. Its strengths follow directly. There is no training time, the model can be as complex as the data (the decision boundary follows whatever shape the examples trace), and new examples are added by simply storing them. Its weaknesses follow too: every prediction requires searching the stored data, and “most similar” is only as good as the distance measure.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62555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k-Nearest Neighbour Algorithm</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2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11.2</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Learning by Remembering</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11.2   The k-Nearest Neighbour Algorithm</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11.3   Distance and Scale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Choosing k</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11.5   Beyond Classification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11.6   The Curse of Dimensionality</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11.7   The Cost of Being Lazy</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§11.2     </a:t>
            </a:r>
            <a:fld id="{BED0F3FD-2095-4946-8384-34BAA2A23C48}" type="slidenum">
              <a:rPr lang="en-GB" sz="1000">
                <a:solidFill>
                  <a:srgbClr val="8795A1"/>
                </a:solidFill>
                <a:latin typeface="Segoe UI"/>
              </a:rPr>
              <a:t>7</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189648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k-Nearest Neighbours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§11.2  ·  Handout p. 85     </a:t>
            </a:r>
            <a:fld id="{A90C0525-F886-4149-B5F1-75752F55AF8A}" type="slidenum">
              <a:rPr lang="en-GB" sz="1000">
                <a:solidFill>
                  <a:srgbClr val="8795A1"/>
                </a:solidFill>
                <a:latin typeface="Segoe UI"/>
              </a:rPr>
              <a:t>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99357"/>
          </a:xfrm>
          <a:prstGeom prst="roundRect">
            <a:avLst>
              <a:gd name="adj" fmla="val 2471"/>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99357"/>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To classify a query </a:t>
            </a:r>
            <a:r>
              <a:rPr sz="2300" b="1" i="1">
                <a:solidFill>
                  <a:srgbClr val="1C252B"/>
                </a:solidFill>
                <a:latin typeface="Cambria"/>
              </a:rPr>
              <a:t>x</a:t>
            </a:r>
            <a:r>
              <a:rPr sz="2300" b="0" i="1" baseline="-25000">
                <a:solidFill>
                  <a:srgbClr val="1C252B"/>
                </a:solidFill>
                <a:latin typeface="Cambria"/>
              </a:rPr>
              <a:t>q</a:t>
            </a:r>
            <a:r>
              <a:rPr sz="2300" b="0" i="0">
                <a:solidFill>
                  <a:srgbClr val="1C252B"/>
                </a:solidFill>
                <a:latin typeface="Segoe UI"/>
              </a:rPr>
              <a:t>:</a:t>
            </a:r>
          </a:p>
        </p:txBody>
      </p:sp>
      <p:sp>
        <p:nvSpPr>
          <p:cNvPr id="10" name="body-1"/>
          <p:cNvSpPr txBox="1"/>
          <p:nvPr/>
        </p:nvSpPr>
        <p:spPr>
          <a:xfrm>
            <a:off x="1060704" y="2573451"/>
            <a:ext cx="10161727" cy="1708353"/>
          </a:xfrm>
          <a:prstGeom prst="rect">
            <a:avLst/>
          </a:prstGeom>
          <a:noFill/>
        </p:spPr>
        <p:txBody>
          <a:bodyPr wrap="square" anchor="t" lIns="0" rIns="0" tIns="0" bIns="0">
            <a:noAutofit/>
          </a:bodyPr>
          <a:lstStyle/>
          <a:p>
            <a:pPr algn="l" marL="554820" indent="-554820">
              <a:lnSpc>
                <a:spcPct val="104000"/>
              </a:lnSpc>
              <a:spcBef>
                <a:spcPts val="0"/>
              </a:spcBef>
              <a:spcAft>
                <a:spcPts val="804"/>
              </a:spcAft>
            </a:pPr>
            <a:r>
              <a:rPr sz="2300" b="1">
                <a:solidFill>
                  <a:srgbClr val="8A4500"/>
                </a:solidFill>
                <a:latin typeface="Segoe UI"/>
              </a:rPr>
              <a:t>1.	</a:t>
            </a:r>
            <a:r>
              <a:rPr sz="2300" b="0" i="0">
                <a:solidFill>
                  <a:srgbClr val="1C252B"/>
                </a:solidFill>
                <a:latin typeface="Segoe UI"/>
              </a:rPr>
              <a:t>compute its distance to every stored training example;</a:t>
            </a:r>
          </a:p>
          <a:p>
            <a:pPr algn="l" marL="554820" indent="-554820">
              <a:lnSpc>
                <a:spcPct val="104000"/>
              </a:lnSpc>
              <a:spcBef>
                <a:spcPts val="0"/>
              </a:spcBef>
              <a:spcAft>
                <a:spcPts val="804"/>
              </a:spcAft>
            </a:pPr>
            <a:r>
              <a:rPr sz="2300" b="1">
                <a:solidFill>
                  <a:srgbClr val="8A4500"/>
                </a:solidFill>
                <a:latin typeface="Segoe UI"/>
              </a:rPr>
              <a:t>2.	</a:t>
            </a:r>
            <a:r>
              <a:rPr sz="2300" b="0" i="0">
                <a:solidFill>
                  <a:srgbClr val="1C252B"/>
                </a:solidFill>
                <a:latin typeface="Segoe UI"/>
              </a:rPr>
              <a:t>take the </a:t>
            </a:r>
            <a:r>
              <a:rPr sz="2300" b="0" i="1">
                <a:solidFill>
                  <a:srgbClr val="1C252B"/>
                </a:solidFill>
                <a:latin typeface="Cambria"/>
              </a:rPr>
              <a:t>k</a:t>
            </a:r>
            <a:r>
              <a:rPr sz="2300" b="0" i="0">
                <a:solidFill>
                  <a:srgbClr val="1C252B"/>
                </a:solidFill>
                <a:latin typeface="Segoe UI"/>
              </a:rPr>
              <a:t> examples with the smallest distances;</a:t>
            </a:r>
          </a:p>
          <a:p>
            <a:pPr algn="l" marL="554820" indent="-554820">
              <a:lnSpc>
                <a:spcPct val="104000"/>
              </a:lnSpc>
              <a:spcBef>
                <a:spcPts val="0"/>
              </a:spcBef>
              <a:spcAft>
                <a:spcPts val="0"/>
              </a:spcAft>
            </a:pPr>
            <a:r>
              <a:rPr sz="2300" b="1">
                <a:solidFill>
                  <a:srgbClr val="8A4500"/>
                </a:solidFill>
                <a:latin typeface="Segoe UI"/>
              </a:rPr>
              <a:t>3.	</a:t>
            </a:r>
            <a:r>
              <a:rPr sz="2300" b="0" i="0">
                <a:solidFill>
                  <a:srgbClr val="1C252B"/>
                </a:solidFill>
                <a:latin typeface="Segoe UI"/>
              </a:rPr>
              <a:t>predict the most common class among them (for regression, the mean of their target values).</a:t>
            </a:r>
          </a:p>
        </p:txBody>
      </p:sp>
      <p:sp>
        <p:nvSpPr>
          <p:cNvPr id="11" name="body-2"/>
          <p:cNvSpPr txBox="1"/>
          <p:nvPr/>
        </p:nvSpPr>
        <p:spPr>
          <a:xfrm>
            <a:off x="1060704" y="4396739"/>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Its inductive bias is </a:t>
            </a:r>
            <a:r>
              <a:rPr sz="2300" b="0" i="1">
                <a:solidFill>
                  <a:srgbClr val="1C252B"/>
                </a:solidFill>
                <a:latin typeface="Segoe UI"/>
              </a:rPr>
              <a:t>smoothness</a:t>
            </a:r>
            <a:r>
              <a:rPr sz="2300" b="0" i="0">
                <a:solidFill>
                  <a:srgbClr val="1C252B"/>
                </a:solidFill>
                <a:latin typeface="Segoe UI"/>
              </a:rPr>
              <a:t>: the classification of an instance is most similar to the classifications of instances nearby in the feature space.</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216741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0">
                                            <p:txEl>
                                              <p:pRg st="0" end="0"/>
                                            </p:txEl>
                                          </p:spTgt>
                                        </p:tgtEl>
                                        <p:attrNameLst>
                                          <p:attrName>style.visibility</p:attrName>
                                        </p:attrNameLst>
                                      </p:cBhvr>
                                      <p:to>
                                        <p:strVal val="visible"/>
                                      </p:to>
                                    </p:set>
                                    <p:animEffect transition="in" filter="fade">
                                      <p:cBhvr>
                                        <p:cTn id="8" dur="380"/>
                                        <p:tgtEl>
                                          <p:spTgt spid="10">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Effect transition="in" filter="fade">
                                      <p:cBhvr>
                                        <p:cTn id="13" dur="380"/>
                                        <p:tgtEl>
                                          <p:spTgt spid="10">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xEl>
                                              <p:pRg st="2" end="2"/>
                                            </p:txEl>
                                          </p:spTgt>
                                        </p:tgtEl>
                                        <p:attrNameLst>
                                          <p:attrName>style.visibility</p:attrName>
                                        </p:attrNameLst>
                                      </p:cBhvr>
                                      <p:to>
                                        <p:strVal val="visible"/>
                                      </p:to>
                                    </p:set>
                                    <p:animEffect transition="in" filter="fade">
                                      <p:cBhvr>
                                        <p:cTn id="18" dur="38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Six students and one query</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§11.2  ·  Handout p. 85     </a:t>
            </a:r>
            <a:fld id="{3FAB55A5-3217-40C1-9DAD-B1051A7B1B90}" type="slidenum">
              <a:rPr lang="en-GB" sz="1000">
                <a:solidFill>
                  <a:srgbClr val="8795A1"/>
                </a:solidFill>
                <a:latin typeface="Segoe UI"/>
              </a:rPr>
              <a:t>9</a:t>
            </a:fld>
          </a:p>
        </p:txBody>
      </p:sp>
      <p:pic>
        <p:nvPicPr>
          <p:cNvPr id="6" name="!!figure" descr="Figure 11.1. Six students and one query. Which class the query receives depends on how many neighbours are asked. (Axes scaled so that 10 marks = one unit.)"/>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64691" y="1737360"/>
            <a:ext cx="7662311"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Which class the query receives depends on how many neighbours are asked. (Axes scaled so that 10 marks = one unit.)</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43833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Values of k, Three Answers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§11.2  ·  Handout p. 85     </a:t>
            </a:r>
            <a:fld id="{E19B76CB-5AA9-47D6-8EE3-E00976CB66E7}"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247768"/>
          </a:xfrm>
          <a:prstGeom prst="roundRect">
            <a:avLst>
              <a:gd name="adj" fmla="val 2152"/>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24776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Six students, with attendance and quiz average in percent: A (90, 85) Pass; B (80, 70) Pass; C (60, 75) Pass; D (55, 40) Fail; E (72, 46) Fail; F (40, 60) Fail. Classify the query Q (65, 60). Both features are on the same 0–100 scale, so no rescaling is needed.</a:t>
            </a:r>
          </a:p>
        </p:txBody>
      </p:sp>
      <p:sp>
        <p:nvSpPr>
          <p:cNvPr id="10" name="body-1"/>
          <p:cNvSpPr txBox="1"/>
          <p:nvPr/>
        </p:nvSpPr>
        <p:spPr>
          <a:xfrm>
            <a:off x="1042416" y="3047822"/>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Distances from Q</a:t>
            </a:r>
            <a:r>
              <a:rPr sz="1900" b="0" i="0">
                <a:solidFill>
                  <a:srgbClr val="1C252B"/>
                </a:solidFill>
                <a:latin typeface="Segoe UI"/>
              </a:rPr>
              <a:t>, sorted:</a:t>
            </a:r>
          </a:p>
        </p:txBody>
      </p:sp>
      <p:sp>
        <p:nvSpPr>
          <p:cNvPr id="11" name="body-2"/>
          <p:cNvSpPr txBox="1"/>
          <p:nvPr/>
        </p:nvSpPr>
        <p:spPr>
          <a:xfrm>
            <a:off x="1042416" y="3481679"/>
            <a:ext cx="10234879" cy="2274849"/>
          </a:xfrm>
          <a:prstGeom prst="rect">
            <a:avLst/>
          </a:prstGeom>
          <a:noFill/>
        </p:spPr>
        <p:txBody>
          <a:bodyPr wrap="square" anchor="t" lIns="0" rIns="0" tIns="0" bIns="0">
            <a:noAutofit/>
          </a:bodyPr>
          <a:lstStyle/>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E: </a:t>
            </a:r>
            <a:r>
              <a:rPr sz="1900" b="0" i="0">
                <a:solidFill>
                  <a:srgbClr val="1C252B"/>
                </a:solidFill>
                <a:latin typeface="Cambria"/>
              </a:rPr>
              <a:t>√(7</a:t>
            </a:r>
            <a:r>
              <a:rPr sz="1900" b="0" i="0" baseline="30000">
                <a:solidFill>
                  <a:srgbClr val="1C252B"/>
                </a:solidFill>
                <a:latin typeface="Cambria"/>
              </a:rPr>
              <a:t>2</a:t>
            </a:r>
            <a:r>
              <a:rPr sz="1900" b="0" i="0">
                <a:solidFill>
                  <a:srgbClr val="1C252B"/>
                </a:solidFill>
                <a:latin typeface="Cambria"/>
              </a:rPr>
              <a:t> + 14</a:t>
            </a:r>
            <a:r>
              <a:rPr sz="1900" b="0" i="0" baseline="30000">
                <a:solidFill>
                  <a:srgbClr val="1C252B"/>
                </a:solidFill>
                <a:latin typeface="Cambria"/>
              </a:rPr>
              <a:t>2</a:t>
            </a:r>
            <a:r>
              <a:rPr sz="1900" b="0" i="0">
                <a:solidFill>
                  <a:srgbClr val="1C252B"/>
                </a:solidFill>
                <a:latin typeface="Cambria"/>
              </a:rPr>
              <a:t>) = √(245) = 15.65</a:t>
            </a:r>
            <a:r>
              <a:rPr sz="1900" b="0" i="0">
                <a:solidFill>
                  <a:srgbClr val="1C252B"/>
                </a:solidFill>
                <a:latin typeface="Segoe UI"/>
              </a:rPr>
              <a:t> (Fail)</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C: </a:t>
            </a:r>
            <a:r>
              <a:rPr sz="1900" b="0" i="0">
                <a:solidFill>
                  <a:srgbClr val="1C252B"/>
                </a:solidFill>
                <a:latin typeface="Cambria"/>
              </a:rPr>
              <a:t>√(5</a:t>
            </a:r>
            <a:r>
              <a:rPr sz="1900" b="0" i="0" baseline="30000">
                <a:solidFill>
                  <a:srgbClr val="1C252B"/>
                </a:solidFill>
                <a:latin typeface="Cambria"/>
              </a:rPr>
              <a:t>2</a:t>
            </a:r>
            <a:r>
              <a:rPr sz="1900" b="0" i="0">
                <a:solidFill>
                  <a:srgbClr val="1C252B"/>
                </a:solidFill>
                <a:latin typeface="Cambria"/>
              </a:rPr>
              <a:t> + 15</a:t>
            </a:r>
            <a:r>
              <a:rPr sz="1900" b="0" i="0" baseline="30000">
                <a:solidFill>
                  <a:srgbClr val="1C252B"/>
                </a:solidFill>
                <a:latin typeface="Cambria"/>
              </a:rPr>
              <a:t>2</a:t>
            </a:r>
            <a:r>
              <a:rPr sz="1900" b="0" i="0">
                <a:solidFill>
                  <a:srgbClr val="1C252B"/>
                </a:solidFill>
                <a:latin typeface="Cambria"/>
              </a:rPr>
              <a:t>) = √(250) = 15.81</a:t>
            </a:r>
            <a:r>
              <a:rPr sz="1900" b="0" i="0">
                <a:solidFill>
                  <a:srgbClr val="1C252B"/>
                </a:solidFill>
                <a:latin typeface="Segoe UI"/>
              </a:rPr>
              <a:t> (Pass)</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B: </a:t>
            </a:r>
            <a:r>
              <a:rPr sz="1900" b="0" i="0">
                <a:solidFill>
                  <a:srgbClr val="1C252B"/>
                </a:solidFill>
                <a:latin typeface="Cambria"/>
              </a:rPr>
              <a:t>√(15</a:t>
            </a:r>
            <a:r>
              <a:rPr sz="1900" b="0" i="0" baseline="30000">
                <a:solidFill>
                  <a:srgbClr val="1C252B"/>
                </a:solidFill>
                <a:latin typeface="Cambria"/>
              </a:rPr>
              <a:t>2</a:t>
            </a:r>
            <a:r>
              <a:rPr sz="1900" b="0" i="0">
                <a:solidFill>
                  <a:srgbClr val="1C252B"/>
                </a:solidFill>
                <a:latin typeface="Cambria"/>
              </a:rPr>
              <a:t> + 10</a:t>
            </a:r>
            <a:r>
              <a:rPr sz="1900" b="0" i="0" baseline="30000">
                <a:solidFill>
                  <a:srgbClr val="1C252B"/>
                </a:solidFill>
                <a:latin typeface="Cambria"/>
              </a:rPr>
              <a:t>2</a:t>
            </a:r>
            <a:r>
              <a:rPr sz="1900" b="0" i="0">
                <a:solidFill>
                  <a:srgbClr val="1C252B"/>
                </a:solidFill>
                <a:latin typeface="Cambria"/>
              </a:rPr>
              <a:t>) = √(325) = 18.03</a:t>
            </a:r>
            <a:r>
              <a:rPr sz="1900" b="0" i="0">
                <a:solidFill>
                  <a:srgbClr val="1C252B"/>
                </a:solidFill>
                <a:latin typeface="Segoe UI"/>
              </a:rPr>
              <a:t> (Pass)</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D: </a:t>
            </a:r>
            <a:r>
              <a:rPr sz="1900" b="0" i="0">
                <a:solidFill>
                  <a:srgbClr val="1C252B"/>
                </a:solidFill>
                <a:latin typeface="Cambria"/>
              </a:rPr>
              <a:t>√(10</a:t>
            </a:r>
            <a:r>
              <a:rPr sz="1900" b="0" i="0" baseline="30000">
                <a:solidFill>
                  <a:srgbClr val="1C252B"/>
                </a:solidFill>
                <a:latin typeface="Cambria"/>
              </a:rPr>
              <a:t>2</a:t>
            </a:r>
            <a:r>
              <a:rPr sz="1900" b="0" i="0">
                <a:solidFill>
                  <a:srgbClr val="1C252B"/>
                </a:solidFill>
                <a:latin typeface="Cambria"/>
              </a:rPr>
              <a:t> + 20</a:t>
            </a:r>
            <a:r>
              <a:rPr sz="1900" b="0" i="0" baseline="30000">
                <a:solidFill>
                  <a:srgbClr val="1C252B"/>
                </a:solidFill>
                <a:latin typeface="Cambria"/>
              </a:rPr>
              <a:t>2</a:t>
            </a:r>
            <a:r>
              <a:rPr sz="1900" b="0" i="0">
                <a:solidFill>
                  <a:srgbClr val="1C252B"/>
                </a:solidFill>
                <a:latin typeface="Cambria"/>
              </a:rPr>
              <a:t>) = √(500) = 22.36</a:t>
            </a:r>
            <a:r>
              <a:rPr sz="1900" b="0" i="0">
                <a:solidFill>
                  <a:srgbClr val="1C252B"/>
                </a:solidFill>
                <a:latin typeface="Segoe UI"/>
              </a:rPr>
              <a:t> (Fail)</a:t>
            </a:r>
          </a:p>
          <a:p>
            <a:pPr algn="l" marL="212450" indent="-212450">
              <a:lnSpc>
                <a:spcPct val="104000"/>
              </a:lnSpc>
              <a:spcBef>
                <a:spcPts val="0"/>
              </a:spcBef>
              <a:spcAft>
                <a:spcPts val="665"/>
              </a:spcAft>
            </a:pPr>
            <a:r>
              <a:rPr sz="1900" b="1">
                <a:solidFill>
                  <a:srgbClr val="7D6608"/>
                </a:solidFill>
                <a:latin typeface="Segoe UI"/>
              </a:rPr>
              <a:t>•	</a:t>
            </a:r>
            <a:r>
              <a:rPr sz="1900" b="0" i="0">
                <a:solidFill>
                  <a:srgbClr val="1C252B"/>
                </a:solidFill>
                <a:latin typeface="Segoe UI"/>
              </a:rPr>
              <a:t>F: </a:t>
            </a:r>
            <a:r>
              <a:rPr sz="1900" b="0" i="0">
                <a:solidFill>
                  <a:srgbClr val="1C252B"/>
                </a:solidFill>
                <a:latin typeface="Cambria"/>
              </a:rPr>
              <a:t>√(25</a:t>
            </a:r>
            <a:r>
              <a:rPr sz="1900" b="0" i="0" baseline="30000">
                <a:solidFill>
                  <a:srgbClr val="1C252B"/>
                </a:solidFill>
                <a:latin typeface="Cambria"/>
              </a:rPr>
              <a:t>2</a:t>
            </a:r>
            <a:r>
              <a:rPr sz="1900" b="0" i="0">
                <a:solidFill>
                  <a:srgbClr val="1C252B"/>
                </a:solidFill>
                <a:latin typeface="Cambria"/>
              </a:rPr>
              <a:t> + 0</a:t>
            </a:r>
            <a:r>
              <a:rPr sz="1900" b="0" i="0" baseline="30000">
                <a:solidFill>
                  <a:srgbClr val="1C252B"/>
                </a:solidFill>
                <a:latin typeface="Cambria"/>
              </a:rPr>
              <a:t>2</a:t>
            </a:r>
            <a:r>
              <a:rPr sz="1900" b="0" i="0">
                <a:solidFill>
                  <a:srgbClr val="1C252B"/>
                </a:solidFill>
                <a:latin typeface="Cambria"/>
              </a:rPr>
              <a:t>) = 25.00</a:t>
            </a:r>
            <a:r>
              <a:rPr sz="1900" b="0" i="0">
                <a:solidFill>
                  <a:srgbClr val="1C252B"/>
                </a:solidFill>
                <a:latin typeface="Segoe UI"/>
              </a:rPr>
              <a:t> (Fail)</a:t>
            </a:r>
          </a:p>
          <a:p>
            <a:pPr algn="l" marL="212450" indent="-212450">
              <a:lnSpc>
                <a:spcPct val="104000"/>
              </a:lnSpc>
              <a:spcBef>
                <a:spcPts val="0"/>
              </a:spcBef>
              <a:spcAft>
                <a:spcPts val="0"/>
              </a:spcAft>
            </a:pPr>
            <a:r>
              <a:rPr sz="1900" b="1">
                <a:solidFill>
                  <a:srgbClr val="7D6608"/>
                </a:solidFill>
                <a:latin typeface="Segoe UI"/>
              </a:rPr>
              <a:t>•	</a:t>
            </a:r>
            <a:r>
              <a:rPr sz="1900" b="0" i="0">
                <a:solidFill>
                  <a:srgbClr val="1C252B"/>
                </a:solidFill>
                <a:latin typeface="Segoe UI"/>
              </a:rPr>
              <a:t>A: </a:t>
            </a:r>
            <a:r>
              <a:rPr sz="1900" b="0" i="0">
                <a:solidFill>
                  <a:srgbClr val="1C252B"/>
                </a:solidFill>
                <a:latin typeface="Cambria"/>
              </a:rPr>
              <a:t>√(25</a:t>
            </a:r>
            <a:r>
              <a:rPr sz="1900" b="0" i="0" baseline="30000">
                <a:solidFill>
                  <a:srgbClr val="1C252B"/>
                </a:solidFill>
                <a:latin typeface="Cambria"/>
              </a:rPr>
              <a:t>2</a:t>
            </a:r>
            <a:r>
              <a:rPr sz="1900" b="0" i="0">
                <a:solidFill>
                  <a:srgbClr val="1C252B"/>
                </a:solidFill>
                <a:latin typeface="Cambria"/>
              </a:rPr>
              <a:t> + 25</a:t>
            </a:r>
            <a:r>
              <a:rPr sz="1900" b="0" i="0" baseline="30000">
                <a:solidFill>
                  <a:srgbClr val="1C252B"/>
                </a:solidFill>
                <a:latin typeface="Cambria"/>
              </a:rPr>
              <a:t>2</a:t>
            </a:r>
            <a:r>
              <a:rPr sz="1900" b="0" i="0">
                <a:solidFill>
                  <a:srgbClr val="1C252B"/>
                </a:solidFill>
                <a:latin typeface="Cambria"/>
              </a:rPr>
              <a:t>) = √(1250) = 35.36</a:t>
            </a:r>
            <a:r>
              <a:rPr sz="1900" b="0" i="0">
                <a:solidFill>
                  <a:srgbClr val="1C252B"/>
                </a:solidFill>
                <a:latin typeface="Segoe UI"/>
              </a:rPr>
              <a:t> (Pass)</a:t>
            </a:r>
          </a:p>
        </p:txBody>
      </p:sp>
      <p:sp>
        <p:nvSpPr>
          <p:cNvPr id="3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pfill">
            <a:extLst>
              <a:ext uri="{C183D7F6-B498-43B3-948B-1728B52AA6E4}">
                <adec:decorative xmlns:adec="http://schemas.microsoft.com/office/drawing/2017/decorative" val="1"/>
              </a:ext>
            </a:extLst>
          </p:cNvPr>
          <p:cNvSpPr/>
          <p:nvPr/>
        </p:nvSpPr>
        <p:spPr>
          <a:xfrm>
            <a:off x="0" y="0"/>
            <a:ext cx="270926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1">
                                            <p:txEl>
                                              <p:pRg st="0" end="0"/>
                                            </p:txEl>
                                          </p:spTgt>
                                        </p:tgtEl>
                                        <p:attrNameLst>
                                          <p:attrName>style.visibility</p:attrName>
                                        </p:attrNameLst>
                                      </p:cBhvr>
                                      <p:to>
                                        <p:strVal val="visible"/>
                                      </p:to>
                                    </p:set>
                                    <p:animEffect transition="in" filter="fade">
                                      <p:cBhvr>
                                        <p:cTn id="13" dur="350"/>
                                        <p:tgtEl>
                                          <p:spTgt spid="11">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1">
                                            <p:txEl>
                                              <p:pRg st="1" end="1"/>
                                            </p:txEl>
                                          </p:spTgt>
                                        </p:tgtEl>
                                        <p:attrNameLst>
                                          <p:attrName>style.visibility</p:attrName>
                                        </p:attrNameLst>
                                      </p:cBhvr>
                                      <p:to>
                                        <p:strVal val="visible"/>
                                      </p:to>
                                    </p:set>
                                    <p:animEffect transition="in" filter="fade">
                                      <p:cBhvr>
                                        <p:cTn id="18" dur="350"/>
                                        <p:tgtEl>
                                          <p:spTgt spid="11">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xEl>
                                              <p:pRg st="2" end="2"/>
                                            </p:txEl>
                                          </p:spTgt>
                                        </p:tgtEl>
                                        <p:attrNameLst>
                                          <p:attrName>style.visibility</p:attrName>
                                        </p:attrNameLst>
                                      </p:cBhvr>
                                      <p:to>
                                        <p:strVal val="visible"/>
                                      </p:to>
                                    </p:set>
                                    <p:animEffect transition="in" filter="fade">
                                      <p:cBhvr>
                                        <p:cTn id="23" dur="350"/>
                                        <p:tgtEl>
                                          <p:spTgt spid="11">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xEl>
                                              <p:pRg st="3" end="3"/>
                                            </p:txEl>
                                          </p:spTgt>
                                        </p:tgtEl>
                                        <p:attrNameLst>
                                          <p:attrName>style.visibility</p:attrName>
                                        </p:attrNameLst>
                                      </p:cBhvr>
                                      <p:to>
                                        <p:strVal val="visible"/>
                                      </p:to>
                                    </p:set>
                                    <p:animEffect transition="in" filter="fade">
                                      <p:cBhvr>
                                        <p:cTn id="28" dur="350"/>
                                        <p:tgtEl>
                                          <p:spTgt spid="11">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xEl>
                                              <p:pRg st="4" end="4"/>
                                            </p:txEl>
                                          </p:spTgt>
                                        </p:tgtEl>
                                        <p:attrNameLst>
                                          <p:attrName>style.visibility</p:attrName>
                                        </p:attrNameLst>
                                      </p:cBhvr>
                                      <p:to>
                                        <p:strVal val="visible"/>
                                      </p:to>
                                    </p:set>
                                    <p:animEffect transition="in" filter="fade">
                                      <p:cBhvr>
                                        <p:cTn id="33" dur="350"/>
                                        <p:tgtEl>
                                          <p:spTgt spid="11">
                                            <p:txEl>
                                              <p:pRg st="4" end="4"/>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1">
                                            <p:txEl>
                                              <p:pRg st="5" end="5"/>
                                            </p:txEl>
                                          </p:spTgt>
                                        </p:tgtEl>
                                        <p:attrNameLst>
                                          <p:attrName>style.visibility</p:attrName>
                                        </p:attrNameLst>
                                      </p:cBhvr>
                                      <p:to>
                                        <p:strVal val="visible"/>
                                      </p:to>
                                    </p:set>
                                    <p:animEffect transition="in" filter="fade">
                                      <p:cBhvr>
                                        <p:cTn id="38" dur="350"/>
                                        <p:tgtEl>
                                          <p:spTgt spid="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Three Values of k, Three Answers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§11.2  ·  Handout p. 85     </a:t>
            </a:r>
            <a:fld id="{E05FA1C4-8603-4EA1-A314-6C588B9B2F92}"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885924"/>
          </a:xfrm>
          <a:prstGeom prst="roundRect">
            <a:avLst>
              <a:gd name="adj" fmla="val 4848"/>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88592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1">
                <a:solidFill>
                  <a:srgbClr val="7D6608"/>
                </a:solidFill>
                <a:latin typeface="Cambria"/>
              </a:rPr>
              <a:t>k</a:t>
            </a:r>
            <a:r>
              <a:rPr sz="1900" b="1" i="0">
                <a:solidFill>
                  <a:srgbClr val="1C252B"/>
                </a:solidFill>
                <a:latin typeface="Cambria"/>
              </a:rPr>
              <a:t> = 1</a:t>
            </a:r>
            <a:r>
              <a:rPr sz="1900" b="1" i="0">
                <a:solidFill>
                  <a:srgbClr val="1C252B"/>
                </a:solidFill>
                <a:latin typeface="Segoe UI"/>
              </a:rPr>
              <a:t>:</a:t>
            </a:r>
            <a:r>
              <a:rPr sz="1900" b="0" i="0">
                <a:solidFill>
                  <a:srgbClr val="1C252B"/>
                </a:solidFill>
                <a:latin typeface="Segoe UI"/>
              </a:rPr>
              <a:t> E </a:t>
            </a:r>
            <a:r>
              <a:rPr sz="1900" b="0" i="0">
                <a:solidFill>
                  <a:srgbClr val="1C252B"/>
                </a:solidFill>
                <a:latin typeface="Cambria"/>
              </a:rPr>
              <a:t>⇒</a:t>
            </a:r>
            <a:r>
              <a:rPr sz="1900" b="0" i="0">
                <a:solidFill>
                  <a:srgbClr val="1C252B"/>
                </a:solidFill>
                <a:latin typeface="Segoe UI"/>
              </a:rPr>
              <a:t> </a:t>
            </a:r>
            <a:r>
              <a:rPr sz="1900" b="1" i="0">
                <a:solidFill>
                  <a:srgbClr val="1C252B"/>
                </a:solidFill>
                <a:latin typeface="Segoe UI"/>
              </a:rPr>
              <a:t>Fail</a:t>
            </a:r>
            <a:r>
              <a:rPr sz="1900" b="0" i="0">
                <a:solidFill>
                  <a:srgbClr val="1C252B"/>
                </a:solidFill>
                <a:latin typeface="Segoe UI"/>
              </a:rPr>
              <a:t>. </a:t>
            </a:r>
            <a:r>
              <a:rPr sz="1900" b="1" i="1">
                <a:solidFill>
                  <a:srgbClr val="1C252B"/>
                </a:solidFill>
                <a:latin typeface="Cambria"/>
              </a:rPr>
              <a:t>k</a:t>
            </a:r>
            <a:r>
              <a:rPr sz="1900" b="1" i="0">
                <a:solidFill>
                  <a:srgbClr val="1C252B"/>
                </a:solidFill>
                <a:latin typeface="Cambria"/>
              </a:rPr>
              <a:t> = 3</a:t>
            </a:r>
            <a:r>
              <a:rPr sz="1900" b="1" i="0">
                <a:solidFill>
                  <a:srgbClr val="1C252B"/>
                </a:solidFill>
                <a:latin typeface="Segoe UI"/>
              </a:rPr>
              <a:t>:</a:t>
            </a:r>
            <a:r>
              <a:rPr sz="1900" b="0" i="0">
                <a:solidFill>
                  <a:srgbClr val="1C252B"/>
                </a:solidFill>
                <a:latin typeface="Segoe UI"/>
              </a:rPr>
              <a:t> E, C, B </a:t>
            </a:r>
            <a:r>
              <a:rPr sz="1900" b="0" i="0">
                <a:solidFill>
                  <a:srgbClr val="1C252B"/>
                </a:solidFill>
                <a:latin typeface="Cambria"/>
              </a:rPr>
              <a:t>⇒</a:t>
            </a:r>
            <a:r>
              <a:rPr sz="1900" b="0" i="0">
                <a:solidFill>
                  <a:srgbClr val="1C252B"/>
                </a:solidFill>
                <a:latin typeface="Segoe UI"/>
              </a:rPr>
              <a:t> </a:t>
            </a:r>
            <a:r>
              <a:rPr sz="1900" b="1" i="0">
                <a:solidFill>
                  <a:srgbClr val="1C252B"/>
                </a:solidFill>
                <a:latin typeface="Segoe UI"/>
              </a:rPr>
              <a:t>Pass</a:t>
            </a:r>
            <a:r>
              <a:rPr sz="1900" b="0" i="0">
                <a:solidFill>
                  <a:srgbClr val="1C252B"/>
                </a:solidFill>
                <a:latin typeface="Segoe UI"/>
              </a:rPr>
              <a:t>, 2 to 1. </a:t>
            </a:r>
            <a:r>
              <a:rPr sz="1900" b="1" i="1">
                <a:solidFill>
                  <a:srgbClr val="1C252B"/>
                </a:solidFill>
                <a:latin typeface="Cambria"/>
              </a:rPr>
              <a:t>k</a:t>
            </a:r>
            <a:r>
              <a:rPr sz="1900" b="1" i="0">
                <a:solidFill>
                  <a:srgbClr val="1C252B"/>
                </a:solidFill>
                <a:latin typeface="Cambria"/>
              </a:rPr>
              <a:t> = 5</a:t>
            </a:r>
            <a:r>
              <a:rPr sz="1900" b="1" i="0">
                <a:solidFill>
                  <a:srgbClr val="1C252B"/>
                </a:solidFill>
                <a:latin typeface="Segoe UI"/>
              </a:rPr>
              <a:t>:</a:t>
            </a:r>
            <a:r>
              <a:rPr sz="1900" b="0" i="0">
                <a:solidFill>
                  <a:srgbClr val="1C252B"/>
                </a:solidFill>
                <a:latin typeface="Segoe UI"/>
              </a:rPr>
              <a:t> add D, F </a:t>
            </a:r>
            <a:r>
              <a:rPr sz="1900" b="0" i="0">
                <a:solidFill>
                  <a:srgbClr val="1C252B"/>
                </a:solidFill>
                <a:latin typeface="Cambria"/>
              </a:rPr>
              <a:t>⇒</a:t>
            </a:r>
            <a:r>
              <a:rPr sz="1900" b="0" i="0">
                <a:solidFill>
                  <a:srgbClr val="1C252B"/>
                </a:solidFill>
                <a:latin typeface="Segoe UI"/>
              </a:rPr>
              <a:t> </a:t>
            </a:r>
            <a:r>
              <a:rPr sz="1900" b="1" i="0">
                <a:solidFill>
                  <a:srgbClr val="1C252B"/>
                </a:solidFill>
                <a:latin typeface="Segoe UI"/>
              </a:rPr>
              <a:t>Fail</a:t>
            </a:r>
            <a:r>
              <a:rPr sz="1900" b="0" i="0">
                <a:solidFill>
                  <a:srgbClr val="1C252B"/>
                </a:solidFill>
                <a:latin typeface="Segoe UI"/>
              </a:rPr>
              <a:t>, 3 to 2.</a:t>
            </a:r>
          </a:p>
        </p:txBody>
      </p:sp>
      <p:sp>
        <p:nvSpPr>
          <p:cNvPr id="10" name="body-0bar">
            <a:extLst>
              <a:ext uri="{C183D7F6-B498-43B3-948B-1728B52AA6E4}">
                <adec:decorative xmlns:adec="http://schemas.microsoft.com/office/drawing/2017/decorative" val="1"/>
              </a:ext>
            </a:extLst>
          </p:cNvPr>
          <p:cNvSpPr/>
          <p:nvPr/>
        </p:nvSpPr>
        <p:spPr>
          <a:xfrm>
            <a:off x="841248" y="2029967"/>
            <a:ext cx="54864" cy="28285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body-1"/>
          <p:cNvSpPr txBox="1"/>
          <p:nvPr/>
        </p:nvSpPr>
        <p:spPr>
          <a:xfrm>
            <a:off x="1042416" y="2445537"/>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Distance-weighted, </a:t>
            </a:r>
            <a:r>
              <a:rPr sz="1900" b="1" i="1">
                <a:solidFill>
                  <a:srgbClr val="1C252B"/>
                </a:solidFill>
                <a:latin typeface="Cambria"/>
              </a:rPr>
              <a:t>k</a:t>
            </a:r>
            <a:r>
              <a:rPr sz="1900" b="1" i="0">
                <a:solidFill>
                  <a:srgbClr val="1C252B"/>
                </a:solidFill>
                <a:latin typeface="Cambria"/>
              </a:rPr>
              <a:t> = 5</a:t>
            </a:r>
            <a:r>
              <a:rPr sz="1900" b="1" i="0">
                <a:solidFill>
                  <a:srgbClr val="1C252B"/>
                </a:solidFill>
                <a:latin typeface="Segoe UI"/>
              </a:rPr>
              <a:t>.</a:t>
            </a:r>
            <a:r>
              <a:rPr sz="1900" b="0" i="0">
                <a:solidFill>
                  <a:srgbClr val="1C252B"/>
                </a:solidFill>
                <a:latin typeface="Segoe UI"/>
              </a:rPr>
              <a:t> Weight each vote by </a:t>
            </a:r>
            <a:r>
              <a:rPr sz="1900" b="0" i="0">
                <a:solidFill>
                  <a:srgbClr val="1C252B"/>
                </a:solidFill>
                <a:latin typeface="Cambria"/>
              </a:rPr>
              <a:t>1/</a:t>
            </a:r>
            <a:r>
              <a:rPr sz="1900" b="0" i="1">
                <a:solidFill>
                  <a:srgbClr val="1C252B"/>
                </a:solidFill>
                <a:latin typeface="Cambria"/>
              </a:rPr>
              <a:t>d</a:t>
            </a:r>
            <a:r>
              <a:rPr sz="1900" b="0" i="0" baseline="30000">
                <a:solidFill>
                  <a:srgbClr val="1C252B"/>
                </a:solidFill>
                <a:latin typeface="Cambria"/>
              </a:rPr>
              <a:t>2</a:t>
            </a:r>
            <a:r>
              <a:rPr sz="1900" b="0" i="0">
                <a:solidFill>
                  <a:srgbClr val="1C252B"/>
                </a:solidFill>
                <a:latin typeface="Segoe UI"/>
              </a:rPr>
              <a:t>: Fail </a:t>
            </a:r>
            <a:r>
              <a:rPr sz="1900" b="0" i="0">
                <a:solidFill>
                  <a:srgbClr val="1C252B"/>
                </a:solidFill>
                <a:latin typeface="Cambria"/>
              </a:rPr>
              <a:t>= 1/245 + 1/500 + 1/625 = 0.00768</a:t>
            </a:r>
            <a:r>
              <a:rPr sz="1900" b="0" i="0">
                <a:solidFill>
                  <a:srgbClr val="1C252B"/>
                </a:solidFill>
                <a:latin typeface="Segoe UI"/>
              </a:rPr>
              <a:t>; Pass </a:t>
            </a:r>
            <a:r>
              <a:rPr sz="1900" b="0" i="0">
                <a:solidFill>
                  <a:srgbClr val="1C252B"/>
                </a:solidFill>
                <a:latin typeface="Cambria"/>
              </a:rPr>
              <a:t>= 1/250 + 1/325 = 0.00708</a:t>
            </a:r>
            <a:r>
              <a:rPr sz="1900" b="0" i="0">
                <a:solidFill>
                  <a:srgbClr val="1C252B"/>
                </a:solidFill>
                <a:latin typeface="Segoe UI"/>
              </a:rPr>
              <a:t>. </a:t>
            </a:r>
            <a:r>
              <a:rPr sz="1900" b="1" i="0">
                <a:solidFill>
                  <a:srgbClr val="1C252B"/>
                </a:solidFill>
                <a:latin typeface="Segoe UI"/>
              </a:rPr>
              <a:t>Fail</a:t>
            </a:r>
            <a:r>
              <a:rPr sz="1900" b="0" i="0">
                <a:solidFill>
                  <a:srgbClr val="1C252B"/>
                </a:solidFill>
                <a:latin typeface="Segoe UI"/>
              </a:rPr>
              <a:t>, narrowly — E, the nearest neighbour, counts for more than F, the farthest.</a:t>
            </a:r>
          </a:p>
        </p:txBody>
      </p:sp>
      <p:sp>
        <p:nvSpPr>
          <p:cNvPr id="12" name="body-1bar">
            <a:extLst>
              <a:ext uri="{C183D7F6-B498-43B3-948B-1728B52AA6E4}">
                <adec:decorative xmlns:adec="http://schemas.microsoft.com/office/drawing/2017/decorative" val="1"/>
              </a:ext>
            </a:extLst>
          </p:cNvPr>
          <p:cNvSpPr/>
          <p:nvPr/>
        </p:nvSpPr>
        <p:spPr>
          <a:xfrm>
            <a:off x="841248" y="2463825"/>
            <a:ext cx="54864" cy="885139"/>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pfill">
            <a:extLst>
              <a:ext uri="{C183D7F6-B498-43B3-948B-1728B52AA6E4}">
                <adec:decorative xmlns:adec="http://schemas.microsoft.com/office/drawing/2017/decorative" val="1"/>
              </a:ext>
            </a:extLst>
          </p:cNvPr>
          <p:cNvSpPr/>
          <p:nvPr/>
        </p:nvSpPr>
        <p:spPr>
          <a:xfrm>
            <a:off x="0" y="0"/>
            <a:ext cx="298019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20"/>
                                        <p:tgtEl>
                                          <p:spTgt spid="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wipe(right)">
                                      <p:cBhvr>
                                        <p:cTn id="16" dur="42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Distance and Scale</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3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Learning by Remembering</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11.2   The k-Nearest Neighbour Algorithm</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11.3   Distance and Scale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Choosing k</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11.5   Beyond Classification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11.6   The Curse of Dimensionality</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11.7   The Cost of Being Lazy</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§11.3     </a:t>
            </a:r>
            <a:fld id="{85924614-A566-4F6F-B036-FDD6EFECDD42}" type="slidenum">
              <a:rPr lang="en-GB" sz="1000">
                <a:solidFill>
                  <a:srgbClr val="8795A1"/>
                </a:solidFill>
                <a:latin typeface="Segoe UI"/>
              </a:rPr>
              <a:t>12</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325111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Distance Measures</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§11.3  ·  Handout p. 86     </a:t>
            </a:r>
            <a:fld id="{2E38B73E-6DF3-4082-BB27-8D28DFE182CB}"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443389"/>
          </a:xfrm>
          <a:prstGeom prst="roundRect">
            <a:avLst>
              <a:gd name="adj" fmla="val 2057"/>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443389"/>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410260"/>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For vectors </a:t>
            </a:r>
            <a:r>
              <a:rPr sz="2300" b="1" i="1">
                <a:solidFill>
                  <a:srgbClr val="1C252B"/>
                </a:solidFill>
                <a:latin typeface="Cambria"/>
              </a:rPr>
              <a:t>x</a:t>
            </a:r>
            <a:r>
              <a:rPr sz="2300" b="0" i="0">
                <a:solidFill>
                  <a:srgbClr val="1C252B"/>
                </a:solidFill>
                <a:latin typeface="Segoe UI"/>
              </a:rPr>
              <a:t> and </a:t>
            </a:r>
            <a:r>
              <a:rPr sz="2300" b="1" i="1">
                <a:solidFill>
                  <a:srgbClr val="1C252B"/>
                </a:solidFill>
                <a:latin typeface="Cambria"/>
              </a:rPr>
              <a:t>z</a:t>
            </a:r>
            <a:r>
              <a:rPr sz="2300" b="0" i="0">
                <a:solidFill>
                  <a:srgbClr val="1C252B"/>
                </a:solidFill>
                <a:latin typeface="Segoe UI"/>
              </a:rPr>
              <a:t> with </a:t>
            </a:r>
            <a:r>
              <a:rPr sz="2300" b="0" i="1">
                <a:solidFill>
                  <a:srgbClr val="1C252B"/>
                </a:solidFill>
                <a:latin typeface="Cambria"/>
              </a:rPr>
              <a:t>d</a:t>
            </a:r>
            <a:r>
              <a:rPr sz="2300" b="0" i="0">
                <a:solidFill>
                  <a:srgbClr val="1C252B"/>
                </a:solidFill>
                <a:latin typeface="Segoe UI"/>
              </a:rPr>
              <a:t> features:</a:t>
            </a:r>
          </a:p>
        </p:txBody>
      </p:sp>
      <p:sp>
        <p:nvSpPr>
          <p:cNvPr id="10" name="body-1m"/>
          <p:cNvSpPr txBox="1"/>
          <p:nvPr/>
        </p:nvSpPr>
        <p:spPr>
          <a:xfrm>
            <a:off x="1060704" y="2573451"/>
            <a:ext cx="257176" cy="365760"/>
          </a:xfrm>
          <a:prstGeom prst="rect">
            <a:avLst/>
          </a:prstGeom>
          <a:noFill/>
        </p:spPr>
        <p:txBody>
          <a:bodyPr wrap="square" anchor="t" lIns="0" rIns="0" tIns="0" bIns="0">
            <a:noAutofit/>
          </a:bodyPr>
          <a:lstStyle/>
          <a:p>
            <a:pPr algn="l">
              <a:lnSpc>
                <a:spcPct val="100000"/>
              </a:lnSpc>
              <a:spcBef>
                <a:spcPts val="0"/>
              </a:spcBef>
              <a:spcAft>
                <a:spcPts val="0"/>
              </a:spcAft>
            </a:pPr>
            <a:r>
              <a:rPr sz="2300" b="1" i="0">
                <a:solidFill>
                  <a:srgbClr val="8A4500"/>
                </a:solidFill>
                <a:latin typeface="Segoe UI"/>
              </a:rPr>
              <a:t>•</a:t>
            </a:r>
          </a:p>
        </p:txBody>
      </p:sp>
      <p:pic>
        <p:nvPicPr>
          <p:cNvPr id="11" name="body-1" descr="Euclidean: √(Σj (xj − zj)2) — the straight-line default."/>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317880" y="2573451"/>
            <a:ext cx="9904506" cy="667969"/>
          </a:xfrm>
          <a:prstGeom prst="rect">
            <a:avLst/>
          </a:prstGeom>
        </p:spPr>
      </p:pic>
      <p:sp>
        <p:nvSpPr>
          <p:cNvPr id="12" name="body-2m"/>
          <p:cNvSpPr txBox="1"/>
          <p:nvPr/>
        </p:nvSpPr>
        <p:spPr>
          <a:xfrm>
            <a:off x="1060704" y="3402076"/>
            <a:ext cx="257176" cy="365760"/>
          </a:xfrm>
          <a:prstGeom prst="rect">
            <a:avLst/>
          </a:prstGeom>
          <a:noFill/>
        </p:spPr>
        <p:txBody>
          <a:bodyPr wrap="square" anchor="t" lIns="0" rIns="0" tIns="0" bIns="0">
            <a:noAutofit/>
          </a:bodyPr>
          <a:lstStyle/>
          <a:p>
            <a:pPr algn="l">
              <a:lnSpc>
                <a:spcPct val="100000"/>
              </a:lnSpc>
              <a:spcBef>
                <a:spcPts val="0"/>
              </a:spcBef>
              <a:spcAft>
                <a:spcPts val="0"/>
              </a:spcAft>
            </a:pPr>
            <a:r>
              <a:rPr sz="2300" b="1" i="0">
                <a:solidFill>
                  <a:srgbClr val="8A4500"/>
                </a:solidFill>
                <a:latin typeface="Segoe UI"/>
              </a:rPr>
              <a:t>•</a:t>
            </a:r>
          </a:p>
        </p:txBody>
      </p:sp>
      <p:pic>
        <p:nvPicPr>
          <p:cNvPr id="13" name="body-2" descr="Manhattan: Σj |xj − zj| — less dominated by one large difference."/>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17880" y="3402076"/>
            <a:ext cx="9904506" cy="393649"/>
          </a:xfrm>
          <a:prstGeom prst="rect">
            <a:avLst/>
          </a:prstGeom>
        </p:spPr>
      </p:pic>
      <p:sp>
        <p:nvSpPr>
          <p:cNvPr id="14" name="body-3m"/>
          <p:cNvSpPr txBox="1"/>
          <p:nvPr/>
        </p:nvSpPr>
        <p:spPr>
          <a:xfrm>
            <a:off x="1060704" y="3956380"/>
            <a:ext cx="257176" cy="365760"/>
          </a:xfrm>
          <a:prstGeom prst="rect">
            <a:avLst/>
          </a:prstGeom>
          <a:noFill/>
        </p:spPr>
        <p:txBody>
          <a:bodyPr wrap="square" anchor="t" lIns="0" rIns="0" tIns="0" bIns="0">
            <a:noAutofit/>
          </a:bodyPr>
          <a:lstStyle/>
          <a:p>
            <a:pPr algn="l">
              <a:lnSpc>
                <a:spcPct val="100000"/>
              </a:lnSpc>
              <a:spcBef>
                <a:spcPts val="0"/>
              </a:spcBef>
              <a:spcAft>
                <a:spcPts val="0"/>
              </a:spcAft>
            </a:pPr>
            <a:r>
              <a:rPr sz="2300" b="1" i="0">
                <a:solidFill>
                  <a:srgbClr val="8A4500"/>
                </a:solidFill>
                <a:latin typeface="Segoe UI"/>
              </a:rPr>
              <a:t>•</a:t>
            </a:r>
          </a:p>
        </p:txBody>
      </p:sp>
      <p:pic>
        <p:nvPicPr>
          <p:cNvPr id="15" name="body-3" descr="Minkowski: (Σj |xj − zj|p)1/p — Manhattan at p = 1, Euclidean at p = 2."/>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317880" y="3956380"/>
            <a:ext cx="9904506" cy="556961"/>
          </a:xfrm>
          <a:prstGeom prst="rect">
            <a:avLst/>
          </a:prstGeom>
        </p:spPr>
      </p:pic>
      <p:sp>
        <p:nvSpPr>
          <p:cNvPr id="16" name="body-4"/>
          <p:cNvSpPr txBox="1"/>
          <p:nvPr/>
        </p:nvSpPr>
        <p:spPr>
          <a:xfrm>
            <a:off x="1060704" y="4673996"/>
            <a:ext cx="10161727" cy="1241577"/>
          </a:xfrm>
          <a:prstGeom prst="rect">
            <a:avLst/>
          </a:prstGeom>
          <a:noFill/>
        </p:spPr>
        <p:txBody>
          <a:bodyPr wrap="square" anchor="t" lIns="0" rIns="0" tIns="0" bIns="0">
            <a:noAutofit/>
          </a:bodyPr>
          <a:lstStyle/>
          <a:p>
            <a:pPr algn="l" marL="257176" indent="-257176">
              <a:lnSpc>
                <a:spcPct val="104000"/>
              </a:lnSpc>
              <a:spcBef>
                <a:spcPts val="0"/>
              </a:spcBef>
              <a:spcAft>
                <a:spcPts val="804"/>
              </a:spcAft>
            </a:pPr>
            <a:r>
              <a:rPr sz="2300" b="1">
                <a:solidFill>
                  <a:srgbClr val="8A4500"/>
                </a:solidFill>
                <a:latin typeface="Segoe UI"/>
              </a:rPr>
              <a:t>•	</a:t>
            </a:r>
            <a:r>
              <a:rPr sz="2300" b="1" i="0">
                <a:solidFill>
                  <a:srgbClr val="1A5276"/>
                </a:solidFill>
                <a:latin typeface="Segoe UI"/>
              </a:rPr>
              <a:t>Hamming</a:t>
            </a:r>
            <a:r>
              <a:rPr sz="2300" b="0" i="0">
                <a:solidFill>
                  <a:srgbClr val="1C252B"/>
                </a:solidFill>
                <a:latin typeface="Segoe UI"/>
              </a:rPr>
              <a:t>: the number of attributes that differ — for categorical data.</a:t>
            </a:r>
          </a:p>
          <a:p>
            <a:pPr algn="l" marL="257176" indent="-257176">
              <a:lnSpc>
                <a:spcPct val="104000"/>
              </a:lnSpc>
              <a:spcBef>
                <a:spcPts val="0"/>
              </a:spcBef>
              <a:spcAft>
                <a:spcPts val="0"/>
              </a:spcAft>
            </a:pPr>
            <a:r>
              <a:rPr sz="2300" b="1">
                <a:solidFill>
                  <a:srgbClr val="8A4500"/>
                </a:solidFill>
                <a:latin typeface="Segoe UI"/>
              </a:rPr>
              <a:t>•	</a:t>
            </a:r>
            <a:r>
              <a:rPr sz="2300" b="1" i="0">
                <a:solidFill>
                  <a:srgbClr val="1A5276"/>
                </a:solidFill>
                <a:latin typeface="Segoe UI"/>
              </a:rPr>
              <a:t>Cosine distance</a:t>
            </a:r>
            <a:r>
              <a:rPr sz="2300" b="0" i="0">
                <a:solidFill>
                  <a:srgbClr val="1C252B"/>
                </a:solidFill>
                <a:latin typeface="Segoe UI"/>
              </a:rPr>
              <a:t>: </a:t>
            </a:r>
            <a:r>
              <a:rPr sz="2300" b="0" i="0">
                <a:solidFill>
                  <a:srgbClr val="1C252B"/>
                </a:solidFill>
                <a:latin typeface="Cambria"/>
              </a:rPr>
              <a:t>1 − cosθ</a:t>
            </a:r>
            <a:r>
              <a:rPr sz="2300" b="0" i="0">
                <a:solidFill>
                  <a:srgbClr val="1C252B"/>
                </a:solidFill>
                <a:latin typeface="Segoe UI"/>
              </a:rPr>
              <a:t> — for text and other data where direction matters more than length (Chapter 2).</a:t>
            </a:r>
          </a:p>
        </p:txBody>
      </p:sp>
      <p:sp>
        <p:nvSpPr>
          <p:cNvPr id="1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pfill">
            <a:extLst>
              <a:ext uri="{C183D7F6-B498-43B3-948B-1728B52AA6E4}">
                <adec:decorative xmlns:adec="http://schemas.microsoft.com/office/drawing/2017/decorative" val="1"/>
              </a:ext>
            </a:extLst>
          </p:cNvPr>
          <p:cNvSpPr/>
          <p:nvPr/>
        </p:nvSpPr>
        <p:spPr>
          <a:xfrm>
            <a:off x="0" y="0"/>
            <a:ext cx="352204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16">
                                            <p:txEl>
                                              <p:pRg st="0" end="0"/>
                                            </p:txEl>
                                          </p:spTgt>
                                        </p:tgtEl>
                                        <p:attrNameLst>
                                          <p:attrName>style.visibility</p:attrName>
                                        </p:attrNameLst>
                                      </p:cBhvr>
                                      <p:to>
                                        <p:strVal val="visible"/>
                                      </p:to>
                                    </p:set>
                                    <p:animEffect transition="in" filter="fade">
                                      <p:cBhvr>
                                        <p:cTn id="8" dur="380"/>
                                        <p:tgtEl>
                                          <p:spTgt spid="16">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16">
                                            <p:txEl>
                                              <p:pRg st="1" end="1"/>
                                            </p:txEl>
                                          </p:spTgt>
                                        </p:tgtEl>
                                        <p:attrNameLst>
                                          <p:attrName>style.visibility</p:attrName>
                                        </p:attrNameLst>
                                      </p:cBhvr>
                                      <p:to>
                                        <p:strVal val="visible"/>
                                      </p:to>
                                    </p:set>
                                    <p:animEffect transition="in" filter="fade">
                                      <p:cBhvr>
                                        <p:cTn id="13" dur="380"/>
                                        <p:tgtEl>
                                          <p:spTgt spid="1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Always Scale Before Measuring Distance</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§11.3  ·  Handout p. 86     </a:t>
            </a:r>
            <a:fld id="{109F1979-FD7C-4BF7-8456-32F6A7A22CEC}" type="slidenum">
              <a:rPr lang="en-GB" sz="1000">
                <a:solidFill>
                  <a:srgbClr val="8795A1"/>
                </a:solidFill>
                <a:latin typeface="Segoe UI"/>
              </a:rPr>
              <a:t>14</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809036"/>
          </a:xfrm>
          <a:prstGeom prst="roundRect">
            <a:avLst>
              <a:gd name="adj" fmla="val 3255"/>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80903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23296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Add “logins per week” (0–40) to the worked example, and a difference of 20 logins outweighs every difference in marks. The distance is decided by whichever feature has the largest units. Standardise first (Chapter 3). On the breast cancer data of this chapter’s lab, 5-NN makes 7.0% cross-validated errors on raw features and 3.3% after standardising — the same algorithm, half the error.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379297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Cross-validated error of k-NN on the (standardised) breast cancer data</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11.2</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§11.4  ·  Handout p. 87     </a:t>
            </a:r>
            <a:fld id="{C7D8BECF-2E1B-45B5-93FF-226289DA3B64}" type="slidenum">
              <a:rPr lang="en-GB" sz="1000">
                <a:solidFill>
                  <a:srgbClr val="8795A1"/>
                </a:solidFill>
                <a:latin typeface="Segoe UI"/>
              </a:rPr>
              <a:t>15</a:t>
            </a:fld>
          </a:p>
        </p:txBody>
      </p:sp>
      <p:pic>
        <p:nvPicPr>
          <p:cNvPr id="6" name="!!figure" descr="Figure 11.2. Cross-validated error of k-NN on the (standardised) breast cancer data. Small k has high variance, large k high bias; the familiar U-shape."/>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906294" y="1737360"/>
            <a:ext cx="8379106" cy="4009948"/>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930188"/>
            <a:ext cx="54864" cy="30601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911900"/>
            <a:ext cx="10600639" cy="488899"/>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Small k has high variance, large k high bias; the familiar U-shape.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Beyond Classification</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§11.5  ·  Handout p. 87     </a:t>
            </a:r>
            <a:fld id="{D306F7BE-D556-4541-A41D-EC7D02C3F8DE}" type="slidenum">
              <a:rPr lang="en-GB" sz="1000">
                <a:solidFill>
                  <a:srgbClr val="8795A1"/>
                </a:solidFill>
                <a:latin typeface="Segoe UI"/>
              </a:rPr>
              <a:t>16</a:t>
            </a:fld>
          </a:p>
        </p:txBody>
      </p:sp>
      <p:sp>
        <p:nvSpPr>
          <p:cNvPr id="7" name="!!stbar">
            <a:extLst>
              <a:ext uri="{C183D7F6-B498-43B3-948B-1728B52AA6E4}">
                <adec:decorative xmlns:adec="http://schemas.microsoft.com/office/drawing/2017/decorative" val="1"/>
              </a:ext>
            </a:extLst>
          </p:cNvPr>
          <p:cNvSpPr/>
          <p:nvPr/>
        </p:nvSpPr>
        <p:spPr>
          <a:xfrm>
            <a:off x="658368" y="1810512"/>
            <a:ext cx="73152" cy="4100449"/>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2423159"/>
          </a:xfrm>
          <a:prstGeom prst="rect">
            <a:avLst/>
          </a:prstGeom>
          <a:noFill/>
        </p:spPr>
        <p:txBody>
          <a:bodyPr wrap="square" anchor="t" lIns="0" rIns="0" tIns="0" bIns="0">
            <a:noAutofit/>
          </a:bodyPr>
          <a:lstStyle/>
          <a:p>
            <a:pPr algn="l">
              <a:lnSpc>
                <a:spcPct val="104000"/>
              </a:lnSpc>
              <a:spcBef>
                <a:spcPts val="0"/>
              </a:spcBef>
              <a:spcAft>
                <a:spcPts val="0"/>
              </a:spcAft>
            </a:pPr>
            <a:r>
              <a:rPr sz="2500" b="1" i="1">
                <a:solidFill>
                  <a:srgbClr val="1A5276"/>
                </a:solidFill>
                <a:latin typeface="Cambria"/>
              </a:rPr>
              <a:t>k</a:t>
            </a:r>
            <a:r>
              <a:rPr sz="2500" b="1" i="0">
                <a:solidFill>
                  <a:srgbClr val="1C252B"/>
                </a:solidFill>
                <a:latin typeface="Segoe UI"/>
              </a:rPr>
              <a:t>-NN regression</a:t>
            </a:r>
            <a:r>
              <a:rPr sz="2500" b="0" i="0">
                <a:solidFill>
                  <a:srgbClr val="1C252B"/>
                </a:solidFill>
                <a:latin typeface="Segoe UI"/>
              </a:rPr>
              <a:t> predicts the mean (or distance-weighted mean) of the neighbours’ target values. </a:t>
            </a:r>
            <a:r>
              <a:rPr sz="2500" b="1" i="0">
                <a:solidFill>
                  <a:srgbClr val="1C252B"/>
                </a:solidFill>
                <a:latin typeface="Segoe UI"/>
              </a:rPr>
              <a:t>Locally weighted regression</a:t>
            </a:r>
            <a:r>
              <a:rPr sz="2500" b="0" i="0">
                <a:solidFill>
                  <a:srgbClr val="1C252B"/>
                </a:solidFill>
                <a:latin typeface="Segoe UI"/>
              </a:rPr>
              <a:t>, in Mitchell’s treatment, goes further: for each query it fits a small linear model to the nearby examples only, weighted by their distance, and uses that model’s prediction. The global function is approximated by a patchwork of local ones — a model that could never be written down in advance.</a:t>
            </a:r>
          </a:p>
        </p:txBody>
      </p:sp>
      <p:sp>
        <p:nvSpPr>
          <p:cNvPr id="9" name="body-1"/>
          <p:cNvSpPr txBox="1"/>
          <p:nvPr/>
        </p:nvSpPr>
        <p:spPr>
          <a:xfrm>
            <a:off x="1042415" y="4344289"/>
            <a:ext cx="10417759" cy="1630680"/>
          </a:xfrm>
          <a:prstGeom prst="rect">
            <a:avLst/>
          </a:prstGeom>
          <a:noFill/>
        </p:spPr>
        <p:txBody>
          <a:bodyPr wrap="square" anchor="t" lIns="0" rIns="0" tIns="0" bIns="0">
            <a:noAutofit/>
          </a:bodyPr>
          <a:lstStyle/>
          <a:p>
            <a:pPr algn="l">
              <a:lnSpc>
                <a:spcPct val="104000"/>
              </a:lnSpc>
              <a:spcBef>
                <a:spcPts val="0"/>
              </a:spcBef>
              <a:spcAft>
                <a:spcPts val="0"/>
              </a:spcAft>
            </a:pPr>
            <a:r>
              <a:rPr sz="2500" b="1" i="0">
                <a:solidFill>
                  <a:srgbClr val="1A5276"/>
                </a:solidFill>
                <a:latin typeface="Segoe UI"/>
              </a:rPr>
              <a:t>Case-based reasoning</a:t>
            </a:r>
            <a:r>
              <a:rPr sz="2500" b="0" i="0">
                <a:solidFill>
                  <a:srgbClr val="1C252B"/>
                </a:solidFill>
                <a:latin typeface="Segoe UI"/>
              </a:rPr>
              <a:t> applies the same lazy idea to rich symbolic descriptions: a help-desk system that retrieves the most similar past incident and adapts its solution. Similarity there is measured by matching structure, not by a formula.</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33482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fade">
                                      <p:cBhvr>
                                        <p:cTn id="8" dur="4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The Curse of Dimensionality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BBD7C7"/>
                </a:solidFill>
                <a:latin typeface="Segoe UI"/>
              </a:rPr>
              <a:t>SECTION 6 OF 7</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11.6</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11.1   Learning by Remembering</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11.2   The k-Nearest Neighbour Algorithm</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11.3   Distance and Scale</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11.4   Choosing k</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11.5   Beyond Classification</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1B7A43"/>
                </a:solidFill>
                <a:latin typeface="Segoe UI"/>
              </a:rPr>
              <a:t>11.6   The Curse of Dimensionality</a:t>
            </a:r>
          </a:p>
        </p:txBody>
      </p:sp>
      <p:sp>
        <p:nvSpPr>
          <p:cNvPr id="12" name="!!dl6"/>
          <p:cNvSpPr txBox="1"/>
          <p:nvPr/>
        </p:nvSpPr>
        <p:spPr>
          <a:xfrm>
            <a:off x="4846320" y="580643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11.7   The Cost of Being Lazy</a:t>
            </a:r>
          </a:p>
        </p:txBody>
      </p:sp>
      <p:sp>
        <p:nvSpPr>
          <p:cNvPr id="13"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a:t>
            </a:r>
          </a:p>
        </p:txBody>
      </p:sp>
      <p:sp>
        <p:nvSpPr>
          <p:cNvPr id="14"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§11.6     </a:t>
            </a:r>
            <a:fld id="{6360685C-331B-4E4C-B343-0CADE412513B}" type="slidenum">
              <a:rPr lang="en-GB" sz="1000">
                <a:solidFill>
                  <a:srgbClr val="8795A1"/>
                </a:solidFill>
                <a:latin typeface="Segoe UI"/>
              </a:rPr>
              <a:t>17</a:t>
            </a:fld>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460575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curse of dimensionality</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B7A43"/>
                </a:solidFill>
                <a:latin typeface="Segoe UI"/>
              </a:rPr>
              <a:t>FIGURE 11.3</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§11.6  ·  Handout p. 88     </a:t>
            </a:r>
            <a:fld id="{85CBD4A4-E82C-491A-B66E-C208B323C7E8}" type="slidenum">
              <a:rPr lang="en-GB" sz="1000">
                <a:solidFill>
                  <a:srgbClr val="8795A1"/>
                </a:solidFill>
                <a:latin typeface="Segoe UI"/>
              </a:rPr>
              <a:t>18</a:t>
            </a:fld>
          </a:p>
        </p:txBody>
      </p:sp>
      <p:pic>
        <p:nvPicPr>
          <p:cNvPr id="6" name="!!figure" descr="Figure 11.3. The curse of dimensionality. For 500 uniformly random points, the ratio of the nearest to the farthest distance from a query rises towards 1 as dimensions are added: “nearest” stops meaning anythi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73879" y="1737360"/>
            <a:ext cx="7643937"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For 500 uniformly random points, the ratio of the nearest to the farthest distance from a query rises towards 1 as dimensions are added: “nearest” stops meaning anything.</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487667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Why Distances Concentrate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§11.6  ·  Handout p. 88     </a:t>
            </a:r>
            <a:fld id="{C0D5EA0A-B885-4C87-B47D-D292C534D928}" type="slidenum">
              <a:rPr lang="en-GB" sz="1000">
                <a:solidFill>
                  <a:srgbClr val="8795A1"/>
                </a:solidFill>
                <a:latin typeface="Segoe UI"/>
              </a:rPr>
              <a:t>19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173577"/>
          </a:xfrm>
          <a:prstGeom prst="roundRect">
            <a:avLst>
              <a:gd name="adj" fmla="val 2881"/>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173577"/>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259750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Each extra dimension adds another independent term to the sum under the square root. With many terms, the sums for different pairs of points all come out close to their average — the same reason an average of many coin tosses is close to one half. So every point ends up at nearly the same distance from every other, and the nearest neighbour is barely nearer than a random one. The remedies are fewer dimensions (feature selection, or PCA in Chapter 16) or a learned notion of similarity.</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14760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Common pitfalls</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§11.7  ·  Handout p. 88     </a:t>
            </a:r>
            <a:fld id="{DEFC9421-25CB-49CE-9C5D-A2831DE81132}" type="slidenum">
              <a:rPr lang="en-GB" sz="1000">
                <a:solidFill>
                  <a:srgbClr val="8795A1"/>
                </a:solidFill>
                <a:latin typeface="Segoe UI"/>
              </a:rPr>
              <a:t>20</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Forgetting to scale.</a:t>
            </a:r>
            <a:r>
              <a:rPr sz="2100" b="0" i="0">
                <a:solidFill>
                  <a:srgbClr val="1C252B"/>
                </a:solidFill>
                <a:latin typeface="Segoe UI"/>
              </a:rPr>
              <a:t> The feature with the biggest units decides everything.</a:t>
            </a:r>
          </a:p>
        </p:txBody>
      </p:sp>
      <p:sp>
        <p:nvSpPr>
          <p:cNvPr id="10" name="!!pb1">
            <a:extLst>
              <a:ext uri="{C183D7F6-B498-43B3-948B-1728B52AA6E4}">
                <adec:decorative xmlns:adec="http://schemas.microsoft.com/office/drawing/2017/decorative" val="1"/>
              </a:ext>
            </a:extLst>
          </p:cNvPr>
          <p:cNvSpPr/>
          <p:nvPr/>
        </p:nvSpPr>
        <p:spPr>
          <a:xfrm>
            <a:off x="658368" y="2322576"/>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345436"/>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304288"/>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Using </a:t>
            </a:r>
            <a:r>
              <a:rPr sz="2100" b="1" i="1">
                <a:solidFill>
                  <a:srgbClr val="1C252B"/>
                </a:solidFill>
                <a:latin typeface="Cambria"/>
              </a:rPr>
              <a:t>k</a:t>
            </a:r>
            <a:r>
              <a:rPr sz="2100" b="1" i="0">
                <a:solidFill>
                  <a:srgbClr val="1C252B"/>
                </a:solidFill>
                <a:latin typeface="Cambria"/>
              </a:rPr>
              <a:t> = 1</a:t>
            </a:r>
            <a:r>
              <a:rPr sz="2100" b="1" i="0">
                <a:solidFill>
                  <a:srgbClr val="1C252B"/>
                </a:solidFill>
                <a:latin typeface="Segoe UI"/>
              </a:rPr>
              <a:t> on noisy data.</a:t>
            </a:r>
            <a:r>
              <a:rPr sz="2100" b="0" i="0">
                <a:solidFill>
                  <a:srgbClr val="1C252B"/>
                </a:solidFill>
                <a:latin typeface="Segoe UI"/>
              </a:rPr>
              <a:t> Every mislabelled example claims a region of its own.</a:t>
            </a:r>
          </a:p>
        </p:txBody>
      </p:sp>
      <p:sp>
        <p:nvSpPr>
          <p:cNvPr id="13" name="!!pb2">
            <a:extLst>
              <a:ext uri="{C183D7F6-B498-43B3-948B-1728B52AA6E4}">
                <adec:decorative xmlns:adec="http://schemas.microsoft.com/office/drawing/2017/decorative" val="1"/>
              </a:ext>
            </a:extLst>
          </p:cNvPr>
          <p:cNvSpPr/>
          <p:nvPr/>
        </p:nvSpPr>
        <p:spPr>
          <a:xfrm>
            <a:off x="658368" y="2889504"/>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291236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2871216"/>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Using an even </a:t>
            </a:r>
            <a:r>
              <a:rPr sz="2100" b="1" i="1">
                <a:solidFill>
                  <a:srgbClr val="1C252B"/>
                </a:solidFill>
                <a:latin typeface="Cambria"/>
              </a:rPr>
              <a:t>k</a:t>
            </a:r>
            <a:r>
              <a:rPr sz="2100" b="1" i="0">
                <a:solidFill>
                  <a:srgbClr val="1C252B"/>
                </a:solidFill>
                <a:latin typeface="Segoe UI"/>
              </a:rPr>
              <a:t> for two classes.</a:t>
            </a:r>
            <a:r>
              <a:rPr sz="2100" b="0" i="0">
                <a:solidFill>
                  <a:srgbClr val="1C252B"/>
                </a:solidFill>
                <a:latin typeface="Segoe UI"/>
              </a:rPr>
              <a:t> Ties must then be broken arbitrarily.</a:t>
            </a:r>
          </a:p>
        </p:txBody>
      </p:sp>
      <p:sp>
        <p:nvSpPr>
          <p:cNvPr id="16" name="!!pb3">
            <a:extLst>
              <a:ext uri="{C183D7F6-B498-43B3-948B-1728B52AA6E4}">
                <adec:decorative xmlns:adec="http://schemas.microsoft.com/office/drawing/2017/decorative" val="1"/>
              </a:ext>
            </a:extLst>
          </p:cNvPr>
          <p:cNvSpPr/>
          <p:nvPr/>
        </p:nvSpPr>
        <p:spPr>
          <a:xfrm>
            <a:off x="658368" y="345643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347929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438144"/>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Keeping irrelevant features.</a:t>
            </a:r>
            <a:r>
              <a:rPr sz="2100" b="0" i="0">
                <a:solidFill>
                  <a:srgbClr val="1C252B"/>
                </a:solidFill>
                <a:latin typeface="Segoe UI"/>
              </a:rPr>
              <a:t> They add noise to every distance; select or weight features first.</a:t>
            </a:r>
          </a:p>
        </p:txBody>
      </p:sp>
      <p:sp>
        <p:nvSpPr>
          <p:cNvPr id="19" name="!!pb4">
            <a:extLst>
              <a:ext uri="{C183D7F6-B498-43B3-948B-1728B52AA6E4}">
                <adec:decorative xmlns:adec="http://schemas.microsoft.com/office/drawing/2017/decorative" val="1"/>
              </a:ext>
            </a:extLst>
          </p:cNvPr>
          <p:cNvSpPr/>
          <p:nvPr/>
        </p:nvSpPr>
        <p:spPr>
          <a:xfrm>
            <a:off x="658368" y="432328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346143"/>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304995"/>
            <a:ext cx="10271455" cy="665683"/>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A93226"/>
                </a:solidFill>
                <a:latin typeface="Segoe UI"/>
              </a:rPr>
              <a:t>Ignoring prediction cost.</a:t>
            </a:r>
            <a:r>
              <a:rPr sz="2100" b="0" i="0">
                <a:solidFill>
                  <a:srgbClr val="1C252B"/>
                </a:solidFill>
                <a:latin typeface="Segoe UI"/>
              </a:rPr>
              <a:t> Fine for thousands of examples, slow for millions without an index.</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5418531"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Nearest Neighbours</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a:t>
            </a:r>
            <a:fld id="{5B2DD29C-C8EA-4E50-A4BF-42ED9E6A6094}" type="slidenum">
              <a:rPr lang="en-GB" sz="1000">
                <a:solidFill>
                  <a:srgbClr val="8795A1"/>
                </a:solidFill>
                <a:latin typeface="Segoe UI"/>
              </a:rPr>
              <a:t>21</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“Students like you” is </a:t>
            </a:r>
            <a:r>
              <a:rPr sz="1900" b="0" i="1">
                <a:solidFill>
                  <a:srgbClr val="1C252B"/>
                </a:solidFill>
                <a:latin typeface="Cambria"/>
              </a:rPr>
              <a:t>k</a:t>
            </a:r>
            <a:r>
              <a:rPr sz="1900" b="0" i="0">
                <a:solidFill>
                  <a:srgbClr val="1C252B"/>
                </a:solidFill>
                <a:latin typeface="Segoe UI"/>
              </a:rPr>
              <a:t>-NN, and it is how many course recommendation systems work: find the ten most similar past students and suggest the electives they did well in.</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Analogy-based effort estimation is </a:t>
            </a:r>
            <a:r>
              <a:rPr sz="2200" b="0" i="1">
                <a:solidFill>
                  <a:srgbClr val="1C252B"/>
                </a:solidFill>
                <a:latin typeface="Cambria"/>
              </a:rPr>
              <a:t>k</a:t>
            </a:r>
            <a:r>
              <a:rPr sz="2200" b="0" i="0">
                <a:solidFill>
                  <a:srgbClr val="1C252B"/>
                </a:solidFill>
                <a:latin typeface="Segoe UI"/>
              </a:rPr>
              <a:t>-NN regression: find the three completed projects most similar to the new one and average their effort.</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100" b="0" i="0">
                <a:solidFill>
                  <a:srgbClr val="1C252B"/>
                </a:solidFill>
                <a:latin typeface="Segoe UI"/>
              </a:rPr>
              <a:t>A machine’s current vibration signature is compared with a library of signatures recorded before known failures; the nearest match names the likely fault.</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Anomaly detection by distance: a login whose nearest neighbours among the account’s own history are all far away is unusual.</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568945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Nearest Neighbours</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a:t>
            </a:r>
            <a:fld id="{1875B247-FA46-4FF9-A371-9C645EF2E2DE}" type="slidenum">
              <a:rPr lang="en-GB" sz="1000">
                <a:solidFill>
                  <a:srgbClr val="8795A1"/>
                </a:solidFill>
                <a:latin typeface="Segoe UI"/>
              </a:rPr>
              <a:t>22</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“Students like you” is </a:t>
            </a:r>
            <a:r>
              <a:rPr sz="2200" b="0" i="1">
                <a:solidFill>
                  <a:srgbClr val="1C252B"/>
                </a:solidFill>
                <a:latin typeface="Cambria"/>
              </a:rPr>
              <a:t>k</a:t>
            </a:r>
            <a:r>
              <a:rPr sz="2200" b="0" i="0">
                <a:solidFill>
                  <a:srgbClr val="1C252B"/>
                </a:solidFill>
                <a:latin typeface="Segoe UI"/>
              </a:rPr>
              <a:t>-NN, and it is how many course recommendation systems work: find the ten most similar past students and suggest the electives they did well in. The explanation is built in — here are the students you resemble — which advisers find easier to trust than a weight.</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596038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Nearest Neighbours</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a:t>
            </a:r>
            <a:fld id="{A148B5A3-80B7-4094-A358-3C15F506FB21}" type="slidenum">
              <a:rPr lang="en-GB" sz="1000">
                <a:solidFill>
                  <a:srgbClr val="8795A1"/>
                </a:solidFill>
                <a:latin typeface="Segoe UI"/>
              </a:rPr>
              <a:t>23</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Analogy-based effort estimation is </a:t>
            </a:r>
            <a:r>
              <a:rPr sz="2200" b="0" i="1">
                <a:solidFill>
                  <a:srgbClr val="1C252B"/>
                </a:solidFill>
                <a:latin typeface="Cambria"/>
              </a:rPr>
              <a:t>k</a:t>
            </a:r>
            <a:r>
              <a:rPr sz="2200" b="0" i="0">
                <a:solidFill>
                  <a:srgbClr val="1C252B"/>
                </a:solidFill>
                <a:latin typeface="Segoe UI"/>
              </a:rPr>
              <a:t>-NN regression: find the three completed projects most similar to the new one and average their effort. It is one of the oldest estimation methods in software engineering, and it works because a team’s past projects are the best guide to its next.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23131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Nearest Neighbours</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a:t>
            </a:r>
            <a:fld id="{703A838D-7388-4503-8183-B7064D38BA30}" type="slidenum">
              <a:rPr lang="en-GB" sz="1000">
                <a:solidFill>
                  <a:srgbClr val="8795A1"/>
                </a:solidFill>
                <a:latin typeface="Segoe UI"/>
              </a:rPr>
              <a:t>24</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 machine’s current vibration signature is compared with a library of signatures recorded before known failures; the nearest match names the likely fault. The library grows every time an engineer labels a new failure, with no retraining — the lazy learner’s great advantage.</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50223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Nearest Neighbours</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a:t>
            </a:r>
            <a:fld id="{3DE855B2-7CF1-440D-8EC7-9CD30A747DDD}" type="slidenum">
              <a:rPr lang="en-GB" sz="1000">
                <a:solidFill>
                  <a:srgbClr val="8795A1"/>
                </a:solidFill>
                <a:latin typeface="Segoe UI"/>
              </a:rPr>
              <a:t>25</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1789176"/>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Anomaly detection by distance: a login whose nearest neighbours among the account’s own history are all far away is unusual. The curse of dimensionality is the enemy here — with hundreds of raw log features, every login looks equally unusual — so reduce the features first.</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773164"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Neighbours, Scaling and the Choice of 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§11.7  ·  Handout p. 88     </a:t>
            </a:r>
            <a:fld id="{369E9BCB-1401-4EEB-82C7-66B7D702AD25}" type="slidenum">
              <a:rPr lang="en-GB" sz="1000">
                <a:solidFill>
                  <a:srgbClr val="8795A1"/>
                </a:solidFill>
                <a:latin typeface="Segoe UI"/>
              </a:rPr>
              <a:t>26</a:t>
            </a:fld>
          </a:p>
        </p:txBody>
      </p:sp>
      <p:sp>
        <p:nvSpPr>
          <p:cNvPr id="7" name="!!labsteps-h"/>
          <p:cNvSpPr txBox="1"/>
          <p:nvPr/>
        </p:nvSpPr>
        <p:spPr>
          <a:xfrm>
            <a:off x="658368" y="1737360"/>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0E6655"/>
                </a:solidFill>
                <a:latin typeface="Segoe UI"/>
              </a:rPr>
              <a:t>WHAT YOU WILL DO</a:t>
            </a:r>
          </a:p>
        </p:txBody>
      </p:sp>
      <p:sp>
        <p:nvSpPr>
          <p:cNvPr id="8" name="!!labsteps"/>
          <p:cNvSpPr txBox="1"/>
          <p:nvPr/>
        </p:nvSpPr>
        <p:spPr>
          <a:xfrm>
            <a:off x="658368" y="2121408"/>
            <a:ext cx="10874959" cy="1466849"/>
          </a:xfrm>
          <a:prstGeom prst="rect">
            <a:avLst/>
          </a:prstGeom>
          <a:noFill/>
        </p:spPr>
        <p:txBody>
          <a:bodyPr wrap="square" anchor="t" lIns="0" rIns="0" tIns="0" bIns="0">
            <a:noAutofit/>
          </a:bodyPr>
          <a:lstStyle/>
          <a:p>
            <a:pPr algn="l" marL="459473" indent="-459473">
              <a:lnSpc>
                <a:spcPct val="100000"/>
              </a:lnSpc>
              <a:spcBef>
                <a:spcPts val="0"/>
              </a:spcBef>
              <a:spcAft>
                <a:spcPts val="570"/>
              </a:spcAft>
            </a:pPr>
            <a:r>
              <a:rPr sz="1900" b="1">
                <a:solidFill>
                  <a:srgbClr val="117A65"/>
                </a:solidFill>
                <a:latin typeface="Segoe UI"/>
              </a:rPr>
              <a:t>1.	</a:t>
            </a:r>
            <a:r>
              <a:rPr sz="1900" b="0" i="0">
                <a:solidFill>
                  <a:srgbClr val="1C252B"/>
                </a:solidFill>
                <a:latin typeface="Segoe UI"/>
              </a:rPr>
              <a:t>The worked example</a:t>
            </a:r>
          </a:p>
          <a:p>
            <a:pPr algn="l" marL="459473" indent="-459473">
              <a:lnSpc>
                <a:spcPct val="100000"/>
              </a:lnSpc>
              <a:spcBef>
                <a:spcPts val="0"/>
              </a:spcBef>
              <a:spcAft>
                <a:spcPts val="570"/>
              </a:spcAft>
            </a:pPr>
            <a:r>
              <a:rPr sz="1900" b="1">
                <a:solidFill>
                  <a:srgbClr val="117A65"/>
                </a:solidFill>
                <a:latin typeface="Segoe UI"/>
              </a:rPr>
              <a:t>2.	</a:t>
            </a:r>
            <a:r>
              <a:rPr sz="1900" b="0" i="0">
                <a:solidFill>
                  <a:srgbClr val="1C252B"/>
                </a:solidFill>
                <a:latin typeface="Segoe UI"/>
              </a:rPr>
              <a:t>Scaling matters</a:t>
            </a:r>
          </a:p>
          <a:p>
            <a:pPr algn="l" marL="459473" indent="-459473">
              <a:lnSpc>
                <a:spcPct val="100000"/>
              </a:lnSpc>
              <a:spcBef>
                <a:spcPts val="0"/>
              </a:spcBef>
              <a:spcAft>
                <a:spcPts val="570"/>
              </a:spcAft>
            </a:pPr>
            <a:r>
              <a:rPr sz="1900" b="1">
                <a:solidFill>
                  <a:srgbClr val="117A65"/>
                </a:solidFill>
                <a:latin typeface="Segoe UI"/>
              </a:rPr>
              <a:t>3.	</a:t>
            </a:r>
            <a:r>
              <a:rPr sz="1900" b="0" i="0">
                <a:solidFill>
                  <a:srgbClr val="1C252B"/>
                </a:solidFill>
                <a:latin typeface="Segoe UI"/>
              </a:rPr>
              <a:t>Choose k by cross-validation</a:t>
            </a:r>
          </a:p>
          <a:p>
            <a:pPr algn="l" marL="459473" indent="-459473">
              <a:lnSpc>
                <a:spcPct val="100000"/>
              </a:lnSpc>
              <a:spcBef>
                <a:spcPts val="0"/>
              </a:spcBef>
              <a:spcAft>
                <a:spcPts val="0"/>
              </a:spcAft>
            </a:pPr>
            <a:r>
              <a:rPr sz="1900" b="1">
                <a:solidFill>
                  <a:srgbClr val="117A65"/>
                </a:solidFill>
                <a:latin typeface="Segoe UI"/>
              </a:rPr>
              <a:t>4.	</a:t>
            </a:r>
            <a:r>
              <a:rPr sz="1900" b="0" i="0">
                <a:solidFill>
                  <a:srgbClr val="1C252B"/>
                </a:solidFill>
                <a:latin typeface="Segoe UI"/>
              </a:rPr>
              <a:t>The curse of dimensionality</a:t>
            </a:r>
          </a:p>
        </p:txBody>
      </p:sp>
      <p:sp>
        <p:nvSpPr>
          <p:cNvPr id="24" name="!!lfTHIS">
            <a:extLst>
              <a:ext uri="{C183D7F6-B498-43B3-948B-1728B52AA6E4}">
                <adec:decorative xmlns:adec="http://schemas.microsoft.com/office/drawing/2017/decorative" val="1"/>
              </a:ext>
            </a:extLst>
          </p:cNvPr>
          <p:cNvSpPr/>
          <p:nvPr/>
        </p:nvSpPr>
        <p:spPr>
          <a:xfrm>
            <a:off x="658368"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fbTHIS">
            <a:extLst>
              <a:ext uri="{C183D7F6-B498-43B3-948B-1728B52AA6E4}">
                <adec:decorative xmlns:adec="http://schemas.microsoft.com/office/drawing/2017/decorative" val="1"/>
              </a:ext>
            </a:extLst>
          </p:cNvPr>
          <p:cNvSpPr/>
          <p:nvPr/>
        </p:nvSpPr>
        <p:spPr>
          <a:xfrm>
            <a:off x="658368"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flTHIS"/>
          <p:cNvSpPr txBox="1"/>
          <p:nvPr/>
        </p:nvSpPr>
        <p:spPr>
          <a:xfrm>
            <a:off x="932688"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27" name="!!lfvTHIS"/>
          <p:cNvSpPr txBox="1"/>
          <p:nvPr/>
        </p:nvSpPr>
        <p:spPr>
          <a:xfrm>
            <a:off x="932688"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700" b="0" i="0">
                <a:solidFill>
                  <a:srgbClr val="1C252B"/>
                </a:solidFill>
                <a:latin typeface="Segoe UI"/>
              </a:rPr>
              <a:t>Week 10: Neighbours, scaling and k; margins and kernels</a:t>
            </a:r>
          </a:p>
        </p:txBody>
      </p:sp>
      <p:sp>
        <p:nvSpPr>
          <p:cNvPr id="28" name="!!lfWHAT">
            <a:extLst>
              <a:ext uri="{C183D7F6-B498-43B3-948B-1728B52AA6E4}">
                <adec:decorative xmlns:adec="http://schemas.microsoft.com/office/drawing/2017/decorative" val="1"/>
              </a:ext>
            </a:extLst>
          </p:cNvPr>
          <p:cNvSpPr/>
          <p:nvPr/>
        </p:nvSpPr>
        <p:spPr>
          <a:xfrm>
            <a:off x="4374794"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lfbWHAT">
            <a:extLst>
              <a:ext uri="{C183D7F6-B498-43B3-948B-1728B52AA6E4}">
                <adec:decorative xmlns:adec="http://schemas.microsoft.com/office/drawing/2017/decorative" val="1"/>
              </a:ext>
            </a:extLst>
          </p:cNvPr>
          <p:cNvSpPr/>
          <p:nvPr/>
        </p:nvSpPr>
        <p:spPr>
          <a:xfrm>
            <a:off x="4374794"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lflWHAT"/>
          <p:cNvSpPr txBox="1"/>
          <p:nvPr/>
        </p:nvSpPr>
        <p:spPr>
          <a:xfrm>
            <a:off x="4649114"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31" name="!!lfvWHAT"/>
          <p:cNvSpPr txBox="1"/>
          <p:nvPr/>
        </p:nvSpPr>
        <p:spPr>
          <a:xfrm>
            <a:off x="4649114"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40 lines of Python</a:t>
            </a:r>
          </a:p>
        </p:txBody>
      </p:sp>
      <p:sp>
        <p:nvSpPr>
          <p:cNvPr id="32" name="!!lfRUNN">
            <a:extLst>
              <a:ext uri="{C183D7F6-B498-43B3-948B-1728B52AA6E4}">
                <adec:decorative xmlns:adec="http://schemas.microsoft.com/office/drawing/2017/decorative" val="1"/>
              </a:ext>
            </a:extLst>
          </p:cNvPr>
          <p:cNvSpPr/>
          <p:nvPr/>
        </p:nvSpPr>
        <p:spPr>
          <a:xfrm>
            <a:off x="8091220" y="5212080"/>
            <a:ext cx="3442106"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lfbRUNN">
            <a:extLst>
              <a:ext uri="{C183D7F6-B498-43B3-948B-1728B52AA6E4}">
                <adec:decorative xmlns:adec="http://schemas.microsoft.com/office/drawing/2017/decorative" val="1"/>
              </a:ext>
            </a:extLst>
          </p:cNvPr>
          <p:cNvSpPr/>
          <p:nvPr/>
        </p:nvSpPr>
        <p:spPr>
          <a:xfrm>
            <a:off x="8091220" y="521208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lflRUNN"/>
          <p:cNvSpPr txBox="1"/>
          <p:nvPr/>
        </p:nvSpPr>
        <p:spPr>
          <a:xfrm>
            <a:off x="8365540" y="5376672"/>
            <a:ext cx="3030626"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RUNNABLE COPY</a:t>
            </a:r>
          </a:p>
        </p:txBody>
      </p:sp>
      <p:sp>
        <p:nvSpPr>
          <p:cNvPr id="35" name="!!lfvRUNN"/>
          <p:cNvSpPr txBox="1"/>
          <p:nvPr/>
        </p:nvSpPr>
        <p:spPr>
          <a:xfrm>
            <a:off x="8365540" y="5669280"/>
            <a:ext cx="3030626"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Consolas"/>
              </a:rPr>
              <a:t>code/ch11_neighbours_scaling.py</a:t>
            </a:r>
          </a:p>
        </p:txBody>
      </p:sp>
      <p:sp>
        <p:nvSpPr>
          <p:cNvPr id="3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pfill">
            <a:extLst>
              <a:ext uri="{C183D7F6-B498-43B3-948B-1728B52AA6E4}">
                <adec:decorative xmlns:adec="http://schemas.microsoft.com/office/drawing/2017/decorative" val="1"/>
              </a:ext>
            </a:extLst>
          </p:cNvPr>
          <p:cNvSpPr/>
          <p:nvPr/>
        </p:nvSpPr>
        <p:spPr>
          <a:xfrm>
            <a:off x="0" y="0"/>
            <a:ext cx="704409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10" presetClass="entr" presetSubtype="0" fill="hold" grpId="0" nodeType="clickEffect">
                                  <p:stCondLst>
                                    <p:cond delay="0"/>
                                  </p:stCondLst>
                                  <p:childTnLst>
                                    <p:set>
                                      <p:cBhvr>
                                        <p:cTn id="7" dur="1" fill="hold">
                                          <p:stCondLst>
                                            <p:cond delay="0"/>
                                          </p:stCondLst>
                                        </p:cTn>
                                        <p:tgtEl>
                                          <p:spTgt spid="8">
                                            <p:txEl>
                                              <p:pRg st="0" end="0"/>
                                            </p:txEl>
                                          </p:spTgt>
                                        </p:tgtEl>
                                        <p:attrNameLst>
                                          <p:attrName>style.visibility</p:attrName>
                                        </p:attrNameLst>
                                      </p:cBhvr>
                                      <p:to>
                                        <p:strVal val="visible"/>
                                      </p:to>
                                    </p:set>
                                    <p:animEffect transition="in" filter="fade">
                                      <p:cBhvr>
                                        <p:cTn id="8" dur="300"/>
                                        <p:tgtEl>
                                          <p:spTgt spid="8">
                                            <p:txEl>
                                              <p:pRg st="0" end="0"/>
                                            </p:txEl>
                                          </p:spTgt>
                                        </p:tgtEl>
                                      </p:cBhvr>
                                    </p:animEffec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animEffect transition="in" filter="fade">
                                      <p:cBhvr>
                                        <p:cTn id="13" dur="300"/>
                                        <p:tgtEl>
                                          <p:spTgt spid="8">
                                            <p:txEl>
                                              <p:pRg st="1" end="1"/>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8">
                                            <p:txEl>
                                              <p:pRg st="2" end="2"/>
                                            </p:txEl>
                                          </p:spTgt>
                                        </p:tgtEl>
                                        <p:attrNameLst>
                                          <p:attrName>style.visibility</p:attrName>
                                        </p:attrNameLst>
                                      </p:cBhvr>
                                      <p:to>
                                        <p:strVal val="visible"/>
                                      </p:to>
                                    </p:set>
                                    <p:animEffect transition="in" filter="fade">
                                      <p:cBhvr>
                                        <p:cTn id="18" dur="300"/>
                                        <p:tgtEl>
                                          <p:spTgt spid="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8">
                                            <p:txEl>
                                              <p:pRg st="3" end="3"/>
                                            </p:txEl>
                                          </p:spTgt>
                                        </p:tgtEl>
                                        <p:attrNameLst>
                                          <p:attrName>style.visibility</p:attrName>
                                        </p:attrNameLst>
                                      </p:cBhvr>
                                      <p:to>
                                        <p:strVal val="visible"/>
                                      </p:to>
                                    </p:set>
                                    <p:animEffect transition="in" filter="fade">
                                      <p:cBhvr>
                                        <p:cTn id="23" dur="3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Neighbours, Scaling and the Choice of 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§11.7  ·  Handout p. 88     </a:t>
            </a:r>
            <a:fld id="{E5180C8B-F32F-4154-A428-715717D1613B}" type="slidenum">
              <a:rPr lang="en-GB" sz="1000">
                <a:solidFill>
                  <a:srgbClr val="8795A1"/>
                </a:solidFill>
                <a:latin typeface="Segoe UI"/>
              </a:rPr>
              <a:t>27</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432304"/>
          </a:xfrm>
          <a:prstGeom prst="roundRect">
            <a:avLst>
              <a:gd name="adj" fmla="val 3759"/>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code/ch11_neighbours_scaling.py</a:t>
            </a:r>
          </a:p>
        </p:txBody>
      </p:sp>
      <p:sp>
        <p:nvSpPr>
          <p:cNvPr id="14" name="!!code-text" descr="import numpy as np from sklearn.datasets import load_breast_cancer from sklearn.model_selection import cross_val_score, GridSearchCV from sklearn.neighbors import KNeighborsClassifier from sklearn.pipeline import make_pipeline from sklearn.preprocessing import StandardScaler"/>
          <p:cNvSpPr txBox="1"/>
          <p:nvPr/>
        </p:nvSpPr>
        <p:spPr>
          <a:xfrm>
            <a:off x="1362456" y="2523744"/>
            <a:ext cx="9987991" cy="1938528"/>
          </a:xfrm>
          <a:prstGeom prst="rect">
            <a:avLst/>
          </a:prstGeom>
          <a:noFill/>
        </p:spPr>
        <p:txBody>
          <a:bodyPr wrap="none" anchor="t" lIns="0" rIns="0" tIns="0" bIns="0">
            <a:noAutofit/>
          </a:bodyPr>
          <a:lstStyle/>
          <a:p>
            <a:pPr>
              <a:lnSpc>
                <a:spcPct val="100000"/>
              </a:lnSpc>
              <a:spcAft>
                <a:spcPts val="0"/>
              </a:spcAft>
            </a:pPr>
            <a:r>
              <a:rPr sz="2000" i="0">
                <a:solidFill>
                  <a:srgbClr val="5DADE2"/>
                </a:solidFill>
                <a:latin typeface="Consolas"/>
              </a:rPr>
              <a:t>import</a:t>
            </a:r>
            <a:r>
              <a:rPr sz="2000" i="0">
                <a:solidFill>
                  <a:srgbClr val="E8EDF2"/>
                </a:solidFill>
                <a:latin typeface="Consolas"/>
              </a:rPr>
              <a:t> </a:t>
            </a:r>
            <a:r>
              <a:rPr sz="2000" i="0">
                <a:solidFill>
                  <a:srgbClr val="76D7C4"/>
                </a:solidFill>
                <a:latin typeface="Consolas"/>
              </a:rPr>
              <a:t>numpy</a:t>
            </a:r>
            <a:r>
              <a:rPr sz="2000" i="0">
                <a:solidFill>
                  <a:srgbClr val="E8EDF2"/>
                </a:solidFill>
                <a:latin typeface="Consolas"/>
              </a:rPr>
              <a:t> </a:t>
            </a:r>
            <a:r>
              <a:rPr sz="2000" i="0">
                <a:solidFill>
                  <a:srgbClr val="5DADE2"/>
                </a:solidFill>
                <a:latin typeface="Consolas"/>
              </a:rPr>
              <a:t>as</a:t>
            </a:r>
            <a:r>
              <a:rPr sz="2000" i="0">
                <a:solidFill>
                  <a:srgbClr val="E8EDF2"/>
                </a:solidFill>
                <a:latin typeface="Consolas"/>
              </a:rPr>
              <a:t> </a:t>
            </a:r>
            <a:r>
              <a:rPr sz="2000" i="0">
                <a:solidFill>
                  <a:srgbClr val="76D7C4"/>
                </a:solidFill>
                <a:latin typeface="Consolas"/>
              </a:rPr>
              <a:t>np</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datasets</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load_breast_cancer</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model_selection</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cross_val_score</a:t>
            </a:r>
            <a:r>
              <a:rPr sz="2000" i="0">
                <a:solidFill>
                  <a:srgbClr val="AEB6BF"/>
                </a:solidFill>
                <a:latin typeface="Consolas"/>
              </a:rPr>
              <a:t>,</a:t>
            </a:r>
            <a:r>
              <a:rPr sz="2000" i="0">
                <a:solidFill>
                  <a:srgbClr val="E8EDF2"/>
                </a:solidFill>
                <a:latin typeface="Consolas"/>
              </a:rPr>
              <a:t> </a:t>
            </a:r>
            <a:r>
              <a:rPr sz="2000" i="0">
                <a:solidFill>
                  <a:srgbClr val="E8EDF2"/>
                </a:solidFill>
                <a:latin typeface="Consolas"/>
              </a:rPr>
              <a:t>GridSearchCV</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neighbors</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KNeighborsClassifier</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pipeline</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make_pipeline</a:t>
            </a:r>
          </a:p>
          <a:p>
            <a:pPr>
              <a:lnSpc>
                <a:spcPct val="100000"/>
              </a:lnSpc>
              <a:spcAft>
                <a:spcPts val="0"/>
              </a:spcAft>
            </a:pPr>
            <a:r>
              <a:rPr sz="2000" i="0">
                <a:solidFill>
                  <a:srgbClr val="5DADE2"/>
                </a:solidFill>
                <a:latin typeface="Consolas"/>
              </a:rPr>
              <a:t>from</a:t>
            </a:r>
            <a:r>
              <a:rPr sz="2000" i="0">
                <a:solidFill>
                  <a:srgbClr val="E8EDF2"/>
                </a:solidFill>
                <a:latin typeface="Consolas"/>
              </a:rPr>
              <a:t> </a:t>
            </a:r>
            <a:r>
              <a:rPr sz="2000" i="0">
                <a:solidFill>
                  <a:srgbClr val="76D7C4"/>
                </a:solidFill>
                <a:latin typeface="Consolas"/>
              </a:rPr>
              <a:t>sklearn</a:t>
            </a:r>
            <a:r>
              <a:rPr sz="2000" i="0">
                <a:solidFill>
                  <a:srgbClr val="76D7C4"/>
                </a:solidFill>
                <a:latin typeface="Consolas"/>
              </a:rPr>
              <a:t>.</a:t>
            </a:r>
            <a:r>
              <a:rPr sz="2000" i="0">
                <a:solidFill>
                  <a:srgbClr val="76D7C4"/>
                </a:solidFill>
                <a:latin typeface="Consolas"/>
              </a:rPr>
              <a:t>preprocessing</a:t>
            </a:r>
            <a:r>
              <a:rPr sz="2000" i="0">
                <a:solidFill>
                  <a:srgbClr val="E8EDF2"/>
                </a:solidFill>
                <a:latin typeface="Consolas"/>
              </a:rPr>
              <a:t> </a:t>
            </a:r>
            <a:r>
              <a:rPr sz="2000" i="0">
                <a:solidFill>
                  <a:srgbClr val="5DADE2"/>
                </a:solidFill>
                <a:latin typeface="Consolas"/>
              </a:rPr>
              <a:t>import</a:t>
            </a:r>
            <a:r>
              <a:rPr sz="2000" i="0">
                <a:solidFill>
                  <a:srgbClr val="E8EDF2"/>
                </a:solidFill>
                <a:latin typeface="Consolas"/>
              </a:rPr>
              <a:t> </a:t>
            </a:r>
            <a:r>
              <a:rPr sz="2000" i="0">
                <a:solidFill>
                  <a:srgbClr val="E8EDF2"/>
                </a:solidFill>
                <a:latin typeface="Consolas"/>
              </a:rPr>
              <a:t>StandardScaler</a:t>
            </a:r>
          </a:p>
        </p:txBody>
      </p:sp>
      <p:sp>
        <p:nvSpPr>
          <p:cNvPr id="15" name="!!code-num"/>
          <p:cNvSpPr txBox="1"/>
          <p:nvPr/>
        </p:nvSpPr>
        <p:spPr>
          <a:xfrm>
            <a:off x="768096" y="2523744"/>
            <a:ext cx="393192" cy="1938528"/>
          </a:xfrm>
          <a:prstGeom prst="rect">
            <a:avLst/>
          </a:prstGeom>
          <a:noFill/>
        </p:spPr>
        <p:txBody>
          <a:bodyPr wrap="none" anchor="t" lIns="0" rIns="0" tIns="0" bIns="0">
            <a:noAutofit/>
          </a:bodyPr>
          <a:lstStyle/>
          <a:p>
            <a:pPr algn="r">
              <a:lnSpc>
                <a:spcPct val="100000"/>
              </a:lnSpc>
            </a:pPr>
            <a:r>
              <a:rPr sz="2000">
                <a:solidFill>
                  <a:srgbClr val="4F5D6A"/>
                </a:solidFill>
                <a:latin typeface="Consolas"/>
              </a:rPr>
              <a:t>2</a:t>
            </a:r>
          </a:p>
          <a:p>
            <a:pPr algn="r">
              <a:lnSpc>
                <a:spcPct val="100000"/>
              </a:lnSpc>
            </a:pPr>
            <a:r>
              <a:rPr sz="2000">
                <a:solidFill>
                  <a:srgbClr val="4F5D6A"/>
                </a:solidFill>
                <a:latin typeface="Consolas"/>
              </a:rPr>
              <a:t>3</a:t>
            </a:r>
          </a:p>
          <a:p>
            <a:pPr algn="r">
              <a:lnSpc>
                <a:spcPct val="100000"/>
              </a:lnSpc>
            </a:pPr>
            <a:r>
              <a:rPr sz="2000">
                <a:solidFill>
                  <a:srgbClr val="4F5D6A"/>
                </a:solidFill>
                <a:latin typeface="Consolas"/>
              </a:rPr>
              <a:t>4</a:t>
            </a:r>
          </a:p>
          <a:p>
            <a:pPr algn="r">
              <a:lnSpc>
                <a:spcPct val="100000"/>
              </a:lnSpc>
            </a:pPr>
            <a:r>
              <a:rPr sz="2000">
                <a:solidFill>
                  <a:srgbClr val="4F5D6A"/>
                </a:solidFill>
                <a:latin typeface="Consolas"/>
              </a:rPr>
              <a:t>5</a:t>
            </a:r>
          </a:p>
          <a:p>
            <a:pPr algn="r">
              <a:lnSpc>
                <a:spcPct val="100000"/>
              </a:lnSpc>
            </a:pPr>
            <a:r>
              <a:rPr sz="2000">
                <a:solidFill>
                  <a:srgbClr val="4F5D6A"/>
                </a:solidFill>
                <a:latin typeface="Consolas"/>
              </a:rPr>
              <a:t>6</a:t>
            </a:r>
          </a:p>
          <a:p>
            <a:pPr algn="r">
              <a:lnSpc>
                <a:spcPct val="100000"/>
              </a:lnSpc>
            </a:pPr>
            <a:r>
              <a:rPr sz="2000">
                <a:solidFill>
                  <a:srgbClr val="4F5D6A"/>
                </a:solidFill>
                <a:latin typeface="Consolas"/>
              </a:rPr>
              <a:t>7</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315017"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Neighbours, Scaling and the Choice of 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§11.7  ·  Handout p. 88     </a:t>
            </a:r>
            <a:fld id="{F4340C4F-FA53-45ED-BB6E-1D9858144D5F}" type="slidenum">
              <a:rPr lang="en-GB" sz="1000">
                <a:solidFill>
                  <a:srgbClr val="8795A1"/>
                </a:solidFill>
                <a:latin typeface="Segoe UI"/>
              </a:rPr>
              <a:t>28</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worked example</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676144"/>
          </a:xfrm>
          <a:prstGeom prst="roundRect">
            <a:avLst>
              <a:gd name="adj" fmla="val 341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code/ch11_neighbours_scaling.py</a:t>
            </a:r>
          </a:p>
        </p:txBody>
      </p:sp>
      <p:sp>
        <p:nvSpPr>
          <p:cNvPr id="14" name="!!code-text" descr="# --- 1. the worked example ----------------------------------------------- X = np.array([[90, 85], [80, 70], [60, 75], [55, 40], [72, 46], [40, 60]]) y = np.array([&quot;Pass&quot;, &quot;Pass&quot;, &quot;Pass&quot;, &quot;Fail&quot;, &quot;Fail&quot;, &quot;Fail&quot;]) q = np.array([[65, 60]]) for k in (1, 3, 5): plain = KNeighborsClassifier(k).fit(X, y).predict(q)[0] weighted = KNeighborsClassifier(k, weights=&quot;distance&quot;).fit(X, y) print(f&quot;k={k}: vote {plain}, distance-weighted {weighted.predict(q)[0]}&quot;)"/>
          <p:cNvSpPr txBox="1"/>
          <p:nvPr/>
        </p:nvSpPr>
        <p:spPr>
          <a:xfrm>
            <a:off x="1362456" y="2523744"/>
            <a:ext cx="9987991" cy="218236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--- 1. the worked example -----------------------------------------------</a:t>
            </a:r>
          </a:p>
          <a:p>
            <a:pPr>
              <a:lnSpc>
                <a:spcPct val="100000"/>
              </a:lnSpc>
              <a:spcAft>
                <a:spcPts val="0"/>
              </a:spcAft>
            </a:pPr>
            <a:r>
              <a:rPr sz="1700" i="0">
                <a:solidFill>
                  <a:srgbClr val="E8EDF2"/>
                </a:solidFill>
                <a:latin typeface="Consolas"/>
              </a:rPr>
              <a:t>X</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array</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90</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85</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F7DC6F"/>
                </a:solidFill>
                <a:latin typeface="Consolas"/>
              </a:rPr>
              <a:t>80</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70</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F7DC6F"/>
                </a:solidFill>
                <a:latin typeface="Consolas"/>
              </a:rPr>
              <a:t>60</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75</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F7DC6F"/>
                </a:solidFill>
                <a:latin typeface="Consolas"/>
              </a:rPr>
              <a:t>55</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40</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F7DC6F"/>
                </a:solidFill>
                <a:latin typeface="Consolas"/>
              </a:rPr>
              <a:t>72</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46</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F7DC6F"/>
                </a:solidFill>
                <a:latin typeface="Consolas"/>
              </a:rPr>
              <a:t>40</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60</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y</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array</a:t>
            </a:r>
            <a:r>
              <a:rPr sz="1700" i="0">
                <a:solidFill>
                  <a:srgbClr val="AEB6BF"/>
                </a:solidFill>
                <a:latin typeface="Consolas"/>
              </a:rPr>
              <a:t>(</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Pass</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Pass</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Pass</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Fail</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Fail</a:t>
            </a:r>
            <a:r>
              <a:rPr sz="1700" i="0">
                <a:solidFill>
                  <a:srgbClr val="7DCEA0"/>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7DCEA0"/>
                </a:solidFill>
                <a:latin typeface="Consolas"/>
              </a:rPr>
              <a:t>"</a:t>
            </a:r>
            <a:r>
              <a:rPr sz="1700" i="0">
                <a:solidFill>
                  <a:srgbClr val="7DCEA0"/>
                </a:solidFill>
                <a:latin typeface="Consolas"/>
              </a:rPr>
              <a:t>Fail</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q</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array</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65</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60</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k</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AEB6BF"/>
                </a:solidFill>
                <a:latin typeface="Consolas"/>
              </a:rPr>
              <a:t>(</a:t>
            </a:r>
            <a:r>
              <a:rPr sz="1700" i="0">
                <a:solidFill>
                  <a:srgbClr val="F7DC6F"/>
                </a:solidFill>
                <a:latin typeface="Consolas"/>
              </a:rPr>
              <a:t>1</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3</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5</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plain</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KNeighborsClassifier</a:t>
            </a:r>
            <a:r>
              <a:rPr sz="1700" i="0">
                <a:solidFill>
                  <a:srgbClr val="AEB6BF"/>
                </a:solidFill>
                <a:latin typeface="Consolas"/>
              </a:rPr>
              <a:t>(</a:t>
            </a:r>
            <a:r>
              <a:rPr sz="1700" i="0">
                <a:solidFill>
                  <a:srgbClr val="E8EDF2"/>
                </a:solidFill>
                <a:latin typeface="Consolas"/>
              </a:rPr>
              <a:t>k</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fit</a:t>
            </a:r>
            <a:r>
              <a:rPr sz="1700" i="0">
                <a:solidFill>
                  <a:srgbClr val="AEB6BF"/>
                </a:solidFill>
                <a:latin typeface="Consolas"/>
              </a:rPr>
              <a:t>(</a:t>
            </a:r>
            <a:r>
              <a:rPr sz="1700" i="0">
                <a:solidFill>
                  <a:srgbClr val="E8EDF2"/>
                </a:solidFill>
                <a:latin typeface="Consolas"/>
              </a:rPr>
              <a:t>X</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predict</a:t>
            </a:r>
            <a:r>
              <a:rPr sz="1700" i="0">
                <a:solidFill>
                  <a:srgbClr val="AEB6BF"/>
                </a:solidFill>
                <a:latin typeface="Consolas"/>
              </a:rPr>
              <a:t>(</a:t>
            </a:r>
            <a:r>
              <a:rPr sz="1700" i="0">
                <a:solidFill>
                  <a:srgbClr val="E8EDF2"/>
                </a:solidFill>
                <a:latin typeface="Consolas"/>
              </a:rPr>
              <a:t>q</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weighted</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KNeighborsClassifier</a:t>
            </a:r>
            <a:r>
              <a:rPr sz="1700" i="0">
                <a:solidFill>
                  <a:srgbClr val="AEB6BF"/>
                </a:solidFill>
                <a:latin typeface="Consolas"/>
              </a:rPr>
              <a:t>(</a:t>
            </a:r>
            <a:r>
              <a:rPr sz="1700" i="0">
                <a:solidFill>
                  <a:srgbClr val="E8EDF2"/>
                </a:solidFill>
                <a:latin typeface="Consolas"/>
              </a:rPr>
              <a:t>k</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weights</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distance</a:t>
            </a:r>
            <a:r>
              <a:rPr sz="1700" i="0">
                <a:solidFill>
                  <a:srgbClr val="7DCEA0"/>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fit</a:t>
            </a:r>
            <a:r>
              <a:rPr sz="1700" i="0">
                <a:solidFill>
                  <a:srgbClr val="AEB6BF"/>
                </a:solidFill>
                <a:latin typeface="Consolas"/>
              </a:rPr>
              <a:t>(</a:t>
            </a:r>
            <a:r>
              <a:rPr sz="1700" i="0">
                <a:solidFill>
                  <a:srgbClr val="E8EDF2"/>
                </a:solidFill>
                <a:latin typeface="Consolas"/>
              </a:rPr>
              <a:t>X</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k=</a:t>
            </a:r>
            <a:r>
              <a:rPr sz="1700" i="0">
                <a:solidFill>
                  <a:srgbClr val="7DCEA0"/>
                </a:solidFill>
                <a:latin typeface="Consolas"/>
              </a:rPr>
              <a:t>{</a:t>
            </a:r>
            <a:r>
              <a:rPr sz="1700" i="0">
                <a:solidFill>
                  <a:srgbClr val="E8EDF2"/>
                </a:solidFill>
                <a:latin typeface="Consolas"/>
              </a:rPr>
              <a:t>k</a:t>
            </a:r>
            <a:r>
              <a:rPr sz="1700" i="0">
                <a:solidFill>
                  <a:srgbClr val="7DCEA0"/>
                </a:solidFill>
                <a:latin typeface="Consolas"/>
              </a:rPr>
              <a:t>}</a:t>
            </a:r>
            <a:r>
              <a:rPr sz="1700" i="0">
                <a:solidFill>
                  <a:srgbClr val="7DCEA0"/>
                </a:solidFill>
                <a:latin typeface="Consolas"/>
              </a:rPr>
              <a:t>: vote </a:t>
            </a:r>
            <a:r>
              <a:rPr sz="1700" i="0">
                <a:solidFill>
                  <a:srgbClr val="7DCEA0"/>
                </a:solidFill>
                <a:latin typeface="Consolas"/>
              </a:rPr>
              <a:t>{</a:t>
            </a:r>
            <a:r>
              <a:rPr sz="1700" i="0">
                <a:solidFill>
                  <a:srgbClr val="E8EDF2"/>
                </a:solidFill>
                <a:latin typeface="Consolas"/>
              </a:rPr>
              <a:t>plain</a:t>
            </a:r>
            <a:r>
              <a:rPr sz="1700" i="0">
                <a:solidFill>
                  <a:srgbClr val="7DCEA0"/>
                </a:solidFill>
                <a:latin typeface="Consolas"/>
              </a:rPr>
              <a:t>}</a:t>
            </a:r>
            <a:r>
              <a:rPr sz="1700" i="0">
                <a:solidFill>
                  <a:srgbClr val="7DCEA0"/>
                </a:solidFill>
                <a:latin typeface="Consolas"/>
              </a:rPr>
              <a:t>, distance-weighted </a:t>
            </a:r>
            <a:r>
              <a:rPr sz="1700" i="0">
                <a:solidFill>
                  <a:srgbClr val="7DCEA0"/>
                </a:solidFill>
                <a:latin typeface="Consolas"/>
              </a:rPr>
              <a:t>{</a:t>
            </a:r>
            <a:r>
              <a:rPr sz="1700" i="0">
                <a:solidFill>
                  <a:srgbClr val="E8EDF2"/>
                </a:solidFill>
                <a:latin typeface="Consolas"/>
              </a:rPr>
              <a:t>weighted</a:t>
            </a:r>
            <a:r>
              <a:rPr sz="1700" i="0">
                <a:solidFill>
                  <a:srgbClr val="AEB6BF"/>
                </a:solidFill>
                <a:latin typeface="Consolas"/>
              </a:rPr>
              <a:t>.</a:t>
            </a:r>
            <a:r>
              <a:rPr sz="1700" i="0">
                <a:solidFill>
                  <a:srgbClr val="E8EDF2"/>
                </a:solidFill>
                <a:latin typeface="Consolas"/>
              </a:rPr>
              <a:t>predict</a:t>
            </a:r>
            <a:r>
              <a:rPr sz="1700" i="0">
                <a:solidFill>
                  <a:srgbClr val="AEB6BF"/>
                </a:solidFill>
                <a:latin typeface="Consolas"/>
              </a:rPr>
              <a:t>(</a:t>
            </a:r>
            <a:r>
              <a:rPr sz="1700" i="0">
                <a:solidFill>
                  <a:srgbClr val="E8EDF2"/>
                </a:solidFill>
                <a:latin typeface="Consolas"/>
              </a:rPr>
              <a:t>q</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p:txBody>
      </p:sp>
      <p:sp>
        <p:nvSpPr>
          <p:cNvPr id="15" name="!!code-num"/>
          <p:cNvSpPr txBox="1"/>
          <p:nvPr/>
        </p:nvSpPr>
        <p:spPr>
          <a:xfrm>
            <a:off x="768096" y="2523744"/>
            <a:ext cx="393192" cy="218236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9</a:t>
            </a:r>
          </a:p>
          <a:p>
            <a:pPr algn="r">
              <a:lnSpc>
                <a:spcPct val="100000"/>
              </a:lnSpc>
            </a:pPr>
            <a:r>
              <a:rPr sz="1700">
                <a:solidFill>
                  <a:srgbClr val="4F5D6A"/>
                </a:solidFill>
                <a:latin typeface="Consolas"/>
              </a:rPr>
              <a:t>10</a:t>
            </a:r>
          </a:p>
          <a:p>
            <a:pPr algn="r">
              <a:lnSpc>
                <a:spcPct val="100000"/>
              </a:lnSpc>
            </a:pPr>
            <a:r>
              <a:rPr sz="1700">
                <a:solidFill>
                  <a:srgbClr val="4F5D6A"/>
                </a:solidFill>
                <a:latin typeface="Consolas"/>
              </a:rPr>
              <a:t>11</a:t>
            </a:r>
          </a:p>
          <a:p>
            <a:pPr algn="r">
              <a:lnSpc>
                <a:spcPct val="100000"/>
              </a:lnSpc>
            </a:pPr>
            <a:r>
              <a:rPr sz="1700">
                <a:solidFill>
                  <a:srgbClr val="4F5D6A"/>
                </a:solidFill>
                <a:latin typeface="Consolas"/>
              </a:rPr>
              <a:t>12</a:t>
            </a:r>
          </a:p>
          <a:p>
            <a:pPr algn="r">
              <a:lnSpc>
                <a:spcPct val="100000"/>
              </a:lnSpc>
            </a:pPr>
            <a:r>
              <a:rPr sz="1700">
                <a:solidFill>
                  <a:srgbClr val="4F5D6A"/>
                </a:solidFill>
                <a:latin typeface="Consolas"/>
              </a:rPr>
              <a:t>13</a:t>
            </a:r>
          </a:p>
          <a:p>
            <a:pPr algn="r">
              <a:lnSpc>
                <a:spcPct val="100000"/>
              </a:lnSpc>
            </a:pPr>
            <a:r>
              <a:rPr sz="1700">
                <a:solidFill>
                  <a:srgbClr val="4F5D6A"/>
                </a:solidFill>
                <a:latin typeface="Consolas"/>
              </a:rPr>
              <a:t>14</a:t>
            </a:r>
          </a:p>
          <a:p>
            <a:pPr algn="r">
              <a:lnSpc>
                <a:spcPct val="100000"/>
              </a:lnSpc>
            </a:pPr>
            <a:r>
              <a:rPr sz="1700">
                <a:solidFill>
                  <a:srgbClr val="4F5D6A"/>
                </a:solidFill>
                <a:latin typeface="Consolas"/>
              </a:rPr>
              <a:t>15</a:t>
            </a:r>
          </a:p>
          <a:p>
            <a:pPr algn="r">
              <a:lnSpc>
                <a:spcPct val="100000"/>
              </a:lnSpc>
            </a:pPr>
            <a:r>
              <a:rPr sz="1700">
                <a:solidFill>
                  <a:srgbClr val="4F5D6A"/>
                </a:solidFill>
                <a:latin typeface="Consolas"/>
              </a:rPr>
              <a:t>16</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58594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Neighbours, Scaling and the Choice of 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3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§11.7  ·  Handout p. 88     </a:t>
            </a:r>
            <a:fld id="{C72DAD1A-0D88-4DE0-9BBC-4A5DFB98E27F}" type="slidenum">
              <a:rPr lang="en-GB" sz="1000">
                <a:solidFill>
                  <a:srgbClr val="8795A1"/>
                </a:solidFill>
                <a:latin typeface="Segoe UI"/>
              </a:rPr>
              <a:t>29</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Scaling matters</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417064"/>
          </a:xfrm>
          <a:prstGeom prst="roundRect">
            <a:avLst>
              <a:gd name="adj" fmla="val 378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code/ch11_neighbours_scaling.py</a:t>
            </a:r>
          </a:p>
        </p:txBody>
      </p:sp>
      <p:sp>
        <p:nvSpPr>
          <p:cNvPr id="14" name="!!code-text" descr="# --- 2. scaling matters ---------------------------------------------------- Xb, yb = load_breast_cancer(return_X_y=True) raw = cross_val_score(KNeighborsClassifier(5), Xb, yb, cv=10).mean() scaled = cross_val_score(make_pipeline(StandardScaler(), KNeighborsClassifier(5)), Xb, yb, cv=10).mean() print(f&quot;5-NN accuracy: raw {raw:.3f}, standardised {scaled:.3f}&quot;)"/>
          <p:cNvSpPr txBox="1"/>
          <p:nvPr/>
        </p:nvSpPr>
        <p:spPr>
          <a:xfrm>
            <a:off x="1362456" y="2523744"/>
            <a:ext cx="9987991" cy="192328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--- 2. scaling matters ----------------------------------------------------</a:t>
            </a:r>
          </a:p>
          <a:p>
            <a:pPr>
              <a:lnSpc>
                <a:spcPct val="100000"/>
              </a:lnSpc>
              <a:spcAft>
                <a:spcPts val="0"/>
              </a:spcAft>
            </a:pPr>
            <a:r>
              <a:rPr sz="1700" i="0">
                <a:solidFill>
                  <a:srgbClr val="E8EDF2"/>
                </a:solidFill>
                <a:latin typeface="Consolas"/>
              </a:rPr>
              <a:t>Xb</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yb</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load_breast_cancer</a:t>
            </a:r>
            <a:r>
              <a:rPr sz="1700" i="0">
                <a:solidFill>
                  <a:srgbClr val="AEB6BF"/>
                </a:solidFill>
                <a:latin typeface="Consolas"/>
              </a:rPr>
              <a:t>(</a:t>
            </a:r>
            <a:r>
              <a:rPr sz="1700" i="0">
                <a:solidFill>
                  <a:srgbClr val="E8EDF2"/>
                </a:solidFill>
                <a:latin typeface="Consolas"/>
              </a:rPr>
              <a:t>return_X_y</a:t>
            </a:r>
            <a:r>
              <a:rPr sz="1700" i="0">
                <a:solidFill>
                  <a:srgbClr val="AEB6BF"/>
                </a:solidFill>
                <a:latin typeface="Consolas"/>
              </a:rPr>
              <a:t>=</a:t>
            </a:r>
            <a:r>
              <a:rPr sz="1700" i="0">
                <a:solidFill>
                  <a:srgbClr val="5DADE2"/>
                </a:solidFill>
                <a:latin typeface="Consolas"/>
              </a:rPr>
              <a:t>True</a:t>
            </a:r>
            <a:r>
              <a:rPr sz="1700" i="0">
                <a:solidFill>
                  <a:srgbClr val="AEB6BF"/>
                </a:solidFill>
                <a:latin typeface="Consolas"/>
              </a:rPr>
              <a:t>)</a:t>
            </a:r>
          </a:p>
          <a:p>
            <a:pPr>
              <a:lnSpc>
                <a:spcPct val="100000"/>
              </a:lnSpc>
              <a:spcAft>
                <a:spcPts val="0"/>
              </a:spcAft>
            </a:pPr>
            <a:r>
              <a:rPr sz="1700" i="0">
                <a:solidFill>
                  <a:srgbClr val="E8EDF2"/>
                </a:solidFill>
                <a:latin typeface="Consolas"/>
              </a:rPr>
              <a:t>raw</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cross_val_score</a:t>
            </a:r>
            <a:r>
              <a:rPr sz="1700" i="0">
                <a:solidFill>
                  <a:srgbClr val="AEB6BF"/>
                </a:solidFill>
                <a:latin typeface="Consolas"/>
              </a:rPr>
              <a:t>(</a:t>
            </a:r>
            <a:r>
              <a:rPr sz="1700" i="0">
                <a:solidFill>
                  <a:srgbClr val="E8EDF2"/>
                </a:solidFill>
                <a:latin typeface="Consolas"/>
              </a:rPr>
              <a:t>KNeighborsClassifier</a:t>
            </a:r>
            <a:r>
              <a:rPr sz="1700" i="0">
                <a:solidFill>
                  <a:srgbClr val="AEB6BF"/>
                </a:solidFill>
                <a:latin typeface="Consolas"/>
              </a:rPr>
              <a:t>(</a:t>
            </a:r>
            <a:r>
              <a:rPr sz="1700" i="0">
                <a:solidFill>
                  <a:srgbClr val="F7DC6F"/>
                </a:solidFill>
                <a:latin typeface="Consolas"/>
              </a:rPr>
              <a:t>5</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Xb</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yb</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cv</a:t>
            </a:r>
            <a:r>
              <a:rPr sz="1700" i="0">
                <a:solidFill>
                  <a:srgbClr val="AEB6BF"/>
                </a:solidFill>
                <a:latin typeface="Consolas"/>
              </a:rPr>
              <a:t>=</a:t>
            </a:r>
            <a:r>
              <a:rPr sz="1700" i="0">
                <a:solidFill>
                  <a:srgbClr val="F7DC6F"/>
                </a:solidFill>
                <a:latin typeface="Consolas"/>
              </a:rPr>
              <a:t>10</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mean</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scaled</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cross_val_score</a:t>
            </a:r>
            <a:r>
              <a:rPr sz="1700" i="0">
                <a:solidFill>
                  <a:srgbClr val="AEB6BF"/>
                </a:solidFill>
                <a:latin typeface="Consolas"/>
              </a:rPr>
              <a:t>(</a:t>
            </a:r>
            <a:r>
              <a:rPr sz="1700" i="0">
                <a:solidFill>
                  <a:srgbClr val="E8EDF2"/>
                </a:solidFill>
                <a:latin typeface="Consolas"/>
              </a:rPr>
              <a:t>make_pipeline</a:t>
            </a:r>
            <a:r>
              <a:rPr sz="1700" i="0">
                <a:solidFill>
                  <a:srgbClr val="AEB6BF"/>
                </a:solidFill>
                <a:latin typeface="Consolas"/>
              </a:rPr>
              <a:t>(</a:t>
            </a:r>
            <a:r>
              <a:rPr sz="1700" i="0">
                <a:solidFill>
                  <a:srgbClr val="E8EDF2"/>
                </a:solidFill>
                <a:latin typeface="Consolas"/>
              </a:rPr>
              <a:t>StandardScaler</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KNeighborsClassifier</a:t>
            </a:r>
            <a:r>
              <a:rPr sz="1700" i="0">
                <a:solidFill>
                  <a:srgbClr val="AEB6BF"/>
                </a:solidFill>
                <a:latin typeface="Consolas"/>
              </a:rPr>
              <a:t>(</a:t>
            </a:r>
            <a:r>
              <a:rPr sz="1700" i="0">
                <a:solidFill>
                  <a:srgbClr val="F7DC6F"/>
                </a:solidFill>
                <a:latin typeface="Consolas"/>
              </a:rPr>
              <a:t>5</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Xb</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yb</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cv</a:t>
            </a:r>
            <a:r>
              <a:rPr sz="1700" i="0">
                <a:solidFill>
                  <a:srgbClr val="AEB6BF"/>
                </a:solidFill>
                <a:latin typeface="Consolas"/>
              </a:rPr>
              <a:t>=</a:t>
            </a:r>
            <a:r>
              <a:rPr sz="1700" i="0">
                <a:solidFill>
                  <a:srgbClr val="F7DC6F"/>
                </a:solidFill>
                <a:latin typeface="Consolas"/>
              </a:rPr>
              <a:t>10</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mean</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5-NN accuracy: raw </a:t>
            </a:r>
            <a:r>
              <a:rPr sz="1700" i="0">
                <a:solidFill>
                  <a:srgbClr val="7DCEA0"/>
                </a:solidFill>
                <a:latin typeface="Consolas"/>
              </a:rPr>
              <a:t>{</a:t>
            </a:r>
            <a:r>
              <a:rPr sz="1700" i="0">
                <a:solidFill>
                  <a:srgbClr val="E8EDF2"/>
                </a:solidFill>
                <a:latin typeface="Consolas"/>
              </a:rPr>
              <a:t>raw</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 standardised </a:t>
            </a:r>
            <a:r>
              <a:rPr sz="1700" i="0">
                <a:solidFill>
                  <a:srgbClr val="7DCEA0"/>
                </a:solidFill>
                <a:latin typeface="Consolas"/>
              </a:rPr>
              <a:t>{</a:t>
            </a:r>
            <a:r>
              <a:rPr sz="1700" i="0">
                <a:solidFill>
                  <a:srgbClr val="E8EDF2"/>
                </a:solidFill>
                <a:latin typeface="Consolas"/>
              </a:rPr>
              <a:t>scaled</a:t>
            </a:r>
            <a:r>
              <a:rPr sz="1700" i="0">
                <a:solidFill>
                  <a:srgbClr val="7DCEA0"/>
                </a:solidFill>
                <a:latin typeface="Consolas"/>
              </a:rPr>
              <a:t>:</a:t>
            </a:r>
            <a:r>
              <a:rPr sz="1700" i="0">
                <a:solidFill>
                  <a:srgbClr val="7DCEA0"/>
                </a:solidFill>
                <a:latin typeface="Consolas"/>
              </a:rPr>
              <a:t>.3f</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p:txBody>
      </p:sp>
      <p:sp>
        <p:nvSpPr>
          <p:cNvPr id="15" name="!!code-num"/>
          <p:cNvSpPr txBox="1"/>
          <p:nvPr/>
        </p:nvSpPr>
        <p:spPr>
          <a:xfrm>
            <a:off x="768096" y="2523744"/>
            <a:ext cx="393192" cy="192328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18</a:t>
            </a:r>
          </a:p>
          <a:p>
            <a:pPr algn="r">
              <a:lnSpc>
                <a:spcPct val="100000"/>
              </a:lnSpc>
            </a:pPr>
            <a:r>
              <a:rPr sz="1700">
                <a:solidFill>
                  <a:srgbClr val="4F5D6A"/>
                </a:solidFill>
                <a:latin typeface="Consolas"/>
              </a:rPr>
              <a:t>19</a:t>
            </a:r>
          </a:p>
          <a:p>
            <a:pPr algn="r">
              <a:lnSpc>
                <a:spcPct val="100000"/>
              </a:lnSpc>
            </a:pPr>
            <a:r>
              <a:rPr sz="1700">
                <a:solidFill>
                  <a:srgbClr val="4F5D6A"/>
                </a:solidFill>
                <a:latin typeface="Consolas"/>
              </a:rPr>
              <a:t>20</a:t>
            </a:r>
          </a:p>
          <a:p>
            <a:pPr algn="r">
              <a:lnSpc>
                <a:spcPct val="100000"/>
              </a:lnSpc>
            </a:pPr>
            <a:r>
              <a:rPr sz="1700">
                <a:solidFill>
                  <a:srgbClr val="4F5D6A"/>
                </a:solidFill>
                <a:latin typeface="Consolas"/>
              </a:rPr>
              <a:t>21</a:t>
            </a:r>
          </a:p>
          <a:p>
            <a:pPr algn="r">
              <a:lnSpc>
                <a:spcPct val="100000"/>
              </a:lnSpc>
            </a:pPr>
            <a:r>
              <a:rPr sz="1700">
                <a:solidFill>
                  <a:srgbClr val="4F5D6A"/>
                </a:solidFill>
                <a:latin typeface="Consolas"/>
              </a:rPr>
              <a:t>22</a:t>
            </a:r>
          </a:p>
          <a:p>
            <a:pPr algn="r">
              <a:lnSpc>
                <a:spcPct val="100000"/>
              </a:lnSpc>
            </a:pPr>
            <a:r>
              <a:rPr sz="1700">
                <a:solidFill>
                  <a:srgbClr val="4F5D6A"/>
                </a:solidFill>
                <a:latin typeface="Consolas"/>
              </a:rPr>
              <a:t>23</a:t>
            </a:r>
          </a:p>
          <a:p>
            <a:pPr algn="r">
              <a:lnSpc>
                <a:spcPct val="100000"/>
              </a:lnSpc>
            </a:pPr>
            <a:r>
              <a:rPr sz="1700">
                <a:solidFill>
                  <a:srgbClr val="4F5D6A"/>
                </a:solidFill>
                <a:latin typeface="Consolas"/>
              </a:rPr>
              <a:t>24</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56870"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Neighbours, Scaling and the Choice of 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4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§11.7  ·  Handout p. 88     </a:t>
            </a:r>
            <a:fld id="{C41D7E25-4D50-413D-9490-46C2FA405ACD}" type="slidenum">
              <a:rPr lang="en-GB" sz="1000">
                <a:solidFill>
                  <a:srgbClr val="8795A1"/>
                </a:solidFill>
                <a:latin typeface="Segoe UI"/>
              </a:rPr>
              <a:t>30</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Choose k by cross-validation</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798063"/>
          </a:xfrm>
          <a:prstGeom prst="roundRect">
            <a:avLst>
              <a:gd name="adj" fmla="val 3267"/>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code/ch11_neighbours_scaling.py</a:t>
            </a:r>
          </a:p>
        </p:txBody>
      </p:sp>
      <p:sp>
        <p:nvSpPr>
          <p:cNvPr id="14" name="!!code-text" descr="# --- 3. choose k by cross-validation -------------------------------------- pipe = make_pipeline(StandardScaler(), KNeighborsClassifier()) grid = GridSearchCV(pipe, {&quot;kneighborsclassifier__n_neighbors&quot;: [1, 3, 5, 7, 11, 21, 51, 101]}, cv=10) grid.fit(Xb, yb) for k, s in zip([1, 3, 5, 7, 11, 21, 51, 101], grid.cv_results_[&quot;mean_test_score&quot;]): print(f&quot; k={k:3d}: CV accuracy {s:.3f}&quot;)"/>
          <p:cNvSpPr txBox="1"/>
          <p:nvPr/>
        </p:nvSpPr>
        <p:spPr>
          <a:xfrm>
            <a:off x="1362456" y="2523744"/>
            <a:ext cx="9987991" cy="2304287"/>
          </a:xfrm>
          <a:prstGeom prst="rect">
            <a:avLst/>
          </a:prstGeom>
          <a:noFill/>
        </p:spPr>
        <p:txBody>
          <a:bodyPr wrap="none" anchor="t" lIns="0" rIns="0" tIns="0" bIns="0">
            <a:noAutofit/>
          </a:bodyPr>
          <a:lstStyle/>
          <a:p>
            <a:pPr>
              <a:lnSpc>
                <a:spcPct val="100000"/>
              </a:lnSpc>
              <a:spcAft>
                <a:spcPts val="0"/>
              </a:spcAft>
            </a:pPr>
            <a:r>
              <a:rPr sz="1800" i="1">
                <a:solidFill>
                  <a:srgbClr val="8795A1"/>
                </a:solidFill>
                <a:latin typeface="Consolas"/>
              </a:rPr>
              <a:t># --- 3. choose k by cross-validation --------------------------------------</a:t>
            </a:r>
          </a:p>
          <a:p>
            <a:pPr>
              <a:lnSpc>
                <a:spcPct val="100000"/>
              </a:lnSpc>
              <a:spcAft>
                <a:spcPts val="0"/>
              </a:spcAft>
            </a:pPr>
            <a:r>
              <a:rPr sz="1800" i="0">
                <a:solidFill>
                  <a:srgbClr val="E8EDF2"/>
                </a:solidFill>
                <a:latin typeface="Consolas"/>
              </a:rPr>
              <a:t>pipe</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make_pipeline</a:t>
            </a:r>
            <a:r>
              <a:rPr sz="1800" i="0">
                <a:solidFill>
                  <a:srgbClr val="AEB6BF"/>
                </a:solidFill>
                <a:latin typeface="Consolas"/>
              </a:rPr>
              <a:t>(</a:t>
            </a:r>
            <a:r>
              <a:rPr sz="1800" i="0">
                <a:solidFill>
                  <a:srgbClr val="E8EDF2"/>
                </a:solidFill>
                <a:latin typeface="Consolas"/>
              </a:rPr>
              <a:t>StandardScaler</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KNeighborsClassifier</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grid</a:t>
            </a:r>
            <a:r>
              <a:rPr sz="1800" i="0">
                <a:solidFill>
                  <a:srgbClr val="E8EDF2"/>
                </a:solidFill>
                <a:latin typeface="Consolas"/>
              </a:rPr>
              <a:t> </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GridSearchCV</a:t>
            </a:r>
            <a:r>
              <a:rPr sz="1800" i="0">
                <a:solidFill>
                  <a:srgbClr val="AEB6BF"/>
                </a:solidFill>
                <a:latin typeface="Consolas"/>
              </a:rPr>
              <a:t>(</a:t>
            </a:r>
            <a:r>
              <a:rPr sz="1800" i="0">
                <a:solidFill>
                  <a:srgbClr val="E8EDF2"/>
                </a:solidFill>
                <a:latin typeface="Consolas"/>
              </a:rPr>
              <a:t>pipe</a:t>
            </a:r>
            <a:r>
              <a:rPr sz="1800" i="0">
                <a:solidFill>
                  <a:srgbClr val="AEB6BF"/>
                </a:solidFill>
                <a:latin typeface="Consolas"/>
              </a:rPr>
              <a:t>,</a:t>
            </a:r>
            <a:r>
              <a:rPr sz="1800" i="0">
                <a:solidFill>
                  <a:srgbClr val="E8EDF2"/>
                </a:solidFill>
                <a:latin typeface="Consolas"/>
              </a:rPr>
              <a:t> </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kneighborsclassifier__n_neighbors</a:t>
            </a:r>
            <a:r>
              <a:rPr sz="1800" i="0">
                <a:solidFill>
                  <a:srgbClr val="7DCEA0"/>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7</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101</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cv</a:t>
            </a:r>
            <a:r>
              <a:rPr sz="1800" i="0">
                <a:solidFill>
                  <a:srgbClr val="AEB6BF"/>
                </a:solidFill>
                <a:latin typeface="Consolas"/>
              </a:rPr>
              <a:t>=</a:t>
            </a:r>
            <a:r>
              <a:rPr sz="1800" i="0">
                <a:solidFill>
                  <a:srgbClr val="F7DC6F"/>
                </a:solidFill>
                <a:latin typeface="Consolas"/>
              </a:rPr>
              <a:t>10</a:t>
            </a:r>
            <a:r>
              <a:rPr sz="1800" i="0">
                <a:solidFill>
                  <a:srgbClr val="AEB6BF"/>
                </a:solidFill>
                <a:latin typeface="Consolas"/>
              </a:rPr>
              <a:t>)</a:t>
            </a:r>
          </a:p>
          <a:p>
            <a:pPr>
              <a:lnSpc>
                <a:spcPct val="100000"/>
              </a:lnSpc>
              <a:spcAft>
                <a:spcPts val="0"/>
              </a:spcAft>
            </a:pPr>
            <a:r>
              <a:rPr sz="1800" i="0">
                <a:solidFill>
                  <a:srgbClr val="E8EDF2"/>
                </a:solidFill>
                <a:latin typeface="Consolas"/>
              </a:rPr>
              <a:t>grid</a:t>
            </a:r>
            <a:r>
              <a:rPr sz="1800" i="0">
                <a:solidFill>
                  <a:srgbClr val="AEB6BF"/>
                </a:solidFill>
                <a:latin typeface="Consolas"/>
              </a:rPr>
              <a:t>.</a:t>
            </a:r>
            <a:r>
              <a:rPr sz="1800" i="0">
                <a:solidFill>
                  <a:srgbClr val="E8EDF2"/>
                </a:solidFill>
                <a:latin typeface="Consolas"/>
              </a:rPr>
              <a:t>fit</a:t>
            </a:r>
            <a:r>
              <a:rPr sz="1800" i="0">
                <a:solidFill>
                  <a:srgbClr val="AEB6BF"/>
                </a:solidFill>
                <a:latin typeface="Consolas"/>
              </a:rPr>
              <a:t>(</a:t>
            </a:r>
            <a:r>
              <a:rPr sz="1800" i="0">
                <a:solidFill>
                  <a:srgbClr val="E8EDF2"/>
                </a:solidFill>
                <a:latin typeface="Consolas"/>
              </a:rPr>
              <a:t>Xb</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yb</a:t>
            </a:r>
            <a:r>
              <a:rPr sz="1800" i="0">
                <a:solidFill>
                  <a:srgbClr val="AEB6BF"/>
                </a:solidFill>
                <a:latin typeface="Consolas"/>
              </a:rPr>
              <a:t>)</a:t>
            </a:r>
          </a:p>
          <a:p>
            <a:pPr>
              <a:lnSpc>
                <a:spcPct val="100000"/>
              </a:lnSpc>
              <a:spcAft>
                <a:spcPts val="0"/>
              </a:spcAft>
            </a:pPr>
            <a:r>
              <a:rPr sz="1800" i="0">
                <a:solidFill>
                  <a:srgbClr val="5DADE2"/>
                </a:solidFill>
                <a:latin typeface="Consolas"/>
              </a:rPr>
              <a:t>for</a:t>
            </a:r>
            <a:r>
              <a:rPr sz="1800" i="0">
                <a:solidFill>
                  <a:srgbClr val="E8EDF2"/>
                </a:solidFill>
                <a:latin typeface="Consolas"/>
              </a:rPr>
              <a:t> </a:t>
            </a:r>
            <a:r>
              <a:rPr sz="1800" i="0">
                <a:solidFill>
                  <a:srgbClr val="E8EDF2"/>
                </a:solidFill>
                <a:latin typeface="Consolas"/>
              </a:rPr>
              <a:t>k</a:t>
            </a:r>
            <a:r>
              <a:rPr sz="1800" i="0">
                <a:solidFill>
                  <a:srgbClr val="AEB6BF"/>
                </a:solidFill>
                <a:latin typeface="Consolas"/>
              </a:rPr>
              <a:t>,</a:t>
            </a:r>
            <a:r>
              <a:rPr sz="1800" i="0">
                <a:solidFill>
                  <a:srgbClr val="E8EDF2"/>
                </a:solidFill>
                <a:latin typeface="Consolas"/>
              </a:rPr>
              <a:t> </a:t>
            </a:r>
            <a:r>
              <a:rPr sz="1800" i="0">
                <a:solidFill>
                  <a:srgbClr val="E8EDF2"/>
                </a:solidFill>
                <a:latin typeface="Consolas"/>
              </a:rPr>
              <a:t>s</a:t>
            </a:r>
            <a:r>
              <a:rPr sz="1800" i="0">
                <a:solidFill>
                  <a:srgbClr val="E8EDF2"/>
                </a:solidFill>
                <a:latin typeface="Consolas"/>
              </a:rPr>
              <a:t> </a:t>
            </a:r>
            <a:r>
              <a:rPr sz="1800" i="0">
                <a:solidFill>
                  <a:srgbClr val="AEB6BF"/>
                </a:solidFill>
                <a:latin typeface="Consolas"/>
              </a:rPr>
              <a:t>in</a:t>
            </a:r>
            <a:r>
              <a:rPr sz="1800" i="0">
                <a:solidFill>
                  <a:srgbClr val="E8EDF2"/>
                </a:solidFill>
                <a:latin typeface="Consolas"/>
              </a:rPr>
              <a:t> </a:t>
            </a:r>
            <a:r>
              <a:rPr sz="1800" i="0">
                <a:solidFill>
                  <a:srgbClr val="C39BD3"/>
                </a:solidFill>
                <a:latin typeface="Consolas"/>
              </a:rPr>
              <a:t>zip</a:t>
            </a:r>
            <a:r>
              <a:rPr sz="1800" i="0">
                <a:solidFill>
                  <a:srgbClr val="AEB6BF"/>
                </a:solidFill>
                <a:latin typeface="Consolas"/>
              </a:rPr>
              <a:t>(</a:t>
            </a:r>
            <a:r>
              <a:rPr sz="1800" i="0">
                <a:solidFill>
                  <a:srgbClr val="AEB6BF"/>
                </a:solidFill>
                <a:latin typeface="Consolas"/>
              </a:rPr>
              <a:t>[</a:t>
            </a:r>
            <a:r>
              <a:rPr sz="1800" i="0">
                <a:solidFill>
                  <a:srgbClr val="F7DC6F"/>
                </a:solidFill>
                <a:latin typeface="Consolas"/>
              </a:rPr>
              <a:t>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3</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7</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21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51</a:t>
            </a:r>
            <a:r>
              <a:rPr sz="1800" i="0">
                <a:solidFill>
                  <a:srgbClr val="AEB6BF"/>
                </a:solidFill>
                <a:latin typeface="Consolas"/>
              </a:rPr>
              <a:t>,</a:t>
            </a:r>
            <a:r>
              <a:rPr sz="1800" i="0">
                <a:solidFill>
                  <a:srgbClr val="E8EDF2"/>
                </a:solidFill>
                <a:latin typeface="Consolas"/>
              </a:rPr>
              <a:t> </a:t>
            </a:r>
            <a:r>
              <a:rPr sz="1800" i="0">
                <a:solidFill>
                  <a:srgbClr val="F7DC6F"/>
                </a:solidFill>
                <a:latin typeface="Consolas"/>
              </a:rPr>
              <a:t>101</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E8EDF2"/>
                </a:solidFill>
                <a:latin typeface="Consolas"/>
              </a:rPr>
              <a:t>grid</a:t>
            </a:r>
            <a:r>
              <a:rPr sz="1800" i="0">
                <a:solidFill>
                  <a:srgbClr val="AEB6BF"/>
                </a:solidFill>
                <a:latin typeface="Consolas"/>
              </a:rPr>
              <a:t>.</a:t>
            </a:r>
            <a:r>
              <a:rPr sz="1800" i="0">
                <a:solidFill>
                  <a:srgbClr val="E8EDF2"/>
                </a:solidFill>
                <a:latin typeface="Consolas"/>
              </a:rPr>
              <a:t>cv_results_</a:t>
            </a:r>
            <a:r>
              <a:rPr sz="1800" i="0">
                <a:solidFill>
                  <a:srgbClr val="AEB6BF"/>
                </a:solidFill>
                <a:latin typeface="Consolas"/>
              </a:rPr>
              <a:t>[</a:t>
            </a:r>
            <a:r>
              <a:rPr sz="1800" i="0">
                <a:solidFill>
                  <a:srgbClr val="7DCEA0"/>
                </a:solidFill>
                <a:latin typeface="Consolas"/>
              </a:rPr>
              <a:t>"</a:t>
            </a:r>
            <a:r>
              <a:rPr sz="1800" i="0">
                <a:solidFill>
                  <a:srgbClr val="7DCEA0"/>
                </a:solidFill>
                <a:latin typeface="Consolas"/>
              </a:rPr>
              <a:t>mean_test_score</a:t>
            </a:r>
            <a:r>
              <a:rPr sz="1800" i="0">
                <a:solidFill>
                  <a:srgbClr val="7DCEA0"/>
                </a:solidFill>
                <a:latin typeface="Consolas"/>
              </a:rPr>
              <a:t>"</a:t>
            </a:r>
            <a:r>
              <a:rPr sz="1800" i="0">
                <a:solidFill>
                  <a:srgbClr val="AEB6BF"/>
                </a:solidFill>
                <a:latin typeface="Consolas"/>
              </a:rPr>
              <a:t>]</a:t>
            </a:r>
            <a:r>
              <a:rPr sz="1800" i="0">
                <a:solidFill>
                  <a:srgbClr val="AEB6BF"/>
                </a:solidFill>
                <a:latin typeface="Consolas"/>
              </a:rPr>
              <a:t>)</a:t>
            </a:r>
            <a:r>
              <a:rPr sz="1800" i="0">
                <a:solidFill>
                  <a:srgbClr val="AEB6BF"/>
                </a:solidFill>
                <a:latin typeface="Consolas"/>
              </a:rPr>
              <a:t>:</a:t>
            </a:r>
          </a:p>
          <a:p>
            <a:pPr>
              <a:lnSpc>
                <a:spcPct val="100000"/>
              </a:lnSpc>
              <a:spcAft>
                <a:spcPts val="0"/>
              </a:spcAft>
            </a:pPr>
            <a:r>
              <a:rPr sz="1800" i="0">
                <a:solidFill>
                  <a:srgbClr val="E8EDF2"/>
                </a:solidFill>
                <a:latin typeface="Consolas"/>
              </a:rPr>
              <a:t>    </a:t>
            </a:r>
            <a:r>
              <a:rPr sz="1800" i="0">
                <a:solidFill>
                  <a:srgbClr val="C39BD3"/>
                </a:solidFill>
                <a:latin typeface="Consolas"/>
              </a:rPr>
              <a:t>print</a:t>
            </a:r>
            <a:r>
              <a:rPr sz="1800" i="0">
                <a:solidFill>
                  <a:srgbClr val="AEB6BF"/>
                </a:solidFill>
                <a:latin typeface="Consolas"/>
              </a:rPr>
              <a:t>(</a:t>
            </a:r>
            <a:r>
              <a:rPr sz="1800" i="0">
                <a:solidFill>
                  <a:srgbClr val="7DCEA0"/>
                </a:solidFill>
                <a:latin typeface="Consolas"/>
              </a:rPr>
              <a:t>f</a:t>
            </a:r>
            <a:r>
              <a:rPr sz="1800" i="0">
                <a:solidFill>
                  <a:srgbClr val="7DCEA0"/>
                </a:solidFill>
                <a:latin typeface="Consolas"/>
              </a:rPr>
              <a:t>"</a:t>
            </a:r>
            <a:r>
              <a:rPr sz="1800" i="0">
                <a:solidFill>
                  <a:srgbClr val="7DCEA0"/>
                </a:solidFill>
                <a:latin typeface="Consolas"/>
              </a:rPr>
              <a:t>  k=</a:t>
            </a:r>
            <a:r>
              <a:rPr sz="1800" i="0">
                <a:solidFill>
                  <a:srgbClr val="7DCEA0"/>
                </a:solidFill>
                <a:latin typeface="Consolas"/>
              </a:rPr>
              <a:t>{</a:t>
            </a:r>
            <a:r>
              <a:rPr sz="1800" i="0">
                <a:solidFill>
                  <a:srgbClr val="E8EDF2"/>
                </a:solidFill>
                <a:latin typeface="Consolas"/>
              </a:rPr>
              <a:t>k</a:t>
            </a:r>
            <a:r>
              <a:rPr sz="1800" i="0">
                <a:solidFill>
                  <a:srgbClr val="7DCEA0"/>
                </a:solidFill>
                <a:latin typeface="Consolas"/>
              </a:rPr>
              <a:t>:</a:t>
            </a:r>
            <a:r>
              <a:rPr sz="1800" i="0">
                <a:solidFill>
                  <a:srgbClr val="7DCEA0"/>
                </a:solidFill>
                <a:latin typeface="Consolas"/>
              </a:rPr>
              <a:t>3d</a:t>
            </a:r>
            <a:r>
              <a:rPr sz="1800" i="0">
                <a:solidFill>
                  <a:srgbClr val="7DCEA0"/>
                </a:solidFill>
                <a:latin typeface="Consolas"/>
              </a:rPr>
              <a:t>}</a:t>
            </a:r>
            <a:r>
              <a:rPr sz="1800" i="0">
                <a:solidFill>
                  <a:srgbClr val="7DCEA0"/>
                </a:solidFill>
                <a:latin typeface="Consolas"/>
              </a:rPr>
              <a:t>: CV accuracy </a:t>
            </a:r>
            <a:r>
              <a:rPr sz="1800" i="0">
                <a:solidFill>
                  <a:srgbClr val="7DCEA0"/>
                </a:solidFill>
                <a:latin typeface="Consolas"/>
              </a:rPr>
              <a:t>{</a:t>
            </a:r>
            <a:r>
              <a:rPr sz="1800" i="0">
                <a:solidFill>
                  <a:srgbClr val="E8EDF2"/>
                </a:solidFill>
                <a:latin typeface="Consolas"/>
              </a:rPr>
              <a:t>s</a:t>
            </a:r>
            <a:r>
              <a:rPr sz="1800" i="0">
                <a:solidFill>
                  <a:srgbClr val="7DCEA0"/>
                </a:solidFill>
                <a:latin typeface="Consolas"/>
              </a:rPr>
              <a:t>:</a:t>
            </a:r>
            <a:r>
              <a:rPr sz="1800" i="0">
                <a:solidFill>
                  <a:srgbClr val="7DCEA0"/>
                </a:solidFill>
                <a:latin typeface="Consolas"/>
              </a:rPr>
              <a:t>.3f</a:t>
            </a:r>
            <a:r>
              <a:rPr sz="1800" i="0">
                <a:solidFill>
                  <a:srgbClr val="7DCEA0"/>
                </a:solidFill>
                <a:latin typeface="Consolas"/>
              </a:rPr>
              <a:t>}</a:t>
            </a:r>
            <a:r>
              <a:rPr sz="1800" i="0">
                <a:solidFill>
                  <a:srgbClr val="7DCEA0"/>
                </a:solidFill>
                <a:latin typeface="Consolas"/>
              </a:rPr>
              <a:t>"</a:t>
            </a:r>
            <a:r>
              <a:rPr sz="1800" i="0">
                <a:solidFill>
                  <a:srgbClr val="AEB6BF"/>
                </a:solidFill>
                <a:latin typeface="Consolas"/>
              </a:rPr>
              <a:t>)</a:t>
            </a:r>
          </a:p>
        </p:txBody>
      </p:sp>
      <p:sp>
        <p:nvSpPr>
          <p:cNvPr id="15" name="!!code-num"/>
          <p:cNvSpPr txBox="1"/>
          <p:nvPr/>
        </p:nvSpPr>
        <p:spPr>
          <a:xfrm>
            <a:off x="768096" y="2523744"/>
            <a:ext cx="393192" cy="2304287"/>
          </a:xfrm>
          <a:prstGeom prst="rect">
            <a:avLst/>
          </a:prstGeom>
          <a:noFill/>
        </p:spPr>
        <p:txBody>
          <a:bodyPr wrap="none" anchor="t" lIns="0" rIns="0" tIns="0" bIns="0">
            <a:noAutofit/>
          </a:bodyPr>
          <a:lstStyle/>
          <a:p>
            <a:pPr algn="r">
              <a:lnSpc>
                <a:spcPct val="100000"/>
              </a:lnSpc>
            </a:pPr>
            <a:r>
              <a:rPr sz="1800">
                <a:solidFill>
                  <a:srgbClr val="4F5D6A"/>
                </a:solidFill>
                <a:latin typeface="Consolas"/>
              </a:rPr>
              <a:t>26</a:t>
            </a:r>
          </a:p>
          <a:p>
            <a:pPr algn="r">
              <a:lnSpc>
                <a:spcPct val="100000"/>
              </a:lnSpc>
            </a:pPr>
            <a:r>
              <a:rPr sz="1800">
                <a:solidFill>
                  <a:srgbClr val="4F5D6A"/>
                </a:solidFill>
                <a:latin typeface="Consolas"/>
              </a:rPr>
              <a:t>27</a:t>
            </a:r>
          </a:p>
          <a:p>
            <a:pPr algn="r">
              <a:lnSpc>
                <a:spcPct val="100000"/>
              </a:lnSpc>
            </a:pPr>
            <a:r>
              <a:rPr sz="1800">
                <a:solidFill>
                  <a:srgbClr val="4F5D6A"/>
                </a:solidFill>
                <a:latin typeface="Consolas"/>
              </a:rPr>
              <a:t>28</a:t>
            </a:r>
          </a:p>
          <a:p>
            <a:pPr algn="r">
              <a:lnSpc>
                <a:spcPct val="100000"/>
              </a:lnSpc>
            </a:pPr>
            <a:r>
              <a:rPr sz="1800">
                <a:solidFill>
                  <a:srgbClr val="4F5D6A"/>
                </a:solidFill>
                <a:latin typeface="Consolas"/>
              </a:rPr>
              <a:t>29</a:t>
            </a:r>
          </a:p>
          <a:p>
            <a:pPr algn="r">
              <a:lnSpc>
                <a:spcPct val="100000"/>
              </a:lnSpc>
            </a:pPr>
            <a:r>
              <a:rPr sz="1800">
                <a:solidFill>
                  <a:srgbClr val="4F5D6A"/>
                </a:solidFill>
                <a:latin typeface="Consolas"/>
              </a:rPr>
              <a:t>30</a:t>
            </a:r>
          </a:p>
          <a:p>
            <a:pPr algn="r">
              <a:lnSpc>
                <a:spcPct val="100000"/>
              </a:lnSpc>
            </a:pPr>
            <a:r>
              <a:rPr sz="1800">
                <a:solidFill>
                  <a:srgbClr val="4F5D6A"/>
                </a:solidFill>
                <a:latin typeface="Consolas"/>
              </a:rPr>
              <a:t>31</a:t>
            </a:r>
          </a:p>
          <a:p>
            <a:pPr algn="r">
              <a:lnSpc>
                <a:spcPct val="100000"/>
              </a:lnSpc>
            </a:pPr>
            <a:r>
              <a:rPr sz="1800">
                <a:solidFill>
                  <a:srgbClr val="4F5D6A"/>
                </a:solidFill>
                <a:latin typeface="Consolas"/>
              </a:rPr>
              <a:t>32</a:t>
            </a:r>
          </a:p>
          <a:p>
            <a:pPr algn="r">
              <a:lnSpc>
                <a:spcPct val="100000"/>
              </a:lnSpc>
            </a:pPr>
            <a:r>
              <a:rPr sz="1800">
                <a:solidFill>
                  <a:srgbClr val="4F5D6A"/>
                </a:solidFill>
                <a:latin typeface="Consolas"/>
              </a:rPr>
              <a:t>33</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Neighbours, Scaling and the Choice of k</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5 OF 5</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§11.7  ·  Handout p. 88     </a:t>
            </a:r>
            <a:fld id="{9E99A03D-9620-42C2-A76C-377AD05C558D}" type="slidenum">
              <a:rPr lang="en-GB" sz="1000">
                <a:solidFill>
                  <a:srgbClr val="8795A1"/>
                </a:solidFill>
                <a:latin typeface="Segoe UI"/>
              </a:rPr>
              <a:t>31</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The curse of dimensionality</a:t>
            </a:r>
          </a:p>
        </p:txBody>
      </p:sp>
      <p:sp>
        <p:nvSpPr>
          <p:cNvPr id="8" name="!!code-bg">
            <a:extLst>
              <a:ext uri="{C183D7F6-B498-43B3-948B-1728B52AA6E4}">
                <adec:decorative xmlns:adec="http://schemas.microsoft.com/office/drawing/2017/decorative" val="1"/>
              </a:ext>
            </a:extLst>
          </p:cNvPr>
          <p:cNvSpPr/>
          <p:nvPr/>
        </p:nvSpPr>
        <p:spPr>
          <a:xfrm>
            <a:off x="658368" y="2084831"/>
            <a:ext cx="10874959" cy="2417064"/>
          </a:xfrm>
          <a:prstGeom prst="roundRect">
            <a:avLst>
              <a:gd name="adj" fmla="val 3783"/>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Python  ·  code/ch11_neighbours_scaling.py</a:t>
            </a:r>
          </a:p>
        </p:txBody>
      </p:sp>
      <p:sp>
        <p:nvSpPr>
          <p:cNvPr id="14" name="!!code-text" descr="# --- 4. the curse of dimensionality ---------------------------------------- rng = np.random.default_rng(0) for dim in (2, 10, 100, 1000): P, Q = rng.uniform(size=(500, dim)), rng.uniform(size=(50, dim)) D = np.sqrt(((Q[:, None, :] - P[None, :, :]) ** 2).sum(-1)) ratio = (D.min(1) / D.max(1)).mean() print(f&quot;d={dim:4d}: nearest/farthest = {ratio:.2f}&quot;)"/>
          <p:cNvSpPr txBox="1"/>
          <p:nvPr/>
        </p:nvSpPr>
        <p:spPr>
          <a:xfrm>
            <a:off x="1362456" y="2523744"/>
            <a:ext cx="9987991" cy="1923288"/>
          </a:xfrm>
          <a:prstGeom prst="rect">
            <a:avLst/>
          </a:prstGeom>
          <a:noFill/>
        </p:spPr>
        <p:txBody>
          <a:bodyPr wrap="none" anchor="t" lIns="0" rIns="0" tIns="0" bIns="0">
            <a:noAutofit/>
          </a:bodyPr>
          <a:lstStyle/>
          <a:p>
            <a:pPr>
              <a:lnSpc>
                <a:spcPct val="100000"/>
              </a:lnSpc>
              <a:spcAft>
                <a:spcPts val="0"/>
              </a:spcAft>
            </a:pPr>
            <a:r>
              <a:rPr sz="1700" i="1">
                <a:solidFill>
                  <a:srgbClr val="8795A1"/>
                </a:solidFill>
                <a:latin typeface="Consolas"/>
              </a:rPr>
              <a:t># --- 4. the curse of dimensionality ----------------------------------------</a:t>
            </a:r>
          </a:p>
          <a:p>
            <a:pPr>
              <a:lnSpc>
                <a:spcPct val="100000"/>
              </a:lnSpc>
              <a:spcAft>
                <a:spcPts val="0"/>
              </a:spcAft>
            </a:pPr>
            <a:r>
              <a:rPr sz="1700" i="0">
                <a:solidFill>
                  <a:srgbClr val="E8EDF2"/>
                </a:solidFill>
                <a:latin typeface="Consolas"/>
              </a:rPr>
              <a:t>rng</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random</a:t>
            </a:r>
            <a:r>
              <a:rPr sz="1700" i="0">
                <a:solidFill>
                  <a:srgbClr val="AEB6BF"/>
                </a:solidFill>
                <a:latin typeface="Consolas"/>
              </a:rPr>
              <a:t>.</a:t>
            </a:r>
            <a:r>
              <a:rPr sz="1700" i="0">
                <a:solidFill>
                  <a:srgbClr val="E8EDF2"/>
                </a:solidFill>
                <a:latin typeface="Consolas"/>
              </a:rPr>
              <a:t>default_rng</a:t>
            </a:r>
            <a:r>
              <a:rPr sz="1700" i="0">
                <a:solidFill>
                  <a:srgbClr val="AEB6BF"/>
                </a:solidFill>
                <a:latin typeface="Consolas"/>
              </a:rPr>
              <a:t>(</a:t>
            </a:r>
            <a:r>
              <a:rPr sz="1700" i="0">
                <a:solidFill>
                  <a:srgbClr val="F7DC6F"/>
                </a:solidFill>
                <a:latin typeface="Consolas"/>
              </a:rPr>
              <a:t>0</a:t>
            </a:r>
            <a:r>
              <a:rPr sz="1700" i="0">
                <a:solidFill>
                  <a:srgbClr val="AEB6BF"/>
                </a:solidFill>
                <a:latin typeface="Consolas"/>
              </a:rPr>
              <a:t>)</a:t>
            </a:r>
          </a:p>
          <a:p>
            <a:pPr>
              <a:lnSpc>
                <a:spcPct val="100000"/>
              </a:lnSpc>
              <a:spcAft>
                <a:spcPts val="0"/>
              </a:spcAft>
            </a:pPr>
            <a:r>
              <a:rPr sz="1700" i="0">
                <a:solidFill>
                  <a:srgbClr val="5DADE2"/>
                </a:solidFill>
                <a:latin typeface="Consolas"/>
              </a:rPr>
              <a:t>for</a:t>
            </a:r>
            <a:r>
              <a:rPr sz="1700" i="0">
                <a:solidFill>
                  <a:srgbClr val="E8EDF2"/>
                </a:solidFill>
                <a:latin typeface="Consolas"/>
              </a:rPr>
              <a:t> </a:t>
            </a:r>
            <a:r>
              <a:rPr sz="1700" i="0">
                <a:solidFill>
                  <a:srgbClr val="E8EDF2"/>
                </a:solidFill>
                <a:latin typeface="Consolas"/>
              </a:rPr>
              <a:t>dim</a:t>
            </a:r>
            <a:r>
              <a:rPr sz="1700" i="0">
                <a:solidFill>
                  <a:srgbClr val="E8EDF2"/>
                </a:solidFill>
                <a:latin typeface="Consolas"/>
              </a:rPr>
              <a:t> </a:t>
            </a:r>
            <a:r>
              <a:rPr sz="1700" i="0">
                <a:solidFill>
                  <a:srgbClr val="AEB6BF"/>
                </a:solidFill>
                <a:latin typeface="Consolas"/>
              </a:rPr>
              <a:t>in</a:t>
            </a:r>
            <a:r>
              <a:rPr sz="1700" i="0">
                <a:solidFill>
                  <a:srgbClr val="E8EDF2"/>
                </a:solidFill>
                <a:latin typeface="Consolas"/>
              </a:rPr>
              <a:t> </a:t>
            </a:r>
            <a:r>
              <a:rPr sz="1700" i="0">
                <a:solidFill>
                  <a:srgbClr val="AEB6BF"/>
                </a:solidFill>
                <a:latin typeface="Consolas"/>
              </a:rPr>
              <a:t>(</a:t>
            </a:r>
            <a:r>
              <a:rPr sz="1700" i="0">
                <a:solidFill>
                  <a:srgbClr val="F7DC6F"/>
                </a:solidFill>
                <a:latin typeface="Consolas"/>
              </a:rPr>
              <a:t>2</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10</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100</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1000</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P</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Q</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rng</a:t>
            </a:r>
            <a:r>
              <a:rPr sz="1700" i="0">
                <a:solidFill>
                  <a:srgbClr val="AEB6BF"/>
                </a:solidFill>
                <a:latin typeface="Consolas"/>
              </a:rPr>
              <a:t>.</a:t>
            </a:r>
            <a:r>
              <a:rPr sz="1700" i="0">
                <a:solidFill>
                  <a:srgbClr val="E8EDF2"/>
                </a:solidFill>
                <a:latin typeface="Consolas"/>
              </a:rPr>
              <a:t>uniform</a:t>
            </a:r>
            <a:r>
              <a:rPr sz="1700" i="0">
                <a:solidFill>
                  <a:srgbClr val="AEB6BF"/>
                </a:solidFill>
                <a:latin typeface="Consolas"/>
              </a:rPr>
              <a:t>(</a:t>
            </a:r>
            <a:r>
              <a:rPr sz="1700" i="0">
                <a:solidFill>
                  <a:srgbClr val="E8EDF2"/>
                </a:solidFill>
                <a:latin typeface="Consolas"/>
              </a:rPr>
              <a:t>size</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500</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dim</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rng</a:t>
            </a:r>
            <a:r>
              <a:rPr sz="1700" i="0">
                <a:solidFill>
                  <a:srgbClr val="AEB6BF"/>
                </a:solidFill>
                <a:latin typeface="Consolas"/>
              </a:rPr>
              <a:t>.</a:t>
            </a:r>
            <a:r>
              <a:rPr sz="1700" i="0">
                <a:solidFill>
                  <a:srgbClr val="E8EDF2"/>
                </a:solidFill>
                <a:latin typeface="Consolas"/>
              </a:rPr>
              <a:t>uniform</a:t>
            </a:r>
            <a:r>
              <a:rPr sz="1700" i="0">
                <a:solidFill>
                  <a:srgbClr val="AEB6BF"/>
                </a:solidFill>
                <a:latin typeface="Consolas"/>
              </a:rPr>
              <a:t>(</a:t>
            </a:r>
            <a:r>
              <a:rPr sz="1700" i="0">
                <a:solidFill>
                  <a:srgbClr val="E8EDF2"/>
                </a:solidFill>
                <a:latin typeface="Consolas"/>
              </a:rPr>
              <a:t>size</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50</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dim</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D</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np</a:t>
            </a:r>
            <a:r>
              <a:rPr sz="1700" i="0">
                <a:solidFill>
                  <a:srgbClr val="AEB6BF"/>
                </a:solidFill>
                <a:latin typeface="Consolas"/>
              </a:rPr>
              <a:t>.</a:t>
            </a:r>
            <a:r>
              <a:rPr sz="1700" i="0">
                <a:solidFill>
                  <a:srgbClr val="E8EDF2"/>
                </a:solidFill>
                <a:latin typeface="Consolas"/>
              </a:rPr>
              <a:t>sqrt</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Q</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5DADE2"/>
                </a:solidFill>
                <a:latin typeface="Consolas"/>
              </a:rPr>
              <a:t>None</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P</a:t>
            </a:r>
            <a:r>
              <a:rPr sz="1700" i="0">
                <a:solidFill>
                  <a:srgbClr val="AEB6BF"/>
                </a:solidFill>
                <a:latin typeface="Consolas"/>
              </a:rPr>
              <a:t>[</a:t>
            </a:r>
            <a:r>
              <a:rPr sz="1700" i="0">
                <a:solidFill>
                  <a:srgbClr val="5DADE2"/>
                </a:solidFill>
                <a:latin typeface="Consolas"/>
              </a:rPr>
              <a:t>None</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 </a:t>
            </a:r>
            <a:r>
              <a:rPr sz="1700" i="0">
                <a:solidFill>
                  <a:srgbClr val="F7DC6F"/>
                </a:solidFill>
                <a:latin typeface="Consolas"/>
              </a:rPr>
              <a:t>2</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sum</a:t>
            </a:r>
            <a:r>
              <a:rPr sz="1700" i="0">
                <a:solidFill>
                  <a:srgbClr val="AEB6BF"/>
                </a:solidFill>
                <a:latin typeface="Consolas"/>
              </a:rPr>
              <a:t>(</a:t>
            </a:r>
            <a:r>
              <a:rPr sz="1700" i="0">
                <a:solidFill>
                  <a:srgbClr val="AEB6BF"/>
                </a:solidFill>
                <a:latin typeface="Consolas"/>
              </a:rPr>
              <a:t>-</a:t>
            </a:r>
            <a:r>
              <a:rPr sz="1700" i="0">
                <a:solidFill>
                  <a:srgbClr val="F7DC6F"/>
                </a:solidFill>
                <a:latin typeface="Consolas"/>
              </a:rPr>
              <a:t>1</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E8EDF2"/>
                </a:solidFill>
                <a:latin typeface="Consolas"/>
              </a:rPr>
              <a:t>ratio</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D</a:t>
            </a:r>
            <a:r>
              <a:rPr sz="1700" i="0">
                <a:solidFill>
                  <a:srgbClr val="AEB6BF"/>
                </a:solidFill>
                <a:latin typeface="Consolas"/>
              </a:rPr>
              <a:t>.</a:t>
            </a:r>
            <a:r>
              <a:rPr sz="1700" i="0">
                <a:solidFill>
                  <a:srgbClr val="E8EDF2"/>
                </a:solidFill>
                <a:latin typeface="Consolas"/>
              </a:rPr>
              <a:t>min</a:t>
            </a:r>
            <a:r>
              <a:rPr sz="1700" i="0">
                <a:solidFill>
                  <a:srgbClr val="AEB6BF"/>
                </a:solidFill>
                <a:latin typeface="Consolas"/>
              </a:rPr>
              <a:t>(</a:t>
            </a:r>
            <a:r>
              <a:rPr sz="1700" i="0">
                <a:solidFill>
                  <a:srgbClr val="F7DC6F"/>
                </a:solidFill>
                <a:latin typeface="Consolas"/>
              </a:rPr>
              <a:t>1</a:t>
            </a:r>
            <a:r>
              <a:rPr sz="1700" i="0">
                <a:solidFill>
                  <a:srgbClr val="AEB6BF"/>
                </a:solidFill>
                <a:latin typeface="Consolas"/>
              </a:rPr>
              <a:t>)</a:t>
            </a:r>
            <a:r>
              <a:rPr sz="1700" i="0">
                <a:solidFill>
                  <a:srgbClr val="E8EDF2"/>
                </a:solidFill>
                <a:latin typeface="Consolas"/>
              </a:rPr>
              <a:t> </a:t>
            </a:r>
            <a:r>
              <a:rPr sz="1700" i="0">
                <a:solidFill>
                  <a:srgbClr val="AEB6BF"/>
                </a:solidFill>
                <a:latin typeface="Consolas"/>
              </a:rPr>
              <a:t>/</a:t>
            </a:r>
            <a:r>
              <a:rPr sz="1700" i="0">
                <a:solidFill>
                  <a:srgbClr val="E8EDF2"/>
                </a:solidFill>
                <a:latin typeface="Consolas"/>
              </a:rPr>
              <a:t> </a:t>
            </a:r>
            <a:r>
              <a:rPr sz="1700" i="0">
                <a:solidFill>
                  <a:srgbClr val="E8EDF2"/>
                </a:solidFill>
                <a:latin typeface="Consolas"/>
              </a:rPr>
              <a:t>D</a:t>
            </a:r>
            <a:r>
              <a:rPr sz="1700" i="0">
                <a:solidFill>
                  <a:srgbClr val="AEB6BF"/>
                </a:solidFill>
                <a:latin typeface="Consolas"/>
              </a:rPr>
              <a:t>.</a:t>
            </a:r>
            <a:r>
              <a:rPr sz="1700" i="0">
                <a:solidFill>
                  <a:srgbClr val="E8EDF2"/>
                </a:solidFill>
                <a:latin typeface="Consolas"/>
              </a:rPr>
              <a:t>max</a:t>
            </a:r>
            <a:r>
              <a:rPr sz="1700" i="0">
                <a:solidFill>
                  <a:srgbClr val="AEB6BF"/>
                </a:solidFill>
                <a:latin typeface="Consolas"/>
              </a:rPr>
              <a:t>(</a:t>
            </a:r>
            <a:r>
              <a:rPr sz="1700" i="0">
                <a:solidFill>
                  <a:srgbClr val="F7DC6F"/>
                </a:solidFill>
                <a:latin typeface="Consolas"/>
              </a:rPr>
              <a:t>1</a:t>
            </a:r>
            <a:r>
              <a:rPr sz="1700" i="0">
                <a:solidFill>
                  <a:srgbClr val="AEB6BF"/>
                </a:solidFill>
                <a:latin typeface="Consolas"/>
              </a:rPr>
              <a:t>)</a:t>
            </a:r>
            <a:r>
              <a:rPr sz="1700" i="0">
                <a:solidFill>
                  <a:srgbClr val="AEB6BF"/>
                </a:solidFill>
                <a:latin typeface="Consolas"/>
              </a:rPr>
              <a:t>)</a:t>
            </a:r>
            <a:r>
              <a:rPr sz="1700" i="0">
                <a:solidFill>
                  <a:srgbClr val="AEB6BF"/>
                </a:solidFill>
                <a:latin typeface="Consolas"/>
              </a:rPr>
              <a:t>.</a:t>
            </a:r>
            <a:r>
              <a:rPr sz="1700" i="0">
                <a:solidFill>
                  <a:srgbClr val="E8EDF2"/>
                </a:solidFill>
                <a:latin typeface="Consolas"/>
              </a:rPr>
              <a:t>mean</a:t>
            </a:r>
            <a:r>
              <a:rPr sz="1700" i="0">
                <a:solidFill>
                  <a:srgbClr val="AEB6BF"/>
                </a:solidFill>
                <a:latin typeface="Consolas"/>
              </a:rPr>
              <a:t>(</a:t>
            </a:r>
            <a:r>
              <a:rPr sz="1700" i="0">
                <a:solidFill>
                  <a:srgbClr val="AEB6BF"/>
                </a:solidFill>
                <a:latin typeface="Consolas"/>
              </a:rPr>
              <a:t>)</a:t>
            </a:r>
          </a:p>
          <a:p>
            <a:pPr>
              <a:lnSpc>
                <a:spcPct val="100000"/>
              </a:lnSpc>
              <a:spcAft>
                <a:spcPts val="0"/>
              </a:spcAft>
            </a:pPr>
            <a:r>
              <a:rPr sz="1700" i="0">
                <a:solidFill>
                  <a:srgbClr val="E8EDF2"/>
                </a:solidFill>
                <a:latin typeface="Consolas"/>
              </a:rPr>
              <a:t>    </a:t>
            </a:r>
            <a:r>
              <a:rPr sz="1700" i="0">
                <a:solidFill>
                  <a:srgbClr val="C39BD3"/>
                </a:solidFill>
                <a:latin typeface="Consolas"/>
              </a:rPr>
              <a:t>print</a:t>
            </a:r>
            <a:r>
              <a:rPr sz="1700" i="0">
                <a:solidFill>
                  <a:srgbClr val="AEB6BF"/>
                </a:solidFill>
                <a:latin typeface="Consolas"/>
              </a:rPr>
              <a:t>(</a:t>
            </a:r>
            <a:r>
              <a:rPr sz="1700" i="0">
                <a:solidFill>
                  <a:srgbClr val="7DCEA0"/>
                </a:solidFill>
                <a:latin typeface="Consolas"/>
              </a:rPr>
              <a:t>f</a:t>
            </a:r>
            <a:r>
              <a:rPr sz="1700" i="0">
                <a:solidFill>
                  <a:srgbClr val="7DCEA0"/>
                </a:solidFill>
                <a:latin typeface="Consolas"/>
              </a:rPr>
              <a:t>"</a:t>
            </a:r>
            <a:r>
              <a:rPr sz="1700" i="0">
                <a:solidFill>
                  <a:srgbClr val="7DCEA0"/>
                </a:solidFill>
                <a:latin typeface="Consolas"/>
              </a:rPr>
              <a:t>d=</a:t>
            </a:r>
            <a:r>
              <a:rPr sz="1700" i="0">
                <a:solidFill>
                  <a:srgbClr val="7DCEA0"/>
                </a:solidFill>
                <a:latin typeface="Consolas"/>
              </a:rPr>
              <a:t>{</a:t>
            </a:r>
            <a:r>
              <a:rPr sz="1700" i="0">
                <a:solidFill>
                  <a:srgbClr val="E8EDF2"/>
                </a:solidFill>
                <a:latin typeface="Consolas"/>
              </a:rPr>
              <a:t>dim</a:t>
            </a:r>
            <a:r>
              <a:rPr sz="1700" i="0">
                <a:solidFill>
                  <a:srgbClr val="7DCEA0"/>
                </a:solidFill>
                <a:latin typeface="Consolas"/>
              </a:rPr>
              <a:t>:</a:t>
            </a:r>
            <a:r>
              <a:rPr sz="1700" i="0">
                <a:solidFill>
                  <a:srgbClr val="7DCEA0"/>
                </a:solidFill>
                <a:latin typeface="Consolas"/>
              </a:rPr>
              <a:t>4d</a:t>
            </a:r>
            <a:r>
              <a:rPr sz="1700" i="0">
                <a:solidFill>
                  <a:srgbClr val="7DCEA0"/>
                </a:solidFill>
                <a:latin typeface="Consolas"/>
              </a:rPr>
              <a:t>}</a:t>
            </a:r>
            <a:r>
              <a:rPr sz="1700" i="0">
                <a:solidFill>
                  <a:srgbClr val="7DCEA0"/>
                </a:solidFill>
                <a:latin typeface="Consolas"/>
              </a:rPr>
              <a:t>: nearest/farthest = </a:t>
            </a:r>
            <a:r>
              <a:rPr sz="1700" i="0">
                <a:solidFill>
                  <a:srgbClr val="7DCEA0"/>
                </a:solidFill>
                <a:latin typeface="Consolas"/>
              </a:rPr>
              <a:t>{</a:t>
            </a:r>
            <a:r>
              <a:rPr sz="1700" i="0">
                <a:solidFill>
                  <a:srgbClr val="E8EDF2"/>
                </a:solidFill>
                <a:latin typeface="Consolas"/>
              </a:rPr>
              <a:t>ratio</a:t>
            </a:r>
            <a:r>
              <a:rPr sz="1700" i="0">
                <a:solidFill>
                  <a:srgbClr val="7DCEA0"/>
                </a:solidFill>
                <a:latin typeface="Consolas"/>
              </a:rPr>
              <a:t>:</a:t>
            </a:r>
            <a:r>
              <a:rPr sz="1700" i="0">
                <a:solidFill>
                  <a:srgbClr val="7DCEA0"/>
                </a:solidFill>
                <a:latin typeface="Consolas"/>
              </a:rPr>
              <a:t>.2f</a:t>
            </a:r>
            <a:r>
              <a:rPr sz="1700" i="0">
                <a:solidFill>
                  <a:srgbClr val="7DCEA0"/>
                </a:solidFill>
                <a:latin typeface="Consolas"/>
              </a:rPr>
              <a:t>}</a:t>
            </a:r>
            <a:r>
              <a:rPr sz="1700" i="0">
                <a:solidFill>
                  <a:srgbClr val="7DCEA0"/>
                </a:solidFill>
                <a:latin typeface="Consolas"/>
              </a:rPr>
              <a:t>"</a:t>
            </a:r>
            <a:r>
              <a:rPr sz="1700" i="0">
                <a:solidFill>
                  <a:srgbClr val="AEB6BF"/>
                </a:solidFill>
                <a:latin typeface="Consolas"/>
              </a:rPr>
              <a:t>)</a:t>
            </a:r>
          </a:p>
        </p:txBody>
      </p:sp>
      <p:sp>
        <p:nvSpPr>
          <p:cNvPr id="15" name="!!code-num"/>
          <p:cNvSpPr txBox="1"/>
          <p:nvPr/>
        </p:nvSpPr>
        <p:spPr>
          <a:xfrm>
            <a:off x="768096" y="2523744"/>
            <a:ext cx="393192" cy="1923288"/>
          </a:xfrm>
          <a:prstGeom prst="rect">
            <a:avLst/>
          </a:prstGeom>
          <a:noFill/>
        </p:spPr>
        <p:txBody>
          <a:bodyPr wrap="none" anchor="t" lIns="0" rIns="0" tIns="0" bIns="0">
            <a:noAutofit/>
          </a:bodyPr>
          <a:lstStyle/>
          <a:p>
            <a:pPr algn="r">
              <a:lnSpc>
                <a:spcPct val="100000"/>
              </a:lnSpc>
            </a:pPr>
            <a:r>
              <a:rPr sz="1700">
                <a:solidFill>
                  <a:srgbClr val="4F5D6A"/>
                </a:solidFill>
                <a:latin typeface="Consolas"/>
              </a:rPr>
              <a:t>35</a:t>
            </a:r>
          </a:p>
          <a:p>
            <a:pPr algn="r">
              <a:lnSpc>
                <a:spcPct val="100000"/>
              </a:lnSpc>
            </a:pPr>
            <a:r>
              <a:rPr sz="1700">
                <a:solidFill>
                  <a:srgbClr val="4F5D6A"/>
                </a:solidFill>
                <a:latin typeface="Consolas"/>
              </a:rPr>
              <a:t>36</a:t>
            </a:r>
          </a:p>
          <a:p>
            <a:pPr algn="r">
              <a:lnSpc>
                <a:spcPct val="100000"/>
              </a:lnSpc>
            </a:pPr>
            <a:r>
              <a:rPr sz="1700">
                <a:solidFill>
                  <a:srgbClr val="4F5D6A"/>
                </a:solidFill>
                <a:latin typeface="Consolas"/>
              </a:rPr>
              <a:t>37</a:t>
            </a:r>
          </a:p>
          <a:p>
            <a:pPr algn="r">
              <a:lnSpc>
                <a:spcPct val="100000"/>
              </a:lnSpc>
            </a:pPr>
            <a:r>
              <a:rPr sz="1700">
                <a:solidFill>
                  <a:srgbClr val="4F5D6A"/>
                </a:solidFill>
                <a:latin typeface="Consolas"/>
              </a:rPr>
              <a:t>38</a:t>
            </a:r>
          </a:p>
          <a:p>
            <a:pPr algn="r">
              <a:lnSpc>
                <a:spcPct val="100000"/>
              </a:lnSpc>
            </a:pPr>
            <a:r>
              <a:rPr sz="1700">
                <a:solidFill>
                  <a:srgbClr val="4F5D6A"/>
                </a:solidFill>
                <a:latin typeface="Consolas"/>
              </a:rPr>
              <a:t>39</a:t>
            </a:r>
          </a:p>
          <a:p>
            <a:pPr algn="r">
              <a:lnSpc>
                <a:spcPct val="100000"/>
              </a:lnSpc>
            </a:pPr>
            <a:r>
              <a:rPr sz="1700">
                <a:solidFill>
                  <a:srgbClr val="4F5D6A"/>
                </a:solidFill>
                <a:latin typeface="Consolas"/>
              </a:rPr>
              <a:t>40</a:t>
            </a:r>
          </a:p>
          <a:p>
            <a:pPr algn="r">
              <a:lnSpc>
                <a:spcPct val="100000"/>
              </a:lnSpc>
            </a:pPr>
            <a:r>
              <a:rPr sz="1700">
                <a:solidFill>
                  <a:srgbClr val="4F5D6A"/>
                </a:solidFill>
                <a:latin typeface="Consolas"/>
              </a:rPr>
              <a:t>41</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39872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§11.7  ·  Handout p. 88     </a:t>
            </a:r>
            <a:fld id="{2446DC24-B082-462E-A97E-21191B505759}" type="slidenum">
              <a:rPr lang="en-GB" sz="1000">
                <a:solidFill>
                  <a:srgbClr val="8795A1"/>
                </a:solidFill>
                <a:latin typeface="Segoe UI"/>
              </a:rPr>
              <a:t>32</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scikit-learn’s </a:t>
            </a:r>
            <a:r>
              <a:rPr sz="2150" b="0" i="0">
                <a:solidFill>
                  <a:srgbClr val="1F4E79"/>
                </a:solidFill>
                <a:latin typeface="Consolas"/>
              </a:rPr>
              <a:t>weights="distance"</a:t>
            </a:r>
            <a:r>
              <a:rPr sz="2300" b="0" i="0">
                <a:solidFill>
                  <a:srgbClr val="1C252B"/>
                </a:solidFill>
                <a:latin typeface="Segoe UI"/>
              </a:rPr>
              <a:t> uses </a:t>
            </a:r>
            <a:r>
              <a:rPr sz="2300" b="0" i="0">
                <a:solidFill>
                  <a:srgbClr val="1C252B"/>
                </a:solidFill>
                <a:latin typeface="Cambria"/>
              </a:rPr>
              <a:t>1/</a:t>
            </a:r>
            <a:r>
              <a:rPr sz="2300" b="0" i="1">
                <a:solidFill>
                  <a:srgbClr val="1C252B"/>
                </a:solidFill>
                <a:latin typeface="Cambria"/>
              </a:rPr>
              <a:t>d</a:t>
            </a:r>
            <a:r>
              <a:rPr sz="2300" b="0" i="0">
                <a:solidFill>
                  <a:srgbClr val="1C252B"/>
                </a:solidFill>
                <a:latin typeface="Segoe UI"/>
              </a:rPr>
              <a:t> rather than the </a:t>
            </a:r>
            <a:r>
              <a:rPr sz="2300" b="0" i="0">
                <a:solidFill>
                  <a:srgbClr val="1C252B"/>
                </a:solidFill>
                <a:latin typeface="Cambria"/>
              </a:rPr>
              <a:t>1/</a:t>
            </a:r>
            <a:r>
              <a:rPr sz="2300" b="0" i="1">
                <a:solidFill>
                  <a:srgbClr val="1C252B"/>
                </a:solidFill>
                <a:latin typeface="Cambria"/>
              </a:rPr>
              <a:t>d</a:t>
            </a:r>
            <a:r>
              <a:rPr sz="2300" b="0" i="0" baseline="30000">
                <a:solidFill>
                  <a:srgbClr val="1C252B"/>
                </a:solidFill>
                <a:latin typeface="Cambria"/>
              </a:rPr>
              <a:t>2</a:t>
            </a:r>
            <a:r>
              <a:rPr sz="2300" b="0" i="0">
                <a:solidFill>
                  <a:srgbClr val="1C252B"/>
                </a:solidFill>
                <a:latin typeface="Segoe UI"/>
              </a:rPr>
              <a:t> of the worked example; here both give the same answers. Add ten columns of random noise to the breast cancer features and rerun part 3: what happens to the best accuracy?</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66964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In the worked example, what does 3-NN predict for the query (50, 55)?</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11  ·  Instance-Based Learning: k-Nearest Neighbours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90  ·  answers in Appendix D     </a:t>
            </a:r>
            <a:fld id="{66ABE67D-20D8-4DC7-9AD1-3E5BACAEAD17}"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In the worked example, what does 3-NN predict for the query (50, 55)?</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Distances from (50, 55): F 11.18 (Fail), D 15.81 (Fail), C 22.36 (Pass), E 23.77, B 33.54, A 50.0. The three nearest vote Fail, Fail, Pass: </a:t>
            </a:r>
            <a:r>
              <a:rPr sz="2200" b="1" i="0">
                <a:solidFill>
                  <a:srgbClr val="1C252B"/>
                </a:solidFill>
                <a:latin typeface="Segoe UI"/>
              </a:rPr>
              <a:t>Fail</a:t>
            </a:r>
            <a:r>
              <a:rPr sz="2200" b="0" i="0">
                <a:solidFill>
                  <a:srgbClr val="1C252B"/>
                </a:solidFill>
                <a:latin typeface="Segoe UI"/>
              </a:rPr>
              <a: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  answers in Appendix D     </a:t>
            </a:r>
            <a:fld id="{51B7CB78-D4AF-4556-8CAF-CE52AF628213}"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211503"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is </a:t>
            </a:r>
            <a:r>
              <a:rPr sz="3400" b="0" i="1">
                <a:solidFill>
                  <a:srgbClr val="FFFFFF"/>
                </a:solidFill>
                <a:latin typeface="Cambria"/>
              </a:rPr>
              <a:t>k</a:t>
            </a:r>
            <a:r>
              <a:rPr sz="3400" b="0" i="0">
                <a:solidFill>
                  <a:srgbClr val="FFFFFF"/>
                </a:solidFill>
                <a:latin typeface="Segoe UI Semibold"/>
              </a:rPr>
              <a:t>-NN called a lazy learner, and what does laziness cost at prediction time?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11  ·  Instance-Based Learning: k-Nearest Neighbours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90  ·  answers in Appendix D     </a:t>
            </a:r>
            <a:fld id="{995F743F-7816-4DCA-B3AE-4CE12921E77C}" type="slidenum">
              <a:rPr lang="en-GB" sz="1000">
                <a:solidFill>
                  <a:srgbClr val="D5DEE5"/>
                </a:solidFill>
                <a:latin typeface="Segoe UI"/>
              </a:rPr>
              <a:t>35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is </a:t>
            </a:r>
            <a:r>
              <a:rPr sz="2400" b="0" i="1">
                <a:solidFill>
                  <a:srgbClr val="1A5276"/>
                </a:solidFill>
                <a:latin typeface="Cambria"/>
              </a:rPr>
              <a:t>k</a:t>
            </a:r>
            <a:r>
              <a:rPr sz="2400" b="0" i="0">
                <a:solidFill>
                  <a:srgbClr val="1A5276"/>
                </a:solidFill>
                <a:latin typeface="Segoe UI Semibold"/>
              </a:rPr>
              <a:t>-NN called a lazy learner, and what does laziness cost at prediction time?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It does no work until asked to classify, and then searches the stored examples. The cost is paid at prediction time — a distance to every stored example for each query — and all the training data must be kept.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  answers in Appendix D     </a:t>
            </a:r>
            <a:fld id="{C8DB0C73-084C-45F4-8E67-BC4F89D1C6B0}" type="slidenum">
              <a:rPr lang="en-GB" sz="1000">
                <a:solidFill>
                  <a:srgbClr val="8795A1"/>
                </a:solidFill>
                <a:latin typeface="Segoe UI"/>
              </a:rPr>
              <a:t>36</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753356"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As </a:t>
            </a:r>
            <a:r>
              <a:rPr sz="3400" b="0" i="1">
                <a:solidFill>
                  <a:srgbClr val="FFFFFF"/>
                </a:solidFill>
                <a:latin typeface="Cambria"/>
              </a:rPr>
              <a:t>k</a:t>
            </a:r>
            <a:r>
              <a:rPr sz="3400" b="0" i="0">
                <a:solidFill>
                  <a:srgbClr val="FFFFFF"/>
                </a:solidFill>
                <a:latin typeface="Segoe UI Semibold"/>
              </a:rPr>
              <a:t> grows from 1 to </a:t>
            </a:r>
            <a:r>
              <a:rPr sz="3400" b="0" i="1">
                <a:solidFill>
                  <a:srgbClr val="FFFFFF"/>
                </a:solidFill>
                <a:latin typeface="Cambria"/>
              </a:rPr>
              <a:t>n</a:t>
            </a:r>
            <a:r>
              <a:rPr sz="3400" b="0" i="0">
                <a:solidFill>
                  <a:srgbClr val="FFFFFF"/>
                </a:solidFill>
                <a:latin typeface="Segoe UI Semibold"/>
              </a:rPr>
              <a:t>, what happens to bias and to variance?</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11  ·  Instance-Based Learning: k-Nearest Neighbours</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90  ·  answers in Appendix D     </a:t>
            </a:r>
            <a:fld id="{852FB65B-8215-49A1-BE16-1EEDD9CF0F08}" type="slidenum">
              <a:rPr lang="en-GB" sz="1000">
                <a:solidFill>
                  <a:srgbClr val="D5DEE5"/>
                </a:solidFill>
                <a:latin typeface="Segoe UI"/>
              </a:rPr>
              <a:t>37</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457200"/>
          </a:xfrm>
        </p:spPr>
        <p:txBody>
          <a:bodyPr wrap="square" lIns="0" rIns="0" tIns="0" bIns="0" anchor="t">
            <a:noAutofit/>
          </a:bodyPr>
          <a:lstStyle/>
          <a:p>
            <a:pPr algn="l">
              <a:lnSpc>
                <a:spcPct val="96000"/>
              </a:lnSpc>
            </a:pPr>
            <a:r>
              <a:rPr sz="2400" b="0" i="0">
                <a:solidFill>
                  <a:srgbClr val="1A5276"/>
                </a:solidFill>
                <a:latin typeface="Segoe UI Semibold"/>
              </a:rPr>
              <a:t>As </a:t>
            </a:r>
            <a:r>
              <a:rPr sz="2400" b="0" i="1">
                <a:solidFill>
                  <a:srgbClr val="1A5276"/>
                </a:solidFill>
                <a:latin typeface="Cambria"/>
              </a:rPr>
              <a:t>k</a:t>
            </a:r>
            <a:r>
              <a:rPr sz="2400" b="0" i="0">
                <a:solidFill>
                  <a:srgbClr val="1A5276"/>
                </a:solidFill>
                <a:latin typeface="Segoe UI Semibold"/>
              </a:rPr>
              <a:t> grows from 1 to </a:t>
            </a:r>
            <a:r>
              <a:rPr sz="2400" b="0" i="1">
                <a:solidFill>
                  <a:srgbClr val="1A5276"/>
                </a:solidFill>
                <a:latin typeface="Cambria"/>
              </a:rPr>
              <a:t>n</a:t>
            </a:r>
            <a:r>
              <a:rPr sz="2400" b="0" i="0">
                <a:solidFill>
                  <a:srgbClr val="1A5276"/>
                </a:solidFill>
                <a:latin typeface="Segoe UI Semibold"/>
              </a:rPr>
              <a:t>, what happens to bias and to variance?</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41183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41183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Bias rises and variance falls. At </a:t>
            </a:r>
            <a:r>
              <a:rPr sz="2200" b="0" i="1">
                <a:solidFill>
                  <a:srgbClr val="1C252B"/>
                </a:solidFill>
                <a:latin typeface="Cambria"/>
              </a:rPr>
              <a:t>k</a:t>
            </a:r>
            <a:r>
              <a:rPr sz="2200" b="0" i="0">
                <a:solidFill>
                  <a:srgbClr val="1C252B"/>
                </a:solidFill>
                <a:latin typeface="Cambria"/>
              </a:rPr>
              <a:t> = 1</a:t>
            </a:r>
            <a:r>
              <a:rPr sz="2200" b="0" i="0">
                <a:solidFill>
                  <a:srgbClr val="1C252B"/>
                </a:solidFill>
                <a:latin typeface="Segoe UI"/>
              </a:rPr>
              <a:t> the boundary follows every example; at </a:t>
            </a:r>
            <a:r>
              <a:rPr sz="2200" b="0" i="1">
                <a:solidFill>
                  <a:srgbClr val="1C252B"/>
                </a:solidFill>
                <a:latin typeface="Cambria"/>
              </a:rPr>
              <a:t>k</a:t>
            </a:r>
            <a:r>
              <a:rPr sz="2200" b="0" i="0">
                <a:solidFill>
                  <a:srgbClr val="1C252B"/>
                </a:solidFill>
                <a:latin typeface="Cambria"/>
              </a:rPr>
              <a:t> = </a:t>
            </a:r>
            <a:r>
              <a:rPr sz="2200" b="0" i="1">
                <a:solidFill>
                  <a:srgbClr val="1C252B"/>
                </a:solidFill>
                <a:latin typeface="Cambria"/>
              </a:rPr>
              <a:t>n</a:t>
            </a:r>
            <a:r>
              <a:rPr sz="2200" b="0" i="0">
                <a:solidFill>
                  <a:srgbClr val="1C252B"/>
                </a:solidFill>
                <a:latin typeface="Segoe UI"/>
              </a:rPr>
              <a:t> every query gets the majority class.</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  answers in Appendix D     </a:t>
            </a:r>
            <a:fld id="{25359E34-2389-4651-85DF-458FD0570DA5}" type="slidenum">
              <a:rPr lang="en-GB" sz="1000">
                <a:solidFill>
                  <a:srgbClr val="8795A1"/>
                </a:solidFill>
                <a:latin typeface="Segoe UI"/>
              </a:rPr>
              <a:t>38</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295209"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a:t>
            </a:r>
            <a:fld id="{0A66A5F6-3788-45CD-91E9-5A52F546CC30}" type="slidenum">
              <a:rPr lang="en-GB" sz="1000">
                <a:solidFill>
                  <a:srgbClr val="8795A1"/>
                </a:solidFill>
                <a:latin typeface="Segoe UI"/>
              </a:rPr>
              <a:t>39</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1">
                <a:solidFill>
                  <a:srgbClr val="1C252B"/>
                </a:solidFill>
                <a:latin typeface="Cambria"/>
              </a:rPr>
              <a:t>k</a:t>
            </a:r>
            <a:r>
              <a:rPr sz="2000" b="0" i="0">
                <a:solidFill>
                  <a:srgbClr val="1C252B"/>
                </a:solidFill>
                <a:latin typeface="Segoe UI"/>
              </a:rPr>
              <a:t>-NN stores the training data and classifies a query by a vote of its </a:t>
            </a:r>
            <a:r>
              <a:rPr sz="2000" b="0" i="1">
                <a:solidFill>
                  <a:srgbClr val="1C252B"/>
                </a:solidFill>
                <a:latin typeface="Cambria"/>
              </a:rPr>
              <a:t>k</a:t>
            </a:r>
            <a:r>
              <a:rPr sz="2000" b="0" i="0">
                <a:solidFill>
                  <a:srgbClr val="1C252B"/>
                </a:solidFill>
                <a:latin typeface="Segoe UI"/>
              </a:rPr>
              <a:t> nearest neighbours (the mean, for regression). Its bias is smoothness: nearby examples share labels.</a:t>
            </a:r>
          </a:p>
        </p:txBody>
      </p:sp>
      <p:sp>
        <p:nvSpPr>
          <p:cNvPr id="10" name="!!sb1">
            <a:extLst>
              <a:ext uri="{C183D7F6-B498-43B3-948B-1728B52AA6E4}">
                <adec:decorative xmlns:adec="http://schemas.microsoft.com/office/drawing/2017/decorative" val="1"/>
              </a:ext>
            </a:extLst>
          </p:cNvPr>
          <p:cNvSpPr/>
          <p:nvPr/>
        </p:nvSpPr>
        <p:spPr>
          <a:xfrm>
            <a:off x="658368" y="25633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182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54223"/>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The prediction can change with </a:t>
            </a:r>
            <a:r>
              <a:rPr sz="2000" b="0" i="1">
                <a:solidFill>
                  <a:srgbClr val="1C252B"/>
                </a:solidFill>
                <a:latin typeface="Cambria"/>
              </a:rPr>
              <a:t>k</a:t>
            </a:r>
            <a:r>
              <a:rPr sz="2000" b="0" i="0">
                <a:solidFill>
                  <a:srgbClr val="1C252B"/>
                </a:solidFill>
                <a:latin typeface="Segoe UI"/>
              </a:rPr>
              <a:t>; distance weighting lets closer neighbours count more.</a:t>
            </a:r>
          </a:p>
        </p:txBody>
      </p:sp>
      <p:sp>
        <p:nvSpPr>
          <p:cNvPr id="13" name="!!sb2">
            <a:extLst>
              <a:ext uri="{C183D7F6-B498-43B3-948B-1728B52AA6E4}">
                <adec:decorative xmlns:adec="http://schemas.microsoft.com/office/drawing/2017/decorative" val="1"/>
              </a:ext>
            </a:extLst>
          </p:cNvPr>
          <p:cNvSpPr/>
          <p:nvPr/>
        </p:nvSpPr>
        <p:spPr>
          <a:xfrm>
            <a:off x="658368" y="3148583"/>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203447"/>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13944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Scale features before computing distances, and remove irrelevant ones; choose the distance to suit the data.</a:t>
            </a:r>
          </a:p>
        </p:txBody>
      </p:sp>
      <p:sp>
        <p:nvSpPr>
          <p:cNvPr id="16" name="!!sb3">
            <a:extLst>
              <a:ext uri="{C183D7F6-B498-43B3-948B-1728B52AA6E4}">
                <adec:decorative xmlns:adec="http://schemas.microsoft.com/office/drawing/2017/decorative" val="1"/>
              </a:ext>
            </a:extLst>
          </p:cNvPr>
          <p:cNvSpPr/>
          <p:nvPr/>
        </p:nvSpPr>
        <p:spPr>
          <a:xfrm>
            <a:off x="658368" y="396544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2031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5630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Small </a:t>
            </a:r>
            <a:r>
              <a:rPr sz="2000" b="0" i="1">
                <a:solidFill>
                  <a:srgbClr val="1C252B"/>
                </a:solidFill>
                <a:latin typeface="Cambria"/>
              </a:rPr>
              <a:t>k</a:t>
            </a:r>
            <a:r>
              <a:rPr sz="2000" b="0" i="0">
                <a:solidFill>
                  <a:srgbClr val="1C252B"/>
                </a:solidFill>
                <a:latin typeface="Segoe UI"/>
              </a:rPr>
              <a:t> means high variance, large </a:t>
            </a:r>
            <a:r>
              <a:rPr sz="2000" b="0" i="1">
                <a:solidFill>
                  <a:srgbClr val="1C252B"/>
                </a:solidFill>
                <a:latin typeface="Cambria"/>
              </a:rPr>
              <a:t>k</a:t>
            </a:r>
            <a:r>
              <a:rPr sz="2000" b="0" i="0">
                <a:solidFill>
                  <a:srgbClr val="1C252B"/>
                </a:solidFill>
                <a:latin typeface="Segoe UI"/>
              </a:rPr>
              <a:t> high bias; choose </a:t>
            </a:r>
            <a:r>
              <a:rPr sz="2000" b="0" i="1">
                <a:solidFill>
                  <a:srgbClr val="1C252B"/>
                </a:solidFill>
                <a:latin typeface="Cambria"/>
              </a:rPr>
              <a:t>k</a:t>
            </a:r>
            <a:r>
              <a:rPr sz="2000" b="0" i="0">
                <a:solidFill>
                  <a:srgbClr val="1C252B"/>
                </a:solidFill>
                <a:latin typeface="Segoe UI"/>
              </a:rPr>
              <a:t> by cross-validation, odd for two classes.</a:t>
            </a:r>
          </a:p>
        </p:txBody>
      </p:sp>
      <p:sp>
        <p:nvSpPr>
          <p:cNvPr id="19" name="!!sb4">
            <a:extLst>
              <a:ext uri="{C183D7F6-B498-43B3-948B-1728B52AA6E4}">
                <adec:decorative xmlns:adec="http://schemas.microsoft.com/office/drawing/2017/decorative" val="1"/>
              </a:ext>
            </a:extLst>
          </p:cNvPr>
          <p:cNvSpPr/>
          <p:nvPr/>
        </p:nvSpPr>
        <p:spPr>
          <a:xfrm>
            <a:off x="658368" y="47823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371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73168"/>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In high dimensions all distances become similar, and nearest neighbours stop being meaningful.</a:t>
            </a:r>
          </a:p>
        </p:txBody>
      </p:sp>
      <p:sp>
        <p:nvSpPr>
          <p:cNvPr id="22" name="!!sb5">
            <a:extLst>
              <a:ext uri="{C183D7F6-B498-43B3-948B-1728B52AA6E4}">
                <adec:decorative xmlns:adec="http://schemas.microsoft.com/office/drawing/2017/decorative" val="1"/>
              </a:ext>
            </a:extLst>
          </p:cNvPr>
          <p:cNvSpPr/>
          <p:nvPr/>
        </p:nvSpPr>
        <p:spPr>
          <a:xfrm>
            <a:off x="658368" y="5599176"/>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654040"/>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590032"/>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Training is free but each prediction searches the data; indexes such as KD-trees reduce the cost in low dimensions.</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56613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a:t>
            </a:r>
            <a:fld id="{4D44EB1D-E636-46A1-8D57-0F9BCF243A9A}" type="slidenum">
              <a:rPr lang="en-GB" sz="1000">
                <a:solidFill>
                  <a:srgbClr val="8795A1"/>
                </a:solidFill>
                <a:latin typeface="Segoe UI"/>
              </a:rPr>
              <a:t>40</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1">
                <a:solidFill>
                  <a:srgbClr val="1C252B"/>
                </a:solidFill>
                <a:latin typeface="Cambria"/>
              </a:rPr>
              <a:t>k</a:t>
            </a:r>
            <a:r>
              <a:rPr sz="2600" b="0" i="0">
                <a:solidFill>
                  <a:srgbClr val="1C252B"/>
                </a:solidFill>
                <a:latin typeface="Segoe UI"/>
              </a:rPr>
              <a:t>-NN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an eager learner</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lazy learner</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an unsupervised method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 linear model</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083706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a:t>
            </a:r>
            <a:fld id="{706C2D68-5D30-4620-A062-6B77C20CF2FC}" type="slidenum">
              <a:rPr lang="en-GB" sz="1000">
                <a:solidFill>
                  <a:srgbClr val="8795A1"/>
                </a:solidFill>
                <a:latin typeface="Segoe UI"/>
              </a:rPr>
              <a:t>41</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Increasing </a:t>
            </a:r>
            <a:r>
              <a:rPr sz="2600" b="0" i="1">
                <a:solidFill>
                  <a:srgbClr val="1C252B"/>
                </a:solidFill>
                <a:latin typeface="Cambria"/>
              </a:rPr>
              <a:t>k</a:t>
            </a:r>
            <a:r>
              <a:rPr sz="2600" b="0" i="0">
                <a:solidFill>
                  <a:srgbClr val="1C252B"/>
                </a:solidFill>
                <a:latin typeface="Segoe UI"/>
              </a:rPr>
              <a:t> in </a:t>
            </a:r>
            <a:r>
              <a:rPr sz="2600" b="0" i="1">
                <a:solidFill>
                  <a:srgbClr val="1C252B"/>
                </a:solidFill>
                <a:latin typeface="Cambria"/>
              </a:rPr>
              <a:t>k</a:t>
            </a:r>
            <a:r>
              <a:rPr sz="2600" b="0" i="0">
                <a:solidFill>
                  <a:srgbClr val="1C252B"/>
                </a:solidFill>
                <a:latin typeface="Segoe UI"/>
              </a:rPr>
              <a:t>-NN generally:</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raises variance</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lowers bias</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smooths the decision boundary</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makes training slower</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10798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3 of 3</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a:t>
            </a:r>
            <a:fld id="{5D87FF72-BBFC-4A23-A74C-3FAD0A6973DF}" type="slidenum">
              <a:rPr lang="en-GB" sz="1000">
                <a:solidFill>
                  <a:srgbClr val="8795A1"/>
                </a:solidFill>
                <a:latin typeface="Segoe UI"/>
              </a:rPr>
              <a:t>42</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The Manhattan distance between </a:t>
            </a:r>
            <a:r>
              <a:rPr sz="2600" b="0" i="0">
                <a:solidFill>
                  <a:srgbClr val="1C252B"/>
                </a:solidFill>
                <a:latin typeface="Cambria"/>
              </a:rPr>
              <a:t>(1, 2)</a:t>
            </a:r>
            <a:r>
              <a:rPr sz="2600" b="0" i="0">
                <a:solidFill>
                  <a:srgbClr val="1C252B"/>
                </a:solidFill>
                <a:latin typeface="Segoe UI"/>
              </a:rPr>
              <a:t> and </a:t>
            </a:r>
            <a:r>
              <a:rPr sz="2600" b="0" i="0">
                <a:solidFill>
                  <a:srgbClr val="1C252B"/>
                </a:solidFill>
                <a:latin typeface="Cambria"/>
              </a:rPr>
              <a:t>(4, 6)</a:t>
            </a:r>
            <a:r>
              <a:rPr sz="2600" b="0" i="0">
                <a:solidFill>
                  <a:srgbClr val="1C252B"/>
                </a:solidFill>
                <a:latin typeface="Segoe UI"/>
              </a:rPr>
              <a:t> is: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5</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7</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25</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1B7A4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12</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378915"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90     </a:t>
            </a:r>
            <a:fld id="{7E8B8AE4-55C8-4F13-A0C6-FB5B512F463C}" type="slidenum">
              <a:rPr lang="en-GB" sz="1000">
                <a:solidFill>
                  <a:srgbClr val="8795A1"/>
                </a:solidFill>
                <a:latin typeface="Segoe UI"/>
              </a:rPr>
              <a:t>43</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the curse of dimensionality and its effect on </a:t>
            </a:r>
            <a:r>
              <a:rPr sz="1900" b="0" i="1">
                <a:solidFill>
                  <a:srgbClr val="1C252B"/>
                </a:solidFill>
                <a:latin typeface="Cambria"/>
              </a:rPr>
              <a:t>k</a:t>
            </a:r>
            <a:r>
              <a:rPr sz="1900" b="0" i="0">
                <a:solidFill>
                  <a:srgbClr val="1C252B"/>
                </a:solidFill>
                <a:latin typeface="Segoe UI"/>
              </a:rPr>
              <a:t>-NN.</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does </a:t>
            </a:r>
            <a:r>
              <a:rPr sz="1900" b="0" i="1">
                <a:solidFill>
                  <a:srgbClr val="1C252B"/>
                </a:solidFill>
                <a:latin typeface="Cambria"/>
              </a:rPr>
              <a:t>k</a:t>
            </a:r>
            <a:r>
              <a:rPr sz="1900" b="0" i="0">
                <a:solidFill>
                  <a:srgbClr val="1C252B"/>
                </a:solidFill>
                <a:latin typeface="Segoe UI"/>
              </a:rPr>
              <a:t>-NN need feature scaling while a decision tree does not?</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Describe locally weighted regression in your own words.</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Add a seventh student G (68, 58, Pass) to the worked example. Recompute the 1-, 3- and 5-NN predictions for Q.</a:t>
            </a:r>
          </a:p>
        </p:txBody>
      </p:sp>
      <p:sp>
        <p:nvSpPr>
          <p:cNvPr id="19" name="!!rt4">
            <a:extLst>
              <a:ext uri="{C183D7F6-B498-43B3-948B-1728B52AA6E4}">
                <adec:decorative xmlns:adec="http://schemas.microsoft.com/office/drawing/2017/decorative" val="1"/>
              </a:ext>
            </a:extLst>
          </p:cNvPr>
          <p:cNvSpPr/>
          <p:nvPr/>
        </p:nvSpPr>
        <p:spPr>
          <a:xfrm>
            <a:off x="658368" y="413918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18033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120895"/>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dataset has features “age” (18–60) and “annual income” (100,000–2,000,000 rupees). Compute the Euclidean distance between (25, 400,000) and (55, 410,000) before and after min–max scaling, and comment.</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649842"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Cost of Being Lazy</a:t>
            </a:r>
          </a:p>
        </p:txBody>
      </p:sp>
      <p:pic>
        <p:nvPicPr>
          <p:cNvPr id="3" name="!!kicker-icon" descr="quote-left-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KEY IDEA</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Machine Learning  ·  Chapter 11  ·  Instance-Based Learning: k-Nearest Neighbours</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§11.7  ·  Handout p. 88     </a:t>
            </a:r>
            <a:fld id="{3D7C1B6D-79B9-4408-93E0-86C4E4FC3036}" type="slidenum">
              <a:rPr lang="en-GB" sz="1000">
                <a:solidFill>
                  <a:srgbClr val="8795A1"/>
                </a:solidFill>
                <a:latin typeface="Segoe UI"/>
              </a:rPr>
              <a:t>44</a:t>
            </a:fld>
          </a:p>
        </p:txBody>
      </p:sp>
      <p:sp>
        <p:nvSpPr>
          <p:cNvPr id="7" name="!!stbar">
            <a:extLst>
              <a:ext uri="{C183D7F6-B498-43B3-948B-1728B52AA6E4}">
                <adec:decorative xmlns:adec="http://schemas.microsoft.com/office/drawing/2017/decorative" val="1"/>
              </a:ext>
            </a:extLst>
          </p:cNvPr>
          <p:cNvSpPr/>
          <p:nvPr/>
        </p:nvSpPr>
        <p:spPr>
          <a:xfrm>
            <a:off x="658368" y="1810512"/>
            <a:ext cx="73152" cy="367223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body-0"/>
          <p:cNvSpPr txBox="1"/>
          <p:nvPr/>
        </p:nvSpPr>
        <p:spPr>
          <a:xfrm>
            <a:off x="1042415" y="1792224"/>
            <a:ext cx="10417759" cy="3754526"/>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Training is free; prediction is not. A naive search compares the query with all </a:t>
            </a:r>
            <a:r>
              <a:rPr sz="2600" b="0" i="1">
                <a:solidFill>
                  <a:srgbClr val="1C252B"/>
                </a:solidFill>
                <a:latin typeface="Cambria"/>
              </a:rPr>
              <a:t>n</a:t>
            </a:r>
            <a:r>
              <a:rPr sz="2600" b="0" i="0">
                <a:solidFill>
                  <a:srgbClr val="1C252B"/>
                </a:solidFill>
                <a:latin typeface="Segoe UI"/>
              </a:rPr>
              <a:t> stored examples in </a:t>
            </a:r>
            <a:r>
              <a:rPr sz="2600" b="0" i="1">
                <a:solidFill>
                  <a:srgbClr val="1C252B"/>
                </a:solidFill>
                <a:latin typeface="Cambria"/>
              </a:rPr>
              <a:t>d</a:t>
            </a:r>
            <a:r>
              <a:rPr sz="2600" b="0" i="0">
                <a:solidFill>
                  <a:srgbClr val="1C252B"/>
                </a:solidFill>
                <a:latin typeface="Segoe UI"/>
              </a:rPr>
              <a:t> dimensions, </a:t>
            </a:r>
            <a:r>
              <a:rPr sz="2600" b="0" i="1">
                <a:solidFill>
                  <a:srgbClr val="1C252B"/>
                </a:solidFill>
                <a:latin typeface="Cambria"/>
              </a:rPr>
              <a:t>O</a:t>
            </a:r>
            <a:r>
              <a:rPr sz="2600" b="0" i="0">
                <a:solidFill>
                  <a:srgbClr val="1C252B"/>
                </a:solidFill>
                <a:latin typeface="Cambria"/>
              </a:rPr>
              <a:t>(</a:t>
            </a:r>
            <a:r>
              <a:rPr sz="2600" b="0" i="1">
                <a:solidFill>
                  <a:srgbClr val="1C252B"/>
                </a:solidFill>
                <a:latin typeface="Cambria"/>
              </a:rPr>
              <a:t>nd</a:t>
            </a:r>
            <a:r>
              <a:rPr sz="2600" b="0" i="0">
                <a:solidFill>
                  <a:srgbClr val="1C252B"/>
                </a:solidFill>
                <a:latin typeface="Cambria"/>
              </a:rPr>
              <a:t>)</a:t>
            </a:r>
            <a:r>
              <a:rPr sz="2600" b="0" i="0">
                <a:solidFill>
                  <a:srgbClr val="1C252B"/>
                </a:solidFill>
                <a:latin typeface="Segoe UI"/>
              </a:rPr>
              <a:t> work per query — a million examples means a million distance computations for every prediction. </a:t>
            </a:r>
            <a:r>
              <a:rPr sz="2600" b="1" i="0">
                <a:solidFill>
                  <a:srgbClr val="1A5276"/>
                </a:solidFill>
                <a:latin typeface="Segoe UI"/>
              </a:rPr>
              <a:t>KD-trees</a:t>
            </a:r>
            <a:r>
              <a:rPr sz="2600" b="0" i="0">
                <a:solidFill>
                  <a:srgbClr val="1C252B"/>
                </a:solidFill>
                <a:latin typeface="Segoe UI"/>
              </a:rPr>
              <a:t> and ball trees partition space so that most examples can be ruled out without computing their distance, which works well up to perhaps twenty dimensions; beyond that, approximate nearest-neighbour indexes trade a little accuracy for large speed-ups. The whole training set must also be kept, which on a small device may be impossible.</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1920768" cy="54864"/>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B7A43"/>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2D8552"/>
                </a:solidFill>
                <a:latin typeface="Segoe UI Black"/>
              </a:rPr>
              <a:t>11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11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FFFFFF"/>
                </a:solidFill>
                <a:latin typeface="Segoe UI Semibold"/>
              </a:rPr>
              <a:t>Chapter 12 — Support Vector Machines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11, pages 85–90</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Neighbours, scaling and k; margins and kernels</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155F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A8CCB8"/>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Assignment 2 set</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Machine Learning  ·  Chapter 11  ·  Instance-Based Learning: k-Nearest Neighbours</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327F2B5C-37C1-4110-B805-3FB85D0AB1BA}" type="slidenum">
              <a:rPr lang="en-GB" sz="1000">
                <a:solidFill>
                  <a:srgbClr val="D5DEE5"/>
                </a:solidFill>
                <a:latin typeface="Segoe UI"/>
              </a:rPr>
              <a:t>45</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Machine Learning Fall 2026">
  <a:themeElements>
    <a:clrScheme name="Machine Learning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Machine Learning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11: Instance-Based Learning: k-Nearest Neighbours</dc:title>
  <dc:subject>Machine Learning — From Hypotheses to Decisions · BSIT · Fall 2026</dc:subject>
  <dc:creator>Dr. Mustafa Hameed</dc:creator>
  <cp:keywords>machine learning; lecture slides; BSIT; HEC;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