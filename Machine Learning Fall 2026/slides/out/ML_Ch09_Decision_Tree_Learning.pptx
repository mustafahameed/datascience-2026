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4.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06DA1C6-6264-452E-9D5B-B07F7D6EC170}">
          <p14:sldIdLst>
            <p14:sldId id="256"/>
            <p14:sldId id="257"/>
            <p14:sldId id="258"/>
            <p14:sldId id="259"/>
            <p14:sldId id="260"/>
          </p14:sldIdLst>
        </p14:section>
        <p14:section name="9.1 Trees as Hypotheses" id="{E4A081EA-8F9F-44C7-962A-AFA8406DB513}">
          <p14:sldIdLst>
            <p14:sldId id="261"/>
          </p14:sldIdLst>
        </p14:section>
        <p14:section name="9.2 Choosing the Question: Entropy and Information Gain" id="{939346B3-9176-40C8-847C-374FA96FEDF4}">
          <p14:sldIdLst>
            <p14:sldId id="262"/>
            <p14:sldId id="263"/>
            <p14:sldId id="264"/>
            <p14:sldId id="265"/>
            <p14:sldId id="266"/>
            <p14:sldId id="267"/>
            <p14:sldId id="268"/>
          </p14:sldIdLst>
        </p14:section>
        <p14:section name="9.3 Beyond the Basic Algorithm" id="{547BA9FE-37C9-493A-9B61-CF3B9F420EA7}">
          <p14:sldIdLst>
            <p14:sldId id="269"/>
            <p14:sldId id="270"/>
            <p14:sldId id="271"/>
          </p14:sldIdLst>
        </p14:section>
        <p14:section name="9.4 Overfitting, Noisy Data and Pruning" id="{9DA53FD9-FCC0-4F9B-AECF-57CDC3B5EAA0}">
          <p14:sldIdLst>
            <p14:sldId id="272"/>
            <p14:sldId id="273"/>
            <p14:sldId id="274"/>
            <p14:sldId id="275"/>
          </p14:sldIdLst>
        </p14:section>
        <p14:section name="Pitfalls" id="{25205E69-B422-44AC-B7F9-EFD186DA2F68}">
          <p14:sldIdLst>
            <p14:sldId id="276"/>
          </p14:sldIdLst>
        </p14:section>
        <p14:section name="Lab" id="{E0F02983-4EC0-4F43-800F-8F3EED3B938C}">
          <p14:sldIdLst>
            <p14:sldId id="277"/>
            <p14:sldId id="278"/>
            <p14:sldId id="279"/>
            <p14:sldId id="280"/>
            <p14:sldId id="281"/>
            <p14:sldId id="282"/>
            <p14:sldId id="283"/>
          </p14:sldIdLst>
        </p14:section>
        <p14:section name="Checkpoint" id="{6ECB2815-CE4F-48ED-A3A1-55D9EC3FCDB4}">
          <p14:sldIdLst>
            <p14:sldId id="284"/>
            <p14:sldId id="285"/>
            <p14:sldId id="286"/>
            <p14:sldId id="287"/>
            <p14:sldId id="288"/>
            <p14:sldId id="289"/>
          </p14:sldIdLst>
        </p14:section>
        <p14:section name="Wrap-up" id="{3804BFA1-ECB7-4610-B250-74D94B1E81EA}">
          <p14:sldIdLst>
            <p14:sldId id="290"/>
            <p14:sldId id="291"/>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Decision Tree Learning. Part 3 — Supervised Learning Algorithms. Week 8: Decision trees. Handout pages 68–74.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(entropy), Chapter 4 (hypothesis spaces and inductive bias) and Chapter 7 (overfitting, noise, choosing a setting by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decision tree; internal node, branch, leaf; ID3; entropy; information gain; split information; gain ratio; Gini index; CART; threshold split; overfitting; pre-pruning; reduced-error pruning; rule post-pruning; cost-complexity pruning; Occam’s razor.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decision tree classifies an example by asking a sequence of questions about its attributes. Each internal node tests one attribute, each branch is one outcome of the test, and each leaf gives a class. To classify, start at the root and follow the branches that match the example until a leaf is reached.</a:t>
            </a:r>
          </a:p>
          <a:p/>
          <a:p>
            <a:r>
              <a:t>Figure 9.1 (handout p. 68): The tree ID3 learns from the fourteen past sprints. Under each leaf are the training sprints that reach it; every leaf is pure. It is equivalent to the rule: the goal is met if (requirements Changing and load Normal) or requirements Frozen or (requirements Vague and Few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tree is a disjunction of conjunctions: each root-to-leaf path is an AND of tests, and the tree is the OR of the paths that end in “Yes”. That makes trees far more expressive than the conjunctions of Chapter 4 — a large enough tree can represent any discrete function — and it makes them readable. Trees suit problems where examples are attribute–value pairs, the target is discrete, disjunctions may be needed, and the training data may contain errors or missing values. Fourteen past sprints, each described by four attributes, and whether the sprint met its goal. Requirements were Changing, Frozen or Vague during the sprint; Pressure is the deadline pressure; Load is whether the team was carrying more work than usual; Dependencies counts waits on other teams. (This is Mitchell’s PlayTennis table with the attributes renamed, so every number below can be checked against the set 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ID3 grows the tree top-down and greedily: at each node, it asks which single attribute best separates the examples that reach it, puts that attribute there, and recurses on each branch. “Best separates” is measured with the entropy of Chapter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9.2 (handout p. 70): Two impurity measures for a two-class node. Both are zero for a pure node and largest for an even split; they almost always pick the same attribute.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attributes. A numeric attribute is turned into a yes/no test A ≤ t. The only thresholds worth trying are midpoints between adjacent sorted values where the class changes; each is scored by information gain like any other attribute.</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Attributes with many values. Information gain favours attributes with many values. An attribute such as SprintID splits the training sprints into fourteen pure singletons — maximal gain, zero use. C4.5 corrects this with the gain ratio, dividing the gain by the split information, the entropy of the split itself: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Requirements (5, 4, 5 sprints) SplitInfo = 1.577 and the gain ratio is 0.246/1.577 = 0.156. For SprintID, SplitInfo = log2 14 = 3.81, which heavily discounts its gain.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values. An example missing the tested attribute can be sent down the most common branch, or split fractionally among all branches in proportion to their training frequencies (C4.5’s approach). ID3 keeps splitting until every leaf is pure. With noisy data that means growing branches whose only purpose is to fit the mislabelled examples: add one wrongly recorded sprint — (Changing, High, Normal, Many, No) — and ID3 must grow a new subtree under Changing/Normal just to isolate it. Figure 9.3 shows the effect on a dataset in which 15% of the labels were flipped.</a:t>
            </a:r>
          </a:p>
          <a:p/>
          <a:p>
            <a:r>
              <a:t>Figure 9.3 (handout p. 71): Accuracy against tree size on data with 15% label noise. Training accuracy climbs to 100% as the tree memorises the noise; test accuracy peaks early and then declines.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ID3's first choice, computed by hand.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ID3's first choice, computed by hand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Noisy data: a tree grown without limit, then pruned.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Noisy data: a tree grown without limit, then pruned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parent has entropy 1. Each child has entropy −0.75log2 0.75 − 0.25log2 0.25 = 0.811 and holds half the examples, so Gain = 1 − 0.811 = 0.189.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Every ID is unique, so splitting on it gives one pure leaf per task: maximum gain, no generalisation. Use the gain ratio, whose split-information term penalises many-valued attributes — or remove identifiers.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restriction bias limits which hypotheses can be represented (Candidate-Elimination’s conjunctions); a preference bias searches a complete space but prefers some hypotheses. ID3 has a preference bias: shorter trees, high-gain attributes near the root.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10 — Bayesian Learning and Naive Bayes. READ: Handout Chapter 9, pages 68–74. THIS WEEK'S LAB: ID3 by hand, pruning by cross-validation. ASSESSMENT: Midterm (Ch 1–8).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4.xml"/><Relationship Id="rId8" Type="http://schemas.openxmlformats.org/officeDocument/2006/relationships/slide" Target="slide17.xml"/><Relationship Id="rId9" Type="http://schemas.openxmlformats.org/officeDocument/2006/relationships/slide" Target="slide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4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7.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8.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9.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0.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1.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2.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7.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8.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9.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60.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6.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7.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09</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Decision Tree Learning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SUPERVISED LEARNING ALGORITHMS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9  ·  WEEK 8</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D5FAD6F7-6F9D-4502-846C-C21FDD76D5B6}"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757540" y="1755648"/>
            <a:ext cx="255774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757540" y="2029967"/>
            <a:ext cx="2557743"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51407"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651407"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9</a:t>
            </a:r>
          </a:p>
        </p:txBody>
      </p:sp>
      <p:sp>
        <p:nvSpPr>
          <p:cNvPr id="37" name="!!dot10">
            <a:extLst>
              <a:ext uri="{C183D7F6-B498-43B3-948B-1728B52AA6E4}">
                <adec:decorative xmlns:adec="http://schemas.microsoft.com/office/drawing/2017/decorative" val="1"/>
              </a:ext>
            </a:extLst>
          </p:cNvPr>
          <p:cNvSpPr/>
          <p:nvPr/>
        </p:nvSpPr>
        <p:spPr>
          <a:xfrm>
            <a:off x="536268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712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722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807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2008791"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Decision Tree Learning</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4  </a:t>
            </a:r>
            <a:r>
              <a:rPr sz="1400" b="0" i="0">
                <a:solidFill>
                  <a:srgbClr val="1C252B"/>
                </a:solidFill>
                <a:latin typeface="Segoe UI"/>
              </a:rPr>
              <a:t>Concept Learning and the Version Space</a:t>
            </a:r>
          </a:p>
        </p:txBody>
      </p:sp>
      <p:sp>
        <p:nvSpPr>
          <p:cNvPr id="71" name="!!chipBU7">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7">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7"/>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10">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10">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10"/>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10  </a:t>
            </a:r>
            <a:r>
              <a:rPr sz="1400" b="0" i="0">
                <a:solidFill>
                  <a:srgbClr val="1C252B"/>
                </a:solidFill>
                <a:latin typeface="Segoe UI"/>
              </a:rPr>
              <a:t>Bayesian Learning and Naive Bayes</a:t>
            </a:r>
          </a:p>
        </p:txBody>
      </p:sp>
      <p:sp>
        <p:nvSpPr>
          <p:cNvPr id="78" name="!!chipUS14">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14">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14"/>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14  </a:t>
            </a:r>
            <a:r>
              <a:rPr sz="1400" b="0" i="0">
                <a:solidFill>
                  <a:srgbClr val="1C252B"/>
                </a:solidFill>
                <a:latin typeface="Segoe UI"/>
              </a:rPr>
              <a:t>Ensemble Learning</a:t>
            </a:r>
          </a:p>
        </p:txBody>
      </p:sp>
      <p:sp>
        <p:nvSpPr>
          <p:cNvPr id="81" name="!!chipUS21">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21">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21"/>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Responsible and Ethical Machine Learning</a:t>
            </a:r>
          </a:p>
        </p:txBody>
      </p:sp>
      <p:sp>
        <p:nvSpPr>
          <p:cNvPr id="8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816298B6-35B6-49C5-AE44-D938683EBFDC}"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Classify</a:t>
            </a:r>
            <a:r>
              <a:rPr sz="2100" b="0" i="0">
                <a:solidFill>
                  <a:srgbClr val="1C252B"/>
                </a:solidFill>
                <a:latin typeface="Segoe UI"/>
              </a:rPr>
              <a:t> an example with a decision tree, and </a:t>
            </a:r>
            <a:r>
              <a:rPr sz="2100" b="1" i="0">
                <a:solidFill>
                  <a:srgbClr val="1C252B"/>
                </a:solidFill>
                <a:latin typeface="Segoe UI"/>
              </a:rPr>
              <a:t>read</a:t>
            </a:r>
            <a:r>
              <a:rPr sz="2100" b="0" i="0">
                <a:solidFill>
                  <a:srgbClr val="1C252B"/>
                </a:solidFill>
                <a:latin typeface="Segoe UI"/>
              </a:rPr>
              <a:t> a tree as a set of rules.</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Compute</a:t>
            </a:r>
            <a:r>
              <a:rPr sz="2100" b="0" i="0">
                <a:solidFill>
                  <a:srgbClr val="1C252B"/>
                </a:solidFill>
                <a:latin typeface="Segoe UI"/>
              </a:rPr>
              <a:t> entropy and information gain, and </a:t>
            </a:r>
            <a:r>
              <a:rPr sz="2100" b="1" i="0">
                <a:solidFill>
                  <a:srgbClr val="1C252B"/>
                </a:solidFill>
                <a:latin typeface="Segoe UI"/>
              </a:rPr>
              <a:t>trace</a:t>
            </a:r>
            <a:r>
              <a:rPr sz="2100" b="0" i="0">
                <a:solidFill>
                  <a:srgbClr val="1C252B"/>
                </a:solidFill>
                <a:latin typeface="Segoe UI"/>
              </a:rPr>
              <a:t> ID3’s choice of attribute at each node by hand.</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Handle</a:t>
            </a:r>
            <a:r>
              <a:rPr sz="2100" b="0" i="0">
                <a:solidFill>
                  <a:srgbClr val="1C252B"/>
                </a:solidFill>
                <a:latin typeface="Segoe UI"/>
              </a:rPr>
              <a:t> continuous attributes, attributes with many values (gain ratio) and the Gini index.</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why trees overfit noisy data, and </a:t>
            </a:r>
            <a:r>
              <a:rPr sz="2100" b="1" i="0">
                <a:solidFill>
                  <a:srgbClr val="1C252B"/>
                </a:solidFill>
                <a:latin typeface="Segoe UI"/>
              </a:rPr>
              <a:t>apply</a:t>
            </a:r>
            <a:r>
              <a:rPr sz="2100" b="0" i="0">
                <a:solidFill>
                  <a:srgbClr val="1C252B"/>
                </a:solidFill>
                <a:latin typeface="Segoe UI"/>
              </a:rPr>
              <a:t> reduced-error, rule post-pruning and cost-complexity pruning.</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State</a:t>
            </a:r>
            <a:r>
              <a:rPr sz="2100" b="0" i="0">
                <a:solidFill>
                  <a:srgbClr val="1C252B"/>
                </a:solidFill>
                <a:latin typeface="Segoe UI"/>
              </a:rPr>
              <a:t> the inductive bias of ID3.</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B206BE44-C272-4F5F-A8E8-6E68360DD503}" type="slidenum">
              <a:rPr lang="en-GB" sz="1000">
                <a:solidFill>
                  <a:srgbClr val="8795A1"/>
                </a:solidFill>
                <a:latin typeface="Segoe UI"/>
              </a:rPr>
              <a:t>4</a:t>
            </a:fld>
          </a:p>
        </p:txBody>
      </p:sp>
      <p:sp>
        <p:nvSpPr>
          <p:cNvPr id="7" name="!!term-decision tree">
            <a:extLst>
              <a:ext uri="{C183D7F6-B498-43B3-948B-1728B52AA6E4}">
                <adec:decorative xmlns:adec="http://schemas.microsoft.com/office/drawing/2017/decorative" val="1"/>
              </a:ext>
            </a:extLst>
          </p:cNvPr>
          <p:cNvSpPr/>
          <p:nvPr/>
        </p:nvSpPr>
        <p:spPr>
          <a:xfrm>
            <a:off x="658368" y="1847088"/>
            <a:ext cx="16080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decision tre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decision tree"/>
          <p:cNvSpPr txBox="1"/>
          <p:nvPr/>
        </p:nvSpPr>
        <p:spPr>
          <a:xfrm>
            <a:off x="950976" y="1962911"/>
            <a:ext cx="142516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decision tree</a:t>
            </a:r>
          </a:p>
        </p:txBody>
      </p:sp>
      <p:sp>
        <p:nvSpPr>
          <p:cNvPr id="10" name="!!term-internal node,">
            <a:extLst>
              <a:ext uri="{C183D7F6-B498-43B3-948B-1728B52AA6E4}">
                <adec:decorative xmlns:adec="http://schemas.microsoft.com/office/drawing/2017/decorative" val="1"/>
              </a:ext>
            </a:extLst>
          </p:cNvPr>
          <p:cNvSpPr/>
          <p:nvPr/>
        </p:nvSpPr>
        <p:spPr>
          <a:xfrm>
            <a:off x="2412718" y="1847088"/>
            <a:ext cx="28184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internal node,">
            <a:extLst>
              <a:ext uri="{C183D7F6-B498-43B3-948B-1728B52AA6E4}">
                <adec:decorative xmlns:adec="http://schemas.microsoft.com/office/drawing/2017/decorative" val="1"/>
              </a:ext>
            </a:extLst>
          </p:cNvPr>
          <p:cNvSpPr/>
          <p:nvPr/>
        </p:nvSpPr>
        <p:spPr>
          <a:xfrm>
            <a:off x="254073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internal node,"/>
          <p:cNvSpPr txBox="1"/>
          <p:nvPr/>
        </p:nvSpPr>
        <p:spPr>
          <a:xfrm>
            <a:off x="2705326" y="1962911"/>
            <a:ext cx="263559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internal node, branch, leaf</a:t>
            </a:r>
          </a:p>
        </p:txBody>
      </p:sp>
      <p:sp>
        <p:nvSpPr>
          <p:cNvPr id="13" name="!!term-ID3">
            <a:extLst>
              <a:ext uri="{C183D7F6-B498-43B3-948B-1728B52AA6E4}">
                <adec:decorative xmlns:adec="http://schemas.microsoft.com/office/drawing/2017/decorative" val="1"/>
              </a:ext>
            </a:extLst>
          </p:cNvPr>
          <p:cNvSpPr/>
          <p:nvPr/>
        </p:nvSpPr>
        <p:spPr>
          <a:xfrm>
            <a:off x="5377499" y="1847088"/>
            <a:ext cx="75105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ID3">
            <a:extLst>
              <a:ext uri="{C183D7F6-B498-43B3-948B-1728B52AA6E4}">
                <adec:decorative xmlns:adec="http://schemas.microsoft.com/office/drawing/2017/decorative" val="1"/>
              </a:ext>
            </a:extLst>
          </p:cNvPr>
          <p:cNvSpPr/>
          <p:nvPr/>
        </p:nvSpPr>
        <p:spPr>
          <a:xfrm>
            <a:off x="550551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ID3"/>
          <p:cNvSpPr txBox="1"/>
          <p:nvPr/>
        </p:nvSpPr>
        <p:spPr>
          <a:xfrm>
            <a:off x="5670107" y="1962911"/>
            <a:ext cx="56817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ID3</a:t>
            </a:r>
          </a:p>
        </p:txBody>
      </p:sp>
      <p:sp>
        <p:nvSpPr>
          <p:cNvPr id="16" name="!!term-entropy">
            <a:extLst>
              <a:ext uri="{C183D7F6-B498-43B3-948B-1728B52AA6E4}">
                <adec:decorative xmlns:adec="http://schemas.microsoft.com/office/drawing/2017/decorative" val="1"/>
              </a:ext>
            </a:extLst>
          </p:cNvPr>
          <p:cNvSpPr/>
          <p:nvPr/>
        </p:nvSpPr>
        <p:spPr>
          <a:xfrm>
            <a:off x="6274855" y="1847088"/>
            <a:ext cx="11506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entropy">
            <a:extLst>
              <a:ext uri="{C183D7F6-B498-43B3-948B-1728B52AA6E4}">
                <adec:decorative xmlns:adec="http://schemas.microsoft.com/office/drawing/2017/decorative" val="1"/>
              </a:ext>
            </a:extLst>
          </p:cNvPr>
          <p:cNvSpPr/>
          <p:nvPr/>
        </p:nvSpPr>
        <p:spPr>
          <a:xfrm>
            <a:off x="640287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entropy"/>
          <p:cNvSpPr txBox="1"/>
          <p:nvPr/>
        </p:nvSpPr>
        <p:spPr>
          <a:xfrm>
            <a:off x="6567463" y="1962911"/>
            <a:ext cx="96773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entropy</a:t>
            </a:r>
          </a:p>
        </p:txBody>
      </p:sp>
      <p:sp>
        <p:nvSpPr>
          <p:cNvPr id="19" name="!!term-information ga">
            <a:extLst>
              <a:ext uri="{C183D7F6-B498-43B3-948B-1728B52AA6E4}">
                <adec:decorative xmlns:adec="http://schemas.microsoft.com/office/drawing/2017/decorative" val="1"/>
              </a:ext>
            </a:extLst>
          </p:cNvPr>
          <p:cNvSpPr/>
          <p:nvPr/>
        </p:nvSpPr>
        <p:spPr>
          <a:xfrm>
            <a:off x="7571773" y="1847088"/>
            <a:ext cx="19598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information ga">
            <a:extLst>
              <a:ext uri="{C183D7F6-B498-43B3-948B-1728B52AA6E4}">
                <adec:decorative xmlns:adec="http://schemas.microsoft.com/office/drawing/2017/decorative" val="1"/>
              </a:ext>
            </a:extLst>
          </p:cNvPr>
          <p:cNvSpPr/>
          <p:nvPr/>
        </p:nvSpPr>
        <p:spPr>
          <a:xfrm>
            <a:off x="769978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information ga"/>
          <p:cNvSpPr txBox="1"/>
          <p:nvPr/>
        </p:nvSpPr>
        <p:spPr>
          <a:xfrm>
            <a:off x="7864381" y="1962911"/>
            <a:ext cx="177692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information gain</a:t>
            </a:r>
          </a:p>
        </p:txBody>
      </p:sp>
      <p:sp>
        <p:nvSpPr>
          <p:cNvPr id="22" name="!!term-split informat">
            <a:extLst>
              <a:ext uri="{C183D7F6-B498-43B3-948B-1728B52AA6E4}">
                <adec:decorative xmlns:adec="http://schemas.microsoft.com/office/drawing/2017/decorative" val="1"/>
              </a:ext>
            </a:extLst>
          </p:cNvPr>
          <p:cNvSpPr/>
          <p:nvPr/>
        </p:nvSpPr>
        <p:spPr>
          <a:xfrm>
            <a:off x="658368" y="2468880"/>
            <a:ext cx="19450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plit informat">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plit informat"/>
          <p:cNvSpPr txBox="1"/>
          <p:nvPr/>
        </p:nvSpPr>
        <p:spPr>
          <a:xfrm>
            <a:off x="950976" y="2584704"/>
            <a:ext cx="17622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split information</a:t>
            </a:r>
          </a:p>
        </p:txBody>
      </p:sp>
      <p:sp>
        <p:nvSpPr>
          <p:cNvPr id="25" name="!!term-gain ratio">
            <a:extLst>
              <a:ext uri="{C183D7F6-B498-43B3-948B-1728B52AA6E4}">
                <adec:decorative xmlns:adec="http://schemas.microsoft.com/office/drawing/2017/decorative" val="1"/>
              </a:ext>
            </a:extLst>
          </p:cNvPr>
          <p:cNvSpPr/>
          <p:nvPr/>
        </p:nvSpPr>
        <p:spPr>
          <a:xfrm>
            <a:off x="2749765" y="2468880"/>
            <a:ext cx="131024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gain ratio">
            <a:extLst>
              <a:ext uri="{C183D7F6-B498-43B3-948B-1728B52AA6E4}">
                <adec:decorative xmlns:adec="http://schemas.microsoft.com/office/drawing/2017/decorative" val="1"/>
              </a:ext>
            </a:extLst>
          </p:cNvPr>
          <p:cNvSpPr/>
          <p:nvPr/>
        </p:nvSpPr>
        <p:spPr>
          <a:xfrm>
            <a:off x="287778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gain ratio"/>
          <p:cNvSpPr txBox="1"/>
          <p:nvPr/>
        </p:nvSpPr>
        <p:spPr>
          <a:xfrm>
            <a:off x="3042373" y="2584704"/>
            <a:ext cx="112736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gain ratio</a:t>
            </a:r>
          </a:p>
        </p:txBody>
      </p:sp>
      <p:sp>
        <p:nvSpPr>
          <p:cNvPr id="28" name="!!term-Gini index">
            <a:extLst>
              <a:ext uri="{C183D7F6-B498-43B3-948B-1728B52AA6E4}">
                <adec:decorative xmlns:adec="http://schemas.microsoft.com/office/drawing/2017/decorative" val="1"/>
              </a:ext>
            </a:extLst>
          </p:cNvPr>
          <p:cNvSpPr/>
          <p:nvPr/>
        </p:nvSpPr>
        <p:spPr>
          <a:xfrm>
            <a:off x="4206318" y="2468880"/>
            <a:ext cx="13485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Gini index">
            <a:extLst>
              <a:ext uri="{C183D7F6-B498-43B3-948B-1728B52AA6E4}">
                <adec:decorative xmlns:adec="http://schemas.microsoft.com/office/drawing/2017/decorative" val="1"/>
              </a:ext>
            </a:extLst>
          </p:cNvPr>
          <p:cNvSpPr/>
          <p:nvPr/>
        </p:nvSpPr>
        <p:spPr>
          <a:xfrm>
            <a:off x="433433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Gini index"/>
          <p:cNvSpPr txBox="1"/>
          <p:nvPr/>
        </p:nvSpPr>
        <p:spPr>
          <a:xfrm>
            <a:off x="4498926" y="2584704"/>
            <a:ext cx="11657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Gini index</a:t>
            </a:r>
          </a:p>
        </p:txBody>
      </p:sp>
      <p:sp>
        <p:nvSpPr>
          <p:cNvPr id="31" name="!!term-CART">
            <a:extLst>
              <a:ext uri="{C183D7F6-B498-43B3-948B-1728B52AA6E4}">
                <adec:decorative xmlns:adec="http://schemas.microsoft.com/office/drawing/2017/decorative" val="1"/>
              </a:ext>
            </a:extLst>
          </p:cNvPr>
          <p:cNvSpPr/>
          <p:nvPr/>
        </p:nvSpPr>
        <p:spPr>
          <a:xfrm>
            <a:off x="5701216" y="2468880"/>
            <a:ext cx="9333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CART">
            <a:extLst>
              <a:ext uri="{C183D7F6-B498-43B3-948B-1728B52AA6E4}">
                <adec:decorative xmlns:adec="http://schemas.microsoft.com/office/drawing/2017/decorative" val="1"/>
              </a:ext>
            </a:extLst>
          </p:cNvPr>
          <p:cNvSpPr/>
          <p:nvPr/>
        </p:nvSpPr>
        <p:spPr>
          <a:xfrm>
            <a:off x="582923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CART"/>
          <p:cNvSpPr txBox="1"/>
          <p:nvPr/>
        </p:nvSpPr>
        <p:spPr>
          <a:xfrm>
            <a:off x="5993824" y="2584704"/>
            <a:ext cx="75047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CART</a:t>
            </a:r>
          </a:p>
        </p:txBody>
      </p:sp>
      <p:sp>
        <p:nvSpPr>
          <p:cNvPr id="34" name="!!term-threshold spli">
            <a:extLst>
              <a:ext uri="{C183D7F6-B498-43B3-948B-1728B52AA6E4}">
                <adec:decorative xmlns:adec="http://schemas.microsoft.com/office/drawing/2017/decorative" val="1"/>
              </a:ext>
            </a:extLst>
          </p:cNvPr>
          <p:cNvSpPr/>
          <p:nvPr/>
        </p:nvSpPr>
        <p:spPr>
          <a:xfrm>
            <a:off x="6780880" y="2468880"/>
            <a:ext cx="17429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threshold spli">
            <a:extLst>
              <a:ext uri="{C183D7F6-B498-43B3-948B-1728B52AA6E4}">
                <adec:decorative xmlns:adec="http://schemas.microsoft.com/office/drawing/2017/decorative" val="1"/>
              </a:ext>
            </a:extLst>
          </p:cNvPr>
          <p:cNvSpPr/>
          <p:nvPr/>
        </p:nvSpPr>
        <p:spPr>
          <a:xfrm>
            <a:off x="690889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threshold spli"/>
          <p:cNvSpPr txBox="1"/>
          <p:nvPr/>
        </p:nvSpPr>
        <p:spPr>
          <a:xfrm>
            <a:off x="7073488" y="2584704"/>
            <a:ext cx="156009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threshold split</a:t>
            </a:r>
          </a:p>
        </p:txBody>
      </p:sp>
      <p:sp>
        <p:nvSpPr>
          <p:cNvPr id="37" name="!!term-overfitting">
            <a:extLst>
              <a:ext uri="{C183D7F6-B498-43B3-948B-1728B52AA6E4}">
                <adec:decorative xmlns:adec="http://schemas.microsoft.com/office/drawing/2017/decorative" val="1"/>
              </a:ext>
            </a:extLst>
          </p:cNvPr>
          <p:cNvSpPr/>
          <p:nvPr/>
        </p:nvSpPr>
        <p:spPr>
          <a:xfrm>
            <a:off x="8670159" y="2468880"/>
            <a:ext cx="13853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overfitting">
            <a:extLst>
              <a:ext uri="{C183D7F6-B498-43B3-948B-1728B52AA6E4}">
                <adec:decorative xmlns:adec="http://schemas.microsoft.com/office/drawing/2017/decorative" val="1"/>
              </a:ext>
            </a:extLst>
          </p:cNvPr>
          <p:cNvSpPr/>
          <p:nvPr/>
        </p:nvSpPr>
        <p:spPr>
          <a:xfrm>
            <a:off x="879817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overfitting"/>
          <p:cNvSpPr txBox="1"/>
          <p:nvPr/>
        </p:nvSpPr>
        <p:spPr>
          <a:xfrm>
            <a:off x="8962767" y="2584704"/>
            <a:ext cx="120244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overfitting</a:t>
            </a:r>
          </a:p>
        </p:txBody>
      </p:sp>
      <p:sp>
        <p:nvSpPr>
          <p:cNvPr id="40" name="!!term-pre-pruning">
            <a:extLst>
              <a:ext uri="{C183D7F6-B498-43B3-948B-1728B52AA6E4}">
                <adec:decorative xmlns:adec="http://schemas.microsoft.com/office/drawing/2017/decorative" val="1"/>
              </a:ext>
            </a:extLst>
          </p:cNvPr>
          <p:cNvSpPr/>
          <p:nvPr/>
        </p:nvSpPr>
        <p:spPr>
          <a:xfrm>
            <a:off x="658368" y="3090672"/>
            <a:ext cx="15423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pre-pruning">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pre-pruning"/>
          <p:cNvSpPr txBox="1"/>
          <p:nvPr/>
        </p:nvSpPr>
        <p:spPr>
          <a:xfrm>
            <a:off x="950976" y="3206496"/>
            <a:ext cx="135946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pre-pruning</a:t>
            </a:r>
          </a:p>
        </p:txBody>
      </p:sp>
      <p:sp>
        <p:nvSpPr>
          <p:cNvPr id="43" name="!!term-reduced-error ">
            <a:extLst>
              <a:ext uri="{C183D7F6-B498-43B3-948B-1728B52AA6E4}">
                <adec:decorative xmlns:adec="http://schemas.microsoft.com/office/drawing/2017/decorative" val="1"/>
              </a:ext>
            </a:extLst>
          </p:cNvPr>
          <p:cNvSpPr/>
          <p:nvPr/>
        </p:nvSpPr>
        <p:spPr>
          <a:xfrm>
            <a:off x="2347015" y="3090672"/>
            <a:ext cx="248908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reduced-error ">
            <a:extLst>
              <a:ext uri="{C183D7F6-B498-43B3-948B-1728B52AA6E4}">
                <adec:decorative xmlns:adec="http://schemas.microsoft.com/office/drawing/2017/decorative" val="1"/>
              </a:ext>
            </a:extLst>
          </p:cNvPr>
          <p:cNvSpPr/>
          <p:nvPr/>
        </p:nvSpPr>
        <p:spPr>
          <a:xfrm>
            <a:off x="247503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reduced-error "/>
          <p:cNvSpPr txBox="1"/>
          <p:nvPr/>
        </p:nvSpPr>
        <p:spPr>
          <a:xfrm>
            <a:off x="2639623" y="3206496"/>
            <a:ext cx="230620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reduced-error pruning</a:t>
            </a:r>
          </a:p>
        </p:txBody>
      </p:sp>
      <p:sp>
        <p:nvSpPr>
          <p:cNvPr id="46" name="!!term-rule post-prun">
            <a:extLst>
              <a:ext uri="{C183D7F6-B498-43B3-948B-1728B52AA6E4}">
                <adec:decorative xmlns:adec="http://schemas.microsoft.com/office/drawing/2017/decorative" val="1"/>
              </a:ext>
            </a:extLst>
          </p:cNvPr>
          <p:cNvSpPr/>
          <p:nvPr/>
        </p:nvSpPr>
        <p:spPr>
          <a:xfrm>
            <a:off x="4982402" y="3090672"/>
            <a:ext cx="20460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rule post-prun">
            <a:extLst>
              <a:ext uri="{C183D7F6-B498-43B3-948B-1728B52AA6E4}">
                <adec:decorative xmlns:adec="http://schemas.microsoft.com/office/drawing/2017/decorative" val="1"/>
              </a:ext>
            </a:extLst>
          </p:cNvPr>
          <p:cNvSpPr/>
          <p:nvPr/>
        </p:nvSpPr>
        <p:spPr>
          <a:xfrm>
            <a:off x="511041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rule post-prun"/>
          <p:cNvSpPr txBox="1"/>
          <p:nvPr/>
        </p:nvSpPr>
        <p:spPr>
          <a:xfrm>
            <a:off x="5275010" y="3206496"/>
            <a:ext cx="18631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rule post-pruning</a:t>
            </a:r>
          </a:p>
        </p:txBody>
      </p:sp>
      <p:sp>
        <p:nvSpPr>
          <p:cNvPr id="49" name="!!term-cost-complexit">
            <a:extLst>
              <a:ext uri="{C183D7F6-B498-43B3-948B-1728B52AA6E4}">
                <adec:decorative xmlns:adec="http://schemas.microsoft.com/office/drawing/2017/decorative" val="1"/>
              </a:ext>
            </a:extLst>
          </p:cNvPr>
          <p:cNvSpPr/>
          <p:nvPr/>
        </p:nvSpPr>
        <p:spPr>
          <a:xfrm>
            <a:off x="7174772" y="3090672"/>
            <a:ext cx="26639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cost-complexit">
            <a:extLst>
              <a:ext uri="{C183D7F6-B498-43B3-948B-1728B52AA6E4}">
                <adec:decorative xmlns:adec="http://schemas.microsoft.com/office/drawing/2017/decorative" val="1"/>
              </a:ext>
            </a:extLst>
          </p:cNvPr>
          <p:cNvSpPr/>
          <p:nvPr/>
        </p:nvSpPr>
        <p:spPr>
          <a:xfrm>
            <a:off x="730278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cost-complexit"/>
          <p:cNvSpPr txBox="1"/>
          <p:nvPr/>
        </p:nvSpPr>
        <p:spPr>
          <a:xfrm>
            <a:off x="7467380" y="3206496"/>
            <a:ext cx="248104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cost-complexity pruning</a:t>
            </a:r>
          </a:p>
        </p:txBody>
      </p:sp>
      <p:sp>
        <p:nvSpPr>
          <p:cNvPr id="52" name="!!term-Occam’s razor">
            <a:extLst>
              <a:ext uri="{C183D7F6-B498-43B3-948B-1728B52AA6E4}">
                <adec:decorative xmlns:adec="http://schemas.microsoft.com/office/drawing/2017/decorative" val="1"/>
              </a:ext>
            </a:extLst>
          </p:cNvPr>
          <p:cNvSpPr/>
          <p:nvPr/>
        </p:nvSpPr>
        <p:spPr>
          <a:xfrm>
            <a:off x="658368" y="3712464"/>
            <a:ext cx="17274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Occam’s razor">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Occam’s razor"/>
          <p:cNvSpPr txBox="1"/>
          <p:nvPr/>
        </p:nvSpPr>
        <p:spPr>
          <a:xfrm>
            <a:off x="950976" y="3828288"/>
            <a:ext cx="154461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Occam’s razor</a:t>
            </a:r>
          </a:p>
        </p:txBody>
      </p:sp>
      <p:sp>
        <p:nvSpPr>
          <p:cNvPr id="55"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68–74     </a:t>
            </a:r>
            <a:fld id="{07F88F8A-01D6-40B7-9C2C-58F33E392465}" type="slidenum">
              <a:rPr lang="en-GB" sz="1000">
                <a:solidFill>
                  <a:srgbClr val="8795A1"/>
                </a:solidFill>
                <a:latin typeface="Segoe UI"/>
              </a:rPr>
              <a:t>5</a:t>
            </a:fld>
          </a:p>
        </p:txBody>
      </p:sp>
      <p:sp>
        <p:nvSpPr>
          <p:cNvPr id="7" name="!!ag0" descr="Go to section 9.1 Trees as Hypothese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Trees as Hypotheses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68  ›</a:t>
            </a:r>
          </a:p>
        </p:txBody>
      </p:sp>
      <p:sp>
        <p:nvSpPr>
          <p:cNvPr id="12" name="!!ag1" descr="Go to section 9.2 Choosing the Question: Entropy and Information Gain">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 the Question: Entropy and Information Gain</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69  ›</a:t>
            </a:r>
          </a:p>
        </p:txBody>
      </p:sp>
      <p:sp>
        <p:nvSpPr>
          <p:cNvPr id="17" name="!!ag2" descr="Go to section 9.3 Beyond the Basic Algorithm">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Beyond the Basic Algorithm</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70  ›</a:t>
            </a:r>
          </a:p>
        </p:txBody>
      </p:sp>
      <p:sp>
        <p:nvSpPr>
          <p:cNvPr id="22" name="!!ag3" descr="Go to section 9.4 Overfitting, Noisy Data and Prun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Overfitting, Noisy Data and Pruning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71  ›</a:t>
            </a:r>
          </a:p>
        </p:txBody>
      </p:sp>
      <p:sp>
        <p:nvSpPr>
          <p:cNvPr id="27" name="!!ag4" descr="Go to section 9.5 The Inductive Bias of ID3">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Inductive Bias of ID3</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72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tree ID3 learns from the fourteen past sprints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9.1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68     </a:t>
            </a:r>
            <a:fld id="{E40E1BE7-A895-4F21-A1BC-C3D4CE51ACF6}" type="slidenum">
              <a:rPr lang="en-GB" sz="1000">
                <a:solidFill>
                  <a:srgbClr val="8795A1"/>
                </a:solidFill>
                <a:latin typeface="Segoe UI"/>
              </a:rPr>
              <a:t>6</a:t>
            </a:fld>
          </a:p>
        </p:txBody>
      </p:sp>
      <p:pic>
        <p:nvPicPr>
          <p:cNvPr id="6" name="!!figure" descr="Figure 9.1. The tree ID3 learns from the fourteen past sprints. Under each leaf are the training sprints that reach it; every leaf is pure. It is equivalent to the rule: the goal is met if (requirements Changing and load Normal) or requirements Frozen or (requirements Vague and Few dependencie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1259" y="1737360"/>
            <a:ext cx="9109176"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Under each leaf are the training sprints that reach it; every leaf is pure. It is equivalent to the rule: the goal is met if (requirements Changing and load Normal) or requirements Frozen or (requirements Vague and Few dependencies).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Choosing the Question: Entropy and Information Gain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Trees as Hypotheses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9.2   Choosing the Question: Entropy and Information Gain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Beyond the Basic Algorithm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Overfitting, Noisy Data and Pruning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The Inductive Bias of ID3</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§9.2     </a:t>
            </a:r>
            <a:fld id="{3E64EFB8-3567-425F-AD27-4A6C38B31366}"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the Question: Entropy and Information Gain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69     </a:t>
            </a:r>
            <a:fld id="{51555487-F5E8-4BD5-8E94-C2D9CFD1FEC2}" type="slidenum">
              <a:rPr lang="en-GB" sz="1000">
                <a:solidFill>
                  <a:srgbClr val="8795A1"/>
                </a:solidFill>
                <a:latin typeface="Segoe UI"/>
              </a:rPr>
              <a:t>8</a:t>
            </a:fld>
          </a:p>
        </p:txBody>
      </p:sp>
      <p:graphicFrame>
        <p:nvGraphicFramePr>
          <p:cNvPr id="7" name="!!table"/>
          <p:cNvGraphicFramePr>
            <a:graphicFrameLocks noGrp="1"/>
          </p:cNvGraphicFramePr>
          <p:nvPr/>
        </p:nvGraphicFramePr>
        <p:xfrm>
          <a:off x="658368" y="1737360"/>
          <a:ext cx="6150236" cy="4279392"/>
        </p:xfrm>
        <a:graphic>
          <a:graphicData uri="http://schemas.openxmlformats.org/drawingml/2006/table">
            <a:tbl>
              <a:tblPr firstRow="0" bandRow="0" firstCol="0" lastRow="0" lastCol="0" bandCol="0">
                <a:tableStyleId>{2D5ABB26-0587-4C30-8999-92F81FD0307C}</a:tableStyleId>
              </a:tblPr>
              <a:tblGrid>
                <a:gridCol w="700156"/>
                <a:gridCol w="1271347"/>
                <a:gridCol w="998214"/>
                <a:gridCol w="907467"/>
                <a:gridCol w="1274838"/>
                <a:gridCol w="998214"/>
              </a:tblGrid>
              <a:tr h="329184">
                <a:tc>
                  <a:txBody>
                    <a:bodyPr wrap="square"/>
                    <a:lstStyle/>
                    <a:p>
                      <a:pPr algn="l"/>
                      <a:r>
                        <a:rPr sz="1200" b="1" i="0">
                          <a:solidFill>
                            <a:srgbClr val="1A5276"/>
                          </a:solidFill>
                          <a:latin typeface="Segoe UI"/>
                        </a:rPr>
                        <a:t>Sprint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Requirements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Pressure</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Load</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Dependencies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Goal met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29184">
                <a:tc>
                  <a:txBody>
                    <a:bodyPr wrap="square"/>
                    <a:lstStyle/>
                    <a:p>
                      <a:pPr algn="l"/>
                      <a:r>
                        <a:rPr sz="1200" b="0" i="0">
                          <a:solidFill>
                            <a:srgbClr val="1C252B"/>
                          </a:solidFill>
                          <a:latin typeface="Segoe UI"/>
                        </a:rPr>
                        <a:t>S1</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Changing</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Few</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No</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S2</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Changing</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Many</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No</a:t>
                      </a:r>
                      <a:endParaRPr sz="1200"/>
                    </a:p>
                  </a:txBody>
                  <a:tcPr marL="109728" marR="109728" marT="64008" marB="45720" anchor="t">
                    <a:lnL w="0" cmpd="sng">
                      <a:noFill/>
                    </a:lnL>
                    <a:lnR w="0" cmpd="sng">
                      <a:noFill/>
                    </a:lnR>
                    <a:lnT w="9525" cmpd="sng">
                      <a:noFill/>
                    </a:lnT>
                    <a:lnB w="9525" cmpd="sng">
                      <a:noFill/>
                    </a:lnB>
                    <a:solidFill>
                      <a:srgbClr val="F2F8FC"/>
                    </a:solidFill>
                  </a:tcPr>
                </a:tc>
              </a:tr>
              <a:tr h="329184">
                <a:tc>
                  <a:txBody>
                    <a:bodyPr wrap="square"/>
                    <a:lstStyle/>
                    <a:p>
                      <a:pPr algn="l"/>
                      <a:r>
                        <a:rPr sz="1200" b="0" i="0">
                          <a:solidFill>
                            <a:srgbClr val="1C252B"/>
                          </a:solidFill>
                          <a:latin typeface="Segoe UI"/>
                        </a:rPr>
                        <a:t>S3</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Frozen</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Few</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Yes</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S4</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Vague</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Medium</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Few</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Yes</a:t>
                      </a:r>
                      <a:endParaRPr sz="1200"/>
                    </a:p>
                  </a:txBody>
                  <a:tcPr marL="109728" marR="109728" marT="64008" marB="45720" anchor="t">
                    <a:lnL w="0" cmpd="sng">
                      <a:noFill/>
                    </a:lnL>
                    <a:lnR w="0" cmpd="sng">
                      <a:noFill/>
                    </a:lnR>
                    <a:lnT w="9525" cmpd="sng">
                      <a:noFill/>
                    </a:lnT>
                    <a:lnB w="9525" cmpd="sng">
                      <a:noFill/>
                    </a:lnB>
                    <a:solidFill>
                      <a:srgbClr val="F2F8FC"/>
                    </a:solidFill>
                  </a:tcPr>
                </a:tc>
              </a:tr>
              <a:tr h="329184">
                <a:tc>
                  <a:txBody>
                    <a:bodyPr wrap="square"/>
                    <a:lstStyle/>
                    <a:p>
                      <a:pPr algn="l"/>
                      <a:r>
                        <a:rPr sz="1200" b="0" i="0">
                          <a:solidFill>
                            <a:srgbClr val="1C252B"/>
                          </a:solidFill>
                          <a:latin typeface="Segoe UI"/>
                        </a:rPr>
                        <a:t>S5</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Vague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Low</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Normal</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Few</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Yes</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S6</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Vague</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Low</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Normal</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Many</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No</a:t>
                      </a:r>
                      <a:endParaRPr sz="1200"/>
                    </a:p>
                  </a:txBody>
                  <a:tcPr marL="109728" marR="109728" marT="64008" marB="45720" anchor="t">
                    <a:lnL w="0" cmpd="sng">
                      <a:noFill/>
                    </a:lnL>
                    <a:lnR w="0" cmpd="sng">
                      <a:noFill/>
                    </a:lnR>
                    <a:lnT w="9525" cmpd="sng">
                      <a:noFill/>
                    </a:lnT>
                    <a:lnB w="9525" cmpd="sng">
                      <a:noFill/>
                    </a:lnB>
                    <a:solidFill>
                      <a:srgbClr val="F2F8FC"/>
                    </a:solidFill>
                  </a:tcPr>
                </a:tc>
              </a:tr>
              <a:tr h="329184">
                <a:tc>
                  <a:txBody>
                    <a:bodyPr wrap="square"/>
                    <a:lstStyle/>
                    <a:p>
                      <a:pPr algn="l"/>
                      <a:r>
                        <a:rPr sz="1200" b="0" i="0">
                          <a:solidFill>
                            <a:srgbClr val="1C252B"/>
                          </a:solidFill>
                          <a:latin typeface="Segoe UI"/>
                        </a:rPr>
                        <a:t>S7</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Frozen</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Low</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Normal</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Many</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Yes</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S8</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Changing</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Medium</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Few</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No</a:t>
                      </a:r>
                      <a:endParaRPr sz="1200"/>
                    </a:p>
                  </a:txBody>
                  <a:tcPr marL="109728" marR="109728" marT="64008" marB="45720" anchor="t">
                    <a:lnL w="0" cmpd="sng">
                      <a:noFill/>
                    </a:lnL>
                    <a:lnR w="0" cmpd="sng">
                      <a:noFill/>
                    </a:lnR>
                    <a:lnT w="9525" cmpd="sng">
                      <a:noFill/>
                    </a:lnT>
                    <a:lnB w="9525" cmpd="sng">
                      <a:noFill/>
                    </a:lnB>
                    <a:solidFill>
                      <a:srgbClr val="F2F8FC"/>
                    </a:solidFill>
                  </a:tcPr>
                </a:tc>
              </a:tr>
              <a:tr h="329184">
                <a:tc>
                  <a:txBody>
                    <a:bodyPr wrap="square"/>
                    <a:lstStyle/>
                    <a:p>
                      <a:pPr algn="l"/>
                      <a:r>
                        <a:rPr sz="1200" b="0" i="0">
                          <a:solidFill>
                            <a:srgbClr val="1C252B"/>
                          </a:solidFill>
                          <a:latin typeface="Segoe UI"/>
                        </a:rPr>
                        <a:t>S9</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Changing</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Low</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Normal</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Few</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Yes</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S10</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Vague</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Medium</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Normal</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Few</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Yes</a:t>
                      </a:r>
                      <a:endParaRPr sz="1200"/>
                    </a:p>
                  </a:txBody>
                  <a:tcPr marL="109728" marR="109728" marT="64008" marB="45720" anchor="t">
                    <a:lnL w="0" cmpd="sng">
                      <a:noFill/>
                    </a:lnL>
                    <a:lnR w="0" cmpd="sng">
                      <a:noFill/>
                    </a:lnR>
                    <a:lnT w="9525" cmpd="sng">
                      <a:noFill/>
                    </a:lnT>
                    <a:lnB w="9525" cmpd="sng">
                      <a:noFill/>
                    </a:lnB>
                    <a:solidFill>
                      <a:srgbClr val="F2F8FC"/>
                    </a:solidFill>
                  </a:tcPr>
                </a:tc>
              </a:tr>
              <a:tr h="329184">
                <a:tc>
                  <a:txBody>
                    <a:bodyPr wrap="square"/>
                    <a:lstStyle/>
                    <a:p>
                      <a:pPr algn="l"/>
                      <a:r>
                        <a:rPr sz="1200" b="0" i="0">
                          <a:solidFill>
                            <a:srgbClr val="1C252B"/>
                          </a:solidFill>
                          <a:latin typeface="Segoe UI"/>
                        </a:rPr>
                        <a:t>S11</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Changing</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Medium</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Normal</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Many</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Yes</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S12</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Frozen</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Medium</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Many</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Yes</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the Question: Entropy and Information Gain (continued)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69     </a:t>
            </a:r>
            <a:fld id="{C68D3559-04AF-4311-98AE-290E5F79187D}" type="slidenum">
              <a:rPr lang="en-GB" sz="1000">
                <a:solidFill>
                  <a:srgbClr val="8795A1"/>
                </a:solidFill>
                <a:latin typeface="Segoe UI"/>
              </a:rPr>
              <a:t>9</a:t>
            </a:fld>
          </a:p>
        </p:txBody>
      </p:sp>
      <p:graphicFrame>
        <p:nvGraphicFramePr>
          <p:cNvPr id="7" name="!!table"/>
          <p:cNvGraphicFramePr>
            <a:graphicFrameLocks noGrp="1"/>
          </p:cNvGraphicFramePr>
          <p:nvPr/>
        </p:nvGraphicFramePr>
        <p:xfrm>
          <a:off x="658368" y="1737360"/>
          <a:ext cx="6150236" cy="987552"/>
        </p:xfrm>
        <a:graphic>
          <a:graphicData uri="http://schemas.openxmlformats.org/drawingml/2006/table">
            <a:tbl>
              <a:tblPr firstRow="0" bandRow="0" firstCol="0" lastRow="0" lastCol="0" bandCol="0">
                <a:tableStyleId>{2D5ABB26-0587-4C30-8999-92F81FD0307C}</a:tableStyleId>
              </a:tblPr>
              <a:tblGrid>
                <a:gridCol w="700156"/>
                <a:gridCol w="1271347"/>
                <a:gridCol w="998214"/>
                <a:gridCol w="907467"/>
                <a:gridCol w="1274838"/>
                <a:gridCol w="998214"/>
              </a:tblGrid>
              <a:tr h="329184">
                <a:tc>
                  <a:txBody>
                    <a:bodyPr wrap="square"/>
                    <a:lstStyle/>
                    <a:p>
                      <a:pPr algn="l"/>
                      <a:r>
                        <a:rPr sz="1200" b="1" i="0">
                          <a:solidFill>
                            <a:srgbClr val="1A5276"/>
                          </a:solidFill>
                          <a:latin typeface="Segoe UI"/>
                        </a:rPr>
                        <a:t>Sprint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Requirements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Pressure</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Load</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Dependencies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Goal met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29184">
                <a:tc>
                  <a:txBody>
                    <a:bodyPr wrap="square"/>
                    <a:lstStyle/>
                    <a:p>
                      <a:pPr algn="l"/>
                      <a:r>
                        <a:rPr sz="1200" b="0" i="0">
                          <a:solidFill>
                            <a:srgbClr val="1C252B"/>
                          </a:solidFill>
                          <a:latin typeface="Segoe UI"/>
                        </a:rPr>
                        <a:t>S13</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Frozen</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Normal</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Few</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Yes</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S14</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Vague</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Medium</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High</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Many</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200" b="0" i="0">
                          <a:solidFill>
                            <a:srgbClr val="1C252B"/>
                          </a:solidFill>
                          <a:latin typeface="Segoe UI"/>
                        </a:rPr>
                        <a:t>No</a:t>
                      </a:r>
                      <a:endParaRPr sz="12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Information Gain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69     </a:t>
            </a:r>
            <a:fld id="{60990650-F438-44DF-B791-F81C70E7E915}"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07801"/>
          </a:xfrm>
          <a:prstGeom prst="roundRect">
            <a:avLst>
              <a:gd name="adj" fmla="val 276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0780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information gain</a:t>
            </a:r>
            <a:r>
              <a:rPr sz="2300" b="0" i="0">
                <a:solidFill>
                  <a:srgbClr val="1C252B"/>
                </a:solidFill>
                <a:latin typeface="Segoe UI"/>
              </a:rPr>
              <a:t> of attribute </a:t>
            </a:r>
            <a:r>
              <a:rPr sz="2300" b="0" i="1">
                <a:solidFill>
                  <a:srgbClr val="1C252B"/>
                </a:solidFill>
                <a:latin typeface="Cambria"/>
              </a:rPr>
              <a:t>A</a:t>
            </a:r>
            <a:r>
              <a:rPr sz="2300" b="0" i="0">
                <a:solidFill>
                  <a:srgbClr val="1C252B"/>
                </a:solidFill>
                <a:latin typeface="Segoe UI"/>
              </a:rPr>
              <a:t> on example set </a:t>
            </a:r>
            <a:r>
              <a:rPr sz="2300" b="0" i="1">
                <a:solidFill>
                  <a:srgbClr val="1C252B"/>
                </a:solidFill>
                <a:latin typeface="Cambria"/>
              </a:rPr>
              <a:t>S</a:t>
            </a:r>
            <a:r>
              <a:rPr sz="2300" b="0" i="0">
                <a:solidFill>
                  <a:srgbClr val="1C252B"/>
                </a:solidFill>
                <a:latin typeface="Segoe UI"/>
              </a:rPr>
              <a:t> is the expected reduction in entropy from splitting </a:t>
            </a:r>
            <a:r>
              <a:rPr sz="2300" b="0" i="1">
                <a:solidFill>
                  <a:srgbClr val="1C252B"/>
                </a:solidFill>
                <a:latin typeface="Cambria"/>
              </a:rPr>
              <a:t>S</a:t>
            </a:r>
            <a:r>
              <a:rPr sz="2300" b="0" i="0">
                <a:solidFill>
                  <a:srgbClr val="1C252B"/>
                </a:solidFill>
                <a:latin typeface="Segoe UI"/>
              </a:rPr>
              <a:t> on </a:t>
            </a:r>
            <a:r>
              <a:rPr sz="2300" b="0" i="1">
                <a:solidFill>
                  <a:srgbClr val="1C252B"/>
                </a:solidFill>
                <a:latin typeface="Cambria"/>
              </a:rPr>
              <a:t>A</a:t>
            </a:r>
            <a:r>
              <a:rPr sz="2300" b="0" i="0">
                <a:solidFill>
                  <a:srgbClr val="1C252B"/>
                </a:solidFill>
                <a:latin typeface="Segoe UI"/>
              </a:rPr>
              <a:t>:</a:t>
            </a:r>
          </a:p>
        </p:txBody>
      </p:sp>
      <p:pic>
        <p:nvPicPr>
          <p:cNvPr id="10" name="body-1" descr="\text{Gain}(S, A) = \text{Entropy}(S) - \sum_{v \in \text{Values}(A)} \frac{|S_v|}{|S|}\,\text{Entropy}(S_v)"/>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906536"/>
          </a:xfrm>
          <a:prstGeom prst="rect">
            <a:avLst/>
          </a:prstGeom>
        </p:spPr>
      </p:pic>
      <p:sp>
        <p:nvSpPr>
          <p:cNvPr id="11" name="body-2"/>
          <p:cNvSpPr txBox="1"/>
          <p:nvPr/>
        </p:nvSpPr>
        <p:spPr>
          <a:xfrm>
            <a:off x="1060704" y="4005183"/>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where </a:t>
            </a:r>
            <a:r>
              <a:rPr sz="2300" b="0" i="1">
                <a:solidFill>
                  <a:srgbClr val="1C252B"/>
                </a:solidFill>
                <a:latin typeface="Cambria"/>
              </a:rPr>
              <a:t>S</a:t>
            </a:r>
            <a:r>
              <a:rPr sz="2300" b="0" i="1" baseline="-25000">
                <a:solidFill>
                  <a:srgbClr val="1C252B"/>
                </a:solidFill>
                <a:latin typeface="Cambria"/>
              </a:rPr>
              <a:t>v</a:t>
            </a:r>
            <a:r>
              <a:rPr sz="2300" b="0" i="0">
                <a:solidFill>
                  <a:srgbClr val="1C252B"/>
                </a:solidFill>
                <a:latin typeface="Segoe UI"/>
              </a:rPr>
              <a:t> is the subset of </a:t>
            </a:r>
            <a:r>
              <a:rPr sz="2300" b="0" i="1">
                <a:solidFill>
                  <a:srgbClr val="1C252B"/>
                </a:solidFill>
                <a:latin typeface="Cambria"/>
              </a:rPr>
              <a:t>S</a:t>
            </a:r>
            <a:r>
              <a:rPr sz="2300" b="0" i="0">
                <a:solidFill>
                  <a:srgbClr val="1C252B"/>
                </a:solidFill>
                <a:latin typeface="Segoe UI"/>
              </a:rPr>
              <a:t> with </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v</a:t>
            </a:r>
            <a:r>
              <a:rPr sz="2300" b="0" i="0">
                <a:solidFill>
                  <a:srgbClr val="1C252B"/>
                </a:solidFill>
                <a:latin typeface="Segoe UI"/>
              </a:rPr>
              <a:t>. ID3 puts the attribute with the highest gain at the node.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Two impurity measures for a two-class node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9.2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69     </a:t>
            </a:r>
            <a:fld id="{D7D2C9FB-5267-4D32-AB2D-9A57B26B18FC}" type="slidenum">
              <a:rPr lang="en-GB" sz="1000">
                <a:solidFill>
                  <a:srgbClr val="8795A1"/>
                </a:solidFill>
                <a:latin typeface="Segoe UI"/>
              </a:rPr>
              <a:t>11</a:t>
            </a:fld>
          </a:p>
        </p:txBody>
      </p:sp>
      <p:pic>
        <p:nvPicPr>
          <p:cNvPr id="6" name="!!figure" descr="Figure 9.2. Two impurity measures for a two-class node. Both are zero for a pure node and largest for an even split; they almost always pick the same attribut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82919" y="1737360"/>
            <a:ext cx="762585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Both are zero for a pure node and largest for an even split; they almost always pick the same attribute.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ID3’s First Choice on the Sprint Data</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69     </a:t>
            </a:r>
            <a:fld id="{28274FD3-CA32-4B54-9FE8-12092564BBA2}"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03211"/>
          </a:xfrm>
          <a:prstGeom prst="roundRect">
            <a:avLst>
              <a:gd name="adj" fmla="val 203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0321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root.</a:t>
            </a:r>
            <a:r>
              <a:rPr sz="1900" b="0" i="0">
                <a:solidFill>
                  <a:srgbClr val="1C252B"/>
                </a:solidFill>
                <a:latin typeface="Segoe UI"/>
              </a:rPr>
              <a:t> 9 Yes, 5 No: Entropy</a:t>
            </a:r>
            <a:r>
              <a:rPr sz="1900" b="0" i="0">
                <a:solidFill>
                  <a:srgbClr val="1C252B"/>
                </a:solidFill>
                <a:latin typeface="Cambria"/>
              </a:rPr>
              <a:t>(</a:t>
            </a:r>
            <a:r>
              <a:rPr sz="1900" b="0" i="1">
                <a:solidFill>
                  <a:srgbClr val="1C252B"/>
                </a:solidFill>
                <a:latin typeface="Cambria"/>
              </a:rPr>
              <a:t>S</a:t>
            </a:r>
            <a:r>
              <a:rPr sz="1900" b="0" i="0">
                <a:solidFill>
                  <a:srgbClr val="1C252B"/>
                </a:solidFill>
                <a:latin typeface="Cambria"/>
              </a:rPr>
              <a:t>) = 0.940</a:t>
            </a:r>
            <a:r>
              <a:rPr sz="1900" b="0" i="0">
                <a:solidFill>
                  <a:srgbClr val="1C252B"/>
                </a:solidFill>
                <a:latin typeface="Segoe UI"/>
              </a:rPr>
              <a:t> (computed in Chapter 2).</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Requirements</a:t>
            </a:r>
            <a:r>
              <a:rPr sz="1900" b="0" i="0">
                <a:solidFill>
                  <a:srgbClr val="1C252B"/>
                </a:solidFill>
                <a:latin typeface="Segoe UI"/>
              </a:rPr>
              <a:t> splits </a:t>
            </a:r>
            <a:r>
              <a:rPr sz="1900" b="0" i="1">
                <a:solidFill>
                  <a:srgbClr val="1C252B"/>
                </a:solidFill>
                <a:latin typeface="Cambria"/>
              </a:rPr>
              <a:t>S</a:t>
            </a:r>
            <a:r>
              <a:rPr sz="1900" b="0" i="0">
                <a:solidFill>
                  <a:srgbClr val="1C252B"/>
                </a:solidFill>
                <a:latin typeface="Segoe UI"/>
              </a:rPr>
              <a:t> into Changing (2 Yes, 3 No: entropy 0.971), Frozen (4, 0: entropy 0) and Vague (3, 2: entropy 0.971):</a:t>
            </a:r>
          </a:p>
        </p:txBody>
      </p:sp>
      <p:pic>
        <p:nvPicPr>
          <p:cNvPr id="11" name="body-2" descr="\text{Gain}(S, \text{Requirements}) = 0.940 - \tfrac{5}{14}(0.971) - \tfrac{4}{14}(0) - \tfrac{5}{14}(0.971) = \mathbf{0.24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180537"/>
            <a:ext cx="10234879" cy="409651"/>
          </a:xfrm>
          <a:prstGeom prst="rect">
            <a:avLst/>
          </a:prstGeom>
        </p:spPr>
      </p:pic>
      <p:sp>
        <p:nvSpPr>
          <p:cNvPr id="12" name="body-3"/>
          <p:cNvSpPr txBox="1"/>
          <p:nvPr/>
        </p:nvSpPr>
        <p:spPr>
          <a:xfrm>
            <a:off x="1042416" y="3722903"/>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Load</a:t>
            </a:r>
            <a:r>
              <a:rPr sz="1900" b="0" i="0">
                <a:solidFill>
                  <a:srgbClr val="1C252B"/>
                </a:solidFill>
                <a:latin typeface="Segoe UI"/>
              </a:rPr>
              <a:t>: High (3, 4: 0.985), Normal (6, 1: 0.592):</a:t>
            </a:r>
          </a:p>
        </p:txBody>
      </p:sp>
      <p:sp>
        <p:nvSpPr>
          <p:cNvPr id="13" name="body-3bar">
            <a:extLst>
              <a:ext uri="{C183D7F6-B498-43B3-948B-1728B52AA6E4}">
                <adec:decorative xmlns:adec="http://schemas.microsoft.com/office/drawing/2017/decorative" val="1"/>
              </a:ext>
            </a:extLst>
          </p:cNvPr>
          <p:cNvSpPr/>
          <p:nvPr/>
        </p:nvSpPr>
        <p:spPr>
          <a:xfrm>
            <a:off x="841248" y="3741191"/>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 name="body-4" descr="\text{Gain}(S, \text{Load}) = 0.940 - \tfrac{7}{14}(0.985) - \tfrac{7}{14}(0.592) = \mathbf{0.15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156760"/>
            <a:ext cx="10234879" cy="403799"/>
          </a:xfrm>
          <a:prstGeom prst="rect">
            <a:avLst/>
          </a:prstGeom>
        </p:spPr>
      </p:pic>
      <p:sp>
        <p:nvSpPr>
          <p:cNvPr id="15" name="body-5"/>
          <p:cNvSpPr txBox="1"/>
          <p:nvPr/>
        </p:nvSpPr>
        <p:spPr>
          <a:xfrm>
            <a:off x="1042416" y="469327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Dependencies</a:t>
            </a:r>
            <a:r>
              <a:rPr sz="1900" b="0" i="0">
                <a:solidFill>
                  <a:srgbClr val="1C252B"/>
                </a:solidFill>
                <a:latin typeface="Segoe UI"/>
              </a:rPr>
              <a:t>: Few (6, 2: 0.811), Many (3, 3: 1.000):</a:t>
            </a:r>
          </a:p>
        </p:txBody>
      </p:sp>
      <p:sp>
        <p:nvSpPr>
          <p:cNvPr id="16" name="body-5bar">
            <a:extLst>
              <a:ext uri="{C183D7F6-B498-43B3-948B-1728B52AA6E4}">
                <adec:decorative xmlns:adec="http://schemas.microsoft.com/office/drawing/2017/decorative" val="1"/>
              </a:ext>
            </a:extLst>
          </p:cNvPr>
          <p:cNvSpPr/>
          <p:nvPr/>
        </p:nvSpPr>
        <p:spPr>
          <a:xfrm>
            <a:off x="841248" y="4711562"/>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7" name="body-6" descr="\text{Gain}(S, \text{Dependencies}) = 0.940 - \tfrac{8}{14}(0.811) - \tfrac{6}{14}(1.000) = \mathbf{0.048}"/>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5127132"/>
            <a:ext cx="10234879" cy="405262"/>
          </a:xfrm>
          <a:prstGeom prst="rect">
            <a:avLst/>
          </a:prstGeom>
        </p:spPr>
      </p:pic>
      <p:sp>
        <p:nvSpPr>
          <p:cNvPr id="18" name="body-7"/>
          <p:cNvSpPr txBox="1"/>
          <p:nvPr/>
        </p:nvSpPr>
        <p:spPr>
          <a:xfrm>
            <a:off x="1042416" y="566510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Pressure</a:t>
            </a:r>
            <a:r>
              <a:rPr sz="1900" b="0" i="0">
                <a:solidFill>
                  <a:srgbClr val="1C252B"/>
                </a:solidFill>
                <a:latin typeface="Segoe UI"/>
              </a:rPr>
              <a:t>: Gain</a:t>
            </a:r>
            <a:r>
              <a:rPr sz="1900" b="0" i="0">
                <a:solidFill>
                  <a:srgbClr val="1C252B"/>
                </a:solidFill>
                <a:latin typeface="Cambria"/>
              </a:rPr>
              <a:t> = </a:t>
            </a:r>
            <a:r>
              <a:rPr sz="1900" b="1" i="0">
                <a:solidFill>
                  <a:srgbClr val="1C252B"/>
                </a:solidFill>
                <a:latin typeface="Cambria"/>
              </a:rPr>
              <a:t>0.029</a:t>
            </a:r>
            <a:r>
              <a:rPr sz="1900" b="0" i="0">
                <a:solidFill>
                  <a:srgbClr val="1C252B"/>
                </a:solidFill>
                <a:latin typeface="Segoe UI"/>
              </a:rPr>
              <a:t> (check it yourself).</a:t>
            </a:r>
          </a:p>
        </p:txBody>
      </p:sp>
      <p:sp>
        <p:nvSpPr>
          <p:cNvPr id="19" name="body-7bar">
            <a:extLst>
              <a:ext uri="{C183D7F6-B498-43B3-948B-1728B52AA6E4}">
                <adec:decorative xmlns:adec="http://schemas.microsoft.com/office/drawing/2017/decorative" val="1"/>
              </a:ext>
            </a:extLst>
          </p:cNvPr>
          <p:cNvSpPr/>
          <p:nvPr/>
        </p:nvSpPr>
        <p:spPr>
          <a:xfrm>
            <a:off x="841248" y="568339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right)">
                                      <p:cBhvr>
                                        <p:cTn id="31" dur="42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2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42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right)">
                                      <p:cBhvr>
                                        <p:cTn id="44" dur="42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ID3’s First Choice on the Sprint Data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69     </a:t>
            </a:r>
            <a:fld id="{84CFE209-E4ED-43A9-9A0B-FEF5358B3742}"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88209"/>
          </a:xfrm>
          <a:prstGeom prst="roundRect">
            <a:avLst>
              <a:gd name="adj" fmla="val 36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88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Requirements wins</a:t>
            </a:r>
            <a:r>
              <a:rPr sz="1900" b="0" i="0">
                <a:solidFill>
                  <a:srgbClr val="1C252B"/>
                </a:solidFill>
                <a:latin typeface="Segoe UI"/>
              </a:rPr>
              <a:t> and goes at the root. Its Frozen branch is already pure, so it becomes a Yes leaf.</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746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Changing branch</a:t>
            </a:r>
            <a:r>
              <a:rPr sz="1900" b="0" i="0">
                <a:solidFill>
                  <a:srgbClr val="1C252B"/>
                </a:solidFill>
                <a:latin typeface="Segoe UI"/>
              </a:rPr>
              <a:t> (S1, S2, S8, S9, S11; entropy 0.971) is split the same way, using only those five sprints: Gain(Load) </a:t>
            </a:r>
            <a:r>
              <a:rPr sz="1900" b="0" i="0">
                <a:solidFill>
                  <a:srgbClr val="1C252B"/>
                </a:solidFill>
                <a:latin typeface="Cambria"/>
              </a:rPr>
              <a:t>= 0.971</a:t>
            </a:r>
            <a:r>
              <a:rPr sz="1900" b="0" i="0">
                <a:solidFill>
                  <a:srgbClr val="1C252B"/>
                </a:solidFill>
                <a:latin typeface="Segoe UI"/>
              </a:rPr>
              <a:t>, Gain(Pressure) </a:t>
            </a:r>
            <a:r>
              <a:rPr sz="1900" b="0" i="0">
                <a:solidFill>
                  <a:srgbClr val="1C252B"/>
                </a:solidFill>
                <a:latin typeface="Cambria"/>
              </a:rPr>
              <a:t>= 0.571</a:t>
            </a:r>
            <a:r>
              <a:rPr sz="1900" b="0" i="0">
                <a:solidFill>
                  <a:srgbClr val="1C252B"/>
                </a:solidFill>
                <a:latin typeface="Segoe UI"/>
              </a:rPr>
              <a:t>, Gain(Dependencies) </a:t>
            </a:r>
            <a:r>
              <a:rPr sz="1900" b="0" i="0">
                <a:solidFill>
                  <a:srgbClr val="1C252B"/>
                </a:solidFill>
                <a:latin typeface="Cambria"/>
              </a:rPr>
              <a:t>= 0.020</a:t>
            </a:r>
            <a:r>
              <a:rPr sz="1900" b="0" i="0">
                <a:solidFill>
                  <a:srgbClr val="1C252B"/>
                </a:solidFill>
                <a:latin typeface="Segoe UI"/>
              </a:rPr>
              <a:t>. Load separates them perfectly. On the Vague branch Dependencies does the same. Every leaf is now pure, and ID3 stops with the tree of Figure 9.1.</a:t>
            </a:r>
          </a:p>
        </p:txBody>
      </p:sp>
      <p:sp>
        <p:nvSpPr>
          <p:cNvPr id="12" name="body-1bar">
            <a:extLst>
              <a:ext uri="{C183D7F6-B498-43B3-948B-1728B52AA6E4}">
                <adec:decorative xmlns:adec="http://schemas.microsoft.com/office/drawing/2017/decorative" val="1"/>
              </a:ext>
            </a:extLst>
          </p:cNvPr>
          <p:cNvSpPr/>
          <p:nvPr/>
        </p:nvSpPr>
        <p:spPr>
          <a:xfrm>
            <a:off x="841248" y="2764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a Threshold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70     </a:t>
            </a:r>
            <a:fld id="{9E27A42B-1E9C-4B68-A5CB-77062E85F704}"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30929"/>
          </a:xfrm>
          <a:prstGeom prst="roundRect">
            <a:avLst>
              <a:gd name="adj" fmla="val 232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3092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Six sprints in which </a:t>
            </a:r>
            <a:r>
              <a:rPr sz="2100" b="0" i="0">
                <a:solidFill>
                  <a:srgbClr val="1C252B"/>
                </a:solidFill>
                <a:latin typeface="Cambria"/>
              </a:rPr>
              <a:t>40, 48, 60, 72, 80, 90</a:t>
            </a:r>
            <a:r>
              <a:rPr sz="2100" b="0" i="0">
                <a:solidFill>
                  <a:srgbClr val="1C252B"/>
                </a:solidFill>
                <a:latin typeface="Segoe UI"/>
              </a:rPr>
              <a:t> per cent of the stories had been refined (given acceptance criteria) before the sprint began, and the goal was met No, No, Yes, Yes, Yes, No. The class changes between 48 and 60 and between 80 and 90, so the candidates are </a:t>
            </a:r>
            <a:r>
              <a:rPr sz="2100" b="0" i="1">
                <a:solidFill>
                  <a:srgbClr val="1C252B"/>
                </a:solidFill>
                <a:latin typeface="Cambria"/>
              </a:rPr>
              <a:t>t</a:t>
            </a:r>
            <a:r>
              <a:rPr sz="2100" b="0" i="0">
                <a:solidFill>
                  <a:srgbClr val="1C252B"/>
                </a:solidFill>
                <a:latin typeface="Cambria"/>
              </a:rPr>
              <a:t> = 54</a:t>
            </a:r>
            <a:r>
              <a:rPr sz="2100" b="0" i="0">
                <a:solidFill>
                  <a:srgbClr val="1C252B"/>
                </a:solidFill>
                <a:latin typeface="Segoe UI"/>
              </a:rPr>
              <a:t> and </a:t>
            </a:r>
            <a:r>
              <a:rPr sz="2100" b="0" i="1">
                <a:solidFill>
                  <a:srgbClr val="1C252B"/>
                </a:solidFill>
                <a:latin typeface="Cambria"/>
              </a:rPr>
              <a:t>t</a:t>
            </a:r>
            <a:r>
              <a:rPr sz="2100" b="0" i="0">
                <a:solidFill>
                  <a:srgbClr val="1C252B"/>
                </a:solidFill>
                <a:latin typeface="Cambria"/>
              </a:rPr>
              <a:t> = 85</a:t>
            </a:r>
            <a:r>
              <a:rPr sz="2100" b="0" i="0">
                <a:solidFill>
                  <a:srgbClr val="1C252B"/>
                </a:solidFill>
                <a:latin typeface="Segoe UI"/>
              </a:rPr>
              <a:t>. The set has 3 Yes and 3 No: entropy 1.</a:t>
            </a:r>
          </a:p>
        </p:txBody>
      </p:sp>
      <p:sp>
        <p:nvSpPr>
          <p:cNvPr id="10" name="body-1"/>
          <p:cNvSpPr txBox="1"/>
          <p:nvPr/>
        </p:nvSpPr>
        <p:spPr>
          <a:xfrm>
            <a:off x="1042416" y="3489731"/>
            <a:ext cx="10234879" cy="1470431"/>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7D6608"/>
                </a:solidFill>
                <a:latin typeface="Segoe UI"/>
              </a:rPr>
              <a:t>•	</a:t>
            </a:r>
            <a:r>
              <a:rPr sz="2100" b="0" i="1">
                <a:solidFill>
                  <a:srgbClr val="1C252B"/>
                </a:solidFill>
                <a:latin typeface="Cambria"/>
              </a:rPr>
              <a:t>t</a:t>
            </a:r>
            <a:r>
              <a:rPr sz="2100" b="0" i="0">
                <a:solidFill>
                  <a:srgbClr val="1C252B"/>
                </a:solidFill>
                <a:latin typeface="Cambria"/>
              </a:rPr>
              <a:t> = 54</a:t>
            </a:r>
            <a:r>
              <a:rPr sz="2100" b="0" i="0">
                <a:solidFill>
                  <a:srgbClr val="1C252B"/>
                </a:solidFill>
                <a:latin typeface="Segoe UI"/>
              </a:rPr>
              <a:t>: </a:t>
            </a:r>
            <a:r>
              <a:rPr sz="2100" b="0" i="0">
                <a:solidFill>
                  <a:srgbClr val="1C252B"/>
                </a:solidFill>
                <a:latin typeface="Cambria"/>
              </a:rPr>
              <a:t>≤ 54</a:t>
            </a:r>
            <a:r>
              <a:rPr sz="2100" b="0" i="0">
                <a:solidFill>
                  <a:srgbClr val="1C252B"/>
                </a:solidFill>
                <a:latin typeface="Segoe UI"/>
              </a:rPr>
              <a:t> holds {No, No} (entropy 0); </a:t>
            </a:r>
            <a:r>
              <a:rPr sz="2100" b="0" i="0">
                <a:solidFill>
                  <a:srgbClr val="1C252B"/>
                </a:solidFill>
                <a:latin typeface="Cambria"/>
              </a:rPr>
              <a:t>&gt; 54</a:t>
            </a:r>
            <a:r>
              <a:rPr sz="2100" b="0" i="0">
                <a:solidFill>
                  <a:srgbClr val="1C252B"/>
                </a:solidFill>
                <a:latin typeface="Segoe UI"/>
              </a:rPr>
              <a:t> holds 3 Yes, 1 No (entropy 0.811). Gain </a:t>
            </a:r>
            <a:r>
              <a:rPr sz="2100" b="0" i="0">
                <a:solidFill>
                  <a:srgbClr val="1C252B"/>
                </a:solidFill>
                <a:latin typeface="Cambria"/>
              </a:rPr>
              <a:t>= 1 − 4/6(0.811) = </a:t>
            </a:r>
            <a:r>
              <a:rPr sz="2100" b="1" i="0">
                <a:solidFill>
                  <a:srgbClr val="1C252B"/>
                </a:solidFill>
                <a:latin typeface="Cambria"/>
              </a:rPr>
              <a:t>0.459</a:t>
            </a:r>
            <a:r>
              <a:rPr sz="2100" b="0" i="0">
                <a:solidFill>
                  <a:srgbClr val="1C252B"/>
                </a:solidFill>
                <a:latin typeface="Segoe UI"/>
              </a:rPr>
              <a:t>.</a:t>
            </a:r>
          </a:p>
          <a:p>
            <a:pPr algn="l" marL="234813" indent="-234813">
              <a:lnSpc>
                <a:spcPct val="104000"/>
              </a:lnSpc>
              <a:spcBef>
                <a:spcPts val="0"/>
              </a:spcBef>
              <a:spcAft>
                <a:spcPts val="0"/>
              </a:spcAft>
            </a:pPr>
            <a:r>
              <a:rPr sz="2100" b="1">
                <a:solidFill>
                  <a:srgbClr val="7D6608"/>
                </a:solidFill>
                <a:latin typeface="Segoe UI"/>
              </a:rPr>
              <a:t>•	</a:t>
            </a:r>
            <a:r>
              <a:rPr sz="2100" b="0" i="1">
                <a:solidFill>
                  <a:srgbClr val="1C252B"/>
                </a:solidFill>
                <a:latin typeface="Cambria"/>
              </a:rPr>
              <a:t>t</a:t>
            </a:r>
            <a:r>
              <a:rPr sz="2100" b="0" i="0">
                <a:solidFill>
                  <a:srgbClr val="1C252B"/>
                </a:solidFill>
                <a:latin typeface="Cambria"/>
              </a:rPr>
              <a:t> = 85</a:t>
            </a:r>
            <a:r>
              <a:rPr sz="2100" b="0" i="0">
                <a:solidFill>
                  <a:srgbClr val="1C252B"/>
                </a:solidFill>
                <a:latin typeface="Segoe UI"/>
              </a:rPr>
              <a:t>: </a:t>
            </a:r>
            <a:r>
              <a:rPr sz="2100" b="0" i="0">
                <a:solidFill>
                  <a:srgbClr val="1C252B"/>
                </a:solidFill>
                <a:latin typeface="Cambria"/>
              </a:rPr>
              <a:t>≤ 85</a:t>
            </a:r>
            <a:r>
              <a:rPr sz="2100" b="0" i="0">
                <a:solidFill>
                  <a:srgbClr val="1C252B"/>
                </a:solidFill>
                <a:latin typeface="Segoe UI"/>
              </a:rPr>
              <a:t> holds 3 Yes, 2 No (0.971); </a:t>
            </a:r>
            <a:r>
              <a:rPr sz="2100" b="0" i="0">
                <a:solidFill>
                  <a:srgbClr val="1C252B"/>
                </a:solidFill>
                <a:latin typeface="Cambria"/>
              </a:rPr>
              <a:t>&gt; 85</a:t>
            </a:r>
            <a:r>
              <a:rPr sz="2100" b="0" i="0">
                <a:solidFill>
                  <a:srgbClr val="1C252B"/>
                </a:solidFill>
                <a:latin typeface="Segoe UI"/>
              </a:rPr>
              <a:t> holds {No} (0). Gain </a:t>
            </a:r>
            <a:r>
              <a:rPr sz="2100" b="0" i="0">
                <a:solidFill>
                  <a:srgbClr val="1C252B"/>
                </a:solidFill>
                <a:latin typeface="Cambria"/>
              </a:rPr>
              <a:t>= 1 − 5/6(0.971) = </a:t>
            </a:r>
            <a:r>
              <a:rPr sz="2100" b="1" i="0">
                <a:solidFill>
                  <a:srgbClr val="1C252B"/>
                </a:solidFill>
                <a:latin typeface="Cambria"/>
              </a:rPr>
              <a:t>0.191</a:t>
            </a:r>
            <a:r>
              <a:rPr sz="2100" b="0" i="0">
                <a:solidFill>
                  <a:srgbClr val="1C252B"/>
                </a:solidFill>
                <a:latin typeface="Segoe UI"/>
              </a:rPr>
              <a:t>.</a:t>
            </a:r>
          </a:p>
        </p:txBody>
      </p:sp>
      <p:sp>
        <p:nvSpPr>
          <p:cNvPr id="11" name="body-2"/>
          <p:cNvSpPr txBox="1"/>
          <p:nvPr/>
        </p:nvSpPr>
        <p:spPr>
          <a:xfrm>
            <a:off x="1042416" y="5061127"/>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test Refined </a:t>
            </a:r>
            <a:r>
              <a:rPr sz="2100" b="0" i="0">
                <a:solidFill>
                  <a:srgbClr val="1C252B"/>
                </a:solidFill>
                <a:latin typeface="Cambria"/>
              </a:rPr>
              <a:t>≤ 54</a:t>
            </a:r>
            <a:r>
              <a:rPr sz="2100" b="0" i="0">
                <a:solidFill>
                  <a:srgbClr val="1C252B"/>
                </a:solidFill>
                <a:latin typeface="Segoe UI"/>
              </a:rPr>
              <a:t> is chosen.</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Beyond the Basic Algorithm</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70     </a:t>
            </a:r>
            <a:fld id="{9F0462D5-25B9-4DA8-AE55-C0ABA7EC1504}"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75111"/>
          </a:xfrm>
          <a:prstGeom prst="roundRect">
            <a:avLst>
              <a:gd name="adj" fmla="val 263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75111"/>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Attributes with many values.</a:t>
            </a:r>
            <a:r>
              <a:rPr sz="2300" b="0" i="0">
                <a:solidFill>
                  <a:srgbClr val="1C252B"/>
                </a:solidFill>
                <a:latin typeface="Segoe UI"/>
              </a:rPr>
              <a:t> Information gain favours attributes with many values. An attribute such as </a:t>
            </a:r>
            <a:r>
              <a:rPr sz="2300" b="0" i="1">
                <a:solidFill>
                  <a:srgbClr val="1C252B"/>
                </a:solidFill>
                <a:latin typeface="Segoe UI"/>
              </a:rPr>
              <a:t>SprintID</a:t>
            </a:r>
            <a:r>
              <a:rPr sz="2300" b="0" i="0">
                <a:solidFill>
                  <a:srgbClr val="1C252B"/>
                </a:solidFill>
                <a:latin typeface="Segoe UI"/>
              </a:rPr>
              <a:t> splits the training sprints into fourteen pure singletons — maximal gain, zero use. C4.5 corrects this with the </a:t>
            </a:r>
            <a:r>
              <a:rPr sz="2300" b="1" i="0">
                <a:solidFill>
                  <a:srgbClr val="1A5276"/>
                </a:solidFill>
                <a:latin typeface="Segoe UI"/>
              </a:rPr>
              <a:t>gain ratio</a:t>
            </a:r>
            <a:r>
              <a:rPr sz="2300" b="0" i="0">
                <a:solidFill>
                  <a:srgbClr val="1C252B"/>
                </a:solidFill>
                <a:latin typeface="Segoe UI"/>
              </a:rPr>
              <a:t>, dividing the gain by the </a:t>
            </a:r>
            <a:r>
              <a:rPr sz="2300" b="1" i="0">
                <a:solidFill>
                  <a:srgbClr val="1A5276"/>
                </a:solidFill>
                <a:latin typeface="Segoe UI"/>
              </a:rPr>
              <a:t>split information</a:t>
            </a:r>
            <a:r>
              <a:rPr sz="2300" b="0" i="0">
                <a:solidFill>
                  <a:srgbClr val="1C252B"/>
                </a:solidFill>
                <a:latin typeface="Segoe UI"/>
              </a:rPr>
              <a:t>, the entropy of the split itself:</a:t>
            </a:r>
          </a:p>
        </p:txBody>
      </p:sp>
      <p:pic>
        <p:nvPicPr>
          <p:cNvPr id="10" name="body-1" descr="\text{SplitInfo}(S, A) = -\sum_{v} \frac{|S_v|}{|S|}\log_2 \frac{|S_v|}{|S|}, \qquad \text{GainRatio}(S, A) = \frac{\text{Gain}(S, A)}{\text{SplitInfo}(S, A)}"/>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4031615"/>
            <a:ext cx="10161727" cy="869960"/>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Beyond the Basic Algorithm</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70     </a:t>
            </a:r>
            <a:fld id="{55FAF87A-FD2A-4A3A-A92A-6F005FE7FAA2}"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1062"/>
          </a:xfrm>
          <a:prstGeom prst="roundRect">
            <a:avLst>
              <a:gd name="adj" fmla="val 2745"/>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10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Requirements (5, 4, 5 sprints) SplitInfo </a:t>
            </a:r>
            <a:r>
              <a:rPr sz="2300" b="0" i="0">
                <a:solidFill>
                  <a:srgbClr val="1C252B"/>
                </a:solidFill>
                <a:latin typeface="Cambria"/>
              </a:rPr>
              <a:t>= 1.577</a:t>
            </a:r>
            <a:r>
              <a:rPr sz="2300" b="0" i="0">
                <a:solidFill>
                  <a:srgbClr val="1C252B"/>
                </a:solidFill>
                <a:latin typeface="Segoe UI"/>
              </a:rPr>
              <a:t> and the gain ratio is </a:t>
            </a:r>
            <a:r>
              <a:rPr sz="2300" b="0" i="0">
                <a:solidFill>
                  <a:srgbClr val="1C252B"/>
                </a:solidFill>
                <a:latin typeface="Cambria"/>
              </a:rPr>
              <a:t>0.246/1.577 = 0.156</a:t>
            </a:r>
            <a:r>
              <a:rPr sz="2300" b="0" i="0">
                <a:solidFill>
                  <a:srgbClr val="1C252B"/>
                </a:solidFill>
                <a:latin typeface="Segoe UI"/>
              </a:rPr>
              <a:t>. For SprintID, SplitInfo </a:t>
            </a:r>
            <a:r>
              <a:rPr sz="2300" b="0" i="0">
                <a:solidFill>
                  <a:srgbClr val="1C252B"/>
                </a:solidFill>
                <a:latin typeface="Cambria"/>
              </a:rPr>
              <a:t>= log</a:t>
            </a:r>
            <a:r>
              <a:rPr sz="2300" b="0" i="0" baseline="-25000">
                <a:solidFill>
                  <a:srgbClr val="1C252B"/>
                </a:solidFill>
                <a:latin typeface="Cambria"/>
              </a:rPr>
              <a:t>2</a:t>
            </a:r>
            <a:r>
              <a:rPr sz="2300" b="0" i="0">
                <a:solidFill>
                  <a:srgbClr val="1C252B"/>
                </a:solidFill>
                <a:latin typeface="Cambria"/>
              </a:rPr>
              <a:t> 14 = 3.81</a:t>
            </a:r>
            <a:r>
              <a:rPr sz="2300" b="0" i="0">
                <a:solidFill>
                  <a:srgbClr val="1C252B"/>
                </a:solidFill>
                <a:latin typeface="Segoe UI"/>
              </a:rPr>
              <a:t>, which heavily discounts its gain.</a:t>
            </a:r>
          </a:p>
        </p:txBody>
      </p:sp>
      <p:pic>
        <p:nvPicPr>
          <p:cNvPr id="10" name="body-1" descr="The Gini index. CART, and scikit-learn by default, uses Gini(S) = 1 − Σi pi2 instead of entropy. At the root of the sprint data it is 1 − (9/14)2 − (5/14)2 = 0.459, falling to 0.343 after splitting on Requirements. Figure 9.2 shows why the choice rarely matters: the two curves have the same shap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02533"/>
            <a:ext cx="10161727" cy="1454993"/>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Overfitting, Noisy Data and Pruning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Trees as Hypotheses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Choosing the Question: Entropy and Information Gain</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Beyond the Basic Algorithm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9.4   Overfitting, Noisy Data and Pruning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The Inductive Bias of ID3</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§9.4     </a:t>
            </a:r>
            <a:fld id="{DD02E65C-514C-4CAB-A089-60AC6291D3E3}" type="slidenum">
              <a:rPr lang="en-GB" sz="1000">
                <a:solidFill>
                  <a:srgbClr val="8795A1"/>
                </a:solidFill>
                <a:latin typeface="Segoe UI"/>
              </a:rPr>
              <a:t>17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Accuracy against tree size on data with 15% label noise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9.3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71     </a:t>
            </a:r>
            <a:fld id="{DC57EB6E-1413-49C7-BEAE-2E40F386F0A0}" type="slidenum">
              <a:rPr lang="en-GB" sz="1000">
                <a:solidFill>
                  <a:srgbClr val="8795A1"/>
                </a:solidFill>
                <a:latin typeface="Segoe UI"/>
              </a:rPr>
              <a:t>18</a:t>
            </a:fld>
          </a:p>
        </p:txBody>
      </p:sp>
      <p:pic>
        <p:nvPicPr>
          <p:cNvPr id="6" name="!!figure" descr="Figure 9.3. Accuracy against tree size on data with 15% label noise. Training accuracy climbs to 100% as the tree memorises the noise; test accuracy peaks early and then decline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17662" y="1737360"/>
            <a:ext cx="755636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Training accuracy climbs to 100% as the tree memorises the noise; test accuracy peaks early and then declines.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Pruning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71     </a:t>
            </a:r>
            <a:fld id="{39A2FFB0-CE00-435E-AEF0-5A00C795EA47}"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09212"/>
          </a:xfrm>
          <a:prstGeom prst="roundRect">
            <a:avLst>
              <a:gd name="adj" fmla="val 222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0921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Pre-pruning</a:t>
            </a:r>
            <a:r>
              <a:rPr sz="2000" b="0" i="0">
                <a:solidFill>
                  <a:srgbClr val="1C252B"/>
                </a:solidFill>
                <a:latin typeface="Segoe UI"/>
              </a:rPr>
              <a:t> stops growth early: a maximum depth, a minimum number of examples per leaf, or a minimum gain. </a:t>
            </a:r>
            <a:r>
              <a:rPr sz="2000" b="1" i="0">
                <a:solidFill>
                  <a:srgbClr val="1A5276"/>
                </a:solidFill>
                <a:latin typeface="Segoe UI"/>
              </a:rPr>
              <a:t>Post-pruning</a:t>
            </a:r>
            <a:r>
              <a:rPr sz="2000" b="0" i="0">
                <a:solidFill>
                  <a:srgbClr val="1C252B"/>
                </a:solidFill>
                <a:latin typeface="Segoe UI"/>
              </a:rPr>
              <a:t> grows the full tree and then cuts it back:</a:t>
            </a:r>
          </a:p>
        </p:txBody>
      </p:sp>
      <p:sp>
        <p:nvSpPr>
          <p:cNvPr id="10" name="body-1"/>
          <p:cNvSpPr txBox="1"/>
          <p:nvPr/>
        </p:nvSpPr>
        <p:spPr>
          <a:xfrm>
            <a:off x="1060704" y="2821939"/>
            <a:ext cx="10161727" cy="2759456"/>
          </a:xfrm>
          <a:prstGeom prst="rect">
            <a:avLst/>
          </a:prstGeom>
          <a:noFill/>
        </p:spPr>
        <p:txBody>
          <a:bodyPr wrap="square" anchor="t" lIns="0" rIns="0" tIns="0" bIns="0">
            <a:noAutofit/>
          </a:bodyPr>
          <a:lstStyle/>
          <a:p>
            <a:pPr algn="l" marL="223631" indent="-223631">
              <a:lnSpc>
                <a:spcPct val="104000"/>
              </a:lnSpc>
              <a:spcBef>
                <a:spcPts val="0"/>
              </a:spcBef>
              <a:spcAft>
                <a:spcPts val="700"/>
              </a:spcAft>
            </a:pPr>
            <a:r>
              <a:rPr sz="2000" b="1">
                <a:solidFill>
                  <a:srgbClr val="8A4500"/>
                </a:solidFill>
                <a:latin typeface="Segoe UI"/>
              </a:rPr>
              <a:t>•	</a:t>
            </a:r>
            <a:r>
              <a:rPr sz="2000" b="1" i="0">
                <a:solidFill>
                  <a:srgbClr val="1A5276"/>
                </a:solidFill>
                <a:latin typeface="Segoe UI"/>
              </a:rPr>
              <a:t>Reduced-error pruning</a:t>
            </a:r>
            <a:r>
              <a:rPr sz="2000" b="0" i="0">
                <a:solidFill>
                  <a:srgbClr val="1C252B"/>
                </a:solidFill>
                <a:latin typeface="Segoe UI"/>
              </a:rPr>
              <a:t>: using a separate validation set, repeatedly replace the subtree whose removal most improves validation accuracy by a leaf labelled with its majority class; stop when every removal hurts.</a:t>
            </a:r>
          </a:p>
          <a:p>
            <a:pPr algn="l" marL="223631" indent="-223631">
              <a:lnSpc>
                <a:spcPct val="104000"/>
              </a:lnSpc>
              <a:spcBef>
                <a:spcPts val="0"/>
              </a:spcBef>
              <a:spcAft>
                <a:spcPts val="700"/>
              </a:spcAft>
            </a:pPr>
            <a:r>
              <a:rPr sz="2000" b="1">
                <a:solidFill>
                  <a:srgbClr val="8A4500"/>
                </a:solidFill>
                <a:latin typeface="Segoe UI"/>
              </a:rPr>
              <a:t>•	</a:t>
            </a:r>
            <a:r>
              <a:rPr sz="2000" b="1" i="0">
                <a:solidFill>
                  <a:srgbClr val="1A5276"/>
                </a:solidFill>
                <a:latin typeface="Segoe UI"/>
              </a:rPr>
              <a:t>Rule post-pruning</a:t>
            </a:r>
            <a:r>
              <a:rPr sz="2000" b="0" i="0">
                <a:solidFill>
                  <a:srgbClr val="1C252B"/>
                </a:solidFill>
                <a:latin typeface="Segoe UI"/>
              </a:rPr>
              <a:t> (C4.5): convert the tree into one rule per root-to-leaf path, drop any precondition whose removal does not hurt the rule’s estimated accuracy, and sort the rules by accuracy.</a:t>
            </a:r>
          </a:p>
          <a:p>
            <a:pPr algn="l" marL="223631" indent="-223631">
              <a:lnSpc>
                <a:spcPct val="104000"/>
              </a:lnSpc>
              <a:spcBef>
                <a:spcPts val="0"/>
              </a:spcBef>
              <a:spcAft>
                <a:spcPts val="0"/>
              </a:spcAft>
            </a:pPr>
            <a:r>
              <a:rPr sz="2000" b="1">
                <a:solidFill>
                  <a:srgbClr val="8A4500"/>
                </a:solidFill>
                <a:latin typeface="Segoe UI"/>
              </a:rPr>
              <a:t>•	</a:t>
            </a:r>
            <a:r>
              <a:rPr sz="2000" b="1" i="0">
                <a:solidFill>
                  <a:srgbClr val="1A5276"/>
                </a:solidFill>
                <a:latin typeface="Segoe UI"/>
              </a:rPr>
              <a:t>Cost-complexity pruning</a:t>
            </a:r>
            <a:r>
              <a:rPr sz="2000" b="0" i="0">
                <a:solidFill>
                  <a:srgbClr val="1C252B"/>
                </a:solidFill>
                <a:latin typeface="Segoe UI"/>
              </a:rPr>
              <a:t> (CART): minimise error</a:t>
            </a:r>
            <a:r>
              <a:rPr sz="2000" b="0" i="0">
                <a:solidFill>
                  <a:srgbClr val="1C252B"/>
                </a:solidFill>
                <a:latin typeface="Cambria"/>
              </a:rPr>
              <a:t> + α × (</a:t>
            </a:r>
            <a:r>
              <a:rPr sz="2000" b="0" i="0">
                <a:solidFill>
                  <a:srgbClr val="1C252B"/>
                </a:solidFill>
                <a:latin typeface="Segoe UI"/>
              </a:rPr>
              <a:t>number of leaves</a:t>
            </a:r>
            <a:r>
              <a:rPr sz="2000" b="0" i="0">
                <a:solidFill>
                  <a:srgbClr val="1C252B"/>
                </a:solidFill>
                <a:latin typeface="Cambria"/>
              </a:rPr>
              <a:t>)</a:t>
            </a:r>
            <a:r>
              <a:rPr sz="2000" b="0" i="0">
                <a:solidFill>
                  <a:srgbClr val="1C252B"/>
                </a:solidFill>
                <a:latin typeface="Segoe UI"/>
              </a:rPr>
              <a:t>; larger </a:t>
            </a:r>
            <a:r>
              <a:rPr sz="2000" b="0" i="0">
                <a:solidFill>
                  <a:srgbClr val="1C252B"/>
                </a:solidFill>
                <a:latin typeface="Cambria"/>
              </a:rPr>
              <a:t>α</a:t>
            </a:r>
            <a:r>
              <a:rPr sz="2000" b="0" i="0">
                <a:solidFill>
                  <a:srgbClr val="1C252B"/>
                </a:solidFill>
                <a:latin typeface="Segoe UI"/>
              </a:rPr>
              <a:t> gives smaller trees, and </a:t>
            </a:r>
            <a:r>
              <a:rPr sz="2000" b="0" i="0">
                <a:solidFill>
                  <a:srgbClr val="1C252B"/>
                </a:solidFill>
                <a:latin typeface="Cambria"/>
              </a:rPr>
              <a:t>α</a:t>
            </a:r>
            <a:r>
              <a:rPr sz="2000" b="0" i="0">
                <a:solidFill>
                  <a:srgbClr val="1C252B"/>
                </a:solidFill>
                <a:latin typeface="Segoe UI"/>
              </a:rPr>
              <a:t> is chosen by cross-validation.</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Rules Are Easier to Prune Than Trees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71     </a:t>
            </a:r>
            <a:fld id="{F3A09D13-EBD6-4639-A59C-63A1A0DF3454}"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Pruning a tree removes a node and everything below it — a decision about the root’s test affects every path through it. Converting to rules first lets each path be simplified on its own: the test Requirements = Changing can be dropped from one rule and kept in another. It also produces a list of plain if–then statements, which is what a project manager actually wants to read — and can turn straight into a risk checklist.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0AA09C5B-D189-4412-93B7-7CE6CD360C6A}"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Letting the tree grow until the leaves are pure</a:t>
            </a:r>
            <a:r>
              <a:rPr sz="2100" b="0" i="0">
                <a:solidFill>
                  <a:srgbClr val="1C252B"/>
                </a:solidFill>
                <a:latin typeface="Segoe UI"/>
              </a:rPr>
              <a:t> on noisy data. It will fit the noise; prune, or cap the depth.</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Keeping an ID-like attribute.</a:t>
            </a:r>
            <a:r>
              <a:rPr sz="2100" b="0" i="0">
                <a:solidFill>
                  <a:srgbClr val="1C252B"/>
                </a:solidFill>
                <a:latin typeface="Segoe UI"/>
              </a:rPr>
              <a:t> It has maximal information gain and no predictive value. Drop it, or use the gain ratio.</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Reading the root attribute as “the most important feature”.</a:t>
            </a:r>
            <a:r>
              <a:rPr sz="2100" b="0" i="0">
                <a:solidFill>
                  <a:srgbClr val="1C252B"/>
                </a:solidFill>
                <a:latin typeface="Segoe UI"/>
              </a:rPr>
              <a:t> Greedy splitting on correlated features picks one almost arbitrarily.</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Expecting stability.</a:t>
            </a:r>
            <a:r>
              <a:rPr sz="2100" b="0" i="0">
                <a:solidFill>
                  <a:srgbClr val="1C252B"/>
                </a:solidFill>
                <a:latin typeface="Segoe UI"/>
              </a:rPr>
              <a:t> A small change in the data can change the root and hence the whole tree — the high variance that Chapter 14 exploits.</a:t>
            </a:r>
          </a:p>
        </p:txBody>
      </p:sp>
      <p:sp>
        <p:nvSpPr>
          <p:cNvPr id="19" name="!!pb4">
            <a:extLst>
              <a:ext uri="{C183D7F6-B498-43B3-948B-1728B52AA6E4}">
                <adec:decorative xmlns:adec="http://schemas.microsoft.com/office/drawing/2017/decorative" val="1"/>
              </a:ext>
            </a:extLst>
          </p:cNvPr>
          <p:cNvSpPr/>
          <p:nvPr/>
        </p:nvSpPr>
        <p:spPr>
          <a:xfrm>
            <a:off x="658368" y="522305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24591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20476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Scaling features for a tree.</a:t>
            </a:r>
            <a:r>
              <a:rPr sz="2100" b="0" i="0">
                <a:solidFill>
                  <a:srgbClr val="1C252B"/>
                </a:solidFill>
                <a:latin typeface="Segoe UI"/>
              </a:rPr>
              <a:t> Unnecessary: a threshold test is unchanged by any monotone rescaling.</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ID3 by Hand, Then Pruning by Cross-Validation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C6E416C4-F909-427F-A3C4-388504B5ABED}" type="slidenum">
              <a:rPr lang="en-GB" sz="1000">
                <a:solidFill>
                  <a:srgbClr val="8795A1"/>
                </a:solidFill>
                <a:latin typeface="Segoe UI"/>
              </a:rPr>
              <a:t>22</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7429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ID3's first choice, computed by hand</a:t>
            </a:r>
          </a:p>
          <a:p>
            <a:pPr algn="l" marL="459473" indent="-459473">
              <a:lnSpc>
                <a:spcPct val="100000"/>
              </a:lnSpc>
              <a:spcBef>
                <a:spcPts val="0"/>
              </a:spcBef>
              <a:spcAft>
                <a:spcPts val="0"/>
              </a:spcAft>
            </a:pPr>
            <a:r>
              <a:rPr sz="1900" b="1">
                <a:solidFill>
                  <a:srgbClr val="117A65"/>
                </a:solidFill>
                <a:latin typeface="Segoe UI"/>
              </a:rPr>
              <a:t>2.	</a:t>
            </a:r>
            <a:r>
              <a:rPr sz="1900" b="0" i="0">
                <a:solidFill>
                  <a:srgbClr val="1C252B"/>
                </a:solidFill>
                <a:latin typeface="Segoe UI"/>
              </a:rPr>
              <a:t>Noisy data: a tree grown without limit, then pruned</a:t>
            </a:r>
          </a:p>
        </p:txBody>
      </p:sp>
      <p:sp>
        <p:nvSpPr>
          <p:cNvPr id="1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8: ID3 by hand, pruning by cross-validation</a:t>
            </a:r>
          </a:p>
        </p:txBody>
      </p:sp>
      <p:sp>
        <p:nvSpPr>
          <p:cNvPr id="1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57 lines of Python</a:t>
            </a:r>
          </a:p>
        </p:txBody>
      </p:sp>
      <p:sp>
        <p:nvSpPr>
          <p:cNvPr id="2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2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code/ch09_id3_hand_pruning_cross.py</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ID3 by Hand, Then Pruning by Cross-Validation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C0B80765-6837-436C-B014-14EE5C3D2548}"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127504"/>
          </a:xfrm>
          <a:prstGeom prst="roundRect">
            <a:avLst>
              <a:gd name="adj" fmla="val 429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code/ch09_id3_hand_pruning_cross.py</a:t>
            </a:r>
          </a:p>
        </p:txBody>
      </p:sp>
      <p:sp>
        <p:nvSpPr>
          <p:cNvPr id="14" name="!!code-text" descr="import numpy as np import pandas as pd from sklearn.datasets import make_classification from sklearn.model_selection import train_test_split, cross_val_score from sklearn.tree import DecisionTreeClassifier, export_text"/>
          <p:cNvSpPr txBox="1"/>
          <p:nvPr/>
        </p:nvSpPr>
        <p:spPr>
          <a:xfrm>
            <a:off x="1362456" y="2523744"/>
            <a:ext cx="9987991" cy="16337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pandas</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pd</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datasets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make_classification</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model_selection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train_test_split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cross_val_score</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tree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DecisionTreeClassifier</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export_text</a:t>
            </a:r>
          </a:p>
        </p:txBody>
      </p:sp>
      <p:sp>
        <p:nvSpPr>
          <p:cNvPr id="15" name="!!code-num"/>
          <p:cNvSpPr txBox="1"/>
          <p:nvPr/>
        </p:nvSpPr>
        <p:spPr>
          <a:xfrm>
            <a:off x="768096" y="2523744"/>
            <a:ext cx="393192" cy="1633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ID3 by Hand, Then Pruning by Cross-Validation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1F9C690B-77AF-4FF3-AF64-9037E22F7B9B}"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ID3's first choice, computed by hand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code/ch09_id3_hand_pruning_cross.py</a:t>
            </a:r>
          </a:p>
        </p:txBody>
      </p:sp>
      <p:sp>
        <p:nvSpPr>
          <p:cNvPr id="14" name="!!code-text" descr="# --- 1. ID3's first choice, computed by hand ----------------------------- rows = [&quot;Changing High High Few No&quot;, &quot;Changing High High Many No&quot;, &quot;Frozen High High Few Yes&quot;, &quot;Vague Medium High Few Yes&quot;, &quot;Vague Low Normal Few Yes&quot;, &quot;Vague Low Normal Many No&quot;, &quot;Frozen Low Normal Many Yes&quot;, &quot;Changing Medium High Few No&quot;, &quot;Changing Low Normal Few Yes&quot;, &quot;Vague Medium Normal Few Yes&quot;, &quot;Changing Medium Normal Many Yes&quot;, &quot;Frozen Medium High Many Yes&quot;, &quot;Frozen High Normal Few Yes&quot;, &quot;Vague Medium High Many No&quot;] df = pd.DataFrame([r.split() for r in rows], columns=[&quot;Reqs&quot;, &quot;Pressure&quot;, &quot;Load&quot;, &quot;Deps&quot;, &quot;Met&quot;]) def entropy(labels): p = labels.value_counts(normalize=True) return float(-(p * np.log2(p)).sum())"/>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--- 1. ID3's first choice, computed by hand -----------------------------</a:t>
            </a:r>
          </a:p>
          <a:p>
            <a:pPr>
              <a:lnSpc>
                <a:spcPct val="100000"/>
              </a:lnSpc>
              <a:spcAft>
                <a:spcPts val="0"/>
              </a:spcAft>
            </a:pPr>
            <a:r>
              <a:rPr sz="1500" i="0">
                <a:solidFill>
                  <a:srgbClr val="E8EDF2"/>
                </a:solidFill>
                <a:latin typeface="Consolas"/>
              </a:rPr>
              <a:t>rows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Changing High High Few No</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Changing High High Many No</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Frozen High High Few Yes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Vague Medium High Few Yes</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Vague Low Normal Few Yes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Vague Low Normal Many No</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Frozen Low Normal Many Yes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Changing Medium High Few No</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Changing Low Normal Few Yes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Vague Medium Normal Few Yes</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Changing Medium Normal Many Yes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Frozen Medium High Many Yes</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Frozen High Normal Few Yes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Vague Medium High Many No</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df</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pd</a:t>
            </a:r>
            <a:r>
              <a:rPr sz="1500" i="0">
                <a:solidFill>
                  <a:srgbClr val="AEB6BF"/>
                </a:solidFill>
                <a:latin typeface="Consolas"/>
              </a:rPr>
              <a:t>.</a:t>
            </a:r>
            <a:r>
              <a:rPr sz="1500" i="0">
                <a:solidFill>
                  <a:srgbClr val="E8EDF2"/>
                </a:solidFill>
                <a:latin typeface="Consolas"/>
              </a:rPr>
              <a:t>DataFrame</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r</a:t>
            </a:r>
            <a:r>
              <a:rPr sz="1500" i="0">
                <a:solidFill>
                  <a:srgbClr val="AEB6BF"/>
                </a:solidFill>
                <a:latin typeface="Consolas"/>
              </a:rPr>
              <a:t>.</a:t>
            </a:r>
            <a:r>
              <a:rPr sz="1500" i="0">
                <a:solidFill>
                  <a:srgbClr val="E8EDF2"/>
                </a:solidFill>
                <a:latin typeface="Consolas"/>
              </a:rPr>
              <a:t>split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r</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rows</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columns</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Reqs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Pressure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Load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Deps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Met</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a:latin typeface="Consolas"/>
              </a:rPr>
              <a:t> </a:t>
            </a:r>
          </a:p>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entropy</a:t>
            </a:r>
            <a:r>
              <a:rPr sz="1500" i="0">
                <a:solidFill>
                  <a:srgbClr val="AEB6BF"/>
                </a:solidFill>
                <a:latin typeface="Consolas"/>
              </a:rPr>
              <a:t>(</a:t>
            </a:r>
            <a:r>
              <a:rPr sz="1500" i="0">
                <a:solidFill>
                  <a:srgbClr val="E8EDF2"/>
                </a:solidFill>
                <a:latin typeface="Consolas"/>
              </a:rPr>
              <a:t>labels</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p</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labels</a:t>
            </a:r>
            <a:r>
              <a:rPr sz="1500" i="0">
                <a:solidFill>
                  <a:srgbClr val="AEB6BF"/>
                </a:solidFill>
                <a:latin typeface="Consolas"/>
              </a:rPr>
              <a:t>.</a:t>
            </a:r>
            <a:r>
              <a:rPr sz="1500" i="0">
                <a:solidFill>
                  <a:srgbClr val="E8EDF2"/>
                </a:solidFill>
                <a:latin typeface="Consolas"/>
              </a:rPr>
              <a:t>value_counts</a:t>
            </a:r>
            <a:r>
              <a:rPr sz="1500" i="0">
                <a:solidFill>
                  <a:srgbClr val="AEB6BF"/>
                </a:solidFill>
                <a:latin typeface="Consolas"/>
              </a:rPr>
              <a:t>(</a:t>
            </a:r>
            <a:r>
              <a:rPr sz="1500" i="0">
                <a:solidFill>
                  <a:srgbClr val="E8EDF2"/>
                </a:solidFill>
                <a:latin typeface="Consolas"/>
              </a:rPr>
              <a:t>normalize</a:t>
            </a:r>
            <a:r>
              <a:rPr sz="1500" i="0">
                <a:solidFill>
                  <a:srgbClr val="AEB6BF"/>
                </a:solidFill>
                <a:latin typeface="Consolas"/>
              </a:rPr>
              <a:t>=</a:t>
            </a:r>
            <a:r>
              <a:rPr sz="1500" i="0">
                <a:solidFill>
                  <a:srgbClr val="5DADE2"/>
                </a:solidFill>
                <a:latin typeface="Consolas"/>
              </a:rPr>
              <a:t>True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C39BD3"/>
                </a:solidFill>
                <a:latin typeface="Consolas"/>
              </a:rPr>
              <a:t>float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p</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log2</a:t>
            </a:r>
            <a:r>
              <a:rPr sz="1500" i="0">
                <a:solidFill>
                  <a:srgbClr val="AEB6BF"/>
                </a:solidFill>
                <a:latin typeface="Consolas"/>
              </a:rPr>
              <a:t>(</a:t>
            </a:r>
            <a:r>
              <a:rPr sz="1500" i="0">
                <a:solidFill>
                  <a:srgbClr val="E8EDF2"/>
                </a:solidFill>
                <a:latin typeface="Consolas"/>
              </a:rPr>
              <a:t>p</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sum</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8</a:t>
            </a:r>
          </a:p>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a:p>
            <a:pPr algn="r">
              <a:lnSpc>
                <a:spcPct val="100000"/>
              </a:lnSpc>
            </a:pPr>
            <a:r>
              <a:rPr sz="1500">
                <a:solidFill>
                  <a:srgbClr val="4F5D6A"/>
                </a:solidFill>
                <a:latin typeface="Consolas"/>
              </a:rPr>
              <a:t>17</a:t>
            </a:r>
          </a:p>
          <a:p>
            <a:pPr algn="r">
              <a:lnSpc>
                <a:spcPct val="100000"/>
              </a:lnSpc>
            </a:pPr>
            <a:r>
              <a:rPr sz="1500">
                <a:solidFill>
                  <a:srgbClr val="4F5D6A"/>
                </a:solidFill>
                <a:latin typeface="Consolas"/>
              </a:rPr>
              <a:t>18</a:t>
            </a:r>
          </a:p>
          <a:p>
            <a:pPr algn="r">
              <a:lnSpc>
                <a:spcPct val="100000"/>
              </a:lnSpc>
            </a:pPr>
            <a:r>
              <a:rPr sz="1500">
                <a:solidFill>
                  <a:srgbClr val="4F5D6A"/>
                </a:solidFill>
                <a:latin typeface="Consolas"/>
              </a:rPr>
              <a:t>19</a:t>
            </a:r>
          </a:p>
          <a:p>
            <a:pPr algn="r">
              <a:lnSpc>
                <a:spcPct val="100000"/>
              </a:lnSpc>
            </a:pPr>
            <a:r>
              <a:rPr sz="1500">
                <a:solidFill>
                  <a:srgbClr val="4F5D6A"/>
                </a:solidFill>
                <a:latin typeface="Consolas"/>
              </a:rPr>
              <a:t>20</a:t>
            </a:r>
          </a:p>
          <a:p>
            <a:pPr algn="r">
              <a:lnSpc>
                <a:spcPct val="100000"/>
              </a:lnSpc>
            </a:pPr>
            <a:r>
              <a:rPr sz="1500">
                <a:solidFill>
                  <a:srgbClr val="4F5D6A"/>
                </a:solidFill>
                <a:latin typeface="Consolas"/>
              </a:rPr>
              <a:t>21</a:t>
            </a:r>
          </a:p>
          <a:p>
            <a:pPr algn="r">
              <a:lnSpc>
                <a:spcPct val="100000"/>
              </a:lnSpc>
            </a:pPr>
            <a:r>
              <a:rPr sz="15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ID3 by Hand, Then Pruning by Cross-Validation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D930A91F-DF3B-4662-AF1A-993A9BF56238}"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ID3's first choice, computed by hand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code/ch09_id3_hand_pruning_cross.py</a:t>
            </a:r>
          </a:p>
        </p:txBody>
      </p:sp>
      <p:sp>
        <p:nvSpPr>
          <p:cNvPr id="14" name="!!code-text" descr="def gain(data, attr): rest = sum(len(g) / len(data) * entropy(g.Met) for _, g in data.groupby(attr)) return entropy(data.Met) - rest for a in [&quot;Reqs&quot;, &quot;Pressure&quot;, &quot;Load&quot;, &quot;Deps&quot;]: print(f&quot;Gain(S, {a:8s}) = {gain(df, a):.3f}&quot;) changing = df[df.Reqs == &quot;Changing&quot;] print(&quot;inside Changing:&quot;, {a: round(gain(changing, a), 3) for a in [&quot;Pressure&quot;, &quot;Load&quot;, &quot;Deps&quot;]})"/>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gain</a:t>
            </a:r>
            <a:r>
              <a:rPr sz="2000" i="0">
                <a:solidFill>
                  <a:srgbClr val="AEB6BF"/>
                </a:solidFill>
                <a:latin typeface="Consolas"/>
              </a:rPr>
              <a:t>(</a:t>
            </a:r>
            <a:r>
              <a:rPr sz="2000" i="0">
                <a:solidFill>
                  <a:srgbClr val="E8EDF2"/>
                </a:solidFill>
                <a:latin typeface="Consolas"/>
              </a:rPr>
              <a:t>data</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attr</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rest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sum</a:t>
            </a:r>
            <a:r>
              <a:rPr sz="2000" i="0">
                <a:solidFill>
                  <a:srgbClr val="AEB6BF"/>
                </a:solidFill>
                <a:latin typeface="Consolas"/>
              </a:rPr>
              <a:t>(</a:t>
            </a:r>
            <a:r>
              <a:rPr sz="2000" i="0">
                <a:solidFill>
                  <a:srgbClr val="C39BD3"/>
                </a:solidFill>
                <a:latin typeface="Consolas"/>
              </a:rPr>
              <a:t>len</a:t>
            </a:r>
            <a:r>
              <a:rPr sz="2000" i="0">
                <a:solidFill>
                  <a:srgbClr val="AEB6BF"/>
                </a:solidFill>
                <a:latin typeface="Consolas"/>
              </a:rPr>
              <a:t>(</a:t>
            </a:r>
            <a:r>
              <a:rPr sz="2000" i="0">
                <a:solidFill>
                  <a:srgbClr val="E8EDF2"/>
                </a:solidFill>
                <a:latin typeface="Consolas"/>
              </a:rPr>
              <a:t>g</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len</a:t>
            </a:r>
            <a:r>
              <a:rPr sz="2000" i="0">
                <a:solidFill>
                  <a:srgbClr val="AEB6BF"/>
                </a:solidFill>
                <a:latin typeface="Consolas"/>
              </a:rPr>
              <a:t>(</a:t>
            </a:r>
            <a:r>
              <a:rPr sz="2000" i="0">
                <a:solidFill>
                  <a:srgbClr val="E8EDF2"/>
                </a:solidFill>
                <a:latin typeface="Consolas"/>
              </a:rPr>
              <a:t>data</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entropy</a:t>
            </a:r>
            <a:r>
              <a:rPr sz="2000" i="0">
                <a:solidFill>
                  <a:srgbClr val="AEB6BF"/>
                </a:solidFill>
                <a:latin typeface="Consolas"/>
              </a:rPr>
              <a:t>(</a:t>
            </a:r>
            <a:r>
              <a:rPr sz="2000" i="0">
                <a:solidFill>
                  <a:srgbClr val="E8EDF2"/>
                </a:solidFill>
                <a:latin typeface="Consolas"/>
              </a:rPr>
              <a:t>g</a:t>
            </a:r>
            <a:r>
              <a:rPr sz="2000" i="0">
                <a:solidFill>
                  <a:srgbClr val="AEB6BF"/>
                </a:solidFill>
                <a:latin typeface="Consolas"/>
              </a:rPr>
              <a:t>.</a:t>
            </a:r>
            <a:r>
              <a:rPr sz="2000" i="0">
                <a:solidFill>
                  <a:srgbClr val="E8EDF2"/>
                </a:solidFill>
                <a:latin typeface="Consolas"/>
              </a:rPr>
              <a:t>Met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_</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g</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data</a:t>
            </a:r>
            <a:r>
              <a:rPr sz="2000" i="0">
                <a:solidFill>
                  <a:srgbClr val="AEB6BF"/>
                </a:solidFill>
                <a:latin typeface="Consolas"/>
              </a:rPr>
              <a:t>.</a:t>
            </a:r>
            <a:r>
              <a:rPr sz="2000" i="0">
                <a:solidFill>
                  <a:srgbClr val="E8EDF2"/>
                </a:solidFill>
                <a:latin typeface="Consolas"/>
              </a:rPr>
              <a:t>groupby</a:t>
            </a:r>
            <a:r>
              <a:rPr sz="2000" i="0">
                <a:solidFill>
                  <a:srgbClr val="AEB6BF"/>
                </a:solidFill>
                <a:latin typeface="Consolas"/>
              </a:rPr>
              <a:t>(</a:t>
            </a:r>
            <a:r>
              <a:rPr sz="2000" i="0">
                <a:solidFill>
                  <a:srgbClr val="E8EDF2"/>
                </a:solidFill>
                <a:latin typeface="Consolas"/>
              </a:rPr>
              <a:t>attr</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entropy</a:t>
            </a:r>
            <a:r>
              <a:rPr sz="2000" i="0">
                <a:solidFill>
                  <a:srgbClr val="AEB6BF"/>
                </a:solidFill>
                <a:latin typeface="Consolas"/>
              </a:rPr>
              <a:t>(</a:t>
            </a:r>
            <a:r>
              <a:rPr sz="2000" i="0">
                <a:solidFill>
                  <a:srgbClr val="E8EDF2"/>
                </a:solidFill>
                <a:latin typeface="Consolas"/>
              </a:rPr>
              <a:t>data</a:t>
            </a:r>
            <a:r>
              <a:rPr sz="2000" i="0">
                <a:solidFill>
                  <a:srgbClr val="AEB6BF"/>
                </a:solidFill>
                <a:latin typeface="Consolas"/>
              </a:rPr>
              <a:t>.</a:t>
            </a:r>
            <a:r>
              <a:rPr sz="2000" i="0">
                <a:solidFill>
                  <a:srgbClr val="E8EDF2"/>
                </a:solidFill>
                <a:latin typeface="Consolas"/>
              </a:rPr>
              <a:t>Met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rest</a:t>
            </a:r>
          </a:p>
          <a:p>
            <a:pPr>
              <a:lnSpc>
                <a:spcPct val="100000"/>
              </a:lnSpc>
              <a:spcAft>
                <a:spcPts val="0"/>
              </a:spcAft>
            </a:pPr>
            <a:r>
              <a:rPr sz="2000">
                <a:latin typeface="Consolas"/>
              </a:rPr>
              <a:t> </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a</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Reqs</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Pressure</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Load</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Deps</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f</a:t>
            </a:r>
            <a:r>
              <a:rPr sz="2000" i="0">
                <a:solidFill>
                  <a:srgbClr val="7DCEA0"/>
                </a:solidFill>
                <a:latin typeface="Consolas"/>
              </a:rPr>
              <a:t>"</a:t>
            </a:r>
            <a:r>
              <a:rPr sz="2000" i="0">
                <a:solidFill>
                  <a:srgbClr val="7DCEA0"/>
                </a:solidFill>
                <a:latin typeface="Consolas"/>
              </a:rPr>
              <a:t>Gain(S, </a:t>
            </a:r>
            <a:r>
              <a:rPr sz="2000" i="0">
                <a:solidFill>
                  <a:srgbClr val="7DCEA0"/>
                </a:solidFill>
                <a:latin typeface="Consolas"/>
              </a:rPr>
              <a:t>{</a:t>
            </a:r>
            <a:r>
              <a:rPr sz="2000" i="0">
                <a:solidFill>
                  <a:srgbClr val="E8EDF2"/>
                </a:solidFill>
                <a:latin typeface="Consolas"/>
              </a:rPr>
              <a:t>a</a:t>
            </a:r>
            <a:r>
              <a:rPr sz="2000" i="0">
                <a:solidFill>
                  <a:srgbClr val="7DCEA0"/>
                </a:solidFill>
                <a:latin typeface="Consolas"/>
              </a:rPr>
              <a:t>:</a:t>
            </a:r>
            <a:r>
              <a:rPr sz="2000" i="0">
                <a:solidFill>
                  <a:srgbClr val="7DCEA0"/>
                </a:solidFill>
                <a:latin typeface="Consolas"/>
              </a:rPr>
              <a:t>8s</a:t>
            </a:r>
            <a:r>
              <a:rPr sz="2000" i="0">
                <a:solidFill>
                  <a:srgbClr val="7DCEA0"/>
                </a:solidFill>
                <a:latin typeface="Consolas"/>
              </a:rPr>
              <a:t>}</a:t>
            </a:r>
            <a:r>
              <a:rPr sz="2000" i="0">
                <a:solidFill>
                  <a:srgbClr val="7DCEA0"/>
                </a:solidFill>
                <a:latin typeface="Consolas"/>
              </a:rPr>
              <a:t>) = </a:t>
            </a:r>
            <a:r>
              <a:rPr sz="2000" i="0">
                <a:solidFill>
                  <a:srgbClr val="7DCEA0"/>
                </a:solidFill>
                <a:latin typeface="Consolas"/>
              </a:rPr>
              <a:t>{</a:t>
            </a:r>
            <a:r>
              <a:rPr sz="2000" i="0">
                <a:solidFill>
                  <a:srgbClr val="E8EDF2"/>
                </a:solidFill>
                <a:latin typeface="Consolas"/>
              </a:rPr>
              <a:t>gain</a:t>
            </a:r>
            <a:r>
              <a:rPr sz="2000" i="0">
                <a:solidFill>
                  <a:srgbClr val="AEB6BF"/>
                </a:solidFill>
                <a:latin typeface="Consolas"/>
              </a:rPr>
              <a:t>(</a:t>
            </a:r>
            <a:r>
              <a:rPr sz="2000" i="0">
                <a:solidFill>
                  <a:srgbClr val="E8EDF2"/>
                </a:solidFill>
                <a:latin typeface="Consolas"/>
              </a:rPr>
              <a:t>df</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.3f</a:t>
            </a:r>
            <a:r>
              <a:rPr sz="2000" i="0">
                <a:solidFill>
                  <a:srgbClr val="7DCEA0"/>
                </a:solidFill>
                <a:latin typeface="Consolas"/>
              </a:rPr>
              <a:t>}</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changing</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df</a:t>
            </a:r>
            <a:r>
              <a:rPr sz="2000" i="0">
                <a:solidFill>
                  <a:srgbClr val="AEB6BF"/>
                </a:solidFill>
                <a:latin typeface="Consolas"/>
              </a:rPr>
              <a:t>[</a:t>
            </a:r>
            <a:r>
              <a:rPr sz="2000" i="0">
                <a:solidFill>
                  <a:srgbClr val="E8EDF2"/>
                </a:solidFill>
                <a:latin typeface="Consolas"/>
              </a:rPr>
              <a:t>df</a:t>
            </a:r>
            <a:r>
              <a:rPr sz="2000" i="0">
                <a:solidFill>
                  <a:srgbClr val="AEB6BF"/>
                </a:solidFill>
                <a:latin typeface="Consolas"/>
              </a:rPr>
              <a:t>.</a:t>
            </a:r>
            <a:r>
              <a:rPr sz="2000" i="0">
                <a:solidFill>
                  <a:srgbClr val="E8EDF2"/>
                </a:solidFill>
                <a:latin typeface="Consolas"/>
              </a:rPr>
              <a:t>Reqs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Changing</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C39BD3"/>
                </a:solidFill>
                <a:latin typeface="Consolas"/>
              </a:rPr>
              <a:t>print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inside Changing:</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round</a:t>
            </a:r>
            <a:r>
              <a:rPr sz="2000" i="0">
                <a:solidFill>
                  <a:srgbClr val="AEB6BF"/>
                </a:solidFill>
                <a:latin typeface="Consolas"/>
              </a:rPr>
              <a:t>(</a:t>
            </a:r>
            <a:r>
              <a:rPr sz="2000" i="0">
                <a:solidFill>
                  <a:srgbClr val="E8EDF2"/>
                </a:solidFill>
                <a:latin typeface="Consolas"/>
              </a:rPr>
              <a:t>gain</a:t>
            </a:r>
            <a:r>
              <a:rPr sz="2000" i="0">
                <a:solidFill>
                  <a:srgbClr val="AEB6BF"/>
                </a:solidFill>
                <a:latin typeface="Consolas"/>
              </a:rPr>
              <a:t>(</a:t>
            </a:r>
            <a:r>
              <a:rPr sz="2000" i="0">
                <a:solidFill>
                  <a:srgbClr val="E8EDF2"/>
                </a:solidFill>
                <a:latin typeface="Consolas"/>
              </a:rPr>
              <a:t>changing</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3</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a</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Pressure</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Load</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Deps</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25</a:t>
            </a:r>
          </a:p>
          <a:p>
            <a:pPr algn="r">
              <a:lnSpc>
                <a:spcPct val="100000"/>
              </a:lnSpc>
            </a:pPr>
            <a:r>
              <a:rPr sz="2000">
                <a:solidFill>
                  <a:srgbClr val="4F5D6A"/>
                </a:solidFill>
                <a:latin typeface="Consolas"/>
              </a:rPr>
              <a:t>26</a:t>
            </a:r>
          </a:p>
          <a:p>
            <a:pPr algn="r">
              <a:lnSpc>
                <a:spcPct val="100000"/>
              </a:lnSpc>
            </a:pPr>
            <a:r>
              <a:rPr sz="2000">
                <a:solidFill>
                  <a:srgbClr val="4F5D6A"/>
                </a:solidFill>
                <a:latin typeface="Consolas"/>
              </a:rPr>
              <a:t>27</a:t>
            </a:r>
          </a:p>
          <a:p>
            <a:pPr algn="r">
              <a:lnSpc>
                <a:spcPct val="100000"/>
              </a:lnSpc>
            </a:pPr>
            <a:r>
              <a:rPr sz="2000">
                <a:solidFill>
                  <a:srgbClr val="4F5D6A"/>
                </a:solidFill>
                <a:latin typeface="Consolas"/>
              </a:rPr>
              <a:t>28</a:t>
            </a:r>
          </a:p>
          <a:p>
            <a:pPr algn="r">
              <a:lnSpc>
                <a:spcPct val="100000"/>
              </a:lnSpc>
            </a:pPr>
            <a:r>
              <a:rPr sz="2000">
                <a:solidFill>
                  <a:srgbClr val="4F5D6A"/>
                </a:solidFill>
                <a:latin typeface="Consolas"/>
              </a:rPr>
              <a:t>29</a:t>
            </a:r>
          </a:p>
          <a:p>
            <a:pPr algn="r">
              <a:lnSpc>
                <a:spcPct val="100000"/>
              </a:lnSpc>
            </a:pPr>
            <a:r>
              <a:rPr sz="2000">
                <a:solidFill>
                  <a:srgbClr val="4F5D6A"/>
                </a:solidFill>
                <a:latin typeface="Consolas"/>
              </a:rPr>
              <a:t>30</a:t>
            </a:r>
          </a:p>
          <a:p>
            <a:pPr algn="r">
              <a:lnSpc>
                <a:spcPct val="100000"/>
              </a:lnSpc>
            </a:pPr>
            <a:r>
              <a:rPr sz="2000">
                <a:solidFill>
                  <a:srgbClr val="4F5D6A"/>
                </a:solidFill>
                <a:latin typeface="Consolas"/>
              </a:rPr>
              <a:t>31</a:t>
            </a:r>
          </a:p>
          <a:p>
            <a:pPr algn="r">
              <a:lnSpc>
                <a:spcPct val="100000"/>
              </a:lnSpc>
            </a:pPr>
            <a:r>
              <a:rPr sz="2000">
                <a:solidFill>
                  <a:srgbClr val="4F5D6A"/>
                </a:solidFill>
                <a:latin typeface="Consolas"/>
              </a:rPr>
              <a:t>32</a:t>
            </a:r>
          </a:p>
          <a:p>
            <a:pPr algn="r">
              <a:lnSpc>
                <a:spcPct val="100000"/>
              </a:lnSpc>
            </a:pPr>
            <a:r>
              <a:rPr sz="2000">
                <a:solidFill>
                  <a:srgbClr val="4F5D6A"/>
                </a:solidFill>
                <a:latin typeface="Consolas"/>
              </a:rPr>
              <a:t>33</a:t>
            </a:r>
          </a:p>
          <a:p>
            <a:pPr algn="r">
              <a:lnSpc>
                <a:spcPct val="100000"/>
              </a:lnSpc>
            </a:pPr>
            <a:r>
              <a:rPr sz="2000">
                <a:solidFill>
                  <a:srgbClr val="4F5D6A"/>
                </a:solidFill>
                <a:latin typeface="Consolas"/>
              </a:rPr>
              <a:t>34</a:t>
            </a:r>
          </a:p>
          <a:p>
            <a:pPr algn="r">
              <a:lnSpc>
                <a:spcPct val="100000"/>
              </a:lnSpc>
            </a:pPr>
            <a:r>
              <a:rPr sz="20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ID3 by Hand, Then Pruning by Cross-Validation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2097AE70-0EAC-4E99-9C82-38C840DA74BF}"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Noisy data: a tree grown without limit, then pruned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194304"/>
          </a:xfrm>
          <a:prstGeom prst="roundRect">
            <a:avLst>
              <a:gd name="adj" fmla="val 286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code/ch09_id3_hand_pruning_cross.py</a:t>
            </a:r>
          </a:p>
        </p:txBody>
      </p:sp>
      <p:sp>
        <p:nvSpPr>
          <p:cNvPr id="14" name="!!code-text" descr="# --- 2. noisy data: a tree grown without limit, then pruned ------------- X, y = make_classification(n_samples=1500, n_features=10, n_informative=4, flip_y=0.15, random_state=4) # 15% labels flipped X_tr, X_te, y_tr, y_te = train_test_split(X, y, test_size=0.5, random_state=0) full = DecisionTreeClassifier(criterion=&quot;entropy&quot;, random_state=0) full.fit(X_tr, y_tr) print(f&quot;unpruned: {full.tree_.node_count:3d} nodes, &quot; f&quot;train {full.score(X_tr, y_tr):.3f}, &quot; f&quot;test {full.score(X_te, y_te):.3f}&quot;)"/>
          <p:cNvSpPr txBox="1"/>
          <p:nvPr/>
        </p:nvSpPr>
        <p:spPr>
          <a:xfrm>
            <a:off x="1362456" y="2523744"/>
            <a:ext cx="9987991" cy="270052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--- 2. noisy data: a tree grown without limit, then pruned -------------</a:t>
            </a:r>
          </a:p>
          <a:p>
            <a:pPr>
              <a:lnSpc>
                <a:spcPct val="100000"/>
              </a:lnSpc>
              <a:spcAft>
                <a:spcPts val="0"/>
              </a:spcAft>
            </a:pPr>
            <a:r>
              <a:rPr sz="1700" i="0">
                <a:solidFill>
                  <a:srgbClr val="E8EDF2"/>
                </a:solidFill>
                <a:latin typeface="Consolas"/>
              </a:rPr>
              <a:t>X</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make_classification</a:t>
            </a:r>
            <a:r>
              <a:rPr sz="1700" i="0">
                <a:solidFill>
                  <a:srgbClr val="AEB6BF"/>
                </a:solidFill>
                <a:latin typeface="Consolas"/>
              </a:rPr>
              <a:t>(</a:t>
            </a:r>
            <a:r>
              <a:rPr sz="1700" i="0">
                <a:solidFill>
                  <a:srgbClr val="E8EDF2"/>
                </a:solidFill>
                <a:latin typeface="Consolas"/>
              </a:rPr>
              <a:t>n_samples</a:t>
            </a:r>
            <a:r>
              <a:rPr sz="1700" i="0">
                <a:solidFill>
                  <a:srgbClr val="AEB6BF"/>
                </a:solidFill>
                <a:latin typeface="Consolas"/>
              </a:rPr>
              <a:t>=</a:t>
            </a:r>
            <a:r>
              <a:rPr sz="1700" i="0">
                <a:solidFill>
                  <a:srgbClr val="F7DC6F"/>
                </a:solidFill>
                <a:latin typeface="Consolas"/>
              </a:rPr>
              <a:t>1500</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n_features</a:t>
            </a:r>
            <a:r>
              <a:rPr sz="1700" i="0">
                <a:solidFill>
                  <a:srgbClr val="AEB6BF"/>
                </a:solidFill>
                <a:latin typeface="Consolas"/>
              </a:rPr>
              <a:t>=</a:t>
            </a:r>
            <a:r>
              <a:rPr sz="1700" i="0">
                <a:solidFill>
                  <a:srgbClr val="F7DC6F"/>
                </a:solidFill>
                <a:latin typeface="Consolas"/>
              </a:rPr>
              <a:t>10</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n_informative</a:t>
            </a:r>
            <a:r>
              <a:rPr sz="1700" i="0">
                <a:solidFill>
                  <a:srgbClr val="AEB6BF"/>
                </a:solidFill>
                <a:latin typeface="Consolas"/>
              </a:rPr>
              <a:t>=</a:t>
            </a:r>
            <a:r>
              <a:rPr sz="1700" i="0">
                <a:solidFill>
                  <a:srgbClr val="F7DC6F"/>
                </a:solidFill>
                <a:latin typeface="Consolas"/>
              </a:rPr>
              <a:t>4</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flip_y</a:t>
            </a:r>
            <a:r>
              <a:rPr sz="1700" i="0">
                <a:solidFill>
                  <a:srgbClr val="AEB6BF"/>
                </a:solidFill>
                <a:latin typeface="Consolas"/>
              </a:rPr>
              <a:t>=</a:t>
            </a:r>
            <a:r>
              <a:rPr sz="1700" i="0">
                <a:solidFill>
                  <a:srgbClr val="F7DC6F"/>
                </a:solidFill>
                <a:latin typeface="Consolas"/>
              </a:rPr>
              <a:t>0.15</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4</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15% labels flipped</a:t>
            </a:r>
          </a:p>
          <a:p>
            <a:pPr>
              <a:lnSpc>
                <a:spcPct val="100000"/>
              </a:lnSpc>
              <a:spcAft>
                <a:spcPts val="0"/>
              </a:spcAft>
            </a:pP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X_te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y_te</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train_test_split</a:t>
            </a:r>
            <a:r>
              <a:rPr sz="1700" i="0">
                <a:solidFill>
                  <a:srgbClr val="AEB6BF"/>
                </a:solidFill>
                <a:latin typeface="Consolas"/>
              </a:rPr>
              <a:t>(</a:t>
            </a:r>
            <a:r>
              <a:rPr sz="1700" i="0">
                <a:solidFill>
                  <a:srgbClr val="E8EDF2"/>
                </a:solidFill>
                <a:latin typeface="Consolas"/>
              </a:rPr>
              <a:t>X</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test_size</a:t>
            </a:r>
            <a:r>
              <a:rPr sz="1700" i="0">
                <a:solidFill>
                  <a:srgbClr val="AEB6BF"/>
                </a:solidFill>
                <a:latin typeface="Consolas"/>
              </a:rPr>
              <a:t>=</a:t>
            </a:r>
            <a:r>
              <a:rPr sz="1700" i="0">
                <a:solidFill>
                  <a:srgbClr val="F7DC6F"/>
                </a:solidFill>
                <a:latin typeface="Consolas"/>
              </a:rPr>
              <a:t>0.5</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i="0">
                <a:solidFill>
                  <a:srgbClr val="E8EDF2"/>
                </a:solidFill>
                <a:latin typeface="Consolas"/>
              </a:rPr>
              <a:t>full</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DecisionTreeClassifier</a:t>
            </a:r>
            <a:r>
              <a:rPr sz="1700" i="0">
                <a:solidFill>
                  <a:srgbClr val="AEB6BF"/>
                </a:solidFill>
                <a:latin typeface="Consolas"/>
              </a:rPr>
              <a:t>(</a:t>
            </a:r>
            <a:r>
              <a:rPr sz="1700" i="0">
                <a:solidFill>
                  <a:srgbClr val="E8EDF2"/>
                </a:solidFill>
                <a:latin typeface="Consolas"/>
              </a:rPr>
              <a:t>criterion</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entropy</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i="0">
                <a:solidFill>
                  <a:srgbClr val="E8EDF2"/>
                </a:solidFill>
                <a:latin typeface="Consolas"/>
              </a:rPr>
              <a:t>full</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unpruned: </a:t>
            </a:r>
            <a:r>
              <a:rPr sz="1700" i="0">
                <a:solidFill>
                  <a:srgbClr val="7DCEA0"/>
                </a:solidFill>
                <a:latin typeface="Consolas"/>
              </a:rPr>
              <a:t>{</a:t>
            </a:r>
            <a:r>
              <a:rPr sz="1700" i="0">
                <a:solidFill>
                  <a:srgbClr val="E8EDF2"/>
                </a:solidFill>
                <a:latin typeface="Consolas"/>
              </a:rPr>
              <a:t>full</a:t>
            </a:r>
            <a:r>
              <a:rPr sz="1700" i="0">
                <a:solidFill>
                  <a:srgbClr val="AEB6BF"/>
                </a:solidFill>
                <a:latin typeface="Consolas"/>
              </a:rPr>
              <a:t>.</a:t>
            </a:r>
            <a:r>
              <a:rPr sz="1700" i="0">
                <a:solidFill>
                  <a:srgbClr val="E8EDF2"/>
                </a:solidFill>
                <a:latin typeface="Consolas"/>
              </a:rPr>
              <a:t>tree_</a:t>
            </a:r>
            <a:r>
              <a:rPr sz="1700" i="0">
                <a:solidFill>
                  <a:srgbClr val="AEB6BF"/>
                </a:solidFill>
                <a:latin typeface="Consolas"/>
              </a:rPr>
              <a:t>.</a:t>
            </a:r>
            <a:r>
              <a:rPr sz="1700" i="0">
                <a:solidFill>
                  <a:srgbClr val="E8EDF2"/>
                </a:solidFill>
                <a:latin typeface="Consolas"/>
              </a:rPr>
              <a:t>node_count</a:t>
            </a:r>
            <a:r>
              <a:rPr sz="1700" i="0">
                <a:solidFill>
                  <a:srgbClr val="7DCEA0"/>
                </a:solidFill>
                <a:latin typeface="Consolas"/>
              </a:rPr>
              <a:t>:</a:t>
            </a:r>
            <a:r>
              <a:rPr sz="1700" i="0">
                <a:solidFill>
                  <a:srgbClr val="7DCEA0"/>
                </a:solidFill>
                <a:latin typeface="Consolas"/>
              </a:rPr>
              <a:t>3d</a:t>
            </a:r>
            <a:r>
              <a:rPr sz="1700" i="0">
                <a:solidFill>
                  <a:srgbClr val="7DCEA0"/>
                </a:solidFill>
                <a:latin typeface="Consolas"/>
              </a:rPr>
              <a:t>}</a:t>
            </a:r>
            <a:r>
              <a:rPr sz="1700" i="0">
                <a:solidFill>
                  <a:srgbClr val="7DCEA0"/>
                </a:solidFill>
                <a:latin typeface="Consolas"/>
              </a:rPr>
              <a:t> nodes, </a:t>
            </a:r>
            <a:r>
              <a:rPr sz="1700" i="0">
                <a:solidFill>
                  <a:srgbClr val="7DCEA0"/>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train </a:t>
            </a:r>
            <a:r>
              <a:rPr sz="1700" i="0">
                <a:solidFill>
                  <a:srgbClr val="7DCEA0"/>
                </a:solidFill>
                <a:latin typeface="Consolas"/>
              </a:rPr>
              <a:t>{</a:t>
            </a:r>
            <a:r>
              <a:rPr sz="1700" i="0">
                <a:solidFill>
                  <a:srgbClr val="E8EDF2"/>
                </a:solidFill>
                <a:latin typeface="Consolas"/>
              </a:rPr>
              <a:t>full</a:t>
            </a:r>
            <a:r>
              <a:rPr sz="1700" i="0">
                <a:solidFill>
                  <a:srgbClr val="AEB6BF"/>
                </a:solidFill>
                <a:latin typeface="Consolas"/>
              </a:rPr>
              <a:t>.</a:t>
            </a:r>
            <a:r>
              <a:rPr sz="1700" i="0">
                <a:solidFill>
                  <a:srgbClr val="E8EDF2"/>
                </a:solidFill>
                <a:latin typeface="Consolas"/>
              </a:rPr>
              <a:t>score</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test </a:t>
            </a:r>
            <a:r>
              <a:rPr sz="1700" i="0">
                <a:solidFill>
                  <a:srgbClr val="7DCEA0"/>
                </a:solidFill>
                <a:latin typeface="Consolas"/>
              </a:rPr>
              <a:t>{</a:t>
            </a:r>
            <a:r>
              <a:rPr sz="1700" i="0">
                <a:solidFill>
                  <a:srgbClr val="E8EDF2"/>
                </a:solidFill>
                <a:latin typeface="Consolas"/>
              </a:rPr>
              <a:t>full</a:t>
            </a:r>
            <a:r>
              <a:rPr sz="1700" i="0">
                <a:solidFill>
                  <a:srgbClr val="AEB6BF"/>
                </a:solidFill>
                <a:latin typeface="Consolas"/>
              </a:rPr>
              <a:t>.</a:t>
            </a:r>
            <a:r>
              <a:rPr sz="1700" i="0">
                <a:solidFill>
                  <a:srgbClr val="E8EDF2"/>
                </a:solidFill>
                <a:latin typeface="Consolas"/>
              </a:rPr>
              <a:t>score</a:t>
            </a:r>
            <a:r>
              <a:rPr sz="1700" i="0">
                <a:solidFill>
                  <a:srgbClr val="AEB6BF"/>
                </a:solidFill>
                <a:latin typeface="Consolas"/>
              </a:rPr>
              <a:t>(</a:t>
            </a:r>
            <a:r>
              <a:rPr sz="1700" i="0">
                <a:solidFill>
                  <a:srgbClr val="E8EDF2"/>
                </a:solidFill>
                <a:latin typeface="Consolas"/>
              </a:rPr>
              <a:t>X_te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y_te</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p:txBody>
      </p:sp>
      <p:sp>
        <p:nvSpPr>
          <p:cNvPr id="15" name="!!code-num"/>
          <p:cNvSpPr txBox="1"/>
          <p:nvPr/>
        </p:nvSpPr>
        <p:spPr>
          <a:xfrm>
            <a:off x="768096" y="2523744"/>
            <a:ext cx="393192" cy="270052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37</a:t>
            </a:r>
          </a:p>
          <a:p>
            <a:pPr algn="r">
              <a:lnSpc>
                <a:spcPct val="100000"/>
              </a:lnSpc>
            </a:pPr>
            <a:r>
              <a:rPr sz="1700">
                <a:solidFill>
                  <a:srgbClr val="4F5D6A"/>
                </a:solidFill>
                <a:latin typeface="Consolas"/>
              </a:rPr>
              <a:t>38</a:t>
            </a:r>
          </a:p>
          <a:p>
            <a:pPr algn="r">
              <a:lnSpc>
                <a:spcPct val="100000"/>
              </a:lnSpc>
            </a:pPr>
            <a:r>
              <a:rPr sz="1700">
                <a:solidFill>
                  <a:srgbClr val="4F5D6A"/>
                </a:solidFill>
                <a:latin typeface="Consolas"/>
              </a:rPr>
              <a:t>39</a:t>
            </a:r>
          </a:p>
          <a:p>
            <a:pPr algn="r">
              <a:lnSpc>
                <a:spcPct val="100000"/>
              </a:lnSpc>
            </a:pPr>
            <a:r>
              <a:rPr sz="1700">
                <a:solidFill>
                  <a:srgbClr val="4F5D6A"/>
                </a:solidFill>
                <a:latin typeface="Consolas"/>
              </a:rPr>
              <a:t>40</a:t>
            </a:r>
          </a:p>
          <a:p>
            <a:pPr algn="r">
              <a:lnSpc>
                <a:spcPct val="100000"/>
              </a:lnSpc>
            </a:pPr>
            <a:r>
              <a:rPr sz="1700">
                <a:solidFill>
                  <a:srgbClr val="4F5D6A"/>
                </a:solidFill>
                <a:latin typeface="Consolas"/>
              </a:rPr>
              <a:t>41</a:t>
            </a:r>
          </a:p>
          <a:p>
            <a:pPr algn="r">
              <a:lnSpc>
                <a:spcPct val="100000"/>
              </a:lnSpc>
            </a:pPr>
            <a:r>
              <a:rPr sz="1700">
                <a:solidFill>
                  <a:srgbClr val="4F5D6A"/>
                </a:solidFill>
                <a:latin typeface="Consolas"/>
              </a:rPr>
              <a:t>42</a:t>
            </a:r>
          </a:p>
          <a:p>
            <a:pPr algn="r">
              <a:lnSpc>
                <a:spcPct val="100000"/>
              </a:lnSpc>
            </a:pPr>
            <a:r>
              <a:rPr sz="1700">
                <a:solidFill>
                  <a:srgbClr val="4F5D6A"/>
                </a:solidFill>
                <a:latin typeface="Consolas"/>
              </a:rPr>
              <a:t>43</a:t>
            </a:r>
          </a:p>
          <a:p>
            <a:pPr algn="r">
              <a:lnSpc>
                <a:spcPct val="100000"/>
              </a:lnSpc>
            </a:pPr>
            <a:r>
              <a:rPr sz="1700">
                <a:solidFill>
                  <a:srgbClr val="4F5D6A"/>
                </a:solidFill>
                <a:latin typeface="Consolas"/>
              </a:rPr>
              <a:t>44</a:t>
            </a:r>
          </a:p>
          <a:p>
            <a:pPr algn="r">
              <a:lnSpc>
                <a:spcPct val="100000"/>
              </a:lnSpc>
            </a:pPr>
            <a:r>
              <a:rPr sz="1700">
                <a:solidFill>
                  <a:srgbClr val="4F5D6A"/>
                </a:solidFill>
                <a:latin typeface="Consolas"/>
              </a:rPr>
              <a:t>45</a:t>
            </a:r>
          </a:p>
          <a:p>
            <a:pPr algn="r">
              <a:lnSpc>
                <a:spcPct val="100000"/>
              </a:lnSpc>
            </a:pPr>
            <a:r>
              <a:rPr sz="17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ID3 by Hand, Then Pruning by Cross-Validation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9C5E4A82-0E02-4D94-959B-208895867F7D}"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Noisy data: a tree grown without limit, then pruned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53383"/>
          </a:xfrm>
          <a:prstGeom prst="roundRect">
            <a:avLst>
              <a:gd name="adj" fmla="val 26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code/ch09_id3_hand_pruning_cross.py</a:t>
            </a:r>
          </a:p>
        </p:txBody>
      </p:sp>
      <p:sp>
        <p:nvSpPr>
          <p:cNvPr id="14" name="!!code-text" descr="# cost-complexity pruning: choose alpha by 5-fold CV on the training data alphas = full.cost_complexity_pruning_path(X_tr, y_tr).ccp_alphas[:-1] cv = [cross_val_score(DecisionTreeClassifier(criterion=&quot;entropy&quot;, ccp_alpha=a, random_state=0), X_tr, y_tr, cv=5).mean() for a in alphas] best = alphas[int(np.argmax(cv))] pruned = DecisionTreeClassifier(criterion=&quot;entropy&quot;, ccp_alpha=best, random_state=0).fit(X_tr, y_tr) print(f&quot;pruned: {pruned.tree_.node_count:3d} nodes, &quot; f&quot;train {pruned.score(X_tr, y_tr):.3f}, &quot; f&quot;test {pruned.score(X_te, y_te):.3f} (alpha = {best:.4f})&quot;) print(export_text(pruned, max_depth=1))"/>
          <p:cNvSpPr txBox="1"/>
          <p:nvPr/>
        </p:nvSpPr>
        <p:spPr>
          <a:xfrm>
            <a:off x="1362456" y="2523744"/>
            <a:ext cx="9987991" cy="2959607"/>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cost-complexity pruning: choose alpha by 5-fold CV on the training data</a:t>
            </a:r>
          </a:p>
          <a:p>
            <a:pPr>
              <a:lnSpc>
                <a:spcPct val="100000"/>
              </a:lnSpc>
              <a:spcAft>
                <a:spcPts val="0"/>
              </a:spcAft>
            </a:pPr>
            <a:r>
              <a:rPr sz="1700" i="0">
                <a:solidFill>
                  <a:srgbClr val="E8EDF2"/>
                </a:solidFill>
                <a:latin typeface="Consolas"/>
              </a:rPr>
              <a:t>alphas</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full</a:t>
            </a:r>
            <a:r>
              <a:rPr sz="1700" i="0">
                <a:solidFill>
                  <a:srgbClr val="AEB6BF"/>
                </a:solidFill>
                <a:latin typeface="Consolas"/>
              </a:rPr>
              <a:t>.</a:t>
            </a:r>
            <a:r>
              <a:rPr sz="1700" i="0">
                <a:solidFill>
                  <a:srgbClr val="E8EDF2"/>
                </a:solidFill>
                <a:latin typeface="Consolas"/>
              </a:rPr>
              <a:t>cost_complexity_pruning_path</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ccp_alphas</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p>
          <a:p>
            <a:pPr>
              <a:lnSpc>
                <a:spcPct val="100000"/>
              </a:lnSpc>
              <a:spcAft>
                <a:spcPts val="0"/>
              </a:spcAft>
            </a:pPr>
            <a:r>
              <a:rPr sz="1700" i="0">
                <a:solidFill>
                  <a:srgbClr val="E8EDF2"/>
                </a:solidFill>
                <a:latin typeface="Consolas"/>
              </a:rPr>
              <a:t>cv</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cross_val_score</a:t>
            </a:r>
            <a:r>
              <a:rPr sz="1700" i="0">
                <a:solidFill>
                  <a:srgbClr val="AEB6BF"/>
                </a:solidFill>
                <a:latin typeface="Consolas"/>
              </a:rPr>
              <a:t>(</a:t>
            </a:r>
            <a:r>
              <a:rPr sz="1700" i="0">
                <a:solidFill>
                  <a:srgbClr val="E8EDF2"/>
                </a:solidFill>
                <a:latin typeface="Consolas"/>
              </a:rPr>
              <a:t>DecisionTreeClassifier</a:t>
            </a:r>
            <a:r>
              <a:rPr sz="1700" i="0">
                <a:solidFill>
                  <a:srgbClr val="AEB6BF"/>
                </a:solidFill>
                <a:latin typeface="Consolas"/>
              </a:rPr>
              <a:t>(</a:t>
            </a:r>
            <a:r>
              <a:rPr sz="1700" i="0">
                <a:solidFill>
                  <a:srgbClr val="E8EDF2"/>
                </a:solidFill>
                <a:latin typeface="Consolas"/>
              </a:rPr>
              <a:t>criterion</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entropy</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ccp_alpha</a:t>
            </a:r>
            <a:r>
              <a:rPr sz="1700" i="0">
                <a:solidFill>
                  <a:srgbClr val="AEB6BF"/>
                </a:solidFill>
                <a:latin typeface="Consolas"/>
              </a:rPr>
              <a:t>=</a:t>
            </a:r>
            <a:r>
              <a:rPr sz="1700" i="0">
                <a:solidFill>
                  <a:srgbClr val="E8EDF2"/>
                </a:solidFill>
                <a:latin typeface="Consolas"/>
              </a:rPr>
              <a:t>a</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cv</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a</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alphas</a:t>
            </a:r>
            <a:r>
              <a:rPr sz="1700" i="0">
                <a:solidFill>
                  <a:srgbClr val="AEB6BF"/>
                </a:solidFill>
                <a:latin typeface="Consolas"/>
              </a:rPr>
              <a:t>]</a:t>
            </a:r>
          </a:p>
          <a:p>
            <a:pPr>
              <a:lnSpc>
                <a:spcPct val="100000"/>
              </a:lnSpc>
              <a:spcAft>
                <a:spcPts val="0"/>
              </a:spcAft>
            </a:pPr>
            <a:r>
              <a:rPr sz="1700" i="0">
                <a:solidFill>
                  <a:srgbClr val="E8EDF2"/>
                </a:solidFill>
                <a:latin typeface="Consolas"/>
              </a:rPr>
              <a:t>best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alphas</a:t>
            </a:r>
            <a:r>
              <a:rPr sz="1700" i="0">
                <a:solidFill>
                  <a:srgbClr val="AEB6BF"/>
                </a:solidFill>
                <a:latin typeface="Consolas"/>
              </a:rPr>
              <a:t>[</a:t>
            </a:r>
            <a:r>
              <a:rPr sz="1700" i="0">
                <a:solidFill>
                  <a:srgbClr val="C39BD3"/>
                </a:solidFill>
                <a:latin typeface="Consolas"/>
              </a:rPr>
              <a:t>int</a:t>
            </a:r>
            <a:r>
              <a:rPr sz="1700" i="0">
                <a:solidFill>
                  <a:srgbClr val="AEB6BF"/>
                </a:solidFill>
                <a:latin typeface="Consolas"/>
              </a:rPr>
              <a:t>(</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argmax</a:t>
            </a:r>
            <a:r>
              <a:rPr sz="1700" i="0">
                <a:solidFill>
                  <a:srgbClr val="AEB6BF"/>
                </a:solidFill>
                <a:latin typeface="Consolas"/>
              </a:rPr>
              <a:t>(</a:t>
            </a:r>
            <a:r>
              <a:rPr sz="1700" i="0">
                <a:solidFill>
                  <a:srgbClr val="E8EDF2"/>
                </a:solidFill>
                <a:latin typeface="Consolas"/>
              </a:rPr>
              <a:t>cv</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pruned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DecisionTreeClassifier</a:t>
            </a:r>
            <a:r>
              <a:rPr sz="1700" i="0">
                <a:solidFill>
                  <a:srgbClr val="AEB6BF"/>
                </a:solidFill>
                <a:latin typeface="Consolas"/>
              </a:rPr>
              <a:t>(</a:t>
            </a:r>
            <a:r>
              <a:rPr sz="1700" i="0">
                <a:solidFill>
                  <a:srgbClr val="E8EDF2"/>
                </a:solidFill>
                <a:latin typeface="Consolas"/>
              </a:rPr>
              <a:t>criterion</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entropy</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ccp_alpha</a:t>
            </a:r>
            <a:r>
              <a:rPr sz="1700" i="0">
                <a:solidFill>
                  <a:srgbClr val="AEB6BF"/>
                </a:solidFill>
                <a:latin typeface="Consolas"/>
              </a:rPr>
              <a:t>=</a:t>
            </a:r>
            <a:r>
              <a:rPr sz="1700" i="0">
                <a:solidFill>
                  <a:srgbClr val="E8EDF2"/>
                </a:solidFill>
                <a:latin typeface="Consolas"/>
              </a:rPr>
              <a:t>best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pruned:   </a:t>
            </a:r>
            <a:r>
              <a:rPr sz="1700" i="0">
                <a:solidFill>
                  <a:srgbClr val="7DCEA0"/>
                </a:solidFill>
                <a:latin typeface="Consolas"/>
              </a:rPr>
              <a:t>{</a:t>
            </a:r>
            <a:r>
              <a:rPr sz="1700" i="0">
                <a:solidFill>
                  <a:srgbClr val="E8EDF2"/>
                </a:solidFill>
                <a:latin typeface="Consolas"/>
              </a:rPr>
              <a:t>pruned</a:t>
            </a:r>
            <a:r>
              <a:rPr sz="1700" i="0">
                <a:solidFill>
                  <a:srgbClr val="AEB6BF"/>
                </a:solidFill>
                <a:latin typeface="Consolas"/>
              </a:rPr>
              <a:t>.</a:t>
            </a:r>
            <a:r>
              <a:rPr sz="1700" i="0">
                <a:solidFill>
                  <a:srgbClr val="E8EDF2"/>
                </a:solidFill>
                <a:latin typeface="Consolas"/>
              </a:rPr>
              <a:t>tree_</a:t>
            </a:r>
            <a:r>
              <a:rPr sz="1700" i="0">
                <a:solidFill>
                  <a:srgbClr val="AEB6BF"/>
                </a:solidFill>
                <a:latin typeface="Consolas"/>
              </a:rPr>
              <a:t>.</a:t>
            </a:r>
            <a:r>
              <a:rPr sz="1700" i="0">
                <a:solidFill>
                  <a:srgbClr val="E8EDF2"/>
                </a:solidFill>
                <a:latin typeface="Consolas"/>
              </a:rPr>
              <a:t>node_count</a:t>
            </a:r>
            <a:r>
              <a:rPr sz="1700" i="0">
                <a:solidFill>
                  <a:srgbClr val="7DCEA0"/>
                </a:solidFill>
                <a:latin typeface="Consolas"/>
              </a:rPr>
              <a:t>:</a:t>
            </a:r>
            <a:r>
              <a:rPr sz="1700" i="0">
                <a:solidFill>
                  <a:srgbClr val="7DCEA0"/>
                </a:solidFill>
                <a:latin typeface="Consolas"/>
              </a:rPr>
              <a:t>3d</a:t>
            </a:r>
            <a:r>
              <a:rPr sz="1700" i="0">
                <a:solidFill>
                  <a:srgbClr val="7DCEA0"/>
                </a:solidFill>
                <a:latin typeface="Consolas"/>
              </a:rPr>
              <a:t>}</a:t>
            </a:r>
            <a:r>
              <a:rPr sz="1700" i="0">
                <a:solidFill>
                  <a:srgbClr val="7DCEA0"/>
                </a:solidFill>
                <a:latin typeface="Consolas"/>
              </a:rPr>
              <a:t> nodes, </a:t>
            </a:r>
            <a:r>
              <a:rPr sz="1700" i="0">
                <a:solidFill>
                  <a:srgbClr val="7DCEA0"/>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train </a:t>
            </a:r>
            <a:r>
              <a:rPr sz="1700" i="0">
                <a:solidFill>
                  <a:srgbClr val="7DCEA0"/>
                </a:solidFill>
                <a:latin typeface="Consolas"/>
              </a:rPr>
              <a:t>{</a:t>
            </a:r>
            <a:r>
              <a:rPr sz="1700" i="0">
                <a:solidFill>
                  <a:srgbClr val="E8EDF2"/>
                </a:solidFill>
                <a:latin typeface="Consolas"/>
              </a:rPr>
              <a:t>pruned</a:t>
            </a:r>
            <a:r>
              <a:rPr sz="1700" i="0">
                <a:solidFill>
                  <a:srgbClr val="AEB6BF"/>
                </a:solidFill>
                <a:latin typeface="Consolas"/>
              </a:rPr>
              <a:t>.</a:t>
            </a:r>
            <a:r>
              <a:rPr sz="1700" i="0">
                <a:solidFill>
                  <a:srgbClr val="E8EDF2"/>
                </a:solidFill>
                <a:latin typeface="Consolas"/>
              </a:rPr>
              <a:t>score</a:t>
            </a:r>
            <a:r>
              <a:rPr sz="1700" i="0">
                <a:solidFill>
                  <a:srgbClr val="AEB6BF"/>
                </a:solidFill>
                <a:latin typeface="Consolas"/>
              </a:rPr>
              <a:t>(</a:t>
            </a:r>
            <a:r>
              <a:rPr sz="1700" i="0">
                <a:solidFill>
                  <a:srgbClr val="E8EDF2"/>
                </a:solidFill>
                <a:latin typeface="Consolas"/>
              </a:rPr>
              <a:t>X_tr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y_tr</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test </a:t>
            </a:r>
            <a:r>
              <a:rPr sz="1700" i="0">
                <a:solidFill>
                  <a:srgbClr val="7DCEA0"/>
                </a:solidFill>
                <a:latin typeface="Consolas"/>
              </a:rPr>
              <a:t>{</a:t>
            </a:r>
            <a:r>
              <a:rPr sz="1700" i="0">
                <a:solidFill>
                  <a:srgbClr val="E8EDF2"/>
                </a:solidFill>
                <a:latin typeface="Consolas"/>
              </a:rPr>
              <a:t>pruned</a:t>
            </a:r>
            <a:r>
              <a:rPr sz="1700" i="0">
                <a:solidFill>
                  <a:srgbClr val="AEB6BF"/>
                </a:solidFill>
                <a:latin typeface="Consolas"/>
              </a:rPr>
              <a:t>.</a:t>
            </a:r>
            <a:r>
              <a:rPr sz="1700" i="0">
                <a:solidFill>
                  <a:srgbClr val="E8EDF2"/>
                </a:solidFill>
                <a:latin typeface="Consolas"/>
              </a:rPr>
              <a:t>score</a:t>
            </a:r>
            <a:r>
              <a:rPr sz="1700" i="0">
                <a:solidFill>
                  <a:srgbClr val="AEB6BF"/>
                </a:solidFill>
                <a:latin typeface="Consolas"/>
              </a:rPr>
              <a:t>(</a:t>
            </a:r>
            <a:r>
              <a:rPr sz="1700" i="0">
                <a:solidFill>
                  <a:srgbClr val="E8EDF2"/>
                </a:solidFill>
                <a:latin typeface="Consolas"/>
              </a:rPr>
              <a:t>X_te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y_te</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  (alpha = </a:t>
            </a:r>
            <a:r>
              <a:rPr sz="1700" i="0">
                <a:solidFill>
                  <a:srgbClr val="7DCEA0"/>
                </a:solidFill>
                <a:latin typeface="Consolas"/>
              </a:rPr>
              <a:t>{</a:t>
            </a:r>
            <a:r>
              <a:rPr sz="1700" i="0">
                <a:solidFill>
                  <a:srgbClr val="E8EDF2"/>
                </a:solidFill>
                <a:latin typeface="Consolas"/>
              </a:rPr>
              <a:t>best</a:t>
            </a:r>
            <a:r>
              <a:rPr sz="1700" i="0">
                <a:solidFill>
                  <a:srgbClr val="7DCEA0"/>
                </a:solidFill>
                <a:latin typeface="Consolas"/>
              </a:rPr>
              <a:t>:</a:t>
            </a:r>
            <a:r>
              <a:rPr sz="1700" i="0">
                <a:solidFill>
                  <a:srgbClr val="7DCEA0"/>
                </a:solidFill>
                <a:latin typeface="Consolas"/>
              </a:rPr>
              <a:t>.4f</a:t>
            </a:r>
            <a:r>
              <a:rPr sz="1700" i="0">
                <a:solidFill>
                  <a:srgbClr val="7DCEA0"/>
                </a:solidFill>
                <a:latin typeface="Consolas"/>
              </a:rPr>
              <a:t>}</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E8EDF2"/>
                </a:solidFill>
                <a:latin typeface="Consolas"/>
              </a:rPr>
              <a:t>export_text</a:t>
            </a:r>
            <a:r>
              <a:rPr sz="1700" i="0">
                <a:solidFill>
                  <a:srgbClr val="AEB6BF"/>
                </a:solidFill>
                <a:latin typeface="Consolas"/>
              </a:rPr>
              <a:t>(</a:t>
            </a:r>
            <a:r>
              <a:rPr sz="1700" i="0">
                <a:solidFill>
                  <a:srgbClr val="E8EDF2"/>
                </a:solidFill>
                <a:latin typeface="Consolas"/>
              </a:rPr>
              <a:t>pruned</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max_depth</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AEB6BF"/>
                </a:solidFill>
                <a:latin typeface="Consolas"/>
              </a:rPr>
              <a:t>)</a:t>
            </a:r>
          </a:p>
        </p:txBody>
      </p:sp>
      <p:sp>
        <p:nvSpPr>
          <p:cNvPr id="15" name="!!code-num"/>
          <p:cNvSpPr txBox="1"/>
          <p:nvPr/>
        </p:nvSpPr>
        <p:spPr>
          <a:xfrm>
            <a:off x="768096" y="2523744"/>
            <a:ext cx="393192" cy="295960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48</a:t>
            </a:r>
          </a:p>
          <a:p>
            <a:pPr algn="r">
              <a:lnSpc>
                <a:spcPct val="100000"/>
              </a:lnSpc>
            </a:pPr>
            <a:r>
              <a:rPr sz="1700">
                <a:solidFill>
                  <a:srgbClr val="4F5D6A"/>
                </a:solidFill>
                <a:latin typeface="Consolas"/>
              </a:rPr>
              <a:t>49</a:t>
            </a:r>
          </a:p>
          <a:p>
            <a:pPr algn="r">
              <a:lnSpc>
                <a:spcPct val="100000"/>
              </a:lnSpc>
            </a:pPr>
            <a:r>
              <a:rPr sz="1700">
                <a:solidFill>
                  <a:srgbClr val="4F5D6A"/>
                </a:solidFill>
                <a:latin typeface="Consolas"/>
              </a:rPr>
              <a:t>50</a:t>
            </a:r>
          </a:p>
          <a:p>
            <a:pPr algn="r">
              <a:lnSpc>
                <a:spcPct val="100000"/>
              </a:lnSpc>
            </a:pPr>
            <a:r>
              <a:rPr sz="1700">
                <a:solidFill>
                  <a:srgbClr val="4F5D6A"/>
                </a:solidFill>
                <a:latin typeface="Consolas"/>
              </a:rPr>
              <a:t>51</a:t>
            </a:r>
          </a:p>
          <a:p>
            <a:pPr algn="r">
              <a:lnSpc>
                <a:spcPct val="100000"/>
              </a:lnSpc>
            </a:pPr>
            <a:r>
              <a:rPr sz="1700">
                <a:solidFill>
                  <a:srgbClr val="4F5D6A"/>
                </a:solidFill>
                <a:latin typeface="Consolas"/>
              </a:rPr>
              <a:t>52</a:t>
            </a:r>
          </a:p>
          <a:p>
            <a:pPr algn="r">
              <a:lnSpc>
                <a:spcPct val="100000"/>
              </a:lnSpc>
            </a:pPr>
            <a:r>
              <a:rPr sz="1700">
                <a:solidFill>
                  <a:srgbClr val="4F5D6A"/>
                </a:solidFill>
                <a:latin typeface="Consolas"/>
              </a:rPr>
              <a:t>53</a:t>
            </a:r>
          </a:p>
          <a:p>
            <a:pPr algn="r">
              <a:lnSpc>
                <a:spcPct val="100000"/>
              </a:lnSpc>
            </a:pPr>
            <a:r>
              <a:rPr sz="1700">
                <a:solidFill>
                  <a:srgbClr val="4F5D6A"/>
                </a:solidFill>
                <a:latin typeface="Consolas"/>
              </a:rPr>
              <a:t>54</a:t>
            </a:r>
          </a:p>
          <a:p>
            <a:pPr algn="r">
              <a:lnSpc>
                <a:spcPct val="100000"/>
              </a:lnSpc>
            </a:pPr>
            <a:r>
              <a:rPr sz="1700">
                <a:solidFill>
                  <a:srgbClr val="4F5D6A"/>
                </a:solidFill>
                <a:latin typeface="Consolas"/>
              </a:rPr>
              <a:t>55</a:t>
            </a:r>
          </a:p>
          <a:p>
            <a:pPr algn="r">
              <a:lnSpc>
                <a:spcPct val="100000"/>
              </a:lnSpc>
            </a:pPr>
            <a:r>
              <a:rPr sz="1700">
                <a:solidFill>
                  <a:srgbClr val="4F5D6A"/>
                </a:solidFill>
                <a:latin typeface="Consolas"/>
              </a:rPr>
              <a:t>56</a:t>
            </a:r>
          </a:p>
          <a:p>
            <a:pPr algn="r">
              <a:lnSpc>
                <a:spcPct val="100000"/>
              </a:lnSpc>
            </a:pPr>
            <a:r>
              <a:rPr sz="1700">
                <a:solidFill>
                  <a:srgbClr val="4F5D6A"/>
                </a:solidFill>
                <a:latin typeface="Consolas"/>
              </a:rPr>
              <a:t>57</a:t>
            </a:r>
          </a:p>
          <a:p>
            <a:pPr algn="r">
              <a:lnSpc>
                <a:spcPct val="100000"/>
              </a:lnSpc>
            </a:pPr>
            <a:r>
              <a:rPr sz="1700">
                <a:solidFill>
                  <a:srgbClr val="4F5D6A"/>
                </a:solidFill>
                <a:latin typeface="Consolas"/>
              </a:rPr>
              <a:t>58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E9200081-C746-4750-93C4-13B108C0E52B}"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Part 1 prints 0.247 for Requirements and 0.152 for Load where the worked example has 0.246 and 0.151: the code does not round the intermediate entropies. Part 2 stands in for 1,500 past sprints described by ten numeric features, 15% of them recorded with the wrong outcome. Pruning cuts the tree from 207 to 63 nodes and </a:t>
            </a:r>
            <a:r>
              <a:rPr sz="2300" b="0" i="1">
                <a:solidFill>
                  <a:srgbClr val="1C252B"/>
                </a:solidFill>
                <a:latin typeface="Segoe UI"/>
              </a:rPr>
              <a:t>raises</a:t>
            </a:r>
            <a:r>
              <a:rPr sz="2300" b="0" i="0">
                <a:solidFill>
                  <a:srgbClr val="1C252B"/>
                </a:solidFill>
                <a:latin typeface="Segoe UI"/>
              </a:rPr>
              <a:t> test accuracy from 0.72 to 0.75 while lowering training accuracy — the signature of removing overfitting.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node holds 8 positive and 8 negative examples. A test splits it into (6+, 2</a:t>
            </a:r>
            <a:r>
              <a:rPr sz="3400" b="0" i="0">
                <a:solidFill>
                  <a:srgbClr val="FFFFFF"/>
                </a:solidFill>
                <a:latin typeface="Cambria"/>
              </a:rPr>
              <a:t>−</a:t>
            </a:r>
            <a:r>
              <a:rPr sz="3400" b="0" i="0">
                <a:solidFill>
                  <a:srgbClr val="FFFFFF"/>
                </a:solidFill>
                <a:latin typeface="Segoe UI Semibold"/>
              </a:rPr>
              <a:t>) and (2+, 6</a:t>
            </a:r>
            <a:r>
              <a:rPr sz="3400" b="0" i="0">
                <a:solidFill>
                  <a:srgbClr val="FFFFFF"/>
                </a:solidFill>
                <a:latin typeface="Cambria"/>
              </a:rPr>
              <a:t>−</a:t>
            </a:r>
            <a:r>
              <a:rPr sz="3400" b="0" i="0">
                <a:solidFill>
                  <a:srgbClr val="FFFFFF"/>
                </a:solidFill>
                <a:latin typeface="Segoe UI Semibold"/>
              </a:rPr>
              <a:t>). Compute the information gain.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9  ·  Decision Tree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74  ·  answers in Appendix D     </a:t>
            </a:r>
            <a:fld id="{87FABE14-6B94-44A3-9472-6C516A6B94C9}" type="slidenum">
              <a:rPr lang="en-GB" sz="1000">
                <a:solidFill>
                  <a:srgbClr val="D5DEE5"/>
                </a:solidFill>
                <a:latin typeface="Segoe UI"/>
              </a:rPr>
              <a:t>29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node holds 8 positive and 8 negative examples. A test splits it into (6+, 2</a:t>
            </a:r>
            <a:r>
              <a:rPr sz="2400" b="0" i="0">
                <a:solidFill>
                  <a:srgbClr val="1A5276"/>
                </a:solidFill>
                <a:latin typeface="Cambria"/>
              </a:rPr>
              <a:t>−</a:t>
            </a:r>
            <a:r>
              <a:rPr sz="2400" b="0" i="0">
                <a:solidFill>
                  <a:srgbClr val="1A5276"/>
                </a:solidFill>
                <a:latin typeface="Segoe UI Semibold"/>
              </a:rPr>
              <a:t>) and (2+, 6</a:t>
            </a:r>
            <a:r>
              <a:rPr sz="2400" b="0" i="0">
                <a:solidFill>
                  <a:srgbClr val="1A5276"/>
                </a:solidFill>
                <a:latin typeface="Cambria"/>
              </a:rPr>
              <a:t>−</a:t>
            </a:r>
            <a:r>
              <a:rPr sz="2400" b="0" i="0">
                <a:solidFill>
                  <a:srgbClr val="1A5276"/>
                </a:solidFill>
                <a:latin typeface="Segoe UI Semibold"/>
              </a:rPr>
              <a:t>). Compute the information gain.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parent has entropy 1. Each child has entropy </a:t>
            </a:r>
            <a:r>
              <a:rPr sz="2200" b="0" i="0">
                <a:solidFill>
                  <a:srgbClr val="1C252B"/>
                </a:solidFill>
                <a:latin typeface="Cambria"/>
              </a:rPr>
              <a:t>−0.75log</a:t>
            </a:r>
            <a:r>
              <a:rPr sz="2200" b="0" i="0" baseline="-25000">
                <a:solidFill>
                  <a:srgbClr val="1C252B"/>
                </a:solidFill>
                <a:latin typeface="Cambria"/>
              </a:rPr>
              <a:t>2</a:t>
            </a:r>
            <a:r>
              <a:rPr sz="2200" b="0" i="0">
                <a:solidFill>
                  <a:srgbClr val="1C252B"/>
                </a:solidFill>
                <a:latin typeface="Cambria"/>
              </a:rPr>
              <a:t> 0.75 − 0.25log</a:t>
            </a:r>
            <a:r>
              <a:rPr sz="2200" b="0" i="0" baseline="-25000">
                <a:solidFill>
                  <a:srgbClr val="1C252B"/>
                </a:solidFill>
                <a:latin typeface="Cambria"/>
              </a:rPr>
              <a:t>2</a:t>
            </a:r>
            <a:r>
              <a:rPr sz="2200" b="0" i="0">
                <a:solidFill>
                  <a:srgbClr val="1C252B"/>
                </a:solidFill>
                <a:latin typeface="Cambria"/>
              </a:rPr>
              <a:t> 0.25 = 0.811</a:t>
            </a:r>
            <a:r>
              <a:rPr sz="2200" b="0" i="0">
                <a:solidFill>
                  <a:srgbClr val="1C252B"/>
                </a:solidFill>
                <a:latin typeface="Segoe UI"/>
              </a:rPr>
              <a:t> and holds half the examples, so Gain </a:t>
            </a:r>
            <a:r>
              <a:rPr sz="2200" b="0" i="0">
                <a:solidFill>
                  <a:srgbClr val="1C252B"/>
                </a:solidFill>
                <a:latin typeface="Cambria"/>
              </a:rPr>
              <a:t>= 1 − 0.811 = 0.189</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74  ·  answers in Appendix D     </a:t>
            </a:r>
            <a:fld id="{23CBECDA-7D6E-460B-A3C3-873EE8ABE798}" type="slidenum">
              <a:rPr lang="en-GB" sz="1000">
                <a:solidFill>
                  <a:srgbClr val="8795A1"/>
                </a:solidFill>
                <a:latin typeface="Segoe UI"/>
              </a:rPr>
              <a:t>30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892075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information gain favour an attribute such as </a:t>
            </a:r>
            <a:r>
              <a:rPr sz="3400" b="0" i="1">
                <a:solidFill>
                  <a:srgbClr val="FFFFFF"/>
                </a:solidFill>
                <a:latin typeface="Segoe UI Semibold"/>
              </a:rPr>
              <a:t>TaskID</a:t>
            </a:r>
            <a:r>
              <a:rPr sz="3400" b="0" i="0">
                <a:solidFill>
                  <a:srgbClr val="FFFFFF"/>
                </a:solidFill>
                <a:latin typeface="Segoe UI Semibold"/>
              </a:rPr>
              <a:t>? What fixes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9  ·  Decision Tree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74  ·  answers in Appendix D     </a:t>
            </a:r>
            <a:fld id="{769A7603-4FE2-44AF-BC32-8CDFB1D0D2A7}"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Why does information gain favour an attribute such as </a:t>
            </a:r>
            <a:r>
              <a:rPr sz="2400" b="0" i="1">
                <a:solidFill>
                  <a:srgbClr val="1A5276"/>
                </a:solidFill>
                <a:latin typeface="Segoe UI Semibold"/>
              </a:rPr>
              <a:t>TaskID</a:t>
            </a:r>
            <a:r>
              <a:rPr sz="2400" b="0" i="0">
                <a:solidFill>
                  <a:srgbClr val="1A5276"/>
                </a:solidFill>
                <a:latin typeface="Segoe UI Semibold"/>
              </a:rPr>
              <a:t>? What fixes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Every ID is unique, so splitting on it gives one pure leaf per task: maximum gain, no generalisation. Use the gain ratio, whose split-information term penalises many-valued attributes — or remove identifiers.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74  ·  answers in Appendix D     </a:t>
            </a:r>
            <a:fld id="{B2875420-80E5-43B7-A5BC-47ADC7384F58}"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1546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What is the difference between a restriction bias and a preference bias? Which does ID3 have?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9  ·  Decision Tree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74  ·  answers in Appendix D     </a:t>
            </a:r>
            <a:fld id="{58A051C3-74E7-4C3D-BF05-9123D95E1F8B}"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What is the difference between a restriction bias and a preference bias? Which does ID3 have?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restriction bias limits which hypotheses can be represented (Candidate-Elimination’s conjunctions); a preference bias searches a complete space but prefers some hypotheses. ID3 has a preference bias: shorter trees, high-gain attributes near the root.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74  ·  answers in Appendix D     </a:t>
            </a:r>
            <a:fld id="{237E97EE-27C6-466C-A428-CC402EF0D2FF}"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01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74     </a:t>
            </a:r>
            <a:fld id="{ADC6B768-D2A9-45D4-81F3-CD91B601C567}" type="slidenum">
              <a:rPr lang="en-GB" sz="1000">
                <a:solidFill>
                  <a:srgbClr val="8795A1"/>
                </a:solidFill>
                <a:latin typeface="Segoe UI"/>
              </a:rPr>
              <a:t>35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decision tree is a disjunction of conjunctions of attribute tests; it can represent any discrete function and reads as a set of rules.</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ID3 grows the tree greedily, choosing at each node the attribute with the greatest information gain; on the sprint data, Requirements (0.246) wins at the root.</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Numeric attributes become threshold tests at class boundaries; the gain ratio corrects the preference for many-valued attributes; Gini behaves like entropy.</a:t>
            </a:r>
          </a:p>
        </p:txBody>
      </p:sp>
      <p:sp>
        <p:nvSpPr>
          <p:cNvPr id="16" name="!!sb3">
            <a:extLst>
              <a:ext uri="{C183D7F6-B498-43B3-948B-1728B52AA6E4}">
                <adec:decorative xmlns:adec="http://schemas.microsoft.com/office/drawing/2017/decorative" val="1"/>
              </a:ext>
            </a:extLst>
          </p:cNvPr>
          <p:cNvSpPr/>
          <p:nvPr/>
        </p:nvSpPr>
        <p:spPr>
          <a:xfrm>
            <a:off x="658368" y="429219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34705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283049"/>
            <a:ext cx="10234879" cy="99852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Grown to purity on noisy data, trees overfit. Pre-prune with depth or leaf-size limits, or post-prune by reduced error, rules or cost complexity, choosing the strength by validation.</a:t>
            </a:r>
          </a:p>
        </p:txBody>
      </p:sp>
      <p:sp>
        <p:nvSpPr>
          <p:cNvPr id="19" name="!!sb4">
            <a:extLst>
              <a:ext uri="{C183D7F6-B498-43B3-948B-1728B52AA6E4}">
                <adec:decorative xmlns:adec="http://schemas.microsoft.com/office/drawing/2017/decorative" val="1"/>
              </a:ext>
            </a:extLst>
          </p:cNvPr>
          <p:cNvSpPr/>
          <p:nvPr/>
        </p:nvSpPr>
        <p:spPr>
          <a:xfrm>
            <a:off x="658368" y="54735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5284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464454"/>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ID3’s inductive bias is a preference for short trees with high-gain attributes near the root — Occam’s razor.</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40754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74     </a:t>
            </a:r>
            <a:fld id="{A98B3EFB-54B7-46F6-AFB3-ED50CAA04D64}" type="slidenum">
              <a:rPr lang="en-GB" sz="1000">
                <a:solidFill>
                  <a:srgbClr val="8795A1"/>
                </a:solidFill>
                <a:latin typeface="Segoe UI"/>
              </a:rPr>
              <a:t>36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entropy of a node with 4 positive and 4 negative examples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0.5</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2</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74     </a:t>
            </a:r>
            <a:fld id="{44298F02-9B85-4CFF-AF17-24FA59F028AD}"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C4.5’s gain ratio divides information gain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number of examples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split information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Gini index</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tree depth</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74     </a:t>
            </a:r>
            <a:fld id="{35EF8DBA-6895-4D7B-97EE-3AA12714D88F}"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Cost-complexity pruning with a larger </a:t>
            </a:r>
            <a:r>
              <a:rPr sz="2600" b="0" i="0">
                <a:solidFill>
                  <a:srgbClr val="1C252B"/>
                </a:solidFill>
                <a:latin typeface="Cambria"/>
              </a:rPr>
              <a:t>α</a:t>
            </a:r>
            <a:r>
              <a:rPr sz="2600" b="0" i="0">
                <a:solidFill>
                  <a:srgbClr val="1C252B"/>
                </a:solidFill>
                <a:latin typeface="Segoe UI"/>
              </a:rPr>
              <a:t> gives: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larger tree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smaller tree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same tree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deeper tree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74     </a:t>
            </a:r>
            <a:fld id="{95199D6A-9319-4FEA-9625-BCA553FB92A4}" type="slidenum">
              <a:rPr lang="en-GB" sz="1000">
                <a:solidFill>
                  <a:srgbClr val="8795A1"/>
                </a:solidFill>
                <a:latin typeface="Segoe UI"/>
              </a:rPr>
              <a:t>39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 tree that classifies every training example correctly may be a poor model.</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Describe reduced-error pruning and state what data it requires.</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 decision trees not need feature scaling?</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Compute Gain(S, Pressure) for the full sprint data, showing the entropy of each of the three branches.</a:t>
            </a:r>
          </a:p>
        </p:txBody>
      </p:sp>
      <p:sp>
        <p:nvSpPr>
          <p:cNvPr id="19" name="!!rt4">
            <a:extLst>
              <a:ext uri="{C183D7F6-B498-43B3-948B-1728B52AA6E4}">
                <adec:decorative xmlns:adec="http://schemas.microsoft.com/office/drawing/2017/decorative" val="1"/>
              </a:ext>
            </a:extLst>
          </p:cNvPr>
          <p:cNvSpPr/>
          <p:nvPr/>
        </p:nvSpPr>
        <p:spPr>
          <a:xfrm>
            <a:off x="658368" y="413918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18033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12089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On the Vague branch of the sprint data (S4, S5, S6, S10, S14), compute the gain of Load, Pressure and Dependencies, and confirm that ID3 chooses Dependencies.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Inductive Bias of ID3</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9  ·  Decision Tree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D1A1CC8F-FA1D-4308-9768-448AB99AC668}" type="slidenum">
              <a:rPr lang="en-GB" sz="1000">
                <a:solidFill>
                  <a:srgbClr val="8795A1"/>
                </a:solidFill>
                <a:latin typeface="Segoe UI"/>
              </a:rPr>
              <a:t>40</a:t>
            </a:fld>
          </a:p>
        </p:txBody>
      </p:sp>
      <p:sp>
        <p:nvSpPr>
          <p:cNvPr id="7" name="!!stbar">
            <a:extLst>
              <a:ext uri="{C183D7F6-B498-43B3-948B-1728B52AA6E4}">
                <adec:decorative xmlns:adec="http://schemas.microsoft.com/office/drawing/2017/decorative" val="1"/>
              </a:ext>
            </a:extLst>
          </p:cNvPr>
          <p:cNvSpPr/>
          <p:nvPr/>
        </p:nvSpPr>
        <p:spPr>
          <a:xfrm>
            <a:off x="658368" y="1810512"/>
            <a:ext cx="73152" cy="367223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3754526"/>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ID3 searches a </a:t>
            </a:r>
            <a:r>
              <a:rPr sz="2600" b="0" i="1">
                <a:solidFill>
                  <a:srgbClr val="1C252B"/>
                </a:solidFill>
                <a:latin typeface="Segoe UI"/>
              </a:rPr>
              <a:t>complete</a:t>
            </a:r>
            <a:r>
              <a:rPr sz="2600" b="0" i="0">
                <a:solidFill>
                  <a:srgbClr val="1C252B"/>
                </a:solidFill>
                <a:latin typeface="Segoe UI"/>
              </a:rPr>
              <a:t> hypothesis space — every discrete function is some tree — so, unlike Candidate-Elimination, it does not restrict what can be learned. Its bias lies in its </a:t>
            </a:r>
            <a:r>
              <a:rPr sz="2600" b="0" i="1">
                <a:solidFill>
                  <a:srgbClr val="1C252B"/>
                </a:solidFill>
                <a:latin typeface="Segoe UI"/>
              </a:rPr>
              <a:t>search</a:t>
            </a:r>
            <a:r>
              <a:rPr sz="2600" b="0" i="0">
                <a:solidFill>
                  <a:srgbClr val="1C252B"/>
                </a:solidFill>
                <a:latin typeface="Segoe UI"/>
              </a:rPr>
              <a:t>: it is greedy, never backtracks, and so prefers </a:t>
            </a:r>
            <a:r>
              <a:rPr sz="2600" b="1" i="0">
                <a:solidFill>
                  <a:srgbClr val="1C252B"/>
                </a:solidFill>
                <a:latin typeface="Segoe UI"/>
              </a:rPr>
              <a:t>shorter trees</a:t>
            </a:r>
            <a:r>
              <a:rPr sz="2600" b="0" i="0">
                <a:solidFill>
                  <a:srgbClr val="1C252B"/>
                </a:solidFill>
                <a:latin typeface="Segoe UI"/>
              </a:rPr>
              <a:t> and trees that put </a:t>
            </a:r>
            <a:r>
              <a:rPr sz="2600" b="1" i="0">
                <a:solidFill>
                  <a:srgbClr val="1C252B"/>
                </a:solidFill>
                <a:latin typeface="Segoe UI"/>
              </a:rPr>
              <a:t>high-gain attributes near the root</a:t>
            </a:r>
            <a:r>
              <a:rPr sz="2600" b="0" i="0">
                <a:solidFill>
                  <a:srgbClr val="1C252B"/>
                </a:solidFill>
                <a:latin typeface="Segoe UI"/>
              </a:rPr>
              <a:t>. That is a </a:t>
            </a:r>
            <a:r>
              <a:rPr sz="2600" b="1" i="0">
                <a:solidFill>
                  <a:srgbClr val="1A5276"/>
                </a:solidFill>
                <a:latin typeface="Segoe UI"/>
              </a:rPr>
              <a:t>preference bias</a:t>
            </a:r>
            <a:r>
              <a:rPr sz="2600" b="0" i="0">
                <a:solidFill>
                  <a:srgbClr val="1C252B"/>
                </a:solidFill>
                <a:latin typeface="Segoe UI"/>
              </a:rPr>
              <a:t> (an ordering over hypotheses), where Candidate-Elimination’s was a </a:t>
            </a:r>
            <a:r>
              <a:rPr sz="2600" b="1" i="0">
                <a:solidFill>
                  <a:srgbClr val="1A5276"/>
                </a:solidFill>
                <a:latin typeface="Segoe UI"/>
              </a:rPr>
              <a:t>restriction bias</a:t>
            </a:r>
            <a:r>
              <a:rPr sz="2600" b="0" i="0">
                <a:solidFill>
                  <a:srgbClr val="1C252B"/>
                </a:solidFill>
                <a:latin typeface="Segoe UI"/>
              </a:rPr>
              <a:t> (a limit on which hypotheses exist). Its justification is a form of </a:t>
            </a:r>
            <a:r>
              <a:rPr sz="2600" b="1" i="0">
                <a:solidFill>
                  <a:srgbClr val="1A5276"/>
                </a:solidFill>
                <a:latin typeface="Segoe UI"/>
              </a:rPr>
              <a:t>Occam’s razor</a:t>
            </a:r>
            <a:r>
              <a:rPr sz="2600" b="0" i="0">
                <a:solidFill>
                  <a:srgbClr val="1C252B"/>
                </a:solidFill>
                <a:latin typeface="Segoe UI"/>
              </a:rPr>
              <a:t>: there are far fewer short trees than long ones, so a short tree that fits the data is less likely to fit it by coincidence.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09</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9</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10 — Bayesian Learning and Naive Bayes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9, pages 68–74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ID3 by hand, pruning by cross-validation</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Midterm (Ch 1–8)</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9  ·  Decision Tree Learning</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8E728F29-1260-4012-B406-080F46EB28E9}"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Decision Tree Learning</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