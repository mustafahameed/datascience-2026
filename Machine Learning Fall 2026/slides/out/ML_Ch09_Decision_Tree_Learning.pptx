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00.svg" ContentType="image/svg+xml"/>
  <Override PartName="/ppt/media/image101.svg" ContentType="image/svg+xml"/>
  <Override PartName="/ppt/media/image103.svg" ContentType="image/svg+xml"/>
  <Override PartName="/ppt/media/image12.svg" ContentType="image/svg+xml"/>
  <Override PartName="/ppt/media/image14.svg" ContentType="image/svg+xml"/>
  <Override PartName="/ppt/media/image15.svg" ContentType="image/svg+xml"/>
  <Override PartName="/ppt/media/image17.svg" ContentType="image/svg+xml"/>
  <Override PartName="/ppt/media/image19.svg" ContentType="image/svg+xml"/>
  <Override PartName="/ppt/media/image21.svg" ContentType="image/svg+xml"/>
  <Override PartName="/ppt/media/image23.svg" ContentType="image/svg+xml"/>
  <Override PartName="/ppt/media/image25.svg" ContentType="image/svg+xml"/>
  <Override PartName="/ppt/media/image27.svg" ContentType="image/svg+xml"/>
  <Override PartName="/ppt/media/image29.svg" ContentType="image/svg+xml"/>
  <Override PartName="/ppt/media/image30.svg" ContentType="image/svg+xml"/>
  <Override PartName="/ppt/media/image31.svg" ContentType="image/svg+xml"/>
  <Override PartName="/ppt/media/image32.svg" ContentType="image/svg+xml"/>
  <Override PartName="/ppt/media/image34.svg" ContentType="image/svg+xml"/>
  <Override PartName="/ppt/media/image35.svg" ContentType="image/svg+xml"/>
  <Override PartName="/ppt/media/image37.svg" ContentType="image/svg+xml"/>
  <Override PartName="/ppt/media/image39.svg" ContentType="image/svg+xml"/>
  <Override PartName="/ppt/media/image4.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0.svg" ContentType="image/svg+xml"/>
  <Override PartName="/ppt/media/image52.svg" ContentType="image/svg+xml"/>
  <Override PartName="/ppt/media/image54.svg" ContentType="image/svg+xml"/>
  <Override PartName="/ppt/media/image56.svg" ContentType="image/svg+xml"/>
  <Override PartName="/ppt/media/image57.svg" ContentType="image/svg+xml"/>
  <Override PartName="/ppt/media/image58.svg" ContentType="image/svg+xml"/>
  <Override PartName="/ppt/media/image59.svg" ContentType="image/svg+xml"/>
  <Override PartName="/ppt/media/image6.svg" ContentType="image/svg+xml"/>
  <Override PartName="/ppt/media/image60.svg" ContentType="image/svg+xml"/>
  <Override PartName="/ppt/media/image62.svg" ContentType="image/svg+xml"/>
  <Override PartName="/ppt/media/image63.svg" ContentType="image/svg+xml"/>
  <Override PartName="/ppt/media/image64.svg" ContentType="image/svg+xml"/>
  <Override PartName="/ppt/media/image65.svg" ContentType="image/svg+xml"/>
  <Override PartName="/ppt/media/image66.svg" ContentType="image/svg+xml"/>
  <Override PartName="/ppt/media/image68.svg" ContentType="image/svg+xml"/>
  <Override PartName="/ppt/media/image69.svg" ContentType="image/svg+xml"/>
  <Override PartName="/ppt/media/image70.svg" ContentType="image/svg+xml"/>
  <Override PartName="/ppt/media/image71.svg" ContentType="image/svg+xml"/>
  <Override PartName="/ppt/media/image72.svg" ContentType="image/svg+xml"/>
  <Override PartName="/ppt/media/image74.svg" ContentType="image/svg+xml"/>
  <Override PartName="/ppt/media/image75.svg" ContentType="image/svg+xml"/>
  <Override PartName="/ppt/media/image76.svg" ContentType="image/svg+xml"/>
  <Override PartName="/ppt/media/image77.svg" ContentType="image/svg+xml"/>
  <Override PartName="/ppt/media/image78.svg" ContentType="image/svg+xml"/>
  <Override PartName="/ppt/media/image8.svg" ContentType="image/svg+xml"/>
  <Override PartName="/ppt/media/image80.svg" ContentType="image/svg+xml"/>
  <Override PartName="/ppt/media/image81.svg" ContentType="image/svg+xml"/>
  <Override PartName="/ppt/media/image82.svg" ContentType="image/svg+xml"/>
  <Override PartName="/ppt/media/image83.svg" ContentType="image/svg+xml"/>
  <Override PartName="/ppt/media/image84.svg" ContentType="image/svg+xml"/>
  <Override PartName="/ppt/media/image85.svg" ContentType="image/svg+xml"/>
  <Override PartName="/ppt/media/image86.svg" ContentType="image/svg+xml"/>
  <Override PartName="/ppt/media/image88.svg" ContentType="image/svg+xml"/>
  <Override PartName="/ppt/media/image90.svg" ContentType="image/svg+xml"/>
  <Override PartName="/ppt/media/image91.svg" ContentType="image/svg+xml"/>
  <Override PartName="/ppt/media/image92.svg" ContentType="image/svg+xml"/>
  <Override PartName="/ppt/media/image93.svg" ContentType="image/svg+xml"/>
  <Override PartName="/ppt/media/image94.svg" ContentType="image/svg+xml"/>
  <Override PartName="/ppt/media/image96.svg" ContentType="image/svg+xml"/>
  <Override PartName="/ppt/media/image98.svg" ContentType="image/svg+xml"/>
  <Override PartName="/ppt/media/image9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40AB893-15FD-47F0-8780-4CD959B974C6}">
          <p14:sldIdLst>
            <p14:sldId id="256"/>
            <p14:sldId id="257"/>
            <p14:sldId id="258"/>
            <p14:sldId id="259"/>
            <p14:sldId id="260"/>
          </p14:sldIdLst>
        </p14:section>
        <p14:section name="9.1 Trees as Hypotheses" id="{3137D5A5-BE37-4882-8120-8C3F60ED7D78}">
          <p14:sldIdLst>
            <p14:sldId id="261"/>
          </p14:sldIdLst>
        </p14:section>
        <p14:section name="9.2 Choosing the Question: Entropy and Information Gain" id="{263DBA34-CD56-41C8-88AB-6BD9D05EF4F6}">
          <p14:sldIdLst>
            <p14:sldId id="262"/>
            <p14:sldId id="263"/>
            <p14:sldId id="264"/>
            <p14:sldId id="265"/>
            <p14:sldId id="266"/>
            <p14:sldId id="267"/>
            <p14:sldId id="268"/>
          </p14:sldIdLst>
        </p14:section>
        <p14:section name="9.3 Beyond the Basic Algorithm" id="{76C7C02C-4AD7-40D6-B6A7-DD3FC66CBF3D}">
          <p14:sldIdLst>
            <p14:sldId id="269"/>
            <p14:sldId id="270"/>
            <p14:sldId id="271"/>
          </p14:sldIdLst>
        </p14:section>
        <p14:section name="9.4 Overfitting, Noisy Data and Pruning" id="{8CF3FE47-8183-4543-8E57-FFD76908246B}">
          <p14:sldIdLst>
            <p14:sldId id="272"/>
            <p14:sldId id="273"/>
            <p14:sldId id="274"/>
            <p14:sldId id="275"/>
          </p14:sldIdLst>
        </p14:section>
        <p14:section name="Pitfalls" id="{E0FDD10E-B35C-4BC6-80AB-C3F8DE285501}">
          <p14:sldIdLst>
            <p14:sldId id="276"/>
          </p14:sldIdLst>
        </p14:section>
        <p14:section name="Four lenses" id="{33594FAC-46CB-467E-9367-4B21535C4161}">
          <p14:sldIdLst>
            <p14:sldId id="277"/>
            <p14:sldId id="278"/>
            <p14:sldId id="279"/>
            <p14:sldId id="280"/>
            <p14:sldId id="281"/>
          </p14:sldIdLst>
        </p14:section>
        <p14:section name="Lab" id="{E39375A0-660D-4560-AD0F-8C968C606EC3}">
          <p14:sldIdLst>
            <p14:sldId id="282"/>
            <p14:sldId id="283"/>
            <p14:sldId id="284"/>
            <p14:sldId id="285"/>
            <p14:sldId id="286"/>
            <p14:sldId id="287"/>
            <p14:sldId id="288"/>
          </p14:sldIdLst>
        </p14:section>
        <p14:section name="Checkpoint" id="{A719739A-C2DA-436F-9DDF-AE86FC4B11E7}">
          <p14:sldIdLst>
            <p14:sldId id="289"/>
            <p14:sldId id="290"/>
            <p14:sldId id="291"/>
            <p14:sldId id="292"/>
            <p14:sldId id="293"/>
            <p14:sldId id="294"/>
          </p14:sldIdLst>
        </p14:section>
        <p14:section name="Wrap-up" id="{FBB9086C-E3C1-417E-A65D-773C1906F065}">
          <p14:sldIdLst>
            <p14:sldId id="295"/>
            <p14:sldId id="296"/>
            <p14:sldId id="297"/>
            <p14:sldId id="298"/>
            <p14:sldId id="299"/>
            <p14:sldId id="300"/>
            <p14:sldId id="301"/>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9: Decision Tree Learning. Part 3 — Supervised Learning Algorithms. Week 8: Decision trees. Handout pages 70–76.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2 (entropy), Chapter 4 (hypothesis spaces and inductive bias) and Chapter 7 (overfitting, noise, choosing a setting by cross-validation).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decision tree; internal node, branch, leaf; ID3; entropy; information gain; split information; gain ratio; Gini index; CART; threshold split; overfitting; pre-pruning; reduced-error pruning; rule post-pruning; cost-complexity pruning; Occam’s razor.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decision tree classifies an example by asking a sequence of questions about its attributes. Each internal node tests one attribute, each branch is one outcome of the test, and each leaf gives a class. To classify, start at the root and follow the branches that match the example until a leaf is reached.</a:t>
            </a:r>
          </a:p>
          <a:p/>
          <a:p>
            <a:r>
              <a:t>Figure 9.1 (handout p. 70): The tree ID3 learns from the fourteen PlayTennis days. Under each leaf are the training days that reach it; every leaf is pure. It is equivalent to the rule: play if (Sunny and Normal humidity) or Overcast or (Rain and Weak wind).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tree is a disjunction of conjunctions: each root-to-leaf path is an AND of tests, and the tree is the OR of the paths that end in “Yes”. That makes trees far more expressive than the conjunctions of Chapter 4 — a large enough tree can represent any discrete function — and it makes them readable. Trees suit problems where examples are attribute–value pairs, the target is discrete, disjunctions may be needed, and the training data may contain errors or missing values. The fourteen training days of PlayTennis, from Mitchell’s set text: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table row by row: pick the row the room is most likely to get wrong and ask why.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ID3 grows the tree top-down and greedily: at each node, it asks which single attribute best separates the examples that reach it, puts that attribute there, and recurses on each branch. “Best separates” is measured with the entropy of Chapter 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9.2 (handout p. 72): Two impurity measures for a two-class node. Both are zero for a pure node and largest for an even split; they almost always pick the same attribute.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Continuous attributes. A numeric attribute is turned into a yes/no test A ≤ t. The only thresholds worth trying are midpoints between adjacent sorted values where the class changes; each is scored by information gain like any other attribute.</a:t>
            </a:r>
          </a:p>
          <a:p/>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Attributes with many values. Information gain favours attributes with many values. An attribute such as Date splits the training days into fourteen pure singletons — maximal gain, zero use. C4.5 corrects this with the gain ratio, dividing the gain by the split information, the entropy of the split itself: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Outlook (5, 4, 5 days) SplitInfo = 1.577 and the gain ratio is 0.246/1.577 = 0.156. For Date, SplitInfo = log2 14 = 3.81, which heavily discounts its gain.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Missing values. An example missing the tested attribute can be sent down the most common branch, or split fractionally among all branches in proportion to their training frequencies (C4.5’s approach). ID3 keeps splitting until every leaf is pure. With noisy data that means growing branches whose only purpose is to fit the mislabelled examples: add one wrongly labelled day to PlayTennis — (Sunny, Hot, Normal, Strong, No) — and ID3 must grow a new subtree under Sunny/Normal just to isolate it. Figure 9.3 shows the effect on a dataset in which 15% of the labels were flipped.</a:t>
            </a:r>
          </a:p>
          <a:p/>
          <a:p>
            <a:r>
              <a:t>Figure 9.3 (handout p. 73): Accuracy against tree size on data with 15% label noise. Training accuracy climbs to 100% as the tree memorises the noise; test accuracy peaks early and then declines.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method, four domains. Each of the next four slides opens one lens in full.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Analytics. An advising tree — “attendance below 60% and two quizzes missed: refer” — can be printed on one page and checked by staff, which matters more in a university committee than two points of accuracy. Keep it shallow: a depth-3 tree is policy; a depth-12 tree is noise.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Management. Trees handle the mix of categorical and numeric project attributes (methodology, team size, number of integrations) without encoding, and their rules — “fixed-price and more than three external integrations” — map directly onto risk checklists.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Internet of Things. A shallow tree compiles to a few nested if statements, so it runs on the smallest microcontroller with no library at all. Threshold tests on sensor readings are also exactly how maintenance engineers already think.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Cybersecurity. Early intrusion detection systems were decision trees over connection features, and the rules are still a good way to explain an alert. Their weakness is that an attacker who learns the thresholds can stay just inside them — keep the rules secret, and prefer ensembles of trees in deployment.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the room will have at the end of the lab, then let them start. Circulate rather than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ID3's first choice, computed by hand.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ID3's first choice, computed by hand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Noisy data: a tree grown without limit, then pruned.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Noisy data: a tree grown without limit, then pruned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The parent has entropy 1. Each child has entropy −0.75log2 0.75 − 0.25log2 0.25 = 0.811 and holds half the examples, so Gain = 1 − 0.811 = 0.189.</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Every ID is unique, so splitting on it gives one pure leaf per student: maximum gain, no generalisation. Use the gain ratio, whose split-information term penalises many-valued attributes — or remove identifiers.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A restriction bias limits which hypotheses can be represented (Candidate-Elimination’s conjunctions); a preference bias searches a complete space but prefers some hypotheses. ID3 has a preference bias: shorter trees, high-gain attributes near the root.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10 — Bayesian Learning and Naive Bayes. READ: Handout Chapter 9, pages 70–76. THIS WEEK'S LAB: ID3 by hand, pruning by cross-validation. ASSESSMENT: Midterm (Ch 1–8).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14.xml"/><Relationship Id="rId8" Type="http://schemas.openxmlformats.org/officeDocument/2006/relationships/slide" Target="slide17.xml"/><Relationship Id="rId9" Type="http://schemas.openxmlformats.org/officeDocument/2006/relationships/slide" Target="slide4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5.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image" Target="../media/image17.svg"/><Relationship Id="rId4" Type="http://schemas.openxmlformats.org/officeDocument/2006/relationships/image" Target="../media/image18.png"/><Relationship Id="rId5" Type="http://schemas.openxmlformats.org/officeDocument/2006/relationships/image" Target="../media/image19.sv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image" Target="../media/image21.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23.svg"/><Relationship Id="rId4" Type="http://schemas.openxmlformats.org/officeDocument/2006/relationships/image" Target="../media/image24.png"/><Relationship Id="rId5" Type="http://schemas.openxmlformats.org/officeDocument/2006/relationships/image" Target="../media/image25.svg"/><Relationship Id="rId6" Type="http://schemas.openxmlformats.org/officeDocument/2006/relationships/image" Target="../media/image26.png"/><Relationship Id="rId7" Type="http://schemas.openxmlformats.org/officeDocument/2006/relationships/image" Target="../media/image27.svg"/><Relationship Id="rId8" Type="http://schemas.openxmlformats.org/officeDocument/2006/relationships/image" Target="../media/image28.png"/><Relationship Id="rId9" Type="http://schemas.openxmlformats.org/officeDocument/2006/relationships/image" Target="../media/image29.svg"/><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30.sv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31.sv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32.svg"/><Relationship Id="rId4" Type="http://schemas.openxmlformats.org/officeDocument/2006/relationships/image" Target="../media/image33.png"/><Relationship Id="rId5" Type="http://schemas.openxmlformats.org/officeDocument/2006/relationships/image" Target="../media/image34.sv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35.sv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image" Target="../media/image39.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image" Target="../media/image40.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42.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3.png"/><Relationship Id="rId3" Type="http://schemas.openxmlformats.org/officeDocument/2006/relationships/image" Target="../media/image44.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46.svg"/><Relationship Id="rId4" Type="http://schemas.openxmlformats.org/officeDocument/2006/relationships/image" Target="../media/image47.png"/><Relationship Id="rId5" Type="http://schemas.openxmlformats.org/officeDocument/2006/relationships/image" Target="../media/image48.svg"/><Relationship Id="rId6" Type="http://schemas.openxmlformats.org/officeDocument/2006/relationships/image" Target="../media/image49.png"/><Relationship Id="rId7" Type="http://schemas.openxmlformats.org/officeDocument/2006/relationships/image" Target="../media/image50.svg"/><Relationship Id="rId8" Type="http://schemas.openxmlformats.org/officeDocument/2006/relationships/image" Target="../media/image51.png"/><Relationship Id="rId9" Type="http://schemas.openxmlformats.org/officeDocument/2006/relationships/image" Target="../media/image52.svg"/><Relationship Id="rId10" Type="http://schemas.openxmlformats.org/officeDocument/2006/relationships/image" Target="../media/image53.png"/><Relationship Id="rId11" Type="http://schemas.openxmlformats.org/officeDocument/2006/relationships/image" Target="../media/image54.svg"/><Relationship Id="rId1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5.png"/><Relationship Id="rId3" Type="http://schemas.openxmlformats.org/officeDocument/2006/relationships/image" Target="../media/image56.svg"/><Relationship Id="rId4" Type="http://schemas.openxmlformats.org/officeDocument/2006/relationships/image" Target="../media/image47.png"/><Relationship Id="rId5" Type="http://schemas.openxmlformats.org/officeDocument/2006/relationships/image" Target="../media/image57.svg"/><Relationship Id="rId6" Type="http://schemas.openxmlformats.org/officeDocument/2006/relationships/image" Target="../media/image49.png"/><Relationship Id="rId7" Type="http://schemas.openxmlformats.org/officeDocument/2006/relationships/image" Target="../media/image58.svg"/><Relationship Id="rId8" Type="http://schemas.openxmlformats.org/officeDocument/2006/relationships/image" Target="../media/image51.png"/><Relationship Id="rId9" Type="http://schemas.openxmlformats.org/officeDocument/2006/relationships/image" Target="../media/image59.svg"/><Relationship Id="rId10" Type="http://schemas.openxmlformats.org/officeDocument/2006/relationships/image" Target="../media/image53.png"/><Relationship Id="rId11" Type="http://schemas.openxmlformats.org/officeDocument/2006/relationships/image" Target="../media/image60.svg"/><Relationship Id="rId1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1.png"/><Relationship Id="rId3" Type="http://schemas.openxmlformats.org/officeDocument/2006/relationships/image" Target="../media/image62.svg"/><Relationship Id="rId4" Type="http://schemas.openxmlformats.org/officeDocument/2006/relationships/image" Target="../media/image49.png"/><Relationship Id="rId5" Type="http://schemas.openxmlformats.org/officeDocument/2006/relationships/image" Target="../media/image63.svg"/><Relationship Id="rId6" Type="http://schemas.openxmlformats.org/officeDocument/2006/relationships/image" Target="../media/image47.png"/><Relationship Id="rId7" Type="http://schemas.openxmlformats.org/officeDocument/2006/relationships/image" Target="../media/image64.svg"/><Relationship Id="rId8" Type="http://schemas.openxmlformats.org/officeDocument/2006/relationships/image" Target="../media/image51.png"/><Relationship Id="rId9" Type="http://schemas.openxmlformats.org/officeDocument/2006/relationships/image" Target="../media/image65.svg"/><Relationship Id="rId10" Type="http://schemas.openxmlformats.org/officeDocument/2006/relationships/image" Target="../media/image53.png"/><Relationship Id="rId11" Type="http://schemas.openxmlformats.org/officeDocument/2006/relationships/image" Target="../media/image66.svg"/><Relationship Id="rId1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7.png"/><Relationship Id="rId3" Type="http://schemas.openxmlformats.org/officeDocument/2006/relationships/image" Target="../media/image68.svg"/><Relationship Id="rId4" Type="http://schemas.openxmlformats.org/officeDocument/2006/relationships/image" Target="../media/image51.png"/><Relationship Id="rId5" Type="http://schemas.openxmlformats.org/officeDocument/2006/relationships/image" Target="../media/image69.svg"/><Relationship Id="rId6" Type="http://schemas.openxmlformats.org/officeDocument/2006/relationships/image" Target="../media/image47.png"/><Relationship Id="rId7" Type="http://schemas.openxmlformats.org/officeDocument/2006/relationships/image" Target="../media/image70.svg"/><Relationship Id="rId8" Type="http://schemas.openxmlformats.org/officeDocument/2006/relationships/image" Target="../media/image49.png"/><Relationship Id="rId9" Type="http://schemas.openxmlformats.org/officeDocument/2006/relationships/image" Target="../media/image71.svg"/><Relationship Id="rId10" Type="http://schemas.openxmlformats.org/officeDocument/2006/relationships/image" Target="../media/image53.png"/><Relationship Id="rId11" Type="http://schemas.openxmlformats.org/officeDocument/2006/relationships/image" Target="../media/image72.svg"/><Relationship Id="rId1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image" Target="../media/image74.svg"/><Relationship Id="rId4" Type="http://schemas.openxmlformats.org/officeDocument/2006/relationships/image" Target="../media/image53.png"/><Relationship Id="rId5" Type="http://schemas.openxmlformats.org/officeDocument/2006/relationships/image" Target="../media/image75.svg"/><Relationship Id="rId6" Type="http://schemas.openxmlformats.org/officeDocument/2006/relationships/image" Target="../media/image47.png"/><Relationship Id="rId7" Type="http://schemas.openxmlformats.org/officeDocument/2006/relationships/image" Target="../media/image76.svg"/><Relationship Id="rId8" Type="http://schemas.openxmlformats.org/officeDocument/2006/relationships/image" Target="../media/image49.png"/><Relationship Id="rId9" Type="http://schemas.openxmlformats.org/officeDocument/2006/relationships/image" Target="../media/image77.svg"/><Relationship Id="rId10" Type="http://schemas.openxmlformats.org/officeDocument/2006/relationships/image" Target="../media/image51.png"/><Relationship Id="rId11" Type="http://schemas.openxmlformats.org/officeDocument/2006/relationships/image" Target="../media/image78.svg"/><Relationship Id="rId1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9.png"/><Relationship Id="rId3" Type="http://schemas.openxmlformats.org/officeDocument/2006/relationships/image" Target="../media/image80.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9.png"/><Relationship Id="rId3" Type="http://schemas.openxmlformats.org/officeDocument/2006/relationships/image" Target="../media/image81.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9.png"/><Relationship Id="rId3" Type="http://schemas.openxmlformats.org/officeDocument/2006/relationships/image" Target="../media/image82.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9.png"/><Relationship Id="rId3" Type="http://schemas.openxmlformats.org/officeDocument/2006/relationships/image" Target="../media/image83.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9.png"/><Relationship Id="rId3" Type="http://schemas.openxmlformats.org/officeDocument/2006/relationships/image" Target="../media/image84.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9.png"/><Relationship Id="rId3" Type="http://schemas.openxmlformats.org/officeDocument/2006/relationships/image" Target="../media/image85.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9.png"/><Relationship Id="rId3" Type="http://schemas.openxmlformats.org/officeDocument/2006/relationships/image" Target="../media/image86.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7.png"/><Relationship Id="rId3" Type="http://schemas.openxmlformats.org/officeDocument/2006/relationships/image" Target="../media/image88.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9.png"/><Relationship Id="rId3" Type="http://schemas.openxmlformats.org/officeDocument/2006/relationships/image" Target="../media/image90.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7.png"/><Relationship Id="rId3" Type="http://schemas.openxmlformats.org/officeDocument/2006/relationships/image" Target="../media/image91.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9.png"/><Relationship Id="rId3" Type="http://schemas.openxmlformats.org/officeDocument/2006/relationships/image" Target="../media/image92.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7.png"/><Relationship Id="rId3" Type="http://schemas.openxmlformats.org/officeDocument/2006/relationships/image" Target="../media/image93.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9.png"/><Relationship Id="rId3" Type="http://schemas.openxmlformats.org/officeDocument/2006/relationships/image" Target="../media/image94.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5.png"/><Relationship Id="rId3" Type="http://schemas.openxmlformats.org/officeDocument/2006/relationships/image" Target="../media/image96.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7.png"/><Relationship Id="rId3" Type="http://schemas.openxmlformats.org/officeDocument/2006/relationships/image" Target="../media/image98.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7.png"/><Relationship Id="rId3" Type="http://schemas.openxmlformats.org/officeDocument/2006/relationships/image" Target="../media/image99.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7.png"/><Relationship Id="rId3" Type="http://schemas.openxmlformats.org/officeDocument/2006/relationships/image" Target="../media/image100.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7.png"/><Relationship Id="rId3" Type="http://schemas.openxmlformats.org/officeDocument/2006/relationships/image" Target="../media/image101.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2.png"/><Relationship Id="rId3" Type="http://schemas.openxmlformats.org/officeDocument/2006/relationships/image" Target="../media/image103.sv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7A43"/>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28756"/>
                </a:solidFill>
                <a:latin typeface="Segoe UI Black"/>
              </a:rPr>
              <a:t>09</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Decision Tree Learning</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DACA"/>
                </a:solidFill>
                <a:latin typeface="Segoe UI"/>
              </a:rPr>
              <a:t>PART III  ·  SUPERVISED LEARNING ALGORITHMS</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DACA"/>
                </a:solidFill>
                <a:latin typeface="Segoe UI"/>
              </a:rPr>
              <a:t>CHAPTER 9  ·  WEEK 8</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D1E4D9"/>
                </a:solidFill>
                <a:latin typeface="Segoe UI"/>
              </a:rPr>
              <a:t>Machine Learning — From Hypotheses to Decisions</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1358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A5C0B0"/>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BDD0C5"/>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A5C0B0"/>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70     </a:t>
            </a:r>
            <a:fld id="{B910FD7A-CB79-4907-874C-B5CB84C22933}" type="slidenum">
              <a:rPr lang="en-GB" sz="1000">
                <a:solidFill>
                  <a:srgbClr val="8795A1"/>
                </a:solidFill>
                <a:latin typeface="Segoe UI"/>
              </a:rPr>
              <a:t>2</a:t>
            </a:fld>
          </a:p>
        </p:txBody>
      </p:sp>
      <p:sp>
        <p:nvSpPr>
          <p:cNvPr id="7" name="!!rp1"/>
          <p:cNvSpPr txBox="1"/>
          <p:nvPr/>
        </p:nvSpPr>
        <p:spPr>
          <a:xfrm>
            <a:off x="777239"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689666"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689666"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4757540" y="1755648"/>
            <a:ext cx="2557743"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B7A43"/>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4757540" y="2029967"/>
            <a:ext cx="2557743" cy="4572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7644467"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7644467"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9147366"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9147366"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10650266" y="1755648"/>
            <a:ext cx="764189"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10650266" y="2029967"/>
            <a:ext cx="764189"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045990"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19545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39363"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0479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548890"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4574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3958416"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386697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651407" y="2112264"/>
            <a:ext cx="566928" cy="566928"/>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651407"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9</a:t>
            </a:r>
          </a:p>
        </p:txBody>
      </p:sp>
      <p:sp>
        <p:nvSpPr>
          <p:cNvPr id="37" name="!!dot10">
            <a:extLst>
              <a:ext uri="{C183D7F6-B498-43B3-948B-1728B52AA6E4}">
                <adec:decorative xmlns:adec="http://schemas.microsoft.com/office/drawing/2017/decorative" val="1"/>
              </a:ext>
            </a:extLst>
          </p:cNvPr>
          <p:cNvSpPr/>
          <p:nvPr/>
        </p:nvSpPr>
        <p:spPr>
          <a:xfrm>
            <a:off x="5362685"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527124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772212"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68077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6181738"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609029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591265"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49982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000791"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690935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684638"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59319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8094164"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80027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8503691"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41225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187537"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0960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597064"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5056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006590"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99151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2008791"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1B7A43"/>
                </a:solidFill>
                <a:latin typeface="Segoe UI"/>
              </a:rPr>
              <a:t>Decision Tree Learning</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2">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2">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2"/>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2  </a:t>
            </a:r>
            <a:r>
              <a:rPr sz="1400" b="0" i="0">
                <a:solidFill>
                  <a:srgbClr val="1C252B"/>
                </a:solidFill>
                <a:latin typeface="Segoe UI"/>
              </a:rPr>
              <a:t>Mathematics for Machine Learning</a:t>
            </a:r>
          </a:p>
        </p:txBody>
      </p:sp>
      <p:sp>
        <p:nvSpPr>
          <p:cNvPr id="68" name="!!chipBU4">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4">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4"/>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4  </a:t>
            </a:r>
            <a:r>
              <a:rPr sz="1400" b="0" i="0">
                <a:solidFill>
                  <a:srgbClr val="1C252B"/>
                </a:solidFill>
                <a:latin typeface="Segoe UI"/>
              </a:rPr>
              <a:t>Concept Learning and the Version Space</a:t>
            </a:r>
          </a:p>
        </p:txBody>
      </p:sp>
      <p:sp>
        <p:nvSpPr>
          <p:cNvPr id="71" name="!!chipBU7">
            <a:extLst>
              <a:ext uri="{C183D7F6-B498-43B3-948B-1728B52AA6E4}">
                <adec:decorative xmlns:adec="http://schemas.microsoft.com/office/drawing/2017/decorative" val="1"/>
              </a:ext>
            </a:extLst>
          </p:cNvPr>
          <p:cNvSpPr/>
          <p:nvPr/>
        </p:nvSpPr>
        <p:spPr>
          <a:xfrm>
            <a:off x="658368" y="4809744"/>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chipbBU7">
            <a:extLst>
              <a:ext uri="{C183D7F6-B498-43B3-948B-1728B52AA6E4}">
                <adec:decorative xmlns:adec="http://schemas.microsoft.com/office/drawing/2017/decorative" val="1"/>
              </a:ext>
            </a:extLst>
          </p:cNvPr>
          <p:cNvSpPr/>
          <p:nvPr/>
        </p:nvSpPr>
        <p:spPr>
          <a:xfrm>
            <a:off x="658368" y="4809744"/>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tBU7"/>
          <p:cNvSpPr txBox="1"/>
          <p:nvPr/>
        </p:nvSpPr>
        <p:spPr>
          <a:xfrm>
            <a:off x="859536"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7  </a:t>
            </a:r>
            <a:r>
              <a:rPr sz="1400" b="0" i="0">
                <a:solidFill>
                  <a:srgbClr val="1C252B"/>
                </a:solidFill>
                <a:latin typeface="Segoe UI"/>
              </a:rPr>
              <a:t>Overfitting, Bias–Variance and Regularisation</a:t>
            </a:r>
          </a:p>
        </p:txBody>
      </p:sp>
      <p:sp>
        <p:nvSpPr>
          <p:cNvPr id="74"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5" name="!!chipUS10">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bUS10">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chiptUS10"/>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10  </a:t>
            </a:r>
            <a:r>
              <a:rPr sz="1400" b="0" i="0">
                <a:solidFill>
                  <a:srgbClr val="1C252B"/>
                </a:solidFill>
                <a:latin typeface="Segoe UI"/>
              </a:rPr>
              <a:t>Bayesian Learning and Naive Bayes</a:t>
            </a:r>
          </a:p>
        </p:txBody>
      </p:sp>
      <p:sp>
        <p:nvSpPr>
          <p:cNvPr id="78" name="!!chipUS14">
            <a:extLst>
              <a:ext uri="{C183D7F6-B498-43B3-948B-1728B52AA6E4}">
                <adec:decorative xmlns:adec="http://schemas.microsoft.com/office/drawing/2017/decorative" val="1"/>
              </a:ext>
            </a:extLst>
          </p:cNvPr>
          <p:cNvSpPr/>
          <p:nvPr/>
        </p:nvSpPr>
        <p:spPr>
          <a:xfrm>
            <a:off x="6324447" y="4297680"/>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chipbUS14">
            <a:extLst>
              <a:ext uri="{C183D7F6-B498-43B3-948B-1728B52AA6E4}">
                <adec:decorative xmlns:adec="http://schemas.microsoft.com/office/drawing/2017/decorative" val="1"/>
              </a:ext>
            </a:extLst>
          </p:cNvPr>
          <p:cNvSpPr/>
          <p:nvPr/>
        </p:nvSpPr>
        <p:spPr>
          <a:xfrm>
            <a:off x="6324447" y="4297680"/>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chiptUS14"/>
          <p:cNvSpPr txBox="1"/>
          <p:nvPr/>
        </p:nvSpPr>
        <p:spPr>
          <a:xfrm>
            <a:off x="6525615"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14  </a:t>
            </a:r>
            <a:r>
              <a:rPr sz="1400" b="0" i="0">
                <a:solidFill>
                  <a:srgbClr val="1C252B"/>
                </a:solidFill>
                <a:latin typeface="Segoe UI"/>
              </a:rPr>
              <a:t>Ensemble Learning</a:t>
            </a:r>
          </a:p>
        </p:txBody>
      </p:sp>
      <p:sp>
        <p:nvSpPr>
          <p:cNvPr id="81" name="!!chipUS21">
            <a:extLst>
              <a:ext uri="{C183D7F6-B498-43B3-948B-1728B52AA6E4}">
                <adec:decorative xmlns:adec="http://schemas.microsoft.com/office/drawing/2017/decorative" val="1"/>
              </a:ext>
            </a:extLst>
          </p:cNvPr>
          <p:cNvSpPr/>
          <p:nvPr/>
        </p:nvSpPr>
        <p:spPr>
          <a:xfrm>
            <a:off x="6324447" y="4809744"/>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2" name="!!chipbUS21">
            <a:extLst>
              <a:ext uri="{C183D7F6-B498-43B3-948B-1728B52AA6E4}">
                <adec:decorative xmlns:adec="http://schemas.microsoft.com/office/drawing/2017/decorative" val="1"/>
              </a:ext>
            </a:extLst>
          </p:cNvPr>
          <p:cNvSpPr/>
          <p:nvPr/>
        </p:nvSpPr>
        <p:spPr>
          <a:xfrm>
            <a:off x="6324447" y="4809744"/>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3" name="!!chiptUS21"/>
          <p:cNvSpPr txBox="1"/>
          <p:nvPr/>
        </p:nvSpPr>
        <p:spPr>
          <a:xfrm>
            <a:off x="6525615"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21  </a:t>
            </a:r>
            <a:r>
              <a:rPr sz="1400" b="0" i="0">
                <a:solidFill>
                  <a:srgbClr val="1C252B"/>
                </a:solidFill>
                <a:latin typeface="Segoe UI"/>
              </a:rPr>
              <a:t>Responsible and Ethical Machine Learning</a:t>
            </a:r>
          </a:p>
        </p:txBody>
      </p:sp>
      <p:sp>
        <p:nvSpPr>
          <p:cNvPr id="8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5" name="!!pfill">
            <a:extLst>
              <a:ext uri="{C183D7F6-B498-43B3-948B-1728B52AA6E4}">
                <adec:decorative xmlns:adec="http://schemas.microsoft.com/office/drawing/2017/decorative" val="1"/>
              </a:ext>
            </a:extLst>
          </p:cNvPr>
          <p:cNvSpPr/>
          <p:nvPr/>
        </p:nvSpPr>
        <p:spPr>
          <a:xfrm>
            <a:off x="0" y="0"/>
            <a:ext cx="53007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70     </a:t>
            </a:r>
            <a:fld id="{996D5E02-C2CE-41EE-8DED-B0F548572479}"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63140"/>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Classify</a:t>
            </a:r>
            <a:r>
              <a:rPr sz="2100" b="0" i="0">
                <a:solidFill>
                  <a:srgbClr val="1C252B"/>
                </a:solidFill>
                <a:latin typeface="Segoe UI"/>
              </a:rPr>
              <a:t> an example with a decision tree, and </a:t>
            </a:r>
            <a:r>
              <a:rPr sz="2100" b="1" i="0">
                <a:solidFill>
                  <a:srgbClr val="1C252B"/>
                </a:solidFill>
                <a:latin typeface="Segoe UI"/>
              </a:rPr>
              <a:t>read</a:t>
            </a:r>
            <a:r>
              <a:rPr sz="2100" b="0" i="0">
                <a:solidFill>
                  <a:srgbClr val="1C252B"/>
                </a:solidFill>
                <a:latin typeface="Segoe UI"/>
              </a:rPr>
              <a:t> a tree as a set of rules.</a:t>
            </a:r>
          </a:p>
        </p:txBody>
      </p:sp>
      <p:sp>
        <p:nvSpPr>
          <p:cNvPr id="11" name="!!ob1">
            <a:extLst>
              <a:ext uri="{C183D7F6-B498-43B3-948B-1728B52AA6E4}">
                <adec:decorative xmlns:adec="http://schemas.microsoft.com/office/drawing/2017/decorative" val="1"/>
              </a:ext>
            </a:extLst>
          </p:cNvPr>
          <p:cNvSpPr/>
          <p:nvPr/>
        </p:nvSpPr>
        <p:spPr>
          <a:xfrm>
            <a:off x="658368" y="2825496"/>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2884932"/>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2816352"/>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Compute</a:t>
            </a:r>
            <a:r>
              <a:rPr sz="2100" b="0" i="0">
                <a:solidFill>
                  <a:srgbClr val="1C252B"/>
                </a:solidFill>
                <a:latin typeface="Segoe UI"/>
              </a:rPr>
              <a:t> entropy and information gain, and </a:t>
            </a:r>
            <a:r>
              <a:rPr sz="2100" b="1" i="0">
                <a:solidFill>
                  <a:srgbClr val="1C252B"/>
                </a:solidFill>
                <a:latin typeface="Segoe UI"/>
              </a:rPr>
              <a:t>trace</a:t>
            </a:r>
            <a:r>
              <a:rPr sz="2100" b="0" i="0">
                <a:solidFill>
                  <a:srgbClr val="1C252B"/>
                </a:solidFill>
                <a:latin typeface="Segoe UI"/>
              </a:rPr>
              <a:t> ID3’s choice of attribute at each node by hand.</a:t>
            </a:r>
          </a:p>
        </p:txBody>
      </p:sp>
      <p:sp>
        <p:nvSpPr>
          <p:cNvPr id="14" name="!!ob2">
            <a:extLst>
              <a:ext uri="{C183D7F6-B498-43B3-948B-1728B52AA6E4}">
                <adec:decorative xmlns:adec="http://schemas.microsoft.com/office/drawing/2017/decorative" val="1"/>
              </a:ext>
            </a:extLst>
          </p:cNvPr>
          <p:cNvSpPr/>
          <p:nvPr/>
        </p:nvSpPr>
        <p:spPr>
          <a:xfrm>
            <a:off x="658368" y="3674059"/>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733495"/>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664915"/>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Handle</a:t>
            </a:r>
            <a:r>
              <a:rPr sz="2100" b="0" i="0">
                <a:solidFill>
                  <a:srgbClr val="1C252B"/>
                </a:solidFill>
                <a:latin typeface="Segoe UI"/>
              </a:rPr>
              <a:t> continuous attributes, attributes with many values (gain ratio) and the Gini index.</a:t>
            </a:r>
          </a:p>
        </p:txBody>
      </p:sp>
      <p:sp>
        <p:nvSpPr>
          <p:cNvPr id="17" name="!!ob3">
            <a:extLst>
              <a:ext uri="{C183D7F6-B498-43B3-948B-1728B52AA6E4}">
                <adec:decorative xmlns:adec="http://schemas.microsoft.com/office/drawing/2017/decorative" val="1"/>
              </a:ext>
            </a:extLst>
          </p:cNvPr>
          <p:cNvSpPr/>
          <p:nvPr/>
        </p:nvSpPr>
        <p:spPr>
          <a:xfrm>
            <a:off x="658368" y="4522622"/>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58205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51347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Explain</a:t>
            </a:r>
            <a:r>
              <a:rPr sz="2100" b="0" i="0">
                <a:solidFill>
                  <a:srgbClr val="1C252B"/>
                </a:solidFill>
                <a:latin typeface="Segoe UI"/>
              </a:rPr>
              <a:t> why trees overfit noisy data, and </a:t>
            </a:r>
            <a:r>
              <a:rPr sz="2100" b="1" i="0">
                <a:solidFill>
                  <a:srgbClr val="1C252B"/>
                </a:solidFill>
                <a:latin typeface="Segoe UI"/>
              </a:rPr>
              <a:t>apply</a:t>
            </a:r>
            <a:r>
              <a:rPr sz="2100" b="0" i="0">
                <a:solidFill>
                  <a:srgbClr val="1C252B"/>
                </a:solidFill>
                <a:latin typeface="Segoe UI"/>
              </a:rPr>
              <a:t> reduced-error, rule post-pruning and cost-complexity pruning.</a:t>
            </a:r>
          </a:p>
        </p:txBody>
      </p:sp>
      <p:sp>
        <p:nvSpPr>
          <p:cNvPr id="20" name="!!ob4">
            <a:extLst>
              <a:ext uri="{C183D7F6-B498-43B3-948B-1728B52AA6E4}">
                <adec:decorative xmlns:adec="http://schemas.microsoft.com/office/drawing/2017/decorative" val="1"/>
              </a:ext>
            </a:extLst>
          </p:cNvPr>
          <p:cNvSpPr/>
          <p:nvPr/>
        </p:nvSpPr>
        <p:spPr>
          <a:xfrm>
            <a:off x="658368" y="5371185"/>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43062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412333"/>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State</a:t>
            </a:r>
            <a:r>
              <a:rPr sz="2100" b="0" i="0">
                <a:solidFill>
                  <a:srgbClr val="1C252B"/>
                </a:solidFill>
                <a:latin typeface="Segoe UI"/>
              </a:rPr>
              <a:t> the inductive bias of ID3.</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79511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70     </a:t>
            </a:r>
            <a:fld id="{EB1BC5A7-70AB-45DC-99F3-687097BE484B}" type="slidenum">
              <a:rPr lang="en-GB" sz="1000">
                <a:solidFill>
                  <a:srgbClr val="8795A1"/>
                </a:solidFill>
                <a:latin typeface="Segoe UI"/>
              </a:rPr>
              <a:t>4</a:t>
            </a:fld>
          </a:p>
        </p:txBody>
      </p:sp>
      <p:sp>
        <p:nvSpPr>
          <p:cNvPr id="7" name="!!term-decision tree">
            <a:extLst>
              <a:ext uri="{C183D7F6-B498-43B3-948B-1728B52AA6E4}">
                <adec:decorative xmlns:adec="http://schemas.microsoft.com/office/drawing/2017/decorative" val="1"/>
              </a:ext>
            </a:extLst>
          </p:cNvPr>
          <p:cNvSpPr/>
          <p:nvPr/>
        </p:nvSpPr>
        <p:spPr>
          <a:xfrm>
            <a:off x="658368" y="1847088"/>
            <a:ext cx="160804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decision tree">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decision tree"/>
          <p:cNvSpPr txBox="1"/>
          <p:nvPr/>
        </p:nvSpPr>
        <p:spPr>
          <a:xfrm>
            <a:off x="950976" y="1962911"/>
            <a:ext cx="142516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decision tree</a:t>
            </a:r>
          </a:p>
        </p:txBody>
      </p:sp>
      <p:sp>
        <p:nvSpPr>
          <p:cNvPr id="10" name="!!term-internal node,">
            <a:extLst>
              <a:ext uri="{C183D7F6-B498-43B3-948B-1728B52AA6E4}">
                <adec:decorative xmlns:adec="http://schemas.microsoft.com/office/drawing/2017/decorative" val="1"/>
              </a:ext>
            </a:extLst>
          </p:cNvPr>
          <p:cNvSpPr/>
          <p:nvPr/>
        </p:nvSpPr>
        <p:spPr>
          <a:xfrm>
            <a:off x="2412718" y="1847088"/>
            <a:ext cx="281847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internal node,">
            <a:extLst>
              <a:ext uri="{C183D7F6-B498-43B3-948B-1728B52AA6E4}">
                <adec:decorative xmlns:adec="http://schemas.microsoft.com/office/drawing/2017/decorative" val="1"/>
              </a:ext>
            </a:extLst>
          </p:cNvPr>
          <p:cNvSpPr/>
          <p:nvPr/>
        </p:nvSpPr>
        <p:spPr>
          <a:xfrm>
            <a:off x="254073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internal node,"/>
          <p:cNvSpPr txBox="1"/>
          <p:nvPr/>
        </p:nvSpPr>
        <p:spPr>
          <a:xfrm>
            <a:off x="2705326" y="1962911"/>
            <a:ext cx="263559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internal node, branch, leaf</a:t>
            </a:r>
          </a:p>
        </p:txBody>
      </p:sp>
      <p:sp>
        <p:nvSpPr>
          <p:cNvPr id="13" name="!!term-ID3">
            <a:extLst>
              <a:ext uri="{C183D7F6-B498-43B3-948B-1728B52AA6E4}">
                <adec:decorative xmlns:adec="http://schemas.microsoft.com/office/drawing/2017/decorative" val="1"/>
              </a:ext>
            </a:extLst>
          </p:cNvPr>
          <p:cNvSpPr/>
          <p:nvPr/>
        </p:nvSpPr>
        <p:spPr>
          <a:xfrm>
            <a:off x="5377499" y="1847088"/>
            <a:ext cx="75105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ID3">
            <a:extLst>
              <a:ext uri="{C183D7F6-B498-43B3-948B-1728B52AA6E4}">
                <adec:decorative xmlns:adec="http://schemas.microsoft.com/office/drawing/2017/decorative" val="1"/>
              </a:ext>
            </a:extLst>
          </p:cNvPr>
          <p:cNvSpPr/>
          <p:nvPr/>
        </p:nvSpPr>
        <p:spPr>
          <a:xfrm>
            <a:off x="5505515"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ID3"/>
          <p:cNvSpPr txBox="1"/>
          <p:nvPr/>
        </p:nvSpPr>
        <p:spPr>
          <a:xfrm>
            <a:off x="5670107" y="1962911"/>
            <a:ext cx="56817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ID3</a:t>
            </a:r>
          </a:p>
        </p:txBody>
      </p:sp>
      <p:sp>
        <p:nvSpPr>
          <p:cNvPr id="16" name="!!term-entropy">
            <a:extLst>
              <a:ext uri="{C183D7F6-B498-43B3-948B-1728B52AA6E4}">
                <adec:decorative xmlns:adec="http://schemas.microsoft.com/office/drawing/2017/decorative" val="1"/>
              </a:ext>
            </a:extLst>
          </p:cNvPr>
          <p:cNvSpPr/>
          <p:nvPr/>
        </p:nvSpPr>
        <p:spPr>
          <a:xfrm>
            <a:off x="6274855" y="1847088"/>
            <a:ext cx="115061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entropy">
            <a:extLst>
              <a:ext uri="{C183D7F6-B498-43B3-948B-1728B52AA6E4}">
                <adec:decorative xmlns:adec="http://schemas.microsoft.com/office/drawing/2017/decorative" val="1"/>
              </a:ext>
            </a:extLst>
          </p:cNvPr>
          <p:cNvSpPr/>
          <p:nvPr/>
        </p:nvSpPr>
        <p:spPr>
          <a:xfrm>
            <a:off x="6402871"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entropy"/>
          <p:cNvSpPr txBox="1"/>
          <p:nvPr/>
        </p:nvSpPr>
        <p:spPr>
          <a:xfrm>
            <a:off x="6567463" y="1962911"/>
            <a:ext cx="96773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entropy</a:t>
            </a:r>
          </a:p>
        </p:txBody>
      </p:sp>
      <p:sp>
        <p:nvSpPr>
          <p:cNvPr id="19" name="!!term-information ga">
            <a:extLst>
              <a:ext uri="{C183D7F6-B498-43B3-948B-1728B52AA6E4}">
                <adec:decorative xmlns:adec="http://schemas.microsoft.com/office/drawing/2017/decorative" val="1"/>
              </a:ext>
            </a:extLst>
          </p:cNvPr>
          <p:cNvSpPr/>
          <p:nvPr/>
        </p:nvSpPr>
        <p:spPr>
          <a:xfrm>
            <a:off x="7571773" y="1847088"/>
            <a:ext cx="195980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information ga">
            <a:extLst>
              <a:ext uri="{C183D7F6-B498-43B3-948B-1728B52AA6E4}">
                <adec:decorative xmlns:adec="http://schemas.microsoft.com/office/drawing/2017/decorative" val="1"/>
              </a:ext>
            </a:extLst>
          </p:cNvPr>
          <p:cNvSpPr/>
          <p:nvPr/>
        </p:nvSpPr>
        <p:spPr>
          <a:xfrm>
            <a:off x="7699789"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information ga"/>
          <p:cNvSpPr txBox="1"/>
          <p:nvPr/>
        </p:nvSpPr>
        <p:spPr>
          <a:xfrm>
            <a:off x="7864381" y="1962911"/>
            <a:ext cx="177692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information gain</a:t>
            </a:r>
          </a:p>
        </p:txBody>
      </p:sp>
      <p:sp>
        <p:nvSpPr>
          <p:cNvPr id="22" name="!!term-split informat">
            <a:extLst>
              <a:ext uri="{C183D7F6-B498-43B3-948B-1728B52AA6E4}">
                <adec:decorative xmlns:adec="http://schemas.microsoft.com/office/drawing/2017/decorative" val="1"/>
              </a:ext>
            </a:extLst>
          </p:cNvPr>
          <p:cNvSpPr/>
          <p:nvPr/>
        </p:nvSpPr>
        <p:spPr>
          <a:xfrm>
            <a:off x="658368" y="2468880"/>
            <a:ext cx="194509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split informat">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split informat"/>
          <p:cNvSpPr txBox="1"/>
          <p:nvPr/>
        </p:nvSpPr>
        <p:spPr>
          <a:xfrm>
            <a:off x="950976" y="2584704"/>
            <a:ext cx="1762213"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split information</a:t>
            </a:r>
          </a:p>
        </p:txBody>
      </p:sp>
      <p:sp>
        <p:nvSpPr>
          <p:cNvPr id="25" name="!!term-gain ratio">
            <a:extLst>
              <a:ext uri="{C183D7F6-B498-43B3-948B-1728B52AA6E4}">
                <adec:decorative xmlns:adec="http://schemas.microsoft.com/office/drawing/2017/decorative" val="1"/>
              </a:ext>
            </a:extLst>
          </p:cNvPr>
          <p:cNvSpPr/>
          <p:nvPr/>
        </p:nvSpPr>
        <p:spPr>
          <a:xfrm>
            <a:off x="2749765" y="2468880"/>
            <a:ext cx="131024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gain ratio">
            <a:extLst>
              <a:ext uri="{C183D7F6-B498-43B3-948B-1728B52AA6E4}">
                <adec:decorative xmlns:adec="http://schemas.microsoft.com/office/drawing/2017/decorative" val="1"/>
              </a:ext>
            </a:extLst>
          </p:cNvPr>
          <p:cNvSpPr/>
          <p:nvPr/>
        </p:nvSpPr>
        <p:spPr>
          <a:xfrm>
            <a:off x="2877781"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gain ratio"/>
          <p:cNvSpPr txBox="1"/>
          <p:nvPr/>
        </p:nvSpPr>
        <p:spPr>
          <a:xfrm>
            <a:off x="3042373" y="2584704"/>
            <a:ext cx="112736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gain ratio</a:t>
            </a:r>
          </a:p>
        </p:txBody>
      </p:sp>
      <p:sp>
        <p:nvSpPr>
          <p:cNvPr id="28" name="!!term-Gini index">
            <a:extLst>
              <a:ext uri="{C183D7F6-B498-43B3-948B-1728B52AA6E4}">
                <adec:decorative xmlns:adec="http://schemas.microsoft.com/office/drawing/2017/decorative" val="1"/>
              </a:ext>
            </a:extLst>
          </p:cNvPr>
          <p:cNvSpPr/>
          <p:nvPr/>
        </p:nvSpPr>
        <p:spPr>
          <a:xfrm>
            <a:off x="4206318" y="2468880"/>
            <a:ext cx="134859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Gini index">
            <a:extLst>
              <a:ext uri="{C183D7F6-B498-43B3-948B-1728B52AA6E4}">
                <adec:decorative xmlns:adec="http://schemas.microsoft.com/office/drawing/2017/decorative" val="1"/>
              </a:ext>
            </a:extLst>
          </p:cNvPr>
          <p:cNvSpPr/>
          <p:nvPr/>
        </p:nvSpPr>
        <p:spPr>
          <a:xfrm>
            <a:off x="433433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Gini index"/>
          <p:cNvSpPr txBox="1"/>
          <p:nvPr/>
        </p:nvSpPr>
        <p:spPr>
          <a:xfrm>
            <a:off x="4498926" y="2584704"/>
            <a:ext cx="1165713"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Gini index</a:t>
            </a:r>
          </a:p>
        </p:txBody>
      </p:sp>
      <p:sp>
        <p:nvSpPr>
          <p:cNvPr id="31" name="!!term-CART">
            <a:extLst>
              <a:ext uri="{C183D7F6-B498-43B3-948B-1728B52AA6E4}">
                <adec:decorative xmlns:adec="http://schemas.microsoft.com/office/drawing/2017/decorative" val="1"/>
              </a:ext>
            </a:extLst>
          </p:cNvPr>
          <p:cNvSpPr/>
          <p:nvPr/>
        </p:nvSpPr>
        <p:spPr>
          <a:xfrm>
            <a:off x="5701216" y="2468880"/>
            <a:ext cx="93335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CART">
            <a:extLst>
              <a:ext uri="{C183D7F6-B498-43B3-948B-1728B52AA6E4}">
                <adec:decorative xmlns:adec="http://schemas.microsoft.com/office/drawing/2017/decorative" val="1"/>
              </a:ext>
            </a:extLst>
          </p:cNvPr>
          <p:cNvSpPr/>
          <p:nvPr/>
        </p:nvSpPr>
        <p:spPr>
          <a:xfrm>
            <a:off x="5829232"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CART"/>
          <p:cNvSpPr txBox="1"/>
          <p:nvPr/>
        </p:nvSpPr>
        <p:spPr>
          <a:xfrm>
            <a:off x="5993824" y="2584704"/>
            <a:ext cx="75047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CART</a:t>
            </a:r>
          </a:p>
        </p:txBody>
      </p:sp>
      <p:sp>
        <p:nvSpPr>
          <p:cNvPr id="34" name="!!term-threshold spli">
            <a:extLst>
              <a:ext uri="{C183D7F6-B498-43B3-948B-1728B52AA6E4}">
                <adec:decorative xmlns:adec="http://schemas.microsoft.com/office/drawing/2017/decorative" val="1"/>
              </a:ext>
            </a:extLst>
          </p:cNvPr>
          <p:cNvSpPr/>
          <p:nvPr/>
        </p:nvSpPr>
        <p:spPr>
          <a:xfrm>
            <a:off x="6780880" y="2468880"/>
            <a:ext cx="174297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threshold spli">
            <a:extLst>
              <a:ext uri="{C183D7F6-B498-43B3-948B-1728B52AA6E4}">
                <adec:decorative xmlns:adec="http://schemas.microsoft.com/office/drawing/2017/decorative" val="1"/>
              </a:ext>
            </a:extLst>
          </p:cNvPr>
          <p:cNvSpPr/>
          <p:nvPr/>
        </p:nvSpPr>
        <p:spPr>
          <a:xfrm>
            <a:off x="6908896"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threshold spli"/>
          <p:cNvSpPr txBox="1"/>
          <p:nvPr/>
        </p:nvSpPr>
        <p:spPr>
          <a:xfrm>
            <a:off x="7073488" y="2584704"/>
            <a:ext cx="156009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threshold split</a:t>
            </a:r>
          </a:p>
        </p:txBody>
      </p:sp>
      <p:sp>
        <p:nvSpPr>
          <p:cNvPr id="37" name="!!term-overfitting">
            <a:extLst>
              <a:ext uri="{C183D7F6-B498-43B3-948B-1728B52AA6E4}">
                <adec:decorative xmlns:adec="http://schemas.microsoft.com/office/drawing/2017/decorative" val="1"/>
              </a:ext>
            </a:extLst>
          </p:cNvPr>
          <p:cNvSpPr/>
          <p:nvPr/>
        </p:nvSpPr>
        <p:spPr>
          <a:xfrm>
            <a:off x="8670159" y="2468880"/>
            <a:ext cx="138532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overfitting">
            <a:extLst>
              <a:ext uri="{C183D7F6-B498-43B3-948B-1728B52AA6E4}">
                <adec:decorative xmlns:adec="http://schemas.microsoft.com/office/drawing/2017/decorative" val="1"/>
              </a:ext>
            </a:extLst>
          </p:cNvPr>
          <p:cNvSpPr/>
          <p:nvPr/>
        </p:nvSpPr>
        <p:spPr>
          <a:xfrm>
            <a:off x="8798175"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overfitting"/>
          <p:cNvSpPr txBox="1"/>
          <p:nvPr/>
        </p:nvSpPr>
        <p:spPr>
          <a:xfrm>
            <a:off x="8962767" y="2584704"/>
            <a:ext cx="120244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overfitting</a:t>
            </a:r>
          </a:p>
        </p:txBody>
      </p:sp>
      <p:sp>
        <p:nvSpPr>
          <p:cNvPr id="40" name="!!term-pre-pruning">
            <a:extLst>
              <a:ext uri="{C183D7F6-B498-43B3-948B-1728B52AA6E4}">
                <adec:decorative xmlns:adec="http://schemas.microsoft.com/office/drawing/2017/decorative" val="1"/>
              </a:ext>
            </a:extLst>
          </p:cNvPr>
          <p:cNvSpPr/>
          <p:nvPr/>
        </p:nvSpPr>
        <p:spPr>
          <a:xfrm>
            <a:off x="658368" y="3090672"/>
            <a:ext cx="154234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pre-pruning">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pre-pruning"/>
          <p:cNvSpPr txBox="1"/>
          <p:nvPr/>
        </p:nvSpPr>
        <p:spPr>
          <a:xfrm>
            <a:off x="950976" y="3206496"/>
            <a:ext cx="1359463"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pre-pruning</a:t>
            </a:r>
          </a:p>
        </p:txBody>
      </p:sp>
      <p:sp>
        <p:nvSpPr>
          <p:cNvPr id="43" name="!!term-reduced-error ">
            <a:extLst>
              <a:ext uri="{C183D7F6-B498-43B3-948B-1728B52AA6E4}">
                <adec:decorative xmlns:adec="http://schemas.microsoft.com/office/drawing/2017/decorative" val="1"/>
              </a:ext>
            </a:extLst>
          </p:cNvPr>
          <p:cNvSpPr/>
          <p:nvPr/>
        </p:nvSpPr>
        <p:spPr>
          <a:xfrm>
            <a:off x="2347015" y="3090672"/>
            <a:ext cx="248908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reduced-error ">
            <a:extLst>
              <a:ext uri="{C183D7F6-B498-43B3-948B-1728B52AA6E4}">
                <adec:decorative xmlns:adec="http://schemas.microsoft.com/office/drawing/2017/decorative" val="1"/>
              </a:ext>
            </a:extLst>
          </p:cNvPr>
          <p:cNvSpPr/>
          <p:nvPr/>
        </p:nvSpPr>
        <p:spPr>
          <a:xfrm>
            <a:off x="2475031"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reduced-error "/>
          <p:cNvSpPr txBox="1"/>
          <p:nvPr/>
        </p:nvSpPr>
        <p:spPr>
          <a:xfrm>
            <a:off x="2639623" y="3206496"/>
            <a:ext cx="2306203"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reduced-error pruning</a:t>
            </a:r>
          </a:p>
        </p:txBody>
      </p:sp>
      <p:sp>
        <p:nvSpPr>
          <p:cNvPr id="46" name="!!term-rule post-prun">
            <a:extLst>
              <a:ext uri="{C183D7F6-B498-43B3-948B-1728B52AA6E4}">
                <adec:decorative xmlns:adec="http://schemas.microsoft.com/office/drawing/2017/decorative" val="1"/>
              </a:ext>
            </a:extLst>
          </p:cNvPr>
          <p:cNvSpPr/>
          <p:nvPr/>
        </p:nvSpPr>
        <p:spPr>
          <a:xfrm>
            <a:off x="4982402" y="3090672"/>
            <a:ext cx="204606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rule post-prun">
            <a:extLst>
              <a:ext uri="{C183D7F6-B498-43B3-948B-1728B52AA6E4}">
                <adec:decorative xmlns:adec="http://schemas.microsoft.com/office/drawing/2017/decorative" val="1"/>
              </a:ext>
            </a:extLst>
          </p:cNvPr>
          <p:cNvSpPr/>
          <p:nvPr/>
        </p:nvSpPr>
        <p:spPr>
          <a:xfrm>
            <a:off x="5110418"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rule post-prun"/>
          <p:cNvSpPr txBox="1"/>
          <p:nvPr/>
        </p:nvSpPr>
        <p:spPr>
          <a:xfrm>
            <a:off x="5275010" y="3206496"/>
            <a:ext cx="186318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rule post-pruning</a:t>
            </a:r>
          </a:p>
        </p:txBody>
      </p:sp>
      <p:sp>
        <p:nvSpPr>
          <p:cNvPr id="49" name="!!term-cost-complexit">
            <a:extLst>
              <a:ext uri="{C183D7F6-B498-43B3-948B-1728B52AA6E4}">
                <adec:decorative xmlns:adec="http://schemas.microsoft.com/office/drawing/2017/decorative" val="1"/>
              </a:ext>
            </a:extLst>
          </p:cNvPr>
          <p:cNvSpPr/>
          <p:nvPr/>
        </p:nvSpPr>
        <p:spPr>
          <a:xfrm>
            <a:off x="7174772" y="3090672"/>
            <a:ext cx="266392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rmd-cost-complexit">
            <a:extLst>
              <a:ext uri="{C183D7F6-B498-43B3-948B-1728B52AA6E4}">
                <adec:decorative xmlns:adec="http://schemas.microsoft.com/office/drawing/2017/decorative" val="1"/>
              </a:ext>
            </a:extLst>
          </p:cNvPr>
          <p:cNvSpPr/>
          <p:nvPr/>
        </p:nvSpPr>
        <p:spPr>
          <a:xfrm>
            <a:off x="7302788"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rmt-cost-complexit"/>
          <p:cNvSpPr txBox="1"/>
          <p:nvPr/>
        </p:nvSpPr>
        <p:spPr>
          <a:xfrm>
            <a:off x="7467380" y="3206496"/>
            <a:ext cx="2481040"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cost-complexity pruning</a:t>
            </a:r>
          </a:p>
        </p:txBody>
      </p:sp>
      <p:sp>
        <p:nvSpPr>
          <p:cNvPr id="52" name="!!term-Occam’s razor">
            <a:extLst>
              <a:ext uri="{C183D7F6-B498-43B3-948B-1728B52AA6E4}">
                <adec:decorative xmlns:adec="http://schemas.microsoft.com/office/drawing/2017/decorative" val="1"/>
              </a:ext>
            </a:extLst>
          </p:cNvPr>
          <p:cNvSpPr/>
          <p:nvPr/>
        </p:nvSpPr>
        <p:spPr>
          <a:xfrm>
            <a:off x="658368" y="3712464"/>
            <a:ext cx="172749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rmd-Occam’s razor">
            <a:extLst>
              <a:ext uri="{C183D7F6-B498-43B3-948B-1728B52AA6E4}">
                <adec:decorative xmlns:adec="http://schemas.microsoft.com/office/drawing/2017/decorative" val="1"/>
              </a:ext>
            </a:extLst>
          </p:cNvPr>
          <p:cNvSpPr/>
          <p:nvPr/>
        </p:nvSpPr>
        <p:spPr>
          <a:xfrm>
            <a:off x="786384"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rmt-Occam’s razor"/>
          <p:cNvSpPr txBox="1"/>
          <p:nvPr/>
        </p:nvSpPr>
        <p:spPr>
          <a:xfrm>
            <a:off x="950976" y="3828288"/>
            <a:ext cx="154461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Occam’s razor</a:t>
            </a:r>
          </a:p>
        </p:txBody>
      </p:sp>
      <p:sp>
        <p:nvSpPr>
          <p:cNvPr id="55" name="!!termnote"/>
          <p:cNvSpPr txBox="1"/>
          <p:nvPr/>
        </p:nvSpPr>
        <p:spPr>
          <a:xfrm>
            <a:off x="658368" y="4535424"/>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5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pfill">
            <a:extLst>
              <a:ext uri="{C183D7F6-B498-43B3-948B-1728B52AA6E4}">
                <adec:decorative xmlns:adec="http://schemas.microsoft.com/office/drawing/2017/decorative" val="1"/>
              </a:ext>
            </a:extLst>
          </p:cNvPr>
          <p:cNvSpPr/>
          <p:nvPr/>
        </p:nvSpPr>
        <p:spPr>
          <a:xfrm>
            <a:off x="0" y="0"/>
            <a:ext cx="106014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70–76     </a:t>
            </a:r>
            <a:fld id="{6F0D7628-442B-496F-ACCA-2DA22331BF58}" type="slidenum">
              <a:rPr lang="en-GB" sz="1000">
                <a:solidFill>
                  <a:srgbClr val="8795A1"/>
                </a:solidFill>
                <a:latin typeface="Segoe UI"/>
              </a:rPr>
              <a:t>5</a:t>
            </a:fld>
          </a:p>
        </p:txBody>
      </p:sp>
      <p:sp>
        <p:nvSpPr>
          <p:cNvPr id="7" name="!!ag0" descr="Go to section 9.1 Trees as Hypotheses">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9.1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Trees as Hypotheses</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70  ›</a:t>
            </a:r>
          </a:p>
        </p:txBody>
      </p:sp>
      <p:sp>
        <p:nvSpPr>
          <p:cNvPr id="12" name="!!ag1" descr="Go to section 9.2 Choosing the Question: Entropy and Information Gain">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9.2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Choosing the Question: Entropy and Information Gain</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71  ›</a:t>
            </a:r>
          </a:p>
        </p:txBody>
      </p:sp>
      <p:sp>
        <p:nvSpPr>
          <p:cNvPr id="17" name="!!ag2" descr="Go to section 9.3 Beyond the Basic Algorithm">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9.3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Beyond the Basic Algorithm</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72  ›</a:t>
            </a:r>
          </a:p>
        </p:txBody>
      </p:sp>
      <p:sp>
        <p:nvSpPr>
          <p:cNvPr id="22" name="!!ag3" descr="Go to section 9.4 Overfitting, Noisy Data and Pruning">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9.4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Overfitting, Noisy Data and Pruning</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73  ›</a:t>
            </a:r>
          </a:p>
        </p:txBody>
      </p:sp>
      <p:sp>
        <p:nvSpPr>
          <p:cNvPr id="27" name="!!ag4" descr="Go to section 9.5 The Inductive Bias of ID3">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9.5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Inductive Bias of ID3</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74  ›</a:t>
            </a:r>
          </a:p>
        </p:txBody>
      </p:sp>
      <p:sp>
        <p:nvSpPr>
          <p:cNvPr id="3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pfill">
            <a:extLst>
              <a:ext uri="{C183D7F6-B498-43B3-948B-1728B52AA6E4}">
                <adec:decorative xmlns:adec="http://schemas.microsoft.com/office/drawing/2017/decorative" val="1"/>
              </a:ext>
            </a:extLst>
          </p:cNvPr>
          <p:cNvSpPr/>
          <p:nvPr/>
        </p:nvSpPr>
        <p:spPr>
          <a:xfrm>
            <a:off x="0" y="0"/>
            <a:ext cx="132518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tree ID3 learns from the fourteen PlayTennis days</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B7A43"/>
                </a:solidFill>
                <a:latin typeface="Segoe UI"/>
              </a:rPr>
              <a:t>FIGURE 9.1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§9.1  ·  Handout p. 70     </a:t>
            </a:r>
            <a:fld id="{664919F5-6B68-42DC-B9DA-626F0C2826CE}" type="slidenum">
              <a:rPr lang="en-GB" sz="1000">
                <a:solidFill>
                  <a:srgbClr val="8795A1"/>
                </a:solidFill>
                <a:latin typeface="Segoe UI"/>
              </a:rPr>
              <a:t>6</a:t>
            </a:fld>
          </a:p>
        </p:txBody>
      </p:sp>
      <p:pic>
        <p:nvPicPr>
          <p:cNvPr id="6" name="!!figure" descr="Figure 9.1. The tree ID3 learns from the fourteen PlayTennis days. Under each leaf are the training days that reach it; every leaf is pure. It is equivalent to the rule: play if (Sunny and Normal humidity) or Overcast or (Rain and Weak wind)."/>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3398" y="1737360"/>
            <a:ext cx="9924898"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Under each leaf are the training days that reach it; every leaf is pure. It is equivalent to the rule: play if (Sunny and Normal humidity) or Overcast or (Rain and Weak wind).</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59022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Choosing the Question: Entropy and Information Gain</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BD7C7"/>
                </a:solidFill>
                <a:latin typeface="Segoe UI"/>
              </a:rPr>
              <a:t>SECTION 2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9.2</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9.1   Trees as Hypotheses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B7A43"/>
                </a:solidFill>
                <a:latin typeface="Segoe UI"/>
              </a:rPr>
              <a:t>9.2   Choosing the Question: Entropy and Information Gain</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9.3   Beyond the Basic Algorithm</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9.4   Overfitting, Noisy Data and Pruning</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9.5   The Inductive Bias of ID3</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§9.2     </a:t>
            </a:r>
            <a:fld id="{C6413022-5AE4-486B-B127-E244C7A8DD00}" type="slidenum">
              <a:rPr lang="en-GB" sz="1000">
                <a:solidFill>
                  <a:srgbClr val="8795A1"/>
                </a:solidFill>
                <a:latin typeface="Segoe UI"/>
              </a:rPr>
              <a:t>7</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185525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Choosing the Question: Entropy and Information Gain</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§9.2  ·  Handout p. 71     </a:t>
            </a:r>
            <a:fld id="{A9A9AF5F-0AFD-448A-84C0-418D33E31789}" type="slidenum">
              <a:rPr lang="en-GB" sz="1000">
                <a:solidFill>
                  <a:srgbClr val="8795A1"/>
                </a:solidFill>
                <a:latin typeface="Segoe UI"/>
              </a:rPr>
              <a:t>8</a:t>
            </a:fld>
          </a:p>
        </p:txBody>
      </p:sp>
      <p:graphicFrame>
        <p:nvGraphicFramePr>
          <p:cNvPr id="7" name="!!table"/>
          <p:cNvGraphicFramePr>
            <a:graphicFrameLocks noGrp="1"/>
          </p:cNvGraphicFramePr>
          <p:nvPr/>
        </p:nvGraphicFramePr>
        <p:xfrm>
          <a:off x="658368" y="1737360"/>
          <a:ext cx="5589089" cy="4279392"/>
        </p:xfrm>
        <a:graphic>
          <a:graphicData uri="http://schemas.openxmlformats.org/drawingml/2006/table">
            <a:tbl>
              <a:tblPr firstRow="0" bandRow="0" firstCol="0" lastRow="0" lastCol="0" bandCol="0">
                <a:tableStyleId>{2D5ABB26-0587-4C30-8999-92F81FD0307C}</a:tableStyleId>
              </a:tblPr>
              <a:tblGrid>
                <a:gridCol w="537859"/>
                <a:gridCol w="980252"/>
                <a:gridCol w="1199839"/>
                <a:gridCol w="980252"/>
                <a:gridCol w="852393"/>
                <a:gridCol w="1038494"/>
              </a:tblGrid>
              <a:tr h="329184">
                <a:tc>
                  <a:txBody>
                    <a:bodyPr wrap="square"/>
                    <a:lstStyle/>
                    <a:p>
                      <a:pPr algn="l"/>
                      <a:r>
                        <a:rPr sz="1200" b="1" i="0">
                          <a:solidFill>
                            <a:srgbClr val="1A5276"/>
                          </a:solidFill>
                          <a:latin typeface="Segoe UI"/>
                        </a:rPr>
                        <a:t>Day</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200" b="1" i="0">
                          <a:solidFill>
                            <a:srgbClr val="1A5276"/>
                          </a:solidFill>
                          <a:latin typeface="Segoe UI"/>
                        </a:rPr>
                        <a:t>Outlook</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200" b="1" i="0">
                          <a:solidFill>
                            <a:srgbClr val="1A5276"/>
                          </a:solidFill>
                          <a:latin typeface="Segoe UI"/>
                        </a:rPr>
                        <a:t>Temperature</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200" b="1" i="0">
                          <a:solidFill>
                            <a:srgbClr val="1A5276"/>
                          </a:solidFill>
                          <a:latin typeface="Segoe UI"/>
                        </a:rPr>
                        <a:t>Humidity</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200" b="1" i="0">
                          <a:solidFill>
                            <a:srgbClr val="1A5276"/>
                          </a:solidFill>
                          <a:latin typeface="Segoe UI"/>
                        </a:rPr>
                        <a:t>Wind</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200" b="1" i="0">
                          <a:solidFill>
                            <a:srgbClr val="1A5276"/>
                          </a:solidFill>
                          <a:latin typeface="Segoe UI"/>
                        </a:rPr>
                        <a:t>PlayTennis</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329184">
                <a:tc>
                  <a:txBody>
                    <a:bodyPr wrap="square"/>
                    <a:lstStyle/>
                    <a:p>
                      <a:pPr algn="l"/>
                      <a:r>
                        <a:rPr sz="1200" b="0" i="0">
                          <a:solidFill>
                            <a:srgbClr val="1C252B"/>
                          </a:solidFill>
                          <a:latin typeface="Segoe UI"/>
                        </a:rPr>
                        <a:t>D1</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Sunny</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Hot</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High</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Weak</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No</a:t>
                      </a:r>
                      <a:endParaRPr sz="1200"/>
                    </a:p>
                  </a:txBody>
                  <a:tcPr marL="109728" marR="109728" marT="64008" marB="45720" anchor="t">
                    <a:lnL w="0" cmpd="sng">
                      <a:noFill/>
                    </a:lnL>
                    <a:lnR w="0" cmpd="sng">
                      <a:noFill/>
                    </a:lnR>
                    <a:lnT w="9525" cmpd="sng">
                      <a:noFill/>
                    </a:lnT>
                    <a:lnB w="9525" cmpd="sng">
                      <a:noFill/>
                    </a:lnB>
                    <a:solidFill>
                      <a:srgbClr val="FFFFFF"/>
                    </a:solidFill>
                  </a:tcPr>
                </a:tc>
              </a:tr>
              <a:tr h="329184">
                <a:tc>
                  <a:txBody>
                    <a:bodyPr wrap="square"/>
                    <a:lstStyle/>
                    <a:p>
                      <a:pPr algn="l"/>
                      <a:r>
                        <a:rPr sz="1200" b="0" i="0">
                          <a:solidFill>
                            <a:srgbClr val="1C252B"/>
                          </a:solidFill>
                          <a:latin typeface="Segoe UI"/>
                        </a:rPr>
                        <a:t>D2</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Sunny</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Hot</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High</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Strong</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No</a:t>
                      </a:r>
                      <a:endParaRPr sz="1200"/>
                    </a:p>
                  </a:txBody>
                  <a:tcPr marL="109728" marR="109728" marT="64008" marB="45720" anchor="t">
                    <a:lnL w="0" cmpd="sng">
                      <a:noFill/>
                    </a:lnL>
                    <a:lnR w="0" cmpd="sng">
                      <a:noFill/>
                    </a:lnR>
                    <a:lnT w="9525" cmpd="sng">
                      <a:noFill/>
                    </a:lnT>
                    <a:lnB w="9525" cmpd="sng">
                      <a:noFill/>
                    </a:lnB>
                    <a:solidFill>
                      <a:srgbClr val="F2F8FC"/>
                    </a:solidFill>
                  </a:tcPr>
                </a:tc>
              </a:tr>
              <a:tr h="329184">
                <a:tc>
                  <a:txBody>
                    <a:bodyPr wrap="square"/>
                    <a:lstStyle/>
                    <a:p>
                      <a:pPr algn="l"/>
                      <a:r>
                        <a:rPr sz="1200" b="0" i="0">
                          <a:solidFill>
                            <a:srgbClr val="1C252B"/>
                          </a:solidFill>
                          <a:latin typeface="Segoe UI"/>
                        </a:rPr>
                        <a:t>D3</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Overcast</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Hot</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High</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Weak</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Yes</a:t>
                      </a:r>
                      <a:endParaRPr sz="1200"/>
                    </a:p>
                  </a:txBody>
                  <a:tcPr marL="109728" marR="109728" marT="64008" marB="45720" anchor="t">
                    <a:lnL w="0" cmpd="sng">
                      <a:noFill/>
                    </a:lnL>
                    <a:lnR w="0" cmpd="sng">
                      <a:noFill/>
                    </a:lnR>
                    <a:lnT w="9525" cmpd="sng">
                      <a:noFill/>
                    </a:lnT>
                    <a:lnB w="9525" cmpd="sng">
                      <a:noFill/>
                    </a:lnB>
                    <a:solidFill>
                      <a:srgbClr val="FFFFFF"/>
                    </a:solidFill>
                  </a:tcPr>
                </a:tc>
              </a:tr>
              <a:tr h="329184">
                <a:tc>
                  <a:txBody>
                    <a:bodyPr wrap="square"/>
                    <a:lstStyle/>
                    <a:p>
                      <a:pPr algn="l"/>
                      <a:r>
                        <a:rPr sz="1200" b="0" i="0">
                          <a:solidFill>
                            <a:srgbClr val="1C252B"/>
                          </a:solidFill>
                          <a:latin typeface="Segoe UI"/>
                        </a:rPr>
                        <a:t>D4</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Rain</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Mild</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High</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Weak</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Yes</a:t>
                      </a:r>
                      <a:endParaRPr sz="1200"/>
                    </a:p>
                  </a:txBody>
                  <a:tcPr marL="109728" marR="109728" marT="64008" marB="45720" anchor="t">
                    <a:lnL w="0" cmpd="sng">
                      <a:noFill/>
                    </a:lnL>
                    <a:lnR w="0" cmpd="sng">
                      <a:noFill/>
                    </a:lnR>
                    <a:lnT w="9525" cmpd="sng">
                      <a:noFill/>
                    </a:lnT>
                    <a:lnB w="9525" cmpd="sng">
                      <a:noFill/>
                    </a:lnB>
                    <a:solidFill>
                      <a:srgbClr val="F2F8FC"/>
                    </a:solidFill>
                  </a:tcPr>
                </a:tc>
              </a:tr>
              <a:tr h="329184">
                <a:tc>
                  <a:txBody>
                    <a:bodyPr wrap="square"/>
                    <a:lstStyle/>
                    <a:p>
                      <a:pPr algn="l"/>
                      <a:r>
                        <a:rPr sz="1200" b="0" i="0">
                          <a:solidFill>
                            <a:srgbClr val="1C252B"/>
                          </a:solidFill>
                          <a:latin typeface="Segoe UI"/>
                        </a:rPr>
                        <a:t>D5</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Rain</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Cool</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Normal</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Weak</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Yes</a:t>
                      </a:r>
                      <a:endParaRPr sz="1200"/>
                    </a:p>
                  </a:txBody>
                  <a:tcPr marL="109728" marR="109728" marT="64008" marB="45720" anchor="t">
                    <a:lnL w="0" cmpd="sng">
                      <a:noFill/>
                    </a:lnL>
                    <a:lnR w="0" cmpd="sng">
                      <a:noFill/>
                    </a:lnR>
                    <a:lnT w="9525" cmpd="sng">
                      <a:noFill/>
                    </a:lnT>
                    <a:lnB w="9525" cmpd="sng">
                      <a:noFill/>
                    </a:lnB>
                    <a:solidFill>
                      <a:srgbClr val="FFFFFF"/>
                    </a:solidFill>
                  </a:tcPr>
                </a:tc>
              </a:tr>
              <a:tr h="329184">
                <a:tc>
                  <a:txBody>
                    <a:bodyPr wrap="square"/>
                    <a:lstStyle/>
                    <a:p>
                      <a:pPr algn="l"/>
                      <a:r>
                        <a:rPr sz="1200" b="0" i="0">
                          <a:solidFill>
                            <a:srgbClr val="1C252B"/>
                          </a:solidFill>
                          <a:latin typeface="Segoe UI"/>
                        </a:rPr>
                        <a:t>D6</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Rain</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Cool</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Normal</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Strong</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No</a:t>
                      </a:r>
                      <a:endParaRPr sz="1200"/>
                    </a:p>
                  </a:txBody>
                  <a:tcPr marL="109728" marR="109728" marT="64008" marB="45720" anchor="t">
                    <a:lnL w="0" cmpd="sng">
                      <a:noFill/>
                    </a:lnL>
                    <a:lnR w="0" cmpd="sng">
                      <a:noFill/>
                    </a:lnR>
                    <a:lnT w="9525" cmpd="sng">
                      <a:noFill/>
                    </a:lnT>
                    <a:lnB w="9525" cmpd="sng">
                      <a:noFill/>
                    </a:lnB>
                    <a:solidFill>
                      <a:srgbClr val="F2F8FC"/>
                    </a:solidFill>
                  </a:tcPr>
                </a:tc>
              </a:tr>
              <a:tr h="329184">
                <a:tc>
                  <a:txBody>
                    <a:bodyPr wrap="square"/>
                    <a:lstStyle/>
                    <a:p>
                      <a:pPr algn="l"/>
                      <a:r>
                        <a:rPr sz="1200" b="0" i="0">
                          <a:solidFill>
                            <a:srgbClr val="1C252B"/>
                          </a:solidFill>
                          <a:latin typeface="Segoe UI"/>
                        </a:rPr>
                        <a:t>D7</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Overcast</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Cool</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Normal</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Strong</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Yes</a:t>
                      </a:r>
                      <a:endParaRPr sz="1200"/>
                    </a:p>
                  </a:txBody>
                  <a:tcPr marL="109728" marR="109728" marT="64008" marB="45720" anchor="t">
                    <a:lnL w="0" cmpd="sng">
                      <a:noFill/>
                    </a:lnL>
                    <a:lnR w="0" cmpd="sng">
                      <a:noFill/>
                    </a:lnR>
                    <a:lnT w="9525" cmpd="sng">
                      <a:noFill/>
                    </a:lnT>
                    <a:lnB w="9525" cmpd="sng">
                      <a:noFill/>
                    </a:lnB>
                    <a:solidFill>
                      <a:srgbClr val="FFFFFF"/>
                    </a:solidFill>
                  </a:tcPr>
                </a:tc>
              </a:tr>
              <a:tr h="329184">
                <a:tc>
                  <a:txBody>
                    <a:bodyPr wrap="square"/>
                    <a:lstStyle/>
                    <a:p>
                      <a:pPr algn="l"/>
                      <a:r>
                        <a:rPr sz="1200" b="0" i="0">
                          <a:solidFill>
                            <a:srgbClr val="1C252B"/>
                          </a:solidFill>
                          <a:latin typeface="Segoe UI"/>
                        </a:rPr>
                        <a:t>D8</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Sunny</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Mild</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High</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Weak</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No</a:t>
                      </a:r>
                      <a:endParaRPr sz="1200"/>
                    </a:p>
                  </a:txBody>
                  <a:tcPr marL="109728" marR="109728" marT="64008" marB="45720" anchor="t">
                    <a:lnL w="0" cmpd="sng">
                      <a:noFill/>
                    </a:lnL>
                    <a:lnR w="0" cmpd="sng">
                      <a:noFill/>
                    </a:lnR>
                    <a:lnT w="9525" cmpd="sng">
                      <a:noFill/>
                    </a:lnT>
                    <a:lnB w="9525" cmpd="sng">
                      <a:noFill/>
                    </a:lnB>
                    <a:solidFill>
                      <a:srgbClr val="F2F8FC"/>
                    </a:solidFill>
                  </a:tcPr>
                </a:tc>
              </a:tr>
              <a:tr h="329184">
                <a:tc>
                  <a:txBody>
                    <a:bodyPr wrap="square"/>
                    <a:lstStyle/>
                    <a:p>
                      <a:pPr algn="l"/>
                      <a:r>
                        <a:rPr sz="1200" b="0" i="0">
                          <a:solidFill>
                            <a:srgbClr val="1C252B"/>
                          </a:solidFill>
                          <a:latin typeface="Segoe UI"/>
                        </a:rPr>
                        <a:t>D9</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Sunny</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Cool</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Normal</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Weak</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Yes</a:t>
                      </a:r>
                      <a:endParaRPr sz="1200"/>
                    </a:p>
                  </a:txBody>
                  <a:tcPr marL="109728" marR="109728" marT="64008" marB="45720" anchor="t">
                    <a:lnL w="0" cmpd="sng">
                      <a:noFill/>
                    </a:lnL>
                    <a:lnR w="0" cmpd="sng">
                      <a:noFill/>
                    </a:lnR>
                    <a:lnT w="9525" cmpd="sng">
                      <a:noFill/>
                    </a:lnT>
                    <a:lnB w="9525" cmpd="sng">
                      <a:noFill/>
                    </a:lnB>
                    <a:solidFill>
                      <a:srgbClr val="FFFFFF"/>
                    </a:solidFill>
                  </a:tcPr>
                </a:tc>
              </a:tr>
              <a:tr h="329184">
                <a:tc>
                  <a:txBody>
                    <a:bodyPr wrap="square"/>
                    <a:lstStyle/>
                    <a:p>
                      <a:pPr algn="l"/>
                      <a:r>
                        <a:rPr sz="1200" b="0" i="0">
                          <a:solidFill>
                            <a:srgbClr val="1C252B"/>
                          </a:solidFill>
                          <a:latin typeface="Segoe UI"/>
                        </a:rPr>
                        <a:t>D10</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Rain</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Mild</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Normal</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Weak</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Yes</a:t>
                      </a:r>
                      <a:endParaRPr sz="1200"/>
                    </a:p>
                  </a:txBody>
                  <a:tcPr marL="109728" marR="109728" marT="64008" marB="45720" anchor="t">
                    <a:lnL w="0" cmpd="sng">
                      <a:noFill/>
                    </a:lnL>
                    <a:lnR w="0" cmpd="sng">
                      <a:noFill/>
                    </a:lnR>
                    <a:lnT w="9525" cmpd="sng">
                      <a:noFill/>
                    </a:lnT>
                    <a:lnB w="9525" cmpd="sng">
                      <a:noFill/>
                    </a:lnB>
                    <a:solidFill>
                      <a:srgbClr val="F2F8FC"/>
                    </a:solidFill>
                  </a:tcPr>
                </a:tc>
              </a:tr>
              <a:tr h="329184">
                <a:tc>
                  <a:txBody>
                    <a:bodyPr wrap="square"/>
                    <a:lstStyle/>
                    <a:p>
                      <a:pPr algn="l"/>
                      <a:r>
                        <a:rPr sz="1200" b="0" i="0">
                          <a:solidFill>
                            <a:srgbClr val="1C252B"/>
                          </a:solidFill>
                          <a:latin typeface="Segoe UI"/>
                        </a:rPr>
                        <a:t>D11</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Sunny</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Mild</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Normal</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Strong</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Yes</a:t>
                      </a:r>
                      <a:endParaRPr sz="1200"/>
                    </a:p>
                  </a:txBody>
                  <a:tcPr marL="109728" marR="109728" marT="64008" marB="45720" anchor="t">
                    <a:lnL w="0" cmpd="sng">
                      <a:noFill/>
                    </a:lnL>
                    <a:lnR w="0" cmpd="sng">
                      <a:noFill/>
                    </a:lnR>
                    <a:lnT w="9525" cmpd="sng">
                      <a:noFill/>
                    </a:lnT>
                    <a:lnB w="9525" cmpd="sng">
                      <a:noFill/>
                    </a:lnB>
                    <a:solidFill>
                      <a:srgbClr val="FFFFFF"/>
                    </a:solidFill>
                  </a:tcPr>
                </a:tc>
              </a:tr>
              <a:tr h="329184">
                <a:tc>
                  <a:txBody>
                    <a:bodyPr wrap="square"/>
                    <a:lstStyle/>
                    <a:p>
                      <a:pPr algn="l"/>
                      <a:r>
                        <a:rPr sz="1200" b="0" i="0">
                          <a:solidFill>
                            <a:srgbClr val="1C252B"/>
                          </a:solidFill>
                          <a:latin typeface="Segoe UI"/>
                        </a:rPr>
                        <a:t>D12</a:t>
                      </a:r>
                      <a:endParaRPr sz="12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200" b="0" i="0">
                          <a:solidFill>
                            <a:srgbClr val="1C252B"/>
                          </a:solidFill>
                          <a:latin typeface="Segoe UI"/>
                        </a:rPr>
                        <a:t>Overcast</a:t>
                      </a:r>
                      <a:endParaRPr sz="12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200" b="0" i="0">
                          <a:solidFill>
                            <a:srgbClr val="1C252B"/>
                          </a:solidFill>
                          <a:latin typeface="Segoe UI"/>
                        </a:rPr>
                        <a:t>Mild</a:t>
                      </a:r>
                      <a:endParaRPr sz="12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200" b="0" i="0">
                          <a:solidFill>
                            <a:srgbClr val="1C252B"/>
                          </a:solidFill>
                          <a:latin typeface="Segoe UI"/>
                        </a:rPr>
                        <a:t>High</a:t>
                      </a:r>
                      <a:endParaRPr sz="12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200" b="0" i="0">
                          <a:solidFill>
                            <a:srgbClr val="1C252B"/>
                          </a:solidFill>
                          <a:latin typeface="Segoe UI"/>
                        </a:rPr>
                        <a:t>Strong</a:t>
                      </a:r>
                      <a:endParaRPr sz="12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200" b="0" i="0">
                          <a:solidFill>
                            <a:srgbClr val="1C252B"/>
                          </a:solidFill>
                          <a:latin typeface="Segoe UI"/>
                        </a:rPr>
                        <a:t>Yes</a:t>
                      </a:r>
                      <a:endParaRPr sz="12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212029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Choosing the Question: Entropy and Information Gain (continued)</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§9.2  ·  Handout p. 71     </a:t>
            </a:r>
            <a:fld id="{5F78AB41-7628-454D-A5CB-7DE910618B8F}" type="slidenum">
              <a:rPr lang="en-GB" sz="1000">
                <a:solidFill>
                  <a:srgbClr val="8795A1"/>
                </a:solidFill>
                <a:latin typeface="Segoe UI"/>
              </a:rPr>
              <a:t>9</a:t>
            </a:fld>
          </a:p>
        </p:txBody>
      </p:sp>
      <p:graphicFrame>
        <p:nvGraphicFramePr>
          <p:cNvPr id="7" name="!!table"/>
          <p:cNvGraphicFramePr>
            <a:graphicFrameLocks noGrp="1"/>
          </p:cNvGraphicFramePr>
          <p:nvPr/>
        </p:nvGraphicFramePr>
        <p:xfrm>
          <a:off x="658368" y="1737360"/>
          <a:ext cx="5589089" cy="987552"/>
        </p:xfrm>
        <a:graphic>
          <a:graphicData uri="http://schemas.openxmlformats.org/drawingml/2006/table">
            <a:tbl>
              <a:tblPr firstRow="0" bandRow="0" firstCol="0" lastRow="0" lastCol="0" bandCol="0">
                <a:tableStyleId>{2D5ABB26-0587-4C30-8999-92F81FD0307C}</a:tableStyleId>
              </a:tblPr>
              <a:tblGrid>
                <a:gridCol w="537859"/>
                <a:gridCol w="980252"/>
                <a:gridCol w="1199839"/>
                <a:gridCol w="980252"/>
                <a:gridCol w="852393"/>
                <a:gridCol w="1038494"/>
              </a:tblGrid>
              <a:tr h="329184">
                <a:tc>
                  <a:txBody>
                    <a:bodyPr wrap="square"/>
                    <a:lstStyle/>
                    <a:p>
                      <a:pPr algn="l"/>
                      <a:r>
                        <a:rPr sz="1200" b="1" i="0">
                          <a:solidFill>
                            <a:srgbClr val="1A5276"/>
                          </a:solidFill>
                          <a:latin typeface="Segoe UI"/>
                        </a:rPr>
                        <a:t>Day</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200" b="1" i="0">
                          <a:solidFill>
                            <a:srgbClr val="1A5276"/>
                          </a:solidFill>
                          <a:latin typeface="Segoe UI"/>
                        </a:rPr>
                        <a:t>Outlook</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200" b="1" i="0">
                          <a:solidFill>
                            <a:srgbClr val="1A5276"/>
                          </a:solidFill>
                          <a:latin typeface="Segoe UI"/>
                        </a:rPr>
                        <a:t>Temperature</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200" b="1" i="0">
                          <a:solidFill>
                            <a:srgbClr val="1A5276"/>
                          </a:solidFill>
                          <a:latin typeface="Segoe UI"/>
                        </a:rPr>
                        <a:t>Humidity</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200" b="1" i="0">
                          <a:solidFill>
                            <a:srgbClr val="1A5276"/>
                          </a:solidFill>
                          <a:latin typeface="Segoe UI"/>
                        </a:rPr>
                        <a:t>Wind</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200" b="1" i="0">
                          <a:solidFill>
                            <a:srgbClr val="1A5276"/>
                          </a:solidFill>
                          <a:latin typeface="Segoe UI"/>
                        </a:rPr>
                        <a:t>PlayTennis</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329184">
                <a:tc>
                  <a:txBody>
                    <a:bodyPr wrap="square"/>
                    <a:lstStyle/>
                    <a:p>
                      <a:pPr algn="l"/>
                      <a:r>
                        <a:rPr sz="1200" b="0" i="0">
                          <a:solidFill>
                            <a:srgbClr val="1C252B"/>
                          </a:solidFill>
                          <a:latin typeface="Segoe UI"/>
                        </a:rPr>
                        <a:t>D13</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Overcast</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Hot</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Normal</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Weak</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Yes</a:t>
                      </a:r>
                      <a:endParaRPr sz="1200"/>
                    </a:p>
                  </a:txBody>
                  <a:tcPr marL="109728" marR="109728" marT="64008" marB="45720" anchor="t">
                    <a:lnL w="0" cmpd="sng">
                      <a:noFill/>
                    </a:lnL>
                    <a:lnR w="0" cmpd="sng">
                      <a:noFill/>
                    </a:lnR>
                    <a:lnT w="9525" cmpd="sng">
                      <a:noFill/>
                    </a:lnT>
                    <a:lnB w="9525" cmpd="sng">
                      <a:noFill/>
                    </a:lnB>
                    <a:solidFill>
                      <a:srgbClr val="FFFFFF"/>
                    </a:solidFill>
                  </a:tcPr>
                </a:tc>
              </a:tr>
              <a:tr h="329184">
                <a:tc>
                  <a:txBody>
                    <a:bodyPr wrap="square"/>
                    <a:lstStyle/>
                    <a:p>
                      <a:pPr algn="l"/>
                      <a:r>
                        <a:rPr sz="1200" b="0" i="0">
                          <a:solidFill>
                            <a:srgbClr val="1C252B"/>
                          </a:solidFill>
                          <a:latin typeface="Segoe UI"/>
                        </a:rPr>
                        <a:t>D14</a:t>
                      </a:r>
                      <a:endParaRPr sz="12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200" b="0" i="0">
                          <a:solidFill>
                            <a:srgbClr val="1C252B"/>
                          </a:solidFill>
                          <a:latin typeface="Segoe UI"/>
                        </a:rPr>
                        <a:t>Rain</a:t>
                      </a:r>
                      <a:endParaRPr sz="12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200" b="0" i="0">
                          <a:solidFill>
                            <a:srgbClr val="1C252B"/>
                          </a:solidFill>
                          <a:latin typeface="Segoe UI"/>
                        </a:rPr>
                        <a:t>Mild</a:t>
                      </a:r>
                      <a:endParaRPr sz="12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200" b="0" i="0">
                          <a:solidFill>
                            <a:srgbClr val="1C252B"/>
                          </a:solidFill>
                          <a:latin typeface="Segoe UI"/>
                        </a:rPr>
                        <a:t>High</a:t>
                      </a:r>
                      <a:endParaRPr sz="12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200" b="0" i="0">
                          <a:solidFill>
                            <a:srgbClr val="1C252B"/>
                          </a:solidFill>
                          <a:latin typeface="Segoe UI"/>
                        </a:rPr>
                        <a:t>Strong</a:t>
                      </a:r>
                      <a:endParaRPr sz="12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200" b="0" i="0">
                          <a:solidFill>
                            <a:srgbClr val="1C252B"/>
                          </a:solidFill>
                          <a:latin typeface="Segoe UI"/>
                        </a:rPr>
                        <a:t>No</a:t>
                      </a:r>
                      <a:endParaRPr sz="12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238533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Information Gain</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§9.2  ·  Handout p. 71     </a:t>
            </a:r>
            <a:fld id="{9DCA442A-DF94-4289-8751-3A78B85A9284}" type="slidenum">
              <a:rPr lang="en-GB" sz="1000">
                <a:solidFill>
                  <a:srgbClr val="8795A1"/>
                </a:solidFill>
                <a:latin typeface="Segoe UI"/>
              </a:rPr>
              <a:t>10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307801"/>
          </a:xfrm>
          <a:prstGeom prst="roundRect">
            <a:avLst>
              <a:gd name="adj" fmla="val 2764"/>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307801"/>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a:t>
            </a:r>
            <a:r>
              <a:rPr sz="2300" b="1" i="0">
                <a:solidFill>
                  <a:srgbClr val="1A5276"/>
                </a:solidFill>
                <a:latin typeface="Segoe UI"/>
              </a:rPr>
              <a:t>information gain</a:t>
            </a:r>
            <a:r>
              <a:rPr sz="2300" b="0" i="0">
                <a:solidFill>
                  <a:srgbClr val="1C252B"/>
                </a:solidFill>
                <a:latin typeface="Segoe UI"/>
              </a:rPr>
              <a:t> of attribute </a:t>
            </a:r>
            <a:r>
              <a:rPr sz="2300" b="0" i="1">
                <a:solidFill>
                  <a:srgbClr val="1C252B"/>
                </a:solidFill>
                <a:latin typeface="Cambria"/>
              </a:rPr>
              <a:t>A</a:t>
            </a:r>
            <a:r>
              <a:rPr sz="2300" b="0" i="0">
                <a:solidFill>
                  <a:srgbClr val="1C252B"/>
                </a:solidFill>
                <a:latin typeface="Segoe UI"/>
              </a:rPr>
              <a:t> on example set </a:t>
            </a:r>
            <a:r>
              <a:rPr sz="2300" b="0" i="1">
                <a:solidFill>
                  <a:srgbClr val="1C252B"/>
                </a:solidFill>
                <a:latin typeface="Cambria"/>
              </a:rPr>
              <a:t>S</a:t>
            </a:r>
            <a:r>
              <a:rPr sz="2300" b="0" i="0">
                <a:solidFill>
                  <a:srgbClr val="1C252B"/>
                </a:solidFill>
                <a:latin typeface="Segoe UI"/>
              </a:rPr>
              <a:t> is the expected reduction in entropy from splitting </a:t>
            </a:r>
            <a:r>
              <a:rPr sz="2300" b="0" i="1">
                <a:solidFill>
                  <a:srgbClr val="1C252B"/>
                </a:solidFill>
                <a:latin typeface="Cambria"/>
              </a:rPr>
              <a:t>S</a:t>
            </a:r>
            <a:r>
              <a:rPr sz="2300" b="0" i="0">
                <a:solidFill>
                  <a:srgbClr val="1C252B"/>
                </a:solidFill>
                <a:latin typeface="Segoe UI"/>
              </a:rPr>
              <a:t> on </a:t>
            </a:r>
            <a:r>
              <a:rPr sz="2300" b="0" i="1">
                <a:solidFill>
                  <a:srgbClr val="1C252B"/>
                </a:solidFill>
                <a:latin typeface="Cambria"/>
              </a:rPr>
              <a:t>A</a:t>
            </a:r>
            <a:r>
              <a:rPr sz="2300" b="0" i="0">
                <a:solidFill>
                  <a:srgbClr val="1C252B"/>
                </a:solidFill>
                <a:latin typeface="Segoe UI"/>
              </a:rPr>
              <a:t>:</a:t>
            </a:r>
          </a:p>
        </p:txBody>
      </p:sp>
      <p:pic>
        <p:nvPicPr>
          <p:cNvPr id="10" name="body-1" descr="\text{Gain}(S, A) = \text{Entropy}(S) - \sum_{v \in \text{Values}(A)} \frac{|S_v|}{|S|}\,\text{Entropy}(S_v)"/>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937992"/>
            <a:ext cx="10161727" cy="906536"/>
          </a:xfrm>
          <a:prstGeom prst="rect">
            <a:avLst/>
          </a:prstGeom>
        </p:spPr>
      </p:pic>
      <p:sp>
        <p:nvSpPr>
          <p:cNvPr id="11" name="body-2"/>
          <p:cNvSpPr txBox="1"/>
          <p:nvPr/>
        </p:nvSpPr>
        <p:spPr>
          <a:xfrm>
            <a:off x="1060704" y="4005183"/>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where </a:t>
            </a:r>
            <a:r>
              <a:rPr sz="2300" b="0" i="1">
                <a:solidFill>
                  <a:srgbClr val="1C252B"/>
                </a:solidFill>
                <a:latin typeface="Cambria"/>
              </a:rPr>
              <a:t>S</a:t>
            </a:r>
            <a:r>
              <a:rPr sz="2300" b="0" i="1" baseline="-25000">
                <a:solidFill>
                  <a:srgbClr val="1C252B"/>
                </a:solidFill>
                <a:latin typeface="Cambria"/>
              </a:rPr>
              <a:t>v</a:t>
            </a:r>
            <a:r>
              <a:rPr sz="2300" b="0" i="0">
                <a:solidFill>
                  <a:srgbClr val="1C252B"/>
                </a:solidFill>
                <a:latin typeface="Segoe UI"/>
              </a:rPr>
              <a:t> is the subset of </a:t>
            </a:r>
            <a:r>
              <a:rPr sz="2300" b="0" i="1">
                <a:solidFill>
                  <a:srgbClr val="1C252B"/>
                </a:solidFill>
                <a:latin typeface="Cambria"/>
              </a:rPr>
              <a:t>S</a:t>
            </a:r>
            <a:r>
              <a:rPr sz="2300" b="0" i="0">
                <a:solidFill>
                  <a:srgbClr val="1C252B"/>
                </a:solidFill>
                <a:latin typeface="Segoe UI"/>
              </a:rPr>
              <a:t> with </a:t>
            </a:r>
            <a:r>
              <a:rPr sz="2300" b="0" i="1">
                <a:solidFill>
                  <a:srgbClr val="1C252B"/>
                </a:solidFill>
                <a:latin typeface="Cambria"/>
              </a:rPr>
              <a:t>A</a:t>
            </a:r>
            <a:r>
              <a:rPr sz="2300" b="0" i="0">
                <a:solidFill>
                  <a:srgbClr val="1C252B"/>
                </a:solidFill>
                <a:latin typeface="Cambria"/>
              </a:rPr>
              <a:t> = </a:t>
            </a:r>
            <a:r>
              <a:rPr sz="2300" b="0" i="1">
                <a:solidFill>
                  <a:srgbClr val="1C252B"/>
                </a:solidFill>
                <a:latin typeface="Cambria"/>
              </a:rPr>
              <a:t>v</a:t>
            </a:r>
            <a:r>
              <a:rPr sz="2300" b="0" i="0">
                <a:solidFill>
                  <a:srgbClr val="1C252B"/>
                </a:solidFill>
                <a:latin typeface="Segoe UI"/>
              </a:rPr>
              <a:t>. ID3 puts the attribute with the highest gain at the node.</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265036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Two impurity measures for a two-class node</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B7A43"/>
                </a:solidFill>
                <a:latin typeface="Segoe UI"/>
              </a:rPr>
              <a:t>FIGURE 9.2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§9.2  ·  Handout p. 71     </a:t>
            </a:r>
            <a:fld id="{B2D4E5CA-A922-4E0E-A5DF-3B6037AC2DFD}" type="slidenum">
              <a:rPr lang="en-GB" sz="1000">
                <a:solidFill>
                  <a:srgbClr val="8795A1"/>
                </a:solidFill>
                <a:latin typeface="Segoe UI"/>
              </a:rPr>
              <a:t>11</a:t>
            </a:fld>
          </a:p>
        </p:txBody>
      </p:sp>
      <p:pic>
        <p:nvPicPr>
          <p:cNvPr id="6" name="!!figure" descr="Figure 9.2. Two impurity measures for a two-class node. Both are zero for a pure node and largest for an even split; they almost always pick the same attribute."/>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282919" y="1737360"/>
            <a:ext cx="7625856" cy="4009948"/>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Both are zero for a pure node and largest for an even split; they almost always pick the same attribute.</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91540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ID3’s First Choice on PlayTennis</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§9.2  ·  Handout p. 71     </a:t>
            </a:r>
            <a:fld id="{8CFFDC21-BB4F-4963-9786-3AA402266EBB}" type="slidenum">
              <a:rPr lang="en-GB" sz="1000">
                <a:solidFill>
                  <a:srgbClr val="8795A1"/>
                </a:solidFill>
                <a:latin typeface="Segoe UI"/>
              </a:rPr>
              <a:t>12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503211"/>
          </a:xfrm>
          <a:prstGeom prst="roundRect">
            <a:avLst>
              <a:gd name="adj" fmla="val 2030"/>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50321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The root.</a:t>
            </a:r>
            <a:r>
              <a:rPr sz="1900" b="0" i="0">
                <a:solidFill>
                  <a:srgbClr val="1C252B"/>
                </a:solidFill>
                <a:latin typeface="Segoe UI"/>
              </a:rPr>
              <a:t> 9 Yes, 5 No: Entropy</a:t>
            </a:r>
            <a:r>
              <a:rPr sz="1900" b="0" i="0">
                <a:solidFill>
                  <a:srgbClr val="1C252B"/>
                </a:solidFill>
                <a:latin typeface="Cambria"/>
              </a:rPr>
              <a:t>(</a:t>
            </a:r>
            <a:r>
              <a:rPr sz="1900" b="0" i="1">
                <a:solidFill>
                  <a:srgbClr val="1C252B"/>
                </a:solidFill>
                <a:latin typeface="Cambria"/>
              </a:rPr>
              <a:t>S</a:t>
            </a:r>
            <a:r>
              <a:rPr sz="1900" b="0" i="0">
                <a:solidFill>
                  <a:srgbClr val="1C252B"/>
                </a:solidFill>
                <a:latin typeface="Cambria"/>
              </a:rPr>
              <a:t>) = 0.940</a:t>
            </a:r>
            <a:r>
              <a:rPr sz="1900" b="0" i="0">
                <a:solidFill>
                  <a:srgbClr val="1C252B"/>
                </a:solidFill>
                <a:latin typeface="Segoe UI"/>
              </a:rPr>
              <a:t> (computed in Chapter 2).</a:t>
            </a:r>
          </a:p>
        </p:txBody>
      </p:sp>
      <p:sp>
        <p:nvSpPr>
          <p:cNvPr id="10" name="body-1"/>
          <p:cNvSpPr txBox="1"/>
          <p:nvPr/>
        </p:nvSpPr>
        <p:spPr>
          <a:xfrm>
            <a:off x="1042416" y="2445537"/>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Outlook</a:t>
            </a:r>
            <a:r>
              <a:rPr sz="1900" b="0" i="0">
                <a:solidFill>
                  <a:srgbClr val="1C252B"/>
                </a:solidFill>
                <a:latin typeface="Segoe UI"/>
              </a:rPr>
              <a:t> splits </a:t>
            </a:r>
            <a:r>
              <a:rPr sz="1900" b="0" i="1">
                <a:solidFill>
                  <a:srgbClr val="1C252B"/>
                </a:solidFill>
                <a:latin typeface="Cambria"/>
              </a:rPr>
              <a:t>S</a:t>
            </a:r>
            <a:r>
              <a:rPr sz="1900" b="0" i="0">
                <a:solidFill>
                  <a:srgbClr val="1C252B"/>
                </a:solidFill>
                <a:latin typeface="Segoe UI"/>
              </a:rPr>
              <a:t> into Sunny (2 Yes, 3 No: entropy 0.971), Overcast (4, 0: entropy 0) and Rain (3, 2: entropy 0.971):</a:t>
            </a:r>
          </a:p>
        </p:txBody>
      </p:sp>
      <p:pic>
        <p:nvPicPr>
          <p:cNvPr id="11" name="body-2" descr="\text{Gain}(S, \text{Outlook}) = 0.940 - \tfrac{5}{14}(0.971) - \tfrac{4}{14}(0) - \tfrac{5}{14}(0.971) = \mathbf{0.246}"/>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3180537"/>
            <a:ext cx="10234879" cy="409651"/>
          </a:xfrm>
          <a:prstGeom prst="rect">
            <a:avLst/>
          </a:prstGeom>
        </p:spPr>
      </p:pic>
      <p:sp>
        <p:nvSpPr>
          <p:cNvPr id="12" name="body-3"/>
          <p:cNvSpPr txBox="1"/>
          <p:nvPr/>
        </p:nvSpPr>
        <p:spPr>
          <a:xfrm>
            <a:off x="1042416" y="3722903"/>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Humidity</a:t>
            </a:r>
            <a:r>
              <a:rPr sz="1900" b="0" i="0">
                <a:solidFill>
                  <a:srgbClr val="1C252B"/>
                </a:solidFill>
                <a:latin typeface="Segoe UI"/>
              </a:rPr>
              <a:t>: High (3, 4: 0.985), Normal (6, 1: 0.592):</a:t>
            </a:r>
          </a:p>
        </p:txBody>
      </p:sp>
      <p:sp>
        <p:nvSpPr>
          <p:cNvPr id="13" name="body-3bar">
            <a:extLst>
              <a:ext uri="{C183D7F6-B498-43B3-948B-1728B52AA6E4}">
                <adec:decorative xmlns:adec="http://schemas.microsoft.com/office/drawing/2017/decorative" val="1"/>
              </a:ext>
            </a:extLst>
          </p:cNvPr>
          <p:cNvSpPr/>
          <p:nvPr/>
        </p:nvSpPr>
        <p:spPr>
          <a:xfrm>
            <a:off x="841248" y="3741191"/>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4" name="body-4" descr="\text{Gain}(S, \text{Humidity}) = 0.940 - \tfrac{7}{14}(0.985) - \tfrac{7}{14}(0.592) = \mathbf{0.151}"/>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42416" y="4156760"/>
            <a:ext cx="10234879" cy="403799"/>
          </a:xfrm>
          <a:prstGeom prst="rect">
            <a:avLst/>
          </a:prstGeom>
        </p:spPr>
      </p:pic>
      <p:sp>
        <p:nvSpPr>
          <p:cNvPr id="15" name="body-5"/>
          <p:cNvSpPr txBox="1"/>
          <p:nvPr/>
        </p:nvSpPr>
        <p:spPr>
          <a:xfrm>
            <a:off x="1042416" y="4693274"/>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Wind</a:t>
            </a:r>
            <a:r>
              <a:rPr sz="1900" b="0" i="0">
                <a:solidFill>
                  <a:srgbClr val="1C252B"/>
                </a:solidFill>
                <a:latin typeface="Segoe UI"/>
              </a:rPr>
              <a:t>: Weak (6, 2: 0.811), Strong (3, 3: 1.000):</a:t>
            </a:r>
          </a:p>
        </p:txBody>
      </p:sp>
      <p:sp>
        <p:nvSpPr>
          <p:cNvPr id="16" name="body-5bar">
            <a:extLst>
              <a:ext uri="{C183D7F6-B498-43B3-948B-1728B52AA6E4}">
                <adec:decorative xmlns:adec="http://schemas.microsoft.com/office/drawing/2017/decorative" val="1"/>
              </a:ext>
            </a:extLst>
          </p:cNvPr>
          <p:cNvSpPr/>
          <p:nvPr/>
        </p:nvSpPr>
        <p:spPr>
          <a:xfrm>
            <a:off x="841248" y="4711562"/>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7" name="body-6" descr="\text{Gain}(S, \text{Wind}) = 0.940 - \tfrac{8}{14}(0.811) - \tfrac{6}{14}(1.000) = \mathbf{0.048}"/>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042416" y="5127132"/>
            <a:ext cx="10234879" cy="405262"/>
          </a:xfrm>
          <a:prstGeom prst="rect">
            <a:avLst/>
          </a:prstGeom>
        </p:spPr>
      </p:pic>
      <p:sp>
        <p:nvSpPr>
          <p:cNvPr id="18" name="body-7"/>
          <p:cNvSpPr txBox="1"/>
          <p:nvPr/>
        </p:nvSpPr>
        <p:spPr>
          <a:xfrm>
            <a:off x="1042416" y="566510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Temperature</a:t>
            </a:r>
            <a:r>
              <a:rPr sz="1900" b="0" i="0">
                <a:solidFill>
                  <a:srgbClr val="1C252B"/>
                </a:solidFill>
                <a:latin typeface="Segoe UI"/>
              </a:rPr>
              <a:t>: Gain</a:t>
            </a:r>
            <a:r>
              <a:rPr sz="1900" b="0" i="0">
                <a:solidFill>
                  <a:srgbClr val="1C252B"/>
                </a:solidFill>
                <a:latin typeface="Cambria"/>
              </a:rPr>
              <a:t> = </a:t>
            </a:r>
            <a:r>
              <a:rPr sz="1900" b="1" i="0">
                <a:solidFill>
                  <a:srgbClr val="1C252B"/>
                </a:solidFill>
                <a:latin typeface="Cambria"/>
              </a:rPr>
              <a:t>0.029</a:t>
            </a:r>
            <a:r>
              <a:rPr sz="1900" b="0" i="0">
                <a:solidFill>
                  <a:srgbClr val="1C252B"/>
                </a:solidFill>
                <a:latin typeface="Segoe UI"/>
              </a:rPr>
              <a:t> (check it yourself).</a:t>
            </a:r>
          </a:p>
        </p:txBody>
      </p:sp>
      <p:sp>
        <p:nvSpPr>
          <p:cNvPr id="19" name="body-7bar">
            <a:extLst>
              <a:ext uri="{C183D7F6-B498-43B3-948B-1728B52AA6E4}">
                <adec:decorative xmlns:adec="http://schemas.microsoft.com/office/drawing/2017/decorative" val="1"/>
              </a:ext>
            </a:extLst>
          </p:cNvPr>
          <p:cNvSpPr/>
          <p:nvPr/>
        </p:nvSpPr>
        <p:spPr>
          <a:xfrm>
            <a:off x="841248" y="5683397"/>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pfill">
            <a:extLst>
              <a:ext uri="{C183D7F6-B498-43B3-948B-1728B52AA6E4}">
                <adec:decorative xmlns:adec="http://schemas.microsoft.com/office/drawing/2017/decorative" val="1"/>
              </a:ext>
            </a:extLst>
          </p:cNvPr>
          <p:cNvSpPr/>
          <p:nvPr/>
        </p:nvSpPr>
        <p:spPr>
          <a:xfrm>
            <a:off x="0" y="0"/>
            <a:ext cx="318044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wipe(right)">
                                      <p:cBhvr>
                                        <p:cTn id="18" dur="420"/>
                                        <p:tgtEl>
                                          <p:spTgt spid="1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420"/>
                                        <p:tgtEl>
                                          <p:spTgt spid="12"/>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wipe(right)">
                                      <p:cBhvr>
                                        <p:cTn id="26" dur="420"/>
                                        <p:tgtEl>
                                          <p:spTgt spid="14"/>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wipe(right)">
                                      <p:cBhvr>
                                        <p:cTn id="31" dur="420"/>
                                        <p:tgtEl>
                                          <p:spTgt spid="1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420"/>
                                        <p:tgtEl>
                                          <p:spTgt spid="15"/>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17"/>
                                        </p:tgtEl>
                                        <p:attrNameLst>
                                          <p:attrName>style.visibility</p:attrName>
                                        </p:attrNameLst>
                                      </p:cBhvr>
                                      <p:to>
                                        <p:strVal val="visible"/>
                                      </p:to>
                                    </p:set>
                                    <p:animEffect transition="in" filter="wipe(right)">
                                      <p:cBhvr>
                                        <p:cTn id="39" dur="420"/>
                                        <p:tgtEl>
                                          <p:spTgt spid="1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wipe(right)">
                                      <p:cBhvr>
                                        <p:cTn id="44" dur="420"/>
                                        <p:tgtEl>
                                          <p:spTgt spid="19"/>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4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ID3’s First Choice on PlayTennis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§9.2  ·  Handout p. 71     </a:t>
            </a:r>
            <a:fld id="{CB4CED3B-C2D8-4CAD-96A5-6EC28E95B40F}" type="slidenum">
              <a:rPr lang="en-GB" sz="1000">
                <a:solidFill>
                  <a:srgbClr val="8795A1"/>
                </a:solidFill>
                <a:latin typeface="Segoe UI"/>
              </a:rPr>
              <a:t>13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488209"/>
          </a:xfrm>
          <a:prstGeom prst="roundRect">
            <a:avLst>
              <a:gd name="adj" fmla="val 3674"/>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48820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Outlook wins</a:t>
            </a:r>
            <a:r>
              <a:rPr sz="1900" b="0" i="0">
                <a:solidFill>
                  <a:srgbClr val="1C252B"/>
                </a:solidFill>
                <a:latin typeface="Segoe UI"/>
              </a:rPr>
              <a:t> and goes at the root. Its Overcast branch is already pure, so it becomes a Yes leaf.</a:t>
            </a:r>
          </a:p>
        </p:txBody>
      </p:sp>
      <p:sp>
        <p:nvSpPr>
          <p:cNvPr id="10" name="body-0bar">
            <a:extLst>
              <a:ext uri="{C183D7F6-B498-43B3-948B-1728B52AA6E4}">
                <adec:decorative xmlns:adec="http://schemas.microsoft.com/office/drawing/2017/decorative" val="1"/>
              </a:ext>
            </a:extLst>
          </p:cNvPr>
          <p:cNvSpPr/>
          <p:nvPr/>
        </p:nvSpPr>
        <p:spPr>
          <a:xfrm>
            <a:off x="841248" y="2029967"/>
            <a:ext cx="54864" cy="58399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body-1"/>
          <p:cNvSpPr txBox="1"/>
          <p:nvPr/>
        </p:nvSpPr>
        <p:spPr>
          <a:xfrm>
            <a:off x="1042416" y="2746679"/>
            <a:ext cx="10234879" cy="1250289"/>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The Sunny branch</a:t>
            </a:r>
            <a:r>
              <a:rPr sz="1900" b="0" i="0">
                <a:solidFill>
                  <a:srgbClr val="1C252B"/>
                </a:solidFill>
                <a:latin typeface="Segoe UI"/>
              </a:rPr>
              <a:t> (D1, D2, D8, D9, D11; entropy 0.971) is split the same way, using only those five days: Gain(Humidity) </a:t>
            </a:r>
            <a:r>
              <a:rPr sz="1900" b="0" i="0">
                <a:solidFill>
                  <a:srgbClr val="1C252B"/>
                </a:solidFill>
                <a:latin typeface="Cambria"/>
              </a:rPr>
              <a:t>= 0.971</a:t>
            </a:r>
            <a:r>
              <a:rPr sz="1900" b="0" i="0">
                <a:solidFill>
                  <a:srgbClr val="1C252B"/>
                </a:solidFill>
                <a:latin typeface="Segoe UI"/>
              </a:rPr>
              <a:t>, Gain(Temperature) </a:t>
            </a:r>
            <a:r>
              <a:rPr sz="1900" b="0" i="0">
                <a:solidFill>
                  <a:srgbClr val="1C252B"/>
                </a:solidFill>
                <a:latin typeface="Cambria"/>
              </a:rPr>
              <a:t>= 0.571</a:t>
            </a:r>
            <a:r>
              <a:rPr sz="1900" b="0" i="0">
                <a:solidFill>
                  <a:srgbClr val="1C252B"/>
                </a:solidFill>
                <a:latin typeface="Segoe UI"/>
              </a:rPr>
              <a:t>, Gain(Wind) </a:t>
            </a:r>
            <a:r>
              <a:rPr sz="1900" b="0" i="0">
                <a:solidFill>
                  <a:srgbClr val="1C252B"/>
                </a:solidFill>
                <a:latin typeface="Cambria"/>
              </a:rPr>
              <a:t>= 0.020</a:t>
            </a:r>
            <a:r>
              <a:rPr sz="1900" b="0" i="0">
                <a:solidFill>
                  <a:srgbClr val="1C252B"/>
                </a:solidFill>
                <a:latin typeface="Segoe UI"/>
              </a:rPr>
              <a:t>. Humidity separates them perfectly. On the Rain branch Wind does the same. Every leaf is now pure, and ID3 stops with the tree of Figure 9.1.</a:t>
            </a:r>
          </a:p>
        </p:txBody>
      </p:sp>
      <p:sp>
        <p:nvSpPr>
          <p:cNvPr id="12" name="body-1bar">
            <a:extLst>
              <a:ext uri="{C183D7F6-B498-43B3-948B-1728B52AA6E4}">
                <adec:decorative xmlns:adec="http://schemas.microsoft.com/office/drawing/2017/decorative" val="1"/>
              </a:ext>
            </a:extLst>
          </p:cNvPr>
          <p:cNvSpPr/>
          <p:nvPr/>
        </p:nvSpPr>
        <p:spPr>
          <a:xfrm>
            <a:off x="841248" y="2764967"/>
            <a:ext cx="54864" cy="118628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pfill">
            <a:extLst>
              <a:ext uri="{C183D7F6-B498-43B3-948B-1728B52AA6E4}">
                <adec:decorative xmlns:adec="http://schemas.microsoft.com/office/drawing/2017/decorative" val="1"/>
              </a:ext>
            </a:extLst>
          </p:cNvPr>
          <p:cNvSpPr/>
          <p:nvPr/>
        </p:nvSpPr>
        <p:spPr>
          <a:xfrm>
            <a:off x="0" y="0"/>
            <a:ext cx="344547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2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wipe(right)">
                                      <p:cBhvr>
                                        <p:cTn id="16" dur="42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2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Choosing a Threshold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§9.3  ·  Handout p. 72     </a:t>
            </a:r>
            <a:fld id="{E673E307-9EFB-4C8E-B222-61ABAB0E2C4B}" type="slidenum">
              <a:rPr lang="en-GB" sz="1000">
                <a:solidFill>
                  <a:srgbClr val="8795A1"/>
                </a:solidFill>
                <a:latin typeface="Segoe UI"/>
              </a:rPr>
              <a:t>14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598087"/>
          </a:xfrm>
          <a:prstGeom prst="roundRect">
            <a:avLst>
              <a:gd name="adj" fmla="val 2541"/>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598087"/>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1044244"/>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Six days with Temperature </a:t>
            </a:r>
            <a:r>
              <a:rPr sz="2100" b="0" i="0">
                <a:solidFill>
                  <a:srgbClr val="1C252B"/>
                </a:solidFill>
                <a:latin typeface="Cambria"/>
              </a:rPr>
              <a:t>40, 48, 60, 72, 80, 90</a:t>
            </a:r>
            <a:r>
              <a:rPr sz="2100" b="0" i="0">
                <a:solidFill>
                  <a:srgbClr val="1C252B"/>
                </a:solidFill>
                <a:latin typeface="Segoe UI"/>
              </a:rPr>
              <a:t> and PlayTennis No, No, Yes, Yes, Yes, No. The class changes between 48 and 60 and between 80 and 90, so the candidates are </a:t>
            </a:r>
            <a:r>
              <a:rPr sz="2100" b="0" i="1">
                <a:solidFill>
                  <a:srgbClr val="1C252B"/>
                </a:solidFill>
                <a:latin typeface="Cambria"/>
              </a:rPr>
              <a:t>t</a:t>
            </a:r>
            <a:r>
              <a:rPr sz="2100" b="0" i="0">
                <a:solidFill>
                  <a:srgbClr val="1C252B"/>
                </a:solidFill>
                <a:latin typeface="Cambria"/>
              </a:rPr>
              <a:t> = 54</a:t>
            </a:r>
            <a:r>
              <a:rPr sz="2100" b="0" i="0">
                <a:solidFill>
                  <a:srgbClr val="1C252B"/>
                </a:solidFill>
                <a:latin typeface="Segoe UI"/>
              </a:rPr>
              <a:t> and </a:t>
            </a:r>
            <a:r>
              <a:rPr sz="2100" b="0" i="1">
                <a:solidFill>
                  <a:srgbClr val="1C252B"/>
                </a:solidFill>
                <a:latin typeface="Cambria"/>
              </a:rPr>
              <a:t>t</a:t>
            </a:r>
            <a:r>
              <a:rPr sz="2100" b="0" i="0">
                <a:solidFill>
                  <a:srgbClr val="1C252B"/>
                </a:solidFill>
                <a:latin typeface="Cambria"/>
              </a:rPr>
              <a:t> = 85</a:t>
            </a:r>
            <a:r>
              <a:rPr sz="2100" b="0" i="0">
                <a:solidFill>
                  <a:srgbClr val="1C252B"/>
                </a:solidFill>
                <a:latin typeface="Segoe UI"/>
              </a:rPr>
              <a:t>. The set has 3 Yes and 3 No: entropy 1.</a:t>
            </a:r>
          </a:p>
        </p:txBody>
      </p:sp>
      <p:sp>
        <p:nvSpPr>
          <p:cNvPr id="10" name="body-1"/>
          <p:cNvSpPr txBox="1"/>
          <p:nvPr/>
        </p:nvSpPr>
        <p:spPr>
          <a:xfrm>
            <a:off x="1042416" y="3156889"/>
            <a:ext cx="10234879" cy="1470431"/>
          </a:xfrm>
          <a:prstGeom prst="rect">
            <a:avLst/>
          </a:prstGeom>
          <a:noFill/>
        </p:spPr>
        <p:txBody>
          <a:bodyPr wrap="square" anchor="t" lIns="0" rIns="0" tIns="0" bIns="0">
            <a:noAutofit/>
          </a:bodyPr>
          <a:lstStyle/>
          <a:p>
            <a:pPr algn="l" marL="234813" indent="-234813">
              <a:lnSpc>
                <a:spcPct val="104000"/>
              </a:lnSpc>
              <a:spcBef>
                <a:spcPts val="0"/>
              </a:spcBef>
              <a:spcAft>
                <a:spcPts val="735"/>
              </a:spcAft>
            </a:pPr>
            <a:r>
              <a:rPr sz="2100" b="1">
                <a:solidFill>
                  <a:srgbClr val="7D6608"/>
                </a:solidFill>
                <a:latin typeface="Segoe UI"/>
              </a:rPr>
              <a:t>•	</a:t>
            </a:r>
            <a:r>
              <a:rPr sz="2100" b="0" i="1">
                <a:solidFill>
                  <a:srgbClr val="1C252B"/>
                </a:solidFill>
                <a:latin typeface="Cambria"/>
              </a:rPr>
              <a:t>t</a:t>
            </a:r>
            <a:r>
              <a:rPr sz="2100" b="0" i="0">
                <a:solidFill>
                  <a:srgbClr val="1C252B"/>
                </a:solidFill>
                <a:latin typeface="Cambria"/>
              </a:rPr>
              <a:t> = 54</a:t>
            </a:r>
            <a:r>
              <a:rPr sz="2100" b="0" i="0">
                <a:solidFill>
                  <a:srgbClr val="1C252B"/>
                </a:solidFill>
                <a:latin typeface="Segoe UI"/>
              </a:rPr>
              <a:t>: </a:t>
            </a:r>
            <a:r>
              <a:rPr sz="2100" b="0" i="0">
                <a:solidFill>
                  <a:srgbClr val="1C252B"/>
                </a:solidFill>
                <a:latin typeface="Cambria"/>
              </a:rPr>
              <a:t>≤ 54</a:t>
            </a:r>
            <a:r>
              <a:rPr sz="2100" b="0" i="0">
                <a:solidFill>
                  <a:srgbClr val="1C252B"/>
                </a:solidFill>
                <a:latin typeface="Segoe UI"/>
              </a:rPr>
              <a:t> holds {No, No} (entropy 0); </a:t>
            </a:r>
            <a:r>
              <a:rPr sz="2100" b="0" i="0">
                <a:solidFill>
                  <a:srgbClr val="1C252B"/>
                </a:solidFill>
                <a:latin typeface="Cambria"/>
              </a:rPr>
              <a:t>&gt; 54</a:t>
            </a:r>
            <a:r>
              <a:rPr sz="2100" b="0" i="0">
                <a:solidFill>
                  <a:srgbClr val="1C252B"/>
                </a:solidFill>
                <a:latin typeface="Segoe UI"/>
              </a:rPr>
              <a:t> holds 3 Yes, 1 No (entropy 0.811). Gain </a:t>
            </a:r>
            <a:r>
              <a:rPr sz="2100" b="0" i="0">
                <a:solidFill>
                  <a:srgbClr val="1C252B"/>
                </a:solidFill>
                <a:latin typeface="Cambria"/>
              </a:rPr>
              <a:t>= 1 − 4/6(0.811) = </a:t>
            </a:r>
            <a:r>
              <a:rPr sz="2100" b="1" i="0">
                <a:solidFill>
                  <a:srgbClr val="1C252B"/>
                </a:solidFill>
                <a:latin typeface="Cambria"/>
              </a:rPr>
              <a:t>0.459</a:t>
            </a:r>
            <a:r>
              <a:rPr sz="2100" b="0" i="0">
                <a:solidFill>
                  <a:srgbClr val="1C252B"/>
                </a:solidFill>
                <a:latin typeface="Segoe UI"/>
              </a:rPr>
              <a:t>.</a:t>
            </a:r>
          </a:p>
          <a:p>
            <a:pPr algn="l" marL="234813" indent="-234813">
              <a:lnSpc>
                <a:spcPct val="104000"/>
              </a:lnSpc>
              <a:spcBef>
                <a:spcPts val="0"/>
              </a:spcBef>
              <a:spcAft>
                <a:spcPts val="0"/>
              </a:spcAft>
            </a:pPr>
            <a:r>
              <a:rPr sz="2100" b="1">
                <a:solidFill>
                  <a:srgbClr val="7D6608"/>
                </a:solidFill>
                <a:latin typeface="Segoe UI"/>
              </a:rPr>
              <a:t>•	</a:t>
            </a:r>
            <a:r>
              <a:rPr sz="2100" b="0" i="1">
                <a:solidFill>
                  <a:srgbClr val="1C252B"/>
                </a:solidFill>
                <a:latin typeface="Cambria"/>
              </a:rPr>
              <a:t>t</a:t>
            </a:r>
            <a:r>
              <a:rPr sz="2100" b="0" i="0">
                <a:solidFill>
                  <a:srgbClr val="1C252B"/>
                </a:solidFill>
                <a:latin typeface="Cambria"/>
              </a:rPr>
              <a:t> = 85</a:t>
            </a:r>
            <a:r>
              <a:rPr sz="2100" b="0" i="0">
                <a:solidFill>
                  <a:srgbClr val="1C252B"/>
                </a:solidFill>
                <a:latin typeface="Segoe UI"/>
              </a:rPr>
              <a:t>: </a:t>
            </a:r>
            <a:r>
              <a:rPr sz="2100" b="0" i="0">
                <a:solidFill>
                  <a:srgbClr val="1C252B"/>
                </a:solidFill>
                <a:latin typeface="Cambria"/>
              </a:rPr>
              <a:t>≤ 85</a:t>
            </a:r>
            <a:r>
              <a:rPr sz="2100" b="0" i="0">
                <a:solidFill>
                  <a:srgbClr val="1C252B"/>
                </a:solidFill>
                <a:latin typeface="Segoe UI"/>
              </a:rPr>
              <a:t> holds 3 Yes, 2 No (0.971); </a:t>
            </a:r>
            <a:r>
              <a:rPr sz="2100" b="0" i="0">
                <a:solidFill>
                  <a:srgbClr val="1C252B"/>
                </a:solidFill>
                <a:latin typeface="Cambria"/>
              </a:rPr>
              <a:t>&gt; 85</a:t>
            </a:r>
            <a:r>
              <a:rPr sz="2100" b="0" i="0">
                <a:solidFill>
                  <a:srgbClr val="1C252B"/>
                </a:solidFill>
                <a:latin typeface="Segoe UI"/>
              </a:rPr>
              <a:t> holds {No} (0). Gain </a:t>
            </a:r>
            <a:r>
              <a:rPr sz="2100" b="0" i="0">
                <a:solidFill>
                  <a:srgbClr val="1C252B"/>
                </a:solidFill>
                <a:latin typeface="Cambria"/>
              </a:rPr>
              <a:t>= 1 − 5/6(0.971) = </a:t>
            </a:r>
            <a:r>
              <a:rPr sz="2100" b="1" i="0">
                <a:solidFill>
                  <a:srgbClr val="1C252B"/>
                </a:solidFill>
                <a:latin typeface="Cambria"/>
              </a:rPr>
              <a:t>0.191</a:t>
            </a:r>
            <a:r>
              <a:rPr sz="2100" b="0" i="0">
                <a:solidFill>
                  <a:srgbClr val="1C252B"/>
                </a:solidFill>
                <a:latin typeface="Segoe UI"/>
              </a:rPr>
              <a:t>.</a:t>
            </a:r>
          </a:p>
        </p:txBody>
      </p:sp>
      <p:sp>
        <p:nvSpPr>
          <p:cNvPr id="11" name="body-2"/>
          <p:cNvSpPr txBox="1"/>
          <p:nvPr/>
        </p:nvSpPr>
        <p:spPr>
          <a:xfrm>
            <a:off x="1042416" y="4728286"/>
            <a:ext cx="10234879" cy="378561"/>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test Temperature </a:t>
            </a:r>
            <a:r>
              <a:rPr sz="2100" b="0" i="0">
                <a:solidFill>
                  <a:srgbClr val="1C252B"/>
                </a:solidFill>
                <a:latin typeface="Cambria"/>
              </a:rPr>
              <a:t>≤ 54</a:t>
            </a:r>
            <a:r>
              <a:rPr sz="2100" b="0" i="0">
                <a:solidFill>
                  <a:srgbClr val="1C252B"/>
                </a:solidFill>
                <a:latin typeface="Segoe UI"/>
              </a:rPr>
              <a:t> is chosen.</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371051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1"/>
                                        </p:tgtEl>
                                        <p:attrNameLst>
                                          <p:attrName>style.visibility</p:attrName>
                                        </p:attrNameLst>
                                      </p:cBhvr>
                                      <p:to>
                                        <p:strVal val="visible"/>
                                      </p:to>
                                    </p:set>
                                    <p:animEffect transition="in" filter="wipe(right)">
                                      <p:cBhvr>
                                        <p:cTn id="8" dur="42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Beyond the Basic Algorithm</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§9.3  ·  Handout p. 72     </a:t>
            </a:r>
            <a:fld id="{225783ED-0212-4FE4-9D45-697D0F05969F}" type="slidenum">
              <a:rPr lang="en-GB" sz="1000">
                <a:solidFill>
                  <a:srgbClr val="8795A1"/>
                </a:solidFill>
                <a:latin typeface="Segoe UI"/>
              </a:rPr>
              <a:t>15</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110570"/>
          </a:xfrm>
          <a:prstGeom prst="roundRect">
            <a:avLst>
              <a:gd name="adj" fmla="val 2939"/>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11057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1" i="0">
                <a:solidFill>
                  <a:srgbClr val="1A5276"/>
                </a:solidFill>
                <a:latin typeface="Segoe UI"/>
              </a:rPr>
              <a:t>Attributes with many values.</a:t>
            </a:r>
            <a:r>
              <a:rPr sz="2300" b="0" i="0">
                <a:solidFill>
                  <a:srgbClr val="1C252B"/>
                </a:solidFill>
                <a:latin typeface="Segoe UI"/>
              </a:rPr>
              <a:t> Information gain favours attributes with many values. An attribute such as </a:t>
            </a:r>
            <a:r>
              <a:rPr sz="2300" b="0" i="1">
                <a:solidFill>
                  <a:srgbClr val="1C252B"/>
                </a:solidFill>
                <a:latin typeface="Segoe UI"/>
              </a:rPr>
              <a:t>Date</a:t>
            </a:r>
            <a:r>
              <a:rPr sz="2300" b="0" i="0">
                <a:solidFill>
                  <a:srgbClr val="1C252B"/>
                </a:solidFill>
                <a:latin typeface="Segoe UI"/>
              </a:rPr>
              <a:t> splits the training days into fourteen pure singletons — maximal gain, zero use. C4.5 corrects this with the </a:t>
            </a:r>
            <a:r>
              <a:rPr sz="2300" b="1" i="0">
                <a:solidFill>
                  <a:srgbClr val="1A5276"/>
                </a:solidFill>
                <a:latin typeface="Segoe UI"/>
              </a:rPr>
              <a:t>gain ratio</a:t>
            </a:r>
            <a:r>
              <a:rPr sz="2300" b="0" i="0">
                <a:solidFill>
                  <a:srgbClr val="1C252B"/>
                </a:solidFill>
                <a:latin typeface="Segoe UI"/>
              </a:rPr>
              <a:t>, dividing the gain by the </a:t>
            </a:r>
            <a:r>
              <a:rPr sz="2300" b="1" i="0">
                <a:solidFill>
                  <a:srgbClr val="1A5276"/>
                </a:solidFill>
                <a:latin typeface="Segoe UI"/>
              </a:rPr>
              <a:t>split information</a:t>
            </a:r>
            <a:r>
              <a:rPr sz="2300" b="0" i="0">
                <a:solidFill>
                  <a:srgbClr val="1C252B"/>
                </a:solidFill>
                <a:latin typeface="Segoe UI"/>
              </a:rPr>
              <a:t>, the entropy of the split itself:</a:t>
            </a:r>
          </a:p>
        </p:txBody>
      </p:sp>
      <p:pic>
        <p:nvPicPr>
          <p:cNvPr id="10" name="body-1" descr="\text{SplitInfo}(S, A) = -\sum_{v} \frac{|S_v|}{|S|}\log_2 \frac{|S_v|}{|S|}, \qquad \text{GainRatio}(S, A) = \frac{\text{Gain}(S, A)}{\text{SplitInfo}(S, A)}"/>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3667074"/>
            <a:ext cx="10161727" cy="869960"/>
          </a:xfrm>
          <a:prstGeom prst="rect">
            <a:avLst/>
          </a:prstGeom>
        </p:spPr>
      </p:pic>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397555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Beyond the Basic Algorithm</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§9.3  ·  Handout p. 72     </a:t>
            </a:r>
            <a:fld id="{616F1E14-6516-41DE-9A94-56938DBF9211}" type="slidenum">
              <a:rPr lang="en-GB" sz="1000">
                <a:solidFill>
                  <a:srgbClr val="8795A1"/>
                </a:solidFill>
                <a:latin typeface="Segoe UI"/>
              </a:rPr>
              <a:t>16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966521"/>
          </a:xfrm>
          <a:prstGeom prst="roundRect">
            <a:avLst>
              <a:gd name="adj" fmla="val 3082"/>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966521"/>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For Outlook (5, 4, 5 days) SplitInfo </a:t>
            </a:r>
            <a:r>
              <a:rPr sz="2300" b="0" i="0">
                <a:solidFill>
                  <a:srgbClr val="1C252B"/>
                </a:solidFill>
                <a:latin typeface="Cambria"/>
              </a:rPr>
              <a:t>= 1.577</a:t>
            </a:r>
            <a:r>
              <a:rPr sz="2300" b="0" i="0">
                <a:solidFill>
                  <a:srgbClr val="1C252B"/>
                </a:solidFill>
                <a:latin typeface="Segoe UI"/>
              </a:rPr>
              <a:t> and the gain ratio is </a:t>
            </a:r>
            <a:r>
              <a:rPr sz="2300" b="0" i="0">
                <a:solidFill>
                  <a:srgbClr val="1C252B"/>
                </a:solidFill>
                <a:latin typeface="Cambria"/>
              </a:rPr>
              <a:t>0.246/1.577 = 0.156</a:t>
            </a:r>
            <a:r>
              <a:rPr sz="2300" b="0" i="0">
                <a:solidFill>
                  <a:srgbClr val="1C252B"/>
                </a:solidFill>
                <a:latin typeface="Segoe UI"/>
              </a:rPr>
              <a:t>. For Date, SplitInfo </a:t>
            </a:r>
            <a:r>
              <a:rPr sz="2300" b="0" i="0">
                <a:solidFill>
                  <a:srgbClr val="1C252B"/>
                </a:solidFill>
                <a:latin typeface="Cambria"/>
              </a:rPr>
              <a:t>= log</a:t>
            </a:r>
            <a:r>
              <a:rPr sz="2300" b="0" i="0" baseline="-25000">
                <a:solidFill>
                  <a:srgbClr val="1C252B"/>
                </a:solidFill>
                <a:latin typeface="Cambria"/>
              </a:rPr>
              <a:t>2</a:t>
            </a:r>
            <a:r>
              <a:rPr sz="2300" b="0" i="0">
                <a:solidFill>
                  <a:srgbClr val="1C252B"/>
                </a:solidFill>
                <a:latin typeface="Cambria"/>
              </a:rPr>
              <a:t> 14 = 3.81</a:t>
            </a:r>
            <a:r>
              <a:rPr sz="2300" b="0" i="0">
                <a:solidFill>
                  <a:srgbClr val="1C252B"/>
                </a:solidFill>
                <a:latin typeface="Segoe UI"/>
              </a:rPr>
              <a:t>, which heavily discounts its gain.</a:t>
            </a:r>
          </a:p>
        </p:txBody>
      </p:sp>
      <p:pic>
        <p:nvPicPr>
          <p:cNvPr id="10" name="body-1" descr="The Gini index. CART, and scikit-learn by default, uses Gini(S) = 1 − Σi pi2 instead of entropy. For the PlayTennis root it is 1 − (9/14)2 − (5/14)2 = 0.459, falling to 0.343 after splitting on Outlook. Figure 9.2 shows why the choice rarely matters: the two curves have the same shape."/>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937992"/>
            <a:ext cx="10161727" cy="1454993"/>
          </a:xfrm>
          <a:prstGeom prst="rect">
            <a:avLst/>
          </a:prstGeom>
        </p:spPr>
      </p:pic>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424058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Overfitting, Noisy Data and Pruning</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BD7C7"/>
                </a:solidFill>
                <a:latin typeface="Segoe UI"/>
              </a:rPr>
              <a:t>SECTION 4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9.4</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9.1   Trees as Hypotheses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9.2   Choosing the Question: Entropy and Information Gain</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9.3   Beyond the Basic Algorithm</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B7A43"/>
                </a:solidFill>
                <a:latin typeface="Segoe UI"/>
              </a:rPr>
              <a:t>9.4   Overfitting, Noisy Data and Pruning</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9.5   The Inductive Bias of ID3</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§9.4     </a:t>
            </a:r>
            <a:fld id="{92E90CCE-49D1-4167-96E8-2B6E3D46CF1E}" type="slidenum">
              <a:rPr lang="en-GB" sz="1000">
                <a:solidFill>
                  <a:srgbClr val="8795A1"/>
                </a:solidFill>
                <a:latin typeface="Segoe UI"/>
              </a:rPr>
              <a:t>17</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4505626"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Accuracy against tree size on data with 15% label noise</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B7A43"/>
                </a:solidFill>
                <a:latin typeface="Segoe UI"/>
              </a:rPr>
              <a:t>FIGURE 9.3</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§9.4  ·  Handout p. 73     </a:t>
            </a:r>
            <a:fld id="{63FB0EDE-30D1-4D33-A786-22428A6174BF}" type="slidenum">
              <a:rPr lang="en-GB" sz="1000">
                <a:solidFill>
                  <a:srgbClr val="8795A1"/>
                </a:solidFill>
                <a:latin typeface="Segoe UI"/>
              </a:rPr>
              <a:t>18</a:t>
            </a:fld>
          </a:p>
        </p:txBody>
      </p:sp>
      <p:pic>
        <p:nvPicPr>
          <p:cNvPr id="6" name="!!figure" descr="Figure 9.3. Accuracy against tree size on data with 15% label noise. Training accuracy climbs to 100% as the tree memorises the noise; test accuracy peaks early and then declines."/>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17662" y="1737360"/>
            <a:ext cx="7556369"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Training accuracy climbs to 100% as the tree memorises the noise; test accuracy peaks early and then declines.</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477066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Pruning</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§9.4  ·  Handout p. 73     </a:t>
            </a:r>
            <a:fld id="{AD6EE773-E661-4C9D-88A8-A07C1F9B2449}" type="slidenum">
              <a:rPr lang="en-GB" sz="1000">
                <a:solidFill>
                  <a:srgbClr val="8795A1"/>
                </a:solidFill>
                <a:latin typeface="Segoe UI"/>
              </a:rPr>
              <a:t>19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109212"/>
          </a:xfrm>
          <a:prstGeom prst="roundRect">
            <a:avLst>
              <a:gd name="adj" fmla="val 2225"/>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109212"/>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679704"/>
          </a:xfrm>
          <a:prstGeom prst="rect">
            <a:avLst/>
          </a:prstGeom>
          <a:noFill/>
        </p:spPr>
        <p:txBody>
          <a:bodyPr wrap="square" anchor="t" lIns="0" rIns="0" tIns="0" bIns="0">
            <a:noAutofit/>
          </a:bodyPr>
          <a:lstStyle/>
          <a:p>
            <a:pPr algn="l">
              <a:lnSpc>
                <a:spcPct val="104000"/>
              </a:lnSpc>
              <a:spcBef>
                <a:spcPts val="0"/>
              </a:spcBef>
              <a:spcAft>
                <a:spcPts val="0"/>
              </a:spcAft>
            </a:pPr>
            <a:r>
              <a:rPr sz="2000" b="1" i="0">
                <a:solidFill>
                  <a:srgbClr val="1A5276"/>
                </a:solidFill>
                <a:latin typeface="Segoe UI"/>
              </a:rPr>
              <a:t>Pre-pruning</a:t>
            </a:r>
            <a:r>
              <a:rPr sz="2000" b="0" i="0">
                <a:solidFill>
                  <a:srgbClr val="1C252B"/>
                </a:solidFill>
                <a:latin typeface="Segoe UI"/>
              </a:rPr>
              <a:t> stops growth early: a maximum depth, a minimum number of examples per leaf, or a minimum gain. </a:t>
            </a:r>
            <a:r>
              <a:rPr sz="2000" b="1" i="0">
                <a:solidFill>
                  <a:srgbClr val="1A5276"/>
                </a:solidFill>
                <a:latin typeface="Segoe UI"/>
              </a:rPr>
              <a:t>Post-pruning</a:t>
            </a:r>
            <a:r>
              <a:rPr sz="2000" b="0" i="0">
                <a:solidFill>
                  <a:srgbClr val="1C252B"/>
                </a:solidFill>
                <a:latin typeface="Segoe UI"/>
              </a:rPr>
              <a:t> grows the full tree and then cuts it back:</a:t>
            </a:r>
          </a:p>
        </p:txBody>
      </p:sp>
      <p:sp>
        <p:nvSpPr>
          <p:cNvPr id="10" name="body-1"/>
          <p:cNvSpPr txBox="1"/>
          <p:nvPr/>
        </p:nvSpPr>
        <p:spPr>
          <a:xfrm>
            <a:off x="1060704" y="2821939"/>
            <a:ext cx="10161727" cy="2759456"/>
          </a:xfrm>
          <a:prstGeom prst="rect">
            <a:avLst/>
          </a:prstGeom>
          <a:noFill/>
        </p:spPr>
        <p:txBody>
          <a:bodyPr wrap="square" anchor="t" lIns="0" rIns="0" tIns="0" bIns="0">
            <a:noAutofit/>
          </a:bodyPr>
          <a:lstStyle/>
          <a:p>
            <a:pPr algn="l" marL="223631" indent="-223631">
              <a:lnSpc>
                <a:spcPct val="104000"/>
              </a:lnSpc>
              <a:spcBef>
                <a:spcPts val="0"/>
              </a:spcBef>
              <a:spcAft>
                <a:spcPts val="700"/>
              </a:spcAft>
            </a:pPr>
            <a:r>
              <a:rPr sz="2000" b="1">
                <a:solidFill>
                  <a:srgbClr val="8A4500"/>
                </a:solidFill>
                <a:latin typeface="Segoe UI"/>
              </a:rPr>
              <a:t>•	</a:t>
            </a:r>
            <a:r>
              <a:rPr sz="2000" b="1" i="0">
                <a:solidFill>
                  <a:srgbClr val="1A5276"/>
                </a:solidFill>
                <a:latin typeface="Segoe UI"/>
              </a:rPr>
              <a:t>Reduced-error pruning</a:t>
            </a:r>
            <a:r>
              <a:rPr sz="2000" b="0" i="0">
                <a:solidFill>
                  <a:srgbClr val="1C252B"/>
                </a:solidFill>
                <a:latin typeface="Segoe UI"/>
              </a:rPr>
              <a:t>: using a separate validation set, repeatedly replace the subtree whose removal most improves validation accuracy by a leaf labelled with its majority class; stop when every removal hurts.</a:t>
            </a:r>
          </a:p>
          <a:p>
            <a:pPr algn="l" marL="223631" indent="-223631">
              <a:lnSpc>
                <a:spcPct val="104000"/>
              </a:lnSpc>
              <a:spcBef>
                <a:spcPts val="0"/>
              </a:spcBef>
              <a:spcAft>
                <a:spcPts val="700"/>
              </a:spcAft>
            </a:pPr>
            <a:r>
              <a:rPr sz="2000" b="1">
                <a:solidFill>
                  <a:srgbClr val="8A4500"/>
                </a:solidFill>
                <a:latin typeface="Segoe UI"/>
              </a:rPr>
              <a:t>•	</a:t>
            </a:r>
            <a:r>
              <a:rPr sz="2000" b="1" i="0">
                <a:solidFill>
                  <a:srgbClr val="1A5276"/>
                </a:solidFill>
                <a:latin typeface="Segoe UI"/>
              </a:rPr>
              <a:t>Rule post-pruning</a:t>
            </a:r>
            <a:r>
              <a:rPr sz="2000" b="0" i="0">
                <a:solidFill>
                  <a:srgbClr val="1C252B"/>
                </a:solidFill>
                <a:latin typeface="Segoe UI"/>
              </a:rPr>
              <a:t> (C4.5): convert the tree into one rule per root-to-leaf path, drop any precondition whose removal does not hurt the rule’s estimated accuracy, and sort the rules by accuracy.</a:t>
            </a:r>
          </a:p>
          <a:p>
            <a:pPr algn="l" marL="223631" indent="-223631">
              <a:lnSpc>
                <a:spcPct val="104000"/>
              </a:lnSpc>
              <a:spcBef>
                <a:spcPts val="0"/>
              </a:spcBef>
              <a:spcAft>
                <a:spcPts val="0"/>
              </a:spcAft>
            </a:pPr>
            <a:r>
              <a:rPr sz="2000" b="1">
                <a:solidFill>
                  <a:srgbClr val="8A4500"/>
                </a:solidFill>
                <a:latin typeface="Segoe UI"/>
              </a:rPr>
              <a:t>•	</a:t>
            </a:r>
            <a:r>
              <a:rPr sz="2000" b="1" i="0">
                <a:solidFill>
                  <a:srgbClr val="1A5276"/>
                </a:solidFill>
                <a:latin typeface="Segoe UI"/>
              </a:rPr>
              <a:t>Cost-complexity pruning</a:t>
            </a:r>
            <a:r>
              <a:rPr sz="2000" b="0" i="0">
                <a:solidFill>
                  <a:srgbClr val="1C252B"/>
                </a:solidFill>
                <a:latin typeface="Segoe UI"/>
              </a:rPr>
              <a:t> (CART): minimise error</a:t>
            </a:r>
            <a:r>
              <a:rPr sz="2000" b="0" i="0">
                <a:solidFill>
                  <a:srgbClr val="1C252B"/>
                </a:solidFill>
                <a:latin typeface="Cambria"/>
              </a:rPr>
              <a:t> + α × (</a:t>
            </a:r>
            <a:r>
              <a:rPr sz="2000" b="0" i="0">
                <a:solidFill>
                  <a:srgbClr val="1C252B"/>
                </a:solidFill>
                <a:latin typeface="Segoe UI"/>
              </a:rPr>
              <a:t>number of leaves</a:t>
            </a:r>
            <a:r>
              <a:rPr sz="2000" b="0" i="0">
                <a:solidFill>
                  <a:srgbClr val="1C252B"/>
                </a:solidFill>
                <a:latin typeface="Cambria"/>
              </a:rPr>
              <a:t>)</a:t>
            </a:r>
            <a:r>
              <a:rPr sz="2000" b="0" i="0">
                <a:solidFill>
                  <a:srgbClr val="1C252B"/>
                </a:solidFill>
                <a:latin typeface="Segoe UI"/>
              </a:rPr>
              <a:t>; larger </a:t>
            </a:r>
            <a:r>
              <a:rPr sz="2000" b="0" i="0">
                <a:solidFill>
                  <a:srgbClr val="1C252B"/>
                </a:solidFill>
                <a:latin typeface="Cambria"/>
              </a:rPr>
              <a:t>α</a:t>
            </a:r>
            <a:r>
              <a:rPr sz="2000" b="0" i="0">
                <a:solidFill>
                  <a:srgbClr val="1C252B"/>
                </a:solidFill>
                <a:latin typeface="Segoe UI"/>
              </a:rPr>
              <a:t> gives smaller trees, and </a:t>
            </a:r>
            <a:r>
              <a:rPr sz="2000" b="0" i="0">
                <a:solidFill>
                  <a:srgbClr val="1C252B"/>
                </a:solidFill>
                <a:latin typeface="Cambria"/>
              </a:rPr>
              <a:t>α</a:t>
            </a:r>
            <a:r>
              <a:rPr sz="2000" b="0" i="0">
                <a:solidFill>
                  <a:srgbClr val="1C252B"/>
                </a:solidFill>
                <a:latin typeface="Segoe UI"/>
              </a:rPr>
              <a:t> is chosen by cross-validation.</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503570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xEl>
                                              <p:pRg st="2" end="2"/>
                                            </p:txEl>
                                          </p:spTgt>
                                        </p:tgtEl>
                                        <p:attrNameLst>
                                          <p:attrName>style.visibility</p:attrName>
                                        </p:attrNameLst>
                                      </p:cBhvr>
                                      <p:to>
                                        <p:strVal val="visible"/>
                                      </p:to>
                                    </p:set>
                                    <p:animEffect transition="in" filter="fade">
                                      <p:cBhvr>
                                        <p:cTn id="18" dur="380"/>
                                        <p:tgtEl>
                                          <p:spTgt spid="10">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Why Rules Are Easier to Prune Than Trees</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§9.4  ·  Handout p. 73     </a:t>
            </a:r>
            <a:fld id="{8A81CC93-0809-480E-97C5-AF4669F78991}" type="slidenum">
              <a:rPr lang="en-GB" sz="1000">
                <a:solidFill>
                  <a:srgbClr val="8795A1"/>
                </a:solidFill>
                <a:latin typeface="Segoe UI"/>
              </a:rPr>
              <a:t>20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444496"/>
          </a:xfrm>
          <a:prstGeom prst="roundRect">
            <a:avLst>
              <a:gd name="adj" fmla="val 3740"/>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444496"/>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86842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Pruning a tree removes a node and everything below it — a decision about the root’s test affects every path through it. Converting to rules first lets each path be simplified on its own: the test Outlook = Sunny can be dropped from one rule and kept in another. It also produces a list of plain if–then statements, which is what a domain expert actually wants to read.</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530073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74     </a:t>
            </a:r>
            <a:fld id="{AE506165-D335-4292-841A-96389819B3C6}" type="slidenum">
              <a:rPr lang="en-GB" sz="1000">
                <a:solidFill>
                  <a:srgbClr val="8795A1"/>
                </a:solidFill>
                <a:latin typeface="Segoe UI"/>
              </a:rPr>
              <a:t>21</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Letting the tree grow until the leaves are pure</a:t>
            </a:r>
            <a:r>
              <a:rPr sz="2100" b="0" i="0">
                <a:solidFill>
                  <a:srgbClr val="1C252B"/>
                </a:solidFill>
                <a:latin typeface="Segoe UI"/>
              </a:rPr>
              <a:t> on noisy data. It will fit the noise; prune, or cap the depth.</a:t>
            </a:r>
          </a:p>
        </p:txBody>
      </p:sp>
      <p:sp>
        <p:nvSpPr>
          <p:cNvPr id="10" name="!!pb1">
            <a:extLst>
              <a:ext uri="{C183D7F6-B498-43B3-948B-1728B52AA6E4}">
                <adec:decorative xmlns:adec="http://schemas.microsoft.com/office/drawing/2017/decorative" val="1"/>
              </a:ext>
            </a:extLst>
          </p:cNvPr>
          <p:cNvSpPr/>
          <p:nvPr/>
        </p:nvSpPr>
        <p:spPr>
          <a:xfrm>
            <a:off x="658368" y="2622499"/>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645359"/>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604211"/>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Keeping an ID-like attribute.</a:t>
            </a:r>
            <a:r>
              <a:rPr sz="2100" b="0" i="0">
                <a:solidFill>
                  <a:srgbClr val="1C252B"/>
                </a:solidFill>
                <a:latin typeface="Segoe UI"/>
              </a:rPr>
              <a:t> It has maximal information gain and no predictive value. Drop it, or use the gain ratio.</a:t>
            </a:r>
          </a:p>
        </p:txBody>
      </p:sp>
      <p:sp>
        <p:nvSpPr>
          <p:cNvPr id="13" name="!!pb2">
            <a:extLst>
              <a:ext uri="{C183D7F6-B498-43B3-948B-1728B52AA6E4}">
                <adec:decorative xmlns:adec="http://schemas.microsoft.com/office/drawing/2017/decorative" val="1"/>
              </a:ext>
            </a:extLst>
          </p:cNvPr>
          <p:cNvSpPr/>
          <p:nvPr/>
        </p:nvSpPr>
        <p:spPr>
          <a:xfrm>
            <a:off x="658368" y="3489350"/>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512210"/>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471062"/>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Reading the root attribute as “the most important feature”.</a:t>
            </a:r>
            <a:r>
              <a:rPr sz="2100" b="0" i="0">
                <a:solidFill>
                  <a:srgbClr val="1C252B"/>
                </a:solidFill>
                <a:latin typeface="Segoe UI"/>
              </a:rPr>
              <a:t> Greedy splitting on correlated features picks one almost arbitrarily.</a:t>
            </a:r>
          </a:p>
        </p:txBody>
      </p:sp>
      <p:sp>
        <p:nvSpPr>
          <p:cNvPr id="16" name="!!pb3">
            <a:extLst>
              <a:ext uri="{C183D7F6-B498-43B3-948B-1728B52AA6E4}">
                <adec:decorative xmlns:adec="http://schemas.microsoft.com/office/drawing/2017/decorative" val="1"/>
              </a:ext>
            </a:extLst>
          </p:cNvPr>
          <p:cNvSpPr/>
          <p:nvPr/>
        </p:nvSpPr>
        <p:spPr>
          <a:xfrm>
            <a:off x="658368" y="4356201"/>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4379061"/>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4337913"/>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Expecting stability.</a:t>
            </a:r>
            <a:r>
              <a:rPr sz="2100" b="0" i="0">
                <a:solidFill>
                  <a:srgbClr val="1C252B"/>
                </a:solidFill>
                <a:latin typeface="Segoe UI"/>
              </a:rPr>
              <a:t> A small change in the data can change the root and hence the whole tree — the high variance that Chapter 14 exploits.</a:t>
            </a:r>
          </a:p>
        </p:txBody>
      </p:sp>
      <p:sp>
        <p:nvSpPr>
          <p:cNvPr id="19" name="!!pb4">
            <a:extLst>
              <a:ext uri="{C183D7F6-B498-43B3-948B-1728B52AA6E4}">
                <adec:decorative xmlns:adec="http://schemas.microsoft.com/office/drawing/2017/decorative" val="1"/>
              </a:ext>
            </a:extLst>
          </p:cNvPr>
          <p:cNvSpPr/>
          <p:nvPr/>
        </p:nvSpPr>
        <p:spPr>
          <a:xfrm>
            <a:off x="658368" y="5223052"/>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5245912"/>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5204764"/>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Scaling features for a tree.</a:t>
            </a:r>
            <a:r>
              <a:rPr sz="2100" b="0" i="0">
                <a:solidFill>
                  <a:srgbClr val="1C252B"/>
                </a:solidFill>
                <a:latin typeface="Segoe UI"/>
              </a:rPr>
              <a:t> Unnecessary: a threshold test is unchanged by any monotone rescaling.</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556577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Four lenses: Decision Trees</a:t>
            </a:r>
          </a:p>
        </p:txBody>
      </p:sp>
      <p:pic>
        <p:nvPicPr>
          <p:cNvPr id="3" name="!!kicker-icon" descr="compass-123953.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23953"/>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76     </a:t>
            </a:r>
            <a:fld id="{92CF9FBC-1C9A-4F07-95F2-26B8C9F696FC}" type="slidenum">
              <a:rPr lang="en-GB" sz="1000">
                <a:solidFill>
                  <a:srgbClr val="8795A1"/>
                </a:solidFill>
                <a:latin typeface="Segoe UI"/>
              </a:rPr>
              <a:t>22</a:t>
            </a:fld>
          </a:p>
        </p:txBody>
      </p:sp>
      <p:sp>
        <p:nvSpPr>
          <p:cNvPr id="7" name="!!lens-LA">
            <a:extLst>
              <a:ext uri="{C183D7F6-B498-43B3-948B-1728B52AA6E4}">
                <adec:decorative xmlns:adec="http://schemas.microsoft.com/office/drawing/2017/decorative" val="1"/>
              </a:ext>
            </a:extLst>
          </p:cNvPr>
          <p:cNvSpPr/>
          <p:nvPr/>
        </p:nvSpPr>
        <p:spPr>
          <a:xfrm>
            <a:off x="658368" y="1737360"/>
            <a:ext cx="5318607" cy="2176272"/>
          </a:xfrm>
          <a:prstGeom prst="roundRect">
            <a:avLst>
              <a:gd name="adj" fmla="val 4201"/>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LA">
            <a:extLst>
              <a:ext uri="{C183D7F6-B498-43B3-948B-1728B52AA6E4}">
                <adec:decorative xmlns:adec="http://schemas.microsoft.com/office/drawing/2017/decorative" val="1"/>
              </a:ext>
            </a:extLst>
          </p:cNvPr>
          <p:cNvSpPr/>
          <p:nvPr/>
        </p:nvSpPr>
        <p:spPr>
          <a:xfrm>
            <a:off x="658368" y="1737360"/>
            <a:ext cx="5318607"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LA">
            <a:extLst>
              <a:ext uri="{C183D7F6-B498-43B3-948B-1728B52AA6E4}">
                <adec:decorative xmlns:adec="http://schemas.microsoft.com/office/drawing/2017/decorative" val="1"/>
              </a:ext>
            </a:extLst>
          </p:cNvPr>
          <p:cNvSpPr/>
          <p:nvPr/>
        </p:nvSpPr>
        <p:spPr>
          <a:xfrm>
            <a:off x="658368" y="2121408"/>
            <a:ext cx="5318607"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LA" descr="graduation-ca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419498" cy="256032"/>
          </a:xfrm>
          <a:prstGeom prst="rect">
            <a:avLst/>
          </a:prstGeom>
        </p:spPr>
      </p:pic>
      <p:sp>
        <p:nvSpPr>
          <p:cNvPr id="11" name="!!lensn-LA"/>
          <p:cNvSpPr txBox="1"/>
          <p:nvPr/>
        </p:nvSpPr>
        <p:spPr>
          <a:xfrm>
            <a:off x="1425337" y="1837943"/>
            <a:ext cx="4460197"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LEARNING ANALYTICS</a:t>
            </a:r>
          </a:p>
        </p:txBody>
      </p:sp>
      <p:sp>
        <p:nvSpPr>
          <p:cNvPr id="12" name="!!lensb-LA-0"/>
          <p:cNvSpPr txBox="1"/>
          <p:nvPr/>
        </p:nvSpPr>
        <p:spPr>
          <a:xfrm>
            <a:off x="896112" y="2414016"/>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An advising tree — “attendance below 60% and two quizzes missed: refer” — can be printed on one page and checked by staff, which matters more in a university committee than two points of accuracy.</a:t>
            </a:r>
          </a:p>
        </p:txBody>
      </p:sp>
      <p:sp>
        <p:nvSpPr>
          <p:cNvPr id="13" name="!!lens-PM">
            <a:extLst>
              <a:ext uri="{C183D7F6-B498-43B3-948B-1728B52AA6E4}">
                <adec:decorative xmlns:adec="http://schemas.microsoft.com/office/drawing/2017/decorative" val="1"/>
              </a:ext>
            </a:extLst>
          </p:cNvPr>
          <p:cNvSpPr/>
          <p:nvPr/>
        </p:nvSpPr>
        <p:spPr>
          <a:xfrm>
            <a:off x="6214719" y="1737360"/>
            <a:ext cx="5318607" cy="2176272"/>
          </a:xfrm>
          <a:prstGeom prst="roundRect">
            <a:avLst>
              <a:gd name="adj" fmla="val 4201"/>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PM">
            <a:extLst>
              <a:ext uri="{C183D7F6-B498-43B3-948B-1728B52AA6E4}">
                <adec:decorative xmlns:adec="http://schemas.microsoft.com/office/drawing/2017/decorative" val="1"/>
              </a:ext>
            </a:extLst>
          </p:cNvPr>
          <p:cNvSpPr/>
          <p:nvPr/>
        </p:nvSpPr>
        <p:spPr>
          <a:xfrm>
            <a:off x="6214719" y="1737360"/>
            <a:ext cx="5318607"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PM">
            <a:extLst>
              <a:ext uri="{C183D7F6-B498-43B3-948B-1728B52AA6E4}">
                <adec:decorative xmlns:adec="http://schemas.microsoft.com/office/drawing/2017/decorative" val="1"/>
              </a:ext>
            </a:extLst>
          </p:cNvPr>
          <p:cNvSpPr/>
          <p:nvPr/>
        </p:nvSpPr>
        <p:spPr>
          <a:xfrm>
            <a:off x="6214719" y="2121408"/>
            <a:ext cx="5318607"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PM" descr="tasks-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415887" y="1856231"/>
            <a:ext cx="301783" cy="256032"/>
          </a:xfrm>
          <a:prstGeom prst="rect">
            <a:avLst/>
          </a:prstGeom>
        </p:spPr>
      </p:pic>
      <p:sp>
        <p:nvSpPr>
          <p:cNvPr id="17" name="!!lensn-PM"/>
          <p:cNvSpPr txBox="1"/>
          <p:nvPr/>
        </p:nvSpPr>
        <p:spPr>
          <a:xfrm>
            <a:off x="6863974" y="1837943"/>
            <a:ext cx="4577912"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PROJECT MANAGEMENT</a:t>
            </a:r>
          </a:p>
        </p:txBody>
      </p:sp>
      <p:sp>
        <p:nvSpPr>
          <p:cNvPr id="18" name="!!lensb-PM-0"/>
          <p:cNvSpPr txBox="1"/>
          <p:nvPr/>
        </p:nvSpPr>
        <p:spPr>
          <a:xfrm>
            <a:off x="6452463" y="2414016"/>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1600" b="0" i="0">
                <a:solidFill>
                  <a:srgbClr val="1C252B"/>
                </a:solidFill>
                <a:latin typeface="Segoe UI"/>
              </a:rPr>
              <a:t>Trees handle the mix of categorical and numeric project attributes (methodology, team size, number of integrations) without encoding, and their rules — “fixed-price and more than three external integrations” — map directly onto risk checklists.</a:t>
            </a:r>
          </a:p>
        </p:txBody>
      </p:sp>
      <p:sp>
        <p:nvSpPr>
          <p:cNvPr id="19" name="!!lens-IOT">
            <a:extLst>
              <a:ext uri="{C183D7F6-B498-43B3-948B-1728B52AA6E4}">
                <adec:decorative xmlns:adec="http://schemas.microsoft.com/office/drawing/2017/decorative" val="1"/>
              </a:ext>
            </a:extLst>
          </p:cNvPr>
          <p:cNvSpPr/>
          <p:nvPr/>
        </p:nvSpPr>
        <p:spPr>
          <a:xfrm>
            <a:off x="658368" y="4133087"/>
            <a:ext cx="5318607" cy="2176272"/>
          </a:xfrm>
          <a:prstGeom prst="roundRect">
            <a:avLst>
              <a:gd name="adj" fmla="val 4201"/>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IOT">
            <a:extLst>
              <a:ext uri="{C183D7F6-B498-43B3-948B-1728B52AA6E4}">
                <adec:decorative xmlns:adec="http://schemas.microsoft.com/office/drawing/2017/decorative" val="1"/>
              </a:ext>
            </a:extLst>
          </p:cNvPr>
          <p:cNvSpPr/>
          <p:nvPr/>
        </p:nvSpPr>
        <p:spPr>
          <a:xfrm>
            <a:off x="658368" y="4133087"/>
            <a:ext cx="5318607"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lensh2-IOT">
            <a:extLst>
              <a:ext uri="{C183D7F6-B498-43B3-948B-1728B52AA6E4}">
                <adec:decorative xmlns:adec="http://schemas.microsoft.com/office/drawing/2017/decorative" val="1"/>
              </a:ext>
            </a:extLst>
          </p:cNvPr>
          <p:cNvSpPr/>
          <p:nvPr/>
        </p:nvSpPr>
        <p:spPr>
          <a:xfrm>
            <a:off x="658368" y="4517136"/>
            <a:ext cx="5318607"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2"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59536" y="4251959"/>
            <a:ext cx="256032" cy="256032"/>
          </a:xfrm>
          <a:prstGeom prst="rect">
            <a:avLst/>
          </a:prstGeom>
        </p:spPr>
      </p:pic>
      <p:sp>
        <p:nvSpPr>
          <p:cNvPr id="23" name="!!lensn-IOT"/>
          <p:cNvSpPr txBox="1"/>
          <p:nvPr/>
        </p:nvSpPr>
        <p:spPr>
          <a:xfrm>
            <a:off x="1261872" y="4233672"/>
            <a:ext cx="4623663"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INTERNET OF THINGS</a:t>
            </a:r>
          </a:p>
        </p:txBody>
      </p:sp>
      <p:sp>
        <p:nvSpPr>
          <p:cNvPr id="24" name="!!lensb-IOT-0"/>
          <p:cNvSpPr txBox="1"/>
          <p:nvPr/>
        </p:nvSpPr>
        <p:spPr>
          <a:xfrm>
            <a:off x="896112" y="4809744"/>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 shallow tree compiles to a few nested </a:t>
            </a:r>
            <a:r>
              <a:rPr sz="2050" b="0" i="0">
                <a:solidFill>
                  <a:srgbClr val="1F4E79"/>
                </a:solidFill>
                <a:latin typeface="Consolas"/>
              </a:rPr>
              <a:t>if</a:t>
            </a:r>
            <a:r>
              <a:rPr sz="2200" b="0" i="0">
                <a:solidFill>
                  <a:srgbClr val="1C252B"/>
                </a:solidFill>
                <a:latin typeface="Segoe UI"/>
              </a:rPr>
              <a:t> statements, so it runs on the smallest microcontroller with no library at all.</a:t>
            </a:r>
          </a:p>
        </p:txBody>
      </p:sp>
      <p:sp>
        <p:nvSpPr>
          <p:cNvPr id="25" name="!!lens-SEC">
            <a:extLst>
              <a:ext uri="{C183D7F6-B498-43B3-948B-1728B52AA6E4}">
                <adec:decorative xmlns:adec="http://schemas.microsoft.com/office/drawing/2017/decorative" val="1"/>
              </a:ext>
            </a:extLst>
          </p:cNvPr>
          <p:cNvSpPr/>
          <p:nvPr/>
        </p:nvSpPr>
        <p:spPr>
          <a:xfrm>
            <a:off x="6214719" y="4133087"/>
            <a:ext cx="5318607" cy="2176272"/>
          </a:xfrm>
          <a:prstGeom prst="roundRect">
            <a:avLst>
              <a:gd name="adj" fmla="val 4201"/>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lensh-SEC">
            <a:extLst>
              <a:ext uri="{C183D7F6-B498-43B3-948B-1728B52AA6E4}">
                <adec:decorative xmlns:adec="http://schemas.microsoft.com/office/drawing/2017/decorative" val="1"/>
              </a:ext>
            </a:extLst>
          </p:cNvPr>
          <p:cNvSpPr/>
          <p:nvPr/>
        </p:nvSpPr>
        <p:spPr>
          <a:xfrm>
            <a:off x="6214719" y="4133087"/>
            <a:ext cx="5318607"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lensh2-SEC">
            <a:extLst>
              <a:ext uri="{C183D7F6-B498-43B3-948B-1728B52AA6E4}">
                <adec:decorative xmlns:adec="http://schemas.microsoft.com/office/drawing/2017/decorative" val="1"/>
              </a:ext>
            </a:extLst>
          </p:cNvPr>
          <p:cNvSpPr/>
          <p:nvPr/>
        </p:nvSpPr>
        <p:spPr>
          <a:xfrm>
            <a:off x="6214719" y="4517136"/>
            <a:ext cx="5318607"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8"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415887" y="4251959"/>
            <a:ext cx="256032" cy="256032"/>
          </a:xfrm>
          <a:prstGeom prst="rect">
            <a:avLst/>
          </a:prstGeom>
        </p:spPr>
      </p:pic>
      <p:sp>
        <p:nvSpPr>
          <p:cNvPr id="29" name="!!lensn-SEC"/>
          <p:cNvSpPr txBox="1"/>
          <p:nvPr/>
        </p:nvSpPr>
        <p:spPr>
          <a:xfrm>
            <a:off x="6818223" y="4233672"/>
            <a:ext cx="4623663"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CYBERSECURITY</a:t>
            </a:r>
          </a:p>
        </p:txBody>
      </p:sp>
      <p:sp>
        <p:nvSpPr>
          <p:cNvPr id="30" name="!!lensb-SEC-0"/>
          <p:cNvSpPr txBox="1"/>
          <p:nvPr/>
        </p:nvSpPr>
        <p:spPr>
          <a:xfrm>
            <a:off x="6452463" y="4809744"/>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Early intrusion detection systems were decision trees over connection features, and the rules are still a good way to explain an alert.</a:t>
            </a:r>
          </a:p>
        </p:txBody>
      </p:sp>
      <p:sp>
        <p:nvSpPr>
          <p:cNvPr id="3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pfill">
            <a:extLst>
              <a:ext uri="{C183D7F6-B498-43B3-948B-1728B52AA6E4}">
                <adec:decorative xmlns:adec="http://schemas.microsoft.com/office/drawing/2017/decorative" val="1"/>
              </a:ext>
            </a:extLst>
          </p:cNvPr>
          <p:cNvSpPr/>
          <p:nvPr/>
        </p:nvSpPr>
        <p:spPr>
          <a:xfrm>
            <a:off x="0" y="0"/>
            <a:ext cx="583081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Learning Analytics: Decision Trees</a:t>
            </a:r>
          </a:p>
        </p:txBody>
      </p:sp>
      <p:pic>
        <p:nvPicPr>
          <p:cNvPr id="3" name="!!kicker-icon" descr="compass-6C3483.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6C3483"/>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76     </a:t>
            </a:r>
            <a:fld id="{B90DEFDF-1BE9-4405-8471-382E195A642F}" type="slidenum">
              <a:rPr lang="en-GB" sz="1000">
                <a:solidFill>
                  <a:srgbClr val="8795A1"/>
                </a:solidFill>
                <a:latin typeface="Segoe UI"/>
              </a:rPr>
              <a:t>23</a:t>
            </a:fld>
          </a:p>
        </p:txBody>
      </p:sp>
      <p:sp>
        <p:nvSpPr>
          <p:cNvPr id="7" name="!!lens-LA">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6F3F8"/>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LA">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LA">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LA" descr="graduation-ca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419498" cy="256032"/>
          </a:xfrm>
          <a:prstGeom prst="rect">
            <a:avLst/>
          </a:prstGeom>
        </p:spPr>
      </p:pic>
      <p:sp>
        <p:nvSpPr>
          <p:cNvPr id="11" name="!!lensn-LA"/>
          <p:cNvSpPr txBox="1"/>
          <p:nvPr/>
        </p:nvSpPr>
        <p:spPr>
          <a:xfrm>
            <a:off x="1425337" y="1837943"/>
            <a:ext cx="7181909"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LEARNING ANALYTICS</a:t>
            </a:r>
          </a:p>
        </p:txBody>
      </p:sp>
      <p:sp>
        <p:nvSpPr>
          <p:cNvPr id="12" name="!!lensb-LA-0"/>
          <p:cNvSpPr txBox="1"/>
          <p:nvPr/>
        </p:nvSpPr>
        <p:spPr>
          <a:xfrm>
            <a:off x="896112" y="2432304"/>
            <a:ext cx="758311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An advising tree — “attendance below 60% and two quizzes missed: refer” — can be printed on one page and checked by staff, which matters more in a university committee than two points of accuracy. Keep it shallow: a depth-3 tree is policy; a depth-12 tree is noise.</a:t>
            </a:r>
          </a:p>
        </p:txBody>
      </p:sp>
      <p:sp>
        <p:nvSpPr>
          <p:cNvPr id="13" name="!!lens-PM">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PM">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PM">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PM" descr="tasks-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301783" cy="256032"/>
          </a:xfrm>
          <a:prstGeom prst="rect">
            <a:avLst/>
          </a:prstGeom>
        </p:spPr>
      </p:pic>
      <p:sp>
        <p:nvSpPr>
          <p:cNvPr id="17" name="!!lensn-PM"/>
          <p:cNvSpPr txBox="1"/>
          <p:nvPr/>
        </p:nvSpPr>
        <p:spPr>
          <a:xfrm>
            <a:off x="9585686" y="1837943"/>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18" name="!!lens-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IOT">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256032" cy="256032"/>
          </a:xfrm>
          <a:prstGeom prst="rect">
            <a:avLst/>
          </a:prstGeom>
        </p:spPr>
      </p:pic>
      <p:sp>
        <p:nvSpPr>
          <p:cNvPr id="22" name="!!lensn-IOT"/>
          <p:cNvSpPr txBox="1"/>
          <p:nvPr/>
        </p:nvSpPr>
        <p:spPr>
          <a:xfrm>
            <a:off x="9539935" y="2496312"/>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609584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Project Management: Decision Trees</a:t>
            </a:r>
          </a:p>
        </p:txBody>
      </p:sp>
      <p:pic>
        <p:nvPicPr>
          <p:cNvPr id="3" name="!!kicker-icon" descr="compass-1F618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F618D"/>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76     </a:t>
            </a:r>
            <a:fld id="{F12D9879-A5B4-4E6C-9E7F-B904DC91EEB2}" type="slidenum">
              <a:rPr lang="en-GB" sz="1000">
                <a:solidFill>
                  <a:srgbClr val="8795A1"/>
                </a:solidFill>
                <a:latin typeface="Segoe UI"/>
              </a:rPr>
              <a:t>24</a:t>
            </a:fld>
          </a:p>
        </p:txBody>
      </p:sp>
      <p:sp>
        <p:nvSpPr>
          <p:cNvPr id="7" name="!!lens-PM">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2F6F8"/>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PM">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PM">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PM" descr="tasks-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301783" cy="256032"/>
          </a:xfrm>
          <a:prstGeom prst="rect">
            <a:avLst/>
          </a:prstGeom>
        </p:spPr>
      </p:pic>
      <p:sp>
        <p:nvSpPr>
          <p:cNvPr id="11" name="!!lensn-PM"/>
          <p:cNvSpPr txBox="1"/>
          <p:nvPr/>
        </p:nvSpPr>
        <p:spPr>
          <a:xfrm>
            <a:off x="1307622" y="1837943"/>
            <a:ext cx="7299624"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PROJECT MANAGEMENT</a:t>
            </a:r>
          </a:p>
        </p:txBody>
      </p:sp>
      <p:sp>
        <p:nvSpPr>
          <p:cNvPr id="12" name="!!lensb-PM-0"/>
          <p:cNvSpPr txBox="1"/>
          <p:nvPr/>
        </p:nvSpPr>
        <p:spPr>
          <a:xfrm>
            <a:off x="896112" y="2432304"/>
            <a:ext cx="758311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Trees handle the mix of categorical and numeric project attributes (methodology, team size, number of integrations) without encoding, and their rules — “fixed-price and more than three external integrations” — map directly onto risk checklists.</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IOT">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256032" cy="256032"/>
          </a:xfrm>
          <a:prstGeom prst="rect">
            <a:avLst/>
          </a:prstGeom>
        </p:spPr>
      </p:pic>
      <p:sp>
        <p:nvSpPr>
          <p:cNvPr id="22" name="!!lensn-IOT"/>
          <p:cNvSpPr txBox="1"/>
          <p:nvPr/>
        </p:nvSpPr>
        <p:spPr>
          <a:xfrm>
            <a:off x="9539935" y="2496312"/>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636088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Internet of Things: Decision Trees</a:t>
            </a:r>
          </a:p>
        </p:txBody>
      </p:sp>
      <p:pic>
        <p:nvPicPr>
          <p:cNvPr id="3" name="!!kicker-icon" descr="compass-117864.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864"/>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76     </a:t>
            </a:r>
            <a:fld id="{279083BD-D234-446C-887D-33ABC5A66BBF}" type="slidenum">
              <a:rPr lang="en-GB" sz="1000">
                <a:solidFill>
                  <a:srgbClr val="8795A1"/>
                </a:solidFill>
                <a:latin typeface="Segoe UI"/>
              </a:rPr>
              <a:t>25</a:t>
            </a:fld>
          </a:p>
        </p:txBody>
      </p:sp>
      <p:sp>
        <p:nvSpPr>
          <p:cNvPr id="7" name="!!lens-IOT">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1F7F6"/>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IOT">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IOT">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IOT" descr="microchi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256032" cy="256032"/>
          </a:xfrm>
          <a:prstGeom prst="rect">
            <a:avLst/>
          </a:prstGeom>
        </p:spPr>
      </p:pic>
      <p:sp>
        <p:nvSpPr>
          <p:cNvPr id="11" name="!!lensn-IOT"/>
          <p:cNvSpPr txBox="1"/>
          <p:nvPr/>
        </p:nvSpPr>
        <p:spPr>
          <a:xfrm>
            <a:off x="1261872" y="1837943"/>
            <a:ext cx="7345375"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INTERNET OF THINGS</a:t>
            </a:r>
          </a:p>
        </p:txBody>
      </p:sp>
      <p:sp>
        <p:nvSpPr>
          <p:cNvPr id="12" name="!!lensb-IOT-0"/>
          <p:cNvSpPr txBox="1"/>
          <p:nvPr/>
        </p:nvSpPr>
        <p:spPr>
          <a:xfrm>
            <a:off x="896112" y="2432304"/>
            <a:ext cx="7583119"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 shallow tree compiles to a few nested </a:t>
            </a:r>
            <a:r>
              <a:rPr sz="2050" b="0" i="0">
                <a:solidFill>
                  <a:srgbClr val="1F4E79"/>
                </a:solidFill>
                <a:latin typeface="Consolas"/>
              </a:rPr>
              <a:t>if</a:t>
            </a:r>
            <a:r>
              <a:rPr sz="2200" b="0" i="0">
                <a:solidFill>
                  <a:srgbClr val="1C252B"/>
                </a:solidFill>
                <a:latin typeface="Segoe UI"/>
              </a:rPr>
              <a:t> statements, so it runs on the smallest microcontroller with no library at all. Threshold tests on sensor readings are also exactly how maintenance engineers already think.</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PM">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PM" descr="tasks-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301783" cy="256032"/>
          </a:xfrm>
          <a:prstGeom prst="rect">
            <a:avLst/>
          </a:prstGeom>
        </p:spPr>
      </p:pic>
      <p:sp>
        <p:nvSpPr>
          <p:cNvPr id="22" name="!!lensn-PM"/>
          <p:cNvSpPr txBox="1"/>
          <p:nvPr/>
        </p:nvSpPr>
        <p:spPr>
          <a:xfrm>
            <a:off x="9585686" y="2496312"/>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662592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Cybersecurity: Decision Trees</a:t>
            </a:r>
          </a:p>
        </p:txBody>
      </p:sp>
      <p:pic>
        <p:nvPicPr>
          <p:cNvPr id="3" name="!!kicker-icon" descr="compass-922B2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922B21"/>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76     </a:t>
            </a:r>
            <a:fld id="{0D275ED2-4F32-4B3D-BE50-8E896E1B9F8E}" type="slidenum">
              <a:rPr lang="en-GB" sz="1000">
                <a:solidFill>
                  <a:srgbClr val="8795A1"/>
                </a:solidFill>
                <a:latin typeface="Segoe UI"/>
              </a:rPr>
              <a:t>26</a:t>
            </a:fld>
          </a:p>
        </p:txBody>
      </p:sp>
      <p:sp>
        <p:nvSpPr>
          <p:cNvPr id="7" name="!!lens-SEC">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8F2F2"/>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SEC">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SEC">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SEC" descr="shield-alt-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256032" cy="256032"/>
          </a:xfrm>
          <a:prstGeom prst="rect">
            <a:avLst/>
          </a:prstGeom>
        </p:spPr>
      </p:pic>
      <p:sp>
        <p:nvSpPr>
          <p:cNvPr id="11" name="!!lensn-SEC"/>
          <p:cNvSpPr txBox="1"/>
          <p:nvPr/>
        </p:nvSpPr>
        <p:spPr>
          <a:xfrm>
            <a:off x="1261872" y="1837943"/>
            <a:ext cx="7345375"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CYBERSECURITY</a:t>
            </a:r>
          </a:p>
        </p:txBody>
      </p:sp>
      <p:sp>
        <p:nvSpPr>
          <p:cNvPr id="12" name="!!lensb-SEC-0"/>
          <p:cNvSpPr txBox="1"/>
          <p:nvPr/>
        </p:nvSpPr>
        <p:spPr>
          <a:xfrm>
            <a:off x="896112" y="2432304"/>
            <a:ext cx="758311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Early intrusion detection systems were decision trees over connection features, and the rules are still a good way to explain an alert. Their weakness is that an attacker who learns the thresholds can stay just inside them — keep the rules secret, and prefer ensembles of trees in deployment.</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PM">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PM" descr="tasks-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301783" cy="256032"/>
          </a:xfrm>
          <a:prstGeom prst="rect">
            <a:avLst/>
          </a:prstGeom>
        </p:spPr>
      </p:pic>
      <p:sp>
        <p:nvSpPr>
          <p:cNvPr id="22" name="!!lensn-PM"/>
          <p:cNvSpPr txBox="1"/>
          <p:nvPr/>
        </p:nvSpPr>
        <p:spPr>
          <a:xfrm>
            <a:off x="9585686" y="2496312"/>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23" name="!!lens-IOT">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IOT">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IOT">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IOT" descr="microchip-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IOT"/>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689095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ID3 by Hand, Then Pruning by Cross-Validation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74     </a:t>
            </a:r>
            <a:fld id="{A5A63CC5-3A34-4621-8111-0769B6364C62}" type="slidenum">
              <a:rPr lang="en-GB" sz="1000">
                <a:solidFill>
                  <a:srgbClr val="8795A1"/>
                </a:solidFill>
                <a:latin typeface="Segoe UI"/>
              </a:rPr>
              <a:t>27</a:t>
            </a:fld>
          </a:p>
        </p:txBody>
      </p:sp>
      <p:sp>
        <p:nvSpPr>
          <p:cNvPr id="7" name="!!labsteps-h"/>
          <p:cNvSpPr txBox="1"/>
          <p:nvPr/>
        </p:nvSpPr>
        <p:spPr>
          <a:xfrm>
            <a:off x="658368" y="1737360"/>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8" name="!!labsteps"/>
          <p:cNvSpPr txBox="1"/>
          <p:nvPr/>
        </p:nvSpPr>
        <p:spPr>
          <a:xfrm>
            <a:off x="658368" y="2121408"/>
            <a:ext cx="10874959" cy="742949"/>
          </a:xfrm>
          <a:prstGeom prst="rect">
            <a:avLst/>
          </a:prstGeom>
          <a:noFill/>
        </p:spPr>
        <p:txBody>
          <a:bodyPr wrap="square" anchor="t" lIns="0" rIns="0" tIns="0" bIns="0">
            <a:noAutofit/>
          </a:bodyPr>
          <a:lstStyle/>
          <a:p>
            <a:pPr algn="l" marL="459473" indent="-459473">
              <a:lnSpc>
                <a:spcPct val="100000"/>
              </a:lnSpc>
              <a:spcBef>
                <a:spcPts val="0"/>
              </a:spcBef>
              <a:spcAft>
                <a:spcPts val="570"/>
              </a:spcAft>
            </a:pPr>
            <a:r>
              <a:rPr sz="1900" b="1">
                <a:solidFill>
                  <a:srgbClr val="117A65"/>
                </a:solidFill>
                <a:latin typeface="Segoe UI"/>
              </a:rPr>
              <a:t>1.	</a:t>
            </a:r>
            <a:r>
              <a:rPr sz="1900" b="0" i="0">
                <a:solidFill>
                  <a:srgbClr val="1C252B"/>
                </a:solidFill>
                <a:latin typeface="Segoe UI"/>
              </a:rPr>
              <a:t>ID3's first choice, computed by hand</a:t>
            </a:r>
          </a:p>
          <a:p>
            <a:pPr algn="l" marL="459473" indent="-459473">
              <a:lnSpc>
                <a:spcPct val="100000"/>
              </a:lnSpc>
              <a:spcBef>
                <a:spcPts val="0"/>
              </a:spcBef>
              <a:spcAft>
                <a:spcPts val="0"/>
              </a:spcAft>
            </a:pPr>
            <a:r>
              <a:rPr sz="1900" b="1">
                <a:solidFill>
                  <a:srgbClr val="117A65"/>
                </a:solidFill>
                <a:latin typeface="Segoe UI"/>
              </a:rPr>
              <a:t>2.	</a:t>
            </a:r>
            <a:r>
              <a:rPr sz="1900" b="0" i="0">
                <a:solidFill>
                  <a:srgbClr val="1C252B"/>
                </a:solidFill>
                <a:latin typeface="Segoe UI"/>
              </a:rPr>
              <a:t>Noisy data: a tree grown without limit, then pruned</a:t>
            </a:r>
          </a:p>
        </p:txBody>
      </p:sp>
      <p:sp>
        <p:nvSpPr>
          <p:cNvPr id="14"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17"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Week 8: ID3 by hand, pruning by cross-validation</a:t>
            </a:r>
          </a:p>
        </p:txBody>
      </p:sp>
      <p:sp>
        <p:nvSpPr>
          <p:cNvPr id="18"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21"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57 lines of Python</a:t>
            </a:r>
          </a:p>
        </p:txBody>
      </p:sp>
      <p:sp>
        <p:nvSpPr>
          <p:cNvPr id="22"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25"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code/ch09_id3_hand_pruning_cross.py</a:t>
            </a:r>
          </a:p>
        </p:txBody>
      </p:sp>
      <p:sp>
        <p:nvSpPr>
          <p:cNvPr id="2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pfill">
            <a:extLst>
              <a:ext uri="{C183D7F6-B498-43B3-948B-1728B52AA6E4}">
                <adec:decorative xmlns:adec="http://schemas.microsoft.com/office/drawing/2017/decorative" val="1"/>
              </a:ext>
            </a:extLst>
          </p:cNvPr>
          <p:cNvSpPr/>
          <p:nvPr/>
        </p:nvSpPr>
        <p:spPr>
          <a:xfrm>
            <a:off x="0" y="0"/>
            <a:ext cx="715599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xEl>
                                              <p:pRg st="0" end="0"/>
                                            </p:txEl>
                                          </p:spTgt>
                                        </p:tgtEl>
                                        <p:attrNameLst>
                                          <p:attrName>style.visibility</p:attrName>
                                        </p:attrNameLst>
                                      </p:cBhvr>
                                      <p:to>
                                        <p:strVal val="visible"/>
                                      </p:to>
                                    </p:set>
                                    <p:animEffect transition="in" filter="fade">
                                      <p:cBhvr>
                                        <p:cTn id="8" dur="300"/>
                                        <p:tgtEl>
                                          <p:spTgt spid="8">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8">
                                            <p:txEl>
                                              <p:pRg st="1" end="1"/>
                                            </p:txEl>
                                          </p:spTgt>
                                        </p:tgtEl>
                                        <p:attrNameLst>
                                          <p:attrName>style.visibility</p:attrName>
                                        </p:attrNameLst>
                                      </p:cBhvr>
                                      <p:to>
                                        <p:strVal val="visible"/>
                                      </p:to>
                                    </p:set>
                                    <p:animEffect transition="in" filter="fade">
                                      <p:cBhvr>
                                        <p:cTn id="13" dur="300"/>
                                        <p:tgtEl>
                                          <p:spTgt spid="8">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ID3 by Hand, Then Pruning by Cross-Validation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74     </a:t>
            </a:r>
            <a:fld id="{DCC1EC93-7F3F-47BB-BC85-368B2C84553E}" type="slidenum">
              <a:rPr lang="en-GB" sz="1000">
                <a:solidFill>
                  <a:srgbClr val="8795A1"/>
                </a:solidFill>
                <a:latin typeface="Segoe UI"/>
              </a:rPr>
              <a:t>28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127504"/>
          </a:xfrm>
          <a:prstGeom prst="roundRect">
            <a:avLst>
              <a:gd name="adj" fmla="val 429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code/ch09_id3_hand_pruning_cross.py</a:t>
            </a:r>
          </a:p>
        </p:txBody>
      </p:sp>
      <p:sp>
        <p:nvSpPr>
          <p:cNvPr id="14" name="!!code-text" descr="import numpy as np import pandas as pd from sklearn.datasets import make_classification from sklearn.model_selection import train_test_split, cross_val_score from sklearn.tree import DecisionTreeClassifier, export_text"/>
          <p:cNvSpPr txBox="1"/>
          <p:nvPr/>
        </p:nvSpPr>
        <p:spPr>
          <a:xfrm>
            <a:off x="1362456" y="2523744"/>
            <a:ext cx="9987991" cy="1633728"/>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import</a:t>
            </a:r>
            <a:r>
              <a:rPr sz="2000" i="0">
                <a:solidFill>
                  <a:srgbClr val="E8EDF2"/>
                </a:solidFill>
                <a:latin typeface="Consolas"/>
              </a:rPr>
              <a:t> </a:t>
            </a:r>
            <a:r>
              <a:rPr sz="2000" i="0">
                <a:solidFill>
                  <a:srgbClr val="76D7C4"/>
                </a:solidFill>
                <a:latin typeface="Consolas"/>
              </a:rPr>
              <a:t>numpy</a:t>
            </a:r>
            <a:r>
              <a:rPr sz="2000" i="0">
                <a:solidFill>
                  <a:srgbClr val="E8EDF2"/>
                </a:solidFill>
                <a:latin typeface="Consolas"/>
              </a:rPr>
              <a:t> </a:t>
            </a:r>
            <a:r>
              <a:rPr sz="2000" i="0">
                <a:solidFill>
                  <a:srgbClr val="5DADE2"/>
                </a:solidFill>
                <a:latin typeface="Consolas"/>
              </a:rPr>
              <a:t>as</a:t>
            </a:r>
            <a:r>
              <a:rPr sz="2000" i="0">
                <a:solidFill>
                  <a:srgbClr val="E8EDF2"/>
                </a:solidFill>
                <a:latin typeface="Consolas"/>
              </a:rPr>
              <a:t> </a:t>
            </a:r>
            <a:r>
              <a:rPr sz="2000" i="0">
                <a:solidFill>
                  <a:srgbClr val="76D7C4"/>
                </a:solidFill>
                <a:latin typeface="Consolas"/>
              </a:rPr>
              <a:t>np</a:t>
            </a:r>
          </a:p>
          <a:p>
            <a:pPr>
              <a:lnSpc>
                <a:spcPct val="100000"/>
              </a:lnSpc>
              <a:spcAft>
                <a:spcPts val="0"/>
              </a:spcAft>
            </a:pPr>
            <a:r>
              <a:rPr sz="2000" i="0">
                <a:solidFill>
                  <a:srgbClr val="5DADE2"/>
                </a:solidFill>
                <a:latin typeface="Consolas"/>
              </a:rPr>
              <a:t>import</a:t>
            </a:r>
            <a:r>
              <a:rPr sz="2000" i="0">
                <a:solidFill>
                  <a:srgbClr val="E8EDF2"/>
                </a:solidFill>
                <a:latin typeface="Consolas"/>
              </a:rPr>
              <a:t> </a:t>
            </a:r>
            <a:r>
              <a:rPr sz="2000" i="0">
                <a:solidFill>
                  <a:srgbClr val="76D7C4"/>
                </a:solidFill>
                <a:latin typeface="Consolas"/>
              </a:rPr>
              <a:t>pandas</a:t>
            </a:r>
            <a:r>
              <a:rPr sz="2000" i="0">
                <a:solidFill>
                  <a:srgbClr val="E8EDF2"/>
                </a:solidFill>
                <a:latin typeface="Consolas"/>
              </a:rPr>
              <a:t> </a:t>
            </a:r>
            <a:r>
              <a:rPr sz="2000" i="0">
                <a:solidFill>
                  <a:srgbClr val="5DADE2"/>
                </a:solidFill>
                <a:latin typeface="Consolas"/>
              </a:rPr>
              <a:t>as</a:t>
            </a:r>
            <a:r>
              <a:rPr sz="2000" i="0">
                <a:solidFill>
                  <a:srgbClr val="E8EDF2"/>
                </a:solidFill>
                <a:latin typeface="Consolas"/>
              </a:rPr>
              <a:t> </a:t>
            </a:r>
            <a:r>
              <a:rPr sz="2000" i="0">
                <a:solidFill>
                  <a:srgbClr val="76D7C4"/>
                </a:solidFill>
                <a:latin typeface="Consolas"/>
              </a:rPr>
              <a:t>pd</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datasets</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make_classification</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model_selection</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train_test_split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cross_val_score</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tree</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DecisionTreeClassifier</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export_text</a:t>
            </a:r>
          </a:p>
        </p:txBody>
      </p:sp>
      <p:sp>
        <p:nvSpPr>
          <p:cNvPr id="15" name="!!code-num"/>
          <p:cNvSpPr txBox="1"/>
          <p:nvPr/>
        </p:nvSpPr>
        <p:spPr>
          <a:xfrm>
            <a:off x="768096" y="2523744"/>
            <a:ext cx="393192" cy="16337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a:t>
            </a:r>
          </a:p>
          <a:p>
            <a:pPr algn="r">
              <a:lnSpc>
                <a:spcPct val="100000"/>
              </a:lnSpc>
            </a:pPr>
            <a:r>
              <a:rPr sz="2000">
                <a:solidFill>
                  <a:srgbClr val="4F5D6A"/>
                </a:solidFill>
                <a:latin typeface="Consolas"/>
              </a:rPr>
              <a:t>3</a:t>
            </a:r>
          </a:p>
          <a:p>
            <a:pPr algn="r">
              <a:lnSpc>
                <a:spcPct val="100000"/>
              </a:lnSpc>
            </a:pPr>
            <a:r>
              <a:rPr sz="2000">
                <a:solidFill>
                  <a:srgbClr val="4F5D6A"/>
                </a:solidFill>
                <a:latin typeface="Consolas"/>
              </a:rPr>
              <a:t>4</a:t>
            </a:r>
          </a:p>
          <a:p>
            <a:pPr algn="r">
              <a:lnSpc>
                <a:spcPct val="100000"/>
              </a:lnSpc>
            </a:pPr>
            <a:r>
              <a:rPr sz="2000">
                <a:solidFill>
                  <a:srgbClr val="4F5D6A"/>
                </a:solidFill>
                <a:latin typeface="Consolas"/>
              </a:rPr>
              <a:t>5</a:t>
            </a:r>
          </a:p>
          <a:p>
            <a:pPr algn="r">
              <a:lnSpc>
                <a:spcPct val="100000"/>
              </a:lnSpc>
            </a:pPr>
            <a:r>
              <a:rPr sz="2000">
                <a:solidFill>
                  <a:srgbClr val="4F5D6A"/>
                </a:solidFill>
                <a:latin typeface="Consolas"/>
              </a:rPr>
              <a:t>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42103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ID3 by Hand, Then Pruning by Cross-Validation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74     </a:t>
            </a:r>
            <a:fld id="{7E03C652-060C-4C34-AA9B-B161294DDB09}" type="slidenum">
              <a:rPr lang="en-GB" sz="1000">
                <a:solidFill>
                  <a:srgbClr val="8795A1"/>
                </a:solidFill>
                <a:latin typeface="Segoe UI"/>
              </a:rPr>
              <a:t>29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ID3's first choice, computed by hand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32504"/>
          </a:xfrm>
          <a:prstGeom prst="roundRect">
            <a:avLst>
              <a:gd name="adj" fmla="val 226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code/ch09_id3_hand_pruning_cross.py</a:t>
            </a:r>
          </a:p>
        </p:txBody>
      </p:sp>
      <p:sp>
        <p:nvSpPr>
          <p:cNvPr id="14" name="!!code-text" descr="# --- 1. ID3's first choice, computed by hand ----------------------------- rows = [&quot;Sunny Hot High Weak No&quot;, &quot;Sunny Hot High Strong No&quot;, &quot;Overcast Hot High Weak Yes&quot;, &quot;Rain Mild High Weak Yes&quot;, &quot;Rain Cool Normal Weak Yes&quot;, &quot;Rain Cool Normal Strong No&quot;, &quot;Overcast Cool Normal Strong Yes&quot;, &quot;Sunny Mild High Weak No&quot;, &quot;Sunny Cool Normal Weak Yes&quot;, &quot;Rain Mild Normal Weak Yes&quot;, &quot;Sunny Mild Normal Strong Yes&quot;, &quot;Overcast Mild High Strong Yes&quot;, &quot;Overcast Hot Normal Weak Yes&quot;, &quot;Rain Mild High Strong No&quot;] df = pd.DataFrame([r.split() for r in rows], columns=[&quot;Outlook&quot;, &quot;Temp&quot;, &quot;Humidity&quot;, &quot;Wind&quot;, &quot;Play&quot;]) def entropy(labels): p = labels.value_counts(normalize=True) return float(-(p * np.log2(p)).sum())"/>
          <p:cNvSpPr txBox="1"/>
          <p:nvPr/>
        </p:nvSpPr>
        <p:spPr>
          <a:xfrm>
            <a:off x="1362456" y="2523744"/>
            <a:ext cx="9987991" cy="3538727"/>
          </a:xfrm>
          <a:prstGeom prst="rect">
            <a:avLst/>
          </a:prstGeom>
          <a:noFill/>
        </p:spPr>
        <p:txBody>
          <a:bodyPr wrap="none" anchor="t" lIns="0" rIns="0" tIns="0" bIns="0">
            <a:noAutofit/>
          </a:bodyPr>
          <a:lstStyle/>
          <a:p>
            <a:pPr>
              <a:lnSpc>
                <a:spcPct val="100000"/>
              </a:lnSpc>
              <a:spcAft>
                <a:spcPts val="0"/>
              </a:spcAft>
            </a:pPr>
            <a:r>
              <a:rPr sz="1500" i="1">
                <a:solidFill>
                  <a:srgbClr val="8795A1"/>
                </a:solidFill>
                <a:latin typeface="Consolas"/>
              </a:rPr>
              <a:t># --- 1. ID3's first choice, computed by hand -----------------------------</a:t>
            </a:r>
          </a:p>
          <a:p>
            <a:pPr>
              <a:lnSpc>
                <a:spcPct val="100000"/>
              </a:lnSpc>
              <a:spcAft>
                <a:spcPts val="0"/>
              </a:spcAft>
            </a:pPr>
            <a:r>
              <a:rPr sz="1500" i="0">
                <a:solidFill>
                  <a:srgbClr val="E8EDF2"/>
                </a:solidFill>
                <a:latin typeface="Consolas"/>
              </a:rPr>
              <a:t>rows</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Sunny Hot High Weak No</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Sunny Hot High Strong No</a:t>
            </a:r>
            <a:r>
              <a:rPr sz="1500" i="0">
                <a:solidFill>
                  <a:srgbClr val="7DCEA0"/>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Overcast Hot High Weak Yes</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Rain Mild High Weak Yes</a:t>
            </a:r>
            <a:r>
              <a:rPr sz="1500" i="0">
                <a:solidFill>
                  <a:srgbClr val="7DCEA0"/>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Rain Cool Normal Weak Yes</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Rain Cool Normal Strong No</a:t>
            </a:r>
            <a:r>
              <a:rPr sz="1500" i="0">
                <a:solidFill>
                  <a:srgbClr val="7DCEA0"/>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Overcast Cool Normal Strong Yes</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Sunny Mild High Weak No</a:t>
            </a:r>
            <a:r>
              <a:rPr sz="1500" i="0">
                <a:solidFill>
                  <a:srgbClr val="7DCEA0"/>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Sunny Cool Normal Weak Yes</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Rain Mild Normal Weak Yes</a:t>
            </a:r>
            <a:r>
              <a:rPr sz="1500" i="0">
                <a:solidFill>
                  <a:srgbClr val="7DCEA0"/>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Sunny Mild Normal Strong Yes</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Overcast Mild High Strong Yes</a:t>
            </a:r>
            <a:r>
              <a:rPr sz="1500" i="0">
                <a:solidFill>
                  <a:srgbClr val="7DCEA0"/>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Overcast Hot Normal Weak Yes</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Rain Mild High Strong No</a:t>
            </a:r>
            <a:r>
              <a:rPr sz="1500" i="0">
                <a:solidFill>
                  <a:srgbClr val="7DCEA0"/>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df</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pd</a:t>
            </a:r>
            <a:r>
              <a:rPr sz="1500" i="0">
                <a:solidFill>
                  <a:srgbClr val="AEB6BF"/>
                </a:solidFill>
                <a:latin typeface="Consolas"/>
              </a:rPr>
              <a:t>.</a:t>
            </a:r>
            <a:r>
              <a:rPr sz="1500" i="0">
                <a:solidFill>
                  <a:srgbClr val="E8EDF2"/>
                </a:solidFill>
                <a:latin typeface="Consolas"/>
              </a:rPr>
              <a:t>DataFrame</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r</a:t>
            </a:r>
            <a:r>
              <a:rPr sz="1500" i="0">
                <a:solidFill>
                  <a:srgbClr val="AEB6BF"/>
                </a:solidFill>
                <a:latin typeface="Consolas"/>
              </a:rPr>
              <a:t>.</a:t>
            </a:r>
            <a:r>
              <a:rPr sz="1500" i="0">
                <a:solidFill>
                  <a:srgbClr val="E8EDF2"/>
                </a:solidFill>
                <a:latin typeface="Consolas"/>
              </a:rPr>
              <a:t>split</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for</a:t>
            </a:r>
            <a:r>
              <a:rPr sz="1500" i="0">
                <a:solidFill>
                  <a:srgbClr val="E8EDF2"/>
                </a:solidFill>
                <a:latin typeface="Consolas"/>
              </a:rPr>
              <a:t> </a:t>
            </a:r>
            <a:r>
              <a:rPr sz="1500" i="0">
                <a:solidFill>
                  <a:srgbClr val="E8EDF2"/>
                </a:solidFill>
                <a:latin typeface="Consolas"/>
              </a:rPr>
              <a:t>r</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E8EDF2"/>
                </a:solidFill>
                <a:latin typeface="Consolas"/>
              </a:rPr>
              <a:t>rows</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columns</a:t>
            </a:r>
            <a:r>
              <a:rPr sz="1500" i="0">
                <a:solidFill>
                  <a:srgbClr val="AEB6BF"/>
                </a:solidFill>
                <a:latin typeface="Consolas"/>
              </a:rPr>
              <a: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Outlook</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Temp</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Humidity</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Wind</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Play</a:t>
            </a:r>
            <a:r>
              <a:rPr sz="1500" i="0">
                <a:solidFill>
                  <a:srgbClr val="7DCEA0"/>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a:latin typeface="Consolas"/>
              </a:rPr>
              <a:t> </a:t>
            </a:r>
          </a:p>
          <a:p>
            <a:pPr>
              <a:lnSpc>
                <a:spcPct val="100000"/>
              </a:lnSpc>
              <a:spcAft>
                <a:spcPts val="0"/>
              </a:spcAft>
            </a:pPr>
            <a:r>
              <a:rPr sz="1500">
                <a:latin typeface="Consolas"/>
              </a:rPr>
              <a:t> </a:t>
            </a:r>
          </a:p>
          <a:p>
            <a:pPr>
              <a:lnSpc>
                <a:spcPct val="100000"/>
              </a:lnSpc>
              <a:spcAft>
                <a:spcPts val="0"/>
              </a:spcAft>
            </a:pPr>
            <a:r>
              <a:rPr sz="1500" i="0">
                <a:solidFill>
                  <a:srgbClr val="5DADE2"/>
                </a:solidFill>
                <a:latin typeface="Consolas"/>
              </a:rPr>
              <a:t>def</a:t>
            </a:r>
            <a:r>
              <a:rPr sz="1500" i="0">
                <a:solidFill>
                  <a:srgbClr val="E8EDF2"/>
                </a:solidFill>
                <a:latin typeface="Consolas"/>
              </a:rPr>
              <a:t> </a:t>
            </a:r>
            <a:r>
              <a:rPr sz="1500" i="0">
                <a:solidFill>
                  <a:srgbClr val="C39BD3"/>
                </a:solidFill>
                <a:latin typeface="Consolas"/>
              </a:rPr>
              <a:t>entropy</a:t>
            </a:r>
            <a:r>
              <a:rPr sz="1500" i="0">
                <a:solidFill>
                  <a:srgbClr val="AEB6BF"/>
                </a:solidFill>
                <a:latin typeface="Consolas"/>
              </a:rPr>
              <a:t>(</a:t>
            </a:r>
            <a:r>
              <a:rPr sz="1500" i="0">
                <a:solidFill>
                  <a:srgbClr val="E8EDF2"/>
                </a:solidFill>
                <a:latin typeface="Consolas"/>
              </a:rPr>
              <a:t>labels</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p</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labels</a:t>
            </a:r>
            <a:r>
              <a:rPr sz="1500" i="0">
                <a:solidFill>
                  <a:srgbClr val="AEB6BF"/>
                </a:solidFill>
                <a:latin typeface="Consolas"/>
              </a:rPr>
              <a:t>.</a:t>
            </a:r>
            <a:r>
              <a:rPr sz="1500" i="0">
                <a:solidFill>
                  <a:srgbClr val="E8EDF2"/>
                </a:solidFill>
                <a:latin typeface="Consolas"/>
              </a:rPr>
              <a:t>value_counts</a:t>
            </a:r>
            <a:r>
              <a:rPr sz="1500" i="0">
                <a:solidFill>
                  <a:srgbClr val="AEB6BF"/>
                </a:solidFill>
                <a:latin typeface="Consolas"/>
              </a:rPr>
              <a:t>(</a:t>
            </a:r>
            <a:r>
              <a:rPr sz="1500" i="0">
                <a:solidFill>
                  <a:srgbClr val="E8EDF2"/>
                </a:solidFill>
                <a:latin typeface="Consolas"/>
              </a:rPr>
              <a:t>normalize</a:t>
            </a:r>
            <a:r>
              <a:rPr sz="1500" i="0">
                <a:solidFill>
                  <a:srgbClr val="AEB6BF"/>
                </a:solidFill>
                <a:latin typeface="Consolas"/>
              </a:rPr>
              <a:t>=</a:t>
            </a:r>
            <a:r>
              <a:rPr sz="1500" i="0">
                <a:solidFill>
                  <a:srgbClr val="5DADE2"/>
                </a:solidFill>
                <a:latin typeface="Consolas"/>
              </a:rPr>
              <a:t>True</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return</a:t>
            </a:r>
            <a:r>
              <a:rPr sz="1500" i="0">
                <a:solidFill>
                  <a:srgbClr val="E8EDF2"/>
                </a:solidFill>
                <a:latin typeface="Consolas"/>
              </a:rPr>
              <a:t> </a:t>
            </a:r>
            <a:r>
              <a:rPr sz="1500" i="0">
                <a:solidFill>
                  <a:srgbClr val="C39BD3"/>
                </a:solidFill>
                <a:latin typeface="Consolas"/>
              </a:rPr>
              <a:t>float</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p</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np</a:t>
            </a:r>
            <a:r>
              <a:rPr sz="1500" i="0">
                <a:solidFill>
                  <a:srgbClr val="AEB6BF"/>
                </a:solidFill>
                <a:latin typeface="Consolas"/>
              </a:rPr>
              <a:t>.</a:t>
            </a:r>
            <a:r>
              <a:rPr sz="1500" i="0">
                <a:solidFill>
                  <a:srgbClr val="E8EDF2"/>
                </a:solidFill>
                <a:latin typeface="Consolas"/>
              </a:rPr>
              <a:t>log2</a:t>
            </a:r>
            <a:r>
              <a:rPr sz="1500" i="0">
                <a:solidFill>
                  <a:srgbClr val="AEB6BF"/>
                </a:solidFill>
                <a:latin typeface="Consolas"/>
              </a:rPr>
              <a:t>(</a:t>
            </a:r>
            <a:r>
              <a:rPr sz="1500" i="0">
                <a:solidFill>
                  <a:srgbClr val="E8EDF2"/>
                </a:solidFill>
                <a:latin typeface="Consolas"/>
              </a:rPr>
              <a:t>p</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sum</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p:txBody>
      </p:sp>
      <p:sp>
        <p:nvSpPr>
          <p:cNvPr id="15" name="!!code-num"/>
          <p:cNvSpPr txBox="1"/>
          <p:nvPr/>
        </p:nvSpPr>
        <p:spPr>
          <a:xfrm>
            <a:off x="768096" y="2523744"/>
            <a:ext cx="393192" cy="3538727"/>
          </a:xfrm>
          <a:prstGeom prst="rect">
            <a:avLst/>
          </a:prstGeom>
          <a:noFill/>
        </p:spPr>
        <p:txBody>
          <a:bodyPr wrap="none" anchor="t" lIns="0" rIns="0" tIns="0" bIns="0">
            <a:noAutofit/>
          </a:bodyPr>
          <a:lstStyle/>
          <a:p>
            <a:pPr algn="r">
              <a:lnSpc>
                <a:spcPct val="100000"/>
              </a:lnSpc>
            </a:pPr>
            <a:r>
              <a:rPr sz="1500">
                <a:solidFill>
                  <a:srgbClr val="4F5D6A"/>
                </a:solidFill>
                <a:latin typeface="Consolas"/>
              </a:rPr>
              <a:t>8</a:t>
            </a:r>
          </a:p>
          <a:p>
            <a:pPr algn="r">
              <a:lnSpc>
                <a:spcPct val="100000"/>
              </a:lnSpc>
            </a:pPr>
            <a:r>
              <a:rPr sz="1500">
                <a:solidFill>
                  <a:srgbClr val="4F5D6A"/>
                </a:solidFill>
                <a:latin typeface="Consolas"/>
              </a:rPr>
              <a:t>9</a:t>
            </a:r>
          </a:p>
          <a:p>
            <a:pPr algn="r">
              <a:lnSpc>
                <a:spcPct val="100000"/>
              </a:lnSpc>
            </a:pPr>
            <a:r>
              <a:rPr sz="1500">
                <a:solidFill>
                  <a:srgbClr val="4F5D6A"/>
                </a:solidFill>
                <a:latin typeface="Consolas"/>
              </a:rPr>
              <a:t>10</a:t>
            </a:r>
          </a:p>
          <a:p>
            <a:pPr algn="r">
              <a:lnSpc>
                <a:spcPct val="100000"/>
              </a:lnSpc>
            </a:pPr>
            <a:r>
              <a:rPr sz="1500">
                <a:solidFill>
                  <a:srgbClr val="4F5D6A"/>
                </a:solidFill>
                <a:latin typeface="Consolas"/>
              </a:rPr>
              <a:t>11</a:t>
            </a:r>
          </a:p>
          <a:p>
            <a:pPr algn="r">
              <a:lnSpc>
                <a:spcPct val="100000"/>
              </a:lnSpc>
            </a:pPr>
            <a:r>
              <a:rPr sz="1500">
                <a:solidFill>
                  <a:srgbClr val="4F5D6A"/>
                </a:solidFill>
                <a:latin typeface="Consolas"/>
              </a:rPr>
              <a:t>12</a:t>
            </a:r>
          </a:p>
          <a:p>
            <a:pPr algn="r">
              <a:lnSpc>
                <a:spcPct val="100000"/>
              </a:lnSpc>
            </a:pPr>
            <a:r>
              <a:rPr sz="1500">
                <a:solidFill>
                  <a:srgbClr val="4F5D6A"/>
                </a:solidFill>
                <a:latin typeface="Consolas"/>
              </a:rPr>
              <a:t>13</a:t>
            </a:r>
          </a:p>
          <a:p>
            <a:pPr algn="r">
              <a:lnSpc>
                <a:spcPct val="100000"/>
              </a:lnSpc>
            </a:pPr>
            <a:r>
              <a:rPr sz="1500">
                <a:solidFill>
                  <a:srgbClr val="4F5D6A"/>
                </a:solidFill>
                <a:latin typeface="Consolas"/>
              </a:rPr>
              <a:t>14</a:t>
            </a:r>
          </a:p>
          <a:p>
            <a:pPr algn="r">
              <a:lnSpc>
                <a:spcPct val="100000"/>
              </a:lnSpc>
            </a:pPr>
            <a:r>
              <a:rPr sz="1500">
                <a:solidFill>
                  <a:srgbClr val="4F5D6A"/>
                </a:solidFill>
                <a:latin typeface="Consolas"/>
              </a:rPr>
              <a:t>15</a:t>
            </a:r>
          </a:p>
          <a:p>
            <a:pPr algn="r">
              <a:lnSpc>
                <a:spcPct val="100000"/>
              </a:lnSpc>
            </a:pPr>
            <a:r>
              <a:rPr sz="1500">
                <a:solidFill>
                  <a:srgbClr val="4F5D6A"/>
                </a:solidFill>
                <a:latin typeface="Consolas"/>
              </a:rPr>
              <a:t>16</a:t>
            </a:r>
          </a:p>
          <a:p>
            <a:pPr algn="r">
              <a:lnSpc>
                <a:spcPct val="100000"/>
              </a:lnSpc>
            </a:pPr>
            <a:r>
              <a:rPr sz="1500">
                <a:solidFill>
                  <a:srgbClr val="4F5D6A"/>
                </a:solidFill>
                <a:latin typeface="Consolas"/>
              </a:rPr>
              <a:t>17</a:t>
            </a:r>
          </a:p>
          <a:p>
            <a:pPr algn="r">
              <a:lnSpc>
                <a:spcPct val="100000"/>
              </a:lnSpc>
            </a:pPr>
            <a:r>
              <a:rPr sz="1500">
                <a:solidFill>
                  <a:srgbClr val="4F5D6A"/>
                </a:solidFill>
                <a:latin typeface="Consolas"/>
              </a:rPr>
              <a:t>18</a:t>
            </a:r>
          </a:p>
          <a:p>
            <a:pPr algn="r">
              <a:lnSpc>
                <a:spcPct val="100000"/>
              </a:lnSpc>
            </a:pPr>
            <a:r>
              <a:rPr sz="1500">
                <a:solidFill>
                  <a:srgbClr val="4F5D6A"/>
                </a:solidFill>
                <a:latin typeface="Consolas"/>
              </a:rPr>
              <a:t>19</a:t>
            </a:r>
          </a:p>
          <a:p>
            <a:pPr algn="r">
              <a:lnSpc>
                <a:spcPct val="100000"/>
              </a:lnSpc>
            </a:pPr>
            <a:r>
              <a:rPr sz="1500">
                <a:solidFill>
                  <a:srgbClr val="4F5D6A"/>
                </a:solidFill>
                <a:latin typeface="Consolas"/>
              </a:rPr>
              <a:t>20</a:t>
            </a:r>
          </a:p>
          <a:p>
            <a:pPr algn="r">
              <a:lnSpc>
                <a:spcPct val="100000"/>
              </a:lnSpc>
            </a:pPr>
            <a:r>
              <a:rPr sz="1500">
                <a:solidFill>
                  <a:srgbClr val="4F5D6A"/>
                </a:solidFill>
                <a:latin typeface="Consolas"/>
              </a:rPr>
              <a:t>21</a:t>
            </a:r>
          </a:p>
          <a:p>
            <a:pPr algn="r">
              <a:lnSpc>
                <a:spcPct val="100000"/>
              </a:lnSpc>
            </a:pPr>
            <a:r>
              <a:rPr sz="1500">
                <a:solidFill>
                  <a:srgbClr val="4F5D6A"/>
                </a:solidFill>
                <a:latin typeface="Consolas"/>
              </a:rPr>
              <a:t>22</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68606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ID3 by Hand, Then Pruning by Cross-Validation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74     </a:t>
            </a:r>
            <a:fld id="{BD857441-C07B-4884-A3EF-A262A3EA370D}" type="slidenum">
              <a:rPr lang="en-GB" sz="1000">
                <a:solidFill>
                  <a:srgbClr val="8795A1"/>
                </a:solidFill>
                <a:latin typeface="Segoe UI"/>
              </a:rPr>
              <a:t>30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ID3's first choice, computed by hand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56303"/>
          </a:xfrm>
          <a:prstGeom prst="roundRect">
            <a:avLst>
              <a:gd name="adj" fmla="val 23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code/ch09_id3_hand_pruning_cross.py</a:t>
            </a:r>
          </a:p>
        </p:txBody>
      </p:sp>
      <p:sp>
        <p:nvSpPr>
          <p:cNvPr id="14" name="!!code-text" descr="def gain(data, attr): rest = sum(len(g) / len(data) * entropy(g.Play) for _, g in data.groupby(attr)) return entropy(data.Play) - rest for a in [&quot;Outlook&quot;, &quot;Temp&quot;, &quot;Humidity&quot;, &quot;Wind&quot;]: print(f&quot;Gain(S, {a:8s}) = {gain(df, a):.3f}&quot;) sunny = df[df.Outlook == &quot;Sunny&quot;] print(&quot;inside Sunny:&quot;, {a: round(gain(sunny, a), 3) for a in [&quot;Temp&quot;, &quot;Humidity&quot;, &quot;Wind&quot;]})"/>
          <p:cNvSpPr txBox="1"/>
          <p:nvPr/>
        </p:nvSpPr>
        <p:spPr>
          <a:xfrm>
            <a:off x="1362456" y="2523744"/>
            <a:ext cx="9987991" cy="3462527"/>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gain</a:t>
            </a:r>
            <a:r>
              <a:rPr sz="2000" i="0">
                <a:solidFill>
                  <a:srgbClr val="AEB6BF"/>
                </a:solidFill>
                <a:latin typeface="Consolas"/>
              </a:rPr>
              <a:t>(</a:t>
            </a:r>
            <a:r>
              <a:rPr sz="2000" i="0">
                <a:solidFill>
                  <a:srgbClr val="E8EDF2"/>
                </a:solidFill>
                <a:latin typeface="Consolas"/>
              </a:rPr>
              <a:t>data</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attr</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rest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sum</a:t>
            </a:r>
            <a:r>
              <a:rPr sz="2000" i="0">
                <a:solidFill>
                  <a:srgbClr val="AEB6BF"/>
                </a:solidFill>
                <a:latin typeface="Consolas"/>
              </a:rPr>
              <a:t>(</a:t>
            </a:r>
            <a:r>
              <a:rPr sz="2000" i="0">
                <a:solidFill>
                  <a:srgbClr val="C39BD3"/>
                </a:solidFill>
                <a:latin typeface="Consolas"/>
              </a:rPr>
              <a:t>len</a:t>
            </a:r>
            <a:r>
              <a:rPr sz="2000" i="0">
                <a:solidFill>
                  <a:srgbClr val="AEB6BF"/>
                </a:solidFill>
                <a:latin typeface="Consolas"/>
              </a:rPr>
              <a:t>(</a:t>
            </a:r>
            <a:r>
              <a:rPr sz="2000" i="0">
                <a:solidFill>
                  <a:srgbClr val="E8EDF2"/>
                </a:solidFill>
                <a:latin typeface="Consolas"/>
              </a:rPr>
              <a:t>g</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len</a:t>
            </a:r>
            <a:r>
              <a:rPr sz="2000" i="0">
                <a:solidFill>
                  <a:srgbClr val="AEB6BF"/>
                </a:solidFill>
                <a:latin typeface="Consolas"/>
              </a:rPr>
              <a:t>(</a:t>
            </a:r>
            <a:r>
              <a:rPr sz="2000" i="0">
                <a:solidFill>
                  <a:srgbClr val="E8EDF2"/>
                </a:solidFill>
                <a:latin typeface="Consolas"/>
              </a:rPr>
              <a:t>data</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entropy</a:t>
            </a:r>
            <a:r>
              <a:rPr sz="2000" i="0">
                <a:solidFill>
                  <a:srgbClr val="AEB6BF"/>
                </a:solidFill>
                <a:latin typeface="Consolas"/>
              </a:rPr>
              <a:t>(</a:t>
            </a:r>
            <a:r>
              <a:rPr sz="2000" i="0">
                <a:solidFill>
                  <a:srgbClr val="E8EDF2"/>
                </a:solidFill>
                <a:latin typeface="Consolas"/>
              </a:rPr>
              <a:t>g</a:t>
            </a:r>
            <a:r>
              <a:rPr sz="2000" i="0">
                <a:solidFill>
                  <a:srgbClr val="AEB6BF"/>
                </a:solidFill>
                <a:latin typeface="Consolas"/>
              </a:rPr>
              <a:t>.</a:t>
            </a:r>
            <a:r>
              <a:rPr sz="2000" i="0">
                <a:solidFill>
                  <a:srgbClr val="E8EDF2"/>
                </a:solidFill>
                <a:latin typeface="Consolas"/>
              </a:rPr>
              <a:t>Play</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_</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g</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data</a:t>
            </a:r>
            <a:r>
              <a:rPr sz="2000" i="0">
                <a:solidFill>
                  <a:srgbClr val="AEB6BF"/>
                </a:solidFill>
                <a:latin typeface="Consolas"/>
              </a:rPr>
              <a:t>.</a:t>
            </a:r>
            <a:r>
              <a:rPr sz="2000" i="0">
                <a:solidFill>
                  <a:srgbClr val="E8EDF2"/>
                </a:solidFill>
                <a:latin typeface="Consolas"/>
              </a:rPr>
              <a:t>groupby</a:t>
            </a:r>
            <a:r>
              <a:rPr sz="2000" i="0">
                <a:solidFill>
                  <a:srgbClr val="AEB6BF"/>
                </a:solidFill>
                <a:latin typeface="Consolas"/>
              </a:rPr>
              <a:t>(</a:t>
            </a:r>
            <a:r>
              <a:rPr sz="2000" i="0">
                <a:solidFill>
                  <a:srgbClr val="E8EDF2"/>
                </a:solidFill>
                <a:latin typeface="Consolas"/>
              </a:rPr>
              <a:t>attr</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E8EDF2"/>
                </a:solidFill>
                <a:latin typeface="Consolas"/>
              </a:rPr>
              <a:t>entropy</a:t>
            </a:r>
            <a:r>
              <a:rPr sz="2000" i="0">
                <a:solidFill>
                  <a:srgbClr val="AEB6BF"/>
                </a:solidFill>
                <a:latin typeface="Consolas"/>
              </a:rPr>
              <a:t>(</a:t>
            </a:r>
            <a:r>
              <a:rPr sz="2000" i="0">
                <a:solidFill>
                  <a:srgbClr val="E8EDF2"/>
                </a:solidFill>
                <a:latin typeface="Consolas"/>
              </a:rPr>
              <a:t>data</a:t>
            </a:r>
            <a:r>
              <a:rPr sz="2000" i="0">
                <a:solidFill>
                  <a:srgbClr val="AEB6BF"/>
                </a:solidFill>
                <a:latin typeface="Consolas"/>
              </a:rPr>
              <a:t>.</a:t>
            </a:r>
            <a:r>
              <a:rPr sz="2000" i="0">
                <a:solidFill>
                  <a:srgbClr val="E8EDF2"/>
                </a:solidFill>
                <a:latin typeface="Consolas"/>
              </a:rPr>
              <a:t>Play</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rest</a:t>
            </a:r>
          </a:p>
          <a:p>
            <a:pPr>
              <a:lnSpc>
                <a:spcPct val="100000"/>
              </a:lnSpc>
              <a:spcAft>
                <a:spcPts val="0"/>
              </a:spcAft>
            </a:pPr>
            <a:r>
              <a:rPr sz="2000">
                <a:latin typeface="Consolas"/>
              </a:rPr>
              <a:t> </a:t>
            </a:r>
          </a:p>
          <a:p>
            <a:pPr>
              <a:lnSpc>
                <a:spcPct val="100000"/>
              </a:lnSpc>
              <a:spcAft>
                <a:spcPts val="0"/>
              </a:spcAft>
            </a:pPr>
            <a:r>
              <a:rPr sz="2000">
                <a:latin typeface="Consolas"/>
              </a:rPr>
              <a:t> </a:t>
            </a:r>
          </a:p>
          <a:p>
            <a:pPr>
              <a:lnSpc>
                <a:spcPct val="100000"/>
              </a:lnSpc>
              <a:spcAft>
                <a:spcPts val="0"/>
              </a:spcAft>
            </a:pP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a</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Outlook</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Temp</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Humidity</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Wind</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f</a:t>
            </a:r>
            <a:r>
              <a:rPr sz="2000" i="0">
                <a:solidFill>
                  <a:srgbClr val="7DCEA0"/>
                </a:solidFill>
                <a:latin typeface="Consolas"/>
              </a:rPr>
              <a:t>"</a:t>
            </a:r>
            <a:r>
              <a:rPr sz="2000" i="0">
                <a:solidFill>
                  <a:srgbClr val="7DCEA0"/>
                </a:solidFill>
                <a:latin typeface="Consolas"/>
              </a:rPr>
              <a:t>Gain(S, </a:t>
            </a:r>
            <a:r>
              <a:rPr sz="2000" i="0">
                <a:solidFill>
                  <a:srgbClr val="7DCEA0"/>
                </a:solidFill>
                <a:latin typeface="Consolas"/>
              </a:rPr>
              <a:t>{</a:t>
            </a:r>
            <a:r>
              <a:rPr sz="2000" i="0">
                <a:solidFill>
                  <a:srgbClr val="E8EDF2"/>
                </a:solidFill>
                <a:latin typeface="Consolas"/>
              </a:rPr>
              <a:t>a</a:t>
            </a:r>
            <a:r>
              <a:rPr sz="2000" i="0">
                <a:solidFill>
                  <a:srgbClr val="7DCEA0"/>
                </a:solidFill>
                <a:latin typeface="Consolas"/>
              </a:rPr>
              <a:t>:</a:t>
            </a:r>
            <a:r>
              <a:rPr sz="2000" i="0">
                <a:solidFill>
                  <a:srgbClr val="7DCEA0"/>
                </a:solidFill>
                <a:latin typeface="Consolas"/>
              </a:rPr>
              <a:t>8s</a:t>
            </a:r>
            <a:r>
              <a:rPr sz="2000" i="0">
                <a:solidFill>
                  <a:srgbClr val="7DCEA0"/>
                </a:solidFill>
                <a:latin typeface="Consolas"/>
              </a:rPr>
              <a:t>}</a:t>
            </a:r>
            <a:r>
              <a:rPr sz="2000" i="0">
                <a:solidFill>
                  <a:srgbClr val="7DCEA0"/>
                </a:solidFill>
                <a:latin typeface="Consolas"/>
              </a:rPr>
              <a:t>) = </a:t>
            </a:r>
            <a:r>
              <a:rPr sz="2000" i="0">
                <a:solidFill>
                  <a:srgbClr val="7DCEA0"/>
                </a:solidFill>
                <a:latin typeface="Consolas"/>
              </a:rPr>
              <a:t>{</a:t>
            </a:r>
            <a:r>
              <a:rPr sz="2000" i="0">
                <a:solidFill>
                  <a:srgbClr val="E8EDF2"/>
                </a:solidFill>
                <a:latin typeface="Consolas"/>
              </a:rPr>
              <a:t>gain</a:t>
            </a:r>
            <a:r>
              <a:rPr sz="2000" i="0">
                <a:solidFill>
                  <a:srgbClr val="AEB6BF"/>
                </a:solidFill>
                <a:latin typeface="Consolas"/>
              </a:rPr>
              <a:t>(</a:t>
            </a:r>
            <a:r>
              <a:rPr sz="2000" i="0">
                <a:solidFill>
                  <a:srgbClr val="E8EDF2"/>
                </a:solidFill>
                <a:latin typeface="Consolas"/>
              </a:rPr>
              <a:t>df</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a</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.3f</a:t>
            </a:r>
            <a:r>
              <a:rPr sz="2000" i="0">
                <a:solidFill>
                  <a:srgbClr val="7DCEA0"/>
                </a:solidFill>
                <a:latin typeface="Consolas"/>
              </a:rPr>
              <a:t>}</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sunny</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df</a:t>
            </a:r>
            <a:r>
              <a:rPr sz="2000" i="0">
                <a:solidFill>
                  <a:srgbClr val="AEB6BF"/>
                </a:solidFill>
                <a:latin typeface="Consolas"/>
              </a:rPr>
              <a:t>[</a:t>
            </a:r>
            <a:r>
              <a:rPr sz="2000" i="0">
                <a:solidFill>
                  <a:srgbClr val="E8EDF2"/>
                </a:solidFill>
                <a:latin typeface="Consolas"/>
              </a:rPr>
              <a:t>df</a:t>
            </a:r>
            <a:r>
              <a:rPr sz="2000" i="0">
                <a:solidFill>
                  <a:srgbClr val="AEB6BF"/>
                </a:solidFill>
                <a:latin typeface="Consolas"/>
              </a:rPr>
              <a:t>.</a:t>
            </a:r>
            <a:r>
              <a:rPr sz="2000" i="0">
                <a:solidFill>
                  <a:srgbClr val="E8EDF2"/>
                </a:solidFill>
                <a:latin typeface="Consolas"/>
              </a:rPr>
              <a:t>Outlook</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Sunny</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inside Sunny:</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a</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round</a:t>
            </a:r>
            <a:r>
              <a:rPr sz="2000" i="0">
                <a:solidFill>
                  <a:srgbClr val="AEB6BF"/>
                </a:solidFill>
                <a:latin typeface="Consolas"/>
              </a:rPr>
              <a:t>(</a:t>
            </a:r>
            <a:r>
              <a:rPr sz="2000" i="0">
                <a:solidFill>
                  <a:srgbClr val="E8EDF2"/>
                </a:solidFill>
                <a:latin typeface="Consolas"/>
              </a:rPr>
              <a:t>gain</a:t>
            </a:r>
            <a:r>
              <a:rPr sz="2000" i="0">
                <a:solidFill>
                  <a:srgbClr val="AEB6BF"/>
                </a:solidFill>
                <a:latin typeface="Consolas"/>
              </a:rPr>
              <a:t>(</a:t>
            </a:r>
            <a:r>
              <a:rPr sz="2000" i="0">
                <a:solidFill>
                  <a:srgbClr val="E8EDF2"/>
                </a:solidFill>
                <a:latin typeface="Consolas"/>
              </a:rPr>
              <a:t>sunny</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a</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3</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a</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Temp</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Humidity</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Wind</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p:txBody>
      </p:sp>
      <p:sp>
        <p:nvSpPr>
          <p:cNvPr id="15" name="!!code-num"/>
          <p:cNvSpPr txBox="1"/>
          <p:nvPr/>
        </p:nvSpPr>
        <p:spPr>
          <a:xfrm>
            <a:off x="768096" y="2523744"/>
            <a:ext cx="393192" cy="34625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25</a:t>
            </a:r>
          </a:p>
          <a:p>
            <a:pPr algn="r">
              <a:lnSpc>
                <a:spcPct val="100000"/>
              </a:lnSpc>
            </a:pPr>
            <a:r>
              <a:rPr sz="2000">
                <a:solidFill>
                  <a:srgbClr val="4F5D6A"/>
                </a:solidFill>
                <a:latin typeface="Consolas"/>
              </a:rPr>
              <a:t>26</a:t>
            </a:r>
          </a:p>
          <a:p>
            <a:pPr algn="r">
              <a:lnSpc>
                <a:spcPct val="100000"/>
              </a:lnSpc>
            </a:pPr>
            <a:r>
              <a:rPr sz="2000">
                <a:solidFill>
                  <a:srgbClr val="4F5D6A"/>
                </a:solidFill>
                <a:latin typeface="Consolas"/>
              </a:rPr>
              <a:t>27</a:t>
            </a:r>
          </a:p>
          <a:p>
            <a:pPr algn="r">
              <a:lnSpc>
                <a:spcPct val="100000"/>
              </a:lnSpc>
            </a:pPr>
            <a:r>
              <a:rPr sz="2000">
                <a:solidFill>
                  <a:srgbClr val="4F5D6A"/>
                </a:solidFill>
                <a:latin typeface="Consolas"/>
              </a:rPr>
              <a:t>28</a:t>
            </a:r>
          </a:p>
          <a:p>
            <a:pPr algn="r">
              <a:lnSpc>
                <a:spcPct val="100000"/>
              </a:lnSpc>
            </a:pPr>
            <a:r>
              <a:rPr sz="2000">
                <a:solidFill>
                  <a:srgbClr val="4F5D6A"/>
                </a:solidFill>
                <a:latin typeface="Consolas"/>
              </a:rPr>
              <a:t>29</a:t>
            </a:r>
          </a:p>
          <a:p>
            <a:pPr algn="r">
              <a:lnSpc>
                <a:spcPct val="100000"/>
              </a:lnSpc>
            </a:pPr>
            <a:r>
              <a:rPr sz="2000">
                <a:solidFill>
                  <a:srgbClr val="4F5D6A"/>
                </a:solidFill>
                <a:latin typeface="Consolas"/>
              </a:rPr>
              <a:t>30</a:t>
            </a:r>
          </a:p>
          <a:p>
            <a:pPr algn="r">
              <a:lnSpc>
                <a:spcPct val="100000"/>
              </a:lnSpc>
            </a:pPr>
            <a:r>
              <a:rPr sz="2000">
                <a:solidFill>
                  <a:srgbClr val="4F5D6A"/>
                </a:solidFill>
                <a:latin typeface="Consolas"/>
              </a:rPr>
              <a:t>31</a:t>
            </a:r>
          </a:p>
          <a:p>
            <a:pPr algn="r">
              <a:lnSpc>
                <a:spcPct val="100000"/>
              </a:lnSpc>
            </a:pPr>
            <a:r>
              <a:rPr sz="2000">
                <a:solidFill>
                  <a:srgbClr val="4F5D6A"/>
                </a:solidFill>
                <a:latin typeface="Consolas"/>
              </a:rPr>
              <a:t>32</a:t>
            </a:r>
          </a:p>
          <a:p>
            <a:pPr algn="r">
              <a:lnSpc>
                <a:spcPct val="100000"/>
              </a:lnSpc>
            </a:pPr>
            <a:r>
              <a:rPr sz="2000">
                <a:solidFill>
                  <a:srgbClr val="4F5D6A"/>
                </a:solidFill>
                <a:latin typeface="Consolas"/>
              </a:rPr>
              <a:t>33</a:t>
            </a:r>
          </a:p>
          <a:p>
            <a:pPr algn="r">
              <a:lnSpc>
                <a:spcPct val="100000"/>
              </a:lnSpc>
            </a:pPr>
            <a:r>
              <a:rPr sz="2000">
                <a:solidFill>
                  <a:srgbClr val="4F5D6A"/>
                </a:solidFill>
                <a:latin typeface="Consolas"/>
              </a:rPr>
              <a:t>34</a:t>
            </a:r>
          </a:p>
          <a:p>
            <a:pPr algn="r">
              <a:lnSpc>
                <a:spcPct val="100000"/>
              </a:lnSpc>
            </a:pPr>
            <a:r>
              <a:rPr sz="2000">
                <a:solidFill>
                  <a:srgbClr val="4F5D6A"/>
                </a:solidFill>
                <a:latin typeface="Consolas"/>
              </a:rPr>
              <a:t>35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95110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ID3 by Hand, Then Pruning by Cross-Validation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74     </a:t>
            </a:r>
            <a:fld id="{41A4FB3A-477D-4987-AAE5-D4D7E00905A1}" type="slidenum">
              <a:rPr lang="en-GB" sz="1000">
                <a:solidFill>
                  <a:srgbClr val="8795A1"/>
                </a:solidFill>
                <a:latin typeface="Segoe UI"/>
              </a:rPr>
              <a:t>31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Noisy data: a tree grown without limit, then pruned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194304"/>
          </a:xfrm>
          <a:prstGeom prst="roundRect">
            <a:avLst>
              <a:gd name="adj" fmla="val 286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code/ch09_id3_hand_pruning_cross.py</a:t>
            </a:r>
          </a:p>
        </p:txBody>
      </p:sp>
      <p:sp>
        <p:nvSpPr>
          <p:cNvPr id="14" name="!!code-text" descr="# --- 2. noisy data: a tree grown without limit, then pruned ------------- X, y = make_classification(n_samples=1500, n_features=10, n_informative=4, flip_y=0.15, random_state=4) # 15% labels flipped X_tr, X_te, y_tr, y_te = train_test_split(X, y, test_size=0.5, random_state=0) full = DecisionTreeClassifier(criterion=&quot;entropy&quot;, random_state=0) full.fit(X_tr, y_tr) print(f&quot;unpruned: {full.tree_.node_count:3d} nodes, &quot; f&quot;train {full.score(X_tr, y_tr):.3f}, &quot; f&quot;test {full.score(X_te, y_te):.3f}&quot;)"/>
          <p:cNvSpPr txBox="1"/>
          <p:nvPr/>
        </p:nvSpPr>
        <p:spPr>
          <a:xfrm>
            <a:off x="1362456" y="2523744"/>
            <a:ext cx="9987991" cy="2700528"/>
          </a:xfrm>
          <a:prstGeom prst="rect">
            <a:avLst/>
          </a:prstGeom>
          <a:noFill/>
        </p:spPr>
        <p:txBody>
          <a:bodyPr wrap="none" anchor="t" lIns="0" rIns="0" tIns="0" bIns="0">
            <a:noAutofit/>
          </a:bodyPr>
          <a:lstStyle/>
          <a:p>
            <a:pPr>
              <a:lnSpc>
                <a:spcPct val="100000"/>
              </a:lnSpc>
              <a:spcAft>
                <a:spcPts val="0"/>
              </a:spcAft>
            </a:pPr>
            <a:r>
              <a:rPr sz="1700" i="1">
                <a:solidFill>
                  <a:srgbClr val="8795A1"/>
                </a:solidFill>
                <a:latin typeface="Consolas"/>
              </a:rPr>
              <a:t># --- 2. noisy data: a tree grown without limit, then pruned -------------</a:t>
            </a:r>
          </a:p>
          <a:p>
            <a:pPr>
              <a:lnSpc>
                <a:spcPct val="100000"/>
              </a:lnSpc>
              <a:spcAft>
                <a:spcPts val="0"/>
              </a:spcAft>
            </a:pPr>
            <a:r>
              <a:rPr sz="1700" i="0">
                <a:solidFill>
                  <a:srgbClr val="E8EDF2"/>
                </a:solidFill>
                <a:latin typeface="Consolas"/>
              </a:rPr>
              <a:t>X</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y</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make_classification</a:t>
            </a:r>
            <a:r>
              <a:rPr sz="1700" i="0">
                <a:solidFill>
                  <a:srgbClr val="AEB6BF"/>
                </a:solidFill>
                <a:latin typeface="Consolas"/>
              </a:rPr>
              <a:t>(</a:t>
            </a:r>
            <a:r>
              <a:rPr sz="1700" i="0">
                <a:solidFill>
                  <a:srgbClr val="E8EDF2"/>
                </a:solidFill>
                <a:latin typeface="Consolas"/>
              </a:rPr>
              <a:t>n_samples</a:t>
            </a:r>
            <a:r>
              <a:rPr sz="1700" i="0">
                <a:solidFill>
                  <a:srgbClr val="AEB6BF"/>
                </a:solidFill>
                <a:latin typeface="Consolas"/>
              </a:rPr>
              <a:t>=</a:t>
            </a:r>
            <a:r>
              <a:rPr sz="1700" i="0">
                <a:solidFill>
                  <a:srgbClr val="F7DC6F"/>
                </a:solidFill>
                <a:latin typeface="Consolas"/>
              </a:rPr>
              <a:t>1500</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n_features</a:t>
            </a:r>
            <a:r>
              <a:rPr sz="1700" i="0">
                <a:solidFill>
                  <a:srgbClr val="AEB6BF"/>
                </a:solidFill>
                <a:latin typeface="Consolas"/>
              </a:rPr>
              <a:t>=</a:t>
            </a:r>
            <a:r>
              <a:rPr sz="1700" i="0">
                <a:solidFill>
                  <a:srgbClr val="F7DC6F"/>
                </a:solidFill>
                <a:latin typeface="Consolas"/>
              </a:rPr>
              <a:t>10</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n_informative</a:t>
            </a:r>
            <a:r>
              <a:rPr sz="1700" i="0">
                <a:solidFill>
                  <a:srgbClr val="AEB6BF"/>
                </a:solidFill>
                <a:latin typeface="Consolas"/>
              </a:rPr>
              <a:t>=</a:t>
            </a:r>
            <a:r>
              <a:rPr sz="1700" i="0">
                <a:solidFill>
                  <a:srgbClr val="F7DC6F"/>
                </a:solidFill>
                <a:latin typeface="Consolas"/>
              </a:rPr>
              <a:t>4</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flip_y</a:t>
            </a:r>
            <a:r>
              <a:rPr sz="1700" i="0">
                <a:solidFill>
                  <a:srgbClr val="AEB6BF"/>
                </a:solidFill>
                <a:latin typeface="Consolas"/>
              </a:rPr>
              <a:t>=</a:t>
            </a:r>
            <a:r>
              <a:rPr sz="1700" i="0">
                <a:solidFill>
                  <a:srgbClr val="F7DC6F"/>
                </a:solidFill>
                <a:latin typeface="Consolas"/>
              </a:rPr>
              <a:t>0.15</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random_state</a:t>
            </a:r>
            <a:r>
              <a:rPr sz="1700" i="0">
                <a:solidFill>
                  <a:srgbClr val="AEB6BF"/>
                </a:solidFill>
                <a:latin typeface="Consolas"/>
              </a:rPr>
              <a:t>=</a:t>
            </a:r>
            <a:r>
              <a:rPr sz="1700" i="0">
                <a:solidFill>
                  <a:srgbClr val="F7DC6F"/>
                </a:solidFill>
                <a:latin typeface="Consolas"/>
              </a:rPr>
              <a:t>4</a:t>
            </a:r>
            <a:r>
              <a:rPr sz="1700" i="0">
                <a:solidFill>
                  <a:srgbClr val="AEB6BF"/>
                </a:solidFill>
                <a:latin typeface="Consolas"/>
              </a:rPr>
              <a:t>)</a:t>
            </a:r>
            <a:r>
              <a:rPr sz="1700" i="0">
                <a:solidFill>
                  <a:srgbClr val="E8EDF2"/>
                </a:solidFill>
                <a:latin typeface="Consolas"/>
              </a:rPr>
              <a:t>  </a:t>
            </a:r>
            <a:r>
              <a:rPr sz="1700" i="1">
                <a:solidFill>
                  <a:srgbClr val="8795A1"/>
                </a:solidFill>
                <a:latin typeface="Consolas"/>
              </a:rPr>
              <a:t># 15% labels flipped</a:t>
            </a:r>
          </a:p>
          <a:p>
            <a:pPr>
              <a:lnSpc>
                <a:spcPct val="100000"/>
              </a:lnSpc>
              <a:spcAft>
                <a:spcPts val="0"/>
              </a:spcAft>
            </a:pPr>
            <a:r>
              <a:rPr sz="1700" i="0">
                <a:solidFill>
                  <a:srgbClr val="E8EDF2"/>
                </a:solidFill>
                <a:latin typeface="Consolas"/>
              </a:rPr>
              <a:t>X_tr</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X_te</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y_tr</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y_te</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train_test_split</a:t>
            </a:r>
            <a:r>
              <a:rPr sz="1700" i="0">
                <a:solidFill>
                  <a:srgbClr val="AEB6BF"/>
                </a:solidFill>
                <a:latin typeface="Consolas"/>
              </a:rPr>
              <a:t>(</a:t>
            </a:r>
            <a:r>
              <a:rPr sz="1700" i="0">
                <a:solidFill>
                  <a:srgbClr val="E8EDF2"/>
                </a:solidFill>
                <a:latin typeface="Consolas"/>
              </a:rPr>
              <a:t>X</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y</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test_size</a:t>
            </a:r>
            <a:r>
              <a:rPr sz="1700" i="0">
                <a:solidFill>
                  <a:srgbClr val="AEB6BF"/>
                </a:solidFill>
                <a:latin typeface="Consolas"/>
              </a:rPr>
              <a:t>=</a:t>
            </a:r>
            <a:r>
              <a:rPr sz="1700" i="0">
                <a:solidFill>
                  <a:srgbClr val="F7DC6F"/>
                </a:solidFill>
                <a:latin typeface="Consolas"/>
              </a:rPr>
              <a:t>0.5</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random_state</a:t>
            </a:r>
            <a:r>
              <a:rPr sz="1700" i="0">
                <a:solidFill>
                  <a:srgbClr val="AEB6BF"/>
                </a:solidFill>
                <a:latin typeface="Consolas"/>
              </a:rPr>
              <a:t>=</a:t>
            </a:r>
            <a:r>
              <a:rPr sz="1700" i="0">
                <a:solidFill>
                  <a:srgbClr val="F7DC6F"/>
                </a:solidFill>
                <a:latin typeface="Consolas"/>
              </a:rPr>
              <a:t>0</a:t>
            </a:r>
            <a:r>
              <a:rPr sz="1700" i="0">
                <a:solidFill>
                  <a:srgbClr val="AEB6BF"/>
                </a:solidFill>
                <a:latin typeface="Consolas"/>
              </a:rPr>
              <a:t>)</a:t>
            </a:r>
          </a:p>
          <a:p>
            <a:pPr>
              <a:lnSpc>
                <a:spcPct val="100000"/>
              </a:lnSpc>
              <a:spcAft>
                <a:spcPts val="0"/>
              </a:spcAft>
            </a:pPr>
            <a:r>
              <a:rPr sz="1700" i="0">
                <a:solidFill>
                  <a:srgbClr val="E8EDF2"/>
                </a:solidFill>
                <a:latin typeface="Consolas"/>
              </a:rPr>
              <a:t>full</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DecisionTreeClassifier</a:t>
            </a:r>
            <a:r>
              <a:rPr sz="1700" i="0">
                <a:solidFill>
                  <a:srgbClr val="AEB6BF"/>
                </a:solidFill>
                <a:latin typeface="Consolas"/>
              </a:rPr>
              <a:t>(</a:t>
            </a:r>
            <a:r>
              <a:rPr sz="1700" i="0">
                <a:solidFill>
                  <a:srgbClr val="E8EDF2"/>
                </a:solidFill>
                <a:latin typeface="Consolas"/>
              </a:rPr>
              <a:t>criterion</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entropy</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random_state</a:t>
            </a:r>
            <a:r>
              <a:rPr sz="1700" i="0">
                <a:solidFill>
                  <a:srgbClr val="AEB6BF"/>
                </a:solidFill>
                <a:latin typeface="Consolas"/>
              </a:rPr>
              <a:t>=</a:t>
            </a:r>
            <a:r>
              <a:rPr sz="1700" i="0">
                <a:solidFill>
                  <a:srgbClr val="F7DC6F"/>
                </a:solidFill>
                <a:latin typeface="Consolas"/>
              </a:rPr>
              <a:t>0</a:t>
            </a:r>
            <a:r>
              <a:rPr sz="1700" i="0">
                <a:solidFill>
                  <a:srgbClr val="AEB6BF"/>
                </a:solidFill>
                <a:latin typeface="Consolas"/>
              </a:rPr>
              <a:t>)</a:t>
            </a:r>
          </a:p>
          <a:p>
            <a:pPr>
              <a:lnSpc>
                <a:spcPct val="100000"/>
              </a:lnSpc>
              <a:spcAft>
                <a:spcPts val="0"/>
              </a:spcAft>
            </a:pPr>
            <a:r>
              <a:rPr sz="1700" i="0">
                <a:solidFill>
                  <a:srgbClr val="E8EDF2"/>
                </a:solidFill>
                <a:latin typeface="Consolas"/>
              </a:rPr>
              <a:t>full</a:t>
            </a:r>
            <a:r>
              <a:rPr sz="1700" i="0">
                <a:solidFill>
                  <a:srgbClr val="AEB6BF"/>
                </a:solidFill>
                <a:latin typeface="Consolas"/>
              </a:rPr>
              <a:t>.</a:t>
            </a:r>
            <a:r>
              <a:rPr sz="1700" i="0">
                <a:solidFill>
                  <a:srgbClr val="E8EDF2"/>
                </a:solidFill>
                <a:latin typeface="Consolas"/>
              </a:rPr>
              <a:t>fit</a:t>
            </a:r>
            <a:r>
              <a:rPr sz="1700" i="0">
                <a:solidFill>
                  <a:srgbClr val="AEB6BF"/>
                </a:solidFill>
                <a:latin typeface="Consolas"/>
              </a:rPr>
              <a:t>(</a:t>
            </a:r>
            <a:r>
              <a:rPr sz="1700" i="0">
                <a:solidFill>
                  <a:srgbClr val="E8EDF2"/>
                </a:solidFill>
                <a:latin typeface="Consolas"/>
              </a:rPr>
              <a:t>X_tr</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y_tr</a:t>
            </a:r>
            <a:r>
              <a:rPr sz="1700" i="0">
                <a:solidFill>
                  <a:srgbClr val="AEB6BF"/>
                </a:solidFill>
                <a:latin typeface="Consolas"/>
              </a:rPr>
              <a:t>)</a:t>
            </a:r>
          </a:p>
          <a:p>
            <a:pPr>
              <a:lnSpc>
                <a:spcPct val="100000"/>
              </a:lnSpc>
              <a:spcAft>
                <a:spcPts val="0"/>
              </a:spcAft>
            </a:pP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f</a:t>
            </a:r>
            <a:r>
              <a:rPr sz="1700" i="0">
                <a:solidFill>
                  <a:srgbClr val="7DCEA0"/>
                </a:solidFill>
                <a:latin typeface="Consolas"/>
              </a:rPr>
              <a:t>"</a:t>
            </a:r>
            <a:r>
              <a:rPr sz="1700" i="0">
                <a:solidFill>
                  <a:srgbClr val="7DCEA0"/>
                </a:solidFill>
                <a:latin typeface="Consolas"/>
              </a:rPr>
              <a:t>unpruned: </a:t>
            </a:r>
            <a:r>
              <a:rPr sz="1700" i="0">
                <a:solidFill>
                  <a:srgbClr val="7DCEA0"/>
                </a:solidFill>
                <a:latin typeface="Consolas"/>
              </a:rPr>
              <a:t>{</a:t>
            </a:r>
            <a:r>
              <a:rPr sz="1700" i="0">
                <a:solidFill>
                  <a:srgbClr val="E8EDF2"/>
                </a:solidFill>
                <a:latin typeface="Consolas"/>
              </a:rPr>
              <a:t>full</a:t>
            </a:r>
            <a:r>
              <a:rPr sz="1700" i="0">
                <a:solidFill>
                  <a:srgbClr val="AEB6BF"/>
                </a:solidFill>
                <a:latin typeface="Consolas"/>
              </a:rPr>
              <a:t>.</a:t>
            </a:r>
            <a:r>
              <a:rPr sz="1700" i="0">
                <a:solidFill>
                  <a:srgbClr val="E8EDF2"/>
                </a:solidFill>
                <a:latin typeface="Consolas"/>
              </a:rPr>
              <a:t>tree_</a:t>
            </a:r>
            <a:r>
              <a:rPr sz="1700" i="0">
                <a:solidFill>
                  <a:srgbClr val="AEB6BF"/>
                </a:solidFill>
                <a:latin typeface="Consolas"/>
              </a:rPr>
              <a:t>.</a:t>
            </a:r>
            <a:r>
              <a:rPr sz="1700" i="0">
                <a:solidFill>
                  <a:srgbClr val="E8EDF2"/>
                </a:solidFill>
                <a:latin typeface="Consolas"/>
              </a:rPr>
              <a:t>node_count</a:t>
            </a:r>
            <a:r>
              <a:rPr sz="1700" i="0">
                <a:solidFill>
                  <a:srgbClr val="7DCEA0"/>
                </a:solidFill>
                <a:latin typeface="Consolas"/>
              </a:rPr>
              <a:t>:</a:t>
            </a:r>
            <a:r>
              <a:rPr sz="1700" i="0">
                <a:solidFill>
                  <a:srgbClr val="7DCEA0"/>
                </a:solidFill>
                <a:latin typeface="Consolas"/>
              </a:rPr>
              <a:t>3d</a:t>
            </a:r>
            <a:r>
              <a:rPr sz="1700" i="0">
                <a:solidFill>
                  <a:srgbClr val="7DCEA0"/>
                </a:solidFill>
                <a:latin typeface="Consolas"/>
              </a:rPr>
              <a:t>}</a:t>
            </a:r>
            <a:r>
              <a:rPr sz="1700" i="0">
                <a:solidFill>
                  <a:srgbClr val="7DCEA0"/>
                </a:solidFill>
                <a:latin typeface="Consolas"/>
              </a:rPr>
              <a:t> nodes, </a:t>
            </a:r>
            <a:r>
              <a:rPr sz="1700" i="0">
                <a:solidFill>
                  <a:srgbClr val="7DCEA0"/>
                </a:solidFill>
                <a:latin typeface="Consolas"/>
              </a:rPr>
              <a:t>"</a:t>
            </a:r>
          </a:p>
          <a:p>
            <a:pPr>
              <a:lnSpc>
                <a:spcPct val="100000"/>
              </a:lnSpc>
              <a:spcAft>
                <a:spcPts val="0"/>
              </a:spcAft>
            </a:pPr>
            <a:r>
              <a:rPr sz="1700" i="0">
                <a:solidFill>
                  <a:srgbClr val="E8EDF2"/>
                </a:solidFill>
                <a:latin typeface="Consolas"/>
              </a:rPr>
              <a:t>      </a:t>
            </a:r>
            <a:r>
              <a:rPr sz="1700" i="0">
                <a:solidFill>
                  <a:srgbClr val="7DCEA0"/>
                </a:solidFill>
                <a:latin typeface="Consolas"/>
              </a:rPr>
              <a:t>f</a:t>
            </a:r>
            <a:r>
              <a:rPr sz="1700" i="0">
                <a:solidFill>
                  <a:srgbClr val="7DCEA0"/>
                </a:solidFill>
                <a:latin typeface="Consolas"/>
              </a:rPr>
              <a:t>"</a:t>
            </a:r>
            <a:r>
              <a:rPr sz="1700" i="0">
                <a:solidFill>
                  <a:srgbClr val="7DCEA0"/>
                </a:solidFill>
                <a:latin typeface="Consolas"/>
              </a:rPr>
              <a:t>train </a:t>
            </a:r>
            <a:r>
              <a:rPr sz="1700" i="0">
                <a:solidFill>
                  <a:srgbClr val="7DCEA0"/>
                </a:solidFill>
                <a:latin typeface="Consolas"/>
              </a:rPr>
              <a:t>{</a:t>
            </a:r>
            <a:r>
              <a:rPr sz="1700" i="0">
                <a:solidFill>
                  <a:srgbClr val="E8EDF2"/>
                </a:solidFill>
                <a:latin typeface="Consolas"/>
              </a:rPr>
              <a:t>full</a:t>
            </a:r>
            <a:r>
              <a:rPr sz="1700" i="0">
                <a:solidFill>
                  <a:srgbClr val="AEB6BF"/>
                </a:solidFill>
                <a:latin typeface="Consolas"/>
              </a:rPr>
              <a:t>.</a:t>
            </a:r>
            <a:r>
              <a:rPr sz="1700" i="0">
                <a:solidFill>
                  <a:srgbClr val="E8EDF2"/>
                </a:solidFill>
                <a:latin typeface="Consolas"/>
              </a:rPr>
              <a:t>score</a:t>
            </a:r>
            <a:r>
              <a:rPr sz="1700" i="0">
                <a:solidFill>
                  <a:srgbClr val="AEB6BF"/>
                </a:solidFill>
                <a:latin typeface="Consolas"/>
              </a:rPr>
              <a:t>(</a:t>
            </a:r>
            <a:r>
              <a:rPr sz="1700" i="0">
                <a:solidFill>
                  <a:srgbClr val="E8EDF2"/>
                </a:solidFill>
                <a:latin typeface="Consolas"/>
              </a:rPr>
              <a:t>X_tr</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y_tr</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.3f</a:t>
            </a:r>
            <a:r>
              <a:rPr sz="1700" i="0">
                <a:solidFill>
                  <a:srgbClr val="7DCEA0"/>
                </a:solidFill>
                <a:latin typeface="Consolas"/>
              </a:rPr>
              <a:t>}</a:t>
            </a:r>
            <a:r>
              <a:rPr sz="1700" i="0">
                <a:solidFill>
                  <a:srgbClr val="7DCEA0"/>
                </a:solidFill>
                <a:latin typeface="Consolas"/>
              </a:rPr>
              <a:t>, </a:t>
            </a:r>
            <a:r>
              <a:rPr sz="1700" i="0">
                <a:solidFill>
                  <a:srgbClr val="7DCEA0"/>
                </a:solidFill>
                <a:latin typeface="Consolas"/>
              </a:rPr>
              <a:t>"</a:t>
            </a:r>
          </a:p>
          <a:p>
            <a:pPr>
              <a:lnSpc>
                <a:spcPct val="100000"/>
              </a:lnSpc>
              <a:spcAft>
                <a:spcPts val="0"/>
              </a:spcAft>
            </a:pPr>
            <a:r>
              <a:rPr sz="1700" i="0">
                <a:solidFill>
                  <a:srgbClr val="E8EDF2"/>
                </a:solidFill>
                <a:latin typeface="Consolas"/>
              </a:rPr>
              <a:t>      </a:t>
            </a:r>
            <a:r>
              <a:rPr sz="1700" i="0">
                <a:solidFill>
                  <a:srgbClr val="7DCEA0"/>
                </a:solidFill>
                <a:latin typeface="Consolas"/>
              </a:rPr>
              <a:t>f</a:t>
            </a:r>
            <a:r>
              <a:rPr sz="1700" i="0">
                <a:solidFill>
                  <a:srgbClr val="7DCEA0"/>
                </a:solidFill>
                <a:latin typeface="Consolas"/>
              </a:rPr>
              <a:t>"</a:t>
            </a:r>
            <a:r>
              <a:rPr sz="1700" i="0">
                <a:solidFill>
                  <a:srgbClr val="7DCEA0"/>
                </a:solidFill>
                <a:latin typeface="Consolas"/>
              </a:rPr>
              <a:t>test </a:t>
            </a:r>
            <a:r>
              <a:rPr sz="1700" i="0">
                <a:solidFill>
                  <a:srgbClr val="7DCEA0"/>
                </a:solidFill>
                <a:latin typeface="Consolas"/>
              </a:rPr>
              <a:t>{</a:t>
            </a:r>
            <a:r>
              <a:rPr sz="1700" i="0">
                <a:solidFill>
                  <a:srgbClr val="E8EDF2"/>
                </a:solidFill>
                <a:latin typeface="Consolas"/>
              </a:rPr>
              <a:t>full</a:t>
            </a:r>
            <a:r>
              <a:rPr sz="1700" i="0">
                <a:solidFill>
                  <a:srgbClr val="AEB6BF"/>
                </a:solidFill>
                <a:latin typeface="Consolas"/>
              </a:rPr>
              <a:t>.</a:t>
            </a:r>
            <a:r>
              <a:rPr sz="1700" i="0">
                <a:solidFill>
                  <a:srgbClr val="E8EDF2"/>
                </a:solidFill>
                <a:latin typeface="Consolas"/>
              </a:rPr>
              <a:t>score</a:t>
            </a:r>
            <a:r>
              <a:rPr sz="1700" i="0">
                <a:solidFill>
                  <a:srgbClr val="AEB6BF"/>
                </a:solidFill>
                <a:latin typeface="Consolas"/>
              </a:rPr>
              <a:t>(</a:t>
            </a:r>
            <a:r>
              <a:rPr sz="1700" i="0">
                <a:solidFill>
                  <a:srgbClr val="E8EDF2"/>
                </a:solidFill>
                <a:latin typeface="Consolas"/>
              </a:rPr>
              <a:t>X_te</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y_te</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.3f</a:t>
            </a:r>
            <a:r>
              <a:rPr sz="1700" i="0">
                <a:solidFill>
                  <a:srgbClr val="7DCEA0"/>
                </a:solidFill>
                <a:latin typeface="Consolas"/>
              </a:rPr>
              <a:t>}</a:t>
            </a:r>
            <a:r>
              <a:rPr sz="1700" i="0">
                <a:solidFill>
                  <a:srgbClr val="7DCEA0"/>
                </a:solidFill>
                <a:latin typeface="Consolas"/>
              </a:rPr>
              <a:t>"</a:t>
            </a:r>
            <a:r>
              <a:rPr sz="1700" i="0">
                <a:solidFill>
                  <a:srgbClr val="AEB6BF"/>
                </a:solidFill>
                <a:latin typeface="Consolas"/>
              </a:rPr>
              <a:t>)</a:t>
            </a:r>
          </a:p>
        </p:txBody>
      </p:sp>
      <p:sp>
        <p:nvSpPr>
          <p:cNvPr id="15" name="!!code-num"/>
          <p:cNvSpPr txBox="1"/>
          <p:nvPr/>
        </p:nvSpPr>
        <p:spPr>
          <a:xfrm>
            <a:off x="768096" y="2523744"/>
            <a:ext cx="393192" cy="2700528"/>
          </a:xfrm>
          <a:prstGeom prst="rect">
            <a:avLst/>
          </a:prstGeom>
          <a:noFill/>
        </p:spPr>
        <p:txBody>
          <a:bodyPr wrap="none" anchor="t" lIns="0" rIns="0" tIns="0" bIns="0">
            <a:noAutofit/>
          </a:bodyPr>
          <a:lstStyle/>
          <a:p>
            <a:pPr algn="r">
              <a:lnSpc>
                <a:spcPct val="100000"/>
              </a:lnSpc>
            </a:pPr>
            <a:r>
              <a:rPr sz="1700">
                <a:solidFill>
                  <a:srgbClr val="4F5D6A"/>
                </a:solidFill>
                <a:latin typeface="Consolas"/>
              </a:rPr>
              <a:t>37</a:t>
            </a:r>
          </a:p>
          <a:p>
            <a:pPr algn="r">
              <a:lnSpc>
                <a:spcPct val="100000"/>
              </a:lnSpc>
            </a:pPr>
            <a:r>
              <a:rPr sz="1700">
                <a:solidFill>
                  <a:srgbClr val="4F5D6A"/>
                </a:solidFill>
                <a:latin typeface="Consolas"/>
              </a:rPr>
              <a:t>38</a:t>
            </a:r>
          </a:p>
          <a:p>
            <a:pPr algn="r">
              <a:lnSpc>
                <a:spcPct val="100000"/>
              </a:lnSpc>
            </a:pPr>
            <a:r>
              <a:rPr sz="1700">
                <a:solidFill>
                  <a:srgbClr val="4F5D6A"/>
                </a:solidFill>
                <a:latin typeface="Consolas"/>
              </a:rPr>
              <a:t>39</a:t>
            </a:r>
          </a:p>
          <a:p>
            <a:pPr algn="r">
              <a:lnSpc>
                <a:spcPct val="100000"/>
              </a:lnSpc>
            </a:pPr>
            <a:r>
              <a:rPr sz="1700">
                <a:solidFill>
                  <a:srgbClr val="4F5D6A"/>
                </a:solidFill>
                <a:latin typeface="Consolas"/>
              </a:rPr>
              <a:t>40</a:t>
            </a:r>
          </a:p>
          <a:p>
            <a:pPr algn="r">
              <a:lnSpc>
                <a:spcPct val="100000"/>
              </a:lnSpc>
            </a:pPr>
            <a:r>
              <a:rPr sz="1700">
                <a:solidFill>
                  <a:srgbClr val="4F5D6A"/>
                </a:solidFill>
                <a:latin typeface="Consolas"/>
              </a:rPr>
              <a:t>41</a:t>
            </a:r>
          </a:p>
          <a:p>
            <a:pPr algn="r">
              <a:lnSpc>
                <a:spcPct val="100000"/>
              </a:lnSpc>
            </a:pPr>
            <a:r>
              <a:rPr sz="1700">
                <a:solidFill>
                  <a:srgbClr val="4F5D6A"/>
                </a:solidFill>
                <a:latin typeface="Consolas"/>
              </a:rPr>
              <a:t>42</a:t>
            </a:r>
          </a:p>
          <a:p>
            <a:pPr algn="r">
              <a:lnSpc>
                <a:spcPct val="100000"/>
              </a:lnSpc>
            </a:pPr>
            <a:r>
              <a:rPr sz="1700">
                <a:solidFill>
                  <a:srgbClr val="4F5D6A"/>
                </a:solidFill>
                <a:latin typeface="Consolas"/>
              </a:rPr>
              <a:t>43</a:t>
            </a:r>
          </a:p>
          <a:p>
            <a:pPr algn="r">
              <a:lnSpc>
                <a:spcPct val="100000"/>
              </a:lnSpc>
            </a:pPr>
            <a:r>
              <a:rPr sz="1700">
                <a:solidFill>
                  <a:srgbClr val="4F5D6A"/>
                </a:solidFill>
                <a:latin typeface="Consolas"/>
              </a:rPr>
              <a:t>44</a:t>
            </a:r>
          </a:p>
          <a:p>
            <a:pPr algn="r">
              <a:lnSpc>
                <a:spcPct val="100000"/>
              </a:lnSpc>
            </a:pPr>
            <a:r>
              <a:rPr sz="1700">
                <a:solidFill>
                  <a:srgbClr val="4F5D6A"/>
                </a:solidFill>
                <a:latin typeface="Consolas"/>
              </a:rPr>
              <a:t>45</a:t>
            </a:r>
          </a:p>
          <a:p>
            <a:pPr algn="r">
              <a:lnSpc>
                <a:spcPct val="100000"/>
              </a:lnSpc>
            </a:pPr>
            <a:r>
              <a:rPr sz="1700">
                <a:solidFill>
                  <a:srgbClr val="4F5D6A"/>
                </a:solidFill>
                <a:latin typeface="Consolas"/>
              </a:rPr>
              <a:t>46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21614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ID3 by Hand, Then Pruning by Cross-Validation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74     </a:t>
            </a:r>
            <a:fld id="{62A35494-1DE0-4F1B-A67C-1DA9B54D313D}" type="slidenum">
              <a:rPr lang="en-GB" sz="1000">
                <a:solidFill>
                  <a:srgbClr val="8795A1"/>
                </a:solidFill>
                <a:latin typeface="Segoe UI"/>
              </a:rPr>
              <a:t>32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Noisy data: a tree grown without limit, then pruned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453383"/>
          </a:xfrm>
          <a:prstGeom prst="roundRect">
            <a:avLst>
              <a:gd name="adj" fmla="val 264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code/ch09_id3_hand_pruning_cross.py</a:t>
            </a:r>
          </a:p>
        </p:txBody>
      </p:sp>
      <p:sp>
        <p:nvSpPr>
          <p:cNvPr id="14" name="!!code-text" descr="# cost-complexity pruning: choose alpha by 5-fold CV on the training data alphas = full.cost_complexity_pruning_path(X_tr, y_tr).ccp_alphas[:-1] cv = [cross_val_score(DecisionTreeClassifier(criterion=&quot;entropy&quot;, ccp_alpha=a, random_state=0), X_tr, y_tr, cv=5).mean() for a in alphas] best = alphas[int(np.argmax(cv))] pruned = DecisionTreeClassifier(criterion=&quot;entropy&quot;, ccp_alpha=best, random_state=0).fit(X_tr, y_tr) print(f&quot;pruned: {pruned.tree_.node_count:3d} nodes, &quot; f&quot;train {pruned.score(X_tr, y_tr):.3f}, &quot; f&quot;test {pruned.score(X_te, y_te):.3f} (alpha = {best:.4f})&quot;) print(export_text(pruned, max_depth=1))"/>
          <p:cNvSpPr txBox="1"/>
          <p:nvPr/>
        </p:nvSpPr>
        <p:spPr>
          <a:xfrm>
            <a:off x="1362456" y="2523744"/>
            <a:ext cx="9987991" cy="2959607"/>
          </a:xfrm>
          <a:prstGeom prst="rect">
            <a:avLst/>
          </a:prstGeom>
          <a:noFill/>
        </p:spPr>
        <p:txBody>
          <a:bodyPr wrap="none" anchor="t" lIns="0" rIns="0" tIns="0" bIns="0">
            <a:noAutofit/>
          </a:bodyPr>
          <a:lstStyle/>
          <a:p>
            <a:pPr>
              <a:lnSpc>
                <a:spcPct val="100000"/>
              </a:lnSpc>
              <a:spcAft>
                <a:spcPts val="0"/>
              </a:spcAft>
            </a:pPr>
            <a:r>
              <a:rPr sz="1700" i="1">
                <a:solidFill>
                  <a:srgbClr val="8795A1"/>
                </a:solidFill>
                <a:latin typeface="Consolas"/>
              </a:rPr>
              <a:t># cost-complexity pruning: choose alpha by 5-fold CV on the training data</a:t>
            </a:r>
          </a:p>
          <a:p>
            <a:pPr>
              <a:lnSpc>
                <a:spcPct val="100000"/>
              </a:lnSpc>
              <a:spcAft>
                <a:spcPts val="0"/>
              </a:spcAft>
            </a:pPr>
            <a:r>
              <a:rPr sz="1700" i="0">
                <a:solidFill>
                  <a:srgbClr val="E8EDF2"/>
                </a:solidFill>
                <a:latin typeface="Consolas"/>
              </a:rPr>
              <a:t>alphas</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full</a:t>
            </a:r>
            <a:r>
              <a:rPr sz="1700" i="0">
                <a:solidFill>
                  <a:srgbClr val="AEB6BF"/>
                </a:solidFill>
                <a:latin typeface="Consolas"/>
              </a:rPr>
              <a:t>.</a:t>
            </a:r>
            <a:r>
              <a:rPr sz="1700" i="0">
                <a:solidFill>
                  <a:srgbClr val="E8EDF2"/>
                </a:solidFill>
                <a:latin typeface="Consolas"/>
              </a:rPr>
              <a:t>cost_complexity_pruning_path</a:t>
            </a:r>
            <a:r>
              <a:rPr sz="1700" i="0">
                <a:solidFill>
                  <a:srgbClr val="AEB6BF"/>
                </a:solidFill>
                <a:latin typeface="Consolas"/>
              </a:rPr>
              <a:t>(</a:t>
            </a:r>
            <a:r>
              <a:rPr sz="1700" i="0">
                <a:solidFill>
                  <a:srgbClr val="E8EDF2"/>
                </a:solidFill>
                <a:latin typeface="Consolas"/>
              </a:rPr>
              <a:t>X_tr</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y_tr</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ccp_alphas</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F7DC6F"/>
                </a:solidFill>
                <a:latin typeface="Consolas"/>
              </a:rPr>
              <a:t>1</a:t>
            </a:r>
            <a:r>
              <a:rPr sz="1700" i="0">
                <a:solidFill>
                  <a:srgbClr val="AEB6BF"/>
                </a:solidFill>
                <a:latin typeface="Consolas"/>
              </a:rPr>
              <a:t>]</a:t>
            </a:r>
          </a:p>
          <a:p>
            <a:pPr>
              <a:lnSpc>
                <a:spcPct val="100000"/>
              </a:lnSpc>
              <a:spcAft>
                <a:spcPts val="0"/>
              </a:spcAft>
            </a:pPr>
            <a:r>
              <a:rPr sz="1700" i="0">
                <a:solidFill>
                  <a:srgbClr val="E8EDF2"/>
                </a:solidFill>
                <a:latin typeface="Consolas"/>
              </a:rPr>
              <a:t>cv</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cross_val_score</a:t>
            </a:r>
            <a:r>
              <a:rPr sz="1700" i="0">
                <a:solidFill>
                  <a:srgbClr val="AEB6BF"/>
                </a:solidFill>
                <a:latin typeface="Consolas"/>
              </a:rPr>
              <a:t>(</a:t>
            </a:r>
            <a:r>
              <a:rPr sz="1700" i="0">
                <a:solidFill>
                  <a:srgbClr val="E8EDF2"/>
                </a:solidFill>
                <a:latin typeface="Consolas"/>
              </a:rPr>
              <a:t>DecisionTreeClassifier</a:t>
            </a:r>
            <a:r>
              <a:rPr sz="1700" i="0">
                <a:solidFill>
                  <a:srgbClr val="AEB6BF"/>
                </a:solidFill>
                <a:latin typeface="Consolas"/>
              </a:rPr>
              <a:t>(</a:t>
            </a:r>
            <a:r>
              <a:rPr sz="1700" i="0">
                <a:solidFill>
                  <a:srgbClr val="E8EDF2"/>
                </a:solidFill>
                <a:latin typeface="Consolas"/>
              </a:rPr>
              <a:t>criterion</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entropy</a:t>
            </a:r>
            <a:r>
              <a:rPr sz="1700" i="0">
                <a:solidFill>
                  <a:srgbClr val="7DCEA0"/>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ccp_alpha</a:t>
            </a:r>
            <a:r>
              <a:rPr sz="1700" i="0">
                <a:solidFill>
                  <a:srgbClr val="AEB6BF"/>
                </a:solidFill>
                <a:latin typeface="Consolas"/>
              </a:rPr>
              <a:t>=</a:t>
            </a:r>
            <a:r>
              <a:rPr sz="1700" i="0">
                <a:solidFill>
                  <a:srgbClr val="E8EDF2"/>
                </a:solidFill>
                <a:latin typeface="Consolas"/>
              </a:rPr>
              <a:t>a</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random_state</a:t>
            </a:r>
            <a:r>
              <a:rPr sz="1700" i="0">
                <a:solidFill>
                  <a:srgbClr val="AEB6BF"/>
                </a:solidFill>
                <a:latin typeface="Consolas"/>
              </a:rPr>
              <a:t>=</a:t>
            </a:r>
            <a:r>
              <a:rPr sz="1700" i="0">
                <a:solidFill>
                  <a:srgbClr val="F7DC6F"/>
                </a:solidFill>
                <a:latin typeface="Consolas"/>
              </a:rPr>
              <a:t>0</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X_tr</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y_tr</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cv</a:t>
            </a:r>
            <a:r>
              <a:rPr sz="1700" i="0">
                <a:solidFill>
                  <a:srgbClr val="AEB6BF"/>
                </a:solidFill>
                <a:latin typeface="Consolas"/>
              </a:rPr>
              <a:t>=</a:t>
            </a:r>
            <a:r>
              <a:rPr sz="1700" i="0">
                <a:solidFill>
                  <a:srgbClr val="F7DC6F"/>
                </a:solidFill>
                <a:latin typeface="Consolas"/>
              </a:rPr>
              <a:t>5</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mean</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5DADE2"/>
                </a:solidFill>
                <a:latin typeface="Consolas"/>
              </a:rPr>
              <a:t>for</a:t>
            </a:r>
            <a:r>
              <a:rPr sz="1700" i="0">
                <a:solidFill>
                  <a:srgbClr val="E8EDF2"/>
                </a:solidFill>
                <a:latin typeface="Consolas"/>
              </a:rPr>
              <a:t> </a:t>
            </a:r>
            <a:r>
              <a:rPr sz="1700" i="0">
                <a:solidFill>
                  <a:srgbClr val="E8EDF2"/>
                </a:solidFill>
                <a:latin typeface="Consolas"/>
              </a:rPr>
              <a:t>a</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E8EDF2"/>
                </a:solidFill>
                <a:latin typeface="Consolas"/>
              </a:rPr>
              <a:t>alphas</a:t>
            </a:r>
            <a:r>
              <a:rPr sz="1700" i="0">
                <a:solidFill>
                  <a:srgbClr val="AEB6BF"/>
                </a:solidFill>
                <a:latin typeface="Consolas"/>
              </a:rPr>
              <a:t>]</a:t>
            </a:r>
          </a:p>
          <a:p>
            <a:pPr>
              <a:lnSpc>
                <a:spcPct val="100000"/>
              </a:lnSpc>
              <a:spcAft>
                <a:spcPts val="0"/>
              </a:spcAft>
            </a:pPr>
            <a:r>
              <a:rPr sz="1700" i="0">
                <a:solidFill>
                  <a:srgbClr val="E8EDF2"/>
                </a:solidFill>
                <a:latin typeface="Consolas"/>
              </a:rPr>
              <a:t>best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alphas</a:t>
            </a:r>
            <a:r>
              <a:rPr sz="1700" i="0">
                <a:solidFill>
                  <a:srgbClr val="AEB6BF"/>
                </a:solidFill>
                <a:latin typeface="Consolas"/>
              </a:rPr>
              <a:t>[</a:t>
            </a:r>
            <a:r>
              <a:rPr sz="1700" i="0">
                <a:solidFill>
                  <a:srgbClr val="C39BD3"/>
                </a:solidFill>
                <a:latin typeface="Consolas"/>
              </a:rPr>
              <a:t>int</a:t>
            </a:r>
            <a:r>
              <a:rPr sz="1700" i="0">
                <a:solidFill>
                  <a:srgbClr val="AEB6BF"/>
                </a:solidFill>
                <a:latin typeface="Consolas"/>
              </a:rPr>
              <a:t>(</a:t>
            </a:r>
            <a:r>
              <a:rPr sz="1700" i="0">
                <a:solidFill>
                  <a:srgbClr val="E8EDF2"/>
                </a:solidFill>
                <a:latin typeface="Consolas"/>
              </a:rPr>
              <a:t>np</a:t>
            </a:r>
            <a:r>
              <a:rPr sz="1700" i="0">
                <a:solidFill>
                  <a:srgbClr val="AEB6BF"/>
                </a:solidFill>
                <a:latin typeface="Consolas"/>
              </a:rPr>
              <a:t>.</a:t>
            </a:r>
            <a:r>
              <a:rPr sz="1700" i="0">
                <a:solidFill>
                  <a:srgbClr val="E8EDF2"/>
                </a:solidFill>
                <a:latin typeface="Consolas"/>
              </a:rPr>
              <a:t>argmax</a:t>
            </a:r>
            <a:r>
              <a:rPr sz="1700" i="0">
                <a:solidFill>
                  <a:srgbClr val="AEB6BF"/>
                </a:solidFill>
                <a:latin typeface="Consolas"/>
              </a:rPr>
              <a:t>(</a:t>
            </a:r>
            <a:r>
              <a:rPr sz="1700" i="0">
                <a:solidFill>
                  <a:srgbClr val="E8EDF2"/>
                </a:solidFill>
                <a:latin typeface="Consolas"/>
              </a:rPr>
              <a:t>cv</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pruned</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DecisionTreeClassifier</a:t>
            </a:r>
            <a:r>
              <a:rPr sz="1700" i="0">
                <a:solidFill>
                  <a:srgbClr val="AEB6BF"/>
                </a:solidFill>
                <a:latin typeface="Consolas"/>
              </a:rPr>
              <a:t>(</a:t>
            </a:r>
            <a:r>
              <a:rPr sz="1700" i="0">
                <a:solidFill>
                  <a:srgbClr val="E8EDF2"/>
                </a:solidFill>
                <a:latin typeface="Consolas"/>
              </a:rPr>
              <a:t>criterion</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entropy</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ccp_alpha</a:t>
            </a:r>
            <a:r>
              <a:rPr sz="1700" i="0">
                <a:solidFill>
                  <a:srgbClr val="AEB6BF"/>
                </a:solidFill>
                <a:latin typeface="Consolas"/>
              </a:rPr>
              <a:t>=</a:t>
            </a:r>
            <a:r>
              <a:rPr sz="1700" i="0">
                <a:solidFill>
                  <a:srgbClr val="E8EDF2"/>
                </a:solidFill>
                <a:latin typeface="Consolas"/>
              </a:rPr>
              <a:t>best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random_state</a:t>
            </a:r>
            <a:r>
              <a:rPr sz="1700" i="0">
                <a:solidFill>
                  <a:srgbClr val="AEB6BF"/>
                </a:solidFill>
                <a:latin typeface="Consolas"/>
              </a:rPr>
              <a:t>=</a:t>
            </a:r>
            <a:r>
              <a:rPr sz="1700" i="0">
                <a:solidFill>
                  <a:srgbClr val="F7DC6F"/>
                </a:solidFill>
                <a:latin typeface="Consolas"/>
              </a:rPr>
              <a:t>0</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fit</a:t>
            </a:r>
            <a:r>
              <a:rPr sz="1700" i="0">
                <a:solidFill>
                  <a:srgbClr val="AEB6BF"/>
                </a:solidFill>
                <a:latin typeface="Consolas"/>
              </a:rPr>
              <a:t>(</a:t>
            </a:r>
            <a:r>
              <a:rPr sz="1700" i="0">
                <a:solidFill>
                  <a:srgbClr val="E8EDF2"/>
                </a:solidFill>
                <a:latin typeface="Consolas"/>
              </a:rPr>
              <a:t>X_tr</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y_tr</a:t>
            </a:r>
            <a:r>
              <a:rPr sz="1700" i="0">
                <a:solidFill>
                  <a:srgbClr val="AEB6BF"/>
                </a:solidFill>
                <a:latin typeface="Consolas"/>
              </a:rPr>
              <a:t>)</a:t>
            </a:r>
          </a:p>
          <a:p>
            <a:pPr>
              <a:lnSpc>
                <a:spcPct val="100000"/>
              </a:lnSpc>
              <a:spcAft>
                <a:spcPts val="0"/>
              </a:spcAft>
            </a:pP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f</a:t>
            </a:r>
            <a:r>
              <a:rPr sz="1700" i="0">
                <a:solidFill>
                  <a:srgbClr val="7DCEA0"/>
                </a:solidFill>
                <a:latin typeface="Consolas"/>
              </a:rPr>
              <a:t>"</a:t>
            </a:r>
            <a:r>
              <a:rPr sz="1700" i="0">
                <a:solidFill>
                  <a:srgbClr val="7DCEA0"/>
                </a:solidFill>
                <a:latin typeface="Consolas"/>
              </a:rPr>
              <a:t>pruned:   </a:t>
            </a:r>
            <a:r>
              <a:rPr sz="1700" i="0">
                <a:solidFill>
                  <a:srgbClr val="7DCEA0"/>
                </a:solidFill>
                <a:latin typeface="Consolas"/>
              </a:rPr>
              <a:t>{</a:t>
            </a:r>
            <a:r>
              <a:rPr sz="1700" i="0">
                <a:solidFill>
                  <a:srgbClr val="E8EDF2"/>
                </a:solidFill>
                <a:latin typeface="Consolas"/>
              </a:rPr>
              <a:t>pruned</a:t>
            </a:r>
            <a:r>
              <a:rPr sz="1700" i="0">
                <a:solidFill>
                  <a:srgbClr val="AEB6BF"/>
                </a:solidFill>
                <a:latin typeface="Consolas"/>
              </a:rPr>
              <a:t>.</a:t>
            </a:r>
            <a:r>
              <a:rPr sz="1700" i="0">
                <a:solidFill>
                  <a:srgbClr val="E8EDF2"/>
                </a:solidFill>
                <a:latin typeface="Consolas"/>
              </a:rPr>
              <a:t>tree_</a:t>
            </a:r>
            <a:r>
              <a:rPr sz="1700" i="0">
                <a:solidFill>
                  <a:srgbClr val="AEB6BF"/>
                </a:solidFill>
                <a:latin typeface="Consolas"/>
              </a:rPr>
              <a:t>.</a:t>
            </a:r>
            <a:r>
              <a:rPr sz="1700" i="0">
                <a:solidFill>
                  <a:srgbClr val="E8EDF2"/>
                </a:solidFill>
                <a:latin typeface="Consolas"/>
              </a:rPr>
              <a:t>node_count</a:t>
            </a:r>
            <a:r>
              <a:rPr sz="1700" i="0">
                <a:solidFill>
                  <a:srgbClr val="7DCEA0"/>
                </a:solidFill>
                <a:latin typeface="Consolas"/>
              </a:rPr>
              <a:t>:</a:t>
            </a:r>
            <a:r>
              <a:rPr sz="1700" i="0">
                <a:solidFill>
                  <a:srgbClr val="7DCEA0"/>
                </a:solidFill>
                <a:latin typeface="Consolas"/>
              </a:rPr>
              <a:t>3d</a:t>
            </a:r>
            <a:r>
              <a:rPr sz="1700" i="0">
                <a:solidFill>
                  <a:srgbClr val="7DCEA0"/>
                </a:solidFill>
                <a:latin typeface="Consolas"/>
              </a:rPr>
              <a:t>}</a:t>
            </a:r>
            <a:r>
              <a:rPr sz="1700" i="0">
                <a:solidFill>
                  <a:srgbClr val="7DCEA0"/>
                </a:solidFill>
                <a:latin typeface="Consolas"/>
              </a:rPr>
              <a:t> nodes, </a:t>
            </a:r>
            <a:r>
              <a:rPr sz="1700" i="0">
                <a:solidFill>
                  <a:srgbClr val="7DCEA0"/>
                </a:solidFill>
                <a:latin typeface="Consolas"/>
              </a:rPr>
              <a:t>"</a:t>
            </a:r>
          </a:p>
          <a:p>
            <a:pPr>
              <a:lnSpc>
                <a:spcPct val="100000"/>
              </a:lnSpc>
              <a:spcAft>
                <a:spcPts val="0"/>
              </a:spcAft>
            </a:pPr>
            <a:r>
              <a:rPr sz="1700" i="0">
                <a:solidFill>
                  <a:srgbClr val="E8EDF2"/>
                </a:solidFill>
                <a:latin typeface="Consolas"/>
              </a:rPr>
              <a:t>      </a:t>
            </a:r>
            <a:r>
              <a:rPr sz="1700" i="0">
                <a:solidFill>
                  <a:srgbClr val="7DCEA0"/>
                </a:solidFill>
                <a:latin typeface="Consolas"/>
              </a:rPr>
              <a:t>f</a:t>
            </a:r>
            <a:r>
              <a:rPr sz="1700" i="0">
                <a:solidFill>
                  <a:srgbClr val="7DCEA0"/>
                </a:solidFill>
                <a:latin typeface="Consolas"/>
              </a:rPr>
              <a:t>"</a:t>
            </a:r>
            <a:r>
              <a:rPr sz="1700" i="0">
                <a:solidFill>
                  <a:srgbClr val="7DCEA0"/>
                </a:solidFill>
                <a:latin typeface="Consolas"/>
              </a:rPr>
              <a:t>train </a:t>
            </a:r>
            <a:r>
              <a:rPr sz="1700" i="0">
                <a:solidFill>
                  <a:srgbClr val="7DCEA0"/>
                </a:solidFill>
                <a:latin typeface="Consolas"/>
              </a:rPr>
              <a:t>{</a:t>
            </a:r>
            <a:r>
              <a:rPr sz="1700" i="0">
                <a:solidFill>
                  <a:srgbClr val="E8EDF2"/>
                </a:solidFill>
                <a:latin typeface="Consolas"/>
              </a:rPr>
              <a:t>pruned</a:t>
            </a:r>
            <a:r>
              <a:rPr sz="1700" i="0">
                <a:solidFill>
                  <a:srgbClr val="AEB6BF"/>
                </a:solidFill>
                <a:latin typeface="Consolas"/>
              </a:rPr>
              <a:t>.</a:t>
            </a:r>
            <a:r>
              <a:rPr sz="1700" i="0">
                <a:solidFill>
                  <a:srgbClr val="E8EDF2"/>
                </a:solidFill>
                <a:latin typeface="Consolas"/>
              </a:rPr>
              <a:t>score</a:t>
            </a:r>
            <a:r>
              <a:rPr sz="1700" i="0">
                <a:solidFill>
                  <a:srgbClr val="AEB6BF"/>
                </a:solidFill>
                <a:latin typeface="Consolas"/>
              </a:rPr>
              <a:t>(</a:t>
            </a:r>
            <a:r>
              <a:rPr sz="1700" i="0">
                <a:solidFill>
                  <a:srgbClr val="E8EDF2"/>
                </a:solidFill>
                <a:latin typeface="Consolas"/>
              </a:rPr>
              <a:t>X_tr</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y_tr</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.3f</a:t>
            </a:r>
            <a:r>
              <a:rPr sz="1700" i="0">
                <a:solidFill>
                  <a:srgbClr val="7DCEA0"/>
                </a:solidFill>
                <a:latin typeface="Consolas"/>
              </a:rPr>
              <a:t>}</a:t>
            </a:r>
            <a:r>
              <a:rPr sz="1700" i="0">
                <a:solidFill>
                  <a:srgbClr val="7DCEA0"/>
                </a:solidFill>
                <a:latin typeface="Consolas"/>
              </a:rPr>
              <a:t>, </a:t>
            </a:r>
            <a:r>
              <a:rPr sz="1700" i="0">
                <a:solidFill>
                  <a:srgbClr val="7DCEA0"/>
                </a:solidFill>
                <a:latin typeface="Consolas"/>
              </a:rPr>
              <a:t>"</a:t>
            </a:r>
          </a:p>
          <a:p>
            <a:pPr>
              <a:lnSpc>
                <a:spcPct val="100000"/>
              </a:lnSpc>
              <a:spcAft>
                <a:spcPts val="0"/>
              </a:spcAft>
            </a:pPr>
            <a:r>
              <a:rPr sz="1700" i="0">
                <a:solidFill>
                  <a:srgbClr val="E8EDF2"/>
                </a:solidFill>
                <a:latin typeface="Consolas"/>
              </a:rPr>
              <a:t>      </a:t>
            </a:r>
            <a:r>
              <a:rPr sz="1700" i="0">
                <a:solidFill>
                  <a:srgbClr val="7DCEA0"/>
                </a:solidFill>
                <a:latin typeface="Consolas"/>
              </a:rPr>
              <a:t>f</a:t>
            </a:r>
            <a:r>
              <a:rPr sz="1700" i="0">
                <a:solidFill>
                  <a:srgbClr val="7DCEA0"/>
                </a:solidFill>
                <a:latin typeface="Consolas"/>
              </a:rPr>
              <a:t>"</a:t>
            </a:r>
            <a:r>
              <a:rPr sz="1700" i="0">
                <a:solidFill>
                  <a:srgbClr val="7DCEA0"/>
                </a:solidFill>
                <a:latin typeface="Consolas"/>
              </a:rPr>
              <a:t>test </a:t>
            </a:r>
            <a:r>
              <a:rPr sz="1700" i="0">
                <a:solidFill>
                  <a:srgbClr val="7DCEA0"/>
                </a:solidFill>
                <a:latin typeface="Consolas"/>
              </a:rPr>
              <a:t>{</a:t>
            </a:r>
            <a:r>
              <a:rPr sz="1700" i="0">
                <a:solidFill>
                  <a:srgbClr val="E8EDF2"/>
                </a:solidFill>
                <a:latin typeface="Consolas"/>
              </a:rPr>
              <a:t>pruned</a:t>
            </a:r>
            <a:r>
              <a:rPr sz="1700" i="0">
                <a:solidFill>
                  <a:srgbClr val="AEB6BF"/>
                </a:solidFill>
                <a:latin typeface="Consolas"/>
              </a:rPr>
              <a:t>.</a:t>
            </a:r>
            <a:r>
              <a:rPr sz="1700" i="0">
                <a:solidFill>
                  <a:srgbClr val="E8EDF2"/>
                </a:solidFill>
                <a:latin typeface="Consolas"/>
              </a:rPr>
              <a:t>score</a:t>
            </a:r>
            <a:r>
              <a:rPr sz="1700" i="0">
                <a:solidFill>
                  <a:srgbClr val="AEB6BF"/>
                </a:solidFill>
                <a:latin typeface="Consolas"/>
              </a:rPr>
              <a:t>(</a:t>
            </a:r>
            <a:r>
              <a:rPr sz="1700" i="0">
                <a:solidFill>
                  <a:srgbClr val="E8EDF2"/>
                </a:solidFill>
                <a:latin typeface="Consolas"/>
              </a:rPr>
              <a:t>X_te</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y_te</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.3f</a:t>
            </a:r>
            <a:r>
              <a:rPr sz="1700" i="0">
                <a:solidFill>
                  <a:srgbClr val="7DCEA0"/>
                </a:solidFill>
                <a:latin typeface="Consolas"/>
              </a:rPr>
              <a:t>}</a:t>
            </a:r>
            <a:r>
              <a:rPr sz="1700" i="0">
                <a:solidFill>
                  <a:srgbClr val="7DCEA0"/>
                </a:solidFill>
                <a:latin typeface="Consolas"/>
              </a:rPr>
              <a:t>  (alpha = </a:t>
            </a:r>
            <a:r>
              <a:rPr sz="1700" i="0">
                <a:solidFill>
                  <a:srgbClr val="7DCEA0"/>
                </a:solidFill>
                <a:latin typeface="Consolas"/>
              </a:rPr>
              <a:t>{</a:t>
            </a:r>
            <a:r>
              <a:rPr sz="1700" i="0">
                <a:solidFill>
                  <a:srgbClr val="E8EDF2"/>
                </a:solidFill>
                <a:latin typeface="Consolas"/>
              </a:rPr>
              <a:t>best</a:t>
            </a:r>
            <a:r>
              <a:rPr sz="1700" i="0">
                <a:solidFill>
                  <a:srgbClr val="7DCEA0"/>
                </a:solidFill>
                <a:latin typeface="Consolas"/>
              </a:rPr>
              <a:t>:</a:t>
            </a:r>
            <a:r>
              <a:rPr sz="1700" i="0">
                <a:solidFill>
                  <a:srgbClr val="7DCEA0"/>
                </a:solidFill>
                <a:latin typeface="Consolas"/>
              </a:rPr>
              <a:t>.4f</a:t>
            </a:r>
            <a:r>
              <a:rPr sz="1700" i="0">
                <a:solidFill>
                  <a:srgbClr val="7DCEA0"/>
                </a:solidFill>
                <a:latin typeface="Consolas"/>
              </a:rPr>
              <a:t>}</a:t>
            </a:r>
            <a:r>
              <a:rPr sz="1700" i="0">
                <a:solidFill>
                  <a:srgbClr val="7DCEA0"/>
                </a:solidFill>
                <a:latin typeface="Consolas"/>
              </a:rPr>
              <a:t>)</a:t>
            </a:r>
            <a:r>
              <a:rPr sz="1700" i="0">
                <a:solidFill>
                  <a:srgbClr val="7DCEA0"/>
                </a:solidFill>
                <a:latin typeface="Consolas"/>
              </a:rPr>
              <a:t>"</a:t>
            </a:r>
            <a:r>
              <a:rPr sz="1700" i="0">
                <a:solidFill>
                  <a:srgbClr val="AEB6BF"/>
                </a:solidFill>
                <a:latin typeface="Consolas"/>
              </a:rPr>
              <a:t>)</a:t>
            </a:r>
          </a:p>
          <a:p>
            <a:pPr>
              <a:lnSpc>
                <a:spcPct val="100000"/>
              </a:lnSpc>
              <a:spcAft>
                <a:spcPts val="0"/>
              </a:spcAft>
            </a:pPr>
            <a:r>
              <a:rPr sz="1700" i="0">
                <a:solidFill>
                  <a:srgbClr val="C39BD3"/>
                </a:solidFill>
                <a:latin typeface="Consolas"/>
              </a:rPr>
              <a:t>print</a:t>
            </a:r>
            <a:r>
              <a:rPr sz="1700" i="0">
                <a:solidFill>
                  <a:srgbClr val="AEB6BF"/>
                </a:solidFill>
                <a:latin typeface="Consolas"/>
              </a:rPr>
              <a:t>(</a:t>
            </a:r>
            <a:r>
              <a:rPr sz="1700" i="0">
                <a:solidFill>
                  <a:srgbClr val="E8EDF2"/>
                </a:solidFill>
                <a:latin typeface="Consolas"/>
              </a:rPr>
              <a:t>export_text</a:t>
            </a:r>
            <a:r>
              <a:rPr sz="1700" i="0">
                <a:solidFill>
                  <a:srgbClr val="AEB6BF"/>
                </a:solidFill>
                <a:latin typeface="Consolas"/>
              </a:rPr>
              <a:t>(</a:t>
            </a:r>
            <a:r>
              <a:rPr sz="1700" i="0">
                <a:solidFill>
                  <a:srgbClr val="E8EDF2"/>
                </a:solidFill>
                <a:latin typeface="Consolas"/>
              </a:rPr>
              <a:t>pruned</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max_depth</a:t>
            </a:r>
            <a:r>
              <a:rPr sz="1700" i="0">
                <a:solidFill>
                  <a:srgbClr val="AEB6BF"/>
                </a:solidFill>
                <a:latin typeface="Consolas"/>
              </a:rPr>
              <a:t>=</a:t>
            </a:r>
            <a:r>
              <a:rPr sz="1700" i="0">
                <a:solidFill>
                  <a:srgbClr val="F7DC6F"/>
                </a:solidFill>
                <a:latin typeface="Consolas"/>
              </a:rPr>
              <a:t>1</a:t>
            </a:r>
            <a:r>
              <a:rPr sz="1700" i="0">
                <a:solidFill>
                  <a:srgbClr val="AEB6BF"/>
                </a:solidFill>
                <a:latin typeface="Consolas"/>
              </a:rPr>
              <a:t>)</a:t>
            </a:r>
            <a:r>
              <a:rPr sz="1700" i="0">
                <a:solidFill>
                  <a:srgbClr val="AEB6BF"/>
                </a:solidFill>
                <a:latin typeface="Consolas"/>
              </a:rPr>
              <a:t>)</a:t>
            </a:r>
          </a:p>
        </p:txBody>
      </p:sp>
      <p:sp>
        <p:nvSpPr>
          <p:cNvPr id="15" name="!!code-num"/>
          <p:cNvSpPr txBox="1"/>
          <p:nvPr/>
        </p:nvSpPr>
        <p:spPr>
          <a:xfrm>
            <a:off x="768096" y="2523744"/>
            <a:ext cx="393192" cy="2959607"/>
          </a:xfrm>
          <a:prstGeom prst="rect">
            <a:avLst/>
          </a:prstGeom>
          <a:noFill/>
        </p:spPr>
        <p:txBody>
          <a:bodyPr wrap="none" anchor="t" lIns="0" rIns="0" tIns="0" bIns="0">
            <a:noAutofit/>
          </a:bodyPr>
          <a:lstStyle/>
          <a:p>
            <a:pPr algn="r">
              <a:lnSpc>
                <a:spcPct val="100000"/>
              </a:lnSpc>
            </a:pPr>
            <a:r>
              <a:rPr sz="1700">
                <a:solidFill>
                  <a:srgbClr val="4F5D6A"/>
                </a:solidFill>
                <a:latin typeface="Consolas"/>
              </a:rPr>
              <a:t>48</a:t>
            </a:r>
          </a:p>
          <a:p>
            <a:pPr algn="r">
              <a:lnSpc>
                <a:spcPct val="100000"/>
              </a:lnSpc>
            </a:pPr>
            <a:r>
              <a:rPr sz="1700">
                <a:solidFill>
                  <a:srgbClr val="4F5D6A"/>
                </a:solidFill>
                <a:latin typeface="Consolas"/>
              </a:rPr>
              <a:t>49</a:t>
            </a:r>
          </a:p>
          <a:p>
            <a:pPr algn="r">
              <a:lnSpc>
                <a:spcPct val="100000"/>
              </a:lnSpc>
            </a:pPr>
            <a:r>
              <a:rPr sz="1700">
                <a:solidFill>
                  <a:srgbClr val="4F5D6A"/>
                </a:solidFill>
                <a:latin typeface="Consolas"/>
              </a:rPr>
              <a:t>50</a:t>
            </a:r>
          </a:p>
          <a:p>
            <a:pPr algn="r">
              <a:lnSpc>
                <a:spcPct val="100000"/>
              </a:lnSpc>
            </a:pPr>
            <a:r>
              <a:rPr sz="1700">
                <a:solidFill>
                  <a:srgbClr val="4F5D6A"/>
                </a:solidFill>
                <a:latin typeface="Consolas"/>
              </a:rPr>
              <a:t>51</a:t>
            </a:r>
          </a:p>
          <a:p>
            <a:pPr algn="r">
              <a:lnSpc>
                <a:spcPct val="100000"/>
              </a:lnSpc>
            </a:pPr>
            <a:r>
              <a:rPr sz="1700">
                <a:solidFill>
                  <a:srgbClr val="4F5D6A"/>
                </a:solidFill>
                <a:latin typeface="Consolas"/>
              </a:rPr>
              <a:t>52</a:t>
            </a:r>
          </a:p>
          <a:p>
            <a:pPr algn="r">
              <a:lnSpc>
                <a:spcPct val="100000"/>
              </a:lnSpc>
            </a:pPr>
            <a:r>
              <a:rPr sz="1700">
                <a:solidFill>
                  <a:srgbClr val="4F5D6A"/>
                </a:solidFill>
                <a:latin typeface="Consolas"/>
              </a:rPr>
              <a:t>53</a:t>
            </a:r>
          </a:p>
          <a:p>
            <a:pPr algn="r">
              <a:lnSpc>
                <a:spcPct val="100000"/>
              </a:lnSpc>
            </a:pPr>
            <a:r>
              <a:rPr sz="1700">
                <a:solidFill>
                  <a:srgbClr val="4F5D6A"/>
                </a:solidFill>
                <a:latin typeface="Consolas"/>
              </a:rPr>
              <a:t>54</a:t>
            </a:r>
          </a:p>
          <a:p>
            <a:pPr algn="r">
              <a:lnSpc>
                <a:spcPct val="100000"/>
              </a:lnSpc>
            </a:pPr>
            <a:r>
              <a:rPr sz="1700">
                <a:solidFill>
                  <a:srgbClr val="4F5D6A"/>
                </a:solidFill>
                <a:latin typeface="Consolas"/>
              </a:rPr>
              <a:t>55</a:t>
            </a:r>
          </a:p>
          <a:p>
            <a:pPr algn="r">
              <a:lnSpc>
                <a:spcPct val="100000"/>
              </a:lnSpc>
            </a:pPr>
            <a:r>
              <a:rPr sz="1700">
                <a:solidFill>
                  <a:srgbClr val="4F5D6A"/>
                </a:solidFill>
                <a:latin typeface="Consolas"/>
              </a:rPr>
              <a:t>56</a:t>
            </a:r>
          </a:p>
          <a:p>
            <a:pPr algn="r">
              <a:lnSpc>
                <a:spcPct val="100000"/>
              </a:lnSpc>
            </a:pPr>
            <a:r>
              <a:rPr sz="1700">
                <a:solidFill>
                  <a:srgbClr val="4F5D6A"/>
                </a:solidFill>
                <a:latin typeface="Consolas"/>
              </a:rPr>
              <a:t>57</a:t>
            </a:r>
          </a:p>
          <a:p>
            <a:pPr algn="r">
              <a:lnSpc>
                <a:spcPct val="100000"/>
              </a:lnSpc>
            </a:pPr>
            <a:r>
              <a:rPr sz="1700">
                <a:solidFill>
                  <a:srgbClr val="4F5D6A"/>
                </a:solidFill>
                <a:latin typeface="Consolas"/>
              </a:rPr>
              <a:t>58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48117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74     </a:t>
            </a:r>
            <a:fld id="{E89D0D35-C043-4728-A93F-9965C193227F}" type="slidenum">
              <a:rPr lang="en-GB" sz="1000">
                <a:solidFill>
                  <a:srgbClr val="8795A1"/>
                </a:solidFill>
                <a:latin typeface="Segoe UI"/>
              </a:rPr>
              <a:t>33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079955"/>
          </a:xfrm>
          <a:prstGeom prst="roundRect">
            <a:avLst>
              <a:gd name="adj" fmla="val 4396"/>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079955"/>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Part 1 prints 0.247 for Outlook where the worked example has 0.246: the code does not round the intermediate entropies. In part 2, pruning cuts the tree from 207 to 63 nodes and </a:t>
            </a:r>
            <a:r>
              <a:rPr sz="2300" b="0" i="1">
                <a:solidFill>
                  <a:srgbClr val="1C252B"/>
                </a:solidFill>
                <a:latin typeface="Segoe UI"/>
              </a:rPr>
              <a:t>raises</a:t>
            </a:r>
            <a:r>
              <a:rPr sz="2300" b="0" i="0">
                <a:solidFill>
                  <a:srgbClr val="1C252B"/>
                </a:solidFill>
                <a:latin typeface="Segoe UI"/>
              </a:rPr>
              <a:t> test accuracy from 0.72 to 0.75 while lowering training accuracy — the signature of removing overfitting.</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8746216"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node holds 8 positive and 8 negative examples. A test splits it into (6+, 2</a:t>
            </a:r>
            <a:r>
              <a:rPr sz="3400" b="0" i="0">
                <a:solidFill>
                  <a:srgbClr val="FFFFFF"/>
                </a:solidFill>
                <a:latin typeface="Cambria"/>
              </a:rPr>
              <a:t>−</a:t>
            </a:r>
            <a:r>
              <a:rPr sz="3400" b="0" i="0">
                <a:solidFill>
                  <a:srgbClr val="FFFFFF"/>
                </a:solidFill>
                <a:latin typeface="Segoe UI Semibold"/>
              </a:rPr>
              <a:t>) and (2+, 6</a:t>
            </a:r>
            <a:r>
              <a:rPr sz="3400" b="0" i="0">
                <a:solidFill>
                  <a:srgbClr val="FFFFFF"/>
                </a:solidFill>
                <a:latin typeface="Cambria"/>
              </a:rPr>
              <a:t>−</a:t>
            </a:r>
            <a:r>
              <a:rPr sz="3400" b="0" i="0">
                <a:solidFill>
                  <a:srgbClr val="FFFFFF"/>
                </a:solidFill>
                <a:latin typeface="Segoe UI Semibold"/>
              </a:rPr>
              <a:t>). Compute the information gain.</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9  ·  Decision Tree Learning</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76  ·  answers in Appendix D     </a:t>
            </a:r>
            <a:fld id="{284113F5-7F5E-4F9E-9645-C15944A326D2}" type="slidenum">
              <a:rPr lang="en-GB" sz="1000">
                <a:solidFill>
                  <a:srgbClr val="D5DEE5"/>
                </a:solidFill>
                <a:latin typeface="Segoe UI"/>
              </a:rPr>
              <a:t>34</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A node holds 8 positive and 8 negative examples. A test splits it into (6+, 2</a:t>
            </a:r>
            <a:r>
              <a:rPr sz="2400" b="0" i="0">
                <a:solidFill>
                  <a:srgbClr val="1A5276"/>
                </a:solidFill>
                <a:latin typeface="Cambria"/>
              </a:rPr>
              <a:t>−</a:t>
            </a:r>
            <a:r>
              <a:rPr sz="2400" b="0" i="0">
                <a:solidFill>
                  <a:srgbClr val="1A5276"/>
                </a:solidFill>
                <a:latin typeface="Segoe UI Semibold"/>
              </a:rPr>
              <a:t>) and (2+, 6</a:t>
            </a:r>
            <a:r>
              <a:rPr sz="2400" b="0" i="0">
                <a:solidFill>
                  <a:srgbClr val="1A5276"/>
                </a:solidFill>
                <a:latin typeface="Cambria"/>
              </a:rPr>
              <a:t>−</a:t>
            </a:r>
            <a:r>
              <a:rPr sz="2400" b="0" i="0">
                <a:solidFill>
                  <a:srgbClr val="1A5276"/>
                </a:solidFill>
                <a:latin typeface="Segoe UI Semibold"/>
              </a:rPr>
              <a:t>). Compute the information gain.</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69738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The parent has entropy 1. Each child has entropy </a:t>
            </a:r>
            <a:r>
              <a:rPr sz="2200" b="0" i="0">
                <a:solidFill>
                  <a:srgbClr val="1C252B"/>
                </a:solidFill>
                <a:latin typeface="Cambria"/>
              </a:rPr>
              <a:t>−0.75log</a:t>
            </a:r>
            <a:r>
              <a:rPr sz="2200" b="0" i="0" baseline="-25000">
                <a:solidFill>
                  <a:srgbClr val="1C252B"/>
                </a:solidFill>
                <a:latin typeface="Cambria"/>
              </a:rPr>
              <a:t>2</a:t>
            </a:r>
            <a:r>
              <a:rPr sz="2200" b="0" i="0">
                <a:solidFill>
                  <a:srgbClr val="1C252B"/>
                </a:solidFill>
                <a:latin typeface="Cambria"/>
              </a:rPr>
              <a:t> 0.75 − 0.25log</a:t>
            </a:r>
            <a:r>
              <a:rPr sz="2200" b="0" i="0" baseline="-25000">
                <a:solidFill>
                  <a:srgbClr val="1C252B"/>
                </a:solidFill>
                <a:latin typeface="Cambria"/>
              </a:rPr>
              <a:t>2</a:t>
            </a:r>
            <a:r>
              <a:rPr sz="2200" b="0" i="0">
                <a:solidFill>
                  <a:srgbClr val="1C252B"/>
                </a:solidFill>
                <a:latin typeface="Cambria"/>
              </a:rPr>
              <a:t> 0.25 = 0.811</a:t>
            </a:r>
            <a:r>
              <a:rPr sz="2200" b="0" i="0">
                <a:solidFill>
                  <a:srgbClr val="1C252B"/>
                </a:solidFill>
                <a:latin typeface="Segoe UI"/>
              </a:rPr>
              <a:t> and holds half the examples, so Gain </a:t>
            </a:r>
            <a:r>
              <a:rPr sz="2200" b="0" i="0">
                <a:solidFill>
                  <a:srgbClr val="1C252B"/>
                </a:solidFill>
                <a:latin typeface="Cambria"/>
              </a:rPr>
              <a:t>= 1 − 0.811 = 0.189</a:t>
            </a:r>
            <a:r>
              <a:rPr sz="2200" b="0" i="0">
                <a:solidFill>
                  <a:srgbClr val="1C252B"/>
                </a:solidFill>
                <a:latin typeface="Segoe UI"/>
              </a:rPr>
              <a:t>.</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76  ·  answers in Appendix D     </a:t>
            </a:r>
            <a:fld id="{F5BF1156-BA09-4643-993C-CB49F90D1E4F}" type="slidenum">
              <a:rPr lang="en-GB" sz="1000">
                <a:solidFill>
                  <a:srgbClr val="8795A1"/>
                </a:solidFill>
                <a:latin typeface="Segoe UI"/>
              </a:rPr>
              <a:t>35</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27628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Why does information gain favour an attribute such as </a:t>
            </a:r>
            <a:r>
              <a:rPr sz="3400" b="0" i="1">
                <a:solidFill>
                  <a:srgbClr val="FFFFFF"/>
                </a:solidFill>
                <a:latin typeface="Segoe UI Semibold"/>
              </a:rPr>
              <a:t>StudentID</a:t>
            </a:r>
            <a:r>
              <a:rPr sz="3400" b="0" i="0">
                <a:solidFill>
                  <a:srgbClr val="FFFFFF"/>
                </a:solidFill>
                <a:latin typeface="Segoe UI Semibold"/>
              </a:rPr>
              <a:t>? What fixes it?</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9  ·  Decision Tree Learning</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76  ·  answers in Appendix D     </a:t>
            </a:r>
            <a:fld id="{1C34984D-36B2-48DB-A22C-8F7F69FC1614}" type="slidenum">
              <a:rPr lang="en-GB" sz="1000">
                <a:solidFill>
                  <a:srgbClr val="D5DEE5"/>
                </a:solidFill>
                <a:latin typeface="Segoe UI"/>
              </a:rPr>
              <a:t>36</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Why does information gain favour an attribute such as </a:t>
            </a:r>
            <a:r>
              <a:rPr sz="2400" b="0" i="1">
                <a:solidFill>
                  <a:srgbClr val="1A5276"/>
                </a:solidFill>
                <a:latin typeface="Segoe UI Semibold"/>
              </a:rPr>
              <a:t>StudentID</a:t>
            </a:r>
            <a:r>
              <a:rPr sz="2400" b="0" i="0">
                <a:solidFill>
                  <a:srgbClr val="1A5276"/>
                </a:solidFill>
                <a:latin typeface="Segoe UI Semibold"/>
              </a:rPr>
              <a:t>? What fixes it?</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1046073"/>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Every ID is unique, so splitting on it gives one pure leaf per student: maximum gain, no generalisation. Use the gain ratio, whose split-information term penalises many-valued attributes — or remove identifiers.</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76  ·  answers in Appendix D     </a:t>
            </a:r>
            <a:fld id="{DD372B2C-B68F-4350-B35D-9AFC31520514}" type="slidenum">
              <a:rPr lang="en-GB" sz="1000">
                <a:solidFill>
                  <a:srgbClr val="8795A1"/>
                </a:solidFill>
                <a:latin typeface="Segoe UI"/>
              </a:rPr>
              <a:t>37</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80636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What is the difference between a restriction bias and a preference bias? Which does ID3 have?</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9  ·  Decision Tree Learning</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76  ·  answers in Appendix D     </a:t>
            </a:r>
            <a:fld id="{09453CAF-2995-4731-9127-A95D051A1473}" type="slidenum">
              <a:rPr lang="en-GB" sz="1000">
                <a:solidFill>
                  <a:srgbClr val="D5DEE5"/>
                </a:solidFill>
                <a:latin typeface="Segoe UI"/>
              </a:rPr>
              <a:t>38</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What is the difference between a restriction bias and a preference bias? Which does ID3 have?</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13947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 restriction bias limits which hypotheses can be represented (Candidate-Elimination’s conjunctions); a preference bias searches a complete space but prefers some hypotheses. ID3 has a preference bias: shorter trees, high-gain attributes near the root.</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76  ·  answers in Appendix D     </a:t>
            </a:r>
            <a:fld id="{83B6110B-C297-4308-9CF3-169D1F61A7B1}" type="slidenum">
              <a:rPr lang="en-GB" sz="1000">
                <a:solidFill>
                  <a:srgbClr val="8795A1"/>
                </a:solidFill>
                <a:latin typeface="Segoe UI"/>
              </a:rPr>
              <a:t>39</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33643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76     </a:t>
            </a:r>
            <a:fld id="{E002E06B-47A3-4051-90F1-302B9BF98172}" type="slidenum">
              <a:rPr lang="en-GB" sz="1000">
                <a:solidFill>
                  <a:srgbClr val="8795A1"/>
                </a:solidFill>
                <a:latin typeface="Segoe UI"/>
              </a:rPr>
              <a:t>40</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A decision tree is a disjunction of conjunctions of attribute tests; it can represent any discrete function and reads as a set of rules.</a:t>
            </a:r>
          </a:p>
        </p:txBody>
      </p:sp>
      <p:sp>
        <p:nvSpPr>
          <p:cNvPr id="10" name="!!sb1">
            <a:extLst>
              <a:ext uri="{C183D7F6-B498-43B3-948B-1728B52AA6E4}">
                <adec:decorative xmlns:adec="http://schemas.microsoft.com/office/drawing/2017/decorative" val="1"/>
              </a:ext>
            </a:extLst>
          </p:cNvPr>
          <p:cNvSpPr/>
          <p:nvPr/>
        </p:nvSpPr>
        <p:spPr>
          <a:xfrm>
            <a:off x="658368" y="2595067"/>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649931"/>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585923"/>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ID3 grows the tree greedily, choosing at each node the attribute with the greatest information gain; on PlayTennis, Outlook (0.246) wins at the root.</a:t>
            </a:r>
          </a:p>
        </p:txBody>
      </p:sp>
      <p:sp>
        <p:nvSpPr>
          <p:cNvPr id="13" name="!!sb2">
            <a:extLst>
              <a:ext uri="{C183D7F6-B498-43B3-948B-1728B52AA6E4}">
                <adec:decorative xmlns:adec="http://schemas.microsoft.com/office/drawing/2017/decorative" val="1"/>
              </a:ext>
            </a:extLst>
          </p:cNvPr>
          <p:cNvSpPr/>
          <p:nvPr/>
        </p:nvSpPr>
        <p:spPr>
          <a:xfrm>
            <a:off x="658368" y="344363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49849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434486"/>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Numeric attributes become threshold tests at class boundaries; the gain ratio corrects the preference for many-valued attributes; Gini behaves like entropy.</a:t>
            </a:r>
          </a:p>
        </p:txBody>
      </p:sp>
      <p:sp>
        <p:nvSpPr>
          <p:cNvPr id="16" name="!!sb3">
            <a:extLst>
              <a:ext uri="{C183D7F6-B498-43B3-948B-1728B52AA6E4}">
                <adec:decorative xmlns:adec="http://schemas.microsoft.com/office/drawing/2017/decorative" val="1"/>
              </a:ext>
            </a:extLst>
          </p:cNvPr>
          <p:cNvSpPr/>
          <p:nvPr/>
        </p:nvSpPr>
        <p:spPr>
          <a:xfrm>
            <a:off x="658368" y="429219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34705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283049"/>
            <a:ext cx="10234879" cy="998524"/>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Grown to purity on noisy data, trees overfit. Pre-prune with depth or leaf-size limits, or post-prune by reduced error, rules or cost complexity, choosing the strength by validation.</a:t>
            </a:r>
          </a:p>
        </p:txBody>
      </p:sp>
      <p:sp>
        <p:nvSpPr>
          <p:cNvPr id="19" name="!!sb4">
            <a:extLst>
              <a:ext uri="{C183D7F6-B498-43B3-948B-1728B52AA6E4}">
                <adec:decorative xmlns:adec="http://schemas.microsoft.com/office/drawing/2017/decorative" val="1"/>
              </a:ext>
            </a:extLst>
          </p:cNvPr>
          <p:cNvSpPr/>
          <p:nvPr/>
        </p:nvSpPr>
        <p:spPr>
          <a:xfrm>
            <a:off x="658368" y="5473598"/>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5528462"/>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5464454"/>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ID3’s inductive bias is a preference for short trees with high-gain attributes near the root — Occam’s razor.</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1060147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76     </a:t>
            </a:r>
            <a:fld id="{03620B08-0009-4B38-AB17-9EB9551F684D}" type="slidenum">
              <a:rPr lang="en-GB" sz="1000">
                <a:solidFill>
                  <a:srgbClr val="8795A1"/>
                </a:solidFill>
                <a:latin typeface="Segoe UI"/>
              </a:rPr>
              <a:t>41</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entropy of a node with 4 positive and 4 negative examples is: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0</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0.5</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1</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2</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086651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76     </a:t>
            </a:r>
            <a:fld id="{3903AD8F-EAE7-497C-8BC9-7CF0E6A5A4F6}" type="slidenum">
              <a:rPr lang="en-GB" sz="1000">
                <a:solidFill>
                  <a:srgbClr val="8795A1"/>
                </a:solidFill>
                <a:latin typeface="Segoe UI"/>
              </a:rPr>
              <a:t>42</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C4.5’s gain ratio divides information gain by:</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number of examples</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split information</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Gini index</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tree depth</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13154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76     </a:t>
            </a:r>
            <a:fld id="{3AFBC622-5DE7-4381-B2BD-107F96441936}" type="slidenum">
              <a:rPr lang="en-GB" sz="1000">
                <a:solidFill>
                  <a:srgbClr val="8795A1"/>
                </a:solidFill>
                <a:latin typeface="Segoe UI"/>
              </a:rPr>
              <a:t>43</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Cost-complexity pruning with a larger </a:t>
            </a:r>
            <a:r>
              <a:rPr sz="2600" b="0" i="0">
                <a:solidFill>
                  <a:srgbClr val="1C252B"/>
                </a:solidFill>
                <a:latin typeface="Cambria"/>
              </a:rPr>
              <a:t>α</a:t>
            </a:r>
            <a:r>
              <a:rPr sz="2600" b="0" i="0">
                <a:solidFill>
                  <a:srgbClr val="1C252B"/>
                </a:solidFill>
                <a:latin typeface="Segoe UI"/>
              </a:rPr>
              <a:t> gives: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larger tree</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smaller tree</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same tree</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deeper tree</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39658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76     </a:t>
            </a:r>
            <a:fld id="{0FCF051A-4A85-466A-8403-51B21B1EED79}" type="slidenum">
              <a:rPr lang="en-GB" sz="1000">
                <a:solidFill>
                  <a:srgbClr val="8795A1"/>
                </a:solidFill>
                <a:latin typeface="Segoe UI"/>
              </a:rPr>
              <a:t>44</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why a tree that classifies every training example correctly may be a poor model.</a:t>
            </a:r>
          </a:p>
        </p:txBody>
      </p:sp>
      <p:sp>
        <p:nvSpPr>
          <p:cNvPr id="10" name="!!rt1">
            <a:extLst>
              <a:ext uri="{C183D7F6-B498-43B3-948B-1728B52AA6E4}">
                <adec:decorative xmlns:adec="http://schemas.microsoft.com/office/drawing/2017/decorative" val="1"/>
              </a:ext>
            </a:extLst>
          </p:cNvPr>
          <p:cNvSpPr/>
          <p:nvPr/>
        </p:nvSpPr>
        <p:spPr>
          <a:xfrm>
            <a:off x="658368" y="2276246"/>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317394"/>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257958"/>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Describe reduced-error pruning and state what data it requires.</a:t>
            </a:r>
          </a:p>
        </p:txBody>
      </p:sp>
      <p:sp>
        <p:nvSpPr>
          <p:cNvPr id="13" name="!!rt2">
            <a:extLst>
              <a:ext uri="{C183D7F6-B498-43B3-948B-1728B52AA6E4}">
                <adec:decorative xmlns:adec="http://schemas.microsoft.com/office/drawing/2017/decorative" val="1"/>
              </a:ext>
            </a:extLst>
          </p:cNvPr>
          <p:cNvSpPr/>
          <p:nvPr/>
        </p:nvSpPr>
        <p:spPr>
          <a:xfrm>
            <a:off x="658368" y="2796844"/>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2837992"/>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2778556"/>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do decision trees not need feature scaling?</a:t>
            </a:r>
          </a:p>
        </p:txBody>
      </p:sp>
      <p:sp>
        <p:nvSpPr>
          <p:cNvPr id="16" name="!!rt3">
            <a:extLst>
              <a:ext uri="{C183D7F6-B498-43B3-948B-1728B52AA6E4}">
                <adec:decorative xmlns:adec="http://schemas.microsoft.com/office/drawing/2017/decorative" val="1"/>
              </a:ext>
            </a:extLst>
          </p:cNvPr>
          <p:cNvSpPr/>
          <p:nvPr/>
        </p:nvSpPr>
        <p:spPr>
          <a:xfrm>
            <a:off x="658368" y="3317443"/>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3358591"/>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3299155"/>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Compute Gain(S, Temperature) for the full PlayTennis data, showing the entropy of each of the three branches.</a:t>
            </a:r>
          </a:p>
        </p:txBody>
      </p:sp>
      <p:sp>
        <p:nvSpPr>
          <p:cNvPr id="19" name="!!rt4">
            <a:extLst>
              <a:ext uri="{C183D7F6-B498-43B3-948B-1728B52AA6E4}">
                <adec:decorative xmlns:adec="http://schemas.microsoft.com/office/drawing/2017/decorative" val="1"/>
              </a:ext>
            </a:extLst>
          </p:cNvPr>
          <p:cNvSpPr/>
          <p:nvPr/>
        </p:nvSpPr>
        <p:spPr>
          <a:xfrm>
            <a:off x="658368" y="4139183"/>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rtt4"/>
          <p:cNvSpPr txBox="1"/>
          <p:nvPr/>
        </p:nvSpPr>
        <p:spPr>
          <a:xfrm>
            <a:off x="658368" y="4180331"/>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21" name="!!rq4"/>
          <p:cNvSpPr txBox="1"/>
          <p:nvPr/>
        </p:nvSpPr>
        <p:spPr>
          <a:xfrm>
            <a:off x="1892807" y="4120895"/>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On the Rain branch of PlayTennis (D4, D5, D6, D10, D14), compute the gain of Humidity, Temperature and Wind, and confirm that ID3 chooses Wind.</a:t>
            </a: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1166162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Inductive Bias of ID3</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9  ·  Decision Tree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74     </a:t>
            </a:r>
            <a:fld id="{857638B7-A672-472C-AB0F-681C92F44957}" type="slidenum">
              <a:rPr lang="en-GB" sz="1000">
                <a:solidFill>
                  <a:srgbClr val="8795A1"/>
                </a:solidFill>
                <a:latin typeface="Segoe UI"/>
              </a:rPr>
              <a:t>45</a:t>
            </a:fld>
          </a:p>
        </p:txBody>
      </p:sp>
      <p:sp>
        <p:nvSpPr>
          <p:cNvPr id="7" name="!!stbar">
            <a:extLst>
              <a:ext uri="{C183D7F6-B498-43B3-948B-1728B52AA6E4}">
                <adec:decorative xmlns:adec="http://schemas.microsoft.com/office/drawing/2017/decorative" val="1"/>
              </a:ext>
            </a:extLst>
          </p:cNvPr>
          <p:cNvSpPr/>
          <p:nvPr/>
        </p:nvSpPr>
        <p:spPr>
          <a:xfrm>
            <a:off x="658368" y="1810512"/>
            <a:ext cx="73152" cy="367223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3754526"/>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ID3 searches a </a:t>
            </a:r>
            <a:r>
              <a:rPr sz="2600" b="0" i="1">
                <a:solidFill>
                  <a:srgbClr val="1C252B"/>
                </a:solidFill>
                <a:latin typeface="Segoe UI"/>
              </a:rPr>
              <a:t>complete</a:t>
            </a:r>
            <a:r>
              <a:rPr sz="2600" b="0" i="0">
                <a:solidFill>
                  <a:srgbClr val="1C252B"/>
                </a:solidFill>
                <a:latin typeface="Segoe UI"/>
              </a:rPr>
              <a:t> hypothesis space — every discrete function is some tree — so, unlike Candidate-Elimination, it does not restrict what can be learned. Its bias lies in its </a:t>
            </a:r>
            <a:r>
              <a:rPr sz="2600" b="0" i="1">
                <a:solidFill>
                  <a:srgbClr val="1C252B"/>
                </a:solidFill>
                <a:latin typeface="Segoe UI"/>
              </a:rPr>
              <a:t>search</a:t>
            </a:r>
            <a:r>
              <a:rPr sz="2600" b="0" i="0">
                <a:solidFill>
                  <a:srgbClr val="1C252B"/>
                </a:solidFill>
                <a:latin typeface="Segoe UI"/>
              </a:rPr>
              <a:t>: it is greedy, never backtracks, and so prefers </a:t>
            </a:r>
            <a:r>
              <a:rPr sz="2600" b="1" i="0">
                <a:solidFill>
                  <a:srgbClr val="1C252B"/>
                </a:solidFill>
                <a:latin typeface="Segoe UI"/>
              </a:rPr>
              <a:t>shorter trees</a:t>
            </a:r>
            <a:r>
              <a:rPr sz="2600" b="0" i="0">
                <a:solidFill>
                  <a:srgbClr val="1C252B"/>
                </a:solidFill>
                <a:latin typeface="Segoe UI"/>
              </a:rPr>
              <a:t> and trees that put </a:t>
            </a:r>
            <a:r>
              <a:rPr sz="2600" b="1" i="0">
                <a:solidFill>
                  <a:srgbClr val="1C252B"/>
                </a:solidFill>
                <a:latin typeface="Segoe UI"/>
              </a:rPr>
              <a:t>high-gain attributes near the root</a:t>
            </a:r>
            <a:r>
              <a:rPr sz="2600" b="0" i="0">
                <a:solidFill>
                  <a:srgbClr val="1C252B"/>
                </a:solidFill>
                <a:latin typeface="Segoe UI"/>
              </a:rPr>
              <a:t>. That is a </a:t>
            </a:r>
            <a:r>
              <a:rPr sz="2600" b="1" i="0">
                <a:solidFill>
                  <a:srgbClr val="1A5276"/>
                </a:solidFill>
                <a:latin typeface="Segoe UI"/>
              </a:rPr>
              <a:t>preference bias</a:t>
            </a:r>
            <a:r>
              <a:rPr sz="2600" b="0" i="0">
                <a:solidFill>
                  <a:srgbClr val="1C252B"/>
                </a:solidFill>
                <a:latin typeface="Segoe UI"/>
              </a:rPr>
              <a:t> (an ordering over hypotheses), where Candidate-Elimination’s was a </a:t>
            </a:r>
            <a:r>
              <a:rPr sz="2600" b="1" i="0">
                <a:solidFill>
                  <a:srgbClr val="1A5276"/>
                </a:solidFill>
                <a:latin typeface="Segoe UI"/>
              </a:rPr>
              <a:t>restriction bias</a:t>
            </a:r>
            <a:r>
              <a:rPr sz="2600" b="0" i="0">
                <a:solidFill>
                  <a:srgbClr val="1C252B"/>
                </a:solidFill>
                <a:latin typeface="Segoe UI"/>
              </a:rPr>
              <a:t> (a limit on which hypotheses exist). Its justification is a form of </a:t>
            </a:r>
            <a:r>
              <a:rPr sz="2600" b="1" i="0">
                <a:solidFill>
                  <a:srgbClr val="1A5276"/>
                </a:solidFill>
                <a:latin typeface="Segoe UI"/>
              </a:rPr>
              <a:t>Occam’s razor</a:t>
            </a:r>
            <a:r>
              <a:rPr sz="2600" b="0" i="0">
                <a:solidFill>
                  <a:srgbClr val="1C252B"/>
                </a:solidFill>
                <a:latin typeface="Segoe UI"/>
              </a:rPr>
              <a:t>: there are far fewer short trees than long ones, so a short tree that fits the data is less likely to fit it by coincidence.</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192665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B7A43"/>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2D8552"/>
                </a:solidFill>
                <a:latin typeface="Segoe UI Black"/>
              </a:rPr>
              <a:t>09</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9</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Chapter 10 — Bayesian Learning and Naive Bayes</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9, pages 70–76</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ID3 by hand, pruning by cross-validation</a:t>
            </a:r>
          </a:p>
        </p:txBody>
      </p:sp>
      <p:sp>
        <p:nvSpPr>
          <p:cNvPr id="14" name="!!cl3">
            <a:extLst>
              <a:ext uri="{C183D7F6-B498-43B3-948B-1728B52AA6E4}">
                <adec:decorative xmlns:adec="http://schemas.microsoft.com/office/drawing/2017/decorative" val="1"/>
              </a:ext>
            </a:extLst>
          </p:cNvPr>
          <p:cNvSpPr/>
          <p:nvPr/>
        </p:nvSpPr>
        <p:spPr>
          <a:xfrm>
            <a:off x="6233007" y="3584448"/>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cll3"/>
          <p:cNvSpPr txBox="1"/>
          <p:nvPr/>
        </p:nvSpPr>
        <p:spPr>
          <a:xfrm>
            <a:off x="6507327"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ASSESSMENT</a:t>
            </a:r>
          </a:p>
        </p:txBody>
      </p:sp>
      <p:sp>
        <p:nvSpPr>
          <p:cNvPr id="16" name="!!clv3"/>
          <p:cNvSpPr txBox="1"/>
          <p:nvPr/>
        </p:nvSpPr>
        <p:spPr>
          <a:xfrm>
            <a:off x="6507327"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Midterm (Ch 1–8)</a:t>
            </a:r>
          </a:p>
        </p:txBody>
      </p:sp>
      <p:sp>
        <p:nvSpPr>
          <p:cNvPr id="1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9  ·  Decision Tree Learning</a:t>
            </a:r>
          </a:p>
        </p:txBody>
      </p:sp>
      <p:sp>
        <p:nvSpPr>
          <p:cNvPr id="18" name="!!footR"/>
          <p:cNvSpPr txBox="1"/>
          <p:nvPr/>
        </p:nvSpPr>
        <p:spPr>
          <a:xfrm>
            <a:off x="6639595" y="6437376"/>
            <a:ext cx="4893731" cy="237744"/>
          </a:xfrm>
          <a:prstGeom prst="rect">
            <a:avLst/>
          </a:prstGeom>
          <a:noFill/>
        </p:spPr>
        <p:txBody>
          <a:bodyPr wrap="square" anchor="t" lIns="0" rIns="0" tIns="0" bIns="0">
            <a:noAutofit/>
          </a:bodyPr>
          <a:lstStyle/>
          <a:p>
            <a:pPr algn="r"/>
            <a:fld id="{E5A7BA37-2BCC-4333-AF2B-349CF1A3CF24}" type="slidenum">
              <a:rPr lang="en-GB" sz="1000">
                <a:solidFill>
                  <a:srgbClr val="D5DEE5"/>
                </a:solidFill>
                <a:latin typeface="Segoe UI"/>
              </a:rPr>
              <a:t>46</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Machine Learning Fall 2026">
  <a:themeElements>
    <a:clrScheme name="Machine Learning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Machine Learning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9: Decision Tree Learning</dc:title>
  <dc:subject>Machine Learning — From Hypotheses to Decisions · BSIT · Fall 2026</dc:subject>
  <dc:creator>Dr. Mustafa Hameed</dc:creator>
  <cp:keywords>machine learning;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