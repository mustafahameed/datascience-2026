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203A56-52C0-4655-8F4B-AD3DC14984C0}">
          <p14:sldIdLst>
            <p14:sldId id="256"/>
            <p14:sldId id="257"/>
            <p14:sldId id="258"/>
            <p14:sldId id="259"/>
            <p14:sldId id="260"/>
          </p14:sldIdLst>
        </p14:section>
        <p14:section name="21.1 The Problem, and the Obvious Algorithm" id="{B4FFD6A5-A3F4-4433-8FB4-2363B0F07CCE}">
          <p14:sldIdLst>
            <p14:sldId id="261"/>
            <p14:sldId id="262"/>
            <p14:sldId id="263"/>
            <p14:sldId id="264"/>
          </p14:sldIdLst>
        </p14:section>
        <p14:section name="21.2 Rabin–Karp" id="{95ACAC68-7D73-4F08-AB34-6EAB833EA829}">
          <p14:sldIdLst>
            <p14:sldId id="265"/>
            <p14:sldId id="266"/>
            <p14:sldId id="267"/>
          </p14:sldIdLst>
        </p14:section>
        <p14:section name="21.3 Knuth–Morris–Pratt" id="{897AA2D8-C8A6-467C-8558-B8667DE87569}">
          <p14:sldIdLst>
            <p14:sldId id="268"/>
            <p14:sldId id="269"/>
            <p14:sldId id="270"/>
            <p14:sldId id="271"/>
            <p14:sldId id="272"/>
            <p14:sldId id="273"/>
            <p14:sldId id="274"/>
          </p14:sldIdLst>
        </p14:section>
        <p14:section name="21.4 Measured" id="{EE34CB26-988D-4FA7-9A9C-F579DA2878FA}">
          <p14:sldIdLst>
            <p14:sldId id="275"/>
            <p14:sldId id="276"/>
            <p14:sldId id="277"/>
            <p14:sldId id="278"/>
            <p14:sldId id="279"/>
            <p14:sldId id="280"/>
            <p14:sldId id="281"/>
            <p14:sldId id="282"/>
          </p14:sldIdLst>
        </p14:section>
        <p14:section name="Pitfalls" id="{FC2A8964-965A-4A98-906A-5ABF0778D793}">
          <p14:sldIdLst>
            <p14:sldId id="283"/>
            <p14:sldId id="284"/>
          </p14:sldIdLst>
        </p14:section>
        <p14:section name="Lab" id="{EAD7BD21-F926-46A8-9FA7-AE9A0651AAAE}">
          <p14:sldIdLst>
            <p14:sldId id="285"/>
            <p14:sldId id="286"/>
            <p14:sldId id="287"/>
            <p14:sldId id="288"/>
            <p14:sldId id="289"/>
            <p14:sldId id="290"/>
            <p14:sldId id="291"/>
            <p14:sldId id="292"/>
            <p14:sldId id="293"/>
            <p14:sldId id="294"/>
          </p14:sldIdLst>
        </p14:section>
        <p14:section name="Checkpoint" id="{0EFD296A-B0AF-4558-9708-0558A3811421}">
          <p14:sldIdLst>
            <p14:sldId id="295"/>
            <p14:sldId id="296"/>
            <p14:sldId id="297"/>
            <p14:sldId id="298"/>
            <p14:sldId id="299"/>
            <p14:sldId id="300"/>
          </p14:sldIdLst>
        </p14:section>
        <p14:section name="Wrap-up" id="{8BD25AA6-C25E-4082-A482-18C8F22C0152}">
          <p14:sldIdLst>
            <p14:sldId id="301"/>
            <p14:sldId id="302"/>
            <p14:sldId id="303"/>
            <p14:sldId id="304"/>
            <p14:sldId id="305"/>
            <p14:sldId id="30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21: String Matching. Part 6 — Strings, Limits and Practice. Week 15: String matching; P, NP and NP-completeness. Handout pages 173–180.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13 for Rabin–Karp — it is a rolling hash and inherits every caveat of Chapter 13. Chapter 17 for the KMP running-time proof, which is an amortised argument.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pattern; text; occurrence; naive matching; rolling hash; Rabin–Karp; spurious hit; prefix function; border; Knuth–Morris–Pratt; shift.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21.1 (handout p. 173): Naive-Match. After a mismatch at shift s it begins again at s+1, re-reading characters it has already examined. That re-reading is the whole of the O(nm).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21.2 (handout p. 175): Prefix-Function. It is KMP run against the pattern itself, and it is Θ(m) by the same amortised argument.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21.3 (handout p. 175): KMP-Match. The text index i advances on every iteration and never retreats, which is what makes the whole thing linear.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An amortised argument, in the pattern of Chapter 17: take the potential Φ = k, the number of characters currently matched. Φ begins at 0, never goes negative, and each iteration of the for loop increases it by at most 1 (line 7). So over n iterations the total increase is at most n. Each iteration of the inner while loop decreases Φ by at least 1, since π[k] &lt; k always. A quantity that rises by at most n in total and never goes below 0 can fall at most n times. So the inner loop executes at most n times in total across the whole run — not n times per iteration. Hence the matching phase is O(n), and the same argument applied to Prefix-Function gives O(m). The Ω(n+m) is immediate since every character is read.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five tables.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Naive matching: try every alignment.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Rabin-Karp: compare numbers, not strings.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KMP: never re-read a character of the text.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All three agree, on every input used below.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Ordinary text, where nothing much happens.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text that destroys the naive algorithm.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The input that destroys Rabin-Karp.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Rabin-Karp's actual worst case.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P = aabaaab: π = [0, 1, 0, 1, 2, 2, 3]. (At i=5, aa is a border of aabaa; at i=7, aab is a border of aabaaab.) After a mismatch having matched 6 characters, k π[6] = 2 — the pattern shifts so that its first 2 characters align with the last 2 matched, a shift of 6−2 = 4 positions.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inner loop only ever decreases k, and k is increased by at most 1 per outer iteration. Take Φ = k: it starts at 0, never goes negative, and rises by at most n in total across the run, so it can fall at most n times in total. The inner loop therefore executes at most n times over the whole run, not per iteration — the same amortised argument as Build-Heap and the dynamic array.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Naive: every alignment matches the m−1 leading a’s and fails on the final b, so each of the n shifts costs m comparisons — the worst case, attained exactly. Rabin–Karp: it never compares characters at all unless the hashes agree. Every window of an has the same hash, and am−1b has a different one, so every window is rejected in one integer comparison. The two algorithms fail on different things: naive on long partial matches, Rabin–Karp on hash collisions.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22 — Complexity Classes: P, NP and NP-Completeness. READ: Handout Chapter 21, pages 173–180. THIS WEEK'S LAB: Naive, Rabin–Karp and KMP on the same corpus. ASSESSMENT: Assignment 2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5.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3.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9.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2.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9.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String Matching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STRINGS, LIMITS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21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173     </a:t>
            </a:r>
            <a:fld id="{58160BFE-45CC-462F-8B54-B9D8FCF96F98}"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533777"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533777"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138708" y="1755648"/>
            <a:ext cx="127574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138708" y="2029967"/>
            <a:ext cx="1275747"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0728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4158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789900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78075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348487"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2570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023672"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02367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String Matching</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Hashing, and What Constant Time Actually Promises</a:t>
            </a:r>
          </a:p>
        </p:txBody>
      </p:sp>
      <p:sp>
        <p:nvSpPr>
          <p:cNvPr id="70" name="!!chipBU1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Amortised Analysis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2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2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2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7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pfill">
            <a:extLst>
              <a:ext uri="{C183D7F6-B498-43B3-948B-1728B52AA6E4}">
                <adec:decorative xmlns:adec="http://schemas.microsoft.com/office/drawing/2017/decorative" val="1"/>
              </a:ext>
            </a:extLst>
          </p:cNvPr>
          <p:cNvSpPr/>
          <p:nvPr/>
        </p:nvSpPr>
        <p:spPr>
          <a:xfrm>
            <a:off x="0" y="0"/>
            <a:ext cx="4781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173     </a:t>
            </a:r>
            <a:fld id="{C09D9F32-1B23-4D2B-A0C3-C4EA60151153}"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Trace</a:t>
            </a:r>
            <a:r>
              <a:rPr sz="2100" b="0" i="0">
                <a:solidFill>
                  <a:srgbClr val="1C252B"/>
                </a:solidFill>
                <a:latin typeface="Segoe UI"/>
              </a:rPr>
              <a:t> the naive, Rabin–Karp and Knuth–Morris–Pratt algorithms on a given text and pattern </a:t>
            </a:r>
            <a:r>
              <a:rPr sz="2100" b="0" i="1">
                <a:solidFill>
                  <a:srgbClr val="1C252B"/>
                </a:solidFill>
                <a:latin typeface="Segoe UI"/>
              </a:rPr>
              <a:t>(CLO-8)</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Derive</a:t>
            </a:r>
            <a:r>
              <a:rPr sz="2100" b="0" i="0">
                <a:solidFill>
                  <a:srgbClr val="1C252B"/>
                </a:solidFill>
                <a:latin typeface="Segoe UI"/>
              </a:rPr>
              <a:t> the prefix function and </a:t>
            </a:r>
            <a:r>
              <a:rPr sz="2100" b="1" i="0">
                <a:solidFill>
                  <a:srgbClr val="1C252B"/>
                </a:solidFill>
                <a:latin typeface="Segoe UI"/>
              </a:rPr>
              <a:t>explain</a:t>
            </a:r>
            <a:r>
              <a:rPr sz="2100" b="0" i="0">
                <a:solidFill>
                  <a:srgbClr val="1C252B"/>
                </a:solidFill>
                <a:latin typeface="Segoe UI"/>
              </a:rPr>
              <a:t> why it gives the correct shift after a mismatch.</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Prove</a:t>
            </a:r>
            <a:r>
              <a:rPr sz="2100" b="0" i="0">
                <a:solidFill>
                  <a:srgbClr val="1C252B"/>
                </a:solidFill>
                <a:latin typeface="Segoe UI"/>
              </a:rPr>
              <a:t> that KMP runs in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a:t>
            </a:r>
            <a:r>
              <a:rPr sz="2100" b="0" i="1">
                <a:solidFill>
                  <a:srgbClr val="1C252B"/>
                </a:solidFill>
                <a:latin typeface="Cambria"/>
              </a:rPr>
              <a:t>m</a:t>
            </a:r>
            <a:r>
              <a:rPr sz="2100" b="0" i="0">
                <a:solidFill>
                  <a:srgbClr val="1C252B"/>
                </a:solidFill>
                <a:latin typeface="Cambria"/>
              </a:rPr>
              <a:t>)</a:t>
            </a:r>
            <a:r>
              <a:rPr sz="2100" b="0" i="0">
                <a:solidFill>
                  <a:srgbClr val="1C252B"/>
                </a:solidFill>
                <a:latin typeface="Segoe UI"/>
              </a:rPr>
              <a:t> by an amortised argument.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Identify</a:t>
            </a:r>
            <a:r>
              <a:rPr sz="2100" b="0" i="0">
                <a:solidFill>
                  <a:srgbClr val="1C252B"/>
                </a:solidFill>
                <a:latin typeface="Segoe UI"/>
              </a:rPr>
              <a:t> the inputs on which the naive and Rabin–Karp algorithms degrade, and </a:t>
            </a:r>
            <a:r>
              <a:rPr sz="2100" b="1" i="0">
                <a:solidFill>
                  <a:srgbClr val="1C252B"/>
                </a:solidFill>
                <a:latin typeface="Segoe UI"/>
              </a:rPr>
              <a:t>explain</a:t>
            </a:r>
            <a:r>
              <a:rPr sz="2100" b="0" i="0">
                <a:solidFill>
                  <a:srgbClr val="1C252B"/>
                </a:solidFill>
                <a:latin typeface="Segoe UI"/>
              </a:rPr>
              <a:t> why KMP has none.</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Choose</a:t>
            </a:r>
            <a:r>
              <a:rPr sz="2100" b="0" i="0">
                <a:solidFill>
                  <a:srgbClr val="1C252B"/>
                </a:solidFill>
                <a:latin typeface="Segoe UI"/>
              </a:rPr>
              <a:t> an algorithm for a stated matching workload.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171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173     </a:t>
            </a:r>
            <a:fld id="{0F38D6C4-D5F0-4210-A109-D1DA2A878923}" type="slidenum">
              <a:rPr lang="en-GB" sz="1000">
                <a:solidFill>
                  <a:srgbClr val="8795A1"/>
                </a:solidFill>
                <a:latin typeface="Segoe UI"/>
              </a:rPr>
              <a:t>4</a:t>
            </a:fld>
          </a:p>
        </p:txBody>
      </p:sp>
      <p:sp>
        <p:nvSpPr>
          <p:cNvPr id="7" name="!!term-pattern">
            <a:extLst>
              <a:ext uri="{C183D7F6-B498-43B3-948B-1728B52AA6E4}">
                <adec:decorative xmlns:adec="http://schemas.microsoft.com/office/drawing/2017/decorative" val="1"/>
              </a:ext>
            </a:extLst>
          </p:cNvPr>
          <p:cNvSpPr/>
          <p:nvPr/>
        </p:nvSpPr>
        <p:spPr>
          <a:xfrm>
            <a:off x="658368" y="1847088"/>
            <a:ext cx="11461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atter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attern"/>
          <p:cNvSpPr txBox="1"/>
          <p:nvPr/>
        </p:nvSpPr>
        <p:spPr>
          <a:xfrm>
            <a:off x="950976" y="1955291"/>
            <a:ext cx="96329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pattern</a:t>
            </a:r>
          </a:p>
        </p:txBody>
      </p:sp>
      <p:sp>
        <p:nvSpPr>
          <p:cNvPr id="10" name="!!term-text">
            <a:extLst>
              <a:ext uri="{C183D7F6-B498-43B3-948B-1728B52AA6E4}">
                <adec:decorative xmlns:adec="http://schemas.microsoft.com/office/drawing/2017/decorative" val="1"/>
              </a:ext>
            </a:extLst>
          </p:cNvPr>
          <p:cNvSpPr/>
          <p:nvPr/>
        </p:nvSpPr>
        <p:spPr>
          <a:xfrm>
            <a:off x="1950845" y="1847088"/>
            <a:ext cx="8044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ext">
            <a:extLst>
              <a:ext uri="{C183D7F6-B498-43B3-948B-1728B52AA6E4}">
                <adec:decorative xmlns:adec="http://schemas.microsoft.com/office/drawing/2017/decorative" val="1"/>
              </a:ext>
            </a:extLst>
          </p:cNvPr>
          <p:cNvSpPr/>
          <p:nvPr/>
        </p:nvSpPr>
        <p:spPr>
          <a:xfrm>
            <a:off x="20788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ext"/>
          <p:cNvSpPr txBox="1"/>
          <p:nvPr/>
        </p:nvSpPr>
        <p:spPr>
          <a:xfrm>
            <a:off x="2243453" y="1955291"/>
            <a:ext cx="62156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text</a:t>
            </a:r>
          </a:p>
        </p:txBody>
      </p:sp>
      <p:sp>
        <p:nvSpPr>
          <p:cNvPr id="13" name="!!term-occurrence">
            <a:extLst>
              <a:ext uri="{C183D7F6-B498-43B3-948B-1728B52AA6E4}">
                <adec:decorative xmlns:adec="http://schemas.microsoft.com/office/drawing/2017/decorative" val="1"/>
              </a:ext>
            </a:extLst>
          </p:cNvPr>
          <p:cNvSpPr/>
          <p:nvPr/>
        </p:nvSpPr>
        <p:spPr>
          <a:xfrm>
            <a:off x="2901595" y="1847088"/>
            <a:ext cx="15060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ccurrence">
            <a:extLst>
              <a:ext uri="{C183D7F6-B498-43B3-948B-1728B52AA6E4}">
                <adec:decorative xmlns:adec="http://schemas.microsoft.com/office/drawing/2017/decorative" val="1"/>
              </a:ext>
            </a:extLst>
          </p:cNvPr>
          <p:cNvSpPr/>
          <p:nvPr/>
        </p:nvSpPr>
        <p:spPr>
          <a:xfrm>
            <a:off x="302961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ccurrence"/>
          <p:cNvSpPr txBox="1"/>
          <p:nvPr/>
        </p:nvSpPr>
        <p:spPr>
          <a:xfrm>
            <a:off x="3194203" y="1955291"/>
            <a:ext cx="132316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occurrence</a:t>
            </a:r>
          </a:p>
        </p:txBody>
      </p:sp>
      <p:sp>
        <p:nvSpPr>
          <p:cNvPr id="16" name="!!term-naive matching">
            <a:extLst>
              <a:ext uri="{C183D7F6-B498-43B3-948B-1728B52AA6E4}">
                <adec:decorative xmlns:adec="http://schemas.microsoft.com/office/drawing/2017/decorative" val="1"/>
              </a:ext>
            </a:extLst>
          </p:cNvPr>
          <p:cNvSpPr/>
          <p:nvPr/>
        </p:nvSpPr>
        <p:spPr>
          <a:xfrm>
            <a:off x="4553943" y="1847088"/>
            <a:ext cx="19202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naive matching">
            <a:extLst>
              <a:ext uri="{C183D7F6-B498-43B3-948B-1728B52AA6E4}">
                <adec:decorative xmlns:adec="http://schemas.microsoft.com/office/drawing/2017/decorative" val="1"/>
              </a:ext>
            </a:extLst>
          </p:cNvPr>
          <p:cNvSpPr/>
          <p:nvPr/>
        </p:nvSpPr>
        <p:spPr>
          <a:xfrm>
            <a:off x="468195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naive matching"/>
          <p:cNvSpPr txBox="1"/>
          <p:nvPr/>
        </p:nvSpPr>
        <p:spPr>
          <a:xfrm>
            <a:off x="4846551" y="1955291"/>
            <a:ext cx="173737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naive matching</a:t>
            </a:r>
          </a:p>
        </p:txBody>
      </p:sp>
      <p:sp>
        <p:nvSpPr>
          <p:cNvPr id="19" name="!!term-rolling hash">
            <a:extLst>
              <a:ext uri="{C183D7F6-B498-43B3-948B-1728B52AA6E4}">
                <adec:decorative xmlns:adec="http://schemas.microsoft.com/office/drawing/2017/decorative" val="1"/>
              </a:ext>
            </a:extLst>
          </p:cNvPr>
          <p:cNvSpPr/>
          <p:nvPr/>
        </p:nvSpPr>
        <p:spPr>
          <a:xfrm>
            <a:off x="6620500" y="1847088"/>
            <a:ext cx="15738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olling hash">
            <a:extLst>
              <a:ext uri="{C183D7F6-B498-43B3-948B-1728B52AA6E4}">
                <adec:decorative xmlns:adec="http://schemas.microsoft.com/office/drawing/2017/decorative" val="1"/>
              </a:ext>
            </a:extLst>
          </p:cNvPr>
          <p:cNvSpPr/>
          <p:nvPr/>
        </p:nvSpPr>
        <p:spPr>
          <a:xfrm>
            <a:off x="67485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olling hash"/>
          <p:cNvSpPr txBox="1"/>
          <p:nvPr/>
        </p:nvSpPr>
        <p:spPr>
          <a:xfrm>
            <a:off x="6913108" y="1955291"/>
            <a:ext cx="139099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rolling hash</a:t>
            </a:r>
          </a:p>
        </p:txBody>
      </p:sp>
      <p:sp>
        <p:nvSpPr>
          <p:cNvPr id="22" name="!!term-Rabin–Karp">
            <a:extLst>
              <a:ext uri="{C183D7F6-B498-43B3-948B-1728B52AA6E4}">
                <adec:decorative xmlns:adec="http://schemas.microsoft.com/office/drawing/2017/decorative" val="1"/>
              </a:ext>
            </a:extLst>
          </p:cNvPr>
          <p:cNvSpPr/>
          <p:nvPr/>
        </p:nvSpPr>
        <p:spPr>
          <a:xfrm>
            <a:off x="8340675" y="1847088"/>
            <a:ext cx="15461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Rabin–Karp">
            <a:extLst>
              <a:ext uri="{C183D7F6-B498-43B3-948B-1728B52AA6E4}">
                <adec:decorative xmlns:adec="http://schemas.microsoft.com/office/drawing/2017/decorative" val="1"/>
              </a:ext>
            </a:extLst>
          </p:cNvPr>
          <p:cNvSpPr/>
          <p:nvPr/>
        </p:nvSpPr>
        <p:spPr>
          <a:xfrm>
            <a:off x="846869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Rabin–Karp"/>
          <p:cNvSpPr txBox="1"/>
          <p:nvPr/>
        </p:nvSpPr>
        <p:spPr>
          <a:xfrm>
            <a:off x="8633283" y="1955291"/>
            <a:ext cx="136328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Rabin–Karp</a:t>
            </a:r>
          </a:p>
        </p:txBody>
      </p:sp>
      <p:sp>
        <p:nvSpPr>
          <p:cNvPr id="25" name="!!term-spurious hit">
            <a:extLst>
              <a:ext uri="{C183D7F6-B498-43B3-948B-1728B52AA6E4}">
                <adec:decorative xmlns:adec="http://schemas.microsoft.com/office/drawing/2017/decorative" val="1"/>
              </a:ext>
            </a:extLst>
          </p:cNvPr>
          <p:cNvSpPr/>
          <p:nvPr/>
        </p:nvSpPr>
        <p:spPr>
          <a:xfrm>
            <a:off x="658368" y="2468880"/>
            <a:ext cx="15763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purious hi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purious hit"/>
          <p:cNvSpPr txBox="1"/>
          <p:nvPr/>
        </p:nvSpPr>
        <p:spPr>
          <a:xfrm>
            <a:off x="950976" y="2577084"/>
            <a:ext cx="139345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spurious hit</a:t>
            </a:r>
          </a:p>
        </p:txBody>
      </p:sp>
      <p:sp>
        <p:nvSpPr>
          <p:cNvPr id="28" name="!!term-prefix functio">
            <a:extLst>
              <a:ext uri="{C183D7F6-B498-43B3-948B-1728B52AA6E4}">
                <adec:decorative xmlns:adec="http://schemas.microsoft.com/office/drawing/2017/decorative" val="1"/>
              </a:ext>
            </a:extLst>
          </p:cNvPr>
          <p:cNvSpPr/>
          <p:nvPr/>
        </p:nvSpPr>
        <p:spPr>
          <a:xfrm>
            <a:off x="2381009" y="2468880"/>
            <a:ext cx="18453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efix functio">
            <a:extLst>
              <a:ext uri="{C183D7F6-B498-43B3-948B-1728B52AA6E4}">
                <adec:decorative xmlns:adec="http://schemas.microsoft.com/office/drawing/2017/decorative" val="1"/>
              </a:ext>
            </a:extLst>
          </p:cNvPr>
          <p:cNvSpPr/>
          <p:nvPr/>
        </p:nvSpPr>
        <p:spPr>
          <a:xfrm>
            <a:off x="250902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efix functio"/>
          <p:cNvSpPr txBox="1"/>
          <p:nvPr/>
        </p:nvSpPr>
        <p:spPr>
          <a:xfrm>
            <a:off x="2673617" y="2577084"/>
            <a:ext cx="166251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prefix function</a:t>
            </a:r>
          </a:p>
        </p:txBody>
      </p:sp>
      <p:sp>
        <p:nvSpPr>
          <p:cNvPr id="31" name="!!term-border">
            <a:extLst>
              <a:ext uri="{C183D7F6-B498-43B3-948B-1728B52AA6E4}">
                <adec:decorative xmlns:adec="http://schemas.microsoft.com/office/drawing/2017/decorative" val="1"/>
              </a:ext>
            </a:extLst>
          </p:cNvPr>
          <p:cNvSpPr/>
          <p:nvPr/>
        </p:nvSpPr>
        <p:spPr>
          <a:xfrm>
            <a:off x="4372713" y="2468880"/>
            <a:ext cx="10955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border">
            <a:extLst>
              <a:ext uri="{C183D7F6-B498-43B3-948B-1728B52AA6E4}">
                <adec:decorative xmlns:adec="http://schemas.microsoft.com/office/drawing/2017/decorative" val="1"/>
              </a:ext>
            </a:extLst>
          </p:cNvPr>
          <p:cNvSpPr/>
          <p:nvPr/>
        </p:nvSpPr>
        <p:spPr>
          <a:xfrm>
            <a:off x="450072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border"/>
          <p:cNvSpPr txBox="1"/>
          <p:nvPr/>
        </p:nvSpPr>
        <p:spPr>
          <a:xfrm>
            <a:off x="4665321" y="2577084"/>
            <a:ext cx="9126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border</a:t>
            </a:r>
          </a:p>
        </p:txBody>
      </p:sp>
      <p:sp>
        <p:nvSpPr>
          <p:cNvPr id="34" name="!!term-Knuth–Morris–P">
            <a:extLst>
              <a:ext uri="{C183D7F6-B498-43B3-948B-1728B52AA6E4}">
                <adec:decorative xmlns:adec="http://schemas.microsoft.com/office/drawing/2017/decorative" val="1"/>
              </a:ext>
            </a:extLst>
          </p:cNvPr>
          <p:cNvSpPr/>
          <p:nvPr/>
        </p:nvSpPr>
        <p:spPr>
          <a:xfrm>
            <a:off x="5614574" y="2468880"/>
            <a:ext cx="23235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Knuth–Morris–P">
            <a:extLst>
              <a:ext uri="{C183D7F6-B498-43B3-948B-1728B52AA6E4}">
                <adec:decorative xmlns:adec="http://schemas.microsoft.com/office/drawing/2017/decorative" val="1"/>
              </a:ext>
            </a:extLst>
          </p:cNvPr>
          <p:cNvSpPr/>
          <p:nvPr/>
        </p:nvSpPr>
        <p:spPr>
          <a:xfrm>
            <a:off x="574259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Knuth–Morris–P"/>
          <p:cNvSpPr txBox="1"/>
          <p:nvPr/>
        </p:nvSpPr>
        <p:spPr>
          <a:xfrm>
            <a:off x="5907182" y="2577084"/>
            <a:ext cx="214065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Knuth–Morris–Pratt</a:t>
            </a:r>
          </a:p>
        </p:txBody>
      </p:sp>
      <p:sp>
        <p:nvSpPr>
          <p:cNvPr id="37" name="!!term-shift">
            <a:extLst>
              <a:ext uri="{C183D7F6-B498-43B3-948B-1728B52AA6E4}">
                <adec:decorative xmlns:adec="http://schemas.microsoft.com/office/drawing/2017/decorative" val="1"/>
              </a:ext>
            </a:extLst>
          </p:cNvPr>
          <p:cNvSpPr/>
          <p:nvPr/>
        </p:nvSpPr>
        <p:spPr>
          <a:xfrm>
            <a:off x="8084416" y="2468880"/>
            <a:ext cx="8538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hift">
            <a:extLst>
              <a:ext uri="{C183D7F6-B498-43B3-948B-1728B52AA6E4}">
                <adec:decorative xmlns:adec="http://schemas.microsoft.com/office/drawing/2017/decorative" val="1"/>
              </a:ext>
            </a:extLst>
          </p:cNvPr>
          <p:cNvSpPr/>
          <p:nvPr/>
        </p:nvSpPr>
        <p:spPr>
          <a:xfrm>
            <a:off x="821243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hift"/>
          <p:cNvSpPr txBox="1"/>
          <p:nvPr/>
        </p:nvSpPr>
        <p:spPr>
          <a:xfrm>
            <a:off x="8377024" y="2577084"/>
            <a:ext cx="67098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shift</a:t>
            </a:r>
          </a:p>
        </p:txBody>
      </p:sp>
      <p:sp>
        <p:nvSpPr>
          <p:cNvPr id="40"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9562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173–180     </a:t>
            </a:r>
            <a:fld id="{4F84AD43-40FE-43EC-A274-2BE17FF5696F}" type="slidenum">
              <a:rPr lang="en-GB" sz="1000">
                <a:solidFill>
                  <a:srgbClr val="8795A1"/>
                </a:solidFill>
                <a:latin typeface="Segoe UI"/>
              </a:rPr>
              <a:t>5</a:t>
            </a:fld>
          </a:p>
        </p:txBody>
      </p:sp>
      <p:sp>
        <p:nvSpPr>
          <p:cNvPr id="7" name="!!ag0" descr="Go to section 21.1 The Problem, and the Obvious Algorithm">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Problem, and the Obvious Algorithm</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173  ›</a:t>
            </a:r>
          </a:p>
        </p:txBody>
      </p:sp>
      <p:sp>
        <p:nvSpPr>
          <p:cNvPr id="12" name="!!ag1" descr="Go to section 21.2 Rabin–Karp">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Rabin–Karp</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174  ›</a:t>
            </a:r>
          </a:p>
        </p:txBody>
      </p:sp>
      <p:sp>
        <p:nvSpPr>
          <p:cNvPr id="17" name="!!ag2" descr="Go to section 21.3 Knuth–Morris–Prat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Knuth–Morris–Pratt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174  ›</a:t>
            </a:r>
          </a:p>
        </p:txBody>
      </p:sp>
      <p:sp>
        <p:nvSpPr>
          <p:cNvPr id="22" name="!!ag3" descr="Go to section 21.4 Measured">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176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19526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Problem, and the Obvious Algorithm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21.1   The Problem, and the Obvious Algorithm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Rabin–Karp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Knuth–Morris–Pratt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§21.1     </a:t>
            </a:r>
            <a:fld id="{FBEF8808-DD98-49B9-84EC-A437C1A491E7}"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4343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String Matching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173     </a:t>
            </a:r>
            <a:fld id="{AFB05903-475B-4A3F-8DF6-77D20B9F931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Given a text </a:t>
            </a:r>
            <a:r>
              <a:rPr sz="2300" b="0" i="1">
                <a:solidFill>
                  <a:srgbClr val="1C252B"/>
                </a:solidFill>
                <a:latin typeface="Cambria"/>
              </a:rPr>
              <a:t>T</a:t>
            </a:r>
            <a:r>
              <a:rPr sz="2300" b="0" i="0">
                <a:solidFill>
                  <a:srgbClr val="1C252B"/>
                </a:solidFill>
                <a:latin typeface="Segoe UI"/>
              </a:rPr>
              <a:t> of length </a:t>
            </a:r>
            <a:r>
              <a:rPr sz="2300" b="0" i="1">
                <a:solidFill>
                  <a:srgbClr val="1C252B"/>
                </a:solidFill>
                <a:latin typeface="Cambria"/>
              </a:rPr>
              <a:t>n</a:t>
            </a:r>
            <a:r>
              <a:rPr sz="2300" b="0" i="0">
                <a:solidFill>
                  <a:srgbClr val="1C252B"/>
                </a:solidFill>
                <a:latin typeface="Segoe UI"/>
              </a:rPr>
              <a:t> and a pattern </a:t>
            </a:r>
            <a:r>
              <a:rPr sz="2300" b="0" i="1">
                <a:solidFill>
                  <a:srgbClr val="1C252B"/>
                </a:solidFill>
                <a:latin typeface="Cambria"/>
              </a:rPr>
              <a:t>P</a:t>
            </a:r>
            <a:r>
              <a:rPr sz="2300" b="0" i="0">
                <a:solidFill>
                  <a:srgbClr val="1C252B"/>
                </a:solidFill>
                <a:latin typeface="Segoe UI"/>
              </a:rPr>
              <a:t> of length </a:t>
            </a:r>
            <a:r>
              <a:rPr sz="2300" b="0" i="1">
                <a:solidFill>
                  <a:srgbClr val="1C252B"/>
                </a:solidFill>
                <a:latin typeface="Cambria"/>
              </a:rPr>
              <a:t>m</a:t>
            </a:r>
            <a:r>
              <a:rPr sz="2300" b="0" i="0">
                <a:solidFill>
                  <a:srgbClr val="1C252B"/>
                </a:solidFill>
                <a:latin typeface="Cambria"/>
              </a:rPr>
              <a:t> ≤ </a:t>
            </a:r>
            <a:r>
              <a:rPr sz="2300" b="0" i="1">
                <a:solidFill>
                  <a:srgbClr val="1C252B"/>
                </a:solidFill>
                <a:latin typeface="Cambria"/>
              </a:rPr>
              <a:t>n</a:t>
            </a:r>
            <a:r>
              <a:rPr sz="2300" b="0" i="0">
                <a:solidFill>
                  <a:srgbClr val="1C252B"/>
                </a:solidFill>
                <a:latin typeface="Segoe UI"/>
              </a:rPr>
              <a:t>, find every shift </a:t>
            </a:r>
            <a:r>
              <a:rPr sz="2300" b="0" i="1">
                <a:solidFill>
                  <a:srgbClr val="1C252B"/>
                </a:solidFill>
                <a:latin typeface="Cambria"/>
              </a:rPr>
              <a:t>s</a:t>
            </a:r>
            <a:r>
              <a:rPr sz="2300" b="0" i="0">
                <a:solidFill>
                  <a:srgbClr val="1C252B"/>
                </a:solidFill>
                <a:latin typeface="Segoe UI"/>
              </a:rPr>
              <a:t> such that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+1 </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m</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67336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Problem, and the Obvious Algorithm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173     </a:t>
            </a:r>
            <a:fld id="{17A78DC3-39D3-445C-B202-A1ED3029A977}" type="slidenum">
              <a:rPr lang="en-GB" sz="1000">
                <a:solidFill>
                  <a:srgbClr val="8795A1"/>
                </a:solidFill>
                <a:latin typeface="Segoe UI"/>
              </a:rPr>
              <a:t>8</a:t>
            </a:fld>
          </a:p>
        </p:txBody>
      </p:sp>
      <p:pic>
        <p:nvPicPr>
          <p:cNvPr id="6" name="!!figure" descr="Figure 21.1. Naive-Match. After a mismatch at shift s it begins again at s+1, re-reading characters it has already examined. That re-reading is the whole of the O(n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243" y="1737360"/>
            <a:ext cx="994720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Naive-Match. After a mismatch at shift s it begins again at s+1, re-reading characters it has already examined. That re-reading is the whole of the O(nm).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9124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naive algorithm forgets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173     </a:t>
            </a:r>
            <a:fld id="{412DF3FB-DD23-481D-A6C2-EB96FCECD505}"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Suppose </a:t>
            </a:r>
            <a:r>
              <a:rPr sz="2300" b="0" i="1">
                <a:solidFill>
                  <a:srgbClr val="1C252B"/>
                </a:solidFill>
                <a:latin typeface="Cambria"/>
              </a:rPr>
              <a:t>P</a:t>
            </a:r>
            <a:r>
              <a:rPr sz="2300" b="0" i="0">
                <a:solidFill>
                  <a:srgbClr val="1C252B"/>
                </a:solidFill>
                <a:latin typeface="Cambria"/>
              </a:rPr>
              <a:t> = </a:t>
            </a:r>
            <a:r>
              <a:rPr sz="2300" b="0" i="1">
                <a:solidFill>
                  <a:srgbClr val="1C252B"/>
                </a:solidFill>
                <a:latin typeface="Cambria"/>
              </a:rPr>
              <a:t>abcabcd</a:t>
            </a:r>
            <a:r>
              <a:rPr sz="2300" b="0" i="0">
                <a:solidFill>
                  <a:srgbClr val="1C252B"/>
                </a:solidFill>
                <a:latin typeface="Segoe UI"/>
              </a:rPr>
              <a:t> and the first mismatch at shift </a:t>
            </a:r>
            <a:r>
              <a:rPr sz="2300" b="0" i="1">
                <a:solidFill>
                  <a:srgbClr val="1C252B"/>
                </a:solidFill>
                <a:latin typeface="Cambria"/>
              </a:rPr>
              <a:t>s</a:t>
            </a:r>
            <a:r>
              <a:rPr sz="2300" b="0" i="0">
                <a:solidFill>
                  <a:srgbClr val="1C252B"/>
                </a:solidFill>
                <a:latin typeface="Segoe UI"/>
              </a:rPr>
              <a:t> occurs at position 7 — so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+1 </a:t>
            </a:r>
            <a:r>
              <a:rPr sz="2300" b="0" i="1">
                <a:solidFill>
                  <a:srgbClr val="1C252B"/>
                </a:solidFill>
                <a:latin typeface="Cambria"/>
              </a:rPr>
              <a:t>s</a:t>
            </a:r>
            <a:r>
              <a:rPr sz="2300" b="0" i="0">
                <a:solidFill>
                  <a:srgbClr val="1C252B"/>
                </a:solidFill>
                <a:latin typeface="Cambria"/>
              </a:rPr>
              <a:t>+6] = </a:t>
            </a:r>
            <a:r>
              <a:rPr sz="2300" b="0" i="1">
                <a:solidFill>
                  <a:srgbClr val="1C252B"/>
                </a:solidFill>
                <a:latin typeface="Cambria"/>
              </a:rPr>
              <a:t>abcabc</a:t>
            </a:r>
            <a:r>
              <a:rPr sz="2300" b="0" i="0">
                <a:solidFill>
                  <a:srgbClr val="1C252B"/>
                </a:solidFill>
                <a:latin typeface="Segoe UI"/>
              </a:rPr>
              <a:t>.</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naive algorithm now tries shift </a:t>
            </a:r>
            <a:r>
              <a:rPr sz="2300" b="0" i="1">
                <a:solidFill>
                  <a:srgbClr val="1C252B"/>
                </a:solidFill>
                <a:latin typeface="Cambria"/>
              </a:rPr>
              <a:t>s</a:t>
            </a:r>
            <a:r>
              <a:rPr sz="2300" b="0" i="0">
                <a:solidFill>
                  <a:srgbClr val="1C252B"/>
                </a:solidFill>
                <a:latin typeface="Cambria"/>
              </a:rPr>
              <a:t>+1</a:t>
            </a:r>
            <a:r>
              <a:rPr sz="2300" b="0" i="0">
                <a:solidFill>
                  <a:srgbClr val="1C252B"/>
                </a:solidFill>
                <a:latin typeface="Segoe UI"/>
              </a:rPr>
              <a:t>, comparing </a:t>
            </a:r>
            <a:r>
              <a:rPr sz="2300" b="0" i="1">
                <a:solidFill>
                  <a:srgbClr val="1C252B"/>
                </a:solidFill>
                <a:latin typeface="Cambria"/>
              </a:rPr>
              <a:t>P</a:t>
            </a:r>
            <a:r>
              <a:rPr sz="2300" b="0" i="0">
                <a:solidFill>
                  <a:srgbClr val="1C252B"/>
                </a:solidFill>
                <a:latin typeface="Cambria"/>
              </a:rPr>
              <a:t>[1] = </a:t>
            </a:r>
            <a:r>
              <a:rPr sz="2300" b="0" i="1">
                <a:solidFill>
                  <a:srgbClr val="1C252B"/>
                </a:solidFill>
                <a:latin typeface="Cambria"/>
              </a:rPr>
              <a:t>a</a:t>
            </a:r>
            <a:r>
              <a:rPr sz="2300" b="0" i="0">
                <a:solidFill>
                  <a:srgbClr val="1C252B"/>
                </a:solidFill>
                <a:latin typeface="Segoe UI"/>
              </a:rPr>
              <a:t> with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+2] = </a:t>
            </a:r>
            <a:r>
              <a:rPr sz="2300" b="0" i="1">
                <a:solidFill>
                  <a:srgbClr val="1C252B"/>
                </a:solidFill>
                <a:latin typeface="Cambria"/>
              </a:rPr>
              <a:t>b</a:t>
            </a:r>
            <a:r>
              <a:rPr sz="2300" b="0" i="0">
                <a:solidFill>
                  <a:srgbClr val="1C252B"/>
                </a:solidFill>
                <a:latin typeface="Segoe UI"/>
              </a:rPr>
              <a:t>. But we </a:t>
            </a:r>
            <a:r>
              <a:rPr sz="2300" b="0" i="1">
                <a:solidFill>
                  <a:srgbClr val="1C252B"/>
                </a:solidFill>
                <a:latin typeface="Segoe UI"/>
              </a:rPr>
              <a:t>already know</a:t>
            </a:r>
            <a:r>
              <a:rPr sz="2300" b="0" i="0">
                <a:solidFill>
                  <a:srgbClr val="1C252B"/>
                </a:solidFill>
                <a:latin typeface="Segoe UI"/>
              </a:rPr>
              <a:t>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+2] = </a:t>
            </a:r>
            <a:r>
              <a:rPr sz="2300" b="0" i="1">
                <a:solidFill>
                  <a:srgbClr val="1C252B"/>
                </a:solidFill>
                <a:latin typeface="Cambria"/>
              </a:rPr>
              <a:t>b</a:t>
            </a:r>
            <a:r>
              <a:rPr sz="2300" b="0" i="0">
                <a:solidFill>
                  <a:srgbClr val="1C252B"/>
                </a:solidFill>
                <a:latin typeface="Segoe UI"/>
              </a:rPr>
              <a:t>, because we just read it. Shifts </a:t>
            </a:r>
            <a:r>
              <a:rPr sz="2300" b="0" i="1">
                <a:solidFill>
                  <a:srgbClr val="1C252B"/>
                </a:solidFill>
                <a:latin typeface="Cambria"/>
              </a:rPr>
              <a:t>s</a:t>
            </a:r>
            <a:r>
              <a:rPr sz="2300" b="0" i="0">
                <a:solidFill>
                  <a:srgbClr val="1C252B"/>
                </a:solidFill>
                <a:latin typeface="Cambria"/>
              </a:rPr>
              <a:t>+1</a:t>
            </a:r>
            <a:r>
              <a:rPr sz="2300" b="0" i="0">
                <a:solidFill>
                  <a:srgbClr val="1C252B"/>
                </a:solidFill>
                <a:latin typeface="Segoe UI"/>
              </a:rPr>
              <a:t> and </a:t>
            </a:r>
            <a:r>
              <a:rPr sz="2300" b="0" i="1">
                <a:solidFill>
                  <a:srgbClr val="1C252B"/>
                </a:solidFill>
                <a:latin typeface="Cambria"/>
              </a:rPr>
              <a:t>s</a:t>
            </a:r>
            <a:r>
              <a:rPr sz="2300" b="0" i="0">
                <a:solidFill>
                  <a:srgbClr val="1C252B"/>
                </a:solidFill>
                <a:latin typeface="Cambria"/>
              </a:rPr>
              <a:t>+2</a:t>
            </a:r>
            <a:r>
              <a:rPr sz="2300" b="0" i="0">
                <a:solidFill>
                  <a:srgbClr val="1C252B"/>
                </a:solidFill>
                <a:latin typeface="Segoe UI"/>
              </a:rPr>
              <a:t> are both hopeless and could have been skipped without looking at the text at all.</a:t>
            </a:r>
          </a:p>
        </p:txBody>
      </p:sp>
      <p:sp>
        <p:nvSpPr>
          <p:cNvPr id="11" name="body-2"/>
          <p:cNvSpPr txBox="1"/>
          <p:nvPr/>
        </p:nvSpPr>
        <p:spPr>
          <a:xfrm>
            <a:off x="1060704" y="4556810"/>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The information to skip them is in the pattern, not the text.</a:t>
            </a:r>
            <a:r>
              <a:rPr sz="2300" b="0" i="0">
                <a:solidFill>
                  <a:srgbClr val="1C252B"/>
                </a:solidFill>
                <a:latin typeface="Segoe UI"/>
              </a:rPr>
              <a:t> Both better algorithms exploit this, in different ways: Rabin–Karp summarises the window with a hash, and KMP precomputes exactly how far it may safely jump.</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1514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Rabin–Karp</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The Problem, and the Obvious Algorithm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21.2   Rabin–Karp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Knuth–Morris–Pratt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§21.2     </a:t>
            </a:r>
            <a:fld id="{9A33B01A-F661-45F2-9363-278DCEA596BC}"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905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Compare numbers, not strings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§21.2  ·  Handout p. 174     </a:t>
            </a:r>
            <a:fld id="{9734C39B-E439-47B0-A7E8-34F23F02758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7387"/>
          </a:xfrm>
          <a:prstGeom prst="roundRect">
            <a:avLst>
              <a:gd name="adj" fmla="val 210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738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Treat each window of </a:t>
            </a:r>
            <a:r>
              <a:rPr sz="1900" b="0" i="1">
                <a:solidFill>
                  <a:srgbClr val="1C252B"/>
                </a:solidFill>
                <a:latin typeface="Cambria"/>
              </a:rPr>
              <a:t>m</a:t>
            </a:r>
            <a:r>
              <a:rPr sz="1900" b="0" i="0">
                <a:solidFill>
                  <a:srgbClr val="1C252B"/>
                </a:solidFill>
                <a:latin typeface="Segoe UI"/>
              </a:rPr>
              <a:t> characters as a number in base </a:t>
            </a:r>
            <a:r>
              <a:rPr sz="1900" b="0" i="1">
                <a:solidFill>
                  <a:srgbClr val="1C252B"/>
                </a:solidFill>
                <a:latin typeface="Cambria"/>
              </a:rPr>
              <a:t>d</a:t>
            </a:r>
            <a:r>
              <a:rPr sz="1900" b="0" i="0">
                <a:solidFill>
                  <a:srgbClr val="1C252B"/>
                </a:solidFill>
                <a:latin typeface="Segoe UI"/>
              </a:rPr>
              <a:t> modulo </a:t>
            </a:r>
            <a:r>
              <a:rPr sz="1900" b="0" i="1">
                <a:solidFill>
                  <a:srgbClr val="1C252B"/>
                </a:solidFill>
                <a:latin typeface="Cambria"/>
              </a:rPr>
              <a:t>q</a:t>
            </a:r>
            <a:r>
              <a:rPr sz="1900" b="0" i="0">
                <a:solidFill>
                  <a:srgbClr val="1C252B"/>
                </a:solidFill>
                <a:latin typeface="Segoe UI"/>
              </a:rPr>
              <a:t>. Then comparing a window with the pattern is </a:t>
            </a:r>
            <a:r>
              <a:rPr sz="1900" b="0" i="1">
                <a:solidFill>
                  <a:srgbClr val="1C252B"/>
                </a:solidFill>
                <a:latin typeface="Segoe UI"/>
              </a:rPr>
              <a:t>one</a:t>
            </a:r>
            <a:r>
              <a:rPr sz="1900" b="0" i="0">
                <a:solidFill>
                  <a:srgbClr val="1C252B"/>
                </a:solidFill>
                <a:latin typeface="Segoe UI"/>
              </a:rPr>
              <a:t> integer comparison rather than up to </a:t>
            </a:r>
            <a:r>
              <a:rPr sz="1900" b="0" i="1">
                <a:solidFill>
                  <a:srgbClr val="1C252B"/>
                </a:solidFill>
                <a:latin typeface="Cambria"/>
              </a:rPr>
              <a:t>m</a:t>
            </a:r>
            <a:r>
              <a:rPr sz="1900" b="0" i="0">
                <a:solidFill>
                  <a:srgbClr val="1C252B"/>
                </a:solidFill>
                <a:latin typeface="Segoe UI"/>
              </a:rPr>
              <a:t> character comparisons.</a:t>
            </a:r>
          </a:p>
        </p:txBody>
      </p:sp>
      <p:sp>
        <p:nvSpPr>
          <p:cNvPr id="10" name="body-1"/>
          <p:cNvSpPr txBox="1"/>
          <p:nvPr/>
        </p:nvSpPr>
        <p:spPr>
          <a:xfrm>
            <a:off x="1060704" y="3084398"/>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hash of the next window is computed from the current one in </a:t>
            </a:r>
            <a:r>
              <a:rPr sz="1900" b="0" i="0">
                <a:solidFill>
                  <a:srgbClr val="1C252B"/>
                </a:solidFill>
                <a:latin typeface="Cambria"/>
              </a:rPr>
              <a:t>O(1)</a:t>
            </a:r>
            <a:r>
              <a:rPr sz="1900" b="0" i="0">
                <a:solidFill>
                  <a:srgbClr val="1C252B"/>
                </a:solidFill>
                <a:latin typeface="Segoe UI"/>
              </a:rPr>
              <a:t>:</a:t>
            </a:r>
          </a:p>
        </p:txBody>
      </p:sp>
      <p:pic>
        <p:nvPicPr>
          <p:cNvPr id="11" name="body-2" descr="h_{s+1} = \bigl(d\,(h_{s} - T[s{+}1]\,d^{\,m-1}) + T[s{+}m{+}1]\bigr) \bmod q,"/>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518255"/>
            <a:ext cx="10161727" cy="328361"/>
          </a:xfrm>
          <a:prstGeom prst="rect">
            <a:avLst/>
          </a:prstGeom>
        </p:spPr>
      </p:pic>
      <p:sp>
        <p:nvSpPr>
          <p:cNvPr id="12" name="body-3"/>
          <p:cNvSpPr txBox="1"/>
          <p:nvPr/>
        </p:nvSpPr>
        <p:spPr>
          <a:xfrm>
            <a:off x="1060704" y="3979331"/>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 drop the leading character, shift, add the new trailing one. That is why it is a </a:t>
            </a:r>
            <a:r>
              <a:rPr sz="1900" b="1" i="0">
                <a:solidFill>
                  <a:srgbClr val="1A5276"/>
                </a:solidFill>
                <a:latin typeface="Segoe UI"/>
              </a:rPr>
              <a:t>rolling</a:t>
            </a:r>
            <a:r>
              <a:rPr sz="1900" b="0" i="0">
                <a:solidFill>
                  <a:srgbClr val="1C252B"/>
                </a:solidFill>
                <a:latin typeface="Segoe UI"/>
              </a:rPr>
              <a:t> hash.</a:t>
            </a:r>
          </a:p>
        </p:txBody>
      </p:sp>
      <p:sp>
        <p:nvSpPr>
          <p:cNvPr id="13" name="body-4"/>
          <p:cNvSpPr txBox="1"/>
          <p:nvPr/>
        </p:nvSpPr>
        <p:spPr>
          <a:xfrm>
            <a:off x="1060704" y="4413189"/>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Unequal hashes prove a mismatch. Equal hashes prove nothing</a:t>
            </a:r>
            <a:r>
              <a:rPr sz="1900" b="0" i="0">
                <a:solidFill>
                  <a:srgbClr val="1C252B"/>
                </a:solidFill>
                <a:latin typeface="Segoe UI"/>
              </a:rPr>
              <a:t>, so every hash match must be verified character by character. A verification that fails is a </a:t>
            </a:r>
            <a:r>
              <a:rPr sz="1900" b="1" i="0">
                <a:solidFill>
                  <a:srgbClr val="1A5276"/>
                </a:solidFill>
                <a:latin typeface="Segoe UI"/>
              </a:rPr>
              <a:t>spurious hit</a:t>
            </a:r>
            <a:r>
              <a:rPr sz="1900" b="0" i="0">
                <a:solidFill>
                  <a:srgbClr val="1C252B"/>
                </a:solidFill>
                <a:latin typeface="Segoe UI"/>
              </a:rPr>
              <a:t>, and the running time is</a:t>
            </a:r>
          </a:p>
        </p:txBody>
      </p:sp>
      <p:pic>
        <p:nvPicPr>
          <p:cNvPr id="14" name="body-5" descr="\bigO{n + m} \;+\; \bigO{m \times (\text{number of spurious hi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5449331"/>
            <a:ext cx="10161727" cy="324520"/>
          </a:xfrm>
          <a:prstGeom prst="rect">
            <a:avLst/>
          </a:prstGeom>
        </p:spPr>
      </p:pic>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262958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Rabin–Karp inherits every caveat of Chapter 13</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§21.2  ·  Handout p. 174     </a:t>
            </a:r>
            <a:fld id="{FF9D622B-B0CE-4E9D-94C5-340CC0574174}"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Its expected </a:t>
            </a:r>
            <a:r>
              <a:rPr sz="2300" b="0" i="0">
                <a:solidFill>
                  <a:srgbClr val="1C252B"/>
                </a:solidFill>
                <a:latin typeface="Cambria"/>
              </a:rPr>
              <a:t>O(</a:t>
            </a:r>
            <a:r>
              <a:rPr sz="2300" b="0" i="1">
                <a:solidFill>
                  <a:srgbClr val="1C252B"/>
                </a:solidFill>
                <a:latin typeface="Cambria"/>
              </a:rPr>
              <a:t>n</a:t>
            </a:r>
            <a:r>
              <a:rPr sz="2300" b="0" i="0">
                <a:solidFill>
                  <a:srgbClr val="1C252B"/>
                </a:solidFill>
                <a:latin typeface="Cambria"/>
              </a:rPr>
              <a:t>+</a:t>
            </a:r>
            <a:r>
              <a:rPr sz="2300" b="0" i="1">
                <a:solidFill>
                  <a:srgbClr val="1C252B"/>
                </a:solidFill>
                <a:latin typeface="Cambria"/>
              </a:rPr>
              <a:t>m</a:t>
            </a:r>
            <a:r>
              <a:rPr sz="2300" b="0" i="0">
                <a:solidFill>
                  <a:srgbClr val="1C252B"/>
                </a:solidFill>
                <a:latin typeface="Cambria"/>
              </a:rPr>
              <a:t>)</a:t>
            </a:r>
            <a:r>
              <a:rPr sz="2300" b="0" i="0">
                <a:solidFill>
                  <a:srgbClr val="1C252B"/>
                </a:solidFill>
                <a:latin typeface="Segoe UI"/>
              </a:rPr>
              <a:t> assumes spurious hits are rare, which assumes the hash scatters windows well. That is Chapter 13’s simple uniform hashing assumption, with the same two ways to fail: a weak modulus by accident, or a text chosen by an adversary who knows </a:t>
            </a:r>
            <a:r>
              <a:rPr sz="2300" b="0" i="1">
                <a:solidFill>
                  <a:srgbClr val="1C252B"/>
                </a:solidFill>
                <a:latin typeface="Cambria"/>
              </a:rPr>
              <a:t>q</a:t>
            </a:r>
            <a:r>
              <a:rPr sz="2300" b="0" i="0">
                <a:solidFill>
                  <a:srgbClr val="1C252B"/>
                </a:solidFill>
                <a:latin typeface="Segoe UI"/>
              </a:rPr>
              <a:t>.</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defence is also the same: a large modulus, and if the input is untrusted, a modulus chosen at random at run time.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8686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Knuth–Morris–Pratt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The Problem, and the Obvious Algorithm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Rabin–Karp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21.3   Knuth–Morris–Pratt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§21.3     </a:t>
            </a:r>
            <a:fld id="{9BA60CDC-015B-44E7-A186-F8EE3F557DEC}" type="slidenum">
              <a:rPr lang="en-GB" sz="1000">
                <a:solidFill>
                  <a:srgbClr val="8795A1"/>
                </a:solidFill>
                <a:latin typeface="Segoe UI"/>
              </a:rPr>
              <a:t>13</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0768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Prefix Function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174     </a:t>
            </a:r>
            <a:fld id="{7414DC00-F3D8-4498-AF8D-2895F180B673}"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15232"/>
          </a:xfrm>
          <a:prstGeom prst="roundRect">
            <a:avLst>
              <a:gd name="adj" fmla="val 233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1523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 pattern </a:t>
            </a:r>
            <a:r>
              <a:rPr sz="2300" b="0" i="1">
                <a:solidFill>
                  <a:srgbClr val="1C252B"/>
                </a:solidFill>
                <a:latin typeface="Cambria"/>
              </a:rPr>
              <a:t>P</a:t>
            </a:r>
            <a:r>
              <a:rPr sz="2300" b="0" i="0">
                <a:solidFill>
                  <a:srgbClr val="1C252B"/>
                </a:solidFill>
                <a:latin typeface="Segoe UI"/>
              </a:rPr>
              <a:t> of length </a:t>
            </a:r>
            <a:r>
              <a:rPr sz="2300" b="0" i="1">
                <a:solidFill>
                  <a:srgbClr val="1C252B"/>
                </a:solidFill>
                <a:latin typeface="Cambria"/>
              </a:rPr>
              <a:t>m</a:t>
            </a:r>
            <a:r>
              <a:rPr sz="2300" b="0" i="0">
                <a:solidFill>
                  <a:srgbClr val="1C252B"/>
                </a:solidFill>
                <a:latin typeface="Segoe UI"/>
              </a:rPr>
              <a:t>, the </a:t>
            </a:r>
            <a:r>
              <a:rPr sz="2300" b="1" i="0">
                <a:solidFill>
                  <a:srgbClr val="1A5276"/>
                </a:solidFill>
                <a:latin typeface="Segoe UI"/>
              </a:rPr>
              <a:t>prefix function</a:t>
            </a:r>
            <a:r>
              <a:rPr sz="2300" b="0" i="0">
                <a:solidFill>
                  <a:srgbClr val="1C252B"/>
                </a:solidFill>
                <a:latin typeface="Segoe UI"/>
              </a:rPr>
              <a:t> </a:t>
            </a:r>
            <a:r>
              <a:rPr sz="2300" b="0" i="0">
                <a:solidFill>
                  <a:srgbClr val="1C252B"/>
                </a:solidFill>
                <a:latin typeface="Cambria"/>
              </a:rPr>
              <a:t>π[</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is the length of the longest proper prefix of </a:t>
            </a:r>
            <a:r>
              <a:rPr sz="2300" b="0" i="1">
                <a:solidFill>
                  <a:srgbClr val="1C252B"/>
                </a:solidFill>
                <a:latin typeface="Cambria"/>
              </a:rPr>
              <a:t>P</a:t>
            </a:r>
            <a:r>
              <a:rPr sz="2300" b="0" i="0">
                <a:solidFill>
                  <a:srgbClr val="1C252B"/>
                </a:solidFill>
                <a:latin typeface="Cambria"/>
              </a:rPr>
              <a:t>[1 </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that is also a suffix of it.</a:t>
            </a:r>
          </a:p>
        </p:txBody>
      </p:sp>
      <p:sp>
        <p:nvSpPr>
          <p:cNvPr id="10" name="body-1"/>
          <p:cNvSpPr txBox="1"/>
          <p:nvPr/>
        </p:nvSpPr>
        <p:spPr>
          <a:xfrm>
            <a:off x="1060704" y="2937992"/>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t>
            </a:r>
            <a:r>
              <a:rPr sz="2300" b="0" i="1">
                <a:solidFill>
                  <a:srgbClr val="1C252B"/>
                </a:solidFill>
                <a:latin typeface="Cambria"/>
              </a:rPr>
              <a:t>P</a:t>
            </a:r>
            <a:r>
              <a:rPr sz="2300" b="0" i="0">
                <a:solidFill>
                  <a:srgbClr val="1C252B"/>
                </a:solidFill>
                <a:latin typeface="Cambria"/>
              </a:rPr>
              <a:t> = </a:t>
            </a:r>
            <a:r>
              <a:rPr sz="2300" b="0" i="1">
                <a:solidFill>
                  <a:srgbClr val="1C252B"/>
                </a:solidFill>
                <a:latin typeface="Cambria"/>
              </a:rPr>
              <a:t>ababaca</a:t>
            </a:r>
            <a:r>
              <a:rPr sz="2300" b="0" i="0">
                <a:solidFill>
                  <a:srgbClr val="1C252B"/>
                </a:solidFill>
                <a:latin typeface="Segoe UI"/>
              </a:rPr>
              <a:t>:</a:t>
            </a:r>
          </a:p>
        </p:txBody>
      </p:sp>
      <p:graphicFrame>
        <p:nvGraphicFramePr>
          <p:cNvPr id="11" name="body-2"/>
          <p:cNvGraphicFramePr>
            <a:graphicFrameLocks noGrp="1"/>
          </p:cNvGraphicFramePr>
          <p:nvPr/>
        </p:nvGraphicFramePr>
        <p:xfrm>
          <a:off x="1060704" y="3463188"/>
          <a:ext cx="4376028" cy="1353309"/>
        </p:xfrm>
        <a:graphic>
          <a:graphicData uri="http://schemas.openxmlformats.org/drawingml/2006/table">
            <a:tbl>
              <a:tblPr firstRow="0" bandRow="0" firstCol="0" lastRow="0" lastCol="0" bandCol="0">
                <a:tableStyleId>{2D5ABB26-0587-4C30-8999-92F81FD0307C}</a:tableStyleId>
              </a:tblPr>
              <a:tblGrid>
                <a:gridCol w="663564"/>
                <a:gridCol w="530352"/>
                <a:gridCol w="530352"/>
                <a:gridCol w="530352"/>
                <a:gridCol w="530352"/>
                <a:gridCol w="530352"/>
                <a:gridCol w="530352"/>
                <a:gridCol w="530352"/>
              </a:tblGrid>
              <a:tr h="451103">
                <a:tc>
                  <a:txBody>
                    <a:bodyPr wrap="square"/>
                    <a:lstStyle/>
                    <a:p>
                      <a:pPr algn="l"/>
                      <a:r>
                        <a:rPr sz="2000" b="0" i="1">
                          <a:solidFill>
                            <a:srgbClr val="1C252B"/>
                          </a:solidFill>
                          <a:latin typeface="Cambria"/>
                        </a:rPr>
                        <a:t>i</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1</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2</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3</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4</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5</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6</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ctr"/>
                      <a:r>
                        <a:rPr sz="2000" b="0" i="0">
                          <a:solidFill>
                            <a:srgbClr val="1C252B"/>
                          </a:solidFill>
                          <a:latin typeface="Segoe UI"/>
                        </a:rPr>
                        <a:t>7</a:t>
                      </a:r>
                      <a:endParaRPr sz="20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r>
              <a:tr h="451103">
                <a:tc>
                  <a:txBody>
                    <a:bodyPr wrap="square"/>
                    <a:lstStyle/>
                    <a:p>
                      <a:pPr algn="l"/>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i</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a</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b</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a</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b</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a</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c</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2000" b="0" i="0">
                          <a:solidFill>
                            <a:srgbClr val="1C252B"/>
                          </a:solidFill>
                          <a:latin typeface="Segoe UI"/>
                        </a:rPr>
                        <a:t>a</a:t>
                      </a:r>
                      <a:endParaRPr sz="2000"/>
                    </a:p>
                  </a:txBody>
                  <a:tcPr marL="109728" marR="109728" marT="64008" marB="45720" anchor="t">
                    <a:lnL w="0" cmpd="sng">
                      <a:noFill/>
                    </a:lnL>
                    <a:lnR w="0" cmpd="sng">
                      <a:noFill/>
                    </a:lnR>
                    <a:lnT w="9525" cmpd="sng">
                      <a:noFill/>
                    </a:lnT>
                    <a:lnB w="9525" cmpd="sng">
                      <a:noFill/>
                    </a:lnB>
                    <a:solidFill>
                      <a:srgbClr val="F2F8FC"/>
                    </a:solidFill>
                  </a:tcPr>
                </a:tc>
              </a:tr>
              <a:tr h="451103">
                <a:tc>
                  <a:txBody>
                    <a:bodyPr wrap="square"/>
                    <a:lstStyle/>
                    <a:p>
                      <a:pPr algn="l"/>
                      <a:r>
                        <a:rPr sz="2000" b="0" i="0">
                          <a:solidFill>
                            <a:srgbClr val="1C252B"/>
                          </a:solidFill>
                          <a:latin typeface="Cambria"/>
                        </a:rPr>
                        <a:t>π[</a:t>
                      </a:r>
                      <a:r>
                        <a:rPr sz="2000" b="0" i="1">
                          <a:solidFill>
                            <a:srgbClr val="1C252B"/>
                          </a:solidFill>
                          <a:latin typeface="Cambria"/>
                        </a:rPr>
                        <a:t>i</a:t>
                      </a:r>
                      <a:r>
                        <a:rPr sz="2000" b="0" i="0">
                          <a:solidFill>
                            <a:srgbClr val="1C252B"/>
                          </a:solidFill>
                          <a:latin typeface="Cambria"/>
                        </a:rPr>
                        <a:t>]</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0</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0</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1</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2</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3</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0</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2000" b="0" i="0">
                          <a:solidFill>
                            <a:srgbClr val="1C252B"/>
                          </a:solidFill>
                          <a:latin typeface="Segoe UI"/>
                        </a:rPr>
                        <a:t>1</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2" name="body-3"/>
          <p:cNvSpPr txBox="1"/>
          <p:nvPr/>
        </p:nvSpPr>
        <p:spPr>
          <a:xfrm>
            <a:off x="1060704" y="49771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Cambria"/>
              </a:rPr>
              <a:t>π[5] = 3</a:t>
            </a:r>
            <a:r>
              <a:rPr sz="2300" b="0" i="0">
                <a:solidFill>
                  <a:srgbClr val="1C252B"/>
                </a:solidFill>
                <a:latin typeface="Segoe UI"/>
              </a:rPr>
              <a:t> because </a:t>
            </a:r>
            <a:r>
              <a:rPr sz="2150" b="0" i="0">
                <a:solidFill>
                  <a:srgbClr val="1F4E79"/>
                </a:solidFill>
                <a:latin typeface="Consolas"/>
              </a:rPr>
              <a:t>aba</a:t>
            </a:r>
            <a:r>
              <a:rPr sz="2300" b="0" i="0">
                <a:solidFill>
                  <a:srgbClr val="1C252B"/>
                </a:solidFill>
                <a:latin typeface="Segoe UI"/>
              </a:rPr>
              <a:t> is both a prefix and a suffix of </a:t>
            </a:r>
            <a:r>
              <a:rPr sz="2150" b="0" i="0">
                <a:solidFill>
                  <a:srgbClr val="1F4E79"/>
                </a:solidFill>
                <a:latin typeface="Consolas"/>
              </a:rPr>
              <a:t>ababa</a:t>
            </a:r>
            <a:r>
              <a:rPr sz="2300" b="0" i="0">
                <a:solidFill>
                  <a:srgbClr val="1C252B"/>
                </a:solidFill>
                <a:latin typeface="Segoe UI"/>
              </a:rPr>
              <a: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3467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that is exactly the right shift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174     </a:t>
            </a:r>
            <a:fld id="{098331B5-94D4-4B4E-8D80-711E7C12BE07}"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Suppose the pattern has matched </a:t>
            </a:r>
            <a:r>
              <a:rPr sz="2300" b="0" i="1">
                <a:solidFill>
                  <a:srgbClr val="1C252B"/>
                </a:solidFill>
                <a:latin typeface="Cambria"/>
              </a:rPr>
              <a:t>k</a:t>
            </a:r>
            <a:r>
              <a:rPr sz="2300" b="0" i="0">
                <a:solidFill>
                  <a:srgbClr val="1C252B"/>
                </a:solidFill>
                <a:latin typeface="Segoe UI"/>
              </a:rPr>
              <a:t> characters and then fails. The matched text is </a:t>
            </a:r>
            <a:r>
              <a:rPr sz="2300" b="0" i="1">
                <a:solidFill>
                  <a:srgbClr val="1C252B"/>
                </a:solidFill>
                <a:latin typeface="Cambria"/>
              </a:rPr>
              <a:t>P</a:t>
            </a:r>
            <a:r>
              <a:rPr sz="2300" b="0" i="0">
                <a:solidFill>
                  <a:srgbClr val="1C252B"/>
                </a:solidFill>
                <a:latin typeface="Cambria"/>
              </a:rPr>
              <a:t>[1 </a:t>
            </a:r>
            <a:r>
              <a:rPr sz="2300" b="0" i="1">
                <a:solidFill>
                  <a:srgbClr val="1C252B"/>
                </a:solidFill>
                <a:latin typeface="Cambria"/>
              </a:rPr>
              <a:t>k</a:t>
            </a:r>
            <a:r>
              <a:rPr sz="2300" b="0" i="0">
                <a:solidFill>
                  <a:srgbClr val="1C252B"/>
                </a:solidFill>
                <a:latin typeface="Cambria"/>
              </a:rPr>
              <a:t>]</a:t>
            </a:r>
            <a:r>
              <a:rPr sz="2300" b="0" i="0">
                <a:solidFill>
                  <a:srgbClr val="1C252B"/>
                </a:solidFill>
                <a:latin typeface="Segoe UI"/>
              </a:rPr>
              <a:t>. Any shift that could still succeed must align a prefix of </a:t>
            </a:r>
            <a:r>
              <a:rPr sz="2300" b="0" i="1">
                <a:solidFill>
                  <a:srgbClr val="1C252B"/>
                </a:solidFill>
                <a:latin typeface="Cambria"/>
              </a:rPr>
              <a:t>P</a:t>
            </a:r>
            <a:r>
              <a:rPr sz="2300" b="0" i="0">
                <a:solidFill>
                  <a:srgbClr val="1C252B"/>
                </a:solidFill>
                <a:latin typeface="Segoe UI"/>
              </a:rPr>
              <a:t> with a </a:t>
            </a:r>
            <a:r>
              <a:rPr sz="2300" b="0" i="1">
                <a:solidFill>
                  <a:srgbClr val="1C252B"/>
                </a:solidFill>
                <a:latin typeface="Segoe UI"/>
              </a:rPr>
              <a:t>suffix</a:t>
            </a:r>
            <a:r>
              <a:rPr sz="2300" b="0" i="0">
                <a:solidFill>
                  <a:srgbClr val="1C252B"/>
                </a:solidFill>
                <a:latin typeface="Segoe UI"/>
              </a:rPr>
              <a:t> of what has already matched — because that suffix is the only part of the text still under the pattern.</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So the next viable shift aligns the longest proper prefix of </a:t>
            </a:r>
            <a:r>
              <a:rPr sz="2300" b="0" i="1">
                <a:solidFill>
                  <a:srgbClr val="1C252B"/>
                </a:solidFill>
                <a:latin typeface="Cambria"/>
              </a:rPr>
              <a:t>P</a:t>
            </a:r>
            <a:r>
              <a:rPr sz="2300" b="0" i="0">
                <a:solidFill>
                  <a:srgbClr val="1C252B"/>
                </a:solidFill>
                <a:latin typeface="Cambria"/>
              </a:rPr>
              <a:t>[1</a:t>
            </a:r>
            <a:r>
              <a:rPr sz="2300" b="0" i="1">
                <a:solidFill>
                  <a:srgbClr val="1C252B"/>
                </a:solidFill>
                <a:latin typeface="Cambria"/>
              </a:rPr>
              <a:t>k</a:t>
            </a:r>
            <a:r>
              <a:rPr sz="2300" b="0" i="0">
                <a:solidFill>
                  <a:srgbClr val="1C252B"/>
                </a:solidFill>
                <a:latin typeface="Cambria"/>
              </a:rPr>
              <a:t>]</a:t>
            </a:r>
            <a:r>
              <a:rPr sz="2300" b="0" i="0">
                <a:solidFill>
                  <a:srgbClr val="1C252B"/>
                </a:solidFill>
                <a:latin typeface="Segoe UI"/>
              </a:rPr>
              <a:t> that is also a suffix of it. That is </a:t>
            </a:r>
            <a:r>
              <a:rPr sz="2300" b="0" i="0">
                <a:solidFill>
                  <a:srgbClr val="1C252B"/>
                </a:solidFill>
                <a:latin typeface="Cambria"/>
              </a:rPr>
              <a:t>π[</a:t>
            </a:r>
            <a:r>
              <a:rPr sz="2300" b="0" i="1">
                <a:solidFill>
                  <a:srgbClr val="1C252B"/>
                </a:solidFill>
                <a:latin typeface="Cambria"/>
              </a:rPr>
              <a:t>k</a:t>
            </a:r>
            <a:r>
              <a:rPr sz="2300" b="0" i="0">
                <a:solidFill>
                  <a:srgbClr val="1C252B"/>
                </a:solidFill>
                <a:latin typeface="Cambria"/>
              </a:rPr>
              <a:t>]</a:t>
            </a:r>
            <a:r>
              <a:rPr sz="2300" b="0" i="0">
                <a:solidFill>
                  <a:srgbClr val="1C252B"/>
                </a:solidFill>
                <a:latin typeface="Segoe UI"/>
              </a:rPr>
              <a:t>, by definition. Shifting to anything shorter would skip a possible occurrence; shifting to anything longer is impossible.</a:t>
            </a:r>
          </a:p>
        </p:txBody>
      </p:sp>
      <p:sp>
        <p:nvSpPr>
          <p:cNvPr id="11" name="body-2"/>
          <p:cNvSpPr txBox="1"/>
          <p:nvPr/>
        </p:nvSpPr>
        <p:spPr>
          <a:xfrm>
            <a:off x="1060704" y="49213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The text pointer never moves backwards.</a:t>
            </a:r>
            <a:r>
              <a:rPr sz="2300" b="0" i="0">
                <a:solidFill>
                  <a:srgbClr val="1C252B"/>
                </a:solidFill>
                <a:latin typeface="Segoe UI"/>
              </a:rPr>
              <a:t> That single property gives the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a:t>
            </a:r>
            <a:r>
              <a:rPr sz="2300" b="0" i="1">
                <a:solidFill>
                  <a:srgbClr val="1C252B"/>
                </a:solidFill>
                <a:latin typeface="Cambria"/>
              </a:rPr>
              <a:t>m</a:t>
            </a:r>
            <a:r>
              <a:rPr sz="2300" b="0" i="0">
                <a:solidFill>
                  <a:srgbClr val="1C252B"/>
                </a:solidFill>
                <a:latin typeface="Cambria"/>
              </a:rPr>
              <a:t>)</a:t>
            </a:r>
            <a:r>
              <a:rPr sz="2300" b="0" i="0">
                <a:solidFill>
                  <a:srgbClr val="1C252B"/>
                </a:solidFill>
                <a:latin typeface="Segoe UI"/>
              </a:rPr>
              <a:t> bound, with no hypothesis about the input at all.</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5857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Prefix-Function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174     </a:t>
            </a:r>
            <a:fld id="{EB9B5357-6B55-4267-B363-AFC27E93896F}" type="slidenum">
              <a:rPr lang="en-GB" sz="1000">
                <a:solidFill>
                  <a:srgbClr val="8795A1"/>
                </a:solidFill>
                <a:latin typeface="Segoe UI"/>
              </a:rPr>
              <a:t>16</a:t>
            </a:fld>
          </a:p>
        </p:txBody>
      </p:sp>
      <p:pic>
        <p:nvPicPr>
          <p:cNvPr id="6" name="!!figure" descr="Figure 21.2. Prefix-Function. It is KMP run against the pattern itself, and it is Θ(m) by the same amortised argum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3308" y="1737360"/>
            <a:ext cx="9105079"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It is KMP run against the pattern itself, and it is Θ(m) by the same amortised argument.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2484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Knuth–Morris–Pratt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174     </a:t>
            </a:r>
            <a:fld id="{BC17D2C9-FD65-4EC7-8E1F-25A29708377D}" type="slidenum">
              <a:rPr lang="en-GB" sz="1000">
                <a:solidFill>
                  <a:srgbClr val="8795A1"/>
                </a:solidFill>
                <a:latin typeface="Segoe UI"/>
              </a:rPr>
              <a:t>17</a:t>
            </a:fld>
          </a:p>
        </p:txBody>
      </p:sp>
      <p:pic>
        <p:nvPicPr>
          <p:cNvPr id="6" name="!!figure" descr="Figure 21.3. KMP-Match. The text index i advances on every iteration and never retreats, which is what makes the whole thing linea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86079" y="1737360"/>
            <a:ext cx="741953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KMP-Match. The text index i advances on every iteration and never retreats, which is what makes the whole thing linear.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KMP</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21.1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174     </a:t>
            </a:r>
            <a:fld id="{98C22BC9-ED64-436A-B6AE-160AD55A4EA0}"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KMP-Match runs in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a:t>
            </a:r>
            <a:r>
              <a:rPr sz="2300" b="0" i="1">
                <a:solidFill>
                  <a:srgbClr val="1C252B"/>
                </a:solidFill>
                <a:latin typeface="Cambria"/>
              </a:rPr>
              <a:t>m</a:t>
            </a:r>
            <a:r>
              <a:rPr sz="2300" b="0" i="0">
                <a:solidFill>
                  <a:srgbClr val="1C252B"/>
                </a:solidFill>
                <a:latin typeface="Cambria"/>
              </a:rPr>
              <a:t>)</a:t>
            </a:r>
            <a:r>
              <a:rPr sz="2300" b="0" i="0">
                <a:solidFill>
                  <a:srgbClr val="1C252B"/>
                </a:solidFill>
                <a:latin typeface="Segoe UI"/>
              </a:rPr>
              <a:t> time in the worst case.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3029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looseness as Build-Heap</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174     </a:t>
            </a:r>
            <a:fld id="{A013DBEE-6655-45D2-9C46-974BE90DA378}"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naive bound for KMP is “</a:t>
            </a:r>
            <a:r>
              <a:rPr sz="2300" b="0" i="1">
                <a:solidFill>
                  <a:srgbClr val="1C252B"/>
                </a:solidFill>
                <a:latin typeface="Cambria"/>
              </a:rPr>
              <a:t>n</a:t>
            </a:r>
            <a:r>
              <a:rPr sz="2300" b="0" i="0">
                <a:solidFill>
                  <a:srgbClr val="1C252B"/>
                </a:solidFill>
                <a:latin typeface="Segoe UI"/>
              </a:rPr>
              <a:t> iterations, each with a </a:t>
            </a:r>
            <a:r>
              <a:rPr sz="2300" b="1" i="0">
                <a:solidFill>
                  <a:srgbClr val="1C252B"/>
                </a:solidFill>
                <a:latin typeface="Segoe UI"/>
              </a:rPr>
              <a:t>while</a:t>
            </a:r>
            <a:r>
              <a:rPr sz="2300" b="0" i="0">
                <a:solidFill>
                  <a:srgbClr val="1C252B"/>
                </a:solidFill>
                <a:latin typeface="Segoe UI"/>
              </a:rPr>
              <a:t> loop that could run </a:t>
            </a:r>
            <a:r>
              <a:rPr sz="2300" b="0" i="1">
                <a:solidFill>
                  <a:srgbClr val="1C252B"/>
                </a:solidFill>
                <a:latin typeface="Cambria"/>
              </a:rPr>
              <a:t>m</a:t>
            </a:r>
            <a:r>
              <a:rPr sz="2300" b="0" i="0">
                <a:solidFill>
                  <a:srgbClr val="1C252B"/>
                </a:solidFill>
                <a:latin typeface="Segoe UI"/>
              </a:rPr>
              <a:t> times, so </a:t>
            </a:r>
            <a:r>
              <a:rPr sz="2300" b="0" i="0">
                <a:solidFill>
                  <a:srgbClr val="1C252B"/>
                </a:solidFill>
                <a:latin typeface="Cambria"/>
              </a:rPr>
              <a:t>O(</a:t>
            </a:r>
            <a:r>
              <a:rPr sz="2300" b="0" i="1">
                <a:solidFill>
                  <a:srgbClr val="1C252B"/>
                </a:solidFill>
                <a:latin typeface="Cambria"/>
              </a:rPr>
              <a:t>nm</a:t>
            </a:r>
            <a:r>
              <a:rPr sz="2300" b="0" i="0">
                <a:solidFill>
                  <a:srgbClr val="1C252B"/>
                </a:solidFill>
                <a:latin typeface="Cambria"/>
              </a:rPr>
              <a:t>)</a:t>
            </a:r>
            <a:r>
              <a:rPr sz="2300" b="0" i="0">
                <a:solidFill>
                  <a:srgbClr val="1C252B"/>
                </a:solidFill>
                <a:latin typeface="Segoe UI"/>
              </a:rPr>
              <a:t>”. That is correct and badly loose, for exactly the reason Chapter 12’s Build-Heap analysis was: it charges every iteration the worst case, and the expensive iterations are paid for by the cheap ones that preceded them.</a:t>
            </a:r>
          </a:p>
        </p:txBody>
      </p:sp>
      <p:sp>
        <p:nvSpPr>
          <p:cNvPr id="10" name="body-1"/>
          <p:cNvSpPr txBox="1"/>
          <p:nvPr/>
        </p:nvSpPr>
        <p:spPr>
          <a:xfrm>
            <a:off x="1060704" y="403161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appearances now — Build-Heap, the dynamic array, and KMP — of one idea. If a bound looks like (count) </a:t>
            </a:r>
            <a:r>
              <a:rPr sz="2300" b="0" i="0">
                <a:solidFill>
                  <a:srgbClr val="1C252B"/>
                </a:solidFill>
                <a:latin typeface="Cambria"/>
              </a:rPr>
              <a:t>×</a:t>
            </a:r>
            <a:r>
              <a:rPr sz="2300" b="0" i="0">
                <a:solidFill>
                  <a:srgbClr val="1C252B"/>
                </a:solidFill>
                <a:latin typeface="Segoe UI"/>
              </a:rPr>
              <a:t> (worst case) and the expensive operations consume something the cheap ones built up, the bound is probably loose.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54200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The Problem, and the Obvious Algorithm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Rabin–Karp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Knuth–Morris–Pratt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§21.4     </a:t>
            </a:r>
            <a:fld id="{545B4802-47F7-41AB-9F83-B136E161F90A}" type="slidenum">
              <a:rPr lang="en-GB" sz="1000">
                <a:solidFill>
                  <a:srgbClr val="8795A1"/>
                </a:solidFill>
                <a:latin typeface="Segoe UI"/>
              </a:rPr>
              <a:t>20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78105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First, Do They Agree?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61F821F0-06A7-459B-83BB-E7222749DE26}"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693849"/>
          </a:xfrm>
          <a:prstGeom prst="roundRect">
            <a:avLst>
              <a:gd name="adj" fmla="val 539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69384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2,000 random texts and patterns over a 4-letter alphabet. Disagreements: 0.</a:t>
            </a:r>
          </a:p>
        </p:txBody>
      </p:sp>
      <p:sp>
        <p:nvSpPr>
          <p:cNvPr id="10" name="body-1"/>
          <p:cNvSpPr txBox="1"/>
          <p:nvPr/>
        </p:nvSpPr>
        <p:spPr>
          <a:xfrm>
            <a:off x="1042416" y="2491206"/>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All three return identical lists of occurrences. The naive version is the oracle, as in Chapter 7.</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0201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Ordinary Text, Where Nothing Happens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B45D4EC3-0541-46C3-ACC2-9FE74F3E7D6D}"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02124"/>
          </a:xfrm>
          <a:prstGeom prst="roundRect">
            <a:avLst>
              <a:gd name="adj" fmla="val 207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021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Random text over a 4-letter alphabet, </a:t>
            </a:r>
            <a:r>
              <a:rPr sz="1600" b="0" i="1">
                <a:solidFill>
                  <a:srgbClr val="1C252B"/>
                </a:solidFill>
                <a:latin typeface="Cambria"/>
              </a:rPr>
              <a:t>m</a:t>
            </a:r>
            <a:r>
              <a:rPr sz="1600" b="0" i="0">
                <a:solidFill>
                  <a:srgbClr val="1C252B"/>
                </a:solidFill>
                <a:latin typeface="Cambria"/>
              </a:rPr>
              <a:t> = 8</a:t>
            </a:r>
            <a:r>
              <a:rPr sz="1600" b="0" i="0">
                <a:solidFill>
                  <a:srgbClr val="1C252B"/>
                </a:solidFill>
                <a:latin typeface="Segoe UI"/>
              </a:rPr>
              <a:t>. Comparisons divided by </a:t>
            </a:r>
            <a:r>
              <a:rPr sz="1600" b="0" i="1">
                <a:solidFill>
                  <a:srgbClr val="1C252B"/>
                </a:solidFill>
                <a:latin typeface="Cambria"/>
              </a:rPr>
              <a:t>n</a:t>
            </a:r>
            <a:r>
              <a:rPr sz="1600" b="0" i="0">
                <a:solidFill>
                  <a:srgbClr val="1C252B"/>
                </a:solidFill>
                <a:latin typeface="Segoe UI"/>
              </a:rPr>
              <a:t>:</a:t>
            </a:r>
          </a:p>
        </p:txBody>
      </p:sp>
      <p:graphicFrame>
        <p:nvGraphicFramePr>
          <p:cNvPr id="10" name="body-1"/>
          <p:cNvGraphicFramePr>
            <a:graphicFrameLocks noGrp="1"/>
          </p:cNvGraphicFramePr>
          <p:nvPr/>
        </p:nvGraphicFramePr>
        <p:xfrm>
          <a:off x="1042416" y="2377033"/>
          <a:ext cx="4542893" cy="1377696"/>
        </p:xfrm>
        <a:graphic>
          <a:graphicData uri="http://schemas.openxmlformats.org/drawingml/2006/table">
            <a:tbl>
              <a:tblPr firstRow="0" bandRow="0" firstCol="0" lastRow="0" lastCol="0" bandCol="0">
                <a:tableStyleId>{2D5ABB26-0587-4C30-8999-92F81FD0307C}</a:tableStyleId>
              </a:tblPr>
              <a:tblGrid>
                <a:gridCol w="964499"/>
                <a:gridCol w="678694"/>
                <a:gridCol w="1166244"/>
                <a:gridCol w="655649"/>
                <a:gridCol w="1077807"/>
              </a:tblGrid>
              <a:tr h="344424">
                <a:tc>
                  <a:txBody>
                    <a:bodyPr wrap="square"/>
                    <a:lstStyle/>
                    <a:p>
                      <a:pPr algn="r"/>
                      <a:r>
                        <a:rPr sz="1300" b="1" i="1">
                          <a:solidFill>
                            <a:srgbClr val="1A5276"/>
                          </a:solidFill>
                          <a:latin typeface="Cambria"/>
                        </a:rPr>
                        <a:t>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naive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Rabin–Karp</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KMP</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naive (ms)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r"/>
                      <a:r>
                        <a:rPr sz="1300" b="0" i="0">
                          <a:solidFill>
                            <a:srgbClr val="1C252B"/>
                          </a:solidFill>
                          <a:latin typeface="Segoe UI"/>
                        </a:rPr>
                        <a:t>1,000,000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1.333</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1.250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6.7</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2,000,000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1.334</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0.000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1.250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12.8</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r"/>
                      <a:r>
                        <a:rPr sz="1300" b="0" i="0">
                          <a:solidFill>
                            <a:srgbClr val="1C252B"/>
                          </a:solidFill>
                          <a:latin typeface="Segoe UI"/>
                        </a:rPr>
                        <a:t>8,000,000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1.333</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0.000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1.250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53.7</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3866489"/>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All three are linear, and the naive algorithm is barely worse than KMP</a:t>
            </a:r>
            <a:r>
              <a:rPr sz="1600" b="0" i="0">
                <a:solidFill>
                  <a:srgbClr val="1C252B"/>
                </a:solidFill>
                <a:latin typeface="Segoe UI"/>
              </a:rPr>
              <a:t> — 1.333 comparisons per character against 1.250. On random text a mismatch arrives after about </a:t>
            </a:r>
            <a:r>
              <a:rPr sz="1600" b="0" i="0">
                <a:solidFill>
                  <a:srgbClr val="1C252B"/>
                </a:solidFill>
                <a:latin typeface="Cambria"/>
              </a:rPr>
              <a:t>1/(1−1/|Σ|)</a:t>
            </a:r>
            <a:r>
              <a:rPr sz="1600" b="0" i="0">
                <a:solidFill>
                  <a:srgbClr val="1C252B"/>
                </a:solidFill>
                <a:latin typeface="Segoe UI"/>
              </a:rPr>
              <a:t> characters, so the naive algorithm almost never re-reads anything.</a:t>
            </a:r>
          </a:p>
        </p:txBody>
      </p:sp>
      <p:sp>
        <p:nvSpPr>
          <p:cNvPr id="12" name="body-2bar">
            <a:extLst>
              <a:ext uri="{C183D7F6-B498-43B3-948B-1728B52AA6E4}">
                <adec:decorative xmlns:adec="http://schemas.microsoft.com/office/drawing/2017/decorative" val="1"/>
              </a:ext>
            </a:extLst>
          </p:cNvPr>
          <p:cNvSpPr/>
          <p:nvPr/>
        </p:nvSpPr>
        <p:spPr>
          <a:xfrm>
            <a:off x="841248" y="3884777"/>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739030"/>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Rabin–Karp’s column is 0.000</a:t>
            </a:r>
            <a:r>
              <a:rPr sz="1600" b="0" i="0">
                <a:solidFill>
                  <a:srgbClr val="1C252B"/>
                </a:solidFill>
                <a:latin typeface="Segoe UI"/>
              </a:rPr>
              <a:t> because the hash rejects every window in one integer comparison and the character-comparison counter never moves.</a:t>
            </a:r>
          </a:p>
        </p:txBody>
      </p:sp>
      <p:sp>
        <p:nvSpPr>
          <p:cNvPr id="14" name="body-3bar">
            <a:extLst>
              <a:ext uri="{C183D7F6-B498-43B3-948B-1728B52AA6E4}">
                <adec:decorative xmlns:adec="http://schemas.microsoft.com/office/drawing/2017/decorative" val="1"/>
              </a:ext>
            </a:extLst>
          </p:cNvPr>
          <p:cNvSpPr/>
          <p:nvPr/>
        </p:nvSpPr>
        <p:spPr>
          <a:xfrm>
            <a:off x="841248" y="4757318"/>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5357977"/>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This is the table that makes people think the choice does not matter.</a:t>
            </a:r>
            <a:r>
              <a:rPr sz="1600" b="0" i="0">
                <a:solidFill>
                  <a:srgbClr val="1C252B"/>
                </a:solidFill>
                <a:latin typeface="Segoe UI"/>
              </a:rPr>
              <a:t> It is also the table that any benchmark on English text would produce.</a:t>
            </a:r>
          </a:p>
        </p:txBody>
      </p:sp>
      <p:sp>
        <p:nvSpPr>
          <p:cNvPr id="16" name="body-4bar">
            <a:extLst>
              <a:ext uri="{C183D7F6-B498-43B3-948B-1728B52AA6E4}">
                <adec:decorative xmlns:adec="http://schemas.microsoft.com/office/drawing/2017/decorative" val="1"/>
              </a:ext>
            </a:extLst>
          </p:cNvPr>
          <p:cNvSpPr/>
          <p:nvPr/>
        </p:nvSpPr>
        <p:spPr>
          <a:xfrm>
            <a:off x="841248" y="5376265"/>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pfill">
            <a:extLst>
              <a:ext uri="{C183D7F6-B498-43B3-948B-1728B52AA6E4}">
                <adec:decorative xmlns:adec="http://schemas.microsoft.com/office/drawing/2017/decorative" val="1"/>
              </a:ext>
            </a:extLst>
          </p:cNvPr>
          <p:cNvSpPr/>
          <p:nvPr/>
        </p:nvSpPr>
        <p:spPr>
          <a:xfrm>
            <a:off x="0" y="0"/>
            <a:ext cx="525916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right)">
                                      <p:cBhvr>
                                        <p:cTn id="29" dur="42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Text That Destroys the Naive Algorithm</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C49EF7BE-F3DA-44F0-98C5-A01E1C0131A7}"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48531"/>
          </a:xfrm>
          <a:prstGeom prst="roundRect">
            <a:avLst>
              <a:gd name="adj" fmla="val 22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4853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1">
                <a:solidFill>
                  <a:srgbClr val="1C252B"/>
                </a:solidFill>
                <a:latin typeface="Cambria"/>
              </a:rPr>
              <a:t>T</a:t>
            </a:r>
            <a:r>
              <a:rPr sz="1600" b="0" i="0">
                <a:solidFill>
                  <a:srgbClr val="1C252B"/>
                </a:solidFill>
                <a:latin typeface="Cambria"/>
              </a:rPr>
              <a:t> = </a:t>
            </a:r>
            <a:r>
              <a:rPr sz="1600" b="0" i="1">
                <a:solidFill>
                  <a:srgbClr val="1C252B"/>
                </a:solidFill>
                <a:latin typeface="Cambria"/>
              </a:rPr>
              <a:t>aaaa</a:t>
            </a:r>
            <a:r>
              <a:rPr sz="1600" b="0" i="0">
                <a:solidFill>
                  <a:srgbClr val="1C252B"/>
                </a:solidFill>
                <a:latin typeface="Cambria"/>
              </a:rPr>
              <a:t>…</a:t>
            </a:r>
            <a:r>
              <a:rPr sz="1600" b="0" i="1">
                <a:solidFill>
                  <a:srgbClr val="1C252B"/>
                </a:solidFill>
                <a:latin typeface="Cambria"/>
              </a:rPr>
              <a:t>a</a:t>
            </a:r>
            <a:r>
              <a:rPr sz="1600" b="0" i="0">
                <a:solidFill>
                  <a:srgbClr val="1C252B"/>
                </a:solidFill>
                <a:latin typeface="Segoe UI"/>
              </a:rPr>
              <a:t> of length 200,000, and </a:t>
            </a:r>
            <a:r>
              <a:rPr sz="1600" b="0" i="1">
                <a:solidFill>
                  <a:srgbClr val="1C252B"/>
                </a:solidFill>
                <a:latin typeface="Cambria"/>
              </a:rPr>
              <a:t>P</a:t>
            </a:r>
            <a:r>
              <a:rPr sz="1600" b="0" i="0">
                <a:solidFill>
                  <a:srgbClr val="1C252B"/>
                </a:solidFill>
                <a:latin typeface="Cambria"/>
              </a:rPr>
              <a:t> = </a:t>
            </a:r>
            <a:r>
              <a:rPr sz="1600" b="0" i="1">
                <a:solidFill>
                  <a:srgbClr val="1C252B"/>
                </a:solidFill>
                <a:latin typeface="Cambria"/>
              </a:rPr>
              <a:t>aa</a:t>
            </a:r>
            <a:r>
              <a:rPr sz="1600" b="0" i="0">
                <a:solidFill>
                  <a:srgbClr val="1C252B"/>
                </a:solidFill>
                <a:latin typeface="Cambria"/>
              </a:rPr>
              <a:t>…</a:t>
            </a:r>
            <a:r>
              <a:rPr sz="1600" b="0" i="1">
                <a:solidFill>
                  <a:srgbClr val="1C252B"/>
                </a:solidFill>
                <a:latin typeface="Cambria"/>
              </a:rPr>
              <a:t>ab</a:t>
            </a:r>
            <a:r>
              <a:rPr sz="1600" b="0" i="0">
                <a:solidFill>
                  <a:srgbClr val="1C252B"/>
                </a:solidFill>
                <a:latin typeface="Segoe UI"/>
              </a:rPr>
              <a:t> of length </a:t>
            </a:r>
            <a:r>
              <a:rPr sz="1600" b="0" i="1">
                <a:solidFill>
                  <a:srgbClr val="1C252B"/>
                </a:solidFill>
                <a:latin typeface="Cambria"/>
              </a:rPr>
              <a:t>m</a:t>
            </a:r>
            <a:r>
              <a:rPr sz="1600" b="0" i="0">
                <a:solidFill>
                  <a:srgbClr val="1C252B"/>
                </a:solidFill>
                <a:latin typeface="Segoe UI"/>
              </a:rPr>
              <a:t>. Every shift matches </a:t>
            </a:r>
            <a:r>
              <a:rPr sz="1600" b="0" i="1">
                <a:solidFill>
                  <a:srgbClr val="1C252B"/>
                </a:solidFill>
                <a:latin typeface="Cambria"/>
              </a:rPr>
              <a:t>m</a:t>
            </a:r>
            <a:r>
              <a:rPr sz="1600" b="0" i="0">
                <a:solidFill>
                  <a:srgbClr val="1C252B"/>
                </a:solidFill>
                <a:latin typeface="Cambria"/>
              </a:rPr>
              <a:t>−1</a:t>
            </a:r>
            <a:r>
              <a:rPr sz="1600" b="0" i="0">
                <a:solidFill>
                  <a:srgbClr val="1C252B"/>
                </a:solidFill>
                <a:latin typeface="Segoe UI"/>
              </a:rPr>
              <a:t> characters and then fails.</a:t>
            </a:r>
          </a:p>
        </p:txBody>
      </p:sp>
      <p:graphicFrame>
        <p:nvGraphicFramePr>
          <p:cNvPr id="10" name="body-1"/>
          <p:cNvGraphicFramePr>
            <a:graphicFrameLocks noGrp="1"/>
          </p:cNvGraphicFramePr>
          <p:nvPr/>
        </p:nvGraphicFramePr>
        <p:xfrm>
          <a:off x="1042416" y="2377033"/>
          <a:ext cx="6912001" cy="1377696"/>
        </p:xfrm>
        <a:graphic>
          <a:graphicData uri="http://schemas.openxmlformats.org/drawingml/2006/table">
            <a:tbl>
              <a:tblPr firstRow="0" bandRow="0" firstCol="0" lastRow="0" lastCol="0" bandCol="0">
                <a:tableStyleId>{2D5ABB26-0587-4C30-8999-92F81FD0307C}</a:tableStyleId>
              </a:tblPr>
              <a:tblGrid>
                <a:gridCol w="655649"/>
                <a:gridCol w="1725970"/>
                <a:gridCol w="746418"/>
                <a:gridCol w="1677160"/>
                <a:gridCol w="1077807"/>
                <a:gridCol w="1028997"/>
              </a:tblGrid>
              <a:tr h="344424">
                <a:tc>
                  <a:txBody>
                    <a:bodyPr wrap="square"/>
                    <a:lstStyle/>
                    <a:p>
                      <a:pPr algn="r"/>
                      <a:r>
                        <a:rPr sz="1300" b="1" i="1">
                          <a:solidFill>
                            <a:srgbClr val="1A5276"/>
                          </a:solidFill>
                          <a:latin typeface="Cambria"/>
                        </a:rPr>
                        <a:t>m</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naive comparisons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Cambria"/>
                        </a:rPr>
                        <a:t>/(</a:t>
                      </a:r>
                      <a:r>
                        <a:rPr sz="1300" b="1" i="1">
                          <a:solidFill>
                            <a:srgbClr val="1A5276"/>
                          </a:solidFill>
                          <a:latin typeface="Cambria"/>
                        </a:rPr>
                        <a:t>nm</a:t>
                      </a:r>
                      <a:r>
                        <a:rPr sz="1300" b="1" i="0">
                          <a:solidFill>
                            <a:srgbClr val="1A5276"/>
                          </a:solidFill>
                          <a:latin typeface="Cambria"/>
                        </a:rPr>
                        <a:t>)</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KMP comparisons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naive (ms)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KMP (ms)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r"/>
                      <a:r>
                        <a:rPr sz="1300" b="0" i="0">
                          <a:solidFill>
                            <a:srgbClr val="1C252B"/>
                          </a:solidFill>
                          <a:latin typeface="Segoe UI"/>
                        </a:rPr>
                        <a:t>10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1,999,910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1.0000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399,991</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3.55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0.85</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100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19,990,100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0.9995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399,901</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28.98</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1.10</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r"/>
                      <a:r>
                        <a:rPr sz="1300" b="0" i="0">
                          <a:solidFill>
                            <a:srgbClr val="1C252B"/>
                          </a:solidFill>
                          <a:latin typeface="Segoe UI"/>
                        </a:rPr>
                        <a:t>1,000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199,001,000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0.9950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399,001</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279.22</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300" b="0" i="0">
                          <a:solidFill>
                            <a:srgbClr val="1C252B"/>
                          </a:solidFill>
                          <a:latin typeface="Segoe UI"/>
                        </a:rPr>
                        <a:t>0.80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3866489"/>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The naive count is exactly </a:t>
            </a:r>
            <a:r>
              <a:rPr sz="1600" b="1" i="1">
                <a:solidFill>
                  <a:srgbClr val="1C252B"/>
                </a:solidFill>
                <a:latin typeface="Cambria"/>
              </a:rPr>
              <a:t>nm</a:t>
            </a:r>
            <a:r>
              <a:rPr sz="1600" b="0" i="0">
                <a:solidFill>
                  <a:srgbClr val="1C252B"/>
                </a:solidFill>
                <a:latin typeface="Segoe UI"/>
              </a:rPr>
              <a:t> — the ratio is 1.0000, 0.9995, 0.9950. The worst case is not an upper bound being approached; it is being attained.</a:t>
            </a:r>
          </a:p>
        </p:txBody>
      </p:sp>
      <p:sp>
        <p:nvSpPr>
          <p:cNvPr id="12" name="body-2bar">
            <a:extLst>
              <a:ext uri="{C183D7F6-B498-43B3-948B-1728B52AA6E4}">
                <adec:decorative xmlns:adec="http://schemas.microsoft.com/office/drawing/2017/decorative" val="1"/>
              </a:ext>
            </a:extLst>
          </p:cNvPr>
          <p:cNvSpPr/>
          <p:nvPr/>
        </p:nvSpPr>
        <p:spPr>
          <a:xfrm>
            <a:off x="841248" y="3884777"/>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485436"/>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KMP’s count is flat at about </a:t>
            </a:r>
            <a:r>
              <a:rPr sz="1600" b="1" i="0">
                <a:solidFill>
                  <a:srgbClr val="1C252B"/>
                </a:solidFill>
                <a:latin typeface="Cambria"/>
              </a:rPr>
              <a:t>2</a:t>
            </a:r>
            <a:r>
              <a:rPr sz="1600" b="1" i="1">
                <a:solidFill>
                  <a:srgbClr val="1C252B"/>
                </a:solidFill>
                <a:latin typeface="Cambria"/>
              </a:rPr>
              <a:t>n</a:t>
            </a:r>
            <a:r>
              <a:rPr sz="1600" b="0" i="0">
                <a:solidFill>
                  <a:srgbClr val="1C252B"/>
                </a:solidFill>
                <a:latin typeface="Segoe UI"/>
              </a:rPr>
              <a:t>, independent of </a:t>
            </a:r>
            <a:r>
              <a:rPr sz="1600" b="0" i="1">
                <a:solidFill>
                  <a:srgbClr val="1C252B"/>
                </a:solidFill>
                <a:latin typeface="Cambria"/>
              </a:rPr>
              <a:t>m</a:t>
            </a:r>
            <a:r>
              <a:rPr sz="1600" b="0" i="0">
                <a:solidFill>
                  <a:srgbClr val="1C252B"/>
                </a:solidFill>
                <a:latin typeface="Segoe UI"/>
              </a:rPr>
              <a:t>. The pattern got a hundred times longer and KMP did the same work.</a:t>
            </a:r>
          </a:p>
        </p:txBody>
      </p:sp>
      <p:sp>
        <p:nvSpPr>
          <p:cNvPr id="14" name="body-3bar">
            <a:extLst>
              <a:ext uri="{C183D7F6-B498-43B3-948B-1728B52AA6E4}">
                <adec:decorative xmlns:adec="http://schemas.microsoft.com/office/drawing/2017/decorative" val="1"/>
              </a:ext>
            </a:extLst>
          </p:cNvPr>
          <p:cNvSpPr/>
          <p:nvPr/>
        </p:nvSpPr>
        <p:spPr>
          <a:xfrm>
            <a:off x="841248" y="4503724"/>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5104384"/>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At </a:t>
            </a:r>
            <a:r>
              <a:rPr sz="1600" b="1" i="1">
                <a:solidFill>
                  <a:srgbClr val="1C252B"/>
                </a:solidFill>
                <a:latin typeface="Cambria"/>
              </a:rPr>
              <a:t>m</a:t>
            </a:r>
            <a:r>
              <a:rPr sz="1600" b="1" i="0">
                <a:solidFill>
                  <a:srgbClr val="1C252B"/>
                </a:solidFill>
                <a:latin typeface="Cambria"/>
              </a:rPr>
              <a:t> = 1,000</a:t>
            </a:r>
            <a:r>
              <a:rPr sz="1600" b="1" i="0">
                <a:solidFill>
                  <a:srgbClr val="1C252B"/>
                </a:solidFill>
                <a:latin typeface="Segoe UI"/>
              </a:rPr>
              <a:t>, KMP is 349</a:t>
            </a:r>
            <a:r>
              <a:rPr sz="1600" b="1" i="0">
                <a:solidFill>
                  <a:srgbClr val="1C252B"/>
                </a:solidFill>
                <a:latin typeface="Cambria"/>
              </a:rPr>
              <a:t>×</a:t>
            </a:r>
            <a:r>
              <a:rPr sz="1600" b="1" i="0">
                <a:solidFill>
                  <a:srgbClr val="1C252B"/>
                </a:solidFill>
                <a:latin typeface="Segoe UI"/>
              </a:rPr>
              <a:t> faster.</a:t>
            </a:r>
            <a:r>
              <a:rPr sz="1600" b="0" i="0">
                <a:solidFill>
                  <a:srgbClr val="1C252B"/>
                </a:solidFill>
                <a:latin typeface="Segoe UI"/>
              </a:rPr>
              <a:t> And the input is not contrived: runs of repeated characters occur in DNA, in log files, in padded records and in compressed streams.</a:t>
            </a:r>
          </a:p>
        </p:txBody>
      </p:sp>
      <p:sp>
        <p:nvSpPr>
          <p:cNvPr id="16" name="body-4bar">
            <a:extLst>
              <a:ext uri="{C183D7F6-B498-43B3-948B-1728B52AA6E4}">
                <adec:decorative xmlns:adec="http://schemas.microsoft.com/office/drawing/2017/decorative" val="1"/>
              </a:ext>
            </a:extLst>
          </p:cNvPr>
          <p:cNvSpPr/>
          <p:nvPr/>
        </p:nvSpPr>
        <p:spPr>
          <a:xfrm>
            <a:off x="841248" y="5122671"/>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pfill">
            <a:extLst>
              <a:ext uri="{C183D7F6-B498-43B3-948B-1728B52AA6E4}">
                <adec:decorative xmlns:adec="http://schemas.microsoft.com/office/drawing/2017/decorative" val="1"/>
              </a:ext>
            </a:extLst>
          </p:cNvPr>
          <p:cNvSpPr/>
          <p:nvPr/>
        </p:nvSpPr>
        <p:spPr>
          <a:xfrm>
            <a:off x="0" y="0"/>
            <a:ext cx="54982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right)">
                                      <p:cBhvr>
                                        <p:cTn id="29" dur="42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the Input That Destroys Rabin–Karp</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9344963F-00B1-43EA-86A5-F3C49E876226}"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502"/>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50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Rabin–Karp’s expected bound assumes spurious hits are rare. Shrink the modulus and watch:</a:t>
            </a:r>
          </a:p>
        </p:txBody>
      </p:sp>
      <p:graphicFrame>
        <p:nvGraphicFramePr>
          <p:cNvPr id="10" name="body-1"/>
          <p:cNvGraphicFramePr>
            <a:graphicFrameLocks noGrp="1"/>
          </p:cNvGraphicFramePr>
          <p:nvPr/>
        </p:nvGraphicFramePr>
        <p:xfrm>
          <a:off x="1042416" y="2445537"/>
          <a:ext cx="5683000" cy="1950720"/>
        </p:xfrm>
        <a:graphic>
          <a:graphicData uri="http://schemas.openxmlformats.org/drawingml/2006/table">
            <a:tbl>
              <a:tblPr firstRow="0" bandRow="0" firstCol="0" lastRow="0" lastCol="0" bandCol="0">
                <a:tableStyleId>{2D5ABB26-0587-4C30-8999-92F81FD0307C}</a:tableStyleId>
              </a:tblPr>
              <a:tblGrid>
                <a:gridCol w="1508113"/>
                <a:gridCol w="1498385"/>
                <a:gridCol w="1487782"/>
                <a:gridCol w="1188720"/>
              </a:tblGrid>
              <a:tr h="390144">
                <a:tc>
                  <a:txBody>
                    <a:bodyPr wrap="square"/>
                    <a:lstStyle/>
                    <a:p>
                      <a:pPr algn="r"/>
                      <a:r>
                        <a:rPr sz="1600" b="1" i="0">
                          <a:solidFill>
                            <a:srgbClr val="1A5276"/>
                          </a:solidFill>
                          <a:latin typeface="Segoe UI"/>
                        </a:rPr>
                        <a:t>modulus </a:t>
                      </a:r>
                      <a:r>
                        <a:rPr sz="1600" b="1" i="1">
                          <a:solidFill>
                            <a:srgbClr val="1A5276"/>
                          </a:solidFill>
                          <a:latin typeface="Cambria"/>
                        </a:rPr>
                        <a:t>q</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spurious hits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comparisons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time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153,522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204,708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53.1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2,007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2,917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47.6</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1,000,003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47.8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1,000,000,007</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208</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47.8</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52897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verification count explodes a thousandfold and the clock barely moves</a:t>
            </a:r>
            <a:r>
              <a:rPr sz="1900" b="0" i="0">
                <a:solidFill>
                  <a:srgbClr val="1C252B"/>
                </a:solidFill>
                <a:latin typeface="Segoe UI"/>
              </a:rPr>
              <a:t> — 53.1 ms against 47.8. That is worth pausing on, because it is an honest negative result: on </a:t>
            </a:r>
            <a:r>
              <a:rPr sz="1900" b="0" i="1">
                <a:solidFill>
                  <a:srgbClr val="1C252B"/>
                </a:solidFill>
                <a:latin typeface="Segoe UI"/>
              </a:rPr>
              <a:t>random</a:t>
            </a:r>
            <a:r>
              <a:rPr sz="1900" b="0" i="0">
                <a:solidFill>
                  <a:srgbClr val="1C252B"/>
                </a:solidFill>
                <a:latin typeface="Segoe UI"/>
              </a:rPr>
              <a:t> text a spurious candidate is rejected after about 1.3 characters, so a hundred thousand of them cost almost nothing.</a:t>
            </a:r>
          </a:p>
        </p:txBody>
      </p:sp>
      <p:sp>
        <p:nvSpPr>
          <p:cNvPr id="12" name="body-2bar">
            <a:extLst>
              <a:ext uri="{C183D7F6-B498-43B3-948B-1728B52AA6E4}">
                <adec:decorative xmlns:adec="http://schemas.microsoft.com/office/drawing/2017/decorative" val="1"/>
              </a:ext>
            </a:extLst>
          </p:cNvPr>
          <p:cNvSpPr/>
          <p:nvPr/>
        </p:nvSpPr>
        <p:spPr>
          <a:xfrm>
            <a:off x="841248" y="4547260"/>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7372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the Input That Destroys Rabin–Karp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F5E5EABE-160E-4D54-ACDB-ECD164A03AD9}"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79215"/>
          </a:xfrm>
          <a:prstGeom prst="roundRect">
            <a:avLst>
              <a:gd name="adj" fmla="val 255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792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a:t>
            </a:r>
            <a:r>
              <a:rPr sz="1900" b="1" i="0">
                <a:solidFill>
                  <a:srgbClr val="1C252B"/>
                </a:solidFill>
                <a:latin typeface="Cambria"/>
              </a:rPr>
              <a:t>O(</a:t>
            </a:r>
            <a:r>
              <a:rPr sz="1900" b="1" i="1">
                <a:solidFill>
                  <a:srgbClr val="1C252B"/>
                </a:solidFill>
                <a:latin typeface="Cambria"/>
              </a:rPr>
              <a:t>nm</a:t>
            </a:r>
            <a:r>
              <a:rPr sz="1900" b="1" i="0">
                <a:solidFill>
                  <a:srgbClr val="1C252B"/>
                </a:solidFill>
                <a:latin typeface="Cambria"/>
              </a:rPr>
              <a:t>)</a:t>
            </a:r>
            <a:r>
              <a:rPr sz="1900" b="1" i="0">
                <a:solidFill>
                  <a:srgbClr val="1C252B"/>
                </a:solidFill>
                <a:latin typeface="Segoe UI"/>
              </a:rPr>
              <a:t> bound needs both many candidates </a:t>
            </a:r>
            <a:r>
              <a:rPr sz="1900" b="1" i="1">
                <a:solidFill>
                  <a:srgbClr val="1C252B"/>
                </a:solidFill>
                <a:latin typeface="Segoe UI"/>
              </a:rPr>
              <a:t>and</a:t>
            </a:r>
            <a:r>
              <a:rPr sz="1900" b="1" i="0">
                <a:solidFill>
                  <a:srgbClr val="1C252B"/>
                </a:solidFill>
                <a:latin typeface="Segoe UI"/>
              </a:rPr>
              <a:t> expensive verification.</a:t>
            </a:r>
            <a:r>
              <a:rPr sz="1900" b="0" i="0">
                <a:solidFill>
                  <a:srgbClr val="1C252B"/>
                </a:solidFill>
                <a:latin typeface="Segoe UI"/>
              </a:rPr>
              <a:t> Here is an input with both — </a:t>
            </a:r>
            <a:r>
              <a:rPr sz="1900" b="0" i="1">
                <a:solidFill>
                  <a:srgbClr val="1C252B"/>
                </a:solidFill>
                <a:latin typeface="Cambria"/>
              </a:rPr>
              <a:t>T</a:t>
            </a:r>
            <a:r>
              <a:rPr sz="1900" b="0" i="0">
                <a:solidFill>
                  <a:srgbClr val="1C252B"/>
                </a:solidFill>
                <a:latin typeface="Cambria"/>
              </a:rPr>
              <a:t> = </a:t>
            </a:r>
            <a:r>
              <a:rPr sz="1900" b="0" i="1">
                <a:solidFill>
                  <a:srgbClr val="1C252B"/>
                </a:solidFill>
                <a:latin typeface="Cambria"/>
              </a:rPr>
              <a:t>a</a:t>
            </a:r>
            <a:r>
              <a:rPr sz="1250" b="0" i="1" baseline="30000">
                <a:solidFill>
                  <a:srgbClr val="1C252B"/>
                </a:solidFill>
                <a:latin typeface="Cambria"/>
              </a:rPr>
              <a:t>n</a:t>
            </a:r>
            <a:r>
              <a:rPr sz="1900" b="0" i="0">
                <a:solidFill>
                  <a:srgbClr val="1C252B"/>
                </a:solidFill>
                <a:latin typeface="Segoe UI"/>
              </a:rPr>
              <a:t>, </a:t>
            </a:r>
            <a:r>
              <a:rPr sz="1900" b="0" i="1">
                <a:solidFill>
                  <a:srgbClr val="1C252B"/>
                </a:solidFill>
                <a:latin typeface="Cambria"/>
              </a:rPr>
              <a:t>P</a:t>
            </a:r>
            <a:r>
              <a:rPr sz="1900" b="0" i="0">
                <a:solidFill>
                  <a:srgbClr val="1C252B"/>
                </a:solidFill>
                <a:latin typeface="Cambria"/>
              </a:rPr>
              <a:t> = </a:t>
            </a:r>
            <a:r>
              <a:rPr sz="1900" b="0" i="1">
                <a:solidFill>
                  <a:srgbClr val="1C252B"/>
                </a:solidFill>
                <a:latin typeface="Cambria"/>
              </a:rPr>
              <a:t>a</a:t>
            </a:r>
            <a:r>
              <a:rPr sz="1250" b="0" i="1" baseline="30000">
                <a:solidFill>
                  <a:srgbClr val="1C252B"/>
                </a:solidFill>
                <a:latin typeface="Cambria"/>
              </a:rPr>
              <a:t>m</a:t>
            </a:r>
            <a:r>
              <a:rPr sz="1900" b="0" i="0">
                <a:solidFill>
                  <a:srgbClr val="1C252B"/>
                </a:solidFill>
                <a:latin typeface="Segoe UI"/>
              </a:rPr>
              <a:t>, so every window is a genuine match and every verification runs the full </a:t>
            </a:r>
            <a:r>
              <a:rPr sz="1900" b="0" i="1">
                <a:solidFill>
                  <a:srgbClr val="1C252B"/>
                </a:solidFill>
                <a:latin typeface="Cambria"/>
              </a:rPr>
              <a:t>m</a:t>
            </a:r>
            <a:r>
              <a:rPr sz="1900" b="0" i="0">
                <a:solidFill>
                  <a:srgbClr val="1C252B"/>
                </a:solidFill>
                <a:latin typeface="Segoe UI"/>
              </a:rPr>
              <a: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11" name="body-1"/>
          <p:cNvGraphicFramePr>
            <a:graphicFrameLocks noGrp="1"/>
          </p:cNvGraphicFramePr>
          <p:nvPr/>
        </p:nvGraphicFramePr>
        <p:xfrm>
          <a:off x="1042416" y="3047822"/>
          <a:ext cx="5646776" cy="1560576"/>
        </p:xfrm>
        <a:graphic>
          <a:graphicData uri="http://schemas.openxmlformats.org/drawingml/2006/table">
            <a:tbl>
              <a:tblPr firstRow="0" bandRow="0" firstCol="0" lastRow="0" lastCol="0" bandCol="0">
                <a:tableStyleId>{2D5ABB26-0587-4C30-8999-92F81FD0307C}</a:tableStyleId>
              </a:tblPr>
              <a:tblGrid>
                <a:gridCol w="747869"/>
                <a:gridCol w="1814845"/>
                <a:gridCol w="859584"/>
                <a:gridCol w="1017105"/>
                <a:gridCol w="1207373"/>
              </a:tblGrid>
              <a:tr h="390144">
                <a:tc>
                  <a:txBody>
                    <a:bodyPr wrap="square"/>
                    <a:lstStyle/>
                    <a:p>
                      <a:pPr algn="r"/>
                      <a:r>
                        <a:rPr sz="1600" b="1" i="1">
                          <a:solidFill>
                            <a:srgbClr val="1A5276"/>
                          </a:solidFill>
                          <a:latin typeface="Cambria"/>
                        </a:rPr>
                        <a:t>m</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RK comparisons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nm</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RK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KMP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1,999,910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8.48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2.02</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19,990,100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0.9995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40.21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2.14</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199,001,000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0.9950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368.07</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2.28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2" name="body-2"/>
          <p:cNvSpPr txBox="1"/>
          <p:nvPr/>
        </p:nvSpPr>
        <p:spPr>
          <a:xfrm>
            <a:off x="1042416" y="474111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Exactly </a:t>
            </a:r>
            <a:r>
              <a:rPr sz="1900" b="1" i="1">
                <a:solidFill>
                  <a:srgbClr val="1C252B"/>
                </a:solidFill>
                <a:latin typeface="Cambria"/>
              </a:rPr>
              <a:t>nm</a:t>
            </a:r>
            <a:r>
              <a:rPr sz="1900" b="1" i="0">
                <a:solidFill>
                  <a:srgbClr val="1C252B"/>
                </a:solidFill>
                <a:latin typeface="Segoe UI"/>
              </a:rPr>
              <a:t> again, and KMP is 161</a:t>
            </a:r>
            <a:r>
              <a:rPr sz="1900" b="1" i="0">
                <a:solidFill>
                  <a:srgbClr val="1C252B"/>
                </a:solidFill>
                <a:latin typeface="Cambria"/>
              </a:rPr>
              <a:t>×</a:t>
            </a:r>
            <a:r>
              <a:rPr sz="1900" b="1" i="0">
                <a:solidFill>
                  <a:srgbClr val="1C252B"/>
                </a:solidFill>
                <a:latin typeface="Segoe UI"/>
              </a:rPr>
              <a:t> faster at </a:t>
            </a:r>
            <a:r>
              <a:rPr sz="1900" b="1" i="1">
                <a:solidFill>
                  <a:srgbClr val="1C252B"/>
                </a:solidFill>
                <a:latin typeface="Cambria"/>
              </a:rPr>
              <a:t>m</a:t>
            </a:r>
            <a:r>
              <a:rPr sz="1900" b="1" i="0">
                <a:solidFill>
                  <a:srgbClr val="1C252B"/>
                </a:solidFill>
                <a:latin typeface="Cambria"/>
              </a:rPr>
              <a:t> = 1,000</a:t>
            </a:r>
            <a:r>
              <a:rPr sz="1900" b="1" i="0">
                <a:solidFill>
                  <a:srgbClr val="1C252B"/>
                </a:solidFill>
                <a:latin typeface="Segoe UI"/>
              </a:rPr>
              <a:t>.</a:t>
            </a:r>
          </a:p>
        </p:txBody>
      </p:sp>
      <p:sp>
        <p:nvSpPr>
          <p:cNvPr id="13" name="body-2bar">
            <a:extLst>
              <a:ext uri="{C183D7F6-B498-43B3-948B-1728B52AA6E4}">
                <adec:decorative xmlns:adec="http://schemas.microsoft.com/office/drawing/2017/decorative" val="1"/>
              </a:ext>
            </a:extLst>
          </p:cNvPr>
          <p:cNvSpPr/>
          <p:nvPr/>
        </p:nvSpPr>
        <p:spPr>
          <a:xfrm>
            <a:off x="841248" y="475940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59763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the Input That Destroys Rabin–Karp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36F03705-290B-486B-B630-9205A51CE3E7}"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first attempt at this experiment used </a:t>
            </a:r>
            <a:r>
              <a:rPr sz="1900" b="1" i="1">
                <a:solidFill>
                  <a:srgbClr val="1C252B"/>
                </a:solidFill>
                <a:latin typeface="Cambria"/>
              </a:rPr>
              <a:t>P</a:t>
            </a:r>
            <a:r>
              <a:rPr sz="1900" b="1" i="0">
                <a:solidFill>
                  <a:srgbClr val="1C252B"/>
                </a:solidFill>
                <a:latin typeface="Cambria"/>
              </a:rPr>
              <a:t> = </a:t>
            </a:r>
            <a:r>
              <a:rPr sz="1900" b="1" i="1">
                <a:solidFill>
                  <a:srgbClr val="1C252B"/>
                </a:solidFill>
                <a:latin typeface="Cambria"/>
              </a:rPr>
              <a:t>a</a:t>
            </a:r>
            <a:r>
              <a:rPr sz="1250" b="1" i="1" baseline="30000">
                <a:solidFill>
                  <a:srgbClr val="1C252B"/>
                </a:solidFill>
                <a:latin typeface="Cambria"/>
              </a:rPr>
              <a:t>m</a:t>
            </a:r>
            <a:r>
              <a:rPr sz="1250" b="1" i="0" baseline="30000">
                <a:solidFill>
                  <a:srgbClr val="1C252B"/>
                </a:solidFill>
                <a:latin typeface="Cambria"/>
              </a:rPr>
              <a:t>−1</a:t>
            </a:r>
            <a:r>
              <a:rPr sz="1900" b="1" i="0">
                <a:solidFill>
                  <a:srgbClr val="1C252B"/>
                </a:solidFill>
                <a:latin typeface="Cambria"/>
              </a:rPr>
              <a:t> </a:t>
            </a:r>
            <a:r>
              <a:rPr sz="1900" b="1" i="1">
                <a:solidFill>
                  <a:srgbClr val="1C252B"/>
                </a:solidFill>
                <a:latin typeface="Cambria"/>
              </a:rPr>
              <a:t>b</a:t>
            </a:r>
            <a:r>
              <a:rPr sz="1900" b="0" i="0">
                <a:solidFill>
                  <a:srgbClr val="1C252B"/>
                </a:solidFill>
                <a:latin typeface="Segoe UI"/>
              </a:rPr>
              <a:t> — the naive algorithm’s worst case — and measured </a:t>
            </a:r>
            <a:r>
              <a:rPr sz="1900" b="0" i="1">
                <a:solidFill>
                  <a:srgbClr val="1C252B"/>
                </a:solidFill>
                <a:latin typeface="Segoe UI"/>
              </a:rPr>
              <a:t>zero</a:t>
            </a:r>
            <a:r>
              <a:rPr sz="1900" b="0" i="0">
                <a:solidFill>
                  <a:srgbClr val="1C252B"/>
                </a:solidFill>
                <a:latin typeface="Segoe UI"/>
              </a:rPr>
              <a:t> comparisons, because that pattern’s hash differs from every window’s and Rabin–Karp rejected all of them instantly. The two algorithms have different worst cases, and assuming they share one was the mistake.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21537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58E5F5D7-6266-46A1-AE10-CB6578D1ED69}"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874"/>
          </a:xfrm>
          <a:prstGeom prst="roundRect">
            <a:avLst>
              <a:gd name="adj" fmla="val 224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87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6" cy="1865376"/>
        </p:xfrm>
        <a:graphic>
          <a:graphicData uri="http://schemas.openxmlformats.org/drawingml/2006/table">
            <a:tbl>
              <a:tblPr firstRow="0" bandRow="0" firstCol="0" lastRow="0" lastCol="0" bandCol="0">
                <a:tableStyleId>{2D5ABB26-0587-4C30-8999-92F81FD0307C}</a:tableStyleId>
              </a:tblPr>
              <a:tblGrid>
                <a:gridCol w="1632957"/>
                <a:gridCol w="1749597"/>
                <a:gridCol w="1749597"/>
                <a:gridCol w="5029575"/>
              </a:tblGrid>
              <a:tr h="359664">
                <a:tc>
                  <a:txBody>
                    <a:bodyPr wrap="square"/>
                    <a:lstStyle/>
                    <a:p>
                      <a:pPr algn="l"/>
                      <a:r>
                        <a:rPr sz="1400" b="1" i="0">
                          <a:solidFill>
                            <a:srgbClr val="1A5276"/>
                          </a:solidFill>
                          <a:latin typeface="Segoe UI"/>
                        </a:rPr>
                        <a:t>Algorithm</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Typical</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Worst case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Use when</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naive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O(</a:t>
                      </a:r>
                      <a:r>
                        <a:rPr sz="1400" b="0" i="1">
                          <a:solidFill>
                            <a:srgbClr val="1C252B"/>
                          </a:solidFill>
                          <a:latin typeface="Cambria"/>
                        </a:rPr>
                        <a:t>n</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O(</a:t>
                      </a:r>
                      <a:r>
                        <a:rPr sz="1400" b="0" i="1">
                          <a:solidFill>
                            <a:srgbClr val="1C252B"/>
                          </a:solidFill>
                          <a:latin typeface="Cambria"/>
                        </a:rPr>
                        <a:t>nm</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m</a:t>
                      </a:r>
                      <a:r>
                        <a:rPr sz="1400" b="0" i="0">
                          <a:solidFill>
                            <a:srgbClr val="1C252B"/>
                          </a:solidFill>
                          <a:latin typeface="Segoe UI"/>
                        </a:rPr>
                        <a:t> is tiny, the alphabet is large, and the text is not repetitive</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Rabin–Karp</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Cambria"/>
                        </a:rPr>
                        <a:t>O(</a:t>
                      </a:r>
                      <a:r>
                        <a:rPr sz="1400" b="0" i="1">
                          <a:solidFill>
                            <a:srgbClr val="1C252B"/>
                          </a:solidFill>
                          <a:latin typeface="Cambria"/>
                        </a:rPr>
                        <a:t>n</a:t>
                      </a:r>
                      <a:r>
                        <a:rPr sz="1400" b="0" i="0">
                          <a:solidFill>
                            <a:srgbClr val="1C252B"/>
                          </a:solidFill>
                          <a:latin typeface="Cambria"/>
                        </a:rPr>
                        <a:t>+</a:t>
                      </a:r>
                      <a:r>
                        <a:rPr sz="1400" b="0" i="1">
                          <a:solidFill>
                            <a:srgbClr val="1C252B"/>
                          </a:solidFill>
                          <a:latin typeface="Cambria"/>
                        </a:rPr>
                        <a:t>m</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Cambria"/>
                        </a:rPr>
                        <a:t>O(</a:t>
                      </a:r>
                      <a:r>
                        <a:rPr sz="1400" b="0" i="1">
                          <a:solidFill>
                            <a:srgbClr val="1C252B"/>
                          </a:solidFill>
                          <a:latin typeface="Cambria"/>
                        </a:rPr>
                        <a:t>nm</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searching for </a:t>
                      </a:r>
                      <a:r>
                        <a:rPr sz="1400" b="0" i="1">
                          <a:solidFill>
                            <a:srgbClr val="1C252B"/>
                          </a:solidFill>
                          <a:latin typeface="Segoe UI"/>
                        </a:rPr>
                        <a:t>many</a:t>
                      </a:r>
                      <a:r>
                        <a:rPr sz="1400" b="0" i="0">
                          <a:solidFill>
                            <a:srgbClr val="1C252B"/>
                          </a:solidFill>
                          <a:latin typeface="Segoe UI"/>
                        </a:rPr>
                        <a:t> patterns at once — one pass, one hash set</a:t>
                      </a:r>
                      <a:endParaRPr sz="1400"/>
                    </a:p>
                  </a:txBody>
                  <a:tcPr marL="109728" marR="109728" marT="64008" marB="45720" anchor="t">
                    <a:lnL w="0" cmpd="sng">
                      <a:noFill/>
                    </a:lnL>
                    <a:lnR w="0" cmpd="sng">
                      <a:noFill/>
                    </a:lnR>
                    <a:lnT w="9525" cmpd="sng">
                      <a:noFill/>
                    </a:lnT>
                    <a:lnB w="9525" cmpd="sng">
                      <a:noFill/>
                    </a:lnB>
                    <a:solidFill>
                      <a:srgbClr val="F2F8FC"/>
                    </a:solidFill>
                  </a:tcPr>
                </a:tc>
              </a:tr>
              <a:tr h="573024">
                <a:tc>
                  <a:txBody>
                    <a:bodyPr wrap="square"/>
                    <a:lstStyle/>
                    <a:p>
                      <a:pPr algn="l"/>
                      <a:r>
                        <a:rPr sz="1400" b="0" i="0">
                          <a:solidFill>
                            <a:srgbClr val="1C252B"/>
                          </a:solidFill>
                          <a:latin typeface="Segoe UI"/>
                        </a:rPr>
                        <a:t>KMP</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Cambria"/>
                        </a:rPr>
                        <a:t>Θ(</a:t>
                      </a:r>
                      <a:r>
                        <a:rPr sz="1400" b="0" i="1">
                          <a:solidFill>
                            <a:srgbClr val="1C252B"/>
                          </a:solidFill>
                          <a:latin typeface="Cambria"/>
                        </a:rPr>
                        <a:t>n</a:t>
                      </a:r>
                      <a:r>
                        <a:rPr sz="1400" b="0" i="0">
                          <a:solidFill>
                            <a:srgbClr val="1C252B"/>
                          </a:solidFill>
                          <a:latin typeface="Cambria"/>
                        </a:rPr>
                        <a:t>+</a:t>
                      </a:r>
                      <a:r>
                        <a:rPr sz="1400" b="0" i="1">
                          <a:solidFill>
                            <a:srgbClr val="1C252B"/>
                          </a:solidFill>
                          <a:latin typeface="Cambria"/>
                        </a:rPr>
                        <a:t>m</a:t>
                      </a:r>
                      <a:r>
                        <a:rPr sz="1400" b="0" i="0">
                          <a:solidFill>
                            <a:srgbClr val="1C252B"/>
                          </a:solidFill>
                          <a:latin typeface="Cambria"/>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Cambria"/>
                        </a:rPr>
                        <a:t>Θ(</a:t>
                      </a:r>
                      <a:r>
                        <a:rPr sz="1400" b="0" i="1">
                          <a:solidFill>
                            <a:srgbClr val="1C252B"/>
                          </a:solidFill>
                          <a:latin typeface="Cambria"/>
                        </a:rPr>
                        <a:t>n</a:t>
                      </a:r>
                      <a:r>
                        <a:rPr sz="1400" b="0" i="0">
                          <a:solidFill>
                            <a:srgbClr val="1C252B"/>
                          </a:solidFill>
                          <a:latin typeface="Cambria"/>
                        </a:rPr>
                        <a:t>+</a:t>
                      </a:r>
                      <a:r>
                        <a:rPr sz="1400" b="0" i="1">
                          <a:solidFill>
                            <a:srgbClr val="1C252B"/>
                          </a:solidFill>
                          <a:latin typeface="Cambria"/>
                        </a:rPr>
                        <a:t>m</a:t>
                      </a:r>
                      <a:r>
                        <a:rPr sz="1400" b="0" i="0">
                          <a:solidFill>
                            <a:srgbClr val="1C252B"/>
                          </a:solidFill>
                          <a:latin typeface="Cambria"/>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a guarantee is needed, or the text is repetitive, or it is streaming</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60704" y="4032376"/>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Rabin–Karp’s real advantage is not speed</a:t>
            </a:r>
            <a:r>
              <a:rPr sz="1700" b="0" i="0">
                <a:solidFill>
                  <a:srgbClr val="1C252B"/>
                </a:solidFill>
                <a:latin typeface="Segoe UI"/>
              </a:rPr>
              <a:t> — KMP beats it and has a guarantee. It is that a </a:t>
            </a:r>
            <a:r>
              <a:rPr sz="1700" b="0" i="1">
                <a:solidFill>
                  <a:srgbClr val="1C252B"/>
                </a:solidFill>
                <a:latin typeface="Segoe UI"/>
              </a:rPr>
              <a:t>set</a:t>
            </a:r>
            <a:r>
              <a:rPr sz="1700" b="0" i="0">
                <a:solidFill>
                  <a:srgbClr val="1C252B"/>
                </a:solidFill>
                <a:latin typeface="Segoe UI"/>
              </a:rPr>
              <a:t> of patterns can be matched in one pass by putting all their hashes in a hash set, which neither of the others can do. That generalises to the Rabin–Karp fingerprint used in rsync and in plagiarism detection.</a:t>
            </a:r>
          </a:p>
        </p:txBody>
      </p:sp>
      <p:sp>
        <p:nvSpPr>
          <p:cNvPr id="11" name="body-2"/>
          <p:cNvSpPr txBox="1"/>
          <p:nvPr/>
        </p:nvSpPr>
        <p:spPr>
          <a:xfrm>
            <a:off x="1060704" y="4959451"/>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KMP’s real advantage</a:t>
            </a:r>
            <a:r>
              <a:rPr sz="1700" b="0" i="0">
                <a:solidFill>
                  <a:srgbClr val="1C252B"/>
                </a:solidFill>
                <a:latin typeface="Segoe UI"/>
              </a:rPr>
              <a:t> is that the text pointer never moves backwards, so it works on a stream that cannot be rewound — a socket, a pipe, a file too large to hold.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4544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C3104CAA-0A07-4F6E-BCDF-325ED3B1238D}" type="slidenum">
              <a:rPr lang="en-GB" sz="1000">
                <a:solidFill>
                  <a:srgbClr val="8795A1"/>
                </a:solidFill>
                <a:latin typeface="Segoe UI"/>
              </a:rPr>
              <a:t>28</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only on English text.</a:t>
            </a:r>
            <a:r>
              <a:rPr sz="1700" b="0" i="0">
                <a:solidFill>
                  <a:srgbClr val="1C252B"/>
                </a:solidFill>
                <a:latin typeface="Segoe UI"/>
              </a:rPr>
              <a:t> Measured, the naive algorithm was within 7% of KMP there and 349</a:t>
            </a:r>
            <a:r>
              <a:rPr sz="1700" b="0" i="0">
                <a:solidFill>
                  <a:srgbClr val="1C252B"/>
                </a:solidFill>
                <a:latin typeface="Cambria"/>
              </a:rPr>
              <a:t>×</a:t>
            </a:r>
            <a:r>
              <a:rPr sz="1700" b="0" i="0">
                <a:solidFill>
                  <a:srgbClr val="1C252B"/>
                </a:solidFill>
                <a:latin typeface="Segoe UI"/>
              </a:rPr>
              <a:t> worse on repetitive input.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two algorithms share a worst case.</a:t>
            </a:r>
            <a:r>
              <a:rPr sz="1700" b="0" i="0">
                <a:solidFill>
                  <a:srgbClr val="1C252B"/>
                </a:solidFill>
                <a:latin typeface="Segoe UI"/>
              </a:rPr>
              <a:t> The pattern that is worst for naive matching made Rabin–Karp do </a:t>
            </a:r>
            <a:r>
              <a:rPr sz="1700" b="0" i="1">
                <a:solidFill>
                  <a:srgbClr val="1C252B"/>
                </a:solidFill>
                <a:latin typeface="Segoe UI"/>
              </a:rPr>
              <a:t>zero</a:t>
            </a:r>
            <a:r>
              <a:rPr sz="1700" b="0" i="0">
                <a:solidFill>
                  <a:srgbClr val="1C252B"/>
                </a:solidFill>
                <a:latin typeface="Segoe UI"/>
              </a:rPr>
              <a:t> comparisons.</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to verify a Rabin–Karp hash match.</a:t>
            </a:r>
            <a:r>
              <a:rPr sz="1700" b="0" i="0">
                <a:solidFill>
                  <a:srgbClr val="1C252B"/>
                </a:solidFill>
                <a:latin typeface="Segoe UI"/>
              </a:rPr>
              <a:t> Equal hashes do not mean equal strings. Skipping the check makes it fast and wrong.</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 small or fixed modulus on untrusted input.</a:t>
            </a:r>
            <a:r>
              <a:rPr sz="1700" b="0" i="0">
                <a:solidFill>
                  <a:srgbClr val="1C252B"/>
                </a:solidFill>
                <a:latin typeface="Segoe UI"/>
              </a:rPr>
              <a:t> Chapter 13’s flooding attack, in a new costume.</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Getting </a:t>
            </a:r>
            <a:r>
              <a:rPr sz="1700" b="1" i="0">
                <a:solidFill>
                  <a:srgbClr val="1C252B"/>
                </a:solidFill>
                <a:latin typeface="Cambria"/>
              </a:rPr>
              <a:t>π</a:t>
            </a:r>
            <a:r>
              <a:rPr sz="1700" b="1" i="0">
                <a:solidFill>
                  <a:srgbClr val="1C252B"/>
                </a:solidFill>
                <a:latin typeface="Segoe UI"/>
              </a:rPr>
              <a:t> off by one.</a:t>
            </a:r>
            <a:r>
              <a:rPr sz="1700" b="0" i="0">
                <a:solidFill>
                  <a:srgbClr val="1C252B"/>
                </a:solidFill>
                <a:latin typeface="Segoe UI"/>
              </a:rPr>
              <a:t> It is the longest </a:t>
            </a:r>
            <a:r>
              <a:rPr sz="1700" b="0" i="1">
                <a:solidFill>
                  <a:srgbClr val="1C252B"/>
                </a:solidFill>
                <a:latin typeface="Segoe UI"/>
              </a:rPr>
              <a:t>proper</a:t>
            </a:r>
            <a:r>
              <a:rPr sz="1700" b="0" i="0">
                <a:solidFill>
                  <a:srgbClr val="1C252B"/>
                </a:solidFill>
                <a:latin typeface="Segoe UI"/>
              </a:rPr>
              <a:t> prefix that is also a suffix; </a:t>
            </a:r>
            <a:r>
              <a:rPr sz="1700" b="0" i="0">
                <a:solidFill>
                  <a:srgbClr val="1C252B"/>
                </a:solidFill>
                <a:latin typeface="Cambria"/>
              </a:rPr>
              <a:t>π[</a:t>
            </a:r>
            <a:r>
              <a:rPr sz="1700" b="0" i="1">
                <a:solidFill>
                  <a:srgbClr val="1C252B"/>
                </a:solidFill>
                <a:latin typeface="Cambria"/>
              </a:rPr>
              <a:t>i</a:t>
            </a:r>
            <a:r>
              <a:rPr sz="1700" b="0" i="0">
                <a:solidFill>
                  <a:srgbClr val="1C252B"/>
                </a:solidFill>
                <a:latin typeface="Cambria"/>
              </a:rPr>
              <a:t>] &lt; </a:t>
            </a:r>
            <a:r>
              <a:rPr sz="1700" b="0" i="1">
                <a:solidFill>
                  <a:srgbClr val="1C252B"/>
                </a:solidFill>
                <a:latin typeface="Cambria"/>
              </a:rPr>
              <a:t>i</a:t>
            </a:r>
            <a:r>
              <a:rPr sz="1700" b="0" i="0">
                <a:solidFill>
                  <a:srgbClr val="1C252B"/>
                </a:solidFill>
                <a:latin typeface="Segoe UI"/>
              </a:rPr>
              <a:t> always, and </a:t>
            </a:r>
            <a:r>
              <a:rPr sz="1700" b="0" i="0">
                <a:solidFill>
                  <a:srgbClr val="1C252B"/>
                </a:solidFill>
                <a:latin typeface="Cambria"/>
              </a:rPr>
              <a:t>π[</a:t>
            </a:r>
            <a:r>
              <a:rPr sz="1700" b="0" i="1">
                <a:solidFill>
                  <a:srgbClr val="1C252B"/>
                </a:solidFill>
                <a:latin typeface="Cambria"/>
              </a:rPr>
              <a:t>i</a:t>
            </a:r>
            <a:r>
              <a:rPr sz="1700" b="0" i="0">
                <a:solidFill>
                  <a:srgbClr val="1C252B"/>
                </a:solidFill>
                <a:latin typeface="Cambria"/>
              </a:rPr>
              <a:t>] = </a:t>
            </a:r>
            <a:r>
              <a:rPr sz="1700" b="0" i="1">
                <a:solidFill>
                  <a:srgbClr val="1C252B"/>
                </a:solidFill>
                <a:latin typeface="Cambria"/>
              </a:rPr>
              <a:t>i</a:t>
            </a:r>
            <a:r>
              <a:rPr sz="1700" b="0" i="0">
                <a:solidFill>
                  <a:srgbClr val="1C252B"/>
                </a:solidFill>
                <a:latin typeface="Segoe UI"/>
              </a:rPr>
              <a:t> would make the matching loop hang.</a:t>
            </a:r>
          </a:p>
        </p:txBody>
      </p:sp>
      <p:sp>
        <p:nvSpPr>
          <p:cNvPr id="22" name="!!pb5">
            <a:extLst>
              <a:ext uri="{C183D7F6-B498-43B3-948B-1728B52AA6E4}">
                <adec:decorative xmlns:adec="http://schemas.microsoft.com/office/drawing/2017/decorative" val="1"/>
              </a:ext>
            </a:extLst>
          </p:cNvPr>
          <p:cNvSpPr/>
          <p:nvPr/>
        </p:nvSpPr>
        <p:spPr>
          <a:xfrm>
            <a:off x="658368" y="528279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30565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264505"/>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KMP is </a:t>
            </a:r>
            <a:r>
              <a:rPr sz="1700" b="1" i="0">
                <a:solidFill>
                  <a:srgbClr val="1C252B"/>
                </a:solidFill>
                <a:latin typeface="Cambria"/>
              </a:rPr>
              <a:t>O(</a:t>
            </a:r>
            <a:r>
              <a:rPr sz="1700" b="1" i="1">
                <a:solidFill>
                  <a:srgbClr val="1C252B"/>
                </a:solidFill>
                <a:latin typeface="Cambria"/>
              </a:rPr>
              <a:t>nm</a:t>
            </a:r>
            <a:r>
              <a:rPr sz="1700" b="1" i="0">
                <a:solidFill>
                  <a:srgbClr val="1C252B"/>
                </a:solidFill>
                <a:latin typeface="Cambria"/>
              </a:rPr>
              <a:t>)</a:t>
            </a:r>
            <a:r>
              <a:rPr sz="1700" b="0" i="0">
                <a:solidFill>
                  <a:srgbClr val="1C252B"/>
                </a:solidFill>
                <a:latin typeface="Segoe UI"/>
              </a:rPr>
              <a:t> because of the nested </a:t>
            </a:r>
            <a:r>
              <a:rPr sz="1700" b="1" i="0">
                <a:solidFill>
                  <a:srgbClr val="1C252B"/>
                </a:solidFill>
                <a:latin typeface="Segoe UI"/>
              </a:rPr>
              <a:t>while</a:t>
            </a:r>
            <a:r>
              <a:rPr sz="1700" b="0" i="0">
                <a:solidFill>
                  <a:srgbClr val="1C252B"/>
                </a:solidFill>
                <a:latin typeface="Segoe UI"/>
              </a:rPr>
              <a:t>. The amortised argument is the whole point.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6934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368B0AB9-D118-48CA-AB22-BB5265DD8D30}" type="slidenum">
              <a:rPr lang="en-GB" sz="1000">
                <a:solidFill>
                  <a:srgbClr val="8795A1"/>
                </a:solidFill>
                <a:latin typeface="Segoe UI"/>
              </a:rPr>
              <a:t>29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Reaching for KMP when </a:t>
            </a:r>
            <a:r>
              <a:rPr sz="1600" b="1" i="0">
                <a:solidFill>
                  <a:srgbClr val="1F4E79"/>
                </a:solidFill>
                <a:latin typeface="Consolas"/>
              </a:rPr>
              <a:t>std::search</a:t>
            </a:r>
            <a:r>
              <a:rPr sz="1700" b="1" i="0">
                <a:solidFill>
                  <a:srgbClr val="1C252B"/>
                </a:solidFill>
                <a:latin typeface="Segoe UI"/>
              </a:rPr>
              <a:t> will do.</a:t>
            </a:r>
            <a:r>
              <a:rPr sz="1700" b="0" i="0">
                <a:solidFill>
                  <a:srgbClr val="1C252B"/>
                </a:solidFill>
                <a:latin typeface="Segoe UI"/>
              </a:rPr>
              <a:t> For one short pattern in a non-repetitive text, the library is fine and it is already written.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93253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787E57FB-4426-4CF2-99A3-73C07BC0AB7A}" type="slidenum">
              <a:rPr lang="en-GB" sz="1000">
                <a:solidFill>
                  <a:srgbClr val="8795A1"/>
                </a:solidFill>
                <a:latin typeface="Segoe UI"/>
              </a:rPr>
              <a:t>30</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five tables. Expect thirty minutes.</a:t>
            </a:r>
          </a:p>
        </p:txBody>
      </p:sp>
      <p:sp>
        <p:nvSpPr>
          <p:cNvPr id="8" name="!!labsteps-h"/>
          <p:cNvSpPr txBox="1"/>
          <p:nvPr/>
        </p:nvSpPr>
        <p:spPr>
          <a:xfrm>
            <a:off x="658368" y="2365248"/>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2749296"/>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Naive matching: try every alignment</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Rabin-Karp: compare numbers, not strings</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KMP: never re-read a character of the text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All three agree, on every input used below</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Ordinary text, where nothing much happens</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The text that destroys the naive algorithm</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The input that destroys Rabin-Karp</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Rabin-Karp's actual worst case</a:t>
            </a:r>
          </a:p>
        </p:txBody>
      </p:sp>
      <p:sp>
        <p:nvSpPr>
          <p:cNvPr id="4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15: Naive, Rabin–Karp and KMP on the same corpus</a:t>
            </a:r>
          </a:p>
        </p:txBody>
      </p:sp>
      <p:sp>
        <p:nvSpPr>
          <p:cNvPr id="4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60 lines of C++</a:t>
            </a:r>
          </a:p>
        </p:txBody>
      </p:sp>
      <p:sp>
        <p:nvSpPr>
          <p:cNvPr id="5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5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code/ch21_strings.cpp</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71715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89531161-D51B-4DA6-B2FF-6DF2F288CA6B}"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Naive matching: try every alignment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ch21_strings.cpp -- naive, Rabin-Karp and KMP, on text and on traps. // Build: cl /O2 /EHsc /std:c++17 ch21_strings.cpp (see Appendix A) // --- 1. Naive matching: try every alignment ------------------------ // After a mismatch at offset s it restarts at s+1, re-reading // characters it has already looked at. That re-reading is the O(nm)."/>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ch21_strings.cpp -- naive, Rabin-Karp and KMP, on text and on traps.</a:t>
            </a:r>
          </a:p>
          <a:p>
            <a:pPr>
              <a:lnSpc>
                <a:spcPct val="100000"/>
              </a:lnSpc>
              <a:spcAft>
                <a:spcPts val="0"/>
              </a:spcAft>
            </a:pPr>
            <a:r>
              <a:rPr sz="1900" i="1">
                <a:solidFill>
                  <a:srgbClr val="8795A1"/>
                </a:solidFill>
                <a:latin typeface="Consolas"/>
              </a:rPr>
              <a:t>// Build: cl /O2 /EHsc /std:c++17 ch21_strings.cpp    (see Appendix A)</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Naive matching: try every alignment ------------------------</a:t>
            </a:r>
          </a:p>
          <a:p>
            <a:pPr>
              <a:lnSpc>
                <a:spcPct val="100000"/>
              </a:lnSpc>
              <a:spcAft>
                <a:spcPts val="0"/>
              </a:spcAft>
            </a:pPr>
            <a:r>
              <a:rPr sz="1900" i="1">
                <a:solidFill>
                  <a:srgbClr val="8795A1"/>
                </a:solidFill>
                <a:latin typeface="Consolas"/>
              </a:rPr>
              <a:t>// After a mismatch at offset s it restarts at s+1, re-reading</a:t>
            </a:r>
          </a:p>
          <a:p>
            <a:pPr>
              <a:lnSpc>
                <a:spcPct val="100000"/>
              </a:lnSpc>
              <a:spcAft>
                <a:spcPts val="0"/>
              </a:spcAft>
            </a:pPr>
            <a:r>
              <a:rPr sz="1900" i="1">
                <a:solidFill>
                  <a:srgbClr val="8795A1"/>
                </a:solidFill>
                <a:latin typeface="Consolas"/>
              </a:rPr>
              <a:t>// characters it has already looked at. That re-reading is the O(nm).</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1063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75574E38-1354-49A7-A557-3FF833A36F6E}"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Rabin-Karp: compare numbers, not strings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2. Rabin-Karp: compare numbers, not strings ------------------- // A rolling hash of each window. Equal hashes mean a POSSIBLE match // that must be verified; unequal hashes mean a certain mismatch, // decided in one comparison. Expected O(n+m); the worst case is every // window colliding, which is Chapter 13's problem in a new costume. if (hp == ht) { // candidate -- verify it size_t i = 0; while (i &lt; m) { ++cmps; if (t[s+i] != p[i]) break; ++i; } if (i == m) hits.push_back(s); else if (spurious) ++*spurious; // hash agreed, text did not } ht = (ht + mod - (high * (unsigned char)t[s]) % mod) % mod; ht = (ht * base + (unsigned char)t[s + m]) % mod;"/>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Rabin-Karp: compare numbers, not strings -------------------</a:t>
            </a:r>
          </a:p>
          <a:p>
            <a:pPr>
              <a:lnSpc>
                <a:spcPct val="100000"/>
              </a:lnSpc>
              <a:spcAft>
                <a:spcPts val="0"/>
              </a:spcAft>
            </a:pPr>
            <a:r>
              <a:rPr sz="1800" i="1">
                <a:solidFill>
                  <a:srgbClr val="8795A1"/>
                </a:solidFill>
                <a:latin typeface="Consolas"/>
              </a:rPr>
              <a:t>// A rolling hash of each window. Equal hashes mean a POSSIBLE match</a:t>
            </a:r>
          </a:p>
          <a:p>
            <a:pPr>
              <a:lnSpc>
                <a:spcPct val="100000"/>
              </a:lnSpc>
              <a:spcAft>
                <a:spcPts val="0"/>
              </a:spcAft>
            </a:pPr>
            <a:r>
              <a:rPr sz="1800" i="1">
                <a:solidFill>
                  <a:srgbClr val="8795A1"/>
                </a:solidFill>
                <a:latin typeface="Consolas"/>
              </a:rPr>
              <a:t>// that must be verified; unequal hashes mean a certain mismatch,</a:t>
            </a:r>
          </a:p>
          <a:p>
            <a:pPr>
              <a:lnSpc>
                <a:spcPct val="100000"/>
              </a:lnSpc>
              <a:spcAft>
                <a:spcPts val="0"/>
              </a:spcAft>
            </a:pPr>
            <a:r>
              <a:rPr sz="1800" i="1">
                <a:solidFill>
                  <a:srgbClr val="8795A1"/>
                </a:solidFill>
                <a:latin typeface="Consolas"/>
              </a:rPr>
              <a:t>// decided in one comparison. Expected O(n+m); the worst case is every</a:t>
            </a:r>
          </a:p>
          <a:p>
            <a:pPr>
              <a:lnSpc>
                <a:spcPct val="100000"/>
              </a:lnSpc>
              <a:spcAft>
                <a:spcPts val="0"/>
              </a:spcAft>
            </a:pPr>
            <a:r>
              <a:rPr sz="1800" i="1">
                <a:solidFill>
                  <a:srgbClr val="8795A1"/>
                </a:solidFill>
                <a:latin typeface="Consolas"/>
              </a:rPr>
              <a:t>// window colliding, which is Chapter 13's problem in a new costume.</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hp</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candidate -- verify it</a:t>
            </a:r>
          </a:p>
          <a:p>
            <a:pPr>
              <a:lnSpc>
                <a:spcPct val="100000"/>
              </a:lnSpc>
              <a:spcAft>
                <a:spcPts val="0"/>
              </a:spcAft>
            </a:pP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while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cmps</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break</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hits</a:t>
            </a:r>
            <a:r>
              <a:rPr sz="1800" i="0">
                <a:solidFill>
                  <a:srgbClr val="AEB6BF"/>
                </a:solidFill>
                <a:latin typeface="Consolas"/>
              </a:rPr>
              <a:t>.</a:t>
            </a:r>
            <a:r>
              <a:rPr sz="1800" i="0">
                <a:solidFill>
                  <a:srgbClr val="E8EDF2"/>
                </a:solidFill>
                <a:latin typeface="Consolas"/>
              </a:rPr>
              <a:t>push_back</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else</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spurious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spurious</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hash agreed, text did not</a:t>
            </a:r>
          </a:p>
          <a:p>
            <a:pPr>
              <a:lnSpc>
                <a:spcPct val="100000"/>
              </a:lnSpc>
              <a:spcAft>
                <a:spcPts val="0"/>
              </a:spcAft>
            </a:pP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ht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high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unsigned</a:t>
            </a:r>
            <a:r>
              <a:rPr sz="1800" i="0">
                <a:solidFill>
                  <a:srgbClr val="E8EDF2"/>
                </a:solidFill>
                <a:latin typeface="Consolas"/>
              </a:rPr>
              <a:t> </a:t>
            </a:r>
            <a:r>
              <a:rPr sz="1800" i="0">
                <a:solidFill>
                  <a:srgbClr val="5DADE2"/>
                </a:solidFill>
                <a:latin typeface="Consolas"/>
              </a:rPr>
              <a:t>char</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ht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unsigned</a:t>
            </a:r>
            <a:r>
              <a:rPr sz="1800" i="0">
                <a:solidFill>
                  <a:srgbClr val="E8EDF2"/>
                </a:solidFill>
                <a:latin typeface="Consolas"/>
              </a:rPr>
              <a:t> </a:t>
            </a:r>
            <a:r>
              <a:rPr sz="1800" i="0">
                <a:solidFill>
                  <a:srgbClr val="5DADE2"/>
                </a:solidFill>
                <a:latin typeface="Consolas"/>
              </a:rPr>
              <a:t>char</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4969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C983ACD5-7E2D-4928-80DF-F1780D7BEC39}"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KMP: never re-read a character of the text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3. KMP: never re-read a character of the text ----------------- // pi[i] is the length of the longest proper prefix of p[0..i] that is // also a suffix of it. On a mismatch, that is exactly how far the // pattern can be shifted without missing an occurrence -- so the text // pointer only ever moves forward, giving O(n+m) with no hypothesis // about the input at all. static std::vector&lt;size_t&gt; prefix_function(const std::string&amp; p) { std::vector&lt;size_t&gt; pi(p.size(), 0); for (size_t i = 1; i &lt; p.size(); ++i) { size_t k = pi[i - 1]; while (k &gt; 0 &amp;&amp; p[i] != p[k]) k = pi[k - 1]; if (p[i] == p[k]) ++k; pi[i] = k; } return pi; }"/>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--- 3. KMP: never re-read a character of the text -----------------</a:t>
            </a:r>
          </a:p>
          <a:p>
            <a:pPr>
              <a:lnSpc>
                <a:spcPct val="100000"/>
              </a:lnSpc>
              <a:spcAft>
                <a:spcPts val="0"/>
              </a:spcAft>
            </a:pPr>
            <a:r>
              <a:rPr sz="1400" i="1">
                <a:solidFill>
                  <a:srgbClr val="8795A1"/>
                </a:solidFill>
                <a:latin typeface="Consolas"/>
              </a:rPr>
              <a:t>// pi[i] is the length of the longest proper prefix of p[0..i] that is</a:t>
            </a:r>
          </a:p>
          <a:p>
            <a:pPr>
              <a:lnSpc>
                <a:spcPct val="100000"/>
              </a:lnSpc>
              <a:spcAft>
                <a:spcPts val="0"/>
              </a:spcAft>
            </a:pPr>
            <a:r>
              <a:rPr sz="1400" i="1">
                <a:solidFill>
                  <a:srgbClr val="8795A1"/>
                </a:solidFill>
                <a:latin typeface="Consolas"/>
              </a:rPr>
              <a:t>// also a suffix of it. On a mismatch, that is exactly how far the</a:t>
            </a:r>
          </a:p>
          <a:p>
            <a:pPr>
              <a:lnSpc>
                <a:spcPct val="100000"/>
              </a:lnSpc>
              <a:spcAft>
                <a:spcPts val="0"/>
              </a:spcAft>
            </a:pPr>
            <a:r>
              <a:rPr sz="1400" i="1">
                <a:solidFill>
                  <a:srgbClr val="8795A1"/>
                </a:solidFill>
                <a:latin typeface="Consolas"/>
              </a:rPr>
              <a:t>// pattern can be shifted without missing an occurrence -- so the text</a:t>
            </a:r>
          </a:p>
          <a:p>
            <a:pPr>
              <a:lnSpc>
                <a:spcPct val="100000"/>
              </a:lnSpc>
              <a:spcAft>
                <a:spcPts val="0"/>
              </a:spcAft>
            </a:pPr>
            <a:r>
              <a:rPr sz="1400" i="1">
                <a:solidFill>
                  <a:srgbClr val="8795A1"/>
                </a:solidFill>
                <a:latin typeface="Consolas"/>
              </a:rPr>
              <a:t>// pointer only ever moves forward, giving O(n+m) with no hypothesis</a:t>
            </a:r>
          </a:p>
          <a:p>
            <a:pPr>
              <a:lnSpc>
                <a:spcPct val="100000"/>
              </a:lnSpc>
              <a:spcAft>
                <a:spcPts val="0"/>
              </a:spcAft>
            </a:pPr>
            <a:r>
              <a:rPr sz="1400" i="1">
                <a:solidFill>
                  <a:srgbClr val="8795A1"/>
                </a:solidFill>
                <a:latin typeface="Consolas"/>
              </a:rPr>
              <a:t>// about the input at all.</a:t>
            </a:r>
          </a:p>
          <a:p>
            <a:pPr>
              <a:lnSpc>
                <a:spcPct val="100000"/>
              </a:lnSpc>
              <a:spcAft>
                <a:spcPts val="0"/>
              </a:spcAft>
            </a:pPr>
            <a:r>
              <a:rPr sz="1400" i="0">
                <a:solidFill>
                  <a:srgbClr val="5DADE2"/>
                </a:solidFill>
                <a:latin typeface="Consolas"/>
              </a:rPr>
              <a:t>static</a:t>
            </a: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vector</a:t>
            </a:r>
            <a:r>
              <a:rPr sz="1400" i="0">
                <a:solidFill>
                  <a:srgbClr val="AEB6BF"/>
                </a:solidFill>
                <a:latin typeface="Consolas"/>
              </a:rPr>
              <a:t>&lt;</a:t>
            </a:r>
            <a:r>
              <a:rPr sz="1400" i="0">
                <a:solidFill>
                  <a:srgbClr val="5DADE2"/>
                </a:solidFill>
                <a:latin typeface="Consolas"/>
              </a:rPr>
              <a:t>size_t</a:t>
            </a:r>
            <a:r>
              <a:rPr sz="1400" i="0">
                <a:solidFill>
                  <a:srgbClr val="AEB6BF"/>
                </a:solidFill>
                <a:latin typeface="Consolas"/>
              </a:rPr>
              <a:t>&gt;</a:t>
            </a:r>
            <a:r>
              <a:rPr sz="1400" i="0">
                <a:solidFill>
                  <a:srgbClr val="E8EDF2"/>
                </a:solidFill>
                <a:latin typeface="Consolas"/>
              </a:rPr>
              <a:t> </a:t>
            </a:r>
            <a:r>
              <a:rPr sz="1400" i="0">
                <a:solidFill>
                  <a:srgbClr val="E8EDF2"/>
                </a:solidFill>
                <a:latin typeface="Consolas"/>
              </a:rPr>
              <a:t>prefix_function</a:t>
            </a:r>
            <a:r>
              <a:rPr sz="1400" i="0">
                <a:solidFill>
                  <a:srgbClr val="AEB6BF"/>
                </a:solidFill>
                <a:latin typeface="Consolas"/>
              </a:rPr>
              <a:t>(</a:t>
            </a:r>
            <a:r>
              <a:rPr sz="1400" i="0">
                <a:solidFill>
                  <a:srgbClr val="5DADE2"/>
                </a:solidFill>
                <a:latin typeface="Consolas"/>
              </a:rPr>
              <a:t>const</a:t>
            </a: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string</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vector</a:t>
            </a:r>
            <a:r>
              <a:rPr sz="1400" i="0">
                <a:solidFill>
                  <a:srgbClr val="AEB6BF"/>
                </a:solidFill>
                <a:latin typeface="Consolas"/>
              </a:rPr>
              <a:t>&lt;</a:t>
            </a:r>
            <a:r>
              <a:rPr sz="1400" i="0">
                <a:solidFill>
                  <a:srgbClr val="5DADE2"/>
                </a:solidFill>
                <a:latin typeface="Consolas"/>
              </a:rPr>
              <a:t>size_t</a:t>
            </a:r>
            <a:r>
              <a:rPr sz="1400" i="0">
                <a:solidFill>
                  <a:srgbClr val="AEB6BF"/>
                </a:solidFill>
                <a:latin typeface="Consolas"/>
              </a:rPr>
              <a:t>&gt;</a:t>
            </a:r>
            <a:r>
              <a:rPr sz="1400" i="0">
                <a:solidFill>
                  <a:srgbClr val="E8EDF2"/>
                </a:solidFill>
                <a:latin typeface="Consolas"/>
              </a:rPr>
              <a:t> </a:t>
            </a:r>
            <a:r>
              <a:rPr sz="1400" i="0">
                <a:solidFill>
                  <a:srgbClr val="E8EDF2"/>
                </a:solidFill>
                <a:latin typeface="Consolas"/>
              </a:rPr>
              <a:t>pi</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size</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AEB6BF"/>
                </a:solidFill>
                <a:latin typeface="Consolas"/>
              </a:rPr>
              <a:t>(</a:t>
            </a:r>
            <a:r>
              <a:rPr sz="1400" i="0">
                <a:solidFill>
                  <a:srgbClr val="5DADE2"/>
                </a:solidFill>
                <a:latin typeface="Consolas"/>
              </a:rPr>
              <a:t>size_t</a:t>
            </a:r>
            <a:r>
              <a:rPr sz="1400" i="0">
                <a:solidFill>
                  <a:srgbClr val="E8EDF2"/>
                </a:solidFill>
                <a:latin typeface="Consolas"/>
              </a:rPr>
              <a:t> </a:t>
            </a:r>
            <a:r>
              <a:rPr sz="1400" i="0">
                <a:solidFill>
                  <a:srgbClr val="E8EDF2"/>
                </a:solidFill>
                <a:latin typeface="Consolas"/>
              </a:rPr>
              <a:t>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i</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size</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i</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size_t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pi</a:t>
            </a:r>
            <a:r>
              <a:rPr sz="1400" i="0">
                <a:solidFill>
                  <a:srgbClr val="AEB6BF"/>
                </a:solidFill>
                <a:latin typeface="Consolas"/>
              </a:rPr>
              <a:t>[</a:t>
            </a:r>
            <a:r>
              <a:rPr sz="1400" i="0">
                <a:solidFill>
                  <a:srgbClr val="E8EDF2"/>
                </a:solidFill>
                <a:latin typeface="Consolas"/>
              </a:rPr>
              <a:t>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while</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&gt;</a:t>
            </a:r>
            <a:r>
              <a:rPr sz="1400" i="0">
                <a:solidFill>
                  <a:srgbClr val="E8EDF2"/>
                </a:solidFill>
                <a:latin typeface="Consolas"/>
              </a:rPr>
              <a:t> </a:t>
            </a:r>
            <a:r>
              <a:rPr sz="1400" i="0">
                <a:solidFill>
                  <a:srgbClr val="F7DC6F"/>
                </a:solidFill>
                <a:latin typeface="Consolas"/>
              </a:rPr>
              <a:t>0</a:t>
            </a:r>
            <a:r>
              <a:rPr sz="1400" i="0">
                <a:solidFill>
                  <a:srgbClr val="E8EDF2"/>
                </a:solidFill>
                <a:latin typeface="Consolas"/>
              </a:rPr>
              <a:t> </a:t>
            </a:r>
            <a:r>
              <a:rPr sz="1400" i="0">
                <a:solidFill>
                  <a:srgbClr val="AEB6BF"/>
                </a:solidFill>
                <a:latin typeface="Consolas"/>
              </a:rPr>
              <a:t>&amp;</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i</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k</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pi</a:t>
            </a:r>
            <a:r>
              <a:rPr sz="1400" i="0">
                <a:solidFill>
                  <a:srgbClr val="AEB6BF"/>
                </a:solidFill>
                <a:latin typeface="Consolas"/>
              </a:rPr>
              <a:t>[</a:t>
            </a:r>
            <a:r>
              <a:rPr sz="1400" i="0">
                <a:solidFill>
                  <a:srgbClr val="E8EDF2"/>
                </a:solidFill>
                <a:latin typeface="Consolas"/>
              </a:rPr>
              <a:t>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i</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k</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k</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pi</a:t>
            </a:r>
            <a:r>
              <a:rPr sz="1400" i="0">
                <a:solidFill>
                  <a:srgbClr val="AEB6BF"/>
                </a:solidFill>
                <a:latin typeface="Consolas"/>
              </a:rPr>
              <a:t>[</a:t>
            </a:r>
            <a:r>
              <a:rPr sz="1400" i="0">
                <a:solidFill>
                  <a:srgbClr val="E8EDF2"/>
                </a:solidFill>
                <a:latin typeface="Consolas"/>
              </a:rPr>
              <a:t>i</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pi</a:t>
            </a:r>
            <a:r>
              <a:rPr sz="1400" i="0">
                <a:solidFill>
                  <a:srgbClr val="AEB6BF"/>
                </a:solidFill>
                <a:latin typeface="Consolas"/>
              </a:rPr>
              <a:t>;</a:t>
            </a:r>
          </a:p>
          <a:p>
            <a:pPr>
              <a:lnSpc>
                <a:spcPct val="100000"/>
              </a:lnSpc>
              <a:spcAft>
                <a:spcPts val="0"/>
              </a:spcAft>
            </a:pP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a:p>
            <a:pPr algn="r">
              <a:lnSpc>
                <a:spcPct val="100000"/>
              </a:lnSpc>
            </a:pPr>
            <a:r>
              <a:rPr sz="1400">
                <a:solidFill>
                  <a:srgbClr val="4F5D6A"/>
                </a:solidFill>
                <a:latin typeface="Consolas"/>
              </a:rPr>
              <a:t>24</a:t>
            </a:r>
          </a:p>
          <a:p>
            <a:pPr algn="r">
              <a:lnSpc>
                <a:spcPct val="100000"/>
              </a:lnSpc>
            </a:pPr>
            <a:r>
              <a:rPr sz="1400">
                <a:solidFill>
                  <a:srgbClr val="4F5D6A"/>
                </a:solidFill>
                <a:latin typeface="Consolas"/>
              </a:rPr>
              <a:t>25</a:t>
            </a:r>
          </a:p>
          <a:p>
            <a:pPr algn="r">
              <a:lnSpc>
                <a:spcPct val="100000"/>
              </a:lnSpc>
            </a:pPr>
            <a:r>
              <a:rPr sz="1400">
                <a:solidFill>
                  <a:srgbClr val="4F5D6A"/>
                </a:solidFill>
                <a:latin typeface="Consolas"/>
              </a:rPr>
              <a:t>26</a:t>
            </a:r>
          </a:p>
          <a:p>
            <a:pPr algn="r">
              <a:lnSpc>
                <a:spcPct val="100000"/>
              </a:lnSpc>
            </a:pPr>
            <a:r>
              <a:rPr sz="1400">
                <a:solidFill>
                  <a:srgbClr val="4F5D6A"/>
                </a:solidFill>
                <a:latin typeface="Consolas"/>
              </a:rPr>
              <a:t>27</a:t>
            </a:r>
          </a:p>
          <a:p>
            <a:pPr algn="r">
              <a:lnSpc>
                <a:spcPct val="100000"/>
              </a:lnSpc>
            </a:pPr>
            <a:r>
              <a:rPr sz="1400">
                <a:solidFill>
                  <a:srgbClr val="4F5D6A"/>
                </a:solidFill>
                <a:latin typeface="Consolas"/>
              </a:rPr>
              <a:t>28</a:t>
            </a:r>
          </a:p>
          <a:p>
            <a:pPr algn="r">
              <a:lnSpc>
                <a:spcPct val="100000"/>
              </a:lnSpc>
            </a:pPr>
            <a:r>
              <a:rPr sz="1400">
                <a:solidFill>
                  <a:srgbClr val="4F5D6A"/>
                </a:solidFill>
                <a:latin typeface="Consolas"/>
              </a:rPr>
              <a:t>29</a:t>
            </a:r>
          </a:p>
          <a:p>
            <a:pPr algn="r">
              <a:lnSpc>
                <a:spcPct val="100000"/>
              </a:lnSpc>
            </a:pPr>
            <a:r>
              <a:rPr sz="1400">
                <a:solidFill>
                  <a:srgbClr val="4F5D6A"/>
                </a:solidFill>
                <a:latin typeface="Consolas"/>
              </a:rPr>
              <a:t>30</a:t>
            </a:r>
          </a:p>
          <a:p>
            <a:pPr algn="r">
              <a:lnSpc>
                <a:spcPct val="100000"/>
              </a:lnSpc>
            </a:pPr>
            <a:r>
              <a:rPr sz="1400">
                <a:solidFill>
                  <a:srgbClr val="4F5D6A"/>
                </a:solidFill>
                <a:latin typeface="Consolas"/>
              </a:rPr>
              <a:t>31</a:t>
            </a:r>
          </a:p>
          <a:p>
            <a:pPr algn="r">
              <a:lnSpc>
                <a:spcPct val="100000"/>
              </a:lnSpc>
            </a:pPr>
            <a:r>
              <a:rPr sz="1400">
                <a:solidFill>
                  <a:srgbClr val="4F5D6A"/>
                </a:solidFill>
                <a:latin typeface="Consolas"/>
              </a:rPr>
              <a:t>32</a:t>
            </a:r>
          </a:p>
          <a:p>
            <a:pPr algn="r">
              <a:lnSpc>
                <a:spcPct val="100000"/>
              </a:lnSpc>
            </a:pPr>
            <a:r>
              <a:rPr sz="1400">
                <a:solidFill>
                  <a:srgbClr val="4F5D6A"/>
                </a:solidFill>
                <a:latin typeface="Consolas"/>
              </a:rPr>
              <a:t>33</a:t>
            </a:r>
          </a:p>
          <a:p>
            <a:pPr algn="r">
              <a:lnSpc>
                <a:spcPct val="100000"/>
              </a:lnSpc>
            </a:pPr>
            <a:r>
              <a:rPr sz="1400">
                <a:solidFill>
                  <a:srgbClr val="4F5D6A"/>
                </a:solidFill>
                <a:latin typeface="Consolas"/>
              </a:rPr>
              <a:t>34</a:t>
            </a:r>
          </a:p>
          <a:p>
            <a:pPr algn="r">
              <a:lnSpc>
                <a:spcPct val="100000"/>
              </a:lnSpc>
            </a:pPr>
            <a:r>
              <a:rPr sz="1400">
                <a:solidFill>
                  <a:srgbClr val="4F5D6A"/>
                </a:solidFill>
                <a:latin typeface="Consolas"/>
              </a:rPr>
              <a:t>35</a:t>
            </a:r>
          </a:p>
          <a:p>
            <a:pPr algn="r">
              <a:lnSpc>
                <a:spcPct val="100000"/>
              </a:lnSpc>
            </a:pPr>
            <a:r>
              <a:rPr sz="1400">
                <a:solidFill>
                  <a:srgbClr val="4F5D6A"/>
                </a:solidFill>
                <a:latin typeface="Consolas"/>
              </a:rPr>
              <a:t>36</a:t>
            </a:r>
          </a:p>
          <a:p>
            <a:pPr algn="r">
              <a:lnSpc>
                <a:spcPct val="100000"/>
              </a:lnSpc>
            </a:pPr>
            <a:r>
              <a:rPr sz="14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887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16C1E0A6-9905-4514-AB4C-2F45D1AF11D9}"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All three agree, on every input used below</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4. All three agree, on every input used below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All three agree, on every input used below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D980B616-1472-46E5-A342-250B12310844}"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Ordinary text, where nothing much happens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5. Ordinary text, where nothing much happens ------------------ // This is the case that makes people think the choice does not matter."/>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Ordinary text, where nothing much happens ------------------</a:t>
            </a:r>
          </a:p>
          <a:p>
            <a:pPr>
              <a:lnSpc>
                <a:spcPct val="100000"/>
              </a:lnSpc>
              <a:spcAft>
                <a:spcPts val="0"/>
              </a:spcAft>
            </a:pPr>
            <a:r>
              <a:rPr sz="1900" i="1">
                <a:solidFill>
                  <a:srgbClr val="8795A1"/>
                </a:solidFill>
                <a:latin typeface="Consolas"/>
              </a:rPr>
              <a:t>// This is the case that makes people think the choice does not matter.</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6684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3A6341CF-EDF8-4338-856A-5120A93D41A8}"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text that destroys the naive algorithm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6. The text that destroys the naive algorithm ----------------- // text = aaaa...a, pattern = aaa...ab. Every alignment matches m-1 // characters and then fails, so the naive version does n*m // comparisons -- the worst case, reached exactly."/>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The text that destroys the naive algorithm -----------------</a:t>
            </a:r>
          </a:p>
          <a:p>
            <a:pPr>
              <a:lnSpc>
                <a:spcPct val="100000"/>
              </a:lnSpc>
              <a:spcAft>
                <a:spcPts val="0"/>
              </a:spcAft>
            </a:pPr>
            <a:r>
              <a:rPr sz="1900" i="1">
                <a:solidFill>
                  <a:srgbClr val="8795A1"/>
                </a:solidFill>
                <a:latin typeface="Consolas"/>
              </a:rPr>
              <a:t>// text = aaaa...a, pattern = aaa...ab. Every alignment matches m-1</a:t>
            </a:r>
          </a:p>
          <a:p>
            <a:pPr>
              <a:lnSpc>
                <a:spcPct val="100000"/>
              </a:lnSpc>
              <a:spcAft>
                <a:spcPts val="0"/>
              </a:spcAft>
            </a:pPr>
            <a:r>
              <a:rPr sz="1900" i="1">
                <a:solidFill>
                  <a:srgbClr val="8795A1"/>
                </a:solidFill>
                <a:latin typeface="Consolas"/>
              </a:rPr>
              <a:t>// characters and then fails, so the naive version does n*m</a:t>
            </a:r>
          </a:p>
          <a:p>
            <a:pPr>
              <a:lnSpc>
                <a:spcPct val="100000"/>
              </a:lnSpc>
              <a:spcAft>
                <a:spcPts val="0"/>
              </a:spcAft>
            </a:pPr>
            <a:r>
              <a:rPr sz="1900" i="1">
                <a:solidFill>
                  <a:srgbClr val="8795A1"/>
                </a:solidFill>
                <a:latin typeface="Consolas"/>
              </a:rPr>
              <a:t>// comparisons -- the worst case, reached exactly.</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059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6710B089-8619-485D-BBFB-FFCC531EC299}"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input that destroys Rabin-Karp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7. The input that destroys Rabin-Karp ------------------------- // Shrink the modulus and every window becomes a candidate that must // be verified. This is Chapter 13's adversarial hashing again."/>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The input that destroys Rabin-Karp -------------------------</a:t>
            </a:r>
          </a:p>
          <a:p>
            <a:pPr>
              <a:lnSpc>
                <a:spcPct val="100000"/>
              </a:lnSpc>
              <a:spcAft>
                <a:spcPts val="0"/>
              </a:spcAft>
            </a:pPr>
            <a:r>
              <a:rPr sz="1900" i="1">
                <a:solidFill>
                  <a:srgbClr val="8795A1"/>
                </a:solidFill>
                <a:latin typeface="Consolas"/>
              </a:rPr>
              <a:t>// Shrink the modulus and every window becomes a candidate that must</a:t>
            </a:r>
          </a:p>
          <a:p>
            <a:pPr>
              <a:lnSpc>
                <a:spcPct val="100000"/>
              </a:lnSpc>
              <a:spcAft>
                <a:spcPts val="0"/>
              </a:spcAft>
            </a:pPr>
            <a:r>
              <a:rPr sz="1900" i="1">
                <a:solidFill>
                  <a:srgbClr val="8795A1"/>
                </a:solidFill>
                <a:latin typeface="Consolas"/>
              </a:rPr>
              <a:t>// be verified. This is Chapter 13's adversarial hashing again.</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4495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Algorithms and Two Traps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DDE7B560-8E73-4232-9F3B-0DAAF558EE2B}"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Rabin-Karp's actual worst case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code/ch21_strings.cpp</a:t>
            </a:r>
          </a:p>
        </p:txBody>
      </p:sp>
      <p:sp>
        <p:nvSpPr>
          <p:cNvPr id="14" name="!!code-text" descr="// --- 8. Rabin-Karp's actual worst case ----------------------------- // The pattern a^(m-1)b does NOT do it: its hash differs from every // window of a^n, so Rabin-Karp rejects all of them in one comparison // each and never verifies anything. (The first version of this // program measured exactly zero comparisons, which was the clue.) // // The bound needs every window to be a CANDIDATE. Take p = a^m: now // every window hashes equal, every verification runs the full m // characters, and the total is n*m."/>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Rabin-Karp's actual worst case -----------------------------</a:t>
            </a:r>
          </a:p>
          <a:p>
            <a:pPr>
              <a:lnSpc>
                <a:spcPct val="100000"/>
              </a:lnSpc>
              <a:spcAft>
                <a:spcPts val="0"/>
              </a:spcAft>
            </a:pPr>
            <a:r>
              <a:rPr sz="1900" i="1">
                <a:solidFill>
                  <a:srgbClr val="8795A1"/>
                </a:solidFill>
                <a:latin typeface="Consolas"/>
              </a:rPr>
              <a:t>// The pattern a^(m-1)b does NOT do it: its hash differs from every</a:t>
            </a:r>
          </a:p>
          <a:p>
            <a:pPr>
              <a:lnSpc>
                <a:spcPct val="100000"/>
              </a:lnSpc>
              <a:spcAft>
                <a:spcPts val="0"/>
              </a:spcAft>
            </a:pPr>
            <a:r>
              <a:rPr sz="1900" i="1">
                <a:solidFill>
                  <a:srgbClr val="8795A1"/>
                </a:solidFill>
                <a:latin typeface="Consolas"/>
              </a:rPr>
              <a:t>// window of a^n, so Rabin-Karp rejects all of them in one comparison</a:t>
            </a:r>
          </a:p>
          <a:p>
            <a:pPr>
              <a:lnSpc>
                <a:spcPct val="100000"/>
              </a:lnSpc>
              <a:spcAft>
                <a:spcPts val="0"/>
              </a:spcAft>
            </a:pPr>
            <a:r>
              <a:rPr sz="1900" i="1">
                <a:solidFill>
                  <a:srgbClr val="8795A1"/>
                </a:solidFill>
                <a:latin typeface="Consolas"/>
              </a:rPr>
              <a:t>// each and never verifies anything. (The first version of this</a:t>
            </a:r>
          </a:p>
          <a:p>
            <a:pPr>
              <a:lnSpc>
                <a:spcPct val="100000"/>
              </a:lnSpc>
              <a:spcAft>
                <a:spcPts val="0"/>
              </a:spcAft>
            </a:pPr>
            <a:r>
              <a:rPr sz="1900" i="1">
                <a:solidFill>
                  <a:srgbClr val="8795A1"/>
                </a:solidFill>
                <a:latin typeface="Consolas"/>
              </a:rPr>
              <a:t>// program measured exactly zero comparisons, which was the clue.)</a:t>
            </a:r>
          </a:p>
          <a:p>
            <a:pPr>
              <a:lnSpc>
                <a:spcPct val="100000"/>
              </a:lnSpc>
              <a:spcAft>
                <a:spcPts val="0"/>
              </a:spcAft>
            </a:pPr>
            <a:r>
              <a:rPr sz="1900" i="1">
                <a:solidFill>
                  <a:srgbClr val="8795A1"/>
                </a:solidFill>
                <a:latin typeface="Consolas"/>
              </a:rPr>
              <a:t>//</a:t>
            </a:r>
          </a:p>
          <a:p>
            <a:pPr>
              <a:lnSpc>
                <a:spcPct val="100000"/>
              </a:lnSpc>
              <a:spcAft>
                <a:spcPts val="0"/>
              </a:spcAft>
            </a:pPr>
            <a:r>
              <a:rPr sz="1900" i="1">
                <a:solidFill>
                  <a:srgbClr val="8795A1"/>
                </a:solidFill>
                <a:latin typeface="Consolas"/>
              </a:rPr>
              <a:t>// The bound needs every window to be a CANDIDATE. Take p = a^m: now</a:t>
            </a:r>
          </a:p>
          <a:p>
            <a:pPr>
              <a:lnSpc>
                <a:spcPct val="100000"/>
              </a:lnSpc>
              <a:spcAft>
                <a:spcPts val="0"/>
              </a:spcAft>
            </a:pPr>
            <a:r>
              <a:rPr sz="1900" i="1">
                <a:solidFill>
                  <a:srgbClr val="8795A1"/>
                </a:solidFill>
                <a:latin typeface="Consolas"/>
              </a:rPr>
              <a:t>// every window hashes equal, every verification runs the full m</a:t>
            </a:r>
          </a:p>
          <a:p>
            <a:pPr>
              <a:lnSpc>
                <a:spcPct val="100000"/>
              </a:lnSpc>
              <a:spcAft>
                <a:spcPts val="0"/>
              </a:spcAft>
            </a:pPr>
            <a:r>
              <a:rPr sz="1900" i="1">
                <a:solidFill>
                  <a:srgbClr val="8795A1"/>
                </a:solidFill>
                <a:latin typeface="Consolas"/>
              </a:rPr>
              <a:t>// characters, and the total is n*m.</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a:p>
            <a:pPr algn="r">
              <a:lnSpc>
                <a:spcPct val="100000"/>
              </a:lnSpc>
            </a:pPr>
            <a:r>
              <a:rPr sz="1900">
                <a:solidFill>
                  <a:srgbClr val="4F5D6A"/>
                </a:solidFill>
                <a:latin typeface="Consolas"/>
              </a:rPr>
              <a:t>56</a:t>
            </a:r>
          </a:p>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840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176     </a:t>
            </a:r>
            <a:fld id="{D5561AAE-9F09-44FD-A362-3A1E64D66B71}" type="slidenum">
              <a:rPr lang="en-GB" sz="1000">
                <a:solidFill>
                  <a:srgbClr val="8795A1"/>
                </a:solidFill>
                <a:latin typeface="Segoe UI"/>
              </a:rPr>
              <a:t>39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2374"/>
          </a:xfrm>
          <a:prstGeom prst="roundRect">
            <a:avLst>
              <a:gd name="adj" fmla="val 214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237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0E6655"/>
                </a:solidFill>
                <a:latin typeface="Segoe UI"/>
              </a:rPr>
              <a:t>What to notice.</a:t>
            </a:r>
            <a:r>
              <a:rPr sz="2200" b="0" i="0">
                <a:solidFill>
                  <a:srgbClr val="1C252B"/>
                </a:solidFill>
                <a:latin typeface="Segoe UI"/>
              </a:rPr>
              <a:t> Parts 7 and 8 together. Part 7 shows a thousandfold rise in verifications that costs 11% of the running time; part 8 shows the input where the same bound actually bites. A measurement that moves a counter dramatically and the clock barely at all is telling you the counter is not what costs.</a:t>
            </a:r>
          </a:p>
        </p:txBody>
      </p:sp>
      <p:sp>
        <p:nvSpPr>
          <p:cNvPr id="10" name="body-1"/>
          <p:cNvSpPr txBox="1"/>
          <p:nvPr/>
        </p:nvSpPr>
        <p:spPr>
          <a:xfrm>
            <a:off x="1060704" y="3945382"/>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0E6655"/>
                </a:solidFill>
                <a:latin typeface="Segoe UI"/>
              </a:rPr>
              <a:t>Then try to break it.</a:t>
            </a:r>
            <a:r>
              <a:rPr sz="2200" b="0" i="0">
                <a:solidFill>
                  <a:srgbClr val="1C252B"/>
                </a:solidFill>
                <a:latin typeface="Segoe UI"/>
              </a:rPr>
              <a:t> Use KMP to search for </a:t>
            </a:r>
            <a:r>
              <a:rPr sz="2200" b="0" i="1">
                <a:solidFill>
                  <a:srgbClr val="1C252B"/>
                </a:solidFill>
                <a:latin typeface="Segoe UI"/>
              </a:rPr>
              <a:t>all</a:t>
            </a:r>
            <a:r>
              <a:rPr sz="2200" b="0" i="0">
                <a:solidFill>
                  <a:srgbClr val="1C252B"/>
                </a:solidFill>
                <a:latin typeface="Segoe UI"/>
              </a:rPr>
              <a:t> occurrences of 10,000 different patterns in one text, and compare with a Rabin–Karp that puts all 10,000 hashes in a </a:t>
            </a:r>
            <a:r>
              <a:rPr sz="2050" b="0" i="0">
                <a:solidFill>
                  <a:srgbClr val="1F4E79"/>
                </a:solidFill>
                <a:latin typeface="Consolas"/>
              </a:rPr>
              <a:t>unordered_set</a:t>
            </a:r>
            <a:r>
              <a:rPr sz="2200" b="0" i="0">
                <a:solidFill>
                  <a:srgbClr val="1C252B"/>
                </a:solidFill>
                <a:latin typeface="Segoe UI"/>
              </a:rPr>
              <a:t> and makes a single pass. Predict first. KMP must run 10,000 times; Rabin–Karp runs once. This is the workload where the algorithm with the worse guarantee is the right answer, and it is why Rabin–Karp is still in use.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3230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Compute the prefix function for </a:t>
            </a:r>
            <a:r>
              <a:rPr sz="3200" b="0" i="0">
                <a:solidFill>
                  <a:srgbClr val="FFFFFF"/>
                </a:solidFill>
                <a:latin typeface="Consolas"/>
              </a:rPr>
              <a:t>aabaaab</a:t>
            </a:r>
            <a:r>
              <a:rPr sz="3400" b="0" i="0">
                <a:solidFill>
                  <a:srgbClr val="FFFFFF"/>
                </a:solidFill>
                <a:latin typeface="Segoe UI Semibold"/>
              </a:rPr>
              <a:t> and state the shift KMP uses after a mismatch at position 6 </a:t>
            </a:r>
            <a:r>
              <a:rPr sz="3400" b="0" i="1">
                <a:solidFill>
                  <a:srgbClr val="FFFFFF"/>
                </a:solidFill>
                <a:latin typeface="Segoe UI Semibold"/>
              </a:rPr>
              <a:t>(CLO-8)</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21  ·  String Matching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180  ·  answers in Appendix D     </a:t>
            </a:r>
            <a:fld id="{EDBF8F4D-7BB3-4EE9-BD98-A7378F5AEC2A}"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Compute the prefix function for </a:t>
            </a:r>
            <a:r>
              <a:rPr sz="2250" b="0" i="0">
                <a:solidFill>
                  <a:srgbClr val="1A5276"/>
                </a:solidFill>
                <a:latin typeface="Consolas"/>
              </a:rPr>
              <a:t>aabaaab</a:t>
            </a:r>
            <a:r>
              <a:rPr sz="2400" b="0" i="0">
                <a:solidFill>
                  <a:srgbClr val="1A5276"/>
                </a:solidFill>
                <a:latin typeface="Segoe UI Semibold"/>
              </a:rPr>
              <a:t> and state the shift KMP uses after a mismatch at position 6 </a:t>
            </a:r>
            <a:r>
              <a:rPr sz="2400" b="0" i="1">
                <a:solidFill>
                  <a:srgbClr val="1A5276"/>
                </a:solidFill>
                <a:latin typeface="Segoe UI Semibold"/>
              </a:rPr>
              <a:t>(CLO-8)</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a:t>
            </a:r>
            <a:r>
              <a:rPr sz="2200" b="0" i="1">
                <a:solidFill>
                  <a:srgbClr val="1C252B"/>
                </a:solidFill>
                <a:latin typeface="Cambria"/>
              </a:rPr>
              <a:t>P</a:t>
            </a:r>
            <a:r>
              <a:rPr sz="2200" b="0" i="0">
                <a:solidFill>
                  <a:srgbClr val="1C252B"/>
                </a:solidFill>
                <a:latin typeface="Cambria"/>
              </a:rPr>
              <a:t> = </a:t>
            </a:r>
            <a:r>
              <a:rPr sz="2200" b="0" i="1">
                <a:solidFill>
                  <a:srgbClr val="1C252B"/>
                </a:solidFill>
                <a:latin typeface="Cambria"/>
              </a:rPr>
              <a:t>aabaaab</a:t>
            </a:r>
            <a:r>
              <a:rPr sz="2200" b="0" i="0">
                <a:solidFill>
                  <a:srgbClr val="1C252B"/>
                </a:solidFill>
                <a:latin typeface="Segoe UI"/>
              </a:rPr>
              <a:t>: </a:t>
            </a:r>
            <a:r>
              <a:rPr sz="2200" b="0" i="0">
                <a:solidFill>
                  <a:srgbClr val="1C252B"/>
                </a:solidFill>
                <a:latin typeface="Cambria"/>
              </a:rPr>
              <a:t>π = [0, 1, 0, 1, 2, 2, 3]</a:t>
            </a:r>
            <a:r>
              <a:rPr sz="2200" b="0" i="0">
                <a:solidFill>
                  <a:srgbClr val="1C252B"/>
                </a:solidFill>
                <a:latin typeface="Segoe UI"/>
              </a:rPr>
              <a:t>. (At </a:t>
            </a:r>
            <a:r>
              <a:rPr sz="2200" b="0" i="1">
                <a:solidFill>
                  <a:srgbClr val="1C252B"/>
                </a:solidFill>
                <a:latin typeface="Cambria"/>
              </a:rPr>
              <a:t>i</a:t>
            </a:r>
            <a:r>
              <a:rPr sz="2200" b="0" i="0">
                <a:solidFill>
                  <a:srgbClr val="1C252B"/>
                </a:solidFill>
                <a:latin typeface="Cambria"/>
              </a:rPr>
              <a:t>=5</a:t>
            </a:r>
            <a:r>
              <a:rPr sz="2200" b="0" i="0">
                <a:solidFill>
                  <a:srgbClr val="1C252B"/>
                </a:solidFill>
                <a:latin typeface="Segoe UI"/>
              </a:rPr>
              <a:t>, </a:t>
            </a:r>
            <a:r>
              <a:rPr sz="2050" b="0" i="0">
                <a:solidFill>
                  <a:srgbClr val="1F4E79"/>
                </a:solidFill>
                <a:latin typeface="Consolas"/>
              </a:rPr>
              <a:t>aa</a:t>
            </a:r>
            <a:r>
              <a:rPr sz="2200" b="0" i="0">
                <a:solidFill>
                  <a:srgbClr val="1C252B"/>
                </a:solidFill>
                <a:latin typeface="Segoe UI"/>
              </a:rPr>
              <a:t> is a border of </a:t>
            </a:r>
            <a:r>
              <a:rPr sz="2050" b="0" i="0">
                <a:solidFill>
                  <a:srgbClr val="1F4E79"/>
                </a:solidFill>
                <a:latin typeface="Consolas"/>
              </a:rPr>
              <a:t>aabaa</a:t>
            </a:r>
            <a:r>
              <a:rPr sz="2200" b="0" i="0">
                <a:solidFill>
                  <a:srgbClr val="1C252B"/>
                </a:solidFill>
                <a:latin typeface="Segoe UI"/>
              </a:rPr>
              <a:t>; at </a:t>
            </a:r>
            <a:r>
              <a:rPr sz="2200" b="0" i="1">
                <a:solidFill>
                  <a:srgbClr val="1C252B"/>
                </a:solidFill>
                <a:latin typeface="Cambria"/>
              </a:rPr>
              <a:t>i</a:t>
            </a:r>
            <a:r>
              <a:rPr sz="2200" b="0" i="0">
                <a:solidFill>
                  <a:srgbClr val="1C252B"/>
                </a:solidFill>
                <a:latin typeface="Cambria"/>
              </a:rPr>
              <a:t>=7</a:t>
            </a:r>
            <a:r>
              <a:rPr sz="2200" b="0" i="0">
                <a:solidFill>
                  <a:srgbClr val="1C252B"/>
                </a:solidFill>
                <a:latin typeface="Segoe UI"/>
              </a:rPr>
              <a:t>, </a:t>
            </a:r>
            <a:r>
              <a:rPr sz="2050" b="0" i="0">
                <a:solidFill>
                  <a:srgbClr val="1F4E79"/>
                </a:solidFill>
                <a:latin typeface="Consolas"/>
              </a:rPr>
              <a:t>aab</a:t>
            </a:r>
            <a:r>
              <a:rPr sz="2200" b="0" i="0">
                <a:solidFill>
                  <a:srgbClr val="1C252B"/>
                </a:solidFill>
                <a:latin typeface="Segoe UI"/>
              </a:rPr>
              <a:t> is a border of </a:t>
            </a:r>
            <a:r>
              <a:rPr sz="2050" b="0" i="0">
                <a:solidFill>
                  <a:srgbClr val="1F4E79"/>
                </a:solidFill>
                <a:latin typeface="Consolas"/>
              </a:rPr>
              <a:t>aabaaab</a:t>
            </a:r>
            <a:r>
              <a:rPr sz="2200" b="0" i="0">
                <a:solidFill>
                  <a:srgbClr val="1C252B"/>
                </a:solidFill>
                <a:latin typeface="Segoe UI"/>
              </a:rPr>
              <a:t>.) After a mismatch having matched 6 characters, </a:t>
            </a:r>
            <a:r>
              <a:rPr sz="2200" b="0" i="1">
                <a:solidFill>
                  <a:srgbClr val="1C252B"/>
                </a:solidFill>
                <a:latin typeface="Cambria"/>
              </a:rPr>
              <a:t>k</a:t>
            </a:r>
            <a:r>
              <a:rPr sz="2200" b="0" i="0">
                <a:solidFill>
                  <a:srgbClr val="1C252B"/>
                </a:solidFill>
                <a:latin typeface="Cambria"/>
              </a:rPr>
              <a:t> π[6] = 2</a:t>
            </a:r>
            <a:r>
              <a:rPr sz="2200" b="0" i="0">
                <a:solidFill>
                  <a:srgbClr val="1C252B"/>
                </a:solidFill>
                <a:latin typeface="Segoe UI"/>
              </a:rPr>
              <a:t> — the pattern shifts so that its first 2 characters align with the last 2 matched, a shift of </a:t>
            </a:r>
            <a:r>
              <a:rPr sz="2200" b="0" i="0">
                <a:solidFill>
                  <a:srgbClr val="1C252B"/>
                </a:solidFill>
                <a:latin typeface="Cambria"/>
              </a:rPr>
              <a:t>6−2 = 4</a:t>
            </a:r>
            <a:r>
              <a:rPr sz="2200" b="0" i="0">
                <a:solidFill>
                  <a:srgbClr val="1C252B"/>
                </a:solidFill>
                <a:latin typeface="Segoe UI"/>
              </a:rPr>
              <a:t> positions.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  answers in Appendix D     </a:t>
            </a:r>
            <a:fld id="{472D8912-ECD7-465C-B774-4A9C66ED2A9B}"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116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KMP’s inner </a:t>
            </a:r>
            <a:r>
              <a:rPr sz="3400" b="1" i="0">
                <a:solidFill>
                  <a:srgbClr val="FFFFFF"/>
                </a:solidFill>
                <a:latin typeface="Segoe UI Semibold"/>
              </a:rPr>
              <a:t>while</a:t>
            </a:r>
            <a:r>
              <a:rPr sz="3400" b="0" i="0">
                <a:solidFill>
                  <a:srgbClr val="FFFFFF"/>
                </a:solidFill>
                <a:latin typeface="Segoe UI Semibold"/>
              </a:rPr>
              <a:t> loop not make it </a:t>
            </a:r>
            <a:r>
              <a:rPr sz="3400" b="0" i="0">
                <a:solidFill>
                  <a:srgbClr val="FFFFFF"/>
                </a:solidFill>
                <a:latin typeface="Cambria"/>
              </a:rPr>
              <a:t>O(</a:t>
            </a:r>
            <a:r>
              <a:rPr sz="3400" b="0" i="1">
                <a:solidFill>
                  <a:srgbClr val="FFFFFF"/>
                </a:solidFill>
                <a:latin typeface="Cambria"/>
              </a:rPr>
              <a:t>nm</a:t>
            </a:r>
            <a:r>
              <a:rPr sz="3400" b="0" i="0">
                <a:solidFill>
                  <a:srgbClr val="FFFFFF"/>
                </a:solidFill>
                <a:latin typeface="Cambria"/>
              </a:rPr>
              <a:t>)</a:t>
            </a:r>
            <a:r>
              <a:rPr sz="3400" b="0" i="0">
                <a:solidFill>
                  <a:srgbClr val="FFFFFF"/>
                </a:solidFill>
                <a:latin typeface="Segoe UI Semibold"/>
              </a:rPr>
              <a:t>? Give the potential function.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21  ·  String Matching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180  ·  answers in Appendix D     </a:t>
            </a:r>
            <a:fld id="{E399611C-5AD6-4F76-A29C-FCBC402B075E}"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KMP’s inner </a:t>
            </a:r>
            <a:r>
              <a:rPr sz="2400" b="1" i="0">
                <a:solidFill>
                  <a:srgbClr val="1A5276"/>
                </a:solidFill>
                <a:latin typeface="Segoe UI Semibold"/>
              </a:rPr>
              <a:t>while</a:t>
            </a:r>
            <a:r>
              <a:rPr sz="2400" b="0" i="0">
                <a:solidFill>
                  <a:srgbClr val="1A5276"/>
                </a:solidFill>
                <a:latin typeface="Segoe UI Semibold"/>
              </a:rPr>
              <a:t> loop not make it </a:t>
            </a:r>
            <a:r>
              <a:rPr sz="2400" b="0" i="0">
                <a:solidFill>
                  <a:srgbClr val="1A5276"/>
                </a:solidFill>
                <a:latin typeface="Cambria"/>
              </a:rPr>
              <a:t>O(</a:t>
            </a:r>
            <a:r>
              <a:rPr sz="2400" b="0" i="1">
                <a:solidFill>
                  <a:srgbClr val="1A5276"/>
                </a:solidFill>
                <a:latin typeface="Cambria"/>
              </a:rPr>
              <a:t>nm</a:t>
            </a:r>
            <a:r>
              <a:rPr sz="2400" b="0" i="0">
                <a:solidFill>
                  <a:srgbClr val="1A5276"/>
                </a:solidFill>
                <a:latin typeface="Cambria"/>
              </a:rPr>
              <a:t>)</a:t>
            </a:r>
            <a:r>
              <a:rPr sz="2400" b="0" i="0">
                <a:solidFill>
                  <a:srgbClr val="1A5276"/>
                </a:solidFill>
                <a:latin typeface="Segoe UI Semibold"/>
              </a:rPr>
              <a:t>? Give the potential function.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inner loop only ever </a:t>
            </a:r>
            <a:r>
              <a:rPr sz="2200" b="0" i="1">
                <a:solidFill>
                  <a:srgbClr val="1C252B"/>
                </a:solidFill>
                <a:latin typeface="Segoe UI"/>
              </a:rPr>
              <a:t>decreases</a:t>
            </a:r>
            <a:r>
              <a:rPr sz="2200" b="0" i="0">
                <a:solidFill>
                  <a:srgbClr val="1C252B"/>
                </a:solidFill>
                <a:latin typeface="Segoe UI"/>
              </a:rPr>
              <a:t> </a:t>
            </a:r>
            <a:r>
              <a:rPr sz="2200" b="0" i="1">
                <a:solidFill>
                  <a:srgbClr val="1C252B"/>
                </a:solidFill>
                <a:latin typeface="Cambria"/>
              </a:rPr>
              <a:t>k</a:t>
            </a:r>
            <a:r>
              <a:rPr sz="2200" b="0" i="0">
                <a:solidFill>
                  <a:srgbClr val="1C252B"/>
                </a:solidFill>
                <a:latin typeface="Segoe UI"/>
              </a:rPr>
              <a:t>, and </a:t>
            </a:r>
            <a:r>
              <a:rPr sz="2200" b="0" i="1">
                <a:solidFill>
                  <a:srgbClr val="1C252B"/>
                </a:solidFill>
                <a:latin typeface="Cambria"/>
              </a:rPr>
              <a:t>k</a:t>
            </a:r>
            <a:r>
              <a:rPr sz="2200" b="0" i="0">
                <a:solidFill>
                  <a:srgbClr val="1C252B"/>
                </a:solidFill>
                <a:latin typeface="Segoe UI"/>
              </a:rPr>
              <a:t> is increased by at most 1 per outer iteration. Take </a:t>
            </a:r>
            <a:r>
              <a:rPr sz="2200" b="0" i="0">
                <a:solidFill>
                  <a:srgbClr val="1C252B"/>
                </a:solidFill>
                <a:latin typeface="Cambria"/>
              </a:rPr>
              <a:t>Φ = </a:t>
            </a:r>
            <a:r>
              <a:rPr sz="2200" b="0" i="1">
                <a:solidFill>
                  <a:srgbClr val="1C252B"/>
                </a:solidFill>
                <a:latin typeface="Cambria"/>
              </a:rPr>
              <a:t>k</a:t>
            </a:r>
            <a:r>
              <a:rPr sz="2200" b="0" i="0">
                <a:solidFill>
                  <a:srgbClr val="1C252B"/>
                </a:solidFill>
                <a:latin typeface="Segoe UI"/>
              </a:rPr>
              <a:t>: it starts at 0, never goes negative, and rises by at most </a:t>
            </a:r>
            <a:r>
              <a:rPr sz="2200" b="0" i="1">
                <a:solidFill>
                  <a:srgbClr val="1C252B"/>
                </a:solidFill>
                <a:latin typeface="Cambria"/>
              </a:rPr>
              <a:t>n</a:t>
            </a:r>
            <a:r>
              <a:rPr sz="2200" b="0" i="0">
                <a:solidFill>
                  <a:srgbClr val="1C252B"/>
                </a:solidFill>
                <a:latin typeface="Segoe UI"/>
              </a:rPr>
              <a:t> in total across the run, so it can fall at most </a:t>
            </a:r>
            <a:r>
              <a:rPr sz="2200" b="0" i="1">
                <a:solidFill>
                  <a:srgbClr val="1C252B"/>
                </a:solidFill>
                <a:latin typeface="Cambria"/>
              </a:rPr>
              <a:t>n</a:t>
            </a:r>
            <a:r>
              <a:rPr sz="2200" b="0" i="0">
                <a:solidFill>
                  <a:srgbClr val="1C252B"/>
                </a:solidFill>
                <a:latin typeface="Segoe UI"/>
              </a:rPr>
              <a:t> times in total. The inner loop therefore executes at most </a:t>
            </a:r>
            <a:r>
              <a:rPr sz="2200" b="0" i="1">
                <a:solidFill>
                  <a:srgbClr val="1C252B"/>
                </a:solidFill>
                <a:latin typeface="Cambria"/>
              </a:rPr>
              <a:t>n</a:t>
            </a:r>
            <a:r>
              <a:rPr sz="2200" b="0" i="0">
                <a:solidFill>
                  <a:srgbClr val="1C252B"/>
                </a:solidFill>
                <a:latin typeface="Segoe UI"/>
              </a:rPr>
              <a:t> times </a:t>
            </a:r>
            <a:r>
              <a:rPr sz="2200" b="0" i="1">
                <a:solidFill>
                  <a:srgbClr val="1C252B"/>
                </a:solidFill>
                <a:latin typeface="Segoe UI"/>
              </a:rPr>
              <a:t>over the whole run</a:t>
            </a:r>
            <a:r>
              <a:rPr sz="2200" b="0" i="0">
                <a:solidFill>
                  <a:srgbClr val="1C252B"/>
                </a:solidFill>
                <a:latin typeface="Segoe UI"/>
              </a:rPr>
              <a:t>, not per iteration — the same amortised argument as Build-Heap and the dynamic array.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  answers in Appendix D     </a:t>
            </a:r>
            <a:fld id="{E18B8F0A-C4A7-4FCB-9D30-B596C55B01EE}"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792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pattern </a:t>
            </a:r>
            <a:r>
              <a:rPr sz="3400" b="0" i="1">
                <a:solidFill>
                  <a:srgbClr val="FFFFFF"/>
                </a:solidFill>
                <a:latin typeface="Cambria"/>
              </a:rPr>
              <a:t>a</a:t>
            </a:r>
            <a:r>
              <a:rPr sz="2250" b="0" i="1" baseline="30000">
                <a:solidFill>
                  <a:srgbClr val="FFFFFF"/>
                </a:solidFill>
                <a:latin typeface="Cambria"/>
              </a:rPr>
              <a:t>m</a:t>
            </a:r>
            <a:r>
              <a:rPr sz="2250" b="0" i="0" baseline="30000">
                <a:solidFill>
                  <a:srgbClr val="FFFFFF"/>
                </a:solidFill>
                <a:latin typeface="Cambria"/>
              </a:rPr>
              <a:t>−1</a:t>
            </a:r>
            <a:r>
              <a:rPr sz="3400" b="0" i="1">
                <a:solidFill>
                  <a:srgbClr val="FFFFFF"/>
                </a:solidFill>
                <a:latin typeface="Cambria"/>
              </a:rPr>
              <a:t>b</a:t>
            </a:r>
            <a:r>
              <a:rPr sz="3400" b="0" i="0">
                <a:solidFill>
                  <a:srgbClr val="FFFFFF"/>
                </a:solidFill>
                <a:latin typeface="Segoe UI Semibold"/>
              </a:rPr>
              <a:t> is the naive algorithm’s worst case and makes Rabin–Karp do no work at all. Explain both facts from the algorithms’ structure.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21  ·  String Matching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180  ·  answers in Appendix D     </a:t>
            </a:r>
            <a:fld id="{58C47317-63AA-447A-8790-DCED91FF7D1B}"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The pattern </a:t>
            </a:r>
            <a:r>
              <a:rPr sz="2400" b="0" i="1">
                <a:solidFill>
                  <a:srgbClr val="1A5276"/>
                </a:solidFill>
                <a:latin typeface="Cambria"/>
              </a:rPr>
              <a:t>a</a:t>
            </a:r>
            <a:r>
              <a:rPr sz="1600" b="0" i="1" baseline="30000">
                <a:solidFill>
                  <a:srgbClr val="1A5276"/>
                </a:solidFill>
                <a:latin typeface="Cambria"/>
              </a:rPr>
              <a:t>m</a:t>
            </a:r>
            <a:r>
              <a:rPr sz="1600" b="0" i="0" baseline="30000">
                <a:solidFill>
                  <a:srgbClr val="1A5276"/>
                </a:solidFill>
                <a:latin typeface="Cambria"/>
              </a:rPr>
              <a:t>−1</a:t>
            </a:r>
            <a:r>
              <a:rPr sz="2400" b="0" i="1">
                <a:solidFill>
                  <a:srgbClr val="1A5276"/>
                </a:solidFill>
                <a:latin typeface="Cambria"/>
              </a:rPr>
              <a:t>b</a:t>
            </a:r>
            <a:r>
              <a:rPr sz="2400" b="0" i="0">
                <a:solidFill>
                  <a:srgbClr val="1A5276"/>
                </a:solidFill>
                <a:latin typeface="Segoe UI Semibold"/>
              </a:rPr>
              <a:t> is the naive algorithm’s worst case and makes Rabin–Karp do no work at all. Explain both facts from the algorithms’ structure.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Naive:</a:t>
            </a:r>
            <a:r>
              <a:rPr sz="2200" b="0" i="0">
                <a:solidFill>
                  <a:srgbClr val="1C252B"/>
                </a:solidFill>
                <a:latin typeface="Segoe UI"/>
              </a:rPr>
              <a:t> every alignment matches the </a:t>
            </a:r>
            <a:r>
              <a:rPr sz="2200" b="0" i="1">
                <a:solidFill>
                  <a:srgbClr val="1C252B"/>
                </a:solidFill>
                <a:latin typeface="Cambria"/>
              </a:rPr>
              <a:t>m</a:t>
            </a:r>
            <a:r>
              <a:rPr sz="2200" b="0" i="0">
                <a:solidFill>
                  <a:srgbClr val="1C252B"/>
                </a:solidFill>
                <a:latin typeface="Cambria"/>
              </a:rPr>
              <a:t>−1</a:t>
            </a:r>
            <a:r>
              <a:rPr sz="2200" b="0" i="0">
                <a:solidFill>
                  <a:srgbClr val="1C252B"/>
                </a:solidFill>
                <a:latin typeface="Segoe UI"/>
              </a:rPr>
              <a:t> leading </a:t>
            </a:r>
            <a:r>
              <a:rPr sz="2050" b="0" i="0">
                <a:solidFill>
                  <a:srgbClr val="1F4E79"/>
                </a:solidFill>
                <a:latin typeface="Consolas"/>
              </a:rPr>
              <a:t>a</a:t>
            </a:r>
            <a:r>
              <a:rPr sz="2200" b="0" i="0">
                <a:solidFill>
                  <a:srgbClr val="1C252B"/>
                </a:solidFill>
                <a:latin typeface="Segoe UI"/>
              </a:rPr>
              <a:t>’s and fails on the final </a:t>
            </a:r>
            <a:r>
              <a:rPr sz="2050" b="0" i="0">
                <a:solidFill>
                  <a:srgbClr val="1F4E79"/>
                </a:solidFill>
                <a:latin typeface="Consolas"/>
              </a:rPr>
              <a:t>b</a:t>
            </a:r>
            <a:r>
              <a:rPr sz="2200" b="0" i="0">
                <a:solidFill>
                  <a:srgbClr val="1C252B"/>
                </a:solidFill>
                <a:latin typeface="Segoe UI"/>
              </a:rPr>
              <a:t>, so each of the </a:t>
            </a:r>
            <a:r>
              <a:rPr sz="2200" b="0" i="1">
                <a:solidFill>
                  <a:srgbClr val="1C252B"/>
                </a:solidFill>
                <a:latin typeface="Cambria"/>
              </a:rPr>
              <a:t>n</a:t>
            </a:r>
            <a:r>
              <a:rPr sz="2200" b="0" i="0">
                <a:solidFill>
                  <a:srgbClr val="1C252B"/>
                </a:solidFill>
                <a:latin typeface="Segoe UI"/>
              </a:rPr>
              <a:t> shifts costs </a:t>
            </a:r>
            <a:r>
              <a:rPr sz="2200" b="0" i="1">
                <a:solidFill>
                  <a:srgbClr val="1C252B"/>
                </a:solidFill>
                <a:latin typeface="Cambria"/>
              </a:rPr>
              <a:t>m</a:t>
            </a:r>
            <a:r>
              <a:rPr sz="2200" b="0" i="0">
                <a:solidFill>
                  <a:srgbClr val="1C252B"/>
                </a:solidFill>
                <a:latin typeface="Segoe UI"/>
              </a:rPr>
              <a:t> comparisons — the worst case, attained exactly. </a:t>
            </a:r>
            <a:r>
              <a:rPr sz="2200" b="1" i="0">
                <a:solidFill>
                  <a:srgbClr val="1C252B"/>
                </a:solidFill>
                <a:latin typeface="Segoe UI"/>
              </a:rPr>
              <a:t>Rabin–Karp:</a:t>
            </a:r>
            <a:r>
              <a:rPr sz="2200" b="0" i="0">
                <a:solidFill>
                  <a:srgbClr val="1C252B"/>
                </a:solidFill>
                <a:latin typeface="Segoe UI"/>
              </a:rPr>
              <a:t> it never compares characters at all unless the hashes agree. Every window of </a:t>
            </a:r>
            <a:r>
              <a:rPr sz="2200" b="0" i="1">
                <a:solidFill>
                  <a:srgbClr val="1C252B"/>
                </a:solidFill>
                <a:latin typeface="Cambria"/>
              </a:rPr>
              <a:t>a</a:t>
            </a:r>
            <a:r>
              <a:rPr sz="1450" b="0" i="1" baseline="30000">
                <a:solidFill>
                  <a:srgbClr val="1C252B"/>
                </a:solidFill>
                <a:latin typeface="Cambria"/>
              </a:rPr>
              <a:t>n</a:t>
            </a:r>
            <a:r>
              <a:rPr sz="2200" b="0" i="0">
                <a:solidFill>
                  <a:srgbClr val="1C252B"/>
                </a:solidFill>
                <a:latin typeface="Segoe UI"/>
              </a:rPr>
              <a:t> has the same hash, and </a:t>
            </a:r>
            <a:r>
              <a:rPr sz="2200" b="0" i="1">
                <a:solidFill>
                  <a:srgbClr val="1C252B"/>
                </a:solidFill>
                <a:latin typeface="Cambria"/>
              </a:rPr>
              <a:t>a</a:t>
            </a:r>
            <a:r>
              <a:rPr sz="1450" b="0" i="1" baseline="30000">
                <a:solidFill>
                  <a:srgbClr val="1C252B"/>
                </a:solidFill>
                <a:latin typeface="Cambria"/>
              </a:rPr>
              <a:t>m</a:t>
            </a:r>
            <a:r>
              <a:rPr sz="1450" b="0" i="0" baseline="30000">
                <a:solidFill>
                  <a:srgbClr val="1C252B"/>
                </a:solidFill>
                <a:latin typeface="Cambria"/>
              </a:rPr>
              <a:t>−1</a:t>
            </a:r>
            <a:r>
              <a:rPr sz="2200" b="0" i="1">
                <a:solidFill>
                  <a:srgbClr val="1C252B"/>
                </a:solidFill>
                <a:latin typeface="Cambria"/>
              </a:rPr>
              <a:t>b</a:t>
            </a:r>
            <a:r>
              <a:rPr sz="2200" b="0" i="0">
                <a:solidFill>
                  <a:srgbClr val="1C252B"/>
                </a:solidFill>
                <a:latin typeface="Segoe UI"/>
              </a:rPr>
              <a:t> has a different one, so every window is rejected in one integer comparison. The two algorithms fail on different things: naive on </a:t>
            </a:r>
            <a:r>
              <a:rPr sz="2200" b="0" i="1">
                <a:solidFill>
                  <a:srgbClr val="1C252B"/>
                </a:solidFill>
                <a:latin typeface="Segoe UI"/>
              </a:rPr>
              <a:t>long partial matches</a:t>
            </a:r>
            <a:r>
              <a:rPr sz="2200" b="0" i="0">
                <a:solidFill>
                  <a:srgbClr val="1C252B"/>
                </a:solidFill>
                <a:latin typeface="Segoe UI"/>
              </a:rPr>
              <a:t>, Rabin–Karp on </a:t>
            </a:r>
            <a:r>
              <a:rPr sz="2200" b="0" i="1">
                <a:solidFill>
                  <a:srgbClr val="1C252B"/>
                </a:solidFill>
                <a:latin typeface="Segoe UI"/>
              </a:rPr>
              <a:t>hash collisions</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  answers in Appendix D     </a:t>
            </a:r>
            <a:fld id="{20CBD313-558F-440C-BDA0-A746A474076D}" type="slidenum">
              <a:rPr lang="en-GB" sz="1000">
                <a:solidFill>
                  <a:srgbClr val="8795A1"/>
                </a:solidFill>
                <a:latin typeface="Segoe UI"/>
              </a:rPr>
              <a:t>45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573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E2B22661-7A88-4E2C-8B91-48BA2055FD59}" type="slidenum">
              <a:rPr lang="en-GB" sz="1000">
                <a:solidFill>
                  <a:srgbClr val="8795A1"/>
                </a:solidFill>
                <a:latin typeface="Segoe UI"/>
              </a:rPr>
              <a:t>46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Naive matching re-reads text after a mismatch, giving </a:t>
            </a:r>
            <a:r>
              <a:rPr sz="1700" b="0" i="0">
                <a:solidFill>
                  <a:srgbClr val="1C252B"/>
                </a:solidFill>
                <a:latin typeface="Cambria"/>
              </a:rPr>
              <a:t>O(</a:t>
            </a:r>
            <a:r>
              <a:rPr sz="1700" b="0" i="1">
                <a:solidFill>
                  <a:srgbClr val="1C252B"/>
                </a:solidFill>
                <a:latin typeface="Cambria"/>
              </a:rPr>
              <a:t>nm</a:t>
            </a:r>
            <a:r>
              <a:rPr sz="1700" b="0" i="0">
                <a:solidFill>
                  <a:srgbClr val="1C252B"/>
                </a:solidFill>
                <a:latin typeface="Cambria"/>
              </a:rPr>
              <a:t>)</a:t>
            </a:r>
            <a:r>
              <a:rPr sz="1700" b="0" i="0">
                <a:solidFill>
                  <a:srgbClr val="1C252B"/>
                </a:solidFill>
                <a:latin typeface="Segoe UI"/>
              </a:rPr>
              <a:t> worst case and near-linear behaviour on random text.</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Rabin–Karp compares rolling hashes: </a:t>
            </a:r>
            <a:r>
              <a:rPr sz="1700" b="0" i="0">
                <a:solidFill>
                  <a:srgbClr val="1C252B"/>
                </a:solidFill>
                <a:latin typeface="Cambria"/>
              </a:rPr>
              <a:t>O(</a:t>
            </a:r>
            <a:r>
              <a:rPr sz="1700" b="0" i="1">
                <a:solidFill>
                  <a:srgbClr val="1C252B"/>
                </a:solidFill>
                <a:latin typeface="Cambria"/>
              </a:rPr>
              <a:t>n</a:t>
            </a:r>
            <a:r>
              <a:rPr sz="1700" b="0" i="0">
                <a:solidFill>
                  <a:srgbClr val="1C252B"/>
                </a:solidFill>
                <a:latin typeface="Cambria"/>
              </a:rPr>
              <a:t>+</a:t>
            </a:r>
            <a:r>
              <a:rPr sz="1700" b="0" i="1">
                <a:solidFill>
                  <a:srgbClr val="1C252B"/>
                </a:solidFill>
                <a:latin typeface="Cambria"/>
              </a:rPr>
              <a:t>m</a:t>
            </a:r>
            <a:r>
              <a:rPr sz="1700" b="0" i="0">
                <a:solidFill>
                  <a:srgbClr val="1C252B"/>
                </a:solidFill>
                <a:latin typeface="Cambria"/>
              </a:rPr>
              <a:t>)</a:t>
            </a:r>
            <a:r>
              <a:rPr sz="1700" b="0" i="0">
                <a:solidFill>
                  <a:srgbClr val="1C252B"/>
                </a:solidFill>
                <a:latin typeface="Segoe UI"/>
              </a:rPr>
              <a:t> expected, with every hash match verified. It inherits all of Chapter 13’s assumptions.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KMP’s prefix function gives the exact safe shift, so the text pointer never moves backwards and the bound is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1">
                <a:solidFill>
                  <a:srgbClr val="1C252B"/>
                </a:solidFill>
                <a:latin typeface="Cambria"/>
              </a:rPr>
              <a:t>m</a:t>
            </a:r>
            <a:r>
              <a:rPr sz="1700" b="0" i="0">
                <a:solidFill>
                  <a:srgbClr val="1C252B"/>
                </a:solidFill>
                <a:latin typeface="Cambria"/>
              </a:rPr>
              <a:t>)</a:t>
            </a:r>
            <a:r>
              <a:rPr sz="1700" b="0" i="0">
                <a:solidFill>
                  <a:srgbClr val="1C252B"/>
                </a:solidFill>
                <a:latin typeface="Segoe UI"/>
              </a:rPr>
              <a:t> with no hypothesis about the input.</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KMP’s bound is proved by an amortised argument with </a:t>
            </a:r>
            <a:r>
              <a:rPr sz="1700" b="0" i="0">
                <a:solidFill>
                  <a:srgbClr val="1C252B"/>
                </a:solidFill>
                <a:latin typeface="Cambria"/>
              </a:rPr>
              <a:t>Φ = </a:t>
            </a:r>
            <a:r>
              <a:rPr sz="1700" b="0" i="1">
                <a:solidFill>
                  <a:srgbClr val="1C252B"/>
                </a:solidFill>
                <a:latin typeface="Cambria"/>
              </a:rPr>
              <a:t>k</a:t>
            </a:r>
            <a:r>
              <a:rPr sz="1700" b="0" i="0">
                <a:solidFill>
                  <a:srgbClr val="1C252B"/>
                </a:solidFill>
                <a:latin typeface="Segoe UI"/>
              </a:rPr>
              <a:t> — the same looseness that Build-Heap and the dynamic array had.</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on random text: 1.333 comparisons per character for naive and 1.250 for KMP. The choice looks irrelevant.</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on </a:t>
            </a:r>
            <a:r>
              <a:rPr sz="1700" b="0" i="1">
                <a:solidFill>
                  <a:srgbClr val="1C252B"/>
                </a:solidFill>
                <a:latin typeface="Cambria"/>
              </a:rPr>
              <a:t>T</a:t>
            </a:r>
            <a:r>
              <a:rPr sz="1700" b="0" i="0">
                <a:solidFill>
                  <a:srgbClr val="1C252B"/>
                </a:solidFill>
                <a:latin typeface="Cambria"/>
              </a:rPr>
              <a:t> = </a:t>
            </a:r>
            <a:r>
              <a:rPr sz="1700" b="0" i="1">
                <a:solidFill>
                  <a:srgbClr val="1C252B"/>
                </a:solidFill>
                <a:latin typeface="Cambria"/>
              </a:rPr>
              <a:t>a</a:t>
            </a:r>
            <a:r>
              <a:rPr sz="1100" b="0" i="1" baseline="30000">
                <a:solidFill>
                  <a:srgbClr val="1C252B"/>
                </a:solidFill>
                <a:latin typeface="Cambria"/>
              </a:rPr>
              <a:t>n</a:t>
            </a:r>
            <a:r>
              <a:rPr sz="1700" b="0" i="0">
                <a:solidFill>
                  <a:srgbClr val="1C252B"/>
                </a:solidFill>
                <a:latin typeface="Segoe UI"/>
              </a:rPr>
              <a:t>: the naive count was exactly </a:t>
            </a:r>
            <a:r>
              <a:rPr sz="1700" b="0" i="1">
                <a:solidFill>
                  <a:srgbClr val="1C252B"/>
                </a:solidFill>
                <a:latin typeface="Cambria"/>
              </a:rPr>
              <a:t>nm</a:t>
            </a:r>
            <a:r>
              <a:rPr sz="1700" b="0" i="0">
                <a:solidFill>
                  <a:srgbClr val="1C252B"/>
                </a:solidFill>
                <a:latin typeface="Segoe UI"/>
              </a:rPr>
              <a:t> and KMP’s was flat at </a:t>
            </a:r>
            <a:r>
              <a:rPr sz="1700" b="0" i="0">
                <a:solidFill>
                  <a:srgbClr val="1C252B"/>
                </a:solidFill>
                <a:latin typeface="Cambria"/>
              </a:rPr>
              <a:t>2</a:t>
            </a:r>
            <a:r>
              <a:rPr sz="1700" b="0" i="1">
                <a:solidFill>
                  <a:srgbClr val="1C252B"/>
                </a:solidFill>
                <a:latin typeface="Cambria"/>
              </a:rPr>
              <a:t>n</a:t>
            </a:r>
            <a:r>
              <a:rPr sz="1700" b="0" i="0">
                <a:solidFill>
                  <a:srgbClr val="1C252B"/>
                </a:solidFill>
                <a:latin typeface="Segoe UI"/>
              </a:rPr>
              <a:t>. At </a:t>
            </a:r>
            <a:r>
              <a:rPr sz="1700" b="0" i="1">
                <a:solidFill>
                  <a:srgbClr val="1C252B"/>
                </a:solidFill>
                <a:latin typeface="Cambria"/>
              </a:rPr>
              <a:t>m</a:t>
            </a:r>
            <a:r>
              <a:rPr sz="1700" b="0" i="0">
                <a:solidFill>
                  <a:srgbClr val="1C252B"/>
                </a:solidFill>
                <a:latin typeface="Cambria"/>
              </a:rPr>
              <a:t> = 1,000</a:t>
            </a:r>
            <a:r>
              <a:rPr sz="1700" b="0" i="0">
                <a:solidFill>
                  <a:srgbClr val="1C252B"/>
                </a:solidFill>
                <a:latin typeface="Segoe UI"/>
              </a:rPr>
              <a:t> KMP was 349</a:t>
            </a:r>
            <a:r>
              <a:rPr sz="1700" b="0" i="0">
                <a:solidFill>
                  <a:srgbClr val="1C252B"/>
                </a:solidFill>
                <a:latin typeface="Cambria"/>
              </a:rPr>
              <a:t>×</a:t>
            </a:r>
            <a:r>
              <a:rPr sz="1700" b="0" i="0">
                <a:solidFill>
                  <a:srgbClr val="1C252B"/>
                </a:solidFill>
                <a:latin typeface="Segoe UI"/>
              </a:rPr>
              <a:t> faster.</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9643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CEC369E9-B4B2-4ECE-B0BB-0D4E031D0384}" type="slidenum">
              <a:rPr lang="en-GB" sz="1000">
                <a:solidFill>
                  <a:srgbClr val="8795A1"/>
                </a:solidFill>
                <a:latin typeface="Segoe UI"/>
              </a:rPr>
              <a:t>47</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 weak Rabin–Karp modulus produced 153,522 spurious hits and cost only 11% more time, because on random text each verification fails immediately. The </a:t>
            </a:r>
            <a:r>
              <a:rPr sz="1700" b="0" i="0">
                <a:solidFill>
                  <a:srgbClr val="1C252B"/>
                </a:solidFill>
                <a:latin typeface="Cambria"/>
              </a:rPr>
              <a:t>O(</a:t>
            </a:r>
            <a:r>
              <a:rPr sz="1700" b="0" i="1">
                <a:solidFill>
                  <a:srgbClr val="1C252B"/>
                </a:solidFill>
                <a:latin typeface="Cambria"/>
              </a:rPr>
              <a:t>nm</a:t>
            </a:r>
            <a:r>
              <a:rPr sz="1700" b="0" i="0">
                <a:solidFill>
                  <a:srgbClr val="1C252B"/>
                </a:solidFill>
                <a:latin typeface="Cambria"/>
              </a:rPr>
              <a:t>)</a:t>
            </a:r>
            <a:r>
              <a:rPr sz="1700" b="0" i="0">
                <a:solidFill>
                  <a:srgbClr val="1C252B"/>
                </a:solidFill>
                <a:latin typeface="Segoe UI"/>
              </a:rPr>
              <a:t> bound needs an input with both many candidates and expensive verification — </a:t>
            </a:r>
            <a:r>
              <a:rPr sz="1700" b="0" i="1">
                <a:solidFill>
                  <a:srgbClr val="1C252B"/>
                </a:solidFill>
                <a:latin typeface="Cambria"/>
              </a:rPr>
              <a:t>P</a:t>
            </a:r>
            <a:r>
              <a:rPr sz="1700" b="0" i="0">
                <a:solidFill>
                  <a:srgbClr val="1C252B"/>
                </a:solidFill>
                <a:latin typeface="Cambria"/>
              </a:rPr>
              <a:t> = </a:t>
            </a:r>
            <a:r>
              <a:rPr sz="1700" b="0" i="1">
                <a:solidFill>
                  <a:srgbClr val="1C252B"/>
                </a:solidFill>
                <a:latin typeface="Cambria"/>
              </a:rPr>
              <a:t>a</a:t>
            </a:r>
            <a:r>
              <a:rPr sz="1100" b="0" i="1" baseline="30000">
                <a:solidFill>
                  <a:srgbClr val="1C252B"/>
                </a:solidFill>
                <a:latin typeface="Cambria"/>
              </a:rPr>
              <a:t>m</a:t>
            </a:r>
            <a:r>
              <a:rPr sz="1700" b="0" i="0">
                <a:solidFill>
                  <a:srgbClr val="1C252B"/>
                </a:solidFill>
                <a:latin typeface="Segoe UI"/>
              </a:rPr>
              <a:t> gives exactly </a:t>
            </a:r>
            <a:r>
              <a:rPr sz="1700" b="0" i="1">
                <a:solidFill>
                  <a:srgbClr val="1C252B"/>
                </a:solidFill>
                <a:latin typeface="Cambria"/>
              </a:rPr>
              <a:t>nm</a:t>
            </a:r>
            <a:r>
              <a:rPr sz="1700" b="0" i="0">
                <a:solidFill>
                  <a:srgbClr val="1C252B"/>
                </a:solidFill>
                <a:latin typeface="Segoe UI"/>
              </a:rPr>
              <a:t>, and KMP is 161</a:t>
            </a:r>
            <a:r>
              <a:rPr sz="1700" b="0" i="0">
                <a:solidFill>
                  <a:srgbClr val="1C252B"/>
                </a:solidFill>
                <a:latin typeface="Cambria"/>
              </a:rPr>
              <a:t>×</a:t>
            </a:r>
            <a:r>
              <a:rPr sz="1700" b="0" i="0">
                <a:solidFill>
                  <a:srgbClr val="1C252B"/>
                </a:solidFill>
                <a:latin typeface="Segoe UI"/>
              </a:rPr>
              <a:t> faster.</a:t>
            </a:r>
          </a:p>
        </p:txBody>
      </p:sp>
      <p:sp>
        <p:nvSpPr>
          <p:cNvPr id="10" name="!!sb7">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7"/>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12" name="!!st7"/>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Rabin–Karp’s real advantage is matching many patterns in one pass; KMP’s is working on a stream that cannot be rewound.</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123548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20B84717-D104-49AC-8ECA-1C73B1FD679C}"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KMP’s worst-case running time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nm</a:t>
            </a:r>
            <a:r>
              <a:rPr sz="2000" b="0" i="0">
                <a:solidFill>
                  <a:srgbClr val="1C252B"/>
                </a:solidFill>
                <a:latin typeface="Cambria"/>
              </a:rPr>
              <a:t>)</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 lg </a:t>
            </a:r>
            <a:r>
              <a:rPr sz="2000" b="0" i="1">
                <a:solidFill>
                  <a:srgbClr val="1C252B"/>
                </a:solidFill>
                <a:latin typeface="Cambria"/>
              </a:rPr>
              <a:t>m</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a:t>
            </a:r>
            <a:r>
              <a:rPr sz="2000" b="0" i="1">
                <a:solidFill>
                  <a:srgbClr val="1C252B"/>
                </a:solidFill>
                <a:latin typeface="Cambria"/>
              </a:rPr>
              <a:t>m</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745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245D89F6-1DCC-439F-BA59-4415D2087AF6}"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Rabin–Karp, equal hash values mean: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confirmed occurrence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candidate that must be verified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certain mismatch</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modulus is too small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135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21  ·  String Matching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180     </a:t>
            </a:r>
            <a:fld id="{E42693A8-B1D5-4568-8C3B-F1103AF5A11A}" type="slidenum">
              <a:rPr lang="en-GB" sz="1000">
                <a:solidFill>
                  <a:srgbClr val="8795A1"/>
                </a:solidFill>
                <a:latin typeface="Segoe UI"/>
              </a:rPr>
              <a:t>50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the prefix function and explain why it gives the correct shift after a mismatch </a:t>
            </a:r>
            <a:r>
              <a:rPr sz="1900" b="0" i="1">
                <a:solidFill>
                  <a:srgbClr val="1C252B"/>
                </a:solidFill>
                <a:latin typeface="Segoe UI"/>
              </a:rPr>
              <a:t>(CLO-8)</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amortised argument for KMP’s linear bound.</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Name the input that defeats the naive algorithm and the input that defeats Rabin–Karp, and say why they are different.</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Trace KMP matching </a:t>
            </a:r>
            <a:r>
              <a:rPr sz="1800" b="0" i="0">
                <a:solidFill>
                  <a:srgbClr val="1F4E79"/>
                </a:solidFill>
                <a:latin typeface="Consolas"/>
              </a:rPr>
              <a:t>ababaca</a:t>
            </a:r>
            <a:r>
              <a:rPr sz="1900" b="0" i="0">
                <a:solidFill>
                  <a:srgbClr val="1C252B"/>
                </a:solidFill>
                <a:latin typeface="Segoe UI"/>
              </a:rPr>
              <a:t> in </a:t>
            </a:r>
            <a:r>
              <a:rPr sz="1800" b="0" i="0">
                <a:solidFill>
                  <a:srgbClr val="1F4E79"/>
                </a:solidFill>
                <a:latin typeface="Consolas"/>
              </a:rPr>
              <a:t>abababacaba</a:t>
            </a:r>
            <a:r>
              <a:rPr sz="1900" b="0" i="0">
                <a:solidFill>
                  <a:srgbClr val="1C252B"/>
                </a:solidFill>
                <a:latin typeface="Segoe UI"/>
              </a:rPr>
              <a:t>, listing the value of </a:t>
            </a:r>
            <a:r>
              <a:rPr sz="1900" b="0" i="1">
                <a:solidFill>
                  <a:srgbClr val="1C252B"/>
                </a:solidFill>
                <a:latin typeface="Cambria"/>
              </a:rPr>
              <a:t>k</a:t>
            </a:r>
            <a:r>
              <a:rPr sz="1900" b="0" i="0">
                <a:solidFill>
                  <a:srgbClr val="1C252B"/>
                </a:solidFill>
                <a:latin typeface="Segoe UI"/>
              </a:rPr>
              <a:t> after each text character.</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must scan a 50 GB log stream, which cannot be rewound, for any of 200 known error signatures. Choose an algorithm (or combination), justify it against this chapter’s measurements, and say what you would check about the signatures first.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526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22 — Complexity Classes: P, NP and NP-Completeness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21, pages 173–180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Naive, Rabin–Karp and KMP on the same corpus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21  ·  String Matching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75A783F3-FD99-4A28-8756-32C2A9875C05}" type="slidenum">
              <a:rPr lang="en-GB" sz="1000">
                <a:solidFill>
                  <a:srgbClr val="D5DEE5"/>
                </a:solidFill>
                <a:latin typeface="Segoe UI"/>
              </a:rPr>
              <a:t>51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 String Matching</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